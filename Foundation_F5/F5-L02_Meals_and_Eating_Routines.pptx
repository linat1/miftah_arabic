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F5 Food, Health and Body › F5-L02. The website lesson “Meals and Eating Routines”: vocabulary, grammar rules and quiz, patterns, common mistakes, sorter, listening, reading, speaking prompts and model, writing task and model, differentiation, final check and the lesson mission. Picture match: website visual game “Meals and Eating Routines”.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three meal sentences with a frame: فِي الفُطُورِ آكُلُ … وَأَشْرَبُ … (breakfast, lunch, dinner).
• Develop: add a time (فِي السَّاعَةِ …) and a frequency word (عَادَةً، أَحْيَانًا), then ask a partner مَاذَا تَأْكُلُ / تَأْكُلِينَ …؟
• Stretch: weekday vs weekend in 8–10 sentences with ثُمَّ and وَلَكِنْ; use أَتَنَاوَلُ to vary the verbs and report he / she.
• The website’s three slips: آكُلُ with a drink · أَتَنَاوَلُ without a meal · the vowel after فِي (فِي العَشَاءِ).
• Respect fasting and family routines — any real or invented day is fine (a Ramadan day with سُحُورٌ and إِفْطَارٌ is an excellent Stretch variation).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words prepared at home at the end of F5-L01 (the website spells breakfast فُطُورٌ; فَطُورٌ is also correct). Questions 3–5 retrieve F5-L01 (eat / drink, asking a girl, food or drink).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meal sentence has three parts: WHEN · VERB ·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عادت (habit) → عَادَةً (usually, “as a habit”). دائم (permanent) → دَائِمًا. نادر (rare) → نَادِرًا. افطار (the meal that breaks the fast) shares its root with فُطُورٌ — breakfast literally “breaks the night’s fast”, just like the English word! وَجْبَةٌ and Urdu واجب share a root (what is due) — a nice memory hook: a meal is “due” three times a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Meals and timing (website vocabulary (1 of 2)). Hear → Say → See → Use. Transliteration is printed for Core students (cover it for Develop/Stretch).
Meals: فُطُورٌ (the website; فَطُورٌ is also used), غَدَاءٌ، عَشَاءٌ. Time phrases: فِي الصَّبَاحِ، عِنْدَ الظُّهْرِ، فِي المَسَاءِ،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Meals and timing (website vocabulary (2 of 2)). Hear → Say → See → Use. Transliteration is printed for Core students (cover it for Develop/Stretch).
Meals: فُطُورٌ (the website; فَطُورٌ is also used), غَدَاءٌ، عَشَاءٌ. Time phrases: فِي الصَّبَاحِ، عِنْدَ الظُّهْرِ، فِي المَسَاءِ، بَعْدَ المَدْرَسَةِ.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Eating and drinking verbs (website vocabulary). Hear → Say → See → Use. Transliteration is printed for Core students (cover it for Develop/Stretch).
The forms on the cards show he / she / we. Point at the first letter only: أَ = I, يَ = he, تَ = she (and you), نَ = we.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Routine language (website vocabulary). Hear → Say → See → Use. Transliteration is printed for Core students (cover it for Develop/Stretch).
FLEX: teach if time allows; otherwise these are on the website vocabulary tab for homework.
FLEX: frequency words appear in the I Do model and the writing task — teach them from there if time is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“Choose the correct action” (آكُلُ food · أَشْرَبُ drink) and “Add the meal” (فِي الفُطُورِ / فِي الغَدَاءِ / فِي العَشَاءِ).
Website teaching note: “A meal description needs more than a food list. Add the meal, a verb and a time phrase.”
Website common error: مَاذَا تَأْكُلُ فِي العَشَاءَ؟ ✗ → فِي العَشَاءِ ✓ (kasra after فِي).
Teal = WHEN, blue = VERB. Core students copy rows 1–3 and change the food.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“Ask what someone eats” (the ending changes for a female listener) and “Use أَتَنَاوَلُ for a whole meal” (more formal).
Website teaching note: “Keep آكُلُ and أَشْرَبُ secure first, then use أَتَنَاوَلُ to vary language.” — Core students may skip أَتَنَاوَلُ.
He / she: هُوَ يَتَنَاوَلُ · هِيَ تَتَنَاوَلُ الغَدَاءَ مَعَ أُسْرَتِهَا (website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“The lesson-plan grammar focus is choosing the correct action—آكُلُ for food and أَشْرَبُ for drink—then locating the action at a meal with فِي.”
• Choose the correct action: Use آكُلُ with solid food and أَشْرَبُ with drinks.
• Add the meal: Use فِي before the meal when you mean “at/for breakfast, lunch or dinner”.
• Ask what someone eats: The verb ending changes for a female listener.
• Use أَتَنَاوَلُ for a whole meal: أَتَنَاوَلُ means “I have/eat” a meal and is useful in more formal descriptions.
Website common error: Do not use آكُلُ with a drink. Say أَشْرَبُ الحَلِيبَ, not آكُلُ الحَلِيبَ.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writing model built step by step with a think-aloud. Students copy it and change the foods and one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Meals and Eating Routines”)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game uses الإِفْطَارُ for breakfast and adverbs صَبَاحًا / ظُهْرًا / مَسَاءً (= in the morning / at midday / in the evening) — both styles are correct. Other website items: a school snack, eating together, “I don’t skip breakfast” (لَا أَتَخَطَّى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Meals and Eating Routines”)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Note: the game uses الإِفْطَارُ for breakfast and adverbs صَبَاحًا / ظُهْرًا / مَسَاءً (= in the morning / at midday / in the evening) — both styles are correct. Other website items: a school snack, eating together, “I don’t skip breakfast” (لَا أَتَخَطَّى الإِفْطَارَ).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Place each phrase under the most suitable time.
Items 4–6 are full sentences: ask students to underline the clue word (قَبْلَ المَدْرَسَةِ، فِي المَدْرَسَةِ، بَعْدَ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website sorter (2 min). Website instruction: Place each phrase under the most suitable time.
Items 4–6 are full sentences: ask students to underline the clue word (قَبْلَ المَدْرَسَةِ، فِي المَدْرَسَةِ، بَعْدَ العَمَلِ).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فِي الصَّبَاحِ أَتَنَاوَلُ الفُطُورَ فِي السَّاعَةِ السَّابِعَةِ. آكُلُ الخُبْزَ وَالجُبْنَ، وَأَشْرَبُ الحَلِيبَ. عِنْدَ الظُّهْرِ آكُلُ الأَرُزَّ وَالدَّجَاجَ فِي المَدْرَسَةِ. بَعْدَ المَدْرَسَةِ آكُلُ تُفَّاحَةً. فِي المَسَاءِ أَتَنَاوَلُ العَشَاءَ مَعَ عَائِلَتِي، وَأَشْرَبُ المَاءَ.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أ: وَمَتَى تَتَنَاوَلِينَ الغَدَاءَ؟ (And when do you have lunch?)
ب: أَتَنَاوَلُ الغَدَاءَ عِنْدَ السَّاعَةِ الوَاحِدَةِ. (I have lunch at one o’clock.)
Website “Compare meal routines” — all four prompts are the website’s. Website model: مَاذَا تَأْكُلِينَ فِي الفُطُورِ؟ — آكُلُ الخُبْزَ وَالبَيْضَ، وَأَشْرَبُ الشَّايَ. — وَمَتَى تَتَنَاوَلِينَ الغَدَاءَ؟ — أَتَنَاوَلُ الغَدَاءَ عِنْدَ السَّاعَةِ الوَاحِدَةِ.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Complete three sentence frames for breakfast, lunch and dinner. · Develop — Describe a full day with time and frequency language, then ask a partner two questions. · Stretch — Compare weekday and weekend meals and explain one difference in 8–10 sentences.
Website writing task (Stretch): Write 6–8 sentences describing your meals on a normal day. Include breakfast, lunch, dinner, one snack, two time expressions and one frequency word.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الفُطُورَ · الغَدَاءَ · العَشَاءَ · فِي السَّاعَةِ السَّابِعَةِ · عِنْدَ الظُّهْرِ · عَادَةً / أَحْيَانًا · ثُمَّ.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8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(F5-L03 · Likes, Dislikes and Preferences) will spend class time USING this language, so students prepare it tonight — short, simple, easy to access (school guidance: “Simple, Short, Interesting, Relevant, Easy to access”). The five words prepare the website F5-L03 lesson (likes, dislikes and preferences).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slideLayout" Target="../slideLayouts/slideLayout1.xml"/><Relationship Id="rId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F5  ·  F5-L02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F5-L02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Meals and Eating Routines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وَجَبَاتُ اليَوْمِ وَعَادَاتُ الأَكْلِ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breakfast, lunch, dinner and snacks with </a:t>
            </a:r>
            <a:pPr algn="l" indent="0" marL="0">
              <a:buNone/>
            </a:pPr>
            <a:r>
              <a:rPr lang="ar-SA" altLang="en-US" sz="1800" dirty="0">
                <a:solidFill>
                  <a:srgbClr val="C6D2E6"/>
                </a:solidFill>
                <a:latin typeface="Amiri" pitchFamily="2" charset="-78"/>
                <a:ea typeface="Amiri" pitchFamily="2" charset="-78"/>
                <a:cs typeface="Amiri" pitchFamily="2" charset="-78"/>
              </a:rPr>
              <a:t>فِي</a:t>
            </a:r>
            <a:pPr algn="l" indent="0" marL="0">
              <a:buNone/>
            </a:pPr>
            <a:r>
              <a:rPr lang="en-US" sz="1400" dirty="0">
                <a:solidFill>
                  <a:srgbClr val="C6D2E6"/>
                </a:solidFill>
                <a:latin typeface="Calibri" pitchFamily="34" charset="0"/>
                <a:cs typeface="Amiri" pitchFamily="2" charset="-78"/>
              </a:rPr>
              <a:t> + meal, time and frequency words, and the verbs </a:t>
            </a:r>
            <a:pPr algn="l" indent="0" marL="0">
              <a:buNone/>
            </a:pPr>
            <a:r>
              <a:rPr lang="ar-SA" altLang="en-US" sz="1800" dirty="0">
                <a:solidFill>
                  <a:srgbClr val="C6D2E6"/>
                </a:solidFill>
                <a:latin typeface="Amiri" pitchFamily="2" charset="-78"/>
                <a:ea typeface="Amiri" pitchFamily="2" charset="-78"/>
                <a:cs typeface="Amiri" pitchFamily="2" charset="-78"/>
              </a:rPr>
              <a:t>آكُلُ، أَشْرَبُ</a:t>
            </a:r>
            <a:pPr algn="l" indent="0" marL="0">
              <a:buNone/>
            </a:pPr>
            <a:r>
              <a:rPr lang="en-US" sz="1400" dirty="0">
                <a:solidFill>
                  <a:srgbClr val="C6D2E6"/>
                </a:solidFill>
                <a:latin typeface="Calibri" pitchFamily="34" charset="0"/>
                <a:cs typeface="Amiri" pitchFamily="2" charset="-78"/>
              </a:rPr>
              <a:t> and </a:t>
            </a:r>
            <a:pPr algn="l" indent="0" marL="0">
              <a:buNone/>
            </a:pPr>
            <a:r>
              <a:rPr lang="ar-SA" altLang="en-US" sz="1800" dirty="0">
                <a:solidFill>
                  <a:srgbClr val="C6D2E6"/>
                </a:solidFill>
                <a:latin typeface="Amiri" pitchFamily="2" charset="-78"/>
                <a:ea typeface="Amiri" pitchFamily="2" charset="-78"/>
                <a:cs typeface="Amiri" pitchFamily="2" charset="-78"/>
              </a:rPr>
              <a:t>أَتَنَاوَلُ</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F5-L02 · Foundation F5 · Food, Health and Body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F5 › F5-L02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Meals and time words, then eat / drink / have + </a:t>
            </a:r>
            <a:pPr algn="ctr" indent="0" marL="0">
              <a:buNone/>
            </a:pPr>
            <a:r>
              <a:rPr lang="ar-SA" altLang="en-US" sz="1550" dirty="0">
                <a:solidFill>
                  <a:srgbClr val="1F2A37"/>
                </a:solidFill>
                <a:latin typeface="Amiri" pitchFamily="2" charset="-78"/>
                <a:ea typeface="Amiri" pitchFamily="2" charset="-78"/>
                <a:cs typeface="Amiri" pitchFamily="2" charset="-78"/>
              </a:rPr>
              <a:t>فِي</a:t>
            </a:r>
            <a:pPr algn="ctr" indent="0" marL="0">
              <a:buNone/>
            </a:pPr>
            <a:r>
              <a:rPr lang="en-US" sz="1200" dirty="0">
                <a:solidFill>
                  <a:srgbClr val="1F2A37"/>
                </a:solidFill>
                <a:latin typeface="Calibri" pitchFamily="34" charset="0"/>
                <a:cs typeface="Amiri" pitchFamily="2" charset="-78"/>
              </a:rPr>
              <a:t> + the meal.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Picture match, sort by time of day, fix the mistakes and listen to Rami.</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F5-L03.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فَطُورٌ / فُطُورٌ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dinner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breakfast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snack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goes with drinks?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 السَّلَطَةَ؟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أُحِبُّ السَّلَطَةَ؟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تُحِبِّينَ السَّلَطَةَ؟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drink?</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عَصِيرٌ</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أَرُزٌّ</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جُبْنٌ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فَطُورٌ / فُطُورٌ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dinner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breakfast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snack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عَادَةً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usually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(F5-L01).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goes with drinks?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آكُلُ</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أَشْرَبُ</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ashrabu with drinks.</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“Do you like salad?”</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تُحِبُّ السَّلَطَةَ؟</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أُحِبُّ السَّلَطَةَ؟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هَلْ تُحِبِّينَ السَّلَطَةَ؟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a female listener → tuḥibbīna.</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is a drink?</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عَصِيرٌ</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أَرُزٌّ</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جُبْنٌ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F5-L01 vocabulary.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meal sentence has three parts: WHEN · VERB · FOOD.</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350" b="1" dirty="0">
                <a:solidFill>
                  <a:srgbClr val="0E7C86"/>
                </a:solidFill>
                <a:latin typeface="Amiri" pitchFamily="2" charset="-78"/>
                <a:ea typeface="Amiri" pitchFamily="2" charset="-78"/>
                <a:cs typeface="Amiri" pitchFamily="2" charset="-78"/>
              </a:rPr>
              <a:t>فِي الفُطُورِ</a:t>
            </a:r>
            <a:pPr rtl="1" algn="ctr" indent="0" marL="0">
              <a:buNone/>
            </a:pPr>
            <a:r>
              <a:rPr lang="ar-SA" altLang="en-US" sz="2350" b="1" dirty="0">
                <a:solidFill>
                  <a:srgbClr val="1B3B6F"/>
                </a:solidFill>
                <a:latin typeface="Amiri" pitchFamily="2" charset="-78"/>
                <a:cs typeface="Amiri" pitchFamily="2" charset="-78"/>
              </a:rPr>
              <a:t> </a:t>
            </a:r>
            <a:pPr rtl="1" algn="ctr" indent="0" marL="0">
              <a:buNone/>
            </a:pPr>
            <a:r>
              <a:rPr lang="ar-SA" altLang="en-US" sz="2350" b="1" dirty="0">
                <a:solidFill>
                  <a:srgbClr val="1D5FBF"/>
                </a:solidFill>
                <a:latin typeface="Amiri" pitchFamily="2" charset="-78"/>
                <a:ea typeface="Amiri" pitchFamily="2" charset="-78"/>
                <a:cs typeface="Amiri" pitchFamily="2" charset="-78"/>
              </a:rPr>
              <a:t>آكُلُ</a:t>
            </a:r>
            <a:pPr rtl="1" algn="ctr" indent="0" marL="0">
              <a:buNone/>
            </a:pPr>
            <a:r>
              <a:rPr lang="ar-SA" altLang="en-US" sz="2350" b="1" dirty="0">
                <a:solidFill>
                  <a:srgbClr val="1B3B6F"/>
                </a:solidFill>
                <a:latin typeface="Amiri" pitchFamily="2" charset="-78"/>
                <a:ea typeface="Amiri" pitchFamily="2" charset="-78"/>
                <a:cs typeface="Amiri" pitchFamily="2" charset="-78"/>
              </a:rPr>
              <a:t> الخُبْزَ وَالبَيْضَ.</a:t>
            </a:r>
            <a:endParaRPr lang="ar-SA" sz="23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meals and common meal-time expressions.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ea typeface="Amiri" pitchFamily="2" charset="-78"/>
                <a:cs typeface="Amiri" pitchFamily="2" charset="-78"/>
              </a:rPr>
              <a:t>آكُلُ، أَشْرَبُ</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Say what you eat and drink at different times of day.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Read and understand a short daily meal routine.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the three meals and a snack.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what I eat at each meal.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add a time and a frequency word.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ask a boy or a girl what they eat.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use </a:t>
            </a:r>
            <a:pPr algn="l" indent="0" marL="0">
              <a:buNone/>
            </a:pPr>
            <a:r>
              <a:rPr lang="ar-SA" altLang="en-US" sz="1700" b="1" dirty="0">
                <a:solidFill>
                  <a:srgbClr val="B83227"/>
                </a:solidFill>
                <a:latin typeface="Amiri" pitchFamily="2" charset="-78"/>
                <a:ea typeface="Amiri" pitchFamily="2" charset="-78"/>
                <a:cs typeface="Amiri" pitchFamily="2" charset="-78"/>
              </a:rPr>
              <a:t>أَتَنَاوَلُ</a:t>
            </a:r>
            <a:pPr algn="l" indent="0" marL="0">
              <a:buNone/>
            </a:pPr>
            <a:r>
              <a:rPr lang="en-US" sz="1300" b="1" dirty="0">
                <a:solidFill>
                  <a:srgbClr val="B83227"/>
                </a:solidFill>
                <a:latin typeface="Calibri" pitchFamily="34" charset="0"/>
                <a:cs typeface="Amiri" pitchFamily="2" charset="-78"/>
              </a:rPr>
              <a:t> and he / she forms.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weekday and weekend meals.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21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Meals and timing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Eating and drinking verbs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Routine language · 6</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ādat · habit → usually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دَائِمًا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‎دائم‎ </a:t>
            </a:r>
            <a:pPr indent="0" marL="0">
              <a:buNone/>
            </a:pPr>
            <a:r>
              <a:rPr lang="en-US" sz="950" b="1" dirty="0">
                <a:solidFill>
                  <a:srgbClr val="2E8B57"/>
                </a:solidFill>
                <a:latin typeface="Calibri" pitchFamily="34" charset="0"/>
                <a:cs typeface="Amiri" pitchFamily="2" charset="-78"/>
              </a:rPr>
              <a:t> dāʼim · permanent → always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وَجْبَةٌ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‎واجب‎ </a:t>
            </a:r>
            <a:pPr indent="0" marL="0">
              <a:buNone/>
            </a:pPr>
            <a:r>
              <a:rPr lang="en-US" sz="950" b="1" dirty="0">
                <a:solidFill>
                  <a:srgbClr val="2E8B57"/>
                </a:solidFill>
                <a:latin typeface="Calibri" pitchFamily="34" charset="0"/>
                <a:cs typeface="Amiri" pitchFamily="2" charset="-78"/>
              </a:rPr>
              <a:t> wājib · Urdu: due · Arabic: a meal</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فُطُورٌ</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‎افطار‎ </a:t>
            </a:r>
            <a:pPr indent="0" marL="0">
              <a:buNone/>
            </a:pPr>
            <a:r>
              <a:rPr lang="en-US" sz="950" b="1" dirty="0">
                <a:solidFill>
                  <a:srgbClr val="2E8B57"/>
                </a:solidFill>
                <a:latin typeface="Calibri" pitchFamily="34" charset="0"/>
                <a:cs typeface="Amiri" pitchFamily="2" charset="-78"/>
              </a:rPr>
              <a:t> iftār · breaking the fast → breakfast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نَادِرًا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‎نادر‎ </a:t>
            </a:r>
            <a:pPr indent="0" marL="0">
              <a:buNone/>
            </a:pPr>
            <a:r>
              <a:rPr lang="en-US" sz="950" b="1" dirty="0">
                <a:solidFill>
                  <a:srgbClr val="2E8B57"/>
                </a:solidFill>
                <a:latin typeface="Calibri" pitchFamily="34" charset="0"/>
                <a:cs typeface="Amiri" pitchFamily="2" charset="-78"/>
              </a:rPr>
              <a:t> nādir · rare → rarely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Meals and timing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فُطُورٌ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breakfast</a:t>
            </a:r>
            <a:endParaRPr lang="en-US" sz="1350" dirty="0"/>
          </a:p>
          <a:p>
            <a:pPr indent="0" marL="0">
              <a:buNone/>
            </a:pPr>
            <a:r>
              <a:rPr lang="en-US" sz="1100" i="1" dirty="0">
                <a:solidFill>
                  <a:srgbClr val="5A6472"/>
                </a:solidFill>
                <a:latin typeface="Calibri" pitchFamily="34" charset="0"/>
                <a:cs typeface="Amiri" pitchFamily="2" charset="-78"/>
              </a:rPr>
              <a:t>fu-ṭū-run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غَدَاءٌ</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lunch</a:t>
            </a:r>
            <a:endParaRPr lang="en-US" sz="1350" dirty="0"/>
          </a:p>
          <a:p>
            <a:pPr indent="0" marL="0">
              <a:buNone/>
            </a:pPr>
            <a:r>
              <a:rPr lang="en-US" sz="1100" i="1" dirty="0">
                <a:solidFill>
                  <a:srgbClr val="5A6472"/>
                </a:solidFill>
                <a:latin typeface="Calibri" pitchFamily="34" charset="0"/>
                <a:cs typeface="Amiri" pitchFamily="2" charset="-78"/>
              </a:rPr>
              <a:t>gha-dā-ʾun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عَشَاءٌ</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dinner</a:t>
            </a:r>
            <a:endParaRPr lang="en-US" sz="1350" dirty="0"/>
          </a:p>
          <a:p>
            <a:pPr indent="0" marL="0">
              <a:buNone/>
            </a:pPr>
            <a:r>
              <a:rPr lang="en-US" sz="1100" i="1" dirty="0">
                <a:solidFill>
                  <a:srgbClr val="5A6472"/>
                </a:solidFill>
                <a:latin typeface="Calibri" pitchFamily="34" charset="0"/>
                <a:cs typeface="Amiri" pitchFamily="2" charset="-78"/>
              </a:rPr>
              <a:t>ʿa-shā-ʾun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1" name="Text 3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وَجْبَةٌ</a:t>
            </a:r>
            <a:endParaRPr lang="ar-SA" sz="3000" dirty="0"/>
          </a:p>
        </p:txBody>
      </p:sp>
      <p:sp>
        <p:nvSpPr>
          <p:cNvPr id="42" name="Text 3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meal</a:t>
            </a:r>
            <a:endParaRPr lang="en-US" sz="1350" dirty="0"/>
          </a:p>
          <a:p>
            <a:pPr indent="0" marL="0">
              <a:buNone/>
            </a:pPr>
            <a:r>
              <a:rPr lang="en-US" sz="1100" i="1" dirty="0">
                <a:solidFill>
                  <a:srgbClr val="5A6472"/>
                </a:solidFill>
                <a:latin typeface="Calibri" pitchFamily="34" charset="0"/>
                <a:cs typeface="Amiri" pitchFamily="2" charset="-78"/>
              </a:rPr>
              <a:t>waj-ba-tun</a:t>
            </a:r>
            <a:endParaRPr lang="en-US" sz="1350" dirty="0"/>
          </a:p>
        </p:txBody>
      </p:sp>
      <p:sp>
        <p:nvSpPr>
          <p:cNvPr id="43" name="Shape 4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one</a:t>
            </a:r>
            <a:endParaRPr lang="en-US" sz="750" dirty="0"/>
          </a:p>
        </p:txBody>
      </p:sp>
      <p:sp>
        <p:nvSpPr>
          <p:cNvPr id="45" name="Text 4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وَجْبَةٌ</a:t>
            </a:r>
            <a:endParaRPr lang="ar-SA" sz="1500" dirty="0"/>
          </a:p>
        </p:txBody>
      </p:sp>
      <p:sp>
        <p:nvSpPr>
          <p:cNvPr id="46" name="Shape 4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وَجَبَاتٌ</a:t>
            </a:r>
            <a:endParaRPr lang="ar-SA" sz="15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وَجْبَةٌ خَفِيفَةٌ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snack</a:t>
            </a:r>
            <a:endParaRPr lang="en-US" sz="1350" dirty="0"/>
          </a:p>
          <a:p>
            <a:pPr indent="0" marL="0">
              <a:buNone/>
            </a:pPr>
            <a:r>
              <a:rPr lang="en-US" sz="1100" i="1" dirty="0">
                <a:solidFill>
                  <a:srgbClr val="5A6472"/>
                </a:solidFill>
                <a:latin typeface="Calibri" pitchFamily="34" charset="0"/>
                <a:cs typeface="Amiri" pitchFamily="2" charset="-78"/>
              </a:rPr>
              <a:t>waj-ba-tun kha-fī-fa-tun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Meals and timing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الصَّبَاحِ</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morning</a:t>
            </a:r>
            <a:endParaRPr lang="en-US" sz="1350" dirty="0"/>
          </a:p>
          <a:p>
            <a:pPr indent="0" marL="0">
              <a:buNone/>
            </a:pPr>
            <a:r>
              <a:rPr lang="en-US" sz="1100" i="1" dirty="0">
                <a:solidFill>
                  <a:srgbClr val="5A6472"/>
                </a:solidFill>
                <a:latin typeface="Calibri" pitchFamily="34" charset="0"/>
                <a:cs typeface="Amiri" pitchFamily="2" charset="-78"/>
              </a:rPr>
              <a:t>fī aṣ-ṣa-bā-ḥi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عِنْدَ الظُّهْرِ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at midday</a:t>
            </a:r>
            <a:endParaRPr lang="en-US" sz="1350" dirty="0"/>
          </a:p>
          <a:p>
            <a:pPr indent="0" marL="0">
              <a:buNone/>
            </a:pPr>
            <a:r>
              <a:rPr lang="en-US" sz="1100" i="1" dirty="0">
                <a:solidFill>
                  <a:srgbClr val="5A6472"/>
                </a:solidFill>
                <a:latin typeface="Calibri" pitchFamily="34" charset="0"/>
                <a:cs typeface="Amiri" pitchFamily="2" charset="-78"/>
              </a:rPr>
              <a:t>ʿin-da aẓ-ẓuh-ri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المَسَاءِ</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the evening</a:t>
            </a:r>
            <a:endParaRPr lang="en-US" sz="1350" dirty="0"/>
          </a:p>
          <a:p>
            <a:pPr indent="0" marL="0">
              <a:buNone/>
            </a:pPr>
            <a:r>
              <a:rPr lang="en-US" sz="1100" i="1" dirty="0">
                <a:solidFill>
                  <a:srgbClr val="5A6472"/>
                </a:solidFill>
                <a:latin typeface="Calibri" pitchFamily="34" charset="0"/>
                <a:cs typeface="Amiri" pitchFamily="2" charset="-78"/>
              </a:rPr>
              <a:t>fī al-ma-sā-ʾi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بَعْدَ المَدْرَسَةِ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after school</a:t>
            </a:r>
            <a:endParaRPr lang="en-US" sz="1350" dirty="0"/>
          </a:p>
          <a:p>
            <a:pPr indent="0" marL="0">
              <a:buNone/>
            </a:pPr>
            <a:r>
              <a:rPr lang="en-US" sz="1100" i="1" dirty="0">
                <a:solidFill>
                  <a:srgbClr val="5A6472"/>
                </a:solidFill>
                <a:latin typeface="Calibri" pitchFamily="34" charset="0"/>
                <a:cs typeface="Amiri" pitchFamily="2" charset="-78"/>
              </a:rPr>
              <a:t>baʿ-da al-mad-ra-sa-ti</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Eating and drinking verbs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18" name="Shape 15"/>
          <p:cNvSpPr/>
          <p:nvPr/>
        </p:nvSpPr>
        <p:spPr>
          <a:xfrm>
            <a:off x="8604504" y="1938528"/>
            <a:ext cx="133136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آكُلُ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eat</a:t>
            </a:r>
            <a:endParaRPr lang="en-US" sz="1350" dirty="0"/>
          </a:p>
          <a:p>
            <a:pPr indent="0" marL="0">
              <a:buNone/>
            </a:pPr>
            <a:r>
              <a:rPr lang="en-US" sz="1100" i="1" dirty="0">
                <a:solidFill>
                  <a:srgbClr val="5A6472"/>
                </a:solidFill>
                <a:latin typeface="Calibri" pitchFamily="34" charset="0"/>
                <a:cs typeface="Amiri" pitchFamily="2" charset="-78"/>
              </a:rPr>
              <a:t>ā-ku-lu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يَأْكُلُ</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تَأْكُلُ</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نَأْكُلُ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6" name="Shape 33"/>
          <p:cNvSpPr/>
          <p:nvPr/>
        </p:nvSpPr>
        <p:spPr>
          <a:xfrm>
            <a:off x="4782312" y="1938528"/>
            <a:ext cx="133136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أَشْرَبُ</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drink</a:t>
            </a:r>
            <a:endParaRPr lang="en-US" sz="1350" dirty="0"/>
          </a:p>
          <a:p>
            <a:pPr indent="0" marL="0">
              <a:buNone/>
            </a:pPr>
            <a:r>
              <a:rPr lang="en-US" sz="1100" i="1" dirty="0">
                <a:solidFill>
                  <a:srgbClr val="5A6472"/>
                </a:solidFill>
                <a:latin typeface="Calibri" pitchFamily="34" charset="0"/>
                <a:cs typeface="Amiri" pitchFamily="2" charset="-78"/>
              </a:rPr>
              <a:t>ash-ra-bu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4" name="Text 41"/>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يَشْرَبُ</a:t>
            </a:r>
            <a:endParaRPr lang="ar-SA" sz="150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7" name="Text 44"/>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تَشْرَبُ</a:t>
            </a:r>
            <a:endParaRPr lang="ar-SA" sz="150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نَشْرَبُ</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4" name="Shape 51"/>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 · we</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أَتَنَاوَلُ</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have / consume</a:t>
            </a:r>
            <a:endParaRPr lang="en-US" sz="1350" dirty="0"/>
          </a:p>
          <a:p>
            <a:pPr indent="0" marL="0">
              <a:buNone/>
            </a:pPr>
            <a:r>
              <a:rPr lang="en-US" sz="1100" i="1" dirty="0">
                <a:solidFill>
                  <a:srgbClr val="5A6472"/>
                </a:solidFill>
                <a:latin typeface="Calibri" pitchFamily="34" charset="0"/>
                <a:cs typeface="Amiri" pitchFamily="2" charset="-78"/>
              </a:rPr>
              <a:t>a-ta-nā-wa-lu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62" name="Text 59"/>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يَتَنَاوَلُ</a:t>
            </a:r>
            <a:endParaRPr lang="ar-SA" sz="150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65" name="Text 62"/>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تَتَنَاوَلُ</a:t>
            </a:r>
            <a:endParaRPr lang="ar-SA" sz="150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we</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نَتَنَاوَلُ</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72" name="Text 6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يَأْكُلُ / تَأْكُلُ</a:t>
            </a:r>
            <a:endParaRPr lang="ar-SA" sz="3000" dirty="0"/>
          </a:p>
        </p:txBody>
      </p:sp>
      <p:sp>
        <p:nvSpPr>
          <p:cNvPr id="73" name="Text 7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eats / she eats</a:t>
            </a:r>
            <a:endParaRPr lang="en-US" sz="1350" dirty="0"/>
          </a:p>
          <a:p>
            <a:pPr indent="0" marL="0">
              <a:buNone/>
            </a:pPr>
            <a:r>
              <a:rPr lang="en-US" sz="1100" i="1" dirty="0">
                <a:solidFill>
                  <a:srgbClr val="5A6472"/>
                </a:solidFill>
                <a:latin typeface="Calibri" pitchFamily="34" charset="0"/>
                <a:cs typeface="Amiri" pitchFamily="2" charset="-78"/>
              </a:rPr>
              <a:t>yaʾ-ku-lu / taʾ-ku-lu</a:t>
            </a:r>
            <a:endParaRPr lang="en-US" sz="1350" dirty="0"/>
          </a:p>
        </p:txBody>
      </p:sp>
      <p:sp>
        <p:nvSpPr>
          <p:cNvPr id="74" name="Shape 7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4389120" y="4261104"/>
            <a:ext cx="310896" cy="310896"/>
          </a:xfrm>
          <a:prstGeom prst="ellipse">
            <a:avLst/>
          </a:prstGeom>
          <a:solidFill>
            <a:srgbClr val="F4F1EA"/>
          </a:solidFill>
          <a:ln w="12700">
            <a:solidFill>
              <a:srgbClr val="F4F1EA"/>
            </a:solidFill>
            <a:prstDash val="solid"/>
          </a:ln>
        </p:spPr>
      </p:sp>
      <p:sp>
        <p:nvSpPr>
          <p:cNvPr id="76" name="Text 7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77" name="Text 74"/>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يَشْرَبُ / تَشْرَبُ</a:t>
            </a:r>
            <a:endParaRPr lang="ar-SA" sz="3000" dirty="0"/>
          </a:p>
        </p:txBody>
      </p:sp>
      <p:sp>
        <p:nvSpPr>
          <p:cNvPr id="78" name="Text 75"/>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 drinks / she drinks</a:t>
            </a:r>
            <a:endParaRPr lang="en-US" sz="1350" dirty="0"/>
          </a:p>
          <a:p>
            <a:pPr indent="0" marL="0">
              <a:buNone/>
            </a:pPr>
            <a:r>
              <a:rPr lang="en-US" sz="1100" i="1" dirty="0">
                <a:solidFill>
                  <a:srgbClr val="5A6472"/>
                </a:solidFill>
                <a:latin typeface="Calibri" pitchFamily="34" charset="0"/>
                <a:cs typeface="Amiri" pitchFamily="2" charset="-78"/>
              </a:rPr>
              <a:t>yash-ra-bu / tash-ra-bu</a:t>
            </a:r>
            <a:endParaRPr lang="en-US" sz="1350" dirty="0"/>
          </a:p>
        </p:txBody>
      </p:sp>
      <p:sp>
        <p:nvSpPr>
          <p:cNvPr id="79" name="Shape 7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566928" y="4261104"/>
            <a:ext cx="310896" cy="310896"/>
          </a:xfrm>
          <a:prstGeom prst="ellipse">
            <a:avLst/>
          </a:prstGeom>
          <a:solidFill>
            <a:srgbClr val="F4F1EA"/>
          </a:solidFill>
          <a:ln w="12700">
            <a:solidFill>
              <a:srgbClr val="F4F1EA"/>
            </a:solidFill>
            <a:prstDash val="solid"/>
          </a:ln>
        </p:spPr>
      </p:sp>
      <p:sp>
        <p:nvSpPr>
          <p:cNvPr id="81" name="Text 7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82" name="Text 7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يَتَنَاوَلُ / تَتَنَاوَلُ</a:t>
            </a:r>
            <a:endParaRPr lang="ar-SA" sz="3000" dirty="0"/>
          </a:p>
        </p:txBody>
      </p:sp>
      <p:sp>
        <p:nvSpPr>
          <p:cNvPr id="83" name="Text 8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he/she has a meal</a:t>
            </a:r>
            <a:endParaRPr lang="en-US" sz="1350" dirty="0"/>
          </a:p>
          <a:p>
            <a:pPr indent="0" marL="0">
              <a:buNone/>
            </a:pPr>
            <a:r>
              <a:rPr lang="en-US" sz="1100" i="1" dirty="0">
                <a:solidFill>
                  <a:srgbClr val="5A6472"/>
                </a:solidFill>
                <a:latin typeface="Calibri" pitchFamily="34" charset="0"/>
                <a:cs typeface="Amiri" pitchFamily="2" charset="-78"/>
              </a:rPr>
              <a:t>ya-ta-nā-wa-lu / ta-ta-nā-wa-lu</a:t>
            </a:r>
            <a:endParaRPr lang="en-US"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Routine language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نَادِرًا</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rarely</a:t>
            </a:r>
            <a:endParaRPr lang="en-US" sz="1350" dirty="0"/>
          </a:p>
          <a:p>
            <a:pPr indent="0" marL="0">
              <a:buNone/>
            </a:pPr>
            <a:r>
              <a:rPr lang="en-US" sz="1100" i="1" dirty="0">
                <a:solidFill>
                  <a:srgbClr val="5A6472"/>
                </a:solidFill>
                <a:latin typeface="Calibri" pitchFamily="34" charset="0"/>
                <a:cs typeface="Amiri" pitchFamily="2" charset="-78"/>
              </a:rPr>
              <a:t>nā-di-ran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كُلَّ يَوْمٍ</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every day</a:t>
            </a:r>
            <a:endParaRPr lang="en-US" sz="1350" dirty="0"/>
          </a:p>
          <a:p>
            <a:pPr indent="0" marL="0">
              <a:buNone/>
            </a:pPr>
            <a:r>
              <a:rPr lang="en-US" sz="1100" i="1" dirty="0">
                <a:solidFill>
                  <a:srgbClr val="5A6472"/>
                </a:solidFill>
                <a:latin typeface="Calibri" pitchFamily="34" charset="0"/>
                <a:cs typeface="Amiri" pitchFamily="2" charset="-78"/>
              </a:rPr>
              <a:t>kul-la yaw-min</a:t>
            </a:r>
            <a:endParaRPr lang="en-US" sz="1350" dirty="0"/>
          </a:p>
        </p:txBody>
      </p:sp>
      <p:sp>
        <p:nvSpPr>
          <p:cNvPr id="48" name="Shape 4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66928"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1" name="Text 4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 عَائِلَتِي</a:t>
            </a:r>
            <a:endParaRPr lang="ar-SA" sz="3000" dirty="0"/>
          </a:p>
        </p:txBody>
      </p:sp>
      <p:sp>
        <p:nvSpPr>
          <p:cNvPr id="52" name="Text 4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with my family</a:t>
            </a:r>
            <a:endParaRPr lang="en-US" sz="1350" dirty="0"/>
          </a:p>
          <a:p>
            <a:pPr indent="0" marL="0">
              <a:buNone/>
            </a:pPr>
            <a:r>
              <a:rPr lang="en-US" sz="1100" i="1" dirty="0">
                <a:solidFill>
                  <a:srgbClr val="5A6472"/>
                </a:solidFill>
                <a:latin typeface="Calibri" pitchFamily="34" charset="0"/>
                <a:cs typeface="Amiri" pitchFamily="2" charset="-78"/>
              </a:rPr>
              <a:t>ma-ʿa ʿā-ʾi-la-tī</a:t>
            </a:r>
            <a:endParaRPr lang="en-US" sz="1350" dirty="0"/>
          </a:p>
        </p:txBody>
      </p:sp>
      <p:sp>
        <p:nvSpPr>
          <p:cNvPr id="53" name="Text 5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1 · WHEN? + VERB + FOOD (WEBSITE RULES 1 AND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At breakfast I eat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فِي + الوَجْبَةِ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Meal</a:t>
            </a:r>
            <a:endParaRPr lang="en-US" sz="1100" dirty="0"/>
          </a:p>
        </p:txBody>
      </p:sp>
      <p:sp>
        <p:nvSpPr>
          <p:cNvPr id="17" name="Text 14"/>
          <p:cNvSpPr txBox="1"/>
          <p:nvPr/>
        </p:nvSpPr>
        <p:spPr>
          <a:xfrm>
            <a:off x="6775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When?</a:t>
            </a:r>
            <a:endParaRPr lang="en-US" sz="1100" dirty="0"/>
          </a:p>
        </p:txBody>
      </p:sp>
      <p:sp>
        <p:nvSpPr>
          <p:cNvPr id="18" name="Text 15"/>
          <p:cNvSpPr txBox="1"/>
          <p:nvPr/>
        </p:nvSpPr>
        <p:spPr>
          <a:xfrm>
            <a:off x="530352" y="1810512"/>
            <a:ext cx="6099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sentence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537192" y="2267712"/>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الفُطُورُ</a:t>
            </a:r>
            <a:endParaRPr lang="ar-SA" sz="2400" dirty="0"/>
          </a:p>
        </p:txBody>
      </p:sp>
      <p:sp>
        <p:nvSpPr>
          <p:cNvPr id="21" name="Text 18"/>
          <p:cNvSpPr txBox="1"/>
          <p:nvPr/>
        </p:nvSpPr>
        <p:spPr>
          <a:xfrm>
            <a:off x="6793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الصَّبَاحِ</a:t>
            </a:r>
            <a:endParaRPr lang="ar-SA" sz="1950" dirty="0"/>
          </a:p>
        </p:txBody>
      </p:sp>
      <p:sp>
        <p:nvSpPr>
          <p:cNvPr id="22" name="Text 19"/>
          <p:cNvSpPr txBox="1"/>
          <p:nvPr/>
        </p:nvSpPr>
        <p:spPr>
          <a:xfrm>
            <a:off x="6748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morning</a:t>
            </a:r>
            <a:endParaRPr lang="en-US" sz="950" dirty="0"/>
          </a:p>
        </p:txBody>
      </p:sp>
      <p:sp>
        <p:nvSpPr>
          <p:cNvPr id="23" name="Text 20"/>
          <p:cNvSpPr txBox="1"/>
          <p:nvPr/>
        </p:nvSpPr>
        <p:spPr>
          <a:xfrm>
            <a:off x="548640" y="2286000"/>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الفُطُورِ</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آكُلُ</a:t>
            </a:r>
            <a:pPr rtl="1" algn="ctr" indent="0" marL="0">
              <a:buNone/>
            </a:pPr>
            <a:r>
              <a:rPr lang="ar-SA" altLang="en-US" sz="1950" b="1" dirty="0">
                <a:solidFill>
                  <a:srgbClr val="1B3B6F"/>
                </a:solidFill>
                <a:latin typeface="Amiri" pitchFamily="2" charset="-78"/>
                <a:ea typeface="Amiri" pitchFamily="2" charset="-78"/>
                <a:cs typeface="Amiri" pitchFamily="2" charset="-78"/>
              </a:rPr>
              <a:t> الخُبْزَ وَالبَيْضَ.</a:t>
            </a:r>
            <a:endParaRPr lang="ar-SA" sz="1950" dirty="0"/>
          </a:p>
        </p:txBody>
      </p:sp>
      <p:sp>
        <p:nvSpPr>
          <p:cNvPr id="24" name="Text 21"/>
          <p:cNvSpPr txBox="1"/>
          <p:nvPr/>
        </p:nvSpPr>
        <p:spPr>
          <a:xfrm>
            <a:off x="502920" y="2676997"/>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breakfast I eat bread and eggs.</a:t>
            </a:r>
            <a:endParaRPr lang="en-US" sz="95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537192" y="3004718"/>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الغَدَاءُ</a:t>
            </a:r>
            <a:endParaRPr lang="ar-SA" sz="2400" dirty="0"/>
          </a:p>
        </p:txBody>
      </p:sp>
      <p:sp>
        <p:nvSpPr>
          <p:cNvPr id="29" name="Text 26"/>
          <p:cNvSpPr txBox="1"/>
          <p:nvPr/>
        </p:nvSpPr>
        <p:spPr>
          <a:xfrm>
            <a:off x="6793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عِنْدَ الظُّهْرِ</a:t>
            </a:r>
            <a:endParaRPr lang="ar-SA" sz="1950" dirty="0"/>
          </a:p>
        </p:txBody>
      </p:sp>
      <p:sp>
        <p:nvSpPr>
          <p:cNvPr id="30" name="Text 27"/>
          <p:cNvSpPr txBox="1"/>
          <p:nvPr/>
        </p:nvSpPr>
        <p:spPr>
          <a:xfrm>
            <a:off x="6748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midday</a:t>
            </a:r>
            <a:endParaRPr lang="en-US" sz="950" dirty="0"/>
          </a:p>
        </p:txBody>
      </p:sp>
      <p:sp>
        <p:nvSpPr>
          <p:cNvPr id="31" name="Text 28"/>
          <p:cNvSpPr txBox="1"/>
          <p:nvPr/>
        </p:nvSpPr>
        <p:spPr>
          <a:xfrm>
            <a:off x="548640" y="3023006"/>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الغَدَاءِ</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آكُلُ</a:t>
            </a:r>
            <a:pPr rtl="1" algn="ctr" indent="0" marL="0">
              <a:buNone/>
            </a:pPr>
            <a:r>
              <a:rPr lang="ar-SA" altLang="en-US" sz="1950" b="1" dirty="0">
                <a:solidFill>
                  <a:srgbClr val="1B3B6F"/>
                </a:solidFill>
                <a:latin typeface="Amiri" pitchFamily="2" charset="-78"/>
                <a:ea typeface="Amiri" pitchFamily="2" charset="-78"/>
                <a:cs typeface="Amiri" pitchFamily="2" charset="-78"/>
              </a:rPr>
              <a:t> الأَرُزَّ وَالدَّجَاجَ.</a:t>
            </a:r>
            <a:endParaRPr lang="ar-SA" sz="1950" dirty="0"/>
          </a:p>
        </p:txBody>
      </p:sp>
      <p:sp>
        <p:nvSpPr>
          <p:cNvPr id="32" name="Text 29"/>
          <p:cNvSpPr txBox="1"/>
          <p:nvPr/>
        </p:nvSpPr>
        <p:spPr>
          <a:xfrm>
            <a:off x="502920" y="3414004"/>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lunch I eat rice and chicken.</a:t>
            </a:r>
            <a:endParaRPr lang="en-US" sz="950" dirty="0"/>
          </a:p>
        </p:txBody>
      </p:sp>
      <p:sp>
        <p:nvSpPr>
          <p:cNvPr id="33" name="Shape 30"/>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5" name="Shape 32"/>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9537192" y="3741725"/>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العَشَاءُ</a:t>
            </a:r>
            <a:endParaRPr lang="ar-SA" sz="2400" dirty="0"/>
          </a:p>
        </p:txBody>
      </p:sp>
      <p:sp>
        <p:nvSpPr>
          <p:cNvPr id="37" name="Text 34"/>
          <p:cNvSpPr txBox="1"/>
          <p:nvPr/>
        </p:nvSpPr>
        <p:spPr>
          <a:xfrm>
            <a:off x="6793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المَسَاءِ</a:t>
            </a:r>
            <a:endParaRPr lang="ar-SA" sz="1950" dirty="0"/>
          </a:p>
        </p:txBody>
      </p:sp>
      <p:sp>
        <p:nvSpPr>
          <p:cNvPr id="38" name="Text 35"/>
          <p:cNvSpPr txBox="1"/>
          <p:nvPr/>
        </p:nvSpPr>
        <p:spPr>
          <a:xfrm>
            <a:off x="6748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the evening</a:t>
            </a:r>
            <a:endParaRPr lang="en-US" sz="950" dirty="0"/>
          </a:p>
        </p:txBody>
      </p:sp>
      <p:sp>
        <p:nvSpPr>
          <p:cNvPr id="39" name="Text 36"/>
          <p:cNvSpPr txBox="1"/>
          <p:nvPr/>
        </p:nvSpPr>
        <p:spPr>
          <a:xfrm>
            <a:off x="548640" y="3760013"/>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فِي العَشَاءِ</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أَشْرَبُ</a:t>
            </a:r>
            <a:pPr rtl="1" algn="ctr" indent="0" marL="0">
              <a:buNone/>
            </a:pPr>
            <a:r>
              <a:rPr lang="ar-SA" altLang="en-US" sz="1950" b="1" dirty="0">
                <a:solidFill>
                  <a:srgbClr val="1B3B6F"/>
                </a:solidFill>
                <a:latin typeface="Amiri" pitchFamily="2" charset="-78"/>
                <a:ea typeface="Amiri" pitchFamily="2" charset="-78"/>
                <a:cs typeface="Amiri" pitchFamily="2" charset="-78"/>
              </a:rPr>
              <a:t> المَاءَ.</a:t>
            </a:r>
            <a:endParaRPr lang="ar-SA" sz="1950" dirty="0"/>
          </a:p>
        </p:txBody>
      </p:sp>
      <p:sp>
        <p:nvSpPr>
          <p:cNvPr id="40" name="Text 37"/>
          <p:cNvSpPr txBox="1"/>
          <p:nvPr/>
        </p:nvSpPr>
        <p:spPr>
          <a:xfrm>
            <a:off x="502920" y="4151010"/>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dinner I drink water.</a:t>
            </a:r>
            <a:endParaRPr lang="en-US" sz="950" dirty="0"/>
          </a:p>
        </p:txBody>
      </p:sp>
      <p:sp>
        <p:nvSpPr>
          <p:cNvPr id="41" name="Shape 3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9537192" y="4478731"/>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وَجْبَةٌ خَفِيفَةٌ</a:t>
            </a:r>
            <a:endParaRPr lang="ar-SA" sz="2400" dirty="0"/>
          </a:p>
        </p:txBody>
      </p:sp>
      <p:sp>
        <p:nvSpPr>
          <p:cNvPr id="45" name="Text 42"/>
          <p:cNvSpPr txBox="1"/>
          <p:nvPr/>
        </p:nvSpPr>
        <p:spPr>
          <a:xfrm>
            <a:off x="6793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بَعْدَ المَدْرَسَةِ</a:t>
            </a:r>
            <a:endParaRPr lang="ar-SA" sz="1950" dirty="0"/>
          </a:p>
        </p:txBody>
      </p:sp>
      <p:sp>
        <p:nvSpPr>
          <p:cNvPr id="46" name="Text 43"/>
          <p:cNvSpPr txBox="1"/>
          <p:nvPr/>
        </p:nvSpPr>
        <p:spPr>
          <a:xfrm>
            <a:off x="6748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school</a:t>
            </a:r>
            <a:endParaRPr lang="en-US" sz="950" dirty="0"/>
          </a:p>
        </p:txBody>
      </p:sp>
      <p:sp>
        <p:nvSpPr>
          <p:cNvPr id="47" name="Text 44"/>
          <p:cNvSpPr txBox="1"/>
          <p:nvPr/>
        </p:nvSpPr>
        <p:spPr>
          <a:xfrm>
            <a:off x="548640" y="4497019"/>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0E7C86"/>
                </a:solidFill>
                <a:latin typeface="Amiri" pitchFamily="2" charset="-78"/>
                <a:ea typeface="Amiri" pitchFamily="2" charset="-78"/>
                <a:cs typeface="Amiri" pitchFamily="2" charset="-78"/>
              </a:rPr>
              <a:t>بَعْدَ المَدْرَسَةِ</a:t>
            </a:r>
            <a:pPr rtl="1" algn="ctr" indent="0" marL="0">
              <a:buNone/>
            </a:pPr>
            <a:r>
              <a:rPr lang="ar-SA" altLang="en-US" sz="1950" b="1" dirty="0">
                <a:solidFill>
                  <a:srgbClr val="1B3B6F"/>
                </a:solidFill>
                <a:latin typeface="Amiri" pitchFamily="2" charset="-78"/>
                <a:cs typeface="Amiri" pitchFamily="2" charset="-78"/>
              </a:rPr>
              <a:t> </a:t>
            </a:r>
            <a:pPr rtl="1" algn="ctr" indent="0" marL="0">
              <a:buNone/>
            </a:pPr>
            <a:r>
              <a:rPr lang="ar-SA" altLang="en-US" sz="1950" b="1" dirty="0">
                <a:solidFill>
                  <a:srgbClr val="1D5FBF"/>
                </a:solidFill>
                <a:latin typeface="Amiri" pitchFamily="2" charset="-78"/>
                <a:ea typeface="Amiri" pitchFamily="2" charset="-78"/>
                <a:cs typeface="Amiri" pitchFamily="2" charset="-78"/>
              </a:rPr>
              <a:t>آكُلُ</a:t>
            </a:r>
            <a:pPr rtl="1" algn="ctr" indent="0" marL="0">
              <a:buNone/>
            </a:pPr>
            <a:r>
              <a:rPr lang="ar-SA" altLang="en-US" sz="1950" b="1" dirty="0">
                <a:solidFill>
                  <a:srgbClr val="1B3B6F"/>
                </a:solidFill>
                <a:latin typeface="Amiri" pitchFamily="2" charset="-78"/>
                <a:ea typeface="Amiri" pitchFamily="2" charset="-78"/>
                <a:cs typeface="Amiri" pitchFamily="2" charset="-78"/>
              </a:rPr>
              <a:t> تُفَّاحَةً.</a:t>
            </a:r>
            <a:endParaRPr lang="ar-SA" sz="1950" dirty="0"/>
          </a:p>
        </p:txBody>
      </p:sp>
      <p:sp>
        <p:nvSpPr>
          <p:cNvPr id="48" name="Text 45"/>
          <p:cNvSpPr txBox="1"/>
          <p:nvPr/>
        </p:nvSpPr>
        <p:spPr>
          <a:xfrm>
            <a:off x="502920" y="4888017"/>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After school I eat an apple.</a:t>
            </a:r>
            <a:endParaRPr lang="en-US" sz="950" dirty="0"/>
          </a:p>
        </p:txBody>
      </p:sp>
      <p:sp>
        <p:nvSpPr>
          <p:cNvPr id="49" name="Shape 4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0" name="Text 47"/>
          <p:cNvSpPr txBox="1"/>
          <p:nvPr/>
        </p:nvSpPr>
        <p:spPr>
          <a:xfrm>
            <a:off x="9537192" y="5215738"/>
            <a:ext cx="210312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الفُطُورُ</a:t>
            </a:r>
            <a:endParaRPr lang="ar-SA" sz="2400" dirty="0"/>
          </a:p>
        </p:txBody>
      </p:sp>
      <p:sp>
        <p:nvSpPr>
          <p:cNvPr id="51" name="Text 48"/>
          <p:cNvSpPr txBox="1"/>
          <p:nvPr/>
        </p:nvSpPr>
        <p:spPr>
          <a:xfrm>
            <a:off x="6793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السَّاعَةِ السَّابِعَةِ</a:t>
            </a:r>
            <a:endParaRPr lang="ar-SA" sz="1950" dirty="0"/>
          </a:p>
        </p:txBody>
      </p:sp>
      <p:sp>
        <p:nvSpPr>
          <p:cNvPr id="52" name="Text 49"/>
          <p:cNvSpPr txBox="1"/>
          <p:nvPr/>
        </p:nvSpPr>
        <p:spPr>
          <a:xfrm>
            <a:off x="6748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at seven</a:t>
            </a:r>
            <a:endParaRPr lang="en-US" sz="950" dirty="0"/>
          </a:p>
        </p:txBody>
      </p:sp>
      <p:sp>
        <p:nvSpPr>
          <p:cNvPr id="53" name="Text 50"/>
          <p:cNvSpPr txBox="1"/>
          <p:nvPr/>
        </p:nvSpPr>
        <p:spPr>
          <a:xfrm>
            <a:off x="548640" y="5234026"/>
            <a:ext cx="6062472"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2" charset="-78"/>
                <a:ea typeface="Amiri" pitchFamily="2" charset="-78"/>
                <a:cs typeface="Amiri" pitchFamily="2" charset="-78"/>
              </a:rPr>
              <a:t>أَتَنَاوَلُ</a:t>
            </a:r>
            <a:pPr rtl="1" algn="ctr" indent="0" marL="0">
              <a:buNone/>
            </a:pPr>
            <a:r>
              <a:rPr lang="ar-SA" altLang="en-US" sz="1950" b="1" dirty="0">
                <a:solidFill>
                  <a:srgbClr val="1B3B6F"/>
                </a:solidFill>
                <a:latin typeface="Amiri" pitchFamily="2" charset="-78"/>
                <a:ea typeface="Amiri" pitchFamily="2" charset="-78"/>
                <a:cs typeface="Amiri" pitchFamily="2" charset="-78"/>
              </a:rPr>
              <a:t> الفُطُورَ </a:t>
            </a:r>
            <a:pPr rtl="1" algn="ctr" indent="0" marL="0">
              <a:buNone/>
            </a:pPr>
            <a:r>
              <a:rPr lang="ar-SA" altLang="en-US" sz="1950" b="1" dirty="0">
                <a:solidFill>
                  <a:srgbClr val="0E7C86"/>
                </a:solidFill>
                <a:latin typeface="Amiri" pitchFamily="2" charset="-78"/>
                <a:ea typeface="Amiri" pitchFamily="2" charset="-78"/>
                <a:cs typeface="Amiri" pitchFamily="2" charset="-78"/>
              </a:rPr>
              <a:t>فِي السَّاعَةِ السَّابِعَةِ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54" name="Text 51"/>
          <p:cNvSpPr txBox="1"/>
          <p:nvPr/>
        </p:nvSpPr>
        <p:spPr>
          <a:xfrm>
            <a:off x="502920" y="5625023"/>
            <a:ext cx="615391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have breakfast at seven.</a:t>
            </a:r>
            <a:endParaRPr lang="en-US" sz="9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fī the meal ends in -i: fi l-fuṭūri, fi l-ghadāʼi, fi l-ʿashāʼi.</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1B3B6F"/>
                </a:solidFill>
                <a:latin typeface="Calibri" pitchFamily="34" charset="0"/>
                <a:cs typeface="Amiri" pitchFamily="2" charset="-78"/>
              </a:rPr>
              <a:t>GRAMMAR FOCUS · PART 2 · HAVE A MEAL · ASK A BOY OR A GIRL (WEBSITE RULES 3 AND 4)</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Have a meal — and ask about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أَتَنَاوَلُ · مَاذَا تَأْكُلُ؟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HAVE A MEAL · FORMAL</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أَتَنَاوَلُ + الوَجْبَةَ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ea typeface="Amiri" pitchFamily="2" charset="-78"/>
                <a:cs typeface="Amiri" pitchFamily="2" charset="-78"/>
              </a:rPr>
              <a:t>أَتَنَاوَلُ الغَدَاءَ عِنْدَ الظُّهْرِ.</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have lunch at midday.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meal is the object: no fī.</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BOY</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مَاذَا تَأْكُلُ؟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مَاذَا تَأْكُلُ فِي العَشَاءِ؟</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What do you (m.) eat for dinner?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ta-ʼku-lu</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C0386B"/>
          </a:solidFill>
          <a:ln w="12700">
            <a:solidFill>
              <a:srgbClr val="C0386B"/>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ASK A GIRL</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مَاذَا تَأْكُلِينَ؟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مَاذَا تَأْكُلِينَ فِي الفُطُورِ؟</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What do you (f.) eat for breakfast?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ta-ʼku-lī-na: add -īna.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the meal itself is the object of atanāwalu.</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2" charset="-78"/>
                <a:ea typeface="Amiri" pitchFamily="2" charset="-78"/>
                <a:cs typeface="Amiri" pitchFamily="2" charset="-78"/>
              </a:rPr>
              <a:t>أَتَنَاوَلُ الغَدَاءَ.</a:t>
            </a:r>
            <a:endParaRPr lang="ar-SA" sz="23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2" charset="-78"/>
                <a:ea typeface="Amiri" pitchFamily="2" charset="-78"/>
                <a:cs typeface="Amiri" pitchFamily="2" charset="-78"/>
              </a:rPr>
              <a:t>أَتَنَاوَلُ فِي الغَدَاءِ.</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500" b="1" dirty="0">
                <a:solidFill>
                  <a:srgbClr val="8A6D1E"/>
                </a:solidFill>
                <a:latin typeface="Amiri" pitchFamily="2" charset="-78"/>
                <a:ea typeface="Amiri" pitchFamily="2" charset="-78"/>
                <a:cs typeface="Amiri" pitchFamily="2" charset="-78"/>
              </a:rPr>
              <a:t>آكُلُ وَأَشْرَبُ مَعَ الوَجَبَاتِ وَحَرْفِ الجَرِّ فِي</a:t>
            </a:r>
            <a:endParaRPr lang="ar-SA" sz="25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Choose the correct action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آكُلُ + طَعَامًا · أَشْرَبُ + شَرَابًا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آكُلُ الخُبْزَ.   ·   أَشْرَبُ الحَلِيبَ.</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Add the meal</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فِي الفُطُورِ / فِي الغَدَاءِ / فِي العَشَاءِ</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آكُلُ البَيْضَ فِي الفُطُورِ.   ·   أَشْرَبُ المَاءَ فِي الغَدَاءِ.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Ask what someone eats</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مَاذَا تَأْكُلُ...؟ / مَاذَا تَأْكُلِينَ...؟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مَاذَا تَأْكُلُ فِي العَشَاءِ؟   ·   مَاذَا تَأْكُلِينَ فِي الفُطُورِ؟</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Use </a:t>
            </a:r>
            <a:pPr algn="l" indent="0" marL="0">
              <a:buNone/>
            </a:pPr>
            <a:r>
              <a:rPr lang="ar-SA" altLang="en-US" sz="1650" b="1" dirty="0">
                <a:solidFill>
                  <a:srgbClr val="1B3B6F"/>
                </a:solidFill>
                <a:latin typeface="Amiri" pitchFamily="2" charset="-78"/>
                <a:ea typeface="Amiri" pitchFamily="2" charset="-78"/>
                <a:cs typeface="Amiri" pitchFamily="2" charset="-78"/>
              </a:rPr>
              <a:t>أَتَنَاوَلُ</a:t>
            </a:r>
            <a:pPr algn="l" indent="0" marL="0">
              <a:buNone/>
            </a:pPr>
            <a:r>
              <a:rPr lang="en-US" sz="1250" b="1" dirty="0">
                <a:solidFill>
                  <a:srgbClr val="1B3B6F"/>
                </a:solidFill>
                <a:latin typeface="Calibri" pitchFamily="34" charset="0"/>
                <a:cs typeface="Amiri" pitchFamily="2" charset="-78"/>
              </a:rPr>
              <a:t> for a whole meal</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أَتَنَاوَلُ + الوَجْبَةَ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أَتَنَاوَلُ الفُطُورَ فِي السَّاعَةِ السَّابِعَةِ.   ·   هِيَ تَتَنَاوَلُ الغَدَاءَ مَعَ أُسْرَتِهَا.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يَتَنَاوَلُ الفُطُورَ.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أَنَا تَتَنَاوَلُ الفُطُورَ.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تَتَنَاوَلُ الفُطُورَ.</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آكُلُ الخُبْزَ وَالجُبْنَ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الصَّبَاحِ</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أَيْنَ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لِمَاذَا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يَأْكُلُ فِي العَشَاءِ؟</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تَأْكُلِينَ فِي العَشَاءِ؟</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آكُلُ العَشَاءَ؟</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complete routine?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آكُلُ الخُبْزَ وَالجُبْنَ فِي الفُطُورِ.</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خُبْزٌ وَجُبْنٌ.</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الفُطُورِ.</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breakfast.”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يَتَنَاوَلُ الفُطُورَ.</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أَنَا تَتَنَاوَلُ الفُطُورَ.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تَتَنَاوَلُ الفُطُورَ.</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third-person form begins with </a:t>
            </a:r>
            <a:pPr algn="l" indent="0" marL="0">
              <a:buNone/>
            </a:pPr>
            <a:r>
              <a:rPr lang="ar-SA" altLang="en-US" sz="1350" dirty="0">
                <a:solidFill>
                  <a:srgbClr val="8A6D1E"/>
                </a:solidFill>
                <a:latin typeface="Amiri" pitchFamily="2" charset="-78"/>
                <a:ea typeface="Amiri" pitchFamily="2" charset="-78"/>
                <a:cs typeface="Amiri" pitchFamily="2" charset="-78"/>
              </a:rPr>
              <a:t>تَـ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ea typeface="Amiri" pitchFamily="2" charset="-78"/>
                <a:cs typeface="Amiri" pitchFamily="2" charset="-78"/>
              </a:rPr>
              <a:t>آكُلُ الخُبْزَ وَالجُبْنَ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الصَّبَاحِ</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أَيْنَ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لِمَاذَا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فِي الصَّبَاحِ</a:t>
            </a:r>
            <a:pPr algn="l" indent="0" marL="0">
              <a:buNone/>
            </a:pPr>
            <a:r>
              <a:rPr lang="en-US" sz="1050" i="1" dirty="0">
                <a:solidFill>
                  <a:srgbClr val="8A6D1E"/>
                </a:solidFill>
                <a:latin typeface="Calibri" pitchFamily="34" charset="0"/>
                <a:cs typeface="Amiri" pitchFamily="2" charset="-78"/>
              </a:rPr>
              <a:t> is a time phrase.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Ask a girl what she eats for dinner.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مَاذَا يَأْكُلُ فِي العَشَاءِ؟</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مَاذَا تَأْكُلِينَ فِي العَشَاءِ؟</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هَلْ آكُلُ العَشَاءَ؟</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a:t>
            </a:r>
            <a:pPr algn="l" indent="0" marL="0">
              <a:buNone/>
            </a:pPr>
            <a:r>
              <a:rPr lang="ar-SA" altLang="en-US" sz="1350" dirty="0">
                <a:solidFill>
                  <a:srgbClr val="8A6D1E"/>
                </a:solidFill>
                <a:latin typeface="Amiri" pitchFamily="2" charset="-78"/>
                <a:ea typeface="Amiri" pitchFamily="2" charset="-78"/>
                <a:cs typeface="Amiri" pitchFamily="2" charset="-78"/>
              </a:rPr>
              <a:t>تَأْكُلِينَ</a:t>
            </a:r>
            <a:pPr algn="l" indent="0" marL="0">
              <a:buNone/>
            </a:pPr>
            <a:r>
              <a:rPr lang="en-US" sz="1050" i="1" dirty="0">
                <a:solidFill>
                  <a:srgbClr val="8A6D1E"/>
                </a:solidFill>
                <a:latin typeface="Calibri" pitchFamily="34" charset="0"/>
                <a:cs typeface="Amiri" pitchFamily="2" charset="-78"/>
              </a:rPr>
              <a:t> for a female listener.</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 complete routine?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آكُلُ الخُبْزَ وَالجُبْنَ فِي الفُطُورِ.</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خُبْزٌ وَجُبْنٌ.</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الفُطُورِ.</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gives an action, food and meal.</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build my meal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Breakfast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عَادَةً</a:t>
            </a:r>
            <a:pPr rtl="1" algn="ctr" indent="0" marL="0">
              <a:lnSpc>
                <a:spcPct val="120000"/>
              </a:lnSpc>
              <a:buNone/>
            </a:pPr>
            <a:r>
              <a:rPr lang="ar-SA" altLang="en-US" sz="1750" b="1" dirty="0">
                <a:solidFill>
                  <a:srgbClr val="1B3B6F"/>
                </a:solidFill>
                <a:latin typeface="Amiri" pitchFamily="2" charset="-78"/>
                <a:cs typeface="Amiri" pitchFamily="2" charset="-78"/>
              </a:rPr>
              <a:t>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أَتَنَاوَلُ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الفُطُورَ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السَّاعَةِ السَّابِعَةِ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Frequency + verb + meal +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Food + drink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آكُلُ</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الخُبْزَ وَالجُبْنَ، وَ</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أَشْرَبُ</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الحَلِيبَ.</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Eat for food, drink for milk.</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Lunch + snack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عِنْدَ الظُّهْرِ</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آكُلُ فِي المَدْرَسَةِ، وَ</a:t>
            </a:r>
            <a:pPr rtl="1" algn="ctr" indent="0" marL="0">
              <a:lnSpc>
                <a:spcPct val="120000"/>
              </a:lnSpc>
              <a:buNone/>
            </a:pPr>
            <a:r>
              <a:rPr lang="ar-SA" altLang="en-US" sz="1750" b="1" dirty="0">
                <a:solidFill>
                  <a:srgbClr val="7B3FA0"/>
                </a:solidFill>
                <a:latin typeface="Amiri" pitchFamily="2" charset="-78"/>
                <a:ea typeface="Amiri" pitchFamily="2" charset="-78"/>
                <a:cs typeface="Amiri" pitchFamily="2" charset="-78"/>
              </a:rPr>
              <a:t>أَحْيَانًا</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آكُلُ وَجْبَةً خَفِيفَةً.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Sometimes = aḥyānan.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Dinner</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فِي المَسَاءِ</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أَتَنَاوَلُ العَشَاءَ مَعَ عَائِلَتِي، ثُمَّ أَشْرَبُ المَاءَ.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Then = thumma.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WHEN</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a:t>
            </a:r>
            <a:endParaRPr lang="en-US" sz="800" dirty="0"/>
          </a:p>
        </p:txBody>
      </p:sp>
      <p:sp>
        <p:nvSpPr>
          <p:cNvPr id="49" name="Shape 45"/>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HOW OFTEN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عَادَةً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الفُطُورَ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السَّاعَةِ السَّابِعَةِ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الخُبْزَ وَالجُبْنَ، وَأَشْرَبُ الحَلِيبَ.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عِنْدَ الظُّهْرِ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الغَدَاءَ فِي المَدْرَسَةِ.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بَعْدَ المَدْرَسَةِ</a:t>
            </a:r>
            <a:pPr rtl="1" algn="r" indent="0" marL="0">
              <a:lnSpc>
                <a:spcPct val="120000"/>
              </a:lnSpc>
              <a:buNone/>
            </a:pPr>
            <a:r>
              <a:rPr lang="ar-SA" altLang="en-US" sz="1400" b="1" dirty="0">
                <a:solidFill>
                  <a:srgbClr val="1B3B6F"/>
                </a:solidFill>
                <a:latin typeface="Amiri" pitchFamily="2" charset="-78"/>
                <a:cs typeface="Amiri" pitchFamily="2" charset="-78"/>
              </a:rPr>
              <a:t> </a:t>
            </a:r>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أَحْيَانًا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آكُلُ وَجْبَةً خَفِيفَةً.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فِي المَسَاءِ</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أَتَنَاوَلُ العَشَاءَ مَعَ عَائِلَتِي، ثُمَّ أَشْرَبُ المَاءَ.</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usually have breakfast at seven. I eat bread and cheese and drink milk. At midday I eat lunch at school. After school I sometimes eat a snack. In the evening I have dinner with my family, then I drink water.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آكُلُ الخُبْزَ وَالبَيْضَ فِي الفُطُورِ.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eat bread and eggs for breakfast.</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فِي + the meal.</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أَتَنَاوَلُ الغَدَاءَ عِنْدَ الظُّهْرِ.</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have lunch at midday.</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أَتَنَاوَلُ can introduce the whole meal.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أَشْرَبُ الحَلِيبَ فِي الصَّبَاحِ.</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drink milk in the morning.</a:t>
            </a:r>
            <a:endParaRPr lang="en-US" sz="1250" dirty="0"/>
          </a:p>
          <a:p>
            <a:pPr indent="0" marL="0">
              <a:buNone/>
            </a:pPr>
            <a:r>
              <a:rPr lang="en-US" sz="1050" i="1" dirty="0">
                <a:solidFill>
                  <a:srgbClr val="8A6D1E"/>
                </a:solidFill>
                <a:latin typeface="Calibri" pitchFamily="34" charset="0"/>
                <a:cs typeface="Amiri" pitchFamily="2" charset="-78"/>
              </a:rPr>
              <a:t>Time phrases can come at the end or beginning.</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مَاذَا تَأْكُلِينَ فِي العَشَاءِ؟</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What do you eat for dinner? (to a female)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Use تَأْكُلِينَ when addressing a female.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2F6FB0"/>
                </a:solidFill>
                <a:latin typeface="Calibri" pitchFamily="34" charset="0"/>
                <a:cs typeface="Amiri" pitchFamily="2" charset="-78"/>
              </a:rPr>
              <a:t>WE DO · PICTURE MATCH · WEBSITE GAME “VISUAL GAME — MEALS AND EATING ROUTINES”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Meals of the day: match the picture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midday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العَشَاءَ مَسَاءً.</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الإِفْطَارَ صَبَاحًا.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أَتَنَاوَلُ الغَدَاءَ ظُهْرًا.</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أَيُّ وَجْبَةٍ؟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morning</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الإِفْطَارَ صَبَاحًا.</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breakfast in the morning.</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midday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الغَدَاءَ ظُهْرًا.</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lunch at midday.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evening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أَتَنَاوَلُ العَشَاءَ مَسَاءً.</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have dinner in the evening.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Match the routine to the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الفُطُورُ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الغَدَاءُ</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العَشَاءُ</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الحَلِيبَ قَبْلَ المَدْرَسَةِ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أَتَنَاوَلُ وَجْبَةً مَعَ عَائِلَتِي بَعْدَ العَمَلِ</a:t>
            </a:r>
            <a:endParaRPr lang="ar-SA" sz="16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سَانْدَوِيتْشًا فِي المَدْرَسَةِ</a:t>
            </a:r>
            <a:endParaRPr lang="ar-SA" sz="1800" dirty="0"/>
          </a:p>
        </p:txBody>
      </p:sp>
      <p:sp>
        <p:nvSpPr>
          <p:cNvPr id="27" name="Shape 24"/>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28" name="Shape 25"/>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29" name="Text 26"/>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الصَّبَاحُ · morning</a:t>
            </a:r>
            <a:endParaRPr lang="en-US" sz="950" dirty="0"/>
          </a:p>
        </p:txBody>
      </p:sp>
      <p:sp>
        <p:nvSpPr>
          <p:cNvPr id="30" name="Shape 27"/>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1" name="Shape 28"/>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2" name="Text 29"/>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الظُّهْرُ · midday</a:t>
            </a:r>
            <a:endParaRPr lang="en-US" sz="950" dirty="0"/>
          </a:p>
        </p:txBody>
      </p:sp>
      <p:sp>
        <p:nvSpPr>
          <p:cNvPr id="33" name="Shape 30"/>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4" name="Shape 31"/>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المَسَاءُ · evening</a:t>
            </a:r>
            <a:endParaRPr lang="en-US" sz="9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1 · الصَّبَاحُ · morning</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الفُطُورُ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أَشْرَبُ الحَلِيبَ قَبْلَ المَدْرَسَةِ</a:t>
            </a:r>
            <a:endParaRPr lang="ar-SA" sz="1800" dirty="0"/>
          </a:p>
        </p:txBody>
      </p:sp>
      <p:sp>
        <p:nvSpPr>
          <p:cNvPr id="22" name="Shape 19"/>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3" name="Shape 20"/>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2 · الظُّهْرُ · midday</a:t>
            </a:r>
            <a:endParaRPr lang="en-US" sz="950" dirty="0"/>
          </a:p>
        </p:txBody>
      </p:sp>
      <p:sp>
        <p:nvSpPr>
          <p:cNvPr id="25" name="Shape 22"/>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الغَدَاءُ</a:t>
            </a:r>
            <a:endParaRPr lang="ar-SA" sz="1800" dirty="0"/>
          </a:p>
        </p:txBody>
      </p:sp>
      <p:sp>
        <p:nvSpPr>
          <p:cNvPr id="27" name="Shape 24"/>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آكُلُ سَانْدَوِيتْشًا فِي المَدْرَسَةِ</a:t>
            </a:r>
            <a:endParaRPr lang="ar-SA" sz="1800" dirty="0"/>
          </a:p>
        </p:txBody>
      </p:sp>
      <p:sp>
        <p:nvSpPr>
          <p:cNvPr id="29" name="Shape 26"/>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0" name="Shape 27"/>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3 · المَسَاءُ · evening</a:t>
            </a:r>
            <a:endParaRPr lang="en-US" sz="950" dirty="0"/>
          </a:p>
        </p:txBody>
      </p:sp>
      <p:sp>
        <p:nvSpPr>
          <p:cNvPr id="32" name="Shape 29"/>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العَشَاءُ</a:t>
            </a:r>
            <a:endParaRPr lang="ar-SA" sz="1800" dirty="0"/>
          </a:p>
        </p:txBody>
      </p:sp>
      <p:sp>
        <p:nvSpPr>
          <p:cNvPr id="34" name="Shape 31"/>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أَتَنَاوَلُ وَجْبَةً مَعَ عَائِلَتِي بَعْدَ العَمَلِ</a:t>
            </a:r>
            <a:endParaRPr lang="ar-SA" sz="1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most formal for “I have a meal”?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أَشْرَبُ</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أُفَضِّلُ</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30" name="Shape 27"/>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male third-person form.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تَتَنَاوَلُ</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يَتَنَاوَلُ</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أَتَنَاوَلُ</a:t>
            </a:r>
            <a:endParaRPr lang="ar-SA" sz="2050" dirty="0"/>
          </a:p>
        </p:txBody>
      </p:sp>
      <p:sp>
        <p:nvSpPr>
          <p:cNvPr id="43" name="Shape 40"/>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do you drink at breakfast?” to a girl.</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تَشْرَبُ فِي الفُطُورِ؟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مَاذَا تَشْرَبِينَ فِي الفُطُورِ؟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 أَشْرَبُ الفُطُورَ؟</a:t>
            </a:r>
            <a:endParaRPr lang="ar-SA" sz="20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is most formal for “I have a meal”?</a:t>
            </a:r>
            <a:endParaRPr lang="en-US" sz="1250" dirty="0"/>
          </a:p>
        </p:txBody>
      </p:sp>
      <p:sp>
        <p:nvSpPr>
          <p:cNvPr id="21" name="Shape 18"/>
          <p:cNvSpPr/>
          <p:nvPr/>
        </p:nvSpPr>
        <p:spPr>
          <a:xfrm>
            <a:off x="640080" y="2532888"/>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أَشْرَبُ</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أُفَضِّلُ</a:t>
            </a:r>
            <a:endParaRPr lang="ar-SA" sz="2050" dirty="0"/>
          </a:p>
        </p:txBody>
      </p:sp>
      <p:sp>
        <p:nvSpPr>
          <p:cNvPr id="27" name="Shape 24"/>
          <p:cNvSpPr/>
          <p:nvPr/>
        </p:nvSpPr>
        <p:spPr>
          <a:xfrm>
            <a:off x="548640" y="3410712"/>
            <a:ext cx="3453384"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44728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أَتَنَاوَلُ</a:t>
            </a:r>
            <a:endParaRPr lang="ar-SA" sz="2050" dirty="0"/>
          </a:p>
        </p:txBody>
      </p:sp>
      <p:sp>
        <p:nvSpPr>
          <p:cNvPr id="31" name="Text 2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أَتَنَاوَلُ</a:t>
            </a:r>
            <a:pPr algn="l" indent="0" marL="0">
              <a:buNone/>
            </a:pPr>
            <a:r>
              <a:rPr lang="en-US" sz="1050" i="1" dirty="0">
                <a:solidFill>
                  <a:srgbClr val="8A6D1E"/>
                </a:solidFill>
                <a:latin typeface="Calibri" pitchFamily="34" charset="0"/>
                <a:cs typeface="Amiri" pitchFamily="2" charset="-78"/>
              </a:rPr>
              <a:t> introduces having/eating a meal.</a:t>
            </a:r>
            <a:endParaRPr lang="en-US" sz="1050" dirty="0"/>
          </a:p>
        </p:txBody>
      </p:sp>
      <p:sp>
        <p:nvSpPr>
          <p:cNvPr id="32" name="Shape 29"/>
          <p:cNvSpPr/>
          <p:nvPr/>
        </p:nvSpPr>
        <p:spPr>
          <a:xfrm>
            <a:off x="4276344"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male third-person form.</a:t>
            </a:r>
            <a:endParaRPr lang="en-US" sz="125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تَتَنَاوَلُ</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يَتَنَاوَلُ</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أَتَنَاوَلُ</a:t>
            </a:r>
            <a:endParaRPr lang="ar-SA" sz="2050" dirty="0"/>
          </a:p>
        </p:txBody>
      </p:sp>
      <p:sp>
        <p:nvSpPr>
          <p:cNvPr id="46" name="Text 4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يَتَنَاوَلُ</a:t>
            </a:r>
            <a:pPr algn="l" indent="0" marL="0">
              <a:buNone/>
            </a:pPr>
            <a:r>
              <a:rPr lang="en-US" sz="1050" i="1" dirty="0">
                <a:solidFill>
                  <a:srgbClr val="8A6D1E"/>
                </a:solidFill>
                <a:latin typeface="Calibri" pitchFamily="34" charset="0"/>
                <a:cs typeface="Amiri" pitchFamily="2" charset="-78"/>
              </a:rPr>
              <a:t> means “he has/eats”.</a:t>
            </a:r>
            <a:endParaRPr lang="en-US" sz="1050" dirty="0"/>
          </a:p>
        </p:txBody>
      </p:sp>
      <p:sp>
        <p:nvSpPr>
          <p:cNvPr id="47" name="Shape 44"/>
          <p:cNvSpPr/>
          <p:nvPr/>
        </p:nvSpPr>
        <p:spPr>
          <a:xfrm>
            <a:off x="8095488" y="1810512"/>
            <a:ext cx="3636264" cy="4498848"/>
          </a:xfrm>
          <a:prstGeom prst="roundRect">
            <a:avLst>
              <a:gd name="adj" fmla="val 201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“What do you drink at breakfast?” to a girl.</a:t>
            </a:r>
            <a:endParaRPr lang="en-US" sz="1250" dirty="0"/>
          </a:p>
        </p:txBody>
      </p:sp>
      <p:sp>
        <p:nvSpPr>
          <p:cNvPr id="51" name="Shape 48"/>
          <p:cNvSpPr/>
          <p:nvPr/>
        </p:nvSpPr>
        <p:spPr>
          <a:xfrm>
            <a:off x="8278368" y="2532888"/>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مَاذَا تَشْرَبُ فِي الفُطُورِ؟</a:t>
            </a:r>
            <a:endParaRPr lang="ar-SA" sz="2050" dirty="0"/>
          </a:p>
        </p:txBody>
      </p:sp>
      <p:sp>
        <p:nvSpPr>
          <p:cNvPr id="54" name="Shape 51"/>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990088"/>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مَاذَا تَشْرَبِينَ فِي الفُطُورِ؟</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 أَشْرَبُ الفُطُورَ؟</a:t>
            </a:r>
            <a:endParaRPr lang="ar-SA" sz="2050" dirty="0"/>
          </a:p>
        </p:txBody>
      </p:sp>
      <p:sp>
        <p:nvSpPr>
          <p:cNvPr id="61" name="Text 58"/>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female listener form ends in </a:t>
            </a:r>
            <a:pPr algn="l" indent="0" marL="0">
              <a:buNone/>
            </a:pPr>
            <a:r>
              <a:rPr lang="ar-SA" altLang="en-US" sz="1350" dirty="0">
                <a:solidFill>
                  <a:srgbClr val="8A6D1E"/>
                </a:solidFill>
                <a:latin typeface="Amiri" pitchFamily="2" charset="-78"/>
                <a:ea typeface="Amiri" pitchFamily="2" charset="-78"/>
                <a:cs typeface="Amiri" pitchFamily="2" charset="-78"/>
              </a:rPr>
              <a:t>ـِينَ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آكُلُ فِي الفُطُورِ الحَلِيبَ.</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milk food or a drink?</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أَتَنَاوَلُ فِي الغَدَاءِ.</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What does atanāwalu need after it?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مَاذَا تَأْكُلُ فِي العَشَاءَ؟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Which vowel comes after </a:t>
            </a:r>
            <a:pPr algn="l" indent="0" marL="0">
              <a:buNone/>
            </a:pPr>
            <a:r>
              <a:rPr lang="ar-SA" altLang="en-US" sz="1700" dirty="0">
                <a:solidFill>
                  <a:srgbClr val="5A6472"/>
                </a:solidFill>
                <a:latin typeface="Amiri" pitchFamily="2" charset="-78"/>
                <a:ea typeface="Amiri" pitchFamily="2" charset="-78"/>
                <a:cs typeface="Amiri" pitchFamily="2" charset="-78"/>
              </a:rPr>
              <a:t>فِي</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آكُلُ فِي الفُطُورِ الحَلِيبَ.</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أَشْرَبُ الحَلِيبَ فِي الفُطُورِ.</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Use </a:t>
            </a:r>
            <a:pPr algn="l" indent="0" marL="0">
              <a:buNone/>
            </a:pPr>
            <a:r>
              <a:rPr lang="ar-SA" altLang="en-US" sz="1500" b="1" dirty="0">
                <a:solidFill>
                  <a:srgbClr val="1B3B6F"/>
                </a:solidFill>
                <a:latin typeface="Amiri" pitchFamily="2" charset="-78"/>
                <a:ea typeface="Amiri" pitchFamily="2" charset="-78"/>
                <a:cs typeface="Amiri" pitchFamily="2" charset="-78"/>
              </a:rPr>
              <a:t>أَشْرَبُ</a:t>
            </a:r>
            <a:pPr algn="l" indent="0" marL="0">
              <a:buNone/>
            </a:pPr>
            <a:r>
              <a:rPr lang="en-US" sz="1150" b="1" dirty="0">
                <a:solidFill>
                  <a:srgbClr val="1B3B6F"/>
                </a:solidFill>
                <a:latin typeface="Calibri" pitchFamily="34" charset="0"/>
                <a:cs typeface="Amiri" pitchFamily="2" charset="-78"/>
              </a:rPr>
              <a:t> with a drink.</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أَتَنَاوَلُ فِي الغَدَاءِ.</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أَتَنَاوَلُ الغَدَاءَ. / آكُلُ ... فِي الغَدَاءِ.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أَتَنَاوَلُ</a:t>
            </a:r>
            <a:pPr algn="l" indent="0" marL="0">
              <a:buNone/>
            </a:pPr>
            <a:r>
              <a:rPr lang="en-US" sz="1150" b="1" dirty="0">
                <a:solidFill>
                  <a:srgbClr val="1B3B6F"/>
                </a:solidFill>
                <a:latin typeface="Calibri" pitchFamily="34" charset="0"/>
                <a:cs typeface="Amiri" pitchFamily="2" charset="-78"/>
              </a:rPr>
              <a:t> needs the meal/object; </a:t>
            </a:r>
            <a:pPr algn="l" indent="0" marL="0">
              <a:buNone/>
            </a:pPr>
            <a:r>
              <a:rPr lang="ar-SA" altLang="en-US" sz="1500" b="1" dirty="0">
                <a:solidFill>
                  <a:srgbClr val="1B3B6F"/>
                </a:solidFill>
                <a:latin typeface="Amiri" pitchFamily="2" charset="-78"/>
                <a:ea typeface="Amiri" pitchFamily="2" charset="-78"/>
                <a:cs typeface="Amiri" pitchFamily="2" charset="-78"/>
              </a:rPr>
              <a:t>فِي الغَدَاءِ</a:t>
            </a:r>
            <a:pPr algn="l" indent="0" marL="0">
              <a:buNone/>
            </a:pPr>
            <a:r>
              <a:rPr lang="en-US" sz="1150" b="1" dirty="0">
                <a:solidFill>
                  <a:srgbClr val="1B3B6F"/>
                </a:solidFill>
                <a:latin typeface="Calibri" pitchFamily="34" charset="0"/>
                <a:cs typeface="Amiri" pitchFamily="2" charset="-78"/>
              </a:rPr>
              <a:t> introduces what is eaten at lunch.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مَاذَا تَأْكُلُ فِي العَشَاءَ؟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مَاذَا تَأْكُلُ فِي العَشَاءِ؟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فِي</a:t>
            </a:r>
            <a:pPr algn="l" indent="0" marL="0">
              <a:buNone/>
            </a:pPr>
            <a:r>
              <a:rPr lang="en-US" sz="1150" b="1" dirty="0">
                <a:solidFill>
                  <a:srgbClr val="1B3B6F"/>
                </a:solidFill>
                <a:latin typeface="Calibri" pitchFamily="34" charset="0"/>
                <a:cs typeface="Amiri" pitchFamily="2" charset="-78"/>
              </a:rPr>
              <a:t>, the noun is in the genitive form: </a:t>
            </a:r>
            <a:pPr algn="l" indent="0" marL="0">
              <a:buNone/>
            </a:pPr>
            <a:r>
              <a:rPr lang="ar-SA" altLang="en-US" sz="1500" b="1" dirty="0">
                <a:solidFill>
                  <a:srgbClr val="1B3B6F"/>
                </a:solidFill>
                <a:latin typeface="Amiri" pitchFamily="2" charset="-78"/>
                <a:ea typeface="Amiri" pitchFamily="2" charset="-78"/>
                <a:cs typeface="Amiri" pitchFamily="2" charset="-78"/>
              </a:rPr>
              <a:t>العَشَاءِ</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Rami’s meal routine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seven o’clock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six o’clock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eight o’clock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drink at breakfast?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milk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eat lunch?</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a café</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snack?</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apple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sandwich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eats dinner with him?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family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teacher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المَدْرَسَةِ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تُفَّاحَةً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الصَّبَاحِ أَتَنَاوَلُ الفُطُورَ فِي السَّاعَةِ السَّابِعَةِ.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morning I have breakfast at seven o’clock.</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آكُلُ الخُبْزَ وَالجُبْنَ، وَأَشْرَبُ الحَلِيبَ.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eat bread and cheese, and I drink milk.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 الظُّهْرِ آكُلُ الأَرُزَّ وَالدَّجَاجَ فِي المَدْرَسَةِ.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midday I eat rice and chicken at school.</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آكُلُ تُفَّاحَةً.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eat an apple.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المَسَاءِ أَتَنَاوَلُ العَشَاءَ مَعَ عَائِلَتِي، وَأَشْرَبُ المَاءَ.</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have dinner with my family, and I drink water.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time is breakfast?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seven o’clock</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six o’clock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eight o’clock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فِي السَّاعَةِ السَّابِعَةِ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drink at breakfast?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milk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drinks </a:t>
            </a:r>
            <a:pPr algn="l" indent="0" marL="0">
              <a:buNone/>
            </a:pPr>
            <a:r>
              <a:rPr lang="ar-SA" altLang="en-US" sz="1350" dirty="0">
                <a:solidFill>
                  <a:srgbClr val="8A6D1E"/>
                </a:solidFill>
                <a:latin typeface="Amiri" pitchFamily="2" charset="-78"/>
                <a:ea typeface="Amiri" pitchFamily="2" charset="-78"/>
                <a:cs typeface="Amiri" pitchFamily="2" charset="-78"/>
              </a:rPr>
              <a:t>الحَلِيبَ</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does he eat lunch?</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home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at a café</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at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فِي المَدْرَسَةِ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his snack?</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apple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sandwich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yoghurt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eats </a:t>
            </a:r>
            <a:pPr algn="l" indent="0" marL="0">
              <a:buNone/>
            </a:pPr>
            <a:r>
              <a:rPr lang="ar-SA" altLang="en-US" sz="1350" dirty="0">
                <a:solidFill>
                  <a:srgbClr val="8A6D1E"/>
                </a:solidFill>
                <a:latin typeface="Amiri" pitchFamily="2" charset="-78"/>
                <a:ea typeface="Amiri" pitchFamily="2" charset="-78"/>
                <a:cs typeface="Amiri" pitchFamily="2" charset="-78"/>
              </a:rPr>
              <a:t>تُفَّاحَةً</a:t>
            </a:r>
            <a:pPr algn="l" indent="0" marL="0">
              <a:buNone/>
            </a:pPr>
            <a:r>
              <a:rPr lang="en-US" sz="1050" i="1" dirty="0">
                <a:solidFill>
                  <a:srgbClr val="8A6D1E"/>
                </a:solidFill>
                <a:latin typeface="Calibri" pitchFamily="34" charset="0"/>
                <a:cs typeface="Amiri" pitchFamily="2" charset="-78"/>
              </a:rPr>
              <a:t> after school.</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eats dinner with him?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family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teacher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He says </a:t>
            </a:r>
            <a:pPr algn="l" indent="0" marL="0">
              <a:buNone/>
            </a:pPr>
            <a:r>
              <a:rPr lang="ar-SA" altLang="en-US" sz="1350" dirty="0">
                <a:solidFill>
                  <a:srgbClr val="8A6D1E"/>
                </a:solidFill>
                <a:latin typeface="Amiri" pitchFamily="2" charset="-78"/>
                <a:ea typeface="Amiri" pitchFamily="2" charset="-78"/>
                <a:cs typeface="Amiri" pitchFamily="2" charset="-78"/>
              </a:rPr>
              <a:t>مَعَ عَائِلَتِي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السَّابِعَةِ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فِي المَدْرَسَةِ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تُفَّاحَةً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meal routines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تَأْكُلُ / تَأْكُلِينَ فِي الفُطُورِ؟</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مَتَى تَتَنَاوَلُ / تَتَنَاوَلِينَ الغَدَاءَ؟</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هَلْ تَأْكُلُ وَجْبَةً خَفِيفَةً؟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مَعَ مَنْ تَتَنَاوَلُ العَشَاءَ؟</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الفُطُورِ آكُلُ ___ وَأَشْرَبُ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أَتَنَاوَلُ الغَدَاءَ فِي السَّاعَةِ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نَعَمْ، أَحْيَانًا آكُلُ ___ بَعْدَ المَدْرَسَةِ.</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أَتَنَاوَلُ العَشَاءَ مَعَ ___ ، ثُمَّ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أ</a:t>
            </a:r>
            <a:endParaRPr lang="ar-SA"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تَأْكُلِينَ فِي الفُطُورِ؟</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 you (f.) eat for breakfast?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rtl="1" algn="ctr" indent="0" marL="0">
              <a:buNone/>
            </a:pPr>
            <a:r>
              <a:rPr lang="ar-SA" altLang="en-US" sz="1000" b="1" dirty="0">
                <a:solidFill>
                  <a:srgbClr val="FFFFFF"/>
                </a:solidFill>
                <a:latin typeface="Calibri" pitchFamily="34" charset="0"/>
                <a:ea typeface="Amiri" pitchFamily="2" charset="-78"/>
                <a:cs typeface="Amiri" pitchFamily="2" charset="-78"/>
              </a:rPr>
              <a:t>ب</a:t>
            </a:r>
            <a:endParaRPr lang="ar-SA"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آكُلُ الخُبْزَ وَالبَيْضَ، وَأَشْرَبُ الشَّايَ.</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eat bread and eggs, and I drink tea.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3–4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Complete three sentence frames for breakfast, lunch and dinner.</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One sentence for each meal with the frame: at breakfast I eat … and drink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Describe a full day with time and frequency language, then ask a partner two questions.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three meals, a snack, two times and one frequency word.</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weekday and weekend meals and explain one difference in 8–10 sentences.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a weekday and the weekend; explain one difference with but.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عَادَةً أَتَنَاوَلُ الفُطُورَ فِي السَّاعَةِ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usually have breakfast at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أَحْيَانًا آكُلُ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Sometimes I eat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أَتَنَاوَلُ العَشَاءَ مَعَ عَائِلَتِي.</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have dinner with my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ثُمَّ أَشْرَبُ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then I drink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 آكُلُ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the weekend I eat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الفُطُورِ آكُلُ ______ وَأَشْرَبُ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breakfast I eat … and drink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الغَدَاءِ آكُلُ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lunch I eat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العَشَاءِ آكُلُ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At dinner I eat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بَعْدَ المَدْرَسَةِ آكُلُ وَجْبَةً خَفِيفَةً.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After school I eat a snack.</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أَشْرَبُ المَاءَ كُلَّ يَوْمٍ.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drink water every day.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فُطُورٌ  ·  غَدَاءٌ  ·  عَشَاءٌ  ·  وَجْبَةٌ خَفِيفَةٌ  ·  آكُلُ  ·  أَشْرَبُ  ·  أَتَنَاوَلُ  ·  عَادَةً  ·  أَحْيَانًا  ·  دَائِمًا  ·  ثُمَّ  ·  مَعَ عَائِلَتِي</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6–8 sentences describing your meals on a normal day. Include breakfast, lunch, dinner, one snack, two time expressions and one frequency word.</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 different verb at least twice: </a:t>
            </a:r>
            <a:pPr algn="l" indent="0" marL="0">
              <a:buNone/>
            </a:pPr>
            <a:r>
              <a:rPr lang="ar-SA" altLang="en-US" sz="1550" dirty="0">
                <a:solidFill>
                  <a:srgbClr val="1F2A37"/>
                </a:solidFill>
                <a:latin typeface="Amiri" pitchFamily="2" charset="-78"/>
                <a:ea typeface="Amiri" pitchFamily="2" charset="-78"/>
                <a:cs typeface="Amiri" pitchFamily="2" charset="-78"/>
              </a:rPr>
              <a:t>آكُلُ / أَشْرَبُ / أَتَنَاوَلُ</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Name all three main meals.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a:t>
            </a:r>
            <a:pPr algn="l" indent="0" marL="0">
              <a:buNone/>
            </a:pPr>
            <a:r>
              <a:rPr lang="ar-SA" altLang="en-US" sz="1550" dirty="0">
                <a:solidFill>
                  <a:srgbClr val="1F2A37"/>
                </a:solidFill>
                <a:latin typeface="Amiri" pitchFamily="2" charset="-78"/>
                <a:ea typeface="Amiri" pitchFamily="2" charset="-78"/>
                <a:cs typeface="Amiri" pitchFamily="2" charset="-78"/>
              </a:rPr>
              <a:t>عَادَةً، أَحْيَانًا</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Join the routine with </a:t>
            </a:r>
            <a:pPr algn="l" indent="0" marL="0">
              <a:buNone/>
            </a:pPr>
            <a:r>
              <a:rPr lang="ar-SA" altLang="en-US" sz="1550" dirty="0">
                <a:solidFill>
                  <a:srgbClr val="1F2A37"/>
                </a:solidFill>
                <a:latin typeface="Amiri" pitchFamily="2" charset="-78"/>
                <a:ea typeface="Amiri" pitchFamily="2" charset="-78"/>
                <a:cs typeface="Amiri" pitchFamily="2" charset="-78"/>
              </a:rPr>
              <a:t>وَ، ثُمَّ</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ea typeface="Amiri" pitchFamily="2" charset="-78"/>
                <a:cs typeface="Amiri" pitchFamily="2" charset="-78"/>
              </a:rPr>
              <a:t>وَلٰكِنْ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أَيَّامِ الدِّرَاسَةِ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school days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نِهَايَةِ الأُسْبُوعِ</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at the weekend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نَتَنَاوَلُ الفُطُورَ مَعًا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have breakfast together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أَتَخَطَّى الفُطُورَ أَبَدًا</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never skip breakfast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تَطْبُخُ أُمِّي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mother cooks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عَادَةً أَتَنَاوَلُ الفُطُورَ فِي السَّاعَةِ السَّابِعَةِ. آكُلُ الخُبْزَ وَالجُبْنَ، وَأَشْرَبُ الحَلِيبَ. عِنْدَ الظُّهْرِ آكُلُ الغَدَاءَ فِي المَدْرَسَةِ. بَعْدَ المَدْرَسَةِ أَحْيَانًا آكُلُ وَجْبَةً خَفِيفَةً. فِي المَسَاءِ أَتَنَاوَلُ العَشَاءَ مَعَ عَائِلَتِي، ثُمَّ أَشْرَبُ المَاءَ.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usually have breakfast at seven o’clock. I eat bread and cheese, and I drink milk. At midday I eat lunch at school. After school I sometimes eat a snack. In the evening I have dinner with my family, then I drink water.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three meals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times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frequency word</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described breakfast, lunch and dinner.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Food with </a:t>
            </a:r>
            <a:pPr algn="l" indent="0" marL="0">
              <a:buNone/>
            </a:pPr>
            <a:r>
              <a:rPr lang="ar-SA" altLang="en-US" sz="1700" dirty="0">
                <a:solidFill>
                  <a:srgbClr val="1F2A37"/>
                </a:solidFill>
                <a:latin typeface="Amiri" pitchFamily="2" charset="-78"/>
                <a:ea typeface="Amiri" pitchFamily="2" charset="-78"/>
                <a:cs typeface="Amiri" pitchFamily="2" charset="-78"/>
              </a:rPr>
              <a:t>آكُلُ</a:t>
            </a:r>
            <a:pPr algn="l" indent="0" marL="0">
              <a:buNone/>
            </a:pPr>
            <a:r>
              <a:rPr lang="en-US" sz="1300" dirty="0">
                <a:solidFill>
                  <a:srgbClr val="1F2A37"/>
                </a:solidFill>
                <a:latin typeface="Calibri" pitchFamily="34" charset="0"/>
                <a:cs typeface="Amiri" pitchFamily="2" charset="-78"/>
              </a:rPr>
              <a:t>, drinks with </a:t>
            </a:r>
            <a:pPr algn="l" indent="0" marL="0">
              <a:buNone/>
            </a:pPr>
            <a:r>
              <a:rPr lang="ar-SA" altLang="en-US" sz="1700" dirty="0">
                <a:solidFill>
                  <a:srgbClr val="1F2A37"/>
                </a:solidFill>
                <a:latin typeface="Amiri" pitchFamily="2" charset="-78"/>
                <a:ea typeface="Amiri" pitchFamily="2" charset="-78"/>
                <a:cs typeface="Amiri" pitchFamily="2" charset="-78"/>
              </a:rPr>
              <a:t>أَشْرَبُ</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a time and a frequency word.</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After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the meal ends in -i.</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ea typeface="Amiri" pitchFamily="2" charset="-78"/>
                <a:cs typeface="Amiri" pitchFamily="2" charset="-78"/>
              </a:rPr>
              <a:t>أَتَنَاوَلُ</a:t>
            </a:r>
            <a:pPr algn="l" indent="0" marL="0">
              <a:buNone/>
            </a:pPr>
            <a:r>
              <a:rPr lang="en-US" sz="1300" dirty="0">
                <a:solidFill>
                  <a:srgbClr val="1F2A37"/>
                </a:solidFill>
                <a:latin typeface="Calibri" pitchFamily="34" charset="0"/>
                <a:cs typeface="Amiri" pitchFamily="2" charset="-78"/>
              </a:rPr>
              <a:t> and compared two days.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breakfast?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فُطُورٌ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غَدَاءٌ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عَشَاءٌ</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usually?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نَادِرًا</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عَادَةً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أَبَدًا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sequence?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هَلْ</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breakfast?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فُطُورٌ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غَدَاءٌ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عَشَاءٌ</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فُطُورٌ</a:t>
            </a:r>
            <a:pPr algn="l" indent="0" marL="0">
              <a:buNone/>
            </a:pPr>
            <a:r>
              <a:rPr lang="en-US" sz="1050" i="1" dirty="0">
                <a:solidFill>
                  <a:srgbClr val="8A6D1E"/>
                </a:solidFill>
                <a:latin typeface="Calibri" pitchFamily="34" charset="0"/>
                <a:cs typeface="Amiri" pitchFamily="2" charset="-78"/>
              </a:rPr>
              <a:t> means breakfast.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usually?</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نَادِرًا</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عَادَةً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أَبَدًا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عَادَةً</a:t>
            </a:r>
            <a:pPr algn="l" indent="0" marL="0">
              <a:buNone/>
            </a:pPr>
            <a:r>
              <a:rPr lang="en-US" sz="1050" i="1" dirty="0">
                <a:solidFill>
                  <a:srgbClr val="8A6D1E"/>
                </a:solidFill>
                <a:latin typeface="Calibri" pitchFamily="34" charset="0"/>
                <a:cs typeface="Amiri" pitchFamily="2" charset="-78"/>
              </a:rPr>
              <a:t> means usually.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connector shows sequence?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ثُمَّ</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لِأَنَّ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هَلْ</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means then.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three meals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اِسْمِي سَارَةُ. عَادَةً أَتَنَاوَلُ فُطُورًا صِحِّيًّا: آكُلُ الزَّبَادِي وَالفَاكِهَةَ، وَأَشْرَبُ المَاءَ. فِي الغَدَاءِ آكُلُ السَّلَطَةَ وَالسَّمَكَ، وَلٰكِنِّي أَحْيَانًا آكُلُ البِيتْزَا مَعَ صَدِيقَاتِي. فِي العَشَاءِ تَطْبُخُ أُمِّي الحَسَاءَ أَوِ الأَرُزَّ وَالدَّجَاجَ. نَأْكُلُ مَعًا فِي المَسَاءِ.</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عَادَةً</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usually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فُطُورًا صِحِّيًّا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healthy breakfast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الزَّبَادِي</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yoghurt</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الفَاكِهَةَ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fruit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وَلَكِنِّي أَحْيَانًا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but sometimes I</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البِيتْزَا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pizza</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صَدِيقَاتِي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(girl) friends</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تَطْبُخُ أُمِّي</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my mother cooks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الحَسَاءَ</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soup</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نَأْكُلُ مَعًا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we eat together</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describe her breakfast?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expensive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healthy</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with fruit?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bread</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eggs</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yoghurt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lunch does she sometimes eat with friends?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pizza</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soup</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rice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cooks dinner?</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father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mother</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family do together?</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eat dinner</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buy breakfast</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prepare lunch</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Sara describe her breakfast?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expensive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healthy</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small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فُطُورًا صِحِّيًّا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she eat with fruit?</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bread</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eggs</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yoghurt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eats </a:t>
            </a:r>
            <a:pPr algn="l" indent="0" marL="0">
              <a:buNone/>
            </a:pPr>
            <a:r>
              <a:rPr lang="ar-SA" altLang="en-US" sz="1350" dirty="0">
                <a:solidFill>
                  <a:srgbClr val="8A6D1E"/>
                </a:solidFill>
                <a:latin typeface="Amiri" pitchFamily="2" charset="-78"/>
                <a:ea typeface="Amiri" pitchFamily="2" charset="-78"/>
                <a:cs typeface="Amiri" pitchFamily="2" charset="-78"/>
              </a:rPr>
              <a:t>الزَّبَادِي وَالفَاكِهَةَ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lunch does she sometimes eat with friends?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pizza</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soup</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rice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sometimes eats </a:t>
            </a:r>
            <a:pPr algn="l" indent="0" marL="0">
              <a:buNone/>
            </a:pPr>
            <a:r>
              <a:rPr lang="ar-SA" altLang="en-US" sz="1350" dirty="0">
                <a:solidFill>
                  <a:srgbClr val="8A6D1E"/>
                </a:solidFill>
                <a:latin typeface="Amiri" pitchFamily="2" charset="-78"/>
                <a:ea typeface="Amiri" pitchFamily="2" charset="-78"/>
                <a:cs typeface="Amiri" pitchFamily="2" charset="-78"/>
              </a:rPr>
              <a:t>البِيتْزَا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cooks dinner?</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father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mother</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تَطْبُخُ أُمِّي.</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family do together?</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eat dinner</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buy breakfast</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prepare lunch</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They eat together in the evening.</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F5-L02 · Meals and Routines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F5-L03: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F5 · Food, Health and Body · F5-L02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F5-L03 · Likes, Dislikes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أُفَضِّلُ … عَلَى …</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prefer … to …</a:t>
            </a:r>
            <a:pPr indent="0" marL="0">
              <a:buNone/>
            </a:pPr>
            <a:r>
              <a:rPr lang="ar-SA" sz="1000" i="1" dirty="0">
                <a:solidFill>
                  <a:srgbClr val="5A6472"/>
                </a:solidFill>
                <a:latin typeface="Calibri" pitchFamily="34" charset="0"/>
                <a:ea typeface="Amiri" pitchFamily="2" charset="-78"/>
                <a:cs typeface="Amiri" pitchFamily="2" charset="-78"/>
              </a:rPr>
              <a:t>  she: تُفَضِّلُ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لَذِيذٌ</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delicious</a:t>
            </a:r>
            <a:pPr indent="0" marL="0">
              <a:buNone/>
            </a:pPr>
            <a:r>
              <a:rPr lang="ar-SA" sz="1000" i="1" dirty="0">
                <a:solidFill>
                  <a:srgbClr val="5A6472"/>
                </a:solidFill>
                <a:latin typeface="Calibri" pitchFamily="34" charset="0"/>
                <a:ea typeface="Amiri" pitchFamily="2" charset="-78"/>
                <a:cs typeface="Amiri" pitchFamily="2" charset="-78"/>
              </a:rPr>
              <a:t>  f. لَذِيذَةٌ</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كَثِيرًا</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lot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مَا رَأْيُكَ فِي …؟</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what do you think of …?</a:t>
            </a:r>
            <a:pPr indent="0" marL="0">
              <a:buNone/>
            </a:pPr>
            <a:r>
              <a:rPr lang="ar-SA" sz="1000" i="1" dirty="0">
                <a:solidFill>
                  <a:srgbClr val="5A6472"/>
                </a:solidFill>
                <a:latin typeface="Calibri" pitchFamily="34" charset="0"/>
                <a:ea typeface="Amiri" pitchFamily="2" charset="-78"/>
                <a:cs typeface="Amiri" pitchFamily="2" charset="-78"/>
              </a:rPr>
              <a:t>  f. رَأْيُكِ</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مُفَضَّلٌ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favourite</a:t>
            </a:r>
            <a:pPr indent="0" marL="0">
              <a:buNone/>
            </a:pPr>
            <a:r>
              <a:rPr lang="ar-SA" sz="1000" i="1" dirty="0">
                <a:solidFill>
                  <a:srgbClr val="5A6472"/>
                </a:solidFill>
                <a:latin typeface="Calibri" pitchFamily="34" charset="0"/>
                <a:ea typeface="Amiri" pitchFamily="2" charset="-78"/>
                <a:cs typeface="Amiri" pitchFamily="2" charset="-78"/>
              </a:rPr>
              <a:t>  f. مُفَضَّلَةٌ</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Which do you prefer: rice or pasta? Write one sentence.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أُفَضِّلُ … عَلَى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F5-L02: the vocabulary tab and the “Match the routine to the time” sorter.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about your meals with two times and one frequency word.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Stretch: compare weekday and weekend meals in 8–10 sentences.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F5-L02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F5-L03 · Likes, Dislikes and Preferences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الإِعْجَابُ وَالتَّفْضِيلُ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WHEN + VERB + FOOD · </a:t>
            </a:r>
            <a:pPr algn="l" indent="0" marL="0">
              <a:buNone/>
            </a:pPr>
            <a:r>
              <a:rPr lang="ar-SA" altLang="en-US" sz="1700" b="1" dirty="0">
                <a:solidFill>
                  <a:srgbClr val="FFFFFF"/>
                </a:solidFill>
                <a:latin typeface="Amiri" pitchFamily="2" charset="-78"/>
                <a:ea typeface="Amiri" pitchFamily="2" charset="-78"/>
                <a:cs typeface="Amiri" pitchFamily="2" charset="-78"/>
              </a:rPr>
              <a:t>فِي</a:t>
            </a:r>
            <a:pPr algn="l" indent="0" marL="0">
              <a:buNone/>
            </a:pPr>
            <a:r>
              <a:rPr lang="en-US" sz="1300" b="1" dirty="0">
                <a:solidFill>
                  <a:srgbClr val="FFFFFF"/>
                </a:solidFill>
                <a:latin typeface="Calibri" pitchFamily="34" charset="0"/>
                <a:cs typeface="Amiri" pitchFamily="2" charset="-78"/>
              </a:rPr>
              <a:t> + the meal · </a:t>
            </a:r>
            <a:pPr algn="l" indent="0" marL="0">
              <a:buNone/>
            </a:pPr>
            <a:r>
              <a:rPr lang="ar-SA" altLang="en-US" sz="1700" b="1" dirty="0">
                <a:solidFill>
                  <a:srgbClr val="FFFFFF"/>
                </a:solidFill>
                <a:latin typeface="Amiri" pitchFamily="2" charset="-78"/>
                <a:ea typeface="Amiri" pitchFamily="2" charset="-78"/>
                <a:cs typeface="Amiri" pitchFamily="2" charset="-78"/>
              </a:rPr>
              <a:t>آكُلُ</a:t>
            </a:r>
            <a:pPr algn="l" indent="0" marL="0">
              <a:buNone/>
            </a:pPr>
            <a:r>
              <a:rPr lang="en-US" sz="1300" b="1" dirty="0">
                <a:solidFill>
                  <a:srgbClr val="FFFFFF"/>
                </a:solidFill>
                <a:latin typeface="Calibri" pitchFamily="34" charset="0"/>
                <a:cs typeface="Amiri" pitchFamily="2" charset="-78"/>
              </a:rPr>
              <a:t> food, </a:t>
            </a:r>
            <a:pPr algn="l" indent="0" marL="0">
              <a:buNone/>
            </a:pPr>
            <a:r>
              <a:rPr lang="ar-SA" altLang="en-US" sz="1700" b="1" dirty="0">
                <a:solidFill>
                  <a:srgbClr val="FFFFFF"/>
                </a:solidFill>
                <a:latin typeface="Amiri" pitchFamily="2" charset="-78"/>
                <a:ea typeface="Amiri" pitchFamily="2" charset="-78"/>
                <a:cs typeface="Amiri" pitchFamily="2" charset="-78"/>
              </a:rPr>
              <a:t>أَشْرَبُ</a:t>
            </a:r>
            <a:pPr algn="l" indent="0" marL="0">
              <a:buNone/>
            </a:pPr>
            <a:r>
              <a:rPr lang="en-US" sz="1300" b="1" dirty="0">
                <a:solidFill>
                  <a:srgbClr val="FFFFFF"/>
                </a:solidFill>
                <a:latin typeface="Calibri" pitchFamily="34" charset="0"/>
                <a:cs typeface="Amiri" pitchFamily="2" charset="-78"/>
              </a:rPr>
              <a:t> drinks.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F5-L02 · Meals and Eating Routines</dc:title>
  <dc:subject>PptxGenJS Presentation</dc:subject>
  <dc:creator>Al Madina Online School · Arabic Department</dc:creator>
  <cp:lastModifiedBy>Al Madina Online School · Arabic Department</cp:lastModifiedBy>
  <cp:revision>1</cp:revision>
  <dcterms:created xsi:type="dcterms:W3CDTF">2026-10-11T06:41:44Z</dcterms:created>
  <dcterms:modified xsi:type="dcterms:W3CDTF">2026-10-11T06:41:44Z</dcterms:modified>
</cp:coreProperties>
</file>