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notesMasterIdLst>
    <p:notesMasterId r:id="rId4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notesMaster" Target="notesMasters/notesMaster1.xml"/><Relationship Id="rId45" Type="http://schemas.openxmlformats.org/officeDocument/2006/relationships/presProps" Target="presProps.xml"/><Relationship Id="rId46" Type="http://schemas.openxmlformats.org/officeDocument/2006/relationships/viewProps" Target="viewProps.xml"/><Relationship Id="rId47" Type="http://schemas.openxmlformats.org/officeDocument/2006/relationships/theme" Target="theme/theme1.xml"/><Relationship Id="rId4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Foundation › F5 Food, Health and Body › F5-L02. The website lesson “Meals and Eating Routines”: vocabulary, grammar rules and quiz, patterns, common mistakes, sorter, listening, reading, speaking prompts and model, writing task and model, differentiation, final check and the lesson mission. Picture match: website visual game “Meals and Eating Routines”.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three meal sentences with a frame: فِي الفُطُورِ آكُلُ … وَأَشْرَبُ … (breakfast, lunch, dinner).
• Develop: add a time (فِي السَّاعَةِ …) and a frequency word (عَادَةً، أَحْيَانًا), then ask a partner مَاذَا تَأْكُلُ / تَأْكُلِينَ …؟
• Stretch: weekday vs weekend in 8–10 sentences with ثُمَّ and وَلَكِنْ; use أَتَنَاوَلُ to vary the verbs and report he / she.
• The website’s three slips: آكُلُ with a drink · أَتَنَاوَلُ without a meal · the vowel after فِي (فِي العَشَاءِ).
• Respect fasting and family routines — any real or invented day is fine (a Ramadan day with سُحُورٌ and إِفْطَارٌ is an excellent Stretch variation).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at the end of F5-L01 (the website spells breakfast فُطُورٌ; فَطُورٌ is also correct). Questions 3–5 retrieve F5-L01 (eat / drink, asking a girl, food or drink).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 meal sentence has three parts: WHEN · VERB · FOOD.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عادت (habit) → عَادَةً (usually, “as a habit”). دائم (permanent) → دَائِمًا. نادر (rare) → نَادِرًا. افطار (the meal that breaks the fast) shares its root with فُطُورٌ — breakfast literally “breaks the night’s fast”, just like the English word! وَجْبَةٌ and Urdu واجب share a root (what is due) — a nice memory hook: a meal is “due” three times a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Meals and timing (website vocabulary (1 of 2)). Hear → Say → See → Use. Transliteration is printed for Core students (cover it for Develop/Stretch).
Meals: فُطُورٌ (the website; فَطُورٌ is also used), غَدَاءٌ، عَشَاءٌ. Time phrases: فِي الصَّبَاحِ، عِنْدَ الظُّهْرِ، فِي المَسَاءِ، بَعْدَ المَدْرَسَةِ.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Meals and timing (website vocabulary (2 of 2)). Hear → Say → See → Use. Transliteration is printed for Core students (cover it for Develop/Stretch).
Meals: فُطُورٌ (the website; فَطُورٌ is also used), غَدَاءٌ، عَشَاءٌ. Time phrases: فِي الصَّبَاحِ، عِنْدَ الظُّهْرِ، فِي المَسَاءِ، بَعْدَ المَدْرَسَةِ.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Eating and drinking verbs (website vocabulary). Hear → Say → See → Use. Transliteration is printed for Core students (cover it for Develop/Stretch).
The forms on the cards show he / she / we. Point at the first letter only: أَ = I, يَ = he, تَ = she (and you), نَ = we.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Routine language (website vocabulary). Hear → Say → See → Use. Transliteration is printed for Core students (cover it for Develop/Stretch).
FLEX: teach if time allows; otherwise these are on the website vocabulary tab for homework.
FLEX: frequency words appear in the I Do model and the writing task — teach them from there if time is short.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“Choose the correct action” (آكُلُ food · أَشْرَبُ drink) and “Add the meal” (فِي الفُطُورِ / فِي الغَدَاءِ / فِي العَشَاءِ).
Website teaching note: “A meal description needs more than a food list. Add the meal, a verb and a time phrase.”
Website common error: مَاذَا تَأْكُلُ فِي العَشَاءَ؟ ✗ → فِي العَشَاءِ ✓ (kasra after فِي).
Teal = WHEN, blue = VERB. Core students copy rows 1–3 and change the food.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“Ask what someone eats” (the ending changes for a female listener) and “Use أَتَنَاوَلُ for a whole meal” (more formal).
Website teaching note: “Keep آكُلُ and أَشْرَبُ secure first, then use أَتَنَاوَلُ to vary language.” — Core students may skip أَتَنَاوَلُ.
He / she: هُوَ يَتَنَاوَلُ · هِيَ تَتَنَاوَلُ الغَدَاءَ مَعَ أُسْرَتِهَا (website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“The lesson-plan grammar focus is choosing the correct action—آكُلُ for food and أَشْرَبُ for drink—then locating the action at a meal with فِي.”
• Choose the correct action: Use آكُلُ with solid food and أَشْرَبُ with drinks.
• Add the meal: Use فِي before the meal when you mean “at/for breakfast, lunch or dinner”.
• Ask what someone eats: The verb ending changes for a female listener.
• Use أَتَنَاوَلُ for a whole meal: أَتَنَاوَلُ means “I have/eat” a meal and is useful in more formal descriptions.
Website common error: Do not use آكُلُ with a drink. Say أَشْرَبُ الحَلِيبَ, not آكُلُ الحَلِيبَ.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website writing model built step by step with a think-aloud. Students copy it and change the foods and one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Meals and Eating Routines”)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Note: the game uses الإِفْطَارُ for breakfast and adverbs صَبَاحًا / ظُهْرًا / مَسَاءً (= in the morning / at midday / in the evening) — both styles are correct. Other website items: a school snack, eating together, “I don’t skip breakfast” (لَا أَتَخَطَّى الإِفْطَارَ).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Meals and Eating Routines”)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Note: the game uses الإِفْطَارُ for breakfast and adverbs صَبَاحًا / ظُهْرًا / مَسَاءً (= in the morning / at midday / in the evening) — both styles are correct. Other website items: a school snack, eating together, “I don’t skip breakfast” (لَا أَتَخَطَّى الإِفْطَارَ).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Place each phrase under the most suitable time.
Items 4–6 are full sentences: ask students to underline the clue word (قَبْلَ المَدْرَسَةِ، فِي المَدْرَسَةِ، بَعْدَ العَمَلِ).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Place each phrase under the most suitable time.
Items 4–6 are full sentences: ask students to underline the clue word (قَبْلَ المَدْرَسَةِ، فِي المَدْرَسَةِ، بَعْدَ العَمَلِ).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3 and 4. Develop / Stretch: all 5.
Listen 1: just listen. Listen 2: note answers. Then chat the letters.
Support: after the second listening, show the read-along slide (Arabic + English, line by line) for Core students.
SCRIPT (read aloud):
فِي الصَّبَاحِ أَتَنَاوَلُ الفُطُورَ فِي السَّاعَةِ السَّابِعَةِ. آكُلُ الخُبْزَ وَالجُبْنَ، وَأَشْرَبُ الحَلِيبَ. عِنْدَ الظُّهْرِ آكُلُ الأَرُزَّ وَالدَّجَاجَ فِي المَدْرَسَةِ. بَعْدَ المَدْرَسَةِ آكُلُ تُفَّاحَةً. فِي المَسَاءِ أَتَنَاوَلُ العَشَاءَ مَعَ عَائِلَتِي، وَأَشْرَبُ المَاءَ.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أ: وَمَتَى تَتَنَاوَلِينَ الغَدَاءَ؟ (And when do you have lunch?)
ب: أَتَنَاوَلُ الغَدَاءَ عِنْدَ السَّاعَةِ الوَاحِدَةِ. (I have lunch at one o’clock.)
Website “Compare meal routines” — all four prompts are the website’s. Website model: مَاذَا تَأْكُلِينَ فِي الفُطُورِ؟ — آكُلُ الخُبْزَ وَالبَيْضَ، وَأَشْرَبُ الشَّايَ. — وَمَتَى تَتَنَاوَلِينَ الغَدَاءَ؟ — أَتَنَاوَلُ الغَدَاءَ عِنْدَ السَّاعَةِ الوَاحِدَةِ.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Complete three sentence frames for breakfast, lunch and dinner. · Develop — Describe a full day with time and frequency language, then ask a partner two questions. · Stretch — Compare weekday and weekend meals and explain one difference in 8–10 sentences.
Website writing task (Stretch): Write 6–8 sentences describing your meals on a normal day. Include breakfast, lunch, dinner, one snack, two time expressions and one frequency word.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Evidence: الفُطُورَ · الغَدَاءَ · العَشَاءَ · فِي السَّاعَةِ السَّابِعَةِ · عِنْدَ الظُّهْرِ · عَادَةً / أَحْيَانًا · ثُمَّ.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8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(F5-L03 · Likes, Dislikes and Preferences) will spend class time USING this language, so students prepare it tonight — short, simple, easy to access (school guidance: “Simple, Short, Interesting, Relevant, Easy to access”). The five words prepare the website F5-L03 lesson (likes, dislikes and preferences).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slideLayout" Target="../slideLayouts/slideLayout1.xml"/><Relationship Id="rId8"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slideLayout" Target="../slideLayouts/slideLayout1.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7  ·  FOUNDATION F5  ·  F5-L02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F5-L02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Meals and Eating Routines</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وَجَبَاتُ اليَوْمِ وَعَادَاتُ الأَكْلِ</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Describe breakfast, lunch, dinner and snacks with </a:t>
            </a:r>
            <a:pPr algn="l" indent="0" marL="0">
              <a:buNone/>
            </a:pPr>
            <a:r>
              <a:rPr lang="ar-SA" altLang="en-US" sz="1800" dirty="0">
                <a:solidFill>
                  <a:srgbClr val="C6D2E6"/>
                </a:solidFill>
                <a:latin typeface="Amiri" pitchFamily="34" charset="0"/>
                <a:ea typeface="Amiri" pitchFamily="34" charset="-122"/>
                <a:cs typeface="Amiri" pitchFamily="34" charset="-120"/>
              </a:rPr>
              <a:t>فِي</a:t>
            </a:r>
            <a:pPr algn="l" indent="0" marL="0">
              <a:buNone/>
            </a:pPr>
            <a:r>
              <a:rPr lang="en-US" sz="1400" dirty="0">
                <a:solidFill>
                  <a:srgbClr val="C6D2E6"/>
                </a:solidFill>
                <a:latin typeface="Calibri" pitchFamily="34" charset="0"/>
                <a:ea typeface="Calibri" pitchFamily="34" charset="-122"/>
                <a:cs typeface="Calibri" pitchFamily="34" charset="-120"/>
              </a:rPr>
              <a:t> + meal, time and frequency words, and the verbs </a:t>
            </a:r>
            <a:pPr algn="l" indent="0" marL="0">
              <a:buNone/>
            </a:pPr>
            <a:r>
              <a:rPr lang="ar-SA" altLang="en-US" sz="1800" dirty="0">
                <a:solidFill>
                  <a:srgbClr val="C6D2E6"/>
                </a:solidFill>
                <a:latin typeface="Amiri" pitchFamily="34" charset="0"/>
                <a:ea typeface="Amiri" pitchFamily="34" charset="-122"/>
                <a:cs typeface="Amiri" pitchFamily="34" charset="-120"/>
              </a:rPr>
              <a:t>آكُلُ، أَشْرَبُ</a:t>
            </a:r>
            <a:pPr algn="l" indent="0" marL="0">
              <a:buNone/>
            </a:pPr>
            <a:r>
              <a:rPr lang="en-US" sz="1400" dirty="0">
                <a:solidFill>
                  <a:srgbClr val="C6D2E6"/>
                </a:solidFill>
                <a:latin typeface="Calibri" pitchFamily="34" charset="0"/>
                <a:ea typeface="Calibri" pitchFamily="34" charset="-122"/>
                <a:cs typeface="Calibri" pitchFamily="34" charset="-120"/>
              </a:rPr>
              <a:t> and </a:t>
            </a:r>
            <a:pPr algn="l" indent="0" marL="0">
              <a:buNone/>
            </a:pPr>
            <a:r>
              <a:rPr lang="ar-SA" altLang="en-US" sz="1800" dirty="0">
                <a:solidFill>
                  <a:srgbClr val="C6D2E6"/>
                </a:solidFill>
                <a:latin typeface="Amiri" pitchFamily="34" charset="0"/>
                <a:ea typeface="Amiri" pitchFamily="34" charset="-122"/>
                <a:cs typeface="Amiri" pitchFamily="34" charset="-120"/>
              </a:rPr>
              <a:t>أَتَنَاوَلُ</a:t>
            </a:r>
            <a:pPr algn="l" indent="0" marL="0">
              <a:buNone/>
            </a:pPr>
            <a:r>
              <a:rPr lang="en-US" sz="1400" dirty="0">
                <a:solidFill>
                  <a:srgbClr val="C6D2E6"/>
                </a:solidFill>
                <a:latin typeface="Calibri" pitchFamily="34" charset="0"/>
                <a:ea typeface="Calibri" pitchFamily="34" charset="-122"/>
                <a:cs typeface="Calibri" pitchFamily="34" charset="-120"/>
              </a:rPr>
              <a: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F5-L02 · Foundation F5 · Food, Health and Body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Foundation › F5 › F5-L02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F5-L02 · Meals and Routines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42</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F5-L02 · Meals and Routines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F5-L02</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Meals and time words, then eat / drink / have + </a:t>
            </a:r>
            <a:pPr algn="ctr" indent="0" marL="0">
              <a:buNone/>
            </a:pPr>
            <a:r>
              <a:rPr lang="ar-SA" altLang="en-US" sz="1550" dirty="0">
                <a:solidFill>
                  <a:srgbClr val="1F2A37"/>
                </a:solidFill>
                <a:latin typeface="Amiri" pitchFamily="34" charset="0"/>
                <a:ea typeface="Amiri" pitchFamily="34" charset="-122"/>
                <a:cs typeface="Amiri" pitchFamily="34" charset="-120"/>
              </a:rPr>
              <a:t>فِي</a:t>
            </a:r>
            <a:pPr algn="ctr" indent="0" marL="0">
              <a:buNone/>
            </a:pPr>
            <a:r>
              <a:rPr lang="en-US" sz="1200" dirty="0">
                <a:solidFill>
                  <a:srgbClr val="1F2A37"/>
                </a:solidFill>
                <a:latin typeface="Calibri" pitchFamily="34" charset="0"/>
                <a:ea typeface="Calibri" pitchFamily="34" charset="-122"/>
                <a:cs typeface="Calibri" pitchFamily="34" charset="-120"/>
              </a:rPr>
              <a:t> + the meal.</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Picture match, sort by time of day, fix the mistakes and listen to Rami.</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F5-L03.</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42</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F5-L02 · Meals and Routines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فَطُورٌ / فُطُورٌ</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dinner</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breakfast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snack</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عَادَةً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usually</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always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never</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goes with drinks?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آكُلُ</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أُحِبُّ</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أَشْرَبُ</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a girl “Do you like salad?”</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هَلْ تُحِبُّ السَّلَطَةَ؟</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هَلْ أُحِبُّ السَّلَطَةَ؟</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هَلْ تُحِبِّينَ السَّلَطَةَ؟</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is a drink?</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عَصِيرٌ</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أَرُزٌّ</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جُبْنٌ</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42</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F5-L02 · Meals and Routines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فَطُورٌ / فُطُورٌ</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dinner</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breakfast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snack</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(F5-L01).</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عَادَةً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usually</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always</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never</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(F5-L01).</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goes with drinks?</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آكُلُ</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أُحِبُّ</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أَشْرَبُ</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F5-L01: ashrabu with drinks.</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a girl “Do you like salad?”</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هَلْ تُحِبُّ السَّلَطَةَ؟</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هَلْ أُحِبُّ السَّلَطَةَ؟</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هَلْ تُحِبِّينَ السَّلَطَةَ؟</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F5-L01: a female listener → tuḥibbīna.</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is a drink?</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عَصِيرٌ</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أَرُزٌّ</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جُبْنٌ</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F5-L01 vocabulary.</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A meal sentence has three parts: WHEN · VERB · FOOD.</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350" b="1" dirty="0">
                <a:solidFill>
                  <a:srgbClr val="0E7C86"/>
                </a:solidFill>
                <a:latin typeface="Amiri" pitchFamily="34" charset="0"/>
                <a:ea typeface="Amiri" pitchFamily="34" charset="-122"/>
                <a:cs typeface="Amiri" pitchFamily="34" charset="-120"/>
              </a:rPr>
              <a:t>فِي الفُطُورِ</a:t>
            </a:r>
            <a:pPr rtl="1" algn="ctr" indent="0" marL="0">
              <a:buNone/>
            </a:pPr>
            <a:r>
              <a:rPr lang="ar-SA" altLang="en-US" sz="2350" b="1" dirty="0">
                <a:solidFill>
                  <a:srgbClr val="1B3B6F"/>
                </a:solidFill>
                <a:latin typeface="Amiri" pitchFamily="34" charset="0"/>
                <a:ea typeface="Amiri" pitchFamily="34" charset="-122"/>
                <a:cs typeface="Amiri" pitchFamily="34" charset="-120"/>
              </a:rPr>
              <a:t> </a:t>
            </a:r>
            <a:pPr rtl="1" algn="ctr" indent="0" marL="0">
              <a:buNone/>
            </a:pPr>
            <a:r>
              <a:rPr lang="ar-SA" altLang="en-US" sz="2350" b="1" dirty="0">
                <a:solidFill>
                  <a:srgbClr val="1D5FBF"/>
                </a:solidFill>
                <a:latin typeface="Amiri" pitchFamily="34" charset="0"/>
                <a:ea typeface="Amiri" pitchFamily="34" charset="-122"/>
                <a:cs typeface="Amiri" pitchFamily="34" charset="-120"/>
              </a:rPr>
              <a:t>آكُلُ</a:t>
            </a:r>
            <a:pPr rtl="1" algn="ctr" indent="0" marL="0">
              <a:buNone/>
            </a:pPr>
            <a:r>
              <a:rPr lang="ar-SA" altLang="en-US" sz="2350" b="1" dirty="0">
                <a:solidFill>
                  <a:srgbClr val="1B3B6F"/>
                </a:solidFill>
                <a:latin typeface="Amiri" pitchFamily="34" charset="0"/>
                <a:ea typeface="Amiri" pitchFamily="34" charset="-122"/>
                <a:cs typeface="Amiri" pitchFamily="34" charset="-120"/>
              </a:rPr>
              <a:t> الخُبْزَ وَالبَيْضَ.</a:t>
            </a:r>
            <a:endParaRPr lang="ar-SA" sz="23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42</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F5-L02 · Meals and Routines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F5-L02</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Name meals and common meal-time expressions.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a:t>
            </a:r>
            <a:pPr algn="l" indent="0" marL="0">
              <a:buNone/>
            </a:pPr>
            <a:r>
              <a:rPr lang="ar-SA" altLang="en-US" sz="1700" dirty="0">
                <a:solidFill>
                  <a:srgbClr val="1F2A37"/>
                </a:solidFill>
                <a:latin typeface="Amiri" pitchFamily="34" charset="0"/>
                <a:ea typeface="Amiri" pitchFamily="34" charset="-122"/>
                <a:cs typeface="Amiri" pitchFamily="34" charset="-120"/>
              </a:rPr>
              <a:t>آكُلُ، أَشْرَبُ</a:t>
            </a:r>
            <a:pPr algn="l" indent="0" marL="0">
              <a:buNone/>
            </a:pPr>
            <a:r>
              <a:rPr lang="en-US" sz="1300" dirty="0">
                <a:solidFill>
                  <a:srgbClr val="1F2A37"/>
                </a:solidFill>
                <a:latin typeface="Calibri" pitchFamily="34" charset="0"/>
                <a:ea typeface="Calibri" pitchFamily="34" charset="-122"/>
                <a:cs typeface="Calibri" pitchFamily="34" charset="-120"/>
              </a:rPr>
              <a:t> and </a:t>
            </a:r>
            <a:pPr algn="l" indent="0" marL="0">
              <a:buNone/>
            </a:pPr>
            <a:r>
              <a:rPr lang="ar-SA" altLang="en-US" sz="1700" dirty="0">
                <a:solidFill>
                  <a:srgbClr val="1F2A37"/>
                </a:solidFill>
                <a:latin typeface="Amiri" pitchFamily="34" charset="0"/>
                <a:ea typeface="Amiri" pitchFamily="34" charset="-122"/>
                <a:cs typeface="Amiri" pitchFamily="34" charset="-120"/>
              </a:rPr>
              <a:t>أَتَنَاوَلُ</a:t>
            </a:r>
            <a:pPr algn="l" indent="0" marL="0">
              <a:buNone/>
            </a:pPr>
            <a:r>
              <a:rPr lang="en-US" sz="1300" dirty="0">
                <a:solidFill>
                  <a:srgbClr val="1F2A37"/>
                </a:solidFill>
                <a:latin typeface="Calibri" pitchFamily="34" charset="0"/>
                <a:ea typeface="Calibri" pitchFamily="34" charset="-122"/>
                <a:cs typeface="Calibri" pitchFamily="34" charset="-120"/>
              </a:rPr>
              <a:t> accurately.</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Say what you eat and drink at different times of day.</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Read and understand a short daily meal routine.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name the three meals and a snack.</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say what I eat at each meal.</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add a time and a frequency word.</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ask a boy or a girl what they eat.</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use </a:t>
            </a:r>
            <a:pPr algn="l" indent="0" marL="0">
              <a:buNone/>
            </a:pPr>
            <a:r>
              <a:rPr lang="ar-SA" altLang="en-US" sz="1700" b="1" dirty="0">
                <a:solidFill>
                  <a:srgbClr val="B83227"/>
                </a:solidFill>
                <a:latin typeface="Amiri" pitchFamily="34" charset="0"/>
                <a:ea typeface="Amiri" pitchFamily="34" charset="-122"/>
                <a:cs typeface="Amiri" pitchFamily="34" charset="-120"/>
              </a:rPr>
              <a:t>أَتَنَاوَلُ</a:t>
            </a:r>
            <a:pPr algn="l" indent="0" marL="0">
              <a:buNone/>
            </a:pPr>
            <a:r>
              <a:rPr lang="en-US" sz="1300" b="1" dirty="0">
                <a:solidFill>
                  <a:srgbClr val="B83227"/>
                </a:solidFill>
                <a:latin typeface="Calibri" pitchFamily="34" charset="0"/>
                <a:ea typeface="Calibri" pitchFamily="34" charset="-122"/>
                <a:cs typeface="Calibri" pitchFamily="34" charset="-120"/>
              </a:rPr>
              <a:t> and he / she forms.</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compare weekday and weekend meals.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42</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21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Meals and timing · 9</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Eating and drinking verbs · 6</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Routine language · 6</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عَادَةً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‎عادت‎ </a:t>
            </a:r>
            <a:pPr indent="0" marL="0">
              <a:buNone/>
            </a:pPr>
            <a:r>
              <a:rPr lang="en-US" sz="950" b="1" dirty="0">
                <a:solidFill>
                  <a:srgbClr val="2E8B57"/>
                </a:solidFill>
                <a:latin typeface="Calibri" pitchFamily="34" charset="0"/>
                <a:ea typeface="Calibri" pitchFamily="34" charset="-122"/>
                <a:cs typeface="Calibri" pitchFamily="34" charset="-120"/>
              </a:rPr>
              <a:t> ādat · habit → usually</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دَائِمًا</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‎دائم‎ </a:t>
            </a:r>
            <a:pPr indent="0" marL="0">
              <a:buNone/>
            </a:pPr>
            <a:r>
              <a:rPr lang="en-US" sz="950" b="1" dirty="0">
                <a:solidFill>
                  <a:srgbClr val="2E8B57"/>
                </a:solidFill>
                <a:latin typeface="Calibri" pitchFamily="34" charset="0"/>
                <a:ea typeface="Calibri" pitchFamily="34" charset="-122"/>
                <a:cs typeface="Calibri" pitchFamily="34" charset="-120"/>
              </a:rPr>
              <a:t> dāʼim · permanent → always</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وَجْبَةٌ</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‎واجب‎ </a:t>
            </a:r>
            <a:pPr indent="0" marL="0">
              <a:buNone/>
            </a:pPr>
            <a:r>
              <a:rPr lang="en-US" sz="950" b="1" dirty="0">
                <a:solidFill>
                  <a:srgbClr val="2E8B57"/>
                </a:solidFill>
                <a:latin typeface="Calibri" pitchFamily="34" charset="0"/>
                <a:ea typeface="Calibri" pitchFamily="34" charset="-122"/>
                <a:cs typeface="Calibri" pitchFamily="34" charset="-120"/>
              </a:rPr>
              <a:t> wājib · Urdu: due · Arabic: a meal</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فُطُورٌ</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‎افطار‎ </a:t>
            </a:r>
            <a:pPr indent="0" marL="0">
              <a:buNone/>
            </a:pPr>
            <a:r>
              <a:rPr lang="en-US" sz="950" b="1" dirty="0">
                <a:solidFill>
                  <a:srgbClr val="2E8B57"/>
                </a:solidFill>
                <a:latin typeface="Calibri" pitchFamily="34" charset="0"/>
                <a:ea typeface="Calibri" pitchFamily="34" charset="-122"/>
                <a:cs typeface="Calibri" pitchFamily="34" charset="-120"/>
              </a:rPr>
              <a:t> iftār · breaking the fast → breakfast</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نَادِرًا</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‎نادر‎ </a:t>
            </a:r>
            <a:pPr indent="0" marL="0">
              <a:buNone/>
            </a:pPr>
            <a:r>
              <a:rPr lang="en-US" sz="950" b="1" dirty="0">
                <a:solidFill>
                  <a:srgbClr val="2E8B57"/>
                </a:solidFill>
                <a:latin typeface="Calibri" pitchFamily="34" charset="0"/>
                <a:ea typeface="Calibri" pitchFamily="34" charset="-122"/>
                <a:cs typeface="Calibri" pitchFamily="34" charset="-120"/>
              </a:rPr>
              <a:t> nādir · rare → rarely</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42</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F5-L02 · Meals and Routines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Meals and timing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فُطُورٌ</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breakfast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fu-ṭū-run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غَدَاءٌ</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lunch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gha-dā-ʾun</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عَشَاءٌ</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dinner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ʿa-shā-ʾun</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39" name="Shape 36"/>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40" name="Text 37"/>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41" name="Text 38"/>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وَجْبَةٌ</a:t>
            </a:r>
            <a:endParaRPr lang="ar-SA" sz="3000" dirty="0"/>
          </a:p>
        </p:txBody>
      </p:sp>
      <p:sp>
        <p:nvSpPr>
          <p:cNvPr id="42" name="Text 39"/>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meal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waj-ba-tun</a:t>
            </a:r>
            <a:endParaRPr lang="en-US" sz="1350" dirty="0"/>
          </a:p>
        </p:txBody>
      </p:sp>
      <p:sp>
        <p:nvSpPr>
          <p:cNvPr id="43" name="Shape 40"/>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one</a:t>
            </a:r>
            <a:endParaRPr lang="en-US" sz="750" dirty="0"/>
          </a:p>
        </p:txBody>
      </p:sp>
      <p:sp>
        <p:nvSpPr>
          <p:cNvPr id="45" name="Text 42"/>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وَجْبَةٌ</a:t>
            </a:r>
            <a:endParaRPr lang="ar-SA" sz="1500" dirty="0"/>
          </a:p>
        </p:txBody>
      </p:sp>
      <p:sp>
        <p:nvSpPr>
          <p:cNvPr id="46" name="Shape 43"/>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8" name="Text 45"/>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وَجَبَاتٌ</a:t>
            </a:r>
            <a:endParaRPr lang="ar-SA" sz="1500" dirty="0"/>
          </a:p>
        </p:txBody>
      </p:sp>
      <p:sp>
        <p:nvSpPr>
          <p:cNvPr id="49" name="Shape 4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4389120" y="4261104"/>
            <a:ext cx="310896" cy="310896"/>
          </a:xfrm>
          <a:prstGeom prst="ellipse">
            <a:avLst/>
          </a:prstGeom>
          <a:solidFill>
            <a:srgbClr val="F4F1EA"/>
          </a:solidFill>
          <a:ln w="12700">
            <a:solidFill>
              <a:srgbClr val="F4F1EA"/>
            </a:solidFill>
            <a:prstDash val="solid"/>
          </a:ln>
        </p:spPr>
      </p:sp>
      <p:sp>
        <p:nvSpPr>
          <p:cNvPr id="51" name="Text 4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52" name="Shape 49"/>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3" name="Text 50"/>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4" name="Text 5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وَجْبَةٌ خَفِيفَةٌ</a:t>
            </a:r>
            <a:endParaRPr lang="ar-SA" sz="3000" dirty="0"/>
          </a:p>
        </p:txBody>
      </p:sp>
      <p:sp>
        <p:nvSpPr>
          <p:cNvPr id="55" name="Text 5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snack</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waj-ba-tun kha-fī-fa-tun</a:t>
            </a:r>
            <a:endParaRPr lang="en-US" sz="13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42</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F5-L02 · Meals and Routines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Meals and timing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فِي الصَّبَاحِ</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 the morning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fī aṣ-ṣa-bā-ḥi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عِنْدَ الظُّهْرِ</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at midday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ʿin-da aẓ-ẓuh-ri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فِي المَسَاءِ</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 the evening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fī al-ma-sā-ʾi</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بَعْدَ المَدْرَسَةِ</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after school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baʿ-da al-mad-ra-sa-ti</a:t>
            </a:r>
            <a:endParaRPr lang="en-US" sz="13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42</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F5-L02 · Meals and Routines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Eating and drinking verbs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18" name="Shape 15"/>
          <p:cNvSpPr/>
          <p:nvPr/>
        </p:nvSpPr>
        <p:spPr>
          <a:xfrm>
            <a:off x="8604504" y="1938528"/>
            <a:ext cx="1331366"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33136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 · we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آكُلُ</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eat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ā-ku-lu</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يَأْكُلُ</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تَأْكُلُ</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we</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نَأْكُلُ</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36" name="Shape 33"/>
          <p:cNvSpPr/>
          <p:nvPr/>
        </p:nvSpPr>
        <p:spPr>
          <a:xfrm>
            <a:off x="4782312" y="1938528"/>
            <a:ext cx="1331366"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133136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 · we</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أَشْرَبُ</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drink</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ash-ra-bu</a:t>
            </a:r>
            <a:endParaRPr lang="en-US" sz="1350" dirty="0"/>
          </a:p>
        </p:txBody>
      </p:sp>
      <p:sp>
        <p:nvSpPr>
          <p:cNvPr id="42" name="Shape 3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44" name="Text 41"/>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يَشْرَبُ</a:t>
            </a:r>
            <a:endParaRPr lang="ar-SA" sz="1500" dirty="0"/>
          </a:p>
        </p:txBody>
      </p:sp>
      <p:sp>
        <p:nvSpPr>
          <p:cNvPr id="45" name="Shape 4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47" name="Text 44"/>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تَشْرَبُ</a:t>
            </a:r>
            <a:endParaRPr lang="ar-SA" sz="1500" dirty="0"/>
          </a:p>
        </p:txBody>
      </p:sp>
      <p:sp>
        <p:nvSpPr>
          <p:cNvPr id="48" name="Shape 4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we</a:t>
            </a:r>
            <a:endParaRPr lang="en-US" sz="750" dirty="0"/>
          </a:p>
        </p:txBody>
      </p:sp>
      <p:sp>
        <p:nvSpPr>
          <p:cNvPr id="50" name="Text 47"/>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نَشْرَبُ</a:t>
            </a:r>
            <a:endParaRPr lang="ar-SA" sz="1500" dirty="0"/>
          </a:p>
        </p:txBody>
      </p:sp>
      <p:sp>
        <p:nvSpPr>
          <p:cNvPr id="51" name="Shape 4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1920240"/>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54" name="Shape 51"/>
          <p:cNvSpPr/>
          <p:nvPr/>
        </p:nvSpPr>
        <p:spPr>
          <a:xfrm>
            <a:off x="960120" y="1938528"/>
            <a:ext cx="1331366"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960120" y="1938528"/>
            <a:ext cx="133136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 · we</a:t>
            </a:r>
            <a:endParaRPr lang="en-US" sz="800" dirty="0"/>
          </a:p>
        </p:txBody>
      </p:sp>
      <p:sp>
        <p:nvSpPr>
          <p:cNvPr id="56" name="Shape 53"/>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8" name="Text 55"/>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أَتَنَاوَلُ</a:t>
            </a:r>
            <a:endParaRPr lang="ar-SA" sz="3000" dirty="0"/>
          </a:p>
        </p:txBody>
      </p:sp>
      <p:sp>
        <p:nvSpPr>
          <p:cNvPr id="59" name="Text 56"/>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have / consume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a-ta-nā-wa-lu</a:t>
            </a:r>
            <a:endParaRPr lang="en-US" sz="1350" dirty="0"/>
          </a:p>
        </p:txBody>
      </p:sp>
      <p:sp>
        <p:nvSpPr>
          <p:cNvPr id="60" name="Shape 57"/>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62" name="Text 59"/>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يَتَنَاوَلُ</a:t>
            </a:r>
            <a:endParaRPr lang="ar-SA" sz="1500" dirty="0"/>
          </a:p>
        </p:txBody>
      </p:sp>
      <p:sp>
        <p:nvSpPr>
          <p:cNvPr id="63" name="Shape 60"/>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65" name="Text 62"/>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تَتَنَاوَلُ</a:t>
            </a:r>
            <a:endParaRPr lang="ar-SA" sz="1500" dirty="0"/>
          </a:p>
        </p:txBody>
      </p:sp>
      <p:sp>
        <p:nvSpPr>
          <p:cNvPr id="66" name="Shape 63"/>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7" name="Text 64"/>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we</a:t>
            </a:r>
            <a:endParaRPr lang="en-US" sz="750" dirty="0"/>
          </a:p>
        </p:txBody>
      </p:sp>
      <p:sp>
        <p:nvSpPr>
          <p:cNvPr id="68" name="Text 65"/>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نَتَنَاوَلُ</a:t>
            </a:r>
            <a:endParaRPr lang="ar-SA" sz="1500" dirty="0"/>
          </a:p>
        </p:txBody>
      </p:sp>
      <p:sp>
        <p:nvSpPr>
          <p:cNvPr id="69" name="Shape 6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8211312" y="4261104"/>
            <a:ext cx="310896" cy="310896"/>
          </a:xfrm>
          <a:prstGeom prst="ellipse">
            <a:avLst/>
          </a:prstGeom>
          <a:solidFill>
            <a:srgbClr val="F4F1EA"/>
          </a:solidFill>
          <a:ln w="12700">
            <a:solidFill>
              <a:srgbClr val="F4F1EA"/>
            </a:solidFill>
            <a:prstDash val="solid"/>
          </a:ln>
        </p:spPr>
      </p:sp>
      <p:sp>
        <p:nvSpPr>
          <p:cNvPr id="71" name="Text 6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72" name="Text 69"/>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يَأْكُلُ / تَأْكُلُ</a:t>
            </a:r>
            <a:endParaRPr lang="ar-SA" sz="3000" dirty="0"/>
          </a:p>
        </p:txBody>
      </p:sp>
      <p:sp>
        <p:nvSpPr>
          <p:cNvPr id="73" name="Text 70"/>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he eats / she eats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yaʾ-ku-lu / taʾ-ku-lu</a:t>
            </a:r>
            <a:endParaRPr lang="en-US" sz="1350" dirty="0"/>
          </a:p>
        </p:txBody>
      </p:sp>
      <p:sp>
        <p:nvSpPr>
          <p:cNvPr id="74" name="Shape 71"/>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5" name="Shape 72"/>
          <p:cNvSpPr/>
          <p:nvPr/>
        </p:nvSpPr>
        <p:spPr>
          <a:xfrm>
            <a:off x="4389120" y="4261104"/>
            <a:ext cx="310896" cy="310896"/>
          </a:xfrm>
          <a:prstGeom prst="ellipse">
            <a:avLst/>
          </a:prstGeom>
          <a:solidFill>
            <a:srgbClr val="F4F1EA"/>
          </a:solidFill>
          <a:ln w="12700">
            <a:solidFill>
              <a:srgbClr val="F4F1EA"/>
            </a:solidFill>
            <a:prstDash val="solid"/>
          </a:ln>
        </p:spPr>
      </p:sp>
      <p:sp>
        <p:nvSpPr>
          <p:cNvPr id="76" name="Text 73"/>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77" name="Text 74"/>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يَشْرَبُ / تَشْرَبُ</a:t>
            </a:r>
            <a:endParaRPr lang="ar-SA" sz="3000" dirty="0"/>
          </a:p>
        </p:txBody>
      </p:sp>
      <p:sp>
        <p:nvSpPr>
          <p:cNvPr id="78" name="Text 75"/>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he drinks / she drinks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yash-ra-bu / tash-ra-bu</a:t>
            </a:r>
            <a:endParaRPr lang="en-US" sz="1350" dirty="0"/>
          </a:p>
        </p:txBody>
      </p:sp>
      <p:sp>
        <p:nvSpPr>
          <p:cNvPr id="79" name="Shape 76"/>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0" name="Shape 77"/>
          <p:cNvSpPr/>
          <p:nvPr/>
        </p:nvSpPr>
        <p:spPr>
          <a:xfrm>
            <a:off x="566928" y="4261104"/>
            <a:ext cx="310896" cy="310896"/>
          </a:xfrm>
          <a:prstGeom prst="ellipse">
            <a:avLst/>
          </a:prstGeom>
          <a:solidFill>
            <a:srgbClr val="F4F1EA"/>
          </a:solidFill>
          <a:ln w="12700">
            <a:solidFill>
              <a:srgbClr val="F4F1EA"/>
            </a:solidFill>
            <a:prstDash val="solid"/>
          </a:ln>
        </p:spPr>
      </p:sp>
      <p:sp>
        <p:nvSpPr>
          <p:cNvPr id="81" name="Text 78"/>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82" name="Text 79"/>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يَتَنَاوَلُ / تَتَنَاوَلُ</a:t>
            </a:r>
            <a:endParaRPr lang="ar-SA" sz="3000" dirty="0"/>
          </a:p>
        </p:txBody>
      </p:sp>
      <p:sp>
        <p:nvSpPr>
          <p:cNvPr id="83" name="Text 80"/>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he/she has a meal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ya-ta-nā-wa-lu / ta-ta-nā-wa-lu</a:t>
            </a:r>
            <a:endParaRPr lang="en-US" sz="13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42</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F5-L02 · Meals and Routines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Routine language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F5-L02</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عَادَةً</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usually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ʿā-da-tan</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9" name="Text 26"/>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أَحْيَانًا</a:t>
            </a:r>
            <a:endParaRPr lang="ar-SA" sz="3000" dirty="0"/>
          </a:p>
        </p:txBody>
      </p:sp>
      <p:sp>
        <p:nvSpPr>
          <p:cNvPr id="30" name="Text 27"/>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sometimes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aḥ-yā-nan</a:t>
            </a:r>
            <a:endParaRPr lang="en-US" sz="135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دَائِمًا</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always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dā-ʾi-man</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نَادِرًا</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rarely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nā-di-ran</a:t>
            </a:r>
            <a:endParaRPr lang="en-US" sz="1350" dirty="0"/>
          </a:p>
        </p:txBody>
      </p:sp>
      <p:sp>
        <p:nvSpPr>
          <p:cNvPr id="41" name="Shape 3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4389120"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44" name="Shape 41"/>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كُلَّ يَوْمٍ</a:t>
            </a:r>
            <a:endParaRPr lang="ar-SA" sz="3000" dirty="0"/>
          </a:p>
        </p:txBody>
      </p:sp>
      <p:sp>
        <p:nvSpPr>
          <p:cNvPr id="47" name="Text 44"/>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every day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kul-la yaw-min</a:t>
            </a:r>
            <a:endParaRPr lang="en-US" sz="1350" dirty="0"/>
          </a:p>
        </p:txBody>
      </p:sp>
      <p:sp>
        <p:nvSpPr>
          <p:cNvPr id="48" name="Shape 45"/>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66928" y="4261104"/>
            <a:ext cx="310896" cy="310896"/>
          </a:xfrm>
          <a:prstGeom prst="ellipse">
            <a:avLst/>
          </a:prstGeom>
          <a:solidFill>
            <a:srgbClr val="F4F1EA"/>
          </a:solidFill>
          <a:ln w="12700">
            <a:solidFill>
              <a:srgbClr val="F4F1EA"/>
            </a:solidFill>
            <a:prstDash val="solid"/>
          </a:ln>
        </p:spPr>
      </p:sp>
      <p:sp>
        <p:nvSpPr>
          <p:cNvPr id="50" name="Text 47"/>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51" name="Text 48"/>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مَعَ عَائِلَتِي</a:t>
            </a:r>
            <a:endParaRPr lang="ar-SA" sz="3000" dirty="0"/>
          </a:p>
        </p:txBody>
      </p:sp>
      <p:sp>
        <p:nvSpPr>
          <p:cNvPr id="52" name="Text 49"/>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with my family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ma-ʿa ʿā-ʾi-la-tī</a:t>
            </a:r>
            <a:endParaRPr lang="en-US" sz="1350" dirty="0"/>
          </a:p>
        </p:txBody>
      </p:sp>
      <p:sp>
        <p:nvSpPr>
          <p:cNvPr id="53" name="Text 5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42</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F5-L02 · Meals and Routines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FOCUS · PART 1 · WHEN? + VERB + FOOD (WEBSITE RULES 1 AND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At breakfast I eat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فِي + الوَجْبَةِ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518904"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Meal</a:t>
            </a:r>
            <a:endParaRPr lang="en-US" sz="1100" dirty="0"/>
          </a:p>
        </p:txBody>
      </p:sp>
      <p:sp>
        <p:nvSpPr>
          <p:cNvPr id="17" name="Text 14"/>
          <p:cNvSpPr txBox="1"/>
          <p:nvPr/>
        </p:nvSpPr>
        <p:spPr>
          <a:xfrm>
            <a:off x="6775704"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When?</a:t>
            </a:r>
            <a:endParaRPr lang="en-US" sz="1100" dirty="0"/>
          </a:p>
        </p:txBody>
      </p:sp>
      <p:sp>
        <p:nvSpPr>
          <p:cNvPr id="18" name="Text 15"/>
          <p:cNvSpPr txBox="1"/>
          <p:nvPr/>
        </p:nvSpPr>
        <p:spPr>
          <a:xfrm>
            <a:off x="530352" y="1810512"/>
            <a:ext cx="6099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Model sentence</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537192" y="2267712"/>
            <a:ext cx="21031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الفُطُورُ</a:t>
            </a:r>
            <a:endParaRPr lang="ar-SA" sz="2400" dirty="0"/>
          </a:p>
        </p:txBody>
      </p:sp>
      <p:sp>
        <p:nvSpPr>
          <p:cNvPr id="21" name="Text 18"/>
          <p:cNvSpPr txBox="1"/>
          <p:nvPr/>
        </p:nvSpPr>
        <p:spPr>
          <a:xfrm>
            <a:off x="6793992" y="2286000"/>
            <a:ext cx="256032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فِي الصَّبَاحِ</a:t>
            </a:r>
            <a:endParaRPr lang="ar-SA" sz="1950" dirty="0"/>
          </a:p>
        </p:txBody>
      </p:sp>
      <p:sp>
        <p:nvSpPr>
          <p:cNvPr id="22" name="Text 19"/>
          <p:cNvSpPr txBox="1"/>
          <p:nvPr/>
        </p:nvSpPr>
        <p:spPr>
          <a:xfrm>
            <a:off x="6748272" y="2676997"/>
            <a:ext cx="265176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in the morning</a:t>
            </a:r>
            <a:endParaRPr lang="en-US" sz="950" dirty="0"/>
          </a:p>
        </p:txBody>
      </p:sp>
      <p:sp>
        <p:nvSpPr>
          <p:cNvPr id="23" name="Text 20"/>
          <p:cNvSpPr txBox="1"/>
          <p:nvPr/>
        </p:nvSpPr>
        <p:spPr>
          <a:xfrm>
            <a:off x="548640" y="2286000"/>
            <a:ext cx="6062472" cy="422928"/>
          </a:xfrm>
          <a:prstGeom prst="rect">
            <a:avLst/>
          </a:prstGeom>
          <a:noFill/>
          <a:ln/>
        </p:spPr>
        <p:txBody>
          <a:bodyPr wrap="square" lIns="0" tIns="0" rIns="0" bIns="0" rtlCol="0" anchor="ctr"/>
          <a:lstStyle/>
          <a:p>
            <a:pPr rtl="1" algn="ctr" indent="0" marL="0">
              <a:buNone/>
            </a:pPr>
            <a:r>
              <a:rPr lang="ar-SA" altLang="en-US" sz="1950" b="1" dirty="0">
                <a:solidFill>
                  <a:srgbClr val="0E7C86"/>
                </a:solidFill>
                <a:latin typeface="Amiri" pitchFamily="34" charset="0"/>
                <a:ea typeface="Amiri" pitchFamily="34" charset="-122"/>
                <a:cs typeface="Amiri" pitchFamily="34" charset="-120"/>
              </a:rPr>
              <a:t>فِي الفُطُورِ</a:t>
            </a:r>
            <a:pPr rtl="1" algn="ctr" indent="0" marL="0">
              <a:buNone/>
            </a:pPr>
            <a:r>
              <a:rPr lang="ar-SA" altLang="en-US" sz="1950" b="1" dirty="0">
                <a:solidFill>
                  <a:srgbClr val="1B3B6F"/>
                </a:solidFill>
                <a:latin typeface="Amiri" pitchFamily="34" charset="0"/>
                <a:ea typeface="Amiri" pitchFamily="34" charset="-122"/>
                <a:cs typeface="Amiri" pitchFamily="34" charset="-120"/>
              </a:rPr>
              <a:t> </a:t>
            </a:r>
            <a:pPr rtl="1" algn="ctr" indent="0" marL="0">
              <a:buNone/>
            </a:pPr>
            <a:r>
              <a:rPr lang="ar-SA" altLang="en-US" sz="1950" b="1" dirty="0">
                <a:solidFill>
                  <a:srgbClr val="1D5FBF"/>
                </a:solidFill>
                <a:latin typeface="Amiri" pitchFamily="34" charset="0"/>
                <a:ea typeface="Amiri" pitchFamily="34" charset="-122"/>
                <a:cs typeface="Amiri" pitchFamily="34" charset="-120"/>
              </a:rPr>
              <a:t>آكُلُ</a:t>
            </a:r>
            <a:pPr rtl="1" algn="ctr" indent="0" marL="0">
              <a:buNone/>
            </a:pPr>
            <a:r>
              <a:rPr lang="ar-SA" altLang="en-US" sz="1950" b="1" dirty="0">
                <a:solidFill>
                  <a:srgbClr val="1B3B6F"/>
                </a:solidFill>
                <a:latin typeface="Amiri" pitchFamily="34" charset="0"/>
                <a:ea typeface="Amiri" pitchFamily="34" charset="-122"/>
                <a:cs typeface="Amiri" pitchFamily="34" charset="-120"/>
              </a:rPr>
              <a:t> الخُبْزَ وَالبَيْضَ.</a:t>
            </a:r>
            <a:endParaRPr lang="ar-SA" sz="1950" dirty="0"/>
          </a:p>
        </p:txBody>
      </p:sp>
      <p:sp>
        <p:nvSpPr>
          <p:cNvPr id="24" name="Text 21"/>
          <p:cNvSpPr txBox="1"/>
          <p:nvPr/>
        </p:nvSpPr>
        <p:spPr>
          <a:xfrm>
            <a:off x="502920" y="2676997"/>
            <a:ext cx="615391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At breakfast I eat bread and eggs.</a:t>
            </a:r>
            <a:endParaRPr lang="en-US" sz="95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9537192" y="3004718"/>
            <a:ext cx="21031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الغَدَاءُ</a:t>
            </a:r>
            <a:endParaRPr lang="ar-SA" sz="2400" dirty="0"/>
          </a:p>
        </p:txBody>
      </p:sp>
      <p:sp>
        <p:nvSpPr>
          <p:cNvPr id="29" name="Text 26"/>
          <p:cNvSpPr txBox="1"/>
          <p:nvPr/>
        </p:nvSpPr>
        <p:spPr>
          <a:xfrm>
            <a:off x="6793992" y="3023006"/>
            <a:ext cx="256032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عِنْدَ الظُّهْرِ</a:t>
            </a:r>
            <a:endParaRPr lang="ar-SA" sz="1950" dirty="0"/>
          </a:p>
        </p:txBody>
      </p:sp>
      <p:sp>
        <p:nvSpPr>
          <p:cNvPr id="30" name="Text 27"/>
          <p:cNvSpPr txBox="1"/>
          <p:nvPr/>
        </p:nvSpPr>
        <p:spPr>
          <a:xfrm>
            <a:off x="6748272" y="3414004"/>
            <a:ext cx="265176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at midday</a:t>
            </a:r>
            <a:endParaRPr lang="en-US" sz="950" dirty="0"/>
          </a:p>
        </p:txBody>
      </p:sp>
      <p:sp>
        <p:nvSpPr>
          <p:cNvPr id="31" name="Text 28"/>
          <p:cNvSpPr txBox="1"/>
          <p:nvPr/>
        </p:nvSpPr>
        <p:spPr>
          <a:xfrm>
            <a:off x="548640" y="3023006"/>
            <a:ext cx="6062472" cy="422928"/>
          </a:xfrm>
          <a:prstGeom prst="rect">
            <a:avLst/>
          </a:prstGeom>
          <a:noFill/>
          <a:ln/>
        </p:spPr>
        <p:txBody>
          <a:bodyPr wrap="square" lIns="0" tIns="0" rIns="0" bIns="0" rtlCol="0" anchor="ctr"/>
          <a:lstStyle/>
          <a:p>
            <a:pPr rtl="1" algn="ctr" indent="0" marL="0">
              <a:buNone/>
            </a:pPr>
            <a:r>
              <a:rPr lang="ar-SA" altLang="en-US" sz="1950" b="1" dirty="0">
                <a:solidFill>
                  <a:srgbClr val="0E7C86"/>
                </a:solidFill>
                <a:latin typeface="Amiri" pitchFamily="34" charset="0"/>
                <a:ea typeface="Amiri" pitchFamily="34" charset="-122"/>
                <a:cs typeface="Amiri" pitchFamily="34" charset="-120"/>
              </a:rPr>
              <a:t>فِي الغَدَاءِ</a:t>
            </a:r>
            <a:pPr rtl="1" algn="ctr" indent="0" marL="0">
              <a:buNone/>
            </a:pPr>
            <a:r>
              <a:rPr lang="ar-SA" altLang="en-US" sz="1950" b="1" dirty="0">
                <a:solidFill>
                  <a:srgbClr val="1B3B6F"/>
                </a:solidFill>
                <a:latin typeface="Amiri" pitchFamily="34" charset="0"/>
                <a:ea typeface="Amiri" pitchFamily="34" charset="-122"/>
                <a:cs typeface="Amiri" pitchFamily="34" charset="-120"/>
              </a:rPr>
              <a:t> </a:t>
            </a:r>
            <a:pPr rtl="1" algn="ctr" indent="0" marL="0">
              <a:buNone/>
            </a:pPr>
            <a:r>
              <a:rPr lang="ar-SA" altLang="en-US" sz="1950" b="1" dirty="0">
                <a:solidFill>
                  <a:srgbClr val="1D5FBF"/>
                </a:solidFill>
                <a:latin typeface="Amiri" pitchFamily="34" charset="0"/>
                <a:ea typeface="Amiri" pitchFamily="34" charset="-122"/>
                <a:cs typeface="Amiri" pitchFamily="34" charset="-120"/>
              </a:rPr>
              <a:t>آكُلُ</a:t>
            </a:r>
            <a:pPr rtl="1" algn="ctr" indent="0" marL="0">
              <a:buNone/>
            </a:pPr>
            <a:r>
              <a:rPr lang="ar-SA" altLang="en-US" sz="1950" b="1" dirty="0">
                <a:solidFill>
                  <a:srgbClr val="1B3B6F"/>
                </a:solidFill>
                <a:latin typeface="Amiri" pitchFamily="34" charset="0"/>
                <a:ea typeface="Amiri" pitchFamily="34" charset="-122"/>
                <a:cs typeface="Amiri" pitchFamily="34" charset="-120"/>
              </a:rPr>
              <a:t> الأَرُزَّ وَالدَّجَاجَ.</a:t>
            </a:r>
            <a:endParaRPr lang="ar-SA" sz="1950" dirty="0"/>
          </a:p>
        </p:txBody>
      </p:sp>
      <p:sp>
        <p:nvSpPr>
          <p:cNvPr id="32" name="Text 29"/>
          <p:cNvSpPr txBox="1"/>
          <p:nvPr/>
        </p:nvSpPr>
        <p:spPr>
          <a:xfrm>
            <a:off x="502920" y="3414004"/>
            <a:ext cx="615391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At lunch I eat rice and chicken.</a:t>
            </a:r>
            <a:endParaRPr lang="en-US" sz="950" dirty="0"/>
          </a:p>
        </p:txBody>
      </p:sp>
      <p:sp>
        <p:nvSpPr>
          <p:cNvPr id="33" name="Shape 30"/>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5" name="Shape 32"/>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6" name="Text 33"/>
          <p:cNvSpPr txBox="1"/>
          <p:nvPr/>
        </p:nvSpPr>
        <p:spPr>
          <a:xfrm>
            <a:off x="9537192" y="3741725"/>
            <a:ext cx="21031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العَشَاءُ</a:t>
            </a:r>
            <a:endParaRPr lang="ar-SA" sz="2400" dirty="0"/>
          </a:p>
        </p:txBody>
      </p:sp>
      <p:sp>
        <p:nvSpPr>
          <p:cNvPr id="37" name="Text 34"/>
          <p:cNvSpPr txBox="1"/>
          <p:nvPr/>
        </p:nvSpPr>
        <p:spPr>
          <a:xfrm>
            <a:off x="6793992" y="3760013"/>
            <a:ext cx="256032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فِي المَسَاءِ</a:t>
            </a:r>
            <a:endParaRPr lang="ar-SA" sz="1950" dirty="0"/>
          </a:p>
        </p:txBody>
      </p:sp>
      <p:sp>
        <p:nvSpPr>
          <p:cNvPr id="38" name="Text 35"/>
          <p:cNvSpPr txBox="1"/>
          <p:nvPr/>
        </p:nvSpPr>
        <p:spPr>
          <a:xfrm>
            <a:off x="6748272" y="4151010"/>
            <a:ext cx="265176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in the evening</a:t>
            </a:r>
            <a:endParaRPr lang="en-US" sz="950" dirty="0"/>
          </a:p>
        </p:txBody>
      </p:sp>
      <p:sp>
        <p:nvSpPr>
          <p:cNvPr id="39" name="Text 36"/>
          <p:cNvSpPr txBox="1"/>
          <p:nvPr/>
        </p:nvSpPr>
        <p:spPr>
          <a:xfrm>
            <a:off x="548640" y="3760013"/>
            <a:ext cx="6062472" cy="422928"/>
          </a:xfrm>
          <a:prstGeom prst="rect">
            <a:avLst/>
          </a:prstGeom>
          <a:noFill/>
          <a:ln/>
        </p:spPr>
        <p:txBody>
          <a:bodyPr wrap="square" lIns="0" tIns="0" rIns="0" bIns="0" rtlCol="0" anchor="ctr"/>
          <a:lstStyle/>
          <a:p>
            <a:pPr rtl="1" algn="ctr" indent="0" marL="0">
              <a:buNone/>
            </a:pPr>
            <a:r>
              <a:rPr lang="ar-SA" altLang="en-US" sz="1950" b="1" dirty="0">
                <a:solidFill>
                  <a:srgbClr val="0E7C86"/>
                </a:solidFill>
                <a:latin typeface="Amiri" pitchFamily="34" charset="0"/>
                <a:ea typeface="Amiri" pitchFamily="34" charset="-122"/>
                <a:cs typeface="Amiri" pitchFamily="34" charset="-120"/>
              </a:rPr>
              <a:t>فِي العَشَاءِ</a:t>
            </a:r>
            <a:pPr rtl="1" algn="ctr" indent="0" marL="0">
              <a:buNone/>
            </a:pPr>
            <a:r>
              <a:rPr lang="ar-SA" altLang="en-US" sz="1950" b="1" dirty="0">
                <a:solidFill>
                  <a:srgbClr val="1B3B6F"/>
                </a:solidFill>
                <a:latin typeface="Amiri" pitchFamily="34" charset="0"/>
                <a:ea typeface="Amiri" pitchFamily="34" charset="-122"/>
                <a:cs typeface="Amiri" pitchFamily="34" charset="-120"/>
              </a:rPr>
              <a:t> </a:t>
            </a:r>
            <a:pPr rtl="1" algn="ctr" indent="0" marL="0">
              <a:buNone/>
            </a:pPr>
            <a:r>
              <a:rPr lang="ar-SA" altLang="en-US" sz="1950" b="1" dirty="0">
                <a:solidFill>
                  <a:srgbClr val="1D5FBF"/>
                </a:solidFill>
                <a:latin typeface="Amiri" pitchFamily="34" charset="0"/>
                <a:ea typeface="Amiri" pitchFamily="34" charset="-122"/>
                <a:cs typeface="Amiri" pitchFamily="34" charset="-120"/>
              </a:rPr>
              <a:t>أَشْرَبُ</a:t>
            </a:r>
            <a:pPr rtl="1" algn="ctr" indent="0" marL="0">
              <a:buNone/>
            </a:pPr>
            <a:r>
              <a:rPr lang="ar-SA" altLang="en-US" sz="1950" b="1" dirty="0">
                <a:solidFill>
                  <a:srgbClr val="1B3B6F"/>
                </a:solidFill>
                <a:latin typeface="Amiri" pitchFamily="34" charset="0"/>
                <a:ea typeface="Amiri" pitchFamily="34" charset="-122"/>
                <a:cs typeface="Amiri" pitchFamily="34" charset="-120"/>
              </a:rPr>
              <a:t> المَاءَ.</a:t>
            </a:r>
            <a:endParaRPr lang="ar-SA" sz="1950" dirty="0"/>
          </a:p>
        </p:txBody>
      </p:sp>
      <p:sp>
        <p:nvSpPr>
          <p:cNvPr id="40" name="Text 37"/>
          <p:cNvSpPr txBox="1"/>
          <p:nvPr/>
        </p:nvSpPr>
        <p:spPr>
          <a:xfrm>
            <a:off x="502920" y="4151010"/>
            <a:ext cx="615391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At dinner I drink water.</a:t>
            </a:r>
            <a:endParaRPr lang="en-US" sz="950" dirty="0"/>
          </a:p>
        </p:txBody>
      </p:sp>
      <p:sp>
        <p:nvSpPr>
          <p:cNvPr id="41" name="Shape 38"/>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3" name="Shape 40"/>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4" name="Text 41"/>
          <p:cNvSpPr txBox="1"/>
          <p:nvPr/>
        </p:nvSpPr>
        <p:spPr>
          <a:xfrm>
            <a:off x="9537192" y="4478731"/>
            <a:ext cx="21031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وَجْبَةٌ خَفِيفَةٌ</a:t>
            </a:r>
            <a:endParaRPr lang="ar-SA" sz="2400" dirty="0"/>
          </a:p>
        </p:txBody>
      </p:sp>
      <p:sp>
        <p:nvSpPr>
          <p:cNvPr id="45" name="Text 42"/>
          <p:cNvSpPr txBox="1"/>
          <p:nvPr/>
        </p:nvSpPr>
        <p:spPr>
          <a:xfrm>
            <a:off x="6793992" y="4497019"/>
            <a:ext cx="256032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بَعْدَ المَدْرَسَةِ</a:t>
            </a:r>
            <a:endParaRPr lang="ar-SA" sz="1950" dirty="0"/>
          </a:p>
        </p:txBody>
      </p:sp>
      <p:sp>
        <p:nvSpPr>
          <p:cNvPr id="46" name="Text 43"/>
          <p:cNvSpPr txBox="1"/>
          <p:nvPr/>
        </p:nvSpPr>
        <p:spPr>
          <a:xfrm>
            <a:off x="6748272" y="4888017"/>
            <a:ext cx="265176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after school</a:t>
            </a:r>
            <a:endParaRPr lang="en-US" sz="950" dirty="0"/>
          </a:p>
        </p:txBody>
      </p:sp>
      <p:sp>
        <p:nvSpPr>
          <p:cNvPr id="47" name="Text 44"/>
          <p:cNvSpPr txBox="1"/>
          <p:nvPr/>
        </p:nvSpPr>
        <p:spPr>
          <a:xfrm>
            <a:off x="548640" y="4497019"/>
            <a:ext cx="6062472" cy="422928"/>
          </a:xfrm>
          <a:prstGeom prst="rect">
            <a:avLst/>
          </a:prstGeom>
          <a:noFill/>
          <a:ln/>
        </p:spPr>
        <p:txBody>
          <a:bodyPr wrap="square" lIns="0" tIns="0" rIns="0" bIns="0" rtlCol="0" anchor="ctr"/>
          <a:lstStyle/>
          <a:p>
            <a:pPr rtl="1" algn="ctr" indent="0" marL="0">
              <a:buNone/>
            </a:pPr>
            <a:r>
              <a:rPr lang="ar-SA" altLang="en-US" sz="1950" b="1" dirty="0">
                <a:solidFill>
                  <a:srgbClr val="0E7C86"/>
                </a:solidFill>
                <a:latin typeface="Amiri" pitchFamily="34" charset="0"/>
                <a:ea typeface="Amiri" pitchFamily="34" charset="-122"/>
                <a:cs typeface="Amiri" pitchFamily="34" charset="-120"/>
              </a:rPr>
              <a:t>بَعْدَ المَدْرَسَةِ</a:t>
            </a:r>
            <a:pPr rtl="1" algn="ctr" indent="0" marL="0">
              <a:buNone/>
            </a:pPr>
            <a:r>
              <a:rPr lang="ar-SA" altLang="en-US" sz="1950" b="1" dirty="0">
                <a:solidFill>
                  <a:srgbClr val="1B3B6F"/>
                </a:solidFill>
                <a:latin typeface="Amiri" pitchFamily="34" charset="0"/>
                <a:ea typeface="Amiri" pitchFamily="34" charset="-122"/>
                <a:cs typeface="Amiri" pitchFamily="34" charset="-120"/>
              </a:rPr>
              <a:t> </a:t>
            </a:r>
            <a:pPr rtl="1" algn="ctr" indent="0" marL="0">
              <a:buNone/>
            </a:pPr>
            <a:r>
              <a:rPr lang="ar-SA" altLang="en-US" sz="1950" b="1" dirty="0">
                <a:solidFill>
                  <a:srgbClr val="1D5FBF"/>
                </a:solidFill>
                <a:latin typeface="Amiri" pitchFamily="34" charset="0"/>
                <a:ea typeface="Amiri" pitchFamily="34" charset="-122"/>
                <a:cs typeface="Amiri" pitchFamily="34" charset="-120"/>
              </a:rPr>
              <a:t>آكُلُ</a:t>
            </a:r>
            <a:pPr rtl="1" algn="ctr" indent="0" marL="0">
              <a:buNone/>
            </a:pPr>
            <a:r>
              <a:rPr lang="ar-SA" altLang="en-US" sz="1950" b="1" dirty="0">
                <a:solidFill>
                  <a:srgbClr val="1B3B6F"/>
                </a:solidFill>
                <a:latin typeface="Amiri" pitchFamily="34" charset="0"/>
                <a:ea typeface="Amiri" pitchFamily="34" charset="-122"/>
                <a:cs typeface="Amiri" pitchFamily="34" charset="-120"/>
              </a:rPr>
              <a:t> تُفَّاحَةً.</a:t>
            </a:r>
            <a:endParaRPr lang="ar-SA" sz="1950" dirty="0"/>
          </a:p>
        </p:txBody>
      </p:sp>
      <p:sp>
        <p:nvSpPr>
          <p:cNvPr id="48" name="Text 45"/>
          <p:cNvSpPr txBox="1"/>
          <p:nvPr/>
        </p:nvSpPr>
        <p:spPr>
          <a:xfrm>
            <a:off x="502920" y="4888017"/>
            <a:ext cx="615391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After school I eat an apple.</a:t>
            </a:r>
            <a:endParaRPr lang="en-US" sz="950" dirty="0"/>
          </a:p>
        </p:txBody>
      </p:sp>
      <p:sp>
        <p:nvSpPr>
          <p:cNvPr id="49" name="Shape 4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50" name="Text 47"/>
          <p:cNvSpPr txBox="1"/>
          <p:nvPr/>
        </p:nvSpPr>
        <p:spPr>
          <a:xfrm>
            <a:off x="9537192" y="5215738"/>
            <a:ext cx="21031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الفُطُورُ</a:t>
            </a:r>
            <a:endParaRPr lang="ar-SA" sz="2400" dirty="0"/>
          </a:p>
        </p:txBody>
      </p:sp>
      <p:sp>
        <p:nvSpPr>
          <p:cNvPr id="51" name="Text 48"/>
          <p:cNvSpPr txBox="1"/>
          <p:nvPr/>
        </p:nvSpPr>
        <p:spPr>
          <a:xfrm>
            <a:off x="6793992" y="5234026"/>
            <a:ext cx="256032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فِي السَّاعَةِ السَّابِعَةِ</a:t>
            </a:r>
            <a:endParaRPr lang="ar-SA" sz="1950" dirty="0"/>
          </a:p>
        </p:txBody>
      </p:sp>
      <p:sp>
        <p:nvSpPr>
          <p:cNvPr id="52" name="Text 49"/>
          <p:cNvSpPr txBox="1"/>
          <p:nvPr/>
        </p:nvSpPr>
        <p:spPr>
          <a:xfrm>
            <a:off x="6748272" y="5625023"/>
            <a:ext cx="265176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at seven</a:t>
            </a:r>
            <a:endParaRPr lang="en-US" sz="950" dirty="0"/>
          </a:p>
        </p:txBody>
      </p:sp>
      <p:sp>
        <p:nvSpPr>
          <p:cNvPr id="53" name="Text 50"/>
          <p:cNvSpPr txBox="1"/>
          <p:nvPr/>
        </p:nvSpPr>
        <p:spPr>
          <a:xfrm>
            <a:off x="548640" y="5234026"/>
            <a:ext cx="6062472" cy="422928"/>
          </a:xfrm>
          <a:prstGeom prst="rect">
            <a:avLst/>
          </a:prstGeom>
          <a:noFill/>
          <a:ln/>
        </p:spPr>
        <p:txBody>
          <a:bodyPr wrap="square" lIns="0" tIns="0" rIns="0" bIns="0" rtlCol="0" anchor="ctr"/>
          <a:lstStyle/>
          <a:p>
            <a:pPr rtl="1" algn="ctr" indent="0" marL="0">
              <a:buNone/>
            </a:pPr>
            <a:r>
              <a:rPr lang="ar-SA" altLang="en-US" sz="1950" b="1" dirty="0">
                <a:solidFill>
                  <a:srgbClr val="1D5FBF"/>
                </a:solidFill>
                <a:latin typeface="Amiri" pitchFamily="34" charset="0"/>
                <a:ea typeface="Amiri" pitchFamily="34" charset="-122"/>
                <a:cs typeface="Amiri" pitchFamily="34" charset="-120"/>
              </a:rPr>
              <a:t>أَتَنَاوَلُ</a:t>
            </a:r>
            <a:pPr rtl="1" algn="ctr" indent="0" marL="0">
              <a:buNone/>
            </a:pPr>
            <a:r>
              <a:rPr lang="ar-SA" altLang="en-US" sz="1950" b="1" dirty="0">
                <a:solidFill>
                  <a:srgbClr val="1B3B6F"/>
                </a:solidFill>
                <a:latin typeface="Amiri" pitchFamily="34" charset="0"/>
                <a:ea typeface="Amiri" pitchFamily="34" charset="-122"/>
                <a:cs typeface="Amiri" pitchFamily="34" charset="-120"/>
              </a:rPr>
              <a:t> الفُطُورَ </a:t>
            </a:r>
            <a:pPr rtl="1" algn="ctr" indent="0" marL="0">
              <a:buNone/>
            </a:pPr>
            <a:r>
              <a:rPr lang="ar-SA" altLang="en-US" sz="1950" b="1" dirty="0">
                <a:solidFill>
                  <a:srgbClr val="0E7C86"/>
                </a:solidFill>
                <a:latin typeface="Amiri" pitchFamily="34" charset="0"/>
                <a:ea typeface="Amiri" pitchFamily="34" charset="-122"/>
                <a:cs typeface="Amiri" pitchFamily="34" charset="-120"/>
              </a:rPr>
              <a:t>فِي السَّاعَةِ السَّابِعَةِ</a:t>
            </a:r>
            <a:pPr rtl="1" algn="ctr" indent="0" marL="0">
              <a:buNone/>
            </a:pPr>
            <a:r>
              <a:rPr lang="ar-SA" altLang="en-US" sz="1950" b="1" dirty="0">
                <a:solidFill>
                  <a:srgbClr val="1B3B6F"/>
                </a:solidFill>
                <a:latin typeface="Amiri" pitchFamily="34" charset="0"/>
                <a:ea typeface="Amiri" pitchFamily="34" charset="-122"/>
                <a:cs typeface="Amiri" pitchFamily="34" charset="-120"/>
              </a:rPr>
              <a:t>.</a:t>
            </a:r>
            <a:endParaRPr lang="ar-SA" sz="1950" dirty="0"/>
          </a:p>
        </p:txBody>
      </p:sp>
      <p:sp>
        <p:nvSpPr>
          <p:cNvPr id="54" name="Text 51"/>
          <p:cNvSpPr txBox="1"/>
          <p:nvPr/>
        </p:nvSpPr>
        <p:spPr>
          <a:xfrm>
            <a:off x="502920" y="5625023"/>
            <a:ext cx="615391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 have breakfast at seven.</a:t>
            </a:r>
            <a:endParaRPr lang="en-US" sz="9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After fī the meal ends in -i: fi l-fuṭūri, fi l-ghadāʼi, fi l-ʿashāʼi.</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42</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F5-L02 · Meals and Routines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33" b="1" spc="150" kern="0" dirty="0">
                <a:solidFill>
                  <a:srgbClr val="1B3B6F"/>
                </a:solidFill>
                <a:latin typeface="Calibri" pitchFamily="34" charset="0"/>
                <a:ea typeface="Calibri" pitchFamily="34" charset="-122"/>
                <a:cs typeface="Calibri" pitchFamily="34" charset="-120"/>
              </a:rPr>
              <a:t>GRAMMAR FOCUS · PART 2 · HAVE A MEAL · ASK A BOY OR A GIRL (WEBSITE RULES 3 AND 4)</a:t>
            </a:r>
            <a:endParaRPr lang="en-US" sz="83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Have a meal — and ask about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أَتَنَاوَلُ · مَاذَا تَأْكُلُ؟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F5-L02</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645920" cy="274320"/>
          </a:xfrm>
          <a:prstGeom prst="roundRect">
            <a:avLst>
              <a:gd name="adj" fmla="val 50000"/>
            </a:avLst>
          </a:prstGeom>
          <a:solidFill>
            <a:srgbClr val="6B4C9A"/>
          </a:solidFill>
          <a:ln w="12700">
            <a:solidFill>
              <a:srgbClr val="6B4C9A"/>
            </a:solidFill>
            <a:prstDash val="solid"/>
          </a:ln>
        </p:spPr>
      </p:sp>
      <p:sp>
        <p:nvSpPr>
          <p:cNvPr id="17" name="Text 14"/>
          <p:cNvSpPr txBox="1"/>
          <p:nvPr/>
        </p:nvSpPr>
        <p:spPr>
          <a:xfrm>
            <a:off x="8232648" y="1920240"/>
            <a:ext cx="16459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HAVE A MEAL · FORMAL</a:t>
            </a:r>
            <a:endParaRPr lang="en-US" sz="850" dirty="0"/>
          </a:p>
        </p:txBody>
      </p:sp>
      <p:sp>
        <p:nvSpPr>
          <p:cNvPr id="18" name="Text 15"/>
          <p:cNvSpPr txBox="1"/>
          <p:nvPr/>
        </p:nvSpPr>
        <p:spPr>
          <a:xfrm>
            <a:off x="9924288" y="1874520"/>
            <a:ext cx="16703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أَتَنَاوَلُ + الوَجْبَةَ</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2750" b="1" dirty="0">
                <a:solidFill>
                  <a:srgbClr val="1B3B6F"/>
                </a:solidFill>
                <a:latin typeface="Amiri" pitchFamily="34" charset="0"/>
                <a:ea typeface="Amiri" pitchFamily="34" charset="-122"/>
                <a:cs typeface="Amiri" pitchFamily="34" charset="-120"/>
              </a:rPr>
              <a:t>أَتَنَاوَلُ الغَدَاءَ عِنْدَ الظُّهْرِ.</a:t>
            </a:r>
            <a:endParaRPr lang="ar-SA" sz="27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have lunch at midday.</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The meal is the object: no fī.</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891540" cy="274320"/>
          </a:xfrm>
          <a:prstGeom prst="roundRect">
            <a:avLst>
              <a:gd name="adj" fmla="val 50000"/>
            </a:avLst>
          </a:prstGeom>
          <a:solidFill>
            <a:srgbClr val="1D5FBF"/>
          </a:solidFill>
          <a:ln w="12700">
            <a:solidFill>
              <a:srgbClr val="1D5FBF"/>
            </a:solidFill>
            <a:prstDash val="solid"/>
          </a:ln>
        </p:spPr>
      </p:sp>
      <p:sp>
        <p:nvSpPr>
          <p:cNvPr id="25" name="Text 22"/>
          <p:cNvSpPr txBox="1"/>
          <p:nvPr/>
        </p:nvSpPr>
        <p:spPr>
          <a:xfrm>
            <a:off x="4413504" y="1920240"/>
            <a:ext cx="8915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ASK A BOY</a:t>
            </a:r>
            <a:endParaRPr lang="en-US" sz="850" dirty="0"/>
          </a:p>
        </p:txBody>
      </p:sp>
      <p:sp>
        <p:nvSpPr>
          <p:cNvPr id="26" name="Text 23"/>
          <p:cNvSpPr txBox="1"/>
          <p:nvPr/>
        </p:nvSpPr>
        <p:spPr>
          <a:xfrm>
            <a:off x="5350764" y="1874520"/>
            <a:ext cx="24246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مَاذَا تَأْكُلُ؟</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مَاذَا تَأْكُلُ فِي العَشَاءِ؟</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What do you (m.) eat for dinner?</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ta-ʼku-lu</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960120" cy="274320"/>
          </a:xfrm>
          <a:prstGeom prst="roundRect">
            <a:avLst>
              <a:gd name="adj" fmla="val 50000"/>
            </a:avLst>
          </a:prstGeom>
          <a:solidFill>
            <a:srgbClr val="C0386B"/>
          </a:solidFill>
          <a:ln w="12700">
            <a:solidFill>
              <a:srgbClr val="C0386B"/>
            </a:solidFill>
            <a:prstDash val="solid"/>
          </a:ln>
        </p:spPr>
      </p:sp>
      <p:sp>
        <p:nvSpPr>
          <p:cNvPr id="33" name="Text 30"/>
          <p:cNvSpPr txBox="1"/>
          <p:nvPr/>
        </p:nvSpPr>
        <p:spPr>
          <a:xfrm>
            <a:off x="594360" y="1920240"/>
            <a:ext cx="9601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ASK A GIRL</a:t>
            </a:r>
            <a:endParaRPr lang="en-US" sz="850" dirty="0"/>
          </a:p>
        </p:txBody>
      </p:sp>
      <p:sp>
        <p:nvSpPr>
          <p:cNvPr id="34" name="Text 31"/>
          <p:cNvSpPr txBox="1"/>
          <p:nvPr/>
        </p:nvSpPr>
        <p:spPr>
          <a:xfrm>
            <a:off x="1600200" y="1874520"/>
            <a:ext cx="23561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مَاذَا تَأْكُلِينَ؟</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000" b="1" dirty="0">
                <a:solidFill>
                  <a:srgbClr val="1B3B6F"/>
                </a:solidFill>
                <a:latin typeface="Amiri" pitchFamily="34" charset="0"/>
                <a:ea typeface="Amiri" pitchFamily="34" charset="-122"/>
                <a:cs typeface="Amiri" pitchFamily="34" charset="-120"/>
              </a:rPr>
              <a:t>مَاذَا تَأْكُلِينَ فِي الفُطُورِ؟</a:t>
            </a:r>
            <a:endParaRPr lang="ar-SA" sz="30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What do you (f.) eat for breakfast?</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ta-ʼku-lī-na: add -īna.</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the meal itself is the object of atanāwalu.</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300" b="1" dirty="0">
                <a:solidFill>
                  <a:srgbClr val="1B3B6F"/>
                </a:solidFill>
                <a:latin typeface="Amiri" pitchFamily="34" charset="0"/>
                <a:ea typeface="Amiri" pitchFamily="34" charset="-122"/>
                <a:cs typeface="Amiri" pitchFamily="34" charset="-120"/>
              </a:rPr>
              <a:t>أَتَنَاوَلُ الغَدَاءَ.</a:t>
            </a:r>
            <a:endParaRPr lang="ar-SA" sz="23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B83227"/>
                </a:solidFill>
                <a:latin typeface="Amiri" pitchFamily="34" charset="0"/>
                <a:ea typeface="Amiri" pitchFamily="34" charset="-122"/>
                <a:cs typeface="Amiri" pitchFamily="34" charset="-120"/>
              </a:rPr>
              <a:t>أَتَنَاوَلُ فِي الغَدَاءِ.</a:t>
            </a:r>
            <a:endParaRPr lang="ar-SA" sz="19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42</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F5-L02 · Meals and Routines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website grammar rules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500" b="1" dirty="0">
                <a:solidFill>
                  <a:srgbClr val="8A6D1E"/>
                </a:solidFill>
                <a:latin typeface="Amiri" pitchFamily="34" charset="0"/>
                <a:ea typeface="Amiri" pitchFamily="34" charset="-122"/>
                <a:cs typeface="Amiri" pitchFamily="34" charset="-120"/>
              </a:rPr>
              <a:t>آكُلُ وَأَشْرَبُ مَعَ الوَجَبَاتِ وَحَرْفِ الجَرِّ فِي</a:t>
            </a:r>
            <a:endParaRPr lang="ar-SA" sz="25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F5-L02</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Choose the correct action</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آكُلُ + طَعَامًا · أَشْرَبُ + شَرَابًا</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آكُلُ الخُبْزَ.   ·   أَشْرَبُ الحَلِيبَ.</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Add the meal</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فِي الفُطُورِ / فِي الغَدَاءِ / فِي العَشَاءِ</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آكُلُ البَيْضَ فِي الفُطُورِ.   ·   أَشْرَبُ المَاءَ فِي الغَدَاءِ.</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Ask what someone eats</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مَاذَا تَأْكُلُ...؟ / مَاذَا تَأْكُلِينَ...؟</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مَاذَا تَأْكُلُ فِي العَشَاءِ؟   ·   مَاذَا تَأْكُلِينَ فِي الفُطُورِ؟</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Use </a:t>
            </a:r>
            <a:pPr algn="l" indent="0" marL="0">
              <a:buNone/>
            </a:pPr>
            <a:r>
              <a:rPr lang="ar-SA" altLang="en-US" sz="1650" b="1" dirty="0">
                <a:solidFill>
                  <a:srgbClr val="1B3B6F"/>
                </a:solidFill>
                <a:latin typeface="Amiri" pitchFamily="34" charset="0"/>
                <a:ea typeface="Amiri" pitchFamily="34" charset="-122"/>
                <a:cs typeface="Amiri" pitchFamily="34" charset="-120"/>
              </a:rPr>
              <a:t>أَتَنَاوَلُ</a:t>
            </a:r>
            <a:pPr algn="l" indent="0" marL="0">
              <a:buNone/>
            </a:pPr>
            <a:r>
              <a:rPr lang="en-US" sz="1250" b="1" dirty="0">
                <a:solidFill>
                  <a:srgbClr val="1B3B6F"/>
                </a:solidFill>
                <a:latin typeface="Calibri" pitchFamily="34" charset="0"/>
                <a:ea typeface="Calibri" pitchFamily="34" charset="-122"/>
                <a:cs typeface="Calibri" pitchFamily="34" charset="-120"/>
              </a:rPr>
              <a:t> for a whole meal</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أَتَنَاوَلُ + الوَجْبَةَ</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أَتَنَاوَلُ الفُطُورَ فِي السَّاعَةِ السَّابِعَةِ.   ·   هِيَ تَتَنَاوَلُ الغَدَاءَ مَعَ أُسْرَتِهَا.</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42</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F5-L02 · Meals and Routines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“She has breakfast.”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هُوَ يَتَنَاوَلُ الفُطُورَ.</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أَنَا تَتَنَاوَلُ الفُطُورَ.</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هِيَ تَتَنَاوَلُ الفُطُورَ.</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___ </a:t>
            </a:r>
            <a:pPr algn="l" indent="0" marL="0">
              <a:buNone/>
            </a:pPr>
            <a:r>
              <a:rPr lang="ar-SA" altLang="en-US" sz="1650" b="1" dirty="0">
                <a:solidFill>
                  <a:srgbClr val="1B3B6F"/>
                </a:solidFill>
                <a:latin typeface="Amiri" pitchFamily="34" charset="0"/>
                <a:ea typeface="Amiri" pitchFamily="34" charset="-122"/>
                <a:cs typeface="Amiri" pitchFamily="34" charset="-120"/>
              </a:rPr>
              <a:t>آكُلُ الخُبْزَ وَالجُبْنَ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الصَّبَاحِ</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أَيْنَ</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لِمَاذَا</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a girl what she eats for dinner.</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مَاذَا يَأْكُلُ فِي العَشَاءِ؟</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مَاذَا تَأْكُلِينَ فِي العَشَاءِ؟</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هَلْ آكُلُ العَشَاءَ؟</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is a complete routine?</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آكُلُ الخُبْزَ وَالجُبْنَ فِي الفُطُورِ.</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خُبْزٌ وَجُبْنٌ.</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الفُطُورِ.</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42</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F5-L02 · Meals and Routines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“She has breakfast.”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هُوَ يَتَنَاوَلُ الفُطُورَ.</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أَنَا تَتَنَاوَلُ الفُطُورَ.</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هِيَ تَتَنَاوَلُ الفُطُورَ.</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feminine third-person form begins with </a:t>
            </a:r>
            <a:pPr algn="l" indent="0" marL="0">
              <a:buNone/>
            </a:pPr>
            <a:r>
              <a:rPr lang="ar-SA" altLang="en-US" sz="1350" dirty="0">
                <a:solidFill>
                  <a:srgbClr val="8A6D1E"/>
                </a:solidFill>
                <a:latin typeface="Amiri" pitchFamily="34" charset="0"/>
                <a:ea typeface="Amiri" pitchFamily="34" charset="-122"/>
                <a:cs typeface="Amiri" pitchFamily="34" charset="-120"/>
              </a:rPr>
              <a:t>تَـ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___ </a:t>
            </a:r>
            <a:pPr algn="l" indent="0" marL="0">
              <a:buNone/>
            </a:pPr>
            <a:r>
              <a:rPr lang="ar-SA" altLang="en-US" sz="1650" b="1" dirty="0">
                <a:solidFill>
                  <a:srgbClr val="1B3B6F"/>
                </a:solidFill>
                <a:latin typeface="Amiri" pitchFamily="34" charset="0"/>
                <a:ea typeface="Amiri" pitchFamily="34" charset="-122"/>
                <a:cs typeface="Amiri" pitchFamily="34" charset="-120"/>
              </a:rPr>
              <a:t>آكُلُ الخُبْزَ وَالجُبْنَ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فِي الصَّبَاحِ</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أَيْنَ</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لِمَاذَا</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فِي الصَّبَاحِ</a:t>
            </a:r>
            <a:pPr algn="l" indent="0" marL="0">
              <a:buNone/>
            </a:pPr>
            <a:r>
              <a:rPr lang="en-US" sz="1050" i="1" dirty="0">
                <a:solidFill>
                  <a:srgbClr val="8A6D1E"/>
                </a:solidFill>
                <a:latin typeface="Calibri" pitchFamily="34" charset="0"/>
                <a:ea typeface="Calibri" pitchFamily="34" charset="-122"/>
                <a:cs typeface="Calibri" pitchFamily="34" charset="-120"/>
              </a:rPr>
              <a:t> is a time phrase.</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a girl what she eats for dinner.</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مَاذَا يَأْكُلُ فِي العَشَاءِ؟</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مَاذَا تَأْكُلِينَ فِي العَشَاءِ؟</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هَلْ آكُلُ العَشَاءَ؟</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Use </a:t>
            </a:r>
            <a:pPr algn="l" indent="0" marL="0">
              <a:buNone/>
            </a:pPr>
            <a:r>
              <a:rPr lang="ar-SA" altLang="en-US" sz="1350" dirty="0">
                <a:solidFill>
                  <a:srgbClr val="8A6D1E"/>
                </a:solidFill>
                <a:latin typeface="Amiri" pitchFamily="34" charset="0"/>
                <a:ea typeface="Amiri" pitchFamily="34" charset="-122"/>
                <a:cs typeface="Amiri" pitchFamily="34" charset="-120"/>
              </a:rPr>
              <a:t>تَأْكُلِينَ</a:t>
            </a:r>
            <a:pPr algn="l" indent="0" marL="0">
              <a:buNone/>
            </a:pPr>
            <a:r>
              <a:rPr lang="en-US" sz="1050" i="1" dirty="0">
                <a:solidFill>
                  <a:srgbClr val="8A6D1E"/>
                </a:solidFill>
                <a:latin typeface="Calibri" pitchFamily="34" charset="0"/>
                <a:ea typeface="Calibri" pitchFamily="34" charset="-122"/>
                <a:cs typeface="Calibri" pitchFamily="34" charset="-120"/>
              </a:rPr>
              <a:t> for a female listener.</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is a complete routine?</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آكُلُ الخُبْزَ وَالجُبْنَ فِي الفُطُورِ.</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خُبْزٌ وَجُبْنٌ.</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 الفُطُورِ.</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 gives an action, food and meal.</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42</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F5-L02 · Meals and Routines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build my meal routine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F5-L02</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1 · Breakfast</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7B3FA0"/>
                </a:solidFill>
                <a:latin typeface="Amiri" pitchFamily="34" charset="0"/>
                <a:ea typeface="Amiri" pitchFamily="34" charset="-122"/>
                <a:cs typeface="Amiri" pitchFamily="34" charset="-120"/>
              </a:rPr>
              <a:t>عَادَةً</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a:t>
            </a:r>
            <a:pPr rtl="1" algn="ctr" indent="0" marL="0">
              <a:lnSpc>
                <a:spcPct val="120000"/>
              </a:lnSpc>
              <a:buNone/>
            </a:pPr>
            <a:r>
              <a:rPr lang="ar-SA" altLang="en-US" sz="1750" b="1" dirty="0">
                <a:solidFill>
                  <a:srgbClr val="1D5FBF"/>
                </a:solidFill>
                <a:latin typeface="Amiri" pitchFamily="34" charset="0"/>
                <a:ea typeface="Amiri" pitchFamily="34" charset="-122"/>
                <a:cs typeface="Amiri" pitchFamily="34" charset="-120"/>
              </a:rPr>
              <a:t>أَتَنَاوَلُ</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الفُطُورَ </a:t>
            </a:r>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فِي السَّاعَةِ السَّابِعَةِ</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a:t>
            </a:r>
            <a:endParaRPr lang="ar-SA" sz="17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Frequency + verb + meal + time.</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2 · Food + drink</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D5FBF"/>
                </a:solidFill>
                <a:latin typeface="Amiri" pitchFamily="34" charset="0"/>
                <a:ea typeface="Amiri" pitchFamily="34" charset="-122"/>
                <a:cs typeface="Amiri" pitchFamily="34" charset="-120"/>
              </a:rPr>
              <a:t>آكُلُ</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الخُبْزَ وَالجُبْنَ، وَ</a:t>
            </a:r>
            <a:pPr rtl="1" algn="ctr" indent="0" marL="0">
              <a:lnSpc>
                <a:spcPct val="120000"/>
              </a:lnSpc>
              <a:buNone/>
            </a:pPr>
            <a:r>
              <a:rPr lang="ar-SA" altLang="en-US" sz="1750" b="1" dirty="0">
                <a:solidFill>
                  <a:srgbClr val="1D5FBF"/>
                </a:solidFill>
                <a:latin typeface="Amiri" pitchFamily="34" charset="0"/>
                <a:ea typeface="Amiri" pitchFamily="34" charset="-122"/>
                <a:cs typeface="Amiri" pitchFamily="34" charset="-120"/>
              </a:rPr>
              <a:t>أَشْرَبُ</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الحَلِيبَ.</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Eat for food, drink for milk.</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3 · Lunch + snack</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عِنْدَ الظُّهْرِ</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آكُلُ فِي المَدْرَسَةِ، وَ</a:t>
            </a:r>
            <a:pPr rtl="1" algn="ctr" indent="0" marL="0">
              <a:lnSpc>
                <a:spcPct val="120000"/>
              </a:lnSpc>
              <a:buNone/>
            </a:pPr>
            <a:r>
              <a:rPr lang="ar-SA" altLang="en-US" sz="1750" b="1" dirty="0">
                <a:solidFill>
                  <a:srgbClr val="7B3FA0"/>
                </a:solidFill>
                <a:latin typeface="Amiri" pitchFamily="34" charset="0"/>
                <a:ea typeface="Amiri" pitchFamily="34" charset="-122"/>
                <a:cs typeface="Amiri" pitchFamily="34" charset="-120"/>
              </a:rPr>
              <a:t>أَحْيَانًا</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آكُلُ وَجْبَةً خَفِيفَةً.</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Sometimes = aḥyānan.</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4 · Dinner</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فِي المَسَاءِ</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أَتَنَاوَلُ العَشَاءَ مَعَ عَائِلَتِي، ثُمَّ أَشْرَبُ المَاءَ.</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Then = thumma.</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WHEN</a:t>
            </a:r>
            <a:endParaRPr lang="en-US" sz="800" dirty="0"/>
          </a:p>
        </p:txBody>
      </p:sp>
      <p:sp>
        <p:nvSpPr>
          <p:cNvPr id="47" name="Shape 43"/>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VERB</a:t>
            </a:r>
            <a:endParaRPr lang="en-US" sz="800" dirty="0"/>
          </a:p>
        </p:txBody>
      </p:sp>
      <p:sp>
        <p:nvSpPr>
          <p:cNvPr id="49" name="Shape 45"/>
          <p:cNvSpPr/>
          <p:nvPr/>
        </p:nvSpPr>
        <p:spPr>
          <a:xfrm>
            <a:off x="10515600" y="4736592"/>
            <a:ext cx="914400" cy="237744"/>
          </a:xfrm>
          <a:prstGeom prst="roundRect">
            <a:avLst>
              <a:gd name="adj" fmla="val 50000"/>
            </a:avLst>
          </a:prstGeom>
          <a:solidFill>
            <a:srgbClr val="7B3FA0"/>
          </a:solidFill>
          <a:ln w="12700">
            <a:solidFill>
              <a:srgbClr val="7B3FA0"/>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HOW OFTEN</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7B3FA0"/>
                </a:solidFill>
                <a:latin typeface="Amiri" pitchFamily="34" charset="0"/>
                <a:ea typeface="Amiri" pitchFamily="34" charset="-122"/>
                <a:cs typeface="Amiri" pitchFamily="34" charset="-120"/>
              </a:rPr>
              <a:t>عَادَةً</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أَتَنَاوَلُ الفُطُورَ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فِي السَّاعَةِ السَّابِعَةِ</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آكُلُ الخُبْزَ وَالجُبْنَ، وَأَشْرَبُ الحَلِيبَ.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عِنْدَ الظُّهْرِ</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آكُلُ الغَدَاءَ فِي المَدْرَسَةِ.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بَعْدَ المَدْرَسَةِ</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a:t>
            </a:r>
            <a:pPr rtl="1" algn="r" indent="0" marL="0">
              <a:lnSpc>
                <a:spcPct val="120000"/>
              </a:lnSpc>
              <a:buNone/>
            </a:pPr>
            <a:r>
              <a:rPr lang="ar-SA" altLang="en-US" sz="1400" b="1" dirty="0">
                <a:solidFill>
                  <a:srgbClr val="7B3FA0"/>
                </a:solidFill>
                <a:latin typeface="Amiri" pitchFamily="34" charset="0"/>
                <a:ea typeface="Amiri" pitchFamily="34" charset="-122"/>
                <a:cs typeface="Amiri" pitchFamily="34" charset="-120"/>
              </a:rPr>
              <a:t>أَحْيَانًا</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آكُلُ وَجْبَةً خَفِيفَةً.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فِي المَسَاءِ</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أَتَنَاوَلُ العَشَاءَ مَعَ عَائِلَتِي، ثُمَّ أَشْرَبُ المَاءَ.</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I usually have breakfast at seven. I eat bread and cheese and drink milk. At midday I eat lunch at school. After school I sometimes eat a snack. In the evening I have dinner with my family, then I drink water.</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42</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F5-L02 · Meals and Routines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F5-L02</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آكُلُ الخُبْزَ وَالبَيْضَ فِي الفُطُورِ.</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eat bread and eggs for breakfast.</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Use فِي + the meal.</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أَتَنَاوَلُ الغَدَاءَ عِنْدَ الظُّهْرِ.</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have lunch at midday.</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أَتَنَاوَلُ can introduce the whole meal.</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أَشْرَبُ الحَلِيبَ فِي الصَّبَاحِ.</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drink milk in the morning.</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Time phrases can come at the end or beginning.</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مَاذَا تَأْكُلِينَ فِي العَشَاءِ؟</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What do you eat for dinner? (to a female)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Use تَأْكُلِينَ when addressing a female.</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42</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F5-L02 · Meals and Routines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88" b="1" spc="150" kern="0" dirty="0">
                <a:solidFill>
                  <a:srgbClr val="2F6FB0"/>
                </a:solidFill>
                <a:latin typeface="Calibri" pitchFamily="34" charset="0"/>
                <a:ea typeface="Calibri" pitchFamily="34" charset="-122"/>
                <a:cs typeface="Calibri" pitchFamily="34" charset="-120"/>
              </a:rPr>
              <a:t>WE DO · PICTURE MATCH · WEBSITE GAME “VISUAL GAME — MEALS AND EATING ROUTINES”</a:t>
            </a:r>
            <a:endParaRPr lang="en-US" sz="888"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Meals of the day: match the picture</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أَيُّ وَجْبَةٍ؟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F5-L02</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morning</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midday</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evening</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أَتَنَاوَلُ العَشَاءَ مَسَاءً.</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أَتَنَاوَلُ الإِفْطَارَ صَبَاحًا.</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أَتَنَاوَلُ الغَدَاءَ ظُهْرًا.</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42</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F5-L02 · Meals and Routines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أَيُّ وَجْبَةٍ؟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F5-L02</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morning</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أَتَنَاوَلُ الإِفْطَارَ صَبَاحًا.</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have breakfast in the morning.</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midday</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أَتَنَاوَلُ الغَدَاءَ ظُهْرًا.</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have lunch at midday.</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evening</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أَتَنَاوَلُ العَشَاءَ مَسَاءً.</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have dinner in the evening.</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42</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F5-L02 · Meals and Routines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Match the routine to the time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F5-L02</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الفُطُورُ</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الغَدَاءُ</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العَشَاءُ</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أَشْرَبُ الحَلِيبَ قَبْلَ المَدْرَسَةِ</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أَتَنَاوَلُ وَجْبَةً مَعَ عَائِلَتِي بَعْدَ العَمَلِ</a:t>
            </a:r>
            <a:endParaRPr lang="ar-SA" sz="16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آكُلُ سَانْدَوِيتْشًا فِي المَدْرَسَةِ</a:t>
            </a:r>
            <a:endParaRPr lang="ar-SA" sz="1800" dirty="0"/>
          </a:p>
        </p:txBody>
      </p:sp>
      <p:sp>
        <p:nvSpPr>
          <p:cNvPr id="27" name="Shape 24"/>
          <p:cNvSpPr/>
          <p:nvPr/>
        </p:nvSpPr>
        <p:spPr>
          <a:xfrm>
            <a:off x="8095488" y="3017520"/>
            <a:ext cx="3636264" cy="3291840"/>
          </a:xfrm>
          <a:prstGeom prst="roundRect">
            <a:avLst>
              <a:gd name="adj" fmla="val 2222"/>
            </a:avLst>
          </a:prstGeom>
          <a:solidFill>
            <a:srgbClr val="EEF3FA"/>
          </a:solidFill>
          <a:ln w="9525">
            <a:solidFill>
              <a:srgbClr val="C9D6EA"/>
            </a:solidFill>
            <a:prstDash val="solid"/>
          </a:ln>
        </p:spPr>
      </p:sp>
      <p:sp>
        <p:nvSpPr>
          <p:cNvPr id="28" name="Shape 25"/>
          <p:cNvSpPr/>
          <p:nvPr/>
        </p:nvSpPr>
        <p:spPr>
          <a:xfrm>
            <a:off x="8232648" y="3127248"/>
            <a:ext cx="3361944" cy="310896"/>
          </a:xfrm>
          <a:prstGeom prst="roundRect">
            <a:avLst>
              <a:gd name="adj" fmla="val 50000"/>
            </a:avLst>
          </a:prstGeom>
          <a:solidFill>
            <a:srgbClr val="2F6FB0"/>
          </a:solidFill>
          <a:ln w="12700">
            <a:solidFill>
              <a:srgbClr val="2F6FB0"/>
            </a:solidFill>
            <a:prstDash val="solid"/>
          </a:ln>
        </p:spPr>
      </p:sp>
      <p:sp>
        <p:nvSpPr>
          <p:cNvPr id="29" name="Text 26"/>
          <p:cNvSpPr txBox="1"/>
          <p:nvPr/>
        </p:nvSpPr>
        <p:spPr>
          <a:xfrm>
            <a:off x="8232648"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الصَّبَاحُ · morning</a:t>
            </a:r>
            <a:endParaRPr lang="en-US" sz="950" dirty="0"/>
          </a:p>
        </p:txBody>
      </p:sp>
      <p:sp>
        <p:nvSpPr>
          <p:cNvPr id="30" name="Shape 27"/>
          <p:cNvSpPr/>
          <p:nvPr/>
        </p:nvSpPr>
        <p:spPr>
          <a:xfrm>
            <a:off x="4276344" y="3017520"/>
            <a:ext cx="3636264" cy="3291840"/>
          </a:xfrm>
          <a:prstGeom prst="roundRect">
            <a:avLst>
              <a:gd name="adj" fmla="val 2222"/>
            </a:avLst>
          </a:prstGeom>
          <a:solidFill>
            <a:srgbClr val="EEF3FA"/>
          </a:solidFill>
          <a:ln w="9525">
            <a:solidFill>
              <a:srgbClr val="C9D6EA"/>
            </a:solidFill>
            <a:prstDash val="solid"/>
          </a:ln>
        </p:spPr>
      </p:sp>
      <p:sp>
        <p:nvSpPr>
          <p:cNvPr id="31" name="Shape 28"/>
          <p:cNvSpPr/>
          <p:nvPr/>
        </p:nvSpPr>
        <p:spPr>
          <a:xfrm>
            <a:off x="4413504" y="3127248"/>
            <a:ext cx="3361944" cy="310896"/>
          </a:xfrm>
          <a:prstGeom prst="roundRect">
            <a:avLst>
              <a:gd name="adj" fmla="val 50000"/>
            </a:avLst>
          </a:prstGeom>
          <a:solidFill>
            <a:srgbClr val="2F6FB0"/>
          </a:solidFill>
          <a:ln w="12700">
            <a:solidFill>
              <a:srgbClr val="2F6FB0"/>
            </a:solidFill>
            <a:prstDash val="solid"/>
          </a:ln>
        </p:spPr>
      </p:sp>
      <p:sp>
        <p:nvSpPr>
          <p:cNvPr id="32" name="Text 29"/>
          <p:cNvSpPr txBox="1"/>
          <p:nvPr/>
        </p:nvSpPr>
        <p:spPr>
          <a:xfrm>
            <a:off x="4413504"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الظُّهْرُ · midday</a:t>
            </a:r>
            <a:endParaRPr lang="en-US" sz="950" dirty="0"/>
          </a:p>
        </p:txBody>
      </p:sp>
      <p:sp>
        <p:nvSpPr>
          <p:cNvPr id="33" name="Shape 30"/>
          <p:cNvSpPr/>
          <p:nvPr/>
        </p:nvSpPr>
        <p:spPr>
          <a:xfrm>
            <a:off x="457200" y="3017520"/>
            <a:ext cx="3636264" cy="3291840"/>
          </a:xfrm>
          <a:prstGeom prst="roundRect">
            <a:avLst>
              <a:gd name="adj" fmla="val 2222"/>
            </a:avLst>
          </a:prstGeom>
          <a:solidFill>
            <a:srgbClr val="EEF3FA"/>
          </a:solidFill>
          <a:ln w="9525">
            <a:solidFill>
              <a:srgbClr val="C9D6EA"/>
            </a:solidFill>
            <a:prstDash val="solid"/>
          </a:ln>
        </p:spPr>
      </p:sp>
      <p:sp>
        <p:nvSpPr>
          <p:cNvPr id="34" name="Shape 31"/>
          <p:cNvSpPr/>
          <p:nvPr/>
        </p:nvSpPr>
        <p:spPr>
          <a:xfrm>
            <a:off x="594360" y="3127248"/>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المَسَاءُ · evening</a:t>
            </a:r>
            <a:endParaRPr lang="en-US" sz="9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42</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F5-L02 · Meals and Routines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F5-L02</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الصَّبَاحُ · morning</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الفُطُورُ</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أَشْرَبُ الحَلِيبَ قَبْلَ المَدْرَسَةِ</a:t>
            </a:r>
            <a:endParaRPr lang="ar-SA" sz="1800" dirty="0"/>
          </a:p>
        </p:txBody>
      </p:sp>
      <p:sp>
        <p:nvSpPr>
          <p:cNvPr id="22" name="Shape 19"/>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3" name="Shape 20"/>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4" name="Text 21"/>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الظُّهْرُ · midday</a:t>
            </a:r>
            <a:endParaRPr lang="en-US" sz="950" dirty="0"/>
          </a:p>
        </p:txBody>
      </p:sp>
      <p:sp>
        <p:nvSpPr>
          <p:cNvPr id="25" name="Shape 22"/>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6" name="Text 23"/>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الغَدَاءُ</a:t>
            </a:r>
            <a:endParaRPr lang="ar-SA" sz="1800" dirty="0"/>
          </a:p>
        </p:txBody>
      </p:sp>
      <p:sp>
        <p:nvSpPr>
          <p:cNvPr id="27" name="Shape 24"/>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آكُلُ سَانْدَوِيتْشًا فِي المَدْرَسَةِ</a:t>
            </a:r>
            <a:endParaRPr lang="ar-SA" sz="1800" dirty="0"/>
          </a:p>
        </p:txBody>
      </p:sp>
      <p:sp>
        <p:nvSpPr>
          <p:cNvPr id="29" name="Shape 26"/>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0" name="Shape 27"/>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1" name="Text 28"/>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المَسَاءُ · evening</a:t>
            </a:r>
            <a:endParaRPr lang="en-US" sz="950" dirty="0"/>
          </a:p>
        </p:txBody>
      </p:sp>
      <p:sp>
        <p:nvSpPr>
          <p:cNvPr id="32" name="Shape 29"/>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3" name="Text 30"/>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العَشَاءُ</a:t>
            </a:r>
            <a:endParaRPr lang="ar-SA" sz="1800" dirty="0"/>
          </a:p>
        </p:txBody>
      </p:sp>
      <p:sp>
        <p:nvSpPr>
          <p:cNvPr id="34" name="Shape 31"/>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5" name="Text 32"/>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أَتَنَاوَلُ وَجْبَةً مَعَ عَائِلَتِي بَعْدَ العَمَلِ</a:t>
            </a:r>
            <a:endParaRPr lang="ar-SA" sz="1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42</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F5-L02 · Meals and Routines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5, 6,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F5-L02</a:t>
            </a:r>
            <a:endParaRPr lang="en-US" sz="850" dirty="0"/>
          </a:p>
        </p:txBody>
      </p:sp>
      <p:sp>
        <p:nvSpPr>
          <p:cNvPr id="17" name="Shape 14"/>
          <p:cNvSpPr/>
          <p:nvPr/>
        </p:nvSpPr>
        <p:spPr>
          <a:xfrm>
            <a:off x="457200"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is most formal for “I have a meal”?</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أَشْرَبُ</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أُفَضِّلُ</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أَتَنَاوَلُ</a:t>
            </a:r>
            <a:endParaRPr lang="ar-SA" sz="2050" dirty="0"/>
          </a:p>
        </p:txBody>
      </p:sp>
      <p:sp>
        <p:nvSpPr>
          <p:cNvPr id="30" name="Shape 27"/>
          <p:cNvSpPr/>
          <p:nvPr/>
        </p:nvSpPr>
        <p:spPr>
          <a:xfrm>
            <a:off x="4276344"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male third-person form.</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تَتَنَاوَلُ</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يَتَنَاوَلُ</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أَتَنَاوَلُ</a:t>
            </a:r>
            <a:endParaRPr lang="ar-SA" sz="2050" dirty="0"/>
          </a:p>
        </p:txBody>
      </p:sp>
      <p:sp>
        <p:nvSpPr>
          <p:cNvPr id="43" name="Shape 40"/>
          <p:cNvSpPr/>
          <p:nvPr/>
        </p:nvSpPr>
        <p:spPr>
          <a:xfrm>
            <a:off x="8095488"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“What do you drink at breakfast?” to a girl.</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مَاذَا تَشْرَبُ فِي الفُطُورِ؟</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مَاذَا تَشْرَبِينَ فِي الفُطُورِ؟</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هَلْ أَشْرَبُ الفُطُورَ؟</a:t>
            </a:r>
            <a:endParaRPr lang="ar-SA" sz="20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42</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F5-L02 · Meals and Routines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F5-L02</a:t>
            </a:r>
            <a:endParaRPr lang="en-US" sz="850" dirty="0"/>
          </a:p>
        </p:txBody>
      </p:sp>
      <p:sp>
        <p:nvSpPr>
          <p:cNvPr id="17" name="Shape 14"/>
          <p:cNvSpPr/>
          <p:nvPr/>
        </p:nvSpPr>
        <p:spPr>
          <a:xfrm>
            <a:off x="457200"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is most formal for “I have a meal”?</a:t>
            </a:r>
            <a:endParaRPr lang="en-US" sz="1250" dirty="0"/>
          </a:p>
        </p:txBody>
      </p:sp>
      <p:sp>
        <p:nvSpPr>
          <p:cNvPr id="21" name="Shape 18"/>
          <p:cNvSpPr/>
          <p:nvPr/>
        </p:nvSpPr>
        <p:spPr>
          <a:xfrm>
            <a:off x="640080" y="2532888"/>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أَشْرَبُ</a:t>
            </a:r>
            <a:endParaRPr lang="ar-SA" sz="2050" dirty="0"/>
          </a:p>
        </p:txBody>
      </p:sp>
      <p:sp>
        <p:nvSpPr>
          <p:cNvPr id="24" name="Shape 21"/>
          <p:cNvSpPr/>
          <p:nvPr/>
        </p:nvSpPr>
        <p:spPr>
          <a:xfrm>
            <a:off x="640080" y="2990088"/>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أُفَضِّلُ</a:t>
            </a:r>
            <a:endParaRPr lang="ar-SA" sz="2050" dirty="0"/>
          </a:p>
        </p:txBody>
      </p:sp>
      <p:sp>
        <p:nvSpPr>
          <p:cNvPr id="27" name="Shape 24"/>
          <p:cNvSpPr/>
          <p:nvPr/>
        </p:nvSpPr>
        <p:spPr>
          <a:xfrm>
            <a:off x="548640" y="3410712"/>
            <a:ext cx="3453384"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44728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أَتَنَاوَلُ</a:t>
            </a:r>
            <a:endParaRPr lang="ar-SA" sz="2050" dirty="0"/>
          </a:p>
        </p:txBody>
      </p:sp>
      <p:sp>
        <p:nvSpPr>
          <p:cNvPr id="31" name="Text 28"/>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أَتَنَاوَلُ</a:t>
            </a:r>
            <a:pPr algn="l" indent="0" marL="0">
              <a:buNone/>
            </a:pPr>
            <a:r>
              <a:rPr lang="en-US" sz="1050" i="1" dirty="0">
                <a:solidFill>
                  <a:srgbClr val="8A6D1E"/>
                </a:solidFill>
                <a:latin typeface="Calibri" pitchFamily="34" charset="0"/>
                <a:ea typeface="Calibri" pitchFamily="34" charset="-122"/>
                <a:cs typeface="Calibri" pitchFamily="34" charset="-120"/>
              </a:rPr>
              <a:t> introduces having/eating a meal.</a:t>
            </a:r>
            <a:endParaRPr lang="en-US" sz="1050" dirty="0"/>
          </a:p>
        </p:txBody>
      </p:sp>
      <p:sp>
        <p:nvSpPr>
          <p:cNvPr id="32" name="Shape 29"/>
          <p:cNvSpPr/>
          <p:nvPr/>
        </p:nvSpPr>
        <p:spPr>
          <a:xfrm>
            <a:off x="4276344"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male third-person form.</a:t>
            </a:r>
            <a:endParaRPr lang="en-US" sz="1250" dirty="0"/>
          </a:p>
        </p:txBody>
      </p:sp>
      <p:sp>
        <p:nvSpPr>
          <p:cNvPr id="36" name="Shape 33"/>
          <p:cNvSpPr/>
          <p:nvPr/>
        </p:nvSpPr>
        <p:spPr>
          <a:xfrm>
            <a:off x="4459224" y="2532888"/>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تَتَنَاوَلُ</a:t>
            </a:r>
            <a:endParaRPr lang="ar-SA" sz="2050" dirty="0"/>
          </a:p>
        </p:txBody>
      </p:sp>
      <p:sp>
        <p:nvSpPr>
          <p:cNvPr id="39" name="Shape 36"/>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4459224" y="2990088"/>
            <a:ext cx="256032" cy="256032"/>
          </a:xfrm>
          <a:prstGeom prst="ellipse">
            <a:avLst/>
          </a:prstGeom>
          <a:solidFill>
            <a:srgbClr val="2E8B57"/>
          </a:solidFill>
          <a:ln w="12700">
            <a:solidFill>
              <a:srgbClr val="2E8B57"/>
            </a:solidFill>
            <a:prstDash val="solid"/>
          </a:ln>
        </p:spPr>
      </p:sp>
      <p:sp>
        <p:nvSpPr>
          <p:cNvPr id="41" name="Text 38"/>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يَتَنَاوَلُ</a:t>
            </a:r>
            <a:endParaRPr lang="ar-SA" sz="2050" dirty="0"/>
          </a:p>
        </p:txBody>
      </p:sp>
      <p:sp>
        <p:nvSpPr>
          <p:cNvPr id="43" name="Shape 40"/>
          <p:cNvSpPr/>
          <p:nvPr/>
        </p:nvSpPr>
        <p:spPr>
          <a:xfrm>
            <a:off x="4459224" y="344728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أَتَنَاوَلُ</a:t>
            </a:r>
            <a:endParaRPr lang="ar-SA" sz="2050" dirty="0"/>
          </a:p>
        </p:txBody>
      </p:sp>
      <p:sp>
        <p:nvSpPr>
          <p:cNvPr id="46" name="Text 43"/>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يَتَنَاوَلُ</a:t>
            </a:r>
            <a:pPr algn="l" indent="0" marL="0">
              <a:buNone/>
            </a:pPr>
            <a:r>
              <a:rPr lang="en-US" sz="1050" i="1" dirty="0">
                <a:solidFill>
                  <a:srgbClr val="8A6D1E"/>
                </a:solidFill>
                <a:latin typeface="Calibri" pitchFamily="34" charset="0"/>
                <a:ea typeface="Calibri" pitchFamily="34" charset="-122"/>
                <a:cs typeface="Calibri" pitchFamily="34" charset="-120"/>
              </a:rPr>
              <a:t> means “he has/eats”.</a:t>
            </a:r>
            <a:endParaRPr lang="en-US" sz="1050" dirty="0"/>
          </a:p>
        </p:txBody>
      </p:sp>
      <p:sp>
        <p:nvSpPr>
          <p:cNvPr id="47" name="Shape 44"/>
          <p:cNvSpPr/>
          <p:nvPr/>
        </p:nvSpPr>
        <p:spPr>
          <a:xfrm>
            <a:off x="8095488"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“What do you drink at breakfast?” to a girl.</a:t>
            </a:r>
            <a:endParaRPr lang="en-US" sz="1250" dirty="0"/>
          </a:p>
        </p:txBody>
      </p:sp>
      <p:sp>
        <p:nvSpPr>
          <p:cNvPr id="51" name="Shape 48"/>
          <p:cNvSpPr/>
          <p:nvPr/>
        </p:nvSpPr>
        <p:spPr>
          <a:xfrm>
            <a:off x="8278368" y="2532888"/>
            <a:ext cx="256032" cy="256032"/>
          </a:xfrm>
          <a:prstGeom prst="ellipse">
            <a:avLst/>
          </a:prstGeom>
          <a:solidFill>
            <a:srgbClr val="C9CED6"/>
          </a:solidFill>
          <a:ln w="12700">
            <a:solidFill>
              <a:srgbClr val="C9CED6"/>
            </a:solidFill>
            <a:prstDash val="solid"/>
          </a:ln>
        </p:spPr>
      </p:sp>
      <p:sp>
        <p:nvSpPr>
          <p:cNvPr id="52" name="Text 49"/>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مَاذَا تَشْرَبُ فِي الفُطُورِ؟</a:t>
            </a:r>
            <a:endParaRPr lang="ar-SA" sz="2050" dirty="0"/>
          </a:p>
        </p:txBody>
      </p:sp>
      <p:sp>
        <p:nvSpPr>
          <p:cNvPr id="54" name="Shape 51"/>
          <p:cNvSpPr/>
          <p:nvPr/>
        </p:nvSpPr>
        <p:spPr>
          <a:xfrm>
            <a:off x="8186928" y="2953512"/>
            <a:ext cx="3453384"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8278368" y="2990088"/>
            <a:ext cx="256032" cy="256032"/>
          </a:xfrm>
          <a:prstGeom prst="ellipse">
            <a:avLst/>
          </a:prstGeom>
          <a:solidFill>
            <a:srgbClr val="2E8B57"/>
          </a:solidFill>
          <a:ln w="12700">
            <a:solidFill>
              <a:srgbClr val="2E8B57"/>
            </a:solidFill>
            <a:prstDash val="solid"/>
          </a:ln>
        </p:spPr>
      </p:sp>
      <p:sp>
        <p:nvSpPr>
          <p:cNvPr id="56" name="Text 53"/>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مَاذَا تَشْرَبِينَ فِي الفُطُورِ؟</a:t>
            </a:r>
            <a:endParaRPr lang="ar-SA" sz="2050" dirty="0"/>
          </a:p>
        </p:txBody>
      </p:sp>
      <p:sp>
        <p:nvSpPr>
          <p:cNvPr id="58" name="Shape 55"/>
          <p:cNvSpPr/>
          <p:nvPr/>
        </p:nvSpPr>
        <p:spPr>
          <a:xfrm>
            <a:off x="8278368" y="344728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هَلْ أَشْرَبُ الفُطُورَ؟</a:t>
            </a:r>
            <a:endParaRPr lang="ar-SA" sz="2050" dirty="0"/>
          </a:p>
        </p:txBody>
      </p:sp>
      <p:sp>
        <p:nvSpPr>
          <p:cNvPr id="61" name="Text 58"/>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female listener form ends in </a:t>
            </a:r>
            <a:pPr algn="l" indent="0" marL="0">
              <a:buNone/>
            </a:pPr>
            <a:r>
              <a:rPr lang="ar-SA" altLang="en-US" sz="1350" dirty="0">
                <a:solidFill>
                  <a:srgbClr val="8A6D1E"/>
                </a:solidFill>
                <a:latin typeface="Amiri" pitchFamily="34" charset="0"/>
                <a:ea typeface="Amiri" pitchFamily="34" charset="-122"/>
                <a:cs typeface="Amiri" pitchFamily="34" charset="-120"/>
              </a:rPr>
              <a:t>ـِينَ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2" name="Text 5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42</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F5-L02 · Meals and Routines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F5-L02</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آكُلُ فِي الفُطُورِ الحَلِيبَ.</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Is milk food or a drink?</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أَتَنَاوَلُ فِي الغَدَاءِ.</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What does atanāwalu need after it?</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مَاذَا تَأْكُلُ فِي العَشَاءَ؟</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Which vowel comes after </a:t>
            </a:r>
            <a:pPr algn="l" indent="0" marL="0">
              <a:buNone/>
            </a:pPr>
            <a:r>
              <a:rPr lang="ar-SA" altLang="en-US" sz="1700" dirty="0">
                <a:solidFill>
                  <a:srgbClr val="5A6472"/>
                </a:solidFill>
                <a:latin typeface="Amiri" pitchFamily="34" charset="0"/>
                <a:ea typeface="Amiri" pitchFamily="34" charset="-122"/>
                <a:cs typeface="Amiri" pitchFamily="34" charset="-120"/>
              </a:rPr>
              <a:t>فِي</a:t>
            </a:r>
            <a:pPr algn="l" indent="0" marL="0">
              <a:buNone/>
            </a:pPr>
            <a:r>
              <a:rPr lang="en-US" sz="1300" i="1" dirty="0">
                <a:solidFill>
                  <a:srgbClr val="5A6472"/>
                </a:solidFill>
                <a:latin typeface="Calibri" pitchFamily="34" charset="0"/>
                <a:ea typeface="Calibri" pitchFamily="34" charset="-122"/>
                <a:cs typeface="Calibri" pitchFamily="34" charset="-120"/>
              </a:rPr>
              <a:t>?</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42</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F5-L02 · Meals and Routines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F5-L02</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آكُلُ فِي الفُطُورِ الحَلِيبَ.</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أَشْرَبُ الحَلِيبَ فِي الفُطُورِ.</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Use </a:t>
            </a:r>
            <a:pPr algn="l" indent="0" marL="0">
              <a:buNone/>
            </a:pPr>
            <a:r>
              <a:rPr lang="ar-SA" altLang="en-US" sz="1500" b="1" dirty="0">
                <a:solidFill>
                  <a:srgbClr val="1B3B6F"/>
                </a:solidFill>
                <a:latin typeface="Amiri" pitchFamily="34" charset="0"/>
                <a:ea typeface="Amiri" pitchFamily="34" charset="-122"/>
                <a:cs typeface="Amiri" pitchFamily="34" charset="-120"/>
              </a:rPr>
              <a:t>أَشْرَبُ</a:t>
            </a:r>
            <a:pPr algn="l" indent="0" marL="0">
              <a:buNone/>
            </a:pPr>
            <a:r>
              <a:rPr lang="en-US" sz="1150" b="1" dirty="0">
                <a:solidFill>
                  <a:srgbClr val="1B3B6F"/>
                </a:solidFill>
                <a:latin typeface="Calibri" pitchFamily="34" charset="0"/>
                <a:ea typeface="Calibri" pitchFamily="34" charset="-122"/>
                <a:cs typeface="Calibri" pitchFamily="34" charset="-120"/>
              </a:rPr>
              <a:t> with a drink.</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أَتَنَاوَلُ فِي الغَدَاءِ.</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أَتَنَاوَلُ الغَدَاءَ. / آكُلُ ... فِي الغَدَاءِ.</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أَتَنَاوَلُ</a:t>
            </a:r>
            <a:pPr algn="l" indent="0" marL="0">
              <a:buNone/>
            </a:pPr>
            <a:r>
              <a:rPr lang="en-US" sz="1150" b="1" dirty="0">
                <a:solidFill>
                  <a:srgbClr val="1B3B6F"/>
                </a:solidFill>
                <a:latin typeface="Calibri" pitchFamily="34" charset="0"/>
                <a:ea typeface="Calibri" pitchFamily="34" charset="-122"/>
                <a:cs typeface="Calibri" pitchFamily="34" charset="-120"/>
              </a:rPr>
              <a:t> needs the meal/object; </a:t>
            </a:r>
            <a:pPr algn="l" indent="0" marL="0">
              <a:buNone/>
            </a:pPr>
            <a:r>
              <a:rPr lang="ar-SA" altLang="en-US" sz="1500" b="1" dirty="0">
                <a:solidFill>
                  <a:srgbClr val="1B3B6F"/>
                </a:solidFill>
                <a:latin typeface="Amiri" pitchFamily="34" charset="0"/>
                <a:ea typeface="Amiri" pitchFamily="34" charset="-122"/>
                <a:cs typeface="Amiri" pitchFamily="34" charset="-120"/>
              </a:rPr>
              <a:t>فِي الغَدَاءِ</a:t>
            </a:r>
            <a:pPr algn="l" indent="0" marL="0">
              <a:buNone/>
            </a:pPr>
            <a:r>
              <a:rPr lang="en-US" sz="1150" b="1" dirty="0">
                <a:solidFill>
                  <a:srgbClr val="1B3B6F"/>
                </a:solidFill>
                <a:latin typeface="Calibri" pitchFamily="34" charset="0"/>
                <a:ea typeface="Calibri" pitchFamily="34" charset="-122"/>
                <a:cs typeface="Calibri" pitchFamily="34" charset="-120"/>
              </a:rPr>
              <a:t> introduces what is eaten at lunch.</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مَاذَا تَأْكُلُ فِي العَشَاءَ؟</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مَاذَا تَأْكُلُ فِي العَشَاءِ؟</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After </a:t>
            </a:r>
            <a:pPr algn="l" indent="0" marL="0">
              <a:buNone/>
            </a:pPr>
            <a:r>
              <a:rPr lang="ar-SA" altLang="en-US" sz="1500" b="1" dirty="0">
                <a:solidFill>
                  <a:srgbClr val="1B3B6F"/>
                </a:solidFill>
                <a:latin typeface="Amiri" pitchFamily="34" charset="0"/>
                <a:ea typeface="Amiri" pitchFamily="34" charset="-122"/>
                <a:cs typeface="Amiri" pitchFamily="34" charset="-120"/>
              </a:rPr>
              <a:t>فِي</a:t>
            </a:r>
            <a:pPr algn="l" indent="0" marL="0">
              <a:buNone/>
            </a:pPr>
            <a:r>
              <a:rPr lang="en-US" sz="1150" b="1" dirty="0">
                <a:solidFill>
                  <a:srgbClr val="1B3B6F"/>
                </a:solidFill>
                <a:latin typeface="Calibri" pitchFamily="34" charset="0"/>
                <a:ea typeface="Calibri" pitchFamily="34" charset="-122"/>
                <a:cs typeface="Calibri" pitchFamily="34" charset="-120"/>
              </a:rPr>
              <a:t>, the noun is in the genitive form: </a:t>
            </a:r>
            <a:pPr algn="l" indent="0" marL="0">
              <a:buNone/>
            </a:pPr>
            <a:r>
              <a:rPr lang="ar-SA" altLang="en-US" sz="1500" b="1" dirty="0">
                <a:solidFill>
                  <a:srgbClr val="1B3B6F"/>
                </a:solidFill>
                <a:latin typeface="Amiri" pitchFamily="34" charset="0"/>
                <a:ea typeface="Amiri" pitchFamily="34" charset="-122"/>
                <a:cs typeface="Amiri" pitchFamily="34" charset="-120"/>
              </a:rPr>
              <a:t>العَشَاءِ</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42</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F5-L02 · Meals and Routines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Rami’s meal routine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time is breakfast?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seven o’clock</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six o’clock</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eight o’clock</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he drink at breakfast?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juice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tea</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milk</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does he eat lunch?</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at home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at a café</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at school</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his snack?</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apple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sandwich</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yoghurt</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eats dinner with him?</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his friends</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his family</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his teacher</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3 and 4.</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السَّابِعَةِ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فِي المَدْرَسَةِ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تُفَّاحَةً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42</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F5-L02 · Meals and Routines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F5-L02</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فِي الصَّبَاحِ أَتَنَاوَلُ الفُطُورَ فِي السَّاعَةِ السَّابِعَةِ.</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the morning I have breakfast at seven o’clock.</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آكُلُ الخُبْزَ وَالجُبْنَ، وَأَشْرَبُ الحَلِيبَ.</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eat bread and cheese, and I drink milk.</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عِنْدَ الظُّهْرِ آكُلُ الأَرُزَّ وَالدَّجَاجَ فِي المَدْرَسَةِ.</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At midday I eat rice and chicken at school.</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بَعْدَ المَدْرَسَةِ آكُلُ تُفَّاحَةً.</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After school I eat an apple.</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فِي المَسَاءِ أَتَنَاوَلُ العَشَاءَ مَعَ عَائِلَتِي، وَأَشْرَبُ المَاءَ.</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the evening I have dinner with my family, and I drink water.</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42</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F5-L02 · Meals and Routines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time is breakfast?</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seven o’clock</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six o’clock</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eight o’clock</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He says </a:t>
            </a:r>
            <a:pPr algn="l" indent="0" marL="0">
              <a:buNone/>
            </a:pPr>
            <a:r>
              <a:rPr lang="ar-SA" altLang="en-US" sz="1350" dirty="0">
                <a:solidFill>
                  <a:srgbClr val="8A6D1E"/>
                </a:solidFill>
                <a:latin typeface="Amiri" pitchFamily="34" charset="0"/>
                <a:ea typeface="Amiri" pitchFamily="34" charset="-122"/>
                <a:cs typeface="Amiri" pitchFamily="34" charset="-120"/>
              </a:rPr>
              <a:t>فِي السَّاعَةِ السَّابِعَةِ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he drink at breakfast?</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juice</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tea</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milk</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He drinks </a:t>
            </a:r>
            <a:pPr algn="l" indent="0" marL="0">
              <a:buNone/>
            </a:pPr>
            <a:r>
              <a:rPr lang="ar-SA" altLang="en-US" sz="1350" dirty="0">
                <a:solidFill>
                  <a:srgbClr val="8A6D1E"/>
                </a:solidFill>
                <a:latin typeface="Amiri" pitchFamily="34" charset="0"/>
                <a:ea typeface="Amiri" pitchFamily="34" charset="-122"/>
                <a:cs typeface="Amiri" pitchFamily="34" charset="-120"/>
              </a:rPr>
              <a:t>الحَلِيبَ</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does he eat lunch?</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at home</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at a café</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at school</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He says </a:t>
            </a:r>
            <a:pPr algn="l" indent="0" marL="0">
              <a:buNone/>
            </a:pPr>
            <a:r>
              <a:rPr lang="ar-SA" altLang="en-US" sz="1350" dirty="0">
                <a:solidFill>
                  <a:srgbClr val="8A6D1E"/>
                </a:solidFill>
                <a:latin typeface="Amiri" pitchFamily="34" charset="0"/>
                <a:ea typeface="Amiri" pitchFamily="34" charset="-122"/>
                <a:cs typeface="Amiri" pitchFamily="34" charset="-120"/>
              </a:rPr>
              <a:t>فِي المَدْرَسَةِ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his snack?</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an apple</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sandwich</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yoghurt</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He eats </a:t>
            </a:r>
            <a:pPr algn="l" indent="0" marL="0">
              <a:buNone/>
            </a:pPr>
            <a:r>
              <a:rPr lang="ar-SA" altLang="en-US" sz="1350" dirty="0">
                <a:solidFill>
                  <a:srgbClr val="8A6D1E"/>
                </a:solidFill>
                <a:latin typeface="Amiri" pitchFamily="34" charset="0"/>
                <a:ea typeface="Amiri" pitchFamily="34" charset="-122"/>
                <a:cs typeface="Amiri" pitchFamily="34" charset="-120"/>
              </a:rPr>
              <a:t>تُفَّاحَةً</a:t>
            </a:r>
            <a:pPr algn="l" indent="0" marL="0">
              <a:buNone/>
            </a:pPr>
            <a:r>
              <a:rPr lang="en-US" sz="1050" i="1" dirty="0">
                <a:solidFill>
                  <a:srgbClr val="8A6D1E"/>
                </a:solidFill>
                <a:latin typeface="Calibri" pitchFamily="34" charset="0"/>
                <a:ea typeface="Calibri" pitchFamily="34" charset="-122"/>
                <a:cs typeface="Calibri" pitchFamily="34" charset="-120"/>
              </a:rPr>
              <a:t> after school.</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eats dinner with him?</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his friends</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his family</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his teacher</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He says </a:t>
            </a:r>
            <a:pPr algn="l" indent="0" marL="0">
              <a:buNone/>
            </a:pPr>
            <a:r>
              <a:rPr lang="ar-SA" altLang="en-US" sz="1350" dirty="0">
                <a:solidFill>
                  <a:srgbClr val="8A6D1E"/>
                </a:solidFill>
                <a:latin typeface="Amiri" pitchFamily="34" charset="0"/>
                <a:ea typeface="Amiri" pitchFamily="34" charset="-122"/>
                <a:cs typeface="Amiri" pitchFamily="34" charset="-120"/>
              </a:rPr>
              <a:t>مَعَ عَائِلَتِي</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3 and 4.</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السَّابِعَةِ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فِي المَدْرَسَةِ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تُفَّاحَةً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42</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F5-L02 · Meals and Routines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Compare meal routines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F5-L02</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تَأْكُلُ / تَأْكُلِينَ فِي الفُطُورِ؟</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مَتَى تَتَنَاوَلُ / تَتَنَاوَلِينَ الغَدَاءَ؟</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هَلْ تَأْكُلُ وَجْبَةً خَفِيفَةً؟</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مَعَ مَنْ تَتَنَاوَلُ العَشَاءَ؟</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فِي الفُطُورِ آكُلُ ___ وَأَشْرَبُ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أَتَنَاوَلُ الغَدَاءَ فِي السَّاعَةِ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نَعَمْ، أَحْيَانًا آكُلُ ___ بَعْدَ المَدْرَسَةِ.</a:t>
            </a:r>
            <a:endParaRPr lang="ar-SA" sz="16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أَتَنَاوَلُ العَشَاءَ مَعَ ___ ، ثُمَّ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rtl="1" algn="ctr" indent="0" marL="0">
              <a:buNone/>
            </a:pPr>
            <a:r>
              <a:rPr lang="ar-SA" altLang="en-US" sz="1000" b="1" dirty="0">
                <a:solidFill>
                  <a:srgbClr val="FFFFFF"/>
                </a:solidFill>
                <a:latin typeface="Calibri" pitchFamily="34" charset="0"/>
                <a:ea typeface="Calibri" pitchFamily="34" charset="-122"/>
                <a:cs typeface="Calibri" pitchFamily="34" charset="-120"/>
              </a:rPr>
              <a:t>أ</a:t>
            </a:r>
            <a:endParaRPr lang="ar-SA"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مَاذَا تَأْكُلِينَ فِي الفُطُورِ؟</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What do you (f.) eat for breakfast?</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rtl="1" algn="ctr" indent="0" marL="0">
              <a:buNone/>
            </a:pPr>
            <a:r>
              <a:rPr lang="ar-SA" altLang="en-US" sz="1000" b="1" dirty="0">
                <a:solidFill>
                  <a:srgbClr val="FFFFFF"/>
                </a:solidFill>
                <a:latin typeface="Calibri" pitchFamily="34" charset="0"/>
                <a:ea typeface="Calibri" pitchFamily="34" charset="-122"/>
                <a:cs typeface="Calibri" pitchFamily="34" charset="-120"/>
              </a:rPr>
              <a:t>ب</a:t>
            </a:r>
            <a:endParaRPr lang="ar-SA"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آكُلُ الخُبْزَ وَالبَيْضَ، وَأَشْرَبُ الشَّايَ.</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I eat bread and eggs, and I drink tea.</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42</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F5-L02 · Meals and Routines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F5-L02</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3–4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Complete three sentence frames for breakfast, lunch and dinner.</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One sentence for each meal with the frame: at breakfast I eat … and drink …</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6–8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Describe a full day with time and frequency language, then ask a partner two questions.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three meals, a snack, two times and one frequency word.</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8–10 sentences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Compare weekday and weekend meals and explain one difference in 8–10 sentences.</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Compare a weekday and the weekend; explain one difference with but.</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42</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F5-L02 · Meals and Routines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F5-L02</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عَادَةً أَتَنَاوَلُ الفُطُورَ فِي السَّاعَةِ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usually have breakfast at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أَحْيَانًا آكُلُ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Sometimes I eat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أَتَنَاوَلُ العَشَاءَ مَعَ عَائِلَتِي.</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have dinner with my family.</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ثُمَّ أَشْرَبُ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then I drink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نِهَايَةِ الأُسْبُوعِ آكُلُ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At the weekend I eat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الفُطُورِ آكُلُ ______ وَأَشْرَبُ ______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At breakfast I eat … and drink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الغَدَاءِ آكُلُ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At lunch I eat …</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العَشَاءِ آكُلُ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At dinner I eat …</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بَعْدَ المَدْرَسَةِ آكُلُ وَجْبَةً خَفِيفَةً.</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After school I eat a snack.</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أَشْرَبُ المَاءَ كُلَّ يَوْمٍ.</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drink water every day.</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فُطُورٌ  ·  غَدَاءٌ  ·  عَشَاءٌ  ·  وَجْبَةٌ خَفِيفَةٌ  ·  آكُلُ  ·  أَشْرَبُ  ·  أَتَنَاوَلُ  ·  عَادَةً  ·  أَحْيَانًا  ·  دَائِمًا  ·  ثُمَّ  ·  مَعَ عَائِلَتِي</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42</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F5-L02 · Meals and Routines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F5-L02</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6–8 sentences describing your meals on a normal day. Include breakfast, lunch, dinner, one snack, two time expressions and one frequency word.</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a different verb at least twice: </a:t>
            </a:r>
            <a:pPr algn="l" indent="0" marL="0">
              <a:buNone/>
            </a:pPr>
            <a:r>
              <a:rPr lang="ar-SA" altLang="en-US" sz="1550" dirty="0">
                <a:solidFill>
                  <a:srgbClr val="1F2A37"/>
                </a:solidFill>
                <a:latin typeface="Amiri" pitchFamily="34" charset="0"/>
                <a:ea typeface="Amiri" pitchFamily="34" charset="-122"/>
                <a:cs typeface="Amiri" pitchFamily="34" charset="-120"/>
              </a:rPr>
              <a:t>آكُلُ / أَشْرَبُ / أَتَنَاوَلُ</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Name all three main meals.</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a:t>
            </a:r>
            <a:pPr algn="l" indent="0" marL="0">
              <a:buNone/>
            </a:pPr>
            <a:r>
              <a:rPr lang="ar-SA" altLang="en-US" sz="1550" dirty="0">
                <a:solidFill>
                  <a:srgbClr val="1F2A37"/>
                </a:solidFill>
                <a:latin typeface="Amiri" pitchFamily="34" charset="0"/>
                <a:ea typeface="Amiri" pitchFamily="34" charset="-122"/>
                <a:cs typeface="Amiri" pitchFamily="34" charset="-120"/>
              </a:rPr>
              <a:t>عَادَةً، أَحْيَانًا</a:t>
            </a:r>
            <a:pPr algn="l" indent="0" marL="0">
              <a:buNone/>
            </a:pPr>
            <a:r>
              <a:rPr lang="en-US" sz="1200" dirty="0">
                <a:solidFill>
                  <a:srgbClr val="1F2A37"/>
                </a:solidFill>
                <a:latin typeface="Calibri" pitchFamily="34" charset="0"/>
                <a:ea typeface="Calibri" pitchFamily="34" charset="-122"/>
                <a:cs typeface="Calibri" pitchFamily="34" charset="-120"/>
              </a:rPr>
              <a:t> or </a:t>
            </a:r>
            <a:pPr algn="l" indent="0" marL="0">
              <a:buNone/>
            </a:pPr>
            <a:r>
              <a:rPr lang="ar-SA" altLang="en-US" sz="1550" dirty="0">
                <a:solidFill>
                  <a:srgbClr val="1F2A37"/>
                </a:solidFill>
                <a:latin typeface="Amiri" pitchFamily="34" charset="0"/>
                <a:ea typeface="Amiri" pitchFamily="34" charset="-122"/>
                <a:cs typeface="Amiri" pitchFamily="34" charset="-120"/>
              </a:rPr>
              <a:t>دَائِمًا</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Join the routine with </a:t>
            </a:r>
            <a:pPr algn="l" indent="0" marL="0">
              <a:buNone/>
            </a:pPr>
            <a:r>
              <a:rPr lang="ar-SA" altLang="en-US" sz="1550" dirty="0">
                <a:solidFill>
                  <a:srgbClr val="1F2A37"/>
                </a:solidFill>
                <a:latin typeface="Amiri" pitchFamily="34" charset="0"/>
                <a:ea typeface="Amiri" pitchFamily="34" charset="-122"/>
                <a:cs typeface="Amiri" pitchFamily="34" charset="-120"/>
              </a:rPr>
              <a:t>وَ، ثُمَّ</a:t>
            </a:r>
            <a:pPr algn="l" indent="0" marL="0">
              <a:buNone/>
            </a:pPr>
            <a:r>
              <a:rPr lang="en-US" sz="1200" dirty="0">
                <a:solidFill>
                  <a:srgbClr val="1F2A37"/>
                </a:solidFill>
                <a:latin typeface="Calibri" pitchFamily="34" charset="0"/>
                <a:ea typeface="Calibri" pitchFamily="34" charset="-122"/>
                <a:cs typeface="Calibri" pitchFamily="34" charset="-120"/>
              </a:rPr>
              <a:t> or </a:t>
            </a:r>
            <a:pPr algn="l" indent="0" marL="0">
              <a:buNone/>
            </a:pPr>
            <a:r>
              <a:rPr lang="ar-SA" altLang="en-US" sz="1550" dirty="0">
                <a:solidFill>
                  <a:srgbClr val="1F2A37"/>
                </a:solidFill>
                <a:latin typeface="Amiri" pitchFamily="34" charset="0"/>
                <a:ea typeface="Amiri" pitchFamily="34" charset="-122"/>
                <a:cs typeface="Amiri" pitchFamily="34" charset="-120"/>
              </a:rPr>
              <a:t>وَلٰكِنْ</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أَيَّامِ الدِّرَاسَةِ</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on school days</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نِهَايَةِ الأُسْبُوعِ</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at the weekend</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نَتَنَاوَلُ الفُطُورَ مَعًا</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we have breakfast together</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لَا أَتَخَطَّى الفُطُورَ أَبَدًا</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never skip breakfast</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تَطْبُخُ أُمِّي …</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my mother cooks …</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42</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F5-L02 · Meals and Routines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عَادَةً أَتَنَاوَلُ الفُطُورَ فِي السَّاعَةِ السَّابِعَةِ. آكُلُ الخُبْزَ وَالجُبْنَ، وَأَشْرَبُ الحَلِيبَ. عِنْدَ الظُّهْرِ آكُلُ الغَدَاءَ فِي المَدْرَسَةِ. بَعْدَ المَدْرَسَةِ أَحْيَانًا آكُلُ وَجْبَةً خَفِيفَةً. فِي المَسَاءِ أَتَنَاوَلُ العَشَاءَ مَعَ عَائِلَتِي، ثُمَّ أَشْرَبُ المَاءَ.</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I usually have breakfast at seven o’clock. I eat bread and cheese, and I drink milk. At midday I eat lunch at school. After school I sometimes eat a snack. In the evening I have dinner with my family, then I drink water.</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three meals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two times</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frequency word</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then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42</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F5-L02 · Meals and Routines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described breakfast, lunch and dinner.</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Food with </a:t>
            </a:r>
            <a:pPr algn="l" indent="0" marL="0">
              <a:buNone/>
            </a:pPr>
            <a:r>
              <a:rPr lang="ar-SA" altLang="en-US" sz="1700" dirty="0">
                <a:solidFill>
                  <a:srgbClr val="1F2A37"/>
                </a:solidFill>
                <a:latin typeface="Amiri" pitchFamily="34" charset="0"/>
                <a:ea typeface="Amiri" pitchFamily="34" charset="-122"/>
                <a:cs typeface="Amiri" pitchFamily="34" charset="-120"/>
              </a:rPr>
              <a:t>آكُلُ</a:t>
            </a:r>
            <a:pPr algn="l" indent="0" marL="0">
              <a:buNone/>
            </a:pPr>
            <a:r>
              <a:rPr lang="en-US" sz="1300" dirty="0">
                <a:solidFill>
                  <a:srgbClr val="1F2A37"/>
                </a:solidFill>
                <a:latin typeface="Calibri" pitchFamily="34" charset="0"/>
                <a:ea typeface="Calibri" pitchFamily="34" charset="-122"/>
                <a:cs typeface="Calibri" pitchFamily="34" charset="-120"/>
              </a:rPr>
              <a:t>, drinks with </a:t>
            </a:r>
            <a:pPr algn="l" indent="0" marL="0">
              <a:buNone/>
            </a:pPr>
            <a:r>
              <a:rPr lang="ar-SA" altLang="en-US" sz="1700" dirty="0">
                <a:solidFill>
                  <a:srgbClr val="1F2A37"/>
                </a:solidFill>
                <a:latin typeface="Amiri" pitchFamily="34" charset="0"/>
                <a:ea typeface="Amiri" pitchFamily="34" charset="-122"/>
                <a:cs typeface="Amiri" pitchFamily="34" charset="-120"/>
              </a:rPr>
              <a:t>أَشْرَبُ</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added a time and a frequency word.</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After </a:t>
            </a:r>
            <a:pPr algn="l" indent="0" marL="0">
              <a:buNone/>
            </a:pPr>
            <a:r>
              <a:rPr lang="ar-SA" altLang="en-US" sz="1700" dirty="0">
                <a:solidFill>
                  <a:srgbClr val="1F2A37"/>
                </a:solidFill>
                <a:latin typeface="Amiri" pitchFamily="34" charset="0"/>
                <a:ea typeface="Amiri" pitchFamily="34" charset="-122"/>
                <a:cs typeface="Amiri" pitchFamily="34" charset="-120"/>
              </a:rPr>
              <a:t>فِي</a:t>
            </a:r>
            <a:pPr algn="l" indent="0" marL="0">
              <a:buNone/>
            </a:pPr>
            <a:r>
              <a:rPr lang="en-US" sz="1300" dirty="0">
                <a:solidFill>
                  <a:srgbClr val="1F2A37"/>
                </a:solidFill>
                <a:latin typeface="Calibri" pitchFamily="34" charset="0"/>
                <a:ea typeface="Calibri" pitchFamily="34" charset="-122"/>
                <a:cs typeface="Calibri" pitchFamily="34" charset="-120"/>
              </a:rPr>
              <a:t> the meal ends in -i.</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a:t>
            </a:r>
            <a:pPr algn="l" indent="0" marL="0">
              <a:buNone/>
            </a:pPr>
            <a:r>
              <a:rPr lang="ar-SA" altLang="en-US" sz="1700" dirty="0">
                <a:solidFill>
                  <a:srgbClr val="1F2A37"/>
                </a:solidFill>
                <a:latin typeface="Amiri" pitchFamily="34" charset="0"/>
                <a:ea typeface="Amiri" pitchFamily="34" charset="-122"/>
                <a:cs typeface="Amiri" pitchFamily="34" charset="-120"/>
              </a:rPr>
              <a:t>أَتَنَاوَلُ</a:t>
            </a:r>
            <a:pPr algn="l" indent="0" marL="0">
              <a:buNone/>
            </a:pPr>
            <a:r>
              <a:rPr lang="en-US" sz="1300" dirty="0">
                <a:solidFill>
                  <a:srgbClr val="1F2A37"/>
                </a:solidFill>
                <a:latin typeface="Calibri" pitchFamily="34" charset="0"/>
                <a:ea typeface="Calibri" pitchFamily="34" charset="-122"/>
                <a:cs typeface="Calibri" pitchFamily="34" charset="-120"/>
              </a:rPr>
              <a:t> and compared two days.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42</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F5-L02 · Meals and Routines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means breakfast?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فُطُورٌ</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غَدَاءٌ</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عَشَاءٌ</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means usually?</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نَادِرًا</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عَادَةً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أَبَدًا</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connector shows sequence?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ثُمَّ</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هَلْ</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42</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F5-L02 · Meals and Routines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means breakfast?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فُطُورٌ</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غَدَاءٌ</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عَشَاءٌ</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فُطُورٌ</a:t>
            </a:r>
            <a:pPr algn="l" indent="0" marL="0">
              <a:buNone/>
            </a:pPr>
            <a:r>
              <a:rPr lang="en-US" sz="1050" i="1" dirty="0">
                <a:solidFill>
                  <a:srgbClr val="8A6D1E"/>
                </a:solidFill>
                <a:latin typeface="Calibri" pitchFamily="34" charset="0"/>
                <a:ea typeface="Calibri" pitchFamily="34" charset="-122"/>
                <a:cs typeface="Calibri" pitchFamily="34" charset="-120"/>
              </a:rPr>
              <a:t> means breakfast.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means usually?</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نَادِرًا</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عَادَةً</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أَبَدًا</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عَادَةً</a:t>
            </a:r>
            <a:pPr algn="l" indent="0" marL="0">
              <a:buNone/>
            </a:pPr>
            <a:r>
              <a:rPr lang="en-US" sz="1050" i="1" dirty="0">
                <a:solidFill>
                  <a:srgbClr val="8A6D1E"/>
                </a:solidFill>
                <a:latin typeface="Calibri" pitchFamily="34" charset="0"/>
                <a:ea typeface="Calibri" pitchFamily="34" charset="-122"/>
                <a:cs typeface="Calibri" pitchFamily="34" charset="-120"/>
              </a:rPr>
              <a:t> means usually.</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connector shows sequence?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ثُمَّ</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لِأَنَّ</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هَلْ</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ثُمَّ</a:t>
            </a:r>
            <a:pPr algn="l" indent="0" marL="0">
              <a:buNone/>
            </a:pPr>
            <a:r>
              <a:rPr lang="en-US" sz="1050" i="1" dirty="0">
                <a:solidFill>
                  <a:srgbClr val="8A6D1E"/>
                </a:solidFill>
                <a:latin typeface="Calibri" pitchFamily="34" charset="0"/>
                <a:ea typeface="Calibri" pitchFamily="34" charset="-122"/>
                <a:cs typeface="Calibri" pitchFamily="34" charset="-120"/>
              </a:rPr>
              <a:t> means then.</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42</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F5-L02 · Meals and Routines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My three meals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F5-L02</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اِسْمِي سَارَةُ. عَادَةً أَتَنَاوَلُ فُطُورًا صِحِّيًّا: آكُلُ الزَّبَادِي وَالفَاكِهَةَ، وَأَشْرَبُ المَاءَ. فِي الغَدَاءِ آكُلُ السَّلَطَةَ وَالسَّمَكَ، وَلٰكِنِّي أَحْيَانًا آكُلُ البِيتْزَا مَعَ صَدِيقَاتِي. فِي العَشَاءِ تَطْبُخُ أُمِّي الحَسَاءَ أَوِ الأَرُزَّ وَالدَّجَاجَ. نَأْكُلُ مَعًا فِي المَسَاءِ.</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عَادَةً</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usually</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فُطُورًا صِحِّيًّا</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healthy breakfast</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الزَّبَادِي</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yoghurt</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الفَاكِهَةَ</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fruit</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وَلَكِنِّي أَحْيَانًا</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but sometimes I</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البِيتْزَا</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pizza</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صَدِيقَاتِي</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my (girl) friends</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تَطْبُخُ أُمِّي</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my mother cooks</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الحَسَاءَ</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soup</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نَأْكُلُ مَعًا</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we eat together</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42</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F5-L02 · Meals and Routines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F5-L02</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Sara describe her breakfast?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expensive</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healthy</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small</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she eat with fruit?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bread</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eggs</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yoghurt</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lunch does she sometimes eat with friends?</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pizza</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soup</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rice</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cooks dinner?</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her father</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her mother</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her sister</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family do together?</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eat dinner</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buy breakfast</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prepare lunch</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42</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F5-L02 · Meals and Routines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F5-L02</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Sara describe her breakfast?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expensive</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healthy</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small</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says </a:t>
            </a:r>
            <a:pPr algn="l" indent="0" marL="0">
              <a:buNone/>
            </a:pPr>
            <a:r>
              <a:rPr lang="ar-SA" altLang="en-US" sz="1350" dirty="0">
                <a:solidFill>
                  <a:srgbClr val="8A6D1E"/>
                </a:solidFill>
                <a:latin typeface="Amiri" pitchFamily="34" charset="0"/>
                <a:ea typeface="Amiri" pitchFamily="34" charset="-122"/>
                <a:cs typeface="Amiri" pitchFamily="34" charset="-120"/>
              </a:rPr>
              <a:t>فُطُورًا صِحِّيًّا</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she eat with fruit?</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bread</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eggs</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yoghurt</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eats </a:t>
            </a:r>
            <a:pPr algn="l" indent="0" marL="0">
              <a:buNone/>
            </a:pPr>
            <a:r>
              <a:rPr lang="ar-SA" altLang="en-US" sz="1350" dirty="0">
                <a:solidFill>
                  <a:srgbClr val="8A6D1E"/>
                </a:solidFill>
                <a:latin typeface="Amiri" pitchFamily="34" charset="0"/>
                <a:ea typeface="Amiri" pitchFamily="34" charset="-122"/>
                <a:cs typeface="Amiri" pitchFamily="34" charset="-120"/>
              </a:rPr>
              <a:t>الزَّبَادِي وَالفَاكِهَةَ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lunch does she sometimes eat with friends?</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pizza</a:t>
            </a:r>
            <a:endParaRPr lang="en-US" sz="12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soup</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rice</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sometimes eats </a:t>
            </a:r>
            <a:pPr algn="l" indent="0" marL="0">
              <a:buNone/>
            </a:pPr>
            <a:r>
              <a:rPr lang="ar-SA" altLang="en-US" sz="1350" dirty="0">
                <a:solidFill>
                  <a:srgbClr val="8A6D1E"/>
                </a:solidFill>
                <a:latin typeface="Amiri" pitchFamily="34" charset="0"/>
                <a:ea typeface="Amiri" pitchFamily="34" charset="-122"/>
                <a:cs typeface="Amiri" pitchFamily="34" charset="-120"/>
              </a:rPr>
              <a:t>البِيتْزَا</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cooks dinner?</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her father</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her mother</a:t>
            </a:r>
            <a:endParaRPr lang="en-US" sz="12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her sister</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تَطْبُخُ أُمِّي.</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family do together?</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eat dinner</a:t>
            </a:r>
            <a:endParaRPr lang="en-US" sz="12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buy breakfast</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prepare lunch</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They eat together in the evening.</a:t>
            </a:r>
            <a:endParaRPr lang="en-US" sz="10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42</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F5-L02 · Meals and Routines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F5-L03: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F5-L02</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F5-L03 · Likes, Dislikes and Preferences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أُفَضِّلُ … عَلَى …</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 prefer … to …</a:t>
            </a:r>
            <a:pPr indent="0" marL="0">
              <a:buNone/>
            </a:pPr>
            <a:r>
              <a:rPr lang="en-US" sz="1000" i="1" dirty="0">
                <a:solidFill>
                  <a:srgbClr val="5A6472"/>
                </a:solidFill>
                <a:latin typeface="Calibri" pitchFamily="34" charset="0"/>
                <a:ea typeface="Calibri" pitchFamily="34" charset="-122"/>
                <a:cs typeface="Calibri" pitchFamily="34" charset="-120"/>
              </a:rPr>
              <a:t>  she: تُفَضِّلُ</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لَذِيذٌ</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delicious</a:t>
            </a:r>
            <a:pPr indent="0" marL="0">
              <a:buNone/>
            </a:pPr>
            <a:r>
              <a:rPr lang="en-US" sz="1000" i="1" dirty="0">
                <a:solidFill>
                  <a:srgbClr val="5A6472"/>
                </a:solidFill>
                <a:latin typeface="Calibri" pitchFamily="34" charset="0"/>
                <a:ea typeface="Calibri" pitchFamily="34" charset="-122"/>
                <a:cs typeface="Calibri" pitchFamily="34" charset="-120"/>
              </a:rPr>
              <a:t>  f. لَذِيذَةٌ</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كَثِيرًا</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lot</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مَا رَأْيُكَ فِي …؟</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what do you think of …?</a:t>
            </a:r>
            <a:pPr indent="0" marL="0">
              <a:buNone/>
            </a:pPr>
            <a:r>
              <a:rPr lang="en-US" sz="1000" i="1" dirty="0">
                <a:solidFill>
                  <a:srgbClr val="5A6472"/>
                </a:solidFill>
                <a:latin typeface="Calibri" pitchFamily="34" charset="0"/>
                <a:ea typeface="Calibri" pitchFamily="34" charset="-122"/>
                <a:cs typeface="Calibri" pitchFamily="34" charset="-120"/>
              </a:rPr>
              <a:t>  f. رَأْيُكِ</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مُفَضَّلٌ</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favourite</a:t>
            </a:r>
            <a:pPr indent="0" marL="0">
              <a:buNone/>
            </a:pPr>
            <a:r>
              <a:rPr lang="en-US" sz="1000" i="1" dirty="0">
                <a:solidFill>
                  <a:srgbClr val="5A6472"/>
                </a:solidFill>
                <a:latin typeface="Calibri" pitchFamily="34" charset="0"/>
                <a:ea typeface="Calibri" pitchFamily="34" charset="-122"/>
                <a:cs typeface="Calibri" pitchFamily="34" charset="-120"/>
              </a:rPr>
              <a:t>  f. مُفَضَّلَةٌ</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Which do you prefer: rice or pasta? Write one sentence.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أُفَضِّلُ … عَلَى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F5-L02: the vocabulary tab and the “Match the routine to the time” sorter.</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6–8 sentences about your meals with two times and one frequency word.</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Stretch: compare weekday and weekend meals in 8–10 sentences.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42</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F5-L02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450" b="1" dirty="0">
                <a:solidFill>
                  <a:srgbClr val="FFFFFF"/>
                </a:solidFill>
                <a:latin typeface="Cambria" pitchFamily="34" charset="0"/>
                <a:ea typeface="Cambria" pitchFamily="34" charset="-122"/>
                <a:cs typeface="Cambria" pitchFamily="34" charset="-120"/>
              </a:rPr>
              <a:t>F5-L03 · Likes, Dislikes and Preferences</a:t>
            </a:r>
            <a:endParaRPr lang="en-US" sz="24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الإِعْجَابُ وَالتَّفْضِيلُ</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WHEN + VERB + FOOD · </a:t>
            </a:r>
            <a:pPr algn="l" indent="0" marL="0">
              <a:buNone/>
            </a:pPr>
            <a:r>
              <a:rPr lang="ar-SA" altLang="en-US" sz="1700" b="1" dirty="0">
                <a:solidFill>
                  <a:srgbClr val="FFFFFF"/>
                </a:solidFill>
                <a:latin typeface="Amiri" pitchFamily="34" charset="0"/>
                <a:ea typeface="Amiri" pitchFamily="34" charset="-122"/>
                <a:cs typeface="Amiri" pitchFamily="34" charset="-120"/>
              </a:rPr>
              <a:t>فِي</a:t>
            </a:r>
            <a:pPr algn="l" indent="0" marL="0">
              <a:buNone/>
            </a:pPr>
            <a:r>
              <a:rPr lang="en-US" sz="1300" b="1" dirty="0">
                <a:solidFill>
                  <a:srgbClr val="FFFFFF"/>
                </a:solidFill>
                <a:latin typeface="Calibri" pitchFamily="34" charset="0"/>
                <a:ea typeface="Calibri" pitchFamily="34" charset="-122"/>
                <a:cs typeface="Calibri" pitchFamily="34" charset="-120"/>
              </a:rPr>
              <a:t> + the meal · </a:t>
            </a:r>
            <a:pPr algn="l" indent="0" marL="0">
              <a:buNone/>
            </a:pPr>
            <a:r>
              <a:rPr lang="ar-SA" altLang="en-US" sz="1700" b="1" dirty="0">
                <a:solidFill>
                  <a:srgbClr val="FFFFFF"/>
                </a:solidFill>
                <a:latin typeface="Amiri" pitchFamily="34" charset="0"/>
                <a:ea typeface="Amiri" pitchFamily="34" charset="-122"/>
                <a:cs typeface="Amiri" pitchFamily="34" charset="-120"/>
              </a:rPr>
              <a:t>آكُلُ</a:t>
            </a:r>
            <a:pPr algn="l" indent="0" marL="0">
              <a:buNone/>
            </a:pPr>
            <a:r>
              <a:rPr lang="en-US" sz="1300" b="1" dirty="0">
                <a:solidFill>
                  <a:srgbClr val="FFFFFF"/>
                </a:solidFill>
                <a:latin typeface="Calibri" pitchFamily="34" charset="0"/>
                <a:ea typeface="Calibri" pitchFamily="34" charset="-122"/>
                <a:cs typeface="Calibri" pitchFamily="34" charset="-120"/>
              </a:rPr>
              <a:t> food, </a:t>
            </a:r>
            <a:pPr algn="l" indent="0" marL="0">
              <a:buNone/>
            </a:pPr>
            <a:r>
              <a:rPr lang="ar-SA" altLang="en-US" sz="1700" b="1" dirty="0">
                <a:solidFill>
                  <a:srgbClr val="FFFFFF"/>
                </a:solidFill>
                <a:latin typeface="Amiri" pitchFamily="34" charset="0"/>
                <a:ea typeface="Amiri" pitchFamily="34" charset="-122"/>
                <a:cs typeface="Amiri" pitchFamily="34" charset="-120"/>
              </a:rPr>
              <a:t>أَشْرَبُ</a:t>
            </a:r>
            <a:pPr algn="l" indent="0" marL="0">
              <a:buNone/>
            </a:pPr>
            <a:r>
              <a:rPr lang="en-US" sz="1300" b="1" dirty="0">
                <a:solidFill>
                  <a:srgbClr val="FFFFFF"/>
                </a:solidFill>
                <a:latin typeface="Calibri" pitchFamily="34" charset="0"/>
                <a:ea typeface="Calibri" pitchFamily="34" charset="-122"/>
                <a:cs typeface="Calibri" pitchFamily="34" charset="-120"/>
              </a:rPr>
              <a:t> drinks.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42</Slides>
  <Notes>42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42</vt:i4>
      </vt:variant>
    </vt:vector>
  </HeadingPairs>
  <TitlesOfParts>
    <vt:vector size="4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F5-L02 · Meals and Eating Routines</dc:title>
  <dc:subject>PptxGenJS Presentation</dc:subject>
  <dc:creator>Al Madina Online School · Arabic Department</dc:creator>
  <cp:lastModifiedBy>Al Madina Online School · Arabic Department</cp:lastModifiedBy>
  <cp:revision>1</cp:revision>
  <dcterms:created xsi:type="dcterms:W3CDTF">2026-09-27T21:39:11Z</dcterms:created>
  <dcterms:modified xsi:type="dcterms:W3CDTF">2026-09-27T21:39:11Z</dcterms:modified>
</cp:coreProperties>
</file>