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F5 Food, Health and Body › F5-L07. The website lesson “The Body and Its Parts”: vocabulary, grammar rules and quiz, patterns, common mistakes, sorter, listening, reading, speaking prompts and model, writing task and model, differentiation, final check and the lesson mission. Picture match: website visual game “The Body and Its Parts”.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label twelve body parts with the word bank and point: هٰذَا رَأْسِي · هٰذِهِ يَدِي. A “Simon says” (قَالَ المُعَلِّمُ: المِسْ رَأْسَكَ!) warm-up works brilliantly on camera.
• Develop: explain six body parts’ functions: أَرَى بِعَيْنَيَّ، أَسْمَعُ بِأُذُنَيَّ …
• Stretch: a short science-style explanation with duals, plurals and purpose لِـ (عَيْنَانِ لِلرُّؤْيَةِ).
• The website’s big warning: يَدٌ، عَيْنٌ، أُذُنٌ، قَدَمٌ، رِجْلٌ are FEMININE without ة → هٰذِهِ.
• Sensitivity: students with disabilities or medical conditions may prefer a drawing or a cartoon character — never ask anyone to describe their own body.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F5-L06. Questions 3–5 retrieve F5-L06 (price question, feminine dish, value).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Some body words are feminine WITHOUT ة — hand, eye, ear, foot, leg. They take هٰذِهِ.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جسم and قلب are identical. عین appears in phrases (عین مطابق “exactly”). صدر in Urdu is “president / chairman” (the one at the front) — in Arabic صَدْرٌ is the chest. عظیم (great) and عِظَامٌ (bones) share letters but not meaning — a fun false friend. Also: دماغ (Urdu brain) is Arabic دِمَاغٌ; زبان is Persian — Arabic tongue = لِسَانٌ (compare لسانیات “linguistics”).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Head and face (website vocabulary (1 of 2)). Hear → Say → See → Use. Transliteration is printed for Core students (cover it for Develop/Stretch).
Paired parts show one / two / plural. The dual ending -āni = “two” (عَيْنَانِ two eyes). Point and say: هٰذِهِ عَيْنِي · هٰذِهِ أُذُنِي · هٰذَا أَنْفِي.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Head and face (website vocabulary (2 of 2)). Hear → Say → See → Use. Transliteration is printed for Core students (cover it for Develop/Stretch).
Paired parts show one / two / plural. The dual ending -āni = “two” (عَيْنَانِ two eyes). Point and say: هٰذِهِ عَيْنِي · هٰذِهِ أُذُنِي · هٰذَا أَنْفِي.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Upper body (website vocabulary (1 of 2)). Hear → Say → See → Use. Transliteration is printed for Core students (cover it for Develop/Stretch).
يَدٌ (hand) is feminine; ذِرَاعٌ (arm) is usually feminine too. قَلْبٌ (heart) and مَعِدَةٌ (stomach) are inside — use فِي: القَلْبُ فِي الصَّدْرِ.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Upper body (website vocabulary (2 of 2)). Hear → Say → See → Use. Transliteration is printed for Core students (cover it for Develop/Stretch).
يَدٌ (hand) is feminine; ذِرَاعٌ (arm) is usually feminine too. قَلْبٌ (heart) and مَعِدَةٌ (stomach) are inside — use فِي: القَلْبُ فِي الصَّدْرِ.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Lower body and structure (website vocabulary (1 of 2)). Hear → Say → See → Use. Transliteration is printed for Core students (cover it for Develop/Stretch).
FLEX: teach if time allows; otherwise these are on the website vocabulary tab for homework.
FLEX: lower body — رِجْلٌ and قَدَمٌ are feminine. رُكْبَةٌ (knee) is feminine with 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Lower body and structure (website vocabulary (2 of 2)). Hear → Say → See → Use. Transliteration is printed for Core students (cover it for Develop/Stretch).
FLEX: teach if time allows; otherwise these are on the website vocabulary tab for homework.
FLEX: lower body — رِجْلٌ and قَدَمٌ are feminine. رُكْبَةٌ (knee) is feminine with 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Body actions (website vocabulary). Hear → Say → See → Use. Transliteration is printed for Core students (cover it for Develop/Stretch).
FLEX: teach if time allows; otherwise these are on the website vocabulary tab for homework.
FLEX: the action verbs are in the he-form (يَرَى). For “I”: أَرَى، أَسْمَعُ، أَشُمُّ، أَلْمِسُ، أَتَنَفَّسُ — used in the listening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“Use هٰذَا with masculine nouns”, “Use هٰذِهِ with feminine nouns (some without ـة)” and “Add the possessive ending ـِي”.
Website common error: “Do not choose هٰذَا only by looking for ـة. يَدٌ، عَيْنٌ and أُذُنٌ are feminine: هٰذِهِ يَدِي.”
Online: students point to each part on camera as the class says the sentence (camera optional; a drawing works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 “Form the dual” (ـَانِ as subject, ـَيْنِ elsewhere) and patterns 2–4.
Website teaching note: “Dual forms are introduced for recognition and useful paired nouns. The core goal is communication, not a complete dual-case paradigm.” — Core students only need عَيْنَانِ، أُذُنَانِ، يَدَانِ، قَدَمَانِ.
“My two eyes / with my two eyes”: عَيْنَايَ / بِعَيْنَيَّ — say it, let Stretch students write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“The lesson-plan grammar focus is choosing the correct demonstrative for the grammatical gender of a body part and using the dual form for paired body parts.”
• Use هٰذَا with masculine nouns: Use هٰذَا with masculine body-part nouns.
• Use هٰذِهِ with feminine nouns: Some body-part nouns are grammatically feminine even without ـة.
• Form the dual: Paired body parts often use the dual rather than the number اثنان.
• Add the possessive ending: The ending ـي means “my”.
Website common error: Do not choose هٰذَا only by looking for ـة. يَدٌ، عَيْنٌ and أُذُنٌ are feminine: هٰذِهِ يَدِي.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writing model built step by step, pointing to each part. Students copy it and draw a stick figure with Arabic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The Body and Its Parts”)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clue is هٰذَا (masculine: nose) vs هٰذِهِ (feminine: hand, leg — سَاقٌ is another word for leg/shin). Other website items: هٰذِهِ العَيْنَانِ، هٰذِهِ أُذُنٌ، هٰذَا سِنٌّ.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The Body and Its Parts”)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clue is هٰذَا (masculine: nose) vs هٰذِهِ (feminine: hand, leg — سَاقٌ is another word for leg/shin). Other website items: هٰذِهِ العَيْنَانِ، هٰذِهِ أُذُنٌ، هٰذَا سِنٌّ.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the body noun by the demonstrative it takes.
Say each word with هٰذَا or هٰذِهِ aloud before sorting. The surprise items (يَدٌ، عَيْنٌ، قَدَمٌ) are the lesson’s key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the body noun by the demonstrative it takes.
Say each word with هٰذَا or هٰذِهِ aloud before sorting. The surprise items (يَدٌ، عَيْنٌ، قَدَمٌ) are the lesson’s key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4, then mime each sentence.
Listen 1: just listen. Listen 2: note answers. Then chat the letters.
Support: after the second listening, show the read-along slide (Arabic + English, line by line) for Core students.
SCRIPT (read aloud):
أَرَى بِعَيْنَيَّ، وَأَسْمَعُ بِأُذُنَيَّ. أَشُمُّ بِأَنْفِي، وَآكُلُ بِفَمِي. أَكْتُبُ بِيَدِي اليُمْنَى، وَأَرْكُضُ بِرِجْلَيَّ وَقَدَمَيَّ. عِنْدَمَا أَتَعَبُ، أَضَعُ يَدِي عَلَى صَدْرِي وَأَتَنَفَّسُ بِعُمْقٍ.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أ: وَمَا هٰذَا؟ (And what is this?)
ب: هٰذَا كَتِفٌ. (This is a shoulder.)
Website “Body-part identification” — all four prompts are the website’s. Pairs point (on camera or on a drawing) and ask. Website model: مَا هٰذِهِ؟ — هٰذِهِ يَدٌ. — وَمَا هٰذَا؟ — هٰذَا كَتِفٌ. (مَا هٰذِهِ؟ is asked when the speaker expects a feminine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Label twelve body parts with a word bank and select the correct demonstrative. · Develop — Explain the function of six body parts in complete sentences. · Stretch — Produce a short science-style explanation using duals, plurals and purpose phrases لِـ.
Website writing task (Stretch): Write 7–8 sentences describing the body and what selected parts do. Include four possessive forms, two dual forms and two action verbs.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هٰذَا رَأْسِي · هٰذِهِ يَدِي · عَيْنَانِ، أُذُنَانِ · بِعَيْنَيَّ، بِيَدِي، بِقَدَمَيَّ.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8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(F5-L08 · Health Problems and How You Feel) will spend class time USING this language, so students prepare it tonight — short, simple, easy to access (school guidance: “Simple, Short, Interesting, Relevant, Easy to access”). The five words come from the website F5-L08 lesson (health problems and feelings).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The Body and Its Parts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الجِسْمُ وَأَعْضَاؤُهُ</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Name and point to body parts, choose </a:t>
            </a:r>
            <a:pPr algn="l" indent="0" marL="0">
              <a:buNone/>
            </a:pPr>
            <a:r>
              <a:rPr lang="ar-SA" altLang="en-US" sz="1800" dirty="0">
                <a:solidFill>
                  <a:srgbClr val="C6D2E6"/>
                </a:solidFill>
                <a:latin typeface="Amiri" pitchFamily="2" charset="-78"/>
                <a:cs typeface="Amiri" pitchFamily="2" charset="-78"/>
              </a:rPr>
              <a:t>هٰذَا</a:t>
            </a:r>
            <a:pPr algn="l" indent="0" marL="0">
              <a:buNone/>
            </a:pPr>
            <a:r>
              <a:rPr lang="en-US" sz="1400" dirty="0">
                <a:solidFill>
                  <a:srgbClr val="C6D2E6"/>
                </a:solidFill>
                <a:latin typeface="Calibri" pitchFamily="34" charset="0"/>
                <a:cs typeface="Amiri" pitchFamily="2" charset="-78"/>
              </a:rPr>
              <a:t> or </a:t>
            </a:r>
            <a:pPr algn="l" indent="0" marL="0">
              <a:buNone/>
            </a:pPr>
            <a:r>
              <a:rPr lang="ar-SA" altLang="en-US" sz="1800" dirty="0">
                <a:solidFill>
                  <a:srgbClr val="C6D2E6"/>
                </a:solidFill>
                <a:latin typeface="Amiri" pitchFamily="2" charset="-78"/>
                <a:cs typeface="Amiri" pitchFamily="2" charset="-78"/>
              </a:rPr>
              <a:t>هٰذِهِ</a:t>
            </a:r>
            <a:pPr algn="l" indent="0" marL="0">
              <a:buNone/>
            </a:pPr>
            <a:r>
              <a:rPr lang="en-US" sz="1400" dirty="0">
                <a:solidFill>
                  <a:srgbClr val="C6D2E6"/>
                </a:solidFill>
                <a:latin typeface="Calibri" pitchFamily="34" charset="0"/>
                <a:cs typeface="Amiri" pitchFamily="2" charset="-78"/>
              </a:rPr>
              <a:t> by the word’s gender, use the dual for paired parts and say what we do with them (</a:t>
            </a:r>
            <a:pPr algn="l" indent="0" marL="0">
              <a:buNone/>
            </a:pPr>
            <a:r>
              <a:rPr lang="ar-SA" altLang="en-US" sz="1800" dirty="0">
                <a:solidFill>
                  <a:srgbClr val="C6D2E6"/>
                </a:solidFill>
                <a:latin typeface="Amiri" pitchFamily="2" charset="-78"/>
                <a:cs typeface="Amiri" pitchFamily="2" charset="-78"/>
              </a:rPr>
              <a:t>أَرَى بِعَيْنَيَّ</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F5-L07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Face, upper and lower body, then this (m. / f.), two (dual) and my.</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a:t>
            </a:r>
            <a:pPr algn="ctr" indent="0" marL="0">
              <a:buNone/>
            </a:pPr>
            <a:r>
              <a:rPr lang="ar-SA" altLang="en-US" sz="1550" dirty="0">
                <a:solidFill>
                  <a:srgbClr val="1F2A37"/>
                </a:solidFill>
                <a:latin typeface="Amiri" pitchFamily="2" charset="-78"/>
                <a:cs typeface="Amiri" pitchFamily="2" charset="-78"/>
              </a:rPr>
              <a:t>هٰذَا / هٰذِهِ</a:t>
            </a:r>
            <a:pPr algn="ctr" indent="0" marL="0">
              <a:buNone/>
            </a:pPr>
            <a:r>
              <a:rPr lang="en-US" sz="1200" dirty="0">
                <a:solidFill>
                  <a:srgbClr val="1F2A37"/>
                </a:solidFill>
                <a:latin typeface="Calibri" pitchFamily="34" charset="0"/>
                <a:cs typeface="Amiri" pitchFamily="2" charset="-78"/>
              </a:rPr>
              <a:t>, fix the mistakes and listen: which body part?</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F5-L08.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رَأْسٌ</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hand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head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eye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عَيْنٌ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eye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leg</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“How much is the soup?”</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السِّعْرُ الحَسَاءُ؟</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الحَسَاءُ؟</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ثَمَنُ الحَسَاءِ؟</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المَقْلُوبَةُ</a:t>
            </a:r>
            <a:pPr algn="l" indent="0" marL="0">
              <a:buNone/>
            </a:pPr>
            <a:r>
              <a:rPr lang="en-US" sz="1250" b="1" dirty="0">
                <a:solidFill>
                  <a:srgbClr val="1B3B6F"/>
                </a:solidFill>
                <a:latin typeface="Calibri" pitchFamily="34" charset="0"/>
                <a:cs typeface="Amiri" pitchFamily="2" charset="-78"/>
              </a:rPr>
              <a:t> ____ </a:t>
            </a:r>
            <a:pPr algn="l" indent="0" marL="0">
              <a:buNone/>
            </a:pPr>
            <a:r>
              <a:rPr lang="ar-SA" altLang="en-US" sz="1650" b="1" dirty="0">
                <a:solidFill>
                  <a:srgbClr val="1B3B6F"/>
                </a:solidFill>
                <a:latin typeface="Amiri" pitchFamily="2" charset="-78"/>
                <a:cs typeface="Amiri" pitchFamily="2" charset="-78"/>
              </a:rPr>
              <a:t>مِنَ الأَرُزِّ</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يَتَكَوَّنُ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أَتَكَوَّنُ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تَتَكَوَّنُ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“cheap”?</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رَخِيصٌ</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غَالٍ</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المَجْمُوعُ</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رَأْسٌ</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hand</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head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eye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(F5-L06).</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عَيْنٌ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eye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ear</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leg</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(F5-L06).</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“How much is the soup?”</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السِّعْرُ الحَسَاءُ؟</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أَيْنَ الحَسَاءُ؟</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كَمْ ثَمَنُ الحَسَاءِ؟</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F5-L06: kam thamanu + item.</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المَقْلُوبَةُ</a:t>
            </a:r>
            <a:pPr algn="l" indent="0" marL="0">
              <a:buNone/>
            </a:pPr>
            <a:r>
              <a:rPr lang="en-US" sz="1250" b="1" dirty="0">
                <a:solidFill>
                  <a:srgbClr val="1B3B6F"/>
                </a:solidFill>
                <a:latin typeface="Calibri" pitchFamily="34" charset="0"/>
                <a:cs typeface="Amiri" pitchFamily="2" charset="-78"/>
              </a:rPr>
              <a:t> ____ </a:t>
            </a:r>
            <a:pPr algn="l" indent="0" marL="0">
              <a:buNone/>
            </a:pPr>
            <a:r>
              <a:rPr lang="ar-SA" altLang="en-US" sz="1650" b="1" dirty="0">
                <a:solidFill>
                  <a:srgbClr val="1B3B6F"/>
                </a:solidFill>
                <a:latin typeface="Amiri" pitchFamily="2" charset="-78"/>
                <a:cs typeface="Amiri" pitchFamily="2" charset="-78"/>
              </a:rPr>
              <a:t>مِنَ الأَرُزِّ</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يَتَكَوَّنُ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أَتَكَوَّنُ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تَتَكَوَّنُ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F5-L06: a feminine dish.</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“cheap”?</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رَخِيصٌ</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غَالٍ</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المَجْمُوعُ</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F5-L06 menu words.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Some body words are feminine WITHOUT </a:t>
            </a:r>
            <a:pPr algn="l" indent="0" marL="0">
              <a:buNone/>
            </a:pPr>
            <a:r>
              <a:rPr lang="ar-SA" altLang="en-US" sz="1700" b="1" dirty="0">
                <a:solidFill>
                  <a:srgbClr val="1F2A37"/>
                </a:solidFill>
                <a:latin typeface="Amiri" pitchFamily="2" charset="-78"/>
                <a:cs typeface="Amiri" pitchFamily="2" charset="-78"/>
              </a:rPr>
              <a:t>ة</a:t>
            </a:r>
            <a:pPr algn="l" indent="0" marL="0">
              <a:buNone/>
            </a:pPr>
            <a:r>
              <a:rPr lang="en-US" sz="1300" b="1" dirty="0">
                <a:solidFill>
                  <a:srgbClr val="1F2A37"/>
                </a:solidFill>
                <a:latin typeface="Calibri" pitchFamily="34" charset="0"/>
                <a:cs typeface="Amiri" pitchFamily="2" charset="-78"/>
              </a:rPr>
              <a:t> — hand, eye, ear, foot, leg. They take </a:t>
            </a:r>
            <a:pPr algn="l" indent="0" marL="0">
              <a:buNone/>
            </a:pPr>
            <a:r>
              <a:rPr lang="ar-SA" altLang="en-US" sz="1700" b="1" dirty="0">
                <a:solidFill>
                  <a:srgbClr val="1F2A37"/>
                </a:solidFill>
                <a:latin typeface="Amiri" pitchFamily="2" charset="-78"/>
                <a:cs typeface="Amiri" pitchFamily="2" charset="-78"/>
              </a:rPr>
              <a:t>هٰذِهِ</a:t>
            </a:r>
            <a:pPr algn="l" indent="0" marL="0">
              <a:buNone/>
            </a:pPr>
            <a:r>
              <a:rPr lang="en-US" sz="1300" b="1" dirty="0">
                <a:solidFill>
                  <a:srgbClr val="1F2A37"/>
                </a:solidFill>
                <a:latin typeface="Calibri" pitchFamily="34" charset="0"/>
                <a:cs typeface="Amiri" pitchFamily="2" charset="-78"/>
              </a:rPr>
              <a: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هٰذَا رَأْسِي · </a:t>
            </a:r>
            <a:pPr rtl="1" algn="ctr" indent="0" marL="0">
              <a:buNone/>
            </a:pPr>
            <a:r>
              <a:rPr lang="ar-SA" altLang="en-US" sz="2400" b="1" dirty="0">
                <a:solidFill>
                  <a:srgbClr val="D6336C"/>
                </a:solidFill>
                <a:latin typeface="Amiri" pitchFamily="2" charset="-78"/>
                <a:cs typeface="Amiri" pitchFamily="2" charset="-78"/>
              </a:rPr>
              <a:t>هٰذِهِ</a:t>
            </a:r>
            <a:pPr rtl="1" algn="ctr" indent="0" marL="0">
              <a:buNone/>
            </a:pPr>
            <a:r>
              <a:rPr lang="ar-SA" altLang="en-US" sz="2400" b="1" dirty="0">
                <a:solidFill>
                  <a:srgbClr val="1B3B6F"/>
                </a:solidFill>
                <a:latin typeface="Amiri" pitchFamily="2" charset="-78"/>
                <a:cs typeface="Amiri" pitchFamily="2" charset="-78"/>
              </a:rPr>
              <a:t> يَدِي</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and name major external body parts.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cs typeface="Amiri" pitchFamily="2" charset="-78"/>
              </a:rPr>
              <a:t>هٰذَا / هٰذِهِ</a:t>
            </a:r>
            <a:pPr algn="l" indent="0" marL="0">
              <a:buNone/>
            </a:pPr>
            <a:r>
              <a:rPr lang="en-US" sz="1300" dirty="0">
                <a:solidFill>
                  <a:srgbClr val="1F2A37"/>
                </a:solidFill>
                <a:latin typeface="Calibri" pitchFamily="34" charset="0"/>
                <a:cs typeface="Amiri" pitchFamily="2" charset="-78"/>
              </a:rPr>
              <a:t> and possessive suffixes with body nouns.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common dual forms for paired body parts.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simple statements about seeing, hearing, smelling, touching and movement.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and point to twelve body parts.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this is my … with </a:t>
            </a:r>
            <a:pPr algn="l" indent="0" marL="0">
              <a:buNone/>
            </a:pPr>
            <a:r>
              <a:rPr lang="ar-SA" altLang="en-US" sz="1700" b="1" dirty="0">
                <a:solidFill>
                  <a:srgbClr val="2E8B57"/>
                </a:solidFill>
                <a:latin typeface="Amiri" pitchFamily="2" charset="-78"/>
                <a:cs typeface="Amiri" pitchFamily="2" charset="-78"/>
              </a:rPr>
              <a:t>هٰذَا / هٰذِهِ</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the dual: </a:t>
            </a:r>
            <a:pPr algn="l" indent="0" marL="0">
              <a:buNone/>
            </a:pPr>
            <a:r>
              <a:rPr lang="ar-SA" altLang="en-US" sz="1700" b="1" dirty="0">
                <a:solidFill>
                  <a:srgbClr val="C9780A"/>
                </a:solidFill>
                <a:latin typeface="Amiri" pitchFamily="2" charset="-78"/>
                <a:cs typeface="Amiri" pitchFamily="2" charset="-78"/>
              </a:rPr>
              <a:t>عَيْنَانِ، يَدَانِ</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what we do with six body parts.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science-style explanation.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purpose </a:t>
            </a:r>
            <a:pPr algn="l" indent="0" marL="0">
              <a:buNone/>
            </a:pPr>
            <a:r>
              <a:rPr lang="ar-SA" altLang="en-US" sz="1700" b="1" dirty="0">
                <a:solidFill>
                  <a:srgbClr val="B83227"/>
                </a:solidFill>
                <a:latin typeface="Amiri" pitchFamily="2" charset="-78"/>
                <a:cs typeface="Amiri" pitchFamily="2" charset="-78"/>
              </a:rPr>
              <a:t>لِـ</a:t>
            </a:r>
            <a:pPr algn="l" indent="0" marL="0">
              <a:buNone/>
            </a:pPr>
            <a:r>
              <a:rPr lang="en-US" sz="1300" b="1" dirty="0">
                <a:solidFill>
                  <a:srgbClr val="B83227"/>
                </a:solidFill>
                <a:latin typeface="Calibri" pitchFamily="34" charset="0"/>
                <a:cs typeface="Amiri" pitchFamily="2" charset="-78"/>
              </a:rPr>
              <a:t>: </a:t>
            </a:r>
            <a:pPr algn="l" indent="0" marL="0">
              <a:buNone/>
            </a:pPr>
            <a:r>
              <a:rPr lang="ar-SA" altLang="en-US" sz="1700" b="1" dirty="0">
                <a:solidFill>
                  <a:srgbClr val="B83227"/>
                </a:solidFill>
                <a:latin typeface="Amiri" pitchFamily="2" charset="-78"/>
                <a:cs typeface="Amiri" pitchFamily="2" charset="-78"/>
              </a:rPr>
              <a:t>أُذُنَانِ لِلسَّمْعِ</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31 words from the website in 4 groups. Learn the CORE words first. Hear it → say it → see it → use it.</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Head and face · 8</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Upper body · 9</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Lower body and structure · 8</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4</a:t>
            </a:r>
            <a:endParaRPr lang="en-US" sz="900" dirty="0"/>
          </a:p>
          <a:p>
            <a:pPr indent="0" marL="0">
              <a:buNone/>
            </a:pPr>
            <a:r>
              <a:rPr lang="en-US" sz="1200" b="1" dirty="0">
                <a:solidFill>
                  <a:srgbClr val="FFFFFF"/>
                </a:solidFill>
                <a:latin typeface="Calibri" pitchFamily="34" charset="0"/>
                <a:cs typeface="Amiri" pitchFamily="2" charset="-78"/>
              </a:rPr>
              <a:t>Body actions · 6</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جِسْمٌ</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‎جسم‎ </a:t>
            </a:r>
            <a:pPr indent="0" marL="0">
              <a:buNone/>
            </a:pPr>
            <a:r>
              <a:rPr lang="en-US" sz="950" b="1" dirty="0">
                <a:solidFill>
                  <a:srgbClr val="2E8B57"/>
                </a:solidFill>
                <a:latin typeface="Calibri" pitchFamily="34" charset="0"/>
                <a:cs typeface="Amiri" pitchFamily="2" charset="-78"/>
              </a:rPr>
              <a:t> jism · body</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قَلْبٌ</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‎قلب‎ </a:t>
            </a:r>
            <a:pPr indent="0" marL="0">
              <a:buNone/>
            </a:pPr>
            <a:r>
              <a:rPr lang="en-US" sz="950" b="1" dirty="0">
                <a:solidFill>
                  <a:srgbClr val="2E8B57"/>
                </a:solidFill>
                <a:latin typeface="Calibri" pitchFamily="34" charset="0"/>
                <a:cs typeface="Amiri" pitchFamily="2" charset="-78"/>
              </a:rPr>
              <a:t> qalb · heart</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عَيْنٌ</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‎عین‎ </a:t>
            </a:r>
            <a:pPr indent="0" marL="0">
              <a:buNone/>
            </a:pPr>
            <a:r>
              <a:rPr lang="en-US" sz="950" b="1" dirty="0">
                <a:solidFill>
                  <a:srgbClr val="2E8B57"/>
                </a:solidFill>
                <a:latin typeface="Calibri" pitchFamily="34" charset="0"/>
                <a:cs typeface="Amiri" pitchFamily="2" charset="-78"/>
              </a:rPr>
              <a:t> ain · eye (as in عین الیقین)</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صَدْرٌ</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‎سینہ / صدر‎ </a:t>
            </a:r>
            <a:pPr indent="0" marL="0">
              <a:buNone/>
            </a:pPr>
            <a:r>
              <a:rPr lang="en-US" sz="950" b="1" dirty="0">
                <a:solidFill>
                  <a:srgbClr val="2E8B57"/>
                </a:solidFill>
                <a:latin typeface="Calibri" pitchFamily="34" charset="0"/>
                <a:cs typeface="Amiri" pitchFamily="2" charset="-78"/>
              </a:rPr>
              <a:t> sadr · Urdu: president · Arabic: chest</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عِظَامٌ</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‎عظیم‎ </a:t>
            </a:r>
            <a:pPr indent="0" marL="0">
              <a:buNone/>
            </a:pPr>
            <a:r>
              <a:rPr lang="en-US" sz="950" b="1" dirty="0">
                <a:solidFill>
                  <a:srgbClr val="2E8B57"/>
                </a:solidFill>
                <a:latin typeface="Calibri" pitchFamily="34" charset="0"/>
                <a:cs typeface="Amiri" pitchFamily="2" charset="-78"/>
              </a:rPr>
              <a:t> azīm · great — a false friend (bones)</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Head and face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(hādhā)</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رَأْسٌ</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head</a:t>
            </a:r>
            <a:endParaRPr lang="en-US" sz="1350" dirty="0"/>
          </a:p>
          <a:p>
            <a:pPr indent="0" marL="0">
              <a:buNone/>
            </a:pPr>
            <a:r>
              <a:rPr lang="en-US" sz="1100" i="1" dirty="0">
                <a:solidFill>
                  <a:srgbClr val="5A6472"/>
                </a:solidFill>
                <a:latin typeface="Calibri" pitchFamily="34" charset="0"/>
                <a:cs typeface="Amiri" pitchFamily="2" charset="-78"/>
              </a:rPr>
              <a:t>raʾ-sun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رَأْسٌ</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رَأْسِي</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رُؤُوسٌ</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وَجْهٌ</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face</a:t>
            </a:r>
            <a:endParaRPr lang="en-US" sz="1350" dirty="0"/>
          </a:p>
          <a:p>
            <a:pPr indent="0" marL="0">
              <a:buNone/>
            </a:pPr>
            <a:r>
              <a:rPr lang="en-US" sz="1100" i="1" dirty="0">
                <a:solidFill>
                  <a:srgbClr val="5A6472"/>
                </a:solidFill>
                <a:latin typeface="Calibri" pitchFamily="34" charset="0"/>
                <a:cs typeface="Amiri" pitchFamily="2" charset="-78"/>
              </a:rPr>
              <a:t>waj-hun</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3" name="Shape 40"/>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(hādhihi)</a:t>
            </a:r>
            <a:endParaRPr lang="en-US" sz="800" dirty="0"/>
          </a:p>
        </p:txBody>
      </p:sp>
      <p:sp>
        <p:nvSpPr>
          <p:cNvPr id="45" name="Shape 4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عَيْنٌ / عَيْنَانِ</a:t>
            </a:r>
            <a:endParaRPr lang="ar-SA" sz="3000" dirty="0"/>
          </a:p>
        </p:txBody>
      </p:sp>
      <p:sp>
        <p:nvSpPr>
          <p:cNvPr id="48" name="Text 4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eye / two eyes</a:t>
            </a:r>
            <a:endParaRPr lang="en-US" sz="1350" dirty="0"/>
          </a:p>
          <a:p>
            <a:pPr indent="0" marL="0">
              <a:buNone/>
            </a:pPr>
            <a:r>
              <a:rPr lang="en-US" sz="1100" i="1" dirty="0">
                <a:solidFill>
                  <a:srgbClr val="5A6472"/>
                </a:solidFill>
                <a:latin typeface="Calibri" pitchFamily="34" charset="0"/>
                <a:cs typeface="Amiri" pitchFamily="2" charset="-78"/>
              </a:rPr>
              <a:t>ʿay-nun / ʿay-nā-ni</a:t>
            </a:r>
            <a:endParaRPr lang="en-US" sz="1350" dirty="0"/>
          </a:p>
        </p:txBody>
      </p:sp>
      <p:sp>
        <p:nvSpPr>
          <p:cNvPr id="49" name="Shape 46"/>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1" name="Text 48"/>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عَيْنٌ</a:t>
            </a:r>
            <a:endParaRPr lang="ar-SA" sz="1500" dirty="0"/>
          </a:p>
        </p:txBody>
      </p:sp>
      <p:sp>
        <p:nvSpPr>
          <p:cNvPr id="52" name="Shape 49"/>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two</a:t>
            </a:r>
            <a:endParaRPr lang="en-US" sz="750" dirty="0"/>
          </a:p>
        </p:txBody>
      </p:sp>
      <p:sp>
        <p:nvSpPr>
          <p:cNvPr id="54" name="Text 51"/>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عَيْنَانِ</a:t>
            </a:r>
            <a:endParaRPr lang="ar-SA" sz="1500" dirty="0"/>
          </a:p>
        </p:txBody>
      </p:sp>
      <p:sp>
        <p:nvSpPr>
          <p:cNvPr id="55" name="Shape 52"/>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7" name="Text 54"/>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عُيُونٌ</a:t>
            </a:r>
            <a:endParaRPr lang="ar-SA" sz="15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1" name="Shape 58"/>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(hādhihi)</a:t>
            </a:r>
            <a:endParaRPr lang="en-US" sz="800" dirty="0"/>
          </a:p>
        </p:txBody>
      </p:sp>
      <p:sp>
        <p:nvSpPr>
          <p:cNvPr id="63" name="Shape 6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أُذُنٌ / أُذُنَانِ</a:t>
            </a:r>
            <a:endParaRPr lang="ar-SA" sz="3000" dirty="0"/>
          </a:p>
        </p:txBody>
      </p:sp>
      <p:sp>
        <p:nvSpPr>
          <p:cNvPr id="66" name="Text 6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ear / two ears</a:t>
            </a:r>
            <a:endParaRPr lang="en-US" sz="1350" dirty="0"/>
          </a:p>
          <a:p>
            <a:pPr indent="0" marL="0">
              <a:buNone/>
            </a:pPr>
            <a:r>
              <a:rPr lang="en-US" sz="1100" i="1" dirty="0">
                <a:solidFill>
                  <a:srgbClr val="5A6472"/>
                </a:solidFill>
                <a:latin typeface="Calibri" pitchFamily="34" charset="0"/>
                <a:cs typeface="Amiri" pitchFamily="2" charset="-78"/>
              </a:rPr>
              <a:t>u-dhu-nun / u-dhu-nā-ni</a:t>
            </a:r>
            <a:endParaRPr lang="en-US" sz="1350" dirty="0"/>
          </a:p>
        </p:txBody>
      </p:sp>
      <p:sp>
        <p:nvSpPr>
          <p:cNvPr id="67" name="Shape 64"/>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69" name="Text 66"/>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أُذُنٌ</a:t>
            </a:r>
            <a:endParaRPr lang="ar-SA" sz="1500" dirty="0"/>
          </a:p>
        </p:txBody>
      </p:sp>
      <p:sp>
        <p:nvSpPr>
          <p:cNvPr id="70" name="Shape 67"/>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two</a:t>
            </a:r>
            <a:endParaRPr lang="en-US" sz="750" dirty="0"/>
          </a:p>
        </p:txBody>
      </p:sp>
      <p:sp>
        <p:nvSpPr>
          <p:cNvPr id="72" name="Text 69"/>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أُذُنَانِ</a:t>
            </a:r>
            <a:endParaRPr lang="ar-SA" sz="1500" dirty="0"/>
          </a:p>
        </p:txBody>
      </p:sp>
      <p:sp>
        <p:nvSpPr>
          <p:cNvPr id="73" name="Shape 70"/>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5" name="Text 72"/>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آذَانٌ</a:t>
            </a:r>
            <a:endParaRPr lang="ar-SA" sz="150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Head and face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أَنْفٌ</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nose</a:t>
            </a:r>
            <a:endParaRPr lang="en-US" sz="1350" dirty="0"/>
          </a:p>
          <a:p>
            <a:pPr indent="0" marL="0">
              <a:buNone/>
            </a:pPr>
            <a:r>
              <a:rPr lang="en-US" sz="1100" i="1" dirty="0">
                <a:solidFill>
                  <a:srgbClr val="5A6472"/>
                </a:solidFill>
                <a:latin typeface="Calibri" pitchFamily="34" charset="0"/>
                <a:cs typeface="Amiri" pitchFamily="2" charset="-78"/>
              </a:rPr>
              <a:t>an-fun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فَمٌ</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mouth</a:t>
            </a:r>
            <a:endParaRPr lang="en-US" sz="1350" dirty="0"/>
          </a:p>
          <a:p>
            <a:pPr indent="0" marL="0">
              <a:buNone/>
            </a:pPr>
            <a:r>
              <a:rPr lang="en-US" sz="1100" i="1" dirty="0">
                <a:solidFill>
                  <a:srgbClr val="5A6472"/>
                </a:solidFill>
                <a:latin typeface="Calibri" pitchFamily="34" charset="0"/>
                <a:cs typeface="Amiri" pitchFamily="2" charset="-78"/>
              </a:rPr>
              <a:t>fa-mun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سِنٌّ / أَسْنَانٌ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tooth / teeth</a:t>
            </a:r>
            <a:endParaRPr lang="en-US" sz="1350" dirty="0"/>
          </a:p>
          <a:p>
            <a:pPr indent="0" marL="0">
              <a:buNone/>
            </a:pPr>
            <a:r>
              <a:rPr lang="en-US" sz="1100" i="1" dirty="0">
                <a:solidFill>
                  <a:srgbClr val="5A6472"/>
                </a:solidFill>
                <a:latin typeface="Calibri" pitchFamily="34" charset="0"/>
                <a:cs typeface="Amiri" pitchFamily="2" charset="-78"/>
              </a:rPr>
              <a:t>sin-nun / as-nā-nun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حَلْقٌ / حَنْجَرَةٌ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throat</a:t>
            </a:r>
            <a:endParaRPr lang="en-US" sz="1350" dirty="0"/>
          </a:p>
          <a:p>
            <a:pPr indent="0" marL="0">
              <a:buNone/>
            </a:pPr>
            <a:r>
              <a:rPr lang="en-US" sz="1100" i="1" dirty="0">
                <a:solidFill>
                  <a:srgbClr val="5A6472"/>
                </a:solidFill>
                <a:latin typeface="Calibri" pitchFamily="34" charset="0"/>
                <a:cs typeface="Amiri" pitchFamily="2" charset="-78"/>
              </a:rPr>
              <a:t>ḥal-qun / ḥan-ja-ra-tun</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Upper body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عُنُقٌ / رَقَبَةٌ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neck</a:t>
            </a:r>
            <a:endParaRPr lang="en-US" sz="1350" dirty="0"/>
          </a:p>
          <a:p>
            <a:pPr indent="0" marL="0">
              <a:buNone/>
            </a:pPr>
            <a:r>
              <a:rPr lang="en-US" sz="1100" i="1" dirty="0">
                <a:solidFill>
                  <a:srgbClr val="5A6472"/>
                </a:solidFill>
                <a:latin typeface="Calibri" pitchFamily="34" charset="0"/>
                <a:cs typeface="Amiri" pitchFamily="2" charset="-78"/>
              </a:rPr>
              <a:t>ʿu-nu-qun / ra-qa-ba-tun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كَتِفٌ</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shoulder</a:t>
            </a:r>
            <a:endParaRPr lang="en-US" sz="1350" dirty="0"/>
          </a:p>
          <a:p>
            <a:pPr indent="0" marL="0">
              <a:buNone/>
            </a:pPr>
            <a:r>
              <a:rPr lang="en-US" sz="1100" i="1" dirty="0">
                <a:solidFill>
                  <a:srgbClr val="5A6472"/>
                </a:solidFill>
                <a:latin typeface="Calibri" pitchFamily="34" charset="0"/>
                <a:cs typeface="Amiri" pitchFamily="2" charset="-78"/>
              </a:rPr>
              <a:t>ka-ti-fun</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28" name="Shape 2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ذِرَاعٌ</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arm</a:t>
            </a:r>
            <a:endParaRPr lang="en-US" sz="1350" dirty="0"/>
          </a:p>
          <a:p>
            <a:pPr indent="0" marL="0">
              <a:buNone/>
            </a:pPr>
            <a:r>
              <a:rPr lang="en-US" sz="1100" i="1" dirty="0">
                <a:solidFill>
                  <a:srgbClr val="5A6472"/>
                </a:solidFill>
                <a:latin typeface="Calibri" pitchFamily="34" charset="0"/>
                <a:cs typeface="Amiri" pitchFamily="2" charset="-78"/>
              </a:rPr>
              <a:t>dhi-rā-ʿun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5" name="Shape 32"/>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(hādhihi)</a:t>
            </a:r>
            <a:endParaRPr lang="en-US" sz="8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يَدٌ / يَدَانِ</a:t>
            </a:r>
            <a:endParaRPr lang="ar-SA" sz="3000" dirty="0"/>
          </a:p>
        </p:txBody>
      </p:sp>
      <p:sp>
        <p:nvSpPr>
          <p:cNvPr id="40" name="Text 3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hand / two hands</a:t>
            </a:r>
            <a:endParaRPr lang="en-US" sz="1350" dirty="0"/>
          </a:p>
          <a:p>
            <a:pPr indent="0" marL="0">
              <a:buNone/>
            </a:pPr>
            <a:r>
              <a:rPr lang="en-US" sz="1100" i="1" dirty="0">
                <a:solidFill>
                  <a:srgbClr val="5A6472"/>
                </a:solidFill>
                <a:latin typeface="Calibri" pitchFamily="34" charset="0"/>
                <a:cs typeface="Amiri" pitchFamily="2" charset="-78"/>
              </a:rPr>
              <a:t>ya-dun / ya-dā-ni</a:t>
            </a:r>
            <a:endParaRPr lang="en-US" sz="1350" dirty="0"/>
          </a:p>
        </p:txBody>
      </p:sp>
      <p:sp>
        <p:nvSpPr>
          <p:cNvPr id="41" name="Shape 38"/>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3" name="Text 40"/>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يَدٌ</a:t>
            </a:r>
            <a:endParaRPr lang="ar-SA" sz="1500" dirty="0"/>
          </a:p>
        </p:txBody>
      </p:sp>
      <p:sp>
        <p:nvSpPr>
          <p:cNvPr id="44" name="Shape 41"/>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two</a:t>
            </a:r>
            <a:endParaRPr lang="en-US" sz="750" dirty="0"/>
          </a:p>
        </p:txBody>
      </p:sp>
      <p:sp>
        <p:nvSpPr>
          <p:cNvPr id="46" name="Text 43"/>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يَدَانِ</a:t>
            </a:r>
            <a:endParaRPr lang="ar-SA" sz="1500" dirty="0"/>
          </a:p>
        </p:txBody>
      </p:sp>
      <p:sp>
        <p:nvSpPr>
          <p:cNvPr id="47" name="Shape 44"/>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9" name="Text 46"/>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أَيْدٍ</a:t>
            </a:r>
            <a:endParaRPr lang="ar-SA" sz="1500" dirty="0"/>
          </a:p>
        </p:txBody>
      </p:sp>
      <p:sp>
        <p:nvSpPr>
          <p:cNvPr id="50" name="Shape 4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4389120"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53" name="Text 5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إِصْبَعُ اليَدِ</a:t>
            </a:r>
            <a:endParaRPr lang="ar-SA" sz="3000" dirty="0"/>
          </a:p>
        </p:txBody>
      </p:sp>
      <p:sp>
        <p:nvSpPr>
          <p:cNvPr id="54" name="Text 5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finger</a:t>
            </a:r>
            <a:endParaRPr lang="en-US" sz="1350" dirty="0"/>
          </a:p>
          <a:p>
            <a:pPr indent="0" marL="0">
              <a:buNone/>
            </a:pPr>
            <a:r>
              <a:rPr lang="en-US" sz="1100" i="1" dirty="0">
                <a:solidFill>
                  <a:srgbClr val="5A6472"/>
                </a:solidFill>
                <a:latin typeface="Calibri" pitchFamily="34" charset="0"/>
                <a:cs typeface="Amiri" pitchFamily="2" charset="-78"/>
              </a:rPr>
              <a:t>iṣ-ba-ʿu al-ya-di</a:t>
            </a:r>
            <a:endParaRPr lang="en-US" sz="13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Upper body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صَدْرٌ</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chest</a:t>
            </a:r>
            <a:endParaRPr lang="en-US" sz="1350" dirty="0"/>
          </a:p>
          <a:p>
            <a:pPr indent="0" marL="0">
              <a:buNone/>
            </a:pPr>
            <a:r>
              <a:rPr lang="en-US" sz="1100" i="1" dirty="0">
                <a:solidFill>
                  <a:srgbClr val="5A6472"/>
                </a:solidFill>
                <a:latin typeface="Calibri" pitchFamily="34" charset="0"/>
                <a:cs typeface="Amiri" pitchFamily="2" charset="-78"/>
              </a:rPr>
              <a:t>ṣad-run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ظَهْرٌ</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back</a:t>
            </a:r>
            <a:endParaRPr lang="en-US" sz="1350" dirty="0"/>
          </a:p>
          <a:p>
            <a:pPr indent="0" marL="0">
              <a:buNone/>
            </a:pPr>
            <a:r>
              <a:rPr lang="en-US" sz="1100" i="1" dirty="0">
                <a:solidFill>
                  <a:srgbClr val="5A6472"/>
                </a:solidFill>
                <a:latin typeface="Calibri" pitchFamily="34" charset="0"/>
                <a:cs typeface="Amiri" pitchFamily="2" charset="-78"/>
              </a:rPr>
              <a:t>ẓah-run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قَلْبٌ</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heart</a:t>
            </a:r>
            <a:endParaRPr lang="en-US" sz="1350" dirty="0"/>
          </a:p>
          <a:p>
            <a:pPr indent="0" marL="0">
              <a:buNone/>
            </a:pPr>
            <a:r>
              <a:rPr lang="en-US" sz="1100" i="1" dirty="0">
                <a:solidFill>
                  <a:srgbClr val="5A6472"/>
                </a:solidFill>
                <a:latin typeface="Calibri" pitchFamily="34" charset="0"/>
                <a:cs typeface="Amiri" pitchFamily="2" charset="-78"/>
              </a:rPr>
              <a:t>qal-bun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مَعِدَةٌ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stomach</a:t>
            </a:r>
            <a:endParaRPr lang="en-US" sz="1350" dirty="0"/>
          </a:p>
          <a:p>
            <a:pPr indent="0" marL="0">
              <a:buNone/>
            </a:pPr>
            <a:r>
              <a:rPr lang="en-US" sz="1100" i="1" dirty="0">
                <a:solidFill>
                  <a:srgbClr val="5A6472"/>
                </a:solidFill>
                <a:latin typeface="Calibri" pitchFamily="34" charset="0"/>
                <a:cs typeface="Amiri" pitchFamily="2" charset="-78"/>
              </a:rPr>
              <a:t>ma-ʿi-da-tun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Lower body and structure (1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(hādhihi)</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رِجْلٌ</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leg</a:t>
            </a:r>
            <a:endParaRPr lang="en-US" sz="1350" dirty="0"/>
          </a:p>
          <a:p>
            <a:pPr indent="0" marL="0">
              <a:buNone/>
            </a:pPr>
            <a:r>
              <a:rPr lang="en-US" sz="1100" i="1" dirty="0">
                <a:solidFill>
                  <a:srgbClr val="5A6472"/>
                </a:solidFill>
                <a:latin typeface="Calibri" pitchFamily="34" charset="0"/>
                <a:cs typeface="Amiri" pitchFamily="2" charset="-78"/>
              </a:rPr>
              <a:t>rij-lun</a:t>
            </a:r>
            <a:endParaRPr lang="en-US" sz="1350" dirty="0"/>
          </a:p>
        </p:txBody>
      </p:sp>
      <p:sp>
        <p:nvSpPr>
          <p:cNvPr id="26" name="Shape 23"/>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8" name="Text 25"/>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رِجْلٌ</a:t>
            </a:r>
            <a:endParaRPr lang="ar-SA" sz="1500" dirty="0"/>
          </a:p>
        </p:txBody>
      </p:sp>
      <p:sp>
        <p:nvSpPr>
          <p:cNvPr id="29" name="Shape 26"/>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two</a:t>
            </a:r>
            <a:endParaRPr lang="en-US" sz="750" dirty="0"/>
          </a:p>
        </p:txBody>
      </p:sp>
      <p:sp>
        <p:nvSpPr>
          <p:cNvPr id="31" name="Text 28"/>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رِجْلَانِ</a:t>
            </a:r>
            <a:endParaRPr lang="ar-SA" sz="1500" dirty="0"/>
          </a:p>
        </p:txBody>
      </p:sp>
      <p:sp>
        <p:nvSpPr>
          <p:cNvPr id="32" name="Shape 29"/>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4" name="Text 31"/>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أَرْجُلٌ</a:t>
            </a:r>
            <a:endParaRPr lang="ar-SA" sz="1500" dirty="0"/>
          </a:p>
        </p:txBody>
      </p:sp>
      <p:sp>
        <p:nvSpPr>
          <p:cNvPr id="35" name="Shape 3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4389120"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رُكْبَةٌ</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knee</a:t>
            </a:r>
            <a:endParaRPr lang="en-US" sz="1350" dirty="0"/>
          </a:p>
          <a:p>
            <a:pPr indent="0" marL="0">
              <a:buNone/>
            </a:pPr>
            <a:r>
              <a:rPr lang="en-US" sz="1100" i="1" dirty="0">
                <a:solidFill>
                  <a:srgbClr val="5A6472"/>
                </a:solidFill>
                <a:latin typeface="Calibri" pitchFamily="34" charset="0"/>
                <a:cs typeface="Amiri" pitchFamily="2" charset="-78"/>
              </a:rPr>
              <a:t>ruk-ba-tun</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3" name="Shape 40"/>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(hādhihi)</a:t>
            </a:r>
            <a:endParaRPr lang="en-US" sz="800" dirty="0"/>
          </a:p>
        </p:txBody>
      </p:sp>
      <p:sp>
        <p:nvSpPr>
          <p:cNvPr id="45" name="Shape 4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قَدَمٌ / قَدَمَانِ</a:t>
            </a:r>
            <a:endParaRPr lang="ar-SA" sz="3000" dirty="0"/>
          </a:p>
        </p:txBody>
      </p:sp>
      <p:sp>
        <p:nvSpPr>
          <p:cNvPr id="48" name="Text 4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foot / two feet</a:t>
            </a:r>
            <a:endParaRPr lang="en-US" sz="1350" dirty="0"/>
          </a:p>
          <a:p>
            <a:pPr indent="0" marL="0">
              <a:buNone/>
            </a:pPr>
            <a:r>
              <a:rPr lang="en-US" sz="1100" i="1" dirty="0">
                <a:solidFill>
                  <a:srgbClr val="5A6472"/>
                </a:solidFill>
                <a:latin typeface="Calibri" pitchFamily="34" charset="0"/>
                <a:cs typeface="Amiri" pitchFamily="2" charset="-78"/>
              </a:rPr>
              <a:t>qa-da-mun / qa-da-mā-ni</a:t>
            </a:r>
            <a:endParaRPr lang="en-US" sz="1350" dirty="0"/>
          </a:p>
        </p:txBody>
      </p:sp>
      <p:sp>
        <p:nvSpPr>
          <p:cNvPr id="49" name="Shape 46"/>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1" name="Text 48"/>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قَدَمٌ</a:t>
            </a:r>
            <a:endParaRPr lang="ar-SA" sz="1500" dirty="0"/>
          </a:p>
        </p:txBody>
      </p:sp>
      <p:sp>
        <p:nvSpPr>
          <p:cNvPr id="52" name="Shape 49"/>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two</a:t>
            </a:r>
            <a:endParaRPr lang="en-US" sz="750" dirty="0"/>
          </a:p>
        </p:txBody>
      </p:sp>
      <p:sp>
        <p:nvSpPr>
          <p:cNvPr id="54" name="Text 51"/>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قَدَمَانِ</a:t>
            </a:r>
            <a:endParaRPr lang="ar-SA" sz="1500" dirty="0"/>
          </a:p>
        </p:txBody>
      </p:sp>
      <p:sp>
        <p:nvSpPr>
          <p:cNvPr id="55" name="Shape 52"/>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7" name="Text 54"/>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أَقْدَامٌ</a:t>
            </a:r>
            <a:endParaRPr lang="ar-SA" sz="15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61" name="Text 5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إِصْبَعُ القَدَمِ</a:t>
            </a:r>
            <a:endParaRPr lang="ar-SA" sz="3000" dirty="0"/>
          </a:p>
        </p:txBody>
      </p:sp>
      <p:sp>
        <p:nvSpPr>
          <p:cNvPr id="62" name="Text 5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toe</a:t>
            </a:r>
            <a:endParaRPr lang="en-US" sz="1350" dirty="0"/>
          </a:p>
          <a:p>
            <a:pPr indent="0" marL="0">
              <a:buNone/>
            </a:pPr>
            <a:r>
              <a:rPr lang="en-US" sz="1100" i="1" dirty="0">
                <a:solidFill>
                  <a:srgbClr val="5A6472"/>
                </a:solidFill>
                <a:latin typeface="Calibri" pitchFamily="34" charset="0"/>
                <a:cs typeface="Amiri" pitchFamily="2" charset="-78"/>
              </a:rPr>
              <a:t>iṣ-ba-ʿu al-qa-da-mi</a:t>
            </a:r>
            <a:endParaRPr lang="en-US"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Lower body and structure (2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كَاحِلٌ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ankle</a:t>
            </a:r>
            <a:endParaRPr lang="en-US" sz="1350" dirty="0"/>
          </a:p>
          <a:p>
            <a:pPr indent="0" marL="0">
              <a:buNone/>
            </a:pPr>
            <a:r>
              <a:rPr lang="en-US" sz="1100" i="1" dirty="0">
                <a:solidFill>
                  <a:srgbClr val="5A6472"/>
                </a:solidFill>
                <a:latin typeface="Calibri" pitchFamily="34" charset="0"/>
                <a:cs typeface="Amiri" pitchFamily="2" charset="-78"/>
              </a:rPr>
              <a:t>kā-ḥi-lun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عَظْمٌ / عِظَامٌ</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bone / bones</a:t>
            </a:r>
            <a:endParaRPr lang="en-US" sz="1350" dirty="0"/>
          </a:p>
          <a:p>
            <a:pPr indent="0" marL="0">
              <a:buNone/>
            </a:pPr>
            <a:r>
              <a:rPr lang="en-US" sz="1100" i="1" dirty="0">
                <a:solidFill>
                  <a:srgbClr val="5A6472"/>
                </a:solidFill>
                <a:latin typeface="Calibri" pitchFamily="34" charset="0"/>
                <a:cs typeface="Amiri" pitchFamily="2" charset="-78"/>
              </a:rPr>
              <a:t>ʿaẓ-mun / ʿi-ẓā-mun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جِلْدٌ / بَشَرَةٌ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skin</a:t>
            </a:r>
            <a:endParaRPr lang="en-US" sz="1350" dirty="0"/>
          </a:p>
          <a:p>
            <a:pPr indent="0" marL="0">
              <a:buNone/>
            </a:pPr>
            <a:r>
              <a:rPr lang="en-US" sz="1100" i="1" dirty="0">
                <a:solidFill>
                  <a:srgbClr val="5A6472"/>
                </a:solidFill>
                <a:latin typeface="Calibri" pitchFamily="34" charset="0"/>
                <a:cs typeface="Amiri" pitchFamily="2" charset="-78"/>
              </a:rPr>
              <a:t>jil-dun / ba-sha-ra-tun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جِسْمٌ / جَسَدٌ</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body</a:t>
            </a:r>
            <a:endParaRPr lang="en-US" sz="1350" dirty="0"/>
          </a:p>
          <a:p>
            <a:pPr indent="0" marL="0">
              <a:buNone/>
            </a:pPr>
            <a:r>
              <a:rPr lang="en-US" sz="1100" i="1" dirty="0">
                <a:solidFill>
                  <a:srgbClr val="5A6472"/>
                </a:solidFill>
                <a:latin typeface="Calibri" pitchFamily="34" charset="0"/>
                <a:cs typeface="Amiri" pitchFamily="2" charset="-78"/>
              </a:rPr>
              <a:t>jis-mun / ja-sa-dun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4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Body actions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يَرَى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sees</a:t>
            </a:r>
            <a:endParaRPr lang="en-US" sz="1350" dirty="0"/>
          </a:p>
          <a:p>
            <a:pPr indent="0" marL="0">
              <a:buNone/>
            </a:pPr>
            <a:r>
              <a:rPr lang="en-US" sz="1100" i="1" dirty="0">
                <a:solidFill>
                  <a:srgbClr val="5A6472"/>
                </a:solidFill>
                <a:latin typeface="Calibri" pitchFamily="34" charset="0"/>
                <a:cs typeface="Amiri" pitchFamily="2" charset="-78"/>
              </a:rPr>
              <a:t>ya-rā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يَسْمَعُ</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hears</a:t>
            </a:r>
            <a:endParaRPr lang="en-US" sz="1350" dirty="0"/>
          </a:p>
          <a:p>
            <a:pPr indent="0" marL="0">
              <a:buNone/>
            </a:pPr>
            <a:r>
              <a:rPr lang="en-US" sz="1100" i="1" dirty="0">
                <a:solidFill>
                  <a:srgbClr val="5A6472"/>
                </a:solidFill>
                <a:latin typeface="Calibri" pitchFamily="34" charset="0"/>
                <a:cs typeface="Amiri" pitchFamily="2" charset="-78"/>
              </a:rPr>
              <a:t>yas-ma-ʿu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يَشُمُّ</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smells</a:t>
            </a:r>
            <a:endParaRPr lang="en-US" sz="1350" dirty="0"/>
          </a:p>
          <a:p>
            <a:pPr indent="0" marL="0">
              <a:buNone/>
            </a:pPr>
            <a:r>
              <a:rPr lang="en-US" sz="1100" i="1" dirty="0">
                <a:solidFill>
                  <a:srgbClr val="5A6472"/>
                </a:solidFill>
                <a:latin typeface="Calibri" pitchFamily="34" charset="0"/>
                <a:cs typeface="Amiri" pitchFamily="2" charset="-78"/>
              </a:rPr>
              <a:t>ya-shum-mu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يَلْمِسُ</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touches</a:t>
            </a:r>
            <a:endParaRPr lang="en-US" sz="1350" dirty="0"/>
          </a:p>
          <a:p>
            <a:pPr indent="0" marL="0">
              <a:buNone/>
            </a:pPr>
            <a:r>
              <a:rPr lang="en-US" sz="1100" i="1" dirty="0">
                <a:solidFill>
                  <a:srgbClr val="5A6472"/>
                </a:solidFill>
                <a:latin typeface="Calibri" pitchFamily="34" charset="0"/>
                <a:cs typeface="Amiri" pitchFamily="2" charset="-78"/>
              </a:rPr>
              <a:t>yal-mi-su</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يَتَنَفَّسُ</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breathes</a:t>
            </a:r>
            <a:endParaRPr lang="en-US" sz="1350" dirty="0"/>
          </a:p>
          <a:p>
            <a:pPr indent="0" marL="0">
              <a:buNone/>
            </a:pPr>
            <a:r>
              <a:rPr lang="en-US" sz="1100" i="1" dirty="0">
                <a:solidFill>
                  <a:srgbClr val="5A6472"/>
                </a:solidFill>
                <a:latin typeface="Calibri" pitchFamily="34" charset="0"/>
                <a:cs typeface="Amiri" pitchFamily="2" charset="-78"/>
              </a:rPr>
              <a:t>ya-ta-naf-fa-su</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يَتَنَفَّسُ بِعُمْقٍ</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breathes deeply</a:t>
            </a:r>
            <a:endParaRPr lang="en-US" sz="1350" dirty="0"/>
          </a:p>
          <a:p>
            <a:pPr indent="0" marL="0">
              <a:buNone/>
            </a:pPr>
            <a:r>
              <a:rPr lang="en-US" sz="1100" i="1" dirty="0">
                <a:solidFill>
                  <a:srgbClr val="5A6472"/>
                </a:solidFill>
                <a:latin typeface="Calibri" pitchFamily="34" charset="0"/>
                <a:cs typeface="Amiri" pitchFamily="2" charset="-78"/>
              </a:rPr>
              <a:t>ya-ta-naf-fa-su bi-ʿum-qin</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THIS IS MY … (WEBSITE RULES 1, 2 AND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This is my head · this is my hand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هٰذَا · هٰذِهِ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227064" y="1810512"/>
            <a:ext cx="5431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 · </a:t>
            </a:r>
            <a:pPr algn="ctr" indent="0" marL="0">
              <a:buNone/>
            </a:pPr>
            <a:r>
              <a:rPr lang="ar-SA" altLang="en-US" sz="1450" b="1" dirty="0">
                <a:solidFill>
                  <a:srgbClr val="FFFFFF"/>
                </a:solidFill>
                <a:latin typeface="Amiri" pitchFamily="2" charset="-78"/>
                <a:cs typeface="Amiri" pitchFamily="2" charset="-78"/>
              </a:rPr>
              <a:t>هٰذَا</a:t>
            </a:r>
            <a:endParaRPr lang="en-US" sz="1100" dirty="0"/>
          </a:p>
        </p:txBody>
      </p:sp>
      <p:sp>
        <p:nvSpPr>
          <p:cNvPr id="17" name="Text 14"/>
          <p:cNvSpPr txBox="1"/>
          <p:nvPr/>
        </p:nvSpPr>
        <p:spPr>
          <a:xfrm>
            <a:off x="530352" y="1810512"/>
            <a:ext cx="5550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 · </a:t>
            </a:r>
            <a:pPr algn="ctr" indent="0" marL="0">
              <a:buNone/>
            </a:pPr>
            <a:r>
              <a:rPr lang="ar-SA" altLang="en-US" sz="1450" b="1" dirty="0">
                <a:solidFill>
                  <a:srgbClr val="FFFFFF"/>
                </a:solidFill>
                <a:latin typeface="Amiri" pitchFamily="2" charset="-78"/>
                <a:cs typeface="Amiri" pitchFamily="2" charset="-78"/>
              </a:rPr>
              <a:t>هٰذِهِ</a:t>
            </a:r>
            <a:endParaRPr lang="en-US" sz="1100" dirty="0"/>
          </a:p>
        </p:txBody>
      </p:sp>
      <p:sp>
        <p:nvSpPr>
          <p:cNvPr id="18" name="Shape 15"/>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19" name="Text 16"/>
          <p:cNvSpPr txBox="1"/>
          <p:nvPr/>
        </p:nvSpPr>
        <p:spPr>
          <a:xfrm>
            <a:off x="6245352" y="2286000"/>
            <a:ext cx="5394960" cy="422928"/>
          </a:xfrm>
          <a:prstGeom prst="rect">
            <a:avLst/>
          </a:prstGeom>
          <a:noFill/>
          <a:ln/>
        </p:spPr>
        <p:txBody>
          <a:bodyPr wrap="square" lIns="0" tIns="0" rIns="0" bIns="0" rtlCol="0" anchor="ctr"/>
          <a:lstStyle/>
          <a:p>
            <a:pPr rtl="1" algn="ctr" indent="0" marL="0">
              <a:buNone/>
            </a:pPr>
            <a:r>
              <a:rPr lang="ar-SA" altLang="en-US" sz="1950" b="1" dirty="0">
                <a:solidFill>
                  <a:srgbClr val="1D5FBF"/>
                </a:solidFill>
                <a:latin typeface="Amiri" pitchFamily="2" charset="-78"/>
                <a:cs typeface="Amiri" pitchFamily="2" charset="-78"/>
              </a:rPr>
              <a:t>هٰذَا</a:t>
            </a:r>
            <a:pPr rtl="1" algn="ctr" indent="0" marL="0">
              <a:buNone/>
            </a:pPr>
            <a:r>
              <a:rPr lang="ar-SA" altLang="en-US" sz="1950" b="1" dirty="0">
                <a:solidFill>
                  <a:srgbClr val="1B3B6F"/>
                </a:solidFill>
                <a:latin typeface="Amiri" pitchFamily="2" charset="-78"/>
                <a:cs typeface="Amiri" pitchFamily="2" charset="-78"/>
              </a:rPr>
              <a:t> رَأْسِي.</a:t>
            </a:r>
            <a:endParaRPr lang="ar-SA" sz="1950" dirty="0"/>
          </a:p>
        </p:txBody>
      </p:sp>
      <p:sp>
        <p:nvSpPr>
          <p:cNvPr id="20" name="Text 17"/>
          <p:cNvSpPr txBox="1"/>
          <p:nvPr/>
        </p:nvSpPr>
        <p:spPr>
          <a:xfrm>
            <a:off x="6199632" y="2676997"/>
            <a:ext cx="54864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my head.</a:t>
            </a:r>
            <a:endParaRPr lang="en-US" sz="950" dirty="0"/>
          </a:p>
        </p:txBody>
      </p:sp>
      <p:sp>
        <p:nvSpPr>
          <p:cNvPr id="21" name="Text 18"/>
          <p:cNvSpPr txBox="1"/>
          <p:nvPr/>
        </p:nvSpPr>
        <p:spPr>
          <a:xfrm>
            <a:off x="548640" y="2286000"/>
            <a:ext cx="5513832"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cs typeface="Amiri" pitchFamily="2" charset="-78"/>
              </a:rPr>
              <a:t>هٰذِهِ</a:t>
            </a:r>
            <a:pPr rtl="1" algn="ctr" indent="0" marL="0">
              <a:buNone/>
            </a:pPr>
            <a:r>
              <a:rPr lang="ar-SA" altLang="en-US" sz="1950" b="1" dirty="0">
                <a:solidFill>
                  <a:srgbClr val="1B3B6F"/>
                </a:solidFill>
                <a:latin typeface="Amiri" pitchFamily="2" charset="-78"/>
                <a:cs typeface="Amiri" pitchFamily="2" charset="-78"/>
              </a:rPr>
              <a:t> يَدِي.</a:t>
            </a:r>
            <a:endParaRPr lang="ar-SA" sz="1950" dirty="0"/>
          </a:p>
        </p:txBody>
      </p:sp>
      <p:sp>
        <p:nvSpPr>
          <p:cNvPr id="22" name="Text 19"/>
          <p:cNvSpPr txBox="1"/>
          <p:nvPr/>
        </p:nvSpPr>
        <p:spPr>
          <a:xfrm>
            <a:off x="502920" y="2676997"/>
            <a:ext cx="560527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my hand.</a:t>
            </a:r>
            <a:endParaRPr lang="en-US" sz="95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6245352" y="3023006"/>
            <a:ext cx="5394960" cy="422928"/>
          </a:xfrm>
          <a:prstGeom prst="rect">
            <a:avLst/>
          </a:prstGeom>
          <a:noFill/>
          <a:ln/>
        </p:spPr>
        <p:txBody>
          <a:bodyPr wrap="square" lIns="0" tIns="0" rIns="0" bIns="0" rtlCol="0" anchor="ctr"/>
          <a:lstStyle/>
          <a:p>
            <a:pPr rtl="1" algn="ctr" indent="0" marL="0">
              <a:buNone/>
            </a:pPr>
            <a:r>
              <a:rPr lang="ar-SA" altLang="en-US" sz="1950" b="1" dirty="0">
                <a:solidFill>
                  <a:srgbClr val="1D5FBF"/>
                </a:solidFill>
                <a:latin typeface="Amiri" pitchFamily="2" charset="-78"/>
                <a:cs typeface="Amiri" pitchFamily="2" charset="-78"/>
              </a:rPr>
              <a:t>هٰذَا</a:t>
            </a:r>
            <a:pPr rtl="1" algn="ctr" indent="0" marL="0">
              <a:buNone/>
            </a:pPr>
            <a:r>
              <a:rPr lang="ar-SA" altLang="en-US" sz="1950" b="1" dirty="0">
                <a:solidFill>
                  <a:srgbClr val="1B3B6F"/>
                </a:solidFill>
                <a:latin typeface="Amiri" pitchFamily="2" charset="-78"/>
                <a:cs typeface="Amiri" pitchFamily="2" charset="-78"/>
              </a:rPr>
              <a:t> أَنْفِي.</a:t>
            </a:r>
            <a:endParaRPr lang="ar-SA" sz="1950" dirty="0"/>
          </a:p>
        </p:txBody>
      </p:sp>
      <p:sp>
        <p:nvSpPr>
          <p:cNvPr id="27" name="Text 24"/>
          <p:cNvSpPr txBox="1"/>
          <p:nvPr/>
        </p:nvSpPr>
        <p:spPr>
          <a:xfrm>
            <a:off x="6199632" y="3414004"/>
            <a:ext cx="54864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my nose.</a:t>
            </a:r>
            <a:endParaRPr lang="en-US" sz="950" dirty="0"/>
          </a:p>
        </p:txBody>
      </p:sp>
      <p:sp>
        <p:nvSpPr>
          <p:cNvPr id="28" name="Text 25"/>
          <p:cNvSpPr txBox="1"/>
          <p:nvPr/>
        </p:nvSpPr>
        <p:spPr>
          <a:xfrm>
            <a:off x="548640" y="3023006"/>
            <a:ext cx="5513832"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cs typeface="Amiri" pitchFamily="2" charset="-78"/>
              </a:rPr>
              <a:t>هٰذِهِ</a:t>
            </a:r>
            <a:pPr rtl="1" algn="ctr" indent="0" marL="0">
              <a:buNone/>
            </a:pPr>
            <a:r>
              <a:rPr lang="ar-SA" altLang="en-US" sz="1950" b="1" dirty="0">
                <a:solidFill>
                  <a:srgbClr val="1B3B6F"/>
                </a:solidFill>
                <a:latin typeface="Amiri" pitchFamily="2" charset="-78"/>
                <a:cs typeface="Amiri" pitchFamily="2" charset="-78"/>
              </a:rPr>
              <a:t> عَيْنِي.</a:t>
            </a:r>
            <a:endParaRPr lang="ar-SA" sz="1950" dirty="0"/>
          </a:p>
        </p:txBody>
      </p:sp>
      <p:sp>
        <p:nvSpPr>
          <p:cNvPr id="29" name="Text 26"/>
          <p:cNvSpPr txBox="1"/>
          <p:nvPr/>
        </p:nvSpPr>
        <p:spPr>
          <a:xfrm>
            <a:off x="502920" y="3414004"/>
            <a:ext cx="560527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my eye.</a:t>
            </a:r>
            <a:endParaRPr lang="en-US" sz="950" dirty="0"/>
          </a:p>
        </p:txBody>
      </p:sp>
      <p:sp>
        <p:nvSpPr>
          <p:cNvPr id="30" name="Shape 27"/>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2" name="Shape 29"/>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3" name="Text 30"/>
          <p:cNvSpPr txBox="1"/>
          <p:nvPr/>
        </p:nvSpPr>
        <p:spPr>
          <a:xfrm>
            <a:off x="6245352" y="3760013"/>
            <a:ext cx="5394960" cy="422928"/>
          </a:xfrm>
          <a:prstGeom prst="rect">
            <a:avLst/>
          </a:prstGeom>
          <a:noFill/>
          <a:ln/>
        </p:spPr>
        <p:txBody>
          <a:bodyPr wrap="square" lIns="0" tIns="0" rIns="0" bIns="0" rtlCol="0" anchor="ctr"/>
          <a:lstStyle/>
          <a:p>
            <a:pPr rtl="1" algn="ctr" indent="0" marL="0">
              <a:buNone/>
            </a:pPr>
            <a:r>
              <a:rPr lang="ar-SA" altLang="en-US" sz="1950" b="1" dirty="0">
                <a:solidFill>
                  <a:srgbClr val="1D5FBF"/>
                </a:solidFill>
                <a:latin typeface="Amiri" pitchFamily="2" charset="-78"/>
                <a:cs typeface="Amiri" pitchFamily="2" charset="-78"/>
              </a:rPr>
              <a:t>هٰذَا</a:t>
            </a:r>
            <a:pPr rtl="1" algn="ctr" indent="0" marL="0">
              <a:buNone/>
            </a:pPr>
            <a:r>
              <a:rPr lang="ar-SA" altLang="en-US" sz="1950" b="1" dirty="0">
                <a:solidFill>
                  <a:srgbClr val="1B3B6F"/>
                </a:solidFill>
                <a:latin typeface="Amiri" pitchFamily="2" charset="-78"/>
                <a:cs typeface="Amiri" pitchFamily="2" charset="-78"/>
              </a:rPr>
              <a:t> فَمِي.</a:t>
            </a:r>
            <a:endParaRPr lang="ar-SA" sz="1950" dirty="0"/>
          </a:p>
        </p:txBody>
      </p:sp>
      <p:sp>
        <p:nvSpPr>
          <p:cNvPr id="34" name="Text 31"/>
          <p:cNvSpPr txBox="1"/>
          <p:nvPr/>
        </p:nvSpPr>
        <p:spPr>
          <a:xfrm>
            <a:off x="6199632" y="4151010"/>
            <a:ext cx="54864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my mouth.</a:t>
            </a:r>
            <a:endParaRPr lang="en-US" sz="950" dirty="0"/>
          </a:p>
        </p:txBody>
      </p:sp>
      <p:sp>
        <p:nvSpPr>
          <p:cNvPr id="35" name="Text 32"/>
          <p:cNvSpPr txBox="1"/>
          <p:nvPr/>
        </p:nvSpPr>
        <p:spPr>
          <a:xfrm>
            <a:off x="548640" y="3760013"/>
            <a:ext cx="5513832"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cs typeface="Amiri" pitchFamily="2" charset="-78"/>
              </a:rPr>
              <a:t>هٰذِهِ</a:t>
            </a:r>
            <a:pPr rtl="1" algn="ctr" indent="0" marL="0">
              <a:buNone/>
            </a:pPr>
            <a:r>
              <a:rPr lang="ar-SA" altLang="en-US" sz="1950" b="1" dirty="0">
                <a:solidFill>
                  <a:srgbClr val="1B3B6F"/>
                </a:solidFill>
                <a:latin typeface="Amiri" pitchFamily="2" charset="-78"/>
                <a:cs typeface="Amiri" pitchFamily="2" charset="-78"/>
              </a:rPr>
              <a:t> أُذُنِي.</a:t>
            </a:r>
            <a:endParaRPr lang="ar-SA" sz="1950" dirty="0"/>
          </a:p>
        </p:txBody>
      </p:sp>
      <p:sp>
        <p:nvSpPr>
          <p:cNvPr id="36" name="Text 33"/>
          <p:cNvSpPr txBox="1"/>
          <p:nvPr/>
        </p:nvSpPr>
        <p:spPr>
          <a:xfrm>
            <a:off x="502920" y="4151010"/>
            <a:ext cx="560527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my ear.</a:t>
            </a:r>
            <a:endParaRPr lang="en-US" sz="950" dirty="0"/>
          </a:p>
        </p:txBody>
      </p:sp>
      <p:sp>
        <p:nvSpPr>
          <p:cNvPr id="37" name="Shape 34"/>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6245352" y="4497019"/>
            <a:ext cx="5394960" cy="422928"/>
          </a:xfrm>
          <a:prstGeom prst="rect">
            <a:avLst/>
          </a:prstGeom>
          <a:noFill/>
          <a:ln/>
        </p:spPr>
        <p:txBody>
          <a:bodyPr wrap="square" lIns="0" tIns="0" rIns="0" bIns="0" rtlCol="0" anchor="ctr"/>
          <a:lstStyle/>
          <a:p>
            <a:pPr rtl="1" algn="ctr" indent="0" marL="0">
              <a:buNone/>
            </a:pPr>
            <a:r>
              <a:rPr lang="ar-SA" altLang="en-US" sz="1950" b="1" dirty="0">
                <a:solidFill>
                  <a:srgbClr val="1D5FBF"/>
                </a:solidFill>
                <a:latin typeface="Amiri" pitchFamily="2" charset="-78"/>
                <a:cs typeface="Amiri" pitchFamily="2" charset="-78"/>
              </a:rPr>
              <a:t>هٰذَا</a:t>
            </a:r>
            <a:pPr rtl="1" algn="ctr" indent="0" marL="0">
              <a:buNone/>
            </a:pPr>
            <a:r>
              <a:rPr lang="ar-SA" altLang="en-US" sz="1950" b="1" dirty="0">
                <a:solidFill>
                  <a:srgbClr val="1B3B6F"/>
                </a:solidFill>
                <a:latin typeface="Amiri" pitchFamily="2" charset="-78"/>
                <a:cs typeface="Amiri" pitchFamily="2" charset="-78"/>
              </a:rPr>
              <a:t> ظَهْرِي.</a:t>
            </a:r>
            <a:endParaRPr lang="ar-SA" sz="1950" dirty="0"/>
          </a:p>
        </p:txBody>
      </p:sp>
      <p:sp>
        <p:nvSpPr>
          <p:cNvPr id="41" name="Text 38"/>
          <p:cNvSpPr txBox="1"/>
          <p:nvPr/>
        </p:nvSpPr>
        <p:spPr>
          <a:xfrm>
            <a:off x="6199632" y="4888017"/>
            <a:ext cx="54864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my back.</a:t>
            </a:r>
            <a:endParaRPr lang="en-US" sz="950" dirty="0"/>
          </a:p>
        </p:txBody>
      </p:sp>
      <p:sp>
        <p:nvSpPr>
          <p:cNvPr id="42" name="Text 39"/>
          <p:cNvSpPr txBox="1"/>
          <p:nvPr/>
        </p:nvSpPr>
        <p:spPr>
          <a:xfrm>
            <a:off x="548640" y="4497019"/>
            <a:ext cx="5513832"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cs typeface="Amiri" pitchFamily="2" charset="-78"/>
              </a:rPr>
              <a:t>هٰذِهِ</a:t>
            </a:r>
            <a:pPr rtl="1" algn="ctr" indent="0" marL="0">
              <a:buNone/>
            </a:pPr>
            <a:r>
              <a:rPr lang="ar-SA" altLang="en-US" sz="1950" b="1" dirty="0">
                <a:solidFill>
                  <a:srgbClr val="1B3B6F"/>
                </a:solidFill>
                <a:latin typeface="Amiri" pitchFamily="2" charset="-78"/>
                <a:cs typeface="Amiri" pitchFamily="2" charset="-78"/>
              </a:rPr>
              <a:t> قَدَمِي.</a:t>
            </a:r>
            <a:endParaRPr lang="ar-SA" sz="1950" dirty="0"/>
          </a:p>
        </p:txBody>
      </p:sp>
      <p:sp>
        <p:nvSpPr>
          <p:cNvPr id="43" name="Text 40"/>
          <p:cNvSpPr txBox="1"/>
          <p:nvPr/>
        </p:nvSpPr>
        <p:spPr>
          <a:xfrm>
            <a:off x="502920" y="4888017"/>
            <a:ext cx="560527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my foot.</a:t>
            </a:r>
            <a:endParaRPr lang="en-US" sz="95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6245352" y="5234026"/>
            <a:ext cx="5394960" cy="422928"/>
          </a:xfrm>
          <a:prstGeom prst="rect">
            <a:avLst/>
          </a:prstGeom>
          <a:noFill/>
          <a:ln/>
        </p:spPr>
        <p:txBody>
          <a:bodyPr wrap="square" lIns="0" tIns="0" rIns="0" bIns="0" rtlCol="0" anchor="ctr"/>
          <a:lstStyle/>
          <a:p>
            <a:pPr rtl="1" algn="ctr" indent="0" marL="0">
              <a:buNone/>
            </a:pPr>
            <a:r>
              <a:rPr lang="ar-SA" altLang="en-US" sz="1950" b="1" dirty="0">
                <a:solidFill>
                  <a:srgbClr val="1D5FBF"/>
                </a:solidFill>
                <a:latin typeface="Amiri" pitchFamily="2" charset="-78"/>
                <a:cs typeface="Amiri" pitchFamily="2" charset="-78"/>
              </a:rPr>
              <a:t>هٰذَا</a:t>
            </a:r>
            <a:pPr rtl="1" algn="ctr" indent="0" marL="0">
              <a:buNone/>
            </a:pPr>
            <a:r>
              <a:rPr lang="ar-SA" altLang="en-US" sz="1950" b="1" dirty="0">
                <a:solidFill>
                  <a:srgbClr val="1B3B6F"/>
                </a:solidFill>
                <a:latin typeface="Amiri" pitchFamily="2" charset="-78"/>
                <a:cs typeface="Amiri" pitchFamily="2" charset="-78"/>
              </a:rPr>
              <a:t> وَجْهِي.</a:t>
            </a:r>
            <a:endParaRPr lang="ar-SA" sz="1950" dirty="0"/>
          </a:p>
        </p:txBody>
      </p:sp>
      <p:sp>
        <p:nvSpPr>
          <p:cNvPr id="46" name="Text 43"/>
          <p:cNvSpPr txBox="1"/>
          <p:nvPr/>
        </p:nvSpPr>
        <p:spPr>
          <a:xfrm>
            <a:off x="6199632" y="5625023"/>
            <a:ext cx="54864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my face.</a:t>
            </a:r>
            <a:endParaRPr lang="en-US" sz="950" dirty="0"/>
          </a:p>
        </p:txBody>
      </p:sp>
      <p:sp>
        <p:nvSpPr>
          <p:cNvPr id="47" name="Text 44"/>
          <p:cNvSpPr txBox="1"/>
          <p:nvPr/>
        </p:nvSpPr>
        <p:spPr>
          <a:xfrm>
            <a:off x="548640" y="5234026"/>
            <a:ext cx="5513832"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cs typeface="Amiri" pitchFamily="2" charset="-78"/>
              </a:rPr>
              <a:t>هٰذِهِ</a:t>
            </a:r>
            <a:pPr rtl="1" algn="ctr" indent="0" marL="0">
              <a:buNone/>
            </a:pPr>
            <a:r>
              <a:rPr lang="ar-SA" altLang="en-US" sz="1950" b="1" dirty="0">
                <a:solidFill>
                  <a:srgbClr val="1B3B6F"/>
                </a:solidFill>
                <a:latin typeface="Amiri" pitchFamily="2" charset="-78"/>
                <a:cs typeface="Amiri" pitchFamily="2" charset="-78"/>
              </a:rPr>
              <a:t> رُكْبَتِي.</a:t>
            </a:r>
            <a:endParaRPr lang="ar-SA" sz="1950" dirty="0"/>
          </a:p>
        </p:txBody>
      </p:sp>
      <p:sp>
        <p:nvSpPr>
          <p:cNvPr id="48" name="Text 45"/>
          <p:cNvSpPr txBox="1"/>
          <p:nvPr/>
        </p:nvSpPr>
        <p:spPr>
          <a:xfrm>
            <a:off x="502920" y="5625023"/>
            <a:ext cx="560527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my knee.</a:t>
            </a:r>
            <a:endParaRPr lang="en-US" sz="9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ending -ī means “my”. Hand, eye, ear, foot and leg are feminine even without </a:t>
            </a:r>
            <a:pPr algn="l" indent="0" marL="0">
              <a:buNone/>
            </a:pPr>
            <a:r>
              <a:rPr lang="ar-SA" altLang="en-US" sz="1500" b="1" dirty="0">
                <a:solidFill>
                  <a:srgbClr val="1B3B6F"/>
                </a:solidFill>
                <a:latin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 Knee: </a:t>
            </a:r>
            <a:pPr algn="l" indent="0" marL="0">
              <a:buNone/>
            </a:pPr>
            <a:r>
              <a:rPr lang="ar-SA" altLang="en-US" sz="1500" b="1" dirty="0">
                <a:solidFill>
                  <a:srgbClr val="1B3B6F"/>
                </a:solidFill>
                <a:latin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 becomes t before -ī.</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88" b="1" spc="150" kern="0" dirty="0">
                <a:solidFill>
                  <a:srgbClr val="1B3B6F"/>
                </a:solidFill>
                <a:latin typeface="Calibri" pitchFamily="34" charset="0"/>
                <a:cs typeface="Amiri" pitchFamily="2" charset="-78"/>
              </a:rPr>
              <a:t>GRAMMAR FOCUS · PART 2 · TWO OF THEM · WITH MY … (WEBSITE RULE 3 AND PATTERNS)</a:t>
            </a:r>
            <a:endParaRPr lang="en-US" sz="88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eyes — I see with my eyes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المُثَنَّى · بِـ</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960120" cy="274320"/>
          </a:xfrm>
          <a:prstGeom prst="roundRect">
            <a:avLst>
              <a:gd name="adj" fmla="val 50000"/>
            </a:avLst>
          </a:prstGeom>
          <a:solidFill>
            <a:srgbClr val="6B4C9A"/>
          </a:solidFill>
          <a:ln w="12700">
            <a:solidFill>
              <a:srgbClr val="6B4C9A"/>
            </a:solidFill>
            <a:prstDash val="solid"/>
          </a:ln>
        </p:spPr>
      </p:sp>
      <p:sp>
        <p:nvSpPr>
          <p:cNvPr id="17" name="Text 14"/>
          <p:cNvSpPr txBox="1"/>
          <p:nvPr/>
        </p:nvSpPr>
        <p:spPr>
          <a:xfrm>
            <a:off x="8232648"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DUAL · TWO</a:t>
            </a:r>
            <a:endParaRPr lang="en-US" sz="850" dirty="0"/>
          </a:p>
        </p:txBody>
      </p:sp>
      <p:sp>
        <p:nvSpPr>
          <p:cNvPr id="18" name="Text 15"/>
          <p:cNvSpPr txBox="1"/>
          <p:nvPr/>
        </p:nvSpPr>
        <p:spPr>
          <a:xfrm>
            <a:off x="9238488"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عَيْنَانِ · يَدَانِ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لِي عَيْنَانِ وَأُذُنَانِ.</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have two eyes and two ears.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-āni = two. No “ithnān” needed.</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09728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WITH … · بِـ</a:t>
            </a:r>
            <a:endParaRPr lang="en-US" sz="850" dirty="0"/>
          </a:p>
        </p:txBody>
      </p:sp>
      <p:sp>
        <p:nvSpPr>
          <p:cNvPr id="26" name="Text 23"/>
          <p:cNvSpPr txBox="1"/>
          <p:nvPr/>
        </p:nvSpPr>
        <p:spPr>
          <a:xfrm>
            <a:off x="5556504"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أَرَى بِعَيْنَيَّ</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cs typeface="Amiri" pitchFamily="2" charset="-78"/>
              </a:rPr>
              <a:t>أَرَى بِعَيْنَيَّ، وَأَسْمَعُ بِأُذُنَيَّ.</a:t>
            </a:r>
            <a:endParaRPr lang="ar-SA" sz="28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see with my eyes and hear with my ears.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bi- + my two …: -ayya.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09728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WHERE? · فِي</a:t>
            </a:r>
            <a:endParaRPr lang="en-US" sz="850" dirty="0"/>
          </a:p>
        </p:txBody>
      </p:sp>
      <p:sp>
        <p:nvSpPr>
          <p:cNvPr id="34" name="Text 31"/>
          <p:cNvSpPr txBox="1"/>
          <p:nvPr/>
        </p:nvSpPr>
        <p:spPr>
          <a:xfrm>
            <a:off x="1737360"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القَلْبُ فِي الصَّدْرِ</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القَلْبُ فِي الصَّدْرِ، وَالمَعِدَةُ فِي البَطْنِ.</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heart is in the chest; the stomach is in the abdomen.</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Inside organs + fī.</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use the dual noun for two eyes.</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لِي عَيْنَانِ.</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150" b="1" dirty="0">
                <a:solidFill>
                  <a:srgbClr val="B83227"/>
                </a:solidFill>
                <a:latin typeface="Amiri" pitchFamily="2" charset="-78"/>
                <a:cs typeface="Amiri" pitchFamily="2" charset="-78"/>
              </a:rPr>
              <a:t>عِنْدِي اثْنَانِ عَيْنٌ.</a:t>
            </a:r>
            <a:endParaRPr lang="ar-SA" sz="21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website grammar rules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أَسْمَاءُ الإِشَارَةِ وَصِيغَةُ المُثَنَّى</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Use </a:t>
            </a:r>
            <a:pPr algn="l" indent="0" marL="0">
              <a:buNone/>
            </a:pPr>
            <a:r>
              <a:rPr lang="ar-SA" altLang="en-US" sz="1650" b="1" dirty="0">
                <a:solidFill>
                  <a:srgbClr val="1B3B6F"/>
                </a:solidFill>
                <a:latin typeface="Amiri" pitchFamily="2" charset="-78"/>
                <a:cs typeface="Amiri" pitchFamily="2" charset="-78"/>
              </a:rPr>
              <a:t>هٰذَا</a:t>
            </a:r>
            <a:pPr algn="l" indent="0" marL="0">
              <a:buNone/>
            </a:pPr>
            <a:r>
              <a:rPr lang="en-US" sz="1250" b="1" dirty="0">
                <a:solidFill>
                  <a:srgbClr val="1B3B6F"/>
                </a:solidFill>
                <a:latin typeface="Calibri" pitchFamily="34" charset="0"/>
                <a:cs typeface="Amiri" pitchFamily="2" charset="-78"/>
              </a:rPr>
              <a:t> with masculine nouns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هٰذَا + اسْمٌ مُذَكَّرٌ</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هٰذَا رَأْسِي.   ·   هٰذَا أَنْفِي.   ·   هٰذَا فَمِي.</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Use </a:t>
            </a:r>
            <a:pPr algn="l" indent="0" marL="0">
              <a:buNone/>
            </a:pPr>
            <a:r>
              <a:rPr lang="ar-SA" altLang="en-US" sz="1650" b="1" dirty="0">
                <a:solidFill>
                  <a:srgbClr val="1B3B6F"/>
                </a:solidFill>
                <a:latin typeface="Amiri" pitchFamily="2" charset="-78"/>
                <a:cs typeface="Amiri" pitchFamily="2" charset="-78"/>
              </a:rPr>
              <a:t>هٰذِهِ</a:t>
            </a:r>
            <a:pPr algn="l" indent="0" marL="0">
              <a:buNone/>
            </a:pPr>
            <a:r>
              <a:rPr lang="en-US" sz="1250" b="1" dirty="0">
                <a:solidFill>
                  <a:srgbClr val="1B3B6F"/>
                </a:solidFill>
                <a:latin typeface="Calibri" pitchFamily="34" charset="0"/>
                <a:cs typeface="Amiri" pitchFamily="2" charset="-78"/>
              </a:rPr>
              <a:t> with feminine nouns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هٰذِهِ + اسْمٌ مُؤَنَّثٌ</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هٰذِهِ يَدِي.   ·   هٰذِهِ عَيْنِي.   ·   هٰذِهِ أُذُنِي.</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Form the dual</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ـَانِ</a:t>
            </a:r>
            <a:pPr algn="l" indent="0" marL="0">
              <a:buNone/>
            </a:pPr>
            <a:r>
              <a:rPr lang="en-US" sz="1050" dirty="0">
                <a:solidFill>
                  <a:srgbClr val="5A6472"/>
                </a:solidFill>
                <a:latin typeface="Calibri" pitchFamily="34" charset="0"/>
                <a:cs typeface="Amiri" pitchFamily="2" charset="-78"/>
              </a:rPr>
              <a:t> (subject) · </a:t>
            </a:r>
            <a:pPr algn="l" indent="0" marL="0">
              <a:buNone/>
            </a:pPr>
            <a:r>
              <a:rPr lang="ar-SA" altLang="en-US" sz="1350" dirty="0">
                <a:solidFill>
                  <a:srgbClr val="5A6472"/>
                </a:solidFill>
                <a:latin typeface="Amiri" pitchFamily="2" charset="-78"/>
                <a:cs typeface="Amiri" pitchFamily="2" charset="-78"/>
              </a:rPr>
              <a:t>ـَيْنِ</a:t>
            </a:r>
            <a:pPr algn="l" indent="0" marL="0">
              <a:buNone/>
            </a:pPr>
            <a:r>
              <a:rPr lang="en-US" sz="1050" dirty="0">
                <a:solidFill>
                  <a:srgbClr val="5A6472"/>
                </a:solidFill>
                <a:latin typeface="Calibri" pitchFamily="34" charset="0"/>
                <a:cs typeface="Amiri" pitchFamily="2" charset="-78"/>
              </a:rPr>
              <a:t> (other positions)</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لِي عَيْنَانِ.   ·   أَغْسِلُ يَدَيْنِ.   ·   أَرَى بِعَيْنَيْنِ.</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Add the possessive ending</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اسْمُ الجِسْمِ + ـِي</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رَأْسِي   ·   يَدِي   ·   عَيْنَايَ</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my hand.”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يَدِي.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يَدُكَ.</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يَدِي.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means “my head”?</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رَأْسِي</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رَأْسُهُ</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رَأْسُكَ</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dual form?</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عَيْنٌ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عَيْنَانِ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عُيُونٌ</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demonstrative for </a:t>
            </a:r>
            <a:pPr algn="l" indent="0" marL="0">
              <a:buNone/>
            </a:pPr>
            <a:r>
              <a:rPr lang="ar-SA" altLang="en-US" sz="1650" b="1" dirty="0">
                <a:solidFill>
                  <a:srgbClr val="1B3B6F"/>
                </a:solidFill>
                <a:latin typeface="Amiri" pitchFamily="2" charset="-78"/>
                <a:cs typeface="Amiri" pitchFamily="2" charset="-78"/>
              </a:rPr>
              <a:t>أَنْفٌ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هٰؤُلَاءِ</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my hand.”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هٰذَا يَدِي.</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هٰذِهِ يَدُكَ.</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هٰذِهِ يَدِي.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يَدٌ</a:t>
            </a:r>
            <a:pPr algn="l" indent="0" marL="0">
              <a:buNone/>
            </a:pPr>
            <a:r>
              <a:rPr lang="en-US" sz="1050" i="1" dirty="0">
                <a:solidFill>
                  <a:srgbClr val="8A6D1E"/>
                </a:solidFill>
                <a:latin typeface="Calibri" pitchFamily="34" charset="0"/>
                <a:cs typeface="Amiri" pitchFamily="2" charset="-78"/>
              </a:rPr>
              <a:t> is grammatically feminine.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means “my head”?</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رَأْسِي</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رَأْسُهُ</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رَأْسُكَ</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suffix </a:t>
            </a:r>
            <a:pPr algn="l" indent="0" marL="0">
              <a:buNone/>
            </a:pPr>
            <a:r>
              <a:rPr lang="ar-SA" altLang="en-US" sz="1350" dirty="0">
                <a:solidFill>
                  <a:srgbClr val="8A6D1E"/>
                </a:solidFill>
                <a:latin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means “my”.</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dual form?</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عَيْنٌ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عَيْنَانِ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عُيُونٌ</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ending </a:t>
            </a:r>
            <a:pPr algn="l" indent="0" marL="0">
              <a:buNone/>
            </a:pPr>
            <a:r>
              <a:rPr lang="ar-SA" altLang="en-US" sz="1350" dirty="0">
                <a:solidFill>
                  <a:srgbClr val="8A6D1E"/>
                </a:solidFill>
                <a:latin typeface="Amiri" pitchFamily="2" charset="-78"/>
                <a:cs typeface="Amiri" pitchFamily="2" charset="-78"/>
              </a:rPr>
              <a:t>ـانِ</a:t>
            </a:r>
            <a:pPr algn="l" indent="0" marL="0">
              <a:buNone/>
            </a:pPr>
            <a:r>
              <a:rPr lang="en-US" sz="1050" i="1" dirty="0">
                <a:solidFill>
                  <a:srgbClr val="8A6D1E"/>
                </a:solidFill>
                <a:latin typeface="Calibri" pitchFamily="34" charset="0"/>
                <a:cs typeface="Amiri" pitchFamily="2" charset="-78"/>
              </a:rPr>
              <a:t> marks the dual here.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demonstrative for </a:t>
            </a:r>
            <a:pPr algn="l" indent="0" marL="0">
              <a:buNone/>
            </a:pPr>
            <a:r>
              <a:rPr lang="ar-SA" altLang="en-US" sz="1650" b="1" dirty="0">
                <a:solidFill>
                  <a:srgbClr val="1B3B6F"/>
                </a:solidFill>
                <a:latin typeface="Amiri" pitchFamily="2" charset="-78"/>
                <a:cs typeface="Amiri" pitchFamily="2" charset="-78"/>
              </a:rPr>
              <a:t>أَنْفٌ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هٰذَا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هٰذِهِ</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هٰؤُلَاءِ</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أَنْفٌ</a:t>
            </a:r>
            <a:pPr algn="l" indent="0" marL="0">
              <a:buNone/>
            </a:pPr>
            <a:r>
              <a:rPr lang="en-US" sz="1050" i="1" dirty="0">
                <a:solidFill>
                  <a:srgbClr val="8A6D1E"/>
                </a:solidFill>
                <a:latin typeface="Calibri" pitchFamily="34" charset="0"/>
                <a:cs typeface="Amiri" pitchFamily="2" charset="-78"/>
              </a:rPr>
              <a:t> is masculine singular.</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describe my body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This is my …</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هٰذَا</a:t>
            </a:r>
            <a:pPr rtl="1" algn="ctr" indent="0" marL="0">
              <a:buNone/>
            </a:pPr>
            <a:r>
              <a:rPr lang="ar-SA" altLang="en-US" sz="2400" b="1" dirty="0">
                <a:solidFill>
                  <a:srgbClr val="1B3B6F"/>
                </a:solidFill>
                <a:latin typeface="Amiri" pitchFamily="2" charset="-78"/>
                <a:cs typeface="Amiri" pitchFamily="2" charset="-78"/>
              </a:rPr>
              <a:t> رَأْسِي، وَ</a:t>
            </a:r>
            <a:pPr rtl="1" algn="ctr" indent="0" marL="0">
              <a:buNone/>
            </a:pPr>
            <a:r>
              <a:rPr lang="ar-SA" altLang="en-US" sz="2400" b="1" dirty="0">
                <a:solidFill>
                  <a:srgbClr val="1D5FBF"/>
                </a:solidFill>
                <a:latin typeface="Amiri" pitchFamily="2" charset="-78"/>
                <a:cs typeface="Amiri" pitchFamily="2" charset="-78"/>
              </a:rPr>
              <a:t>هٰذَا</a:t>
            </a:r>
            <a:pPr rtl="1" algn="ctr" indent="0" marL="0">
              <a:buNone/>
            </a:pPr>
            <a:r>
              <a:rPr lang="ar-SA" altLang="en-US" sz="2400" b="1" dirty="0">
                <a:solidFill>
                  <a:srgbClr val="1B3B6F"/>
                </a:solidFill>
                <a:latin typeface="Amiri" pitchFamily="2" charset="-78"/>
                <a:cs typeface="Amiri" pitchFamily="2" charset="-78"/>
              </a:rPr>
              <a:t> وَجْهِي.</a:t>
            </a:r>
            <a:endParaRPr lang="ar-SA" sz="24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Head, face: m.</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Two</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لِي </a:t>
            </a:r>
            <a:pPr rtl="1" algn="ctr" indent="0" marL="0">
              <a:buNone/>
            </a:pPr>
            <a:r>
              <a:rPr lang="ar-SA" altLang="en-US" sz="2800" b="1" dirty="0">
                <a:solidFill>
                  <a:srgbClr val="7B3FA0"/>
                </a:solidFill>
                <a:latin typeface="Amiri" pitchFamily="2" charset="-78"/>
                <a:cs typeface="Amiri" pitchFamily="2" charset="-78"/>
              </a:rPr>
              <a:t>عَيْنَانِ</a:t>
            </a:r>
            <a:pPr rtl="1" algn="ctr" indent="0" marL="0">
              <a:buNone/>
            </a:pPr>
            <a:r>
              <a:rPr lang="ar-SA" altLang="en-US" sz="2800" b="1" dirty="0">
                <a:solidFill>
                  <a:srgbClr val="1B3B6F"/>
                </a:solidFill>
                <a:latin typeface="Amiri" pitchFamily="2" charset="-78"/>
                <a:cs typeface="Amiri" pitchFamily="2" charset="-78"/>
              </a:rPr>
              <a:t> وَ</a:t>
            </a:r>
            <a:pPr rtl="1" algn="ctr" indent="0" marL="0">
              <a:buNone/>
            </a:pPr>
            <a:r>
              <a:rPr lang="ar-SA" altLang="en-US" sz="2800" b="1" dirty="0">
                <a:solidFill>
                  <a:srgbClr val="7B3FA0"/>
                </a:solidFill>
                <a:latin typeface="Amiri" pitchFamily="2" charset="-78"/>
                <a:cs typeface="Amiri" pitchFamily="2" charset="-78"/>
              </a:rPr>
              <a:t>أُذُنَانِ</a:t>
            </a:r>
            <a:pPr rtl="1" algn="ctr" indent="0" marL="0">
              <a:buNone/>
            </a:pPr>
            <a:r>
              <a:rPr lang="ar-SA" altLang="en-US" sz="2800" b="1" dirty="0">
                <a:solidFill>
                  <a:srgbClr val="1B3B6F"/>
                </a:solidFill>
                <a:latin typeface="Amiri" pitchFamily="2" charset="-78"/>
                <a:cs typeface="Amiri" pitchFamily="2" charset="-78"/>
              </a:rPr>
              <a:t>.</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 -āni.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With my …</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أَرَى بِعَيْنَيَّ، وَأَسْمَعُ بِأُذُنَيَّ.</a:t>
            </a:r>
            <a:endParaRPr lang="ar-SA" sz="21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Sense verb + bi-.</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Feminine!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D6336C"/>
                </a:solidFill>
                <a:latin typeface="Amiri" pitchFamily="2" charset="-78"/>
                <a:cs typeface="Amiri" pitchFamily="2" charset="-78"/>
              </a:rPr>
              <a:t>هٰذِهِ</a:t>
            </a:r>
            <a:pPr rtl="1" algn="ctr" indent="0" marL="0">
              <a:lnSpc>
                <a:spcPct val="120000"/>
              </a:lnSpc>
              <a:buNone/>
            </a:pPr>
            <a:r>
              <a:rPr lang="ar-SA" altLang="en-US" sz="1750" b="1" dirty="0">
                <a:solidFill>
                  <a:srgbClr val="1B3B6F"/>
                </a:solidFill>
                <a:latin typeface="Amiri" pitchFamily="2" charset="-78"/>
                <a:cs typeface="Amiri" pitchFamily="2" charset="-78"/>
              </a:rPr>
              <a:t> يَدِي اليُمْنَى، وَ</a:t>
            </a:r>
            <a:pPr rtl="1" algn="ctr" indent="0" marL="0">
              <a:lnSpc>
                <a:spcPct val="120000"/>
              </a:lnSpc>
              <a:buNone/>
            </a:pPr>
            <a:r>
              <a:rPr lang="ar-SA" altLang="en-US" sz="1750" b="1" dirty="0">
                <a:solidFill>
                  <a:srgbClr val="D6336C"/>
                </a:solidFill>
                <a:latin typeface="Amiri" pitchFamily="2" charset="-78"/>
                <a:cs typeface="Amiri" pitchFamily="2" charset="-78"/>
              </a:rPr>
              <a:t>هٰذِهِ</a:t>
            </a:r>
            <a:pPr rtl="1" algn="ctr" indent="0" marL="0">
              <a:lnSpc>
                <a:spcPct val="120000"/>
              </a:lnSpc>
              <a:buNone/>
            </a:pPr>
            <a:r>
              <a:rPr lang="ar-SA" altLang="en-US" sz="1750" b="1" dirty="0">
                <a:solidFill>
                  <a:srgbClr val="1B3B6F"/>
                </a:solidFill>
                <a:latin typeface="Amiri" pitchFamily="2" charset="-78"/>
                <a:cs typeface="Amiri" pitchFamily="2" charset="-78"/>
              </a:rPr>
              <a:t> يَدِي اليُسْرَى.</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Hand is f. → hādhihi, al-yumnā.</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MASCULINE</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a:t>
            </a:r>
            <a:endParaRPr lang="en-US" sz="800" dirty="0"/>
          </a:p>
        </p:txBody>
      </p:sp>
      <p:sp>
        <p:nvSpPr>
          <p:cNvPr id="49" name="Shape 45"/>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TWO</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D5FBF"/>
                </a:solidFill>
                <a:latin typeface="Amiri" pitchFamily="2" charset="-78"/>
                <a:cs typeface="Amiri" pitchFamily="2" charset="-78"/>
              </a:rPr>
              <a:t>هٰذَا</a:t>
            </a:r>
            <a:pPr rtl="1" algn="r" indent="0" marL="0">
              <a:lnSpc>
                <a:spcPct val="120000"/>
              </a:lnSpc>
              <a:buNone/>
            </a:pPr>
            <a:r>
              <a:rPr lang="ar-SA" altLang="en-US" sz="1600" b="1" dirty="0">
                <a:solidFill>
                  <a:srgbClr val="1B3B6F"/>
                </a:solidFill>
                <a:latin typeface="Amiri" pitchFamily="2" charset="-78"/>
                <a:cs typeface="Amiri" pitchFamily="2" charset="-78"/>
              </a:rPr>
              <a:t> رَأْسِي، وَ</a:t>
            </a:r>
            <a:pPr rtl="1" algn="r" indent="0" marL="0">
              <a:lnSpc>
                <a:spcPct val="120000"/>
              </a:lnSpc>
              <a:buNone/>
            </a:pPr>
            <a:r>
              <a:rPr lang="ar-SA" altLang="en-US" sz="1600" b="1" dirty="0">
                <a:solidFill>
                  <a:srgbClr val="1D5FBF"/>
                </a:solidFill>
                <a:latin typeface="Amiri" pitchFamily="2" charset="-78"/>
                <a:cs typeface="Amiri" pitchFamily="2" charset="-78"/>
              </a:rPr>
              <a:t>هٰذَا</a:t>
            </a:r>
            <a:pPr rtl="1" algn="r" indent="0" marL="0">
              <a:lnSpc>
                <a:spcPct val="120000"/>
              </a:lnSpc>
              <a:buNone/>
            </a:pPr>
            <a:r>
              <a:rPr lang="ar-SA" altLang="en-US" sz="1600" b="1" dirty="0">
                <a:solidFill>
                  <a:srgbClr val="1B3B6F"/>
                </a:solidFill>
                <a:latin typeface="Amiri" pitchFamily="2" charset="-78"/>
                <a:cs typeface="Amiri" pitchFamily="2" charset="-78"/>
              </a:rPr>
              <a:t> وَجْهِي. لِي </a:t>
            </a:r>
            <a:pPr rtl="1" algn="r" indent="0" marL="0">
              <a:lnSpc>
                <a:spcPct val="120000"/>
              </a:lnSpc>
              <a:buNone/>
            </a:pPr>
            <a:r>
              <a:rPr lang="ar-SA" altLang="en-US" sz="1600" b="1" dirty="0">
                <a:solidFill>
                  <a:srgbClr val="7B3FA0"/>
                </a:solidFill>
                <a:latin typeface="Amiri" pitchFamily="2" charset="-78"/>
                <a:cs typeface="Amiri" pitchFamily="2" charset="-78"/>
              </a:rPr>
              <a:t>عَيْنَانِ</a:t>
            </a:r>
            <a:pPr rtl="1" algn="r" indent="0" marL="0">
              <a:lnSpc>
                <a:spcPct val="120000"/>
              </a:lnSpc>
              <a:buNone/>
            </a:pPr>
            <a:r>
              <a:rPr lang="ar-SA" altLang="en-US" sz="1600" b="1" dirty="0">
                <a:solidFill>
                  <a:srgbClr val="1B3B6F"/>
                </a:solidFill>
                <a:latin typeface="Amiri" pitchFamily="2" charset="-78"/>
                <a:cs typeface="Amiri" pitchFamily="2" charset="-78"/>
              </a:rPr>
              <a:t> وَ</a:t>
            </a:r>
            <a:pPr rtl="1" algn="r" indent="0" marL="0">
              <a:lnSpc>
                <a:spcPct val="120000"/>
              </a:lnSpc>
              <a:buNone/>
            </a:pPr>
            <a:r>
              <a:rPr lang="ar-SA" altLang="en-US" sz="1600" b="1" dirty="0">
                <a:solidFill>
                  <a:srgbClr val="7B3FA0"/>
                </a:solidFill>
                <a:latin typeface="Amiri" pitchFamily="2" charset="-78"/>
                <a:cs typeface="Amiri" pitchFamily="2" charset="-78"/>
              </a:rPr>
              <a:t>أُذُنَانِ</a:t>
            </a:r>
            <a:pPr rtl="1" algn="r" indent="0" marL="0">
              <a:lnSpc>
                <a:spcPct val="120000"/>
              </a:lnSpc>
              <a:buNone/>
            </a:pPr>
            <a:r>
              <a:rPr lang="ar-SA" altLang="en-US" sz="1600" b="1" dirty="0">
                <a:solidFill>
                  <a:srgbClr val="1B3B6F"/>
                </a:solidFill>
                <a:latin typeface="Amiri" pitchFamily="2" charset="-78"/>
                <a:cs typeface="Amiri" pitchFamily="2" charset="-78"/>
              </a:rPr>
              <a:t>. أَرَى بِعَيْنَيَّ وَأَسْمَعُ بِأُذُنَيَّ. </a:t>
            </a:r>
            <a:pPr rtl="1" algn="r" indent="0" marL="0">
              <a:lnSpc>
                <a:spcPct val="120000"/>
              </a:lnSpc>
              <a:buNone/>
            </a:pPr>
            <a:r>
              <a:rPr lang="ar-SA" altLang="en-US" sz="1600" b="1" dirty="0">
                <a:solidFill>
                  <a:srgbClr val="D6336C"/>
                </a:solidFill>
                <a:latin typeface="Amiri" pitchFamily="2" charset="-78"/>
                <a:cs typeface="Amiri" pitchFamily="2" charset="-78"/>
              </a:rPr>
              <a:t>هٰذِهِ</a:t>
            </a:r>
            <a:pPr rtl="1" algn="r" indent="0" marL="0">
              <a:lnSpc>
                <a:spcPct val="120000"/>
              </a:lnSpc>
              <a:buNone/>
            </a:pPr>
            <a:r>
              <a:rPr lang="ar-SA" altLang="en-US" sz="1600" b="1" dirty="0">
                <a:solidFill>
                  <a:srgbClr val="1B3B6F"/>
                </a:solidFill>
                <a:latin typeface="Amiri" pitchFamily="2" charset="-78"/>
                <a:cs typeface="Amiri" pitchFamily="2" charset="-78"/>
              </a:rPr>
              <a:t> يَدِي اليُمْنَى، وَ</a:t>
            </a:r>
            <a:pPr rtl="1" algn="r" indent="0" marL="0">
              <a:lnSpc>
                <a:spcPct val="120000"/>
              </a:lnSpc>
              <a:buNone/>
            </a:pPr>
            <a:r>
              <a:rPr lang="ar-SA" altLang="en-US" sz="1600" b="1" dirty="0">
                <a:solidFill>
                  <a:srgbClr val="D6336C"/>
                </a:solidFill>
                <a:latin typeface="Amiri" pitchFamily="2" charset="-78"/>
                <a:cs typeface="Amiri" pitchFamily="2" charset="-78"/>
              </a:rPr>
              <a:t>هٰذِهِ</a:t>
            </a:r>
            <a:pPr rtl="1" algn="r" indent="0" marL="0">
              <a:lnSpc>
                <a:spcPct val="120000"/>
              </a:lnSpc>
              <a:buNone/>
            </a:pPr>
            <a:r>
              <a:rPr lang="ar-SA" altLang="en-US" sz="1600" b="1" dirty="0">
                <a:solidFill>
                  <a:srgbClr val="1B3B6F"/>
                </a:solidFill>
                <a:latin typeface="Amiri" pitchFamily="2" charset="-78"/>
                <a:cs typeface="Amiri" pitchFamily="2" charset="-78"/>
              </a:rPr>
              <a:t> يَدِي اليُسْرَى. أَكْتُبُ بِيَدِي، وَأَمْشِي بِقَدَمَيَّ. القَلْبُ فِي صَدْرِي.</a:t>
            </a:r>
            <a:endParaRPr lang="ar-SA" sz="16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This is my head, and this is my face. I have two eyes and two ears. I see with my eyes and hear with my ears. This is my right hand, and this is my left hand. I write with my hand, and I walk with my feet. The heart is in my chest.</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هٰذَا رَأْسِي، وَهٰذِهِ يَدِي.</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my head, and this is my hand.</a:t>
            </a:r>
            <a:endParaRPr lang="en-US" sz="1250" dirty="0"/>
          </a:p>
          <a:p>
            <a:pPr indent="0" marL="0">
              <a:buNone/>
            </a:pPr>
            <a:r>
              <a:rPr lang="en-US" sz="1050" i="1" dirty="0">
                <a:solidFill>
                  <a:srgbClr val="8A6D1E"/>
                </a:solidFill>
                <a:latin typeface="Calibri" pitchFamily="34" charset="0"/>
                <a:cs typeface="Amiri" pitchFamily="2" charset="-78"/>
              </a:rPr>
              <a:t>Choose the demonstrative according to noun gender.</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لِي عَيْنَانِ وَأُذُنَانِ.</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have two eyes and two ears.</a:t>
            </a:r>
            <a:endParaRPr lang="en-US" sz="1250" dirty="0"/>
          </a:p>
          <a:p>
            <a:pPr indent="0" marL="0">
              <a:buNone/>
            </a:pPr>
            <a:r>
              <a:rPr lang="en-US" sz="1050" i="1" dirty="0">
                <a:solidFill>
                  <a:srgbClr val="8A6D1E"/>
                </a:solidFill>
                <a:latin typeface="Calibri" pitchFamily="34" charset="0"/>
                <a:cs typeface="Amiri" pitchFamily="2" charset="-78"/>
              </a:rPr>
              <a:t>The dual ending -انِ signals two in this form.</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نَرَى بِأَعْيُنِنَا، وَنَسْمَعُ بِآذَانِنَا.</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see with our eyes and hear with our ears.</a:t>
            </a:r>
            <a:endParaRPr lang="en-US" sz="1250" dirty="0"/>
          </a:p>
          <a:p>
            <a:pPr indent="0" marL="0">
              <a:buNone/>
            </a:pPr>
            <a:r>
              <a:rPr lang="en-US" sz="1050" i="1" dirty="0">
                <a:solidFill>
                  <a:srgbClr val="8A6D1E"/>
                </a:solidFill>
                <a:latin typeface="Calibri" pitchFamily="34" charset="0"/>
                <a:cs typeface="Amiri" pitchFamily="2" charset="-78"/>
              </a:rPr>
              <a:t>بِـ can express the body part used.</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القَلْبُ فِي الصَّدْرِ، وَالمَعِدَةُ فِي البَطْنِ.</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heart is in the chest, and the stomach is in the abdomen.</a:t>
            </a:r>
            <a:endParaRPr lang="en-US" sz="1250" dirty="0"/>
          </a:p>
          <a:p>
            <a:pPr indent="0" marL="0">
              <a:buNone/>
            </a:pPr>
            <a:r>
              <a:rPr lang="en-US" sz="1050" i="1" dirty="0">
                <a:solidFill>
                  <a:srgbClr val="8A6D1E"/>
                </a:solidFill>
                <a:latin typeface="Calibri" pitchFamily="34" charset="0"/>
                <a:cs typeface="Amiri" pitchFamily="2" charset="-78"/>
              </a:rPr>
              <a:t>Use فِي to locate internal organs.</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WE DO · PICTURE MATCH · WEBSITE GAME “VISUAL GAME — THE BODY AND ITS PARTS”</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Body parts: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أَجْزَاءُ الجِسْمِ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nose</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558698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6" name="Text 2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hand</a:t>
            </a:r>
            <a:endParaRPr lang="en-US" sz="1100" dirty="0"/>
          </a:p>
        </p:txBody>
      </p:sp>
      <p:sp>
        <p:nvSpPr>
          <p:cNvPr id="27"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0" name="Shape 25"/>
          <p:cNvSpPr/>
          <p:nvPr/>
        </p:nvSpPr>
        <p:spPr>
          <a:xfrm>
            <a:off x="1767840"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32" name="Text 2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leg</a:t>
            </a:r>
            <a:endParaRPr lang="en-US" sz="1100" dirty="0"/>
          </a:p>
        </p:txBody>
      </p:sp>
      <p:sp>
        <p:nvSpPr>
          <p:cNvPr id="33" name="Shape 27"/>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4" name="Shape 28"/>
          <p:cNvSpPr/>
          <p:nvPr/>
        </p:nvSpPr>
        <p:spPr>
          <a:xfrm>
            <a:off x="11247120" y="3831336"/>
            <a:ext cx="292608" cy="292608"/>
          </a:xfrm>
          <a:prstGeom prst="ellipse">
            <a:avLst/>
          </a:prstGeom>
          <a:solidFill>
            <a:srgbClr val="2F6FB0"/>
          </a:solidFill>
          <a:ln w="12700">
            <a:solidFill>
              <a:srgbClr val="2F6FB0"/>
            </a:solidFill>
            <a:prstDash val="solid"/>
          </a:ln>
        </p:spPr>
      </p:sp>
      <p:sp>
        <p:nvSpPr>
          <p:cNvPr id="35" name="Text 29"/>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6" name="Text 30"/>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هٰذِهِ يَدٌ.</a:t>
            </a:r>
            <a:endParaRPr lang="ar-SA" sz="2000" dirty="0"/>
          </a:p>
        </p:txBody>
      </p:sp>
      <p:sp>
        <p:nvSpPr>
          <p:cNvPr id="37" name="Shape 31"/>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38" name="Shape 32"/>
          <p:cNvSpPr/>
          <p:nvPr/>
        </p:nvSpPr>
        <p:spPr>
          <a:xfrm>
            <a:off x="11247120" y="4398264"/>
            <a:ext cx="292608" cy="292608"/>
          </a:xfrm>
          <a:prstGeom prst="ellipse">
            <a:avLst/>
          </a:prstGeom>
          <a:solidFill>
            <a:srgbClr val="2F6FB0"/>
          </a:solidFill>
          <a:ln w="12700">
            <a:solidFill>
              <a:srgbClr val="2F6FB0"/>
            </a:solidFill>
            <a:prstDash val="solid"/>
          </a:ln>
        </p:spPr>
      </p:sp>
      <p:sp>
        <p:nvSpPr>
          <p:cNvPr id="39" name="Text 33"/>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0" name="Text 34"/>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هٰذِهِ سَاقٌ.</a:t>
            </a:r>
            <a:endParaRPr lang="ar-SA" sz="2000" dirty="0"/>
          </a:p>
        </p:txBody>
      </p:sp>
      <p:sp>
        <p:nvSpPr>
          <p:cNvPr id="41" name="Shape 35"/>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2" name="Shape 36"/>
          <p:cNvSpPr/>
          <p:nvPr/>
        </p:nvSpPr>
        <p:spPr>
          <a:xfrm>
            <a:off x="11247120" y="4965192"/>
            <a:ext cx="292608" cy="292608"/>
          </a:xfrm>
          <a:prstGeom prst="ellipse">
            <a:avLst/>
          </a:prstGeom>
          <a:solidFill>
            <a:srgbClr val="2F6FB0"/>
          </a:solidFill>
          <a:ln w="12700">
            <a:solidFill>
              <a:srgbClr val="2F6FB0"/>
            </a:solidFill>
            <a:prstDash val="solid"/>
          </a:ln>
        </p:spPr>
      </p:sp>
      <p:sp>
        <p:nvSpPr>
          <p:cNvPr id="43" name="Text 37"/>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4" name="Text 38"/>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هٰذَا أَنْفٌ.</a:t>
            </a:r>
            <a:endParaRPr lang="ar-SA" sz="2000" dirty="0"/>
          </a:p>
        </p:txBody>
      </p:sp>
      <p:sp>
        <p:nvSpPr>
          <p:cNvPr id="45" name="Text 39"/>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6" name="Text 40"/>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7"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أَجْزَاءُ الجِسْمِ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nose</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هٰذَا أَنْفٌ.</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nose.</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1"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hand</a:t>
            </a:r>
            <a:endParaRPr lang="en-US" sz="1100" dirty="0"/>
          </a:p>
        </p:txBody>
      </p:sp>
      <p:sp>
        <p:nvSpPr>
          <p:cNvPr id="32"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3"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4"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5"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هٰذِهِ يَدٌ.</a:t>
            </a:r>
            <a:endParaRPr lang="ar-SA" sz="2200" dirty="0"/>
          </a:p>
        </p:txBody>
      </p:sp>
      <p:sp>
        <p:nvSpPr>
          <p:cNvPr id="36"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hand.</a:t>
            </a:r>
            <a:endParaRPr lang="en-US" sz="1200" dirty="0"/>
          </a:p>
        </p:txBody>
      </p:sp>
      <p:sp>
        <p:nvSpPr>
          <p:cNvPr id="37"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0" name="Shape 35"/>
          <p:cNvSpPr/>
          <p:nvPr/>
        </p:nvSpPr>
        <p:spPr>
          <a:xfrm>
            <a:off x="1767840" y="2066544"/>
            <a:ext cx="1014984" cy="1014984"/>
          </a:xfrm>
          <a:prstGeom prst="ellipse">
            <a:avLst/>
          </a:prstGeom>
          <a:solidFill>
            <a:srgbClr val="F4F1EA"/>
          </a:solidFill>
          <a:ln w="12700">
            <a:solidFill>
              <a:srgbClr val="F4F1EA"/>
            </a:solidFill>
            <a:prstDash val="solid"/>
          </a:ln>
        </p:spPr>
      </p:sp>
      <p:pic>
        <p:nvPicPr>
          <p:cNvPr id="4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42" name="Text 3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leg</a:t>
            </a:r>
            <a:endParaRPr lang="en-US" sz="1100" dirty="0"/>
          </a:p>
        </p:txBody>
      </p:sp>
      <p:sp>
        <p:nvSpPr>
          <p:cNvPr id="43" name="Shape 37"/>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4" name="Shape 38"/>
          <p:cNvSpPr/>
          <p:nvPr/>
        </p:nvSpPr>
        <p:spPr>
          <a:xfrm>
            <a:off x="3617976" y="3785616"/>
            <a:ext cx="329184" cy="329184"/>
          </a:xfrm>
          <a:prstGeom prst="ellipse">
            <a:avLst/>
          </a:prstGeom>
          <a:solidFill>
            <a:srgbClr val="2E8B57"/>
          </a:solidFill>
          <a:ln w="12700">
            <a:solidFill>
              <a:srgbClr val="2E8B57"/>
            </a:solidFill>
            <a:prstDash val="solid"/>
          </a:ln>
        </p:spPr>
      </p:sp>
      <p:sp>
        <p:nvSpPr>
          <p:cNvPr id="45" name="Text 39"/>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46" name="Text 40"/>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هٰذِهِ سَاقٌ.</a:t>
            </a:r>
            <a:endParaRPr lang="ar-SA" sz="2200" dirty="0"/>
          </a:p>
        </p:txBody>
      </p:sp>
      <p:sp>
        <p:nvSpPr>
          <p:cNvPr id="47" name="Text 41"/>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leg (shin).</a:t>
            </a:r>
            <a:endParaRPr lang="en-US" sz="1200" dirty="0"/>
          </a:p>
        </p:txBody>
      </p:sp>
      <p:sp>
        <p:nvSpPr>
          <p:cNvPr id="48"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Masculine or feminine?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رَأْسٌ</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يَدٌ</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عَيْنٌ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أَنْفٌ</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رُكْبَةٌ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فَمٌ</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قَدَمٌ</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ظَهْرٌ</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هٰذَا · masculine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هٰذِهِ · feminine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هٰذَا · masculine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رَأْسٌ</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أَنْفٌ</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فَمٌ</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ظَهْرٌ</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هٰذِهِ · feminine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يَدٌ</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عَيْنٌ</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رُكْبَةٌ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قَدَمٌ</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أَرَى ___ عَيْنَيَّ.</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31" name="Shape 28"/>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locates the heart?</a:t>
            </a:r>
            <a:endParaRPr lang="en-US" sz="1250" dirty="0"/>
          </a:p>
        </p:txBody>
      </p:sp>
      <p:sp>
        <p:nvSpPr>
          <p:cNvPr id="35" name="Shape 32"/>
          <p:cNvSpPr/>
          <p:nvPr/>
        </p:nvSpPr>
        <p:spPr>
          <a:xfrm>
            <a:off x="4459224"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القَلْبُ بِالصَّدْرِ.</a:t>
            </a:r>
            <a:endParaRPr lang="ar-SA" sz="2050" dirty="0"/>
          </a:p>
        </p:txBody>
      </p:sp>
      <p:sp>
        <p:nvSpPr>
          <p:cNvPr id="38" name="Shape 35"/>
          <p:cNvSpPr/>
          <p:nvPr/>
        </p:nvSpPr>
        <p:spPr>
          <a:xfrm>
            <a:off x="4459224"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القَلْبُ فِي الصَّدْرِ.</a:t>
            </a:r>
            <a:endParaRPr lang="ar-SA" sz="2050" dirty="0"/>
          </a:p>
        </p:txBody>
      </p:sp>
      <p:sp>
        <p:nvSpPr>
          <p:cNvPr id="41" name="Shape 38"/>
          <p:cNvSpPr/>
          <p:nvPr/>
        </p:nvSpPr>
        <p:spPr>
          <a:xfrm>
            <a:off x="4459224"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القَلْبُ مِنَ الصَّدْرِ.</a:t>
            </a:r>
            <a:endParaRPr lang="ar-SA" sz="2050" dirty="0"/>
          </a:p>
        </p:txBody>
      </p:sp>
      <p:sp>
        <p:nvSpPr>
          <p:cNvPr id="44" name="Shape 41"/>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23504" y="1947672"/>
            <a:ext cx="310896" cy="310896"/>
          </a:xfrm>
          <a:prstGeom prst="ellipse">
            <a:avLst/>
          </a:prstGeom>
          <a:solidFill>
            <a:srgbClr val="1B3B6F"/>
          </a:solidFill>
          <a:ln w="12700">
            <a:solidFill>
              <a:srgbClr val="1B3B6F"/>
            </a:solidFill>
            <a:prstDash val="solid"/>
          </a:ln>
        </p:spPr>
      </p:sp>
      <p:sp>
        <p:nvSpPr>
          <p:cNvPr id="46" name="Text 43"/>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have two eyes”?</a:t>
            </a:r>
            <a:endParaRPr lang="en-US" sz="125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عِنْدِي اثْنَانِ عَيْنٌ.</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لِي عَيْنَانِ.</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لِي عَيْنٌ اثْنَانِ.</a:t>
            </a:r>
            <a:endParaRPr lang="ar-SA" sz="20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أَرَى ___ عَيْنَيَّ.</a:t>
            </a:r>
            <a:endParaRPr lang="ar-SA" sz="1500" dirty="0"/>
          </a:p>
        </p:txBody>
      </p:sp>
      <p:sp>
        <p:nvSpPr>
          <p:cNvPr id="22" name="Shape 19"/>
          <p:cNvSpPr/>
          <p:nvPr/>
        </p:nvSpPr>
        <p:spPr>
          <a:xfrm>
            <a:off x="640080" y="2532888"/>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فِي</a:t>
            </a:r>
            <a:endParaRPr lang="ar-SA" sz="2050" dirty="0"/>
          </a:p>
        </p:txBody>
      </p:sp>
      <p:sp>
        <p:nvSpPr>
          <p:cNvPr id="25" name="Shape 22"/>
          <p:cNvSpPr/>
          <p:nvPr/>
        </p:nvSpPr>
        <p:spPr>
          <a:xfrm>
            <a:off x="640080" y="2990088"/>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مِنْ</a:t>
            </a:r>
            <a:endParaRPr lang="ar-SA" sz="2050" dirty="0"/>
          </a:p>
        </p:txBody>
      </p:sp>
      <p:sp>
        <p:nvSpPr>
          <p:cNvPr id="28" name="Shape 25"/>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44728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بِـ</a:t>
            </a:r>
            <a:endParaRPr lang="ar-SA" sz="2050" dirty="0"/>
          </a:p>
        </p:txBody>
      </p:sp>
      <p:sp>
        <p:nvSpPr>
          <p:cNvPr id="32" name="Text 29"/>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expresses the body part used.</a:t>
            </a:r>
            <a:endParaRPr lang="en-US" sz="1050" dirty="0"/>
          </a:p>
        </p:txBody>
      </p:sp>
      <p:sp>
        <p:nvSpPr>
          <p:cNvPr id="33" name="Shape 30"/>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404360"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locates the heart?</a:t>
            </a:r>
            <a:endParaRPr lang="en-US" sz="1250" dirty="0"/>
          </a:p>
        </p:txBody>
      </p:sp>
      <p:sp>
        <p:nvSpPr>
          <p:cNvPr id="37" name="Shape 34"/>
          <p:cNvSpPr/>
          <p:nvPr/>
        </p:nvSpPr>
        <p:spPr>
          <a:xfrm>
            <a:off x="4459224" y="2532888"/>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القَلْبُ بِالصَّدْرِ.</a:t>
            </a:r>
            <a:endParaRPr lang="ar-SA" sz="2050" dirty="0"/>
          </a:p>
        </p:txBody>
      </p:sp>
      <p:sp>
        <p:nvSpPr>
          <p:cNvPr id="40" name="Shape 37"/>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299008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القَلْبُ فِي الصَّدْرِ.</a:t>
            </a:r>
            <a:endParaRPr lang="ar-SA" sz="2050" dirty="0"/>
          </a:p>
        </p:txBody>
      </p:sp>
      <p:sp>
        <p:nvSpPr>
          <p:cNvPr id="44" name="Shape 41"/>
          <p:cNvSpPr/>
          <p:nvPr/>
        </p:nvSpPr>
        <p:spPr>
          <a:xfrm>
            <a:off x="4459224" y="344728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القَلْبُ مِنَ الصَّدْرِ.</a:t>
            </a:r>
            <a:endParaRPr lang="ar-SA" sz="2050" dirty="0"/>
          </a:p>
        </p:txBody>
      </p:sp>
      <p:sp>
        <p:nvSpPr>
          <p:cNvPr id="47" name="Text 44"/>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 to say where it is.</a:t>
            </a:r>
            <a:endParaRPr lang="en-US" sz="1050" dirty="0"/>
          </a:p>
        </p:txBody>
      </p:sp>
      <p:sp>
        <p:nvSpPr>
          <p:cNvPr id="48" name="Shape 45"/>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23504" y="1947672"/>
            <a:ext cx="310896" cy="310896"/>
          </a:xfrm>
          <a:prstGeom prst="ellipse">
            <a:avLst/>
          </a:prstGeom>
          <a:solidFill>
            <a:srgbClr val="1B3B6F"/>
          </a:solidFill>
          <a:ln w="12700">
            <a:solidFill>
              <a:srgbClr val="1B3B6F"/>
            </a:solidFill>
            <a:prstDash val="solid"/>
          </a:ln>
        </p:spPr>
      </p:sp>
      <p:sp>
        <p:nvSpPr>
          <p:cNvPr id="50" name="Text 4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have two eyes”?</a:t>
            </a:r>
            <a:endParaRPr lang="en-US" sz="1250" dirty="0"/>
          </a:p>
        </p:txBody>
      </p:sp>
      <p:sp>
        <p:nvSpPr>
          <p:cNvPr id="52" name="Shape 49"/>
          <p:cNvSpPr/>
          <p:nvPr/>
        </p:nvSpPr>
        <p:spPr>
          <a:xfrm>
            <a:off x="8278368" y="2532888"/>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عِنْدِي اثْنَانِ عَيْنٌ.</a:t>
            </a:r>
            <a:endParaRPr lang="ar-SA" sz="2050" dirty="0"/>
          </a:p>
        </p:txBody>
      </p:sp>
      <p:sp>
        <p:nvSpPr>
          <p:cNvPr id="55" name="Shape 52"/>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299008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لِي عَيْنَانِ.</a:t>
            </a:r>
            <a:endParaRPr lang="ar-SA" sz="2050" dirty="0"/>
          </a:p>
        </p:txBody>
      </p:sp>
      <p:sp>
        <p:nvSpPr>
          <p:cNvPr id="59" name="Shape 56"/>
          <p:cNvSpPr/>
          <p:nvPr/>
        </p:nvSpPr>
        <p:spPr>
          <a:xfrm>
            <a:off x="8278368" y="344728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لِي عَيْنٌ اثْنَانِ.</a:t>
            </a:r>
            <a:endParaRPr lang="ar-SA" sz="2050" dirty="0"/>
          </a:p>
        </p:txBody>
      </p:sp>
      <p:sp>
        <p:nvSpPr>
          <p:cNvPr id="62" name="Text 59"/>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the dual form </a:t>
            </a:r>
            <a:pPr algn="l" indent="0" marL="0">
              <a:buNone/>
            </a:pPr>
            <a:r>
              <a:rPr lang="ar-SA" altLang="en-US" sz="1350" dirty="0">
                <a:solidFill>
                  <a:srgbClr val="8A6D1E"/>
                </a:solidFill>
                <a:latin typeface="Amiri" pitchFamily="2" charset="-78"/>
                <a:cs typeface="Amiri" pitchFamily="2" charset="-78"/>
              </a:rPr>
              <a:t>عَيْنَانِ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هٰذَا يَدِي.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hand m. or f.?</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عِنْدِي اثْنَانِ عَيْنٌ.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How do we say “two eyes”?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نَسْمَعُ بِالعَيْنِ.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body part hears?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هٰذَا يَدِي.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هٰذِهِ يَدِي.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يَدٌ</a:t>
            </a:r>
            <a:pPr algn="l" indent="0" marL="0">
              <a:buNone/>
            </a:pPr>
            <a:r>
              <a:rPr lang="en-US" sz="1150" b="1" dirty="0">
                <a:solidFill>
                  <a:srgbClr val="1B3B6F"/>
                </a:solidFill>
                <a:latin typeface="Calibri" pitchFamily="34" charset="0"/>
                <a:cs typeface="Amiri" pitchFamily="2" charset="-78"/>
              </a:rPr>
              <a:t> is grammatically feminine.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عِنْدِي اثْنَانِ عَيْنٌ.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لِي عَيْنَانِ.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the dual noun form for two eyes.</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نَسْمَعُ بِالعَيْنِ.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نَسْمَعُ بِالأُذُنِ.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Hearing is associated with the ear; the correction also reinforces the correct noun.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 and identify the body part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body part is used to see?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eyes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ears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nose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body part is used to smell?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mouth</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hand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nose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hand is used for writing?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left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right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do when tired?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puts a hand on the chest and breathes deeply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touches the head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sits on the floor</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the word after </a:t>
            </a:r>
            <a:pPr algn="l" indent="0" marL="0">
              <a:lnSpc>
                <a:spcPct val="115000"/>
              </a:lnSpc>
              <a:buNone/>
            </a:pPr>
            <a:r>
              <a:rPr lang="ar-SA" altLang="en-US" sz="1650" dirty="0">
                <a:solidFill>
                  <a:srgbClr val="1E6B52"/>
                </a:solidFill>
                <a:latin typeface="Amiri" pitchFamily="2" charset="-78"/>
                <a:cs typeface="Amiri" pitchFamily="2" charset="-78"/>
              </a:rPr>
              <a:t>بِـ</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أَرَى بِعَيْنَيَّ، وَأَسْمَعُ بِأُذُنَيَّ.</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see with my eyes, and I hear with my ears.</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أَشُمُّ بِأَنْفِي، وَآكُلُ بِفَمِي.</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smell with my nose, and I eat with my mouth.</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أَكْتُبُ بِيَدِي اليُمْنَى، وَأَرْكُضُ بِرِجْلَيَّ وَقَدَمَيَّ.</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write with my right hand, and I run with my legs and feet.</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عِنْدَمَا أَتْعَبُ، أَضَعُ يَدِي عَلَى صَدْرِي وَأَتَنَفَّسُ بِعُمْقٍ.</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I get tired, I put my hand on my chest and breathe deeply.</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body part is used to see?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eyes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ears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nose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عَيْنَيَّ</a:t>
            </a:r>
            <a:pPr algn="l" indent="0" marL="0">
              <a:buNone/>
            </a:pPr>
            <a:r>
              <a:rPr lang="en-US" sz="1050" i="1" dirty="0">
                <a:solidFill>
                  <a:srgbClr val="8A6D1E"/>
                </a:solidFill>
                <a:latin typeface="Calibri" pitchFamily="34" charset="0"/>
                <a:cs typeface="Amiri" pitchFamily="2" charset="-78"/>
              </a:rPr>
              <a:t> are the eyes.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body part is used to smell?</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mouth</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hand</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nose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أَنْفِي</a:t>
            </a:r>
            <a:pPr algn="l" indent="0" marL="0">
              <a:buNone/>
            </a:pPr>
            <a:r>
              <a:rPr lang="en-US" sz="1050" i="1" dirty="0">
                <a:solidFill>
                  <a:srgbClr val="8A6D1E"/>
                </a:solidFill>
                <a:latin typeface="Calibri" pitchFamily="34" charset="0"/>
                <a:cs typeface="Amiri" pitchFamily="2" charset="-78"/>
              </a:rPr>
              <a:t> is my nose.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hand is used for writing?</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left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right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يَدِي اليُمْنَى.</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do when tired?</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puts a hand on the chest and breathes deeply</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touches the head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sits on the floor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sentence states both actions.</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the word after </a:t>
            </a:r>
            <a:pPr algn="l" indent="0" marL="0">
              <a:lnSpc>
                <a:spcPct val="115000"/>
              </a:lnSpc>
              <a:buNone/>
            </a:pPr>
            <a:r>
              <a:rPr lang="ar-SA" altLang="en-US" sz="1650" dirty="0">
                <a:solidFill>
                  <a:srgbClr val="1E6B52"/>
                </a:solidFill>
                <a:latin typeface="Amiri" pitchFamily="2" charset="-78"/>
                <a:cs typeface="Amiri" pitchFamily="2" charset="-78"/>
              </a:rPr>
              <a:t>بِـ</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Body-part identification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هٰذَا؟ / مَا هٰذِهِ؟</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 عَيْنًا لَدَيْكَ؟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بِأَيِّ عُضْوٍ نَسْمَعُ؟</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أَيْنَ القَلْبُ؟ وَمَاذَا يَفْعَلُ؟</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هٰذَا ___ . / هٰذِهِ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لِي عَيْنَانِ.</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نَسْمَعُ بِـ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القَلْبُ فِي ___ ، وَيَعْمَلُ دَائِمًا.</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cs typeface="Amiri" pitchFamily="2" charset="-78"/>
              </a:rPr>
              <a:t>أ</a:t>
            </a:r>
            <a:endParaRPr lang="ar-SA"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 هٰذِهِ؟</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this (f.)?</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cs typeface="Amiri" pitchFamily="2" charset="-78"/>
              </a:rPr>
              <a:t>ب</a:t>
            </a:r>
            <a:endParaRPr lang="ar-SA"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هٰذِهِ يَدٌ.</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This is a hand.</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Label twelve body parts with a word bank and select the correct demonstrative.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This is my … (×4, with هٰذَا / هٰذِهِ) and one dual (I have two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Explain the function of six body parts in complete sentences.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four possessives, two duals and two action verbs.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8–10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Produce a short science-style explanation using duals, plurals and purpose phrases </a:t>
            </a:r>
            <a:pPr algn="l" indent="0" marL="0">
              <a:buNone/>
            </a:pPr>
            <a:r>
              <a:rPr lang="ar-SA" altLang="en-US" sz="1800" b="1" dirty="0">
                <a:solidFill>
                  <a:srgbClr val="1F2A37"/>
                </a:solidFill>
                <a:latin typeface="Amiri" pitchFamily="2" charset="-78"/>
                <a:cs typeface="Amiri" pitchFamily="2" charset="-78"/>
              </a:rPr>
              <a:t>لِـ</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science-style note with duals, plurals and purpose li- (like the reading).</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أَرَى بِعَيْنَيَّ.</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see with my eyes.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أَسْمَعُ بِأُذُنَيَّ.</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hear with my ears.</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أَشُمُّ بِأَنْفِي.</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smell with my nose.</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أَكْتُبُ بِيَدِي اليُمْنَى.</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write with my right hand.</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القَلْبُ فِي الصَّدْرِ.</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heart is in the chest.</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هٰذَا رَأْسِي.</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head.</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هٰذِهِ يَدِي.</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hand.</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هٰذَا … / هٰذِهِ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لِي عَيْنَانِ وَأُذُنَانِ.</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two eyes and two ears.</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لِي يَدَانِ.</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two hands.</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رَأْسٌ  ·  وَجْهٌ  ·  عَيْنٌ  ·  أُذُنٌ  ·  أَنْفٌ  ·  فَمٌ  ·  يَدٌ  ·  رِجْلٌ  ·  قَدَمٌ  ·  هٰذَا  ·  هٰذِهِ  ·  بِـ</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7–8 sentences describing the body and what selected parts do. Include four possessive forms, two dual forms and two action verbs.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cs typeface="Amiri" pitchFamily="2" charset="-78"/>
              </a:rPr>
              <a:t>هٰذَا / هٰذِهِ</a:t>
            </a:r>
            <a:pPr algn="l" indent="0" marL="0">
              <a:buNone/>
            </a:pPr>
            <a:r>
              <a:rPr lang="en-US" sz="1200" dirty="0">
                <a:solidFill>
                  <a:srgbClr val="1F2A37"/>
                </a:solidFill>
                <a:latin typeface="Calibri" pitchFamily="34" charset="0"/>
                <a:cs typeface="Amiri" pitchFamily="2" charset="-78"/>
              </a:rPr>
              <a:t> accurately.</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t>
            </a:r>
            <a:pPr algn="l" indent="0" marL="0">
              <a:buNone/>
            </a:pPr>
            <a:r>
              <a:rPr lang="ar-SA" altLang="en-US" sz="1550" dirty="0">
                <a:solidFill>
                  <a:srgbClr val="1F2A37"/>
                </a:solidFill>
                <a:latin typeface="Amiri" pitchFamily="2" charset="-78"/>
                <a:cs typeface="Amiri" pitchFamily="2" charset="-78"/>
              </a:rPr>
              <a:t>عَيْنَانِ، أُذُنَانِ، يَدَانِ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cs typeface="Amiri" pitchFamily="2" charset="-78"/>
              </a:rPr>
              <a:t>قَدَمَانِ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two of </a:t>
            </a:r>
            <a:pPr algn="l" indent="0" marL="0">
              <a:buNone/>
            </a:pPr>
            <a:r>
              <a:rPr lang="ar-SA" altLang="en-US" sz="1550" dirty="0">
                <a:solidFill>
                  <a:srgbClr val="1F2A37"/>
                </a:solidFill>
                <a:latin typeface="Amiri" pitchFamily="2" charset="-78"/>
                <a:cs typeface="Amiri" pitchFamily="2" charset="-78"/>
              </a:rPr>
              <a:t>يَرَى، يَسْمَعُ، يَشُمُّ، يَلْمِسُ، يَتَنَفَّسُ</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Check feminine nouns such as </a:t>
            </a:r>
            <a:pPr algn="l" indent="0" marL="0">
              <a:buNone/>
            </a:pPr>
            <a:r>
              <a:rPr lang="ar-SA" altLang="en-US" sz="1550" dirty="0">
                <a:solidFill>
                  <a:srgbClr val="1F2A37"/>
                </a:solidFill>
                <a:latin typeface="Amiri" pitchFamily="2" charset="-78"/>
                <a:cs typeface="Amiri" pitchFamily="2" charset="-78"/>
              </a:rPr>
              <a:t>يَدٌ، عَيْنٌ، قَدَمٌ</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الجِسْمُ نِظَامٌ مُتَكَامِلٌ</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body is a complete system</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عَيْنَانِ لِلرُّؤْيَةِ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two eyes for seeing</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أُذُنَانِ لِلسَّمْعِ</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two ears for hearing</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العِظَامُ تَدْعَمُ الجِسْمَ</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bones support the body</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الجِلْدُ يَحْمِيهِ</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skin protects it</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45</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هٰذَا رَأْسِي، وَهٰذَا وَجْهِي. لِي عَيْنَانِ وَأُذُنَانِ. أَرَى بِعَيْنَيَّ وَأَسْمَعُ بِأُذُنَيَّ. هٰذِهِ يَدِي اليُمْنَى، وَهٰذِهِ يَدِي اليُسْرَى. أَكْتُبُ بِيَدِي، وَأَمْشِي بِقَدَمَيَّ. القَلْبُ فِي صَدْرِي.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This is my head, and this is my face. I have two eyes and two ears. I see with my eyes and hear with my ears. This is my right hand, and this is my left hand. I write with my hand, and I walk with my feet. The heart is in my chest.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this (m.)</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this (f.)</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dual</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with my …</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45</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labelled twelve body parts.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Hand, eye, ear, foot → </a:t>
            </a:r>
            <a:pPr algn="l" indent="0" marL="0">
              <a:buNone/>
            </a:pPr>
            <a:r>
              <a:rPr lang="ar-SA" altLang="en-US" sz="1700" dirty="0">
                <a:solidFill>
                  <a:srgbClr val="1F2A37"/>
                </a:solidFill>
                <a:latin typeface="Amiri" pitchFamily="2" charset="-78"/>
                <a:cs typeface="Amiri" pitchFamily="2" charset="-78"/>
              </a:rPr>
              <a:t>هٰذِهِ</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two duals (-āni).</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bi- with two sense verbs.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explained functions with li- (for).</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45</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shoulder?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كَتِفٌ</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كَاحِلٌ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عُنُقٌ</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عَيْنَانِ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eye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eyes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eyes (plural)</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body part is used for smelling?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أَنْفٌ</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فَمٌ</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أُذُنٌ</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45</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shoulder?</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كَتِفٌ</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كَاحِلٌ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عُنُقٌ</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كَتِفٌ</a:t>
            </a:r>
            <a:pPr algn="l" indent="0" marL="0">
              <a:buNone/>
            </a:pPr>
            <a:r>
              <a:rPr lang="en-US" sz="1050" i="1" dirty="0">
                <a:solidFill>
                  <a:srgbClr val="8A6D1E"/>
                </a:solidFill>
                <a:latin typeface="Calibri" pitchFamily="34" charset="0"/>
                <a:cs typeface="Amiri" pitchFamily="2" charset="-78"/>
              </a:rPr>
              <a:t> means shoulder.</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عَيْنَانِ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eye</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 eyes</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eyes (plural)</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dual ending indicates two.</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body part is used for smelling?</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أَنْفٌ</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فَمٌ</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أُذُنٌ</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nose is used for smelling.</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45</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body science note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الجِسْمُ نِظَامٌ مُتَكَامِلٌ. فِي الرَّأْسِ عَيْنَانِ لِلرُّؤْيَةِ وَأُذُنَانِ لِلسَّمْعِ، وَفِي الوَجْهِ أَنْفٌ لِلشَّمِّ وَفَمٌ لِلْأَكْلِ وَالكَلَامِ. القَلْبُ فِي الصَّدْرِ وَيَعْمَلُ دَائِمًا. العِظَامُ تَدْعَمُ الجِسْمَ، وَالجِلْدُ يَحْمِيهِ. نَسْتَخْدِمُ أَيْدِيَنَا لِلْكِتَابَةِ وَاللَّمْسِ، وَأَقْدَامَنَا لِلْمَشْيِ.</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نِظَامٌ مُتَكَامِلٌ</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complete system</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لِلرُّؤْيَةِ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seeing</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لِلسَّمْعِ</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hearing</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لِلشَّمِّ</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smelling</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وَالكَلَامِ</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and speaking</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يَعْمَلُ دَائِمًا</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works all the time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تَدْعَمُ</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support</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يَحْمِيهِ</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protects it</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أَيْدِيَنَا</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our hands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لِلْمَشْيِ</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walking</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45</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eyes and ears are mentioned?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of each</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of each</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of each</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mouth used for?</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hearing and smelling</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walking and writing</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eating and speaking</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heart?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chest</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head</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back</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supports the body?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skin</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bones</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hands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protects the body?</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skin</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eyes</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feet</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45</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eyes and ears are mentioned?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of each</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 of each</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 of each</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عَيْنَانِ</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cs typeface="Amiri" pitchFamily="2" charset="-78"/>
              </a:rPr>
              <a:t>أُذُنَانِ</a:t>
            </a:r>
            <a:pPr algn="l" indent="0" marL="0">
              <a:buNone/>
            </a:pPr>
            <a:r>
              <a:rPr lang="en-US" sz="1050" i="1" dirty="0">
                <a:solidFill>
                  <a:srgbClr val="8A6D1E"/>
                </a:solidFill>
                <a:latin typeface="Calibri" pitchFamily="34" charset="0"/>
                <a:cs typeface="Amiri" pitchFamily="2" charset="-78"/>
              </a:rPr>
              <a:t> mean two.</a:t>
            </a:r>
            <a:endParaRPr lang="en-US" sz="10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mouth used for?</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hearing and smelling</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walking and writing</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eating and speaking</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لِلْأَكْلِ وَالكَلَامِ.</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heart?</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chest</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head</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back</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القَلْبُ فِي الصَّدْرِ.</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supports the body?</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skin</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bones</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hands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العِظَامُ تَدْعَمُ الجِسْمَ.</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protects the body?</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skin</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eyes</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feet</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الجِلْدُ يَحْمِيهِ.</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45</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F5-L07 · The Body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F5-L08: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F5-L08 · Health Problems and How You Feel</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مَرِيضٌ</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ill</a:t>
            </a:r>
            <a:pPr indent="0" marL="0">
              <a:buNone/>
            </a:pPr>
            <a:r>
              <a:rPr lang="en-US" sz="1000" i="1" dirty="0">
                <a:solidFill>
                  <a:srgbClr val="5A6472"/>
                </a:solidFill>
                <a:latin typeface="Calibri" pitchFamily="34" charset="0"/>
                <a:cs typeface="Amiri" pitchFamily="2" charset="-78"/>
              </a:rPr>
              <a:t>  f. مَرِيضَةٌ · pl. مَرْضَى</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أَشْعُرُ بِـ</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feel</a:t>
            </a:r>
            <a:pPr indent="0" marL="0">
              <a:buNone/>
            </a:pPr>
            <a:r>
              <a:rPr lang="en-US" sz="1000" i="1" dirty="0">
                <a:solidFill>
                  <a:srgbClr val="5A6472"/>
                </a:solidFill>
                <a:latin typeface="Calibri" pitchFamily="34" charset="0"/>
                <a:cs typeface="Amiri" pitchFamily="2" charset="-78"/>
              </a:rPr>
              <a:t>  she: تَشْعُرُ</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أَلَمٌ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pain</a:t>
            </a:r>
            <a:pPr indent="0" marL="0">
              <a:buNone/>
            </a:pPr>
            <a:r>
              <a:rPr lang="en-US" sz="1000" i="1" dirty="0">
                <a:solidFill>
                  <a:srgbClr val="5A6472"/>
                </a:solidFill>
                <a:latin typeface="Calibri" pitchFamily="34" charset="0"/>
                <a:cs typeface="Amiri" pitchFamily="2" charset="-78"/>
              </a:rPr>
              <a:t>  pl. آلَامٌ</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صُدَاعٌ</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headache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مُتْعَبٌ</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tired</a:t>
            </a:r>
            <a:pPr indent="0" marL="0">
              <a:buNone/>
            </a:pPr>
            <a:r>
              <a:rPr lang="en-US" sz="1000" i="1" dirty="0">
                <a:solidFill>
                  <a:srgbClr val="5A6472"/>
                </a:solidFill>
                <a:latin typeface="Calibri" pitchFamily="34" charset="0"/>
                <a:cs typeface="Amiri" pitchFamily="2" charset="-78"/>
              </a:rPr>
              <a:t>  f. مُتْعَبَةٌ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do you feel today? Write one word in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أَنَا … الْيَوْمَ</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F5-L07: the vocabulary tab and the “Masculine or feminine?” sorter.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7–8 sentences with four possessives, two duals and two verbs.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science-style note on five body parts and what they are for (li-).</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45</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50" b="1" dirty="0">
                <a:solidFill>
                  <a:srgbClr val="FFFFFF"/>
                </a:solidFill>
                <a:latin typeface="Cambria" pitchFamily="34" charset="0"/>
                <a:cs typeface="Amiri" pitchFamily="2" charset="-78"/>
              </a:rPr>
              <a:t>F5-L08 · Health Problems and How You Feel</a:t>
            </a:r>
            <a:endParaRPr lang="en-US" sz="22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المَشَاكِلُ الصِّحِّيَّةُ وَالشُّعُورُ</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hand, eye, ear, foot, leg are feminine → </a:t>
            </a:r>
            <a:pPr algn="l" indent="0" marL="0">
              <a:buNone/>
            </a:pPr>
            <a:r>
              <a:rPr lang="ar-SA" altLang="en-US" sz="1700" b="1" dirty="0">
                <a:solidFill>
                  <a:srgbClr val="FFFFFF"/>
                </a:solidFill>
                <a:latin typeface="Amiri" pitchFamily="2" charset="-78"/>
                <a:cs typeface="Amiri" pitchFamily="2" charset="-78"/>
              </a:rPr>
              <a:t>هٰذِهِ</a:t>
            </a:r>
            <a:pPr algn="l" indent="0" marL="0">
              <a:buNone/>
            </a:pPr>
            <a:r>
              <a:rPr lang="en-US" sz="1300" b="1" dirty="0">
                <a:solidFill>
                  <a:srgbClr val="FFFFFF"/>
                </a:solidFill>
                <a:latin typeface="Calibri" pitchFamily="34" charset="0"/>
                <a:cs typeface="Amiri" pitchFamily="2" charset="-78"/>
              </a:rPr>
              <a:t> · two = -āni.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F5-L07 · The Body and Its Parts</dc:title>
  <dc:subject>PptxGenJS Presentation</dc:subject>
  <dc:creator>Al Madina Online School · Arabic Department</dc:creator>
  <cp:lastModifiedBy>Al Madina Online School · Arabic Department</cp:lastModifiedBy>
  <cp:revision>1</cp:revision>
  <dcterms:created xsi:type="dcterms:W3CDTF">2026-10-11T06:41:48Z</dcterms:created>
  <dcterms:modified xsi:type="dcterms:W3CDTF">2026-10-11T06:41:48Z</dcterms:modified>
</cp:coreProperties>
</file>