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F5-L07. The website lesson “The Body and Its Parts”: vocabulary, grammar rules and quiz, patterns, common mistakes, sorter, listening, reading, speaking prompts and model, writing task and model, differentiation, final check and the lesson mission. Picture match: website visual game “The Body and Its Parts”.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label twelve body parts with the word bank and point: هٰذَا رَأْسِي · هٰذِهِ يَدِي. A “Simon says” (قَالَ المُعَلِّمُ: المِسْ رَأْسَكَ!) warm-up works brilliantly on camera.
• Develop: explain six body parts’ functions: أَرَى بِعَيْنَيَّ، أَسْمَعُ بِأُذُنَيَّ …
• Stretch: a short science-style explanation with duals, plurals and purpose لِـ (عَيْنَانِ لِلرُّؤْيَةِ).
• The website’s big warning: يَدٌ، عَيْنٌ، أُذُنٌ، قَدَمٌ، رِجْلٌ are FEMININE without ة → هٰذِهِ.
• Sensitivity: students with disabilities or medical conditions may prefer a drawing or a cartoon character — never ask anyone to describe their own body.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F5-L06. Questions 3–5 retrieve F5-L06 (price question, feminine dish, value).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Some body words are feminine WITHOUT ة — hand, eye, ear, foot, leg. They take هٰذِهِ.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and قلب are identical. عین appears in phrases (عین مطابق “exactly”). صدر in Urdu is “president / chairman” (the one at the front) — in Arabic صَدْرٌ is the chest. عظیم (great) and عِظَامٌ (bones) share letters but not meaning — a fun false friend. Also: دماغ (Urdu brain) is Arabic دِمَاغٌ; زبان is Persian — Arabic tongue = لِسَانٌ (compare لسانیات “linguistics”).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Head and face (website vocabulary (1 of 2)). Hear → Say → See → Use. Transliteration is printed for Core students (cover it for Develop/Stretch).
Paired parts show one / two / plural. The dual ending -āni = “two” (عَيْنَانِ two eyes). Point and say: هٰذِهِ عَيْنِي · هٰذِهِ أُذُنِي · هٰذَا أَنْفِي.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Head and face (website vocabulary (2 of 2)). Hear → Say → See → Use. Transliteration is printed for Core students (cover it for Develop/Stretch).
Paired parts show one / two / plural. The dual ending -āni = “two” (عَيْنَانِ two eyes). Point and say: هٰذِهِ عَيْنِي · هٰذِهِ أُذُنِي · هٰذَا أَنْفِي.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Upper body (website vocabulary (1 of 2)). Hear → Say → See → Use. Transliteration is printed for Core students (cover it for Develop/Stretch).
يَدٌ (hand) is feminine; ذِرَاعٌ (arm) is usually feminine too. قَلْبٌ (heart) and مَعِدَةٌ (stomach) are inside — use فِي: القَلْبُ فِي الصَّدْرِ.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Upper body (website vocabulary (2 of 2)). Hear → Say → See → Use. Transliteration is printed for Core students (cover it for Develop/Stretch).
يَدٌ (hand) is feminine; ذِرَاعٌ (arm) is usually feminine too. قَلْبٌ (heart) and مَعِدَةٌ (stomach) are inside — use فِي: القَلْبُ فِي الصَّدْرِ.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Lower body and structure (website vocabulary (1 of 2)). Hear → Say → See → Use. Transliteration is printed for Core students (cover it for Develop/Stretch).
FLEX: teach if time allows; otherwise these are on the website vocabulary tab for homework.
FLEX: lower body — رِجْلٌ and قَدَمٌ are feminine. رُكْبَةٌ (knee) is feminine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Lower body and structure (website vocabulary (2 of 2)). Hear → Say → See → Use. Transliteration is printed for Core students (cover it for Develop/Stretch).
FLEX: teach if time allows; otherwise these are on the website vocabulary tab for homework.
FLEX: lower body — رِجْلٌ and قَدَمٌ are feminine. رُكْبَةٌ (knee) is feminine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Body actions (website vocabulary). Hear → Say → See → Use. Transliteration is printed for Core students (cover it for Develop/Stretch).
FLEX: teach if time allows; otherwise these are on the website vocabulary tab for homework.
FLEX: the action verbs are in the he-form (يَرَى). For “I”: أَرَى، أَسْمَعُ، أَشُمُّ، أَلْمِسُ، أَتَنَفَّسُ — used in the listening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“Use هٰذَا with masculine nouns”, “Use هٰذِهِ with feminine nouns (some without ـة)” and “Add the possessive ending ـِي”.
Website common error: “Do not choose هٰذَا only by looking for ـة. يَدٌ، عَيْنٌ and أُذُنٌ are feminine: هٰذِهِ يَدِي.”
Online: students point to each part on camera as the class says the sentence (camera optional; a drawing works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“Form the dual” (ـَانِ as subject, ـَيْنِ elsewhere) and patterns 2–4.
Website teaching note: “Dual forms are introduced for recognition and useful paired nouns. The core goal is communication, not a complete dual-case paradigm.” — Core students only need عَيْنَانِ، أُذُنَانِ، يَدَانِ، قَدَمَانِ.
“My two eyes / with my two eyes”: عَيْنَايَ / بِعَيْنَيَّ — say it, let Stretch students 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choosing the correct demonstrative for the grammatical gender of a body part and using the dual form for paired body parts.”
• Use هٰذَا with masculine nouns: Use هٰذَا with masculine body-part nouns.
• Use هٰذِهِ with feminine nouns: Some body-part nouns are grammatically feminine even without ـة.
• Form the dual: Paired body parts often use the dual rather than the number اثنان.
• Add the possessive ending: The ending ـي means “my”.
Website common error: Do not choose هٰذَا only by looking for ـة. يَدٌ، عَيْنٌ and أُذُنٌ are feminine: هٰذِهِ 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pointing to each part. Students copy it and draw a stick figure with Arabic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is هٰذَا (masculine: nose) vs هٰذِهِ (feminine: hand, leg — سَاقٌ is another word for leg/shin). Other website items: هٰذِهِ العَيْنَانِ، هٰذِهِ أُذُنٌ، هٰذَا سِنٌّ.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is هٰذَا (masculine: nose) vs هٰذِهِ (feminine: hand, leg — سَاقٌ is another word for leg/shin). Other website items: هٰذِهِ العَيْنَانِ، هٰذِهِ أُذُنٌ، هٰذَا سِنٌّ.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the body noun by the demonstrative it takes.
Say each word with هٰذَا or هٰذِهِ aloud before sorting. The surprise items (يَدٌ، عَيْنٌ، قَدَمٌ) are the lesson’s key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the body noun by the demonstrative it takes.
Say each word with هٰذَا or هٰذِهِ aloud before sorting. The surprise items (يَدٌ، عَيْنٌ، قَدَمٌ) are the lesson’s key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4, then mime each sentence.
Listen 1: just listen. Listen 2: note answers. Then chat the letters.
Support: after the second listening, show the read-along slide (Arabic + English, line by line) for Core students.
SCRIPT (read aloud):
أَرَى بِعَيْنَيَّ، وَأَسْمَعُ بِأُذُنَيَّ. أَشُمُّ بِأَنْفِي، وَآكُلُ بِفَمِي. أَكْتُبُ بِيَدِي اليُمْنَى، وَأَرْكُضُ بِرِجْلَيَّ وَقَدَمَيَّ. عِنْدَمَا أَتَعَبُ، أَضَعُ يَدِي عَلَى صَدْرِي وَأَتَنَفَّسُ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 هٰذَا؟ (And what is this?)
ب: هٰذَا كَتِفٌ. (This is a shoulder.)
Website “Body-part identification” — all four prompts are the website’s. Pairs point (on camera or on a drawing) and ask. Website model: مَا هٰذِهِ؟ — هٰذِهِ يَدٌ. — وَمَا هٰذَا؟ — هٰذَا كَتِفٌ. (مَا هٰذِهِ؟ is asked when the speaker expects a feminine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Label twelve body parts with a word bank and select the correct demonstrative. · Develop — Explain the function of six body parts in complete sentences. · Stretch — Produce a short science-style explanation using duals, plurals and purpose phrases لِـ.
Website writing task (Stretch): Write 7–8 sentences describing the body and what selected parts do. Include four possessive forms, two dual forms and two action verbs.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هٰذَا رَأْسِي · هٰذِهِ يَدِي · عَيْنَانِ، أُذُنَانِ · بِعَيْنَيَّ، بِيَدِي، بِقَدَمَيَّ.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(F5-L08 · Health Problems and How You Feel) will spend class time USING this language, so students prepare it tonight — short, simple, easy to access (school guidance: “Simple, Short, Interesting, Relevant, Easy to access”). The five words come from the website F5-L08 lesson (health problems and feelings).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The Body and Its Parts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الجِسْمُ وَأَعْضَاؤُهُ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and point to body parts, choose </a:t>
            </a:r>
            <a:pPr algn="l" indent="0" marL="0">
              <a:buNone/>
            </a:pPr>
            <a:r>
              <a:rPr lang="ar-SA" altLang="en-US" sz="1800" dirty="0">
                <a:solidFill>
                  <a:srgbClr val="C6D2E6"/>
                </a:solidFill>
                <a:latin typeface="Amiri" pitchFamily="2" charset="-78"/>
                <a:ea typeface="Amiri" pitchFamily="2" charset="-78"/>
                <a:cs typeface="Amiri" pitchFamily="2" charset="-78"/>
              </a:rPr>
              <a:t>هٰذَا</a:t>
            </a:r>
            <a:pPr algn="l" indent="0" marL="0">
              <a:buNone/>
            </a:pPr>
            <a:r>
              <a:rPr lang="en-US" sz="1400" dirty="0">
                <a:solidFill>
                  <a:srgbClr val="C6D2E6"/>
                </a:solidFill>
                <a:latin typeface="Calibri" pitchFamily="34" charset="0"/>
                <a:cs typeface="Amiri" pitchFamily="2" charset="-78"/>
              </a:rPr>
              <a:t> or </a:t>
            </a:r>
            <a:pPr algn="l" indent="0" marL="0">
              <a:buNone/>
            </a:pPr>
            <a:r>
              <a:rPr lang="ar-SA" altLang="en-US" sz="1800" dirty="0">
                <a:solidFill>
                  <a:srgbClr val="C6D2E6"/>
                </a:solidFill>
                <a:latin typeface="Amiri" pitchFamily="2" charset="-78"/>
                <a:ea typeface="Amiri" pitchFamily="2" charset="-78"/>
                <a:cs typeface="Amiri" pitchFamily="2" charset="-78"/>
              </a:rPr>
              <a:t>هٰذِهِ</a:t>
            </a:r>
            <a:pPr algn="l" indent="0" marL="0">
              <a:buNone/>
            </a:pPr>
            <a:r>
              <a:rPr lang="en-US" sz="1400" dirty="0">
                <a:solidFill>
                  <a:srgbClr val="C6D2E6"/>
                </a:solidFill>
                <a:latin typeface="Calibri" pitchFamily="34" charset="0"/>
                <a:cs typeface="Amiri" pitchFamily="2" charset="-78"/>
              </a:rPr>
              <a:t> by the word’s gender, use the dual for paired parts and say what we do with them (</a:t>
            </a:r>
            <a:pPr algn="l" indent="0" marL="0">
              <a:buNone/>
            </a:pPr>
            <a:r>
              <a:rPr lang="ar-SA" altLang="en-US" sz="1800" dirty="0">
                <a:solidFill>
                  <a:srgbClr val="C6D2E6"/>
                </a:solidFill>
                <a:latin typeface="Amiri" pitchFamily="2" charset="-78"/>
                <a:ea typeface="Amiri" pitchFamily="2" charset="-78"/>
                <a:cs typeface="Amiri" pitchFamily="2" charset="-78"/>
              </a:rPr>
              <a:t>أَرَى بِعَيْنَيَّ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F5-L07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Face, upper and lower body, then this (m. / f.), two (dual) and my.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a:t>
            </a:r>
            <a:pPr algn="ctr" indent="0" marL="0">
              <a:buNone/>
            </a:pPr>
            <a:r>
              <a:rPr lang="ar-SA" altLang="en-US" sz="1550" dirty="0">
                <a:solidFill>
                  <a:srgbClr val="1F2A37"/>
                </a:solidFill>
                <a:latin typeface="Amiri" pitchFamily="2" charset="-78"/>
                <a:ea typeface="Amiri" pitchFamily="2" charset="-78"/>
                <a:cs typeface="Amiri" pitchFamily="2" charset="-78"/>
              </a:rPr>
              <a:t>هٰذَا / هٰذِهِ</a:t>
            </a:r>
            <a:pPr algn="ctr" indent="0" marL="0">
              <a:buNone/>
            </a:pPr>
            <a:r>
              <a:rPr lang="en-US" sz="1200" dirty="0">
                <a:solidFill>
                  <a:srgbClr val="1F2A37"/>
                </a:solidFill>
                <a:latin typeface="Calibri" pitchFamily="34" charset="0"/>
                <a:cs typeface="Amiri" pitchFamily="2" charset="-78"/>
              </a:rPr>
              <a:t>, fix the mistakes and listen: which body part?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السِّعْرُ الحَسَاءُ؟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الحَسَاءُ؟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 الحَسَاءِ؟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المَقْلُوبَةُ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مِنَ الأَرُزِّ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يَتَكَوَّنُ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تَتَكَوَّنُ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“cheap”?</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رَخِيصٌ</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المَجْمُوعُ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eye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السِّعْرُ الحَسَاءُ؟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الحَسَاءُ؟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 الحَسَاءِ؟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F5-L06: kam thamanu + item.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المَقْلُوبَةُ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مِنَ الأَرُزِّ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يَتَكَوَّنُ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تَتَكَوَّنُ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F5-L06: a feminine dish.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“cheap”?</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رَخِيصٌ</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المَجْمُوعُ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F5-L06 menu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Some body words are feminine WITHOUT </a:t>
            </a:r>
            <a:pPr algn="l" indent="0" marL="0">
              <a:buNone/>
            </a:pPr>
            <a:r>
              <a:rPr lang="ar-SA" altLang="en-US" sz="1700" b="1" dirty="0">
                <a:solidFill>
                  <a:srgbClr val="1F2A37"/>
                </a:solidFill>
                <a:latin typeface="Amiri" pitchFamily="2" charset="-78"/>
                <a:ea typeface="Amiri" pitchFamily="2" charset="-78"/>
                <a:cs typeface="Amiri" pitchFamily="2" charset="-78"/>
              </a:rPr>
              <a:t>ة</a:t>
            </a:r>
            <a:pPr algn="l" indent="0" marL="0">
              <a:buNone/>
            </a:pPr>
            <a:r>
              <a:rPr lang="en-US" sz="1300" b="1" dirty="0">
                <a:solidFill>
                  <a:srgbClr val="1F2A37"/>
                </a:solidFill>
                <a:latin typeface="Calibri" pitchFamily="34" charset="0"/>
                <a:cs typeface="Amiri" pitchFamily="2" charset="-78"/>
              </a:rPr>
              <a:t> — hand, eye, ear, foot, leg. They take </a:t>
            </a:r>
            <a:pPr algn="l" indent="0" marL="0">
              <a:buNone/>
            </a:pPr>
            <a:r>
              <a:rPr lang="ar-SA" altLang="en-US" sz="1700" b="1" dirty="0">
                <a:solidFill>
                  <a:srgbClr val="1F2A37"/>
                </a:solidFill>
                <a:latin typeface="Amiri" pitchFamily="2" charset="-78"/>
                <a:ea typeface="Amiri" pitchFamily="2" charset="-78"/>
                <a:cs typeface="Amiri" pitchFamily="2" charset="-78"/>
              </a:rPr>
              <a:t>هٰذِهِ</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رَأْسِي · </a:t>
            </a:r>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يَدِي</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major external body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هٰذَا / هٰذِهِ</a:t>
            </a:r>
            <a:pPr algn="l" indent="0" marL="0">
              <a:buNone/>
            </a:pPr>
            <a:r>
              <a:rPr lang="en-US" sz="1300" dirty="0">
                <a:solidFill>
                  <a:srgbClr val="1F2A37"/>
                </a:solidFill>
                <a:latin typeface="Calibri" pitchFamily="34" charset="0"/>
                <a:cs typeface="Amiri" pitchFamily="2" charset="-78"/>
              </a:rPr>
              <a:t> and possessive suffixes with body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common dual forms for paired body parts.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simple statements about seeing, hearing, smelling, touching and movement.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and point to twelve body parts.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this is my … with </a:t>
            </a:r>
            <a:pPr algn="l" indent="0" marL="0">
              <a:buNone/>
            </a:pPr>
            <a:r>
              <a:rPr lang="ar-SA" altLang="en-US" sz="1700" b="1" dirty="0">
                <a:solidFill>
                  <a:srgbClr val="2E8B57"/>
                </a:solidFill>
                <a:latin typeface="Amiri" pitchFamily="2" charset="-78"/>
                <a:ea typeface="Amiri" pitchFamily="2" charset="-78"/>
                <a:cs typeface="Amiri" pitchFamily="2" charset="-78"/>
              </a:rPr>
              <a:t>هٰذَا / هٰذِهِ</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dual: </a:t>
            </a:r>
            <a:pPr algn="l" indent="0" marL="0">
              <a:buNone/>
            </a:pPr>
            <a:r>
              <a:rPr lang="ar-SA" altLang="en-US" sz="1700" b="1" dirty="0">
                <a:solidFill>
                  <a:srgbClr val="C9780A"/>
                </a:solidFill>
                <a:latin typeface="Amiri" pitchFamily="2" charset="-78"/>
                <a:ea typeface="Amiri" pitchFamily="2" charset="-78"/>
                <a:cs typeface="Amiri" pitchFamily="2" charset="-78"/>
              </a:rPr>
              <a:t>عَيْنَانِ، يَدَانِ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we do with six body parts.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science-style explanation.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purpose </a:t>
            </a:r>
            <a:pPr algn="l" indent="0" marL="0">
              <a:buNone/>
            </a:pPr>
            <a:r>
              <a:rPr lang="ar-SA" altLang="en-US" sz="1700" b="1" dirty="0">
                <a:solidFill>
                  <a:srgbClr val="B83227"/>
                </a:solidFill>
                <a:latin typeface="Amiri" pitchFamily="2" charset="-78"/>
                <a:ea typeface="Amiri" pitchFamily="2" charset="-78"/>
                <a:cs typeface="Amiri" pitchFamily="2" charset="-78"/>
              </a:rPr>
              <a:t>لِـ</a:t>
            </a:r>
            <a:pPr algn="l" indent="0" marL="0">
              <a:buNone/>
            </a:pPr>
            <a:r>
              <a:rPr lang="en-US" sz="1300" b="1" dirty="0">
                <a:solidFill>
                  <a:srgbClr val="B83227"/>
                </a:solidFill>
                <a:latin typeface="Calibri" pitchFamily="34" charset="0"/>
                <a:cs typeface="Amiri" pitchFamily="2" charset="-78"/>
              </a:rPr>
              <a:t>: </a:t>
            </a:r>
            <a:pPr algn="l" indent="0" marL="0">
              <a:buNone/>
            </a:pPr>
            <a:r>
              <a:rPr lang="ar-SA" altLang="en-US" sz="1700" b="1" dirty="0">
                <a:solidFill>
                  <a:srgbClr val="B83227"/>
                </a:solidFill>
                <a:latin typeface="Amiri" pitchFamily="2" charset="-78"/>
                <a:ea typeface="Amiri" pitchFamily="2" charset="-78"/>
                <a:cs typeface="Amiri" pitchFamily="2" charset="-78"/>
              </a:rPr>
              <a:t>أُذُنَانِ لِلسَّمْعِ</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31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Head and face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Upper body · 9</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Lower body and structure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Body actions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جِسْمٌ</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قَلْبٌ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‎قلب‎ </a:t>
            </a:r>
            <a:pPr indent="0" marL="0">
              <a:buNone/>
            </a:pPr>
            <a:r>
              <a:rPr lang="en-US" sz="950" b="1" dirty="0">
                <a:solidFill>
                  <a:srgbClr val="2E8B57"/>
                </a:solidFill>
                <a:latin typeface="Calibri" pitchFamily="34" charset="0"/>
                <a:cs typeface="Amiri" pitchFamily="2" charset="-78"/>
              </a:rPr>
              <a:t> qalb · heart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عَيْنٌ</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‎عین‎ </a:t>
            </a:r>
            <a:pPr indent="0" marL="0">
              <a:buNone/>
            </a:pPr>
            <a:r>
              <a:rPr lang="ar-SA" sz="950" b="1" dirty="0">
                <a:solidFill>
                  <a:srgbClr val="2E8B57"/>
                </a:solidFill>
                <a:latin typeface="Calibri" pitchFamily="34" charset="0"/>
                <a:ea typeface="Amiri" pitchFamily="2" charset="-78"/>
                <a:cs typeface="Amiri" pitchFamily="2" charset="-78"/>
              </a:rPr>
              <a:t> ain · eye (as in عین الیقین)</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صَدْرٌ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‎سینہ / صدر‎ </a:t>
            </a:r>
            <a:pPr indent="0" marL="0">
              <a:buNone/>
            </a:pPr>
            <a:r>
              <a:rPr lang="en-US" sz="950" b="1" dirty="0">
                <a:solidFill>
                  <a:srgbClr val="2E8B57"/>
                </a:solidFill>
                <a:latin typeface="Calibri" pitchFamily="34" charset="0"/>
                <a:cs typeface="Amiri" pitchFamily="2" charset="-78"/>
              </a:rPr>
              <a:t> sadr · Urdu: president · Arabic: chest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عِظَامٌ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‎عظیم‎ </a:t>
            </a:r>
            <a:pPr indent="0" marL="0">
              <a:buNone/>
            </a:pPr>
            <a:r>
              <a:rPr lang="en-US" sz="950" b="1" dirty="0">
                <a:solidFill>
                  <a:srgbClr val="2E8B57"/>
                </a:solidFill>
                <a:latin typeface="Calibri" pitchFamily="34" charset="0"/>
                <a:cs typeface="Amiri" pitchFamily="2" charset="-78"/>
              </a:rPr>
              <a:t> azīm · great — a false friend (bones)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Head and face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t>
            </a:r>
            <a:endParaRPr lang="en-US" sz="1350" dirty="0"/>
          </a:p>
          <a:p>
            <a:pPr indent="0" marL="0">
              <a:buNone/>
            </a:pPr>
            <a:r>
              <a:rPr lang="en-US" sz="1100" i="1" dirty="0">
                <a:solidFill>
                  <a:srgbClr val="5A6472"/>
                </a:solidFill>
                <a:latin typeface="Calibri" pitchFamily="34" charset="0"/>
                <a:cs typeface="Amiri" pitchFamily="2" charset="-78"/>
              </a:rPr>
              <a:t>raʾ-sun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رَأْسٌ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رَأْسِي</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رُؤُوسٌ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وَجْهٌ</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face</a:t>
            </a:r>
            <a:endParaRPr lang="en-US" sz="1350" dirty="0"/>
          </a:p>
          <a:p>
            <a:pPr indent="0" marL="0">
              <a:buNone/>
            </a:pPr>
            <a:r>
              <a:rPr lang="en-US" sz="1100" i="1" dirty="0">
                <a:solidFill>
                  <a:srgbClr val="5A6472"/>
                </a:solidFill>
                <a:latin typeface="Calibri" pitchFamily="34" charset="0"/>
                <a:cs typeface="Amiri" pitchFamily="2" charset="-78"/>
              </a:rPr>
              <a:t>waj-hun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 / عَيْنَانِ</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eye / two eyes</a:t>
            </a:r>
            <a:endParaRPr lang="en-US" sz="1350" dirty="0"/>
          </a:p>
          <a:p>
            <a:pPr indent="0" marL="0">
              <a:buNone/>
            </a:pPr>
            <a:r>
              <a:rPr lang="en-US" sz="1100" i="1" dirty="0">
                <a:solidFill>
                  <a:srgbClr val="5A6472"/>
                </a:solidFill>
                <a:latin typeface="Calibri" pitchFamily="34" charset="0"/>
                <a:cs typeface="Amiri" pitchFamily="2" charset="-78"/>
              </a:rPr>
              <a:t>ʿay-nun / ʿay-nā-ni</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عَيْنَانِ</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عُيُونٌ</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أُذُنٌ / أُذُنَانِ</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 / two ears</a:t>
            </a:r>
            <a:endParaRPr lang="en-US" sz="1350" dirty="0"/>
          </a:p>
          <a:p>
            <a:pPr indent="0" marL="0">
              <a:buNone/>
            </a:pPr>
            <a:r>
              <a:rPr lang="en-US" sz="1100" i="1" dirty="0">
                <a:solidFill>
                  <a:srgbClr val="5A6472"/>
                </a:solidFill>
                <a:latin typeface="Calibri" pitchFamily="34" charset="0"/>
                <a:cs typeface="Amiri" pitchFamily="2" charset="-78"/>
              </a:rPr>
              <a:t>u-dhu-nun / u-dhu-nā-ni</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أُذُنٌ</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أُذُنَانِ</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5" name="Text 7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آذَانٌ</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Head and face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nose</a:t>
            </a:r>
            <a:endParaRPr lang="en-US" sz="1350" dirty="0"/>
          </a:p>
          <a:p>
            <a:pPr indent="0" marL="0">
              <a:buNone/>
            </a:pPr>
            <a:r>
              <a:rPr lang="en-US" sz="1100" i="1" dirty="0">
                <a:solidFill>
                  <a:srgbClr val="5A6472"/>
                </a:solidFill>
                <a:latin typeface="Calibri" pitchFamily="34" charset="0"/>
                <a:cs typeface="Amiri" pitchFamily="2" charset="-78"/>
              </a:rPr>
              <a:t>an-fun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mouth</a:t>
            </a:r>
            <a:endParaRPr lang="en-US" sz="1350" dirty="0"/>
          </a:p>
          <a:p>
            <a:pPr indent="0" marL="0">
              <a:buNone/>
            </a:pPr>
            <a:r>
              <a:rPr lang="en-US" sz="1100" i="1" dirty="0">
                <a:solidFill>
                  <a:srgbClr val="5A6472"/>
                </a:solidFill>
                <a:latin typeface="Calibri" pitchFamily="34" charset="0"/>
                <a:cs typeface="Amiri" pitchFamily="2" charset="-78"/>
              </a:rPr>
              <a:t>fa-mun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سِنٌّ / أَسْنَانٌ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tooth / teeth</a:t>
            </a:r>
            <a:endParaRPr lang="en-US" sz="1350" dirty="0"/>
          </a:p>
          <a:p>
            <a:pPr indent="0" marL="0">
              <a:buNone/>
            </a:pPr>
            <a:r>
              <a:rPr lang="en-US" sz="1100" i="1" dirty="0">
                <a:solidFill>
                  <a:srgbClr val="5A6472"/>
                </a:solidFill>
                <a:latin typeface="Calibri" pitchFamily="34" charset="0"/>
                <a:cs typeface="Amiri" pitchFamily="2" charset="-78"/>
              </a:rPr>
              <a:t>sin-nun / as-nā-nun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حَلْقٌ / حَنْجَرَةٌ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throat</a:t>
            </a:r>
            <a:endParaRPr lang="en-US" sz="1350" dirty="0"/>
          </a:p>
          <a:p>
            <a:pPr indent="0" marL="0">
              <a:buNone/>
            </a:pPr>
            <a:r>
              <a:rPr lang="en-US" sz="1100" i="1" dirty="0">
                <a:solidFill>
                  <a:srgbClr val="5A6472"/>
                </a:solidFill>
                <a:latin typeface="Calibri" pitchFamily="34" charset="0"/>
                <a:cs typeface="Amiri" pitchFamily="2" charset="-78"/>
              </a:rPr>
              <a:t>ḥal-qun / ḥan-ja-ra-tun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Upper body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عُنُقٌ / رَقَبَةٌ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neck</a:t>
            </a:r>
            <a:endParaRPr lang="en-US" sz="1350" dirty="0"/>
          </a:p>
          <a:p>
            <a:pPr indent="0" marL="0">
              <a:buNone/>
            </a:pPr>
            <a:r>
              <a:rPr lang="en-US" sz="1100" i="1" dirty="0">
                <a:solidFill>
                  <a:srgbClr val="5A6472"/>
                </a:solidFill>
                <a:latin typeface="Calibri" pitchFamily="34" charset="0"/>
                <a:cs typeface="Amiri" pitchFamily="2" charset="-78"/>
              </a:rPr>
              <a:t>ʿu-nu-qun / ra-qa-ba-tun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كَتِفٌ</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shoulder</a:t>
            </a:r>
            <a:endParaRPr lang="en-US" sz="1350" dirty="0"/>
          </a:p>
          <a:p>
            <a:pPr indent="0" marL="0">
              <a:buNone/>
            </a:pPr>
            <a:r>
              <a:rPr lang="en-US" sz="1100" i="1" dirty="0">
                <a:solidFill>
                  <a:srgbClr val="5A6472"/>
                </a:solidFill>
                <a:latin typeface="Calibri" pitchFamily="34" charset="0"/>
                <a:cs typeface="Amiri" pitchFamily="2" charset="-78"/>
              </a:rPr>
              <a:t>ka-ti-fun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ذِرَاعٌ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arm</a:t>
            </a:r>
            <a:endParaRPr lang="en-US" sz="1350" dirty="0"/>
          </a:p>
          <a:p>
            <a:pPr indent="0" marL="0">
              <a:buNone/>
            </a:pPr>
            <a:r>
              <a:rPr lang="en-US" sz="1100" i="1" dirty="0">
                <a:solidFill>
                  <a:srgbClr val="5A6472"/>
                </a:solidFill>
                <a:latin typeface="Calibri" pitchFamily="34" charset="0"/>
                <a:cs typeface="Amiri" pitchFamily="2" charset="-78"/>
              </a:rPr>
              <a:t>dhi-rā-ʿun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5" name="Shape 3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 / يَدَانِ</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hand / two hands</a:t>
            </a:r>
            <a:endParaRPr lang="en-US" sz="1350" dirty="0"/>
          </a:p>
          <a:p>
            <a:pPr indent="0" marL="0">
              <a:buNone/>
            </a:pPr>
            <a:r>
              <a:rPr lang="en-US" sz="1100" i="1" dirty="0">
                <a:solidFill>
                  <a:srgbClr val="5A6472"/>
                </a:solidFill>
                <a:latin typeface="Calibri" pitchFamily="34" charset="0"/>
                <a:cs typeface="Amiri" pitchFamily="2" charset="-78"/>
              </a:rPr>
              <a:t>ya-dun / ya-dā-ni</a:t>
            </a:r>
            <a:endParaRPr lang="en-US" sz="1350" dirty="0"/>
          </a:p>
        </p:txBody>
      </p:sp>
      <p:sp>
        <p:nvSpPr>
          <p:cNvPr id="41" name="Shape 3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3" name="Text 4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a:t>
            </a:r>
            <a:endParaRPr lang="ar-SA" sz="1500" dirty="0"/>
          </a:p>
        </p:txBody>
      </p:sp>
      <p:sp>
        <p:nvSpPr>
          <p:cNvPr id="44" name="Shape 4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46" name="Text 4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يَدَانِ</a:t>
            </a:r>
            <a:endParaRPr lang="ar-SA" sz="1500" dirty="0"/>
          </a:p>
        </p:txBody>
      </p:sp>
      <p:sp>
        <p:nvSpPr>
          <p:cNvPr id="47" name="Shape 4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أَيْدٍ</a:t>
            </a:r>
            <a:endParaRPr lang="ar-SA" sz="150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إِصْبَعُ اليَدِ</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finger</a:t>
            </a:r>
            <a:endParaRPr lang="en-US" sz="1350" dirty="0"/>
          </a:p>
          <a:p>
            <a:pPr indent="0" marL="0">
              <a:buNone/>
            </a:pPr>
            <a:r>
              <a:rPr lang="en-US" sz="1100" i="1" dirty="0">
                <a:solidFill>
                  <a:srgbClr val="5A6472"/>
                </a:solidFill>
                <a:latin typeface="Calibri" pitchFamily="34" charset="0"/>
                <a:cs typeface="Amiri" pitchFamily="2" charset="-78"/>
              </a:rPr>
              <a:t>iṣ-ba-ʿu al-ya-di</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Upper body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chest</a:t>
            </a:r>
            <a:endParaRPr lang="en-US" sz="1350" dirty="0"/>
          </a:p>
          <a:p>
            <a:pPr indent="0" marL="0">
              <a:buNone/>
            </a:pPr>
            <a:r>
              <a:rPr lang="en-US" sz="1100" i="1" dirty="0">
                <a:solidFill>
                  <a:srgbClr val="5A6472"/>
                </a:solidFill>
                <a:latin typeface="Calibri" pitchFamily="34" charset="0"/>
                <a:cs typeface="Amiri" pitchFamily="2" charset="-78"/>
              </a:rPr>
              <a:t>ṣad-run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back</a:t>
            </a:r>
            <a:endParaRPr lang="en-US" sz="1350" dirty="0"/>
          </a:p>
          <a:p>
            <a:pPr indent="0" marL="0">
              <a:buNone/>
            </a:pPr>
            <a:r>
              <a:rPr lang="en-US" sz="1100" i="1" dirty="0">
                <a:solidFill>
                  <a:srgbClr val="5A6472"/>
                </a:solidFill>
                <a:latin typeface="Calibri" pitchFamily="34" charset="0"/>
                <a:cs typeface="Amiri" pitchFamily="2" charset="-78"/>
              </a:rPr>
              <a:t>ẓah-run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a:t>
            </a:r>
            <a:endParaRPr lang="en-US" sz="1350" dirty="0"/>
          </a:p>
          <a:p>
            <a:pPr indent="0" marL="0">
              <a:buNone/>
            </a:pPr>
            <a:r>
              <a:rPr lang="en-US" sz="1100" i="1" dirty="0">
                <a:solidFill>
                  <a:srgbClr val="5A6472"/>
                </a:solidFill>
                <a:latin typeface="Calibri" pitchFamily="34" charset="0"/>
                <a:cs typeface="Amiri" pitchFamily="2" charset="-78"/>
              </a:rPr>
              <a:t>qal-bun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stomach</a:t>
            </a:r>
            <a:endParaRPr lang="en-US" sz="1350" dirty="0"/>
          </a:p>
          <a:p>
            <a:pPr indent="0" marL="0">
              <a:buNone/>
            </a:pPr>
            <a:r>
              <a:rPr lang="en-US" sz="1100" i="1" dirty="0">
                <a:solidFill>
                  <a:srgbClr val="5A6472"/>
                </a:solidFill>
                <a:latin typeface="Calibri" pitchFamily="34" charset="0"/>
                <a:cs typeface="Amiri" pitchFamily="2" charset="-78"/>
              </a:rPr>
              <a:t>ma-ʿi-da-tun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Lower body and structure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رِجْلٌ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leg</a:t>
            </a:r>
            <a:endParaRPr lang="en-US" sz="1350" dirty="0"/>
          </a:p>
          <a:p>
            <a:pPr indent="0" marL="0">
              <a:buNone/>
            </a:pPr>
            <a:r>
              <a:rPr lang="en-US" sz="1100" i="1" dirty="0">
                <a:solidFill>
                  <a:srgbClr val="5A6472"/>
                </a:solidFill>
                <a:latin typeface="Calibri" pitchFamily="34" charset="0"/>
                <a:cs typeface="Amiri" pitchFamily="2" charset="-78"/>
              </a:rPr>
              <a:t>rij-lun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رِجْلٌ</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رِجْلَانِ</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أَرْجُلٌ</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رُكْبَةٌ</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knee</a:t>
            </a:r>
            <a:endParaRPr lang="en-US" sz="1350" dirty="0"/>
          </a:p>
          <a:p>
            <a:pPr indent="0" marL="0">
              <a:buNone/>
            </a:pPr>
            <a:r>
              <a:rPr lang="en-US" sz="1100" i="1" dirty="0">
                <a:solidFill>
                  <a:srgbClr val="5A6472"/>
                </a:solidFill>
                <a:latin typeface="Calibri" pitchFamily="34" charset="0"/>
                <a:cs typeface="Amiri" pitchFamily="2" charset="-78"/>
              </a:rPr>
              <a:t>ruk-ba-tun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3" name="Shape 40"/>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قَدَمٌ / قَدَمَانِ</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foot / two feet</a:t>
            </a:r>
            <a:endParaRPr lang="en-US" sz="1350" dirty="0"/>
          </a:p>
          <a:p>
            <a:pPr indent="0" marL="0">
              <a:buNone/>
            </a:pPr>
            <a:r>
              <a:rPr lang="en-US" sz="1100" i="1" dirty="0">
                <a:solidFill>
                  <a:srgbClr val="5A6472"/>
                </a:solidFill>
                <a:latin typeface="Calibri" pitchFamily="34" charset="0"/>
                <a:cs typeface="Amiri" pitchFamily="2" charset="-78"/>
              </a:rPr>
              <a:t>qa-da-mun / qa-da-mā-ni</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قَدَمَانِ</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أَقْدَامٌ</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إِصْبَعُ القَدَمِ</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toe</a:t>
            </a:r>
            <a:endParaRPr lang="en-US" sz="1350" dirty="0"/>
          </a:p>
          <a:p>
            <a:pPr indent="0" marL="0">
              <a:buNone/>
            </a:pPr>
            <a:r>
              <a:rPr lang="en-US" sz="1100" i="1" dirty="0">
                <a:solidFill>
                  <a:srgbClr val="5A6472"/>
                </a:solidFill>
                <a:latin typeface="Calibri" pitchFamily="34" charset="0"/>
                <a:cs typeface="Amiri" pitchFamily="2" charset="-78"/>
              </a:rPr>
              <a:t>iṣ-ba-ʿu al-qa-da-mi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Lower body and structure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ankle</a:t>
            </a:r>
            <a:endParaRPr lang="en-US" sz="1350" dirty="0"/>
          </a:p>
          <a:p>
            <a:pPr indent="0" marL="0">
              <a:buNone/>
            </a:pPr>
            <a:r>
              <a:rPr lang="en-US" sz="1100" i="1" dirty="0">
                <a:solidFill>
                  <a:srgbClr val="5A6472"/>
                </a:solidFill>
                <a:latin typeface="Calibri" pitchFamily="34" charset="0"/>
                <a:cs typeface="Amiri" pitchFamily="2" charset="-78"/>
              </a:rPr>
              <a:t>kā-ḥi-lun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عَظْمٌ / عِظَامٌ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bone / bones</a:t>
            </a:r>
            <a:endParaRPr lang="en-US" sz="1350" dirty="0"/>
          </a:p>
          <a:p>
            <a:pPr indent="0" marL="0">
              <a:buNone/>
            </a:pPr>
            <a:r>
              <a:rPr lang="en-US" sz="1100" i="1" dirty="0">
                <a:solidFill>
                  <a:srgbClr val="5A6472"/>
                </a:solidFill>
                <a:latin typeface="Calibri" pitchFamily="34" charset="0"/>
                <a:cs typeface="Amiri" pitchFamily="2" charset="-78"/>
              </a:rPr>
              <a:t>ʿaẓ-mun / ʿi-ẓā-mun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جِلْدٌ / بَشَرَةٌ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skin</a:t>
            </a:r>
            <a:endParaRPr lang="en-US" sz="1350" dirty="0"/>
          </a:p>
          <a:p>
            <a:pPr indent="0" marL="0">
              <a:buNone/>
            </a:pPr>
            <a:r>
              <a:rPr lang="en-US" sz="1100" i="1" dirty="0">
                <a:solidFill>
                  <a:srgbClr val="5A6472"/>
                </a:solidFill>
                <a:latin typeface="Calibri" pitchFamily="34" charset="0"/>
                <a:cs typeface="Amiri" pitchFamily="2" charset="-78"/>
              </a:rPr>
              <a:t>jil-dun / ba-sha-ra-tun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جِسْمٌ / جَسَدٌ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body</a:t>
            </a:r>
            <a:endParaRPr lang="en-US" sz="1350" dirty="0"/>
          </a:p>
          <a:p>
            <a:pPr indent="0" marL="0">
              <a:buNone/>
            </a:pPr>
            <a:r>
              <a:rPr lang="en-US" sz="1100" i="1" dirty="0">
                <a:solidFill>
                  <a:srgbClr val="5A6472"/>
                </a:solidFill>
                <a:latin typeface="Calibri" pitchFamily="34" charset="0"/>
                <a:cs typeface="Amiri" pitchFamily="2" charset="-78"/>
              </a:rPr>
              <a:t>jis-mun / ja-sa-dun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 actions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sees</a:t>
            </a:r>
            <a:endParaRPr lang="en-US" sz="1350" dirty="0"/>
          </a:p>
          <a:p>
            <a:pPr indent="0" marL="0">
              <a:buNone/>
            </a:pPr>
            <a:r>
              <a:rPr lang="en-US" sz="1100" i="1" dirty="0">
                <a:solidFill>
                  <a:srgbClr val="5A6472"/>
                </a:solidFill>
                <a:latin typeface="Calibri" pitchFamily="34" charset="0"/>
                <a:cs typeface="Amiri" pitchFamily="2" charset="-78"/>
              </a:rPr>
              <a:t>ya-rā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يَسْمَعُ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hears</a:t>
            </a:r>
            <a:endParaRPr lang="en-US" sz="1350" dirty="0"/>
          </a:p>
          <a:p>
            <a:pPr indent="0" marL="0">
              <a:buNone/>
            </a:pPr>
            <a:r>
              <a:rPr lang="en-US" sz="1100" i="1" dirty="0">
                <a:solidFill>
                  <a:srgbClr val="5A6472"/>
                </a:solidFill>
                <a:latin typeface="Calibri" pitchFamily="34" charset="0"/>
                <a:cs typeface="Amiri" pitchFamily="2" charset="-78"/>
              </a:rPr>
              <a:t>yas-ma-ʿu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smells</a:t>
            </a:r>
            <a:endParaRPr lang="en-US" sz="1350" dirty="0"/>
          </a:p>
          <a:p>
            <a:pPr indent="0" marL="0">
              <a:buNone/>
            </a:pPr>
            <a:r>
              <a:rPr lang="en-US" sz="1100" i="1" dirty="0">
                <a:solidFill>
                  <a:srgbClr val="5A6472"/>
                </a:solidFill>
                <a:latin typeface="Calibri" pitchFamily="34" charset="0"/>
                <a:cs typeface="Amiri" pitchFamily="2" charset="-78"/>
              </a:rPr>
              <a:t>ya-shum-mu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يَلْمِسُ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touches</a:t>
            </a:r>
            <a:endParaRPr lang="en-US" sz="1350" dirty="0"/>
          </a:p>
          <a:p>
            <a:pPr indent="0" marL="0">
              <a:buNone/>
            </a:pPr>
            <a:r>
              <a:rPr lang="en-US" sz="1100" i="1" dirty="0">
                <a:solidFill>
                  <a:srgbClr val="5A6472"/>
                </a:solidFill>
                <a:latin typeface="Calibri" pitchFamily="34" charset="0"/>
                <a:cs typeface="Amiri" pitchFamily="2" charset="-78"/>
              </a:rPr>
              <a:t>yal-mi-su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يَتَنَفَّسُ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breathes</a:t>
            </a:r>
            <a:endParaRPr lang="en-US" sz="1350" dirty="0"/>
          </a:p>
          <a:p>
            <a:pPr indent="0" marL="0">
              <a:buNone/>
            </a:pPr>
            <a:r>
              <a:rPr lang="en-US" sz="1100" i="1" dirty="0">
                <a:solidFill>
                  <a:srgbClr val="5A6472"/>
                </a:solidFill>
                <a:latin typeface="Calibri" pitchFamily="34" charset="0"/>
                <a:cs typeface="Amiri" pitchFamily="2" charset="-78"/>
              </a:rPr>
              <a:t>ya-ta-naf-fa-su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يَتَنَفَّسُ بِعُمْقٍ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breathes deeply</a:t>
            </a:r>
            <a:endParaRPr lang="en-US" sz="1350" dirty="0"/>
          </a:p>
          <a:p>
            <a:pPr indent="0" marL="0">
              <a:buNone/>
            </a:pPr>
            <a:r>
              <a:rPr lang="en-US" sz="1100" i="1" dirty="0">
                <a:solidFill>
                  <a:srgbClr val="5A6472"/>
                </a:solidFill>
                <a:latin typeface="Calibri" pitchFamily="34" charset="0"/>
                <a:cs typeface="Amiri" pitchFamily="2" charset="-78"/>
              </a:rPr>
              <a:t>ya-ta-naf-fa-su bi-ʿum-qin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THIS IS MY … (WEBSITE RULES 1, 2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is my head · this is my hand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هٰذَا · هٰذِهِ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 </a:t>
            </a:r>
            <a:pPr algn="ctr" indent="0" marL="0">
              <a:buNone/>
            </a:pPr>
            <a:r>
              <a:rPr lang="ar-SA" altLang="en-US" sz="1450" b="1" dirty="0">
                <a:solidFill>
                  <a:srgbClr val="FFFFFF"/>
                </a:solidFill>
                <a:latin typeface="Amiri" pitchFamily="2" charset="-78"/>
                <a:ea typeface="Amiri" pitchFamily="2" charset="-78"/>
                <a:cs typeface="Amiri" pitchFamily="2" charset="-78"/>
              </a:rPr>
              <a:t>هٰذَا</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 </a:t>
            </a:r>
            <a:pPr algn="ctr" indent="0" marL="0">
              <a:buNone/>
            </a:pPr>
            <a:r>
              <a:rPr lang="ar-SA" altLang="en-US" sz="1450" b="1" dirty="0">
                <a:solidFill>
                  <a:srgbClr val="FFFFFF"/>
                </a:solidFill>
                <a:latin typeface="Amiri" pitchFamily="2" charset="-78"/>
                <a:ea typeface="Amiri" pitchFamily="2" charset="-78"/>
                <a:cs typeface="Amiri" pitchFamily="2" charset="-78"/>
              </a:rPr>
              <a:t>هٰذِهِ</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245352" y="2286000"/>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رَأْسِي.</a:t>
            </a:r>
            <a:endParaRPr lang="ar-SA" sz="1950" dirty="0"/>
          </a:p>
        </p:txBody>
      </p:sp>
      <p:sp>
        <p:nvSpPr>
          <p:cNvPr id="20" name="Text 17"/>
          <p:cNvSpPr txBox="1"/>
          <p:nvPr/>
        </p:nvSpPr>
        <p:spPr>
          <a:xfrm>
            <a:off x="6199632" y="267699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head.</a:t>
            </a:r>
            <a:endParaRPr lang="en-US" sz="950" dirty="0"/>
          </a:p>
        </p:txBody>
      </p:sp>
      <p:sp>
        <p:nvSpPr>
          <p:cNvPr id="21" name="Text 18"/>
          <p:cNvSpPr txBox="1"/>
          <p:nvPr/>
        </p:nvSpPr>
        <p:spPr>
          <a:xfrm>
            <a:off x="548640" y="2286000"/>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يَدِي.</a:t>
            </a:r>
            <a:endParaRPr lang="ar-SA" sz="1950" dirty="0"/>
          </a:p>
        </p:txBody>
      </p:sp>
      <p:sp>
        <p:nvSpPr>
          <p:cNvPr id="22" name="Text 19"/>
          <p:cNvSpPr txBox="1"/>
          <p:nvPr/>
        </p:nvSpPr>
        <p:spPr>
          <a:xfrm>
            <a:off x="502920" y="267699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hand.</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45352" y="302300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أَنْفِي.</a:t>
            </a:r>
            <a:endParaRPr lang="ar-SA" sz="1950" dirty="0"/>
          </a:p>
        </p:txBody>
      </p:sp>
      <p:sp>
        <p:nvSpPr>
          <p:cNvPr id="27" name="Text 24"/>
          <p:cNvSpPr txBox="1"/>
          <p:nvPr/>
        </p:nvSpPr>
        <p:spPr>
          <a:xfrm>
            <a:off x="6199632" y="3414004"/>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nose.</a:t>
            </a:r>
            <a:endParaRPr lang="en-US" sz="950" dirty="0"/>
          </a:p>
        </p:txBody>
      </p:sp>
      <p:sp>
        <p:nvSpPr>
          <p:cNvPr id="28" name="Text 25"/>
          <p:cNvSpPr txBox="1"/>
          <p:nvPr/>
        </p:nvSpPr>
        <p:spPr>
          <a:xfrm>
            <a:off x="548640" y="302300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عَيْنِي.</a:t>
            </a:r>
            <a:endParaRPr lang="ar-SA" sz="1950" dirty="0"/>
          </a:p>
        </p:txBody>
      </p:sp>
      <p:sp>
        <p:nvSpPr>
          <p:cNvPr id="29" name="Text 26"/>
          <p:cNvSpPr txBox="1"/>
          <p:nvPr/>
        </p:nvSpPr>
        <p:spPr>
          <a:xfrm>
            <a:off x="502920" y="3414004"/>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eye.</a:t>
            </a:r>
            <a:endParaRPr lang="en-US" sz="950" dirty="0"/>
          </a:p>
        </p:txBody>
      </p:sp>
      <p:sp>
        <p:nvSpPr>
          <p:cNvPr id="30" name="Shape 27"/>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245352" y="3760013"/>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فَمِي.</a:t>
            </a:r>
            <a:endParaRPr lang="ar-SA" sz="1950" dirty="0"/>
          </a:p>
        </p:txBody>
      </p:sp>
      <p:sp>
        <p:nvSpPr>
          <p:cNvPr id="34" name="Text 31"/>
          <p:cNvSpPr txBox="1"/>
          <p:nvPr/>
        </p:nvSpPr>
        <p:spPr>
          <a:xfrm>
            <a:off x="6199632" y="4151010"/>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mouth.</a:t>
            </a:r>
            <a:endParaRPr lang="en-US" sz="950" dirty="0"/>
          </a:p>
        </p:txBody>
      </p:sp>
      <p:sp>
        <p:nvSpPr>
          <p:cNvPr id="35" name="Text 32"/>
          <p:cNvSpPr txBox="1"/>
          <p:nvPr/>
        </p:nvSpPr>
        <p:spPr>
          <a:xfrm>
            <a:off x="548640" y="3760013"/>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أُذُنِي.</a:t>
            </a:r>
            <a:endParaRPr lang="ar-SA" sz="1950" dirty="0"/>
          </a:p>
        </p:txBody>
      </p:sp>
      <p:sp>
        <p:nvSpPr>
          <p:cNvPr id="36" name="Text 33"/>
          <p:cNvSpPr txBox="1"/>
          <p:nvPr/>
        </p:nvSpPr>
        <p:spPr>
          <a:xfrm>
            <a:off x="502920" y="4151010"/>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ear.</a:t>
            </a:r>
            <a:endParaRPr lang="en-US" sz="95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245352" y="4497019"/>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ظَهْرِي.</a:t>
            </a:r>
            <a:endParaRPr lang="ar-SA" sz="1950" dirty="0"/>
          </a:p>
        </p:txBody>
      </p:sp>
      <p:sp>
        <p:nvSpPr>
          <p:cNvPr id="41" name="Text 38"/>
          <p:cNvSpPr txBox="1"/>
          <p:nvPr/>
        </p:nvSpPr>
        <p:spPr>
          <a:xfrm>
            <a:off x="6199632" y="488801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back.</a:t>
            </a:r>
            <a:endParaRPr lang="en-US" sz="950" dirty="0"/>
          </a:p>
        </p:txBody>
      </p:sp>
      <p:sp>
        <p:nvSpPr>
          <p:cNvPr id="42" name="Text 39"/>
          <p:cNvSpPr txBox="1"/>
          <p:nvPr/>
        </p:nvSpPr>
        <p:spPr>
          <a:xfrm>
            <a:off x="548640" y="4497019"/>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قَدَمِي.</a:t>
            </a:r>
            <a:endParaRPr lang="ar-SA" sz="1950" dirty="0"/>
          </a:p>
        </p:txBody>
      </p:sp>
      <p:sp>
        <p:nvSpPr>
          <p:cNvPr id="43" name="Text 40"/>
          <p:cNvSpPr txBox="1"/>
          <p:nvPr/>
        </p:nvSpPr>
        <p:spPr>
          <a:xfrm>
            <a:off x="502920" y="488801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foot.</a:t>
            </a:r>
            <a:endParaRPr lang="en-US" sz="95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245352" y="523402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هٰذَا</a:t>
            </a:r>
            <a:pPr rtl="1" algn="ctr" indent="0" marL="0">
              <a:buNone/>
            </a:pPr>
            <a:r>
              <a:rPr lang="ar-SA" altLang="en-US" sz="1950" b="1" dirty="0">
                <a:solidFill>
                  <a:srgbClr val="1B3B6F"/>
                </a:solidFill>
                <a:latin typeface="Amiri" pitchFamily="2" charset="-78"/>
                <a:ea typeface="Amiri" pitchFamily="2" charset="-78"/>
                <a:cs typeface="Amiri" pitchFamily="2" charset="-78"/>
              </a:rPr>
              <a:t> وَجْهِي.</a:t>
            </a:r>
            <a:endParaRPr lang="ar-SA" sz="1950" dirty="0"/>
          </a:p>
        </p:txBody>
      </p:sp>
      <p:sp>
        <p:nvSpPr>
          <p:cNvPr id="46" name="Text 43"/>
          <p:cNvSpPr txBox="1"/>
          <p:nvPr/>
        </p:nvSpPr>
        <p:spPr>
          <a:xfrm>
            <a:off x="6199632" y="5625023"/>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face.</a:t>
            </a:r>
            <a:endParaRPr lang="en-US" sz="950" dirty="0"/>
          </a:p>
        </p:txBody>
      </p:sp>
      <p:sp>
        <p:nvSpPr>
          <p:cNvPr id="47" name="Text 44"/>
          <p:cNvSpPr txBox="1"/>
          <p:nvPr/>
        </p:nvSpPr>
        <p:spPr>
          <a:xfrm>
            <a:off x="548640" y="523402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هٰذِهِ</a:t>
            </a:r>
            <a:pPr rtl="1" algn="ctr" indent="0" marL="0">
              <a:buNone/>
            </a:pPr>
            <a:r>
              <a:rPr lang="ar-SA" altLang="en-US" sz="1950" b="1" dirty="0">
                <a:solidFill>
                  <a:srgbClr val="1B3B6F"/>
                </a:solidFill>
                <a:latin typeface="Amiri" pitchFamily="2" charset="-78"/>
                <a:ea typeface="Amiri" pitchFamily="2" charset="-78"/>
                <a:cs typeface="Amiri" pitchFamily="2" charset="-78"/>
              </a:rPr>
              <a:t> رُكْبَتِي.</a:t>
            </a:r>
            <a:endParaRPr lang="ar-SA" sz="1950" dirty="0"/>
          </a:p>
        </p:txBody>
      </p:sp>
      <p:sp>
        <p:nvSpPr>
          <p:cNvPr id="48" name="Text 45"/>
          <p:cNvSpPr txBox="1"/>
          <p:nvPr/>
        </p:nvSpPr>
        <p:spPr>
          <a:xfrm>
            <a:off x="502920" y="5625023"/>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knee.</a:t>
            </a:r>
            <a:endParaRPr lang="en-US" sz="9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ending -ī means “my”. Hand, eye, ear, foot and leg are feminine even without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Knee: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becomes t before -ī.</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2 · TWO OF THEM · WITH MY … (WEBSITE RULE 3 AND PATTERNS)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eyes — I see with my eyes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المُثَنَّى ·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DUAL · TWO</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عَيْنَانِ · يَدَانِ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لِي عَيْنَانِ وَأُذُنَانِ.</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two eyes and two ears.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-āni = two. No “ithnān” needed.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WITH … · بِـ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أَرَى بِعَيْنَيَّ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أَرَى بِعَيْنَيَّ، وَأَسْمَعُ بِأُذُنَيَّ.</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see with my eyes and hear with my ears.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bi- + my two …: -ayya.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WHERE? · فِي</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القَلْبُ فِي الصَّدْرِ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القَلْبُ فِي الصَّدْرِ، وَالمَعِدَةُ فِي البَطْنِ.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heart is in the chest; the stomach is in the abdomen.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Inside organs + fī.</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use the dual noun for two eyes.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لِي عَيْنَانِ.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ea typeface="Amiri" pitchFamily="2" charset="-78"/>
                <a:cs typeface="Amiri" pitchFamily="2" charset="-78"/>
              </a:rPr>
              <a:t>عِنْدِي اثْنَانِ عَيْنٌ.</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أَسْمَاءُ الإِشَارَةِ وَصِيغَةُ المُثَنَّى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with masculine nouns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هٰذَا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رَأْسِي.   ·   هٰذَا أَنْفِي.   ·   هٰذَا فَمِي.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with feminine 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هٰذِهِ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هٰذِهِ يَدِي.   ·   هٰذِهِ عَيْنِي.   ·   هٰذِهِ أُذُنِي.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Form the dual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ـَانِ</a:t>
            </a:r>
            <a:pPr algn="l" indent="0" marL="0">
              <a:buNone/>
            </a:pPr>
            <a:r>
              <a:rPr lang="en-US" sz="1050" dirty="0">
                <a:solidFill>
                  <a:srgbClr val="5A6472"/>
                </a:solidFill>
                <a:latin typeface="Calibri" pitchFamily="34" charset="0"/>
                <a:cs typeface="Amiri" pitchFamily="2" charset="-78"/>
              </a:rPr>
              <a:t> (subject) · </a:t>
            </a:r>
            <a:pPr algn="l" indent="0" marL="0">
              <a:buNone/>
            </a:pPr>
            <a:r>
              <a:rPr lang="ar-SA" altLang="en-US" sz="1350" dirty="0">
                <a:solidFill>
                  <a:srgbClr val="5A6472"/>
                </a:solidFill>
                <a:latin typeface="Amiri" pitchFamily="2" charset="-78"/>
                <a:ea typeface="Amiri" pitchFamily="2" charset="-78"/>
                <a:cs typeface="Amiri" pitchFamily="2" charset="-78"/>
              </a:rPr>
              <a:t>ـَيْنِ</a:t>
            </a:r>
            <a:pPr algn="l" indent="0" marL="0">
              <a:buNone/>
            </a:pPr>
            <a:r>
              <a:rPr lang="en-US" sz="1050" dirty="0">
                <a:solidFill>
                  <a:srgbClr val="5A6472"/>
                </a:solidFill>
                <a:latin typeface="Calibri" pitchFamily="34" charset="0"/>
                <a:cs typeface="Amiri" pitchFamily="2" charset="-78"/>
              </a:rPr>
              <a:t> (other positions)</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لِي عَيْنَانِ.   ·   أَغْسِلُ يَدَيْنِ.   ·   أَرَى بِعَيْنَيْنِ.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Add the possessive ending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الجِسْمِ + ـِي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رَأْسِي   ·   يَدِي   ·   عَيْنَايَ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يَدِي.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head”?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for </a:t>
            </a:r>
            <a:pPr algn="l" indent="0" marL="0">
              <a:buNone/>
            </a:pPr>
            <a:r>
              <a:rPr lang="ar-SA" altLang="en-US" sz="1650" b="1" dirty="0">
                <a:solidFill>
                  <a:srgbClr val="1B3B6F"/>
                </a:solidFill>
                <a:latin typeface="Amiri" pitchFamily="2" charset="-78"/>
                <a:ea typeface="Amiri" pitchFamily="2" charset="-78"/>
                <a:cs typeface="Amiri" pitchFamily="2" charset="-78"/>
              </a:rPr>
              <a:t>أَنْفٌ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يَدِي.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يَدُكَ.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يَدِي.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a:t>
            </a:r>
            <a:pPr algn="l" indent="0" marL="0">
              <a:buNone/>
            </a:pPr>
            <a:r>
              <a:rPr lang="en-US" sz="1050" i="1" dirty="0">
                <a:solidFill>
                  <a:srgbClr val="8A6D1E"/>
                </a:solidFill>
                <a:latin typeface="Calibri" pitchFamily="34" charset="0"/>
                <a:cs typeface="Amiri" pitchFamily="2" charset="-78"/>
              </a:rPr>
              <a:t> is grammatically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head”?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رَأْسِي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عَيْنَانِ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a:t>
            </a:r>
            <a:pPr algn="l" indent="0" marL="0">
              <a:buNone/>
            </a:pPr>
            <a:r>
              <a:rPr lang="ar-SA" altLang="en-US" sz="1350" dirty="0">
                <a:solidFill>
                  <a:srgbClr val="8A6D1E"/>
                </a:solidFill>
                <a:latin typeface="Amiri" pitchFamily="2" charset="-78"/>
                <a:ea typeface="Amiri" pitchFamily="2" charset="-78"/>
                <a:cs typeface="Amiri" pitchFamily="2" charset="-78"/>
              </a:rPr>
              <a:t>ـانِ</a:t>
            </a:r>
            <a:pPr algn="l" indent="0" marL="0">
              <a:buNone/>
            </a:pPr>
            <a:r>
              <a:rPr lang="en-US" sz="1050" i="1" dirty="0">
                <a:solidFill>
                  <a:srgbClr val="8A6D1E"/>
                </a:solidFill>
                <a:latin typeface="Calibri" pitchFamily="34" charset="0"/>
                <a:cs typeface="Amiri" pitchFamily="2" charset="-78"/>
              </a:rPr>
              <a:t> marks the dual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demonstrative for </a:t>
            </a:r>
            <a:pPr algn="l" indent="0" marL="0">
              <a:buNone/>
            </a:pPr>
            <a:r>
              <a:rPr lang="ar-SA" altLang="en-US" sz="1650" b="1" dirty="0">
                <a:solidFill>
                  <a:srgbClr val="1B3B6F"/>
                </a:solidFill>
                <a:latin typeface="Amiri" pitchFamily="2" charset="-78"/>
                <a:ea typeface="Amiri" pitchFamily="2" charset="-78"/>
                <a:cs typeface="Amiri" pitchFamily="2" charset="-78"/>
              </a:rPr>
              <a:t>أَنْفٌ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أَنْفٌ</a:t>
            </a:r>
            <a:pPr algn="l" indent="0" marL="0">
              <a:buNone/>
            </a:pPr>
            <a:r>
              <a:rPr lang="en-US" sz="1050" i="1" dirty="0">
                <a:solidFill>
                  <a:srgbClr val="8A6D1E"/>
                </a:solidFill>
                <a:latin typeface="Calibri" pitchFamily="34" charset="0"/>
                <a:cs typeface="Amiri" pitchFamily="2" charset="-78"/>
              </a:rPr>
              <a:t> is masculine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body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This is my …</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رَأْسِي، وَ</a:t>
            </a:r>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وَجْهِي.</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Head, face: 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Two</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لِي </a:t>
            </a:r>
            <a:pPr rtl="1" algn="ctr" indent="0" marL="0">
              <a:buNone/>
            </a:pPr>
            <a:r>
              <a:rPr lang="ar-SA" altLang="en-US" sz="2800" b="1" dirty="0">
                <a:solidFill>
                  <a:srgbClr val="7B3FA0"/>
                </a:solidFill>
                <a:latin typeface="Amiri" pitchFamily="2" charset="-78"/>
                <a:ea typeface="Amiri" pitchFamily="2" charset="-78"/>
                <a:cs typeface="Amiri" pitchFamily="2" charset="-78"/>
              </a:rPr>
              <a:t>عَيْنَانِ</a:t>
            </a:r>
            <a:pPr rtl="1" algn="ctr" indent="0" marL="0">
              <a:buNone/>
            </a:pPr>
            <a:r>
              <a:rPr lang="ar-SA" altLang="en-US" sz="2800" b="1" dirty="0">
                <a:solidFill>
                  <a:srgbClr val="1B3B6F"/>
                </a:solidFill>
                <a:latin typeface="Amiri" pitchFamily="2" charset="-78"/>
                <a:ea typeface="Amiri" pitchFamily="2" charset="-78"/>
                <a:cs typeface="Amiri" pitchFamily="2" charset="-78"/>
              </a:rPr>
              <a:t> وَ</a:t>
            </a:r>
            <a:pPr rtl="1" algn="ctr" indent="0" marL="0">
              <a:buNone/>
            </a:pPr>
            <a:r>
              <a:rPr lang="ar-SA" altLang="en-US" sz="2800" b="1" dirty="0">
                <a:solidFill>
                  <a:srgbClr val="7B3FA0"/>
                </a:solidFill>
                <a:latin typeface="Amiri" pitchFamily="2" charset="-78"/>
                <a:ea typeface="Amiri" pitchFamily="2" charset="-78"/>
                <a:cs typeface="Amiri" pitchFamily="2" charset="-78"/>
              </a:rPr>
              <a:t>أُذُنَانِ</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 -āni.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With my …</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أَرَى بِعَيْنَيَّ، وَأَسْمَعُ بِأُذُنَيَّ.</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Sense verb + bi-.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Feminine!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يَدِي اليُمْنَى،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يَدِي اليُسْرَى.</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Hand is f. → hādhihi, al-yumnā.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TWO</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D5FBF"/>
                </a:solidFill>
                <a:latin typeface="Amiri" pitchFamily="2" charset="-78"/>
                <a:ea typeface="Amiri" pitchFamily="2" charset="-78"/>
                <a:cs typeface="Amiri" pitchFamily="2" charset="-78"/>
              </a:rPr>
              <a:t>هٰذَا</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رَأْسِي، وَ</a:t>
            </a:r>
            <a:pPr rtl="1" algn="r" indent="0" marL="0">
              <a:lnSpc>
                <a:spcPct val="120000"/>
              </a:lnSpc>
              <a:buNone/>
            </a:pPr>
            <a:r>
              <a:rPr lang="ar-SA" altLang="en-US" sz="1600" b="1" dirty="0">
                <a:solidFill>
                  <a:srgbClr val="1D5FBF"/>
                </a:solidFill>
                <a:latin typeface="Amiri" pitchFamily="2" charset="-78"/>
                <a:ea typeface="Amiri" pitchFamily="2" charset="-78"/>
                <a:cs typeface="Amiri" pitchFamily="2" charset="-78"/>
              </a:rPr>
              <a:t>هٰذَا</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وَجْهِي. لِي </a:t>
            </a:r>
            <a:pPr rtl="1" algn="r" indent="0" marL="0">
              <a:lnSpc>
                <a:spcPct val="120000"/>
              </a:lnSpc>
              <a:buNone/>
            </a:pPr>
            <a:r>
              <a:rPr lang="ar-SA" altLang="en-US" sz="1600" b="1" dirty="0">
                <a:solidFill>
                  <a:srgbClr val="7B3FA0"/>
                </a:solidFill>
                <a:latin typeface="Amiri" pitchFamily="2" charset="-78"/>
                <a:ea typeface="Amiri" pitchFamily="2" charset="-78"/>
                <a:cs typeface="Amiri" pitchFamily="2" charset="-78"/>
              </a:rPr>
              <a:t>عَيْنَانِ</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a:t>
            </a:r>
            <a:pPr rtl="1" algn="r" indent="0" marL="0">
              <a:lnSpc>
                <a:spcPct val="120000"/>
              </a:lnSpc>
              <a:buNone/>
            </a:pPr>
            <a:r>
              <a:rPr lang="ar-SA" altLang="en-US" sz="1600" b="1" dirty="0">
                <a:solidFill>
                  <a:srgbClr val="7B3FA0"/>
                </a:solidFill>
                <a:latin typeface="Amiri" pitchFamily="2" charset="-78"/>
                <a:ea typeface="Amiri" pitchFamily="2" charset="-78"/>
                <a:cs typeface="Amiri" pitchFamily="2" charset="-78"/>
              </a:rPr>
              <a:t>أُذُنَانِ</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أَرَى بِعَيْنَيَّ وَأَسْمَعُ بِأُذُنَيَّ. </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هٰذِهِ</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يَدِي اليُمْنَى، وَ</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هٰذِهِ</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يَدِي اليُسْرَى. أَكْتُبُ بِيَدِي، وَأَمْشِي بِقَدَمَيَّ. القَلْبُ فِي صَدْرِي.</a:t>
            </a:r>
            <a:endParaRPr lang="ar-SA" sz="1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my head, and this is my face. I have two eyes and two ears. I see with my eyes and hear with my ears. This is my right hand, and this is my left hand. I write with my hand, and I walk with my feet. The heart is in my chest.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رَأْسِي، وَهٰذِهِ يَدِي.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head, and this is my hand.</a:t>
            </a:r>
            <a:endParaRPr lang="en-US" sz="1250" dirty="0"/>
          </a:p>
          <a:p>
            <a:pPr indent="0" marL="0">
              <a:buNone/>
            </a:pPr>
            <a:r>
              <a:rPr lang="en-US" sz="1050" i="1" dirty="0">
                <a:solidFill>
                  <a:srgbClr val="8A6D1E"/>
                </a:solidFill>
                <a:latin typeface="Calibri" pitchFamily="34" charset="0"/>
                <a:cs typeface="Amiri" pitchFamily="2" charset="-78"/>
              </a:rPr>
              <a:t>Choose the demonstrative according to noun gender.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لِي عَيْنَانِ وَأُذُنَانِ.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two eyes and two ears.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dual ending -انِ signals two in this form.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نَرَى بِأَعْيُنِنَا، وَنَسْمَعُ بِآذَانِنَا.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see with our eyes and hear with our ears.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can express the body part used.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القَلْبُ فِي الصَّدْرِ، وَالمَعِدَةُ فِي البَطْنِ.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heart is in the chest, and the stomach is in the abdomen.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فِي to locate internal organs.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“VISUAL GAME — THE BODY AND ITS PARTS”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 parts: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nose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hand</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leg</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يَدٌ.</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سَاقٌ.</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أَنْفٌ.</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nose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أَنْفٌ.</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nose.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hand</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يَدٌ.</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hand.</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leg</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سَاقٌ.</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leg (shin).</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رُكْبَةٌ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ظَهْرٌ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هٰذَا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هٰذِهِ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هٰذَا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ظَهْرٌ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هٰذِهِ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رُكْبَةٌ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قَدَمٌ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أَرَى ___ عَيْنَيَّ.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1" name="Shape 28"/>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locates the heart?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القَلْبُ بِالصَّدْرِ.</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القَلْبُ فِي الصَّدْرِ.</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القَلْبُ مِنَ الصَّدْرِ.</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have two eyes”?</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اثْنَانِ عَيْنٌ.</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عَيْنَانِ.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عَيْنٌ اثْنَانِ.</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أَرَى ___ عَيْنَيَّ.</a:t>
            </a:r>
            <a:endParaRPr lang="ar-SA" sz="1500" dirty="0"/>
          </a:p>
        </p:txBody>
      </p:sp>
      <p:sp>
        <p:nvSpPr>
          <p:cNvPr id="22" name="Shape 19"/>
          <p:cNvSpPr/>
          <p:nvPr/>
        </p:nvSpPr>
        <p:spPr>
          <a:xfrm>
            <a:off x="640080" y="2532888"/>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28" name="Shape 25"/>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44728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32" name="Text 29"/>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expresses the body part used.</a:t>
            </a:r>
            <a:endParaRPr lang="en-US" sz="1050" dirty="0"/>
          </a:p>
        </p:txBody>
      </p:sp>
      <p:sp>
        <p:nvSpPr>
          <p:cNvPr id="33" name="Shape 30"/>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locates the heart?</a:t>
            </a:r>
            <a:endParaRPr lang="en-US" sz="125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القَلْبُ بِالصَّدْرِ.</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القَلْبُ فِي الصَّدْرِ.</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القَلْبُ مِنَ الصَّدْرِ.</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to say where it is.</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have two eyes”?</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عِنْدِي اثْنَانِ عَيْنٌ.</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لِي عَيْنَانِ.</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لِي عَيْنٌ اثْنَانِ.</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dual form </a:t>
            </a:r>
            <a:pPr algn="l" indent="0" marL="0">
              <a:buNone/>
            </a:pPr>
            <a:r>
              <a:rPr lang="ar-SA" altLang="en-US" sz="1350" dirty="0">
                <a:solidFill>
                  <a:srgbClr val="8A6D1E"/>
                </a:solidFill>
                <a:latin typeface="Amiri" pitchFamily="2" charset="-78"/>
                <a:ea typeface="Amiri" pitchFamily="2" charset="-78"/>
                <a:cs typeface="Amiri" pitchFamily="2" charset="-78"/>
              </a:rPr>
              <a:t>عَيْنَانِ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يَدِي.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hand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عِنْدِي اثْنَانِ عَيْنٌ.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we say “two eyes”?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نَسْمَعُ بِالعَيْنِ.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body part hears?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يَدِي.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يَدِي.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يَدٌ</a:t>
            </a:r>
            <a:pPr algn="l" indent="0" marL="0">
              <a:buNone/>
            </a:pPr>
            <a:r>
              <a:rPr lang="en-US" sz="1150" b="1" dirty="0">
                <a:solidFill>
                  <a:srgbClr val="1B3B6F"/>
                </a:solidFill>
                <a:latin typeface="Calibri" pitchFamily="34" charset="0"/>
                <a:cs typeface="Amiri" pitchFamily="2" charset="-78"/>
              </a:rPr>
              <a:t> is grammatically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عِنْدِي اثْنَانِ عَيْنٌ.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 عَيْنَانِ.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dual noun form for two eyes.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نَسْمَعُ بِالعَيْنِ.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نَسْمَعُ بِالأُذُنِ.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Hearing is associated with the ear; the correction also reinforces the correct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identify the body 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smell?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 is used for writing?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when tired?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puts a hand on the chest and breathes deeply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touches the head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sits on the floor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word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أَرَى بِعَيْنَيَّ، وَأَسْمَعُ بِأُذُنَيَّ.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see with my eyes, and I hear with my ears.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أَشُمُّ بِأَنْفِي، وَآكُلُ بِفَمِي.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smell with my nose, and I eat with my mouth.</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أَكْتُبُ بِيَدِي اليُمْنَى، وَأَرْكُضُ بِرِجْلَيَّ وَقَدَمَيَّ.</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write with my right hand, and I run with my legs and feet.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عِنْدَمَا أَتْعَبُ، أَضَعُ يَدِي عَلَى صَدْرِي وَأَتَنَفَّسُ بِعُمْقٍ.</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 get tired, I put my hand on my chest and breathe deeply.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eyes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عَيْنَيَّ</a:t>
            </a:r>
            <a:pPr algn="l" indent="0" marL="0">
              <a:buNone/>
            </a:pPr>
            <a:r>
              <a:rPr lang="en-US" sz="1050" i="1" dirty="0">
                <a:solidFill>
                  <a:srgbClr val="8A6D1E"/>
                </a:solidFill>
                <a:latin typeface="Calibri" pitchFamily="34" charset="0"/>
                <a:cs typeface="Amiri" pitchFamily="2" charset="-78"/>
              </a:rPr>
              <a:t> are the eyes.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to smell?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mouth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أَنْفِي</a:t>
            </a:r>
            <a:pPr algn="l" indent="0" marL="0">
              <a:buNone/>
            </a:pPr>
            <a:r>
              <a:rPr lang="en-US" sz="1050" i="1" dirty="0">
                <a:solidFill>
                  <a:srgbClr val="8A6D1E"/>
                </a:solidFill>
                <a:latin typeface="Calibri" pitchFamily="34" charset="0"/>
                <a:cs typeface="Amiri" pitchFamily="2" charset="-78"/>
              </a:rPr>
              <a:t> is my nose.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 is used for writing?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يَدِي اليُمْنَى.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when tired?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puts a hand on the chest and breathes deeply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touches the head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sits on the floor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states both actions.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word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Body-part identification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 مَا هٰذِهِ؟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عَيْنًا لَدَيْكَ؟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بِأَيِّ عُضْوٍ نَسْمَعُ؟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القَلْبُ؟ وَمَاذَا يَفْعَلُ؟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 / هٰذِهِ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لِي عَيْنَانِ.</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نَسْمَعُ بِـ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القَلْبُ فِي ___ ، وَيَعْمَلُ دَائِمًا.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هٰذِهِ؟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(f.)?</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يَدٌ.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hand.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Label twelve body parts with a word bank and select the correct demonstrative.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This is my … (×4, with هٰذَا / هٰذِهِ) and one dual (I have two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the function of six body parts in complete sentences.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possessives, two duals and two action verbs.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Produce a short science-style explanation using duals, plurals and purpose phrases </a:t>
            </a:r>
            <a:pPr algn="l" indent="0" marL="0">
              <a:buNone/>
            </a:pPr>
            <a:r>
              <a:rPr lang="ar-SA" altLang="en-US" sz="1800" b="1" dirty="0">
                <a:solidFill>
                  <a:srgbClr val="1F2A37"/>
                </a:solidFill>
                <a:latin typeface="Amiri" pitchFamily="2" charset="-78"/>
                <a:ea typeface="Amiri" pitchFamily="2" charset="-78"/>
                <a:cs typeface="Amiri" pitchFamily="2" charset="-78"/>
              </a:rPr>
              <a:t>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science-style note with duals, plurals and purpose li- (like the reading).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أَرَى بِعَيْنَيَّ.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see with my eyes.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أَسْمَعُ بِأُذُنَيَّ.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hear with my ears.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أَشُمُّ بِأَنْفِي.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smell with my nose.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بِيَدِي اليُمْنَى.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write with my right hand.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القَلْبُ فِي الصَّدْرِ.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heart is in the chest.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رَأْسِي.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يَدِي.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hand.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 / هٰذِهِ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 عَيْنَانِ وَأُذُنَانِ.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eyes and two ears.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 يَدَانِ.</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hands.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رَأْسٌ  ·  وَجْهٌ  ·  عَيْنٌ  ·  أُذُنٌ  ·  أَنْفٌ  ·  فَمٌ  ·  يَدٌ  ·  رِجْلٌ  ·  قَدَمٌ  ·  هٰذَا  ·  هٰذِهِ  ·  بِـ</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7–8 sentences describing the body and what selected parts do. Include four possessive forms, two dual forms and two action verbs.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هٰذَا / هٰذِهِ</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ea typeface="Amiri" pitchFamily="2" charset="-78"/>
                <a:cs typeface="Amiri" pitchFamily="2" charset="-78"/>
              </a:rPr>
              <a:t>عَيْنَانِ، أُذُنَانِ، يَدَانِ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قَدَمَانِ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of </a:t>
            </a:r>
            <a:pPr algn="l" indent="0" marL="0">
              <a:buNone/>
            </a:pPr>
            <a:r>
              <a:rPr lang="ar-SA" altLang="en-US" sz="1550" dirty="0">
                <a:solidFill>
                  <a:srgbClr val="1F2A37"/>
                </a:solidFill>
                <a:latin typeface="Amiri" pitchFamily="2" charset="-78"/>
                <a:ea typeface="Amiri" pitchFamily="2" charset="-78"/>
                <a:cs typeface="Amiri" pitchFamily="2" charset="-78"/>
              </a:rPr>
              <a:t>يَرَى، يَسْمَعُ، يَشُمُّ، يَلْمِسُ، يَتَنَفَّسُ</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feminine nouns such as </a:t>
            </a:r>
            <a:pPr algn="l" indent="0" marL="0">
              <a:buNone/>
            </a:pPr>
            <a:r>
              <a:rPr lang="ar-SA" altLang="en-US" sz="1550" dirty="0">
                <a:solidFill>
                  <a:srgbClr val="1F2A37"/>
                </a:solidFill>
                <a:latin typeface="Amiri" pitchFamily="2" charset="-78"/>
                <a:ea typeface="Amiri" pitchFamily="2" charset="-78"/>
                <a:cs typeface="Amiri" pitchFamily="2" charset="-78"/>
              </a:rPr>
              <a:t>يَدٌ، عَيْنٌ، قَدَمٌ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الجِسْمُ نِظَامٌ مُتَكَامِلٌ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body is a complete system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عَيْنَانِ لِلرُّؤْيَةِ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eyes for seeing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أُذُنَانِ لِلسَّمْعِ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ears for hearing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العِظَامُ تَدْعَمُ الجِسْمَ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bones support the body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الجِلْدُ يَحْمِيهِ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skin protects 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هٰذَا رَأْسِي، وَهٰذَا وَجْهِي. لِي عَيْنَانِ وَأُذُنَانِ. أَرَى بِعَيْنَيَّ وَأَسْمَعُ بِأُذُنَيَّ. هٰذِهِ يَدِي اليُمْنَى، وَهٰذِهِ يَدِي اليُسْرَى. أَكْتُبُ بِيَدِي، وَأَمْشِي بِقَدَمَيَّ. القَلْبُ فِي صَدْرِي.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head, and this is my face. I have two eyes and two ears. I see with my eyes and hear with my ears. This is my right hand, and this is my left hand. I write with my hand, and I walk with my feet. The heart is in my chest.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(f.)</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dual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with my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twelve body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Hand, eye, ear, foot → </a:t>
            </a:r>
            <a:pPr algn="l" indent="0" marL="0">
              <a:buNone/>
            </a:pPr>
            <a:r>
              <a:rPr lang="ar-SA" altLang="en-US" sz="1700" dirty="0">
                <a:solidFill>
                  <a:srgbClr val="1F2A37"/>
                </a:solidFill>
                <a:latin typeface="Amiri" pitchFamily="2" charset="-78"/>
                <a:ea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duals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bi- with two sense verbs.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functions with li- (for).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shoulder?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eye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eyes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 (plural)</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for smelling?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shoulder?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كَاحِلٌ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كَتِفٌ</a:t>
            </a:r>
            <a:pPr algn="l" indent="0" marL="0">
              <a:buNone/>
            </a:pPr>
            <a:r>
              <a:rPr lang="en-US" sz="1050" i="1" dirty="0">
                <a:solidFill>
                  <a:srgbClr val="8A6D1E"/>
                </a:solidFill>
                <a:latin typeface="Calibri" pitchFamily="34" charset="0"/>
                <a:cs typeface="Amiri" pitchFamily="2" charset="-78"/>
              </a:rPr>
              <a:t> means shoulder.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eye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eyes</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 (plural)</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ending indicates two.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part is used for smelling?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أُذُنٌ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nose is used for smelling.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body science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الجِسْمُ نِظَامٌ مُتَكَامِلٌ. فِي الرَّأْسِ عَيْنَانِ لِلرُّؤْيَةِ وَأُذُنَانِ لِلسَّمْعِ، وَفِي الوَجْهِ أَنْفٌ لِلشَّمِّ وَفَمٌ لِلْأَكْلِ وَالكَلَامِ. القَلْبُ فِي الصَّدْرِ وَيَعْمَلُ دَائِمًا. العِظَامُ تَدْعَمُ الجِسْمَ، وَالجِلْدُ يَحْمِيهِ. نَسْتَخْدِمُ أَيْدِيَنَا لِلْكِتَابَةِ وَاللَّمْسِ، وَأَقْدَامَنَا لِلْمَشْيِ.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نِظَامٌ مُتَكَامِلٌ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complete system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لِلرُّؤْيَةِ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seeing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لِلسَّمْعِ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hearing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لِلشَّمِّ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smelling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وَالكَلَامِ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speaking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يَعْمَلُ دَائِمًا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works all the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تَدْعَمُ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support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يَحْمِيهِ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protects 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أَيْدِيَنَا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hands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لِلْمَشْيِ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walking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eyes and ears are mentioned?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of each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of each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of each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mouth used for?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hearing and smelling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 and writing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 and speaking</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heart?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chest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head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back</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supports the body?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bones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protects the body?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feet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eyes and ears are mentioned?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of each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of each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of each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عَيْنَانِ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أُذُنَانِ</a:t>
            </a:r>
            <a:pPr algn="l" indent="0" marL="0">
              <a:buNone/>
            </a:pPr>
            <a:r>
              <a:rPr lang="en-US" sz="1050" i="1" dirty="0">
                <a:solidFill>
                  <a:srgbClr val="8A6D1E"/>
                </a:solidFill>
                <a:latin typeface="Calibri" pitchFamily="34" charset="0"/>
                <a:cs typeface="Amiri" pitchFamily="2" charset="-78"/>
              </a:rPr>
              <a:t> mean two.</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mouth used for?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hearing and smelling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 and writing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eating and speaking</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لِلْأَكْلِ وَالكَلَامِ.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heart?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chest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head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back</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القَلْبُ فِي الصَّدْرِ.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supports the body?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bones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العِظَامُ تَدْعَمُ الجِسْمَ.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protects the body?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skin</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feet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الجِلْدُ يَحْمِيهِ.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F5-L08 · Health Problems and How You Feel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مَرِيضٌ</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ill</a:t>
            </a:r>
            <a:pPr indent="0" marL="0">
              <a:buNone/>
            </a:pPr>
            <a:r>
              <a:rPr lang="ar-SA" sz="1000" i="1" dirty="0">
                <a:solidFill>
                  <a:srgbClr val="5A6472"/>
                </a:solidFill>
                <a:latin typeface="Calibri" pitchFamily="34" charset="0"/>
                <a:ea typeface="Amiri" pitchFamily="2" charset="-78"/>
                <a:cs typeface="Amiri" pitchFamily="2" charset="-78"/>
              </a:rPr>
              <a:t>  f. مَرِيضَةٌ · pl. مَرْضَى</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أَشْعُرُ 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feel</a:t>
            </a:r>
            <a:pPr indent="0" marL="0">
              <a:buNone/>
            </a:pPr>
            <a:r>
              <a:rPr lang="ar-SA" sz="1000" i="1" dirty="0">
                <a:solidFill>
                  <a:srgbClr val="5A6472"/>
                </a:solidFill>
                <a:latin typeface="Calibri" pitchFamily="34" charset="0"/>
                <a:ea typeface="Amiri" pitchFamily="2" charset="-78"/>
                <a:cs typeface="Amiri" pitchFamily="2" charset="-78"/>
              </a:rPr>
              <a:t>  she: تَشْعُرُ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pain</a:t>
            </a:r>
            <a:pPr indent="0" marL="0">
              <a:buNone/>
            </a:pPr>
            <a:r>
              <a:rPr lang="ar-SA" sz="1000" i="1" dirty="0">
                <a:solidFill>
                  <a:srgbClr val="5A6472"/>
                </a:solidFill>
                <a:latin typeface="Calibri" pitchFamily="34" charset="0"/>
                <a:ea typeface="Amiri" pitchFamily="2" charset="-78"/>
                <a:cs typeface="Amiri" pitchFamily="2" charset="-78"/>
              </a:rPr>
              <a:t>  pl. آلَامٌ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صُدَاعٌ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headache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مُتْعَبٌ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tired</a:t>
            </a:r>
            <a:pPr indent="0" marL="0">
              <a:buNone/>
            </a:pPr>
            <a:r>
              <a:rPr lang="ar-SA" sz="1000" i="1" dirty="0">
                <a:solidFill>
                  <a:srgbClr val="5A6472"/>
                </a:solidFill>
                <a:latin typeface="Calibri" pitchFamily="34" charset="0"/>
                <a:ea typeface="Amiri" pitchFamily="2" charset="-78"/>
                <a:cs typeface="Amiri" pitchFamily="2" charset="-78"/>
              </a:rPr>
              <a:t>  f. مُتْعَبَةٌ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feel today? Write one word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أَنَا … الْيَوْمَ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F5-L07: the vocabulary tab and the “Masculine or feminine?”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7–8 sentences with four possessives, two duals and two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science-style note on five body parts and what they are for (li-).</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F5-L08 · Health Problems and How You Feel</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المَشَاكِلُ الصِّحِّيَّةُ وَالشُّعُورُ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hand, eye, ear, foot, leg are feminine → </a:t>
            </a:r>
            <a:pPr algn="l" indent="0" marL="0">
              <a:buNone/>
            </a:pPr>
            <a:r>
              <a:rPr lang="ar-SA" altLang="en-US" sz="1700" b="1" dirty="0">
                <a:solidFill>
                  <a:srgbClr val="FFFFFF"/>
                </a:solidFill>
                <a:latin typeface="Amiri" pitchFamily="2" charset="-78"/>
                <a:ea typeface="Amiri" pitchFamily="2" charset="-78"/>
                <a:cs typeface="Amiri" pitchFamily="2" charset="-78"/>
              </a:rPr>
              <a:t>هٰذِهِ</a:t>
            </a:r>
            <a:pPr algn="l" indent="0" marL="0">
              <a:buNone/>
            </a:pPr>
            <a:r>
              <a:rPr lang="en-US" sz="1300" b="1" dirty="0">
                <a:solidFill>
                  <a:srgbClr val="FFFFFF"/>
                </a:solidFill>
                <a:latin typeface="Calibri" pitchFamily="34" charset="0"/>
                <a:cs typeface="Amiri" pitchFamily="2" charset="-78"/>
              </a:rPr>
              <a:t> · two = -āni.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F5-L07 · The Body and Its Parts</dc:title>
  <dc:subject>PptxGenJS Presentation</dc:subject>
  <dc:creator>Al Madina Online School · Arabic Department</dc:creator>
  <cp:lastModifiedBy>Al Madina Online School · Arabic Department</cp:lastModifiedBy>
  <cp:revision>1</cp:revision>
  <dcterms:created xsi:type="dcterms:W3CDTF">2026-10-11T06:41:48Z</dcterms:created>
  <dcterms:modified xsi:type="dcterms:W3CDTF">2026-10-11T06:41:48Z</dcterms:modified>
</cp:coreProperties>
</file>