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F5-L04. The website lesson “Giving Reasons: Taste and Health”: vocabulary, grammar rules and quiz, patterns, common mistakes, sorter, listening, reading, speaking prompts and model, writing task and model, differentiation, final check and the lesson mission. Picture match: website visual game “Giving Reasons: Taste and Health”.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six reason sentences choosing the masculine or feminine chain: أُحِبُّ الخُبْزَ لِأَنَّهُ طَازَجٌ · أُحِبُّ السَّلَطَةَ لِأَنَّهَا طَازَجَةٌ.
• Develop: justify four food opinions without a frame, two adjectives per reason (لِأَنَّهُ لَذِيذٌ وَخَفِيفٌ).
• Stretch: a balanced café review (taste, health, value) with فِي رَأْيِي … وَلَكِنْ … — the website reading text is the model.
• The whole lesson rests on ONE question: is the food masculine or feminine? Then the pronoun AND the adjective follow.
• Website: “‘Healthy’ and ‘unhealthy’ describe nutritional patterns, not a person’s worth.” Keep the discussion free of judgement about anyone’s diet or body.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F5-L03. Questions 3–5 retrieve F5-L03 (comparison, she prefers) and F5-L01 (noun gender).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FOOD decides everything: its gender chooses the pronoun AND the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لذیذ and مفید are identical. مضر (harmful — مضرِ صحت “harmful to health”) shares the root of ضَارٌّ. صحت → صِحِّيٌّ (healthy). تازہ (Persian) was borrowed into Arabic as طَازَجٌ — the same word travelling in the other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Taste and texture (website vocabulary (1 of 2)). Hear → Say → See → Use. Transliteration is printed for Core students (cover it for Develop/Stretch).
Every card shows masculine / feminine. Say both aloud and clap on the ة. Plural (Stretch): food plurals take the FEMININE singular adjective — الفَوَاكِهُ لَذِيذَةٌ، الخَضْرَوَاتُ طَازَجَةٌ.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Taste and texture (website vocabulary (2 of 2)). Hear → Say → See → Use. Transliteration is printed for Core students (cover it for Develop/Stretch).
Every card shows masculine / feminine. Say both aloud and clap on the ة. Plural (Stretch): food plurals take the FEMININE singular adjective — الفَوَاكِهُ لَذِيذَةٌ، الخَضْرَوَاتُ طَازَجَةٌ.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Health and quality (website vocabulary (1 of 2)). Hear → Say → See → Use. Transliteration is printed for Core students (cover it for Develop/Stretch).
غَيْرُ صِحِّيٍّ = “not healthy” — gentler than ضَارٌّ (harmful). مُغَذٍّ / مُغَذِّيَةٌ (nutritious) is a Stretch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Health and quality (website vocabulary (2 of 2)). Hear → Say → See → Use. Transliteration is printed for Core students (cover it for Develop/Stretch).
FLEX: teach if time allows; otherwise these are on the website vocabulary tab for homework.
غَيْرُ صِحِّيٍّ = “not healthy” — gentler than ضَارٌّ (harmful). مُغَذٍّ / مُغَذِّيَةٌ (nutritious) is a Stretch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Reasons (website vocabulary).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“Give a reason for a masculine noun” (لِأَنَّهُ + masculine adjective) and “… for a feminine noun” (لِأَنَّهَا + feminine adjective).
Website overview: “a complete agreement chain: the reason pronoun and the adjective both agree with the food noun being described.”
Website teaching note: “First identify whether the noun is masculine or feminine; then select both the correct pronoun in the reason and the matching adjective form.”
Blue = masculine chain, pink = feminine chain. Core students copy rows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“Describe taste accurately” (the adjective changes with the noun’s gender) and “Join two reasons” (one reason sentence, two agreeing adjectives).
Website common error: “Agreement follows the noun, not the speaker” — the most frequent slip is a girl writing الخُبْزُ طَازَجَةٌ about herself.
Pattern 4 (website): فِي رَأْيِي، الفَاكِهَةُ مُغَذِّيَةٌ، وَلَكِنَّ الكَعْكَ حُلْوٌ جِدًّا — use contrast to make a balanced opinion.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is a complete agreement chain: the reason pronoun and the adjective both agree with the food noun being described.”
• Give a reason for a masculine noun: Use ـهُ when the food noun is masculine, then use a masculine adjective.
• Give a reason for a feminine noun: Use ـهَا when the food noun is feminine, then add the feminine adjective ending ـة.
• Describe taste accurately: The adjective changes to match the grammatical gender of the noun.
• Join two reasons: One reason sentence can contain two agreeing adjectives.
Website common error: Agreement follows the noun, not the speaker: السَّلَطَةُ لِأَنَّهَا صِحِّيَّةٌ.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built step by step. Before each sentence ask: “m. or f.?” — the class answers first, then I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Giving Reasons: Taste and Health”)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three sentences use لِأَنَّهَا — ask why (السَّلَطَةُ، القِرَاءَةُ، البَطَاطَا are all feminine). Stretch: rewrite item 3 about bread (لِأَنَّهُ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Giving Reasons: Taste and Health”)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three sentences use لِأَنَّهَا — ask why (السَّلَطَةُ، القِرَاءَةُ، البَطَاطَا are all feminine). Stretch: rewrite item 3 about bread (لِأَنَّهُ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noun phrase under the reason starter it requires.
After sorting, students give one reason sentence for two of the foods (one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noun phrase under the reason starter it requires.
After sorting, students give one reason sentence for two of the foods (one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4, then say which foods are masculine.
Listen 1: just listen. Listen 2: note answers. Then chat the letters.
Support: after the second listening, show the read-along slide (Arabic + English, line by line) for Core students.
SCRIPT (read aloud):
أُحِبُّ السَّلَطَةَ لِأَنَّهَا طَازَجَةٌ وَصِحِّيَّةٌ. أُفَضِّلُ الحَسَاءَ لِأَنَّهُ دَافِئٌ وَخَفِيفٌ. لَا أُحِبُّ القَهْوَةَ لِأَنَّهَا مُرَّةٌ. أُحِبُّ التَّمْرَ لِأَنَّهُ حُلْوٌ وَمُغَذٍّ.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وَهَلْ تُحِبِّينَ القَهْوَةَ؟ (Do you like coffee?)
ب: لَا، لِأَنَّهَا مُرَّةٌ. (No, because it is bitter.)
Website “Food critic challenge” — all four prompts are the website’s. Show a picture of a meal for prompts 1–2. Website model: لِمَاذَا تُفَضِّلِينَ السَّلَطَةَ؟ — لِأَنَّهَا طَازَجَةٌ وَصِحِّيَّةٌ. — وَهَلْ تُحِبِّينَ القَهْوَةَ؟ — لَا، لِأَنَّهَا مُرَّةٌ.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Complete six reason sentences by choosing masculine or feminine forms. · Develop — Describe and justify opinions about four foods without a sentence frame. · Stretch — Write a balanced café review that evaluates taste, health and value using contrasting viewpoints.
Website writing task (Stretch): Write a short review of three foods or drinks. Give a clear opinion and at least one accurate reason for each.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فِي رَأْيِي · لِأَنَّهُ دَافِئٌ وَخَفِيفٌ · لِأَنَّهَا طَازَجَةٌ وَصِحِّيَّةٌ · وَلَكِنِّي.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(F5-L05 · Ordering Food Politely) will spend class time USING this language, so students prepare it tonight — short, simple, easy to access (school guidance: “Simple, Short, Interesting, Relevant, Easy to access”). The five words come from the website F5-L05 lesson (ordering food politely).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350" b="1" dirty="0">
                <a:solidFill>
                  <a:srgbClr val="FFFFFF"/>
                </a:solidFill>
                <a:latin typeface="Cambria" pitchFamily="34" charset="0"/>
                <a:cs typeface="Amiri" pitchFamily="2" charset="-78"/>
              </a:rPr>
              <a:t>Giving Reasons: Taste and Health</a:t>
            </a:r>
            <a:endParaRPr lang="en-US" sz="33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إِبْدَاءُ الأَسْبَابِ وَوَصْفُ المَذَاقِ</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Justify food opinions with </a:t>
            </a:r>
            <a:pPr algn="l" indent="0" marL="0">
              <a:buNone/>
            </a:pPr>
            <a:r>
              <a:rPr lang="ar-SA" altLang="en-US" sz="1800" dirty="0">
                <a:solidFill>
                  <a:srgbClr val="C6D2E6"/>
                </a:solidFill>
                <a:latin typeface="Amiri" pitchFamily="2" charset="-78"/>
                <a:cs typeface="Amiri" pitchFamily="2" charset="-78"/>
              </a:rPr>
              <a:t>لِأَنَّهُ / لِأَنَّهَا</a:t>
            </a:r>
            <a:pPr algn="l" indent="0" marL="0">
              <a:buNone/>
            </a:pPr>
            <a:r>
              <a:rPr lang="en-US" sz="1400" dirty="0">
                <a:solidFill>
                  <a:srgbClr val="C6D2E6"/>
                </a:solidFill>
                <a:latin typeface="Calibri" pitchFamily="34" charset="0"/>
                <a:cs typeface="Amiri" pitchFamily="2" charset="-78"/>
              </a:rPr>
              <a:t> and make taste and health adjectives agree with masculine and feminine food nouns.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F5-L04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150" dirty="0">
                <a:solidFill>
                  <a:srgbClr val="1F2A37"/>
                </a:solidFill>
                <a:latin typeface="Calibri" pitchFamily="34" charset="0"/>
                <a:cs typeface="Amiri" pitchFamily="2" charset="-78"/>
              </a:rPr>
              <a:t>Taste and health adjectives (m / f), then the agreement chain: noun → </a:t>
            </a:r>
            <a:pPr algn="ctr" indent="0" marL="0">
              <a:buNone/>
            </a:pPr>
            <a:r>
              <a:rPr lang="ar-SA" altLang="en-US" sz="1500" dirty="0">
                <a:solidFill>
                  <a:srgbClr val="1F2A37"/>
                </a:solidFill>
                <a:latin typeface="Amiri" pitchFamily="2" charset="-78"/>
                <a:cs typeface="Amiri" pitchFamily="2" charset="-78"/>
              </a:rPr>
              <a:t>لِأَنَّهُ / لِأَنَّهَا</a:t>
            </a:r>
            <a:pPr algn="ctr" indent="0" marL="0">
              <a:buNone/>
            </a:pPr>
            <a:r>
              <a:rPr lang="en-US" sz="1150" dirty="0">
                <a:solidFill>
                  <a:srgbClr val="1F2A37"/>
                </a:solidFill>
                <a:latin typeface="Calibri" pitchFamily="34" charset="0"/>
                <a:cs typeface="Amiri" pitchFamily="2" charset="-78"/>
              </a:rPr>
              <a:t> → adjective.</a:t>
            </a:r>
            <a:endParaRPr lang="en-US" sz="11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masculine or feminine, fix the chains and listen for the reasons.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F5-L05.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مَالِحٌ</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sweet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spicy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صِحِّيٌّ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healthy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delicious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fresh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أُفَضِّلُ السَّمَكَ</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cs typeface="Amiri" pitchFamily="2" charset="-78"/>
              </a:rPr>
              <a:t>اللَّحْمِ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 مِنَ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prefers juice.”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يُفَضِّلُ العَصِيرَ.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أُفَضِّلُ العَصِيرَ.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تُفَضِّلُ العَصِيرَ.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feminine?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القَهْوَةُ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الخُبْزُ</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العَصِيرُ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مَالِحٌ</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sweet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spicy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صِحِّيٌّ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healthy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delicious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fresh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أُفَضِّلُ السَّمَكَ</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cs typeface="Amiri" pitchFamily="2" charset="-78"/>
              </a:rPr>
              <a:t>اللَّحْمِ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أَكْثَرَ مِنَ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F5-L03: the whole comparison chunk.</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prefers juice.”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يُفَضِّلُ العَصِيرَ.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أُفَضِّلُ العَصِيرَ.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هِيَ تُفَضِّلُ العَصِيرَ.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F5-L03: she → tu-.</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feminine?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القَهْوَةُ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الخُبْزُ</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العَصِيرُ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F5-L01: </a:t>
            </a:r>
            <a:pPr algn="l" indent="0" marL="0">
              <a:buNone/>
            </a:pPr>
            <a:r>
              <a:rPr lang="ar-SA" altLang="en-US" sz="1350" dirty="0">
                <a:solidFill>
                  <a:srgbClr val="8A6D1E"/>
                </a:solidFill>
                <a:latin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usually marks a feminine noun.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FOOD decides everything: its gender chooses the pronoun AND the adjective.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أُحِبُّ السَّلَطَةَ لِأَنَّ</a:t>
            </a:r>
            <a:pPr rtl="1" algn="ctr" indent="0" marL="0">
              <a:buNone/>
            </a:pPr>
            <a:r>
              <a:rPr lang="ar-SA" altLang="en-US" sz="2400" b="1" dirty="0">
                <a:solidFill>
                  <a:srgbClr val="D6336C"/>
                </a:solidFill>
                <a:latin typeface="Amiri" pitchFamily="2" charset="-78"/>
                <a:cs typeface="Amiri" pitchFamily="2" charset="-78"/>
              </a:rPr>
              <a:t>هَا</a:t>
            </a:r>
            <a:pPr rtl="1" algn="ctr" indent="0" marL="0">
              <a:buNone/>
            </a:pPr>
            <a:r>
              <a:rPr lang="ar-SA" altLang="en-US" sz="2400" b="1" dirty="0">
                <a:solidFill>
                  <a:srgbClr val="1B3B6F"/>
                </a:solidFill>
                <a:latin typeface="Amiri" pitchFamily="2" charset="-78"/>
                <a:cs typeface="Amiri" pitchFamily="2" charset="-78"/>
              </a:rPr>
              <a:t> صِحِّيَّ</a:t>
            </a:r>
            <a:pPr rtl="1" algn="ctr" indent="0" marL="0">
              <a:buNone/>
            </a:pPr>
            <a:r>
              <a:rPr lang="ar-SA" altLang="en-US" sz="2400" b="1" dirty="0">
                <a:solidFill>
                  <a:srgbClr val="D6336C"/>
                </a:solidFill>
                <a:latin typeface="Amiri" pitchFamily="2" charset="-78"/>
                <a:cs typeface="Amiri" pitchFamily="2" charset="-78"/>
              </a:rPr>
              <a:t>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because-clauses to justify opinions.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taste, temperature and health value with accurate adjective agreement.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Classify foods as healthy or less healthy without moralising personal choices.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a short balanced food review.</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give a reason with </a:t>
            </a:r>
            <a:pPr algn="l" indent="0" marL="0">
              <a:buNone/>
            </a:pPr>
            <a:r>
              <a:rPr lang="ar-SA" altLang="en-US" sz="1700" b="1" dirty="0">
                <a:solidFill>
                  <a:srgbClr val="2E8B57"/>
                </a:solidFill>
                <a:latin typeface="Amiri" pitchFamily="2" charset="-78"/>
                <a:cs typeface="Amiri" pitchFamily="2" charset="-78"/>
              </a:rPr>
              <a:t>لِأَنَّهُ</a:t>
            </a:r>
            <a:pPr algn="l" indent="0" marL="0">
              <a:buNone/>
            </a:pPr>
            <a:r>
              <a:rPr lang="en-US" sz="1300" b="1" dirty="0">
                <a:solidFill>
                  <a:srgbClr val="2E8B57"/>
                </a:solidFill>
                <a:latin typeface="Calibri" pitchFamily="34" charset="0"/>
                <a:cs typeface="Amiri" pitchFamily="2" charset="-78"/>
              </a:rPr>
              <a:t> or </a:t>
            </a:r>
            <a:pPr algn="l" indent="0" marL="0">
              <a:buNone/>
            </a:pPr>
            <a:r>
              <a:rPr lang="ar-SA" altLang="en-US" sz="1700" b="1" dirty="0">
                <a:solidFill>
                  <a:srgbClr val="2E8B57"/>
                </a:solidFill>
                <a:latin typeface="Amiri" pitchFamily="2" charset="-78"/>
                <a:cs typeface="Amiri" pitchFamily="2" charset="-78"/>
              </a:rPr>
              <a:t>لِأَنَّهَا</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four taste words.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two adjectives agree in one reason.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repair an agreement error.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balanced review with </a:t>
            </a:r>
            <a:pPr algn="l" indent="0" marL="0">
              <a:buNone/>
            </a:pPr>
            <a:r>
              <a:rPr lang="ar-SA" altLang="en-US" sz="1700" b="1" dirty="0">
                <a:solidFill>
                  <a:srgbClr val="B83227"/>
                </a:solidFill>
                <a:latin typeface="Amiri" pitchFamily="2" charset="-78"/>
                <a:cs typeface="Amiri" pitchFamily="2" charset="-78"/>
              </a:rPr>
              <a:t>وَلَكِنْ</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judge taste, health and value.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Taste and texture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Health and quality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Reasons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لَذِيذٌ</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‎لذیذ‎ </a:t>
            </a:r>
            <a:pPr indent="0" marL="0">
              <a:buNone/>
            </a:pPr>
            <a:r>
              <a:rPr lang="en-US" sz="950" b="1" dirty="0">
                <a:solidFill>
                  <a:srgbClr val="2E8B57"/>
                </a:solidFill>
                <a:latin typeface="Calibri" pitchFamily="34" charset="0"/>
                <a:cs typeface="Amiri" pitchFamily="2" charset="-78"/>
              </a:rPr>
              <a:t> lazīz · delicious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مُفِيدٌ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‎مفید‎ </a:t>
            </a:r>
            <a:pPr indent="0" marL="0">
              <a:buNone/>
            </a:pPr>
            <a:r>
              <a:rPr lang="en-US" sz="950" b="1" dirty="0">
                <a:solidFill>
                  <a:srgbClr val="2E8B57"/>
                </a:solidFill>
                <a:latin typeface="Calibri" pitchFamily="34" charset="0"/>
                <a:cs typeface="Amiri" pitchFamily="2" charset="-78"/>
              </a:rPr>
              <a:t> mufīd · beneficial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ضَارٌّ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‎مضر‎ </a:t>
            </a:r>
            <a:pPr indent="0" marL="0">
              <a:buNone/>
            </a:pPr>
            <a:r>
              <a:rPr lang="en-US" sz="950" b="1" dirty="0">
                <a:solidFill>
                  <a:srgbClr val="2E8B57"/>
                </a:solidFill>
                <a:latin typeface="Calibri" pitchFamily="34" charset="0"/>
                <a:cs typeface="Amiri" pitchFamily="2" charset="-78"/>
              </a:rPr>
              <a:t> muzir · harmful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صِحِّيٌّ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‎صحت‎ </a:t>
            </a:r>
            <a:pPr indent="0" marL="0">
              <a:buNone/>
            </a:pPr>
            <a:r>
              <a:rPr lang="en-US" sz="950" b="1" dirty="0">
                <a:solidFill>
                  <a:srgbClr val="2E8B57"/>
                </a:solidFill>
                <a:latin typeface="Calibri" pitchFamily="34" charset="0"/>
                <a:cs typeface="Amiri" pitchFamily="2" charset="-78"/>
              </a:rPr>
              <a:t> sehat · health → healthy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طَازَجٌ</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‎تازہ‎ </a:t>
            </a:r>
            <a:pPr indent="0" marL="0">
              <a:buNone/>
            </a:pPr>
            <a:r>
              <a:rPr lang="en-US" sz="950" b="1" dirty="0">
                <a:solidFill>
                  <a:srgbClr val="2E8B57"/>
                </a:solidFill>
                <a:latin typeface="Calibri" pitchFamily="34" charset="0"/>
                <a:cs typeface="Amiri" pitchFamily="2" charset="-78"/>
              </a:rPr>
              <a:t> tāza · fresh</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Taste and texture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لَذِيذٌ / لَذِيذَةٌ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delicious</a:t>
            </a:r>
            <a:endParaRPr lang="en-US" sz="1350" dirty="0"/>
          </a:p>
          <a:p>
            <a:pPr indent="0" marL="0">
              <a:buNone/>
            </a:pPr>
            <a:r>
              <a:rPr lang="en-US" sz="1100" i="1" dirty="0">
                <a:solidFill>
                  <a:srgbClr val="5A6472"/>
                </a:solidFill>
                <a:latin typeface="Calibri" pitchFamily="34" charset="0"/>
                <a:cs typeface="Amiri" pitchFamily="2" charset="-78"/>
              </a:rPr>
              <a:t>la-dhī-dhun / la-dhī-dha-tun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حُلْوٌ / حُلْوَةٌ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sweet</a:t>
            </a:r>
            <a:endParaRPr lang="en-US" sz="1350" dirty="0"/>
          </a:p>
          <a:p>
            <a:pPr indent="0" marL="0">
              <a:buNone/>
            </a:pPr>
            <a:r>
              <a:rPr lang="en-US" sz="1100" i="1" dirty="0">
                <a:solidFill>
                  <a:srgbClr val="5A6472"/>
                </a:solidFill>
                <a:latin typeface="Calibri" pitchFamily="34" charset="0"/>
                <a:cs typeface="Amiri" pitchFamily="2" charset="-78"/>
              </a:rPr>
              <a:t>ḥul-wun / ḥul-wa-tun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مَالِحٌ / مَالِحَةٌ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salty</a:t>
            </a:r>
            <a:endParaRPr lang="en-US" sz="1350" dirty="0"/>
          </a:p>
          <a:p>
            <a:pPr indent="0" marL="0">
              <a:buNone/>
            </a:pPr>
            <a:r>
              <a:rPr lang="en-US" sz="1100" i="1" dirty="0">
                <a:solidFill>
                  <a:srgbClr val="5A6472"/>
                </a:solidFill>
                <a:latin typeface="Calibri" pitchFamily="34" charset="0"/>
                <a:cs typeface="Amiri" pitchFamily="2" charset="-78"/>
              </a:rPr>
              <a:t>mā-li-ḥun / mā-li-ḥa-tun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حَامِضٌ / حَامِضَةٌ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sour</a:t>
            </a:r>
            <a:endParaRPr lang="en-US" sz="1350" dirty="0"/>
          </a:p>
          <a:p>
            <a:pPr indent="0" marL="0">
              <a:buNone/>
            </a:pPr>
            <a:r>
              <a:rPr lang="en-US" sz="1100" i="1" dirty="0">
                <a:solidFill>
                  <a:srgbClr val="5A6472"/>
                </a:solidFill>
                <a:latin typeface="Calibri" pitchFamily="34" charset="0"/>
                <a:cs typeface="Amiri" pitchFamily="2" charset="-78"/>
              </a:rPr>
              <a:t>ḥā-mi-ḍun / ḥā-mi-ḍa-tun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Taste and texture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 / مُرَّةٌ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bitter</a:t>
            </a:r>
            <a:endParaRPr lang="en-US" sz="1350" dirty="0"/>
          </a:p>
          <a:p>
            <a:pPr indent="0" marL="0">
              <a:buNone/>
            </a:pPr>
            <a:r>
              <a:rPr lang="en-US" sz="1100" i="1" dirty="0">
                <a:solidFill>
                  <a:srgbClr val="5A6472"/>
                </a:solidFill>
                <a:latin typeface="Calibri" pitchFamily="34" charset="0"/>
                <a:cs typeface="Amiri" pitchFamily="2" charset="-78"/>
              </a:rPr>
              <a:t>mur-run / mur-ra-tun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حَارٌّ / حَارَّةٌ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spicy / hot</a:t>
            </a:r>
            <a:endParaRPr lang="en-US" sz="1350" dirty="0"/>
          </a:p>
          <a:p>
            <a:pPr indent="0" marL="0">
              <a:buNone/>
            </a:pPr>
            <a:r>
              <a:rPr lang="en-US" sz="1100" i="1" dirty="0">
                <a:solidFill>
                  <a:srgbClr val="5A6472"/>
                </a:solidFill>
                <a:latin typeface="Calibri" pitchFamily="34" charset="0"/>
                <a:cs typeface="Amiri" pitchFamily="2" charset="-78"/>
              </a:rPr>
              <a:t>ḥār-run / ḥār-ra-tun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طَازَجٌ / طَازَجَةٌ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fresh</a:t>
            </a:r>
            <a:endParaRPr lang="en-US" sz="1350" dirty="0"/>
          </a:p>
          <a:p>
            <a:pPr indent="0" marL="0">
              <a:buNone/>
            </a:pPr>
            <a:r>
              <a:rPr lang="en-US" sz="1100" i="1" dirty="0">
                <a:solidFill>
                  <a:srgbClr val="5A6472"/>
                </a:solidFill>
                <a:latin typeface="Calibri" pitchFamily="34" charset="0"/>
                <a:cs typeface="Amiri" pitchFamily="2" charset="-78"/>
              </a:rPr>
              <a:t>ṭā-za-jun / ṭā-za-ja-tun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مُقَرْمِشٌ / مُقَرْمِشَةٌ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crunchy</a:t>
            </a:r>
            <a:endParaRPr lang="en-US" sz="1350" dirty="0"/>
          </a:p>
          <a:p>
            <a:pPr indent="0" marL="0">
              <a:buNone/>
            </a:pPr>
            <a:r>
              <a:rPr lang="en-US" sz="1100" i="1" dirty="0">
                <a:solidFill>
                  <a:srgbClr val="5A6472"/>
                </a:solidFill>
                <a:latin typeface="Calibri" pitchFamily="34" charset="0"/>
                <a:cs typeface="Amiri" pitchFamily="2" charset="-78"/>
              </a:rPr>
              <a:t>mu-qar-mi-shun / mu-qar-mi-sha-tun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Health and quality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صِحِّيٌّ / صِحِّيَّةٌ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healthy</a:t>
            </a:r>
            <a:endParaRPr lang="en-US" sz="1350" dirty="0"/>
          </a:p>
          <a:p>
            <a:pPr indent="0" marL="0">
              <a:buNone/>
            </a:pPr>
            <a:r>
              <a:rPr lang="en-US" sz="1100" i="1" dirty="0">
                <a:solidFill>
                  <a:srgbClr val="5A6472"/>
                </a:solidFill>
                <a:latin typeface="Calibri" pitchFamily="34" charset="0"/>
                <a:cs typeface="Amiri" pitchFamily="2" charset="-78"/>
              </a:rPr>
              <a:t>ṣiḥ-ḥiy-yun / ṣiḥ-ḥiy-ya-tun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غَيْرُ صِحِّيٍّ / غَيْرُ صِحِّيَّةٍ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unhealthy / less healthy</a:t>
            </a:r>
            <a:endParaRPr lang="en-US" sz="1350" dirty="0"/>
          </a:p>
          <a:p>
            <a:pPr indent="0" marL="0">
              <a:buNone/>
            </a:pPr>
            <a:r>
              <a:rPr lang="en-US" sz="1100" i="1" dirty="0">
                <a:solidFill>
                  <a:srgbClr val="5A6472"/>
                </a:solidFill>
                <a:latin typeface="Calibri" pitchFamily="34" charset="0"/>
                <a:cs typeface="Amiri" pitchFamily="2" charset="-78"/>
              </a:rPr>
              <a:t>ghay-ru ṣiḥ-ḥiy-yin / ghay-ru ṣiḥ-ḥiy-ya-tin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مُفِيدٌ / مُفِيدَةٌ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beneficial</a:t>
            </a:r>
            <a:endParaRPr lang="en-US" sz="1350" dirty="0"/>
          </a:p>
          <a:p>
            <a:pPr indent="0" marL="0">
              <a:buNone/>
            </a:pPr>
            <a:r>
              <a:rPr lang="en-US" sz="1100" i="1" dirty="0">
                <a:solidFill>
                  <a:srgbClr val="5A6472"/>
                </a:solidFill>
                <a:latin typeface="Calibri" pitchFamily="34" charset="0"/>
                <a:cs typeface="Amiri" pitchFamily="2" charset="-78"/>
              </a:rPr>
              <a:t>mu-fī-dun / mu-fī-da-tun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ضَارٌّ / ضَارَّةٌ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harmful</a:t>
            </a:r>
            <a:endParaRPr lang="en-US" sz="1350" dirty="0"/>
          </a:p>
          <a:p>
            <a:pPr indent="0" marL="0">
              <a:buNone/>
            </a:pPr>
            <a:r>
              <a:rPr lang="en-US" sz="1100" i="1" dirty="0">
                <a:solidFill>
                  <a:srgbClr val="5A6472"/>
                </a:solidFill>
                <a:latin typeface="Calibri" pitchFamily="34" charset="0"/>
                <a:cs typeface="Amiri" pitchFamily="2" charset="-78"/>
              </a:rPr>
              <a:t>ḍār-run / ḍār-ra-tun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Health and quality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مُغَذٍّ / مُغَذِّيَةٌ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nutritious</a:t>
            </a:r>
            <a:endParaRPr lang="en-US" sz="1350" dirty="0"/>
          </a:p>
          <a:p>
            <a:pPr indent="0" marL="0">
              <a:buNone/>
            </a:pPr>
            <a:r>
              <a:rPr lang="en-US" sz="1100" i="1" dirty="0">
                <a:solidFill>
                  <a:srgbClr val="5A6472"/>
                </a:solidFill>
                <a:latin typeface="Calibri" pitchFamily="34" charset="0"/>
                <a:cs typeface="Amiri" pitchFamily="2" charset="-78"/>
              </a:rPr>
              <a:t>mu-ghadh-dhin / mu-ghadh-dhi-ya-tun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دَسِمٌ / دَسِمَةٌ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fatty / rich</a:t>
            </a:r>
            <a:endParaRPr lang="en-US" sz="1350" dirty="0"/>
          </a:p>
          <a:p>
            <a:pPr indent="0" marL="0">
              <a:buNone/>
            </a:pPr>
            <a:r>
              <a:rPr lang="en-US" sz="1100" i="1" dirty="0">
                <a:solidFill>
                  <a:srgbClr val="5A6472"/>
                </a:solidFill>
                <a:latin typeface="Calibri" pitchFamily="34" charset="0"/>
                <a:cs typeface="Amiri" pitchFamily="2" charset="-78"/>
              </a:rPr>
              <a:t>da-si-mun / da-si-ma-tun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خَفِيفٌ / خَفِيفَةٌ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light</a:t>
            </a:r>
            <a:endParaRPr lang="en-US" sz="1350" dirty="0"/>
          </a:p>
          <a:p>
            <a:pPr indent="0" marL="0">
              <a:buNone/>
            </a:pPr>
            <a:r>
              <a:rPr lang="en-US" sz="1100" i="1" dirty="0">
                <a:solidFill>
                  <a:srgbClr val="5A6472"/>
                </a:solidFill>
                <a:latin typeface="Calibri" pitchFamily="34" charset="0"/>
                <a:cs typeface="Amiri" pitchFamily="2" charset="-78"/>
              </a:rPr>
              <a:t>kha-fī-fun / kha-fī-fa-tun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ثَقِيلٌ / ثَقِيلَةٌ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heavy</a:t>
            </a:r>
            <a:endParaRPr lang="en-US" sz="1350" dirty="0"/>
          </a:p>
          <a:p>
            <a:pPr indent="0" marL="0">
              <a:buNone/>
            </a:pPr>
            <a:r>
              <a:rPr lang="en-US" sz="1100" i="1" dirty="0">
                <a:solidFill>
                  <a:srgbClr val="5A6472"/>
                </a:solidFill>
                <a:latin typeface="Calibri" pitchFamily="34" charset="0"/>
                <a:cs typeface="Amiri" pitchFamily="2" charset="-78"/>
              </a:rPr>
              <a:t>tha-qī-lun / tha-qī-la-tun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لِأَنَّهُ</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 it is (m)</a:t>
            </a:r>
            <a:endParaRPr lang="en-US" sz="1350" dirty="0"/>
          </a:p>
          <a:p>
            <a:pPr indent="0" marL="0">
              <a:buNone/>
            </a:pPr>
            <a:r>
              <a:rPr lang="en-US" sz="1100" i="1" dirty="0">
                <a:solidFill>
                  <a:srgbClr val="5A6472"/>
                </a:solidFill>
                <a:latin typeface="Calibri" pitchFamily="34" charset="0"/>
                <a:cs typeface="Amiri" pitchFamily="2" charset="-78"/>
              </a:rPr>
              <a:t>li-ʾan-na-hu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لِأَنَّهَا</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 it is (f)</a:t>
            </a:r>
            <a:endParaRPr lang="en-US" sz="1350" dirty="0"/>
          </a:p>
          <a:p>
            <a:pPr indent="0" marL="0">
              <a:buNone/>
            </a:pPr>
            <a:r>
              <a:rPr lang="en-US" sz="1100" i="1" dirty="0">
                <a:solidFill>
                  <a:srgbClr val="5A6472"/>
                </a:solidFill>
                <a:latin typeface="Calibri" pitchFamily="34" charset="0"/>
                <a:cs typeface="Amiri" pitchFamily="2" charset="-78"/>
              </a:rPr>
              <a:t>li-ʾan-na-hā</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لِأَنَّهُمْ</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 they are</a:t>
            </a:r>
            <a:endParaRPr lang="en-US" sz="1350" dirty="0"/>
          </a:p>
          <a:p>
            <a:pPr indent="0" marL="0">
              <a:buNone/>
            </a:pPr>
            <a:r>
              <a:rPr lang="en-US" sz="1100" i="1" dirty="0">
                <a:solidFill>
                  <a:srgbClr val="5A6472"/>
                </a:solidFill>
                <a:latin typeface="Calibri" pitchFamily="34" charset="0"/>
                <a:cs typeface="Amiri" pitchFamily="2" charset="-78"/>
              </a:rPr>
              <a:t>li-ʾan-na-hum</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رَأْيِي</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وَلٰكِنْ</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a:t>
            </a:r>
            <a:endParaRPr lang="en-US" sz="1350" dirty="0"/>
          </a:p>
          <a:p>
            <a:pPr indent="0" marL="0">
              <a:buNone/>
            </a:pPr>
            <a:r>
              <a:rPr lang="en-US" sz="1100" i="1" dirty="0">
                <a:solidFill>
                  <a:srgbClr val="5A6472"/>
                </a:solidFill>
                <a:latin typeface="Calibri" pitchFamily="34" charset="0"/>
                <a:cs typeface="Amiri" pitchFamily="2" charset="-78"/>
              </a:rPr>
              <a:t>wa-lā-kin</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53" name="Text 5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أَيْضًا</a:t>
            </a:r>
            <a:endParaRPr lang="ar-SA" sz="3000" dirty="0"/>
          </a:p>
        </p:txBody>
      </p:sp>
      <p:sp>
        <p:nvSpPr>
          <p:cNvPr id="54" name="Text 5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also</a:t>
            </a:r>
            <a:endParaRPr lang="en-US" sz="1350" dirty="0"/>
          </a:p>
          <a:p>
            <a:pPr indent="0" marL="0">
              <a:buNone/>
            </a:pPr>
            <a:r>
              <a:rPr lang="en-US" sz="1100" i="1" dirty="0">
                <a:solidFill>
                  <a:srgbClr val="5A6472"/>
                </a:solidFill>
                <a:latin typeface="Calibri" pitchFamily="34" charset="0"/>
                <a:cs typeface="Amiri" pitchFamily="2" charset="-78"/>
              </a:rPr>
              <a:t>ay-ḍan</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THE AGREEMENT CHAIN (WEBSITE RULES 1 AND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Noun → because it → adjective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لِأَنَّهُ · لِأَنَّهَا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41879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Reason sentence</a:t>
            </a:r>
            <a:endParaRPr lang="en-US" sz="1100" dirty="0"/>
          </a:p>
        </p:txBody>
      </p:sp>
      <p:sp>
        <p:nvSpPr>
          <p:cNvPr id="18" name="Text 15"/>
          <p:cNvSpPr txBox="1"/>
          <p:nvPr/>
        </p:nvSpPr>
        <p:spPr>
          <a:xfrm>
            <a:off x="272491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Gender</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Food</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345168" y="2267712"/>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because it is fresh</a:t>
            </a:r>
            <a:endParaRPr lang="en-US" sz="1100" dirty="0"/>
          </a:p>
        </p:txBody>
      </p:sp>
      <p:sp>
        <p:nvSpPr>
          <p:cNvPr id="22" name="Text 19"/>
          <p:cNvSpPr txBox="1"/>
          <p:nvPr/>
        </p:nvSpPr>
        <p:spPr>
          <a:xfrm>
            <a:off x="4206240" y="2267712"/>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أُحِبُّ الخُبْزَ لِأَنَّ</a:t>
            </a:r>
            <a:pPr rtl="1" algn="ctr" indent="0" marL="0">
              <a:buNone/>
            </a:pPr>
            <a:r>
              <a:rPr lang="ar-SA" altLang="en-US" sz="2400" b="1" dirty="0">
                <a:solidFill>
                  <a:srgbClr val="1D5FBF"/>
                </a:solidFill>
                <a:latin typeface="Amiri" pitchFamily="2" charset="-78"/>
                <a:cs typeface="Amiri" pitchFamily="2" charset="-78"/>
              </a:rPr>
              <a:t>هُ</a:t>
            </a:r>
            <a:pPr rtl="1" algn="ctr" indent="0" marL="0">
              <a:buNone/>
            </a:pPr>
            <a:r>
              <a:rPr lang="ar-SA" altLang="en-US" sz="2400" b="1" dirty="0">
                <a:solidFill>
                  <a:srgbClr val="1B3B6F"/>
                </a:solidFill>
                <a:latin typeface="Amiri" pitchFamily="2" charset="-78"/>
                <a:cs typeface="Amiri" pitchFamily="2" charset="-78"/>
              </a:rPr>
              <a:t> طَازَجٌ.</a:t>
            </a:r>
            <a:endParaRPr lang="ar-SA" sz="2400" dirty="0"/>
          </a:p>
        </p:txBody>
      </p:sp>
      <p:sp>
        <p:nvSpPr>
          <p:cNvPr id="23" name="Text 20"/>
          <p:cNvSpPr txBox="1"/>
          <p:nvPr/>
        </p:nvSpPr>
        <p:spPr>
          <a:xfrm>
            <a:off x="2761488" y="226771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
            </a:r>
            <a:endParaRPr lang="en-US" sz="11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الخُبْزُ</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345168" y="2881884"/>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because it is healthy</a:t>
            </a:r>
            <a:endParaRPr lang="en-US" sz="1100" dirty="0"/>
          </a:p>
        </p:txBody>
      </p:sp>
      <p:sp>
        <p:nvSpPr>
          <p:cNvPr id="29" name="Text 26"/>
          <p:cNvSpPr txBox="1"/>
          <p:nvPr/>
        </p:nvSpPr>
        <p:spPr>
          <a:xfrm>
            <a:off x="4206240" y="2881884"/>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أُحِبُّ السَّلَطَةَ لِأَنَّ</a:t>
            </a:r>
            <a:pPr rtl="1" algn="ctr" indent="0" marL="0">
              <a:buNone/>
            </a:pPr>
            <a:r>
              <a:rPr lang="ar-SA" altLang="en-US" sz="2400" b="1" dirty="0">
                <a:solidFill>
                  <a:srgbClr val="D6336C"/>
                </a:solidFill>
                <a:latin typeface="Amiri" pitchFamily="2" charset="-78"/>
                <a:cs typeface="Amiri" pitchFamily="2" charset="-78"/>
              </a:rPr>
              <a:t>هَا</a:t>
            </a:r>
            <a:pPr rtl="1" algn="ctr" indent="0" marL="0">
              <a:buNone/>
            </a:pPr>
            <a:r>
              <a:rPr lang="ar-SA" altLang="en-US" sz="2400" b="1" dirty="0">
                <a:solidFill>
                  <a:srgbClr val="1B3B6F"/>
                </a:solidFill>
                <a:latin typeface="Amiri" pitchFamily="2" charset="-78"/>
                <a:cs typeface="Amiri" pitchFamily="2" charset="-78"/>
              </a:rPr>
              <a:t> صِحِّيَّ</a:t>
            </a:r>
            <a:pPr rtl="1" algn="ctr" indent="0" marL="0">
              <a:buNone/>
            </a:pPr>
            <a:r>
              <a:rPr lang="ar-SA" altLang="en-US" sz="2400" b="1" dirty="0">
                <a:solidFill>
                  <a:srgbClr val="D6336C"/>
                </a:solidFill>
                <a:latin typeface="Amiri" pitchFamily="2" charset="-78"/>
                <a:cs typeface="Amiri" pitchFamily="2" charset="-78"/>
              </a:rPr>
              <a:t>ةٌ</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30" name="Text 27"/>
          <p:cNvSpPr txBox="1"/>
          <p:nvPr/>
        </p:nvSpPr>
        <p:spPr>
          <a:xfrm>
            <a:off x="2761488" y="2881884"/>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t>
            </a:r>
            <a:endParaRPr lang="en-US" sz="11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السَّلَطَةُ</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345168" y="3496056"/>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delicious and light</a:t>
            </a:r>
            <a:endParaRPr lang="en-US" sz="1100" dirty="0"/>
          </a:p>
        </p:txBody>
      </p:sp>
      <p:sp>
        <p:nvSpPr>
          <p:cNvPr id="36" name="Text 33"/>
          <p:cNvSpPr txBox="1"/>
          <p:nvPr/>
        </p:nvSpPr>
        <p:spPr>
          <a:xfrm>
            <a:off x="4206240" y="3496056"/>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أُحِبُّ الحَسَاءَ لِأَنَّ</a:t>
            </a:r>
            <a:pPr rtl="1" algn="ctr" indent="0" marL="0">
              <a:buNone/>
            </a:pPr>
            <a:r>
              <a:rPr lang="ar-SA" altLang="en-US" sz="2400" b="1" dirty="0">
                <a:solidFill>
                  <a:srgbClr val="1D5FBF"/>
                </a:solidFill>
                <a:latin typeface="Amiri" pitchFamily="2" charset="-78"/>
                <a:cs typeface="Amiri" pitchFamily="2" charset="-78"/>
              </a:rPr>
              <a:t>هُ</a:t>
            </a:r>
            <a:pPr rtl="1" algn="ctr" indent="0" marL="0">
              <a:buNone/>
            </a:pPr>
            <a:r>
              <a:rPr lang="ar-SA" altLang="en-US" sz="2400" b="1" dirty="0">
                <a:solidFill>
                  <a:srgbClr val="1B3B6F"/>
                </a:solidFill>
                <a:latin typeface="Amiri" pitchFamily="2" charset="-78"/>
                <a:cs typeface="Amiri" pitchFamily="2" charset="-78"/>
              </a:rPr>
              <a:t> لَذِيذٌ وَخَفِيفٌ.</a:t>
            </a:r>
            <a:endParaRPr lang="ar-SA" sz="2400" dirty="0"/>
          </a:p>
        </p:txBody>
      </p:sp>
      <p:sp>
        <p:nvSpPr>
          <p:cNvPr id="37" name="Text 34"/>
          <p:cNvSpPr txBox="1"/>
          <p:nvPr/>
        </p:nvSpPr>
        <p:spPr>
          <a:xfrm>
            <a:off x="2761488" y="3496056"/>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
            </a:r>
            <a:endParaRPr lang="en-US" sz="11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الحَسَاءُ</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345168" y="4110228"/>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because it is bitter</a:t>
            </a:r>
            <a:endParaRPr lang="en-US" sz="1100" dirty="0"/>
          </a:p>
        </p:txBody>
      </p:sp>
      <p:sp>
        <p:nvSpPr>
          <p:cNvPr id="43" name="Text 40"/>
          <p:cNvSpPr txBox="1"/>
          <p:nvPr/>
        </p:nvSpPr>
        <p:spPr>
          <a:xfrm>
            <a:off x="4206240" y="4110228"/>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لَا أُحِبُّ القَهْوَةَ لِأَنَّ</a:t>
            </a:r>
            <a:pPr rtl="1" algn="ctr" indent="0" marL="0">
              <a:buNone/>
            </a:pPr>
            <a:r>
              <a:rPr lang="ar-SA" altLang="en-US" sz="2400" b="1" dirty="0">
                <a:solidFill>
                  <a:srgbClr val="D6336C"/>
                </a:solidFill>
                <a:latin typeface="Amiri" pitchFamily="2" charset="-78"/>
                <a:cs typeface="Amiri" pitchFamily="2" charset="-78"/>
              </a:rPr>
              <a:t>هَا</a:t>
            </a:r>
            <a:pPr rtl="1" algn="ctr" indent="0" marL="0">
              <a:buNone/>
            </a:pPr>
            <a:r>
              <a:rPr lang="ar-SA" altLang="en-US" sz="2400" b="1" dirty="0">
                <a:solidFill>
                  <a:srgbClr val="1B3B6F"/>
                </a:solidFill>
                <a:latin typeface="Amiri" pitchFamily="2" charset="-78"/>
                <a:cs typeface="Amiri" pitchFamily="2" charset="-78"/>
              </a:rPr>
              <a:t> مُرَّ</a:t>
            </a:r>
            <a:pPr rtl="1" algn="ctr" indent="0" marL="0">
              <a:buNone/>
            </a:pPr>
            <a:r>
              <a:rPr lang="ar-SA" altLang="en-US" sz="2400" b="1" dirty="0">
                <a:solidFill>
                  <a:srgbClr val="D6336C"/>
                </a:solidFill>
                <a:latin typeface="Amiri" pitchFamily="2" charset="-78"/>
                <a:cs typeface="Amiri" pitchFamily="2" charset="-78"/>
              </a:rPr>
              <a:t>ةٌ</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44" name="Text 41"/>
          <p:cNvSpPr txBox="1"/>
          <p:nvPr/>
        </p:nvSpPr>
        <p:spPr>
          <a:xfrm>
            <a:off x="2761488" y="4110228"/>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t>
            </a:r>
            <a:endParaRPr lang="en-US" sz="11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القَهْوَةُ</a:t>
            </a:r>
            <a:endParaRPr lang="ar-SA" sz="24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9345168" y="4724400"/>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because it is harmful</a:t>
            </a:r>
            <a:endParaRPr lang="en-US" sz="1100" dirty="0"/>
          </a:p>
        </p:txBody>
      </p:sp>
      <p:sp>
        <p:nvSpPr>
          <p:cNvPr id="50" name="Text 47"/>
          <p:cNvSpPr txBox="1"/>
          <p:nvPr/>
        </p:nvSpPr>
        <p:spPr>
          <a:xfrm>
            <a:off x="4206240" y="4724400"/>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لَا آكُلُ السُّكَّرَ كَثِيرًا لِأَنَّ</a:t>
            </a:r>
            <a:pPr rtl="1" algn="ctr" indent="0" marL="0">
              <a:buNone/>
            </a:pPr>
            <a:r>
              <a:rPr lang="ar-SA" altLang="en-US" sz="2400" b="1" dirty="0">
                <a:solidFill>
                  <a:srgbClr val="1D5FBF"/>
                </a:solidFill>
                <a:latin typeface="Amiri" pitchFamily="2" charset="-78"/>
                <a:cs typeface="Amiri" pitchFamily="2" charset="-78"/>
              </a:rPr>
              <a:t>هُ</a:t>
            </a:r>
            <a:pPr rtl="1" algn="ctr" indent="0" marL="0">
              <a:buNone/>
            </a:pPr>
            <a:r>
              <a:rPr lang="ar-SA" altLang="en-US" sz="2400" b="1" dirty="0">
                <a:solidFill>
                  <a:srgbClr val="1B3B6F"/>
                </a:solidFill>
                <a:latin typeface="Amiri" pitchFamily="2" charset="-78"/>
                <a:cs typeface="Amiri" pitchFamily="2" charset="-78"/>
              </a:rPr>
              <a:t> ضَارٌّ.</a:t>
            </a:r>
            <a:endParaRPr lang="ar-SA" sz="2400" dirty="0"/>
          </a:p>
        </p:txBody>
      </p:sp>
      <p:sp>
        <p:nvSpPr>
          <p:cNvPr id="51" name="Text 48"/>
          <p:cNvSpPr txBox="1"/>
          <p:nvPr/>
        </p:nvSpPr>
        <p:spPr>
          <a:xfrm>
            <a:off x="2761488" y="4724400"/>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
            </a:r>
            <a:endParaRPr lang="en-US" sz="1100" dirty="0"/>
          </a:p>
        </p:txBody>
      </p:sp>
      <p:sp>
        <p:nvSpPr>
          <p:cNvPr id="52" name="Text 49"/>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السُّكَّرُ</a:t>
            </a:r>
            <a:endParaRPr lang="ar-SA" sz="2400" dirty="0"/>
          </a:p>
        </p:txBody>
      </p:sp>
      <p:sp>
        <p:nvSpPr>
          <p:cNvPr id="53" name="Shape 5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4" name="Text 51"/>
          <p:cNvSpPr txBox="1"/>
          <p:nvPr/>
        </p:nvSpPr>
        <p:spPr>
          <a:xfrm>
            <a:off x="9345168" y="5338572"/>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sweet and beneficial</a:t>
            </a:r>
            <a:endParaRPr lang="en-US" sz="1100" dirty="0"/>
          </a:p>
        </p:txBody>
      </p:sp>
      <p:sp>
        <p:nvSpPr>
          <p:cNvPr id="55" name="Text 52"/>
          <p:cNvSpPr txBox="1"/>
          <p:nvPr/>
        </p:nvSpPr>
        <p:spPr>
          <a:xfrm>
            <a:off x="4206240" y="5338572"/>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أُحِبُّ الفَاكِهَةَ لِأَنَّ</a:t>
            </a:r>
            <a:pPr rtl="1" algn="ctr" indent="0" marL="0">
              <a:buNone/>
            </a:pPr>
            <a:r>
              <a:rPr lang="ar-SA" altLang="en-US" sz="2400" b="1" dirty="0">
                <a:solidFill>
                  <a:srgbClr val="D6336C"/>
                </a:solidFill>
                <a:latin typeface="Amiri" pitchFamily="2" charset="-78"/>
                <a:cs typeface="Amiri" pitchFamily="2" charset="-78"/>
              </a:rPr>
              <a:t>هَا</a:t>
            </a:r>
            <a:pPr rtl="1" algn="ctr" indent="0" marL="0">
              <a:buNone/>
            </a:pPr>
            <a:r>
              <a:rPr lang="ar-SA" altLang="en-US" sz="2400" b="1" dirty="0">
                <a:solidFill>
                  <a:srgbClr val="1B3B6F"/>
                </a:solidFill>
                <a:latin typeface="Amiri" pitchFamily="2" charset="-78"/>
                <a:cs typeface="Amiri" pitchFamily="2" charset="-78"/>
              </a:rPr>
              <a:t> حُلْوَ</a:t>
            </a:r>
            <a:pPr rtl="1" algn="ctr" indent="0" marL="0">
              <a:buNone/>
            </a:pPr>
            <a:r>
              <a:rPr lang="ar-SA" altLang="en-US" sz="2400" b="1" dirty="0">
                <a:solidFill>
                  <a:srgbClr val="D6336C"/>
                </a:solidFill>
                <a:latin typeface="Amiri" pitchFamily="2" charset="-78"/>
                <a:cs typeface="Amiri" pitchFamily="2" charset="-78"/>
              </a:rPr>
              <a:t>ةٌ</a:t>
            </a:r>
            <a:pPr rtl="1" algn="ctr" indent="0" marL="0">
              <a:buNone/>
            </a:pPr>
            <a:r>
              <a:rPr lang="ar-SA" altLang="en-US" sz="2400" b="1" dirty="0">
                <a:solidFill>
                  <a:srgbClr val="1B3B6F"/>
                </a:solidFill>
                <a:latin typeface="Amiri" pitchFamily="2" charset="-78"/>
                <a:cs typeface="Amiri" pitchFamily="2" charset="-78"/>
              </a:rPr>
              <a:t> وَمُفِيدَ</a:t>
            </a:r>
            <a:pPr rtl="1" algn="ctr" indent="0" marL="0">
              <a:buNone/>
            </a:pPr>
            <a:r>
              <a:rPr lang="ar-SA" altLang="en-US" sz="2400" b="1" dirty="0">
                <a:solidFill>
                  <a:srgbClr val="D6336C"/>
                </a:solidFill>
                <a:latin typeface="Amiri" pitchFamily="2" charset="-78"/>
                <a:cs typeface="Amiri" pitchFamily="2" charset="-78"/>
              </a:rPr>
              <a:t>ةٌ</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56" name="Text 53"/>
          <p:cNvSpPr txBox="1"/>
          <p:nvPr/>
        </p:nvSpPr>
        <p:spPr>
          <a:xfrm>
            <a:off x="2761488" y="533857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t>
            </a:r>
            <a:endParaRPr lang="en-US" sz="1100" dirty="0"/>
          </a:p>
        </p:txBody>
      </p:sp>
      <p:sp>
        <p:nvSpPr>
          <p:cNvPr id="57" name="Text 54"/>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الفَاكِهَةُ</a:t>
            </a:r>
            <a:endParaRPr lang="ar-SA" sz="240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Step 1: is the food m. or f.? Step 2: li-annahu or li-annahā. Step 3: the adjective matches (add </a:t>
            </a:r>
            <a:pPr algn="l" indent="0" marL="0">
              <a:buNone/>
            </a:pPr>
            <a:r>
              <a:rPr lang="ar-SA" altLang="en-US" sz="1500" b="1" dirty="0">
                <a:solidFill>
                  <a:srgbClr val="1B3B6F"/>
                </a:solidFill>
                <a:latin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 for f.).</a:t>
            </a:r>
            <a:endParaRPr lang="en-US" sz="11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cs typeface="Amiri" pitchFamily="2" charset="-78"/>
              </a:rPr>
              <a:t>GRAMMAR FOCUS · PART 2 · AGREEMENT FOLLOWS THE NOUN (WEBSITE RULES 3 AND 4)</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reasons, one opinion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المُطَابَقَةُ مَعَ الاِسْمِ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TWO REASONS · m.</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لِأَنَّهُ … وَ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أُفَضِّلُ السَّمَكَ لِأَنَّهُ لَذِيذٌ وَصِحِّيٌّ.</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prefer fish because it is delicious and healthy.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Both adjectives masculine.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NOT THE SPEAKER!</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مَرْيَمُ: الخُبْزُ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cs typeface="Amiri" pitchFamily="2" charset="-78"/>
              </a:rPr>
              <a:t>تَقُولُ مَرْيَمُ: الخُبْزُ طَازَجٌ.</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Maryam says: the bread is fresh.</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girl speaks — the bread is still m.</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BALANCED OPINION</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فِي رَأْيِي … وَلَكِنْ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فِي رَأْيِي، الفَاكِهَةُ مُغَذِّيَةٌ، وَلَكِنَّ الكَعْكَ حُلْوٌ جِدًّا.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my opinion, fruit is nutritious, but cake is very sweet.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Opinion + contrast.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bread is masculine, so the adjective has no </a:t>
            </a:r>
            <a:pPr algn="l" indent="0" marL="0">
              <a:buNone/>
            </a:pPr>
            <a:r>
              <a:rPr lang="ar-SA" altLang="en-US" sz="1500" dirty="0">
                <a:solidFill>
                  <a:srgbClr val="1F2A37"/>
                </a:solidFill>
                <a:latin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الخُبْزُ طَازَجٌ.</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الخُبْزُ طَازَجَةٌ.</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السَّبَبُ وَمُطَابَقَةُ الصِّفَةِ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Give a reason for a masculine noun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لِأَنَّهُ + صِفَةٌ مُذَكَّرَةٌ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أُحِبُّ الخُبْزَ لِأَنَّهُ طَازَجٌ.   ·   لَا أُحِبُّ السُّكَّرَ لِأَنَّهُ ضَارٌّ.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Give a reason for a feminine noun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لِأَنَّهَا + صِفَةٌ مُؤَنَّثَةٌ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أُحِبُّ السَّلَطَةَ لِأَنَّهَا صِحِّيَّةٌ.   ·   لَا أُحِبُّ القَهْوَةَ لِأَنَّهَا مُرَّةٌ.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Describe taste accurately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لَذِيذٌ / لَذِيذَةٌ · مَالِحٌ / مَالِحَةٌ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الحَسَاءُ لَذِيذٌ.   ·   الشُّورْبَةُ لَذِيذَةٌ.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Join two reasons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لِأَنَّهُ... وَ...</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أُفَضِّلُ السَّمَكَ لِأَنَّهُ لَذِيذٌ وَصِحِّيٌّ.   ·   أُحِبُّ الفَاكِهَةَ لِأَنَّهَا حُلْوَةٌ وَمُفِيدَةٌ.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أُحِبُّ الحَسَاءَ ___ لَذِيذٌ.</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لِأَنِّي</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أُفَضِّلُ السَّلَطَةَ لِأَنَّهَا ___.</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صِحِّيَّةٌ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صِحِّيٌّ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صِحِّيُّونَ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has correct agreement?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القَهْوَةُ مُرٌّ.</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القَهْوَةُ مُرَّةٌ.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القَهْوَةُ مُرَّانِ.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reason for </a:t>
            </a:r>
            <a:pPr algn="l" indent="0" marL="0">
              <a:buNone/>
            </a:pPr>
            <a:r>
              <a:rPr lang="ar-SA" altLang="en-US" sz="1650" b="1" dirty="0">
                <a:solidFill>
                  <a:srgbClr val="1B3B6F"/>
                </a:solidFill>
                <a:latin typeface="Amiri" pitchFamily="2" charset="-78"/>
                <a:cs typeface="Amiri" pitchFamily="2" charset="-78"/>
              </a:rPr>
              <a:t>الخُبْزُ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 طَازَجٌ</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 طَازَجَةٌ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لِأَنَّهُمْ طَازَجُونَ</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أُحِبُّ الحَسَاءَ ___ لَذِيذٌ.</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لِأَنَّهَا</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لِأَنِّي</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لِأَنَّهُ</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الحَسَاءُ</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أُفَضِّلُ السَّلَطَةَ لِأَنَّهَا ___.</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صِحِّيَّةٌ</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صِحِّيٌّ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صِحِّيُّونَ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adjective agrees with feminine </a:t>
            </a:r>
            <a:pPr algn="l" indent="0" marL="0">
              <a:buNone/>
            </a:pPr>
            <a:r>
              <a:rPr lang="ar-SA" altLang="en-US" sz="1350" dirty="0">
                <a:solidFill>
                  <a:srgbClr val="8A6D1E"/>
                </a:solidFill>
                <a:latin typeface="Amiri" pitchFamily="2" charset="-78"/>
                <a:cs typeface="Amiri" pitchFamily="2" charset="-78"/>
              </a:rPr>
              <a:t>سَلَطَةٌ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has correct agreement?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القَهْوَةُ مُرٌّ.</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القَهْوَةُ مُرَّةٌ.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القَهْوَةُ مُرَّانِ.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القَهْوَةُ</a:t>
            </a:r>
            <a:pPr algn="l" indent="0" marL="0">
              <a:buNone/>
            </a:pPr>
            <a:r>
              <a:rPr lang="en-US" sz="1050" i="1" dirty="0">
                <a:solidFill>
                  <a:srgbClr val="8A6D1E"/>
                </a:solidFill>
                <a:latin typeface="Calibri" pitchFamily="34" charset="0"/>
                <a:cs typeface="Amiri" pitchFamily="2" charset="-78"/>
              </a:rPr>
              <a:t> is feminine singular.</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reason for </a:t>
            </a:r>
            <a:pPr algn="l" indent="0" marL="0">
              <a:buNone/>
            </a:pPr>
            <a:r>
              <a:rPr lang="ar-SA" altLang="en-US" sz="1650" b="1" dirty="0">
                <a:solidFill>
                  <a:srgbClr val="1B3B6F"/>
                </a:solidFill>
                <a:latin typeface="Amiri" pitchFamily="2" charset="-78"/>
                <a:cs typeface="Amiri" pitchFamily="2" charset="-78"/>
              </a:rPr>
              <a:t>الخُبْزُ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لِأَنَّهُ طَازَجٌ</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لِأَنَّهَا طَازَجَةٌ</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لِأَنَّهُمْ طَازَجُونَ</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singular noun → </a:t>
            </a:r>
            <a:pPr algn="l" indent="0" marL="0">
              <a:buNone/>
            </a:pPr>
            <a:r>
              <a:rPr lang="ar-SA" altLang="en-US" sz="1350" dirty="0">
                <a:solidFill>
                  <a:srgbClr val="8A6D1E"/>
                </a:solidFill>
                <a:latin typeface="Amiri" pitchFamily="2" charset="-78"/>
                <a:cs typeface="Amiri" pitchFamily="2" charset="-78"/>
              </a:rPr>
              <a:t>ـهُ</a:t>
            </a:r>
            <a:pPr algn="l" indent="0" marL="0">
              <a:buNone/>
            </a:pPr>
            <a:r>
              <a:rPr lang="en-US" sz="1050" i="1" dirty="0">
                <a:solidFill>
                  <a:srgbClr val="8A6D1E"/>
                </a:solidFill>
                <a:latin typeface="Calibri" pitchFamily="34" charset="0"/>
                <a:cs typeface="Amiri" pitchFamily="2" charset="-78"/>
              </a:rPr>
              <a:t> and masculine adjective.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Watch me write a mini food review</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Opinion (m.)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فِي رَأْيِي، الحَسَاءُ لَذِيذٌ لِأَنَّ</a:t>
            </a:r>
            <a:pPr rtl="1" algn="ctr" indent="0" marL="0">
              <a:lnSpc>
                <a:spcPct val="120000"/>
              </a:lnSpc>
              <a:buNone/>
            </a:pPr>
            <a:r>
              <a:rPr lang="ar-SA" altLang="en-US" sz="1750" b="1" dirty="0">
                <a:solidFill>
                  <a:srgbClr val="1D5FBF"/>
                </a:solidFill>
                <a:latin typeface="Amiri" pitchFamily="2" charset="-78"/>
                <a:cs typeface="Amiri" pitchFamily="2" charset="-78"/>
              </a:rPr>
              <a:t>هُ</a:t>
            </a:r>
            <a:pPr rtl="1" algn="ctr" indent="0" marL="0">
              <a:lnSpc>
                <a:spcPct val="120000"/>
              </a:lnSpc>
              <a:buNone/>
            </a:pPr>
            <a:r>
              <a:rPr lang="ar-SA" altLang="en-US" sz="1750" b="1" dirty="0">
                <a:solidFill>
                  <a:srgbClr val="1B3B6F"/>
                </a:solidFill>
                <a:latin typeface="Amiri" pitchFamily="2" charset="-78"/>
                <a:cs typeface="Amiri" pitchFamily="2" charset="-78"/>
              </a:rPr>
              <a:t> دَافِئٌ وَخَفِيفٌ.</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Soup = m. → -hu, no </a:t>
            </a:r>
            <a:pPr algn="l" indent="0" marL="0">
              <a:buNone/>
            </a:pPr>
            <a:r>
              <a:rPr lang="ar-SA" altLang="en-US" sz="1500" dirty="0">
                <a:solidFill>
                  <a:srgbClr val="1F2A37"/>
                </a:solidFill>
                <a:latin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Like (f.)</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أُحِبُّ السَّلَطَةَ لِأَنَّ</a:t>
            </a:r>
            <a:pPr rtl="1" algn="ctr" indent="0" marL="0">
              <a:lnSpc>
                <a:spcPct val="120000"/>
              </a:lnSpc>
              <a:buNone/>
            </a:pPr>
            <a:r>
              <a:rPr lang="ar-SA" altLang="en-US" sz="1750" b="1" dirty="0">
                <a:solidFill>
                  <a:srgbClr val="D6336C"/>
                </a:solidFill>
                <a:latin typeface="Amiri" pitchFamily="2" charset="-78"/>
                <a:cs typeface="Amiri" pitchFamily="2" charset="-78"/>
              </a:rPr>
              <a:t>هَا</a:t>
            </a:r>
            <a:pPr rtl="1" algn="ctr" indent="0" marL="0">
              <a:lnSpc>
                <a:spcPct val="120000"/>
              </a:lnSpc>
              <a:buNone/>
            </a:pPr>
            <a:r>
              <a:rPr lang="ar-SA" altLang="en-US" sz="1750" b="1" dirty="0">
                <a:solidFill>
                  <a:srgbClr val="1B3B6F"/>
                </a:solidFill>
                <a:latin typeface="Amiri" pitchFamily="2" charset="-78"/>
                <a:cs typeface="Amiri" pitchFamily="2" charset="-78"/>
              </a:rPr>
              <a:t> طَازَجَ</a:t>
            </a:r>
            <a:pPr rtl="1" algn="ctr" indent="0" marL="0">
              <a:lnSpc>
                <a:spcPct val="120000"/>
              </a:lnSpc>
              <a:buNone/>
            </a:pPr>
            <a:r>
              <a:rPr lang="ar-SA" altLang="en-US" sz="1750" b="1" dirty="0">
                <a:solidFill>
                  <a:srgbClr val="D6336C"/>
                </a:solidFill>
                <a:latin typeface="Amiri" pitchFamily="2" charset="-78"/>
                <a:cs typeface="Amiri" pitchFamily="2" charset="-78"/>
              </a:rPr>
              <a:t>ةٌ</a:t>
            </a:r>
            <a:pPr rtl="1" algn="ctr" indent="0" marL="0">
              <a:lnSpc>
                <a:spcPct val="120000"/>
              </a:lnSpc>
              <a:buNone/>
            </a:pPr>
            <a:r>
              <a:rPr lang="ar-SA" altLang="en-US" sz="1750" b="1" dirty="0">
                <a:solidFill>
                  <a:srgbClr val="1B3B6F"/>
                </a:solidFill>
                <a:latin typeface="Amiri" pitchFamily="2" charset="-78"/>
                <a:cs typeface="Amiri" pitchFamily="2" charset="-78"/>
              </a:rPr>
              <a:t> وَصِحِّيَّ</a:t>
            </a:r>
            <a:pPr rtl="1" algn="ctr" indent="0" marL="0">
              <a:lnSpc>
                <a:spcPct val="120000"/>
              </a:lnSpc>
              <a:buNone/>
            </a:pPr>
            <a:r>
              <a:rPr lang="ar-SA" altLang="en-US" sz="1750" b="1" dirty="0">
                <a:solidFill>
                  <a:srgbClr val="D6336C"/>
                </a:solidFill>
                <a:latin typeface="Amiri" pitchFamily="2" charset="-78"/>
                <a:cs typeface="Amiri" pitchFamily="2" charset="-78"/>
              </a:rPr>
              <a:t>ةٌ</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Salad = f. → -hā + </a:t>
            </a:r>
            <a:pPr algn="l" indent="0" marL="0">
              <a:buNone/>
            </a:pPr>
            <a:r>
              <a:rPr lang="ar-SA" altLang="en-US" sz="1500" dirty="0">
                <a:solidFill>
                  <a:srgbClr val="1F2A37"/>
                </a:solidFill>
                <a:latin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Dislike (f.)</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cs typeface="Amiri" pitchFamily="2" charset="-78"/>
              </a:rPr>
              <a:t>لَا أُحِبُّ القَهْوَةَ لِأَنَّ</a:t>
            </a:r>
            <a:pPr rtl="1" algn="ctr" indent="0" marL="0">
              <a:lnSpc>
                <a:spcPct val="120000"/>
              </a:lnSpc>
              <a:buNone/>
            </a:pPr>
            <a:r>
              <a:rPr lang="ar-SA" altLang="en-US" sz="2000" b="1" dirty="0">
                <a:solidFill>
                  <a:srgbClr val="D6336C"/>
                </a:solidFill>
                <a:latin typeface="Amiri" pitchFamily="2" charset="-78"/>
                <a:cs typeface="Amiri" pitchFamily="2" charset="-78"/>
              </a:rPr>
              <a:t>هَا</a:t>
            </a:r>
            <a:pPr rtl="1" algn="ctr" indent="0" marL="0">
              <a:lnSpc>
                <a:spcPct val="120000"/>
              </a:lnSpc>
              <a:buNone/>
            </a:pPr>
            <a:r>
              <a:rPr lang="ar-SA" altLang="en-US" sz="2000" b="1" dirty="0">
                <a:solidFill>
                  <a:srgbClr val="1B3B6F"/>
                </a:solidFill>
                <a:latin typeface="Amiri" pitchFamily="2" charset="-78"/>
                <a:cs typeface="Amiri" pitchFamily="2" charset="-78"/>
              </a:rPr>
              <a:t> مُرَّ</a:t>
            </a:r>
            <a:pPr rtl="1" algn="ctr" indent="0" marL="0">
              <a:lnSpc>
                <a:spcPct val="120000"/>
              </a:lnSpc>
              <a:buNone/>
            </a:pPr>
            <a:r>
              <a:rPr lang="ar-SA" altLang="en-US" sz="2000" b="1" dirty="0">
                <a:solidFill>
                  <a:srgbClr val="D6336C"/>
                </a:solidFill>
                <a:latin typeface="Amiri" pitchFamily="2" charset="-78"/>
                <a:cs typeface="Amiri" pitchFamily="2" charset="-78"/>
              </a:rPr>
              <a:t>ةٌ</a:t>
            </a:r>
            <a:pPr rtl="1" algn="ctr" indent="0" marL="0">
              <a:lnSpc>
                <a:spcPct val="120000"/>
              </a:lnSpc>
              <a:buNone/>
            </a:pPr>
            <a:r>
              <a:rPr lang="ar-SA" altLang="en-US" sz="2000" b="1" dirty="0">
                <a:solidFill>
                  <a:srgbClr val="1B3B6F"/>
                </a:solidFill>
                <a:latin typeface="Amiri" pitchFamily="2" charset="-78"/>
                <a:cs typeface="Amiri" pitchFamily="2" charset="-78"/>
              </a:rPr>
              <a:t>.</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Coffee = f.</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But (m.)</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cs typeface="Amiri" pitchFamily="2" charset="-78"/>
              </a:rPr>
              <a:t>وَلَكِنِّي</a:t>
            </a:r>
            <a:pPr rtl="1" algn="ctr" indent="0" marL="0">
              <a:lnSpc>
                <a:spcPct val="120000"/>
              </a:lnSpc>
              <a:buNone/>
            </a:pPr>
            <a:r>
              <a:rPr lang="ar-SA" altLang="en-US" sz="1750" b="1" dirty="0">
                <a:solidFill>
                  <a:srgbClr val="1B3B6F"/>
                </a:solidFill>
                <a:latin typeface="Amiri" pitchFamily="2" charset="-78"/>
                <a:cs typeface="Amiri" pitchFamily="2" charset="-78"/>
              </a:rPr>
              <a:t> أُحِبُّ عَصِيرَ اللَّيْمُونِ لِأَنَّ</a:t>
            </a:r>
            <a:pPr rtl="1" algn="ctr" indent="0" marL="0">
              <a:lnSpc>
                <a:spcPct val="120000"/>
              </a:lnSpc>
              <a:buNone/>
            </a:pPr>
            <a:r>
              <a:rPr lang="ar-SA" altLang="en-US" sz="1750" b="1" dirty="0">
                <a:solidFill>
                  <a:srgbClr val="1D5FBF"/>
                </a:solidFill>
                <a:latin typeface="Amiri" pitchFamily="2" charset="-78"/>
                <a:cs typeface="Amiri" pitchFamily="2" charset="-78"/>
              </a:rPr>
              <a:t>هُ</a:t>
            </a:r>
            <a:pPr rtl="1" algn="ctr" indent="0" marL="0">
              <a:lnSpc>
                <a:spcPct val="120000"/>
              </a:lnSpc>
              <a:buNone/>
            </a:pPr>
            <a:r>
              <a:rPr lang="ar-SA" altLang="en-US" sz="1750" b="1" dirty="0">
                <a:solidFill>
                  <a:srgbClr val="1B3B6F"/>
                </a:solidFill>
                <a:latin typeface="Amiri" pitchFamily="2" charset="-78"/>
                <a:cs typeface="Amiri" pitchFamily="2" charset="-78"/>
              </a:rPr>
              <a:t> مُنْعِشٌ.</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Contrast · juice = m.</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CONTRAST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cs typeface="Amiri" pitchFamily="2" charset="-78"/>
              </a:rPr>
              <a:t>فِي رَأْيِي، الحَسَاءُ لَذِيذٌ لِأَنَّ</a:t>
            </a:r>
            <a:pPr rtl="1" algn="r" indent="0" marL="0">
              <a:lnSpc>
                <a:spcPct val="120000"/>
              </a:lnSpc>
              <a:buNone/>
            </a:pPr>
            <a:r>
              <a:rPr lang="ar-SA" altLang="en-US" sz="1650" b="1" dirty="0">
                <a:solidFill>
                  <a:srgbClr val="1D5FBF"/>
                </a:solidFill>
                <a:latin typeface="Amiri" pitchFamily="2" charset="-78"/>
                <a:cs typeface="Amiri" pitchFamily="2" charset="-78"/>
              </a:rPr>
              <a:t>هُ</a:t>
            </a:r>
            <a:pPr rtl="1" algn="r" indent="0" marL="0">
              <a:lnSpc>
                <a:spcPct val="120000"/>
              </a:lnSpc>
              <a:buNone/>
            </a:pPr>
            <a:r>
              <a:rPr lang="ar-SA" altLang="en-US" sz="1650" b="1" dirty="0">
                <a:solidFill>
                  <a:srgbClr val="1B3B6F"/>
                </a:solidFill>
                <a:latin typeface="Amiri" pitchFamily="2" charset="-78"/>
                <a:cs typeface="Amiri" pitchFamily="2" charset="-78"/>
              </a:rPr>
              <a:t> دَافِئٌ وَخَفِيفٌ. أُحِبُّ السَّلَطَةَ لِأَنَّ</a:t>
            </a:r>
            <a:pPr rtl="1" algn="r" indent="0" marL="0">
              <a:lnSpc>
                <a:spcPct val="120000"/>
              </a:lnSpc>
              <a:buNone/>
            </a:pPr>
            <a:r>
              <a:rPr lang="ar-SA" altLang="en-US" sz="1650" b="1" dirty="0">
                <a:solidFill>
                  <a:srgbClr val="D6336C"/>
                </a:solidFill>
                <a:latin typeface="Amiri" pitchFamily="2" charset="-78"/>
                <a:cs typeface="Amiri" pitchFamily="2" charset="-78"/>
              </a:rPr>
              <a:t>هَا</a:t>
            </a:r>
            <a:pPr rtl="1" algn="r" indent="0" marL="0">
              <a:lnSpc>
                <a:spcPct val="120000"/>
              </a:lnSpc>
              <a:buNone/>
            </a:pPr>
            <a:r>
              <a:rPr lang="ar-SA" altLang="en-US" sz="1650" b="1" dirty="0">
                <a:solidFill>
                  <a:srgbClr val="1B3B6F"/>
                </a:solidFill>
                <a:latin typeface="Amiri" pitchFamily="2" charset="-78"/>
                <a:cs typeface="Amiri" pitchFamily="2" charset="-78"/>
              </a:rPr>
              <a:t> طَازَجَ</a:t>
            </a:r>
            <a:pPr rtl="1" algn="r" indent="0" marL="0">
              <a:lnSpc>
                <a:spcPct val="120000"/>
              </a:lnSpc>
              <a:buNone/>
            </a:pPr>
            <a:r>
              <a:rPr lang="ar-SA" altLang="en-US" sz="1650" b="1" dirty="0">
                <a:solidFill>
                  <a:srgbClr val="D6336C"/>
                </a:solidFill>
                <a:latin typeface="Amiri" pitchFamily="2" charset="-78"/>
                <a:cs typeface="Amiri" pitchFamily="2" charset="-78"/>
              </a:rPr>
              <a:t>ةٌ</a:t>
            </a:r>
            <a:pPr rtl="1" algn="r" indent="0" marL="0">
              <a:lnSpc>
                <a:spcPct val="120000"/>
              </a:lnSpc>
              <a:buNone/>
            </a:pPr>
            <a:r>
              <a:rPr lang="ar-SA" altLang="en-US" sz="1650" b="1" dirty="0">
                <a:solidFill>
                  <a:srgbClr val="1B3B6F"/>
                </a:solidFill>
                <a:latin typeface="Amiri" pitchFamily="2" charset="-78"/>
                <a:cs typeface="Amiri" pitchFamily="2" charset="-78"/>
              </a:rPr>
              <a:t> وَصِحِّيَّ</a:t>
            </a:r>
            <a:pPr rtl="1" algn="r" indent="0" marL="0">
              <a:lnSpc>
                <a:spcPct val="120000"/>
              </a:lnSpc>
              <a:buNone/>
            </a:pPr>
            <a:r>
              <a:rPr lang="ar-SA" altLang="en-US" sz="1650" b="1" dirty="0">
                <a:solidFill>
                  <a:srgbClr val="D6336C"/>
                </a:solidFill>
                <a:latin typeface="Amiri" pitchFamily="2" charset="-78"/>
                <a:cs typeface="Amiri" pitchFamily="2" charset="-78"/>
              </a:rPr>
              <a:t>ةٌ</a:t>
            </a:r>
            <a:pPr rtl="1" algn="r" indent="0" marL="0">
              <a:lnSpc>
                <a:spcPct val="120000"/>
              </a:lnSpc>
              <a:buNone/>
            </a:pPr>
            <a:r>
              <a:rPr lang="ar-SA" altLang="en-US" sz="1650" b="1" dirty="0">
                <a:solidFill>
                  <a:srgbClr val="1B3B6F"/>
                </a:solidFill>
                <a:latin typeface="Amiri" pitchFamily="2" charset="-78"/>
                <a:cs typeface="Amiri" pitchFamily="2" charset="-78"/>
              </a:rPr>
              <a:t>. لَا أُحِبُّ القَهْوَةَ لِأَنَّ</a:t>
            </a:r>
            <a:pPr rtl="1" algn="r" indent="0" marL="0">
              <a:lnSpc>
                <a:spcPct val="120000"/>
              </a:lnSpc>
              <a:buNone/>
            </a:pPr>
            <a:r>
              <a:rPr lang="ar-SA" altLang="en-US" sz="1650" b="1" dirty="0">
                <a:solidFill>
                  <a:srgbClr val="D6336C"/>
                </a:solidFill>
                <a:latin typeface="Amiri" pitchFamily="2" charset="-78"/>
                <a:cs typeface="Amiri" pitchFamily="2" charset="-78"/>
              </a:rPr>
              <a:t>هَا</a:t>
            </a:r>
            <a:pPr rtl="1" algn="r" indent="0" marL="0">
              <a:lnSpc>
                <a:spcPct val="120000"/>
              </a:lnSpc>
              <a:buNone/>
            </a:pPr>
            <a:r>
              <a:rPr lang="ar-SA" altLang="en-US" sz="1650" b="1" dirty="0">
                <a:solidFill>
                  <a:srgbClr val="1B3B6F"/>
                </a:solidFill>
                <a:latin typeface="Amiri" pitchFamily="2" charset="-78"/>
                <a:cs typeface="Amiri" pitchFamily="2" charset="-78"/>
              </a:rPr>
              <a:t> مُرَّ</a:t>
            </a:r>
            <a:pPr rtl="1" algn="r" indent="0" marL="0">
              <a:lnSpc>
                <a:spcPct val="120000"/>
              </a:lnSpc>
              <a:buNone/>
            </a:pPr>
            <a:r>
              <a:rPr lang="ar-SA" altLang="en-US" sz="1650" b="1" dirty="0">
                <a:solidFill>
                  <a:srgbClr val="D6336C"/>
                </a:solidFill>
                <a:latin typeface="Amiri" pitchFamily="2" charset="-78"/>
                <a:cs typeface="Amiri" pitchFamily="2" charset="-78"/>
              </a:rPr>
              <a:t>ةٌ</a:t>
            </a:r>
            <a:pPr rtl="1" algn="r" indent="0" marL="0">
              <a:lnSpc>
                <a:spcPct val="120000"/>
              </a:lnSpc>
              <a:buNone/>
            </a:pPr>
            <a:r>
              <a:rPr lang="ar-SA" altLang="en-US" sz="1650" b="1" dirty="0">
                <a:solidFill>
                  <a:srgbClr val="1B3B6F"/>
                </a:solidFill>
                <a:latin typeface="Amiri" pitchFamily="2" charset="-78"/>
                <a:cs typeface="Amiri" pitchFamily="2" charset="-78"/>
              </a:rPr>
              <a:t>، </a:t>
            </a:r>
            <a:pPr rtl="1" algn="r" indent="0" marL="0">
              <a:lnSpc>
                <a:spcPct val="120000"/>
              </a:lnSpc>
              <a:buNone/>
            </a:pPr>
            <a:r>
              <a:rPr lang="ar-SA" altLang="en-US" sz="1650" b="1" dirty="0">
                <a:solidFill>
                  <a:srgbClr val="0E7C86"/>
                </a:solidFill>
                <a:latin typeface="Amiri" pitchFamily="2" charset="-78"/>
                <a:cs typeface="Amiri" pitchFamily="2" charset="-78"/>
              </a:rPr>
              <a:t>وَلَكِنِّي</a:t>
            </a:r>
            <a:pPr rtl="1" algn="r" indent="0" marL="0">
              <a:lnSpc>
                <a:spcPct val="120000"/>
              </a:lnSpc>
              <a:buNone/>
            </a:pPr>
            <a:r>
              <a:rPr lang="ar-SA" altLang="en-US" sz="1650" b="1" dirty="0">
                <a:solidFill>
                  <a:srgbClr val="1B3B6F"/>
                </a:solidFill>
                <a:latin typeface="Amiri" pitchFamily="2" charset="-78"/>
                <a:cs typeface="Amiri" pitchFamily="2" charset="-78"/>
              </a:rPr>
              <a:t> أُحِبُّ عَصِيرَ اللَّيْمُونِ لِأَنَّ</a:t>
            </a:r>
            <a:pPr rtl="1" algn="r" indent="0" marL="0">
              <a:lnSpc>
                <a:spcPct val="120000"/>
              </a:lnSpc>
              <a:buNone/>
            </a:pPr>
            <a:r>
              <a:rPr lang="ar-SA" altLang="en-US" sz="1650" b="1" dirty="0">
                <a:solidFill>
                  <a:srgbClr val="1D5FBF"/>
                </a:solidFill>
                <a:latin typeface="Amiri" pitchFamily="2" charset="-78"/>
                <a:cs typeface="Amiri" pitchFamily="2" charset="-78"/>
              </a:rPr>
              <a:t>هُ</a:t>
            </a:r>
            <a:pPr rtl="1" algn="r" indent="0" marL="0">
              <a:lnSpc>
                <a:spcPct val="120000"/>
              </a:lnSpc>
              <a:buNone/>
            </a:pPr>
            <a:r>
              <a:rPr lang="ar-SA" altLang="en-US" sz="1650" b="1" dirty="0">
                <a:solidFill>
                  <a:srgbClr val="1B3B6F"/>
                </a:solidFill>
                <a:latin typeface="Amiri" pitchFamily="2" charset="-78"/>
                <a:cs typeface="Amiri" pitchFamily="2" charset="-78"/>
              </a:rPr>
              <a:t> مُنْعِشٌ.</a:t>
            </a:r>
            <a:endParaRPr lang="ar-SA" sz="16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In my opinion, the soup is delicious because it is warm and light. I like salad because it is fresh and healthy. I don’t like coffee because it is bitter, but I like lemon juice because it is refreshing.</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أُحِبُّ الحَسَاءَ لِأَنَّهُ لَذِيذٌ وَخَفِيفٌ.</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like soup because it is delicious and light.</a:t>
            </a:r>
            <a:endParaRPr lang="en-US" sz="1250" dirty="0"/>
          </a:p>
          <a:p>
            <a:pPr indent="0" marL="0">
              <a:buNone/>
            </a:pPr>
            <a:r>
              <a:rPr lang="en-US" sz="1050" i="1" dirty="0">
                <a:solidFill>
                  <a:srgbClr val="8A6D1E"/>
                </a:solidFill>
                <a:latin typeface="Calibri" pitchFamily="34" charset="0"/>
                <a:cs typeface="Amiri" pitchFamily="2" charset="-78"/>
              </a:rPr>
              <a:t>حَسَاءٌ is masculine → لِأَنَّهُ + masculine adjectives.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أُفَضِّلُ السَّلَطَةَ لِأَنَّهَا صِحِّيَّةٌ وَطَازَجَةٌ.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prefer salad because it is healthy and fresh.</a:t>
            </a:r>
            <a:endParaRPr lang="en-US" sz="1250" dirty="0"/>
          </a:p>
          <a:p>
            <a:pPr indent="0" marL="0">
              <a:buNone/>
            </a:pPr>
            <a:r>
              <a:rPr lang="en-US" sz="1050" i="1" dirty="0">
                <a:solidFill>
                  <a:srgbClr val="8A6D1E"/>
                </a:solidFill>
                <a:latin typeface="Calibri" pitchFamily="34" charset="0"/>
                <a:cs typeface="Amiri" pitchFamily="2" charset="-78"/>
              </a:rPr>
              <a:t>سَلَطَةٌ is feminine → لِأَنَّهَا + feminine adjectives.</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لَا أُحِبُّ القَهْوَةَ لِأَنَّهَا مُرَّةٌ.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do not like coffee because it is bitter.</a:t>
            </a:r>
            <a:endParaRPr lang="en-US" sz="1250" dirty="0"/>
          </a:p>
          <a:p>
            <a:pPr indent="0" marL="0">
              <a:buNone/>
            </a:pPr>
            <a:r>
              <a:rPr lang="en-US" sz="1050" i="1" dirty="0">
                <a:solidFill>
                  <a:srgbClr val="8A6D1E"/>
                </a:solidFill>
                <a:latin typeface="Calibri" pitchFamily="34" charset="0"/>
                <a:cs typeface="Amiri" pitchFamily="2" charset="-78"/>
              </a:rPr>
              <a:t>Agreement follows the noun, not the speaker.</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فِي رَأْيِي، الفَاكِهَةُ مُغَذِّيَةٌ، وَلٰكِنَّ الكَعْكَ حُلْوٌ جِدًّا.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my opinion, fruit is nutritious, but cake is very sweet.</a:t>
            </a:r>
            <a:endParaRPr lang="en-US" sz="1250" dirty="0"/>
          </a:p>
          <a:p>
            <a:pPr indent="0" marL="0">
              <a:buNone/>
            </a:pPr>
            <a:r>
              <a:rPr lang="en-US" sz="1050" i="1" dirty="0">
                <a:solidFill>
                  <a:srgbClr val="8A6D1E"/>
                </a:solidFill>
                <a:latin typeface="Calibri" pitchFamily="34" charset="0"/>
                <a:cs typeface="Amiri" pitchFamily="2" charset="-78"/>
              </a:rPr>
              <a:t>Use contrast to make a balanced opinion.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GIVING REASONS: TASTE AND HEALTH”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Reasons: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salad · healthy</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reading · useful</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chips · not healthy</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 آكُلُ البَطَاطَا المَقْلِيَّةَ كَثِيرًا لِأَنَّهَا غَيْرُ صِحِّيَّةٍ.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أُحِبُّ السَّلَطَةَ لِأَنَّهَا صِحِّيَّةٌ.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أُحِبُّ القِرَاءَةَ لِأَنَّهَا مُفِيدَةٌ.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salad · healthy</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أُحِبُّ السَّلَطَةَ لِأَنَّهَا صِحِّيَّةٌ.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like salad because it is healthy.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reading · useful</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أُحِبُّ القِرَاءَةَ لِأَنَّهَا مُفِيدَةٌ.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like reading because it is useful.</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chips · not healthy</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لَا آكُلُ البَطَاطَا المَقْلِيَّةَ كَثِيرًا لِأَنَّهَا غَيْرُ صِحِّيَّةٍ.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don’t eat chips a lot because they are unhealthy.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Masculine or feminine reason?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الخُبْزُ</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السَّلَطَةُ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الحَسَاءُ</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القَهْوَةُ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العَصِيرُ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الفَاكِهَةُ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السَّمَكُ</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الشُّوكُولَاتَةُ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لِأَنَّهُ · masculine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لِأَنَّهَا · feminine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لِأَنَّهُ · masculine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الخُبْزُ</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الحَسَاءُ</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العَصِيرُ</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السَّمَكُ</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لِأَنَّهَا · feminine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السَّلَطَةُ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القَهْوَةُ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الفَاكِهَةُ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الشُّوكُولَاتَةُ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introduces contrast?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وَلٰكِنْ</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controls adjective agreement?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gender</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noun being described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time phrase</a:t>
            </a:r>
            <a:endParaRPr lang="en-US" sz="12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chain is fully masculine?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الخُبْزُ لِأَنَّهَا طَازَجَةٌ</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الخُبْزُ لِأَنَّهُ طَازَجٌ</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الخُبْزُ لِأَنَّهُ طَازَجَةٌ</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introduces contrast?</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لِأَنَّ</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أَيْنَ</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وَلٰكِنْ</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وَلٰكِنْ</a:t>
            </a:r>
            <a:pPr algn="l" indent="0" marL="0">
              <a:buNone/>
            </a:pPr>
            <a:r>
              <a:rPr lang="en-US" sz="1050" i="1" dirty="0">
                <a:solidFill>
                  <a:srgbClr val="8A6D1E"/>
                </a:solidFill>
                <a:latin typeface="Calibri" pitchFamily="34" charset="0"/>
                <a:cs typeface="Amiri" pitchFamily="2" charset="-78"/>
              </a:rPr>
              <a:t> means “but”.</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controls adjective agreement?</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gender</a:t>
            </a:r>
            <a:endParaRPr lang="en-US" sz="12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noun being described</a:t>
            </a:r>
            <a:endParaRPr lang="en-US" sz="12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time phrase</a:t>
            </a:r>
            <a:endParaRPr lang="en-US" sz="12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adjective agrees with its noun.</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chain is fully masculine?</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الخُبْزُ لِأَنَّهَا طَازَجَةٌ</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الخُبْزُ لِأَنَّهُ طَازَجٌ</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الخُبْزُ لِأَنَّهُ طَازَجَةٌ</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noun → </a:t>
            </a:r>
            <a:pPr algn="l" indent="0" marL="0">
              <a:buNone/>
            </a:pPr>
            <a:r>
              <a:rPr lang="ar-SA" altLang="en-US" sz="1350" dirty="0">
                <a:solidFill>
                  <a:srgbClr val="8A6D1E"/>
                </a:solidFill>
                <a:latin typeface="Amiri" pitchFamily="2" charset="-78"/>
                <a:cs typeface="Amiri" pitchFamily="2" charset="-78"/>
              </a:rPr>
              <a:t>ـهُ</a:t>
            </a:r>
            <a:pPr algn="l" indent="0" marL="0">
              <a:buNone/>
            </a:pPr>
            <a:r>
              <a:rPr lang="en-US" sz="1050" i="1" dirty="0">
                <a:solidFill>
                  <a:srgbClr val="8A6D1E"/>
                </a:solidFill>
                <a:latin typeface="Calibri" pitchFamily="34" charset="0"/>
                <a:cs typeface="Amiri" pitchFamily="2" charset="-78"/>
              </a:rPr>
              <a:t> → masculine adjective.</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أُحِبُّ السَّلَطَةَ لِأَنَّهُ صِحِّيٌّ.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salad m. or f.?</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القَهْوَةُ مُرٌّ.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Coffee is feminine: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الخُبْزُ طَازَجَةٌ.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bread m. or f.?</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أُحِبُّ السَّلَطَةَ لِأَنَّهُ صِحِّيٌّ.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أُحِبُّ السَّلَطَةَ لِأَنَّهَا صِحِّيَّةٌ.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سَلَطَةٌ</a:t>
            </a:r>
            <a:pPr algn="l" indent="0" marL="0">
              <a:buNone/>
            </a:pPr>
            <a:r>
              <a:rPr lang="en-US" sz="1150" b="1" dirty="0">
                <a:solidFill>
                  <a:srgbClr val="1B3B6F"/>
                </a:solidFill>
                <a:latin typeface="Calibri" pitchFamily="34" charset="0"/>
                <a:cs typeface="Amiri" pitchFamily="2" charset="-78"/>
              </a:rPr>
              <a:t> is feminine, so both the pronoun and adjective are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القَهْوَةُ مُرٌّ.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القَهْوَةُ مُرَّةٌ.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قَهْوَةٌ</a:t>
            </a:r>
            <a:pPr algn="l" indent="0" marL="0">
              <a:buNone/>
            </a:pPr>
            <a:r>
              <a:rPr lang="en-US" sz="1150" b="1" dirty="0">
                <a:solidFill>
                  <a:srgbClr val="1B3B6F"/>
                </a:solidFill>
                <a:latin typeface="Calibri" pitchFamily="34" charset="0"/>
                <a:cs typeface="Amiri" pitchFamily="2" charset="-78"/>
              </a:rPr>
              <a:t> is feminine.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الخُبْزُ طَازَجَةٌ.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الخُبْزُ طَازَجٌ.</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خُبْزٌ</a:t>
            </a:r>
            <a:pPr algn="l" indent="0" marL="0">
              <a:buNone/>
            </a:pPr>
            <a:r>
              <a:rPr lang="en-US" sz="1150" b="1" dirty="0">
                <a:solidFill>
                  <a:srgbClr val="1B3B6F"/>
                </a:solidFill>
                <a:latin typeface="Calibri" pitchFamily="34" charset="0"/>
                <a:cs typeface="Amiri" pitchFamily="2" charset="-78"/>
              </a:rPr>
              <a:t> is masculine.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reason do you hear?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salad liked?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fresh and healthy.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hot and salty.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sweet and heavy.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soup preferred?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cold and fresh.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spicy and heavy.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warm and light.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coffee disliked?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sour.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fatty.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bitter.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dates described?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sweet and nutritious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salty and harmful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sour and light</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لِأَنَّهَا / لِأَنَّهُ</a:t>
            </a:r>
            <a:pPr algn="l" indent="0" marL="0">
              <a:lnSpc>
                <a:spcPct val="115000"/>
              </a:lnSpc>
              <a:buNone/>
            </a:pPr>
            <a:r>
              <a:rPr lang="en-US" sz="1250" dirty="0">
                <a:solidFill>
                  <a:srgbClr val="1E6B52"/>
                </a:solidFill>
                <a:latin typeface="Calibri" pitchFamily="34" charset="0"/>
                <a:cs typeface="Amiri" pitchFamily="2" charset="-78"/>
              </a:rPr>
              <a:t> + the adjective.</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أُحِبُّ السَّلَطَةَ لِأَنَّهَا طَازَجَةٌ وَصِحِّيَّةٌ.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like salad because it is fresh and healthy.</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أُفَضِّلُ الحَسَاءَ لِأَنَّهُ دَافِئٌ وَخَفِيفٌ.</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prefer soup because it is warm and light.</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 أُحِبُّ القَهْوَةَ لِأَنَّهَا مُرَّةٌ.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don’t like coffee because it is bitter.</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أُحِبُّ التَّمْرَ لِأَنَّهُ حُلْوٌ وَمُغَذٍّ.</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like dates because they are sweet and nutritious.</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salad liked?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fresh and healthy.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hot and salty.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sweet and heavy.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طَازَجَةٌ وَصِحِّيَّةٌ.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soup preferred?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cold and fresh.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spicy and heavy.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warm and light.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دَافِئٌ وَخَفِيفٌ.</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coffee disliked?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sour.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fatty.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bitter.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مُرَّةٌ</a:t>
            </a:r>
            <a:pPr algn="l" indent="0" marL="0">
              <a:buNone/>
            </a:pPr>
            <a:r>
              <a:rPr lang="en-US" sz="1050" i="1" dirty="0">
                <a:solidFill>
                  <a:srgbClr val="8A6D1E"/>
                </a:solidFill>
                <a:latin typeface="Calibri" pitchFamily="34" charset="0"/>
                <a:cs typeface="Amiri" pitchFamily="2" charset="-78"/>
              </a:rPr>
              <a:t> means bitter.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dates described?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sweet and nutritious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salty and harmful</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sour and light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حُلْوٌ وَمُغَذٍّ.</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لِأَنَّهَا / لِأَنَّهُ</a:t>
            </a:r>
            <a:pPr algn="l" indent="0" marL="0">
              <a:lnSpc>
                <a:spcPct val="115000"/>
              </a:lnSpc>
              <a:buNone/>
            </a:pPr>
            <a:r>
              <a:rPr lang="en-US" sz="1250" dirty="0">
                <a:solidFill>
                  <a:srgbClr val="1E6B52"/>
                </a:solidFill>
                <a:latin typeface="Calibri" pitchFamily="34" charset="0"/>
                <a:cs typeface="Amiri" pitchFamily="2" charset="-78"/>
              </a:rPr>
              <a:t> + the adjective.</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Food critic challenge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لِمَاذَا تُحِبُّ هٰذَا الطَّعَامَ؟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هٰذِهِ الوَجْبَةُ صِحِّيَّةٌ؟ 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مَذَاقُ القَهْوَةِ / العَصِيرِ؟</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أَيُّهُمَا أَخَفُّ: الحَسَاءُ أَمِ البِيتْزَا؟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أُحِبُّ ___ لِأَنَّهُ / لِأَنَّهَا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نَعَمْ / لَا، لِأَنَّهَا ___ وَ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القَهْوَةُ مُرَّةٌ · العَصِيرُ حُلْوٌ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فِي رَأْيِي، ___ أَخَفُّ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cs typeface="Amiri" pitchFamily="2" charset="-78"/>
              </a:rPr>
              <a:t>أ</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لِمَاذَا تُفَضِّلِينَ السَّلَطَةَ؟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Why do you (f.) prefer salad?</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cs typeface="Amiri" pitchFamily="2" charset="-78"/>
              </a:rPr>
              <a:t>ب</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لِأَنَّهَا طَازَجَةٌ وَصِحِّيَّةٌ.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Because it is fresh and healthy.</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Complete six reason sentences by choosing masculine or feminine forms.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Three foods, one reason each: choose li-annahu or li-annahā from the table.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4–5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Describe and justify opinions about four foods without a sentence frame.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review three foods or drinks with one reason each, one positive and one negative.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6–8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balanced café review that evaluates taste, health and value using contrasting viewpoints.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balanced café review: taste, health and value, with in my opinion … but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رَأْيِي، ______ لَذِيذٌ / لَذِيذَةٌ.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 is delicious.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لِأَنَّهُ ______ وَ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because it is … and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وَلَكِنِّي أُحِبُّ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I like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العَصِيرُ حُلْوٌ جِدًّا.</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juice is very sweet.</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آكُلُ ______ كَثِيرًا لِأَنَّهُ غَيْرُ صِحِّيٍّ.</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eat … a lot because it is not healthy.</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______ لِأَنَّهُ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because it (m.) is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______ لِأَنَّهَا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because it (f.)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أُحِبُّ القَهْوَةَ لِأَنَّهَا مُرَّةٌ.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like coffee because it is bitter.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الخُبْزُ طَازَجٌ.</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bread is fresh.</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السَّلَطَةُ صِحِّيَّةٌ.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salad is healthy.</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لِأَنَّهُ  ·  لِأَنَّهَا  ·  لَذِيذٌ  ·  لَذِيذَةٌ  ·  حُلْوٌ  ·  حُلْوَةٌ  ·  مَالِحٌ  ·  مُرَّةٌ  ·  طَازَجٌ  ·  صِحِّيَّةٌ  ·  فِي رَأْيِي  ·  وَلَكِنْ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short review of three foods or drinks. Give a clear opinion and at least one accurate reason for each.</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Choose </a:t>
            </a:r>
            <a:pPr algn="l" indent="0" marL="0">
              <a:buNone/>
            </a:pPr>
            <a:r>
              <a:rPr lang="ar-SA" altLang="en-US" sz="1550" dirty="0">
                <a:solidFill>
                  <a:srgbClr val="1F2A37"/>
                </a:solidFill>
                <a:latin typeface="Amiri" pitchFamily="2" charset="-78"/>
                <a:cs typeface="Amiri" pitchFamily="2" charset="-78"/>
              </a:rPr>
              <a:t>لِأَنَّهُ</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لِأَنَّهَا</a:t>
            </a:r>
            <a:pPr algn="l" indent="0" marL="0">
              <a:buNone/>
            </a:pPr>
            <a:r>
              <a:rPr lang="en-US" sz="1200" dirty="0">
                <a:solidFill>
                  <a:srgbClr val="1F2A37"/>
                </a:solidFill>
                <a:latin typeface="Calibri" pitchFamily="34" charset="0"/>
                <a:cs typeface="Amiri" pitchFamily="2" charset="-78"/>
              </a:rPr>
              <a:t> from the noun gender.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Make every adjective agree.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one positive and one negative judgement.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cs typeface="Amiri" pitchFamily="2" charset="-78"/>
              </a:rPr>
              <a:t>فِي رَأْيِي</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cs typeface="Amiri" pitchFamily="2" charset="-78"/>
              </a:rPr>
              <a:t>وَلٰكِنْ</a:t>
            </a:r>
            <a:pPr algn="l" indent="0" marL="0">
              <a:buNone/>
            </a:pPr>
            <a:r>
              <a:rPr lang="en-US" sz="1200" dirty="0">
                <a:solidFill>
                  <a:srgbClr val="1F2A37"/>
                </a:solidFill>
                <a:latin typeface="Calibri" pitchFamily="34" charset="0"/>
                <a:cs typeface="Amiri" pitchFamily="2" charset="-78"/>
              </a:rPr>
              <a:t> to connect ideas.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زُرْتُ مَقْهًى صَغِيرًا</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visited a small café</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أَكَلْتُ حَسَاءَ العَدَسِ</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ate lentil soup</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كَانَ العَصِيرُ حُلْوًا جِدًّا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juice was very sweet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بَارِدًا وَمُنْعِشًا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cold and refreshing</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الوَجْبَةُ جَيِّدَةٌ وَمُتَوَازِنَةٌ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meal is good and balanced</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43</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فِي رَأْيِي، الحَسَاءُ لَذِيذٌ لِأَنَّهُ دَافِئٌ وَخَفِيفٌ. أُحِبُّ السَّلَطَةَ لِأَنَّهَا طَازَجَةٌ وَصِحِّيَّةٌ. لَا أُحِبُّ القَهْوَةَ لِأَنَّهَا مُرَّةٌ، وَلٰكِنِّي أُحِبُّ عَصِيرَ اللَّيْمُونِ لِأَنَّهُ مُنْعِشٌ.</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my opinion, the soup is delicious because it is warm and light. I like salad because it is fresh and healthy. I don’t like coffee because it is bitter, but I like lemon juice because it is refreshing.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in my opinion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masculine reason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feminine reason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but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43</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opinion has a reason.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checked: is the food m. or f.?</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Pronoun and adjective BOTH agree.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One positive and one negative judgement.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in my opinion … but … to balance.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43</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form of “delicious”.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لَذِيذَةٌ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لَذِيذٌ</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لَذَّةٌ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justified opinion?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السَّمَكَ.</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السَّمَكَ لِأَنَّهُ مُفِيدٌ.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السَّمَكُ فِي الطَّبَقِ.</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adjective means nutritious?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مُغَذٍّ</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ضَارٌّ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مَالِحٌ</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43</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form of “delicious”.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لَذِيذَةٌ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لَذِيذٌ</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لَذَّةٌ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لَذِيذَةٌ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justified opinion?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أُحِبُّ السَّمَكَ.</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أُحِبُّ السَّمَكَ لِأَنَّهُ مُفِيدٌ.</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السَّمَكُ فِي الطَّبَقِ.</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contains an opinion and a reason.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adjective means nutritious?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مُغَذٍّ</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ضَارٌّ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مَالِحٌ</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مُغَذٍّ</a:t>
            </a:r>
            <a:pPr algn="l" indent="0" marL="0">
              <a:buNone/>
            </a:pPr>
            <a:r>
              <a:rPr lang="en-US" sz="1050" i="1" dirty="0">
                <a:solidFill>
                  <a:srgbClr val="8A6D1E"/>
                </a:solidFill>
                <a:latin typeface="Calibri" pitchFamily="34" charset="0"/>
                <a:cs typeface="Amiri" pitchFamily="2" charset="-78"/>
              </a:rPr>
              <a:t> means nutritious.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43</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balanced café review</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زُرْتُ مَقْهًى صَغِيرًا مَعَ أُسْرَتِي. أَكَلْتُ حَسَاءَ العَدَسِ، وَأَحْبَبْتُهُ لِأَنَّهُ دَافِئٌ وَلَذِيذٌ. أَخَذَتْ أُخْتِي سَلَطَةً طَازَجَةً لِأَنَّهَا تُفَضِّلُ الطَّعَامَ الخَفِيفَ. كَانَ العَصِيرُ حُلْوًا جِدًّا، وَلٰكِنَّ المَاءَ كَانَ بَارِدًا وَمُنْعِشًا. فِي رَأْيِي، الوَجْبَةُ جَيِّدَةٌ وَمُتَوَازِنَةٌ.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زُرْتُ</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visited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مَقْهًى</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café</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أَكَلْتُ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ate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حَسَاءَ العَدَسِ</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lentil soup</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أَحْبَبْتُهُ</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liked it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أَخَذَتْ أُخْتِي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sister took</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كَانَ … حُلْوًا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was … sweet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بَارِدًا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cold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مُنْعِشًا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refreshing</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مُتَوَازِنَةٌ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balanced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43</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visited the café?</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alone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with family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with friends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writer like lentil soup?</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fresh and light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sweet and cold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warm and delicious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sister choose salad?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prefers light food.</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prefers spicy food.</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dislikes vegetables.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criticism is made of the juice?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too bitter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too sweet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too warm</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whole meal described?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 and balanced</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expensive and small</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heavy and harmful</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43</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visited the café?</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 alone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writer with family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 with friends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cs typeface="Amiri" pitchFamily="2" charset="-78"/>
              </a:rPr>
              <a:t>مَعَ أُسْرَتِي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writer like lentil soup?</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fresh and light</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sweet and cold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warm and delicious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دَافِئٌ وَلَذِيذٌ.</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sister choose salad?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prefers light food.</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prefers spicy food.</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dislikes vegetables.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تُفَضِّلُ الطَّعَامَ الخَفِيفَ.</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criticism is made of the juice?</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too bitter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too sweet</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too warm</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حُلْوًا جِدًّا.</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whole meal described?</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good and balanced</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expensive and small</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heavy and harmful</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جَيِّدَةٌ وَمُتَوَازِنَةٌ.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43</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F5-L04 · Taste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F5-L05: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F5-L05 · Ordering Food Politely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أُرِيدُ</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want</a:t>
            </a:r>
            <a:pPr indent="0" marL="0">
              <a:buNone/>
            </a:pPr>
            <a:r>
              <a:rPr lang="en-US" sz="1000" i="1" dirty="0">
                <a:solidFill>
                  <a:srgbClr val="5A6472"/>
                </a:solidFill>
                <a:latin typeface="Calibri" pitchFamily="34" charset="0"/>
                <a:cs typeface="Amiri" pitchFamily="2" charset="-78"/>
              </a:rPr>
              <a:t>  she: تُرِيدُ</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 فَضْلِكَ / مِنْ فَضْلِكِ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please (m. / 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قَائِمَةُ الطَّعَامِ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menu</a:t>
            </a:r>
            <a:pPr indent="0" marL="0">
              <a:buNone/>
            </a:pPr>
            <a:r>
              <a:rPr lang="en-US" sz="1000" i="1" dirty="0">
                <a:solidFill>
                  <a:srgbClr val="5A6472"/>
                </a:solidFill>
                <a:latin typeface="Calibri" pitchFamily="34" charset="0"/>
                <a:cs typeface="Amiri" pitchFamily="2" charset="-78"/>
              </a:rPr>
              <a:t>  pl. قَوَائِمُ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نَادِلٌ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waiter</a:t>
            </a:r>
            <a:pPr indent="0" marL="0">
              <a:buNone/>
            </a:pPr>
            <a:r>
              <a:rPr lang="en-US" sz="1000" i="1" dirty="0">
                <a:solidFill>
                  <a:srgbClr val="5A6472"/>
                </a:solidFill>
                <a:latin typeface="Calibri" pitchFamily="34" charset="0"/>
                <a:cs typeface="Amiri" pitchFamily="2" charset="-78"/>
              </a:rPr>
              <a:t>  f. نَادِلَةٌ · pl. نُدُلٌ</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الحِسَابُ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bill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You are in a café. How would you ask for water politely?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أُرِيدُ … مِنْ فَضْلِكَ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F5-L04: the vocabulary tab and the “Masculine or feminine reason?”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review three foods or drinks with one reason each.</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balanced café review (taste, health, value) in 6–8 sentences.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43</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F5-L05 · Ordering Food Politely</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طَلَبُ الطَّعَامِ بِأَدَبٍ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food m. → </a:t>
            </a:r>
            <a:pPr algn="l" indent="0" marL="0">
              <a:buNone/>
            </a:pPr>
            <a:r>
              <a:rPr lang="ar-SA" altLang="en-US" sz="1700" b="1" dirty="0">
                <a:solidFill>
                  <a:srgbClr val="FFFFFF"/>
                </a:solidFill>
                <a:latin typeface="Amiri" pitchFamily="2" charset="-78"/>
                <a:cs typeface="Amiri" pitchFamily="2" charset="-78"/>
              </a:rPr>
              <a:t>لِأَنَّهُ</a:t>
            </a:r>
            <a:pPr algn="l" indent="0" marL="0">
              <a:buNone/>
            </a:pPr>
            <a:r>
              <a:rPr lang="en-US" sz="1300" b="1" dirty="0">
                <a:solidFill>
                  <a:srgbClr val="FFFFFF"/>
                </a:solidFill>
                <a:latin typeface="Calibri" pitchFamily="34" charset="0"/>
                <a:cs typeface="Amiri" pitchFamily="2" charset="-78"/>
              </a:rPr>
              <a:t> + no </a:t>
            </a:r>
            <a:pPr algn="l" indent="0" marL="0">
              <a:buNone/>
            </a:pPr>
            <a:r>
              <a:rPr lang="ar-SA" altLang="en-US" sz="1700" b="1" dirty="0">
                <a:solidFill>
                  <a:srgbClr val="FFFFFF"/>
                </a:solidFill>
                <a:latin typeface="Amiri" pitchFamily="2" charset="-78"/>
                <a:cs typeface="Amiri" pitchFamily="2" charset="-78"/>
              </a:rPr>
              <a:t>ة</a:t>
            </a:r>
            <a:pPr algn="l" indent="0" marL="0">
              <a:buNone/>
            </a:pPr>
            <a:r>
              <a:rPr lang="en-US" sz="1300" b="1" dirty="0">
                <a:solidFill>
                  <a:srgbClr val="FFFFFF"/>
                </a:solidFill>
                <a:latin typeface="Calibri" pitchFamily="34" charset="0"/>
                <a:cs typeface="Amiri" pitchFamily="2" charset="-78"/>
              </a:rPr>
              <a:t> · food f. → </a:t>
            </a:r>
            <a:pPr algn="l" indent="0" marL="0">
              <a:buNone/>
            </a:pPr>
            <a:r>
              <a:rPr lang="ar-SA" altLang="en-US" sz="1700" b="1" dirty="0">
                <a:solidFill>
                  <a:srgbClr val="FFFFFF"/>
                </a:solidFill>
                <a:latin typeface="Amiri" pitchFamily="2" charset="-78"/>
                <a:cs typeface="Amiri" pitchFamily="2" charset="-78"/>
              </a:rPr>
              <a:t>لِأَنَّهَا</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cs typeface="Amiri" pitchFamily="2" charset="-78"/>
              </a:rPr>
              <a:t>ة</a:t>
            </a:r>
            <a:pPr algn="l" indent="0" marL="0">
              <a:buNone/>
            </a:pPr>
            <a:r>
              <a:rPr lang="en-US" sz="1300" b="1" dirty="0">
                <a:solidFill>
                  <a:srgbClr val="FFFFFF"/>
                </a:solidFill>
                <a:latin typeface="Calibri" pitchFamily="34" charset="0"/>
                <a:cs typeface="Amiri" pitchFamily="2" charset="-78"/>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F5-L04 · Giving Reasons: Taste and Health</dc:title>
  <dc:subject>PptxGenJS Presentation</dc:subject>
  <dc:creator>Al Madina Online School · Arabic Department</dc:creator>
  <cp:lastModifiedBy>Al Madina Online School · Arabic Department</cp:lastModifiedBy>
  <cp:revision>1</cp:revision>
  <dcterms:created xsi:type="dcterms:W3CDTF">2026-10-11T06:41:45Z</dcterms:created>
  <dcterms:modified xsi:type="dcterms:W3CDTF">2026-10-11T06:41:45Z</dcterms:modified>
</cp:coreProperties>
</file>