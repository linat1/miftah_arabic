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F5-L04. The website lesson “Giving Reasons: Taste and Health”: vocabulary, grammar rules and quiz, patterns, common mistakes, sorter, listening, reading, speaking prompts and model, writing task and model, differentiation, final check and the lesson mission. Picture match: website visual game “Giving Reasons: Taste and Health”.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reason sentences choosing the masculine or feminine chain: أُحِبُّ الخُبْزَ لِأَنَّهُ طَازَجٌ · أُحِبُّ السَّلَطَةَ لِأَنَّهَا طَازَجَةٌ.
• Develop: justify four food opinions without a frame, two adjectives per reason (لِأَنَّهُ لَذِيذٌ وَخَفِيفٌ).
• Stretch: a balanced café review (taste, health, value) with فِي رَأْيِي … وَلَكِنْ … — the website reading text is the model.
• The whole lesson rests on ONE question: is the food masculine or feminine? Then the pronoun AND the adjective follow.
• Website: “‘Healthy’ and ‘unhealthy’ describe nutritional patterns, not a person’s worth.” Keep the discussion free of judgement about anyone’s diet or body.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F5-L03. Questions 3–5 retrieve F5-L03 (comparison, she prefers) and F5-L01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FOOD decides everything: its gender chooses the pronoun AND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لذیذ and مفید are identical. مضر (harmful — مضرِ صحت “harmful to health”) shares the root of ضَارٌّ. صحت → صِحِّيٌّ (healthy). تازہ (Persian) was borrowed into Arabic as طَازَجٌ — the same word travelling in the other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Taste and texture (website vocabulary (1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Taste and texture (website vocabulary (2 of 2)). Hear → Say → See → Use. Transliteration is printed for Core students (cover it for Develop/Stretch).
Every card shows masculine / feminine. Say both aloud and clap on the ة. Plural (Stretch): food plurals take the FEMININE singular adjective — الفَوَاكِهُ لَذِيذَةٌ، الخَضْرَوَاتُ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and quality (website vocabulary (1 of 2)). Hear → Say → See → Use. Transliteration is printed for Core students (cover it for Develop/Stretch).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Health and quality (website vocabulary (2 of 2)). Hear → Say → See → Use. Transliteration is printed for Core students (cover it for Develop/Stretch).
FLEX: teach if time allows; otherwise these are on the website vocabulary tab for homework.
غَيْرُ صِحِّيٍّ = “not healthy” — gentler than ضَارٌّ (harmful). مُغَذٍّ / مُغَذِّيَةٌ (nutritious) is a Stretch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a reason for a masculine noun” (لِأَنَّهُ + masculine adjective) and “… for a feminine noun” (لِأَنَّهَا + feminine adjective).
Website overview: “a complete agreement chain: the reason pronoun and the adjective both agree with the food noun being described.”
Website teaching note: “First identify whether the noun is masculine or feminine; then select both the correct pronoun in the reason and the matching adjective form.”
Blue = masculine chain, pink = feminine chain. Core students copy rows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“Describe taste accurately” (the adjective changes with the noun’s gender) and “Join two reasons” (one reason sentence, two agreeing adjectives).
Website common error: “Agreement follows the noun, not the speaker” — the most frequent slip is a girl writing الخُبْزُ طَازَجَةٌ about herself.
Pattern 4 (website): فِي رَأْيِي، الفَاكِهَةُ مُغَذِّيَةٌ، وَلَكِنَّ الكَعْكَ حُلْوٌ جِدًّا — use contrast to make a balanced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agreement chain: the reason pronoun and the adjective both agree with the food noun being described.”
• Give a reason for a masculine noun: Use ـهُ when the food noun is masculine, then use a masculine adjective.
• Give a reason for a feminine noun: Use ـهَا when the food noun is feminine, then add the feminine adjective ending ـة.
• Describe taste accurately: The adjective changes to match the grammatical gender of the noun.
• Join two reasons: One reason sentence can contain two agreeing adjectives.
Website common error: Agreement follows the noun, not the speaker: السَّلَطَةُ لِأَنَّهَا 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Before each sentence ask: “m. or f.?” — the class answers first, then I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Giving Reasons: Taste and Health”)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three sentences use لِأَنَّهَا — ask why (السَّلَطَةُ، القِرَاءَةُ، البَطَاطَا are all feminine). Stretch: rewrite item 3 about bread (لِأَنَّهُ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noun phrase under the reason starter it requires.
After sorting, students give one reason sentence for two of the foods (one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4, then say which foods are masculine.
Listen 1: just listen. Listen 2: note answers. Then chat the letters.
Support: after the second listening, show the read-along slide (Arabic + English, line by line) for Core students.
SCRIPT (read aloud):
أُحِبُّ السَّلَطَةَ لِأَنَّهَا طَازَجَةٌ وَصِحِّيَّةٌ. أُفَضِّلُ الحَسَاءَ لِأَنَّهُ دَافِئٌ وَخَفِيفٌ. لَا أُحِبُّ القَهْوَةَ لِأَنَّهَا مُرَّةٌ. أُحِبُّ التَّمْرَ لِأَنَّهُ حُلْوٌ وَمُغَذٍّ.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القَهْوَةَ؟ (Do you like coffee?)
ب: لَا، لِأَنَّهَا مُرَّةٌ. (No, because it is bitter.)
Website “Food critic challenge” — all four prompts are the website’s. Show a picture of a meal for prompts 1–2. Website model: لِمَاذَا تُفَضِّلِينَ السَّلَطَةَ؟ — لِأَنَّهَا طَازَجَةٌ وَصِحِّيَّةٌ. — وَهَلْ تُحِبِّينَ القَهْوَةَ؟ — لَا، لِأَنَّهَا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six reason sentences by choosing masculine or feminine forms. · Develop — Describe and justify opinions about four foods without a sentence frame. · Stretch — Write a balanced café review that evaluates taste, health and value using contrasting viewpoints.
Website writing task (Stretch): Write a short review of three foods or drinks. Give a clear opinion and at least one accurate reason for each.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رَأْيِي · لِأَنَّهُ دَافِئٌ وَخَفِيفٌ · لِأَنَّهَا طَازَجَةٌ وَصِحِّيَّةٌ · وَلَكِنِّي.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(F5-L05 · Ordering Food Politely) will spend class time USING this language, so students prepare it tonight — short, simple, easy to access (school guidance: “Simple, Short, Interesting, Relevant, Easy to access”). The five words come from the website F5-L05 lesson (ordering food politely).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ea typeface="Cambria" pitchFamily="34" charset="-122"/>
                <a:cs typeface="Cambria" pitchFamily="34" charset="-120"/>
              </a:rPr>
              <a:t>Giving Reasons: Taste and Health</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إِبْدَاءُ الأَسْبَابِ وَوَصْفُ المَذَاقِ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Justify food opinions with </a:t>
            </a:r>
            <a:pPr algn="l" indent="0" marL="0">
              <a:buNone/>
            </a:pPr>
            <a:r>
              <a:rPr lang="ar-SA" altLang="en-US" sz="1800" dirty="0">
                <a:solidFill>
                  <a:srgbClr val="C6D2E6"/>
                </a:solidFill>
                <a:latin typeface="Amiri" pitchFamily="34" charset="0"/>
                <a:ea typeface="Amiri" pitchFamily="34" charset="-122"/>
                <a:cs typeface="Amiri" pitchFamily="34" charset="-120"/>
              </a:rPr>
              <a:t>لِأَنَّهُ / لِأَنَّهَا</a:t>
            </a:r>
            <a:pPr algn="l" indent="0" marL="0">
              <a:buNone/>
            </a:pPr>
            <a:r>
              <a:rPr lang="en-US" sz="1400" dirty="0">
                <a:solidFill>
                  <a:srgbClr val="C6D2E6"/>
                </a:solidFill>
                <a:latin typeface="Calibri" pitchFamily="34" charset="0"/>
                <a:ea typeface="Calibri" pitchFamily="34" charset="-122"/>
                <a:cs typeface="Calibri" pitchFamily="34" charset="-120"/>
              </a:rPr>
              <a:t> and make taste and health adjectives agree with masculine and feminine food nouns.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F5-L04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Taste and health adjectives (m / f), then the agreement chain: noun → </a:t>
            </a:r>
            <a:pPr algn="ctr" indent="0" marL="0">
              <a:buNone/>
            </a:pPr>
            <a:r>
              <a:rPr lang="ar-SA" altLang="en-US" sz="1500" dirty="0">
                <a:solidFill>
                  <a:srgbClr val="1F2A37"/>
                </a:solidFill>
                <a:latin typeface="Amiri" pitchFamily="34" charset="0"/>
                <a:ea typeface="Amiri" pitchFamily="34" charset="-122"/>
                <a:cs typeface="Amiri" pitchFamily="34" charset="-120"/>
              </a:rPr>
              <a:t>لِأَنَّهُ / لِأَنَّهَا</a:t>
            </a:r>
            <a:pPr algn="ctr" indent="0" marL="0">
              <a:buNone/>
            </a:pPr>
            <a:r>
              <a:rPr lang="en-US" sz="1150" dirty="0">
                <a:solidFill>
                  <a:srgbClr val="1F2A37"/>
                </a:solidFill>
                <a:latin typeface="Calibri" pitchFamily="34" charset="0"/>
                <a:ea typeface="Calibri" pitchFamily="34" charset="-122"/>
                <a:cs typeface="Calibri" pitchFamily="34" charset="-120"/>
              </a:rPr>
              <a:t> → adjective.</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masculine or feminine, fix the chains and listen for the reasons.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مَالِحٌ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sweet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spicy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delicious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السَّمَكَ</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اللَّحْمِ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يُفَضِّلُ العَصِيرَ.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أُفَضِّلُ العَصِيرَ.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تُفَضِّلُ العَصِيرَ.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العَصِيرُ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مَالِحٌ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sweet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spicy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healthy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delicious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أُفَضِّلُ السَّمَكَ</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اللَّحْمِ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F5-L03: the whole comparison chunk.</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prefers juice.”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يُفَضِّلُ العَصِيرَ.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أُفَضِّلُ العَصِيرَ.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تُفَضِّلُ العَصِيرَ.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F5-L03: she → 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الخُبْزُ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العَصِيرُ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F5-L01: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usually marks a feminine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FOOD decides everything: its gender chooses the pronoun AND the adjective.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السَّلَطَةَ لِأَنَّ</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صِحِّيَّ</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because-clauses to justify opinions.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taste, temperature and health value with accurate adjective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Classify foods as healthy or less healthy without moralising personal choices.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short balanced food review.</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 reason with </a:t>
            </a:r>
            <a:pPr algn="l" indent="0" marL="0">
              <a:buNone/>
            </a:pPr>
            <a:r>
              <a:rPr lang="ar-SA" altLang="en-US" sz="1700" b="1" dirty="0">
                <a:solidFill>
                  <a:srgbClr val="2E8B57"/>
                </a:solidFill>
                <a:latin typeface="Amiri" pitchFamily="34" charset="0"/>
                <a:ea typeface="Amiri" pitchFamily="34" charset="-122"/>
                <a:cs typeface="Amiri" pitchFamily="34" charset="-120"/>
              </a:rPr>
              <a:t>لِأَنَّهُ</a:t>
            </a:r>
            <a:pPr algn="l" indent="0" marL="0">
              <a:buNone/>
            </a:pPr>
            <a:r>
              <a:rPr lang="en-US" sz="1300" b="1" dirty="0">
                <a:solidFill>
                  <a:srgbClr val="2E8B57"/>
                </a:solidFill>
                <a:latin typeface="Calibri" pitchFamily="34" charset="0"/>
                <a:ea typeface="Calibri" pitchFamily="34" charset="-122"/>
                <a:cs typeface="Calibri" pitchFamily="34" charset="-120"/>
              </a:rPr>
              <a:t> or </a:t>
            </a:r>
            <a:pPr algn="l" indent="0" marL="0">
              <a:buNone/>
            </a:pPr>
            <a:r>
              <a:rPr lang="ar-SA" altLang="en-US" sz="1700" b="1" dirty="0">
                <a:solidFill>
                  <a:srgbClr val="2E8B57"/>
                </a:solidFill>
                <a:latin typeface="Amiri" pitchFamily="34" charset="0"/>
                <a:ea typeface="Amiri" pitchFamily="34" charset="-122"/>
                <a:cs typeface="Amiri" pitchFamily="34" charset="-120"/>
              </a:rPr>
              <a:t>لِأَنَّهَا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four taste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two adjectives agree in one reason.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repair an agreement error.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review with </a:t>
            </a:r>
            <a:pPr algn="l" indent="0" marL="0">
              <a:buNone/>
            </a:pPr>
            <a:r>
              <a:rPr lang="ar-SA" altLang="en-US" sz="1700" b="1" dirty="0">
                <a:solidFill>
                  <a:srgbClr val="B83227"/>
                </a:solidFill>
                <a:latin typeface="Amiri" pitchFamily="34" charset="0"/>
                <a:ea typeface="Amiri" pitchFamily="34" charset="-122"/>
                <a:cs typeface="Amiri" pitchFamily="34" charset="-120"/>
              </a:rPr>
              <a:t>وَلَكِنْ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taste, health and value.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Taste and texture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Health and 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Reasons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لَذِيذٌ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‎لذیذ‎ </a:t>
            </a:r>
            <a:pPr indent="0" marL="0">
              <a:buNone/>
            </a:pPr>
            <a:r>
              <a:rPr lang="en-US" sz="950" b="1" dirty="0">
                <a:solidFill>
                  <a:srgbClr val="2E8B57"/>
                </a:solidFill>
                <a:latin typeface="Calibri" pitchFamily="34" charset="0"/>
                <a:ea typeface="Calibri" pitchFamily="34" charset="-122"/>
                <a:cs typeface="Calibri" pitchFamily="34" charset="-120"/>
              </a:rPr>
              <a:t> lazīz · delicious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beneficial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ضَارٌّ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‎مضر‎ </a:t>
            </a:r>
            <a:pPr indent="0" marL="0">
              <a:buNone/>
            </a:pPr>
            <a:r>
              <a:rPr lang="en-US" sz="950" b="1" dirty="0">
                <a:solidFill>
                  <a:srgbClr val="2E8B57"/>
                </a:solidFill>
                <a:latin typeface="Calibri" pitchFamily="34" charset="0"/>
                <a:ea typeface="Calibri" pitchFamily="34" charset="-122"/>
                <a:cs typeface="Calibri" pitchFamily="34" charset="-120"/>
              </a:rPr>
              <a:t> muzir · harmful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 → healthy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طَازَجٌ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‎تازہ‎ </a:t>
            </a:r>
            <a:pPr indent="0" marL="0">
              <a:buNone/>
            </a:pPr>
            <a:r>
              <a:rPr lang="en-US" sz="950" b="1" dirty="0">
                <a:solidFill>
                  <a:srgbClr val="2E8B57"/>
                </a:solidFill>
                <a:latin typeface="Calibri" pitchFamily="34" charset="0"/>
                <a:ea typeface="Calibri" pitchFamily="34" charset="-122"/>
                <a:cs typeface="Calibri" pitchFamily="34" charset="-120"/>
              </a:rPr>
              <a:t> tāza · fresh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Taste and texture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لَذِيذٌ / لَذِيذَةٌ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delicious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la-dhī-dhun / la-dhī-dha-tun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حُلْوٌ / حُلْوَةٌ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ḥul-wun / ḥul-wa-tun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مَالِحٌ / مَالِحَةٌ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mā-li-ḥun / mā-li-ḥa-tun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حَامِضٌ / حَامِضَةٌ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ḥā-mi-ḍun / ḥā-mi-ḍa-tun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Taste and texture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 / مُرَّةٌ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mur-run / mur-ra-tun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حَارٌّ / حَارَّةٌ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spicy / hot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ḥār-run / ḥār-ra-tun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طَازَجٌ / طَازَجَةٌ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ṭā-za-jun / ṭā-za-ja-tun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مُقَرْمِشٌ / مُقَرْمِشَةٌ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crunchy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mu-qar-mi-shun / mu-qar-mi-sha-tun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and 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 / صِحِّيَّةٌ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healthy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ṣiḥ-ḥiy-yun / ṣiḥ-ḥiy-ya-tun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صِحِّيٍّ / غَيْرُ صِحِّيَّةٍ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unhealthy / less healthy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ṣiḥ-ḥiy-yin / ghay-ru ṣiḥ-ḥiy-ya-tin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 / مُفِيدَةٌ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beneficial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mu-fī-dun / mu-fī-da-tun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ضَارٌّ / ضَارَّةٌ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harmful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ḍār-run / ḍār-ra-tun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and 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مُغَذٍّ / مُغَذِّيَةٌ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mu-ghadh-dhin / mu-ghadh-dhi-ya-tun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دَسِمٌ / دَسِمَةٌ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fatty / rich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da-si-mun / da-si-ma-tun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خَفِيفٌ / خَفِيفَةٌ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kha-fī-fun / kha-fī-fa-tun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ثَقِيلٌ / ثَقِيلَةٌ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heavy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tha-qī-lun / tha-qī-la-tun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لِأَنَّهُ</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it is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li-ʾan-na-hu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لِأَنَّهَا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it is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li-ʾan-na-hā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لِأَنَّهُمْ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 they 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li-ʾan-na-hum</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أَيْضًا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also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ay-ḍan</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AGREEMENT CHAIN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Noun → because it →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لِأَنَّهُ · لِأَنَّهَا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41879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Reason sentence</a:t>
            </a:r>
            <a:endParaRPr lang="en-US" sz="1100" dirty="0"/>
          </a:p>
        </p:txBody>
      </p:sp>
      <p:sp>
        <p:nvSpPr>
          <p:cNvPr id="18" name="Text 15"/>
          <p:cNvSpPr txBox="1"/>
          <p:nvPr/>
        </p:nvSpPr>
        <p:spPr>
          <a:xfrm>
            <a:off x="27249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Gender</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Food</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because it is fresh</a:t>
            </a:r>
            <a:endParaRPr lang="en-US" sz="1100" dirty="0"/>
          </a:p>
        </p:txBody>
      </p:sp>
      <p:sp>
        <p:nvSpPr>
          <p:cNvPr id="22" name="Text 19"/>
          <p:cNvSpPr txBox="1"/>
          <p:nvPr/>
        </p:nvSpPr>
        <p:spPr>
          <a:xfrm>
            <a:off x="4206240" y="226771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الخُبْزَ لِأَنَّ</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طَازَجٌ.</a:t>
            </a:r>
            <a:endParaRPr lang="ar-SA" sz="2400" dirty="0"/>
          </a:p>
        </p:txBody>
      </p:sp>
      <p:sp>
        <p:nvSpPr>
          <p:cNvPr id="23" name="Text 20"/>
          <p:cNvSpPr txBox="1"/>
          <p:nvPr/>
        </p:nvSpPr>
        <p:spPr>
          <a:xfrm>
            <a:off x="276148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الخُبْزُ</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because it is healthy</a:t>
            </a:r>
            <a:endParaRPr lang="en-US" sz="1100" dirty="0"/>
          </a:p>
        </p:txBody>
      </p:sp>
      <p:sp>
        <p:nvSpPr>
          <p:cNvPr id="29" name="Text 26"/>
          <p:cNvSpPr txBox="1"/>
          <p:nvPr/>
        </p:nvSpPr>
        <p:spPr>
          <a:xfrm>
            <a:off x="4206240" y="2881884"/>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السَّلَطَةَ لِأَنَّ</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صِحِّيَّ</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0" name="Text 27"/>
          <p:cNvSpPr txBox="1"/>
          <p:nvPr/>
        </p:nvSpPr>
        <p:spPr>
          <a:xfrm>
            <a:off x="276148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السَّلَطَةُ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delicious and light</a:t>
            </a:r>
            <a:endParaRPr lang="en-US" sz="1100" dirty="0"/>
          </a:p>
        </p:txBody>
      </p:sp>
      <p:sp>
        <p:nvSpPr>
          <p:cNvPr id="36" name="Text 33"/>
          <p:cNvSpPr txBox="1"/>
          <p:nvPr/>
        </p:nvSpPr>
        <p:spPr>
          <a:xfrm>
            <a:off x="4206240" y="3496056"/>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الحَسَاءَ لِأَنَّ</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لَذِيذٌ وَخَفِيفٌ.</a:t>
            </a:r>
            <a:endParaRPr lang="ar-SA" sz="2400" dirty="0"/>
          </a:p>
        </p:txBody>
      </p:sp>
      <p:sp>
        <p:nvSpPr>
          <p:cNvPr id="37" name="Text 34"/>
          <p:cNvSpPr txBox="1"/>
          <p:nvPr/>
        </p:nvSpPr>
        <p:spPr>
          <a:xfrm>
            <a:off x="276148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الحَسَاءُ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because it is bitter</a:t>
            </a:r>
            <a:endParaRPr lang="en-US" sz="1100" dirty="0"/>
          </a:p>
        </p:txBody>
      </p:sp>
      <p:sp>
        <p:nvSpPr>
          <p:cNvPr id="43" name="Text 40"/>
          <p:cNvSpPr txBox="1"/>
          <p:nvPr/>
        </p:nvSpPr>
        <p:spPr>
          <a:xfrm>
            <a:off x="4206240" y="4110228"/>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أُحِبُّ القَهْوَةَ لِأَنَّ</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مُرَّ</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4" name="Text 41"/>
          <p:cNvSpPr txBox="1"/>
          <p:nvPr/>
        </p:nvSpPr>
        <p:spPr>
          <a:xfrm>
            <a:off x="276148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القَهْوَةُ</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because it is harmful</a:t>
            </a:r>
            <a:endParaRPr lang="en-US" sz="1100" dirty="0"/>
          </a:p>
        </p:txBody>
      </p:sp>
      <p:sp>
        <p:nvSpPr>
          <p:cNvPr id="50" name="Text 47"/>
          <p:cNvSpPr txBox="1"/>
          <p:nvPr/>
        </p:nvSpPr>
        <p:spPr>
          <a:xfrm>
            <a:off x="4206240" y="4724400"/>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آكُلُ السُّكَّرَ كَثِيرًا لِأَنَّ</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ضَارٌّ.</a:t>
            </a:r>
            <a:endParaRPr lang="ar-SA" sz="2400" dirty="0"/>
          </a:p>
        </p:txBody>
      </p:sp>
      <p:sp>
        <p:nvSpPr>
          <p:cNvPr id="51" name="Text 48"/>
          <p:cNvSpPr txBox="1"/>
          <p:nvPr/>
        </p:nvSpPr>
        <p:spPr>
          <a:xfrm>
            <a:off x="276148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52" name="Text 49"/>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السُّكَّرُ</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sweet and beneficial</a:t>
            </a:r>
            <a:endParaRPr lang="en-US" sz="1100" dirty="0"/>
          </a:p>
        </p:txBody>
      </p:sp>
      <p:sp>
        <p:nvSpPr>
          <p:cNvPr id="55" name="Text 52"/>
          <p:cNvSpPr txBox="1"/>
          <p:nvPr/>
        </p:nvSpPr>
        <p:spPr>
          <a:xfrm>
            <a:off x="4206240" y="5338572"/>
            <a:ext cx="4937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أُحِبُّ الفَاكِهَةَ لِأَنَّ</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حُلْوَ</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وَمُفِيدَ</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56" name="Text 53"/>
          <p:cNvSpPr txBox="1"/>
          <p:nvPr/>
        </p:nvSpPr>
        <p:spPr>
          <a:xfrm>
            <a:off x="276148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
            </a:r>
            <a:endParaRPr lang="en-US" sz="1100" dirty="0"/>
          </a:p>
        </p:txBody>
      </p:sp>
      <p:sp>
        <p:nvSpPr>
          <p:cNvPr id="57" name="Text 54"/>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الفَاكِهَةُ</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Step 1: is the food m. or f.? Step 2: li-annahu or li-annahā. Step 3: the adjective matches (add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for f.).</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2 · AGREEMENT FOLLOWS THE NOUN (WEBSITE RULES 3 AND 4)</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reasons, one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TWO REASONS · m.</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وَ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أُفَضِّلُ السَّمَكَ لِأَنَّهُ لَذِيذٌ وَصِحِّيٌّ.</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fish because it is delicious and healthy.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adjectives masculine.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NOT THE SPEAKER!</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مَرْيَمُ: الخُبْزُ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تَقُولُ مَرْيَمُ: الخُبْزُ طَازَجٌ.</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Maryam says: the bread is fresh.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girl speaks — the bread is still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BALANCED OPINION</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رَأْيِي … وَلَكِنْ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رَأْيِي، الفَاكِهَةُ مُغَذِّيَةٌ، وَلَكِنَّ الكَعْكَ حُلْوٌ جِدًّا.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opinion, fruit is nutritious, but cake is very sweet.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Opinion + contrast.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bread is masculine, so the adjective has no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الخُبْزُ طَازَجٌ.</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الخُبْزُ طَازَجَةٌ.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السَّبَبُ وَمُطَابَقَةُ الصِّفَةِ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Give a reason for a masculine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 صِفَةٌ مُذَكَّرَةٌ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الخُبْزَ لِأَنَّهُ طَازَجٌ.   ·   لَا أُحِبُّ السُّكَّرَ لِأَنَّهُ ضَارٌّ.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Give a reason for a feminine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لِأَنَّهَا + صِفَةٌ مُؤَنَّثَةٌ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السَّلَطَةَ لِأَنَّهَا صِحِّيَّةٌ.   ·   لَا أُحِبُّ القَهْوَةَ لِأَنَّهَا مُرَّةٌ.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Describe taste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لَذِيذٌ / لَذِيذَةٌ · مَالِحٌ / مَالِحَةٌ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الحَسَاءُ لَذِيذٌ.   ·   الشُّورْبَةُ لَذِيذَةٌ.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Join two reasons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لِأَنَّهُ... وَ...</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السَّمَكَ لِأَنَّهُ لَذِيذٌ وَصِحِّيٌّ.   ·   أُحِبُّ الفَاكِهَةَ لِأَنَّهَا حُلْوَةٌ وَمُفِيدَةٌ.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الحَسَاءَ ___ لَذِيذٌ.</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السَّلَطَةَ لِأَنَّهَا ___.</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agreement?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مُرَّانِ.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reason for </a:t>
            </a:r>
            <a:pPr algn="l" indent="0" marL="0">
              <a:buNone/>
            </a:pPr>
            <a:r>
              <a:rPr lang="ar-SA" altLang="en-US" sz="1650" b="1" dirty="0">
                <a:solidFill>
                  <a:srgbClr val="1B3B6F"/>
                </a:solidFill>
                <a:latin typeface="Amiri" pitchFamily="34" charset="0"/>
                <a:ea typeface="Amiri" pitchFamily="34" charset="-122"/>
                <a:cs typeface="Amiri" pitchFamily="34" charset="-120"/>
              </a:rPr>
              <a:t>الخُبْزُ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طَازَجٌ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طَازَجَةٌ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لِأَنَّهُمْ طَازَجُونَ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الحَسَاءَ ___ لَذِيذٌ.</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الحَسَاءُ</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أُفَضِّلُ السَّلَطَةَ لِأَنَّهَا ___.</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agrees with feminine </a:t>
            </a:r>
            <a:pPr algn="l" indent="0" marL="0">
              <a:buNone/>
            </a:pPr>
            <a:r>
              <a:rPr lang="ar-SA" altLang="en-US" sz="1350" dirty="0">
                <a:solidFill>
                  <a:srgbClr val="8A6D1E"/>
                </a:solidFill>
                <a:latin typeface="Amiri" pitchFamily="34" charset="0"/>
                <a:ea typeface="Amiri" pitchFamily="34" charset="-122"/>
                <a:cs typeface="Amiri" pitchFamily="34" charset="-120"/>
              </a:rPr>
              <a:t>سَلَطَةٌ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agreement?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 مُرَّةٌ.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مُرَّانِ.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القَهْوَةُ</a:t>
            </a:r>
            <a:pPr algn="l" indent="0" marL="0">
              <a:buNone/>
            </a:pPr>
            <a:r>
              <a:rPr lang="en-US" sz="1050" i="1" dirty="0">
                <a:solidFill>
                  <a:srgbClr val="8A6D1E"/>
                </a:solidFill>
                <a:latin typeface="Calibri" pitchFamily="34" charset="0"/>
                <a:ea typeface="Calibri" pitchFamily="34" charset="-122"/>
                <a:cs typeface="Calibri" pitchFamily="34" charset="-120"/>
              </a:rPr>
              <a:t> is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reason for </a:t>
            </a:r>
            <a:pPr algn="l" indent="0" marL="0">
              <a:buNone/>
            </a:pPr>
            <a:r>
              <a:rPr lang="ar-SA" altLang="en-US" sz="1650" b="1" dirty="0">
                <a:solidFill>
                  <a:srgbClr val="1B3B6F"/>
                </a:solidFill>
                <a:latin typeface="Amiri" pitchFamily="34" charset="0"/>
                <a:ea typeface="Amiri" pitchFamily="34" charset="-122"/>
                <a:cs typeface="Amiri" pitchFamily="34" charset="-120"/>
              </a:rPr>
              <a:t>الخُبْزُ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طَازَجٌ</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طَازَجَةٌ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لِأَنَّهُمْ طَازَجُونَ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noun →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and masculine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write a mini food review</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Opinion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رَأْيِي، الحَسَاءُ لَذِيذٌ لِأَنَّ</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دَافِئٌ وَخَفِيفٌ.</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Soup = m. → -hu, no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Like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أُحِبُّ السَّلَطَةَ لِأَنَّ</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طَازَجَ</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وَصِحِّيَّ</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Salad = f. → -hā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Dislike (f.)</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لَا أُحِبُّ القَهْوَةَ لِأَنَّ</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مُرَّ</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Coffee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But (m.)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عَصِيرَ اللَّيْمُونِ لِأَنَّ</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مُنْعِشٌ.</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Contrast · juice =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فِي رَأْيِي، الحَسَاءُ لَذِيذٌ لِأَنَّ</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دَافِئٌ وَخَفِيفٌ. أُحِبُّ السَّلَطَةَ لِأَنَّ</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طَازَجَ</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وَصِحِّيَّ</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لَا أُحِبُّ القَهْوَةَ لِأَنَّ</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مُرَّ</a:t>
            </a:r>
            <a:pPr rtl="1" algn="r" indent="0" marL="0">
              <a:lnSpc>
                <a:spcPct val="120000"/>
              </a:lnSpc>
              <a:buNone/>
            </a:pPr>
            <a:r>
              <a:rPr lang="ar-SA" altLang="en-US" sz="16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650" b="1" dirty="0">
                <a:solidFill>
                  <a:srgbClr val="0E7C86"/>
                </a:solidFill>
                <a:latin typeface="Amiri" pitchFamily="34" charset="0"/>
                <a:ea typeface="Amiri" pitchFamily="34" charset="-122"/>
                <a:cs typeface="Amiri" pitchFamily="34" charset="-120"/>
              </a:rPr>
              <a:t>وَلَكِنِّي</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أُحِبُّ عَصِيرَ اللَّيْمُونِ لِأَنَّ</a:t>
            </a:r>
            <a:pPr rtl="1" algn="r" indent="0" marL="0">
              <a:lnSpc>
                <a:spcPct val="120000"/>
              </a:lnSpc>
              <a:buNone/>
            </a:pPr>
            <a:r>
              <a:rPr lang="ar-SA" altLang="en-US" sz="165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 مُنْعِشٌ.</a:t>
            </a:r>
            <a:endParaRPr lang="ar-SA" sz="16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my opinion, the soup is delicious because it is warm and light. I like salad because it is fresh and healthy. I don’t like coffee because it is bitter, but I like lemon juice because it is refreshing.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الحَسَاءَ لِأَنَّهُ لَذِيذٌ وَخَفِيفٌ.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soup because it is delicious and light.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حَسَاءٌ is masculine → لِأَنَّهُ + masculine adjectives.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السَّلَطَةَ لِأَنَّهَا صِحِّيَّةٌ وَطَازَجَةٌ.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salad because it is healthy and fresh.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سَلَطَةٌ is feminine → لِأَنَّهَا + feminine adjectives.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أُحِبُّ القَهْوَةَ لِأَنَّهَا مُرَّةٌ.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like coffee because it is bitter.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Agreement follows the noun, not the speaker.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رَأْيِي، الفَاكِهَةُ مُغَذِّيَةٌ، وَلٰكِنَّ الكَعْكَ حُلْوٌ جِدًّا.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my opinion, fruit is nutritious, but cake is very sweet.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contrast to make a balanced opinion.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GIVING REASONS: TASTE AND HEALTH”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Reasons: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 healthy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useful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chips · not healthy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آكُلُ البَطَاطَا المَقْلِيَّةَ كَثِيرًا لِأَنَّهَا غَيْرُ صِحِّيَّةٍ.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السَّلَطَةَ لِأَنَّهَا صِحِّيَّةٌ.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لِأَنَّهَا مُفِيدَةٌ.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 healthy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السَّلَطَةَ لِأَنَّهَا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salad because it is healthy.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useful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لِأَنَّهَا مُفِيدَةٌ.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 because it is useful.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chips · not healthy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لَا آكُلُ البَطَاطَا المَقْلِيَّةَ كَثِيرًا لِأَنَّهَا غَيْرُ صِحِّيَّةٍ.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don’t eat chips a lot because they are unhealthy.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الخُبْزُ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السَّلَطَةُ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القَهْوَةُ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العَصِيرُ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الفَاكِهَةُ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الشُّوكُولَاتَةُ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لِأَنَّهُ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لِأَنَّهَا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لِأَنَّهُ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الخُبْزُ</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العَصِيرُ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لِأَنَّهَا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السَّلَطَةُ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القَهْوَةُ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الفَاكِهَةُ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الشُّوكُولَاتَةُ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controls adjective agreement?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gender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noun being described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phrase</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chain is fully masculine?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لِأَنَّهَا طَازَجَةٌ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لِأَنَّهُ طَازَجٌ</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لِأَنَّهُ طَازَجَةٌ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contrast?</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controls adjective agreement?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gender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noun being described</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phrase</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agrees with its noun.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chain is fully masculine?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الخُبْزُ لِأَنَّهَا طَازَجَةٌ</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الخُبْزُ لِأَنَّهُ طَازَجٌ</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الخُبْزُ لِأَنَّهُ طَازَجَةٌ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 masculine adjective.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السَّلَطَةَ لِأَنَّهُ صِحِّيٌّ.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salad m. or f.?</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القَهْوَةُ مُرٌّ.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Coffee is feminine: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الخُبْزُ طَازَجَةٌ.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bread m. or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السَّلَطَةَ لِأَنَّهُ صِحِّيٌّ.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السَّلَطَةَ لِأَنَّهَا صِحِّيَّةٌ.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سَلَطَةٌ</a:t>
            </a:r>
            <a:pPr algn="l" indent="0" marL="0">
              <a:buNone/>
            </a:pPr>
            <a:r>
              <a:rPr lang="en-US" sz="1150" b="1" dirty="0">
                <a:solidFill>
                  <a:srgbClr val="1B3B6F"/>
                </a:solidFill>
                <a:latin typeface="Calibri" pitchFamily="34" charset="0"/>
                <a:ea typeface="Calibri" pitchFamily="34" charset="-122"/>
                <a:cs typeface="Calibri" pitchFamily="34" charset="-120"/>
              </a:rPr>
              <a:t> is feminine, so both the pronoun and adjective are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القَهْوَةُ مُرٌّ.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القَهْوَةُ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قَهْوَةٌ</a:t>
            </a:r>
            <a:pPr algn="l" indent="0" marL="0">
              <a:buNone/>
            </a:pPr>
            <a:r>
              <a:rPr lang="en-US" sz="1150" b="1" dirty="0">
                <a:solidFill>
                  <a:srgbClr val="1B3B6F"/>
                </a:solidFill>
                <a:latin typeface="Calibri" pitchFamily="34" charset="0"/>
                <a:ea typeface="Calibri" pitchFamily="34" charset="-122"/>
                <a:cs typeface="Calibri" pitchFamily="34" charset="-120"/>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الخُبْزُ طَازَجَةٌ.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الخُبْزُ طَازَجٌ.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خُبْزٌ</a:t>
            </a:r>
            <a:pPr algn="l" indent="0" marL="0">
              <a:buNone/>
            </a:pPr>
            <a:r>
              <a:rPr lang="en-US" sz="1150" b="1" dirty="0">
                <a:solidFill>
                  <a:srgbClr val="1B3B6F"/>
                </a:solidFill>
                <a:latin typeface="Calibri" pitchFamily="34" charset="0"/>
                <a:ea typeface="Calibri" pitchFamily="34" charset="-122"/>
                <a:cs typeface="Calibri" pitchFamily="34" charset="-120"/>
              </a:rPr>
              <a:t> is masculine.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reason do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salad liked?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fresh and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hot and salty.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sweet and heavy.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soup preferred?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cold and fresh.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spicy and heavy.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warm and light.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coffee disliked?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fatty.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bitter.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dates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sweet and nutritious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salty and harmful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sour and light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لِأَنَّهَا / لِأَنَّهُ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the adjective.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السَّلَطَةَ لِأَنَّهَا طَازَجَةٌ وَصِحِّيَّةٌ.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salad because it is fresh and healthy.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الحَسَاءَ لِأَنَّهُ دَافِئٌ وَخَفِيفٌ.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 soup because it is warm and light.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القَهْوَةَ لِأَنَّهَا مُرَّةٌ.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coffee because it is bitter.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التَّمْرَ لِأَنَّهُ حُلْوٌ وَمُغَذٍّ.</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dates because they are sweet and nutritious.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salad liked?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fresh and healthy.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hot and salty.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sweet and heavy.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طَازَجَةٌ وَصِحِّيَّةٌ.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soup preferred?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cold and fresh.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spicy and heavy.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warm and light.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دَافِئٌ وَخَفِيفٌ.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coffee disliked?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fatty.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bitter.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مُرَّةٌ</a:t>
            </a:r>
            <a:pPr algn="l" indent="0" marL="0">
              <a:buNone/>
            </a:pPr>
            <a:r>
              <a:rPr lang="en-US" sz="1050" i="1" dirty="0">
                <a:solidFill>
                  <a:srgbClr val="8A6D1E"/>
                </a:solidFill>
                <a:latin typeface="Calibri" pitchFamily="34" charset="0"/>
                <a:ea typeface="Calibri" pitchFamily="34" charset="-122"/>
                <a:cs typeface="Calibri" pitchFamily="34" charset="-120"/>
              </a:rPr>
              <a:t> means bitter.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dates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sweet and nutritious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salty and harmful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sour and light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حُلْوٌ وَمُغَذٍّ.</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لِأَنَّهَا / لِأَنَّهُ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the adjective.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critic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تُحِبُّ هٰذَا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هٰذِهِ الوَجْبَةُ صِحِّيَّةٌ؟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مَذَاقُ القَهْوَةِ / العَصِيرِ؟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أَيُّهُمَا أَخَفُّ: الحَسَاءُ أَمِ البِيتْزَا؟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___ لِأَنَّهُ / لِأَنَّهَا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 لَا، لِأَنَّهَا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القَهْوَةُ مُرَّةٌ · العَصِيرُ حُلْوٌ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___ أَخَفُّ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تُفَضِّلِينَ السَّلَطَةَ؟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you (f.) prefer salad?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لِأَنَّهَا طَازَجَةٌ وَصِحِّيَّةٌ.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Because it is fresh and healthy.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six reason sentences by choosing masculine or feminine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foods, one reason each: choose li-annahu or li-annahā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and justify opinions about four foods without a sentence frame.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review three foods or drinks with one reason each, one positive and one negative.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balanced café review that evaluates taste, health and value using contrasting viewpoints.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balanced café review: taste, health and value, with in my opinion … but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لَذِيذٌ / لَذِيذَةٌ.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is delicious.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وَلَكِنِّي أُحِبُّ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I like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العَصِيرُ حُلْوٌ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juice is very sweet.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آكُلُ ______ كَثِيرًا لِأَنَّهُ غَيْرُ صِحِّيٍّ.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eat … a lot because it is not healthy.</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it (m.)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because it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القَهْوَةَ لِأَنَّهَا مُرَّةٌ.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coffee because it is bitter.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الخُبْزُ طَازَجٌ.</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bread is fresh.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السَّلَطَةُ صِحِّيَّةٌ.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salad is healthy.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لِأَنَّهُ  ·  لِأَنَّهَا  ·  لَذِيذٌ  ·  لَذِيذَةٌ  ·  حُلْوٌ  ·  حُلْوَةٌ  ·  مَالِحٌ  ·  مُرَّةٌ  ·  طَازَجٌ  ·  صِحِّيَّةٌ  ·  فِي رَأْيِي  ·  وَلَكِنْ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short review of three foods or drinks. Give a clear opinion and at least one accurate reason for each.</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Choose </a:t>
            </a:r>
            <a:pPr algn="l" indent="0" marL="0">
              <a:buNone/>
            </a:pPr>
            <a:r>
              <a:rPr lang="ar-SA" altLang="en-US" sz="1550" dirty="0">
                <a:solidFill>
                  <a:srgbClr val="1F2A37"/>
                </a:solidFill>
                <a:latin typeface="Amiri" pitchFamily="34" charset="0"/>
                <a:ea typeface="Amiri" pitchFamily="34" charset="-122"/>
                <a:cs typeface="Amiri" pitchFamily="34" charset="-120"/>
              </a:rPr>
              <a:t>لِأَنَّهُ</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لِأَنَّهَا</a:t>
            </a:r>
            <a:pPr algn="l" indent="0" marL="0">
              <a:buNone/>
            </a:pPr>
            <a:r>
              <a:rPr lang="en-US" sz="1200" dirty="0">
                <a:solidFill>
                  <a:srgbClr val="1F2A37"/>
                </a:solidFill>
                <a:latin typeface="Calibri" pitchFamily="34" charset="0"/>
                <a:ea typeface="Calibri" pitchFamily="34" charset="-122"/>
                <a:cs typeface="Calibri" pitchFamily="34" charset="-120"/>
              </a:rPr>
              <a:t> from the noun gender.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Make every adjective agree.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positive and one negative judgement.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فِي رَأْيِي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 to connect ideas.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مَقْهًى صَغِيرًا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visited a small café</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أَكَلْتُ حَسَاءَ العَدَسِ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ate lentil soup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العَصِيرُ حُلْوًا جِدًّا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juice was very sweet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بَارِدًا وَمُنْعِشًا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cold and refreshing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الوَجْبَةُ جَيِّدَةٌ وَمُتَوَازِنَةٌ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meal is good and balanced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رَأْيِي، الحَسَاءُ لَذِيذٌ لِأَنَّهُ دَافِئٌ وَخَفِيفٌ. أُحِبُّ السَّلَطَةَ لِأَنَّهَا طَازَجَةٌ وَصِحِّيَّةٌ. لَا أُحِبُّ القَهْوَةَ لِأَنَّهَا مُرَّةٌ، وَلٰكِنِّي أُحِبُّ عَصِيرَ اللَّيْمُونِ لِأَنَّهُ مُنْعِشٌ.</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opinion, the soup is delicious because it is warm and light. I like salad because it is fresh and healthy. I don’t like coffee because it is bitter, but I like lemon juice because it is refreshing.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 my opinion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masculine reason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reason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opinion has a reason.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is the food m. or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Pronoun and adjective BOTH agree.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positive and one negative judgement.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 my opinion … but … to balance.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“delicious”.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لَذِيذَةٌ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لَذِيذٌ</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justified opinion?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السَّمَكَ لِأَنَّهُ مُفِيدٌ.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السَّمَكُ فِي الطَّبَقِ.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means nutritious?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مُغَذٍّ</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مَالِحٌ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form of “delicious”.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لَذِيذَةٌ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لَذِيذٌ</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لَذِيذَةٌ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justified opinion?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أُحِبُّ السَّمَكَ.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 السَّمَكَ لِأَنَّهُ مُفِيدٌ.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السَّمَكُ فِي الطَّبَقِ.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contains an opinion and a reason.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means nutritious?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مُغَذٍّ</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ضَارٌّ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مَالِحٌ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مُغَذٍّ</a:t>
            </a:r>
            <a:pPr algn="l" indent="0" marL="0">
              <a:buNone/>
            </a:pPr>
            <a:r>
              <a:rPr lang="en-US" sz="1050" i="1" dirty="0">
                <a:solidFill>
                  <a:srgbClr val="8A6D1E"/>
                </a:solidFill>
                <a:latin typeface="Calibri" pitchFamily="34" charset="0"/>
                <a:ea typeface="Calibri" pitchFamily="34" charset="-122"/>
                <a:cs typeface="Calibri" pitchFamily="34" charset="-120"/>
              </a:rPr>
              <a:t> means nutritious.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balanced café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زُرْتُ مَقْهًى صَغِيرًا مَعَ أُسْرَتِي. أَكَلْتُ حَسَاءَ العَدَسِ، وَأَحْبَبْتُهُ لِأَنَّهُ دَافِئٌ وَلَذِيذٌ. أَخَذَتْ أُخْتِي سَلَطَةً طَازَجَةً لِأَنَّهَا تُفَضِّلُ الطَّعَامَ الخَفِيفَ. كَانَ العَصِيرُ حُلْوًا جِدًّا، وَلٰكِنَّ المَاءَ كَانَ بَارِدًا وَمُنْعِشًا. فِي رَأْيِي، الوَجْبَةُ جَيِّدَةٌ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زُرْتُ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visited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مَقْهًى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café</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أَكَلْتُ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ate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حَسَاءَ العَدَسِ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lentil soup</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أَحْبَبْتُهُ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liked 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أَخَذَتْ أُخْتِي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sister took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 … حُلْوًا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was … sweet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بَارِدًا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مُنْعِشًا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refreshing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visited the café?</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alone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with family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with friends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like lentil soup?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and light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sweet and cold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warm and delicious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sister choose salad?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prefers light food.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prefers spicy food.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vegetables.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criticism is made of the juice?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bitter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sweet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warm</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whole meal described?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and balanced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and small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heavy and harmful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visited the café?</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alone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 with family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with friends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مَعَ أُسْرَتِي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like lentil soup?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fresh and light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sweet and cold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warm and delicious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دَافِئٌ وَلَذِيذٌ.</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sister choose salad?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prefers light food.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prefers spicy food.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vegetables.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تُفَضِّلُ الطَّعَامَ الخَفِيفَ.</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criticism is made of the juice?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bitter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too sweet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warm</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حُلْوًا جِدًّا.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whole meal described?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good and balanced</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and small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heavy and harmful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جَيِّدَةٌ وَمُتَوَازِنَةٌ.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F5-L04 · Taste and Health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F5-L05 · Ordering Food Politely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want</a:t>
            </a:r>
            <a:pPr indent="0" marL="0">
              <a:buNone/>
            </a:pPr>
            <a:r>
              <a:rPr lang="en-US" sz="1000" i="1" dirty="0">
                <a:solidFill>
                  <a:srgbClr val="5A6472"/>
                </a:solidFill>
                <a:latin typeface="Calibri" pitchFamily="34" charset="0"/>
                <a:ea typeface="Calibri" pitchFamily="34" charset="-122"/>
                <a:cs typeface="Calibri" pitchFamily="34" charset="-120"/>
              </a:rPr>
              <a:t>  she: تُرِيدُ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فَضْلِكَ / مِنْ فَضْلِكِ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 (m. /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menu</a:t>
            </a:r>
            <a:pPr indent="0" marL="0">
              <a:buNone/>
            </a:pPr>
            <a:r>
              <a:rPr lang="en-US" sz="1000" i="1" dirty="0">
                <a:solidFill>
                  <a:srgbClr val="5A6472"/>
                </a:solidFill>
                <a:latin typeface="Calibri" pitchFamily="34" charset="0"/>
                <a:ea typeface="Calibri" pitchFamily="34" charset="-122"/>
                <a:cs typeface="Calibri" pitchFamily="34" charset="-120"/>
              </a:rPr>
              <a:t>  pl. قَوَائِمُ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نَادِلٌ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waiter</a:t>
            </a:r>
            <a:pPr indent="0" marL="0">
              <a:buNone/>
            </a:pPr>
            <a:r>
              <a:rPr lang="en-US" sz="1000" i="1" dirty="0">
                <a:solidFill>
                  <a:srgbClr val="5A6472"/>
                </a:solidFill>
                <a:latin typeface="Calibri" pitchFamily="34" charset="0"/>
                <a:ea typeface="Calibri" pitchFamily="34" charset="-122"/>
                <a:cs typeface="Calibri" pitchFamily="34" charset="-120"/>
              </a:rPr>
              <a:t>  f. نَادِلَةٌ · pl. نُدُلٌ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الحِسَابُ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bill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are in a café. How would you ask for water politely?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أُرِيدُ … مِنْ فَضْلِكَ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F5-L04: the vocabulary tab and the “Masculine or feminine reason?”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review three foods or drinks with one reason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balanced café review (taste, health, value) in 6–8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F5-L05 · Ordering Food Politely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طَلَبُ الطَّعَامِ بِأَدَبٍ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food m. → </a:t>
            </a:r>
            <a:pPr algn="l" indent="0" marL="0">
              <a:buNone/>
            </a:pPr>
            <a:r>
              <a:rPr lang="ar-SA" altLang="en-US" sz="1700" b="1" dirty="0">
                <a:solidFill>
                  <a:srgbClr val="FFFFFF"/>
                </a:solidFill>
                <a:latin typeface="Amiri" pitchFamily="34" charset="0"/>
                <a:ea typeface="Amiri" pitchFamily="34" charset="-122"/>
                <a:cs typeface="Amiri" pitchFamily="34" charset="-120"/>
              </a:rPr>
              <a:t>لِأَنَّهُ</a:t>
            </a:r>
            <a:pPr algn="l" indent="0" marL="0">
              <a:buNone/>
            </a:pPr>
            <a:r>
              <a:rPr lang="en-US" sz="1300" b="1" dirty="0">
                <a:solidFill>
                  <a:srgbClr val="FFFFFF"/>
                </a:solidFill>
                <a:latin typeface="Calibri" pitchFamily="34" charset="0"/>
                <a:ea typeface="Calibri" pitchFamily="34" charset="-122"/>
                <a:cs typeface="Calibri" pitchFamily="34" charset="-120"/>
              </a:rPr>
              <a:t> + no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 food f. → </a:t>
            </a:r>
            <a:pPr algn="l" indent="0" marL="0">
              <a:buNone/>
            </a:pPr>
            <a:r>
              <a:rPr lang="ar-SA" altLang="en-US" sz="1700" b="1" dirty="0">
                <a:solidFill>
                  <a:srgbClr val="FFFFFF"/>
                </a:solidFill>
                <a:latin typeface="Amiri" pitchFamily="34" charset="0"/>
                <a:ea typeface="Amiri" pitchFamily="34" charset="-122"/>
                <a:cs typeface="Amiri" pitchFamily="34" charset="-120"/>
              </a:rPr>
              <a:t>لِأَنَّهَا</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F5-L04 · Giving Reasons: Taste and Health</dc:title>
  <dc:subject>PptxGenJS Presentation</dc:subject>
  <dc:creator>Al Madina Online School · Arabic Department</dc:creator>
  <cp:lastModifiedBy>Al Madina Online School · Arabic Department</cp:lastModifiedBy>
  <cp:revision>1</cp:revision>
  <dcterms:created xsi:type="dcterms:W3CDTF">2026-09-27T21:42:38Z</dcterms:created>
  <dcterms:modified xsi:type="dcterms:W3CDTF">2026-09-27T21:42:38Z</dcterms:modified>
</cp:coreProperties>
</file>