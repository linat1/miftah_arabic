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F5-L09. The website lesson “At the Doctor and Pharmacy”: vocabulary, grammar rules and quiz, patterns, common mistakes, sorter, listening, reading, speaking prompts and model, writing task and model, differentiation, final check and the lesson mission. Picture match: website visual game “At the Doctor and Pharmacy”.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complete a doctor dialogue from the phrase bank and identify three instructions (اِفْتَحْ فَمَكَ · اِسْتَرِحْ · اِشْرَبِ المَاءَ).
• Develop: a role play with symptom, duration, examination and advice (يَجِبُ أَنْ …).
• Stretch: switch between doctor and pharmacy and handle an unplanned follow-up question (مَتَى آخُذُ الدَّوَاءَ؟ بَعْدَ الأَكْلِ؟).
• Website: “The doctor or pharmacist needs specific information: symptom, location, duration and any relevant cause. Give one detail at a time.”
• Safeguarding (website): “Advice in this lesson is language practice and deliberately general. It does not replace professional medical assessment.” Use invented role cards only.
• Imperatives change for a female patient: اِسْتَرِحْ → اِسْتَرِيحِي، خُذْ → خُذِي — a great listening check.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F5-L08. Questions 3–5 retrieve F5-L08 (pain + fī, mundhu, ashʿuru bi-).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Patient: what + where + since when. Doctor: you should … and take … twice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طبیب (as in Unani medicine) and دوا are identical. شفا (healing) → مُسْتَشْفًى “the place where healing is sought” (and شفاخانہ). عیادت (visiting the sick — a sunnah) → عِيَادَةٌ (clinic). وعدہ (promise) shares its root with مَوْعِدٌ (an appointment: a “promised”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places (website vocabulary (1 of 2)). Hear → Say → See → Use. Transliteration is printed for Core students (cover it for Develop/Stretch).
People have m / f / pl forms on the cards. Places: مُسْتَشْفًى (hospital), عِيَادَةٌ (clinic), صَيْدَلِيَّةٌ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places (website vocabulary (2 of 2)). Hear → Say → See → Use. Transliteration is printed for Core students (cover it for Develop/Stretch).
People have m / f / pl forms on the cards. Places: مُسْتَشْفًى (hospital), عِيَادَةٌ (clinic), صَيْدَلِيَّةٌ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Treatment and appointment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Treatment and appointment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Advice and instructions (website vocabulary (1 of 2)). Hear → Say → See → Use. Transliteration is printed for Core students (cover it for Develop/Stretch).
FLEX: teach if time allows; otherwise these are on the website vocabulary tab for homework.
FLEX: imperatives (commands) for a boy / a girl / a group. The girl form adds -ī: اِشْرَبِي، خُذِي، اِسْتَرِيحِي. They are also on the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Advice and instructions (website vocabulary (2 of 2)). Hear → Say → See → Use. Transliteration is printed for Core students (cover it for Develop/Stretch).
FLEX: teach if time allows; otherwise these are on the website vocabulary tab for homework.
FLEX: imperatives (commands) for a boy / a girl / a group. The girl form adds -ī: اِشْرَبِي، خُذِي، اِسْتَرِيحِي. They are also on the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“Give essential advice” (يَجِبُ أَنْ + verb) and “Join two actions” (repeat أَنْ: يَجِبُ أَنْ تَسْتَرِيحَ وَأَنْ تَنَامَ مُبَكِّرًا).
Website pattern tip: “After أَنْ, use the appropriate subjunctive form; at Foundation, learn the whole advice chunk.”
Website common error: يَجِبُ أَنْ تَسْتَرِيحُ ✗ → تَسْتَرِيحَ ✓ (the F4-L06 rule from school rules — same structure!).
Imperatives: اِسْتَرِحْ / اِسْتَرِيحِي · اِشْرَبْ / اِشْرَبِي · خُذْ / خُذِي · اِفْتَحْ / اِفْتَحِي · تَنَفَّسْ / تَنَفَّسِي بِعُمْقٍ.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“Request medicine” (أُرِيدُ دَوَاءً لِـ … — the medicine is the object, -an; لِـ gives the purpose) and “Give dosage frequency” (مَرَّةً / مَرَّتَيْنِ فِي اليَوْمِ).
Website mistake: أُرِيدُ دَوَاءٌ ✗ → أُرِيدُ دَوَاءً ✓ (F5-L05: the item after أُرِيدُ takes -an).
Three times a day: ثَلَاثَ مَرَّاتٍ فِي اليَوْمِ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the advice frame يَجِبُ أَنْ followed by a verb. The verb form after أَنْ is learned and practised as a complete useful chunk.”
• Give essential advice: Use this frame for an important medical or health recommendation.
• Join two actions: Repeat أَنْ before the second verb when joining two pieces of advice.
• Request medicine: The medicine is a direct object; لِـ introduces the symptom or purpose.
• Give dosage frequency: Use the accusative dual مَرَّتَيْنِ in this time expression.
Website common error: Keep أَنْ in the advice frame and use the taught ending: يَجِبُ أَنْ تَسْتَرِيحَ.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2,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10-line model consultation. Perform it with a confident student (you are the doctor), then repeat with a “female patient” so the class hears اِفْتَحِي فَمَكِ، يَجِبُ أَنْ تَسْتَرِيحِي، خُذِي.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At the Doctor and Pharmacy”)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items: هُوَ فِي المُسْتَشْفَى · يَجِبُ أَنْ تَرْتَاحَ وَتَشْرَبَ المَاءَ (تَرْتَاحَ = تَسْتَرِيحَ, both mean rest) · يَضَعُ ضِمَادًا عَلَى يَدِهِ.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At the Doctor and Pharmacy”)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items: هُوَ فِي المُسْتَشْفَى · يَجِبُ أَنْ تَرْتَاحَ وَتَشْرَبَ المَاءَ (تَرْتَاحَ = تَسْتَرِيحَ, both mean rest) · يَضَعُ ضِمَادًا عَلَى يَدِهِ.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need by the most suitable first destination.
Ask “why?” for each: a broken arm or a high fever needs a clinic or hospital; medicine for a headache or a bandage comes from the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need by the most suitable first destination.
Ask “why?” for each: a broken arm or a high fever needs a clinic or hospital; medicine for a headache or a bandage comes from the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then list the doctor’s four instructions.
Listen 1: just listen. Listen 2: note answers. Then chat the letters.
Support: after the second listening, show the read-along slide (Arabic + English, line by line) for Core students.
SCRIPT (read aloud):
الطَّبِيبَةُ: مَا المُشْكِلَةُ؟ المَرِيضُ: عِنْدِي حُمَّى وَسُعَالٌ مُنْذُ يَوْمَيْنِ، وَأَشْعُرُ بِأَلَمٍ فِي الحَلْقِ. الطَّبِيبَةُ: سَأَفْحَصُ دَرَجَةَ حَرَارَتِكَ. اِفْتَحْ فَمَكَ وَتَنَفَّسْ بِعُمْقٍ. يَجِبُ أَنْ تَسْتَرِيحَ وَأَنْ تَشْرَبَ مَاءً كَثِيرًا. خُذْ هٰذَا الدَّوَاءَ مَرَّتَيْنِ فِي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الطَّبِيبَةُ: يَجِبُ أَنْ تَسْتَرِيحِي وَأَنْ تَشْرَبِي المَاءَ. (You should rest and drink water.)
المَرِيضَةُ: شُكْرًا. كَمْ مَرَّةً آخُذُ الدَّوَاءَ؟ (Thank you. How many times do I take the medicine?)
Website “Doctor or pharmacy role play” — the five website prompts (English on the website): state the problem and duration · answer where the pain is / how you feel · understand and repeat one instruction · ask how often to take the medicine · thank and close.
Website model (female doctor, female patient): مَا المُشْكِلَةُ؟ — عِنْدِي صُدَاعٌ وَحُمَّى مُنْذُ أَمْسِ. — يَجِبُ أَنْ تَسْتَرِيحِي وَأَنْ تَشْرَبِي المَاءَ. — شُكْرًا. كَمْ مَرَّةً آخُذُ الدَّوَاءَ؟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a doctor dialogue from a phrase bank and identify three instructions. · Develop — Perform a role play with symptom, duration, examination and advice. · Stretch — Switch between doctor and pharmacy contexts and handle an unplanned follow-up question.
Website writing task (Stretch): Write a complete 10-line consultation between a healthcare professional and patient. Include symptoms, duration, one examination instruction, two pieces of advice and medicine frequency.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عِنْدِي سُعَالٌ … مُنْذُ يَوْمَيْنِ · اِفْتَحْ فَمَكَ · يَجِبُ أَنْ تَسْتَرِيحَ وَأَنْ تَشْرَبَ · مَرَّتَيْنِ فِي اليَوْمِ.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(F5-L10 · Healthy Habits and Advice) will spend class time USING this language, so students prepare it tonight — short, simple, easy to access (school guidance: “Simple, Short, Interesting, Relevant, Easy to access”). The five words come from the website F5-L10 lesson (healthy habits and advice).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50" b="1" dirty="0">
                <a:solidFill>
                  <a:srgbClr val="FFFFFF"/>
                </a:solidFill>
                <a:latin typeface="Cambria" pitchFamily="34" charset="0"/>
                <a:cs typeface="Amiri" pitchFamily="2" charset="-78"/>
              </a:rPr>
              <a:t>At the Doctor and Pharmacy</a:t>
            </a:r>
            <a:endParaRPr lang="en-US" sz="3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عِنْدَ الطَّبِيبِ وَفِي الصَّيْدَلِيَّةِ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Take part in a simple consultation: explain the problem, understand advice with </a:t>
            </a:r>
            <a:pPr algn="l" indent="0" marL="0">
              <a:buNone/>
            </a:pPr>
            <a:r>
              <a:rPr lang="ar-SA" altLang="en-US" sz="1800" dirty="0">
                <a:solidFill>
                  <a:srgbClr val="C6D2E6"/>
                </a:solidFill>
                <a:latin typeface="Amiri" pitchFamily="2" charset="-78"/>
                <a:ea typeface="Amiri" pitchFamily="2" charset="-78"/>
                <a:cs typeface="Amiri" pitchFamily="2" charset="-78"/>
              </a:rPr>
              <a:t>يَجِبُ أَنْ</a:t>
            </a:r>
            <a:pPr algn="l" indent="0" marL="0">
              <a:buNone/>
            </a:pPr>
            <a:r>
              <a:rPr lang="en-US" sz="1400" dirty="0">
                <a:solidFill>
                  <a:srgbClr val="C6D2E6"/>
                </a:solidFill>
                <a:latin typeface="Calibri" pitchFamily="34" charset="0"/>
                <a:cs typeface="Amiri" pitchFamily="2" charset="-78"/>
              </a:rPr>
              <a:t> and imperatives, ask for medicine or an appointment and how often to take 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F5-L09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People, places and treatment words, then advice: you should … / take … twice a day.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where should they go?, fix the mistakes and listen to a consultation.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صَيْدَلِيَّةٌ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pharmacy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دَوَاءٌ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appointment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bandage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pain in my back.”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أَلَمٌ عَلَى ظَهْرِي.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أَلَمًا فِي ظَهْرِي.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أَلَمٌ فِي ظَهْرِي.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“since yesterday”?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أُسْبُوعٍ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مَتَى؟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أَمْسِ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أَشْعُرُ</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التَّعَبِ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صَيْدَلِيَّةٌ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hospital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pharmacy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دَوَاءٌ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medicine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appointment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bandage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pain in my back.”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عِنْدِي أَلَمٌ عَلَى ظَهْرِي.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أَشْرَبُ أَلَمًا فِي ظَهْرِي.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عِنْدِي أَلَمٌ فِي ظَهْرِي.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F5-L08: pain is located with fī.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“since yesterday”?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مُنْذُ أُسْبُوعٍ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مُنْذُ مَتَى؟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مُنْذُ أَمْسِ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F5-L08: mundhu + time.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أَشْعُرُ</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التَّعَبِ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F5-L08: ashʿuru bi-.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Patient: what + where + since when. Doctor: you should … and take … twice a 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يَجِبُ أَنْ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تَسْتَرِيحَ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خُذْ</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الدَّوَاءَ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مَرَّتَيْنِ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فِي اليَوْمِ</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key people, places and objects in healthcare settings.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symptoms clearly to a doctor or pharmacist.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give simple advice with </a:t>
            </a:r>
            <a:pPr algn="l" indent="0" marL="0">
              <a:buNone/>
            </a:pPr>
            <a:r>
              <a:rPr lang="ar-SA" altLang="en-US" sz="1700" dirty="0">
                <a:solidFill>
                  <a:srgbClr val="1F2A37"/>
                </a:solidFill>
                <a:latin typeface="Amiri" pitchFamily="2" charset="-78"/>
                <a:ea typeface="Amiri" pitchFamily="2" charset="-78"/>
                <a:cs typeface="Amiri" pitchFamily="2" charset="-78"/>
              </a:rPr>
              <a:t>يَجِبُ أَنْ</a:t>
            </a:r>
            <a:pPr algn="l" indent="0" marL="0">
              <a:buNone/>
            </a:pPr>
            <a:r>
              <a:rPr lang="en-US" sz="1300" dirty="0">
                <a:solidFill>
                  <a:srgbClr val="1F2A37"/>
                </a:solidFill>
                <a:latin typeface="Calibri" pitchFamily="34" charset="0"/>
                <a:cs typeface="Amiri" pitchFamily="2" charset="-78"/>
              </a:rPr>
              <a:t> and imperatives.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Perform a structured doctor/pharmacy role play.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explain a simple health problem.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understand three instructions.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for medicine or an appointment politely.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advice with </a:t>
            </a:r>
            <a:pPr algn="l" indent="0" marL="0">
              <a:buNone/>
            </a:pPr>
            <a:r>
              <a:rPr lang="ar-SA" altLang="en-US" sz="1700" b="1" dirty="0">
                <a:solidFill>
                  <a:srgbClr val="C9780A"/>
                </a:solidFill>
                <a:latin typeface="Amiri" pitchFamily="2" charset="-78"/>
                <a:ea typeface="Amiri" pitchFamily="2" charset="-78"/>
                <a:cs typeface="Amiri" pitchFamily="2" charset="-78"/>
              </a:rPr>
              <a:t>يَجِبُ أَنْ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switch between doctor and pharmacy.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handle an unexpected follow-up question.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People and places · 7</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Treatment and appointment · 8</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Advice and instructions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Medical language and care · 4</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طَبِيبٌ</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‎طبیب‎ </a:t>
            </a:r>
            <a:pPr indent="0" marL="0">
              <a:buNone/>
            </a:pPr>
            <a:r>
              <a:rPr lang="en-US" sz="950" b="1" dirty="0">
                <a:solidFill>
                  <a:srgbClr val="2E8B57"/>
                </a:solidFill>
                <a:latin typeface="Calibri" pitchFamily="34" charset="0"/>
                <a:cs typeface="Amiri" pitchFamily="2" charset="-78"/>
              </a:rPr>
              <a:t> tabīb · doctor</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دَوَاءٌ</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‎دوا‎ </a:t>
            </a:r>
            <a:pPr indent="0" marL="0">
              <a:buNone/>
            </a:pPr>
            <a:r>
              <a:rPr lang="en-US" sz="950" b="1" dirty="0">
                <a:solidFill>
                  <a:srgbClr val="2E8B57"/>
                </a:solidFill>
                <a:latin typeface="Calibri" pitchFamily="34" charset="0"/>
                <a:cs typeface="Amiri" pitchFamily="2" charset="-78"/>
              </a:rPr>
              <a:t> dawā · medicine</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مُسْتَشْفًى</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‎شفا‎ </a:t>
            </a:r>
            <a:pPr indent="0" marL="0">
              <a:buNone/>
            </a:pPr>
            <a:r>
              <a:rPr lang="en-US" sz="950" b="1" dirty="0">
                <a:solidFill>
                  <a:srgbClr val="2E8B57"/>
                </a:solidFill>
                <a:latin typeface="Calibri" pitchFamily="34" charset="0"/>
                <a:cs typeface="Amiri" pitchFamily="2" charset="-78"/>
              </a:rPr>
              <a:t> shifā · healing → hospital</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عِيَادَةٌ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‎عیادت‎ </a:t>
            </a:r>
            <a:pPr indent="0" marL="0">
              <a:buNone/>
            </a:pPr>
            <a:r>
              <a:rPr lang="en-US" sz="950" b="1" dirty="0">
                <a:solidFill>
                  <a:srgbClr val="2E8B57"/>
                </a:solidFill>
                <a:latin typeface="Calibri" pitchFamily="34" charset="0"/>
                <a:cs typeface="Amiri" pitchFamily="2" charset="-78"/>
              </a:rPr>
              <a:t> iyādat · visiting the sick → clinic</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مَوْعِدٌ</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‎وعدہ‎ </a:t>
            </a:r>
            <a:pPr indent="0" marL="0">
              <a:buNone/>
            </a:pPr>
            <a:r>
              <a:rPr lang="en-US" sz="950" b="1" dirty="0">
                <a:solidFill>
                  <a:srgbClr val="2E8B57"/>
                </a:solidFill>
                <a:latin typeface="Calibri" pitchFamily="34" charset="0"/>
                <a:cs typeface="Amiri" pitchFamily="2" charset="-78"/>
              </a:rPr>
              <a:t> vaʿda · a promise → an appointment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places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 m/f</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أَسْنَانٍ</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dentist</a:t>
            </a:r>
            <a:endParaRPr lang="en-US" sz="1350" dirty="0"/>
          </a:p>
          <a:p>
            <a:pPr indent="0" marL="0">
              <a:buNone/>
            </a:pPr>
            <a:r>
              <a:rPr lang="en-US" sz="1100" i="1" dirty="0">
                <a:solidFill>
                  <a:srgbClr val="5A6472"/>
                </a:solidFill>
                <a:latin typeface="Calibri" pitchFamily="34" charset="0"/>
                <a:cs typeface="Amiri" pitchFamily="2" charset="-78"/>
              </a:rPr>
              <a:t>ṭa-bī-bu as-nā-nin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 m/f</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2" name="Text 4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9" name="Shape 5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مُسْتَشْفًى</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مُسْتَشْفَيَاتٌ</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places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عِيَادَةٌ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clinic</a:t>
            </a:r>
            <a:endParaRPr lang="en-US" sz="1350" dirty="0"/>
          </a:p>
          <a:p>
            <a:pPr indent="0" marL="0">
              <a:buNone/>
            </a:pPr>
            <a:r>
              <a:rPr lang="en-US" sz="1100" i="1" dirty="0">
                <a:solidFill>
                  <a:srgbClr val="5A6472"/>
                </a:solidFill>
                <a:latin typeface="Calibri" pitchFamily="34" charset="0"/>
                <a:cs typeface="Amiri" pitchFamily="2" charset="-78"/>
              </a:rPr>
              <a:t>ʿi-yā-da-tun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صَيْدَلَانِيٌّ / صَيْدَلَانِيَّةٌ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pharmacist m/f</a:t>
            </a:r>
            <a:endParaRPr lang="en-US" sz="1350" dirty="0"/>
          </a:p>
          <a:p>
            <a:pPr indent="0" marL="0">
              <a:buNone/>
            </a:pPr>
            <a:r>
              <a:rPr lang="en-US" sz="1100" i="1" dirty="0">
                <a:solidFill>
                  <a:srgbClr val="5A6472"/>
                </a:solidFill>
                <a:latin typeface="Calibri" pitchFamily="34" charset="0"/>
                <a:cs typeface="Amiri" pitchFamily="2" charset="-78"/>
              </a:rPr>
              <a:t>ṣay-da-lā-niy-yun / ṣay-da-lā-niy-ya-tun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صَيْدَلَانِيٌّ</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صَيْدَلَانِيَّةٌ</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صَيَادِلَةٌ</a:t>
            </a:r>
            <a:endParaRPr lang="ar-SA" sz="15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Treatment and appointment (1 of 2)</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medicine</a:t>
            </a:r>
            <a:endParaRPr lang="en-US" sz="1350" dirty="0"/>
          </a:p>
          <a:p>
            <a:pPr indent="0" marL="0">
              <a:buNone/>
            </a:pPr>
            <a:r>
              <a:rPr lang="en-US" sz="1100" i="1" dirty="0">
                <a:solidFill>
                  <a:srgbClr val="5A6472"/>
                </a:solidFill>
                <a:latin typeface="Calibri" pitchFamily="34" charset="0"/>
                <a:cs typeface="Amiri" pitchFamily="2" charset="-78"/>
              </a:rPr>
              <a:t>da-wā-ʾun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وَصْفَةٌ طِبِّيَّةٌ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prescription</a:t>
            </a:r>
            <a:endParaRPr lang="en-US" sz="1350" dirty="0"/>
          </a:p>
          <a:p>
            <a:pPr indent="0" marL="0">
              <a:buNone/>
            </a:pPr>
            <a:r>
              <a:rPr lang="en-US" sz="1100" i="1" dirty="0">
                <a:solidFill>
                  <a:srgbClr val="5A6472"/>
                </a:solidFill>
                <a:latin typeface="Calibri" pitchFamily="34" charset="0"/>
                <a:cs typeface="Amiri" pitchFamily="2" charset="-78"/>
              </a:rPr>
              <a:t>waṣ-fa-tun ṭib-biy-ya-tun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ضِمَادٌ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bandage / dressing</a:t>
            </a:r>
            <a:endParaRPr lang="en-US" sz="1350" dirty="0"/>
          </a:p>
          <a:p>
            <a:pPr indent="0" marL="0">
              <a:buNone/>
            </a:pPr>
            <a:r>
              <a:rPr lang="en-US" sz="1100" i="1" dirty="0">
                <a:solidFill>
                  <a:srgbClr val="5A6472"/>
                </a:solidFill>
                <a:latin typeface="Calibri" pitchFamily="34" charset="0"/>
                <a:cs typeface="Amiri" pitchFamily="2" charset="-78"/>
              </a:rPr>
              <a:t>ḍi-mā-dun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طِبِّيٌّ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medical appointment</a:t>
            </a:r>
            <a:endParaRPr lang="en-US" sz="1350" dirty="0"/>
          </a:p>
          <a:p>
            <a:pPr indent="0" marL="0">
              <a:buNone/>
            </a:pPr>
            <a:r>
              <a:rPr lang="en-US" sz="1100" i="1" dirty="0">
                <a:solidFill>
                  <a:srgbClr val="5A6472"/>
                </a:solidFill>
                <a:latin typeface="Calibri" pitchFamily="34" charset="0"/>
                <a:cs typeface="Amiri" pitchFamily="2" charset="-78"/>
              </a:rPr>
              <a:t>maw-ʿi-dun ṭib-biy-yun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Treatment and appointment (2 of 2)</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حُبُوبٌ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tablets</a:t>
            </a:r>
            <a:endParaRPr lang="en-US" sz="1350" dirty="0"/>
          </a:p>
          <a:p>
            <a:pPr indent="0" marL="0">
              <a:buNone/>
            </a:pPr>
            <a:r>
              <a:rPr lang="en-US" sz="1100" i="1" dirty="0">
                <a:solidFill>
                  <a:srgbClr val="5A6472"/>
                </a:solidFill>
                <a:latin typeface="Calibri" pitchFamily="34" charset="0"/>
                <a:cs typeface="Amiri" pitchFamily="2" charset="-78"/>
              </a:rPr>
              <a:t>ḥu-bū-bun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شَرَابُ السُّعَالِ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cough syrup</a:t>
            </a:r>
            <a:endParaRPr lang="en-US" sz="1350" dirty="0"/>
          </a:p>
          <a:p>
            <a:pPr indent="0" marL="0">
              <a:buNone/>
            </a:pPr>
            <a:r>
              <a:rPr lang="en-US" sz="1100" i="1" dirty="0">
                <a:solidFill>
                  <a:srgbClr val="5A6472"/>
                </a:solidFill>
                <a:latin typeface="Calibri" pitchFamily="34" charset="0"/>
                <a:cs typeface="Amiri" pitchFamily="2" charset="-78"/>
              </a:rPr>
              <a:t>sha-rā-bu as-su-ʿā-li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فَحْصٌ</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examination / check</a:t>
            </a:r>
            <a:endParaRPr lang="en-US" sz="1350" dirty="0"/>
          </a:p>
          <a:p>
            <a:pPr indent="0" marL="0">
              <a:buNone/>
            </a:pPr>
            <a:r>
              <a:rPr lang="en-US" sz="1100" i="1" dirty="0">
                <a:solidFill>
                  <a:srgbClr val="5A6472"/>
                </a:solidFill>
                <a:latin typeface="Calibri" pitchFamily="34" charset="0"/>
                <a:cs typeface="Amiri" pitchFamily="2" charset="-78"/>
              </a:rPr>
              <a:t>faḥ-ṣun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دَرَجَةُ الحَرَارَةِ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temperature</a:t>
            </a:r>
            <a:endParaRPr lang="en-US" sz="1350" dirty="0"/>
          </a:p>
          <a:p>
            <a:pPr indent="0" marL="0">
              <a:buNone/>
            </a:pPr>
            <a:r>
              <a:rPr lang="en-US" sz="1100" i="1" dirty="0">
                <a:solidFill>
                  <a:srgbClr val="5A6472"/>
                </a:solidFill>
                <a:latin typeface="Calibri" pitchFamily="34" charset="0"/>
                <a:cs typeface="Amiri" pitchFamily="2" charset="-78"/>
              </a:rPr>
              <a:t>da-ra-ja-tu al-ḥa-rā-ra-ti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and instructions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should / one must ...</a:t>
            </a:r>
            <a:endParaRPr lang="en-US" sz="1350" dirty="0"/>
          </a:p>
          <a:p>
            <a:pPr indent="0" marL="0">
              <a:buNone/>
            </a:pPr>
            <a:r>
              <a:rPr lang="en-US" sz="1100" i="1" dirty="0">
                <a:solidFill>
                  <a:srgbClr val="5A6472"/>
                </a:solidFill>
                <a:latin typeface="Calibri" pitchFamily="34" charset="0"/>
                <a:cs typeface="Amiri" pitchFamily="2" charset="-78"/>
              </a:rPr>
              <a:t>ya-ji-bu an ...</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الأَفْضَلِ أَنْ ...</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better to ...</a:t>
            </a:r>
            <a:endParaRPr lang="en-US" sz="1350" dirty="0"/>
          </a:p>
          <a:p>
            <a:pPr indent="0" marL="0">
              <a:buNone/>
            </a:pPr>
            <a:r>
              <a:rPr lang="en-US" sz="1100" i="1" dirty="0">
                <a:solidFill>
                  <a:srgbClr val="5A6472"/>
                </a:solidFill>
                <a:latin typeface="Calibri" pitchFamily="34" charset="0"/>
                <a:cs typeface="Amiri" pitchFamily="2" charset="-78"/>
              </a:rPr>
              <a:t>mi-na al-af-ḍa-li an ...</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اِسْتَرِحْ / اِسْتَرِيحِي</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 m/f</a:t>
            </a:r>
            <a:endParaRPr lang="en-US" sz="1350" dirty="0"/>
          </a:p>
          <a:p>
            <a:pPr indent="0" marL="0">
              <a:buNone/>
            </a:pPr>
            <a:r>
              <a:rPr lang="en-US" sz="1100" i="1" dirty="0">
                <a:solidFill>
                  <a:srgbClr val="5A6472"/>
                </a:solidFill>
                <a:latin typeface="Calibri" pitchFamily="34" charset="0"/>
                <a:cs typeface="Amiri" pitchFamily="2" charset="-78"/>
              </a:rPr>
              <a:t>is-ta-riḥ / is-ta-rī-ḥī</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اِسْتَرِحْ</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اِسْتَرِيحِي</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اِسْتَرِيحُوا</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0" name="Shape 4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اِشْرَبْ / اِشْرَبِي</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 m/f</a:t>
            </a:r>
            <a:endParaRPr lang="en-US" sz="1350" dirty="0"/>
          </a:p>
          <a:p>
            <a:pPr indent="0" marL="0">
              <a:buNone/>
            </a:pPr>
            <a:r>
              <a:rPr lang="en-US" sz="1100" i="1" dirty="0">
                <a:solidFill>
                  <a:srgbClr val="5A6472"/>
                </a:solidFill>
                <a:latin typeface="Calibri" pitchFamily="34" charset="0"/>
                <a:cs typeface="Amiri" pitchFamily="2" charset="-78"/>
              </a:rPr>
              <a:t>ish-rab / ish-ra-bī</a:t>
            </a:r>
            <a:endParaRPr lang="en-US" sz="1350" dirty="0"/>
          </a:p>
        </p:txBody>
      </p:sp>
      <p:sp>
        <p:nvSpPr>
          <p:cNvPr id="56" name="Shape 5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8" name="Text 5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اِشْرَبْ</a:t>
            </a:r>
            <a:endParaRPr lang="ar-SA" sz="1500" dirty="0"/>
          </a:p>
        </p:txBody>
      </p:sp>
      <p:sp>
        <p:nvSpPr>
          <p:cNvPr id="59" name="Shape 5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اِشْرَبِي</a:t>
            </a:r>
            <a:endParaRPr lang="ar-SA" sz="1500" dirty="0"/>
          </a:p>
        </p:txBody>
      </p:sp>
      <p:sp>
        <p:nvSpPr>
          <p:cNvPr id="62" name="Shape 5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اِشْرَبُوا</a:t>
            </a:r>
            <a:endParaRPr lang="ar-SA" sz="15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and instructions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خُذْ / خُذِي</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 m/f</a:t>
            </a:r>
            <a:endParaRPr lang="en-US" sz="1350" dirty="0"/>
          </a:p>
          <a:p>
            <a:pPr indent="0" marL="0">
              <a:buNone/>
            </a:pPr>
            <a:r>
              <a:rPr lang="en-US" sz="1100" i="1" dirty="0">
                <a:solidFill>
                  <a:srgbClr val="5A6472"/>
                </a:solidFill>
                <a:latin typeface="Calibri" pitchFamily="34" charset="0"/>
                <a:cs typeface="Amiri" pitchFamily="2" charset="-78"/>
              </a:rPr>
              <a:t>khudh / khu-dhī</a:t>
            </a:r>
            <a:endParaRPr lang="en-US" sz="1350" dirty="0"/>
          </a:p>
        </p:txBody>
      </p:sp>
      <p:sp>
        <p:nvSpPr>
          <p:cNvPr id="26" name="Shape 23"/>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8" name="Text 25"/>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خُذْ</a:t>
            </a:r>
            <a:endParaRPr lang="ar-SA" sz="1500" dirty="0"/>
          </a:p>
        </p:txBody>
      </p:sp>
      <p:sp>
        <p:nvSpPr>
          <p:cNvPr id="29" name="Shape 26"/>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1" name="Text 28"/>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خُذِي</a:t>
            </a:r>
            <a:endParaRPr lang="ar-SA" sz="1500" dirty="0"/>
          </a:p>
        </p:txBody>
      </p:sp>
      <p:sp>
        <p:nvSpPr>
          <p:cNvPr id="32" name="Shape 29"/>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خُذُوا</a:t>
            </a:r>
            <a:endParaRPr lang="ar-SA" sz="1500" dirty="0"/>
          </a:p>
        </p:txBody>
      </p:sp>
      <p:sp>
        <p:nvSpPr>
          <p:cNvPr id="35" name="Shape 3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اِسْتَلْقِ</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lie down</a:t>
            </a:r>
            <a:endParaRPr lang="en-US" sz="1350" dirty="0"/>
          </a:p>
          <a:p>
            <a:pPr indent="0" marL="0">
              <a:buNone/>
            </a:pPr>
            <a:r>
              <a:rPr lang="en-US" sz="1100" i="1" dirty="0">
                <a:solidFill>
                  <a:srgbClr val="5A6472"/>
                </a:solidFill>
                <a:latin typeface="Calibri" pitchFamily="34" charset="0"/>
                <a:cs typeface="Amiri" pitchFamily="2" charset="-78"/>
              </a:rPr>
              <a:t>is-tal-qi</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اِفْتَحْ فَمَكَ / فَمَكِ</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open your mouth</a:t>
            </a:r>
            <a:endParaRPr lang="en-US" sz="1350" dirty="0"/>
          </a:p>
          <a:p>
            <a:pPr indent="0" marL="0">
              <a:buNone/>
            </a:pPr>
            <a:r>
              <a:rPr lang="en-US" sz="1100" i="1" dirty="0">
                <a:solidFill>
                  <a:srgbClr val="5A6472"/>
                </a:solidFill>
                <a:latin typeface="Calibri" pitchFamily="34" charset="0"/>
                <a:cs typeface="Amiri" pitchFamily="2" charset="-78"/>
              </a:rPr>
              <a:t>if-taḥ fa-ma-ka / fa-ma-ki</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تَنَفَّسْ بِعُمْقٍ</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breathe deeply</a:t>
            </a:r>
            <a:endParaRPr lang="en-US" sz="1350" dirty="0"/>
          </a:p>
          <a:p>
            <a:pPr indent="0" marL="0">
              <a:buNone/>
            </a:pPr>
            <a:r>
              <a:rPr lang="en-US" sz="1100" i="1" dirty="0">
                <a:solidFill>
                  <a:srgbClr val="5A6472"/>
                </a:solidFill>
                <a:latin typeface="Calibri" pitchFamily="34" charset="0"/>
                <a:cs typeface="Amiri" pitchFamily="2" charset="-78"/>
              </a:rPr>
              <a:t>ta-naf-fas bi-ʿum-qin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ADVICE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 should … · take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يَجِبُ أَنْ ·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boy</a:t>
            </a:r>
            <a:endParaRPr lang="en-US" sz="1100" dirty="0"/>
          </a:p>
        </p:txBody>
      </p:sp>
      <p:sp>
        <p:nvSpPr>
          <p:cNvPr id="17" name="Text 14"/>
          <p:cNvSpPr txBox="1"/>
          <p:nvPr/>
        </p:nvSpPr>
        <p:spPr>
          <a:xfrm>
            <a:off x="339242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girl</a:t>
            </a:r>
            <a:endParaRPr lang="en-US" sz="1100" dirty="0"/>
          </a:p>
        </p:txBody>
      </p:sp>
      <p:sp>
        <p:nvSpPr>
          <p:cNvPr id="18" name="Text 15"/>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16952"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تَسْتَرِيحَ.</a:t>
            </a:r>
            <a:endParaRPr lang="ar-SA" sz="2400" dirty="0"/>
          </a:p>
        </p:txBody>
      </p:sp>
      <p:sp>
        <p:nvSpPr>
          <p:cNvPr id="21" name="Text 18"/>
          <p:cNvSpPr txBox="1"/>
          <p:nvPr/>
        </p:nvSpPr>
        <p:spPr>
          <a:xfrm>
            <a:off x="3410712"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تَسْتَرِيحِي.</a:t>
            </a:r>
            <a:endParaRPr lang="ar-SA" sz="2400" dirty="0"/>
          </a:p>
        </p:txBody>
      </p:sp>
      <p:sp>
        <p:nvSpPr>
          <p:cNvPr id="22" name="Text 19"/>
          <p:cNvSpPr txBox="1"/>
          <p:nvPr/>
        </p:nvSpPr>
        <p:spPr>
          <a:xfrm>
            <a:off x="56692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should rest.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16952"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تَشْرَبَ المَاءَ.</a:t>
            </a:r>
            <a:endParaRPr lang="ar-SA" sz="2400" dirty="0"/>
          </a:p>
        </p:txBody>
      </p:sp>
      <p:sp>
        <p:nvSpPr>
          <p:cNvPr id="27" name="Text 24"/>
          <p:cNvSpPr txBox="1"/>
          <p:nvPr/>
        </p:nvSpPr>
        <p:spPr>
          <a:xfrm>
            <a:off x="3410712"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يَجِبُ أَنْ</a:t>
            </a:r>
            <a:pPr rtl="1" algn="ctr" indent="0" marL="0">
              <a:buNone/>
            </a:pPr>
            <a:r>
              <a:rPr lang="ar-SA" altLang="en-US" sz="2400" b="1" dirty="0">
                <a:solidFill>
                  <a:srgbClr val="1B3B6F"/>
                </a:solidFill>
                <a:latin typeface="Amiri" pitchFamily="2" charset="-78"/>
                <a:ea typeface="Amiri" pitchFamily="2" charset="-78"/>
                <a:cs typeface="Amiri" pitchFamily="2" charset="-78"/>
              </a:rPr>
              <a:t> تَشْرَبِي المَاءَ.</a:t>
            </a:r>
            <a:endParaRPr lang="ar-SA" sz="2400" dirty="0"/>
          </a:p>
        </p:txBody>
      </p:sp>
      <p:sp>
        <p:nvSpPr>
          <p:cNvPr id="28" name="Text 25"/>
          <p:cNvSpPr txBox="1"/>
          <p:nvPr/>
        </p:nvSpPr>
        <p:spPr>
          <a:xfrm>
            <a:off x="56692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should drink water.</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16952"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يَجِبُ أَنْ تَسْتَرِيحَ </a:t>
            </a:r>
            <a:pPr rtl="1" algn="ctr" indent="0" marL="0">
              <a:buNone/>
            </a:pPr>
            <a:r>
              <a:rPr lang="ar-SA" altLang="en-US" sz="2400" b="1" dirty="0">
                <a:solidFill>
                  <a:srgbClr val="1D5FBF"/>
                </a:solidFill>
                <a:latin typeface="Amiri" pitchFamily="2" charset="-78"/>
                <a:ea typeface="Amiri" pitchFamily="2" charset="-78"/>
                <a:cs typeface="Amiri" pitchFamily="2" charset="-78"/>
              </a:rPr>
              <a:t>وَأَنْ</a:t>
            </a:r>
            <a:pPr rtl="1" algn="ctr" indent="0" marL="0">
              <a:buNone/>
            </a:pPr>
            <a:r>
              <a:rPr lang="ar-SA" altLang="en-US" sz="2400" b="1" dirty="0">
                <a:solidFill>
                  <a:srgbClr val="1B3B6F"/>
                </a:solidFill>
                <a:latin typeface="Amiri" pitchFamily="2" charset="-78"/>
                <a:ea typeface="Amiri" pitchFamily="2" charset="-78"/>
                <a:cs typeface="Amiri" pitchFamily="2" charset="-78"/>
              </a:rPr>
              <a:t> تَنَامَ مُبَكِّرًا.</a:t>
            </a:r>
            <a:endParaRPr lang="ar-SA" sz="2400" dirty="0"/>
          </a:p>
        </p:txBody>
      </p:sp>
      <p:sp>
        <p:nvSpPr>
          <p:cNvPr id="33" name="Text 30"/>
          <p:cNvSpPr txBox="1"/>
          <p:nvPr/>
        </p:nvSpPr>
        <p:spPr>
          <a:xfrm>
            <a:off x="3410712"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يَجِبُ أَنْ تَسْتَرِيحِي </a:t>
            </a:r>
            <a:pPr rtl="1" algn="ctr" indent="0" marL="0">
              <a:buNone/>
            </a:pPr>
            <a:r>
              <a:rPr lang="ar-SA" altLang="en-US" sz="2400" b="1" dirty="0">
                <a:solidFill>
                  <a:srgbClr val="1D5FBF"/>
                </a:solidFill>
                <a:latin typeface="Amiri" pitchFamily="2" charset="-78"/>
                <a:ea typeface="Amiri" pitchFamily="2" charset="-78"/>
                <a:cs typeface="Amiri" pitchFamily="2" charset="-78"/>
              </a:rPr>
              <a:t>وَأَنْ</a:t>
            </a:r>
            <a:pPr rtl="1" algn="ctr" indent="0" marL="0">
              <a:buNone/>
            </a:pPr>
            <a:r>
              <a:rPr lang="ar-SA" altLang="en-US" sz="2400" b="1" dirty="0">
                <a:solidFill>
                  <a:srgbClr val="1B3B6F"/>
                </a:solidFill>
                <a:latin typeface="Amiri" pitchFamily="2" charset="-78"/>
                <a:ea typeface="Amiri" pitchFamily="2" charset="-78"/>
                <a:cs typeface="Amiri" pitchFamily="2" charset="-78"/>
              </a:rPr>
              <a:t> تَنَامِي مُبَكِّرًا.</a:t>
            </a:r>
            <a:endParaRPr lang="ar-SA" sz="2400" dirty="0"/>
          </a:p>
        </p:txBody>
      </p:sp>
      <p:sp>
        <p:nvSpPr>
          <p:cNvPr id="34" name="Text 31"/>
          <p:cNvSpPr txBox="1"/>
          <p:nvPr/>
        </p:nvSpPr>
        <p:spPr>
          <a:xfrm>
            <a:off x="56692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and sleep early.</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16952"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خُذْ</a:t>
            </a:r>
            <a:pPr rtl="1" algn="ctr" indent="0" marL="0">
              <a:buNone/>
            </a:pPr>
            <a:r>
              <a:rPr lang="ar-SA" altLang="en-US" sz="2400" b="1" dirty="0">
                <a:solidFill>
                  <a:srgbClr val="1B3B6F"/>
                </a:solidFill>
                <a:latin typeface="Amiri" pitchFamily="2" charset="-78"/>
                <a:ea typeface="Amiri" pitchFamily="2" charset="-78"/>
                <a:cs typeface="Amiri" pitchFamily="2" charset="-78"/>
              </a:rPr>
              <a:t> هٰذَا الدَّوَاءَ.</a:t>
            </a:r>
            <a:endParaRPr lang="ar-SA" sz="2400" dirty="0"/>
          </a:p>
        </p:txBody>
      </p:sp>
      <p:sp>
        <p:nvSpPr>
          <p:cNvPr id="37" name="Text 34"/>
          <p:cNvSpPr txBox="1"/>
          <p:nvPr/>
        </p:nvSpPr>
        <p:spPr>
          <a:xfrm>
            <a:off x="3410712"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خُذِي</a:t>
            </a:r>
            <a:pPr rtl="1" algn="ctr" indent="0" marL="0">
              <a:buNone/>
            </a:pPr>
            <a:r>
              <a:rPr lang="ar-SA" altLang="en-US" sz="2400" b="1" dirty="0">
                <a:solidFill>
                  <a:srgbClr val="1B3B6F"/>
                </a:solidFill>
                <a:latin typeface="Amiri" pitchFamily="2" charset="-78"/>
                <a:ea typeface="Amiri" pitchFamily="2" charset="-78"/>
                <a:cs typeface="Amiri" pitchFamily="2" charset="-78"/>
              </a:rPr>
              <a:t> هٰذَا الدَّوَاءَ.</a:t>
            </a:r>
            <a:endParaRPr lang="ar-SA" sz="2400" dirty="0"/>
          </a:p>
        </p:txBody>
      </p:sp>
      <p:sp>
        <p:nvSpPr>
          <p:cNvPr id="38" name="Text 35"/>
          <p:cNvSpPr txBox="1"/>
          <p:nvPr/>
        </p:nvSpPr>
        <p:spPr>
          <a:xfrm>
            <a:off x="56692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Take this medicine.</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616952"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اِفْتَحْ</a:t>
            </a:r>
            <a:pPr rtl="1" algn="ctr" indent="0" marL="0">
              <a:buNone/>
            </a:pPr>
            <a:r>
              <a:rPr lang="ar-SA" altLang="en-US" sz="2400" b="1" dirty="0">
                <a:solidFill>
                  <a:srgbClr val="1B3B6F"/>
                </a:solidFill>
                <a:latin typeface="Amiri" pitchFamily="2" charset="-78"/>
                <a:ea typeface="Amiri" pitchFamily="2" charset="-78"/>
                <a:cs typeface="Amiri" pitchFamily="2" charset="-78"/>
              </a:rPr>
              <a:t> فَمَكَ.</a:t>
            </a:r>
            <a:endParaRPr lang="ar-SA" sz="2400" dirty="0"/>
          </a:p>
        </p:txBody>
      </p:sp>
      <p:sp>
        <p:nvSpPr>
          <p:cNvPr id="43" name="Text 40"/>
          <p:cNvSpPr txBox="1"/>
          <p:nvPr/>
        </p:nvSpPr>
        <p:spPr>
          <a:xfrm>
            <a:off x="3410712"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اِفْتَحِي</a:t>
            </a:r>
            <a:pPr rtl="1" algn="ctr" indent="0" marL="0">
              <a:buNone/>
            </a:pPr>
            <a:r>
              <a:rPr lang="ar-SA" altLang="en-US" sz="2400" b="1" dirty="0">
                <a:solidFill>
                  <a:srgbClr val="1B3B6F"/>
                </a:solidFill>
                <a:latin typeface="Amiri" pitchFamily="2" charset="-78"/>
                <a:ea typeface="Amiri" pitchFamily="2" charset="-78"/>
                <a:cs typeface="Amiri" pitchFamily="2" charset="-78"/>
              </a:rPr>
              <a:t> فَمَكِ.</a:t>
            </a:r>
            <a:endParaRPr lang="ar-SA" sz="2400" dirty="0"/>
          </a:p>
        </p:txBody>
      </p:sp>
      <p:sp>
        <p:nvSpPr>
          <p:cNvPr id="44" name="Text 41"/>
          <p:cNvSpPr txBox="1"/>
          <p:nvPr/>
        </p:nvSpPr>
        <p:spPr>
          <a:xfrm>
            <a:off x="56692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 your mouth.</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Learn the advice as whole chunks: yajibu an tastarīḥa. To a girl the verb ends in -ī.</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MEDICINE AND HOW OFTEN (WEBSITE RULES 3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Medicine for … twice a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دَوَاءٌ لِـ · مَرَّتَيْنِ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MEDICINE FOR …</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دَوَاءً لِـ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أُرِيدُ دَوَاءً لِلصُّدَاعِ، مِنْ فَضْلِكَ.</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would like medicine for a headache, please.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li- = for.</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APPOINTMENT</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أَحْجِزَ مَوْعِدًا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أُرِيدُ أَنْ أَحْجِزَ مَوْعِدًا مَعَ طَبِيبِ الأَسْنَانِ.</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would like to book an appointment with the dentist.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complete, useful chunk.</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OFTEN?</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كَمْ مَرَّةً؟ · مَرَّتَيْنِ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كَمْ مَرَّةً آخُذُ الدَّوَاءَ؟ — مَرَّتَيْنِ فِي اليَوْمِ.</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often do I take it? — Twice a 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marratan once · marratayni twice.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“twice” is marratayni.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خُذْ هٰذَا الدَّوَاءَ مَرَّتَيْنِ.</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خُذْ هٰذَا الدَّوَاءَ مَرَّةَانِ.</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النَّصِيحَةُ بِـ يَجِبُ أَنْ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Give essential advice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يَجِبُ أَنْ + 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أَنْ تَسْتَرِيحَ.   ·   يَجِبُ أَنْ تَشْرَبَ المَاءَ.</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Join two actions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يَجِبُ أَنْ... وَأَنْ...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أَنْ تَسْتَرِيحَ وَأَنْ تَنَامَ مُبَكِّرًا.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Request medicine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دَوَاءً لِـ...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دَوَاءً لِلصُّدَاعِ.   ·   أُرِيدُ دَوَاءً لِلسُّعَالِ.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Give dosage frequency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مَرَّةً / مَرَّتَيْنِ فِي اليَوْمِ</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خُذِ الدَّوَاءَ مَرَّتَيْنِ فِي اليَوْمِ.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clear duration?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يَوْمَيْنِ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يَوْمَيْنِ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يَوْمَيْنِ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“medicine for a headache”.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دَوَاءٌ لِلصُّدَاعِ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دَوَاءٌ فِي الصُّدَاعِ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دَوَاءٌ مِنَ الصُّدَاعِ</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appointment request?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 طَبِيبٌ.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أَحْجِزَ مَوْعِدًا.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مَوْعِدٌ أَيْنَ؟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advice to a girl.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تَأْخُذِي الدَّوَاءَ.</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تَأْخُذَ الدَّوَاءَ.</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آخُذَ الدَّوَاءَ.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clear duration?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يَوْمَيْنِ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يَوْمَيْنِ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مُنْذُ يَوْمَيْنِ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مُنْذُ</a:t>
            </a:r>
            <a:pPr algn="l" indent="0" marL="0">
              <a:buNone/>
            </a:pPr>
            <a:r>
              <a:rPr lang="en-US" sz="1050" i="1" dirty="0">
                <a:solidFill>
                  <a:srgbClr val="8A6D1E"/>
                </a:solidFill>
                <a:latin typeface="Calibri" pitchFamily="34" charset="0"/>
                <a:cs typeface="Amiri" pitchFamily="2" charset="-78"/>
              </a:rPr>
              <a:t> introduces the duration.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“medicine for a headache”.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دَوَاءٌ لِلصُّدَاعِ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دَوَاءٌ فِي الصُّدَاعِ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دَوَاءٌ مِنَ الصُّدَاعِ</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to state the purpose.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appointment request?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 طَبِيبٌ.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أَحْجِزَ مَوْعِدًا.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مَوْعِدٌ أَيْنَ؟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uses </a:t>
            </a:r>
            <a:pPr algn="l" indent="0" marL="0">
              <a:buNone/>
            </a:pPr>
            <a:r>
              <a:rPr lang="ar-SA" altLang="en-US" sz="1350" dirty="0">
                <a:solidFill>
                  <a:srgbClr val="8A6D1E"/>
                </a:solidFill>
                <a:latin typeface="Amiri" pitchFamily="2" charset="-78"/>
                <a:ea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verb + object.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advice to a girl.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تَأْخُذِي الدَّوَاءَ.</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تَأْخُذَ الدَّوَاءَ.</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آخُذَ الدَّوَاءَ.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listener form ends in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in this chunk.</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model a consultation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المَرِيضُ: عِنْدِي سُعَالٌ وَأَلَمٌ فِي الحَلْقِ مُنْذُ يَوْمَيْنِ.</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 where + since when.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Examine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الطَّبِيبُ: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اِفْتَحْ</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فَمَكَ وَ</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تَنَفَّسْ</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بِعُمْقٍ.</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instructions.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Advice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الطَّبِيبُ: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يَجِبُ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تَسْتَرِيحَ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وَأَنْ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تَشْرَبَ المَاءَ.</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Repeat 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How often?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المَرِيضُ: كَمْ مَرَّةً آخُذُهُ؟ — الطَّبِيبُ: </a:t>
            </a:r>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مَرَّتَيْنِ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فِي اليَوْمِ.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Twice a day.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INSTRUCTION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ADVICE</a:t>
            </a:r>
            <a:endParaRPr lang="en-US" sz="800" dirty="0"/>
          </a:p>
        </p:txBody>
      </p:sp>
      <p:sp>
        <p:nvSpPr>
          <p:cNvPr id="49" name="Shape 45"/>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HOW OFTEN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الطَّبِيبُ: مَا المُشْكِلَةُ؟ — المَرِيضُ: عِنْدِي سُعَالٌ وَأَلَمٌ فِي الحَلْقِ مُنْذُ يَوْمَيْنِ. — هَلْ عِنْدَكَ حُمَّى؟ — نَعَمْ، وَأَشْعُرُ بِالتَّعَبِ. —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اِفْتَحْ</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فَمَكَ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تَنَفَّسْ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بِعُمْقٍ.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تَسْتَرِيحَ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تَشْرَبَ المَاءَ.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خُذْ</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هٰذَا الدَّوَاءَ. — كَمْ مَرَّةً آخُذُهُ؟ —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مَرَّتَيْنِ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اليَوْمِ. — شُكْرًا جَزِيلًا.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Doctor: What is the problem? — Patient: I have had a cough and a sore throat for two days. — Do you have a fever? — Yes, and I feel tired. — Open your mouth and breathe deeply. You should rest and drink water. Take this medicine. — How often do I take it? — Twice a day. — Thank you very much.</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حُمَّى وَسُعَالٌ مُنْذُ يَوْمَيْنِ.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a fever and cough for two days.</a:t>
            </a:r>
            <a:endParaRPr lang="en-US" sz="1250" dirty="0"/>
          </a:p>
          <a:p>
            <a:pPr indent="0" marL="0">
              <a:buNone/>
            </a:pPr>
            <a:r>
              <a:rPr lang="en-US" sz="1050" i="1" dirty="0">
                <a:solidFill>
                  <a:srgbClr val="8A6D1E"/>
                </a:solidFill>
                <a:latin typeface="Calibri" pitchFamily="34" charset="0"/>
                <a:cs typeface="Amiri" pitchFamily="2" charset="-78"/>
              </a:rPr>
              <a:t>Give symptom + duration clearly.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أَنْ تَسْتَرِيحَ وَأَنْ تَشْرَبَ المَاءَ.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You should rest and drink water.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After أَنْ, use the appropriate subjunctive form; at Foundation, learn the whole advice chunk.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دَوَاءً لِلصُّدَاعِ، مِنْ فَضْلِكَ.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medicine for a headache, please.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لِـ to state what the medicine is for.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أَنْ أَحْجِزَ مَوْعِدًا مَعَ طَبِيبِ الأَسْنَانِ.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to book an appointment with the dentist.</a:t>
            </a:r>
            <a:endParaRPr lang="en-US" sz="1250" dirty="0"/>
          </a:p>
          <a:p>
            <a:pPr indent="0" marL="0">
              <a:buNone/>
            </a:pPr>
            <a:r>
              <a:rPr lang="en-US" sz="1050" i="1" dirty="0">
                <a:solidFill>
                  <a:srgbClr val="8A6D1E"/>
                </a:solidFill>
                <a:latin typeface="Calibri" pitchFamily="34" charset="0"/>
                <a:cs typeface="Amiri" pitchFamily="2" charset="-78"/>
              </a:rPr>
              <a:t>This is a useful complete appointment phrase.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PICTURE MATCH · WEBSITE GAME “VISUAL GAME — AT THE DOCTOR AND PHARMACY”</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care: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الطَّبِيبُ وَالعِلَاجُ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medicine · clock</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pharmacy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أَشْتَرِي الدَّوَاءَ مِنَ الصَّيْدَلِيَّةِ.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إِلَى الطَّبِيبَةِ.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آخُذُ الدَّوَاءَ مَرَّتَيْنِ فِي اليَوْمِ.</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الطَّبِيبُ وَالعِلَاجُ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إِلَى الطَّبِيبَةِ.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to the (female) doctor.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medicine · clock</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آخُذُ الدَّوَاءَ مَرَّتَيْنِ فِي اليَوْمِ.</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take the medicine twice a day.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pharmacy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أَشْتَرِي الدَّوَاءَ مِنَ الصَّيْدَلِيَّةِ.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buy the medicine from the pharmacy.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should the person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أَلَمُ الأَسْنَانِ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 دَوَاءٍ لِلصُّدَاعِ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ذِرَاعٌ مَكْسُورَةٌ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شِرَاءُ ضِمَادٍ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فَحْصُ سِنٍّ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حُمَّى شَدِيدَةٌ</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عِيَادَةٌ / مُسْتَشْفًى</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صَيْدَلِيَّةٌ</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طَبِيبُ أَسْنَانٍ</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عِيَادَةٌ / مُسْتَشْفًى</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ذِرَاعٌ مَكْسُورَةٌ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حُمَّى شَدِيدَةٌ</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صَيْدَلِيَّةٌ</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 دَوَاءٍ لِلصُّدَاعِ</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شِرَاءُ ضِمَادٍ</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طَبِيبُ أَسْنَانٍ</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أَلَمُ الأَسْنَانِ</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فَحْصُ سِنٍّ</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should follow a symptom?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favourite colour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subject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location or duration</a:t>
            </a:r>
            <a:endParaRPr lang="en-US" sz="1250" dirty="0"/>
          </a:p>
        </p:txBody>
      </p:sp>
      <p:sp>
        <p:nvSpPr>
          <p:cNvPr id="30" name="Shape 27"/>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dosage phrase is accurate?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مَرَّةَانِ فِي اليَوْمِ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اليَوْمِ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اثْنَانِ مَرَّةً</a:t>
            </a:r>
            <a:endParaRPr lang="ar-SA" sz="2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should follow a symptom?</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favourite colour</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subject</a:t>
            </a:r>
            <a:endParaRPr lang="en-US" sz="1250" dirty="0"/>
          </a:p>
        </p:txBody>
      </p:sp>
      <p:sp>
        <p:nvSpPr>
          <p:cNvPr id="27" name="Shape 24"/>
          <p:cNvSpPr/>
          <p:nvPr/>
        </p:nvSpPr>
        <p:spPr>
          <a:xfrm>
            <a:off x="548640" y="341071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location or duration</a:t>
            </a:r>
            <a:endParaRPr lang="en-US" sz="1250" dirty="0"/>
          </a:p>
        </p:txBody>
      </p:sp>
      <p:sp>
        <p:nvSpPr>
          <p:cNvPr id="31" name="Text 2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Healthcare communication needs precise symptom details.</a:t>
            </a:r>
            <a:endParaRPr lang="en-US" sz="1050" dirty="0"/>
          </a:p>
        </p:txBody>
      </p:sp>
      <p:sp>
        <p:nvSpPr>
          <p:cNvPr id="32" name="Shape 29"/>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dosage phrase is accurate?</a:t>
            </a:r>
            <a:endParaRPr lang="en-US" sz="1250" dirty="0"/>
          </a:p>
        </p:txBody>
      </p:sp>
      <p:sp>
        <p:nvSpPr>
          <p:cNvPr id="36" name="Shape 33"/>
          <p:cNvSpPr/>
          <p:nvPr/>
        </p:nvSpPr>
        <p:spPr>
          <a:xfrm>
            <a:off x="6368796"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مَرَّةَانِ فِي اليَوْمِ</a:t>
            </a:r>
            <a:endParaRPr lang="ar-SA" sz="2050" dirty="0"/>
          </a:p>
        </p:txBody>
      </p:sp>
      <p:sp>
        <p:nvSpPr>
          <p:cNvPr id="39" name="Shape 36"/>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مَرَّتَيْنِ فِي اليَوْمِ</a:t>
            </a:r>
            <a:endParaRPr lang="ar-SA" sz="2050" dirty="0"/>
          </a:p>
        </p:txBody>
      </p:sp>
      <p:sp>
        <p:nvSpPr>
          <p:cNvPr id="43" name="Shape 40"/>
          <p:cNvSpPr/>
          <p:nvPr/>
        </p:nvSpPr>
        <p:spPr>
          <a:xfrm>
            <a:off x="6368796"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اثْنَانِ مَرَّةً</a:t>
            </a:r>
            <a:endParaRPr lang="ar-SA" sz="2050" dirty="0"/>
          </a:p>
        </p:txBody>
      </p:sp>
      <p:sp>
        <p:nvSpPr>
          <p:cNvPr id="46" name="Text 4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accusative dual </a:t>
            </a:r>
            <a:pPr algn="l" indent="0" marL="0">
              <a:buNone/>
            </a:pPr>
            <a:r>
              <a:rPr lang="ar-SA" altLang="en-US" sz="1350" dirty="0">
                <a:solidFill>
                  <a:srgbClr val="8A6D1E"/>
                </a:solidFill>
                <a:latin typeface="Amiri" pitchFamily="2" charset="-78"/>
                <a:ea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تَسْتَرِيحُ.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دَوَاءٌ لِلصُّدَاعِ.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item after </a:t>
            </a:r>
            <a:pPr algn="l" indent="0" marL="0">
              <a:buNone/>
            </a:pPr>
            <a:r>
              <a:rPr lang="ar-SA" altLang="en-US" sz="1700" dirty="0">
                <a:solidFill>
                  <a:srgbClr val="5A6472"/>
                </a:solidFill>
                <a:latin typeface="Amiri" pitchFamily="2" charset="-78"/>
                <a:ea typeface="Amiri" pitchFamily="2" charset="-78"/>
                <a:cs typeface="Amiri" pitchFamily="2" charset="-78"/>
              </a:rPr>
              <a:t>أُرِيدُ</a:t>
            </a:r>
            <a:pPr algn="l" indent="0" marL="0">
              <a:buNone/>
            </a:pPr>
            <a:r>
              <a:rPr lang="en-US" sz="1300" i="1" dirty="0">
                <a:solidFill>
                  <a:srgbClr val="5A6472"/>
                </a:solidFill>
                <a:latin typeface="Calibri" pitchFamily="34" charset="0"/>
                <a:cs typeface="Amiri" pitchFamily="2" charset="-78"/>
              </a:rPr>
              <a:t> ends in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خُذْ هٰذَا الدَّوَاءَ مَرَّةَانِ.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we say “twice”?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تَسْتَرِيحُ.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تَسْتَرِيحَ.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model uses the subjunctive ending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دَوَاءٌ لِلصُّدَاعِ.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دَوَاءً لِلصُّدَاعِ.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requested medicine is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خُذْ هٰذَا الدَّوَاءَ مَرَّةَانِ.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خُذْ هٰذَا الدَّوَاءَ مَرَّتَيْنِ.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verb in this phrase, use the accusative dual form </a:t>
            </a:r>
            <a:pPr algn="l" indent="0" marL="0">
              <a:buNone/>
            </a:pPr>
            <a:r>
              <a:rPr lang="ar-SA" altLang="en-US" sz="1500" b="1" dirty="0">
                <a:solidFill>
                  <a:srgbClr val="1B3B6F"/>
                </a:solidFill>
                <a:latin typeface="Amiri" pitchFamily="2" charset="-78"/>
                <a:ea typeface="Amiri" pitchFamily="2" charset="-78"/>
                <a:cs typeface="Amiri" pitchFamily="2" charset="-78"/>
              </a:rPr>
              <a:t>مَرَّتَيْنِ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Doctor–patient consultation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the patient been ill?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week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pain?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stomach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teeth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throat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doctor check?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blood pressure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temperature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lifestyle instructions are given?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 and drink water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and eat sweets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to school and walk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should the medicine be taken?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day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مُنْذُ</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الحَلْقِ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الطَّبِيبَةُ: مَا المُشْكِلَةُ؟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 (f.): What is the problem?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المَرِيضُ: عِنْدِي حُمَّى وَسُعَالٌ مُنْذُ يَوْمَيْنِ، وَأَشْعُرُ بِأَلَمٍ فِي الحَلْقِ.</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Patient: I have had a fever and a cough for two days, and I feel pain in my throat.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الطَّبِيبَةُ: سَأَفْحَصُ دَرَجَةَ حَرَارَتِكَ. اِفْتَحْ فَمَكَ وَتَنَفَّسْ بِعُمْقٍ.</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check your temperature. Open your mouth and breathe deeply.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تَسْتَرِيحَ وَأَنْ تَشْرَبَ مَاءً كَثِيرًا.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should rest and drink lots of water.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خُذْ هٰذَا الدَّوَاءَ مَرَّتَيْنِ فِي اليَوْمِ.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this medicine twice a 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the patient been ill?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days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week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مُنْذُ يَوْمَيْنِ.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pain?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stomach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teeth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throat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الحَلْقِ.</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doctor check?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blood pressure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temperature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دَرَجَةَ حَرَارَتِكَ.</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lifestyle instructions are given?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rest and drink water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 and eat sweets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 to school and walk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تَسْتَرِيحَ ... تَشْرَبَ مَاءً.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should the medicine be taken?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day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day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times a day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اليَوْمِ.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مُنْذُ</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الحَلْقِ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Doctor or pharmacy role 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المُشْكِلَةُ؟ وَمُنْذُ مَتَى؟</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الأَلَمُ؟ كَيْفَ تَشْعُرُ؟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كَرِّرْ نَصِيحَةً وَاحِدَةً مِنَ الطَّبِيبِ.</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اِسْأَلْ: كَمْ مَرَّةً آخُذُ الدَّوَاءَ؟ ثُمَّ اُشْكُرْ وَاخْتِمْ.</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عِنْدِي ___ مُنْذُ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عِنْدِي أَلَمٌ فِي ___ · أَشْعُرُ بِـ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أَنْ أَسْتَرِيحَ / أَشْرَبَ المَاءَ.</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كَمْ مَرَّةً آخُذُهُ؟ … شُكْرًا جَزِيلًا.</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الطَّبِيبَةُ</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المُشْكِلَةُ؟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problem?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المَرِيضَةُ</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عِنْدِي صُدَاعٌ وَحُمَّى مُنْذُ أَمْسِ.</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have had a headache and a fever since yesterday.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a doctor dialogue from a phrase bank and identify three instructions.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Problem, since when, one instruction, one piece of advice, thanks — from the phrase bank.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Perform a role play with symptom, duration, examination and advice.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symptoms, duration, an examination instruction, two pieces of advice and frequency.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Switch between doctor and pharmacy contexts and handle an unplanned follow-up question.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Doctor THEN pharmacy, with an unplanned follow-up question.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دَوَاءً لِـ ______ ، مِنْ فَضْلِكَ.</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medicine for …, please.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 هٰذَا الدَّوَاءَ مَرَّتَيْنِ فِي اليَوْمِ.</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Take this medicine twice a day.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آخُذُهُ؟</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often do I take it?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تَسْتَرِيحَ وَأَنْ تَشْرَبَ المَاءَ.</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should rest and drink water.</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أَحْجِزَ مَوْعِدًا.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to book an appointment.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المُشْكِلَةُ؟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the problem?</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مُنْذُ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since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اِفْتَحْ فَمَكَ. / اِفْتَحِي فَمَكِ.</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Open your mouth.</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تَسْتَرِيحَ / تَسْتَرِيحِي.</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should rest.</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طَبِيبٌ  ·  طَبِيبَةٌ  ·  صَيْدَلِيَّةٌ  ·  دَوَاءٌ  ·  حُبُوبٌ  ·  مَوْعِدٌ  ·  يَجِبُ أَنْ  ·  خُذْ / خُذِي  ·  اِشْرَبْ / اِشْرَبِي  ·  مَرَّتَيْنِ  ·  فِي اليَوْمِ  ·  مُنْذُ</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complete 10-line consultation between a healthcare professional and patient. Include symptoms, duration, one examination instruction, two pieces of advice and medicine frequency.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professional roles and greetings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عِنْدِي / أَشْعُرُ بِـ</a:t>
            </a:r>
            <a:pPr algn="l" indent="0" marL="0">
              <a:buNone/>
            </a:pPr>
            <a:r>
              <a:rPr lang="en-US" sz="1200" dirty="0">
                <a:solidFill>
                  <a:srgbClr val="1F2A37"/>
                </a:solidFill>
                <a:latin typeface="Calibri" pitchFamily="34" charset="0"/>
                <a:cs typeface="Amiri" pitchFamily="2" charset="-78"/>
              </a:rPr>
              <a:t> for symptoms.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يَجِبُ أَنْ</a:t>
            </a:r>
            <a:pPr algn="l" indent="0" marL="0">
              <a:buNone/>
            </a:pPr>
            <a:r>
              <a:rPr lang="en-US" sz="1200" dirty="0">
                <a:solidFill>
                  <a:srgbClr val="1F2A37"/>
                </a:solidFill>
                <a:latin typeface="Calibri" pitchFamily="34" charset="0"/>
                <a:cs typeface="Amiri" pitchFamily="2" charset="-78"/>
              </a:rPr>
              <a:t> or an imperative for advice.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ea typeface="Amiri" pitchFamily="2" charset="-78"/>
                <a:cs typeface="Amiri" pitchFamily="2" charset="-78"/>
              </a:rPr>
              <a:t>كَمْ مَرَّةً؟</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مَتَى آخُذُ الدَّوَاءَ؟</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 حَبَّةً وَاحِدَةً بَعْدَ الفُطُورِ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take one tablet after breakfast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تَأْخُذِ الدَّوَاءَ عَلَى مَعِدَةٍ فَارِغَةٍ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don’t take the medicine on an empty stomach</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تَتَحَسَّنْ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don’t get better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فَتَحَدَّثْ مَعَ الطَّبِيبِ</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 talk to the doctor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التَّعْلِيمَاتِ عَلَى العُلْبَةِ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read the instructions on the box</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مَا المُشْكِلَةُ؟</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عِنْدِي سُعَالٌ وَأَلَمٌ فِي الحَلْقِ مُنْذُ يَوْمَيْنِ.</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هَلْ عِنْدَكَ حُمَّى؟</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نَعَمْ، وَأَشْعُرُ بِالتَّعَبِ.</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اِفْتَحْ فَمَكَ وَتَنَفَّسْ بِعُمْقٍ.</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حَسَنًا.</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يَجِبُ أَنْ تَسْتَرِيحَ وَأَنْ تَشْرَبَ المَاءَ. خُذْ هٰذَا الدَّوَاءَ.</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كَمْ مَرَّةً آخُذُهُ؟</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مَرَّتَيْنِ فِي اليَوْمِ.</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شُكْرًا جَزِيلًا.</a:t>
            </a:r>
            <a:endParaRPr lang="ar-SA" sz="1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Doctor: What is the problem? Patient: I have had a cough and a sore throat for two days. Doctor: Do you have a fever? Patient: Yes, and I feel tired. Doctor: Open your mouth and breathe deeply. Patient: OK. Doctor: You should rest and drink water. Take this medicine. Patient: How often do I take it? Doctor: Twice a day. Patient: Thank you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symptom + since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instruction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advice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twice a day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patient gives what, where and since when.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doctor gives one instruction.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Advice: </a:t>
            </a:r>
            <a:pPr algn="l" indent="0" marL="0">
              <a:buNone/>
            </a:pPr>
            <a:r>
              <a:rPr lang="ar-SA" altLang="en-US" sz="1700" dirty="0">
                <a:solidFill>
                  <a:srgbClr val="1F2A37"/>
                </a:solidFill>
                <a:latin typeface="Amiri" pitchFamily="2" charset="-78"/>
                <a:ea typeface="Amiri" pitchFamily="2" charset="-78"/>
                <a:cs typeface="Amiri" pitchFamily="2" charset="-78"/>
              </a:rPr>
              <a:t>يَجِبُ أَنْ</a:t>
            </a:r>
            <a:pPr algn="l" indent="0" marL="0">
              <a:buNone/>
            </a:pPr>
            <a:r>
              <a:rPr lang="en-US" sz="1300" dirty="0">
                <a:solidFill>
                  <a:srgbClr val="1F2A37"/>
                </a:solidFill>
                <a:latin typeface="Calibri" pitchFamily="34" charset="0"/>
                <a:cs typeface="Amiri" pitchFamily="2" charset="-78"/>
              </a:rPr>
              <a:t> + verb ending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Commands change for a girl (-ī).</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pharmacy scene and a follow-up.</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a:t>
            </a:r>
            <a:pPr algn="l" indent="0" marL="0">
              <a:buNone/>
            </a:pPr>
            <a:r>
              <a:rPr lang="ar-SA" altLang="en-US" sz="1650" b="1" dirty="0">
                <a:solidFill>
                  <a:srgbClr val="1B3B6F"/>
                </a:solidFill>
                <a:latin typeface="Amiri" pitchFamily="2" charset="-78"/>
                <a:ea typeface="Amiri" pitchFamily="2" charset="-78"/>
                <a:cs typeface="Amiri" pitchFamily="2" charset="-78"/>
              </a:rPr>
              <a:t>طَبِيبُ أَسْنَانٍ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dentist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pharmacist</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مَطْعَمٌ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صَيْدَلِيَّةٌ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ask how often?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مَتَى؟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a:t>
            </a:r>
            <a:pPr algn="l" indent="0" marL="0">
              <a:buNone/>
            </a:pPr>
            <a:r>
              <a:rPr lang="ar-SA" altLang="en-US" sz="1650" b="1" dirty="0">
                <a:solidFill>
                  <a:srgbClr val="1B3B6F"/>
                </a:solidFill>
                <a:latin typeface="Amiri" pitchFamily="2" charset="-78"/>
                <a:ea typeface="Amiri" pitchFamily="2" charset="-78"/>
                <a:cs typeface="Amiri" pitchFamily="2" charset="-78"/>
              </a:rPr>
              <a:t>طَبِيبُ أَسْنَانٍ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dentist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nurse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pharmacist</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means dentist.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مَطْعَمٌ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صَيْدَلِيَّةٌ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مَكْتَبَةٌ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pharmacy is </a:t>
            </a:r>
            <a:pPr algn="l" indent="0" marL="0">
              <a:buNone/>
            </a:pPr>
            <a:r>
              <a:rPr lang="ar-SA" altLang="en-US" sz="1350" dirty="0">
                <a:solidFill>
                  <a:srgbClr val="8A6D1E"/>
                </a:solidFill>
                <a:latin typeface="Amiri" pitchFamily="2" charset="-78"/>
                <a:ea typeface="Amiri" pitchFamily="2" charset="-78"/>
                <a:cs typeface="Amiri" pitchFamily="2" charset="-78"/>
              </a:rPr>
              <a:t>صَيْدَلِيَّةٌ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ask how often?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كَمْ مَرَّةً؟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مُنْذُ مَتَى؟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 asks how many times.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Pharmacy instructions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هٰذَا الدَّوَاءُ لِلزُّكَامِ وَالسُّعَالِ. خُذْ حَبَّةً وَاحِدَةً بَعْدَ الفُطُورِ وَحَبَّةً أُخْرَى بَعْدَ العَشَاءِ. لَا تَأْخُذِ الدَّوَاءَ عَلَى مَعِدَةٍ فَارِغَةٍ. اِشْرَبْ مَاءً كَثِيرًا، وَإِذَا لَمْ تَتَحَسَّنْ فَتَحَدَّثْ مَعَ الطَّبِيبِ. اِقْرَأِ التَّعْلِيمَاتِ عَلَى العُلْبَةِ.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هٰذَا الدَّوَاءُ لِـ</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this medicine is for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حَبَّةً وَاحِدَةً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tablet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الفُطُورِ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breakfast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حَبَّةً أُخْرَى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another tablet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تَأْخُذْ</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don’t take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مَعِدَةٍ فَارِغَةٍ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empty stomach</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لَمْ تَتَحَسَّنْ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 you don’t get better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فَتَحَدَّثْ</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then talk</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التَّعْلِيمَاتِ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instructions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العُلْبَةِ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box</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medicine for?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toothache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and cough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allergy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first tablet taken?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breakfast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lunch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breakfast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tablets per day are described?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happen?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drinking water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taking it on an empty stomach</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instructions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person do if not improving?</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talk to the doctor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sweets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harder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medicine for?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toothache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cold and cough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allergy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لِلزُّكَامِ وَالسُّعَالِ.</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first tablet taken?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breakfast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lunch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breakfast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بَعْدَ الفُطُورِ.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tablets per day are described?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after breakfast and one after dinner.</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happen?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drinking water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taking it on an empty stomach</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instructions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تَأْخُذِ الدَّوَاءَ عَلَى مَعِدَةٍ فَارِغَةٍ.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person do if not improving?</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talk to the doctor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sweets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 harder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فَتَحَدَّثْ مَعَ الطَّبِيبِ.</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F5-L10 · Healthy Habits and Advice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رِيَاضَةٌ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sport / exercise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نَوْمٌ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sleep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عَادَةٌ صِحِّيَّةٌ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healthy habit</a:t>
            </a:r>
            <a:pPr indent="0" marL="0">
              <a:buNone/>
            </a:pPr>
            <a:r>
              <a:rPr lang="ar-SA" sz="1000" i="1" dirty="0">
                <a:solidFill>
                  <a:srgbClr val="5A6472"/>
                </a:solidFill>
                <a:latin typeface="Calibri" pitchFamily="34" charset="0"/>
                <a:ea typeface="Amiri" pitchFamily="2" charset="-78"/>
                <a:cs typeface="Amiri" pitchFamily="2" charset="-78"/>
              </a:rPr>
              <a:t>  pl. عَادَاتٌ صِحِّيَّةٌ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نَصِيحَةٌ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piece of advice</a:t>
            </a:r>
            <a:pPr indent="0" marL="0">
              <a:buNone/>
            </a:pPr>
            <a:r>
              <a:rPr lang="ar-SA" sz="1000" i="1" dirty="0">
                <a:solidFill>
                  <a:srgbClr val="5A6472"/>
                </a:solidFill>
                <a:latin typeface="Calibri" pitchFamily="34" charset="0"/>
                <a:ea typeface="Amiri" pitchFamily="2" charset="-78"/>
                <a:cs typeface="Amiri" pitchFamily="2" charset="-78"/>
              </a:rPr>
              <a:t>  pl. نَصَائِحُ</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تَجَنَّبْ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avoid! (m.)</a:t>
            </a:r>
            <a:pPr indent="0" marL="0">
              <a:buNone/>
            </a:pPr>
            <a:r>
              <a:rPr lang="ar-SA" sz="1000" i="1" dirty="0">
                <a:solidFill>
                  <a:srgbClr val="5A6472"/>
                </a:solidFill>
                <a:latin typeface="Calibri" pitchFamily="34" charset="0"/>
                <a:ea typeface="Amiri" pitchFamily="2" charset="-78"/>
                <a:cs typeface="Amiri" pitchFamily="2" charset="-78"/>
              </a:rPr>
              <a:t>  f. تَجَنَّبِي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healthy habit you already have (in English or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عَادَتِي الصِّحِّيَّةُ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F5-L09: the vocabulary tab and the “Where should the person go?”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10-line consultation with advice and frequency.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pharmacy scene with an unplanned follow-up question.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F5-L10 · Healthy Habits and Advice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العَادَاتُ الصِّحِّيَّةُ وَالنَّصِيحَةُ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يَجِبُ أَنْ</a:t>
            </a:r>
            <a:pPr algn="l" indent="0" marL="0">
              <a:buNone/>
            </a:pPr>
            <a:r>
              <a:rPr lang="en-US" sz="1300" b="1" dirty="0">
                <a:solidFill>
                  <a:srgbClr val="FFFFFF"/>
                </a:solidFill>
                <a:latin typeface="Calibri" pitchFamily="34" charset="0"/>
                <a:cs typeface="Amiri" pitchFamily="2" charset="-78"/>
              </a:rPr>
              <a:t> + verb (-a) · to a girl -ī · </a:t>
            </a:r>
            <a:pPr algn="l" indent="0" marL="0">
              <a:buNone/>
            </a:pPr>
            <a:r>
              <a:rPr lang="ar-SA" altLang="en-US" sz="1700" b="1" dirty="0">
                <a:solidFill>
                  <a:srgbClr val="FFFFFF"/>
                </a:solidFill>
                <a:latin typeface="Amiri" pitchFamily="2" charset="-78"/>
                <a:ea typeface="Amiri" pitchFamily="2" charset="-78"/>
                <a:cs typeface="Amiri" pitchFamily="2" charset="-78"/>
              </a:rPr>
              <a:t>دَوَاءً لِـ</a:t>
            </a:r>
            <a:pPr algn="l" indent="0" marL="0">
              <a:buNone/>
            </a:pPr>
            <a:r>
              <a:rPr lang="en-US" sz="1300" b="1" dirty="0">
                <a:solidFill>
                  <a:srgbClr val="FFFFFF"/>
                </a:solidFill>
                <a:latin typeface="Calibri" pitchFamily="34" charset="0"/>
                <a:cs typeface="Amiri" pitchFamily="2" charset="-78"/>
              </a:rPr>
              <a:t> … · </a:t>
            </a:r>
            <a:pPr algn="l" indent="0" marL="0">
              <a:buNone/>
            </a:pPr>
            <a:r>
              <a:rPr lang="ar-SA" altLang="en-US" sz="1700" b="1" dirty="0">
                <a:solidFill>
                  <a:srgbClr val="FFFFFF"/>
                </a:solidFill>
                <a:latin typeface="Amiri" pitchFamily="2" charset="-78"/>
                <a:ea typeface="Amiri" pitchFamily="2" charset="-78"/>
                <a:cs typeface="Amiri" pitchFamily="2" charset="-78"/>
              </a:rPr>
              <a:t>مَرَّتَيْنِ فِي اليَوْمِ</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F5-L09 · At the Doctor and Pharmacy</dc:title>
  <dc:subject>PptxGenJS Presentation</dc:subject>
  <dc:creator>Al Madina Online School · Arabic Department</dc:creator>
  <cp:lastModifiedBy>Al Madina Online School · Arabic Department</cp:lastModifiedBy>
  <cp:revision>1</cp:revision>
  <dcterms:created xsi:type="dcterms:W3CDTF">2026-10-11T06:41:49Z</dcterms:created>
  <dcterms:modified xsi:type="dcterms:W3CDTF">2026-10-11T06:41:49Z</dcterms:modified>
</cp:coreProperties>
</file>