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F5-L09.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complete a doctor dialogue from the phrase bank and identify three instructions (اِفْتَحْ فَمَكَ · اِسْتَرِحْ · اِشْرَبِ المَاءَ).
• Develop: a role play with symptom, duration, examination and advice (يَجِبُ أَنْ …).
• Stretch: switch between doctor and pharmacy and handle an unplanned follow-up question (مَتَى آخُذُ الدَّوَاءَ؟ بَعْدَ الأَكْلِ؟).
• Website: “The doctor or pharmacist needs specific information: symptom, location, duration and any relevant cause. Give one detail at a time.”
• Safeguarding (website): “Advice in this lesson is language practice and deliberately general. It does not replace professional medical assessment.” Use invented role cards only.
• Imperatives change for a female patient: اِسْتَرِحْ → اِسْتَرِيحِي، خُذْ → خُذِي — a great listening check.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F5-L08. Questions 3–5 retrieve F5-L08 (pain + fī, mundhu, ashʿuru bi-).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Patient: what + where + since when. Doctor: you should … and take … twice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(as in Unani medicine) and دوا are identical. شفا (healing) → مُسْتَشْفًى “the place where healing is sought” (and شفاخانہ). عیادت (visiting the sick — a sunnah) → عِيَادَةٌ (clinic). وعدہ (promise) shares its root with مَوْعِدٌ (an appointment: a “promised”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(1 of 2)). Hear → Say → See → Use. Transliteration is printed for Core students (cover it for Develop/Stretch).
People have m / f / pl forms on the cards. Places: مُسْتَشْفًى (hospital), عِيَادَةٌ (clinic), صَيْدَلِيَّةٌ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(2 of 2)). Hear → Say → See → Use. Transliteration is printed for Core students (cover it for Develop/Stretch).
People have m / f / pl forms on the cards. Places: مُسْتَشْفًى (hospital), عِيَادَةٌ (clinic), صَيْدَلِيَّةٌ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(1 of 2)). Hear → Say → See → Use. Transliteration is printed for Core students (cover it for Develop/Stretch).
FLEX: teach if time allows; otherwise these are on the website vocabulary tab for homework.
FLEX: imperatives (commands) for a boy / a girl / a group. The girl form adds -ī: اِشْرَبِي، خُذِي، اِسْتَرِيحِي. They are also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(2 of 2)). Hear → Say → See → Use. Transliteration is printed for Core students (cover it for Develop/Stretch).
FLEX: teach if time allows; otherwise these are on the website vocabulary tab for homework.
FLEX: imperatives (commands) for a boy / a girl / a group. The girl form adds -ī: اِشْرَبِي، خُذِي، اِسْتَرِيحِي. They are also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“Give essential advice” (يَجِبُ أَنْ + verb) and “Join two actions” (repeat أَنْ: يَجِبُ أَنْ تَسْتَرِيحَ وَأَنْ تَنَامَ مُبَكِّرًا).
Website pattern tip: “After أَنْ, use the appropriate subjunctive form; at Foundation, learn the whole advice chunk.”
Website common error: يَجِبُ أَنْ تَسْتَرِيحُ ✗ → تَسْتَرِيحَ ✓ (the F4-L06 rule from school rules — same structure!).
Imperatives: اِسْتَرِحْ / اِسْتَرِيحِي · اِشْرَبْ / اِشْرَبِي · خُذْ / خُذِي · اِفْتَحْ / اِفْتَحِي · تَنَفَّسْ / تَنَفَّسِي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“Request medicine” (أُرِيدُ دَوَاءً لِـ … — the medicine is the object, -an; لِـ gives the purpose) and “Give dosage frequency” (مَرَّةً / مَرَّتَيْنِ فِي اليَوْمِ).
Website mistake: أُرِيدُ دَوَاءٌ ✗ → أُرِيدُ دَوَاءً ✓ (F5-L05: the item after أُرِيدُ takes -an).
Three times a day: ثَلَاثَ مَرَّاتٍ فِي اليَوْمِ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2,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10-line model consultation. Perform it with a confident student (you are the doctor), then repeat with a “female patient” so the class hears اِفْتَحِي فَمَكِ، يَجِبُ أَنْ تَسْتَرِيحِي،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items: هُوَ فِي المُسْتَشْفَى · يَجِبُ أَنْ تَرْتَاحَ وَتَشْرَبَ المَاءَ (تَرْتَاحَ = تَسْتَرِيحَ, both mean rest) ·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items: هُوَ فِي المُسْتَشْفَى · يَجِبُ أَنْ تَرْتَاحَ وَتَشْرَبَ المَاءَ (تَرْتَاحَ = تَسْتَرِيحَ, both mean rest) ·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Ask “why?” for each: a broken arm or a high fever needs a clinic or hospital; medicine for a headache or a bandage comes from the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Ask “why?” for each: a broken arm or a high fever needs a clinic or hospital; medicine for a headache or a bandage comes from the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then list the doctor’s four instructions.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Website “Doctor or pharmacy role play” — the five website prompts (English on the website): state the problem and duration · answer where the pain is / how you feel · understand and repeat one instruction · ask how often to take the medicine · thank and close.
Website model (female doctor, female patient): مَا المُشْكِلَةُ؟ — عِنْدِي صُدَاعٌ وَحُمَّى مُنْذُ أَمْسِ. — يَجِبُ أَنْ تَسْتَرِيحِي وَأَنْ تَشْرَبِي المَاءَ. — شُكْرًا. كَمْ مَرَّةً آخُذُ الدَّوَاءَ؟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سُعَالٌ … مُنْذُ يَوْمَيْنِ · اِفْتَحْ فَمَكَ · يَجِبُ أَنْ تَسْتَرِيحَ وَأَنْ تَشْرَبَ · مَرَّتَيْنِ فِي اليَوْمِ.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(F5-L10 · Healthy Habits and Advice) will spend class time USING this language, so students prepare it tonight — short, simple, easy to access (school guidance: “Simple, Short, Interesting, Relevant, Easy to access”). The five words come from the website F5-L10 lesson (healthy habits and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cs typeface="Amiri" pitchFamily="2" charset="-78"/>
              </a:rPr>
              <a:t>At the Doctor and Pharmacy</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عِنْدَ الطَّبِيبِ وَفِي الصَّيْدَلِيَّةِ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Take part in a simple consultation: explain the problem, understand advice with </a:t>
            </a:r>
            <a:pPr algn="l" indent="0" marL="0">
              <a:buNone/>
            </a:pPr>
            <a:r>
              <a:rPr lang="ar-SA" altLang="en-US" sz="1800" dirty="0">
                <a:solidFill>
                  <a:srgbClr val="C6D2E6"/>
                </a:solidFill>
                <a:latin typeface="Amiri" pitchFamily="2" charset="-78"/>
                <a:cs typeface="Amiri" pitchFamily="2" charset="-78"/>
              </a:rPr>
              <a:t>يَجِبُ أَنْ</a:t>
            </a:r>
            <a:pPr algn="l" indent="0" marL="0">
              <a:buNone/>
            </a:pPr>
            <a:r>
              <a:rPr lang="en-US" sz="1400" dirty="0">
                <a:solidFill>
                  <a:srgbClr val="C6D2E6"/>
                </a:solidFill>
                <a:latin typeface="Calibri" pitchFamily="34" charset="0"/>
                <a:cs typeface="Amiri" pitchFamily="2" charset="-78"/>
              </a:rPr>
              <a:t> and imperatives, ask for medicine or an appointment and how often to take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F5-L09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People, places and treatment words, then advice: you should … / take … twice a day.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where should they go?, fix the mistakes and listen to a consultation.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appointment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bandage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أَلَمٌ عَلَى ظَهْرِي.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 أَلَمًا فِي ظَهْرِي.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أَلَمٌ فِي ظَهْرِي.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“since yesterday”?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مَتَى؟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أَمْسِ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أَشْعُرُ</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appointment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bandage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أَلَمٌ عَلَى ظَهْرِي.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أَشْرَبُ أَلَمًا فِي ظَهْرِي.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 أَلَمٌ فِي ظَهْرِي.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F5-L08: pain is located with fī.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“since yesterday”?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مُنْذُ 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مُنْذُ مَتَى؟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مُنْذُ أَمْسِ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F5-L08: mundhu + time.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أَشْعُرُ</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F5-L08: ashʿuru bi-.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Patient: what + where + since when. Doctor: you should … and take … twice a 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يَجِبُ أَنْ</a:t>
            </a:r>
            <a:pPr rtl="1" algn="ctr" indent="0" marL="0">
              <a:lnSpc>
                <a:spcPct val="120000"/>
              </a:lnSpc>
              <a:buNone/>
            </a:pPr>
            <a:r>
              <a:rPr lang="ar-SA" altLang="en-US" sz="1950" b="1" dirty="0">
                <a:solidFill>
                  <a:srgbClr val="1B3B6F"/>
                </a:solidFill>
                <a:latin typeface="Amiri" pitchFamily="2" charset="-78"/>
                <a:cs typeface="Amiri" pitchFamily="2" charset="-78"/>
              </a:rPr>
              <a:t> تَسْتَرِيحَ · </a:t>
            </a:r>
            <a:pPr rtl="1" algn="ctr" indent="0" marL="0">
              <a:lnSpc>
                <a:spcPct val="120000"/>
              </a:lnSpc>
              <a:buNone/>
            </a:pPr>
            <a:r>
              <a:rPr lang="ar-SA" altLang="en-US" sz="1950" b="1" dirty="0">
                <a:solidFill>
                  <a:srgbClr val="0E7C86"/>
                </a:solidFill>
                <a:latin typeface="Amiri" pitchFamily="2" charset="-78"/>
                <a:cs typeface="Amiri" pitchFamily="2" charset="-78"/>
              </a:rPr>
              <a:t>خُذْ</a:t>
            </a:r>
            <a:pPr rtl="1" algn="ctr" indent="0" marL="0">
              <a:lnSpc>
                <a:spcPct val="120000"/>
              </a:lnSpc>
              <a:buNone/>
            </a:pPr>
            <a:r>
              <a:rPr lang="ar-SA" altLang="en-US" sz="1950" b="1" dirty="0">
                <a:solidFill>
                  <a:srgbClr val="1B3B6F"/>
                </a:solidFill>
                <a:latin typeface="Amiri" pitchFamily="2" charset="-78"/>
                <a:cs typeface="Amiri" pitchFamily="2" charset="-78"/>
              </a:rPr>
              <a:t> الدَّوَاءَ </a:t>
            </a:r>
            <a:pPr rtl="1" algn="ctr" indent="0" marL="0">
              <a:lnSpc>
                <a:spcPct val="120000"/>
              </a:lnSpc>
              <a:buNone/>
            </a:pPr>
            <a:r>
              <a:rPr lang="ar-SA" altLang="en-US" sz="1950" b="1" dirty="0">
                <a:solidFill>
                  <a:srgbClr val="7B3FA0"/>
                </a:solidFill>
                <a:latin typeface="Amiri" pitchFamily="2" charset="-78"/>
                <a:cs typeface="Amiri" pitchFamily="2" charset="-78"/>
              </a:rPr>
              <a:t>مَرَّتَيْنِ</a:t>
            </a:r>
            <a:pPr rtl="1" algn="ctr" indent="0" marL="0">
              <a:lnSpc>
                <a:spcPct val="120000"/>
              </a:lnSpc>
              <a:buNone/>
            </a:pPr>
            <a:r>
              <a:rPr lang="ar-SA" altLang="en-US" sz="1950" b="1" dirty="0">
                <a:solidFill>
                  <a:srgbClr val="1B3B6F"/>
                </a:solidFill>
                <a:latin typeface="Amiri" pitchFamily="2" charset="-78"/>
                <a:cs typeface="Amiri" pitchFamily="2" charset="-78"/>
              </a:rPr>
              <a:t> فِي اليَوْمِ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give simple advice with </a:t>
            </a:r>
            <a:pPr algn="l" indent="0" marL="0">
              <a:buNone/>
            </a:pPr>
            <a:r>
              <a:rPr lang="ar-SA" altLang="en-US" sz="1700" dirty="0">
                <a:solidFill>
                  <a:srgbClr val="1F2A37"/>
                </a:solidFill>
                <a:latin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explain a simple health problem.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understand three instructions.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for medicine or an appointment politely.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advice with </a:t>
            </a:r>
            <a:pPr algn="l" indent="0" marL="0">
              <a:buNone/>
            </a:pPr>
            <a:r>
              <a:rPr lang="ar-SA" altLang="en-US" sz="1700" b="1" dirty="0">
                <a:solidFill>
                  <a:srgbClr val="C9780A"/>
                </a:solidFill>
                <a:latin typeface="Amiri" pitchFamily="2" charset="-78"/>
                <a:cs typeface="Amiri" pitchFamily="2" charset="-78"/>
              </a:rPr>
              <a:t>يَجِبُ أَنْ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between doctor and pharmacy.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handle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‎دوا‎ </a:t>
            </a:r>
            <a:pPr indent="0" marL="0">
              <a:buNone/>
            </a:pPr>
            <a:r>
              <a:rPr lang="en-US" sz="950" b="1" dirty="0">
                <a:solidFill>
                  <a:srgbClr val="2E8B57"/>
                </a:solidFill>
                <a:latin typeface="Calibri" pitchFamily="34" charset="0"/>
                <a:cs typeface="Amiri" pitchFamily="2" charset="-78"/>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مُسْتَشْفًى</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‎شفا‎ </a:t>
            </a:r>
            <a:pPr indent="0" marL="0">
              <a:buNone/>
            </a:pPr>
            <a:r>
              <a:rPr lang="en-US" sz="950" b="1" dirty="0">
                <a:solidFill>
                  <a:srgbClr val="2E8B57"/>
                </a:solidFill>
                <a:latin typeface="Calibri" pitchFamily="34" charset="0"/>
                <a:cs typeface="Amiri" pitchFamily="2" charset="-78"/>
              </a:rPr>
              <a:t> shifā · healing → hospital</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عِيَادَةٌ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‎عیادت‎ </a:t>
            </a:r>
            <a:pPr indent="0" marL="0">
              <a:buNone/>
            </a:pPr>
            <a:r>
              <a:rPr lang="en-US" sz="950" b="1" dirty="0">
                <a:solidFill>
                  <a:srgbClr val="2E8B57"/>
                </a:solidFill>
                <a:latin typeface="Calibri" pitchFamily="34" charset="0"/>
                <a:cs typeface="Amiri" pitchFamily="2" charset="-78"/>
              </a:rPr>
              <a:t> iyādat · visiting the sick → clinic</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مَوْعِدٌ</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‎وعدہ‎ </a:t>
            </a:r>
            <a:pPr indent="0" marL="0">
              <a:buNone/>
            </a:pPr>
            <a:r>
              <a:rPr lang="en-US" sz="950" b="1" dirty="0">
                <a:solidFill>
                  <a:srgbClr val="2E8B57"/>
                </a:solidFill>
                <a:latin typeface="Calibri" pitchFamily="34" charset="0"/>
                <a:cs typeface="Amiri" pitchFamily="2" charset="-78"/>
              </a:rPr>
              <a:t> vaʿda · a promise → an appointment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 m/f</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dentist</a:t>
            </a:r>
            <a:endParaRPr lang="en-US" sz="1350" dirty="0"/>
          </a:p>
          <a:p>
            <a:pPr indent="0" marL="0">
              <a:buNone/>
            </a:pPr>
            <a:r>
              <a:rPr lang="en-US" sz="1100" i="1" dirty="0">
                <a:solidFill>
                  <a:srgbClr val="5A6472"/>
                </a:solidFill>
                <a:latin typeface="Calibri" pitchFamily="34" charset="0"/>
                <a:cs typeface="Amiri" pitchFamily="2" charset="-78"/>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 m/f</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مُسْتَشْفًى</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مُسْتَشْفَيَاتٌ</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clinic</a:t>
            </a:r>
            <a:endParaRPr lang="en-US" sz="1350" dirty="0"/>
          </a:p>
          <a:p>
            <a:pPr indent="0" marL="0">
              <a:buNone/>
            </a:pPr>
            <a:r>
              <a:rPr lang="en-US" sz="1100" i="1" dirty="0">
                <a:solidFill>
                  <a:srgbClr val="5A6472"/>
                </a:solidFill>
                <a:latin typeface="Calibri" pitchFamily="34" charset="0"/>
                <a:cs typeface="Amiri" pitchFamily="2" charset="-78"/>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pharmacist m/f</a:t>
            </a:r>
            <a:endParaRPr lang="en-US" sz="1350" dirty="0"/>
          </a:p>
          <a:p>
            <a:pPr indent="0" marL="0">
              <a:buNone/>
            </a:pPr>
            <a:r>
              <a:rPr lang="en-US" sz="1100" i="1" dirty="0">
                <a:solidFill>
                  <a:srgbClr val="5A6472"/>
                </a:solidFill>
                <a:latin typeface="Calibri" pitchFamily="34" charset="0"/>
                <a:cs typeface="Amiri" pitchFamily="2" charset="-78"/>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صَيْدَلَانِيٌّ</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صَيَادِلَةٌ</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medicine</a:t>
            </a:r>
            <a:endParaRPr lang="en-US" sz="1350" dirty="0"/>
          </a:p>
          <a:p>
            <a:pPr indent="0" marL="0">
              <a:buNone/>
            </a:pPr>
            <a:r>
              <a:rPr lang="en-US" sz="1100" i="1" dirty="0">
                <a:solidFill>
                  <a:srgbClr val="5A6472"/>
                </a:solidFill>
                <a:latin typeface="Calibri" pitchFamily="34" charset="0"/>
                <a:cs typeface="Amiri" pitchFamily="2" charset="-78"/>
              </a:rPr>
              <a:t>da-wā-ʾun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وَصْفَةٌ طِبِّيَّةٌ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prescription</a:t>
            </a:r>
            <a:endParaRPr lang="en-US" sz="1350" dirty="0"/>
          </a:p>
          <a:p>
            <a:pPr indent="0" marL="0">
              <a:buNone/>
            </a:pPr>
            <a:r>
              <a:rPr lang="en-US" sz="1100" i="1" dirty="0">
                <a:solidFill>
                  <a:srgbClr val="5A6472"/>
                </a:solidFill>
                <a:latin typeface="Calibri" pitchFamily="34" charset="0"/>
                <a:cs typeface="Amiri" pitchFamily="2" charset="-78"/>
              </a:rPr>
              <a:t>waṣ-fa-tun ṭib-biy-ya-tun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ضِمَادٌ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bandage / dressing</a:t>
            </a:r>
            <a:endParaRPr lang="en-US" sz="1350" dirty="0"/>
          </a:p>
          <a:p>
            <a:pPr indent="0" marL="0">
              <a:buNone/>
            </a:pPr>
            <a:r>
              <a:rPr lang="en-US" sz="1100" i="1" dirty="0">
                <a:solidFill>
                  <a:srgbClr val="5A6472"/>
                </a:solidFill>
                <a:latin typeface="Calibri" pitchFamily="34" charset="0"/>
                <a:cs typeface="Amiri" pitchFamily="2" charset="-78"/>
              </a:rPr>
              <a:t>ḍi-mā-dun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طِبِّيٌّ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medical appointment</a:t>
            </a:r>
            <a:endParaRPr lang="en-US" sz="1350" dirty="0"/>
          </a:p>
          <a:p>
            <a:pPr indent="0" marL="0">
              <a:buNone/>
            </a:pPr>
            <a:r>
              <a:rPr lang="en-US" sz="1100" i="1" dirty="0">
                <a:solidFill>
                  <a:srgbClr val="5A6472"/>
                </a:solidFill>
                <a:latin typeface="Calibri" pitchFamily="34" charset="0"/>
                <a:cs typeface="Amiri" pitchFamily="2" charset="-78"/>
              </a:rPr>
              <a:t>maw-ʿi-dun ṭib-biy-yun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(2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tablets</a:t>
            </a:r>
            <a:endParaRPr lang="en-US" sz="1350" dirty="0"/>
          </a:p>
          <a:p>
            <a:pPr indent="0" marL="0">
              <a:buNone/>
            </a:pPr>
            <a:r>
              <a:rPr lang="en-US" sz="1100" i="1" dirty="0">
                <a:solidFill>
                  <a:srgbClr val="5A6472"/>
                </a:solidFill>
                <a:latin typeface="Calibri" pitchFamily="34" charset="0"/>
                <a:cs typeface="Amiri" pitchFamily="2" charset="-78"/>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 syrup</a:t>
            </a:r>
            <a:endParaRPr lang="en-US" sz="1350" dirty="0"/>
          </a:p>
          <a:p>
            <a:pPr indent="0" marL="0">
              <a:buNone/>
            </a:pPr>
            <a:r>
              <a:rPr lang="en-US" sz="1100" i="1" dirty="0">
                <a:solidFill>
                  <a:srgbClr val="5A6472"/>
                </a:solidFill>
                <a:latin typeface="Calibri" pitchFamily="34" charset="0"/>
                <a:cs typeface="Amiri" pitchFamily="2" charset="-78"/>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examination / check</a:t>
            </a:r>
            <a:endParaRPr lang="en-US" sz="1350" dirty="0"/>
          </a:p>
          <a:p>
            <a:pPr indent="0" marL="0">
              <a:buNone/>
            </a:pPr>
            <a:r>
              <a:rPr lang="en-US" sz="1100" i="1" dirty="0">
                <a:solidFill>
                  <a:srgbClr val="5A6472"/>
                </a:solidFill>
                <a:latin typeface="Calibri" pitchFamily="34" charset="0"/>
                <a:cs typeface="Amiri" pitchFamily="2" charset="-78"/>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temperature</a:t>
            </a:r>
            <a:endParaRPr lang="en-US" sz="1350" dirty="0"/>
          </a:p>
          <a:p>
            <a:pPr indent="0" marL="0">
              <a:buNone/>
            </a:pPr>
            <a:r>
              <a:rPr lang="en-US" sz="1100" i="1" dirty="0">
                <a:solidFill>
                  <a:srgbClr val="5A6472"/>
                </a:solidFill>
                <a:latin typeface="Calibri" pitchFamily="34" charset="0"/>
                <a:cs typeface="Amiri" pitchFamily="2" charset="-78"/>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أَنْ ...</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should / one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الأَفْضَلِ أَنْ ...</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 ...</a:t>
            </a:r>
            <a:endParaRPr lang="en-US" sz="1350" dirty="0"/>
          </a:p>
          <a:p>
            <a:pPr indent="0" marL="0">
              <a:buNone/>
            </a:pPr>
            <a:r>
              <a:rPr lang="en-US" sz="1100" i="1" dirty="0">
                <a:solidFill>
                  <a:srgbClr val="5A6472"/>
                </a:solidFill>
                <a:latin typeface="Calibri" pitchFamily="34" charset="0"/>
                <a:cs typeface="Amiri" pitchFamily="2" charset="-78"/>
              </a:rPr>
              <a:t>mi-na al-af-ḍa-li an ...</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اِسْتَرِحْ / اِسْتَرِيحِي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 m/f</a:t>
            </a:r>
            <a:endParaRPr lang="en-US" sz="1350" dirty="0"/>
          </a:p>
          <a:p>
            <a:pPr indent="0" marL="0">
              <a:buNone/>
            </a:pPr>
            <a:r>
              <a:rPr lang="en-US" sz="1100" i="1" dirty="0">
                <a:solidFill>
                  <a:srgbClr val="5A6472"/>
                </a:solidFill>
                <a:latin typeface="Calibri" pitchFamily="34" charset="0"/>
                <a:cs typeface="Amiri" pitchFamily="2" charset="-78"/>
              </a:rPr>
              <a:t>is-ta-riḥ / is-ta-rī-ḥī</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اِسْتَرِحْ</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اِسْتَرِيحِي</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اِسْتَرِيحُوا</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اِشْرَبْ / اِشْرَبِي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 m/f</a:t>
            </a:r>
            <a:endParaRPr lang="en-US" sz="1350" dirty="0"/>
          </a:p>
          <a:p>
            <a:pPr indent="0" marL="0">
              <a:buNone/>
            </a:pPr>
            <a:r>
              <a:rPr lang="en-US" sz="1100" i="1" dirty="0">
                <a:solidFill>
                  <a:srgbClr val="5A6472"/>
                </a:solidFill>
                <a:latin typeface="Calibri" pitchFamily="34" charset="0"/>
                <a:cs typeface="Amiri" pitchFamily="2" charset="-78"/>
              </a:rPr>
              <a:t>ish-rab / ish-ra-bī</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اِشْرَبْ</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اِشْرَبِي</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اِشْرَبُوا</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خُذْ / خُذِي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 m/f</a:t>
            </a:r>
            <a:endParaRPr lang="en-US" sz="1350" dirty="0"/>
          </a:p>
          <a:p>
            <a:pPr indent="0" marL="0">
              <a:buNone/>
            </a:pPr>
            <a:r>
              <a:rPr lang="en-US" sz="1100" i="1" dirty="0">
                <a:solidFill>
                  <a:srgbClr val="5A6472"/>
                </a:solidFill>
                <a:latin typeface="Calibri" pitchFamily="34" charset="0"/>
                <a:cs typeface="Amiri" pitchFamily="2" charset="-78"/>
              </a:rPr>
              <a:t>khudh / khu-dhī</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خُذْ</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خُذِي</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خُذُوا</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اِسْتَلْقِ</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lie down</a:t>
            </a:r>
            <a:endParaRPr lang="en-US" sz="1350" dirty="0"/>
          </a:p>
          <a:p>
            <a:pPr indent="0" marL="0">
              <a:buNone/>
            </a:pPr>
            <a:r>
              <a:rPr lang="en-US" sz="1100" i="1" dirty="0">
                <a:solidFill>
                  <a:srgbClr val="5A6472"/>
                </a:solidFill>
                <a:latin typeface="Calibri" pitchFamily="34" charset="0"/>
                <a:cs typeface="Amiri" pitchFamily="2" charset="-78"/>
              </a:rPr>
              <a:t>is-tal-qi</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اِفْتَحْ فَمَكَ / فَمَكِ</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 your mouth</a:t>
            </a:r>
            <a:endParaRPr lang="en-US" sz="1350" dirty="0"/>
          </a:p>
          <a:p>
            <a:pPr indent="0" marL="0">
              <a:buNone/>
            </a:pPr>
            <a:r>
              <a:rPr lang="en-US" sz="1100" i="1" dirty="0">
                <a:solidFill>
                  <a:srgbClr val="5A6472"/>
                </a:solidFill>
                <a:latin typeface="Calibri" pitchFamily="34" charset="0"/>
                <a:cs typeface="Amiri" pitchFamily="2" charset="-78"/>
              </a:rPr>
              <a:t>if-taḥ fa-ma-ka / fa-ma-ki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تَنَفَّسْ بِعُمْقٍ</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breathe deeply</a:t>
            </a:r>
            <a:endParaRPr lang="en-US" sz="1350" dirty="0"/>
          </a:p>
          <a:p>
            <a:pPr indent="0" marL="0">
              <a:buNone/>
            </a:pPr>
            <a:r>
              <a:rPr lang="en-US" sz="1100" i="1" dirty="0">
                <a:solidFill>
                  <a:srgbClr val="5A6472"/>
                </a:solidFill>
                <a:latin typeface="Calibri" pitchFamily="34" charset="0"/>
                <a:cs typeface="Amiri" pitchFamily="2" charset="-78"/>
              </a:rPr>
              <a:t>ta-naf-fas bi-ʿum-qin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ADVICE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 should … · take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يَجِبُ أَنْ ·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1695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cs typeface="Amiri" pitchFamily="2" charset="-78"/>
              </a:rPr>
              <a:t> تَسْتَرِيحَ.</a:t>
            </a:r>
            <a:endParaRPr lang="ar-SA" sz="2400" dirty="0"/>
          </a:p>
        </p:txBody>
      </p:sp>
      <p:sp>
        <p:nvSpPr>
          <p:cNvPr id="21" name="Text 18"/>
          <p:cNvSpPr txBox="1"/>
          <p:nvPr/>
        </p:nvSpPr>
        <p:spPr>
          <a:xfrm>
            <a:off x="341071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cs typeface="Amiri" pitchFamily="2" charset="-78"/>
              </a:rPr>
              <a:t> تَسْتَرِيحِي.</a:t>
            </a:r>
            <a:endParaRPr lang="ar-SA" sz="2400" dirty="0"/>
          </a:p>
        </p:txBody>
      </p:sp>
      <p:sp>
        <p:nvSpPr>
          <p:cNvPr id="22" name="Text 19"/>
          <p:cNvSpPr txBox="1"/>
          <p:nvPr/>
        </p:nvSpPr>
        <p:spPr>
          <a:xfrm>
            <a:off x="56692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should rest.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1695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cs typeface="Amiri" pitchFamily="2" charset="-78"/>
              </a:rPr>
              <a:t> تَشْرَبَ المَاءَ.</a:t>
            </a:r>
            <a:endParaRPr lang="ar-SA" sz="2400" dirty="0"/>
          </a:p>
        </p:txBody>
      </p:sp>
      <p:sp>
        <p:nvSpPr>
          <p:cNvPr id="27" name="Text 24"/>
          <p:cNvSpPr txBox="1"/>
          <p:nvPr/>
        </p:nvSpPr>
        <p:spPr>
          <a:xfrm>
            <a:off x="341071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cs typeface="Amiri" pitchFamily="2" charset="-78"/>
              </a:rPr>
              <a:t> تَشْرَبِي المَاءَ.</a:t>
            </a:r>
            <a:endParaRPr lang="ar-SA" sz="2400" dirty="0"/>
          </a:p>
        </p:txBody>
      </p:sp>
      <p:sp>
        <p:nvSpPr>
          <p:cNvPr id="28" name="Text 25"/>
          <p:cNvSpPr txBox="1"/>
          <p:nvPr/>
        </p:nvSpPr>
        <p:spPr>
          <a:xfrm>
            <a:off x="56692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should drink water.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1695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يَجِبُ أَنْ تَسْتَرِيحَ </a:t>
            </a:r>
            <a:pPr rtl="1" algn="ctr" indent="0" marL="0">
              <a:buNone/>
            </a:pPr>
            <a:r>
              <a:rPr lang="ar-SA" altLang="en-US" sz="2400" b="1" dirty="0">
                <a:solidFill>
                  <a:srgbClr val="1D5FBF"/>
                </a:solidFill>
                <a:latin typeface="Amiri" pitchFamily="2" charset="-78"/>
                <a:cs typeface="Amiri" pitchFamily="2" charset="-78"/>
              </a:rPr>
              <a:t>وَأَنْ</a:t>
            </a:r>
            <a:pPr rtl="1" algn="ctr" indent="0" marL="0">
              <a:buNone/>
            </a:pPr>
            <a:r>
              <a:rPr lang="ar-SA" altLang="en-US" sz="2400" b="1" dirty="0">
                <a:solidFill>
                  <a:srgbClr val="1B3B6F"/>
                </a:solidFill>
                <a:latin typeface="Amiri" pitchFamily="2" charset="-78"/>
                <a:cs typeface="Amiri" pitchFamily="2" charset="-78"/>
              </a:rPr>
              <a:t> تَنَامَ مُبَكِّرًا.</a:t>
            </a:r>
            <a:endParaRPr lang="ar-SA" sz="2400" dirty="0"/>
          </a:p>
        </p:txBody>
      </p:sp>
      <p:sp>
        <p:nvSpPr>
          <p:cNvPr id="33" name="Text 30"/>
          <p:cNvSpPr txBox="1"/>
          <p:nvPr/>
        </p:nvSpPr>
        <p:spPr>
          <a:xfrm>
            <a:off x="341071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يَجِبُ أَنْ تَسْتَرِيحِي </a:t>
            </a:r>
            <a:pPr rtl="1" algn="ctr" indent="0" marL="0">
              <a:buNone/>
            </a:pPr>
            <a:r>
              <a:rPr lang="ar-SA" altLang="en-US" sz="2400" b="1" dirty="0">
                <a:solidFill>
                  <a:srgbClr val="1D5FBF"/>
                </a:solidFill>
                <a:latin typeface="Amiri" pitchFamily="2" charset="-78"/>
                <a:cs typeface="Amiri" pitchFamily="2" charset="-78"/>
              </a:rPr>
              <a:t>وَأَنْ</a:t>
            </a:r>
            <a:pPr rtl="1" algn="ctr" indent="0" marL="0">
              <a:buNone/>
            </a:pPr>
            <a:r>
              <a:rPr lang="ar-SA" altLang="en-US" sz="2400" b="1" dirty="0">
                <a:solidFill>
                  <a:srgbClr val="1B3B6F"/>
                </a:solidFill>
                <a:latin typeface="Amiri" pitchFamily="2" charset="-78"/>
                <a:cs typeface="Amiri" pitchFamily="2" charset="-78"/>
              </a:rPr>
              <a:t> تَنَامِي مُبَكِّرًا.</a:t>
            </a:r>
            <a:endParaRPr lang="ar-SA" sz="2400" dirty="0"/>
          </a:p>
        </p:txBody>
      </p:sp>
      <p:sp>
        <p:nvSpPr>
          <p:cNvPr id="34" name="Text 31"/>
          <p:cNvSpPr txBox="1"/>
          <p:nvPr/>
        </p:nvSpPr>
        <p:spPr>
          <a:xfrm>
            <a:off x="56692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and sleep early.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1695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خُذْ</a:t>
            </a:r>
            <a:pPr rtl="1" algn="ctr" indent="0" marL="0">
              <a:buNone/>
            </a:pPr>
            <a:r>
              <a:rPr lang="ar-SA" altLang="en-US" sz="2400" b="1" dirty="0">
                <a:solidFill>
                  <a:srgbClr val="1B3B6F"/>
                </a:solidFill>
                <a:latin typeface="Amiri" pitchFamily="2" charset="-78"/>
                <a:cs typeface="Amiri" pitchFamily="2" charset="-78"/>
              </a:rPr>
              <a:t> هٰذَا الدَّوَاءَ.</a:t>
            </a:r>
            <a:endParaRPr lang="ar-SA" sz="2400" dirty="0"/>
          </a:p>
        </p:txBody>
      </p:sp>
      <p:sp>
        <p:nvSpPr>
          <p:cNvPr id="37" name="Text 34"/>
          <p:cNvSpPr txBox="1"/>
          <p:nvPr/>
        </p:nvSpPr>
        <p:spPr>
          <a:xfrm>
            <a:off x="341071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خُذِي</a:t>
            </a:r>
            <a:pPr rtl="1" algn="ctr" indent="0" marL="0">
              <a:buNone/>
            </a:pPr>
            <a:r>
              <a:rPr lang="ar-SA" altLang="en-US" sz="2400" b="1" dirty="0">
                <a:solidFill>
                  <a:srgbClr val="1B3B6F"/>
                </a:solidFill>
                <a:latin typeface="Amiri" pitchFamily="2" charset="-78"/>
                <a:cs typeface="Amiri" pitchFamily="2" charset="-78"/>
              </a:rPr>
              <a:t> هٰذَا الدَّوَاءَ.</a:t>
            </a:r>
            <a:endParaRPr lang="ar-SA" sz="2400" dirty="0"/>
          </a:p>
        </p:txBody>
      </p:sp>
      <p:sp>
        <p:nvSpPr>
          <p:cNvPr id="38" name="Text 35"/>
          <p:cNvSpPr txBox="1"/>
          <p:nvPr/>
        </p:nvSpPr>
        <p:spPr>
          <a:xfrm>
            <a:off x="56692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 this medicine.</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1695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اِفْتَحْ</a:t>
            </a:r>
            <a:pPr rtl="1" algn="ctr" indent="0" marL="0">
              <a:buNone/>
            </a:pPr>
            <a:r>
              <a:rPr lang="ar-SA" altLang="en-US" sz="2400" b="1" dirty="0">
                <a:solidFill>
                  <a:srgbClr val="1B3B6F"/>
                </a:solidFill>
                <a:latin typeface="Amiri" pitchFamily="2" charset="-78"/>
                <a:cs typeface="Amiri" pitchFamily="2" charset="-78"/>
              </a:rPr>
              <a:t> فَمَكَ.</a:t>
            </a:r>
            <a:endParaRPr lang="ar-SA" sz="2400" dirty="0"/>
          </a:p>
        </p:txBody>
      </p:sp>
      <p:sp>
        <p:nvSpPr>
          <p:cNvPr id="43" name="Text 40"/>
          <p:cNvSpPr txBox="1"/>
          <p:nvPr/>
        </p:nvSpPr>
        <p:spPr>
          <a:xfrm>
            <a:off x="341071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اِفْتَحِي</a:t>
            </a:r>
            <a:pPr rtl="1" algn="ctr" indent="0" marL="0">
              <a:buNone/>
            </a:pPr>
            <a:r>
              <a:rPr lang="ar-SA" altLang="en-US" sz="2400" b="1" dirty="0">
                <a:solidFill>
                  <a:srgbClr val="1B3B6F"/>
                </a:solidFill>
                <a:latin typeface="Amiri" pitchFamily="2" charset="-78"/>
                <a:cs typeface="Amiri" pitchFamily="2" charset="-78"/>
              </a:rPr>
              <a:t> فَمَكِ.</a:t>
            </a:r>
            <a:endParaRPr lang="ar-SA" sz="2400" dirty="0"/>
          </a:p>
        </p:txBody>
      </p:sp>
      <p:sp>
        <p:nvSpPr>
          <p:cNvPr id="44" name="Text 41"/>
          <p:cNvSpPr txBox="1"/>
          <p:nvPr/>
        </p:nvSpPr>
        <p:spPr>
          <a:xfrm>
            <a:off x="56692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 your mouth.</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the advice as whole chunks: yajibu an tastarīḥa. To a girl the verb ends in -ī.</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MEDICINE AND HOW OFTEN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Medicine for … twice a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دَوَاءٌ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MEDICINE FOR …</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دَوَاءً لِـ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أُرِيدُ دَوَاءً لِلصُّدَاعِ، مِنْ فَضْلِكَ.</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medicine for a headache,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 = for.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APPOINTMENT</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أَحْجِزَ مَوْعِدًا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أُرِيدُ أَنْ أَحْجِزَ مَوْعِدًا مَعَ طَبِيبِ الأَسْنَانِ.</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to book an appointment with the dentist.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complete, useful chunk.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كَمْ 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كَمْ مَرَّةً آخُذُ الدَّوَاءَ؟ — مَرَّتَيْنِ فِي اليَوْمِ.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often do I take it? —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marratan once · marratayni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“twice” is marratayni.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خُذْ هٰذَا الدَّوَاءَ مَرَّتَيْنِ.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خُذْ هٰذَا الدَّوَاءَ مَرَّةَانِ.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يَوْمَيْنِ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يَوْمَيْنِ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يَوْمَيْنِ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دَوَاءٌ لِلصُّدَاعِ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دَوَاءٌ فِي الصُّدَاعِ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دَوَاءٌ مِنَ الصُّدَاعِ</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 طَبِيبٌ.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أَحْجِزَ مَوْعِدًا.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مَوْعِدٌ أَيْنَ؟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تَأْخُذِي الدَّوَاءَ.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تَأْخُذَ الدَّوَاءَ.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آخُذَ الدَّوَاءَ.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يَوْمَيْنِ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يَوْمَيْنِ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مُنْذُ يَوْمَيْنِ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introduces the duration.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دَوَاءٌ لِلصُّدَاعِ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دَوَاءٌ فِي الصُّدَاعِ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دَوَاءٌ مِنَ الصُّدَاعِ</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to state the purpose.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 طَبِيبٌ.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أَحْجِزَ مَوْعِدًا.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مَوْعِدٌ أَيْنَ؟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uses </a:t>
            </a:r>
            <a:pPr algn="l" indent="0" marL="0">
              <a:buNone/>
            </a:pPr>
            <a:r>
              <a:rPr lang="ar-SA" altLang="en-US" sz="1350" dirty="0">
                <a:solidFill>
                  <a:srgbClr val="8A6D1E"/>
                </a:solidFill>
                <a:latin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verb +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تَأْخُذِي الدَّوَاءَ.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تَأْخُذَ الدَّوَاءَ.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آخُذَ الدَّوَاءَ.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in this chunk.</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model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المَرِيضُ: عِنْدِي سُعَالٌ وَأَلَمٌ فِي الحَلْقِ مُنْذُ يَوْمَيْنِ.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 where + since when.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الطَّبِيبُ: </a:t>
            </a:r>
            <a:pPr rtl="1" algn="ctr" indent="0" marL="0">
              <a:lnSpc>
                <a:spcPct val="120000"/>
              </a:lnSpc>
              <a:buNone/>
            </a:pPr>
            <a:r>
              <a:rPr lang="ar-SA" altLang="en-US" sz="1750" b="1" dirty="0">
                <a:solidFill>
                  <a:srgbClr val="0E7C86"/>
                </a:solidFill>
                <a:latin typeface="Amiri" pitchFamily="2" charset="-78"/>
                <a:cs typeface="Amiri" pitchFamily="2" charset="-78"/>
              </a:rPr>
              <a:t>اِفْتَحْ</a:t>
            </a:r>
            <a:pPr rtl="1" algn="ctr" indent="0" marL="0">
              <a:lnSpc>
                <a:spcPct val="120000"/>
              </a:lnSpc>
              <a:buNone/>
            </a:pPr>
            <a:r>
              <a:rPr lang="ar-SA" altLang="en-US" sz="1750" b="1" dirty="0">
                <a:solidFill>
                  <a:srgbClr val="1B3B6F"/>
                </a:solidFill>
                <a:latin typeface="Amiri" pitchFamily="2" charset="-78"/>
                <a:cs typeface="Amiri" pitchFamily="2" charset="-78"/>
              </a:rPr>
              <a:t> فَمَكَ وَ</a:t>
            </a:r>
            <a:pPr rtl="1" algn="ctr" indent="0" marL="0">
              <a:lnSpc>
                <a:spcPct val="120000"/>
              </a:lnSpc>
              <a:buNone/>
            </a:pPr>
            <a:r>
              <a:rPr lang="ar-SA" altLang="en-US" sz="1750" b="1" dirty="0">
                <a:solidFill>
                  <a:srgbClr val="0E7C86"/>
                </a:solidFill>
                <a:latin typeface="Amiri" pitchFamily="2" charset="-78"/>
                <a:cs typeface="Amiri" pitchFamily="2" charset="-78"/>
              </a:rPr>
              <a:t>تَنَفَّسْ</a:t>
            </a:r>
            <a:pPr rtl="1" algn="ctr" indent="0" marL="0">
              <a:lnSpc>
                <a:spcPct val="120000"/>
              </a:lnSpc>
              <a:buNone/>
            </a:pPr>
            <a:r>
              <a:rPr lang="ar-SA" altLang="en-US" sz="1750" b="1" dirty="0">
                <a:solidFill>
                  <a:srgbClr val="1B3B6F"/>
                </a:solidFill>
                <a:latin typeface="Amiri" pitchFamily="2" charset="-78"/>
                <a:cs typeface="Amiri" pitchFamily="2" charset="-78"/>
              </a:rPr>
              <a:t> بِعُمْقٍ.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instructions.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الطَّبِيبُ: </a:t>
            </a:r>
            <a:pPr rtl="1" algn="ctr" indent="0" marL="0">
              <a:lnSpc>
                <a:spcPct val="120000"/>
              </a:lnSpc>
              <a:buNone/>
            </a:pPr>
            <a:r>
              <a:rPr lang="ar-SA" altLang="en-US" sz="1750" b="1" dirty="0">
                <a:solidFill>
                  <a:srgbClr val="1D5FBF"/>
                </a:solidFill>
                <a:latin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cs typeface="Amiri" pitchFamily="2" charset="-78"/>
              </a:rPr>
              <a:t> تَسْتَرِيحَ </a:t>
            </a:r>
            <a:pPr rtl="1" algn="ctr" indent="0" marL="0">
              <a:lnSpc>
                <a:spcPct val="120000"/>
              </a:lnSpc>
              <a:buNone/>
            </a:pPr>
            <a:r>
              <a:rPr lang="ar-SA" altLang="en-US" sz="1750" b="1" dirty="0">
                <a:solidFill>
                  <a:srgbClr val="1D5FBF"/>
                </a:solidFill>
                <a:latin typeface="Amiri" pitchFamily="2" charset="-78"/>
                <a:cs typeface="Amiri" pitchFamily="2" charset="-78"/>
              </a:rPr>
              <a:t>وَأَنْ</a:t>
            </a:r>
            <a:pPr rtl="1" algn="ctr" indent="0" marL="0">
              <a:lnSpc>
                <a:spcPct val="120000"/>
              </a:lnSpc>
              <a:buNone/>
            </a:pPr>
            <a:r>
              <a:rPr lang="ar-SA" altLang="en-US" sz="1750" b="1" dirty="0">
                <a:solidFill>
                  <a:srgbClr val="1B3B6F"/>
                </a:solidFill>
                <a:latin typeface="Amiri" pitchFamily="2" charset="-78"/>
                <a:cs typeface="Amiri" pitchFamily="2" charset="-78"/>
              </a:rPr>
              <a:t> تَشْرَبَ المَاءَ.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Repeat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المَرِيضُ: كَمْ مَرَّةً آخُذُهُ؟ — الطَّبِيبُ: </a:t>
            </a:r>
            <a:pPr rtl="1" algn="ctr" indent="0" marL="0">
              <a:lnSpc>
                <a:spcPct val="120000"/>
              </a:lnSpc>
              <a:buNone/>
            </a:pPr>
            <a:r>
              <a:rPr lang="ar-SA" altLang="en-US" sz="1750" b="1" dirty="0">
                <a:solidFill>
                  <a:srgbClr val="7B3FA0"/>
                </a:solidFill>
                <a:latin typeface="Amiri" pitchFamily="2" charset="-78"/>
                <a:cs typeface="Amiri" pitchFamily="2" charset="-78"/>
              </a:rPr>
              <a:t>مَرَّتَيْنِ</a:t>
            </a:r>
            <a:pPr rtl="1" algn="ctr" indent="0" marL="0">
              <a:lnSpc>
                <a:spcPct val="120000"/>
              </a:lnSpc>
              <a:buNone/>
            </a:pPr>
            <a:r>
              <a:rPr lang="ar-SA" altLang="en-US" sz="1750" b="1" dirty="0">
                <a:solidFill>
                  <a:srgbClr val="1B3B6F"/>
                </a:solidFill>
                <a:latin typeface="Amiri" pitchFamily="2" charset="-78"/>
                <a:cs typeface="Amiri" pitchFamily="2" charset="-78"/>
              </a:rPr>
              <a:t> فِي اليَوْمِ.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Twice a day.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INSTRUCTION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OFTEN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الطَّبِيبُ: مَا المُشْكِلَةُ؟ — المَرِيضُ: عِنْدِي سُعَالٌ وَأَلَمٌ فِي الحَلْقِ مُنْذُ يَوْمَيْنِ. — هَلْ عِنْدَكَ حُمَّى؟ — نَعَمْ، وَأَشْعُرُ بِالتَّعَبِ. — </a:t>
            </a:r>
            <a:pPr rtl="1" algn="r" indent="0" marL="0">
              <a:lnSpc>
                <a:spcPct val="120000"/>
              </a:lnSpc>
              <a:buNone/>
            </a:pPr>
            <a:r>
              <a:rPr lang="ar-SA" altLang="en-US" sz="1400" b="1" dirty="0">
                <a:solidFill>
                  <a:srgbClr val="0E7C86"/>
                </a:solidFill>
                <a:latin typeface="Amiri" pitchFamily="2" charset="-78"/>
                <a:cs typeface="Amiri" pitchFamily="2" charset="-78"/>
              </a:rPr>
              <a:t>اِفْتَحْ</a:t>
            </a:r>
            <a:pPr rtl="1" algn="r" indent="0" marL="0">
              <a:lnSpc>
                <a:spcPct val="120000"/>
              </a:lnSpc>
              <a:buNone/>
            </a:pPr>
            <a:r>
              <a:rPr lang="ar-SA" altLang="en-US" sz="1400" b="1" dirty="0">
                <a:solidFill>
                  <a:srgbClr val="1B3B6F"/>
                </a:solidFill>
                <a:latin typeface="Amiri" pitchFamily="2" charset="-78"/>
                <a:cs typeface="Amiri" pitchFamily="2" charset="-78"/>
              </a:rPr>
              <a:t> فَمَكَ وَ</a:t>
            </a:r>
            <a:pPr rtl="1" algn="r" indent="0" marL="0">
              <a:lnSpc>
                <a:spcPct val="120000"/>
              </a:lnSpc>
              <a:buNone/>
            </a:pPr>
            <a:r>
              <a:rPr lang="ar-SA" altLang="en-US" sz="1400" b="1" dirty="0">
                <a:solidFill>
                  <a:srgbClr val="0E7C86"/>
                </a:solidFill>
                <a:latin typeface="Amiri" pitchFamily="2" charset="-78"/>
                <a:cs typeface="Amiri" pitchFamily="2" charset="-78"/>
              </a:rPr>
              <a:t>تَنَفَّسْ</a:t>
            </a:r>
            <a:pPr rtl="1" algn="r" indent="0" marL="0">
              <a:lnSpc>
                <a:spcPct val="120000"/>
              </a:lnSpc>
              <a:buNone/>
            </a:pPr>
            <a:r>
              <a:rPr lang="ar-SA" altLang="en-US" sz="1400" b="1" dirty="0">
                <a:solidFill>
                  <a:srgbClr val="1B3B6F"/>
                </a:solidFill>
                <a:latin typeface="Amiri" pitchFamily="2" charset="-78"/>
                <a:cs typeface="Amiri" pitchFamily="2" charset="-78"/>
              </a:rPr>
              <a:t> بِعُمْقٍ. </a:t>
            </a:r>
            <a:pPr rtl="1" algn="r" indent="0" marL="0">
              <a:lnSpc>
                <a:spcPct val="120000"/>
              </a:lnSpc>
              <a:buNone/>
            </a:pPr>
            <a:r>
              <a:rPr lang="ar-SA" altLang="en-US" sz="1400" b="1" dirty="0">
                <a:solidFill>
                  <a:srgbClr val="1D5FBF"/>
                </a:solidFill>
                <a:latin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cs typeface="Amiri" pitchFamily="2" charset="-78"/>
              </a:rPr>
              <a:t> تَسْتَرِيحَ </a:t>
            </a:r>
            <a:pPr rtl="1" algn="r" indent="0" marL="0">
              <a:lnSpc>
                <a:spcPct val="120000"/>
              </a:lnSpc>
              <a:buNone/>
            </a:pPr>
            <a:r>
              <a:rPr lang="ar-SA" altLang="en-US" sz="1400" b="1" dirty="0">
                <a:solidFill>
                  <a:srgbClr val="1D5FBF"/>
                </a:solidFill>
                <a:latin typeface="Amiri" pitchFamily="2" charset="-78"/>
                <a:cs typeface="Amiri" pitchFamily="2" charset="-78"/>
              </a:rPr>
              <a:t>وَأَنْ</a:t>
            </a:r>
            <a:pPr rtl="1" algn="r" indent="0" marL="0">
              <a:lnSpc>
                <a:spcPct val="120000"/>
              </a:lnSpc>
              <a:buNone/>
            </a:pPr>
            <a:r>
              <a:rPr lang="ar-SA" altLang="en-US" sz="1400" b="1" dirty="0">
                <a:solidFill>
                  <a:srgbClr val="1B3B6F"/>
                </a:solidFill>
                <a:latin typeface="Amiri" pitchFamily="2" charset="-78"/>
                <a:cs typeface="Amiri" pitchFamily="2" charset="-78"/>
              </a:rPr>
              <a:t> تَشْرَبَ المَاءَ. </a:t>
            </a:r>
            <a:pPr rtl="1" algn="r" indent="0" marL="0">
              <a:lnSpc>
                <a:spcPct val="120000"/>
              </a:lnSpc>
              <a:buNone/>
            </a:pPr>
            <a:r>
              <a:rPr lang="ar-SA" altLang="en-US" sz="1400" b="1" dirty="0">
                <a:solidFill>
                  <a:srgbClr val="0E7C86"/>
                </a:solidFill>
                <a:latin typeface="Amiri" pitchFamily="2" charset="-78"/>
                <a:cs typeface="Amiri" pitchFamily="2" charset="-78"/>
              </a:rPr>
              <a:t>خُذْ</a:t>
            </a:r>
            <a:pPr rtl="1" algn="r" indent="0" marL="0">
              <a:lnSpc>
                <a:spcPct val="120000"/>
              </a:lnSpc>
              <a:buNone/>
            </a:pPr>
            <a:r>
              <a:rPr lang="ar-SA" altLang="en-US" sz="1400" b="1" dirty="0">
                <a:solidFill>
                  <a:srgbClr val="1B3B6F"/>
                </a:solidFill>
                <a:latin typeface="Amiri" pitchFamily="2" charset="-78"/>
                <a:cs typeface="Amiri" pitchFamily="2" charset="-78"/>
              </a:rPr>
              <a:t> هٰذَا الدَّوَاءَ. — كَمْ مَرَّةً آخُذُهُ؟ — </a:t>
            </a:r>
            <a:pPr rtl="1" algn="r" indent="0" marL="0">
              <a:lnSpc>
                <a:spcPct val="120000"/>
              </a:lnSpc>
              <a:buNone/>
            </a:pPr>
            <a:r>
              <a:rPr lang="ar-SA" altLang="en-US" sz="1400" b="1" dirty="0">
                <a:solidFill>
                  <a:srgbClr val="7B3FA0"/>
                </a:solidFill>
                <a:latin typeface="Amiri" pitchFamily="2" charset="-78"/>
                <a:cs typeface="Amiri" pitchFamily="2" charset="-78"/>
              </a:rPr>
              <a:t>مَرَّتَيْنِ</a:t>
            </a:r>
            <a:pPr rtl="1" algn="r" indent="0" marL="0">
              <a:lnSpc>
                <a:spcPct val="120000"/>
              </a:lnSpc>
              <a:buNone/>
            </a:pPr>
            <a:r>
              <a:rPr lang="ar-SA" altLang="en-US" sz="1400" b="1" dirty="0">
                <a:solidFill>
                  <a:srgbClr val="1B3B6F"/>
                </a:solidFill>
                <a:latin typeface="Amiri" pitchFamily="2" charset="-78"/>
                <a:cs typeface="Amiri" pitchFamily="2" charset="-78"/>
              </a:rPr>
              <a:t> فِي اليَوْمِ. — شُكْرًا جَزِيلًا.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Doctor: What is the problem? — Patient: I have had a cough and a sore throat for two days. — Do you have a fever? — Yes, and I feel tired. — Open your mouth and breathe deeply. You should rest and drink water. Take this medicine. — How often do I take it? — Twice a day. —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fever and cough for two days.</a:t>
            </a:r>
            <a:endParaRPr lang="en-US" sz="1250" dirty="0"/>
          </a:p>
          <a:p>
            <a:pPr indent="0" marL="0">
              <a:buNone/>
            </a:pPr>
            <a:r>
              <a:rPr lang="en-US" sz="1050" i="1" dirty="0">
                <a:solidFill>
                  <a:srgbClr val="8A6D1E"/>
                </a:solidFill>
                <a:latin typeface="Calibri" pitchFamily="34" charset="0"/>
                <a:cs typeface="Amiri" pitchFamily="2" charset="-78"/>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You should rest and drink water.</a:t>
            </a:r>
            <a:endParaRPr lang="en-US" sz="1250" dirty="0"/>
          </a:p>
          <a:p>
            <a:pPr indent="0" marL="0">
              <a:buNone/>
            </a:pPr>
            <a:r>
              <a:rPr lang="en-US" sz="1050" i="1" dirty="0">
                <a:solidFill>
                  <a:srgbClr val="8A6D1E"/>
                </a:solidFill>
                <a:latin typeface="Calibri" pitchFamily="34" charset="0"/>
                <a:cs typeface="Amiri" pitchFamily="2" charset="-78"/>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medicine for a headache, please.</a:t>
            </a:r>
            <a:endParaRPr lang="en-US" sz="1250" dirty="0"/>
          </a:p>
          <a:p>
            <a:pPr indent="0" marL="0">
              <a:buNone/>
            </a:pPr>
            <a:r>
              <a:rPr lang="en-US" sz="1050" i="1" dirty="0">
                <a:solidFill>
                  <a:srgbClr val="8A6D1E"/>
                </a:solidFill>
                <a:latin typeface="Calibri" pitchFamily="34" charset="0"/>
                <a:cs typeface="Amiri" pitchFamily="2" charset="-78"/>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book an appointment with the dentist.</a:t>
            </a:r>
            <a:endParaRPr lang="en-US" sz="1250" dirty="0"/>
          </a:p>
          <a:p>
            <a:pPr indent="0" marL="0">
              <a:buNone/>
            </a:pPr>
            <a:r>
              <a:rPr lang="en-US" sz="1050" i="1" dirty="0">
                <a:solidFill>
                  <a:srgbClr val="8A6D1E"/>
                </a:solidFill>
                <a:latin typeface="Calibri" pitchFamily="34" charset="0"/>
                <a:cs typeface="Amiri" pitchFamily="2" charset="-78"/>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care: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أَشْتَرِي الدَّوَاءَ مِنَ الصَّيْدَلِيَّةِ.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إِلَى الطَّبِيبَةِ.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آخُذُ الدَّوَاءَ مَرَّتَيْنِ فِي اليَوْمِ.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عِيَادَةٌ / مُسْتَشْفًى</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صَيْدَلِيَّةٌ</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طَبِيبُ أَسْنَانٍ</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عِيَادَةٌ / مُسْتَشْفًى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صَيْدَلِيَّةٌ</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طَبِيبُ أَسْنَانٍ</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favourite colour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subject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location or duration</a:t>
            </a:r>
            <a:endParaRPr lang="en-US" sz="12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مَرَّةَانِ فِي اليَوْمِ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اليَوْمِ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اثْنَانِ مَرَّةً</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favourite colour</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subject</a:t>
            </a:r>
            <a:endParaRPr lang="en-US" sz="12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location or duration</a:t>
            </a:r>
            <a:endParaRPr lang="en-US" sz="12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Healthcare communication needs precise symptom details.</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مَرَّةَانِ فِي اليَوْمِ</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مَرَّتَيْنِ فِي اليَوْمِ</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اثْنَانِ مَرَّةً</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accusative dual </a:t>
            </a:r>
            <a:pPr algn="l" indent="0" marL="0">
              <a:buNone/>
            </a:pPr>
            <a:r>
              <a:rPr lang="ar-SA" altLang="en-US" sz="1350" dirty="0">
                <a:solidFill>
                  <a:srgbClr val="8A6D1E"/>
                </a:solidFill>
                <a:latin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a:t>
            </a:r>
            <a:pPr algn="l" indent="0" marL="0">
              <a:buNone/>
            </a:pPr>
            <a:r>
              <a:rPr lang="ar-SA" altLang="en-US" sz="1700" dirty="0">
                <a:solidFill>
                  <a:srgbClr val="5A6472"/>
                </a:solidFill>
                <a:latin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item after </a:t>
            </a:r>
            <a:pPr algn="l" indent="0" marL="0">
              <a:buNone/>
            </a:pPr>
            <a:r>
              <a:rPr lang="ar-SA" altLang="en-US" sz="1700" dirty="0">
                <a:solidFill>
                  <a:srgbClr val="5A6472"/>
                </a:solidFill>
                <a:latin typeface="Amiri" pitchFamily="2" charset="-78"/>
                <a:cs typeface="Amiri" pitchFamily="2" charset="-78"/>
              </a:rPr>
              <a:t>أُرِيدُ</a:t>
            </a:r>
            <a:pPr algn="l" indent="0" marL="0">
              <a:buNone/>
            </a:pPr>
            <a:r>
              <a:rPr lang="en-US" sz="1300" i="1" dirty="0">
                <a:solidFill>
                  <a:srgbClr val="5A6472"/>
                </a:solidFill>
                <a:latin typeface="Calibri" pitchFamily="34" charset="0"/>
                <a:cs typeface="Amiri" pitchFamily="2" charset="-78"/>
              </a:rPr>
              <a:t>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we say “twice”?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model uses the subjunctive ending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verb in this phrase, use the accusative dual form </a:t>
            </a:r>
            <a:pPr algn="l" indent="0" marL="0">
              <a:buNone/>
            </a:pPr>
            <a:r>
              <a:rPr lang="ar-SA" altLang="en-US" sz="1500" b="1" dirty="0">
                <a:solidFill>
                  <a:srgbClr val="1B3B6F"/>
                </a:solidFill>
                <a:latin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فِي الحَلْقِ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should rest and drink lots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فِي الحَلْقِ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 or pharmacy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 وَمُنْذُ مَتَى؟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الأَلَمُ؟ كَيْفَ تَشْعُرُ؟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كَرِّرْ نَصِيحَةً وَاحِدَةً مِنَ الطَّبِيبِ.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اِسْأَلْ: كَمْ مَرَّةً آخُذُ الدَّوَاءَ؟ ثُمَّ اُشْكُرْ وَاخْتِمْ.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عِنْدِي ___ مُنْذُ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عِنْدِي أَلَمٌ فِي ___ · أَشْعُرُ بِـ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أَسْتَرِيحَ / أَشْرَبَ المَاءَ.</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كَمْ مَرَّةً آخُذُهُ؟ … شُكْرًا جَزِيلًا.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الطَّبِيبَةُ</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المَرِيضَةُ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عِنْدِي صُدَاعٌ وَحُمَّى مُنْذُ أَمْسِ.</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had a headache and a fever since yesterday.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a doctor dialogue from a phrase bank and identify three instructions.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Problem, since when, one instruction, one piece of advice, thanks — from the phrase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Perform a role play with symptom, duration, examination and advice.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symptoms, duration, an examination instruction, two pieces of advice and frequency.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Switch between doctor and pharmacy contexts and handle an unplanned follow-up question.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Doctor THEN pharmacy, with an unplanned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دَوَاءً لِـ ______ ، مِنْ فَضْلِكَ.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medicine for …, please.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 هٰذَا الدَّوَاءَ مَرَّتَيْنِ فِي اليَوْمِ.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this medicine twice a day.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مَرَّةً آخُذُهُ؟</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often do I take it?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تَسْتَرِيحَ وَأَنْ تَشْرَبَ المَاءَ.</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rest and drink water.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أَحْجِزَ مَوْعِدًا.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to book an appointment.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______ مُنْذُ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since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اِفْتَحْ فَمَكَ. / اِفْتَحِي فَمَكِ.</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Open your mouth.</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تَسْتَرِيحَ / تَسْتَرِيحِي.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طَبِيبٌ  ·  طَبِيبَةٌ  ·  صَيْدَلِيَّةٌ  ·  دَوَاءٌ  ·  حُبُوبٌ  ·  مَوْعِدٌ  ·  يَجِبُ أَنْ  ·  خُذْ / خُذِي  ·  اِشْرَبْ / اِشْرَبِي  ·  مَرَّتَيْنِ  ·  فِي اليَوْمِ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عِنْدِي / أَشْعُرُ بِـ</a:t>
            </a:r>
            <a:pPr algn="l" indent="0" marL="0">
              <a:buNone/>
            </a:pPr>
            <a:r>
              <a:rPr lang="en-US" sz="1200" dirty="0">
                <a:solidFill>
                  <a:srgbClr val="1F2A37"/>
                </a:solidFill>
                <a:latin typeface="Calibri" pitchFamily="34" charset="0"/>
                <a:cs typeface="Amiri" pitchFamily="2" charset="-78"/>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cs typeface="Amiri" pitchFamily="2" charset="-78"/>
              </a:rPr>
              <a:t>كَمْ مَرَّةً؟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 حَبَّةً وَاحِدَةً بَعْدَ الفُطُورِ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take one tablet after breakfast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لَمْ تَتَحَسَّنْ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don’t get better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فَتَحَدَّثْ مَعَ الطَّبِيبِ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talk to the doctor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2" charset="-78"/>
                <a:cs typeface="Amiri" pitchFamily="2" charset="-78"/>
              </a:rPr>
              <a:t>الطَّبِيبُ: مَا المُشْكِلَةُ؟</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هَلْ عِنْدَكَ حُمَّى؟</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حَسَنًا.</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كَمْ مَرَّةً آخُذُهُ؟</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2" charset="-78"/>
                <a:cs typeface="Amiri" pitchFamily="2" charset="-78"/>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Doctor: What is the problem? Patient: I have had a cough and a sore throat for two days. Doctor: Do you have a fever? Patient: Yes, and I feel tired. Doctor: Open your mouth and breathe deeply. Patient: OK. Doctor: You should rest and drink water. Take this medicine. Patient: How often do I take it? Doctor: Twice a day.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symptom + since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advice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twice a day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patient gives what, where and since when.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Advice: </a:t>
            </a:r>
            <a:pPr algn="l" indent="0" marL="0">
              <a:buNone/>
            </a:pPr>
            <a:r>
              <a:rPr lang="ar-SA" altLang="en-US" sz="1700" dirty="0">
                <a:solidFill>
                  <a:srgbClr val="1F2A37"/>
                </a:solidFill>
                <a:latin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 verb ending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Commands change for a girl (-ī).</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pharmacy scene and a follow-up.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t>
            </a:r>
            <a:pPr algn="l" indent="0" marL="0">
              <a:buNone/>
            </a:pPr>
            <a:r>
              <a:rPr lang="ar-SA" altLang="en-US" sz="1650" b="1" dirty="0">
                <a:solidFill>
                  <a:srgbClr val="1B3B6F"/>
                </a:solidFill>
                <a:latin typeface="Amiri" pitchFamily="2" charset="-78"/>
                <a:cs typeface="Amiri" pitchFamily="2" charset="-78"/>
              </a:rPr>
              <a:t>طَبِيبُ أَسْنَانٍ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dentist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pharmacist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مَطْعَمٌ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صَيْدَلِيَّةٌ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ask how often?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مَتَى؟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t>
            </a:r>
            <a:pPr algn="l" indent="0" marL="0">
              <a:buNone/>
            </a:pPr>
            <a:r>
              <a:rPr lang="ar-SA" altLang="en-US" sz="1650" b="1" dirty="0">
                <a:solidFill>
                  <a:srgbClr val="1B3B6F"/>
                </a:solidFill>
                <a:latin typeface="Amiri" pitchFamily="2" charset="-78"/>
                <a:cs typeface="Amiri" pitchFamily="2" charset="-78"/>
              </a:rPr>
              <a:t>طَبِيبُ أَسْنَانٍ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dentist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nurse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pharmacist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dentist.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مَطْعَمٌ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صَيْدَلِيَّةٌ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مَكْتَبَةٌ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pharmacy is </a:t>
            </a:r>
            <a:pPr algn="l" indent="0" marL="0">
              <a:buNone/>
            </a:pPr>
            <a:r>
              <a:rPr lang="ar-SA" altLang="en-US" sz="1350" dirty="0">
                <a:solidFill>
                  <a:srgbClr val="8A6D1E"/>
                </a:solidFill>
                <a:latin typeface="Amiri" pitchFamily="2" charset="-78"/>
                <a:cs typeface="Amiri" pitchFamily="2" charset="-78"/>
              </a:rPr>
              <a:t>صَيْدَلِيَّةٌ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ask how often?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كَمْ مَرَّةً؟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مُنْذُ مَتَى؟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how many times.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هٰذَا الدَّوَاءُ لِـ</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this medicine is for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تَأْخُذْ</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take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مَعِدَةٍ فَارِغَةٍ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empty stomach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لَمْ تَتَحَسَّنْ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you don’t get better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فَتَحَدَّثْ</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talk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التَّعْلِيمَاتِ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instructions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F5-L10 · Healthy Habits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رِيَاضَةٌ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sport / exercise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sleep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عَادَةٌ صِحِّيَّةٌ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healthy habit</a:t>
            </a:r>
            <a:pPr indent="0" marL="0">
              <a:buNone/>
            </a:pPr>
            <a:r>
              <a:rPr lang="en-US" sz="1000" i="1" dirty="0">
                <a:solidFill>
                  <a:srgbClr val="5A6472"/>
                </a:solidFill>
                <a:latin typeface="Calibri" pitchFamily="34" charset="0"/>
                <a:cs typeface="Amiri" pitchFamily="2" charset="-78"/>
              </a:rPr>
              <a:t>  pl. عَادَاتٌ صِحِّيَّةٌ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نَصِيحَةٌ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piece of advice</a:t>
            </a:r>
            <a:pPr indent="0" marL="0">
              <a:buNone/>
            </a:pPr>
            <a:r>
              <a:rPr lang="en-US" sz="1000" i="1" dirty="0">
                <a:solidFill>
                  <a:srgbClr val="5A6472"/>
                </a:solidFill>
                <a:latin typeface="Calibri" pitchFamily="34" charset="0"/>
                <a:cs typeface="Amiri" pitchFamily="2" charset="-78"/>
              </a:rPr>
              <a:t>  pl. نَصَائِحُ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تَجَنَّبْ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avoid! (m.)</a:t>
            </a:r>
            <a:pPr indent="0" marL="0">
              <a:buNone/>
            </a:pPr>
            <a:r>
              <a:rPr lang="en-US" sz="1000" i="1" dirty="0">
                <a:solidFill>
                  <a:srgbClr val="5A6472"/>
                </a:solidFill>
                <a:latin typeface="Calibri" pitchFamily="34" charset="0"/>
                <a:cs typeface="Amiri" pitchFamily="2" charset="-78"/>
              </a:rPr>
              <a:t>  f. تَجَنَّبِي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healthy habit you already have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عَادَتِي الصِّحِّيَّةُ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F5-L09: the vocabulary tab and the “Where should the person go?”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10-line consultation with advice and frequency.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pharmacy scene with an unplanned follow-up question.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F5-L10 · Healthy Habits and Advice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العَادَاتُ الصِّحِّيَّةُ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يَجِبُ أَنْ</a:t>
            </a:r>
            <a:pPr algn="l" indent="0" marL="0">
              <a:buNone/>
            </a:pPr>
            <a:r>
              <a:rPr lang="en-US" sz="1300" b="1" dirty="0">
                <a:solidFill>
                  <a:srgbClr val="FFFFFF"/>
                </a:solidFill>
                <a:latin typeface="Calibri" pitchFamily="34" charset="0"/>
                <a:cs typeface="Amiri" pitchFamily="2" charset="-78"/>
              </a:rPr>
              <a:t> + verb (-a) · to a girl -ī · </a:t>
            </a:r>
            <a:pPr algn="l" indent="0" marL="0">
              <a:buNone/>
            </a:pPr>
            <a:r>
              <a:rPr lang="ar-SA" altLang="en-US" sz="1700" b="1" dirty="0">
                <a:solidFill>
                  <a:srgbClr val="FFFFFF"/>
                </a:solidFill>
                <a:latin typeface="Amiri" pitchFamily="2" charset="-78"/>
                <a:cs typeface="Amiri" pitchFamily="2" charset="-78"/>
              </a:rPr>
              <a:t>دَوَاءً لِـ</a:t>
            </a:r>
            <a:pPr algn="l" indent="0" marL="0">
              <a:buNone/>
            </a:pPr>
            <a:r>
              <a:rPr lang="en-US" sz="1300" b="1" dirty="0">
                <a:solidFill>
                  <a:srgbClr val="FFFFFF"/>
                </a:solidFill>
                <a:latin typeface="Calibri" pitchFamily="34" charset="0"/>
                <a:cs typeface="Amiri" pitchFamily="2" charset="-78"/>
              </a:rPr>
              <a:t> … · </a:t>
            </a:r>
            <a:pPr algn="l" indent="0" marL="0">
              <a:buNone/>
            </a:pPr>
            <a:r>
              <a:rPr lang="ar-SA" altLang="en-US" sz="1700" b="1" dirty="0">
                <a:solidFill>
                  <a:srgbClr val="FFFFFF"/>
                </a:solidFill>
                <a:latin typeface="Amiri" pitchFamily="2" charset="-78"/>
                <a:cs typeface="Amiri" pitchFamily="2" charset="-78"/>
              </a:rPr>
              <a:t>مَرَّتَيْنِ فِي اليَوْمِ</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F5-L09 · At the Doctor and Pharmacy</dc:title>
  <dc:subject>PptxGenJS Presentation</dc:subject>
  <dc:creator>Al Madina Online School · Arabic Department</dc:creator>
  <cp:lastModifiedBy>Al Madina Online School · Arabic Department</cp:lastModifiedBy>
  <cp:revision>1</cp:revision>
  <dcterms:created xsi:type="dcterms:W3CDTF">2026-10-11T06:41:49Z</dcterms:created>
  <dcterms:modified xsi:type="dcterms:W3CDTF">2026-10-11T06:41:49Z</dcterms:modified>
</cp:coreProperties>
</file>