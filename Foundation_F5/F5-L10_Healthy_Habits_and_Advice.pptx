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F5-L10. The website lesson “Healthy Habits and Advice”: vocabulary, grammar rules and quiz, patterns, common mistakes, sorter, listening, reading, speaking prompts and model, writing task and model, differentiation, final check and the lesson mission. Picture match: website visual game “Healthy Habits and Advice”.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classify habits (helpful / to limit) and complete four advice frames: يَجِبُ أَنْ نَشْرَبَ … · لَا يَجِبُ أَنْ نُكْثِرَ مِنَ …
• Develop: six linked pieces of advice, each with a reason (لِأَنَّ …).
• Stretch: evaluate Nour’s lifestyle profile, choose two priority changes and justify the order (لِذَلِكَ …).
• Website: “A healthy lifestyle is a pattern, not one perfect meal … Use balanced, realistic language such as بِاعْتِدَالٍ.”
• Sensitivity: never comment on anyone’s body, weight or family food. Students may describe an invented character’s habits instead of their own.
• The same أَنْ + verb (-a) chunk as F4-L06 (school rules) and F5-L09 (doctor’s advice) — this is the third time: expect accuracy!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F5-L09. Questions 3–5 retrieve F5-L09 (advice to a girl, dosage, places).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strengths of advice — strong, gentle, negative — and always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this lesson is almost all shared vocabulary — صحت، عادت، نصیحت، اعتدال، متوازن (balanced, as in متوازن غذا “a balanced diet”). Ask students to say the Urdu first, then the Arabic, and notice the ة / ت ending (صحت ↔ 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Positive habits (website vocabulary (1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Positive habits (website vocabulary (2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Habits to limit (website vocabulary). Hear → Say → See → Use. Transliteration is printed for Core students (cover it for Develop/Stretch).
Habits to LIMIT (website wording) — not “bad people”. يُكْثِرُ مِنْ = has too much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balance (website vocabulary (1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balance (website vocabulary (2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strong advice” (يَجِبُ أَنْ), “Give gentler advice” (مِنَ الأَفْضَلِ أَنْ “it is better to” softens it) and “Give negative advice” (لَا يَجِبُ أَنْ).
Website common error: “A verb must follow أَنْ: يَجِبُ أَنْ نَشْرَبَ, not يَجِبُ أَنْ المَاءُ.” Also: لَا يَجِبُ نَأْكُلَ ✗ → لَا يَجِبُ أَنْ نَأْكُلَ ✓
The website game uses يَنْبَغِي أَنْ (“one ought to”) — a third gentle frame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“Explain the advice”: لِأَنَّ introduces the reason; لِذَلِكَ introduces the result or recommendation.
Website examples: المَاءُ مُفِيدٌ لِأَنَّهُ يُرَطِّبُ الجِسْمَ (water is m. → -hu) · أَنَامُ قَلِيلًا؛ لِذَلِكَ أَشْعُرُ بِالتَّعَبِ.
Link to Nour’s profile (reading): “she sits a long time while studying; so it is better to walk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compares strong and gentler advice frames, then connects the advice to a reason.”
• Give strong advice: Use يَجِبُ أَنْ for an important recommendation.
• Give gentler advice: This frame means “it is better to” and softens the recommendation.
• Give negative advice: Use the negative frame to discourage an unhealthy action.
• Explain the advice: لِأَنَّ introduces the reason; لِذٰلِكَ introduces the result or recommendation.
Website common error: A verb must follow أَنْ: يَجِبُ أَنْ نَشْرَبَ, not يَجِبُ أَنْ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and replace the goal with their own realistic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4, then say which advice is strong, gentle or negative.
Listen 1: just listen. Listen 2: note answers. Then chat the letters.
Support: after the second listening, show the read-along slide (Arabic + English, line by line) for Core students.
SCRIPT (read aloud):
تَنَامُ لَيْلَى مُتَأَخِّرَةً وَتَشْعُرُ بِالتَّعَبِ فِي المَدْرَسَةِ؛ مِنَ الأَفْضَلِ أَنْ تَنَامَ مُبَكِّرًا. يَشْرَبُ مَازِنٌ قَلِيلًا مِنَ المَاءِ؛ يَجِبُ أَنْ يَحْمِلَ زُجَاجَةَ مَاءٍ. يُحِبُّ سَعِيدٌ الحَلْوَيَاتِ وَيَأْكُلُهَا بَعْدَ كُلِّ وَجْبَةٍ؛ لَا يَجِبُ أَنْ يُكْثِرَ مِنَ السُّكَّرِ، وَيَجِبُ أَنْ يُنَظِّفَ أَسْنَانَهُ.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هَدَفُكِ؟ (What is your goal?)
ب: أُرِيدُ أَنْ أَنَامَ مُبَكِّرَةً. (I want to sleep early.)
Website “Health coach conversation” — all four prompts are the website’s. One partner is the coach, one the client (real or invented habits). Website model: مَاذَا تَفْعَلِينَ لِتَكُونِي صِحِّيَّةً؟ — أَشْرَبُ المَاءَ وَأَمْشِي كُلَّ يَوْمٍ. — مَا هَدَفُكِ؟ — أُرِيدُ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habits and complete four advice frames. · Develop — Create six linked pieces of advice with reasons. · Stretch — Evaluate a lifestyle profile, prioritise two changes and justify why those changes should come first.
Website writing task (Stretch): Write a practical healthy-lifestyle guide with 8–10 sentences. Include four positive habits, two habits to limit, two reasons and one personal goal.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يَجِبُ أَنْ نَشْرَبَ · مِنَ الأَفْضَلِ أَنْ نُمَارِسَ · لَا يَجِبُ أَنْ نُكْثِرَ · لِأَنَّهَا تُقَوِّي الجِسْمَ · goal: هَدَفِي أَنْ أَمْشِيَ.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(F5-L11 · Speaking and Writing About Food and Health) will spend class time USING this language, so students prepare it tonight — short, simple, easy to access (school guidance: “Simple, Short, Interesting, Relevant, Easy to access”). The five words prepare the F5-L11 speaking and writing lesson (planning a connected paragraph).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Healthy Habits and Advice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العَادَاتُ الصِّحِّيَّةُ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balanced lifestyle, give strong, gentle and negative advice (</a:t>
            </a:r>
            <a:pPr algn="l" indent="0" marL="0">
              <a:buNone/>
            </a:pPr>
            <a:r>
              <a:rPr lang="ar-SA" altLang="en-US" sz="1800" dirty="0">
                <a:solidFill>
                  <a:srgbClr val="C6D2E6"/>
                </a:solidFill>
                <a:latin typeface="Amiri" pitchFamily="34" charset="0"/>
                <a:ea typeface="Amiri" pitchFamily="34" charset="-122"/>
                <a:cs typeface="Amiri" pitchFamily="34" charset="-120"/>
              </a:rPr>
              <a:t>يَجِبُ أَنْ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مِنَ الأَفْضَلِ أَنْ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لَا يَجِبُ أَنْ</a:t>
            </a:r>
            <a:pPr algn="l" indent="0" marL="0">
              <a:buNone/>
            </a:pPr>
            <a:r>
              <a:rPr lang="en-US" sz="1400" dirty="0">
                <a:solidFill>
                  <a:srgbClr val="C6D2E6"/>
                </a:solidFill>
                <a:latin typeface="Calibri" pitchFamily="34" charset="0"/>
                <a:ea typeface="Calibri" pitchFamily="34" charset="-122"/>
                <a:cs typeface="Calibri" pitchFamily="34" charset="-120"/>
              </a:rPr>
              <a:t>) and explain it with </a:t>
            </a:r>
            <a:pPr algn="l" indent="0" marL="0">
              <a:buNone/>
            </a:pPr>
            <a:r>
              <a:rPr lang="ar-SA" altLang="en-US" sz="1800" dirty="0">
                <a:solidFill>
                  <a:srgbClr val="C6D2E6"/>
                </a:solidFill>
                <a:latin typeface="Amiri" pitchFamily="34" charset="0"/>
                <a:ea typeface="Amiri" pitchFamily="34" charset="-122"/>
                <a:cs typeface="Amiri" pitchFamily="34" charset="-120"/>
              </a:rPr>
              <a:t>لِأَنَّ</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لِذَلِكَ</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F5-L10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Habits to keep and habits to limit, then three strengths of advice + a reason.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helpful / limit, fix the advice and listen: advice for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نَصِيحَةٌ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habit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piece of advice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 صِحِّيَّةٌ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healthy habit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medicine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أَسْتَرِيحَ.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“twice a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سَاعَةٍ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صَيْدَلِيَّةٌ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مُسْتَشْفًى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نَصِيحَةٌ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habit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piece of advice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 صِحِّيَّةٌ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healthy habit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medicine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أَسْتَرِيحَ.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تَسْتَرِيحِي.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F5-L09: a female listener → -ī.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“twice a 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سَاعَةٍ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F5-L09 dosage.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صَيْدَلِيَّةٌ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مُسْتَشْفًى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مَطْعَمٌ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F5-L09 places.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strengths of advice — strong, gentle, negative — and always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يَجِبُ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مِنَ الأَفْضَلِ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لَا يَجِبُ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 broad range of healthy-lifestyle habits.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مِنَ الأَفْضَلِ أَنْ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لَا يَجِبُ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a habit is beneficial or harmful.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evaluate a short lifestyle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healthy habits.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advice with </a:t>
            </a:r>
            <a:pPr algn="l" indent="0" marL="0">
              <a:buNone/>
            </a:pPr>
            <a:r>
              <a:rPr lang="ar-SA" altLang="en-US" sz="1700" b="1" dirty="0">
                <a:solidFill>
                  <a:srgbClr val="2E8B57"/>
                </a:solidFill>
                <a:latin typeface="Amiri" pitchFamily="34" charset="0"/>
                <a:ea typeface="Amiri" pitchFamily="34" charset="-122"/>
                <a:cs typeface="Amiri" pitchFamily="34" charset="-120"/>
              </a:rPr>
              <a:t>يَجِبُ أَنْ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gentle and negative advice.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advice with </a:t>
            </a:r>
            <a:pPr algn="l" indent="0" marL="0">
              <a:buNone/>
            </a:pPr>
            <a:r>
              <a:rPr lang="ar-SA" altLang="en-US" sz="1700" b="1" dirty="0">
                <a:solidFill>
                  <a:srgbClr val="C9780A"/>
                </a:solidFill>
                <a:latin typeface="Amiri" pitchFamily="34" charset="0"/>
                <a:ea typeface="Amiri" pitchFamily="34" charset="-122"/>
                <a:cs typeface="Amiri" pitchFamily="34" charset="-120"/>
              </a:rPr>
              <a:t>لِأَنَّ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a lifestyle and prioritise changes.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لِذَلِكَ</a:t>
            </a:r>
            <a:pPr algn="l" indent="0" marL="0">
              <a:buNone/>
            </a:pPr>
            <a:r>
              <a:rPr lang="en-US" sz="1300" b="1" dirty="0">
                <a:solidFill>
                  <a:srgbClr val="B83227"/>
                </a:solidFill>
                <a:latin typeface="Calibri" pitchFamily="34" charset="0"/>
                <a:ea typeface="Calibri" pitchFamily="34" charset="-122"/>
                <a:cs typeface="Calibri" pitchFamily="34" charset="-120"/>
              </a:rPr>
              <a:t> for a result.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Positive habits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Habits to limit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balance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Additional healthy actions · 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نَصِيحَةٌ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‎نصیحت‎ </a:t>
            </a:r>
            <a:pPr indent="0" marL="0">
              <a:buNone/>
            </a:pPr>
            <a:r>
              <a:rPr lang="en-US" sz="950" b="1" dirty="0">
                <a:solidFill>
                  <a:srgbClr val="2E8B57"/>
                </a:solidFill>
                <a:latin typeface="Calibri" pitchFamily="34" charset="0"/>
                <a:ea typeface="Calibri" pitchFamily="34" charset="-122"/>
                <a:cs typeface="Calibri" pitchFamily="34" charset="-120"/>
              </a:rPr>
              <a:t> nasīhat · advice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اِعْتِدَالٌ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‎اعتدال‎ </a:t>
            </a:r>
            <a:pPr indent="0" marL="0">
              <a:buNone/>
            </a:pPr>
            <a:r>
              <a:rPr lang="en-US" sz="950" b="1" dirty="0">
                <a:solidFill>
                  <a:srgbClr val="2E8B57"/>
                </a:solidFill>
                <a:latin typeface="Calibri" pitchFamily="34" charset="0"/>
                <a:ea typeface="Calibri" pitchFamily="34" charset="-122"/>
                <a:cs typeface="Calibri" pitchFamily="34" charset="-120"/>
              </a:rPr>
              <a:t> eʿtidāl · moderation</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مُتَوَازِنٌ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a:t>
            </a:r>
            <a:pPr indent="0" marL="0">
              <a:buNone/>
            </a:pPr>
            <a:r>
              <a:rPr lang="en-US" sz="950" b="1" dirty="0">
                <a:solidFill>
                  <a:srgbClr val="2E8B57"/>
                </a:solidFill>
                <a:latin typeface="Calibri" pitchFamily="34" charset="0"/>
                <a:ea typeface="Calibri" pitchFamily="34" charset="-122"/>
                <a:cs typeface="Calibri" pitchFamily="34" charset="-120"/>
              </a:rPr>
              <a:t> mutawāzin · balanced</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Positive habits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يَشْرَبُ مَاءً كَافِيًا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drinks enough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yash-ra-bu mā-ʾan kā-fi-yan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أَشْرَبُ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تَشْرَبُ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نَشْرَبُ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يَأْكُلُ طَعَامًا مُتَوَازِنًا</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eats 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yaʾ-ku-lu ṭa-ʿā-man mu-ta-wā-zi-nan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يَأْكُلُ الفَاكِهَةَ وَالخَضْرَوَاتِ</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eats fruit and vegetables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yaʾ-ku-lu al-fā-ki-ha-ta wāl-khaḍ-ra-wā-ti</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يُمَارِسُ التَّمَارِينَ الرِّيَاضِيَّةَ</a:t>
            </a:r>
            <a:endParaRPr lang="ar-SA" sz="29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does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yu-mā-ri-su at-ta-mā-rī-na ar-ri-yā-ḍiy-ya-ta</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Positive habits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يَمْشِي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yam-shī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أَمْشِي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تَمْشِي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نَمْشِي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يَنَامُ مُبَكِّرًا</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sleeps 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ya-nā-mu mu-bak-ki-ran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نَنَامُ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يَسْتَرِيحُ</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yas-ta-rī-ḥu</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we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يُنَظِّفُ أَسْنَانَهُ</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cleans his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yu-naẓ-ẓi-fu as-nā-na-hu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أُنَظِّفُ أَسْنَانِي</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تُنَظِّفُ أَسْنَانَهَا</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نُنَظِّفُ أَسْنَانَنَا</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Habits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يَأْكُلُ سُكَّرًا كَثِيرًا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eats a lot of sugar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yaʾ-ku-lu suk-ka-ran ka-thī-ran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يُكْثِرُ مِنَ الوَجَبَاتِ السَّرِيعَةِ</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 too much fast food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yuk-thi-ru mi-na al-wa-ja-bā-ti as-sa-rī-ʿa-ti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يَشْرَبُ مَشْرُوبَاتٍ غَازِيَّةً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drinks fizzy drinks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yash-ra-bu mash-rū-bā-tin ghā-ziy-ya-tan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we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يَسْهَرُ</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 up 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yas-ha-ru</a:t>
            </a:r>
            <a:endParaRPr lang="en-US" sz="1350" dirty="0"/>
          </a:p>
        </p:txBody>
      </p:sp>
      <p:sp>
        <p:nvSpPr>
          <p:cNvPr id="43" name="Shape 4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5" name="Text 4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أَسْهَرُ</a:t>
            </a:r>
            <a:endParaRPr lang="ar-SA" sz="1500" dirty="0"/>
          </a:p>
        </p:txBody>
      </p:sp>
      <p:sp>
        <p:nvSpPr>
          <p:cNvPr id="46" name="Shape 4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تَسْهَرُ</a:t>
            </a:r>
            <a:endParaRPr lang="ar-SA" sz="1500" dirty="0"/>
          </a:p>
        </p:txBody>
      </p:sp>
      <p:sp>
        <p:nvSpPr>
          <p:cNvPr id="49" name="Shape 4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1" name="Text 4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نَسْهَرُ</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يَجْلِسُ طَوِيلًا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sits for a long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yaj-li-su ṭa-wī-lan</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يَتَحَرَّكُ كَثِيرًا</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does not move much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ya-ta-ḥar-ra-ku ka-thī-ran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 / 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يَجِبُ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 not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ya-ji-bu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الأَفْضَلِ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al-af-ḍa-li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المُهِمِّ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al-mu-him-mi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بِاعْتِدَالٍ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moderation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biʿ-ti-dā-lin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أُسْلُوبُ حَيَاةٍ صِحِّيٌّ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healthy lifestyle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us-lū-bu ḥa-yā-tin ṣiḥ-ḥiy-yun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صِحَّةٌ جَيِّدَةٌ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health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ṣiḥ-ḥa-tun jay-yi-da-tun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STRENGTHS OF ADVICE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Should · it is better · should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دَرَجَاتُ 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Advice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Strength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should drink enough water.</a:t>
            </a:r>
            <a:endParaRPr lang="en-US" sz="1100" dirty="0"/>
          </a:p>
        </p:txBody>
      </p:sp>
      <p:sp>
        <p:nvSpPr>
          <p:cNvPr id="21" name="Text 18"/>
          <p:cNvSpPr txBox="1"/>
          <p:nvPr/>
        </p:nvSpPr>
        <p:spPr>
          <a:xfrm>
            <a:off x="2743200" y="2267712"/>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نَشْرَبَ مَاءً كَافِيًا.</a:t>
            </a:r>
            <a:endParaRPr lang="ar-SA" sz="24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strong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should sleep early.</a:t>
            </a:r>
            <a:endParaRPr lang="en-US" sz="1100" dirty="0"/>
          </a:p>
        </p:txBody>
      </p:sp>
      <p:sp>
        <p:nvSpPr>
          <p:cNvPr id="27" name="Text 24"/>
          <p:cNvSpPr txBox="1"/>
          <p:nvPr/>
        </p:nvSpPr>
        <p:spPr>
          <a:xfrm>
            <a:off x="2743200" y="300471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نَنَامَ مُبَكِّرًا.</a:t>
            </a:r>
            <a:endParaRPr lang="ar-SA" sz="24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strong</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better to walk every day.</a:t>
            </a:r>
            <a:endParaRPr lang="en-US" sz="1100" dirty="0"/>
          </a:p>
        </p:txBody>
      </p:sp>
      <p:sp>
        <p:nvSpPr>
          <p:cNvPr id="33" name="Text 30"/>
          <p:cNvSpPr txBox="1"/>
          <p:nvPr/>
        </p:nvSpPr>
        <p:spPr>
          <a:xfrm>
            <a:off x="2743200" y="3741725"/>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مِنَ الأَفْضَلِ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نَمْشِيَ كُلَّ يَوْمٍ.</a:t>
            </a:r>
            <a:endParaRPr lang="ar-SA" sz="24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gentle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better to reduce sugar.</a:t>
            </a:r>
            <a:endParaRPr lang="en-US" sz="1100" dirty="0"/>
          </a:p>
        </p:txBody>
      </p:sp>
      <p:sp>
        <p:nvSpPr>
          <p:cNvPr id="37" name="Text 34"/>
          <p:cNvSpPr txBox="1"/>
          <p:nvPr/>
        </p:nvSpPr>
        <p:spPr>
          <a:xfrm>
            <a:off x="2743200" y="4478731"/>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مِنَ الأَفْضَلِ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نُقَلِّلَ السُّكَّرَ.</a:t>
            </a:r>
            <a:endParaRPr lang="ar-SA" sz="24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gentle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should not eat too many sweets.</a:t>
            </a:r>
            <a:endParaRPr lang="en-US" sz="1100" dirty="0"/>
          </a:p>
        </p:txBody>
      </p:sp>
      <p:sp>
        <p:nvSpPr>
          <p:cNvPr id="41" name="Text 38"/>
          <p:cNvSpPr txBox="1"/>
          <p:nvPr/>
        </p:nvSpPr>
        <p:spPr>
          <a:xfrm>
            <a:off x="2743200" y="521573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لَا 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نُكْثِرَ مِنَ الحَلْوَيَاتِ.</a:t>
            </a:r>
            <a:endParaRPr lang="ar-SA" sz="24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negative</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VERB always follows an (ending in -a): an nashraba, an nanāma, an numshiya.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REASON AND RESULT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Because … so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 · لِذَلِكَ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 لِأَنَّ</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الرِّيَاضَةُ مُفِيدَةٌ لِأَنَّهَا تُقَوِّي الجِسْمَ.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Exercise is beneficial because it strengthens the body.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Sport is f. → -hā (F5-L04).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RESULT · لِذَلِكَ</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أَنَامُ قَلِيلًا؛ لِذَلِكَ أَشْعُرُ بِالتَّعَبِ.</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sleep little; so I feel tired.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Cause first, then result.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بِاعْتِدَالٍ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آكُلُ الحَلْوَيَاتِ بِاعْتِدَالٍ.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eat sweets in moderation.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Realistic, not perfect.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sport is feminine, so the adjective is too.</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الرِّيَاضَةُ مُفِيدَةٌ.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الرِّيَاضَةُ مُفِيدٌ.</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دَرَجَاتُ النَّصِيحَةِ لِلْعَادَاتِ الصِّحِّيَّةِ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Give strong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نَشْرَبَ مَاءً كَافِيًا.   ·   يَجِبُ أَنْ نَنَامَ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Give gentler advice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الأَفْضَلِ أَنْ + 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الأَفْضَلِ أَنْ نَمْشِيَ كُلَّ يَوْمٍ.   ·   مِنَ الأَفْضَلِ أَنْ نُقَلِّلَ السُّكَّرَ.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Give negative advice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يَجِبُ أَنْ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يَجِبُ أَنْ نُكْثِرَ مِنَ الحَلْوَيَاتِ.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Explain the advice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 / لِذٰلِكَ...</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المَاءُ مُفِيدٌ لِأَنَّهُ يُرَطِّبُ الجِسْمَ.   ·   أَنَامُ قَلِيلًا؛ لِذٰلِكَ أَشْعُرُ بِالتَّعَبِ.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strongest advice?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الأَفْضَلِ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gentle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الأَفْضَلِ أَنْ تَنَامَ مُبَكِّرًا.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تَنَامَ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reason?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strongest advice?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الأَفْضَلِ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أَنْ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is the strongest of these frames.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gentle recommendation.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الأَفْضَلِ أَنْ تَنَامَ مُبَكِّرًا.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تَنَامَ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تَنَامُ.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الأَفْضَلِ أَنْ</a:t>
            </a:r>
            <a:pPr algn="l" indent="0" marL="0">
              <a:buNone/>
            </a:pPr>
            <a:r>
              <a:rPr lang="en-US" sz="1050" i="1" dirty="0">
                <a:solidFill>
                  <a:srgbClr val="8A6D1E"/>
                </a:solidFill>
                <a:latin typeface="Calibri" pitchFamily="34" charset="0"/>
                <a:ea typeface="Calibri" pitchFamily="34" charset="-122"/>
                <a:cs typeface="Calibri" pitchFamily="34" charset="-120"/>
              </a:rPr>
              <a:t> softens the advice.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reason?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لِذٰلِكَ</a:t>
            </a:r>
            <a:pPr algn="l" indent="0" marL="0">
              <a:buNone/>
            </a:pPr>
            <a:r>
              <a:rPr lang="en-US" sz="1050" i="1" dirty="0">
                <a:solidFill>
                  <a:srgbClr val="8A6D1E"/>
                </a:solidFill>
                <a:latin typeface="Calibri" pitchFamily="34" charset="0"/>
                <a:ea typeface="Calibri" pitchFamily="34" charset="-122"/>
                <a:cs typeface="Calibri" pitchFamily="34" charset="-120"/>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write a healthy-lifestyle guide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نَشْرَبَ مَاءً كَافِيًا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وَأَنْ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نَأْكُلَ الفَاكِهَةَ.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pieces: repeat 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Gentle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34" charset="0"/>
                <a:ea typeface="Amiri" pitchFamily="34" charset="-122"/>
                <a:cs typeface="Amiri" pitchFamily="34" charset="-120"/>
              </a:rPr>
              <a:t>مِنَ الأَفْضَلِ أَنْ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نُمَارِسَ الرِّيَاضَةَ.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Softer advice.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Negative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لَا يَجِبُ أَنْ</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نُكْثِرَ مِنَ السُّكَّرِ.</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Limit, not ban.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Reason + 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الرِّيَاضَةُ مُفِيدَةٌ لِأَنَّهَا تُقَوِّي الجِسْمَ. هَدَفِي أَنْ أَمْشِيَ كُلَّ 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 + a realistic goal.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STRONG</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GENTLE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NEGATIVE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لِلْحِفَاظِ عَلَى صِحَّةٍ جَيِّدَةٍ،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نَشْرَبَ مَاءً كَافِيًا وَأَنْ نَأْكُلَ الفَاكِهَةَ وَالخَضْرَوَاتِ.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مِنَ الأَفْضَلِ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نُمَارِسَ الرِّيَاضَةَ وَأَنْ نَنَامَ مُبَكِّرًا.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لَا 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نُكْثِرَ مِنَ السُّكَّرِ أَوِ المَشْرُوبَاتِ الغَازِيَّةِ. الرِّيَاضَةُ مُفِيدَةٌ لِأَنَّهَا تُقَوِّي الجِسْمَ. هَدَفِي أَنْ أَمْشِيَ ثَلَاثِينَ دَقِيقَةً كُلَّ 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To keep good health, we should drink enough water and eat fruit and vegetables. It is better to do sport and sleep early. We should not have too much sugar or fizzy drinks. Sport is beneficial because it strengthens the body. My goal is to walk for thirty minutes every 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نَشْرَبَ مَاءً كَافِيًا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drink enough water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plural “we” form when advice includes everyone.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الأَفْضَلِ أَنْ نَنَامَ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better to sleep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This gives advice less strongly than يَجِبُ.</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يَجِبُ أَنْ نُكْثِرَ مِنَ السُّكَّرِ.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not consume too much sugar.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لَا يَجِبُ أَنْ for negative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الرِّيَاضَةُ مُفِيدَةٌ لِأَنَّهَا تُقَوِّي الجِسْمَ.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Exercise is beneficial because it strengthens the body.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 a reason to make advice meaningful.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ea typeface="Calibri" pitchFamily="34" charset="-122"/>
                <a:cs typeface="Calibri" pitchFamily="34" charset="-120"/>
              </a:rPr>
              <a:t>WE DO · PICTURE MATCH · WEBSITE GAME “VISUAL GAME — HEALTHY HABITS AND ADVICE”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 advice: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at night ↓</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نُقَلِّلَ اسْتِخْدَامَ الهَاتِفِ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نَشْرَبَ مَاءً كَافِيًا.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نَنَامَ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نَشْرَبَ مَاءً كَافِيًا.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drink enough water.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أَنْ نَنَامَ جَيِّدًا.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ought to sleep well.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at night ↓</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نُقَلِّلَ اسْتِخْدَامَ الهَاتِفِ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ought to reduce phone use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Helpful habit or habit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 المَاءِ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السَّهَرُ كُلَّ لَيْلَةٍ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أَكْلُ الخَضْرَوَاتِ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الإِكْثَارُ مِنَ السُّكَّرِ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المَشْيُ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الجُلُوسُ طَوِيلًا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تَنْظِيفُ الأَسْنَانِ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 المَشْرُوبَاتِ الغَازِيَّةِ كَثِيرًا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عَادَةٌ مُفِيدَةٌ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عَادَةٌ نُقَلِّلُ مِنْهَا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عَادَةٌ مُفِيدَةٌ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 المَاءِ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أَكْلُ الخَضْرَوَاتِ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تَنْظِيفُ الأَسْنَانِ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عَادَةٌ نُقَلِّلُ مِنْهَا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السَّهَرُ كُلَّ لَيْلَةٍ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الإِكْثَارُ مِنَ السُّكَّرِ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الجُلُوسُ طَوِيلًا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 المَشْرُوبَاتِ الغَازِيَّةِ كَثِيرًا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فَوْرًا دَائِمًا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بِدُونِ نَوْمٍ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بِاعْتِدَالٍ</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gentler advice?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نَنَامَ الآنَ.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الأَفْضَلِ أَنْ نَنَامَ مُبَكِّرًا.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نَوْمٌ.</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فَوْرًا دَائِمًا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بِدُونِ نَوْمٍ</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بِاعْتِدَالٍ</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بِاعْتِدَالٍ</a:t>
            </a:r>
            <a:pPr algn="l" indent="0" marL="0">
              <a:buNone/>
            </a:pPr>
            <a:r>
              <a:rPr lang="en-US" sz="1050" i="1" dirty="0">
                <a:solidFill>
                  <a:srgbClr val="8A6D1E"/>
                </a:solidFill>
                <a:latin typeface="Calibri" pitchFamily="34" charset="0"/>
                <a:ea typeface="Calibri" pitchFamily="34" charset="-122"/>
                <a:cs typeface="Calibri" pitchFamily="34" charset="-120"/>
              </a:rPr>
              <a:t> means “in moderation”.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gentler advice?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يَجِبُ أَنْ نَنَامَ الآنَ.</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الأَفْضَلِ أَنْ نَنَامَ مُبَكِّرًا.</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نَوْمٌ.</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الأَفْضَلِ أَنْ</a:t>
            </a:r>
            <a:pPr algn="l" indent="0" marL="0">
              <a:buNone/>
            </a:pPr>
            <a:r>
              <a:rPr lang="en-US" sz="1050" i="1" dirty="0">
                <a:solidFill>
                  <a:srgbClr val="8A6D1E"/>
                </a:solidFill>
                <a:latin typeface="Calibri" pitchFamily="34" charset="0"/>
                <a:ea typeface="Calibri" pitchFamily="34" charset="-122"/>
                <a:cs typeface="Calibri" pitchFamily="34" charset="-120"/>
              </a:rPr>
              <a:t> softens the recommendation.</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نَشْرَبُ المَاءَ.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يَجِبُ نَأْكُلَ سُكَّرًا كَثِيرًا.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t>
            </a:r>
            <a:pPr algn="l" indent="0" marL="0">
              <a:buNone/>
            </a:pPr>
            <a:r>
              <a:rPr lang="ar-SA" altLang="en-US" sz="1700" dirty="0">
                <a:solidFill>
                  <a:srgbClr val="5A6472"/>
                </a:solidFill>
                <a:latin typeface="Amiri" pitchFamily="34" charset="0"/>
                <a:ea typeface="Amiri" pitchFamily="34" charset="-122"/>
                <a:cs typeface="Amiri" pitchFamily="34" charset="-120"/>
              </a:rPr>
              <a:t>لَا يَجِبُ</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الرِّيَاضَةُ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sport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نَشْرَبُ المَاءَ.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نَشْرَبَ المَاءَ.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model uses the subjunctive ending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يَجِبُ نَأْكُلَ سُكَّرًا كَثِيرًا.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يَجِبُ أَنْ نَأْكُلَ سُكَّرًا كَثِيرًا.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in the advice structure.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الرِّيَاضَةُ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رِيَاضَةٌ</a:t>
            </a:r>
            <a:pPr algn="l" indent="0" marL="0">
              <a:buNone/>
            </a:pPr>
            <a:r>
              <a:rPr lang="en-US" sz="1150" b="1" dirty="0">
                <a:solidFill>
                  <a:srgbClr val="1B3B6F"/>
                </a:solidFill>
                <a:latin typeface="Calibri" pitchFamily="34" charset="0"/>
                <a:ea typeface="Calibri" pitchFamily="34" charset="-122"/>
                <a:cs typeface="Calibri" pitchFamily="34" charset="-120"/>
              </a:rPr>
              <a:t> is feminine, so the adjective is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for three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Layla tired?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sleeps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exercises too much.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drinks too much 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Mazin carry?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water bottle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Saeed eat sweets?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every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pieces of advice are given to Saeed?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limit sugar and clean teeth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more sugar and sleep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coffee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advice frame after each semicolon.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تَنَامُ لَيْلَى مُتَأَخِّرَةً وَتَشْعُرُ بِالتَّعَبِ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sleeps late and feels tired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الأَفْضَلِ أَنْ تَنَامَ مُبَكِّرًا.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better for her to sleep early.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يَشْرَبُ مَازِنٌ قَلِيلًا مِنَ المَاءِ؛ يَجِبُ أَنْ يَحْمِلَ زُجَاجَةَ مَاءٍ.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Mazin drinks little water; he should carry a water bottle.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سَعِيدٌ الحَلْوَيَاتِ وَيَأْكُلُهَا بَعْدَ كُلِّ وَجْبَةٍ؛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Saeed loves sweets and eats them after every meal;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يَجِبُ أَنْ يُكْثِرَ مِنَ السُّكَّرِ، وَيَجِبُ أَنْ يُنَظِّفَ أَسْنَانَهُ.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should not have too much sugar, and he should clean his teeth.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Layla tired?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sleeps late.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exercises too much.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drinks too much 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تَنَامُ ... مُتَأَخِّرَةً.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Mazin carry?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water bottle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زُجَاجَةَ مَاءٍ.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Saeed eat sweets?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every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كُلِّ وَجْبَةٍ.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pieces of advice are given to Saeed?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limit sugar and clean teeth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more sugar and sleep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 coffee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stated in the final sentence.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advice frame after each semicolon.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coach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لِتَكُونَ صِحِّيًّا / صِحِّيَّةً؟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تُمَارِسُ الرِّيَاضَةَ؟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تَنَامُ مُبَكِّرًا؟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العَادَةُ الَّتِي تُرِيدُ أَنْ تُحَسِّنَهَا؟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أَشْرَبُ المَاءَ وَ ___ كُلَّ يَوْمٍ.</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أُمَارِسُ الرِّيَاضَةَ ___ مَرَّاتٍ فِي الأُسْبُوعِ.</a:t>
            </a:r>
            <a:endParaRPr lang="ar-SA" sz="15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 / لَا، أَسْهَرُ أَحْيَانًا؛ لِذَلِكَ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تَفْعَلِينَ لِتَكُونِي صِحِّيَّةً؟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(f.) do to be healthy?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أَشْرَبُ المَاءَ وَأَمْشِي كُلَّ يَوْمٍ.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drink water and walk every 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habits and complete four advice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advice frames (should / should not) and one habit you have.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Create six linked pieces of advice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good habits, two to limit, two reasons and one personal goal.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a lifestyle profile, prioritise two changes and justify why those changes should come first.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Evaluate Nour’s profile: two priority changes, justified with because / so.</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better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لِأَنَّهَا تُقَوِّي الجِسْمَ.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strengthens the body.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المَاءُ مُفِيدٌ لِأَنَّهُ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Water is useful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أَسْهَرُ؛ لِذَلِكَ أَشْعُرُ بِالتَّعَبِ.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stay up late, so I feel tired.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الحَلْوَيَاتِ بِاعْتِدَالٍ.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sweets in moderation.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نَشْرَبَ مَاءً كَافِيًا.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drink enough water.</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نَنَامَ مُبَكِّرًا.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sleep early.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يَجِبُ أَنْ نَأْكُلَ سُكَّرًا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not eat a lot of sugar.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الفَاكِهَةَ وَالخَضْرَوَاتِ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fruit and vegetables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أَنْ أَمْشِيَ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goal is to walk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 أَنْ  ·  لَا يَجِبُ أَنْ  ·  مِنَ الأَفْضَلِ أَنْ  ·  نَشْرَبَ  ·  نَأْكُلَ  ·  نَنَامَ  ·  نَمْشِيَ  ·  نُكْثِرَ مِنَ  ·  لِأَنَّ  ·  لِذَلِكَ  ·  بِاعْتِدَالٍ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practical healthy-lifestyle guide with 8–10 sentences. Include four positive habits, two habits to limit, two reasons and one personal goal.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لَا يَجِبُ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 الأَفْضَلِ أَنْ</a:t>
            </a:r>
            <a:pPr algn="l" indent="0" marL="0">
              <a:buNone/>
            </a:pPr>
            <a:r>
              <a:rPr lang="en-US" sz="1200" dirty="0">
                <a:solidFill>
                  <a:srgbClr val="1F2A37"/>
                </a:solidFill>
                <a:latin typeface="Calibri" pitchFamily="34" charset="0"/>
                <a:ea typeface="Calibri" pitchFamily="34" charset="-122"/>
                <a:cs typeface="Calibri" pitchFamily="34" charset="-120"/>
              </a:rPr>
              <a:t> at least once.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reasons with </a:t>
            </a:r>
            <a:pPr algn="l" indent="0" marL="0">
              <a:buNone/>
            </a:pPr>
            <a:r>
              <a:rPr lang="ar-SA" altLang="en-US" sz="1550" dirty="0">
                <a:solidFill>
                  <a:srgbClr val="1F2A37"/>
                </a:solidFill>
                <a:latin typeface="Amiri" pitchFamily="34" charset="0"/>
                <a:ea typeface="Amiri" pitchFamily="34" charset="-122"/>
                <a:cs typeface="Amiri" pitchFamily="34" charset="-120"/>
              </a:rPr>
              <a:t>لِأَنَّ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Keep advice balanced and achievable.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أَحَاوِلُ أَنْ أَتَّبِعَ أُسْلُوبَ حَيَاةٍ صِحِّيًّا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try to follow a healthy lifestyle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بَدَلًا مِنَ المَشْرُوبَاتِ الغَازِيَّةِ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fizzy drinks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 لِأَنَّ … ثُمَّ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first … because … then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التَّغْيِيرُ أَهَمُّ لِأَنَّ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change is more important because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هٰذَا الشَّهْرَ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goal this month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لِلْحِفَاظِ عَلَى صِحَّةٍ جَيِّدَةٍ، يَجِبُ أَنْ نَشْرَبَ مَاءً كَافِيًا وَأَنْ نَأْكُلَ الفَاكِهَةَ وَالخَضْرَوَاتِ. مِنَ الأَفْضَلِ أَنْ نُمَارِسَ الرِّيَاضَةَ وَأَنْ نَنَامَ مُبَكِّرًا. لَا يَجِبُ أَنْ نُكْثِرَ مِنَ السُّكَّرِ أَوِ المَشْرُوبَاتِ الغَازِيَّةِ. الرِّيَاضَةُ مُفِيدَةٌ لِأَنَّهَا تُقَوِّي الجِسْمَ. هَدَفِي أَنْ أَمْشِيَ ثَلَاثِينَ دَقِيقَةً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To keep good health, we should drink enough water and eat fruit and vegetables. It is better to do sport and sleep early. We should not have too much sugar or fizzy drinks. Sport is beneficial because it strengthens the body. My goal is to walk thirty minutes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strong advice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gentle advice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 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four pieces of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verb (-a) follows every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gentle and negative advice.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Two pieces of advice have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plan is balanced and realistic.</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“you should”?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in moderation?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بِاعْتِدَالٍ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بِصُعُوبَةٍ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 مُفِيدَةٌ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 مُفِيدَانِ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“you should”?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يَجِبُ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يَجِبُ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مُنْذُ 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advice.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in moderation?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بِسُرْعَةٍ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بِاعْتِدَالٍ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بِصُعُوبَةٍ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بِاعْتِدَالٍ</a:t>
            </a:r>
            <a:pPr algn="l" indent="0" marL="0">
              <a:buNone/>
            </a:pPr>
            <a:r>
              <a:rPr lang="en-US" sz="1050" i="1" dirty="0">
                <a:solidFill>
                  <a:srgbClr val="8A6D1E"/>
                </a:solidFill>
                <a:latin typeface="Calibri" pitchFamily="34" charset="0"/>
                <a:ea typeface="Calibri" pitchFamily="34" charset="-122"/>
                <a:cs typeface="Calibri" pitchFamily="34" charset="-120"/>
              </a:rPr>
              <a:t> means in moderation.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الرِّيَاضَةُ مُفِيدَةٌ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الرِّيَاضَةُ مُفِيدٌ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الرِّيَاضَةُ مُفِيدَانِ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رِيَاضَةٌ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lifestyle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نُورٌ. أَحَاوِلُ أَنْ أَتَّبِعَ أُسْلُوبَ حَيَاةٍ صِحِّيًّا. آكُلُ الفَاكِهَةَ وَالخَضْرَوَاتِ كُلَّ يَوْمٍ، وَأَشْرَبُ المَاءَ بَدَلًا مِنَ المَشْرُوبَاتِ الغَازِيَّةِ. أُمَارِسُ الرِّيَاضَةَ ثَلَاثَ مَرَّاتٍ فِي الأُسْبُوعِ، وَلٰكِنِّي أَجْلِسُ طَوِيلًا أَثْنَاءَ الدِّرَاسَةِ. أَحْيَانًا أَنَامُ مُتَأَخِّرَةً. هَدَفِي هٰذَا الشَّهْرَ أَنْ أَمْشِيَ كُلَّ يَوْمٍ وَأَنْ أَنَامَ قَبْلَ السَّاعَةِ العَاشِرَةِ. وَأَهْتَمُّ بِالنَّظَافَةِ الشَّخْصِيَّةِ؛ أَغْسِلُ يَدَيَّ وَأُنَظِّفُ أَسْنَانِي. فِي عُطْلَةِ نِهَايَةِ الأُسْبُوعِ أَذْهَبُ إِلَى النَّادِي الرِّيَاضِيِّ لِأُمَارِسَ تَمَارِينَ رِيَاضِيَّةً.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أُحَاوِلُ أَنْ أَتَّبِعَ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try to follow</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أُسْلُوبَ حَيَاةٍ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lifestyle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بَدَلًا مِنَ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instead of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ثَلَاثَ مَرَّاتٍ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three times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أَثْنَاءَ الدِّرَاسَةِ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while studying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مُتَأَخِّرَةً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late (f.)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هَدَفِي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أَهْتَمُّ بِـ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care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النَّظَافَةِ الشَّخْصِيَّةِ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personal hygiene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النَّادِي الرِّيَاضِيِّ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gym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drink instead of fizzy drinks?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exercise?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current weakness?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sits for a long time while studying.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eats 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drink water.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two goals?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sweets and exercise less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 daily and sleep before ten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juice and study later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plan realistic?</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names two specific habits.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promises perfection immediately.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removes all food choices.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hygiene habits does Noor mention?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buying medicine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all food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washing hands and cleaning teeth</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go to the gym?</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eat sweets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do physical exercises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drink instead of fizzy drinks?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أَشْرَبُ المَاءَ بَدَلًا مِنْ...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exercise?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current weakness?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sits for a long time while studying.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eats 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drink water.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أَجْلِسُ طَوِيلًا أَثْنَاءَ 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two goals?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eat sweets and exercise less</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walk daily and sleep before ten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 juice and study later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goals are in the final sentence.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plan realistic?</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names two specific habits.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promises perfection immediately.</a:t>
            </a:r>
            <a:endParaRPr lang="en-US" sz="11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It removes all food choices.</a:t>
            </a:r>
            <a:endParaRPr lang="en-US" sz="12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Specific and measurable habits make a practical plan.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hygiene habits does Noor mention?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buying medicine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all food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washing hands and cleaning teeth</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أَغْسِلُ يَدَيَّ وَأُنَظِّفُ أَسْنَانِي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go to the gym?</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eat sweets</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sleep</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do physical exercises</a:t>
            </a:r>
            <a:endParaRPr lang="en-US" sz="12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goes </a:t>
            </a:r>
            <a:pPr algn="l" indent="0" marL="0">
              <a:buNone/>
            </a:pPr>
            <a:r>
              <a:rPr lang="ar-SA" altLang="en-US" sz="1350" dirty="0">
                <a:solidFill>
                  <a:srgbClr val="8A6D1E"/>
                </a:solidFill>
                <a:latin typeface="Amiri" pitchFamily="34" charset="0"/>
                <a:ea typeface="Amiri" pitchFamily="34" charset="-122"/>
                <a:cs typeface="Amiri" pitchFamily="34" charset="-120"/>
              </a:rPr>
              <a:t>لِأُمَارِسَ تَمَارِينَ رِيَاضِيَّةً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F5-L11 · Speaking and Writing About Food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paragraph</a:t>
            </a:r>
            <a:pPr indent="0" marL="0">
              <a:buNone/>
            </a:pPr>
            <a:r>
              <a:rPr lang="en-US" sz="1000" i="1" dirty="0">
                <a:solidFill>
                  <a:srgbClr val="5A6472"/>
                </a:solidFill>
                <a:latin typeface="Calibri" pitchFamily="34" charset="0"/>
                <a:ea typeface="Calibri" pitchFamily="34" charset="-122"/>
                <a:cs typeface="Calibri" pitchFamily="34" charset="-120"/>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plan</a:t>
            </a:r>
            <a:pPr indent="0" marL="0">
              <a:buNone/>
            </a:pPr>
            <a:r>
              <a:rPr lang="en-US" sz="1000" i="1" dirty="0">
                <a:solidFill>
                  <a:srgbClr val="5A6472"/>
                </a:solidFill>
                <a:latin typeface="Calibri" pitchFamily="34" charset="0"/>
                <a:ea typeface="Calibri" pitchFamily="34" charset="-122"/>
                <a:cs typeface="Calibri" pitchFamily="34" charset="-120"/>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مُقَدِّمَةٌ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introduction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أَدَوَاتُ الرَّبْطِ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connectives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F5 topic do you want to talk about for one minute: food, meals, the body or health?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سَأَتَحَدَّثُ عَنْ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F5-L10: the vocabulary tab and the “Helpful habit or habit to limit?”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8–10-sentence healthy-lifestyle guide with a personal goal.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Evaluate Nour’s lifestyle profile: prioritise two changes and justify them.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F5-L11 · Speaking and Writing About Food and Health</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 عَنِ الطَّعَامِ وَالصِّحَّةِ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يَجِبُ أَنْ</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مِنَ الأَفْضَلِ أَنْ</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لَا يَجِبُ أَنْ</a:t>
            </a:r>
            <a:pPr algn="l" indent="0" marL="0">
              <a:buNone/>
            </a:pPr>
            <a:r>
              <a:rPr lang="en-US" sz="1300" b="1" dirty="0">
                <a:solidFill>
                  <a:srgbClr val="FFFFFF"/>
                </a:solidFill>
                <a:latin typeface="Calibri" pitchFamily="34" charset="0"/>
                <a:ea typeface="Calibri" pitchFamily="34" charset="-122"/>
                <a:cs typeface="Calibri" pitchFamily="34" charset="-120"/>
              </a:rPr>
              <a:t> + verb (-a) · + </a:t>
            </a:r>
            <a:pPr algn="l" indent="0" marL="0">
              <a:buNone/>
            </a:pPr>
            <a:r>
              <a:rPr lang="ar-SA" altLang="en-US" sz="1700" b="1" dirty="0">
                <a:solidFill>
                  <a:srgbClr val="FFFFFF"/>
                </a:solidFill>
                <a:latin typeface="Amiri" pitchFamily="34" charset="0"/>
                <a:ea typeface="Amiri" pitchFamily="34" charset="-122"/>
                <a:cs typeface="Amiri" pitchFamily="34" charset="-120"/>
              </a:rPr>
              <a:t>لِأَنَّ</a:t>
            </a:r>
            <a:pPr algn="l" indent="0" marL="0">
              <a:buNone/>
            </a:pPr>
            <a:r>
              <a:rPr lang="en-US" sz="1300" b="1" dirty="0">
                <a:solidFill>
                  <a:srgbClr val="FFFFFF"/>
                </a:solidFill>
                <a:latin typeface="Calibri" pitchFamily="34" charset="0"/>
                <a:ea typeface="Calibri" pitchFamily="34" charset="-122"/>
                <a:cs typeface="Calibri" pitchFamily="34" charset="-120"/>
              </a:rPr>
              <a:t>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F5-L10 · Healthy Habits and Advice</dc:title>
  <dc:subject>PptxGenJS Presentation</dc:subject>
  <dc:creator>Al Madina Online School · Arabic Department</dc:creator>
  <cp:lastModifiedBy>Al Madina Online School · Arabic Department</cp:lastModifiedBy>
  <cp:revision>1</cp:revision>
  <dcterms:created xsi:type="dcterms:W3CDTF">2026-09-27T21:54:12Z</dcterms:created>
  <dcterms:modified xsi:type="dcterms:W3CDTF">2026-09-27T21:54:12Z</dcterms:modified>
</cp:coreProperties>
</file>