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F5-L10. The website lesson “Healthy Habits and Advice”: vocabulary, grammar rules and quiz, patterns, common mistakes, sorter, listening, reading, speaking prompts and model, writing task and model, differentiation, final check and the lesson mission. Picture match: website visual game “Healthy Habits and Advice”.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classify habits (helpful / to limit) and complete four advice frames: يَجِبُ أَنْ نَشْرَبَ … · لَا يَجِبُ أَنْ نُكْثِرَ مِنَ …
• Develop: six linked pieces of advice, each with a reason (لِأَنَّ …).
• Stretch: evaluate Nour’s lifestyle profile, choose two priority changes and justify the order (لِذَلِكَ …).
• Website: “A healthy lifestyle is a pattern, not one perfect meal … Use balanced, realistic language such as بِاعْتِدَالٍ.”
• Sensitivity: never comment on anyone’s body, weight or family food. Students may describe an invented character’s habits instead of their own.
• The same أَنْ + verb (-a) chunk as F4-L06 (school rules) and F5-L09 (doctor’s advice) — this is the third time: expect accuracy!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F5-L09. Questions 3–5 retrieve F5-L09 (advice to a girl, dosage, places).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strengths of advice — strong, gentle, negative — and always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this lesson is almost all shared vocabulary — صحت، عادت، نصیحت، اعتدال، متوازن (balanced, as in متوازن غذا “a balanced diet”). Ask students to say the Urdu first, then the Arabic, and notice the ة / ت ending (صحت ↔ صِحَّةٌ).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Positive habits (website vocabulary (1 of 2)). Hear → Say → See → Use. Transliteration is printed for Core students (cover it for Develop/Stretch).
The habits are in the “he” form (يَـ). The cards show I / she / we. In advice we use “we”: يَجِبُ أَنْ نَشْرَبَ، نَمْشِيَ، نَنَامَ.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Positive habits (website vocabulary (2 of 2)). Hear → Say → See → Use. Transliteration is printed for Core students (cover it for Develop/Stretch).
The habits are in the “he” form (يَـ). The cards show I / she / we. In advice we use “we”: يَجِبُ أَنْ نَشْرَبَ، نَمْشِيَ، نَنَامَ.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Habits to limit (website vocabulary). Hear → Say → See → Use. Transliteration is printed for Core students (cover it for Develop/Stretch).
Habits to LIMIT (website wording) — not “bad people”. يُكْثِرُ مِنْ = has too much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Advice and balance (website vocabulary (1 of 2)). Hear → Say → See → Use. Transliteration is printed for Core students (cover it for Develop/Stretch).
FLEX: teach if time allows; otherwise these are on the website vocabulary tab for homework.
FLEX: the advice frames are on the grammar slides. بِاعْتِدَالٍ (in moderation) is the key balanced word: آكُلُ الحَلْوَيَاتِ بِاعْتِدَالٍ.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Advice and balance (website vocabulary (2 of 2)). Hear → Say → See → Use. Transliteration is printed for Core students (cover it for Develop/Stretch).
FLEX: teach if time allows; otherwise these are on the website vocabulary tab for homework.
FLEX: the advice frames are on the grammar slides. بِاعْتِدَالٍ (in moderation) is the key balanced word: آكُلُ الحَلْوَيَاتِ بِاعْتِدَالٍ.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“Give strong advice” (يَجِبُ أَنْ), “Give gentler advice” (مِنَ الأَفْضَلِ أَنْ “it is better to” softens it) and “Give negative advice” (لَا يَجِبُ أَنْ).
Website common error: “A verb must follow أَنْ: يَجِبُ أَنْ نَشْرَبَ, not يَجِبُ أَنْ المَاءُ.” Also: لَا يَجِبُ نَأْكُلَ ✗ → لَا يَجِبُ أَنْ نَأْكُلَ ✓
The website game uses يَنْبَغِي أَنْ (“one ought to”) — a third gentle frame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“Explain the advice”: لِأَنَّ introduces the reason; لِذَلِكَ introduces the result or recommendation.
Website examples: المَاءُ مُفِيدٌ لِأَنَّهُ يُرَطِّبُ الجِسْمَ (water is m. → -hu) · أَنَامُ قَلِيلًا؛ لِذَلِكَ أَشْعُرُ بِالتَّعَبِ.
Link to Nour’s profile (reading): “she sits a long time while studying; so it is better to walk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compares strong and gentler advice frames, then connects the advice to a reason.”
• Give strong advice: Use يَجِبُ أَنْ for an important recommendation.
• Give gentler advice: This frame means “it is better to” and softens the recommendation.
• Give negative advice: Use the negative frame to discourage an unhealthy action.
• Explain the advice: لِأَنَّ introduces the reason; لِذٰلِكَ introduces the result or recommendation.
Website common error: A verb must follow أَنْ: يَجِبُ أَنْ نَشْرَبَ, not يَجِبُ أَنْ المَاءُ.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Students copy it and replace the goal with their own realistic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Healthy Habits and Advice”)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Two items use يَنْبَغِي أَنْ (“one ought to”) — a gentle advice frame like مِنَ الأَفْضَلِ أَنْ. Other website items: healthy food, walking, less fried food (نُقَلِّلَ الطَّعَامَ المَقْلِيَّ).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Healthy Habits and Advice”)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Two items use يَنْبَغِي أَنْ (“one ought to”) — a gentle advice frame like مِنَ الأَفْضَلِ أَنْ. Other website items: healthy food, walking, less fried food (نُقَلِّلَ الطَّعَامَ المَقْلِيَّ).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habit according to the lesson’s balanced-health guidance.
After sorting, turn each “limit” item into negative advice: لَا يَجِبُ أَنْ نَسْهَرَ كُلَّ لَيْلَةٍ.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habit according to the lesson’s balanced-health guidance.
After sorting, turn each “limit” item into negative advice: لَا يَجِبُ أَنْ نَسْهَرَ كُلَّ لَيْلَةٍ.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4, then say which advice is strong, gentle or negative.
Listen 1: just listen. Listen 2: note answers. Then chat the letters.
Support: after the second listening, show the read-along slide (Arabic + English, line by line) for Core students.
SCRIPT (read aloud):
تَنَامُ لَيْلَى مُتَأَخِّرَةً وَتَشْعُرُ بِالتَّعَبِ فِي المَدْرَسَةِ؛ مِنَ الأَفْضَلِ أَنْ تَنَامَ مُبَكِّرًا. يَشْرَبُ مَازِنٌ قَلِيلًا مِنَ المَاءِ؛ يَجِبُ أَنْ يَحْمِلَ زُجَاجَةَ مَاءٍ. يُحِبُّ سَعِيدٌ الحَلْوَيَاتِ وَيَأْكُلُهَا بَعْدَ كُلِّ وَجْبَةٍ؛ لَا يَجِبُ أَنْ يُكْثِرَ مِنَ السُّكَّرِ، وَيَجِبُ أَنْ يُنَظِّفَ أَسْنَانَهُ.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مَا هَدَفُكِ؟ (What is your goal?)
ب: أُرِيدُ أَنْ أَنَامَ مُبَكِّرَةً. (I want to sleep early.)
Website “Health coach conversation” — all four prompts are the website’s. One partner is the coach, one the client (real or invented habits). Website model: مَاذَا تَفْعَلِينَ لِتَكُونِي صِحِّيَّةً؟ — أَشْرَبُ المَاءَ وَأَمْشِي كُلَّ يَوْمٍ. — مَا هَدَفُكِ؟ — أُرِيدُ أَنْ أَنَامَ مُبَكِّرَةً.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Classify habits and complete four advice frames. · Develop — Create six linked pieces of advice with reasons. · Stretch — Evaluate a lifestyle profile, prioritise two changes and justify why those changes should come first.
Website writing task (Stretch): Write a practical healthy-lifestyle guide with 8–10 sentences. Include four positive habits, two habits to limit, two reasons and one personal goal.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يَجِبُ أَنْ نَشْرَبَ · مِنَ الأَفْضَلِ أَنْ نُمَارِسَ · لَا يَجِبُ أَنْ نُكْثِرَ · لِأَنَّهَا تُقَوِّي الجِسْمَ · goal: هَدَفِي أَنْ أَمْشِيَ.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(F5-L11 · Speaking and Writing About Food and Health) will spend class time USING this language, so students prepare it tonight — short, simple, easy to access (school guidance: “Simple, Short, Interesting, Relevant, Easy to access”). The five words prepare the F5-L11 speaking and writing lesson (planning a connected paragraph).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Healthy Habits and Advice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العَادَاتُ الصِّحِّيَّةُ وَالنَّصِيحَةُ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 balanced lifestyle, give strong, gentle and negative advice (</a:t>
            </a:r>
            <a:pPr algn="l" indent="0" marL="0">
              <a:buNone/>
            </a:pPr>
            <a:r>
              <a:rPr lang="ar-SA" altLang="en-US" sz="1800" dirty="0">
                <a:solidFill>
                  <a:srgbClr val="C6D2E6"/>
                </a:solidFill>
                <a:latin typeface="Amiri" pitchFamily="2" charset="-78"/>
                <a:ea typeface="Amiri" pitchFamily="2" charset="-78"/>
                <a:cs typeface="Amiri" pitchFamily="2" charset="-78"/>
              </a:rPr>
              <a:t>يَجِبُ أَنْ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مِنَ الأَفْضَلِ أَنْ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لَا يَجِبُ أَنْ</a:t>
            </a:r>
            <a:pPr algn="l" indent="0" marL="0">
              <a:buNone/>
            </a:pPr>
            <a:r>
              <a:rPr lang="en-US" sz="1400" dirty="0">
                <a:solidFill>
                  <a:srgbClr val="C6D2E6"/>
                </a:solidFill>
                <a:latin typeface="Calibri" pitchFamily="34" charset="0"/>
                <a:cs typeface="Amiri" pitchFamily="2" charset="-78"/>
              </a:rPr>
              <a:t>) and explain it with </a:t>
            </a:r>
            <a:pPr algn="l" indent="0" marL="0">
              <a:buNone/>
            </a:pPr>
            <a:r>
              <a:rPr lang="ar-SA" altLang="en-US" sz="1800" dirty="0">
                <a:solidFill>
                  <a:srgbClr val="C6D2E6"/>
                </a:solidFill>
                <a:latin typeface="Amiri" pitchFamily="2" charset="-78"/>
                <a:ea typeface="Amiri" pitchFamily="2" charset="-78"/>
                <a:cs typeface="Amiri" pitchFamily="2" charset="-78"/>
              </a:rPr>
              <a:t>لِأَنَّ</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ea typeface="Amiri" pitchFamily="2" charset="-78"/>
                <a:cs typeface="Amiri" pitchFamily="2" charset="-78"/>
              </a:rPr>
              <a:t>لِذَلِكَ</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F5-L10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Habits to keep and habits to limit, then three strengths of advice + a reason.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helpful / limit, fix the advice and listen: advice for three students.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نَصِيحَةٌ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habit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piece of advice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عَادَةٌ صِحِّيَّةٌ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healthy habit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medicine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advice to a girl.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تَسْتَرِيحَ.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أَسْتَرِيحَ.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تَسْتَرِيحِي.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“twice a day”?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مَرَّةً فِي الأُسْبُوعِ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سَاعَةٍ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اليَوْمِ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صَيْدَلِيَّةٌ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مُسْتَشْفًى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مَطْعَمٌ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نَصِيحَةٌ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habit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piece of advice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عَادَةٌ صِحِّيَّةٌ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healthy habit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medicine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advice to a girl.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تَسْتَرِيحَ.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أَسْتَرِيحَ.</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تَسْتَرِيحِي.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F5-L09: a female listener → -ī.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“twice a day”?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مَرَّةً فِي الأُسْبُوعِ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سَاعَةٍ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مَرَّتَيْنِ فِي اليَوْمِ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F5-L09 dosage.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صَيْدَلِيَّةٌ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مُسْتَشْفًى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مَطْعَمٌ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F5-L09 places.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Three strengths of advice — strong, gentle, negative — and always a reason.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يَجِبُ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مِنَ الأَفْضَلِ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لَا يَجِبُ أَنْ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 broad range of healthy-lifestyle habits.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يَجِبُ أَنْ</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مِنَ الأَفْضَلِ أَنْ</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لَا يَجِبُ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why a habit is beneficial or harmful.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evaluate a short lifestyle profile.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six healthy habits.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advice with </a:t>
            </a:r>
            <a:pPr algn="l" indent="0" marL="0">
              <a:buNone/>
            </a:pPr>
            <a:r>
              <a:rPr lang="ar-SA" altLang="en-US" sz="1700" b="1" dirty="0">
                <a:solidFill>
                  <a:srgbClr val="2E8B57"/>
                </a:solidFill>
                <a:latin typeface="Amiri" pitchFamily="2" charset="-78"/>
                <a:ea typeface="Amiri" pitchFamily="2" charset="-78"/>
                <a:cs typeface="Amiri" pitchFamily="2" charset="-78"/>
              </a:rPr>
              <a:t>يَجِبُ أَنْ</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gentle and negative advice.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advice with </a:t>
            </a:r>
            <a:pPr algn="l" indent="0" marL="0">
              <a:buNone/>
            </a:pPr>
            <a:r>
              <a:rPr lang="ar-SA" altLang="en-US" sz="1700" b="1" dirty="0">
                <a:solidFill>
                  <a:srgbClr val="C9780A"/>
                </a:solidFill>
                <a:latin typeface="Amiri" pitchFamily="2" charset="-78"/>
                <a:ea typeface="Amiri" pitchFamily="2" charset="-78"/>
                <a:cs typeface="Amiri" pitchFamily="2" charset="-78"/>
              </a:rPr>
              <a:t>لِأَنَّ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evaluate a lifestyle and prioritise changes.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t>
            </a:r>
            <a:pPr algn="l" indent="0" marL="0">
              <a:buNone/>
            </a:pPr>
            <a:r>
              <a:rPr lang="ar-SA" altLang="en-US" sz="1700" b="1" dirty="0">
                <a:solidFill>
                  <a:srgbClr val="B83227"/>
                </a:solidFill>
                <a:latin typeface="Amiri" pitchFamily="2" charset="-78"/>
                <a:ea typeface="Amiri" pitchFamily="2" charset="-78"/>
                <a:cs typeface="Amiri" pitchFamily="2" charset="-78"/>
              </a:rPr>
              <a:t>لِذَلِكَ</a:t>
            </a:r>
            <a:pPr algn="l" indent="0" marL="0">
              <a:buNone/>
            </a:pPr>
            <a:r>
              <a:rPr lang="en-US" sz="1300" b="1" dirty="0">
                <a:solidFill>
                  <a:srgbClr val="B83227"/>
                </a:solidFill>
                <a:latin typeface="Calibri" pitchFamily="34" charset="0"/>
                <a:cs typeface="Amiri" pitchFamily="2" charset="-78"/>
              </a:rPr>
              <a:t> for a result.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Positive habits · 8</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Habits to limit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Advice and balance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Additional healthy actions · 5</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صِحَّةٌ</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‎صحت‎ </a:t>
            </a:r>
            <a:pPr indent="0" marL="0">
              <a:buNone/>
            </a:pPr>
            <a:r>
              <a:rPr lang="en-US" sz="950" b="1" dirty="0">
                <a:solidFill>
                  <a:srgbClr val="2E8B57"/>
                </a:solidFill>
                <a:latin typeface="Calibri" pitchFamily="34" charset="0"/>
                <a:cs typeface="Amiri" pitchFamily="2" charset="-78"/>
              </a:rPr>
              <a:t> sehat · health</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ādat · habit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نَصِيحَةٌ</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‎نصیحت‎ </a:t>
            </a:r>
            <a:pPr indent="0" marL="0">
              <a:buNone/>
            </a:pPr>
            <a:r>
              <a:rPr lang="en-US" sz="950" b="1" dirty="0">
                <a:solidFill>
                  <a:srgbClr val="2E8B57"/>
                </a:solidFill>
                <a:latin typeface="Calibri" pitchFamily="34" charset="0"/>
                <a:cs typeface="Amiri" pitchFamily="2" charset="-78"/>
              </a:rPr>
              <a:t> nasīhat · advice</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اِعْتِدَالٌ</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‎اعتدال‎ </a:t>
            </a:r>
            <a:pPr indent="0" marL="0">
              <a:buNone/>
            </a:pPr>
            <a:r>
              <a:rPr lang="en-US" sz="950" b="1" dirty="0">
                <a:solidFill>
                  <a:srgbClr val="2E8B57"/>
                </a:solidFill>
                <a:latin typeface="Calibri" pitchFamily="34" charset="0"/>
                <a:cs typeface="Amiri" pitchFamily="2" charset="-78"/>
              </a:rPr>
              <a:t> eʿtidāl · moderation</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مُتَوَازِنٌ</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‎متوازن‎ </a:t>
            </a:r>
            <a:pPr indent="0" marL="0">
              <a:buNone/>
            </a:pPr>
            <a:r>
              <a:rPr lang="en-US" sz="950" b="1" dirty="0">
                <a:solidFill>
                  <a:srgbClr val="2E8B57"/>
                </a:solidFill>
                <a:latin typeface="Calibri" pitchFamily="34" charset="0"/>
                <a:cs typeface="Amiri" pitchFamily="2" charset="-78"/>
              </a:rPr>
              <a:t> mutawāzin · balanced</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Positive habits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يَشْرَبُ مَاءً كَافِيًا</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drinks enough water</a:t>
            </a:r>
            <a:endParaRPr lang="en-US" sz="1350" dirty="0"/>
          </a:p>
          <a:p>
            <a:pPr indent="0" marL="0">
              <a:buNone/>
            </a:pPr>
            <a:r>
              <a:rPr lang="en-US" sz="1100" i="1" dirty="0">
                <a:solidFill>
                  <a:srgbClr val="5A6472"/>
                </a:solidFill>
                <a:latin typeface="Calibri" pitchFamily="34" charset="0"/>
                <a:cs typeface="Amiri" pitchFamily="2" charset="-78"/>
              </a:rPr>
              <a:t>yash-ra-bu mā-ʾan kā-fi-yan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أَشْرَبُ</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تَشْرَبُ</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نَشْرَبُ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يَأْكُلُ طَعَامًا مُتَوَازِنًا</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eats a balanced diet</a:t>
            </a:r>
            <a:endParaRPr lang="en-US" sz="1350" dirty="0"/>
          </a:p>
          <a:p>
            <a:pPr indent="0" marL="0">
              <a:buNone/>
            </a:pPr>
            <a:r>
              <a:rPr lang="en-US" sz="1100" i="1" dirty="0">
                <a:solidFill>
                  <a:srgbClr val="5A6472"/>
                </a:solidFill>
                <a:latin typeface="Calibri" pitchFamily="34" charset="0"/>
                <a:cs typeface="Amiri" pitchFamily="2" charset="-78"/>
              </a:rPr>
              <a:t>yaʾ-ku-lu ṭa-ʿā-man mu-ta-wā-zi-nan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يَأْكُلُ الفَاكِهَةَ وَالخَضْرَوَاتِ</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eats fruit and vegetables</a:t>
            </a:r>
            <a:endParaRPr lang="en-US" sz="1350" dirty="0"/>
          </a:p>
          <a:p>
            <a:pPr indent="0" marL="0">
              <a:buNone/>
            </a:pPr>
            <a:r>
              <a:rPr lang="en-US" sz="1100" i="1" dirty="0">
                <a:solidFill>
                  <a:srgbClr val="5A6472"/>
                </a:solidFill>
                <a:latin typeface="Calibri" pitchFamily="34" charset="0"/>
                <a:cs typeface="Amiri" pitchFamily="2" charset="-78"/>
              </a:rPr>
              <a:t>yaʾ-ku-lu al-fā-ki-ha-ta wāl-khaḍ-ra-wā-ti</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يُمَارِسُ التَّمَارِينَ الرِّيَاضِيَّةَ</a:t>
            </a:r>
            <a:endParaRPr lang="ar-SA" sz="29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does exercise</a:t>
            </a:r>
            <a:endParaRPr lang="en-US" sz="1350" dirty="0"/>
          </a:p>
          <a:p>
            <a:pPr indent="0" marL="0">
              <a:buNone/>
            </a:pPr>
            <a:r>
              <a:rPr lang="en-US" sz="1100" i="1" dirty="0">
                <a:solidFill>
                  <a:srgbClr val="5A6472"/>
                </a:solidFill>
                <a:latin typeface="Calibri" pitchFamily="34" charset="0"/>
                <a:cs typeface="Amiri" pitchFamily="2" charset="-78"/>
              </a:rPr>
              <a:t>yu-mā-ri-su at-ta-mā-rī-na ar-ri-yā-ḍiy-ya-ta</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Positive habits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يَمْشِي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walks</a:t>
            </a:r>
            <a:endParaRPr lang="en-US" sz="1350" dirty="0"/>
          </a:p>
          <a:p>
            <a:pPr indent="0" marL="0">
              <a:buNone/>
            </a:pPr>
            <a:r>
              <a:rPr lang="en-US" sz="1100" i="1" dirty="0">
                <a:solidFill>
                  <a:srgbClr val="5A6472"/>
                </a:solidFill>
                <a:latin typeface="Calibri" pitchFamily="34" charset="0"/>
                <a:cs typeface="Amiri" pitchFamily="2" charset="-78"/>
              </a:rPr>
              <a:t>yam-shī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أَمْشِي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تَمْشِي</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نَمْشِي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يَنَامُ مُبَكِّرًا</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sleeps early</a:t>
            </a:r>
            <a:endParaRPr lang="en-US" sz="1350" dirty="0"/>
          </a:p>
          <a:p>
            <a:pPr indent="0" marL="0">
              <a:buNone/>
            </a:pPr>
            <a:r>
              <a:rPr lang="en-US" sz="1100" i="1" dirty="0">
                <a:solidFill>
                  <a:srgbClr val="5A6472"/>
                </a:solidFill>
                <a:latin typeface="Calibri" pitchFamily="34" charset="0"/>
                <a:cs typeface="Amiri" pitchFamily="2" charset="-78"/>
              </a:rPr>
              <a:t>ya-nā-mu mu-bak-ki-ran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أَنَامُ</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تَنَامُ</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نَنَامُ</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يَسْتَرِيحُ</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rests</a:t>
            </a:r>
            <a:endParaRPr lang="en-US" sz="1350" dirty="0"/>
          </a:p>
          <a:p>
            <a:pPr indent="0" marL="0">
              <a:buNone/>
            </a:pPr>
            <a:r>
              <a:rPr lang="en-US" sz="1100" i="1" dirty="0">
                <a:solidFill>
                  <a:srgbClr val="5A6472"/>
                </a:solidFill>
                <a:latin typeface="Calibri" pitchFamily="34" charset="0"/>
                <a:cs typeface="Amiri" pitchFamily="2" charset="-78"/>
              </a:rPr>
              <a:t>yas-ta-rī-ḥu</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يُنَظِّفُ أَسْنَانَهُ</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cleans his teeth</a:t>
            </a:r>
            <a:endParaRPr lang="en-US" sz="1350" dirty="0"/>
          </a:p>
          <a:p>
            <a:pPr indent="0" marL="0">
              <a:buNone/>
            </a:pPr>
            <a:r>
              <a:rPr lang="en-US" sz="1100" i="1" dirty="0">
                <a:solidFill>
                  <a:srgbClr val="5A6472"/>
                </a:solidFill>
                <a:latin typeface="Calibri" pitchFamily="34" charset="0"/>
                <a:cs typeface="Amiri" pitchFamily="2" charset="-78"/>
              </a:rPr>
              <a:t>yu-naẓ-ẓi-fu as-nā-na-hu</a:t>
            </a:r>
            <a:endParaRPr lang="en-US" sz="1350" dirty="0"/>
          </a:p>
        </p:txBody>
      </p:sp>
      <p:sp>
        <p:nvSpPr>
          <p:cNvPr id="67" name="Shape 64"/>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9" name="Text 66"/>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أُنَظِّفُ أَسْنَانِي</a:t>
            </a:r>
            <a:endParaRPr lang="ar-SA" sz="1500" dirty="0"/>
          </a:p>
        </p:txBody>
      </p:sp>
      <p:sp>
        <p:nvSpPr>
          <p:cNvPr id="70" name="Shape 67"/>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2" name="Text 69"/>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تُنَظِّفُ أَسْنَانَهَا</a:t>
            </a:r>
            <a:endParaRPr lang="ar-SA" sz="1500" dirty="0"/>
          </a:p>
        </p:txBody>
      </p:sp>
      <p:sp>
        <p:nvSpPr>
          <p:cNvPr id="73" name="Shape 70"/>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75" name="Text 72"/>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نُنَظِّفُ أَسْنَانَنَا</a:t>
            </a:r>
            <a:endParaRPr lang="ar-SA" sz="15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Habits to limit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يَأْكُلُ سُكَّرًا كَثِيرًا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eats a lot of sugar</a:t>
            </a:r>
            <a:endParaRPr lang="en-US" sz="1350" dirty="0"/>
          </a:p>
          <a:p>
            <a:pPr indent="0" marL="0">
              <a:buNone/>
            </a:pPr>
            <a:r>
              <a:rPr lang="en-US" sz="1100" i="1" dirty="0">
                <a:solidFill>
                  <a:srgbClr val="5A6472"/>
                </a:solidFill>
                <a:latin typeface="Calibri" pitchFamily="34" charset="0"/>
                <a:cs typeface="Amiri" pitchFamily="2" charset="-78"/>
              </a:rPr>
              <a:t>yaʾ-ku-lu suk-ka-ran ka-thī-ran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يُكْثِرُ مِنَ الوَجَبَاتِ السَّرِيعَةِ</a:t>
            </a:r>
            <a:endParaRPr lang="ar-SA" sz="29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has too much fast food</a:t>
            </a:r>
            <a:endParaRPr lang="en-US" sz="1350" dirty="0"/>
          </a:p>
          <a:p>
            <a:pPr indent="0" marL="0">
              <a:buNone/>
            </a:pPr>
            <a:r>
              <a:rPr lang="en-US" sz="1100" i="1" dirty="0">
                <a:solidFill>
                  <a:srgbClr val="5A6472"/>
                </a:solidFill>
                <a:latin typeface="Calibri" pitchFamily="34" charset="0"/>
                <a:cs typeface="Amiri" pitchFamily="2" charset="-78"/>
              </a:rPr>
              <a:t>yuk-thi-ru mi-na al-wa-ja-bā-ti as-sa-rī-ʿa-ti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يَشْرَبُ مَشْرُوبَاتٍ غَازِيَّةً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drinks fizzy drinks</a:t>
            </a:r>
            <a:endParaRPr lang="en-US" sz="1350" dirty="0"/>
          </a:p>
          <a:p>
            <a:pPr indent="0" marL="0">
              <a:buNone/>
            </a:pPr>
            <a:r>
              <a:rPr lang="en-US" sz="1100" i="1" dirty="0">
                <a:solidFill>
                  <a:srgbClr val="5A6472"/>
                </a:solidFill>
                <a:latin typeface="Calibri" pitchFamily="34" charset="0"/>
                <a:cs typeface="Amiri" pitchFamily="2" charset="-78"/>
              </a:rPr>
              <a:t>yash-ra-bu mash-rū-bā-tin ghā-ziy-ya-tan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7" name="Shape 34"/>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يَسْهَرُ</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stays up late</a:t>
            </a:r>
            <a:endParaRPr lang="en-US" sz="1350" dirty="0"/>
          </a:p>
          <a:p>
            <a:pPr indent="0" marL="0">
              <a:buNone/>
            </a:pPr>
            <a:r>
              <a:rPr lang="en-US" sz="1100" i="1" dirty="0">
                <a:solidFill>
                  <a:srgbClr val="5A6472"/>
                </a:solidFill>
                <a:latin typeface="Calibri" pitchFamily="34" charset="0"/>
                <a:cs typeface="Amiri" pitchFamily="2" charset="-78"/>
              </a:rPr>
              <a:t>yas-ha-ru</a:t>
            </a:r>
            <a:endParaRPr lang="en-US" sz="1350" dirty="0"/>
          </a:p>
        </p:txBody>
      </p:sp>
      <p:sp>
        <p:nvSpPr>
          <p:cNvPr id="43" name="Shape 40"/>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5" name="Text 42"/>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أَسْهَرُ</a:t>
            </a:r>
            <a:endParaRPr lang="ar-SA" sz="1500" dirty="0"/>
          </a:p>
        </p:txBody>
      </p:sp>
      <p:sp>
        <p:nvSpPr>
          <p:cNvPr id="46" name="Shape 43"/>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تَسْهَرُ</a:t>
            </a:r>
            <a:endParaRPr lang="ar-SA" sz="1500" dirty="0"/>
          </a:p>
        </p:txBody>
      </p:sp>
      <p:sp>
        <p:nvSpPr>
          <p:cNvPr id="49" name="Shape 46"/>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1" name="Text 48"/>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نَسْهَرُ</a:t>
            </a:r>
            <a:endParaRPr lang="ar-SA" sz="15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يَجْلِسُ طَوِيلًا</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sits for a long time</a:t>
            </a:r>
            <a:endParaRPr lang="en-US" sz="1350" dirty="0"/>
          </a:p>
          <a:p>
            <a:pPr indent="0" marL="0">
              <a:buNone/>
            </a:pPr>
            <a:r>
              <a:rPr lang="en-US" sz="1100" i="1" dirty="0">
                <a:solidFill>
                  <a:srgbClr val="5A6472"/>
                </a:solidFill>
                <a:latin typeface="Calibri" pitchFamily="34" charset="0"/>
                <a:cs typeface="Amiri" pitchFamily="2" charset="-78"/>
              </a:rPr>
              <a:t>yaj-li-su ṭa-wī-lan</a:t>
            </a:r>
            <a:endParaRPr lang="en-US" sz="135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يَتَحَرَّكُ كَثِيرًا</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does not move much</a:t>
            </a:r>
            <a:endParaRPr lang="en-US" sz="1350" dirty="0"/>
          </a:p>
          <a:p>
            <a:pPr indent="0" marL="0">
              <a:buNone/>
            </a:pPr>
            <a:r>
              <a:rPr lang="en-US" sz="1100" i="1" dirty="0">
                <a:solidFill>
                  <a:srgbClr val="5A6472"/>
                </a:solidFill>
                <a:latin typeface="Calibri" pitchFamily="34" charset="0"/>
                <a:cs typeface="Amiri" pitchFamily="2" charset="-78"/>
              </a:rPr>
              <a:t>lā ya-ta-ḥar-ra-ku ka-thī-ran</a:t>
            </a:r>
            <a:endParaRPr lang="en-US" sz="13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and balance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should / must</a:t>
            </a:r>
            <a:endParaRPr lang="en-US" sz="1350" dirty="0"/>
          </a:p>
          <a:p>
            <a:pPr indent="0" marL="0">
              <a:buNone/>
            </a:pPr>
            <a:r>
              <a:rPr lang="en-US" sz="1100" i="1" dirty="0">
                <a:solidFill>
                  <a:srgbClr val="5A6472"/>
                </a:solidFill>
                <a:latin typeface="Calibri" pitchFamily="34" charset="0"/>
                <a:cs typeface="Amiri" pitchFamily="2" charset="-78"/>
              </a:rPr>
              <a:t>ya-ji-bu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يَجِبُ أَنْ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should not</a:t>
            </a:r>
            <a:endParaRPr lang="en-US" sz="1350" dirty="0"/>
          </a:p>
          <a:p>
            <a:pPr indent="0" marL="0">
              <a:buNone/>
            </a:pPr>
            <a:r>
              <a:rPr lang="en-US" sz="1100" i="1" dirty="0">
                <a:solidFill>
                  <a:srgbClr val="5A6472"/>
                </a:solidFill>
                <a:latin typeface="Calibri" pitchFamily="34" charset="0"/>
                <a:cs typeface="Amiri" pitchFamily="2" charset="-78"/>
              </a:rPr>
              <a:t>lā ya-ji-bu 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الأَفْضَلِ أَنْ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better to</a:t>
            </a:r>
            <a:endParaRPr lang="en-US" sz="1350" dirty="0"/>
          </a:p>
          <a:p>
            <a:pPr indent="0" marL="0">
              <a:buNone/>
            </a:pPr>
            <a:r>
              <a:rPr lang="en-US" sz="1100" i="1" dirty="0">
                <a:solidFill>
                  <a:srgbClr val="5A6472"/>
                </a:solidFill>
                <a:latin typeface="Calibri" pitchFamily="34" charset="0"/>
                <a:cs typeface="Amiri" pitchFamily="2" charset="-78"/>
              </a:rPr>
              <a:t>mi-na al-af-ḍa-li 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المُهِمِّ أَنْ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important to</a:t>
            </a:r>
            <a:endParaRPr lang="en-US" sz="1350" dirty="0"/>
          </a:p>
          <a:p>
            <a:pPr indent="0" marL="0">
              <a:buNone/>
            </a:pPr>
            <a:r>
              <a:rPr lang="en-US" sz="1100" i="1" dirty="0">
                <a:solidFill>
                  <a:srgbClr val="5A6472"/>
                </a:solidFill>
                <a:latin typeface="Calibri" pitchFamily="34" charset="0"/>
                <a:cs typeface="Amiri" pitchFamily="2" charset="-78"/>
              </a:rPr>
              <a:t>mi-na al-mu-him-mi an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and balance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بِاعْتِدَالٍ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moderation</a:t>
            </a:r>
            <a:endParaRPr lang="en-US" sz="1350" dirty="0"/>
          </a:p>
          <a:p>
            <a:pPr indent="0" marL="0">
              <a:buNone/>
            </a:pPr>
            <a:r>
              <a:rPr lang="en-US" sz="1100" i="1" dirty="0">
                <a:solidFill>
                  <a:srgbClr val="5A6472"/>
                </a:solidFill>
                <a:latin typeface="Calibri" pitchFamily="34" charset="0"/>
                <a:cs typeface="Amiri" pitchFamily="2" charset="-78"/>
              </a:rPr>
              <a:t>biʿ-ti-dā-lin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نِظَامٌ غِذَائِيٌّ مُتَوَازِنٌ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balanced diet</a:t>
            </a:r>
            <a:endParaRPr lang="en-US" sz="1350" dirty="0"/>
          </a:p>
          <a:p>
            <a:pPr indent="0" marL="0">
              <a:buNone/>
            </a:pPr>
            <a:r>
              <a:rPr lang="en-US" sz="1100" i="1" dirty="0">
                <a:solidFill>
                  <a:srgbClr val="5A6472"/>
                </a:solidFill>
                <a:latin typeface="Calibri" pitchFamily="34" charset="0"/>
                <a:cs typeface="Amiri" pitchFamily="2" charset="-78"/>
              </a:rPr>
              <a:t>ni-ẓā-mun ghi-dhā-ʾiy-yun mu-ta-wā-zi-nun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أُسْلُوبُ حَيَاةٍ صِحِّيٌّ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healthy lifestyle</a:t>
            </a:r>
            <a:endParaRPr lang="en-US" sz="1350" dirty="0"/>
          </a:p>
          <a:p>
            <a:pPr indent="0" marL="0">
              <a:buNone/>
            </a:pPr>
            <a:r>
              <a:rPr lang="en-US" sz="1100" i="1" dirty="0">
                <a:solidFill>
                  <a:srgbClr val="5A6472"/>
                </a:solidFill>
                <a:latin typeface="Calibri" pitchFamily="34" charset="0"/>
                <a:cs typeface="Amiri" pitchFamily="2" charset="-78"/>
              </a:rPr>
              <a:t>us-lū-bu ḥa-yā-tin ṣiḥ-ḥiy-yun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صِحَّةٌ جَيِّدَةٌ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health</a:t>
            </a:r>
            <a:endParaRPr lang="en-US" sz="1350" dirty="0"/>
          </a:p>
          <a:p>
            <a:pPr indent="0" marL="0">
              <a:buNone/>
            </a:pPr>
            <a:r>
              <a:rPr lang="en-US" sz="1100" i="1" dirty="0">
                <a:solidFill>
                  <a:srgbClr val="5A6472"/>
                </a:solidFill>
                <a:latin typeface="Calibri" pitchFamily="34" charset="0"/>
                <a:cs typeface="Amiri" pitchFamily="2" charset="-78"/>
              </a:rPr>
              <a:t>ṣiḥ-ḥa-tun jay-yi-da-tun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STRENGTHS OF ADVICE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Should · it is better · should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دَرَجَاتُ النَّصِيحَةِ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2724912"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Advice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Strength</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should drink enough water.</a:t>
            </a:r>
            <a:endParaRPr lang="en-US" sz="1100" dirty="0"/>
          </a:p>
        </p:txBody>
      </p:sp>
      <p:sp>
        <p:nvSpPr>
          <p:cNvPr id="21" name="Text 18"/>
          <p:cNvSpPr txBox="1"/>
          <p:nvPr/>
        </p:nvSpPr>
        <p:spPr>
          <a:xfrm>
            <a:off x="2743200" y="2267712"/>
            <a:ext cx="548640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يَجِبُ أَنْ</a:t>
            </a:r>
            <a:pPr rtl="1" algn="ctr" indent="0" marL="0">
              <a:buNone/>
            </a:pPr>
            <a:r>
              <a:rPr lang="ar-SA" altLang="en-US" sz="2400" b="1" dirty="0">
                <a:solidFill>
                  <a:srgbClr val="1B3B6F"/>
                </a:solidFill>
                <a:latin typeface="Amiri" pitchFamily="2" charset="-78"/>
                <a:ea typeface="Amiri" pitchFamily="2" charset="-78"/>
                <a:cs typeface="Amiri" pitchFamily="2" charset="-78"/>
              </a:rPr>
              <a:t> نَشْرَبَ مَاءً كَافِيًا.</a:t>
            </a:r>
            <a:endParaRPr lang="ar-SA" sz="24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strong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should sleep early.</a:t>
            </a:r>
            <a:endParaRPr lang="en-US" sz="1100" dirty="0"/>
          </a:p>
        </p:txBody>
      </p:sp>
      <p:sp>
        <p:nvSpPr>
          <p:cNvPr id="27" name="Text 24"/>
          <p:cNvSpPr txBox="1"/>
          <p:nvPr/>
        </p:nvSpPr>
        <p:spPr>
          <a:xfrm>
            <a:off x="2743200" y="3004718"/>
            <a:ext cx="548640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يَجِبُ أَنْ</a:t>
            </a:r>
            <a:pPr rtl="1" algn="ctr" indent="0" marL="0">
              <a:buNone/>
            </a:pPr>
            <a:r>
              <a:rPr lang="ar-SA" altLang="en-US" sz="2400" b="1" dirty="0">
                <a:solidFill>
                  <a:srgbClr val="1B3B6F"/>
                </a:solidFill>
                <a:latin typeface="Amiri" pitchFamily="2" charset="-78"/>
                <a:ea typeface="Amiri" pitchFamily="2" charset="-78"/>
                <a:cs typeface="Amiri" pitchFamily="2" charset="-78"/>
              </a:rPr>
              <a:t> نَنَامَ مُبَكِّرًا.</a:t>
            </a:r>
            <a:endParaRPr lang="ar-SA" sz="24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strong</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better to walk every day.</a:t>
            </a:r>
            <a:endParaRPr lang="en-US" sz="1100" dirty="0"/>
          </a:p>
        </p:txBody>
      </p:sp>
      <p:sp>
        <p:nvSpPr>
          <p:cNvPr id="33" name="Text 30"/>
          <p:cNvSpPr txBox="1"/>
          <p:nvPr/>
        </p:nvSpPr>
        <p:spPr>
          <a:xfrm>
            <a:off x="2743200" y="3741725"/>
            <a:ext cx="5486400" cy="682142"/>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مِنَ الأَفْضَلِ أَنْ</a:t>
            </a:r>
            <a:pPr rtl="1" algn="ctr" indent="0" marL="0">
              <a:buNone/>
            </a:pPr>
            <a:r>
              <a:rPr lang="ar-SA" altLang="en-US" sz="2400" b="1" dirty="0">
                <a:solidFill>
                  <a:srgbClr val="1B3B6F"/>
                </a:solidFill>
                <a:latin typeface="Amiri" pitchFamily="2" charset="-78"/>
                <a:ea typeface="Amiri" pitchFamily="2" charset="-78"/>
                <a:cs typeface="Amiri" pitchFamily="2" charset="-78"/>
              </a:rPr>
              <a:t> نَمْشِيَ كُلَّ يَوْمٍ.</a:t>
            </a:r>
            <a:endParaRPr lang="ar-SA" sz="2400" dirty="0"/>
          </a:p>
        </p:txBody>
      </p:sp>
      <p:sp>
        <p:nvSpPr>
          <p:cNvPr id="34" name="Text 31"/>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gentle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better to reduce sugar.</a:t>
            </a:r>
            <a:endParaRPr lang="en-US" sz="1100" dirty="0"/>
          </a:p>
        </p:txBody>
      </p:sp>
      <p:sp>
        <p:nvSpPr>
          <p:cNvPr id="37" name="Text 34"/>
          <p:cNvSpPr txBox="1"/>
          <p:nvPr/>
        </p:nvSpPr>
        <p:spPr>
          <a:xfrm>
            <a:off x="2743200" y="4478731"/>
            <a:ext cx="5486400" cy="682142"/>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مِنَ الأَفْضَلِ أَنْ</a:t>
            </a:r>
            <a:pPr rtl="1" algn="ctr" indent="0" marL="0">
              <a:buNone/>
            </a:pPr>
            <a:r>
              <a:rPr lang="ar-SA" altLang="en-US" sz="2400" b="1" dirty="0">
                <a:solidFill>
                  <a:srgbClr val="1B3B6F"/>
                </a:solidFill>
                <a:latin typeface="Amiri" pitchFamily="2" charset="-78"/>
                <a:ea typeface="Amiri" pitchFamily="2" charset="-78"/>
                <a:cs typeface="Amiri" pitchFamily="2" charset="-78"/>
              </a:rPr>
              <a:t> نُقَلِّلَ السُّكَّرَ.</a:t>
            </a:r>
            <a:endParaRPr lang="ar-SA" sz="2400" dirty="0"/>
          </a:p>
        </p:txBody>
      </p:sp>
      <p:sp>
        <p:nvSpPr>
          <p:cNvPr id="38" name="Text 35"/>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gentle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should not eat too many sweets.</a:t>
            </a:r>
            <a:endParaRPr lang="en-US" sz="1100" dirty="0"/>
          </a:p>
        </p:txBody>
      </p:sp>
      <p:sp>
        <p:nvSpPr>
          <p:cNvPr id="41" name="Text 38"/>
          <p:cNvSpPr txBox="1"/>
          <p:nvPr/>
        </p:nvSpPr>
        <p:spPr>
          <a:xfrm>
            <a:off x="2743200" y="5215738"/>
            <a:ext cx="548640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لَا يَجِبُ أَنْ</a:t>
            </a:r>
            <a:pPr rtl="1" algn="ctr" indent="0" marL="0">
              <a:buNone/>
            </a:pPr>
            <a:r>
              <a:rPr lang="ar-SA" altLang="en-US" sz="2400" b="1" dirty="0">
                <a:solidFill>
                  <a:srgbClr val="1B3B6F"/>
                </a:solidFill>
                <a:latin typeface="Amiri" pitchFamily="2" charset="-78"/>
                <a:ea typeface="Amiri" pitchFamily="2" charset="-78"/>
                <a:cs typeface="Amiri" pitchFamily="2" charset="-78"/>
              </a:rPr>
              <a:t> نُكْثِرَ مِنَ الحَلْوَيَاتِ.</a:t>
            </a:r>
            <a:endParaRPr lang="ar-SA" sz="2400" dirty="0"/>
          </a:p>
        </p:txBody>
      </p:sp>
      <p:sp>
        <p:nvSpPr>
          <p:cNvPr id="42" name="Text 39"/>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negative</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VERB always follows an (ending in -a): an nashraba, an nanāma, an numshiya.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REASON AND RESULT (WEBSITE RULE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Because … so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لِأَنَّ · لِذَلِكَ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REASON · لِأَنَّ</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لِأَنَّهَا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الرِّيَاضَةُ مُفِيدَةٌ لِأَنَّهَا تُقَوِّي الجِسْمَ.</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Exercise is beneficial because it strengthens the body.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Sport is f. → -hā (F5-L04).</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RESULT · لِذَلِكَ</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لِذَلِكَ</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أَنَامُ قَلِيلًا؛ لِذَلِكَ أَشْعُرُ بِالتَّعَبِ.</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sleep little; so I feel tired.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Cause first, then result.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بِاعْتِدَالٍ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آكُلُ الحَلْوَيَاتِ بِاعْتِدَالٍ.</a:t>
            </a:r>
            <a:endParaRPr lang="ar-SA" sz="31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eat sweets in moderation.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Realistic, not perfect.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sport is feminine, so the adjective is too.</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الرِّيَاضَةُ مُفِيدَةٌ.</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الرِّيَاضَةُ مُفِيدٌ.</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دَرَجَاتُ النَّصِيحَةِ لِلْعَادَاتِ الصِّحِّيَّةِ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Give strong advice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يَجِبُ أَنْ + 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أَنْ نَشْرَبَ مَاءً كَافِيًا.   ·   يَجِبُ أَنْ نَنَامَ مُبَكِّرًا.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Give gentler advice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الأَفْضَلِ أَنْ + فِعْلٌ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الأَفْضَلِ أَنْ نَمْشِيَ كُلَّ يَوْمٍ.   ·   مِنَ الأَفْضَلِ أَنْ نُقَلِّلَ السُّكَّرَ.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Give negative advice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لَا يَجِبُ أَنْ + فِعْلٌ</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لَا يَجِبُ أَنْ نُكْثِرَ مِنَ الحَلْوَيَاتِ.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Explain the advice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لِأَنَّ... / لِذٰلِكَ...</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المَاءُ مُفِيدٌ لِأَنَّهُ يُرَطِّبُ الجِسْمَ.   ·   أَنَامُ قَلِيلًا؛ لِذٰلِكَ أَشْعُرُ بِالتَّعَبِ.</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strongest advice?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الأَفْضَلِ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gentle recommendation.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الأَفْضَلِ أَنْ تَنَامَ مُبَكِّرًا.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تَنَامَ الآنَ.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تَنَامُ.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reason?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result?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strongest advice?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الأَفْضَلِ أَنْ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أَنْ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يَجِبُ أَنْ</a:t>
            </a:r>
            <a:pPr algn="l" indent="0" marL="0">
              <a:buNone/>
            </a:pPr>
            <a:r>
              <a:rPr lang="en-US" sz="1050" i="1" dirty="0">
                <a:solidFill>
                  <a:srgbClr val="8A6D1E"/>
                </a:solidFill>
                <a:latin typeface="Calibri" pitchFamily="34" charset="0"/>
                <a:cs typeface="Amiri" pitchFamily="2" charset="-78"/>
              </a:rPr>
              <a:t> is the strongest of these frames.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gentle recommendation.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الأَفْضَلِ أَنْ تَنَامَ مُبَكِّرًا.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تَنَامَ الآنَ.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تَنَامُ.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الأَفْضَلِ أَنْ</a:t>
            </a:r>
            <a:pPr algn="l" indent="0" marL="0">
              <a:buNone/>
            </a:pPr>
            <a:r>
              <a:rPr lang="en-US" sz="1050" i="1" dirty="0">
                <a:solidFill>
                  <a:srgbClr val="8A6D1E"/>
                </a:solidFill>
                <a:latin typeface="Calibri" pitchFamily="34" charset="0"/>
                <a:cs typeface="Amiri" pitchFamily="2" charset="-78"/>
              </a:rPr>
              <a:t> softens the advice.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reason?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a:t>
            </a:r>
            <a:pPr algn="l" indent="0" marL="0">
              <a:buNone/>
            </a:pPr>
            <a:r>
              <a:rPr lang="en-US" sz="1050" i="1" dirty="0">
                <a:solidFill>
                  <a:srgbClr val="8A6D1E"/>
                </a:solidFill>
                <a:latin typeface="Calibri" pitchFamily="34" charset="0"/>
                <a:cs typeface="Amiri" pitchFamily="2" charset="-78"/>
              </a:rPr>
              <a:t> introduces a reason.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result?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لِذٰلِكَ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لِذٰلِكَ</a:t>
            </a:r>
            <a:pPr algn="l" indent="0" marL="0">
              <a:buNone/>
            </a:pPr>
            <a:r>
              <a:rPr lang="en-US" sz="1050" i="1" dirty="0">
                <a:solidFill>
                  <a:srgbClr val="8A6D1E"/>
                </a:solidFill>
                <a:latin typeface="Calibri" pitchFamily="34" charset="0"/>
                <a:cs typeface="Amiri" pitchFamily="2" charset="-78"/>
              </a:rPr>
              <a:t> means “therefore”.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write a healthy-lifestyle guide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Strong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يَجِبُ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نَشْرَبَ مَاءً كَافِيًا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وَأَنْ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نَأْكُلَ الفَاكِهَةَ.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pieces: repeat an.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Gentle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7B3FA0"/>
                </a:solidFill>
                <a:latin typeface="Amiri" pitchFamily="2" charset="-78"/>
                <a:ea typeface="Amiri" pitchFamily="2" charset="-78"/>
                <a:cs typeface="Amiri" pitchFamily="2" charset="-78"/>
              </a:rPr>
              <a:t>مِنَ الأَفْضَلِ أَنْ</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نُمَارِسَ الرِّيَاضَةَ.</a:t>
            </a:r>
            <a:endParaRPr lang="ar-SA" sz="1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Softer advice.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Negative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D6336C"/>
                </a:solidFill>
                <a:latin typeface="Amiri" pitchFamily="2" charset="-78"/>
                <a:ea typeface="Amiri" pitchFamily="2" charset="-78"/>
                <a:cs typeface="Amiri" pitchFamily="2" charset="-78"/>
              </a:rPr>
              <a:t>لَا يَجِبُ أَنْ</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نُكْثِرَ مِنَ السُّكَّرِ.</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Limit, not ban.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Reason + goal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الرِّيَاضَةُ مُفِيدَةٌ لِأَنَّهَا تُقَوِّي الجِسْمَ. هَدَفِي أَنْ أَمْشِيَ كُلَّ يَوْمٍ.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Why + a realistic goal.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STRONG</a:t>
            </a:r>
            <a:endParaRPr lang="en-US" sz="800" dirty="0"/>
          </a:p>
        </p:txBody>
      </p:sp>
      <p:sp>
        <p:nvSpPr>
          <p:cNvPr id="47" name="Shape 43"/>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GENTLE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NEGATIVE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لِلْحِفَاظِ عَلَى صِحَّةٍ جَيِّدَةٍ،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يَجِبُ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نَشْرَبَ مَاءً كَافِيًا وَأَنْ نَأْكُلَ الفَاكِهَةَ وَالخَضْرَوَاتِ.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مِنَ الأَفْضَلِ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نُمَارِسَ الرِّيَاضَةَ وَأَنْ نَنَامَ مُبَكِّرًا.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لَا يَجِبُ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نُكْثِرَ مِنَ السُّكَّرِ أَوِ المَشْرُوبَاتِ الغَازِيَّةِ. الرِّيَاضَةُ مُفِيدَةٌ لِأَنَّهَا تُقَوِّي الجِسْمَ. هَدَفِي أَنْ أَمْشِيَ ثَلَاثِينَ دَقِيقَةً كُلَّ يَوْمٍ.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To keep good health, we should drink enough water and eat fruit and vegetables. It is better to do sport and sleep early. We should not have too much sugar or fizzy drinks. Sport is beneficial because it strengthens the body. My goal is to walk for thirty minutes every day.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يَجِبُ أَنْ نَشْرَبَ مَاءً كَافِيًا كُلَّ يَوْمٍ.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should drink enough water every day.</a:t>
            </a:r>
            <a:endParaRPr lang="en-US" sz="1250" dirty="0"/>
          </a:p>
          <a:p>
            <a:pPr indent="0" marL="0">
              <a:buNone/>
            </a:pPr>
            <a:r>
              <a:rPr lang="en-US" sz="1050" i="1" dirty="0">
                <a:solidFill>
                  <a:srgbClr val="8A6D1E"/>
                </a:solidFill>
                <a:latin typeface="Calibri" pitchFamily="34" charset="0"/>
                <a:cs typeface="Amiri" pitchFamily="2" charset="-78"/>
              </a:rPr>
              <a:t>Use the plural “we” form when advice includes everyone.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مِنَ الأَفْضَلِ أَنْ نَنَامَ مُبَكِّرًا.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better to sleep early.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This gives advice less strongly than يَجِبُ.</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يَجِبُ أَنْ نُكْثِرَ مِنَ السُّكَّرِ.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should not consume too much sugar.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لَا يَجِبُ أَنْ for negative advice.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الرِّيَاضَةُ مُفِيدَةٌ لِأَنَّهَا تُقَوِّي الجِسْمَ.</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Exercise is beneficial because it strengthens the body.</a:t>
            </a:r>
            <a:endParaRPr lang="en-US" sz="1250" dirty="0"/>
          </a:p>
          <a:p>
            <a:pPr indent="0" marL="0">
              <a:buNone/>
            </a:pPr>
            <a:r>
              <a:rPr lang="en-US" sz="1050" i="1" dirty="0">
                <a:solidFill>
                  <a:srgbClr val="8A6D1E"/>
                </a:solidFill>
                <a:latin typeface="Calibri" pitchFamily="34" charset="0"/>
                <a:cs typeface="Amiri" pitchFamily="2" charset="-78"/>
              </a:rPr>
              <a:t>Add a reason to make advice meaningful.</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2F6FB0"/>
                </a:solidFill>
                <a:latin typeface="Calibri" pitchFamily="34" charset="0"/>
                <a:cs typeface="Amiri" pitchFamily="2" charset="-78"/>
              </a:rPr>
              <a:t>WE DO · PICTURE MATCH · WEBSITE GAME “VISUAL GAME — HEALTHY HABITS AND ADVICE”</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Healthy advice: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الخِيَارُ الصِّحِّيُّ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water ✓</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sleep ✓</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at night ↓</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أَنْ نُقَلِّلَ اسْتِخْدَامَ الهَاتِفِ لَيْلًا.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نَشْرَبَ مَاءً كَافِيًا.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أَنْ نَنَامَ جَيِّدًا.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الخِيَارُ الصِّحِّيُّ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water ✓</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نَشْرَبَ مَاءً كَافِيًا.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should drink enough water.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sleep ✓</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يَنْبَغِي أَنْ نَنَامَ جَيِّدًا.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ought to sleep well.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at night ↓</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يَنْبَغِي أَنْ نُقَلِّلَ اسْتِخْدَامَ الهَاتِفِ لَيْلًا.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ought to reduce phone use at night.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Helpful habit or habit to limit?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شُرْبُ المَاءِ</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السَّهَرُ كُلَّ لَيْلَةٍ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أَكْلُ الخَضْرَوَاتِ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الإِكْثَارُ مِنَ السُّكَّرِ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المَشْيُ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الجُلُوسُ طَوِيلًا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تَنْظِيفُ الأَسْنَانِ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شُرْبُ المَشْرُوبَاتِ الغَازِيَّةِ كَثِيرًا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عَادَةٌ مُفِيدَةٌ</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عَادَةٌ نُقَلِّلُ مِنْهَا</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عَادَةٌ مُفِيدَةٌ</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شُرْبُ المَاءِ</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أَكْلُ الخَضْرَوَاتِ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المَشْيُ</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تَنْظِيفُ الأَسْنَانِ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عَادَةٌ نُقَلِّلُ مِنْهَا</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السَّهَرُ كُلَّ لَيْلَةٍ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الإِكْثَارُ مِنَ السُّكَّرِ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الجُلُوسُ طَوِيلًا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شُرْبُ المَشْرُوبَاتِ الغَازِيَّةِ كَثِيرًا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sustainable habit phrase?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فَوْرًا دَائِمًا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بِدُونِ نَوْمٍ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بِاعْتِدَالٍ</a:t>
            </a:r>
            <a:endParaRPr lang="ar-SA" sz="2050" dirty="0"/>
          </a:p>
        </p:txBody>
      </p:sp>
      <p:sp>
        <p:nvSpPr>
          <p:cNvPr id="30" name="Shape 27"/>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gentler advice?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نَنَامَ الآنَ.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الأَفْضَلِ أَنْ نَنَامَ مُبَكِّرًا.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نَوْمٌ.</a:t>
            </a:r>
            <a:endParaRPr lang="ar-SA" sz="2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sustainable habit phrase?</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فَوْرًا دَائِمًا</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بِدُونِ نَوْمٍ</a:t>
            </a:r>
            <a:endParaRPr lang="ar-SA" sz="2050" dirty="0"/>
          </a:p>
        </p:txBody>
      </p:sp>
      <p:sp>
        <p:nvSpPr>
          <p:cNvPr id="27" name="Shape 24"/>
          <p:cNvSpPr/>
          <p:nvPr/>
        </p:nvSpPr>
        <p:spPr>
          <a:xfrm>
            <a:off x="548640" y="341071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بِاعْتِدَالٍ</a:t>
            </a:r>
            <a:endParaRPr lang="ar-SA" sz="2050" dirty="0"/>
          </a:p>
        </p:txBody>
      </p:sp>
      <p:sp>
        <p:nvSpPr>
          <p:cNvPr id="31" name="Text 2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بِاعْتِدَالٍ</a:t>
            </a:r>
            <a:pPr algn="l" indent="0" marL="0">
              <a:buNone/>
            </a:pPr>
            <a:r>
              <a:rPr lang="en-US" sz="1050" i="1" dirty="0">
                <a:solidFill>
                  <a:srgbClr val="8A6D1E"/>
                </a:solidFill>
                <a:latin typeface="Calibri" pitchFamily="34" charset="0"/>
                <a:cs typeface="Amiri" pitchFamily="2" charset="-78"/>
              </a:rPr>
              <a:t> means “in moderation”.</a:t>
            </a:r>
            <a:endParaRPr lang="en-US" sz="1050" dirty="0"/>
          </a:p>
        </p:txBody>
      </p:sp>
      <p:sp>
        <p:nvSpPr>
          <p:cNvPr id="32" name="Shape 29"/>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gentler advice?</a:t>
            </a:r>
            <a:endParaRPr lang="en-US" sz="1250" dirty="0"/>
          </a:p>
        </p:txBody>
      </p:sp>
      <p:sp>
        <p:nvSpPr>
          <p:cNvPr id="36" name="Shape 33"/>
          <p:cNvSpPr/>
          <p:nvPr/>
        </p:nvSpPr>
        <p:spPr>
          <a:xfrm>
            <a:off x="6368796"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يَجِبُ أَنْ نَنَامَ الآنَ.</a:t>
            </a:r>
            <a:endParaRPr lang="ar-SA" sz="2050" dirty="0"/>
          </a:p>
        </p:txBody>
      </p:sp>
      <p:sp>
        <p:nvSpPr>
          <p:cNvPr id="39" name="Shape 36"/>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 الأَفْضَلِ أَنْ نَنَامَ مُبَكِّرًا.</a:t>
            </a:r>
            <a:endParaRPr lang="ar-SA" sz="2050" dirty="0"/>
          </a:p>
        </p:txBody>
      </p:sp>
      <p:sp>
        <p:nvSpPr>
          <p:cNvPr id="43" name="Shape 40"/>
          <p:cNvSpPr/>
          <p:nvPr/>
        </p:nvSpPr>
        <p:spPr>
          <a:xfrm>
            <a:off x="6368796"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نَوْمٌ.</a:t>
            </a:r>
            <a:endParaRPr lang="ar-SA" sz="2050" dirty="0"/>
          </a:p>
        </p:txBody>
      </p:sp>
      <p:sp>
        <p:nvSpPr>
          <p:cNvPr id="46" name="Text 4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الأَفْضَلِ أَنْ</a:t>
            </a:r>
            <a:pPr algn="l" indent="0" marL="0">
              <a:buNone/>
            </a:pPr>
            <a:r>
              <a:rPr lang="en-US" sz="1050" i="1" dirty="0">
                <a:solidFill>
                  <a:srgbClr val="8A6D1E"/>
                </a:solidFill>
                <a:latin typeface="Calibri" pitchFamily="34" charset="0"/>
                <a:cs typeface="Amiri" pitchFamily="2" charset="-78"/>
              </a:rPr>
              <a:t> softens the recommendation.</a:t>
            </a:r>
            <a:endParaRPr lang="en-US" sz="10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نَشْرَبُ المَاءَ.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يَجِبُ نَأْكُلَ سُكَّرًا كَثِيرًا.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after </a:t>
            </a:r>
            <a:pPr algn="l" indent="0" marL="0">
              <a:buNone/>
            </a:pPr>
            <a:r>
              <a:rPr lang="ar-SA" altLang="en-US" sz="1700" dirty="0">
                <a:solidFill>
                  <a:srgbClr val="5A6472"/>
                </a:solidFill>
                <a:latin typeface="Amiri" pitchFamily="2" charset="-78"/>
                <a:ea typeface="Amiri" pitchFamily="2" charset="-78"/>
                <a:cs typeface="Amiri" pitchFamily="2" charset="-78"/>
              </a:rPr>
              <a:t>لَا يَجِبُ</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الرِّيَاضَةُ مُفِيدٌ.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sport m. or f.?</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نَشْرَبُ المَاءَ.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نَشْرَبَ المَاءَ.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model uses the subjunctive ending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يَجِبُ نَأْكُلَ سُكَّرًا كَثِيرًا.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يَجِبُ أَنْ نَأْكُلَ سُكَّرًا كَثِيرًا.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in the advice structure.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الرِّيَاضَةُ مُفِيدٌ.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الرِّيَاضَةُ مُفِيدَةٌ.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رِيَاضَةٌ</a:t>
            </a:r>
            <a:pPr algn="l" indent="0" marL="0">
              <a:buNone/>
            </a:pPr>
            <a:r>
              <a:rPr lang="en-US" sz="1150" b="1" dirty="0">
                <a:solidFill>
                  <a:srgbClr val="1B3B6F"/>
                </a:solidFill>
                <a:latin typeface="Calibri" pitchFamily="34" charset="0"/>
                <a:cs typeface="Amiri" pitchFamily="2" charset="-78"/>
              </a:rPr>
              <a:t> is feminine, so the adjective is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for three students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Layla tired?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sleeps late.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exercises too much.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drinks too much water.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Mazin carry?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fruit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water bottle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Saeed eat sweets?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breakfast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every meal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pieces of advice are given to Saeed?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limit sugar and clean teeth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more sugar and sleep</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 coffee and walk</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advice frame after each semicolon.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تَنَامُ لَيْلَى مُتَأَخِّرَةً وَتَشْعُرُ بِالتَّعَبِ فِي المَدْرَسَةِ؛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sleeps late and feels tired at school;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الأَفْضَلِ أَنْ تَنَامَ مُبَكِّرًا.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better for her to sleep early.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يَشْرَبُ مَازِنٌ قَلِيلًا مِنَ المَاءِ؛ يَجِبُ أَنْ يَحْمِلَ زُجَاجَةَ مَاءٍ.</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Mazin drinks little water; he should carry a water bottle.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يُحِبُّ سَعِيدٌ الحَلْوَيَاتِ وَيَأْكُلُهَا بَعْدَ كُلِّ وَجْبَةٍ؛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Saeed loves sweets and eats them after every meal;</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يَجِبُ أَنْ يُكْثِرَ مِنَ السُّكَّرِ، وَيَجِبُ أَنْ يُنَظِّفَ أَسْنَانَهُ.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should not have too much sugar, and he should clean his teeth.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Layla tired?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sleeps late.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exercises too much.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drinks too much water.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تَنَامُ ... مُتَأَخِّرَةً.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Mazin carry?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fruit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water bottle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زُجَاجَةَ مَاءٍ.</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Saeed eat sweets?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breakfast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every meal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بَعْدَ كُلِّ وَجْبَةٍ.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pieces of advice are given to Saeed?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limit sugar and clean teeth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 more sugar and sleep</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 coffee and walk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are stated in the final sentence.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advice frame after each semicolon.</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coach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لِتَكُونَ صِحِّيًّا / صِحِّيَّةً؟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مَرَّةً تُمَارِسُ الرِّيَاضَةَ؟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تَنَامُ مُبَكِّرًا؟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العَادَةُ الَّتِي تُرِيدُ أَنْ تُحَسِّنَهَا؟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أَشْرَبُ المَاءَ وَ ___ كُلَّ يَوْمٍ.</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أُمَارِسُ الرِّيَاضَةَ ___ مَرَّاتٍ فِي الأُسْبُوعِ.</a:t>
            </a:r>
            <a:endParaRPr lang="ar-SA" sz="155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نَعَمْ … / لَا، أَسْهَرُ أَحْيَانًا؛ لِذَلِكَ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أُرِيدُ أَنْ ___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تَفْعَلِينَ لِتَكُونِي صِحِّيَّةً؟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(f.) do to be healthy?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أَشْرَبُ المَاءَ وَأَمْشِي كُلَّ يَوْمٍ.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drink water and walk every day.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Classify habits and complete four advice frames.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advice frames (should / should not) and one habit you have.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8–10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Create six linked pieces of advice with reasons.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four good habits, two to limit, two reasons and one personal goal.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a lifestyle profile, prioritise two changes and justify why those changes should come first.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Evaluate Nour’s profile: two priority changes, justified with because / so.</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الأَفْضَلِ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better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لِأَنَّهَا تُقَوِّي الجِسْمَ.</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it strengthens the body.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المَاءُ مُفِيدٌ لِأَنَّهُ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Water is useful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أَسْهَرُ؛ لِذَلِكَ أَشْعُرُ بِالتَّعَبِ.</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stay up late, so I feel tired.</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الحَلْوَيَاتِ بِاعْتِدَالٍ.</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sweets in moderation.</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نَشْرَبَ مَاءً كَافِيًا.</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should drink enough water.</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نَنَامَ مُبَكِّرًا.</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should sleep early.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يَجِبُ أَنْ نَأْكُلَ سُكَّرًا كَثِيرًا.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should not eat a lot of sugar.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الفَاكِهَةَ وَالخَضْرَوَاتِ كُلَّ يَوْمٍ.</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fruit and vegetables every day.</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هَدَفِي أَنْ أَمْشِيَ كُلَّ يَوْمٍ.</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goal is to walk every day.</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يَجِبُ أَنْ  ·  لَا يَجِبُ أَنْ  ·  مِنَ الأَفْضَلِ أَنْ  ·  نَشْرَبَ  ·  نَأْكُلَ  ·  نَنَامَ  ·  نَمْشِيَ  ·  نُكْثِرَ مِنَ  ·  لِأَنَّ  ·  لِذَلِكَ  ·  بِاعْتِدَالٍ  ·  هَدَفِي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practical healthy-lifestyle guide with 8–10 sentences. Include four positive habits, two habits to limit, two reasons and one personal goal.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يَجِبُ أَنْ</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لَا يَجِبُ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مِنَ الأَفْضَلِ أَنْ</a:t>
            </a:r>
            <a:pPr algn="l" indent="0" marL="0">
              <a:buNone/>
            </a:pPr>
            <a:r>
              <a:rPr lang="en-US" sz="1200" dirty="0">
                <a:solidFill>
                  <a:srgbClr val="1F2A37"/>
                </a:solidFill>
                <a:latin typeface="Calibri" pitchFamily="34" charset="0"/>
                <a:cs typeface="Amiri" pitchFamily="2" charset="-78"/>
              </a:rPr>
              <a:t> at least once.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reasons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Keep advice balanced and achievable.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أَحَاوِلُ أَنْ أَتَّبِعَ أُسْلُوبَ حَيَاةٍ صِحِّيًّا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try to follow a healthy lifestyle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بَدَلًا مِنَ المَشْرُوبَاتِ الغَازِيَّةِ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instead of fizzy drinks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لِأَنَّ … ثُمَّ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because … then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التَّغْيِيرُ أَهَمُّ لِأَنَّ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change is more important because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هَدَفِي هٰذَا الشَّهْرَ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goal this month</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لِلْحِفَاظِ عَلَى صِحَّةٍ جَيِّدَةٍ، يَجِبُ أَنْ نَشْرَبَ مَاءً كَافِيًا وَأَنْ نَأْكُلَ الفَاكِهَةَ وَالخَضْرَوَاتِ. مِنَ الأَفْضَلِ أَنْ نُمَارِسَ الرِّيَاضَةَ وَأَنْ نَنَامَ مُبَكِّرًا. لَا يَجِبُ أَنْ نُكْثِرَ مِنَ السُّكَّرِ أَوِ المَشْرُوبَاتِ الغَازِيَّةِ. الرِّيَاضَةُ مُفِيدَةٌ لِأَنَّهَا تُقَوِّي الجِسْمَ. هَدَفِي أَنْ أَمْشِيَ ثَلَاثِينَ دَقِيقَةً كُلَّ يَوْمٍ.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keep good health, we should drink enough water and eat fruit and vegetables. It is better to do sport and sleep early. We should not have too much sugar or fizzy drinks. Sport is beneficial because it strengthens the body. My goal is to walk thirty minutes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strong advice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gentle advice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negative advice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four pieces of advice.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verb (-a) follows every </a:t>
            </a:r>
            <a:pPr algn="l" indent="0" marL="0">
              <a:buNone/>
            </a:pPr>
            <a:r>
              <a:rPr lang="ar-SA" altLang="en-US" sz="1700" dirty="0">
                <a:solidFill>
                  <a:srgbClr val="1F2A37"/>
                </a:solidFill>
                <a:latin typeface="Amiri" pitchFamily="2" charset="-78"/>
                <a:ea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gentle and negative advice.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Two pieces of advice have a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plan is balanced and realistic.</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“you should”?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يَجِبُ 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أَنْ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in moderation?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بِسُرْعَةٍ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بِاعْتِدَالٍ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بِصُعُوبَةٍ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الرِّيَاضَةُ مُفِيدَةٌ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الرِّيَاضَةُ مُفِيدٌ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الرِّيَاضَةُ مُفِيدَانِ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“you should”?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يَجِبُ أَنْ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يَجِبُ 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مُنْذُ أَنْ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يَجِبُ أَنْ</a:t>
            </a:r>
            <a:pPr algn="l" indent="0" marL="0">
              <a:buNone/>
            </a:pPr>
            <a:r>
              <a:rPr lang="en-US" sz="1050" i="1" dirty="0">
                <a:solidFill>
                  <a:srgbClr val="8A6D1E"/>
                </a:solidFill>
                <a:latin typeface="Calibri" pitchFamily="34" charset="0"/>
                <a:cs typeface="Amiri" pitchFamily="2" charset="-78"/>
              </a:rPr>
              <a:t> introduces advice.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in moderation?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بِسُرْعَةٍ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بِاعْتِدَالٍ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بِصُعُوبَةٍ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بِاعْتِدَالٍ</a:t>
            </a:r>
            <a:pPr algn="l" indent="0" marL="0">
              <a:buNone/>
            </a:pPr>
            <a:r>
              <a:rPr lang="en-US" sz="1050" i="1" dirty="0">
                <a:solidFill>
                  <a:srgbClr val="8A6D1E"/>
                </a:solidFill>
                <a:latin typeface="Calibri" pitchFamily="34" charset="0"/>
                <a:cs typeface="Amiri" pitchFamily="2" charset="-78"/>
              </a:rPr>
              <a:t> means in moderation.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الرِّيَاضَةُ مُفِيدَةٌ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الرِّيَاضَةُ مُفِيدٌ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الرِّيَاضَةُ مُفِيدَانِ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رِيَاضَةٌ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lifestyle profile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أَنَا نُورٌ. أَحَاوِلُ أَنْ أَتَّبِعَ أُسْلُوبَ حَيَاةٍ صِحِّيًّا. آكُلُ الفَاكِهَةَ وَالخَضْرَوَاتِ كُلَّ يَوْمٍ، وَأَشْرَبُ المَاءَ بَدَلًا مِنَ المَشْرُوبَاتِ الغَازِيَّةِ. أُمَارِسُ الرِّيَاضَةَ ثَلَاثَ مَرَّاتٍ فِي الأُسْبُوعِ، وَلٰكِنِّي أَجْلِسُ طَوِيلًا أَثْنَاءَ الدِّرَاسَةِ. أَحْيَانًا أَنَامُ مُتَأَخِّرَةً. هَدَفِي هٰذَا الشَّهْرَ أَنْ أَمْشِيَ كُلَّ يَوْمٍ وَأَنْ أَنَامَ قَبْلَ السَّاعَةِ العَاشِرَةِ. وَأَهْتَمُّ بِالنَّظَافَةِ الشَّخْصِيَّةِ؛ أَغْسِلُ يَدَيَّ وَأُنَظِّفُ أَسْنَانِي. فِي عُطْلَةِ نِهَايَةِ الأُسْبُوعِ أَذْهَبُ إِلَى النَّادِي الرِّيَاضِيِّ لِأُمَارِسَ تَمَارِينَ رِيَاضِيَّةً.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أُحَاوِلُ أَنْ أَتَّبِعَ</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try to follow</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أُسْلُوبَ حَيَاةٍ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lifestyle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بَدَلًا مِنَ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instead of</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ثَلَاثَ مَرَّاتٍ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three times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أَثْنَاءَ الدِّرَاسَةِ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while studying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مُتَأَخِّرَةً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late (f.)</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هَدَفِي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goal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أَهْتَمُّ بِـ</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take care of</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النَّظَافَةِ الشَّخْصِيَّةِ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personal hygiene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النَّادِي الرِّيَاضِيِّ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gym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Nour drink instead of fizzy drinks?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exercise?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one current weakness?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sits for a long time while studying.</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never eats fruit.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does not drink water.</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her two goals?</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sweets and exercise less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 daily and sleep before ten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 juice and study later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plan realistic?</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names two specific habits.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promises perfection immediately.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removes all food choices.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hygiene habits does Noor mention?</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buying medicine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all food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washing hands and cleaning teeth</a:t>
            </a:r>
            <a:endParaRPr lang="en-US" sz="1250" dirty="0"/>
          </a:p>
        </p:txBody>
      </p:sp>
      <p:sp>
        <p:nvSpPr>
          <p:cNvPr id="95" name="Shape 9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6313932" y="4288536"/>
            <a:ext cx="310896" cy="310896"/>
          </a:xfrm>
          <a:prstGeom prst="ellipse">
            <a:avLst/>
          </a:prstGeom>
          <a:solidFill>
            <a:srgbClr val="1B3B6F"/>
          </a:solidFill>
          <a:ln w="12700">
            <a:solidFill>
              <a:srgbClr val="1B3B6F"/>
            </a:solidFill>
            <a:prstDash val="solid"/>
          </a:ln>
        </p:spPr>
      </p:sp>
      <p:sp>
        <p:nvSpPr>
          <p:cNvPr id="97" name="Text 9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8" name="Text 9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go to the gym?</a:t>
            </a:r>
            <a:endParaRPr lang="en-US" sz="1250" dirty="0"/>
          </a:p>
        </p:txBody>
      </p:sp>
      <p:sp>
        <p:nvSpPr>
          <p:cNvPr id="99" name="Shape 96"/>
          <p:cNvSpPr/>
          <p:nvPr/>
        </p:nvSpPr>
        <p:spPr>
          <a:xfrm>
            <a:off x="6368796" y="4873752"/>
            <a:ext cx="256032" cy="256032"/>
          </a:xfrm>
          <a:prstGeom prst="ellipse">
            <a:avLst/>
          </a:prstGeom>
          <a:solidFill>
            <a:srgbClr val="F4F1EA"/>
          </a:solidFill>
          <a:ln w="12700">
            <a:solidFill>
              <a:srgbClr val="F4F1EA"/>
            </a:solidFill>
            <a:prstDash val="solid"/>
          </a:ln>
        </p:spPr>
      </p:sp>
      <p:sp>
        <p:nvSpPr>
          <p:cNvPr id="100" name="Text 9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1" name="Text 98"/>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eat sweets</a:t>
            </a:r>
            <a:endParaRPr lang="en-US" sz="1250" dirty="0"/>
          </a:p>
        </p:txBody>
      </p:sp>
      <p:sp>
        <p:nvSpPr>
          <p:cNvPr id="102" name="Shape 99"/>
          <p:cNvSpPr/>
          <p:nvPr/>
        </p:nvSpPr>
        <p:spPr>
          <a:xfrm>
            <a:off x="6368796" y="5330952"/>
            <a:ext cx="256032" cy="256032"/>
          </a:xfrm>
          <a:prstGeom prst="ellipse">
            <a:avLst/>
          </a:prstGeom>
          <a:solidFill>
            <a:srgbClr val="F4F1EA"/>
          </a:solidFill>
          <a:ln w="12700">
            <a:solidFill>
              <a:srgbClr val="F4F1EA"/>
            </a:solidFill>
            <a:prstDash val="solid"/>
          </a:ln>
        </p:spPr>
      </p:sp>
      <p:sp>
        <p:nvSpPr>
          <p:cNvPr id="103" name="Text 10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4" name="Text 101"/>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sleep</a:t>
            </a:r>
            <a:endParaRPr lang="en-US" sz="1250" dirty="0"/>
          </a:p>
        </p:txBody>
      </p:sp>
      <p:sp>
        <p:nvSpPr>
          <p:cNvPr id="105" name="Shape 102"/>
          <p:cNvSpPr/>
          <p:nvPr/>
        </p:nvSpPr>
        <p:spPr>
          <a:xfrm>
            <a:off x="6368796" y="5788152"/>
            <a:ext cx="256032" cy="256032"/>
          </a:xfrm>
          <a:prstGeom prst="ellipse">
            <a:avLst/>
          </a:prstGeom>
          <a:solidFill>
            <a:srgbClr val="F4F1EA"/>
          </a:solidFill>
          <a:ln w="12700">
            <a:solidFill>
              <a:srgbClr val="F4F1EA"/>
            </a:solidFill>
            <a:prstDash val="solid"/>
          </a:ln>
        </p:spPr>
      </p:sp>
      <p:sp>
        <p:nvSpPr>
          <p:cNvPr id="106" name="Text 10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4"/>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do physical exercises</a:t>
            </a:r>
            <a:endParaRPr lang="en-US" sz="1250" dirty="0"/>
          </a:p>
        </p:txBody>
      </p:sp>
      <p:sp>
        <p:nvSpPr>
          <p:cNvPr id="108" name="Shape 105"/>
          <p:cNvSpPr/>
          <p:nvPr/>
        </p:nvSpPr>
        <p:spPr>
          <a:xfrm>
            <a:off x="9050274"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9" name="Text 106"/>
          <p:cNvSpPr txBox="1"/>
          <p:nvPr/>
        </p:nvSpPr>
        <p:spPr>
          <a:xfrm>
            <a:off x="9233154"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10" name="Text 107"/>
          <p:cNvSpPr txBox="1"/>
          <p:nvPr/>
        </p:nvSpPr>
        <p:spPr>
          <a:xfrm>
            <a:off x="9233154"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1" name="Text 10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Nour drink instead of fizzy drinks?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أَشْرَبُ المَاءَ بَدَلًا مِنْ...</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exercise?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month</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 مَرَّاتٍ فِي الأُسْبُوعِ.</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one current weakness?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sits for a long time while studying.</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never eats fruit.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does not drink water.</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أَجْلِسُ طَوِيلًا أَثْنَاءَ الدِّرَاسَةِ.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her two goals?</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eat sweets and exercise less</a:t>
            </a:r>
            <a:endParaRPr lang="en-US" sz="11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walk daily and sleep before ten</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 juice and study later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goals are in the final sentence.</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plan realistic?</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names two specific habits.</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promises perfection immediately.</a:t>
            </a:r>
            <a:endParaRPr lang="en-US" sz="11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It removes all food choices.</a:t>
            </a:r>
            <a:endParaRPr lang="en-US" sz="120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Specific and measurable habits make a practical plan.</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hygiene habits does Noor mention?</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buying medicine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all food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washing hands and cleaning teeth</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أَغْسِلُ يَدَيَّ وَأُنَظِّفُ أَسْنَانِي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8" name="Shape 105"/>
          <p:cNvSpPr/>
          <p:nvPr/>
        </p:nvSpPr>
        <p:spPr>
          <a:xfrm>
            <a:off x="6313932" y="4288536"/>
            <a:ext cx="310896" cy="310896"/>
          </a:xfrm>
          <a:prstGeom prst="ellipse">
            <a:avLst/>
          </a:prstGeom>
          <a:solidFill>
            <a:srgbClr val="1B3B6F"/>
          </a:solidFill>
          <a:ln w="12700">
            <a:solidFill>
              <a:srgbClr val="1B3B6F"/>
            </a:solidFill>
            <a:prstDash val="solid"/>
          </a:ln>
        </p:spPr>
      </p:sp>
      <p:sp>
        <p:nvSpPr>
          <p:cNvPr id="109" name="Text 10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10" name="Text 107"/>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go to the gym?</a:t>
            </a:r>
            <a:endParaRPr lang="en-US" sz="1250" dirty="0"/>
          </a:p>
        </p:txBody>
      </p:sp>
      <p:sp>
        <p:nvSpPr>
          <p:cNvPr id="111" name="Shape 108"/>
          <p:cNvSpPr/>
          <p:nvPr/>
        </p:nvSpPr>
        <p:spPr>
          <a:xfrm>
            <a:off x="6368796" y="4831080"/>
            <a:ext cx="256032" cy="256032"/>
          </a:xfrm>
          <a:prstGeom prst="ellipse">
            <a:avLst/>
          </a:prstGeom>
          <a:solidFill>
            <a:srgbClr val="C9CED6"/>
          </a:solidFill>
          <a:ln w="12700">
            <a:solidFill>
              <a:srgbClr val="C9CED6"/>
            </a:solidFill>
            <a:prstDash val="solid"/>
          </a:ln>
        </p:spPr>
      </p:sp>
      <p:sp>
        <p:nvSpPr>
          <p:cNvPr id="112" name="Text 109"/>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3" name="Text 110"/>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eat sweets</a:t>
            </a:r>
            <a:endParaRPr lang="en-US" sz="1250" dirty="0"/>
          </a:p>
        </p:txBody>
      </p:sp>
      <p:sp>
        <p:nvSpPr>
          <p:cNvPr id="114" name="Shape 111"/>
          <p:cNvSpPr/>
          <p:nvPr/>
        </p:nvSpPr>
        <p:spPr>
          <a:xfrm>
            <a:off x="6368796" y="5202936"/>
            <a:ext cx="256032" cy="256032"/>
          </a:xfrm>
          <a:prstGeom prst="ellipse">
            <a:avLst/>
          </a:prstGeom>
          <a:solidFill>
            <a:srgbClr val="C9CED6"/>
          </a:solidFill>
          <a:ln w="12700">
            <a:solidFill>
              <a:srgbClr val="C9CED6"/>
            </a:solidFill>
            <a:prstDash val="solid"/>
          </a:ln>
        </p:spPr>
      </p:sp>
      <p:sp>
        <p:nvSpPr>
          <p:cNvPr id="115" name="Text 112"/>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6" name="Text 113"/>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sleep</a:t>
            </a:r>
            <a:endParaRPr lang="en-US" sz="1250" dirty="0"/>
          </a:p>
        </p:txBody>
      </p:sp>
      <p:sp>
        <p:nvSpPr>
          <p:cNvPr id="117" name="Shape 114"/>
          <p:cNvSpPr/>
          <p:nvPr/>
        </p:nvSpPr>
        <p:spPr>
          <a:xfrm>
            <a:off x="6277356" y="5538216"/>
            <a:ext cx="2498598" cy="347472"/>
          </a:xfrm>
          <a:prstGeom prst="roundRect">
            <a:avLst>
              <a:gd name="adj" fmla="val 15789"/>
            </a:avLst>
          </a:prstGeom>
          <a:solidFill>
            <a:srgbClr val="E6F4EC"/>
          </a:solidFill>
          <a:ln w="9525">
            <a:solidFill>
              <a:srgbClr val="2E8B57"/>
            </a:solidFill>
            <a:prstDash val="solid"/>
          </a:ln>
        </p:spPr>
      </p:sp>
      <p:sp>
        <p:nvSpPr>
          <p:cNvPr id="118" name="Shape 115"/>
          <p:cNvSpPr/>
          <p:nvPr/>
        </p:nvSpPr>
        <p:spPr>
          <a:xfrm>
            <a:off x="6368796" y="5574792"/>
            <a:ext cx="256032" cy="256032"/>
          </a:xfrm>
          <a:prstGeom prst="ellipse">
            <a:avLst/>
          </a:prstGeom>
          <a:solidFill>
            <a:srgbClr val="2E8B57"/>
          </a:solidFill>
          <a:ln w="12700">
            <a:solidFill>
              <a:srgbClr val="2E8B57"/>
            </a:solidFill>
            <a:prstDash val="solid"/>
          </a:ln>
        </p:spPr>
      </p:sp>
      <p:sp>
        <p:nvSpPr>
          <p:cNvPr id="119" name="Text 116"/>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20" name="Text 117"/>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do physical exercises</a:t>
            </a:r>
            <a:endParaRPr lang="en-US" sz="1250" dirty="0"/>
          </a:p>
        </p:txBody>
      </p:sp>
      <p:sp>
        <p:nvSpPr>
          <p:cNvPr id="121" name="Text 118"/>
          <p:cNvSpPr txBox="1"/>
          <p:nvPr/>
        </p:nvSpPr>
        <p:spPr>
          <a:xfrm>
            <a:off x="6313932"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goes </a:t>
            </a:r>
            <a:pPr algn="l" indent="0" marL="0">
              <a:buNone/>
            </a:pPr>
            <a:r>
              <a:rPr lang="ar-SA" altLang="en-US" sz="1350" dirty="0">
                <a:solidFill>
                  <a:srgbClr val="8A6D1E"/>
                </a:solidFill>
                <a:latin typeface="Amiri" pitchFamily="2" charset="-78"/>
                <a:ea typeface="Amiri" pitchFamily="2" charset="-78"/>
                <a:cs typeface="Amiri" pitchFamily="2" charset="-78"/>
              </a:rPr>
              <a:t>لِأُمَارِسَ تَمَارِينَ رِيَاضِيَّةً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22" name="Shape 119"/>
          <p:cNvSpPr/>
          <p:nvPr/>
        </p:nvSpPr>
        <p:spPr>
          <a:xfrm>
            <a:off x="9050274"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23" name="Text 120"/>
          <p:cNvSpPr txBox="1"/>
          <p:nvPr/>
        </p:nvSpPr>
        <p:spPr>
          <a:xfrm>
            <a:off x="9233154"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24" name="Text 121"/>
          <p:cNvSpPr txBox="1"/>
          <p:nvPr/>
        </p:nvSpPr>
        <p:spPr>
          <a:xfrm>
            <a:off x="9233154"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25" name="Text 1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Healthy Habits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F5-L11 · Speaking and Writing About Food and Health</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فِقْرَةٌ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paragraph</a:t>
            </a:r>
            <a:pPr indent="0" marL="0">
              <a:buNone/>
            </a:pPr>
            <a:r>
              <a:rPr lang="ar-SA" sz="1000" i="1" dirty="0">
                <a:solidFill>
                  <a:srgbClr val="5A6472"/>
                </a:solidFill>
                <a:latin typeface="Calibri" pitchFamily="34" charset="0"/>
                <a:ea typeface="Amiri" pitchFamily="2" charset="-78"/>
                <a:cs typeface="Amiri" pitchFamily="2" charset="-78"/>
              </a:rPr>
              <a:t>  pl. فِقْرَاتٌ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خُطَّةٌ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plan</a:t>
            </a:r>
            <a:pPr indent="0" marL="0">
              <a:buNone/>
            </a:pPr>
            <a:r>
              <a:rPr lang="ar-SA" sz="1000" i="1" dirty="0">
                <a:solidFill>
                  <a:srgbClr val="5A6472"/>
                </a:solidFill>
                <a:latin typeface="Calibri" pitchFamily="34" charset="0"/>
                <a:ea typeface="Amiri" pitchFamily="2" charset="-78"/>
                <a:cs typeface="Amiri" pitchFamily="2" charset="-78"/>
              </a:rPr>
              <a:t>  pl. خُطَطٌ</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مُقَدِّمَةٌ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introduction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خَاتِمَةٌ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conclusion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أَدَوَاتُ الرَّبْطِ</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connectives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F5 topic do you want to talk about for one minute: food, meals, the body or health?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سَأَتَحَدَّثُ عَنْ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F5-L10: the vocabulary tab and the “Helpful habit or habit to limit?”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8–10-sentence healthy-lifestyle guide with a personal goal.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Evaluate Nour’s lifestyle profile: prioritise two changes and justify them.</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F5-L11 · Speaking and Writing About Food and Health</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وَالكِتَابَةُ عَنِ الطَّعَامِ وَالصِّحَّةِ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يَجِبُ أَنْ</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مِنَ الأَفْضَلِ أَنْ</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لَا يَجِبُ أَنْ</a:t>
            </a:r>
            <a:pPr algn="l" indent="0" marL="0">
              <a:buNone/>
            </a:pPr>
            <a:r>
              <a:rPr lang="en-US" sz="1300" b="1" dirty="0">
                <a:solidFill>
                  <a:srgbClr val="FFFFFF"/>
                </a:solidFill>
                <a:latin typeface="Calibri" pitchFamily="34" charset="0"/>
                <a:cs typeface="Amiri" pitchFamily="2" charset="-78"/>
              </a:rPr>
              <a:t> + verb (-a) · + </a:t>
            </a:r>
            <a:pPr algn="l" indent="0" marL="0">
              <a:buNone/>
            </a:pPr>
            <a:r>
              <a:rPr lang="ar-SA" altLang="en-US" sz="1700" b="1" dirty="0">
                <a:solidFill>
                  <a:srgbClr val="FFFFFF"/>
                </a:solidFill>
                <a:latin typeface="Amiri" pitchFamily="2" charset="-78"/>
                <a:ea typeface="Amiri" pitchFamily="2" charset="-78"/>
                <a:cs typeface="Amiri" pitchFamily="2" charset="-78"/>
              </a:rPr>
              <a:t>لِأَنَّ</a:t>
            </a:r>
            <a:pPr algn="l" indent="0" marL="0">
              <a:buNone/>
            </a:pPr>
            <a:r>
              <a:rPr lang="en-US" sz="1300" b="1" dirty="0">
                <a:solidFill>
                  <a:srgbClr val="FFFFFF"/>
                </a:solidFill>
                <a:latin typeface="Calibri" pitchFamily="34" charset="0"/>
                <a:cs typeface="Amiri" pitchFamily="2" charset="-78"/>
              </a:rPr>
              <a:t>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F5-L10 · Healthy Habits and Advice</dc:title>
  <dc:subject>PptxGenJS Presentation</dc:subject>
  <dc:creator>Al Madina Online School · Arabic Department</dc:creator>
  <cp:lastModifiedBy>Al Madina Online School · Arabic Department</cp:lastModifiedBy>
  <cp:revision>1</cp:revision>
  <dcterms:created xsi:type="dcterms:W3CDTF">2026-10-11T06:41:50Z</dcterms:created>
  <dcterms:modified xsi:type="dcterms:W3CDTF">2026-10-11T06:41:50Z</dcterms:modified>
</cp:coreProperties>
</file>