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F5-L01.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learn the 12 CORE words (6 staples, 6 fruit and vegetables) and the drinks on the grammar slide; say one like and one dislike with أُحِبُّ / لَا أُحِبُّ.
• Develop: ask and answer (هَلْ تُحِبُّ / تُحِبِّينَ …؟) and report a classmate (هُوَ يُحِبُّ … / هِيَ تُحِبُّ …).
• Stretch: collective vs one item (تُفَّاحٌ / تُفَّاحَةٌ) and an 8-sentence food profile with وَلَكِنْ.
• Two verbs: آكُلُ for food, أَشْرَبُ for drinks — the website’s common slip is آكُلُ الحَلِيبَ.
• Urdu bridge is very strong here: چائے، قہوہ، شکر، نمک، زیتون … students already know many of these words.
• Be sensitive to diets (halal, vegetarian, allergies): students may always choose other foods or invent a “food character”.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words prepared at home at the end of F4-L12. Questions 3–5 retrieve F4 opinion language (reason agreement, negative opinion, prefer).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opinion verbs from F4 now work with food: I like / I do not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 شَايٌ (same word, different sound). قہوہ in Urdu is green tea — in Arabic قَهْوَةٌ is coffee. شکر / سُكَّرٌ (and English “sugar”) share one root. Warn: Urdu نمک is Persian — the Arabic is مِلْحٌ (compare ملیح “salty, attractive”). تمر ہندی (tamarind) literally means “Indian date” — from Arabic 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(1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(2 of 2)). Hear → Say → See → Use. Transliteration is printed for Core students (cover it for Develop/Stretch).
COLLECTIVE NOUNS (website teaching note): بَيْضٌ / سَمَكٌ = the food in general; add ة for ONE item (بَيْضَةٌ، سَمَكَةٌ). Core students only need the first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(1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(2 of 2)). Hear → Say → See → Use. Transliteration is printed for Core students (cover it for Develop/Stretch).
Same pattern: تُفَّاحٌ → تُفَّاحَةٌ (one apple), مَوْزٌ → مَوْزَةٌ. طَمَاطِمُ and بَطَاطِسُ are borrowed words (tomato, potato) — students love spotting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(1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(2 of 2)). Hear → Say → See → Use. Transliteration is printed for Core students (cover it for Develop/Stretch).
FLEX: teach if time allows; otherwise these are on the website vocabulary tab for homework.
FLEX: drinks are also on the grammar slide. Group 4 (ingredients, snacks and seafood) is on the website vocabulary tab for homework — it appears again in the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“Say what you like” (أُحِبُّ + food), “Make the opinion negative” (لَا + أُحِبُّ) and “Ask another person” (تُحِبُّ to a boy, تُحِبِّينَ to a girl).
Website common error: أُحِبُّ إِلَى الخُبْزِ ✗ → أُحِبُّ الخُبْزَ ✓.
Teacher script: “Blue = who. Pink = not.” Core students need rows 1 and 2 only; Develop add the girl form and he / she for reporting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verbs آكُلُ / أَشْرَبُ (website patterns and mistakes) and website rule “Notice noun gender”: many food words are masculine (خُبْزٌ), some feminine (قَهْوَةٌ، سَلَطَةٌ). Learn the gender now — adjectives in F5-L04 will agree with it.
Website mistake: أَكُلُ الخُبْزَ ✗ → آكُلُ الخُبْزَ ✓ (the first-person form begins with a long ā).
Quick-fire: teacher says a food or drink; students say آكُلُ or أَشْرَبُ. Soup (حَسَاءٌ) is a good debate: Arabic usually says أَشْرَبُ الحَسَاءَ!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with a think-aloud. Students copy it and swap TWO foods for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Point out هٰذِهِ with the feminine words (تُفَّاحَةٌ، سَلَطَةٌ) and هٰذَا with the masculine (حَلِيبٌ) — a preview of noun gender. Other website items: خُبْزٌ، أَرُزٌّ،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Ask “آكُلُ or أَشْرَبُ?” for each item as it is sorted — the sorter doubles as verb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food survey — all four prompts are the website’s (Stretch adds “and why?”). Website model: هَلْ تُحِبِّينَ السَّلَطَةَ؟ — نَعَمْ، أُحِبُّ السَّلَطَةَ كَثِيرًا. — وَمَاذَا تَشْرَبِينَ؟ — أَشْرَبُ المَاءَ وَالعَصِيرَ. Develop: after the survey, report one classmate: هُوَ يُحِبُّ … / هِيَ تُحِبُّ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foods and four drinks with picture or English support. · Develop — Ask and answer four preference questions, then report one classmate’s answer. · Stretch — Add one-item forms (tuffāḥa = one apple)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أُحِبُّ الخُبْزَ · لَا أُحِبُّ السَّمَكَ · أَشْرَبُ المَاءَ · وَلَكِنِّي. The website model has 3 long sentences (≈ 6 ideas) — Develop students split theirs into 5–6 sentences.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(F5-L02 · Meals and Eating Routines) will spend class time USING this language, so students prepare it tonight — short, simple, easy to access (school guidance: “Simple, Short, Interesting, Relevant, Easy to access”). The five words come from the website F5-L02 vocabulary (meals and routines).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Food and Drinks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الطَّعَامُ وَالشَّرَابُ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a broad range of foods and drinks, sort them, and say what you like and do not like with </a:t>
            </a:r>
            <a:pPr algn="l" indent="0" marL="0">
              <a:buNone/>
            </a:pPr>
            <a:r>
              <a:rPr lang="ar-SA" altLang="en-US" sz="1800" dirty="0">
                <a:solidFill>
                  <a:srgbClr val="C6D2E6"/>
                </a:solidFill>
                <a:latin typeface="Amiri" pitchFamily="34" charset="0"/>
                <a:ea typeface="Amiri" pitchFamily="34" charset="-122"/>
                <a:cs typeface="Amiri" pitchFamily="34" charset="-120"/>
              </a:rPr>
              <a:t>أُحِبُّ / لَا أُحِبُّ</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آكُلُ</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أَشْرَبُ</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F5-L01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Food and drink words in three groups, then like / don’t like, eat /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food or drink sorter, fix the mistakes and listen to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دَجَاجٌ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“I do not like history”?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التَّارِيخَ.</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التَّارِيخَ؟</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التَّارِيخَ.</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drink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دَجَاجٌ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chicken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العَرَبِيَّةَ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F4: a feminine subject → li-annahā.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“I do not like history”?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التَّارِيخَ.</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التَّارِيخَ؟</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التَّارِيخَ.</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F4-L04: lā directly before the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prefer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study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drink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F4-L04: preferences.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opinion verbs from F4 now work with food: I like / I do not like.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أُحِبُّ الخُبْزَ · </a:t>
            </a:r>
            <a:pPr rtl="1" algn="ctr" indent="0" marL="0">
              <a:buNone/>
            </a:pPr>
            <a:r>
              <a:rPr lang="ar-SA" altLang="en-US" sz="2400" b="1" dirty="0">
                <a:solidFill>
                  <a:srgbClr val="D6336C"/>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أُحِبُّ السَّمَكَ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twelve foods and four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one like and one dislike.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what a classmate likes.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t>
            </a:r>
            <a:pPr algn="l" indent="0" marL="0">
              <a:buNone/>
            </a:pPr>
            <a:r>
              <a:rPr lang="ar-SA" altLang="en-US" sz="1700" b="1" dirty="0">
                <a:solidFill>
                  <a:srgbClr val="B83227"/>
                </a:solidFill>
                <a:latin typeface="Amiri" pitchFamily="34" charset="0"/>
                <a:ea typeface="Amiri" pitchFamily="34" charset="-122"/>
                <a:cs typeface="Amiri" pitchFamily="34" charset="-120"/>
              </a:rPr>
              <a:t>تُفَّاحٌ / تُفَّاحَةٌ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8-sentence food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40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‎چائے‎ </a:t>
            </a:r>
            <a:pPr indent="0" marL="0">
              <a:buNone/>
            </a:pPr>
            <a:r>
              <a:rPr lang="en-US" sz="950" b="1" dirty="0">
                <a:solidFill>
                  <a:srgbClr val="2E8B57"/>
                </a:solidFill>
                <a:latin typeface="Calibri" pitchFamily="34" charset="0"/>
                <a:ea typeface="Calibri" pitchFamily="34" charset="-122"/>
                <a:cs typeface="Calibri" pitchFamily="34" charset="-120"/>
              </a:rPr>
              <a:t> chāy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‎قہوہ‎ </a:t>
            </a:r>
            <a:pPr indent="0" marL="0">
              <a:buNone/>
            </a:pPr>
            <a:r>
              <a:rPr lang="en-US" sz="950" b="1" dirty="0">
                <a:solidFill>
                  <a:srgbClr val="2E8B57"/>
                </a:solidFill>
                <a:latin typeface="Calibri" pitchFamily="34" charset="0"/>
                <a:ea typeface="Calibri" pitchFamily="34" charset="-122"/>
                <a:cs typeface="Calibri" pitchFamily="34" charset="-120"/>
              </a:rPr>
              <a:t> qahwa · coffee (Urdu: green tea)</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 </a:t>
            </a:r>
            <a:pPr indent="0" marL="0">
              <a:buNone/>
            </a:pPr>
            <a:r>
              <a:rPr lang="en-US" sz="950" b="1" dirty="0">
                <a:solidFill>
                  <a:srgbClr val="2E8B57"/>
                </a:solidFill>
                <a:latin typeface="Calibri" pitchFamily="34" charset="0"/>
                <a:ea typeface="Calibri" pitchFamily="34" charset="-122"/>
                <a:cs typeface="Calibri" pitchFamily="34" charset="-120"/>
              </a:rPr>
              <a:t> shakar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مِلْحٌ</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‎نمک‎ </a:t>
            </a:r>
            <a:pPr indent="0" marL="0">
              <a:buNone/>
            </a:pPr>
            <a:r>
              <a:rPr lang="en-US" sz="950" b="1" dirty="0">
                <a:solidFill>
                  <a:srgbClr val="2E8B57"/>
                </a:solidFill>
                <a:latin typeface="Calibri" pitchFamily="34" charset="0"/>
                <a:ea typeface="Calibri" pitchFamily="34" charset="-122"/>
                <a:cs typeface="Calibri" pitchFamily="34" charset="-120"/>
              </a:rPr>
              <a:t> namak · salt — a false friend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تَمْرٌ</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‎تمر ہندی‎ </a:t>
            </a:r>
            <a:pPr indent="0" marL="0">
              <a:buNone/>
            </a:pPr>
            <a:r>
              <a:rPr lang="en-US" sz="950" b="1" dirty="0">
                <a:solidFill>
                  <a:srgbClr val="2E8B57"/>
                </a:solidFill>
                <a:latin typeface="Calibri" pitchFamily="34" charset="0"/>
                <a:ea typeface="Calibri" pitchFamily="34" charset="-122"/>
                <a:cs typeface="Calibri" pitchFamily="34" charset="-120"/>
              </a:rPr>
              <a:t> tamar-hindī · dates (Urdu: tamarind “Indian date”)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khub-zun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أَرُزٌّ</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a-ruz-zun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مَعْكَرُونَةٌ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maʿ-ka-rū-na-tun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بَيْضٌ</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eggs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bay-ḍun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45" name="Text 42"/>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بَيْضٌ</a:t>
            </a:r>
            <a:endParaRPr lang="ar-SA" sz="135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egg</a:t>
            </a:r>
            <a:endParaRPr lang="en-US" sz="700" dirty="0"/>
          </a:p>
        </p:txBody>
      </p:sp>
      <p:sp>
        <p:nvSpPr>
          <p:cNvPr id="48" name="Text 4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بَيْضَةٌ</a:t>
            </a:r>
            <a:endParaRPr lang="ar-SA"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جُبْنٌ</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jub-nun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laḥ-mun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دَجَاجٌ</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chicken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da-jā-jun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سَمَكٌ</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sa-ma-kun</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38" name="Text 3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سَمَكٌ</a:t>
            </a:r>
            <a:endParaRPr lang="ar-SA" sz="135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fish</a:t>
            </a:r>
            <a:endParaRPr lang="en-US" sz="700" dirty="0"/>
          </a:p>
        </p:txBody>
      </p:sp>
      <p:sp>
        <p:nvSpPr>
          <p:cNvPr id="41" name="Text 38"/>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سَمَكَةٌ</a:t>
            </a:r>
            <a:endParaRPr lang="ar-SA"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فَاصُولِيَاءُ</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fā-ṣū-li-yā-ʾu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تُفَّاحٌ</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apple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تُفَّاحَةٌ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مَوْزٌ</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bananas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maw-zun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مَوْزٌ</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banana</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مَوْزَةٌ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بُرْتُقَالٌ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oranges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bur-tu-qā-lun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بُرْتُقَالٌ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orange</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بُرْتُقَالَةٌ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عِنَبٌ</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grapes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ʿi-na-bun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فَرَاوِلَةٌ</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strawberries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fa-rā-wi-la-tun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3" name="Shape 7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food · one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تَمْرٌ</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tam-run</a:t>
            </a:r>
            <a:endParaRPr lang="en-US" sz="1350" dirty="0"/>
          </a:p>
        </p:txBody>
      </p:sp>
      <p:sp>
        <p:nvSpPr>
          <p:cNvPr id="77" name="Shape 7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a:t>
            </a:r>
            <a:endParaRPr lang="en-US" sz="700" dirty="0"/>
          </a:p>
        </p:txBody>
      </p:sp>
      <p:sp>
        <p:nvSpPr>
          <p:cNvPr id="79" name="Text 76"/>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تَمْرٌ</a:t>
            </a:r>
            <a:endParaRPr lang="ar-SA" sz="1350" dirty="0"/>
          </a:p>
        </p:txBody>
      </p:sp>
      <p:sp>
        <p:nvSpPr>
          <p:cNvPr id="80" name="Shape 7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one date</a:t>
            </a:r>
            <a:endParaRPr lang="en-US" sz="700" dirty="0"/>
          </a:p>
        </p:txBody>
      </p:sp>
      <p:sp>
        <p:nvSpPr>
          <p:cNvPr id="82" name="Text 7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تَمْرَةٌ</a:t>
            </a:r>
            <a:endParaRPr lang="ar-SA"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tomatoes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cucumber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carrots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بَطَاطِسُ</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potatoes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ba-ṭā-ṭi-su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سَلَطَةٌ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salad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sa-la-ṭa-tun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حَلِيبٌ</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milk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ḥa-lī-bun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قَهْوَةٌ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coffee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qah-wa-tun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 اللَّيْمُونِ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lemon 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 all-lay-mū-ni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حَسَاءٌ</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ḥa-sā-ʾun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زَبَادِي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yoghurt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za-bā-dī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شُوكُولَاتَةٌ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chocolate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shū-kū-lā-ta-tun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LIKE AND DON’T LIKE (WEBSITE RULES 1, 2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like · I don’t like · do you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 لَا أُحِبُّ · هَلْ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17" name="Text 14"/>
          <p:cNvSpPr txBox="1"/>
          <p:nvPr/>
        </p:nvSpPr>
        <p:spPr>
          <a:xfrm>
            <a:off x="66842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a:t>
            </a:r>
            <a:endParaRPr lang="en-US" sz="1100" dirty="0"/>
          </a:p>
        </p:txBody>
      </p:sp>
      <p:sp>
        <p:nvSpPr>
          <p:cNvPr id="18" name="Text 15"/>
          <p:cNvSpPr txBox="1"/>
          <p:nvPr/>
        </p:nvSpPr>
        <p:spPr>
          <a:xfrm>
            <a:off x="320954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Don’t like</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94392" y="226771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6702552" y="228600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أُ</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الخُبْزَ</a:t>
            </a:r>
            <a:endParaRPr lang="ar-SA" sz="1600" dirty="0"/>
          </a:p>
        </p:txBody>
      </p:sp>
      <p:sp>
        <p:nvSpPr>
          <p:cNvPr id="23" name="Text 20"/>
          <p:cNvSpPr txBox="1"/>
          <p:nvPr/>
        </p:nvSpPr>
        <p:spPr>
          <a:xfrm>
            <a:off x="6656832" y="260329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like bread</a:t>
            </a:r>
            <a:endParaRPr lang="en-US" sz="950" dirty="0"/>
          </a:p>
        </p:txBody>
      </p:sp>
      <p:sp>
        <p:nvSpPr>
          <p:cNvPr id="24" name="Text 21"/>
          <p:cNvSpPr txBox="1"/>
          <p:nvPr/>
        </p:nvSpPr>
        <p:spPr>
          <a:xfrm>
            <a:off x="322783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أُ</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السَّمَكَ</a:t>
            </a:r>
            <a:endParaRPr lang="ar-SA" sz="1600" dirty="0"/>
          </a:p>
        </p:txBody>
      </p:sp>
      <p:sp>
        <p:nvSpPr>
          <p:cNvPr id="25" name="Text 22"/>
          <p:cNvSpPr txBox="1"/>
          <p:nvPr/>
        </p:nvSpPr>
        <p:spPr>
          <a:xfrm>
            <a:off x="318211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don’t like fish</a:t>
            </a:r>
            <a:endParaRPr lang="en-US" sz="950" dirty="0"/>
          </a:p>
        </p:txBody>
      </p:sp>
      <p:sp>
        <p:nvSpPr>
          <p:cNvPr id="26" name="Text 23"/>
          <p:cNvSpPr txBox="1"/>
          <p:nvPr/>
        </p:nvSpPr>
        <p:spPr>
          <a:xfrm>
            <a:off x="56692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994392" y="2881884"/>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6702552" y="2900172"/>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الجُبْنَ؟</a:t>
            </a:r>
            <a:endParaRPr lang="ar-SA" sz="1600" dirty="0"/>
          </a:p>
        </p:txBody>
      </p:sp>
      <p:sp>
        <p:nvSpPr>
          <p:cNvPr id="32" name="Text 29"/>
          <p:cNvSpPr txBox="1"/>
          <p:nvPr/>
        </p:nvSpPr>
        <p:spPr>
          <a:xfrm>
            <a:off x="6656832" y="3217469"/>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 you (m.) like cheese?</a:t>
            </a:r>
            <a:endParaRPr lang="en-US" sz="950" dirty="0"/>
          </a:p>
        </p:txBody>
      </p:sp>
      <p:sp>
        <p:nvSpPr>
          <p:cNvPr id="33" name="Text 30"/>
          <p:cNvSpPr txBox="1"/>
          <p:nvPr/>
        </p:nvSpPr>
        <p:spPr>
          <a:xfrm>
            <a:off x="322783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الشَّايَ</a:t>
            </a:r>
            <a:endParaRPr lang="ar-SA" sz="1600" dirty="0"/>
          </a:p>
        </p:txBody>
      </p:sp>
      <p:sp>
        <p:nvSpPr>
          <p:cNvPr id="34" name="Text 31"/>
          <p:cNvSpPr txBox="1"/>
          <p:nvPr/>
        </p:nvSpPr>
        <p:spPr>
          <a:xfrm>
            <a:off x="318211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(m.) don’t like tea</a:t>
            </a:r>
            <a:endParaRPr lang="en-US" sz="950" dirty="0"/>
          </a:p>
        </p:txBody>
      </p:sp>
      <p:sp>
        <p:nvSpPr>
          <p:cNvPr id="35" name="Text 32"/>
          <p:cNvSpPr txBox="1"/>
          <p:nvPr/>
        </p:nvSpPr>
        <p:spPr>
          <a:xfrm>
            <a:off x="56692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a:t>
            </a:r>
            <a:endParaRPr lang="en-US" sz="1100" dirty="0"/>
          </a:p>
        </p:txBody>
      </p:sp>
      <p:sp>
        <p:nvSpPr>
          <p:cNvPr id="36" name="Shape 33"/>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9" name="Text 36"/>
          <p:cNvSpPr txBox="1"/>
          <p:nvPr/>
        </p:nvSpPr>
        <p:spPr>
          <a:xfrm>
            <a:off x="9994392" y="3496056"/>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0" name="Text 37"/>
          <p:cNvSpPr txBox="1"/>
          <p:nvPr/>
        </p:nvSpPr>
        <p:spPr>
          <a:xfrm>
            <a:off x="6702552" y="3514344"/>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a:t>
            </a:r>
            <a:pPr rtl="1" algn="ctr" indent="0" marL="0">
              <a:buNone/>
            </a:pPr>
            <a:r>
              <a:rPr lang="ar-SA" altLang="en-US" sz="1600" b="1" dirty="0">
                <a:solidFill>
                  <a:srgbClr val="1D5FBF"/>
                </a:solidFill>
                <a:latin typeface="Amiri" pitchFamily="34" charset="0"/>
                <a:ea typeface="Amiri" pitchFamily="34" charset="-122"/>
                <a:cs typeface="Amiri" pitchFamily="34" charset="-120"/>
              </a:rPr>
              <a:t>ينَ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السَّلَطَةَ؟</a:t>
            </a:r>
            <a:endParaRPr lang="ar-SA" sz="1600" dirty="0"/>
          </a:p>
        </p:txBody>
      </p:sp>
      <p:sp>
        <p:nvSpPr>
          <p:cNvPr id="41" name="Text 38"/>
          <p:cNvSpPr txBox="1"/>
          <p:nvPr/>
        </p:nvSpPr>
        <p:spPr>
          <a:xfrm>
            <a:off x="6656832" y="3831641"/>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 you (f.) like salad?</a:t>
            </a:r>
            <a:endParaRPr lang="en-US" sz="950" dirty="0"/>
          </a:p>
        </p:txBody>
      </p:sp>
      <p:sp>
        <p:nvSpPr>
          <p:cNvPr id="42" name="Text 39"/>
          <p:cNvSpPr txBox="1"/>
          <p:nvPr/>
        </p:nvSpPr>
        <p:spPr>
          <a:xfrm>
            <a:off x="322783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a:t>
            </a:r>
            <a:pPr rtl="1" algn="ctr" indent="0" marL="0">
              <a:buNone/>
            </a:pPr>
            <a:r>
              <a:rPr lang="ar-SA" altLang="en-US" sz="1600" b="1" dirty="0">
                <a:solidFill>
                  <a:srgbClr val="1D5FBF"/>
                </a:solidFill>
                <a:latin typeface="Amiri" pitchFamily="34" charset="0"/>
                <a:ea typeface="Amiri" pitchFamily="34" charset="-122"/>
                <a:cs typeface="Amiri" pitchFamily="34" charset="-120"/>
              </a:rPr>
              <a:t>ينَ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القَهْوَةَ</a:t>
            </a:r>
            <a:endParaRPr lang="ar-SA" sz="1600" dirty="0"/>
          </a:p>
        </p:txBody>
      </p:sp>
      <p:sp>
        <p:nvSpPr>
          <p:cNvPr id="43" name="Text 40"/>
          <p:cNvSpPr txBox="1"/>
          <p:nvPr/>
        </p:nvSpPr>
        <p:spPr>
          <a:xfrm>
            <a:off x="318211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(f.) don’t like coffee</a:t>
            </a:r>
            <a:endParaRPr lang="en-US" sz="950" dirty="0"/>
          </a:p>
        </p:txBody>
      </p:sp>
      <p:sp>
        <p:nvSpPr>
          <p:cNvPr id="44" name="Text 41"/>
          <p:cNvSpPr txBox="1"/>
          <p:nvPr/>
        </p:nvSpPr>
        <p:spPr>
          <a:xfrm>
            <a:off x="56692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a:t>
            </a:r>
            <a:endParaRPr lang="en-US" sz="110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994392" y="4110228"/>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47" name="Text 44"/>
          <p:cNvSpPr txBox="1"/>
          <p:nvPr/>
        </p:nvSpPr>
        <p:spPr>
          <a:xfrm>
            <a:off x="6702552" y="4128516"/>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يُ</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الدَّجَاجَ</a:t>
            </a:r>
            <a:endParaRPr lang="ar-SA" sz="1600" dirty="0"/>
          </a:p>
        </p:txBody>
      </p:sp>
      <p:sp>
        <p:nvSpPr>
          <p:cNvPr id="48" name="Text 45"/>
          <p:cNvSpPr txBox="1"/>
          <p:nvPr/>
        </p:nvSpPr>
        <p:spPr>
          <a:xfrm>
            <a:off x="6656832" y="4445813"/>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likes chicken</a:t>
            </a:r>
            <a:endParaRPr lang="en-US" sz="950" dirty="0"/>
          </a:p>
        </p:txBody>
      </p:sp>
      <p:sp>
        <p:nvSpPr>
          <p:cNvPr id="49" name="Text 46"/>
          <p:cNvSpPr txBox="1"/>
          <p:nvPr/>
        </p:nvSpPr>
        <p:spPr>
          <a:xfrm>
            <a:off x="322783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يُ</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الخَضْرَوَاتِ</a:t>
            </a:r>
            <a:endParaRPr lang="ar-SA" sz="1600" dirty="0"/>
          </a:p>
        </p:txBody>
      </p:sp>
      <p:sp>
        <p:nvSpPr>
          <p:cNvPr id="50" name="Text 47"/>
          <p:cNvSpPr txBox="1"/>
          <p:nvPr/>
        </p:nvSpPr>
        <p:spPr>
          <a:xfrm>
            <a:off x="318211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doesn’t like vegetables</a:t>
            </a:r>
            <a:endParaRPr lang="en-US" sz="950" dirty="0"/>
          </a:p>
        </p:txBody>
      </p:sp>
      <p:sp>
        <p:nvSpPr>
          <p:cNvPr id="51" name="Text 48"/>
          <p:cNvSpPr txBox="1"/>
          <p:nvPr/>
        </p:nvSpPr>
        <p:spPr>
          <a:xfrm>
            <a:off x="56692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52" name="Shape 49"/>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3" name="Text 50"/>
          <p:cNvSpPr txBox="1"/>
          <p:nvPr/>
        </p:nvSpPr>
        <p:spPr>
          <a:xfrm>
            <a:off x="9994392" y="4724400"/>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54" name="Text 51"/>
          <p:cNvSpPr txBox="1"/>
          <p:nvPr/>
        </p:nvSpPr>
        <p:spPr>
          <a:xfrm>
            <a:off x="6702552" y="4742688"/>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التُّفَّاحَ</a:t>
            </a:r>
            <a:endParaRPr lang="ar-SA" sz="1600" dirty="0"/>
          </a:p>
        </p:txBody>
      </p:sp>
      <p:sp>
        <p:nvSpPr>
          <p:cNvPr id="55" name="Text 52"/>
          <p:cNvSpPr txBox="1"/>
          <p:nvPr/>
        </p:nvSpPr>
        <p:spPr>
          <a:xfrm>
            <a:off x="6656832" y="5059985"/>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likes apples</a:t>
            </a:r>
            <a:endParaRPr lang="en-US" sz="950" dirty="0"/>
          </a:p>
        </p:txBody>
      </p:sp>
      <p:sp>
        <p:nvSpPr>
          <p:cNvPr id="56" name="Text 53"/>
          <p:cNvSpPr txBox="1"/>
          <p:nvPr/>
        </p:nvSpPr>
        <p:spPr>
          <a:xfrm>
            <a:off x="322783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الحَلِيبَ</a:t>
            </a:r>
            <a:endParaRPr lang="ar-SA" sz="1600" dirty="0"/>
          </a:p>
        </p:txBody>
      </p:sp>
      <p:sp>
        <p:nvSpPr>
          <p:cNvPr id="57" name="Text 54"/>
          <p:cNvSpPr txBox="1"/>
          <p:nvPr/>
        </p:nvSpPr>
        <p:spPr>
          <a:xfrm>
            <a:off x="318211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doesn’t like milk</a:t>
            </a:r>
            <a:endParaRPr lang="en-US" sz="950" dirty="0"/>
          </a:p>
        </p:txBody>
      </p:sp>
      <p:sp>
        <p:nvSpPr>
          <p:cNvPr id="58" name="Text 55"/>
          <p:cNvSpPr txBox="1"/>
          <p:nvPr/>
        </p:nvSpPr>
        <p:spPr>
          <a:xfrm>
            <a:off x="56692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994392" y="5338572"/>
            <a:ext cx="16459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61" name="Text 58"/>
          <p:cNvSpPr txBox="1"/>
          <p:nvPr/>
        </p:nvSpPr>
        <p:spPr>
          <a:xfrm>
            <a:off x="6702552" y="5356860"/>
            <a:ext cx="3108960" cy="346771"/>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نُ</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الأَرُزَّ</a:t>
            </a:r>
            <a:endParaRPr lang="ar-SA" sz="1600" dirty="0"/>
          </a:p>
        </p:txBody>
      </p:sp>
      <p:sp>
        <p:nvSpPr>
          <p:cNvPr id="62" name="Text 59"/>
          <p:cNvSpPr txBox="1"/>
          <p:nvPr/>
        </p:nvSpPr>
        <p:spPr>
          <a:xfrm>
            <a:off x="6656832" y="5674157"/>
            <a:ext cx="320040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like rice</a:t>
            </a:r>
            <a:endParaRPr lang="en-US" sz="950" dirty="0"/>
          </a:p>
        </p:txBody>
      </p:sp>
      <p:sp>
        <p:nvSpPr>
          <p:cNvPr id="63" name="Text 60"/>
          <p:cNvSpPr txBox="1"/>
          <p:nvPr/>
        </p:nvSpPr>
        <p:spPr>
          <a:xfrm>
            <a:off x="322783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لَا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pPr rtl="1" algn="ctr" indent="0" marL="0">
              <a:buNone/>
            </a:pPr>
            <a:r>
              <a:rPr lang="ar-SA" altLang="en-US" sz="1600" b="1" dirty="0">
                <a:solidFill>
                  <a:srgbClr val="1D5FBF"/>
                </a:solidFill>
                <a:latin typeface="Amiri" pitchFamily="34" charset="0"/>
                <a:ea typeface="Amiri" pitchFamily="34" charset="-122"/>
                <a:cs typeface="Amiri" pitchFamily="34" charset="-120"/>
              </a:rPr>
              <a:t>نُ</a:t>
            </a:r>
            <a:pPr rtl="1" algn="ctr" indent="0" marL="0">
              <a:buNone/>
            </a:pPr>
            <a:r>
              <a:rPr lang="ar-SA" altLang="en-US" sz="1600" b="1" dirty="0">
                <a:solidFill>
                  <a:srgbClr val="1B3B6F"/>
                </a:solidFill>
                <a:latin typeface="Amiri" pitchFamily="34" charset="0"/>
                <a:ea typeface="Amiri" pitchFamily="34" charset="-122"/>
                <a:cs typeface="Amiri" pitchFamily="34" charset="-120"/>
              </a:rPr>
              <a:t>حِبُّ البَصَلَ</a:t>
            </a:r>
            <a:endParaRPr lang="ar-SA" sz="1600" dirty="0"/>
          </a:p>
        </p:txBody>
      </p:sp>
      <p:sp>
        <p:nvSpPr>
          <p:cNvPr id="64" name="Text 61"/>
          <p:cNvSpPr txBox="1"/>
          <p:nvPr/>
        </p:nvSpPr>
        <p:spPr>
          <a:xfrm>
            <a:off x="318211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don’t like onions</a:t>
            </a:r>
            <a:endParaRPr lang="en-US" sz="950" dirty="0"/>
          </a:p>
        </p:txBody>
      </p:sp>
      <p:sp>
        <p:nvSpPr>
          <p:cNvPr id="65" name="Text 62"/>
          <p:cNvSpPr txBox="1"/>
          <p:nvPr/>
        </p:nvSpPr>
        <p:spPr>
          <a:xfrm>
            <a:off x="56692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66" name="Text 6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food comes straight after the verb — no “to”, no “of”. Lā goes directly before the verb.</a:t>
            </a:r>
            <a:endParaRPr lang="en-US" sz="11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EAT OR DRINK? AND NOUN GENDER (WEBSITE RULE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Eat, drink — and he or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آكُلُ · أَشْرَبُ · المُذَكَّرُ وَالمُؤَنَّثُ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FOOD · I EAT</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آكُلُ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آكُلُ الأَرُزَّ وَالدَّجَاجَ.</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eat rice and chicken.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ā-ku-lu: long ā, written </a:t>
            </a:r>
            <a:pPr algn="l" indent="0" marL="0">
              <a:buNone/>
            </a:pPr>
            <a:r>
              <a:rPr lang="ar-SA" altLang="en-US" sz="1450" dirty="0">
                <a:solidFill>
                  <a:srgbClr val="1F2A37"/>
                </a:solidFill>
                <a:latin typeface="Amiri" pitchFamily="34" charset="0"/>
                <a:ea typeface="Amiri" pitchFamily="34" charset="-122"/>
                <a:cs typeface="Amiri" pitchFamily="34" charset="-120"/>
              </a:rPr>
              <a:t>آ</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DRINKS · I DRINK</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أَشْرَبُ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أَشْرَبُ المَاءَ وَالعَصِيرَ.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drink water and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with bread or rice!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GENDER · Ta marbūṭa</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قَهْوَةٌ · سَلَطَةٌ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القَهْوَةُ مُرَّةٌ، وَالخُبْزُ طَازَجٌ.</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coffee is bitter, and the bread is fresh.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Words ending in </a:t>
            </a:r>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 are usually feminine.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milk is a drink, so it takes ashrabu.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أَشْرَبُ الحَلِيبَ.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آكُلُ الحَلِيبَ.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Put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Milk is a drink, so use </a:t>
            </a:r>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build my food sentences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أُحِبُّ</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 food. No preposition.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a:t>
            </a:r>
            <a:pPr rtl="1" algn="ctr" indent="0" marL="0">
              <a:buNone/>
            </a:pPr>
            <a:r>
              <a:rPr lang="ar-SA" altLang="en-US" sz="2800" b="1" dirty="0">
                <a:solidFill>
                  <a:srgbClr val="1D5FBF"/>
                </a:solidFill>
                <a:latin typeface="Amiri" pitchFamily="34" charset="0"/>
                <a:ea typeface="Amiri" pitchFamily="34" charset="-122"/>
                <a:cs typeface="Amiri" pitchFamily="34" charset="-120"/>
              </a:rPr>
              <a:t>أُحِبُّ</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التُّفَّاحَ أَيْضًا.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 joins, </a:t>
            </a:r>
            <a:pPr algn="l" indent="0" marL="0">
              <a:buNone/>
            </a:pPr>
            <a:r>
              <a:rPr lang="ar-SA" altLang="en-US" sz="1500" dirty="0">
                <a:solidFill>
                  <a:srgbClr val="1F2A37"/>
                </a:solidFill>
                <a:latin typeface="Amiri" pitchFamily="34" charset="0"/>
                <a:ea typeface="Amiri" pitchFamily="34" charset="-122"/>
                <a:cs typeface="Amiri" pitchFamily="34" charset="-120"/>
              </a:rPr>
              <a:t>أَيْضًا</a:t>
            </a:r>
            <a:pPr algn="l" indent="0" marL="0">
              <a:buNone/>
            </a:pPr>
            <a:r>
              <a:rPr lang="en-US" sz="1150" dirty="0">
                <a:solidFill>
                  <a:srgbClr val="1F2A37"/>
                </a:solidFill>
                <a:latin typeface="Calibri" pitchFamily="34" charset="0"/>
                <a:ea typeface="Calibri" pitchFamily="34" charset="-122"/>
                <a:cs typeface="Calibri" pitchFamily="34" charset="-120"/>
              </a:rPr>
              <a:t> = also.</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أُحِبُّ السَّمَكَ، وَلَكِنِّي أُحِبُّ الدَّجَاجَ.</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Lā before the verb; but I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Drink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أَشْرَبُ</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المَاءَ وَالعَصِيرَ كُلَّ يَوْمٍ.</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Drinks → ashrabu.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LIKE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DRINK</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أُحِبُّ</a:t>
            </a:r>
            <a:pPr rtl="1" algn="r" indent="0" marL="0">
              <a:buNone/>
            </a:pPr>
            <a:r>
              <a:rPr lang="ar-SA" altLang="en-US" sz="1900" b="1" dirty="0">
                <a:solidFill>
                  <a:srgbClr val="1B3B6F"/>
                </a:solidFill>
                <a:latin typeface="Amiri" pitchFamily="34" charset="0"/>
                <a:ea typeface="Amiri" pitchFamily="34" charset="-122"/>
                <a:cs typeface="Amiri" pitchFamily="34" charset="-120"/>
              </a:rPr>
              <a:t> الخُبْزَ وَالجُبْنَ، وَ</a:t>
            </a:r>
            <a:pPr rtl="1" algn="r" indent="0" marL="0">
              <a:buNone/>
            </a:pPr>
            <a:r>
              <a:rPr lang="ar-SA" altLang="en-US" sz="1900" b="1" dirty="0">
                <a:solidFill>
                  <a:srgbClr val="1D5FBF"/>
                </a:solidFill>
                <a:latin typeface="Amiri" pitchFamily="34" charset="0"/>
                <a:ea typeface="Amiri" pitchFamily="34" charset="-122"/>
                <a:cs typeface="Amiri" pitchFamily="34" charset="-120"/>
              </a:rPr>
              <a:t>أُحِبُّ</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التُّفَّاحَ أَيْضًا. </a:t>
            </a:r>
            <a:pPr rtl="1" algn="r" indent="0" marL="0">
              <a:buNone/>
            </a:pPr>
            <a:r>
              <a:rPr lang="ar-SA" altLang="en-US" sz="1900" b="1" dirty="0">
                <a:solidFill>
                  <a:srgbClr val="D6336C"/>
                </a:solidFill>
                <a:latin typeface="Amiri" pitchFamily="34" charset="0"/>
                <a:ea typeface="Amiri" pitchFamily="34" charset="-122"/>
                <a:cs typeface="Amiri" pitchFamily="34" charset="-120"/>
              </a:rPr>
              <a:t>لَا</a:t>
            </a:r>
            <a:pPr rtl="1" algn="r" indent="0" marL="0">
              <a:buNone/>
            </a:pPr>
            <a:r>
              <a:rPr lang="ar-SA" altLang="en-US" sz="1900" b="1" dirty="0">
                <a:solidFill>
                  <a:srgbClr val="1B3B6F"/>
                </a:solidFill>
                <a:latin typeface="Amiri" pitchFamily="34" charset="0"/>
                <a:ea typeface="Amiri" pitchFamily="34" charset="-122"/>
                <a:cs typeface="Amiri" pitchFamily="34" charset="-120"/>
              </a:rPr>
              <a:t> أُحِبُّ السَّمَكَ، وَلَكِنِّي أُحِبُّ الدَّجَاجَ. آكُلُ الأَرُزَّ كَثِيرًا، وَ</a:t>
            </a:r>
            <a:pPr rtl="1" algn="r" indent="0" marL="0">
              <a:buNone/>
            </a:pPr>
            <a:r>
              <a:rPr lang="ar-SA" altLang="en-US" sz="1900" b="1" dirty="0">
                <a:solidFill>
                  <a:srgbClr val="0E7C86"/>
                </a:solidFill>
                <a:latin typeface="Amiri" pitchFamily="34" charset="0"/>
                <a:ea typeface="Amiri" pitchFamily="34" charset="-122"/>
                <a:cs typeface="Amiri" pitchFamily="34" charset="-120"/>
              </a:rPr>
              <a:t>أَشْرَبُ</a:t>
            </a:r>
            <a:pPr rtl="1" algn="r" indent="0" marL="0">
              <a:buNone/>
            </a:pPr>
            <a:r>
              <a:rPr lang="ar-SA" altLang="en-US" sz="1900" b="1" dirty="0">
                <a:solidFill>
                  <a:srgbClr val="1B3B6F"/>
                </a:solidFill>
                <a:latin typeface="Amiri" pitchFamily="34" charset="0"/>
                <a:ea typeface="Amiri" pitchFamily="34" charset="-122"/>
                <a:cs typeface="Amiri" pitchFamily="34" charset="-120"/>
              </a:rPr>
              <a:t> المَاءَ وَالعَصِيرَ كُلَّ يَوْمٍ.</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like bread and cheese, and I like apples too. I don’t like fish, but I like chicken. I eat rice a lot, and I drink water and juice every day.</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like bread and cheese.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do not like coffee.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drink water and juice.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like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Food pictures: match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طَعَامٌ · food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شَرَابٌ · drink</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طَعَامٌ · food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شَرَابٌ · drink</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تُحِبُّ</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يُحِبُّ</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العَصِيرُ</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يَأْكُلُ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تَأْكُلُ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آكُلُ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آكُلُ</a:t>
            </a:r>
            <a:pPr algn="l" indent="0" marL="0">
              <a:buNone/>
            </a:pPr>
            <a:r>
              <a:rPr lang="en-US" sz="1050" i="1" dirty="0">
                <a:solidFill>
                  <a:srgbClr val="8A6D1E"/>
                </a:solidFill>
                <a:latin typeface="Calibri" pitchFamily="34" charset="0"/>
                <a:ea typeface="Calibri" pitchFamily="34" charset="-122"/>
                <a:cs typeface="Calibri" pitchFamily="34" charset="-120"/>
              </a:rPr>
              <a:t> means “I eat”.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تُحِبُّ</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يُحِبُّ</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when asking a male listener.</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الخُبْزُ</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القَهْوَةُ</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العَصِيرُ</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قَهْوَةٌ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a:t>
            </a:r>
            <a:pPr algn="l" indent="0" marL="0">
              <a:buNone/>
            </a:pPr>
            <a:r>
              <a:rPr lang="ar-SA" altLang="en-US" sz="1700" dirty="0">
                <a:solidFill>
                  <a:srgbClr val="5A6472"/>
                </a:solidFill>
                <a:latin typeface="Amiri" pitchFamily="34" charset="0"/>
                <a:ea typeface="Amiri" pitchFamily="34" charset="-122"/>
                <a:cs typeface="Amiri" pitchFamily="34" charset="-120"/>
              </a:rPr>
              <a:t>أُحِبُّ</a:t>
            </a:r>
            <a:pPr algn="l" indent="0" marL="0">
              <a:buNone/>
            </a:pPr>
            <a:r>
              <a:rPr lang="en-US" sz="1300" i="1" dirty="0">
                <a:solidFill>
                  <a:srgbClr val="5A6472"/>
                </a:solidFill>
                <a:latin typeface="Calibri" pitchFamily="34" charset="0"/>
                <a:ea typeface="Calibri" pitchFamily="34" charset="-122"/>
                <a:cs typeface="Calibri" pitchFamily="34" charset="-120"/>
              </a:rPr>
              <a:t> need a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is “I eat” spelt?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do not add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form is </a:t>
            </a:r>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آكُلُ</a:t>
            </a:r>
            <a:pPr algn="l" indent="0" marL="0">
              <a:buNone/>
            </a:pPr>
            <a:r>
              <a:rPr lang="en-US" sz="1150" b="1" dirty="0">
                <a:solidFill>
                  <a:srgbClr val="1B3B6F"/>
                </a:solidFill>
                <a:latin typeface="Calibri" pitchFamily="34" charset="0"/>
                <a:ea typeface="Calibri" pitchFamily="34" charset="-122"/>
                <a:cs typeface="Calibri" pitchFamily="34" charset="-120"/>
              </a:rPr>
              <a:t> begins with a long ā written </a:t>
            </a:r>
            <a:pPr algn="l" indent="0" marL="0">
              <a:buNone/>
            </a:pPr>
            <a:r>
              <a:rPr lang="ar-SA" altLang="en-US" sz="1500" b="1" dirty="0">
                <a:solidFill>
                  <a:srgbClr val="1B3B6F"/>
                </a:solidFill>
                <a:latin typeface="Amiri" pitchFamily="34" charset="0"/>
                <a:ea typeface="Amiri" pitchFamily="34" charset="-122"/>
                <a:cs typeface="Amiri" pitchFamily="34" charset="-120"/>
              </a:rPr>
              <a:t>آ</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أَشْرَبُ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 أُحِبُّ الخُبْزَ وَالجُبْنَ وَالتُّفَّاحَ.</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Huda. I like bread, cheese and apples.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الوَجْبَةِ الخَفِيفَةِ آكُلُ المُكَسَّرَاتِ أَوِ البِسْكُوِيتَ.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snack I eat nuts or biscuits.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السَّمَكَ، وَلَا أَشْرَبُ القَهْوَةَ.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like fish, and I don’t drink coffee.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أَشْرَبُ المَاءَ وَعَصِيرَ البُرْتُقَالِ كُلَّ يَوْمٍ.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drink water and orange juice every day.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الخُبْزَ وَالجُبْنَ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mentions </a:t>
            </a:r>
            <a:pPr algn="l" indent="0" marL="0">
              <a:buNone/>
            </a:pPr>
            <a:r>
              <a:rPr lang="ar-SA" altLang="en-US" sz="1350" dirty="0">
                <a:solidFill>
                  <a:srgbClr val="8A6D1E"/>
                </a:solidFill>
                <a:latin typeface="Amiri" pitchFamily="34" charset="0"/>
                <a:ea typeface="Amiri" pitchFamily="34" charset="-122"/>
                <a:cs typeface="Amiri" pitchFamily="34" charset="-120"/>
              </a:rPr>
              <a:t>التُّفَّاحَ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وَلَا أَشْرَبُ القَهْوَةَ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drinks </a:t>
            </a:r>
            <a:pPr algn="l" indent="0" marL="0">
              <a:buNone/>
            </a:pPr>
            <a:r>
              <a:rPr lang="ar-SA" altLang="en-US" sz="1350" dirty="0">
                <a:solidFill>
                  <a:srgbClr val="8A6D1E"/>
                </a:solidFill>
                <a:latin typeface="Amiri" pitchFamily="34" charset="0"/>
                <a:ea typeface="Amiri" pitchFamily="34" charset="-122"/>
                <a:cs typeface="Amiri" pitchFamily="34" charset="-120"/>
              </a:rPr>
              <a:t>المَاءَ وَعَصِيرَ البُرْتُقَالِ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آكُلُ المُكَسَّرَاتِ أَوِ البِسْكُوِيتَ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أَشْرَبُ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طَعَامُكَ المُفَضَّلُ؟ / 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تَشْرَبُ كُلَّ يَوْمٍ؟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الطَّعَامُ الَّذِي لَا تُحِبُّهُ؟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أُحِبُّ … / لَا، لَا أُحِبُّ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أَشْرَبُ ___ وَ ___ كُلَّ يَوْمٍ.</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 وَلَكِنِّي أُحِبُّ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تُحِبِّينَ السَّلَطَةَ؟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like salad?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أُحِبُّ السَّلَطَةَ كَثِيرًا.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like salad a lot.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eight foods and four drinks with picture or English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likes, one dislike, one drink. Use the Core frames and the word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Ask and answer four preference questions, then report one classmate’s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foods, two drinks, وَ and one negative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one-item forms (tuffāḥa = one apple) and produce an 8-sentence food profile.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food profile with وَلَكِنْ, one / many (تُفَّاحَةٌ) and a family member’s likes.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السَّمَكَ، وَلَكِنِّي أُحِبُّ الدَّجَاجَ.</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fish, but I like chicken.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التُّفَّاحَ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apples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likes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أَشْرَبُ القَهْوَةَ.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drink coffee.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______ كَثِيرًا.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eat … a lot.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أَشْرَبُ ______ كُلَّ يَوْمٍ.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drink … every day.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food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خُبْزٌ  ·  أَرُزٌّ  ·  دَجَاجٌ  ·  سَمَكٌ  ·  جُبْنٌ  ·  تُفَّاحٌ  ·  مَوْزٌ  ·  سَلَطَةٌ  ·  مَاءٌ  ·  حَلِيبٌ  ·  عَصِيرٌ  ·  شَايٌ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5–6 sentences about foods and drinks you like and dislike. Include at least four food words, two drinks, </a:t>
            </a:r>
            <a:pPr algn="l" indent="0" marL="0">
              <a:buNone/>
            </a:pPr>
            <a:r>
              <a:rPr lang="ar-SA" altLang="en-US" sz="1750" b="1" dirty="0">
                <a:solidFill>
                  <a:srgbClr val="1F2A37"/>
                </a:solidFill>
                <a:latin typeface="Amiri" pitchFamily="34" charset="0"/>
                <a:ea typeface="Amiri" pitchFamily="34" charset="-122"/>
                <a:cs typeface="Amiri" pitchFamily="34" charset="-120"/>
              </a:rPr>
              <a:t>وَ</a:t>
            </a:r>
            <a:pPr algn="l" indent="0" marL="0">
              <a:buNone/>
            </a:pPr>
            <a:r>
              <a:rPr lang="en-US" sz="1350" b="1" dirty="0">
                <a:solidFill>
                  <a:srgbClr val="1F2A37"/>
                </a:solidFill>
                <a:latin typeface="Calibri" pitchFamily="34" charset="0"/>
                <a:ea typeface="Calibri" pitchFamily="34" charset="-122"/>
                <a:cs typeface="Calibri" pitchFamily="34" charset="-120"/>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أُحِبُّ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لَا أُحِبُّ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آكُلُ</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أَشْرَبُ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Join ideas with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وَلٰكِنْ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تُفَّاحَةً كُلَّ 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eat an apple every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خُصُوصًا المَوْزَ وَالعِنَبَ</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especially bananas and grapes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الفَاكِهَةَ أَكْثَرَ مِنَ الحَلْوَى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like fruit more than sweets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تُحِبُّ السَّلَطَةَ، وَأَبِي يُحِبُّ الحَسَاءَ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mother likes salad, and my father likes soup</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آكُلُ ... وَلَا أَشْرَبُ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neither eat … nor drink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bread and cheese, and I like apples too.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like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أُحِبُّ</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لَا أُحِبُّ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Food with </a:t>
            </a:r>
            <a:pPr algn="l" indent="0" marL="0">
              <a:buNone/>
            </a:pPr>
            <a:r>
              <a:rPr lang="ar-SA" altLang="en-US" sz="1700" dirty="0">
                <a:solidFill>
                  <a:srgbClr val="1F2A37"/>
                </a:solidFill>
                <a:latin typeface="Amiri" pitchFamily="34" charset="0"/>
                <a:ea typeface="Amiri" pitchFamily="34" charset="-122"/>
                <a:cs typeface="Amiri" pitchFamily="34" charset="-120"/>
              </a:rPr>
              <a:t>آكُلُ</a:t>
            </a:r>
            <a:pPr algn="l" indent="0" marL="0">
              <a:buNone/>
            </a:pPr>
            <a:r>
              <a:rPr lang="en-US" sz="1300" dirty="0">
                <a:solidFill>
                  <a:srgbClr val="1F2A37"/>
                </a:solidFill>
                <a:latin typeface="Calibri" pitchFamily="34" charset="0"/>
                <a:ea typeface="Calibri" pitchFamily="34" charset="-122"/>
                <a:cs typeface="Calibri" pitchFamily="34" charset="-120"/>
              </a:rPr>
              <a:t>, drinks with </a:t>
            </a:r>
            <a:pPr algn="l" indent="0" marL="0">
              <a:buNone/>
            </a:pPr>
            <a:r>
              <a:rPr lang="ar-SA" altLang="en-US" sz="1700" dirty="0">
                <a:solidFill>
                  <a:srgbClr val="1F2A37"/>
                </a:solidFill>
                <a:latin typeface="Amiri" pitchFamily="34" charset="0"/>
                <a:ea typeface="Amiri" pitchFamily="34" charset="-122"/>
                <a:cs typeface="Amiri" pitchFamily="34" charset="-120"/>
              </a:rPr>
              <a:t>أَشْرَبُ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a:t>
            </a:r>
            <a:pPr algn="l" indent="0" marL="0">
              <a:buNone/>
            </a:pPr>
            <a:r>
              <a:rPr lang="ar-SA" altLang="en-US" sz="1700" dirty="0">
                <a:solidFill>
                  <a:srgbClr val="1F2A37"/>
                </a:solidFill>
                <a:latin typeface="Amiri" pitchFamily="34" charset="0"/>
                <a:ea typeface="Amiri" pitchFamily="34" charset="-122"/>
                <a:cs typeface="Amiri" pitchFamily="34" charset="-120"/>
              </a:rPr>
              <a:t>أُحِبُّ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joined ideas with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وَلَكِنْ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item: </a:t>
            </a:r>
            <a:pPr algn="l" indent="0" marL="0">
              <a:buNone/>
            </a:pPr>
            <a:r>
              <a:rPr lang="ar-SA" altLang="en-US" sz="1700" dirty="0">
                <a:solidFill>
                  <a:srgbClr val="1F2A37"/>
                </a:solidFill>
                <a:latin typeface="Amiri" pitchFamily="34" charset="0"/>
                <a:ea typeface="Amiri" pitchFamily="34" charset="-122"/>
                <a:cs typeface="Amiri" pitchFamily="34" charset="-120"/>
              </a:rPr>
              <a:t>تُفَّاحَةٌ، مَوْزَةٌ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fruit?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مَوْزٌ وَعِنَبٌ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أَرُزٌّ وَخُبْزٌ</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دَجَاجٌ وَسَمَكٌ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مَاءٌ</a:t>
            </a:r>
            <a:pPr algn="l" indent="0" marL="0">
              <a:buNone/>
            </a:pPr>
            <a:r>
              <a:rPr lang="en-US" sz="1050" i="1" dirty="0">
                <a:solidFill>
                  <a:srgbClr val="8A6D1E"/>
                </a:solidFill>
                <a:latin typeface="Calibri" pitchFamily="34" charset="0"/>
                <a:ea typeface="Calibri" pitchFamily="34" charset="-122"/>
                <a:cs typeface="Calibri" pitchFamily="34" charset="-120"/>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آكُلُ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means I drink.</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fruit?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مَوْزٌ وَعِنَبٌ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أَرُزٌّ وَخُبْزٌ</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دَجَاجٌ وَسَمَكٌ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Bananas and grapes are fruit.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زَيْتٍ · مِلْحٍ</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oil · salt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قَلِيلٍ مِنَ السُّكَّرِ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little sugar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الخَسِّ · البَصَلِ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lettuce · onions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الحَسَاءَ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وَلَكِنَّهُ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but he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خُصُوصًا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especially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الرُّوبِيَانَ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prawns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sentence lists </a:t>
            </a:r>
            <a:pPr algn="l" indent="0" marL="0">
              <a:buNone/>
            </a:pPr>
            <a:r>
              <a:rPr lang="ar-SA" altLang="en-US" sz="1350" dirty="0">
                <a:solidFill>
                  <a:srgbClr val="8A6D1E"/>
                </a:solidFill>
                <a:latin typeface="Amiri" pitchFamily="34" charset="0"/>
                <a:ea typeface="Amiri" pitchFamily="34" charset="-122"/>
                <a:cs typeface="Amiri" pitchFamily="34" charset="-120"/>
              </a:rPr>
              <a:t>خُبْزًا وَأَرُزًّا وَدَجَاجًا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does not like </a:t>
            </a:r>
            <a:pPr algn="l" indent="0" marL="0">
              <a:buNone/>
            </a:pPr>
            <a:r>
              <a:rPr lang="ar-SA" altLang="en-US" sz="1350" dirty="0">
                <a:solidFill>
                  <a:srgbClr val="8A6D1E"/>
                </a:solidFill>
                <a:latin typeface="Amiri" pitchFamily="34" charset="0"/>
                <a:ea typeface="Amiri" pitchFamily="34" charset="-122"/>
                <a:cs typeface="Amiri" pitchFamily="34" charset="-120"/>
              </a:rPr>
              <a:t>الخَضْرَوَاتِ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خُصُوصًا المَوْزَ وَالعِنَبَ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a:t>
            </a:r>
            <a:pPr algn="l" indent="0" marL="0">
              <a:buNone/>
            </a:pPr>
            <a:r>
              <a:rPr lang="ar-SA" altLang="en-US" sz="1350" dirty="0">
                <a:solidFill>
                  <a:srgbClr val="8A6D1E"/>
                </a:solidFill>
                <a:latin typeface="Amiri" pitchFamily="34" charset="0"/>
                <a:ea typeface="Amiri" pitchFamily="34" charset="-122"/>
                <a:cs typeface="Amiri" pitchFamily="34" charset="-120"/>
              </a:rPr>
              <a:t>حَلِيبًا وَمَاءً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lists </a:t>
            </a:r>
            <a:pPr algn="l" indent="0" marL="0">
              <a:buNone/>
            </a:pPr>
            <a:r>
              <a:rPr lang="ar-SA" altLang="en-US" sz="1350" dirty="0">
                <a:solidFill>
                  <a:srgbClr val="8A6D1E"/>
                </a:solidFill>
                <a:latin typeface="Amiri" pitchFamily="34" charset="0"/>
                <a:ea typeface="Amiri" pitchFamily="34" charset="-122"/>
                <a:cs typeface="Amiri" pitchFamily="34" charset="-120"/>
              </a:rPr>
              <a:t>زَيْتٍ وَمِلْحٍ وَقَلِيلٍ مِنَ السُّكَّرِ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salad contains </a:t>
            </a:r>
            <a:pPr algn="l" indent="0" marL="0">
              <a:buNone/>
            </a:pPr>
            <a:r>
              <a:rPr lang="ar-SA" altLang="en-US" sz="1350" dirty="0">
                <a:solidFill>
                  <a:srgbClr val="8A6D1E"/>
                </a:solidFill>
                <a:latin typeface="Amiri" pitchFamily="34" charset="0"/>
                <a:ea typeface="Amiri" pitchFamily="34" charset="-122"/>
                <a:cs typeface="Amiri" pitchFamily="34" charset="-120"/>
              </a:rPr>
              <a:t>الخَسِّ وَالطَّمَاطِمِ وَالبَصَلِ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الرُّوبِيَانُ</a:t>
            </a:r>
            <a:pPr algn="l" indent="0" marL="0">
              <a:buNone/>
            </a:pPr>
            <a:r>
              <a:rPr lang="en-US" sz="1050" i="1" dirty="0">
                <a:solidFill>
                  <a:srgbClr val="8A6D1E"/>
                </a:solidFill>
                <a:latin typeface="Calibri" pitchFamily="34" charset="0"/>
                <a:ea typeface="Calibri" pitchFamily="34" charset="-122"/>
                <a:cs typeface="Calibri" pitchFamily="34" charset="-120"/>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F5-L01 · Food and Drinks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F5-L02 · Meals and Eating Routines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فَطُورٌ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breakfast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غَدَاءٌ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lunch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عَشَاءٌ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dinner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وَجْبَةٌ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meal</a:t>
            </a:r>
            <a:pPr indent="0" marL="0">
              <a:buNone/>
            </a:pPr>
            <a:r>
              <a:rPr lang="en-US" sz="1000" i="1" dirty="0">
                <a:solidFill>
                  <a:srgbClr val="5A6472"/>
                </a:solidFill>
                <a:latin typeface="Calibri" pitchFamily="34" charset="0"/>
                <a:ea typeface="Calibri" pitchFamily="34" charset="-122"/>
                <a:cs typeface="Calibri" pitchFamily="34" charset="-120"/>
              </a:rPr>
              <a:t>  pl. وَجَبَاتٌ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usually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usually eat for breakfast? Write two food words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الفَطُورِ آكُلُ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F5-L01: the vocabulary tab and the “Food or drink?”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Survey two people at home and write what they like and don’t 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8-sentence food profile with “but” and one-item forms (tuffāḥa).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F5-L02 · Meals and Eating Routines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وَجَبَاتُ اليَوْمِ وَعَادَاتُ الأَكْلِ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أُحِبُّ</a:t>
            </a:r>
            <a:pPr algn="l" indent="0" marL="0">
              <a:buNone/>
            </a:pPr>
            <a:r>
              <a:rPr lang="en-US" sz="1300" b="1" dirty="0">
                <a:solidFill>
                  <a:srgbClr val="FFFFFF"/>
                </a:solidFill>
                <a:latin typeface="Calibri" pitchFamily="34" charset="0"/>
                <a:ea typeface="Calibri" pitchFamily="34" charset="-122"/>
                <a:cs typeface="Calibri" pitchFamily="34" charset="-120"/>
              </a:rPr>
              <a:t> + food · </a:t>
            </a:r>
            <a:pPr algn="l" indent="0" marL="0">
              <a:buNone/>
            </a:pPr>
            <a:r>
              <a:rPr lang="ar-SA" altLang="en-US" sz="1700" b="1" dirty="0">
                <a:solidFill>
                  <a:srgbClr val="FFFFFF"/>
                </a:solidFill>
                <a:latin typeface="Amiri" pitchFamily="34" charset="0"/>
                <a:ea typeface="Amiri" pitchFamily="34" charset="-122"/>
                <a:cs typeface="Amiri" pitchFamily="34" charset="-120"/>
              </a:rPr>
              <a:t>لَا</a:t>
            </a:r>
            <a:pPr algn="l" indent="0" marL="0">
              <a:buNone/>
            </a:pPr>
            <a:r>
              <a:rPr lang="en-US" sz="1300" b="1" dirty="0">
                <a:solidFill>
                  <a:srgbClr val="FFFFFF"/>
                </a:solidFill>
                <a:latin typeface="Calibri" pitchFamily="34" charset="0"/>
                <a:ea typeface="Calibri" pitchFamily="34" charset="-122"/>
                <a:cs typeface="Calibri" pitchFamily="34" charset="-120"/>
              </a:rPr>
              <a:t> before the verb · </a:t>
            </a:r>
            <a:pPr algn="l" indent="0" marL="0">
              <a:buNone/>
            </a:pPr>
            <a:r>
              <a:rPr lang="ar-SA" altLang="en-US" sz="1700" b="1" dirty="0">
                <a:solidFill>
                  <a:srgbClr val="FFFFFF"/>
                </a:solidFill>
                <a:latin typeface="Amiri" pitchFamily="34" charset="0"/>
                <a:ea typeface="Amiri" pitchFamily="34" charset="-122"/>
                <a:cs typeface="Amiri" pitchFamily="34" charset="-120"/>
              </a:rPr>
              <a:t>آكُلُ</a:t>
            </a:r>
            <a:pPr algn="l" indent="0" marL="0">
              <a:buNone/>
            </a:pPr>
            <a:r>
              <a:rPr lang="en-US" sz="1300" b="1" dirty="0">
                <a:solidFill>
                  <a:srgbClr val="FFFFFF"/>
                </a:solidFill>
                <a:latin typeface="Calibri" pitchFamily="34" charset="0"/>
                <a:ea typeface="Calibri" pitchFamily="34" charset="-122"/>
                <a:cs typeface="Calibri" pitchFamily="34" charset="-120"/>
              </a:rPr>
              <a:t> food · </a:t>
            </a:r>
            <a:pPr algn="l" indent="0" marL="0">
              <a:buNone/>
            </a:pPr>
            <a:r>
              <a:rPr lang="ar-SA" altLang="en-US" sz="1700" b="1" dirty="0">
                <a:solidFill>
                  <a:srgbClr val="FFFFFF"/>
                </a:solidFill>
                <a:latin typeface="Amiri" pitchFamily="34" charset="0"/>
                <a:ea typeface="Amiri" pitchFamily="34" charset="-122"/>
                <a:cs typeface="Amiri" pitchFamily="34" charset="-120"/>
              </a:rPr>
              <a:t>أَشْرَبُ</a:t>
            </a:r>
            <a:pPr algn="l" indent="0" marL="0">
              <a:buNone/>
            </a:pPr>
            <a:r>
              <a:rPr lang="en-US" sz="1300" b="1" dirty="0">
                <a:solidFill>
                  <a:srgbClr val="FFFFFF"/>
                </a:solidFill>
                <a:latin typeface="Calibri" pitchFamily="34" charset="0"/>
                <a:ea typeface="Calibri" pitchFamily="34" charset="-122"/>
                <a:cs typeface="Calibri" pitchFamily="34" charset="-120"/>
              </a:rPr>
              <a:t> drinks.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F5-L01 · Food and Drinks</dc:title>
  <dc:subject>PptxGenJS Presentation</dc:subject>
  <dc:creator>Al Madina Online School · Arabic Department</dc:creator>
  <cp:lastModifiedBy>Al Madina Online School · Arabic Department</cp:lastModifiedBy>
  <cp:revision>1</cp:revision>
  <dcterms:created xsi:type="dcterms:W3CDTF">2026-09-27T21:39:10Z</dcterms:created>
  <dcterms:modified xsi:type="dcterms:W3CDTF">2026-09-27T21:39:10Z</dcterms:modified>
</cp:coreProperties>
</file>