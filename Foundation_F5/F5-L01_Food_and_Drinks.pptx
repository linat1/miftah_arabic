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F5-L01. The website lesson “Food and Drinks”: vocabulary, grammar rules and quiz, patterns, common mistakes, sorter, listening, reading, speaking prompts and model, writing task and model, differentiation, final check and the lesson mission. Picture match: website visual game “Food and Drinks”.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learn the 12 CORE words (6 staples, 6 fruit and vegetables) and the drinks on the grammar slide; say one like and one dislike with أُحِبُّ / لَا أُحِبُّ.
• Develop: ask and answer (هَلْ تُحِبُّ / تُحِبِّينَ …؟) and report a classmate (هُوَ يُحِبُّ … / هِيَ تُحِبُّ …).
• Stretch: collective vs one item (تُفَّاحٌ / تُفَّاحَةٌ) and an 8-sentence food profile with وَلَكِنْ.
• Two verbs: آكُلُ for food, أَشْرَبُ for drinks — the website’s common slip is آكُلُ الحَلِيبَ.
• Urdu bridge is very strong here: چائے، قہوہ، شکر، نمک، زیتون … students already know many of these words.
• Be sensitive to diets (halal, vegetarian, allergies): students may always choose other foods or invent a “food character”.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food words prepared at home at the end of F4-L12. Questions 3–5 retrieve F4 opinion language (reason agreement, negative opinion, prefer).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opinion verbs from F4 now work with food: I like / I do not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چائے ↔ شَايٌ (same word, different sound). قہوہ in Urdu is green tea — in Arabic قَهْوَةٌ is coffee. شکر / سُكَّرٌ (and English “sugar”) share one root. Warn: Urdu نمک is Persian — the Arabic is مِلْحٌ (compare ملیح “salty, attractive”). تمر ہندی (tamarind) literally means “Indian date” — from Arabic تَمْرٌ.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(1 of 2)). Hear → Say → See → Use. Transliteration is printed for Core students (cover it for Develop/Stretch).
COLLECTIVE NOUNS (website teaching note): بَيْضٌ / سَمَكٌ = the food in general; add ة for ONE item (بَيْضَةٌ، سَمَكَةٌ). Core students only need the first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(2 of 2)). Hear → Say → See → Use. Transliteration is printed for Core students (cover it for Develop/Stretch).
COLLECTIVE NOUNS (website teaching note): بَيْضٌ / سَمَكٌ = the food in general; add ة for ONE item (بَيْضَةٌ، سَمَكَةٌ). Core students only need the first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(1 of 2)). Hear → Say → See → Use. Transliteration is printed for Core students (cover it for Develop/Stretch).
Same pattern: تُفَّاحٌ → تُفَّاحَةٌ (one apple), مَوْزٌ → مَوْزَةٌ. طَمَاطِمُ and بَطَاطِسُ are borrowed words (tomato, potato) — students love spotting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(2 of 2)). Hear → Say → See → Use. Transliteration is printed for Core students (cover it for Develop/Stretch).
Same pattern: تُفَّاحٌ → تُفَّاحَةٌ (one apple), مَوْزٌ → مَوْزَةٌ. طَمَاطِمُ and بَطَاطِسُ are borrowed words (tomato, potato) — students love spotting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(1 of 2)). Hear → Say → See → Use. Transliteration is printed for Core students (cover it for Develop/Stretch).
FLEX: teach if time allows; otherwise these are on the website vocabulary tab for homework.
FLEX: drinks are also on the grammar slide. Group 4 (ingredients, snacks and seafood) is on the website vocabulary tab for homework — it appears again in the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(2 of 2)). Hear → Say → See → Use. Transliteration is printed for Core students (cover it for Develop/Stretch).
FLEX: teach if time allows; otherwise these are on the website vocabulary tab for homework.
FLEX: drinks are also on the grammar slide. Group 4 (ingredients, snacks and seafood) is on the website vocabulary tab for homework — it appears again in the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“Say what you like” (أُحِبُّ + food), “Make the opinion negative” (لَا + أُحِبُّ) and “Ask another person” (تُحِبُّ to a boy, تُحِبِّينَ to a girl).
Website common error: أُحِبُّ إِلَى الخُبْزِ ✗ → أُحِبُّ الخُبْزَ ✓.
Teacher script: “Blue = who. Pink = not.” Core students need rows 1 and 2 only; Develop add the girl form and he / she for reporting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verbs آكُلُ / أَشْرَبُ (website patterns and mistakes) and website rule “Notice noun gender”: many food words are masculine (خُبْزٌ), some feminine (قَهْوَةٌ، سَلَطَةٌ). Learn the gender now — adjectives in F5-L04 will agree with it.
Website mistake: أَكُلُ الخُبْزَ ✗ → آكُلُ الخُبْزَ ✓ (the first-person form begins with a long ā).
Quick-fire: teacher says a food or drink; students say آكُلُ or أَشْرَبُ. Soup (حَسَاءٌ) is a good debate: Arabic usually says أَشْرَبُ الحَسَاءَ!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opinion frame أُحِبُّ / لَا أُحِبُّ. Build a complete sentence by placing the food or drink directly after the verb, then notice the gender of the noun so later adjectives can agree accurately.”
• Say what you like: أُحِبُّ means “I like”. The food or drink follows directly; do not add a preposition between the verb and the noun.
• Make the opinion negative: Put لَا immediately before أُحِبُّ. The rest of the sentence stays in the same order.
• Notice noun gender: Many food words are masculine, but some are feminine. Learn the noun with its gender because later description words must agree.
• Ask another person: Use تُحِبُّ for a male listener and تُحِبِّينَ for a female listener.
Website common error: Do not write أُحِبُّ إِلَى الخُبْزِ. أُحِبُّ takes the food or drink directly: أُحِبُّ الخُبْزَ.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with a think-aloud. Students copy it and swap TWO foods for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Point out هٰذِهِ with the feminine words (تُفَّاحَةٌ، سَلَطَةٌ) and هٰذَا with the masculine (حَلِيبٌ) — a preview of noun gender. Other website items: خُبْزٌ، أَرُزٌّ،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Point out هٰذِهِ with the feminine words (تُفَّاحَةٌ، سَلَطَةٌ) and هٰذَا with the masculine (حَلِيبٌ) — a preview of noun gender. Other website items: خُبْزٌ، أَرُزٌّ،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Ask “آكُلُ or أَشْرَبُ?” for each item as it is sorted — the sorter doubles as verb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Ask “آكُلُ or أَشْرَبُ?” for each item as it is sorted — the sorter doubles as verb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هُدَى. أُحِبُّ الخُبْزَ وَالجُبْنَ وَالتُّفَّاحَ. فِي الوَجْبَةِ الخَفِيفَةِ آكُلُ المُكَسَّرَاتِ أَوِ البِسْكُوِيتَ. لَا أُحِبُّ السَّمَكَ، وَلَا أَشْرَبُ القَهْوَةَ. أَشْرَبُ المَاءَ وَعَصِيرَ البُرْتُقَالِ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وَمَاذَا تَشْرَبِينَ؟ (And what do you drink?)
ب: أَشْرَبُ المَاءَ وَالعَصِيرَ. (I drink water and juice.)
Website food survey — all four prompts are the website’s (Stretch adds “and why?”). Website model: هَلْ تُحِبِّينَ السَّلَطَةَ؟ — نَعَمْ، أُحِبُّ السَّلَطَةَ كَثِيرًا. — وَمَاذَا تَشْرَبِينَ؟ — أَشْرَبُ المَاءَ وَالعَصِيرَ. Develop: after the survey, report one classmate: هُوَ يُحِبُّ … / هِيَ تُحِبُّ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eight foods and four drinks with picture or English support. · Develop — Ask and answer four preference questions, then report one classmate’s answer. · Stretch — Add one-item forms (tuffāḥa = one apple) and produce an 8-sentence food profile.
Website writing task (Stretch): Write 5–6 sentences about foods and drinks you like and dislike. Include at least four food words, two drinks, وَ and one negative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أُحِبُّ الخُبْزَ · لَا أُحِبُّ السَّمَكَ · أَشْرَبُ المَاءَ · وَلَكِنِّي. The website model has 3 long sentences (≈ 6 ideas) — Develop students split theirs into 5–6 sentences.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(F5-L02 · Meals and Eating Routines) will spend class time USING this language, so students prepare it tonight — short, simple, easy to access (school guidance: “Simple, Short, Interesting, Relevant, Easy to access”). The five words come from the website F5-L02 vocabulary (meals and routines).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Food and Drinks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الطَّعَامُ وَالشَّرَابُ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a broad range of foods and drinks, sort them, and say what you like and do not like with </a:t>
            </a:r>
            <a:pPr algn="l" indent="0" marL="0">
              <a:buNone/>
            </a:pPr>
            <a:r>
              <a:rPr lang="ar-SA" altLang="en-US" sz="1800" dirty="0">
                <a:solidFill>
                  <a:srgbClr val="C6D2E6"/>
                </a:solidFill>
                <a:latin typeface="Amiri" pitchFamily="34" charset="0"/>
                <a:ea typeface="Amiri" pitchFamily="34" charset="-122"/>
                <a:cs typeface="Amiri" pitchFamily="34" charset="-120"/>
              </a:rPr>
              <a:t>أُحِبُّ / لَا أُحِبُّ</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آكُلُ</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أَشْرَبُ</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F5-L01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Food and drink words in three groups, then like / don’t like, eat / drink.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food or drink sorter, fix the mistakes and listen to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دَجَاجٌ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العَرَبِيَّةَ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“I do not like history”?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التَّارِيخَ.</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التَّارِيخَ؟</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التَّارِيخَ.</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prefer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study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drink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دَجَاجٌ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chicken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العَرَبِيَّةَ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F4: a feminine subject → li-annahā.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“I do not like history”?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التَّارِيخَ.</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التَّارِيخَ؟</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التَّارِيخَ.</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F4-L04: lā directly before the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prefer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study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drink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F4-L04: preferences.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opinion verbs from F4 now work with food: I like / I do not like.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أُحِبُّ الخُبْزَ · </a:t>
            </a:r>
            <a:pPr rtl="1" algn="ctr" indent="0" marL="0">
              <a:buNone/>
            </a:pPr>
            <a:r>
              <a:rPr lang="ar-SA" altLang="en-US" sz="2400" b="1" dirty="0">
                <a:solidFill>
                  <a:srgbClr val="D6336C"/>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أُحِبُّ السَّمَكَ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pronounce common food and drink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Separate foods from drinks and notice noun gender where it supports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a like and a dislike using complete Arabic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 short food-and-drink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twelve foods and four drinks.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one like and one dislike.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what a classmate likes.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t>
            </a:r>
            <a:pPr algn="l" indent="0" marL="0">
              <a:buNone/>
            </a:pPr>
            <a:r>
              <a:rPr lang="ar-SA" altLang="en-US" sz="1700" b="1" dirty="0">
                <a:solidFill>
                  <a:srgbClr val="B83227"/>
                </a:solidFill>
                <a:latin typeface="Amiri" pitchFamily="34" charset="0"/>
                <a:ea typeface="Amiri" pitchFamily="34" charset="-122"/>
                <a:cs typeface="Amiri" pitchFamily="34" charset="-120"/>
              </a:rPr>
              <a:t>تُفَّاحٌ / تُفَّاحَةٌ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8-sentence food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40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Staples and proteins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Fruit and vegetables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Drinks and extras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Ingredients, snacks and seafood · 11</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شَايٌ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‎چائے‎ </a:t>
            </a:r>
            <a:pPr indent="0" marL="0">
              <a:buNone/>
            </a:pPr>
            <a:r>
              <a:rPr lang="en-US" sz="950" b="1" dirty="0">
                <a:solidFill>
                  <a:srgbClr val="2E8B57"/>
                </a:solidFill>
                <a:latin typeface="Calibri" pitchFamily="34" charset="0"/>
                <a:ea typeface="Calibri" pitchFamily="34" charset="-122"/>
                <a:cs typeface="Calibri" pitchFamily="34" charset="-120"/>
              </a:rPr>
              <a:t> chāy · tea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قَهْوَةٌ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‎قہوہ‎ </a:t>
            </a:r>
            <a:pPr indent="0" marL="0">
              <a:buNone/>
            </a:pPr>
            <a:r>
              <a:rPr lang="en-US" sz="950" b="1" dirty="0">
                <a:solidFill>
                  <a:srgbClr val="2E8B57"/>
                </a:solidFill>
                <a:latin typeface="Calibri" pitchFamily="34" charset="0"/>
                <a:ea typeface="Calibri" pitchFamily="34" charset="-122"/>
                <a:cs typeface="Calibri" pitchFamily="34" charset="-120"/>
              </a:rPr>
              <a:t> qahwa · coffee (Urdu: green tea)</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سُكَّرٌ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 </a:t>
            </a:r>
            <a:pPr indent="0" marL="0">
              <a:buNone/>
            </a:pPr>
            <a:r>
              <a:rPr lang="en-US" sz="950" b="1" dirty="0">
                <a:solidFill>
                  <a:srgbClr val="2E8B57"/>
                </a:solidFill>
                <a:latin typeface="Calibri" pitchFamily="34" charset="0"/>
                <a:ea typeface="Calibri" pitchFamily="34" charset="-122"/>
                <a:cs typeface="Calibri" pitchFamily="34" charset="-120"/>
              </a:rPr>
              <a:t> shakar · sugar</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مِلْحٌ</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‎نمک‎ </a:t>
            </a:r>
            <a:pPr indent="0" marL="0">
              <a:buNone/>
            </a:pPr>
            <a:r>
              <a:rPr lang="en-US" sz="950" b="1" dirty="0">
                <a:solidFill>
                  <a:srgbClr val="2E8B57"/>
                </a:solidFill>
                <a:latin typeface="Calibri" pitchFamily="34" charset="0"/>
                <a:ea typeface="Calibri" pitchFamily="34" charset="-122"/>
                <a:cs typeface="Calibri" pitchFamily="34" charset="-120"/>
              </a:rPr>
              <a:t> namak · salt — a false friend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تَمْرٌ</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‎تمر ہندی‎ </a:t>
            </a:r>
            <a:pPr indent="0" marL="0">
              <a:buNone/>
            </a:pPr>
            <a:r>
              <a:rPr lang="en-US" sz="950" b="1" dirty="0">
                <a:solidFill>
                  <a:srgbClr val="2E8B57"/>
                </a:solidFill>
                <a:latin typeface="Calibri" pitchFamily="34" charset="0"/>
                <a:ea typeface="Calibri" pitchFamily="34" charset="-122"/>
                <a:cs typeface="Calibri" pitchFamily="34" charset="-120"/>
              </a:rPr>
              <a:t> tamar-hindī · dates (Urdu: tamarind “Indian date”)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Staples and proteins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khub-zun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أَرُزٌّ</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a-ruz-zun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مَعْكَرُونَةٌ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maʿ-ka-rū-na-tun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بَيْضٌ</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eggs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bay-ḍun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45" name="Text 42"/>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بَيْضٌ</a:t>
            </a:r>
            <a:endParaRPr lang="ar-SA" sz="135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egg</a:t>
            </a:r>
            <a:endParaRPr lang="en-US" sz="700" dirty="0"/>
          </a:p>
        </p:txBody>
      </p:sp>
      <p:sp>
        <p:nvSpPr>
          <p:cNvPr id="48" name="Text 4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بَيْضَةٌ</a:t>
            </a:r>
            <a:endParaRPr lang="ar-SA"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جُبْنٌ</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jub-nun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Staples and proteins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لَحْمٌ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laḥ-mun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دَجَاجٌ</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chicken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da-jā-jun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سَمَكٌ</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sa-ma-kun</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38" name="Text 3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سَمَكٌ</a:t>
            </a:r>
            <a:endParaRPr lang="ar-SA" sz="135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fish</a:t>
            </a:r>
            <a:endParaRPr lang="en-US" sz="700" dirty="0"/>
          </a:p>
        </p:txBody>
      </p:sp>
      <p:sp>
        <p:nvSpPr>
          <p:cNvPr id="41" name="Text 38"/>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سَمَكَةٌ</a:t>
            </a:r>
            <a:endParaRPr lang="ar-SA"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فَاصُولِيَاءُ</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fā-ṣū-li-yā-ʾu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Fruit and vegetables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تُفَّاحٌ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tuf-fā-ḥun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تُفَّاحٌ</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apple</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تُفَّاحَةٌ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مَوْزٌ</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bananas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maw-zun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مَوْزٌ</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banana</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مَوْزَةٌ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بُرْتُقَالٌ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oranges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bur-tu-qā-lun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بُرْتُقَالٌ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orange</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بُرْتُقَالَةٌ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عِنَبٌ</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grapes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ʿi-na-bun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فَرَاوِلَةٌ</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strawberries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fa-rā-wi-la-tun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3" name="Shape 7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75" name="Text 7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تَمْرٌ</a:t>
            </a:r>
            <a:endParaRPr lang="ar-SA" sz="3000" dirty="0"/>
          </a:p>
        </p:txBody>
      </p:sp>
      <p:sp>
        <p:nvSpPr>
          <p:cNvPr id="76" name="Text 7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tam-run</a:t>
            </a:r>
            <a:endParaRPr lang="en-US" sz="1350" dirty="0"/>
          </a:p>
        </p:txBody>
      </p:sp>
      <p:sp>
        <p:nvSpPr>
          <p:cNvPr id="77" name="Shape 7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79" name="Text 76"/>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تَمْرٌ</a:t>
            </a:r>
            <a:endParaRPr lang="ar-SA" sz="1350" dirty="0"/>
          </a:p>
        </p:txBody>
      </p:sp>
      <p:sp>
        <p:nvSpPr>
          <p:cNvPr id="80" name="Shape 7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date</a:t>
            </a:r>
            <a:endParaRPr lang="en-US" sz="700" dirty="0"/>
          </a:p>
        </p:txBody>
      </p:sp>
      <p:sp>
        <p:nvSpPr>
          <p:cNvPr id="82" name="Text 7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تَمْرَةٌ</a:t>
            </a:r>
            <a:endParaRPr lang="ar-SA"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Fruit and vegetables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طَمَاطِمُ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tomatoes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ṭa-mā-ṭi-mu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خِيَارٌ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cucumber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khi-yā-run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carrots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ja-za-run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بَطَاطِسُ</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potatoes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ba-ṭā-ṭi-su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سَلَطَةٌ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salad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sa-la-ṭa-tun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Drinks and extras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حَلِيبٌ</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milk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ḥa-lī-bun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عَصِيرٌ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قَهْوَةٌ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coffee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qah-wa-tun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Drinks and extras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عَصِيرُ اللَّيْمُونِ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lemon juice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ʿa-ṣī-ru all-lay-mū-ni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حَسَاءٌ</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ḥa-sā-ʾun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زَبَادِي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yoghurt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za-bā-dī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شُوكُولَاتَةٌ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chocolate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shū-kū-lā-ta-tun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LIKE AND DON’T LIKE (WEBSITE RULES 1, 2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like · I don’t like · do you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 لَا أُحِبُّ · هَلْ تُحِبُّ؟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17" name="Text 14"/>
          <p:cNvSpPr txBox="1"/>
          <p:nvPr/>
        </p:nvSpPr>
        <p:spPr>
          <a:xfrm>
            <a:off x="66842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a:t>
            </a:r>
            <a:endParaRPr lang="en-US" sz="1100" dirty="0"/>
          </a:p>
        </p:txBody>
      </p:sp>
      <p:sp>
        <p:nvSpPr>
          <p:cNvPr id="18" name="Text 15"/>
          <p:cNvSpPr txBox="1"/>
          <p:nvPr/>
        </p:nvSpPr>
        <p:spPr>
          <a:xfrm>
            <a:off x="320954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Don’t like</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94392" y="2267712"/>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6702552" y="2286000"/>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أُ</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الخُبْزَ</a:t>
            </a:r>
            <a:endParaRPr lang="ar-SA" sz="1600" dirty="0"/>
          </a:p>
        </p:txBody>
      </p:sp>
      <p:sp>
        <p:nvSpPr>
          <p:cNvPr id="23" name="Text 20"/>
          <p:cNvSpPr txBox="1"/>
          <p:nvPr/>
        </p:nvSpPr>
        <p:spPr>
          <a:xfrm>
            <a:off x="6656832" y="2603297"/>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like bread</a:t>
            </a:r>
            <a:endParaRPr lang="en-US" sz="950" dirty="0"/>
          </a:p>
        </p:txBody>
      </p:sp>
      <p:sp>
        <p:nvSpPr>
          <p:cNvPr id="24" name="Text 21"/>
          <p:cNvSpPr txBox="1"/>
          <p:nvPr/>
        </p:nvSpPr>
        <p:spPr>
          <a:xfrm>
            <a:off x="322783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أُ</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السَّمَكَ</a:t>
            </a:r>
            <a:endParaRPr lang="ar-SA" sz="1600" dirty="0"/>
          </a:p>
        </p:txBody>
      </p:sp>
      <p:sp>
        <p:nvSpPr>
          <p:cNvPr id="25" name="Text 22"/>
          <p:cNvSpPr txBox="1"/>
          <p:nvPr/>
        </p:nvSpPr>
        <p:spPr>
          <a:xfrm>
            <a:off x="318211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don’t like fish</a:t>
            </a:r>
            <a:endParaRPr lang="en-US" sz="950" dirty="0"/>
          </a:p>
        </p:txBody>
      </p:sp>
      <p:sp>
        <p:nvSpPr>
          <p:cNvPr id="26" name="Text 23"/>
          <p:cNvSpPr txBox="1"/>
          <p:nvPr/>
        </p:nvSpPr>
        <p:spPr>
          <a:xfrm>
            <a:off x="56692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994392" y="2881884"/>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6702552" y="2900172"/>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الجُبْنَ؟</a:t>
            </a:r>
            <a:endParaRPr lang="ar-SA" sz="1600" dirty="0"/>
          </a:p>
        </p:txBody>
      </p:sp>
      <p:sp>
        <p:nvSpPr>
          <p:cNvPr id="32" name="Text 29"/>
          <p:cNvSpPr txBox="1"/>
          <p:nvPr/>
        </p:nvSpPr>
        <p:spPr>
          <a:xfrm>
            <a:off x="6656832" y="3217469"/>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 you (m.) like cheese?</a:t>
            </a:r>
            <a:endParaRPr lang="en-US" sz="950" dirty="0"/>
          </a:p>
        </p:txBody>
      </p:sp>
      <p:sp>
        <p:nvSpPr>
          <p:cNvPr id="33" name="Text 30"/>
          <p:cNvSpPr txBox="1"/>
          <p:nvPr/>
        </p:nvSpPr>
        <p:spPr>
          <a:xfrm>
            <a:off x="322783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الشَّايَ</a:t>
            </a:r>
            <a:endParaRPr lang="ar-SA" sz="1600" dirty="0"/>
          </a:p>
        </p:txBody>
      </p:sp>
      <p:sp>
        <p:nvSpPr>
          <p:cNvPr id="34" name="Text 31"/>
          <p:cNvSpPr txBox="1"/>
          <p:nvPr/>
        </p:nvSpPr>
        <p:spPr>
          <a:xfrm>
            <a:off x="318211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(m.) don’t like tea</a:t>
            </a:r>
            <a:endParaRPr lang="en-US" sz="950" dirty="0"/>
          </a:p>
        </p:txBody>
      </p:sp>
      <p:sp>
        <p:nvSpPr>
          <p:cNvPr id="35" name="Text 32"/>
          <p:cNvSpPr txBox="1"/>
          <p:nvPr/>
        </p:nvSpPr>
        <p:spPr>
          <a:xfrm>
            <a:off x="56692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a:t>
            </a:r>
            <a:endParaRPr lang="en-US" sz="1100" dirty="0"/>
          </a:p>
        </p:txBody>
      </p:sp>
      <p:sp>
        <p:nvSpPr>
          <p:cNvPr id="36" name="Shape 33"/>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9" name="Text 36"/>
          <p:cNvSpPr txBox="1"/>
          <p:nvPr/>
        </p:nvSpPr>
        <p:spPr>
          <a:xfrm>
            <a:off x="9994392" y="3496056"/>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0" name="Text 37"/>
          <p:cNvSpPr txBox="1"/>
          <p:nvPr/>
        </p:nvSpPr>
        <p:spPr>
          <a:xfrm>
            <a:off x="6702552" y="3514344"/>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a:t>
            </a:r>
            <a:pPr rtl="1" algn="ctr" indent="0" marL="0">
              <a:buNone/>
            </a:pPr>
            <a:r>
              <a:rPr lang="ar-SA" altLang="en-US" sz="1600" b="1" dirty="0">
                <a:solidFill>
                  <a:srgbClr val="1D5FBF"/>
                </a:solidFill>
                <a:latin typeface="Amiri" pitchFamily="34" charset="0"/>
                <a:ea typeface="Amiri" pitchFamily="34" charset="-122"/>
                <a:cs typeface="Amiri" pitchFamily="34" charset="-120"/>
              </a:rPr>
              <a:t>ينَ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السَّلَطَةَ؟</a:t>
            </a:r>
            <a:endParaRPr lang="ar-SA" sz="1600" dirty="0"/>
          </a:p>
        </p:txBody>
      </p:sp>
      <p:sp>
        <p:nvSpPr>
          <p:cNvPr id="41" name="Text 38"/>
          <p:cNvSpPr txBox="1"/>
          <p:nvPr/>
        </p:nvSpPr>
        <p:spPr>
          <a:xfrm>
            <a:off x="6656832" y="3831641"/>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 you (f.) like salad?</a:t>
            </a:r>
            <a:endParaRPr lang="en-US" sz="950" dirty="0"/>
          </a:p>
        </p:txBody>
      </p:sp>
      <p:sp>
        <p:nvSpPr>
          <p:cNvPr id="42" name="Text 39"/>
          <p:cNvSpPr txBox="1"/>
          <p:nvPr/>
        </p:nvSpPr>
        <p:spPr>
          <a:xfrm>
            <a:off x="322783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a:t>
            </a:r>
            <a:pPr rtl="1" algn="ctr" indent="0" marL="0">
              <a:buNone/>
            </a:pPr>
            <a:r>
              <a:rPr lang="ar-SA" altLang="en-US" sz="1600" b="1" dirty="0">
                <a:solidFill>
                  <a:srgbClr val="1D5FBF"/>
                </a:solidFill>
                <a:latin typeface="Amiri" pitchFamily="34" charset="0"/>
                <a:ea typeface="Amiri" pitchFamily="34" charset="-122"/>
                <a:cs typeface="Amiri" pitchFamily="34" charset="-120"/>
              </a:rPr>
              <a:t>ينَ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القَهْوَةَ</a:t>
            </a:r>
            <a:endParaRPr lang="ar-SA" sz="1600" dirty="0"/>
          </a:p>
        </p:txBody>
      </p:sp>
      <p:sp>
        <p:nvSpPr>
          <p:cNvPr id="43" name="Text 40"/>
          <p:cNvSpPr txBox="1"/>
          <p:nvPr/>
        </p:nvSpPr>
        <p:spPr>
          <a:xfrm>
            <a:off x="318211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(f.) don’t like coffee</a:t>
            </a:r>
            <a:endParaRPr lang="en-US" sz="950" dirty="0"/>
          </a:p>
        </p:txBody>
      </p:sp>
      <p:sp>
        <p:nvSpPr>
          <p:cNvPr id="44" name="Text 41"/>
          <p:cNvSpPr txBox="1"/>
          <p:nvPr/>
        </p:nvSpPr>
        <p:spPr>
          <a:xfrm>
            <a:off x="56692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a:t>
            </a:r>
            <a:endParaRPr lang="en-US" sz="110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994392" y="4110228"/>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47" name="Text 44"/>
          <p:cNvSpPr txBox="1"/>
          <p:nvPr/>
        </p:nvSpPr>
        <p:spPr>
          <a:xfrm>
            <a:off x="6702552" y="4128516"/>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يُ</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الدَّجَاجَ</a:t>
            </a:r>
            <a:endParaRPr lang="ar-SA" sz="1600" dirty="0"/>
          </a:p>
        </p:txBody>
      </p:sp>
      <p:sp>
        <p:nvSpPr>
          <p:cNvPr id="48" name="Text 45"/>
          <p:cNvSpPr txBox="1"/>
          <p:nvPr/>
        </p:nvSpPr>
        <p:spPr>
          <a:xfrm>
            <a:off x="6656832" y="4445813"/>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likes chicken</a:t>
            </a:r>
            <a:endParaRPr lang="en-US" sz="950" dirty="0"/>
          </a:p>
        </p:txBody>
      </p:sp>
      <p:sp>
        <p:nvSpPr>
          <p:cNvPr id="49" name="Text 46"/>
          <p:cNvSpPr txBox="1"/>
          <p:nvPr/>
        </p:nvSpPr>
        <p:spPr>
          <a:xfrm>
            <a:off x="322783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يُ</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الخَضْرَوَاتِ</a:t>
            </a:r>
            <a:endParaRPr lang="ar-SA" sz="1600" dirty="0"/>
          </a:p>
        </p:txBody>
      </p:sp>
      <p:sp>
        <p:nvSpPr>
          <p:cNvPr id="50" name="Text 47"/>
          <p:cNvSpPr txBox="1"/>
          <p:nvPr/>
        </p:nvSpPr>
        <p:spPr>
          <a:xfrm>
            <a:off x="318211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doesn’t like vegetables</a:t>
            </a:r>
            <a:endParaRPr lang="en-US" sz="950" dirty="0"/>
          </a:p>
        </p:txBody>
      </p:sp>
      <p:sp>
        <p:nvSpPr>
          <p:cNvPr id="51" name="Text 48"/>
          <p:cNvSpPr txBox="1"/>
          <p:nvPr/>
        </p:nvSpPr>
        <p:spPr>
          <a:xfrm>
            <a:off x="56692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52" name="Shape 49"/>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3" name="Text 50"/>
          <p:cNvSpPr txBox="1"/>
          <p:nvPr/>
        </p:nvSpPr>
        <p:spPr>
          <a:xfrm>
            <a:off x="9994392" y="4724400"/>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54" name="Text 51"/>
          <p:cNvSpPr txBox="1"/>
          <p:nvPr/>
        </p:nvSpPr>
        <p:spPr>
          <a:xfrm>
            <a:off x="6702552" y="4742688"/>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التُّفَّاحَ</a:t>
            </a:r>
            <a:endParaRPr lang="ar-SA" sz="1600" dirty="0"/>
          </a:p>
        </p:txBody>
      </p:sp>
      <p:sp>
        <p:nvSpPr>
          <p:cNvPr id="55" name="Text 52"/>
          <p:cNvSpPr txBox="1"/>
          <p:nvPr/>
        </p:nvSpPr>
        <p:spPr>
          <a:xfrm>
            <a:off x="6656832" y="5059985"/>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likes apples</a:t>
            </a:r>
            <a:endParaRPr lang="en-US" sz="950" dirty="0"/>
          </a:p>
        </p:txBody>
      </p:sp>
      <p:sp>
        <p:nvSpPr>
          <p:cNvPr id="56" name="Text 53"/>
          <p:cNvSpPr txBox="1"/>
          <p:nvPr/>
        </p:nvSpPr>
        <p:spPr>
          <a:xfrm>
            <a:off x="322783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الحَلِيبَ</a:t>
            </a:r>
            <a:endParaRPr lang="ar-SA" sz="1600" dirty="0"/>
          </a:p>
        </p:txBody>
      </p:sp>
      <p:sp>
        <p:nvSpPr>
          <p:cNvPr id="57" name="Text 54"/>
          <p:cNvSpPr txBox="1"/>
          <p:nvPr/>
        </p:nvSpPr>
        <p:spPr>
          <a:xfrm>
            <a:off x="318211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doesn’t like milk</a:t>
            </a:r>
            <a:endParaRPr lang="en-US" sz="950" dirty="0"/>
          </a:p>
        </p:txBody>
      </p:sp>
      <p:sp>
        <p:nvSpPr>
          <p:cNvPr id="58" name="Text 55"/>
          <p:cNvSpPr txBox="1"/>
          <p:nvPr/>
        </p:nvSpPr>
        <p:spPr>
          <a:xfrm>
            <a:off x="56692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994392" y="5338572"/>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61" name="Text 58"/>
          <p:cNvSpPr txBox="1"/>
          <p:nvPr/>
        </p:nvSpPr>
        <p:spPr>
          <a:xfrm>
            <a:off x="6702552" y="5356860"/>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نُ</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الأَرُزَّ</a:t>
            </a:r>
            <a:endParaRPr lang="ar-SA" sz="1600" dirty="0"/>
          </a:p>
        </p:txBody>
      </p:sp>
      <p:sp>
        <p:nvSpPr>
          <p:cNvPr id="62" name="Text 59"/>
          <p:cNvSpPr txBox="1"/>
          <p:nvPr/>
        </p:nvSpPr>
        <p:spPr>
          <a:xfrm>
            <a:off x="6656832" y="5674157"/>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like rice</a:t>
            </a:r>
            <a:endParaRPr lang="en-US" sz="950" dirty="0"/>
          </a:p>
        </p:txBody>
      </p:sp>
      <p:sp>
        <p:nvSpPr>
          <p:cNvPr id="63" name="Text 60"/>
          <p:cNvSpPr txBox="1"/>
          <p:nvPr/>
        </p:nvSpPr>
        <p:spPr>
          <a:xfrm>
            <a:off x="322783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نُ</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البَصَلَ</a:t>
            </a:r>
            <a:endParaRPr lang="ar-SA" sz="1600" dirty="0"/>
          </a:p>
        </p:txBody>
      </p:sp>
      <p:sp>
        <p:nvSpPr>
          <p:cNvPr id="64" name="Text 61"/>
          <p:cNvSpPr txBox="1"/>
          <p:nvPr/>
        </p:nvSpPr>
        <p:spPr>
          <a:xfrm>
            <a:off x="318211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don’t like onions</a:t>
            </a:r>
            <a:endParaRPr lang="en-US" sz="950" dirty="0"/>
          </a:p>
        </p:txBody>
      </p:sp>
      <p:sp>
        <p:nvSpPr>
          <p:cNvPr id="65" name="Text 62"/>
          <p:cNvSpPr txBox="1"/>
          <p:nvPr/>
        </p:nvSpPr>
        <p:spPr>
          <a:xfrm>
            <a:off x="56692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66" name="Text 6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food comes straight after the verb — no “to”, no “of”. Lā goes directly before the verb.</a:t>
            </a:r>
            <a:endParaRPr lang="en-US" sz="11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EAT OR DRINK? AND NOUN GENDER (WEBSITE RULE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Eat, drink — and he or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آكُلُ · أَشْرَبُ · المُذَكَّرُ وَالمُؤَنَّثُ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FOOD · I EAT</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آكُلُ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آكُلُ الأَرُزَّ وَالدَّجَاجَ.</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eat rice and chicken.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ā-ku-lu: long ā, written </a:t>
            </a:r>
            <a:pPr algn="l" indent="0" marL="0">
              <a:buNone/>
            </a:pPr>
            <a:r>
              <a:rPr lang="ar-SA" altLang="en-US" sz="1450" dirty="0">
                <a:solidFill>
                  <a:srgbClr val="1F2A37"/>
                </a:solidFill>
                <a:latin typeface="Amiri" pitchFamily="34" charset="0"/>
                <a:ea typeface="Amiri" pitchFamily="34" charset="-122"/>
                <a:cs typeface="Amiri" pitchFamily="34" charset="-120"/>
              </a:rPr>
              <a:t>آ</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DRINKS · I DRINK</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أَشْرَبُ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أَشْرَبُ المَاءَ وَالعَصِيرَ.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drink water and juice.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with bread or rice!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GENDER · Ta marbūṭa</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قَهْوَةٌ · سَلَطَةٌ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القَهْوَةُ مُرَّةٌ، وَالخُبْزُ طَازَجٌ.</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coffee is bitter, and the bread is fresh.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Words ending in </a:t>
            </a:r>
            <a:pPr algn="l" indent="0" marL="0">
              <a:buNone/>
            </a:pPr>
            <a:r>
              <a:rPr lang="ar-SA" altLang="en-US" sz="1450" dirty="0">
                <a:solidFill>
                  <a:srgbClr val="1F2A37"/>
                </a:solidFill>
                <a:latin typeface="Amiri" pitchFamily="34" charset="0"/>
                <a:ea typeface="Amiri" pitchFamily="34" charset="-122"/>
                <a:cs typeface="Amiri" pitchFamily="34" charset="-120"/>
              </a:rPr>
              <a:t>ة</a:t>
            </a:r>
            <a:pPr algn="l" indent="0" marL="0">
              <a:buNone/>
            </a:pPr>
            <a:r>
              <a:rPr lang="en-US" sz="1100" dirty="0">
                <a:solidFill>
                  <a:srgbClr val="1F2A37"/>
                </a:solidFill>
                <a:latin typeface="Calibri" pitchFamily="34" charset="0"/>
                <a:ea typeface="Calibri" pitchFamily="34" charset="-122"/>
                <a:cs typeface="Calibri" pitchFamily="34" charset="-120"/>
              </a:rPr>
              <a:t> are usually feminine.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milk is a drink, so it takes ashrabu.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أَشْرَبُ الحَلِيبَ.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آكُلُ الحَلِيبَ.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Using </a:t>
            </a:r>
            <a:pPr algn="l" indent="0" marL="0">
              <a:buNone/>
            </a:pPr>
            <a:r>
              <a:rPr lang="ar-SA" altLang="en-US" sz="3100" b="1" dirty="0">
                <a:solidFill>
                  <a:srgbClr val="1B3B6F"/>
                </a:solidFill>
                <a:latin typeface="Amiri" pitchFamily="34" charset="0"/>
                <a:ea typeface="Amiri" pitchFamily="34" charset="-122"/>
                <a:cs typeface="Amiri" pitchFamily="34" charset="-120"/>
              </a:rPr>
              <a:t>أُحِبُّ / لَا أُحِبُّ</a:t>
            </a:r>
            <a:pPr algn="l" indent="0" marL="0">
              <a:buNone/>
            </a:pPr>
            <a:r>
              <a:rPr lang="en-US" sz="2400" b="1" dirty="0">
                <a:solidFill>
                  <a:srgbClr val="1B3B6F"/>
                </a:solidFill>
                <a:latin typeface="Cambria" pitchFamily="34" charset="0"/>
                <a:ea typeface="Cambria" pitchFamily="34" charset="-122"/>
                <a:cs typeface="Cambria" pitchFamily="34" charset="-120"/>
              </a:rPr>
              <a:t> with food nouns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اِسْتِعْمَالُ أُحِبُّ وَلَا أُحِبُّ مَعَ أَسْمَاءِ الطَّعَامِ</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Say what you like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أُحِبُّ + الطَّعَامَ / الشَّرَابَ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الخُبْزَ.   ·   أُحِبُّ العَصِيرَ.   ·   أُحِبُّ التُّفَّاحَ وَالمَوْزَ.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Make the opinion negative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أُحِبُّ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أُحِبُّ السَّمَكَ.   ·   لَا أُحِبُّ القَهْوَةَ.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Notice noun gender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مُذَكَّرٌ: خُبْزٌ · مُؤَنَّثٌ: قَهْوَةٌ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الخُبْزُ طَازَجٌ.   ·   القَهْوَةُ مُرَّةٌ.   ·   السَّلَطَةُ صِحِّيَّةٌ.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another person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هَلْ تُحِبُّ...؟ / هَلْ تُحِبِّينَ...؟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تُحِبُّ الجُبْنَ؟   ·   هَلْ تُحِبِّينَ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drink the juice.”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العَصِيرَ.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يَشْرَبُ العَصِيرَ.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العَصِيرَ.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the sentence negative: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القَهْوَةَ.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القَهْوَةَ.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القَهْوَةَ؟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القَهْوَةَ أُحِبُّ.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“Do you like fish?”</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السَّمَكَ؟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السَّمَكَ؟</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السَّمَكُ؟</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correct action?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الحَلِيبَ.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الحَلِيبَ.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الخُبْزَ.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drink the juice.”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العَصِيرَ.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يَشْرَبُ العَصِيرَ.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 العَصِيرَ.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for drinking.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the sentence negative: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القَهْوَةَ.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القَهْوَةَ.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أُحِبُّ القَهْوَةَ؟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القَهْوَةَ أُحِبُّ.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Put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immediately before the present-tense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“Do you like fish?”</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تُحِبِّينَ السَّمَكَ؟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 السَّمَكَ؟</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السَّمَكُ؟</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a:t>
            </a:r>
            <a:pPr algn="l" indent="0" marL="0">
              <a:buNone/>
            </a:pPr>
            <a:r>
              <a:rPr lang="en-US" sz="1050" i="1" dirty="0">
                <a:solidFill>
                  <a:srgbClr val="8A6D1E"/>
                </a:solidFill>
                <a:latin typeface="Calibri" pitchFamily="34" charset="0"/>
                <a:ea typeface="Calibri" pitchFamily="34" charset="-122"/>
                <a:cs typeface="Calibri" pitchFamily="34" charset="-120"/>
              </a:rPr>
              <a:t> addresses a male listener.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correct action?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 الحَلِيبَ.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الحَلِيبَ.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أَشْرَبُ الخُبْزَ.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Milk is a drink, so use </a:t>
            </a:r>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build my food sentences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Like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أُحِبُّ</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الخُبْزَ وَالجُبْنَ.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 food. No preposition.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a:t>
            </a:r>
            <a:pPr rtl="1" algn="ctr" indent="0" marL="0">
              <a:buNone/>
            </a:pPr>
            <a:r>
              <a:rPr lang="ar-SA" altLang="en-US" sz="2800" b="1" dirty="0">
                <a:solidFill>
                  <a:srgbClr val="1D5FBF"/>
                </a:solidFill>
                <a:latin typeface="Amiri" pitchFamily="34" charset="0"/>
                <a:ea typeface="Amiri" pitchFamily="34" charset="-122"/>
                <a:cs typeface="Amiri" pitchFamily="34" charset="-120"/>
              </a:rPr>
              <a:t>أُحِبُّ</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التُّفَّاحَ أَيْضًا.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 joins, </a:t>
            </a:r>
            <a:pPr algn="l" indent="0" marL="0">
              <a:buNone/>
            </a:pPr>
            <a:r>
              <a:rPr lang="ar-SA" altLang="en-US" sz="1500" dirty="0">
                <a:solidFill>
                  <a:srgbClr val="1F2A37"/>
                </a:solidFill>
                <a:latin typeface="Amiri" pitchFamily="34" charset="0"/>
                <a:ea typeface="Amiri" pitchFamily="34" charset="-122"/>
                <a:cs typeface="Amiri" pitchFamily="34" charset="-120"/>
              </a:rPr>
              <a:t>أَيْضًا</a:t>
            </a:r>
            <a:pPr algn="l" indent="0" marL="0">
              <a:buNone/>
            </a:pPr>
            <a:r>
              <a:rPr lang="en-US" sz="1150" dirty="0">
                <a:solidFill>
                  <a:srgbClr val="1F2A37"/>
                </a:solidFill>
                <a:latin typeface="Calibri" pitchFamily="34" charset="0"/>
                <a:ea typeface="Calibri" pitchFamily="34" charset="-122"/>
                <a:cs typeface="Calibri" pitchFamily="34" charset="-120"/>
              </a:rPr>
              <a:t> = also.</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Don’t 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أُحِبُّ السَّمَكَ، وَلَكِنِّي أُحِبُّ الدَّجَاجَ.</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Lā before the verb; but I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Drink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أَشْرَبُ</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المَاءَ وَالعَصِيرَ كُلَّ يَوْمٍ.</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Drinks → ashrabu.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LIKE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DRINK</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34" charset="0"/>
                <a:ea typeface="Amiri" pitchFamily="34" charset="-122"/>
                <a:cs typeface="Amiri" pitchFamily="34" charset="-120"/>
              </a:rPr>
              <a:t>أُحِبُّ</a:t>
            </a:r>
            <a:pPr rtl="1" algn="r" indent="0" marL="0">
              <a:buNone/>
            </a:pPr>
            <a:r>
              <a:rPr lang="ar-SA" altLang="en-US" sz="1900" b="1" dirty="0">
                <a:solidFill>
                  <a:srgbClr val="1B3B6F"/>
                </a:solidFill>
                <a:latin typeface="Amiri" pitchFamily="34" charset="0"/>
                <a:ea typeface="Amiri" pitchFamily="34" charset="-122"/>
                <a:cs typeface="Amiri" pitchFamily="34" charset="-120"/>
              </a:rPr>
              <a:t> الخُبْزَ وَالجُبْنَ، وَ</a:t>
            </a:r>
            <a:pPr rtl="1" algn="r" indent="0" marL="0">
              <a:buNone/>
            </a:pPr>
            <a:r>
              <a:rPr lang="ar-SA" altLang="en-US" sz="1900" b="1" dirty="0">
                <a:solidFill>
                  <a:srgbClr val="1D5FBF"/>
                </a:solidFill>
                <a:latin typeface="Amiri" pitchFamily="34" charset="0"/>
                <a:ea typeface="Amiri" pitchFamily="34" charset="-122"/>
                <a:cs typeface="Amiri" pitchFamily="34" charset="-120"/>
              </a:rPr>
              <a:t>أُحِبُّ</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التُّفَّاحَ أَيْضًا. </a:t>
            </a:r>
            <a:pPr rtl="1" algn="r" indent="0" marL="0">
              <a:buNone/>
            </a:pPr>
            <a:r>
              <a:rPr lang="ar-SA" altLang="en-US" sz="1900" b="1" dirty="0">
                <a:solidFill>
                  <a:srgbClr val="D6336C"/>
                </a:solidFill>
                <a:latin typeface="Amiri" pitchFamily="34" charset="0"/>
                <a:ea typeface="Amiri" pitchFamily="34" charset="-122"/>
                <a:cs typeface="Amiri" pitchFamily="34" charset="-120"/>
              </a:rPr>
              <a:t>لَا</a:t>
            </a:r>
            <a:pPr rtl="1" algn="r" indent="0" marL="0">
              <a:buNone/>
            </a:pPr>
            <a:r>
              <a:rPr lang="ar-SA" altLang="en-US" sz="1900" b="1" dirty="0">
                <a:solidFill>
                  <a:srgbClr val="1B3B6F"/>
                </a:solidFill>
                <a:latin typeface="Amiri" pitchFamily="34" charset="0"/>
                <a:ea typeface="Amiri" pitchFamily="34" charset="-122"/>
                <a:cs typeface="Amiri" pitchFamily="34" charset="-120"/>
              </a:rPr>
              <a:t> أُحِبُّ السَّمَكَ، وَلَكِنِّي أُحِبُّ الدَّجَاجَ. آكُلُ الأَرُزَّ كَثِيرًا، وَ</a:t>
            </a:r>
            <a:pPr rtl="1" algn="r" indent="0" marL="0">
              <a:buNone/>
            </a:pPr>
            <a:r>
              <a:rPr lang="ar-SA" altLang="en-US" sz="1900" b="1" dirty="0">
                <a:solidFill>
                  <a:srgbClr val="0E7C86"/>
                </a:solidFill>
                <a:latin typeface="Amiri" pitchFamily="34" charset="0"/>
                <a:ea typeface="Amiri" pitchFamily="34" charset="-122"/>
                <a:cs typeface="Amiri" pitchFamily="34" charset="-120"/>
              </a:rPr>
              <a:t>أَشْرَبُ</a:t>
            </a:r>
            <a:pPr rtl="1" algn="r" indent="0" marL="0">
              <a:buNone/>
            </a:pPr>
            <a:r>
              <a:rPr lang="ar-SA" altLang="en-US" sz="1900" b="1" dirty="0">
                <a:solidFill>
                  <a:srgbClr val="1B3B6F"/>
                </a:solidFill>
                <a:latin typeface="Amiri" pitchFamily="34" charset="0"/>
                <a:ea typeface="Amiri" pitchFamily="34" charset="-122"/>
                <a:cs typeface="Amiri" pitchFamily="34" charset="-120"/>
              </a:rPr>
              <a:t> المَاءَ وَالعَصِيرَ كُلَّ يَوْمٍ.</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like bread and cheese, and I like apples too. I don’t like fish, but I like chicken. I eat rice a lot, and I drink water and juice every day.</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 الخُبْزَ وَالجُبْنَ.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like bread and cheese.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أُحِبُّ, use the food as the object.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أُحِبُّ القَهْوَةَ.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do not like coffee.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Put لَا directly before the present-tense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أَشْرَبُ المَاءَ وَالعَصِيرَ.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drink water and juice.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أَشْرَبُ with drinks.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تُحِبُّ السَّمَكَ؟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like 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هَلْ to make a yes/no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FOOD AND DRINKS”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Food pictures: match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apple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milk</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حَلِيبٌ.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سَلَطَةٌ.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تُفَّاحَةٌ.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apple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تُفَّاحَةٌ.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an apple.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milk</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حَلِيبٌ.</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milk.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سَلَطَةٌ.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salad.</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or drink?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دَجَاجٌ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خِيَارٌ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قَهْوَةٌ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طَعَامٌ · food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شَرَابٌ · drink</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طَعَامٌ · food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دَجَاجٌ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خِيَارٌ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شَرَابٌ · drink</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قَهْوَةٌ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begins with </a:t>
            </a:r>
            <a:pPr algn="l" indent="0" marL="0">
              <a:buNone/>
            </a:pPr>
            <a:r>
              <a:rPr lang="ar-SA" altLang="en-US" sz="1650" b="1" dirty="0">
                <a:solidFill>
                  <a:srgbClr val="1B3B6F"/>
                </a:solidFill>
                <a:latin typeface="Amiri" pitchFamily="34" charset="0"/>
                <a:ea typeface="Amiri" pitchFamily="34" charset="-122"/>
                <a:cs typeface="Amiri" pitchFamily="34" charset="-120"/>
              </a:rPr>
              <a:t>أَـ</a:t>
            </a:r>
            <a:pPr algn="l" indent="0" marL="0">
              <a:buNone/>
            </a:pPr>
            <a:r>
              <a:rPr lang="en-US" sz="1250" b="1" dirty="0">
                <a:solidFill>
                  <a:srgbClr val="1B3B6F"/>
                </a:solidFill>
                <a:latin typeface="Calibri" pitchFamily="34" charset="0"/>
                <a:ea typeface="Calibri" pitchFamily="34" charset="-122"/>
                <a:cs typeface="Calibri" pitchFamily="34" charset="-120"/>
              </a:rPr>
              <a:t> because the speaker is “I”?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تَأْكُلُ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___ التُّفَّاحَ؟</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تُحِبُّ</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يُحِبُّ</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العَصِيرُ</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begins with </a:t>
            </a:r>
            <a:pPr algn="l" indent="0" marL="0">
              <a:buNone/>
            </a:pPr>
            <a:r>
              <a:rPr lang="ar-SA" altLang="en-US" sz="1650" b="1" dirty="0">
                <a:solidFill>
                  <a:srgbClr val="1B3B6F"/>
                </a:solidFill>
                <a:latin typeface="Amiri" pitchFamily="34" charset="0"/>
                <a:ea typeface="Amiri" pitchFamily="34" charset="-122"/>
                <a:cs typeface="Amiri" pitchFamily="34" charset="-120"/>
              </a:rPr>
              <a:t>أَـ</a:t>
            </a:r>
            <a:pPr algn="l" indent="0" marL="0">
              <a:buNone/>
            </a:pPr>
            <a:r>
              <a:rPr lang="en-US" sz="1250" b="1" dirty="0">
                <a:solidFill>
                  <a:srgbClr val="1B3B6F"/>
                </a:solidFill>
                <a:latin typeface="Calibri" pitchFamily="34" charset="0"/>
                <a:ea typeface="Calibri" pitchFamily="34" charset="-122"/>
                <a:cs typeface="Calibri" pitchFamily="34" charset="-120"/>
              </a:rPr>
              <a:t> because the speaker is “I”?</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يَأْكُلُ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تَأْكُلُ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آكُلُ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آكُلُ</a:t>
            </a:r>
            <a:pPr algn="l" indent="0" marL="0">
              <a:buNone/>
            </a:pPr>
            <a:r>
              <a:rPr lang="en-US" sz="1050" i="1" dirty="0">
                <a:solidFill>
                  <a:srgbClr val="8A6D1E"/>
                </a:solidFill>
                <a:latin typeface="Calibri" pitchFamily="34" charset="0"/>
                <a:ea typeface="Calibri" pitchFamily="34" charset="-122"/>
                <a:cs typeface="Calibri" pitchFamily="34" charset="-120"/>
              </a:rPr>
              <a:t> means “I eat”.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___ التُّفَّاحَ؟</a:t>
            </a:r>
            <a:endParaRPr lang="ar-SA" sz="150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تُحِبُّ</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يُحِبُّ</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تُحِبُّ</a:t>
            </a:r>
            <a:pPr algn="l" indent="0" marL="0">
              <a:buNone/>
            </a:pPr>
            <a:r>
              <a:rPr lang="en-US" sz="1050" i="1" dirty="0">
                <a:solidFill>
                  <a:srgbClr val="8A6D1E"/>
                </a:solidFill>
                <a:latin typeface="Calibri" pitchFamily="34" charset="0"/>
                <a:ea typeface="Calibri" pitchFamily="34" charset="-122"/>
                <a:cs typeface="Calibri" pitchFamily="34" charset="-120"/>
              </a:rPr>
              <a:t> when asking a male listener.</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الخُبْزُ</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القَهْوَةُ</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العَصِيرُ</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قَهْوَةٌ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أُحِبُّ إِلَى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a:t>
            </a:r>
            <a:pPr algn="l" indent="0" marL="0">
              <a:buNone/>
            </a:pPr>
            <a:r>
              <a:rPr lang="ar-SA" altLang="en-US" sz="1700" dirty="0">
                <a:solidFill>
                  <a:srgbClr val="5A6472"/>
                </a:solidFill>
                <a:latin typeface="Amiri" pitchFamily="34" charset="0"/>
                <a:ea typeface="Amiri" pitchFamily="34" charset="-122"/>
                <a:cs typeface="Amiri" pitchFamily="34" charset="-120"/>
              </a:rPr>
              <a:t>أُحِبُّ</a:t>
            </a:r>
            <a:pPr algn="l" indent="0" marL="0">
              <a:buNone/>
            </a:pPr>
            <a:r>
              <a:rPr lang="en-US" sz="1300" i="1" dirty="0">
                <a:solidFill>
                  <a:srgbClr val="5A6472"/>
                </a:solidFill>
                <a:latin typeface="Calibri" pitchFamily="34" charset="0"/>
                <a:ea typeface="Calibri" pitchFamily="34" charset="-122"/>
                <a:cs typeface="Calibri" pitchFamily="34" charset="-120"/>
              </a:rPr>
              <a:t> need a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أَحِبُّ السَّمَكَ.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vowel starts “I like”?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أَكُلُ الخُبْزَ.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is “I eat” spelt?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أُحِبُّ إِلَى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أُحِبُّ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أُحِبُّ</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do not add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أَحِبُّ السَّمَكَ.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أُحِبُّ السَّمَكَ.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form is </a:t>
            </a:r>
            <a:pPr algn="l" indent="0" marL="0">
              <a:buNone/>
            </a:pPr>
            <a:r>
              <a:rPr lang="ar-SA" altLang="en-US" sz="1500" b="1" dirty="0">
                <a:solidFill>
                  <a:srgbClr val="1B3B6F"/>
                </a:solidFill>
                <a:latin typeface="Amiri" pitchFamily="34" charset="0"/>
                <a:ea typeface="Amiri" pitchFamily="34" charset="-122"/>
                <a:cs typeface="Amiri" pitchFamily="34" charset="-120"/>
              </a:rPr>
              <a:t>أُحِبُّ</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أَكُلُ الخُبْزَ.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آكُلُ الخُبْزَ.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آكُلُ</a:t>
            </a:r>
            <a:pPr algn="l" indent="0" marL="0">
              <a:buNone/>
            </a:pPr>
            <a:r>
              <a:rPr lang="en-US" sz="1150" b="1" dirty="0">
                <a:solidFill>
                  <a:srgbClr val="1B3B6F"/>
                </a:solidFill>
                <a:latin typeface="Calibri" pitchFamily="34" charset="0"/>
                <a:ea typeface="Calibri" pitchFamily="34" charset="-122"/>
                <a:cs typeface="Calibri" pitchFamily="34" charset="-120"/>
              </a:rPr>
              <a:t> begins with a long ā written </a:t>
            </a:r>
            <a:pPr algn="l" indent="0" marL="0">
              <a:buNone/>
            </a:pPr>
            <a:r>
              <a:rPr lang="ar-SA" altLang="en-US" sz="1500" b="1" dirty="0">
                <a:solidFill>
                  <a:srgbClr val="1B3B6F"/>
                </a:solidFill>
                <a:latin typeface="Amiri" pitchFamily="34" charset="0"/>
                <a:ea typeface="Amiri" pitchFamily="34" charset="-122"/>
                <a:cs typeface="Amiri" pitchFamily="34" charset="-120"/>
              </a:rPr>
              <a:t>آ</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does Huda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foods does Huda like together?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 and beans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she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bananas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drinks does she have every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and orange juice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and milk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 and lemon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have as a snack?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lettuce and onions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nuts or biscuits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prawns and rice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أُحِبُّ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أَشْرَبُ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 أُحِبُّ الخُبْزَ وَالجُبْنَ وَالتُّفَّاحَ.</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Huda. I like bread, cheese and apples.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الوَجْبَةِ الخَفِيفَةِ آكُلُ المُكَسَّرَاتِ أَوِ البِسْكُوِيتَ.</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a snack I eat nuts or biscuits.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السَّمَكَ، وَلَا أَشْرَبُ القَهْوَةَ.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like fish, and I don’t drink coffee.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أَشْرَبُ المَاءَ وَعَصِيرَ البُرْتُقَالِ كُلَّ يَوْمٍ.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drink water and orange juice every day.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foods does Huda like together?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and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 and beans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الخُبْزَ وَالجُبْنَ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she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bananas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mentions </a:t>
            </a:r>
            <a:pPr algn="l" indent="0" marL="0">
              <a:buNone/>
            </a:pPr>
            <a:r>
              <a:rPr lang="ar-SA" altLang="en-US" sz="1350" dirty="0">
                <a:solidFill>
                  <a:srgbClr val="8A6D1E"/>
                </a:solidFill>
                <a:latin typeface="Amiri" pitchFamily="34" charset="0"/>
                <a:ea typeface="Amiri" pitchFamily="34" charset="-122"/>
                <a:cs typeface="Amiri" pitchFamily="34" charset="-120"/>
              </a:rPr>
              <a:t>التُّفَّاحَ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drink?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coffee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وَلَا أَشْرَبُ القَهْوَةَ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drinks does she have every 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and orange juice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 and milk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 and lemon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drinks </a:t>
            </a:r>
            <a:pPr algn="l" indent="0" marL="0">
              <a:buNone/>
            </a:pPr>
            <a:r>
              <a:rPr lang="ar-SA" altLang="en-US" sz="1350" dirty="0">
                <a:solidFill>
                  <a:srgbClr val="8A6D1E"/>
                </a:solidFill>
                <a:latin typeface="Amiri" pitchFamily="34" charset="0"/>
                <a:ea typeface="Amiri" pitchFamily="34" charset="-122"/>
                <a:cs typeface="Amiri" pitchFamily="34" charset="-120"/>
              </a:rPr>
              <a:t>المَاءَ وَعَصِيرَ البُرْتُقَالِ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have as a snack?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lettuce and onions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nuts or biscuits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prawns and rice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آكُلُ المُكَسَّرَاتِ أَوِ البِسْكُوِيتَ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أُحِبُّ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أَشْرَبُ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طَعَامُكَ المُفَضَّلُ؟ / مَا طَعَامُكِ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السَّمَكَ؟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تَشْرَبُ كُلَّ يَوْمٍ؟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الطَّعَامُ الَّذِي لَا تُحِبُّهُ؟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طَعَامِي المُفَضَّلُ هُوَ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أُحِبُّ … / لَا، لَا أُحِبُّ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أَشْرَبُ ___ وَ ___ كُلَّ يَوْمٍ.</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 وَلَكِنِّي أُحِبُّ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تُحِبِّينَ السَّلَطَةَ؟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 like salad?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أُحِبُّ السَّلَطَةَ كَثِيرًا.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like salad a lot.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eight foods and four drinks with picture or English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likes, one dislike, one drink. Use the Core frames and the word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Ask and answer four preference questions, then report one classmate’s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foods, two drinks, وَ and one negative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one-item forms (tuffāḥa = one apple) and produce an 8-sentence food profile.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food profile with وَلَكِنْ, one / many (تُفَّاحَةٌ) and a family member’s likes.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السَّمَكَ، وَلَكِنِّي أُحِبُّ الدَّجَاجَ.</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fish, but I like chicken.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التُّفَّاحَ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apples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likes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لَا تُحِبُّ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doesn’t like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أَشْرَبُ القَهْوَةَ.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drink coffee.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______ كَثِيرًا.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eat … a lot.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أَشْرَبُ ______ كُلَّ يَوْمٍ.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drink … every day.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food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خُبْزٌ  ·  أَرُزٌّ  ·  دَجَاجٌ  ·  سَمَكٌ  ·  جُبْنٌ  ·  تُفَّاحٌ  ·  مَوْزٌ  ·  سَلَطَةٌ  ·  مَاءٌ  ·  حَلِيبٌ  ·  عَصِيرٌ  ·  شَايٌ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5–6 sentences about foods and drinks you like and dislike. Include at least four food words, two drinks, </a:t>
            </a:r>
            <a:pPr algn="l" indent="0" marL="0">
              <a:buNone/>
            </a:pPr>
            <a:r>
              <a:rPr lang="ar-SA" altLang="en-US" sz="1750" b="1" dirty="0">
                <a:solidFill>
                  <a:srgbClr val="1F2A37"/>
                </a:solidFill>
                <a:latin typeface="Amiri" pitchFamily="34" charset="0"/>
                <a:ea typeface="Amiri" pitchFamily="34" charset="-122"/>
                <a:cs typeface="Amiri" pitchFamily="34" charset="-120"/>
              </a:rPr>
              <a:t>وَ</a:t>
            </a:r>
            <a:pPr algn="l" indent="0" marL="0">
              <a:buNone/>
            </a:pPr>
            <a:r>
              <a:rPr lang="en-US" sz="1350" b="1" dirty="0">
                <a:solidFill>
                  <a:srgbClr val="1F2A37"/>
                </a:solidFill>
                <a:latin typeface="Calibri" pitchFamily="34" charset="0"/>
                <a:ea typeface="Calibri" pitchFamily="34" charset="-122"/>
                <a:cs typeface="Calibri" pitchFamily="34" charset="-120"/>
              </a:rPr>
              <a:t> and one negative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أُحِبُّ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لَا أُحِبُّ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آكُلُ</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أَشْرَبُ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Join ideas with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وَلٰكِنْ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the Arabic spelling against the lesson bank.</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تُفَّاحَةً كُلَّ 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eat an apple every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خُصُوصًا المَوْزَ وَالعِنَبَ</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especially bananas and grapes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الفَاكِهَةَ أَكْثَرَ مِنَ الحَلْوَى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like fruit more than sweets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تُحِبُّ السَّلَطَةَ، وَأَبِي يُحِبُّ الحَسَاءَ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mother likes salad, and my father likes soup</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آكُلُ ... وَلَا أَشْرَبُ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neither eat … nor drink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الخُبْزَ وَالجُبْنَ، وَأُحِبُّ التُّفَّاحَ أَيْضًا. لَا أُحِبُّ السَّمَكَ، وَلٰكِنِّي أُحِبُّ الدَّجَاجَ. آكُلُ الأَرُزَّ كَثِيرًا، وَأَشْرَبُ المَاءَ وَالعَصِيرَ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bread and cheese, and I like apples too. I don’t like fish, but I like chicken. I eat rice a lot, and I drink water and juice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like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dislike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drink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أُحِبُّ</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لَا أُحِبُّ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Food with </a:t>
            </a:r>
            <a:pPr algn="l" indent="0" marL="0">
              <a:buNone/>
            </a:pPr>
            <a:r>
              <a:rPr lang="ar-SA" altLang="en-US" sz="1700" dirty="0">
                <a:solidFill>
                  <a:srgbClr val="1F2A37"/>
                </a:solidFill>
                <a:latin typeface="Amiri" pitchFamily="34" charset="0"/>
                <a:ea typeface="Amiri" pitchFamily="34" charset="-122"/>
                <a:cs typeface="Amiri" pitchFamily="34" charset="-120"/>
              </a:rPr>
              <a:t>آكُلُ</a:t>
            </a:r>
            <a:pPr algn="l" indent="0" marL="0">
              <a:buNone/>
            </a:pPr>
            <a:r>
              <a:rPr lang="en-US" sz="1300" dirty="0">
                <a:solidFill>
                  <a:srgbClr val="1F2A37"/>
                </a:solidFill>
                <a:latin typeface="Calibri" pitchFamily="34" charset="0"/>
                <a:ea typeface="Calibri" pitchFamily="34" charset="-122"/>
                <a:cs typeface="Calibri" pitchFamily="34" charset="-120"/>
              </a:rPr>
              <a:t>, drinks with </a:t>
            </a:r>
            <a:pPr algn="l" indent="0" marL="0">
              <a:buNone/>
            </a:pPr>
            <a:r>
              <a:rPr lang="ar-SA" altLang="en-US" sz="1700" dirty="0">
                <a:solidFill>
                  <a:srgbClr val="1F2A37"/>
                </a:solidFill>
                <a:latin typeface="Amiri" pitchFamily="34" charset="0"/>
                <a:ea typeface="Amiri" pitchFamily="34" charset="-122"/>
                <a:cs typeface="Amiri" pitchFamily="34" charset="-120"/>
              </a:rPr>
              <a:t>أَشْرَبُ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a:t>
            </a:r>
            <a:pPr algn="l" indent="0" marL="0">
              <a:buNone/>
            </a:pPr>
            <a:r>
              <a:rPr lang="ar-SA" altLang="en-US" sz="1700" dirty="0">
                <a:solidFill>
                  <a:srgbClr val="1F2A37"/>
                </a:solidFill>
                <a:latin typeface="Amiri" pitchFamily="34" charset="0"/>
                <a:ea typeface="Amiri" pitchFamily="34" charset="-122"/>
                <a:cs typeface="Amiri" pitchFamily="34" charset="-120"/>
              </a:rPr>
              <a:t>أُحِبُّ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joined ideas with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وَلَكِنْ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item: </a:t>
            </a:r>
            <a:pPr algn="l" indent="0" marL="0">
              <a:buNone/>
            </a:pPr>
            <a:r>
              <a:rPr lang="ar-SA" altLang="en-US" sz="1700" dirty="0">
                <a:solidFill>
                  <a:srgbClr val="1F2A37"/>
                </a:solidFill>
                <a:latin typeface="Amiri" pitchFamily="34" charset="0"/>
                <a:ea typeface="Amiri" pitchFamily="34" charset="-122"/>
                <a:cs typeface="Amiri" pitchFamily="34" charset="-120"/>
              </a:rPr>
              <a:t>تُفَّاحَةٌ، مَوْزَةٌ</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عَصِيرٌ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drink”?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fruit?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مَوْزٌ وَعِنَبٌ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أَرُزٌّ وَخُبْزٌ</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دَجَاجٌ وَسَمَكٌ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water?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حَلِيبٌ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عَصِيرٌ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مَاءٌ</a:t>
            </a:r>
            <a:pPr algn="l" indent="0" marL="0">
              <a:buNone/>
            </a:pPr>
            <a:r>
              <a:rPr lang="en-US" sz="1050" i="1" dirty="0">
                <a:solidFill>
                  <a:srgbClr val="8A6D1E"/>
                </a:solidFill>
                <a:latin typeface="Calibri" pitchFamily="34" charset="0"/>
                <a:ea typeface="Calibri" pitchFamily="34" charset="-122"/>
                <a:cs typeface="Calibri" pitchFamily="34" charset="-120"/>
              </a:rPr>
              <a:t> means water.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drink”?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آكُلُ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أَشْرَبُ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أُفَضِّلُ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 means I drink.</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fruit?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مَوْزٌ وَعِنَبٌ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أَرُزٌّ وَخُبْزٌ</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دَجَاجٌ وَسَمَكٌ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Bananas and grapes are fruit.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shopping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نَحْنُ نَشْتَرِي خُبْزًا وَأَرُزًّا وَدَجَاجًا لِلْعَشَاءِ. نَحْتَاجُ أَيْضًا إِلَى زَيْتٍ وَمِلْحٍ وَقَلِيلٍ مِنَ السُّكَّرِ. أُمِّي تُحِبُّ السَّلَطَةَ مَعَ الخَسِّ وَالطَّمَاطِمِ وَالبَصَلِ، وَأَبِي يُحِبُّ الحَسَاءَ. أَخِي لَا يُحِبُّ الخَضْرَوَاتِ، وَلٰكِنَّهُ يُحِبُّ الفَاكِهَةَ، خُصُوصًا المَوْزَ وَالعِنَبَ. نَشْتَرِي أَحْيَانًا الرُّوبِيَانَ وَمَأْكُولَاتٍ بَحْرِيَّةً، وَنَشْتَرِي أَيْضًا حَلِيبًا وَمَاءً.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نَشْتَرِي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buy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لِلْعَشَاءِ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dinner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نَحْتَاجُ إِلَى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need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زَيْتٍ · مِلْحٍ</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oil · salt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قَلِيلٍ مِنَ السُّكَّرِ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little sugar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الخَسِّ · البَصَلِ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lettuce · onions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الحَسَاءَ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وَلَكِنَّهُ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but he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خُصُوصًا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especially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الرُّوبِيَانَ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prawns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family buying for dinner?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potatoes and soup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rice and chicken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 eggs and cheese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salad?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dislike?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he especially like?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oranges and dates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bananas and grapes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 and strawberries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drinks are bought?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 and water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 and tea</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 and milk</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three ingredients are needed in addition to the main foods?</a:t>
            </a:r>
            <a:endParaRPr lang="en-US" sz="9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cheese, yoghurt and milk</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coffee and juice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salt and a little sugar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included in the mother’s salad?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potatoes, carrots and beans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chicken and fish</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lettuce, tomatoes and onions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9" name="Shape 106"/>
          <p:cNvSpPr/>
          <p:nvPr/>
        </p:nvSpPr>
        <p:spPr>
          <a:xfrm>
            <a:off x="9178290" y="4288536"/>
            <a:ext cx="310896" cy="310896"/>
          </a:xfrm>
          <a:prstGeom prst="ellipse">
            <a:avLst/>
          </a:prstGeom>
          <a:solidFill>
            <a:srgbClr val="1B3B6F"/>
          </a:solidFill>
          <a:ln w="12700">
            <a:solidFill>
              <a:srgbClr val="1B3B6F"/>
            </a:solidFill>
            <a:prstDash val="solid"/>
          </a:ln>
        </p:spPr>
      </p:sp>
      <p:sp>
        <p:nvSpPr>
          <p:cNvPr id="110" name="Text 107"/>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11" name="Text 108"/>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seafood is mentioned specifically?</a:t>
            </a:r>
            <a:endParaRPr lang="en-US" sz="1250" dirty="0"/>
          </a:p>
        </p:txBody>
      </p:sp>
      <p:sp>
        <p:nvSpPr>
          <p:cNvPr id="112" name="Shape 109"/>
          <p:cNvSpPr/>
          <p:nvPr/>
        </p:nvSpPr>
        <p:spPr>
          <a:xfrm>
            <a:off x="9233154" y="4873752"/>
            <a:ext cx="256032" cy="256032"/>
          </a:xfrm>
          <a:prstGeom prst="ellipse">
            <a:avLst/>
          </a:prstGeom>
          <a:solidFill>
            <a:srgbClr val="F4F1EA"/>
          </a:solidFill>
          <a:ln w="12700">
            <a:solidFill>
              <a:srgbClr val="F4F1EA"/>
            </a:solidFill>
            <a:prstDash val="solid"/>
          </a:ln>
        </p:spPr>
      </p:sp>
      <p:sp>
        <p:nvSpPr>
          <p:cNvPr id="113" name="Text 110"/>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4" name="Text 111"/>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prawns</a:t>
            </a:r>
            <a:endParaRPr lang="en-US" sz="1250" dirty="0"/>
          </a:p>
        </p:txBody>
      </p:sp>
      <p:sp>
        <p:nvSpPr>
          <p:cNvPr id="115" name="Shape 112"/>
          <p:cNvSpPr/>
          <p:nvPr/>
        </p:nvSpPr>
        <p:spPr>
          <a:xfrm>
            <a:off x="9233154" y="5330952"/>
            <a:ext cx="256032" cy="256032"/>
          </a:xfrm>
          <a:prstGeom prst="ellipse">
            <a:avLst/>
          </a:prstGeom>
          <a:solidFill>
            <a:srgbClr val="F4F1EA"/>
          </a:solidFill>
          <a:ln w="12700">
            <a:solidFill>
              <a:srgbClr val="F4F1EA"/>
            </a:solidFill>
            <a:prstDash val="solid"/>
          </a:ln>
        </p:spPr>
      </p:sp>
      <p:sp>
        <p:nvSpPr>
          <p:cNvPr id="116" name="Text 113"/>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7" name="Text 114"/>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tuna</a:t>
            </a:r>
            <a:endParaRPr lang="en-US" sz="1250" dirty="0"/>
          </a:p>
        </p:txBody>
      </p:sp>
      <p:sp>
        <p:nvSpPr>
          <p:cNvPr id="118" name="Shape 115"/>
          <p:cNvSpPr/>
          <p:nvPr/>
        </p:nvSpPr>
        <p:spPr>
          <a:xfrm>
            <a:off x="9233154" y="5788152"/>
            <a:ext cx="256032" cy="256032"/>
          </a:xfrm>
          <a:prstGeom prst="ellipse">
            <a:avLst/>
          </a:prstGeom>
          <a:solidFill>
            <a:srgbClr val="F4F1EA"/>
          </a:solidFill>
          <a:ln w="12700">
            <a:solidFill>
              <a:srgbClr val="F4F1EA"/>
            </a:solidFill>
            <a:prstDash val="solid"/>
          </a:ln>
        </p:spPr>
      </p:sp>
      <p:sp>
        <p:nvSpPr>
          <p:cNvPr id="119" name="Text 116"/>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crab</a:t>
            </a:r>
            <a:endParaRPr lang="en-US" sz="125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family buying for dinner?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potatoes and soup</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 rice and chicken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 eggs and cheese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sentence lists </a:t>
            </a:r>
            <a:pPr algn="l" indent="0" marL="0">
              <a:buNone/>
            </a:pPr>
            <a:r>
              <a:rPr lang="ar-SA" altLang="en-US" sz="1350" dirty="0">
                <a:solidFill>
                  <a:srgbClr val="8A6D1E"/>
                </a:solidFill>
                <a:latin typeface="Amiri" pitchFamily="34" charset="0"/>
                <a:ea typeface="Amiri" pitchFamily="34" charset="-122"/>
                <a:cs typeface="Amiri" pitchFamily="34" charset="-120"/>
              </a:rPr>
              <a:t>خُبْزًا وَأَرُزًّا وَدَجَاجًا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salad?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father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أُمِّي تُحِبُّ السَّلَطَةَ.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dislike?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vegetables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does not like </a:t>
            </a:r>
            <a:pPr algn="l" indent="0" marL="0">
              <a:buNone/>
            </a:pPr>
            <a:r>
              <a:rPr lang="ar-SA" altLang="en-US" sz="1350" dirty="0">
                <a:solidFill>
                  <a:srgbClr val="8A6D1E"/>
                </a:solidFill>
                <a:latin typeface="Amiri" pitchFamily="34" charset="0"/>
                <a:ea typeface="Amiri" pitchFamily="34" charset="-122"/>
                <a:cs typeface="Amiri" pitchFamily="34" charset="-120"/>
              </a:rPr>
              <a:t>الخَضْرَوَاتِ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he especially like?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oranges and dates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bananas and grapes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apples and strawberries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خُصُوصًا المَوْزَ وَالعِنَبَ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drinks are bought?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milk and water</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 and tea</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 and milk</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a:t>
            </a:r>
            <a:pPr algn="l" indent="0" marL="0">
              <a:buNone/>
            </a:pPr>
            <a:r>
              <a:rPr lang="ar-SA" altLang="en-US" sz="1350" dirty="0">
                <a:solidFill>
                  <a:srgbClr val="8A6D1E"/>
                </a:solidFill>
                <a:latin typeface="Amiri" pitchFamily="34" charset="0"/>
                <a:ea typeface="Amiri" pitchFamily="34" charset="-122"/>
                <a:cs typeface="Amiri" pitchFamily="34" charset="-120"/>
              </a:rPr>
              <a:t>حَلِيبًا وَمَاءً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three ingredients are needed in addition to the main foods?</a:t>
            </a:r>
            <a:endParaRPr lang="en-US" sz="9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cheese, yoghurt and milk</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 coffee and juice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oil, salt and a little sugar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lists </a:t>
            </a:r>
            <a:pPr algn="l" indent="0" marL="0">
              <a:buNone/>
            </a:pPr>
            <a:r>
              <a:rPr lang="ar-SA" altLang="en-US" sz="1350" dirty="0">
                <a:solidFill>
                  <a:srgbClr val="8A6D1E"/>
                </a:solidFill>
                <a:latin typeface="Amiri" pitchFamily="34" charset="0"/>
                <a:ea typeface="Amiri" pitchFamily="34" charset="-122"/>
                <a:cs typeface="Amiri" pitchFamily="34" charset="-120"/>
              </a:rPr>
              <a:t>زَيْتٍ وَمِلْحٍ وَقَلِيلٍ مِنَ السُّكَّرِ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included in the mother’s salad?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potatoes, carrots and beans</a:t>
            </a:r>
            <a:endParaRPr lang="en-US" sz="11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 chicken and fish</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lettuce, tomatoes and onions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salad contains </a:t>
            </a:r>
            <a:pPr algn="l" indent="0" marL="0">
              <a:buNone/>
            </a:pPr>
            <a:r>
              <a:rPr lang="ar-SA" altLang="en-US" sz="1350" dirty="0">
                <a:solidFill>
                  <a:srgbClr val="8A6D1E"/>
                </a:solidFill>
                <a:latin typeface="Amiri" pitchFamily="34" charset="0"/>
                <a:ea typeface="Amiri" pitchFamily="34" charset="-122"/>
                <a:cs typeface="Amiri" pitchFamily="34" charset="-120"/>
              </a:rPr>
              <a:t>الخَسِّ وَالطَّمَاطِمِ وَالبَصَلِ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3" name="Shape 120"/>
          <p:cNvSpPr/>
          <p:nvPr/>
        </p:nvSpPr>
        <p:spPr>
          <a:xfrm>
            <a:off x="9178290" y="4288536"/>
            <a:ext cx="310896" cy="310896"/>
          </a:xfrm>
          <a:prstGeom prst="ellipse">
            <a:avLst/>
          </a:prstGeom>
          <a:solidFill>
            <a:srgbClr val="1B3B6F"/>
          </a:solidFill>
          <a:ln w="12700">
            <a:solidFill>
              <a:srgbClr val="1B3B6F"/>
            </a:solidFill>
            <a:prstDash val="solid"/>
          </a:ln>
        </p:spPr>
      </p:sp>
      <p:sp>
        <p:nvSpPr>
          <p:cNvPr id="124" name="Text 121"/>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5" name="Text 122"/>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seafood is mentioned specifically?</a:t>
            </a:r>
            <a:endParaRPr lang="en-US" sz="1250" dirty="0"/>
          </a:p>
        </p:txBody>
      </p:sp>
      <p:sp>
        <p:nvSpPr>
          <p:cNvPr id="126" name="Shape 123"/>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7" name="Shape 124"/>
          <p:cNvSpPr/>
          <p:nvPr/>
        </p:nvSpPr>
        <p:spPr>
          <a:xfrm>
            <a:off x="9233154" y="4831080"/>
            <a:ext cx="256032" cy="256032"/>
          </a:xfrm>
          <a:prstGeom prst="ellipse">
            <a:avLst/>
          </a:prstGeom>
          <a:solidFill>
            <a:srgbClr val="2E8B57"/>
          </a:solidFill>
          <a:ln w="12700">
            <a:solidFill>
              <a:srgbClr val="2E8B57"/>
            </a:solidFill>
            <a:prstDash val="solid"/>
          </a:ln>
        </p:spPr>
      </p:sp>
      <p:sp>
        <p:nvSpPr>
          <p:cNvPr id="128" name="Text 125"/>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9" name="Text 126"/>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prawns</a:t>
            </a:r>
            <a:endParaRPr lang="en-US" sz="1250" dirty="0"/>
          </a:p>
        </p:txBody>
      </p:sp>
      <p:sp>
        <p:nvSpPr>
          <p:cNvPr id="130" name="Shape 127"/>
          <p:cNvSpPr/>
          <p:nvPr/>
        </p:nvSpPr>
        <p:spPr>
          <a:xfrm>
            <a:off x="9233154" y="5202936"/>
            <a:ext cx="256032" cy="256032"/>
          </a:xfrm>
          <a:prstGeom prst="ellipse">
            <a:avLst/>
          </a:prstGeom>
          <a:solidFill>
            <a:srgbClr val="C9CED6"/>
          </a:solidFill>
          <a:ln w="12700">
            <a:solidFill>
              <a:srgbClr val="C9CED6"/>
            </a:solidFill>
            <a:prstDash val="solid"/>
          </a:ln>
        </p:spPr>
      </p:sp>
      <p:sp>
        <p:nvSpPr>
          <p:cNvPr id="131" name="Text 128"/>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32" name="Text 129"/>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tuna</a:t>
            </a:r>
            <a:endParaRPr lang="en-US" sz="1250" dirty="0"/>
          </a:p>
        </p:txBody>
      </p:sp>
      <p:sp>
        <p:nvSpPr>
          <p:cNvPr id="133" name="Shape 130"/>
          <p:cNvSpPr/>
          <p:nvPr/>
        </p:nvSpPr>
        <p:spPr>
          <a:xfrm>
            <a:off x="9233154" y="5574792"/>
            <a:ext cx="256032" cy="256032"/>
          </a:xfrm>
          <a:prstGeom prst="ellipse">
            <a:avLst/>
          </a:prstGeom>
          <a:solidFill>
            <a:srgbClr val="C9CED6"/>
          </a:solidFill>
          <a:ln w="12700">
            <a:solidFill>
              <a:srgbClr val="C9CED6"/>
            </a:solidFill>
            <a:prstDash val="solid"/>
          </a:ln>
        </p:spPr>
      </p:sp>
      <p:sp>
        <p:nvSpPr>
          <p:cNvPr id="134" name="Text 131"/>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5" name="Text 132"/>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crab</a:t>
            </a:r>
            <a:endParaRPr lang="en-US" sz="1250" dirty="0"/>
          </a:p>
        </p:txBody>
      </p:sp>
      <p:sp>
        <p:nvSpPr>
          <p:cNvPr id="136" name="Text 133"/>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الرُّوبِيَانُ</a:t>
            </a:r>
            <a:pPr algn="l" indent="0" marL="0">
              <a:buNone/>
            </a:pPr>
            <a:r>
              <a:rPr lang="en-US" sz="1050" i="1" dirty="0">
                <a:solidFill>
                  <a:srgbClr val="8A6D1E"/>
                </a:solidFill>
                <a:latin typeface="Calibri" pitchFamily="34" charset="0"/>
                <a:ea typeface="Calibri" pitchFamily="34" charset="-122"/>
                <a:cs typeface="Calibri" pitchFamily="34" charset="-120"/>
              </a:rPr>
              <a:t> means prawns or shrimp.</a:t>
            </a:r>
            <a:endParaRPr lang="en-US" sz="1050" dirty="0"/>
          </a:p>
        </p:txBody>
      </p:sp>
      <p:sp>
        <p:nvSpPr>
          <p:cNvPr id="137" name="Text 1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F5-L02 · Meals and Eating Routines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فَطُورٌ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breakfast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غَدَاءٌ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lunch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عَشَاءٌ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dinner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وَجْبَةٌ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meal</a:t>
            </a:r>
            <a:pPr indent="0" marL="0">
              <a:buNone/>
            </a:pPr>
            <a:r>
              <a:rPr lang="en-US" sz="1000" i="1" dirty="0">
                <a:solidFill>
                  <a:srgbClr val="5A6472"/>
                </a:solidFill>
                <a:latin typeface="Calibri" pitchFamily="34" charset="0"/>
                <a:ea typeface="Calibri" pitchFamily="34" charset="-122"/>
                <a:cs typeface="Calibri" pitchFamily="34" charset="-120"/>
              </a:rPr>
              <a:t>  pl. وَجَبَاتٌ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usually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usually eat for breakfast? Write two food words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الفَطُورِ آكُلُ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F5-L01: the vocabulary tab and the “Food or drink?”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Survey two people at home and write what they like and don’t like.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8-sentence food profile with “but” and one-item forms (tuffāḥa).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F5-L02 · Meals and Eating Routines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وَجَبَاتُ اليَوْمِ وَعَادَاتُ الأَكْلِ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أُحِبُّ</a:t>
            </a:r>
            <a:pPr algn="l" indent="0" marL="0">
              <a:buNone/>
            </a:pPr>
            <a:r>
              <a:rPr lang="en-US" sz="1300" b="1" dirty="0">
                <a:solidFill>
                  <a:srgbClr val="FFFFFF"/>
                </a:solidFill>
                <a:latin typeface="Calibri" pitchFamily="34" charset="0"/>
                <a:ea typeface="Calibri" pitchFamily="34" charset="-122"/>
                <a:cs typeface="Calibri" pitchFamily="34" charset="-120"/>
              </a:rPr>
              <a:t> + food · </a:t>
            </a:r>
            <a:pPr algn="l" indent="0" marL="0">
              <a:buNone/>
            </a:pPr>
            <a:r>
              <a:rPr lang="ar-SA" altLang="en-US" sz="1700" b="1" dirty="0">
                <a:solidFill>
                  <a:srgbClr val="FFFFFF"/>
                </a:solidFill>
                <a:latin typeface="Amiri" pitchFamily="34" charset="0"/>
                <a:ea typeface="Amiri" pitchFamily="34" charset="-122"/>
                <a:cs typeface="Amiri" pitchFamily="34" charset="-120"/>
              </a:rPr>
              <a:t>لَا</a:t>
            </a:r>
            <a:pPr algn="l" indent="0" marL="0">
              <a:buNone/>
            </a:pPr>
            <a:r>
              <a:rPr lang="en-US" sz="1300" b="1" dirty="0">
                <a:solidFill>
                  <a:srgbClr val="FFFFFF"/>
                </a:solidFill>
                <a:latin typeface="Calibri" pitchFamily="34" charset="0"/>
                <a:ea typeface="Calibri" pitchFamily="34" charset="-122"/>
                <a:cs typeface="Calibri" pitchFamily="34" charset="-120"/>
              </a:rPr>
              <a:t> before the verb · </a:t>
            </a:r>
            <a:pPr algn="l" indent="0" marL="0">
              <a:buNone/>
            </a:pPr>
            <a:r>
              <a:rPr lang="ar-SA" altLang="en-US" sz="1700" b="1" dirty="0">
                <a:solidFill>
                  <a:srgbClr val="FFFFFF"/>
                </a:solidFill>
                <a:latin typeface="Amiri" pitchFamily="34" charset="0"/>
                <a:ea typeface="Amiri" pitchFamily="34" charset="-122"/>
                <a:cs typeface="Amiri" pitchFamily="34" charset="-120"/>
              </a:rPr>
              <a:t>آكُلُ</a:t>
            </a:r>
            <a:pPr algn="l" indent="0" marL="0">
              <a:buNone/>
            </a:pPr>
            <a:r>
              <a:rPr lang="en-US" sz="1300" b="1" dirty="0">
                <a:solidFill>
                  <a:srgbClr val="FFFFFF"/>
                </a:solidFill>
                <a:latin typeface="Calibri" pitchFamily="34" charset="0"/>
                <a:ea typeface="Calibri" pitchFamily="34" charset="-122"/>
                <a:cs typeface="Calibri" pitchFamily="34" charset="-120"/>
              </a:rPr>
              <a:t> food · </a:t>
            </a:r>
            <a:pPr algn="l" indent="0" marL="0">
              <a:buNone/>
            </a:pPr>
            <a:r>
              <a:rPr lang="ar-SA" altLang="en-US" sz="1700" b="1" dirty="0">
                <a:solidFill>
                  <a:srgbClr val="FFFFFF"/>
                </a:solidFill>
                <a:latin typeface="Amiri" pitchFamily="34" charset="0"/>
                <a:ea typeface="Amiri" pitchFamily="34" charset="-122"/>
                <a:cs typeface="Amiri" pitchFamily="34" charset="-120"/>
              </a:rPr>
              <a:t>أَشْرَبُ</a:t>
            </a:r>
            <a:pPr algn="l" indent="0" marL="0">
              <a:buNone/>
            </a:pPr>
            <a:r>
              <a:rPr lang="en-US" sz="1300" b="1" dirty="0">
                <a:solidFill>
                  <a:srgbClr val="FFFFFF"/>
                </a:solidFill>
                <a:latin typeface="Calibri" pitchFamily="34" charset="0"/>
                <a:ea typeface="Calibri" pitchFamily="34" charset="-122"/>
                <a:cs typeface="Calibri" pitchFamily="34" charset="-120"/>
              </a:rPr>
              <a:t> drinks.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F5-L01 · Food and Drinks</dc:title>
  <dc:subject>PptxGenJS Presentation</dc:subject>
  <dc:creator>Al Madina Online School · Arabic Department</dc:creator>
  <cp:lastModifiedBy>Al Madina Online School · Arabic Department</cp:lastModifiedBy>
  <cp:revision>1</cp:revision>
  <dcterms:created xsi:type="dcterms:W3CDTF">2026-09-27T21:37:23Z</dcterms:created>
  <dcterms:modified xsi:type="dcterms:W3CDTF">2026-09-27T21:37:23Z</dcterms:modified>
</cp:coreProperties>
</file>