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F5 Food, Health and Body › F5-L01. The website lesson “Food and Drinks”: vocabulary, grammar rules and quiz, patterns, common mistakes, sorter, listening, reading, speaking prompts and model, writing task and model, differentiation, final check and the lesson mission. Picture match: website visual game “Food and Drinks”.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learn the 12 CORE words (6 staples, 6 fruit and vegetables) and the drinks on the grammar slide; say one like and one dislike with أُحِبُّ / لَا أُحِبُّ.
• Develop: ask and answer (هَلْ تُحِبُّ / تُحِبِّينَ …؟) and report a classmate (هُوَ يُحِبُّ … / هِيَ تُحِبُّ …).
• Stretch: collective vs one item (تُفَّاحٌ / تُفَّاحَةٌ) and an 8-sentence food profile with وَلَكِنْ.
• Two verbs: آكُلُ for food, أَشْرَبُ for drinks — the website’s common slip is آكُلُ الحَلِيبَ.
• Urdu bridge is very strong here: چائے، قہوہ، شکر، نمک، زیتون … students already know many of these words.
• Be sensitive to diets (halal, vegetarian, allergies): students may always choose other foods or invent a “food character”.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food words prepared at home at the end of F4-L12. Questions 3–5 retrieve F4 opinion language (reason agreement, negative opinion, prefer).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same opinion verbs from F4 now work with food: I like / I do not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چائے ↔ شَايٌ (same word, different sound). قہوہ in Urdu is green tea — in Arabic قَهْوَةٌ is coffee. شکر / سُكَّرٌ (and English “sugar”) share one root. Warn: Urdu نمک is Persian — the Arabic is مِلْحٌ (compare ملیح “salty, attractive”). تمر ہندی (tamarind) literally means “Indian date” — from Arabic تَمْرٌ.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Staples and proteins (website vocabulary (1 of 2)). Hear → Say → See → Use. Transliteration is printed for Core students (cover it for Develop/Stretch).
COLLECTIVE NOUNS (website teaching note): بَيْضٌ / سَمَكٌ = the food in general; add ة for ONE item (بَيْضَةٌ، سَمَكَةٌ). Core students only need the first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Staples and proteins (website vocabulary (2 of 2)). Hear → Say → See → Use. Transliteration is printed for Core students (cover it for Develop/Stretch).
COLLECTIVE NOUNS (website teaching note): بَيْضٌ / سَمَكٌ = the food in general; add ة for ONE item (بَيْضَةٌ، سَمَكَةٌ). Core students only need the first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Fruit and vegetables (website vocabulary (1 of 2)). Hear → Say → See → Use. Transliteration is printed for Core students (cover it for Develop/Stretch).
Same pattern: تُفَّاحٌ → تُفَّاحَةٌ (one apple), مَوْزٌ → مَوْزَةٌ. طَمَاطِمُ and بَطَاطِسُ are borrowed words (tomato, potato) — students love spotting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Fruit and vegetables (website vocabulary (2 of 2)). Hear → Say → See → Use. Transliteration is printed for Core students (cover it for Develop/Stretch).
Same pattern: تُفَّاحٌ → تُفَّاحَةٌ (one apple), مَوْزٌ → مَوْزَةٌ. طَمَاطِمُ and بَطَاطِسُ are borrowed words (tomato, potato) — students love spotting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Drinks and extras (website vocabulary (1 of 2)). Hear → Say → See → Use. Transliteration is printed for Core students (cover it for Develop/Stretch).
FLEX: teach if time allows; otherwise these are on the website vocabulary tab for homework.
FLEX: drinks are also on the grammar slide. Group 4 (ingredients, snacks and seafood) is on the website vocabulary tab for homework — it appears again in the reading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Drinks and extras (website vocabulary (2 of 2)). Hear → Say → See → Use. Transliteration is printed for Core students (cover it for Develop/Stretch).
FLEX: teach if time allows; otherwise these are on the website vocabulary tab for homework.
FLEX: drinks are also on the grammar slide. Group 4 (ingredients, snacks and seafood) is on the website vocabulary tab for homework — it appears again in the reading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“Say what you like” (أُحِبُّ + food), “Make the opinion negative” (لَا + أُحِبُّ) and “Ask another person” (تُحِبُّ to a boy, تُحِبِّينَ to a girl).
Website common error: أُحِبُّ إِلَى الخُبْزِ ✗ → أُحِبُّ الخُبْزَ ✓.
Teacher script: “Blue = who. Pink = not.” Core students need rows 1 and 2 only; Develop add the girl form and he / she for reporting a classmate.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the verbs آكُلُ / أَشْرَبُ (website patterns and mistakes) and website rule “Notice noun gender”: many food words are masculine (خُبْزٌ), some feminine (قَهْوَةٌ، سَلَطَةٌ). Learn the gender now — adjectives in F5-L04 will agree with it.
Website mistake: أَكُلُ الخُبْزَ ✗ → آكُلُ الخُبْزَ ✓ (the first-person form begins with a long ā).
Quick-fire: teacher says a food or drink; students say آكُلُ or أَشْرَبُ. Soup (حَسَاءٌ) is a good debate: Arabic usually says أَشْرَبُ الحَسَاءَ!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“The lesson-plan grammar focus is the opinion frame أُحِبُّ / لَا أُحِبُّ. Build a complete sentence by placing the food or drink directly after the verb, then notice the gender of the noun so later adjectives can agree accurately.”
• Say what you like: أُحِبُّ means “I like”. The food or drink follows directly; do not add a preposition between the verb and the noun.
• Make the opinion negative: Put لَا immediately before أُحِبُّ. The rest of the sentence stays in the same order.
• Notice noun gender: Many food words are masculine, but some are feminine. Learn the noun with its gender because later description words must agree.
• Ask another person: Use تُحِبُّ for a male listener and تُحِبِّينَ for a female listener.
Website common error: Do not write أُحِبُّ إِلَى الخُبْزِ. أُحِبُّ takes the food or drink directly: أُحِبُّ الخُبْزَ.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writing model built step by step with a think-aloud. Students copy it and swap TWO foods for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Food and Drinks”)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Point out هٰذِهِ with the feminine words (تُفَّاحَةٌ، سَلَطَةٌ) and هٰذَا with the masculine (حَلِيبٌ) — a preview of noun gender. Other website items: خُبْزٌ، أَرُزٌّ، سَمَكٌ.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Food and Drinks”)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Point out هٰذِهِ with the feminine words (تُفَّاحَةٌ، سَلَطَةٌ) and هٰذَا with the masculine (حَلِيبٌ) — a preview of noun gender. Other website items: خُبْزٌ، أَرُزٌّ، سَمَكٌ.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Choose the correct category for each item.
Ask “آكُلُ or أَشْرَبُ?” for each item as it is sorted — the sorter doubles as verb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Choose the correct category for each item.
Ask “آكُلُ or أَشْرَبُ?” for each item as it is sorted — the sorter doubles as verb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Listen 1: just listen. Listen 2: note answers. Then chat the letters.
Support: after the second listening, show the read-along slide (Arabic + English, line by line) for Core students.
SCRIPT (read aloud):
اِسْمِي هُدَى. أُحِبُّ الخُبْزَ وَالجُبْنَ وَالتُّفَّاحَ. فِي الوَجْبَةِ الخَفِيفَةِ آكُلُ المُكَسَّرَاتِ أَوِ البِسْكُوِيتَ. لَا أُحِبُّ السَّمَكَ، وَلَا أَشْرَبُ القَهْوَةَ. أَشْرَبُ المَاءَ وَعَصِيرَ البُرْتُقَالِ كُلَّ يَوْمٍ.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أ: وَمَاذَا تَشْرَبِينَ؟ (And what do you drink?)
ب: أَشْرَبُ المَاءَ وَالعَصِيرَ. (I drink water and juice.)
Website food survey — all four prompts are the website’s (Stretch adds “and why?”). Website model: هَلْ تُحِبِّينَ السَّلَطَةَ؟ — نَعَمْ، أُحِبُّ السَّلَطَةَ كَثِيرًا. — وَمَاذَا تَشْرَبِينَ؟ — أَشْرَبُ المَاءَ وَالعَصِيرَ. Develop: after the survey, report one classmate: هُوَ يُحِبُّ … / هِيَ تُحِبُّ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Name eight foods and four drinks with picture or English support. · Develop — Ask and answer four preference questions, then report one classmate’s answer. · Stretch — Add one-item forms (tuffāḥa = one apple) and produce an 8-sentence food profile.
Website writing task (Stretch): Write 5–6 sentences about foods and drinks you like and dislike. Include at least four food words, two drinks, وَ and one negative sentence.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أُحِبُّ الخُبْزَ · لَا أُحِبُّ السَّمَكَ · أَشْرَبُ المَاءَ · وَلَكِنِّي. The website model has 3 long sentences (≈ 6 ideas) — Develop students split theirs into 5–6 sentences.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8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(F5-L02 · Meals and Eating Routines) will spend class time USING this language, so students prepare it tonight — short, simple, easy to access (school guidance: “Simple, Short, Interesting, Relevant, Easy to access”). The five words come from the website F5-L02 vocabulary (meals and routines).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Food and Drinks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الطَّعَامُ وَالشَّرَابُ</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Name a broad range of foods and drinks, sort them, and say what you like and do not like with </a:t>
            </a:r>
            <a:pPr algn="l" indent="0" marL="0">
              <a:buNone/>
            </a:pPr>
            <a:r>
              <a:rPr lang="ar-SA" altLang="en-US" sz="1800" dirty="0">
                <a:solidFill>
                  <a:srgbClr val="C6D2E6"/>
                </a:solidFill>
                <a:latin typeface="Amiri" pitchFamily="2" charset="-78"/>
                <a:ea typeface="Amiri" pitchFamily="2" charset="-78"/>
                <a:cs typeface="Amiri" pitchFamily="2" charset="-78"/>
              </a:rPr>
              <a:t>أُحِبُّ / لَا أُحِبُّ</a:t>
            </a:r>
            <a:pPr algn="l" indent="0" marL="0">
              <a:buNone/>
            </a:pPr>
            <a:r>
              <a:rPr lang="en-US" sz="1400" dirty="0">
                <a:solidFill>
                  <a:srgbClr val="C6D2E6"/>
                </a:solidFill>
                <a:latin typeface="Calibri" pitchFamily="34" charset="0"/>
                <a:cs typeface="Amiri" pitchFamily="2" charset="-78"/>
              </a:rPr>
              <a:t>, </a:t>
            </a:r>
            <a:pPr algn="l" indent="0" marL="0">
              <a:buNone/>
            </a:pPr>
            <a:r>
              <a:rPr lang="ar-SA" altLang="en-US" sz="1800" dirty="0">
                <a:solidFill>
                  <a:srgbClr val="C6D2E6"/>
                </a:solidFill>
                <a:latin typeface="Amiri" pitchFamily="2" charset="-78"/>
                <a:ea typeface="Amiri" pitchFamily="2" charset="-78"/>
                <a:cs typeface="Amiri" pitchFamily="2" charset="-78"/>
              </a:rPr>
              <a:t>آكُلُ</a:t>
            </a:r>
            <a:pPr algn="l" indent="0" marL="0">
              <a:buNone/>
            </a:pPr>
            <a:r>
              <a:rPr lang="en-US" sz="1400" dirty="0">
                <a:solidFill>
                  <a:srgbClr val="C6D2E6"/>
                </a:solidFill>
                <a:latin typeface="Calibri" pitchFamily="34" charset="0"/>
                <a:cs typeface="Amiri" pitchFamily="2" charset="-78"/>
              </a:rPr>
              <a:t> and </a:t>
            </a:r>
            <a:pPr algn="l" indent="0" marL="0">
              <a:buNone/>
            </a:pPr>
            <a:r>
              <a:rPr lang="ar-SA" altLang="en-US" sz="1800" dirty="0">
                <a:solidFill>
                  <a:srgbClr val="C6D2E6"/>
                </a:solidFill>
                <a:latin typeface="Amiri" pitchFamily="2" charset="-78"/>
                <a:ea typeface="Amiri" pitchFamily="2" charset="-78"/>
                <a:cs typeface="Amiri" pitchFamily="2" charset="-78"/>
              </a:rPr>
              <a:t>أَشْرَبُ</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F5-L01 · Foundation F5 · Food, Health and Body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Food and drink words in three groups, then like / don’t like, eat / drink.</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food or drink sorter, fix the mistakes and listen to Huda.</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F5-L02.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خُبْزٌ</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rice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bread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دَجَاجٌ</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chicken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apples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أُحِبُّ العَرَبِيَّةَ</a:t>
            </a:r>
            <a:pPr algn="l" indent="0" marL="0">
              <a:buNone/>
            </a:pPr>
            <a:r>
              <a:rPr lang="en-US" sz="1250" b="1" dirty="0">
                <a:solidFill>
                  <a:srgbClr val="1B3B6F"/>
                </a:solidFill>
                <a:latin typeface="Calibri" pitchFamily="34" charset="0"/>
                <a:cs typeface="Amiri" pitchFamily="2" charset="-78"/>
              </a:rPr>
              <a:t> ____ </a:t>
            </a:r>
            <a:pPr algn="l" indent="0" marL="0">
              <a:buNone/>
            </a:pPr>
            <a:r>
              <a:rPr lang="ar-SA" altLang="en-US" sz="1650" b="1" dirty="0">
                <a:solidFill>
                  <a:srgbClr val="1B3B6F"/>
                </a:solidFill>
                <a:latin typeface="Amiri" pitchFamily="2" charset="-78"/>
                <a:ea typeface="Amiri" pitchFamily="2" charset="-78"/>
                <a:cs typeface="Amiri" pitchFamily="2" charset="-78"/>
              </a:rPr>
              <a:t>مُمْتِعَةٌ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says “I do not like history”?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التَّارِيخَ.</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تُحِبُّ التَّارِيخَ؟</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أُحِبُّ التَّارِيخَ.</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أُفَضِّلُ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prefer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study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drink</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خُبْزٌ</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rice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bread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water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(F4-L12).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دَجَاجٌ</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chicken</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apples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water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(F4-L12).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أُحِبُّ العَرَبِيَّةَ</a:t>
            </a:r>
            <a:pPr algn="l" indent="0" marL="0">
              <a:buNone/>
            </a:pPr>
            <a:r>
              <a:rPr lang="en-US" sz="1250" b="1" dirty="0">
                <a:solidFill>
                  <a:srgbClr val="1B3B6F"/>
                </a:solidFill>
                <a:latin typeface="Calibri" pitchFamily="34" charset="0"/>
                <a:cs typeface="Amiri" pitchFamily="2" charset="-78"/>
              </a:rPr>
              <a:t> ____ </a:t>
            </a:r>
            <a:pPr algn="l" indent="0" marL="0">
              <a:buNone/>
            </a:pPr>
            <a:r>
              <a:rPr lang="ar-SA" altLang="en-US" sz="1650" b="1" dirty="0">
                <a:solidFill>
                  <a:srgbClr val="1B3B6F"/>
                </a:solidFill>
                <a:latin typeface="Amiri" pitchFamily="2" charset="-78"/>
                <a:ea typeface="Amiri" pitchFamily="2" charset="-78"/>
                <a:cs typeface="Amiri" pitchFamily="2" charset="-78"/>
              </a:rPr>
              <a:t>مُمْتِعَةٌ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F4: a feminine subject → li-annahā.</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says “I do not like history”?</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التَّارِيخَ.</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تُحِبُّ التَّارِيخَ؟</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 أُحِبُّ التَّارِيخَ.</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F4-L04: lā directly before the verb.</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أُفَضِّلُ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prefer</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study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drink</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F4-L04: preferences.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same opinion verbs from F4 now work with food: I like / I do not like.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أُحِبُّ الخُبْزَ · </a:t>
            </a:r>
            <a:pPr rtl="1" algn="ctr" indent="0" marL="0">
              <a:buNone/>
            </a:pPr>
            <a:r>
              <a:rPr lang="ar-SA" altLang="en-US" sz="2400" b="1" dirty="0">
                <a:solidFill>
                  <a:srgbClr val="D6336C"/>
                </a:solidFill>
                <a:latin typeface="Amiri" pitchFamily="2" charset="-78"/>
                <a:ea typeface="Amiri" pitchFamily="2" charset="-78"/>
                <a:cs typeface="Amiri" pitchFamily="2" charset="-78"/>
              </a:rPr>
              <a:t>لَا</a:t>
            </a:r>
            <a:pPr rtl="1" algn="ctr" indent="0" marL="0">
              <a:buNone/>
            </a:pPr>
            <a:r>
              <a:rPr lang="ar-SA" altLang="en-US" sz="2400" b="1" dirty="0">
                <a:solidFill>
                  <a:srgbClr val="1B3B6F"/>
                </a:solidFill>
                <a:latin typeface="Amiri" pitchFamily="2" charset="-78"/>
                <a:ea typeface="Amiri" pitchFamily="2" charset="-78"/>
                <a:cs typeface="Amiri" pitchFamily="2" charset="-78"/>
              </a:rPr>
              <a:t> أُحِبُّ السَّمَكَ</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and pronounce common food and drink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Separate foods from drinks and notice noun gender where it supports agreement.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Express a like and a dislike using complete Arabic sentences.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 short food-and-drink description.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twelve foods and four drinks.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one like and one dislike.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ask a boy or a girl what they like.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report what a classmate likes.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explain </a:t>
            </a:r>
            <a:pPr algn="l" indent="0" marL="0">
              <a:buNone/>
            </a:pPr>
            <a:r>
              <a:rPr lang="ar-SA" altLang="en-US" sz="1700" b="1" dirty="0">
                <a:solidFill>
                  <a:srgbClr val="B83227"/>
                </a:solidFill>
                <a:latin typeface="Amiri" pitchFamily="2" charset="-78"/>
                <a:ea typeface="Amiri" pitchFamily="2" charset="-78"/>
                <a:cs typeface="Amiri" pitchFamily="2" charset="-78"/>
              </a:rPr>
              <a:t>تُفَّاحٌ / تُفَّاحَةٌ</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an 8-sentence food profile.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40 words from the website in 4 groups. Learn the CORE words first. Hear it → say it → see it → use it.</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Staples and proteins · 9</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Fruit and vegetables · 11</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Drinks and extras · 9</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4</a:t>
            </a:r>
            <a:endParaRPr lang="en-US" sz="900" dirty="0"/>
          </a:p>
          <a:p>
            <a:pPr indent="0" marL="0">
              <a:buNone/>
            </a:pPr>
            <a:r>
              <a:rPr lang="en-US" sz="1200" b="1" dirty="0">
                <a:solidFill>
                  <a:srgbClr val="FFFFFF"/>
                </a:solidFill>
                <a:latin typeface="Calibri" pitchFamily="34" charset="0"/>
                <a:cs typeface="Amiri" pitchFamily="2" charset="-78"/>
              </a:rPr>
              <a:t>Ingredients, snacks and seafood · 11</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شَايٌ</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‎چائے‎ </a:t>
            </a:r>
            <a:pPr indent="0" marL="0">
              <a:buNone/>
            </a:pPr>
            <a:r>
              <a:rPr lang="en-US" sz="950" b="1" dirty="0">
                <a:solidFill>
                  <a:srgbClr val="2E8B57"/>
                </a:solidFill>
                <a:latin typeface="Calibri" pitchFamily="34" charset="0"/>
                <a:cs typeface="Amiri" pitchFamily="2" charset="-78"/>
              </a:rPr>
              <a:t> chāy · tea</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قَهْوَةٌ</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‎قہوہ‎ </a:t>
            </a:r>
            <a:pPr indent="0" marL="0">
              <a:buNone/>
            </a:pPr>
            <a:r>
              <a:rPr lang="en-US" sz="950" b="1" dirty="0">
                <a:solidFill>
                  <a:srgbClr val="2E8B57"/>
                </a:solidFill>
                <a:latin typeface="Calibri" pitchFamily="34" charset="0"/>
                <a:cs typeface="Amiri" pitchFamily="2" charset="-78"/>
              </a:rPr>
              <a:t> qahwa · coffee (Urdu: green tea)</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سُكَّرٌ</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‎شکر‎ </a:t>
            </a:r>
            <a:pPr indent="0" marL="0">
              <a:buNone/>
            </a:pPr>
            <a:r>
              <a:rPr lang="en-US" sz="950" b="1" dirty="0">
                <a:solidFill>
                  <a:srgbClr val="2E8B57"/>
                </a:solidFill>
                <a:latin typeface="Calibri" pitchFamily="34" charset="0"/>
                <a:cs typeface="Amiri" pitchFamily="2" charset="-78"/>
              </a:rPr>
              <a:t> shakar · sugar</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مِلْحٌ</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‎نمک‎ </a:t>
            </a:r>
            <a:pPr indent="0" marL="0">
              <a:buNone/>
            </a:pPr>
            <a:r>
              <a:rPr lang="en-US" sz="950" b="1" dirty="0">
                <a:solidFill>
                  <a:srgbClr val="2E8B57"/>
                </a:solidFill>
                <a:latin typeface="Calibri" pitchFamily="34" charset="0"/>
                <a:cs typeface="Amiri" pitchFamily="2" charset="-78"/>
              </a:rPr>
              <a:t> namak · salt — a false friend</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تَمْرٌ</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‎تمر ہندی‎ </a:t>
            </a:r>
            <a:pPr indent="0" marL="0">
              <a:buNone/>
            </a:pPr>
            <a:r>
              <a:rPr lang="en-US" sz="950" b="1" dirty="0">
                <a:solidFill>
                  <a:srgbClr val="2E8B57"/>
                </a:solidFill>
                <a:latin typeface="Calibri" pitchFamily="34" charset="0"/>
                <a:cs typeface="Amiri" pitchFamily="2" charset="-78"/>
              </a:rPr>
              <a:t> tamar-hindī · dates (Urdu: tamarind “Indian date”)</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Staples and proteins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خُبْزٌ</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bread</a:t>
            </a:r>
            <a:endParaRPr lang="en-US" sz="1350" dirty="0"/>
          </a:p>
          <a:p>
            <a:pPr indent="0" marL="0">
              <a:buNone/>
            </a:pPr>
            <a:r>
              <a:rPr lang="en-US" sz="1100" i="1" dirty="0">
                <a:solidFill>
                  <a:srgbClr val="5A6472"/>
                </a:solidFill>
                <a:latin typeface="Calibri" pitchFamily="34" charset="0"/>
                <a:cs typeface="Amiri" pitchFamily="2" charset="-78"/>
              </a:rPr>
              <a:t>khub-zun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أَرُزٌّ</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rice</a:t>
            </a:r>
            <a:endParaRPr lang="en-US" sz="1350" dirty="0"/>
          </a:p>
          <a:p>
            <a:pPr indent="0" marL="0">
              <a:buNone/>
            </a:pPr>
            <a:r>
              <a:rPr lang="en-US" sz="1100" i="1" dirty="0">
                <a:solidFill>
                  <a:srgbClr val="5A6472"/>
                </a:solidFill>
                <a:latin typeface="Calibri" pitchFamily="34" charset="0"/>
                <a:cs typeface="Amiri" pitchFamily="2" charset="-78"/>
              </a:rPr>
              <a:t>a-ruz-zun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مَعْكَرُونَةٌ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pasta</a:t>
            </a:r>
            <a:endParaRPr lang="en-US" sz="1350" dirty="0"/>
          </a:p>
          <a:p>
            <a:pPr indent="0" marL="0">
              <a:buNone/>
            </a:pPr>
            <a:r>
              <a:rPr lang="en-US" sz="1100" i="1" dirty="0">
                <a:solidFill>
                  <a:srgbClr val="5A6472"/>
                </a:solidFill>
                <a:latin typeface="Calibri" pitchFamily="34" charset="0"/>
                <a:cs typeface="Amiri" pitchFamily="2" charset="-78"/>
              </a:rPr>
              <a:t>maʿ-ka-rū-na-tun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7" name="Shape 34"/>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food · one</a:t>
            </a:r>
            <a:endParaRPr lang="en-US" sz="8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بَيْضٌ</a:t>
            </a:r>
            <a:endParaRPr lang="ar-SA" sz="3000" dirty="0"/>
          </a:p>
        </p:txBody>
      </p:sp>
      <p:sp>
        <p:nvSpPr>
          <p:cNvPr id="42" name="Text 3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eggs</a:t>
            </a:r>
            <a:endParaRPr lang="en-US" sz="1350" dirty="0"/>
          </a:p>
          <a:p>
            <a:pPr indent="0" marL="0">
              <a:buNone/>
            </a:pPr>
            <a:r>
              <a:rPr lang="en-US" sz="1100" i="1" dirty="0">
                <a:solidFill>
                  <a:srgbClr val="5A6472"/>
                </a:solidFill>
                <a:latin typeface="Calibri" pitchFamily="34" charset="0"/>
                <a:cs typeface="Amiri" pitchFamily="2" charset="-78"/>
              </a:rPr>
              <a:t>bay-ḍun</a:t>
            </a:r>
            <a:endParaRPr lang="en-US" sz="1350" dirty="0"/>
          </a:p>
        </p:txBody>
      </p:sp>
      <p:sp>
        <p:nvSpPr>
          <p:cNvPr id="43" name="Shape 40"/>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food</a:t>
            </a:r>
            <a:endParaRPr lang="en-US" sz="700" dirty="0"/>
          </a:p>
        </p:txBody>
      </p:sp>
      <p:sp>
        <p:nvSpPr>
          <p:cNvPr id="45" name="Text 42"/>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بَيْضٌ</a:t>
            </a:r>
            <a:endParaRPr lang="ar-SA" sz="1350" dirty="0"/>
          </a:p>
        </p:txBody>
      </p:sp>
      <p:sp>
        <p:nvSpPr>
          <p:cNvPr id="46" name="Shape 43"/>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one egg</a:t>
            </a:r>
            <a:endParaRPr lang="en-US" sz="700" dirty="0"/>
          </a:p>
        </p:txBody>
      </p:sp>
      <p:sp>
        <p:nvSpPr>
          <p:cNvPr id="48" name="Text 45"/>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بَيْضَةٌ</a:t>
            </a:r>
            <a:endParaRPr lang="ar-SA"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2" name="Shape 4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جُبْنٌ</a:t>
            </a:r>
            <a:endParaRPr lang="ar-SA" sz="3000" dirty="0"/>
          </a:p>
        </p:txBody>
      </p:sp>
      <p:sp>
        <p:nvSpPr>
          <p:cNvPr id="55" name="Text 5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cheese</a:t>
            </a:r>
            <a:endParaRPr lang="en-US" sz="1350" dirty="0"/>
          </a:p>
          <a:p>
            <a:pPr indent="0" marL="0">
              <a:buNone/>
            </a:pPr>
            <a:r>
              <a:rPr lang="en-US" sz="1100" i="1" dirty="0">
                <a:solidFill>
                  <a:srgbClr val="5A6472"/>
                </a:solidFill>
                <a:latin typeface="Calibri" pitchFamily="34" charset="0"/>
                <a:cs typeface="Amiri" pitchFamily="2" charset="-78"/>
              </a:rPr>
              <a:t>jub-nun</a:t>
            </a:r>
            <a:endParaRPr lang="en-US" sz="13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Staples and proteins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لَحْمٌ</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meat</a:t>
            </a:r>
            <a:endParaRPr lang="en-US" sz="1350" dirty="0"/>
          </a:p>
          <a:p>
            <a:pPr indent="0" marL="0">
              <a:buNone/>
            </a:pPr>
            <a:r>
              <a:rPr lang="en-US" sz="1100" i="1" dirty="0">
                <a:solidFill>
                  <a:srgbClr val="5A6472"/>
                </a:solidFill>
                <a:latin typeface="Calibri" pitchFamily="34" charset="0"/>
                <a:cs typeface="Amiri" pitchFamily="2" charset="-78"/>
              </a:rPr>
              <a:t>laḥ-mun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دَجَاجٌ</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chicken</a:t>
            </a:r>
            <a:endParaRPr lang="en-US" sz="1350" dirty="0"/>
          </a:p>
          <a:p>
            <a:pPr indent="0" marL="0">
              <a:buNone/>
            </a:pPr>
            <a:r>
              <a:rPr lang="en-US" sz="1100" i="1" dirty="0">
                <a:solidFill>
                  <a:srgbClr val="5A6472"/>
                </a:solidFill>
                <a:latin typeface="Calibri" pitchFamily="34" charset="0"/>
                <a:cs typeface="Amiri" pitchFamily="2" charset="-78"/>
              </a:rPr>
              <a:t>da-jā-jun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food · one</a:t>
            </a:r>
            <a:endParaRPr lang="en-US" sz="8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سَمَكٌ</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fish</a:t>
            </a:r>
            <a:endParaRPr lang="en-US" sz="1350" dirty="0"/>
          </a:p>
          <a:p>
            <a:pPr indent="0" marL="0">
              <a:buNone/>
            </a:pPr>
            <a:r>
              <a:rPr lang="en-US" sz="1100" i="1" dirty="0">
                <a:solidFill>
                  <a:srgbClr val="5A6472"/>
                </a:solidFill>
                <a:latin typeface="Calibri" pitchFamily="34" charset="0"/>
                <a:cs typeface="Amiri" pitchFamily="2" charset="-78"/>
              </a:rPr>
              <a:t>sa-ma-kun</a:t>
            </a:r>
            <a:endParaRPr lang="en-US" sz="1350" dirty="0"/>
          </a:p>
        </p:txBody>
      </p:sp>
      <p:sp>
        <p:nvSpPr>
          <p:cNvPr id="36" name="Shape 33"/>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food</a:t>
            </a:r>
            <a:endParaRPr lang="en-US" sz="700" dirty="0"/>
          </a:p>
        </p:txBody>
      </p:sp>
      <p:sp>
        <p:nvSpPr>
          <p:cNvPr id="38" name="Text 35"/>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سَمَكٌ</a:t>
            </a:r>
            <a:endParaRPr lang="ar-SA" sz="1350" dirty="0"/>
          </a:p>
        </p:txBody>
      </p:sp>
      <p:sp>
        <p:nvSpPr>
          <p:cNvPr id="39" name="Shape 36"/>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one fish</a:t>
            </a:r>
            <a:endParaRPr lang="en-US" sz="700" dirty="0"/>
          </a:p>
        </p:txBody>
      </p:sp>
      <p:sp>
        <p:nvSpPr>
          <p:cNvPr id="41" name="Text 38"/>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سَمَكَةٌ</a:t>
            </a:r>
            <a:endParaRPr lang="ar-SA"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5" name="Text 4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فَاصُولِيَاءُ</a:t>
            </a:r>
            <a:endParaRPr lang="ar-SA" sz="3000" dirty="0"/>
          </a:p>
        </p:txBody>
      </p:sp>
      <p:sp>
        <p:nvSpPr>
          <p:cNvPr id="46" name="Text 4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beans</a:t>
            </a:r>
            <a:endParaRPr lang="en-US" sz="1350" dirty="0"/>
          </a:p>
          <a:p>
            <a:pPr indent="0" marL="0">
              <a:buNone/>
            </a:pPr>
            <a:r>
              <a:rPr lang="en-US" sz="1100" i="1" dirty="0">
                <a:solidFill>
                  <a:srgbClr val="5A6472"/>
                </a:solidFill>
                <a:latin typeface="Calibri" pitchFamily="34" charset="0"/>
                <a:cs typeface="Amiri" pitchFamily="2" charset="-78"/>
              </a:rPr>
              <a:t>fā-ṣū-li-yā-ʾu</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Fruit and vegetables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food · one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تُفَّاحٌ</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apples</a:t>
            </a:r>
            <a:endParaRPr lang="en-US" sz="1350" dirty="0"/>
          </a:p>
          <a:p>
            <a:pPr indent="0" marL="0">
              <a:buNone/>
            </a:pPr>
            <a:r>
              <a:rPr lang="en-US" sz="1100" i="1" dirty="0">
                <a:solidFill>
                  <a:srgbClr val="5A6472"/>
                </a:solidFill>
                <a:latin typeface="Calibri" pitchFamily="34" charset="0"/>
                <a:cs typeface="Amiri" pitchFamily="2" charset="-78"/>
              </a:rPr>
              <a:t>tuf-fā-ḥun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food</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تُفَّاحٌ</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one apple</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تُفَّاحَةٌ</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3" name="Shape 30"/>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food · one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مَوْزٌ</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bananas</a:t>
            </a:r>
            <a:endParaRPr lang="en-US" sz="1350" dirty="0"/>
          </a:p>
          <a:p>
            <a:pPr indent="0" marL="0">
              <a:buNone/>
            </a:pPr>
            <a:r>
              <a:rPr lang="en-US" sz="1100" i="1" dirty="0">
                <a:solidFill>
                  <a:srgbClr val="5A6472"/>
                </a:solidFill>
                <a:latin typeface="Calibri" pitchFamily="34" charset="0"/>
                <a:cs typeface="Amiri" pitchFamily="2" charset="-78"/>
              </a:rPr>
              <a:t>maw-zun</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food</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مَوْزٌ</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one banana</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مَوْزَةٌ</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8" name="Shape 45"/>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food · one</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بُرْتُقَالٌ</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oranges</a:t>
            </a:r>
            <a:endParaRPr lang="en-US" sz="1350" dirty="0"/>
          </a:p>
          <a:p>
            <a:pPr indent="0" marL="0">
              <a:buNone/>
            </a:pPr>
            <a:r>
              <a:rPr lang="en-US" sz="1100" i="1" dirty="0">
                <a:solidFill>
                  <a:srgbClr val="5A6472"/>
                </a:solidFill>
                <a:latin typeface="Calibri" pitchFamily="34" charset="0"/>
                <a:cs typeface="Amiri" pitchFamily="2" charset="-78"/>
              </a:rPr>
              <a:t>bur-tu-qā-lun</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food</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بُرْتُقَالٌ</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one orange</a:t>
            </a:r>
            <a:endParaRPr lang="en-US" sz="700" dirty="0"/>
          </a:p>
        </p:txBody>
      </p:sp>
      <p:sp>
        <p:nvSpPr>
          <p:cNvPr id="59" name="Text 5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بُرْتُقَالَةٌ</a:t>
            </a:r>
            <a:endParaRPr lang="ar-SA" sz="135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63" name="Text 6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عِنَبٌ</a:t>
            </a:r>
            <a:endParaRPr lang="ar-SA" sz="3000" dirty="0"/>
          </a:p>
        </p:txBody>
      </p:sp>
      <p:sp>
        <p:nvSpPr>
          <p:cNvPr id="64" name="Text 6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grapes</a:t>
            </a:r>
            <a:endParaRPr lang="en-US" sz="1350" dirty="0"/>
          </a:p>
          <a:p>
            <a:pPr indent="0" marL="0">
              <a:buNone/>
            </a:pPr>
            <a:r>
              <a:rPr lang="en-US" sz="1100" i="1" dirty="0">
                <a:solidFill>
                  <a:srgbClr val="5A6472"/>
                </a:solidFill>
                <a:latin typeface="Calibri" pitchFamily="34" charset="0"/>
                <a:cs typeface="Amiri" pitchFamily="2" charset="-78"/>
              </a:rPr>
              <a:t>ʿi-na-bun</a:t>
            </a:r>
            <a:endParaRPr lang="en-US" sz="135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68" name="Text 6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فَرَاوِلَةٌ</a:t>
            </a:r>
            <a:endParaRPr lang="ar-SA" sz="3000" dirty="0"/>
          </a:p>
        </p:txBody>
      </p:sp>
      <p:sp>
        <p:nvSpPr>
          <p:cNvPr id="69" name="Text 6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strawberries</a:t>
            </a:r>
            <a:endParaRPr lang="en-US" sz="1350" dirty="0"/>
          </a:p>
          <a:p>
            <a:pPr indent="0" marL="0">
              <a:buNone/>
            </a:pPr>
            <a:r>
              <a:rPr lang="en-US" sz="1100" i="1" dirty="0">
                <a:solidFill>
                  <a:srgbClr val="5A6472"/>
                </a:solidFill>
                <a:latin typeface="Calibri" pitchFamily="34" charset="0"/>
                <a:cs typeface="Amiri" pitchFamily="2" charset="-78"/>
              </a:rPr>
              <a:t>fa-rā-wi-la-tun</a:t>
            </a:r>
            <a:endParaRPr lang="en-US" sz="1350" dirty="0"/>
          </a:p>
        </p:txBody>
      </p:sp>
      <p:sp>
        <p:nvSpPr>
          <p:cNvPr id="70" name="Shape 6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566928"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73" name="Shape 70"/>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74" name="Text 71"/>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food · one</a:t>
            </a:r>
            <a:endParaRPr lang="en-US" sz="800" dirty="0"/>
          </a:p>
        </p:txBody>
      </p:sp>
      <p:sp>
        <p:nvSpPr>
          <p:cNvPr id="75" name="Text 7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تَمْرٌ</a:t>
            </a:r>
            <a:endParaRPr lang="ar-SA" sz="3000" dirty="0"/>
          </a:p>
        </p:txBody>
      </p:sp>
      <p:sp>
        <p:nvSpPr>
          <p:cNvPr id="76" name="Text 7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dates</a:t>
            </a:r>
            <a:endParaRPr lang="en-US" sz="1350" dirty="0"/>
          </a:p>
          <a:p>
            <a:pPr indent="0" marL="0">
              <a:buNone/>
            </a:pPr>
            <a:r>
              <a:rPr lang="en-US" sz="1100" i="1" dirty="0">
                <a:solidFill>
                  <a:srgbClr val="5A6472"/>
                </a:solidFill>
                <a:latin typeface="Calibri" pitchFamily="34" charset="0"/>
                <a:cs typeface="Amiri" pitchFamily="2" charset="-78"/>
              </a:rPr>
              <a:t>tam-run</a:t>
            </a:r>
            <a:endParaRPr lang="en-US" sz="1350" dirty="0"/>
          </a:p>
        </p:txBody>
      </p:sp>
      <p:sp>
        <p:nvSpPr>
          <p:cNvPr id="77" name="Shape 74"/>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food</a:t>
            </a:r>
            <a:endParaRPr lang="en-US" sz="700" dirty="0"/>
          </a:p>
        </p:txBody>
      </p:sp>
      <p:sp>
        <p:nvSpPr>
          <p:cNvPr id="79" name="Text 76"/>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تَمْرٌ</a:t>
            </a:r>
            <a:endParaRPr lang="ar-SA" sz="1350" dirty="0"/>
          </a:p>
        </p:txBody>
      </p:sp>
      <p:sp>
        <p:nvSpPr>
          <p:cNvPr id="80" name="Shape 77"/>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one date</a:t>
            </a:r>
            <a:endParaRPr lang="en-US" sz="700" dirty="0"/>
          </a:p>
        </p:txBody>
      </p:sp>
      <p:sp>
        <p:nvSpPr>
          <p:cNvPr id="82" name="Text 79"/>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تَمْرَةٌ</a:t>
            </a:r>
            <a:endParaRPr lang="ar-SA" sz="13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Fruit and vegetables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طَمَاطِمُ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tomatoes</a:t>
            </a:r>
            <a:endParaRPr lang="en-US" sz="1350" dirty="0"/>
          </a:p>
          <a:p>
            <a:pPr indent="0" marL="0">
              <a:buNone/>
            </a:pPr>
            <a:r>
              <a:rPr lang="en-US" sz="1100" i="1" dirty="0">
                <a:solidFill>
                  <a:srgbClr val="5A6472"/>
                </a:solidFill>
                <a:latin typeface="Calibri" pitchFamily="34" charset="0"/>
                <a:cs typeface="Amiri" pitchFamily="2" charset="-78"/>
              </a:rPr>
              <a:t>ṭa-mā-ṭi-mu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خِيَارٌ</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cucumber</a:t>
            </a:r>
            <a:endParaRPr lang="en-US" sz="1350" dirty="0"/>
          </a:p>
          <a:p>
            <a:pPr indent="0" marL="0">
              <a:buNone/>
            </a:pPr>
            <a:r>
              <a:rPr lang="en-US" sz="1100" i="1" dirty="0">
                <a:solidFill>
                  <a:srgbClr val="5A6472"/>
                </a:solidFill>
                <a:latin typeface="Calibri" pitchFamily="34" charset="0"/>
                <a:cs typeface="Amiri" pitchFamily="2" charset="-78"/>
              </a:rPr>
              <a:t>khi-yā-run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جَزَرٌ</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carrots</a:t>
            </a:r>
            <a:endParaRPr lang="en-US" sz="1350" dirty="0"/>
          </a:p>
          <a:p>
            <a:pPr indent="0" marL="0">
              <a:buNone/>
            </a:pPr>
            <a:r>
              <a:rPr lang="en-US" sz="1100" i="1" dirty="0">
                <a:solidFill>
                  <a:srgbClr val="5A6472"/>
                </a:solidFill>
                <a:latin typeface="Calibri" pitchFamily="34" charset="0"/>
                <a:cs typeface="Amiri" pitchFamily="2" charset="-78"/>
              </a:rPr>
              <a:t>ja-za-run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5" name="Shape 3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بَطَاطِسُ</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potatoes</a:t>
            </a:r>
            <a:endParaRPr lang="en-US" sz="1350" dirty="0"/>
          </a:p>
          <a:p>
            <a:pPr indent="0" marL="0">
              <a:buNone/>
            </a:pPr>
            <a:r>
              <a:rPr lang="en-US" sz="1100" i="1" dirty="0">
                <a:solidFill>
                  <a:srgbClr val="5A6472"/>
                </a:solidFill>
                <a:latin typeface="Calibri" pitchFamily="34" charset="0"/>
                <a:cs typeface="Amiri" pitchFamily="2" charset="-78"/>
              </a:rPr>
              <a:t>ba-ṭā-ṭi-su</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2" name="Shape 3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سَلَطَةٌ</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salad</a:t>
            </a:r>
            <a:endParaRPr lang="en-US" sz="1350" dirty="0"/>
          </a:p>
          <a:p>
            <a:pPr indent="0" marL="0">
              <a:buNone/>
            </a:pPr>
            <a:r>
              <a:rPr lang="en-US" sz="1100" i="1" dirty="0">
                <a:solidFill>
                  <a:srgbClr val="5A6472"/>
                </a:solidFill>
                <a:latin typeface="Calibri" pitchFamily="34" charset="0"/>
                <a:cs typeface="Amiri" pitchFamily="2" charset="-78"/>
              </a:rPr>
              <a:t>sa-la-ṭa-tun</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Drinks and extras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مَاءٌ</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water</a:t>
            </a:r>
            <a:endParaRPr lang="en-US" sz="1350" dirty="0"/>
          </a:p>
          <a:p>
            <a:pPr indent="0" marL="0">
              <a:buNone/>
            </a:pPr>
            <a:r>
              <a:rPr lang="en-US" sz="1100" i="1" dirty="0">
                <a:solidFill>
                  <a:srgbClr val="5A6472"/>
                </a:solidFill>
                <a:latin typeface="Calibri" pitchFamily="34" charset="0"/>
                <a:cs typeface="Amiri" pitchFamily="2" charset="-78"/>
              </a:rPr>
              <a:t>mā-ʾun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حَلِيبٌ</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milk</a:t>
            </a:r>
            <a:endParaRPr lang="en-US" sz="1350" dirty="0"/>
          </a:p>
          <a:p>
            <a:pPr indent="0" marL="0">
              <a:buNone/>
            </a:pPr>
            <a:r>
              <a:rPr lang="en-US" sz="1100" i="1" dirty="0">
                <a:solidFill>
                  <a:srgbClr val="5A6472"/>
                </a:solidFill>
                <a:latin typeface="Calibri" pitchFamily="34" charset="0"/>
                <a:cs typeface="Amiri" pitchFamily="2" charset="-78"/>
              </a:rPr>
              <a:t>ḥa-lī-bun</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عَصِيرٌ</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juice</a:t>
            </a:r>
            <a:endParaRPr lang="en-US" sz="1350" dirty="0"/>
          </a:p>
          <a:p>
            <a:pPr indent="0" marL="0">
              <a:buNone/>
            </a:pPr>
            <a:r>
              <a:rPr lang="en-US" sz="1100" i="1" dirty="0">
                <a:solidFill>
                  <a:srgbClr val="5A6472"/>
                </a:solidFill>
                <a:latin typeface="Calibri" pitchFamily="34" charset="0"/>
                <a:cs typeface="Amiri" pitchFamily="2" charset="-78"/>
              </a:rPr>
              <a:t>ʿa-ṣī-run</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شَايٌ</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tea</a:t>
            </a:r>
            <a:endParaRPr lang="en-US" sz="1350" dirty="0"/>
          </a:p>
          <a:p>
            <a:pPr indent="0" marL="0">
              <a:buNone/>
            </a:pPr>
            <a:r>
              <a:rPr lang="en-US" sz="1100" i="1" dirty="0">
                <a:solidFill>
                  <a:srgbClr val="5A6472"/>
                </a:solidFill>
                <a:latin typeface="Calibri" pitchFamily="34" charset="0"/>
                <a:cs typeface="Amiri" pitchFamily="2" charset="-78"/>
              </a:rPr>
              <a:t>shā-yun</a:t>
            </a:r>
            <a:endParaRPr lang="en-US" sz="1350" dirty="0"/>
          </a:p>
        </p:txBody>
      </p:sp>
      <p:sp>
        <p:nvSpPr>
          <p:cNvPr id="45" name="Shape 4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4389120"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قَهْوَةٌ</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coffee</a:t>
            </a:r>
            <a:endParaRPr lang="en-US" sz="1350" dirty="0"/>
          </a:p>
          <a:p>
            <a:pPr indent="0" marL="0">
              <a:buNone/>
            </a:pPr>
            <a:r>
              <a:rPr lang="en-US" sz="1100" i="1" dirty="0">
                <a:solidFill>
                  <a:srgbClr val="5A6472"/>
                </a:solidFill>
                <a:latin typeface="Calibri" pitchFamily="34" charset="0"/>
                <a:cs typeface="Amiri" pitchFamily="2" charset="-78"/>
              </a:rPr>
              <a:t>qah-wa-tun</a:t>
            </a:r>
            <a:endParaRPr lang="en-US" sz="13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Drinks and extras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عَصِيرُ اللَّيْمُونِ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lemon juice</a:t>
            </a:r>
            <a:endParaRPr lang="en-US" sz="1350" dirty="0"/>
          </a:p>
          <a:p>
            <a:pPr indent="0" marL="0">
              <a:buNone/>
            </a:pPr>
            <a:r>
              <a:rPr lang="en-US" sz="1100" i="1" dirty="0">
                <a:solidFill>
                  <a:srgbClr val="5A6472"/>
                </a:solidFill>
                <a:latin typeface="Calibri" pitchFamily="34" charset="0"/>
                <a:cs typeface="Amiri" pitchFamily="2" charset="-78"/>
              </a:rPr>
              <a:t>ʿa-ṣī-ru all-lay-mū-ni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حَسَاءٌ</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soup</a:t>
            </a:r>
            <a:endParaRPr lang="en-US" sz="1350" dirty="0"/>
          </a:p>
          <a:p>
            <a:pPr indent="0" marL="0">
              <a:buNone/>
            </a:pPr>
            <a:r>
              <a:rPr lang="en-US" sz="1100" i="1" dirty="0">
                <a:solidFill>
                  <a:srgbClr val="5A6472"/>
                </a:solidFill>
                <a:latin typeface="Calibri" pitchFamily="34" charset="0"/>
                <a:cs typeface="Amiri" pitchFamily="2" charset="-78"/>
              </a:rPr>
              <a:t>ḥa-sā-ʾun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زَبَادِي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yoghurt</a:t>
            </a:r>
            <a:endParaRPr lang="en-US" sz="1350" dirty="0"/>
          </a:p>
          <a:p>
            <a:pPr indent="0" marL="0">
              <a:buNone/>
            </a:pPr>
            <a:r>
              <a:rPr lang="en-US" sz="1100" i="1" dirty="0">
                <a:solidFill>
                  <a:srgbClr val="5A6472"/>
                </a:solidFill>
                <a:latin typeface="Calibri" pitchFamily="34" charset="0"/>
                <a:cs typeface="Amiri" pitchFamily="2" charset="-78"/>
              </a:rPr>
              <a:t>za-bā-dī</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شُوكُولَاتَةٌ</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chocolate</a:t>
            </a:r>
            <a:endParaRPr lang="en-US" sz="1350" dirty="0"/>
          </a:p>
          <a:p>
            <a:pPr indent="0" marL="0">
              <a:buNone/>
            </a:pPr>
            <a:r>
              <a:rPr lang="en-US" sz="1100" i="1" dirty="0">
                <a:solidFill>
                  <a:srgbClr val="5A6472"/>
                </a:solidFill>
                <a:latin typeface="Calibri" pitchFamily="34" charset="0"/>
                <a:cs typeface="Amiri" pitchFamily="2" charset="-78"/>
              </a:rPr>
              <a:t>shū-kū-lā-ta-tun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LIKE AND DON’T LIKE (WEBSITE RULES 1, 2 AND 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 like · I don’t like · do you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أُحِبُّ · لَا أُحِبُّ · هَلْ تُحِبُّ؟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97610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7" name="Text 14"/>
          <p:cNvSpPr txBox="1"/>
          <p:nvPr/>
        </p:nvSpPr>
        <p:spPr>
          <a:xfrm>
            <a:off x="6684264"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Like</a:t>
            </a:r>
            <a:endParaRPr lang="en-US" sz="1100" dirty="0"/>
          </a:p>
        </p:txBody>
      </p:sp>
      <p:sp>
        <p:nvSpPr>
          <p:cNvPr id="18" name="Text 15"/>
          <p:cNvSpPr txBox="1"/>
          <p:nvPr/>
        </p:nvSpPr>
        <p:spPr>
          <a:xfrm>
            <a:off x="3209544"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Don’t like</a:t>
            </a:r>
            <a:endParaRPr lang="en-US" sz="1100" dirty="0"/>
          </a:p>
        </p:txBody>
      </p:sp>
      <p:sp>
        <p:nvSpPr>
          <p:cNvPr id="19" name="Text 16"/>
          <p:cNvSpPr txBox="1"/>
          <p:nvPr/>
        </p:nvSpPr>
        <p:spPr>
          <a:xfrm>
            <a:off x="530352" y="1810512"/>
            <a:ext cx="2532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9994392" y="2267712"/>
            <a:ext cx="16459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أَنَا</a:t>
            </a:r>
            <a:endParaRPr lang="ar-SA" sz="2400" dirty="0"/>
          </a:p>
        </p:txBody>
      </p:sp>
      <p:sp>
        <p:nvSpPr>
          <p:cNvPr id="22" name="Text 19"/>
          <p:cNvSpPr txBox="1"/>
          <p:nvPr/>
        </p:nvSpPr>
        <p:spPr>
          <a:xfrm>
            <a:off x="6702552" y="2286000"/>
            <a:ext cx="3108960" cy="346771"/>
          </a:xfrm>
          <a:prstGeom prst="rect">
            <a:avLst/>
          </a:prstGeom>
          <a:noFill/>
          <a:ln/>
        </p:spPr>
        <p:txBody>
          <a:bodyPr wrap="square" lIns="0" tIns="0" rIns="0" bIns="0" rtlCol="0" anchor="ctr"/>
          <a:lstStyle/>
          <a:p>
            <a:pPr rtl="1" algn="ctr" indent="0" marL="0">
              <a:buNone/>
            </a:pPr>
            <a:r>
              <a:rPr lang="ar-SA" altLang="en-US" sz="1600" b="1" dirty="0">
                <a:solidFill>
                  <a:srgbClr val="1D5FBF"/>
                </a:solidFill>
                <a:latin typeface="Amiri" pitchFamily="2" charset="-78"/>
                <a:ea typeface="Amiri" pitchFamily="2" charset="-78"/>
                <a:cs typeface="Amiri" pitchFamily="2" charset="-78"/>
              </a:rPr>
              <a:t>أُ</a:t>
            </a:r>
            <a:pPr rtl="1" algn="ctr" indent="0" marL="0">
              <a:buNone/>
            </a:pPr>
            <a:r>
              <a:rPr lang="ar-SA" altLang="en-US" sz="1600" b="1" dirty="0">
                <a:solidFill>
                  <a:srgbClr val="1B3B6F"/>
                </a:solidFill>
                <a:latin typeface="Amiri" pitchFamily="2" charset="-78"/>
                <a:ea typeface="Amiri" pitchFamily="2" charset="-78"/>
                <a:cs typeface="Amiri" pitchFamily="2" charset="-78"/>
              </a:rPr>
              <a:t>حِبُّ الخُبْزَ</a:t>
            </a:r>
            <a:endParaRPr lang="ar-SA" sz="1600" dirty="0"/>
          </a:p>
        </p:txBody>
      </p:sp>
      <p:sp>
        <p:nvSpPr>
          <p:cNvPr id="23" name="Text 20"/>
          <p:cNvSpPr txBox="1"/>
          <p:nvPr/>
        </p:nvSpPr>
        <p:spPr>
          <a:xfrm>
            <a:off x="6656832" y="2603297"/>
            <a:ext cx="320040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like bread</a:t>
            </a:r>
            <a:endParaRPr lang="en-US" sz="950" dirty="0"/>
          </a:p>
        </p:txBody>
      </p:sp>
      <p:sp>
        <p:nvSpPr>
          <p:cNvPr id="24" name="Text 21"/>
          <p:cNvSpPr txBox="1"/>
          <p:nvPr/>
        </p:nvSpPr>
        <p:spPr>
          <a:xfrm>
            <a:off x="3227832" y="2286000"/>
            <a:ext cx="3291840" cy="346771"/>
          </a:xfrm>
          <a:prstGeom prst="rect">
            <a:avLst/>
          </a:prstGeom>
          <a:noFill/>
          <a:ln/>
        </p:spPr>
        <p:txBody>
          <a:bodyPr wrap="square" lIns="0" tIns="0" rIns="0" bIns="0" rtlCol="0" anchor="ctr"/>
          <a:lstStyle/>
          <a:p>
            <a:pPr rtl="1" algn="ctr" indent="0" marL="0">
              <a:buNone/>
            </a:pPr>
            <a:r>
              <a:rPr lang="ar-SA" altLang="en-US" sz="1600" b="1" dirty="0">
                <a:solidFill>
                  <a:srgbClr val="D6336C"/>
                </a:solidFill>
                <a:latin typeface="Amiri" pitchFamily="2" charset="-78"/>
                <a:ea typeface="Amiri" pitchFamily="2" charset="-78"/>
                <a:cs typeface="Amiri" pitchFamily="2" charset="-78"/>
              </a:rPr>
              <a:t>لَا</a:t>
            </a:r>
            <a:pPr rtl="1" algn="ctr" indent="0" marL="0">
              <a:buNone/>
            </a:pPr>
            <a:r>
              <a:rPr lang="ar-SA" altLang="en-US" sz="1600" b="1" dirty="0">
                <a:solidFill>
                  <a:srgbClr val="1B3B6F"/>
                </a:solidFill>
                <a:latin typeface="Amiri" pitchFamily="2" charset="-78"/>
                <a:cs typeface="Amiri" pitchFamily="2" charset="-78"/>
              </a:rPr>
              <a:t> </a:t>
            </a:r>
            <a:pPr rtl="1" algn="ctr" indent="0" marL="0">
              <a:buNone/>
            </a:pPr>
            <a:r>
              <a:rPr lang="ar-SA" altLang="en-US" sz="1600" b="1" dirty="0">
                <a:solidFill>
                  <a:srgbClr val="1D5FBF"/>
                </a:solidFill>
                <a:latin typeface="Amiri" pitchFamily="2" charset="-78"/>
                <a:ea typeface="Amiri" pitchFamily="2" charset="-78"/>
                <a:cs typeface="Amiri" pitchFamily="2" charset="-78"/>
              </a:rPr>
              <a:t>أُ</a:t>
            </a:r>
            <a:pPr rtl="1" algn="ctr" indent="0" marL="0">
              <a:buNone/>
            </a:pPr>
            <a:r>
              <a:rPr lang="ar-SA" altLang="en-US" sz="1600" b="1" dirty="0">
                <a:solidFill>
                  <a:srgbClr val="1B3B6F"/>
                </a:solidFill>
                <a:latin typeface="Amiri" pitchFamily="2" charset="-78"/>
                <a:ea typeface="Amiri" pitchFamily="2" charset="-78"/>
                <a:cs typeface="Amiri" pitchFamily="2" charset="-78"/>
              </a:rPr>
              <a:t>حِبُّ السَّمَكَ</a:t>
            </a:r>
            <a:endParaRPr lang="ar-SA" sz="1600" dirty="0"/>
          </a:p>
        </p:txBody>
      </p:sp>
      <p:sp>
        <p:nvSpPr>
          <p:cNvPr id="25" name="Text 22"/>
          <p:cNvSpPr txBox="1"/>
          <p:nvPr/>
        </p:nvSpPr>
        <p:spPr>
          <a:xfrm>
            <a:off x="3182112" y="2603297"/>
            <a:ext cx="338328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don’t like fish</a:t>
            </a:r>
            <a:endParaRPr lang="en-US" sz="950" dirty="0"/>
          </a:p>
        </p:txBody>
      </p:sp>
      <p:sp>
        <p:nvSpPr>
          <p:cNvPr id="26" name="Text 23"/>
          <p:cNvSpPr txBox="1"/>
          <p:nvPr/>
        </p:nvSpPr>
        <p:spPr>
          <a:xfrm>
            <a:off x="566928" y="2267712"/>
            <a:ext cx="24963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994392" y="2881884"/>
            <a:ext cx="16459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a:t>
            </a:r>
            <a:endParaRPr lang="ar-SA" sz="2400" dirty="0"/>
          </a:p>
        </p:txBody>
      </p:sp>
      <p:sp>
        <p:nvSpPr>
          <p:cNvPr id="31" name="Text 28"/>
          <p:cNvSpPr txBox="1"/>
          <p:nvPr/>
        </p:nvSpPr>
        <p:spPr>
          <a:xfrm>
            <a:off x="6702552" y="2900172"/>
            <a:ext cx="3108960" cy="346771"/>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a:t>
            </a:r>
            <a:pPr rtl="1" algn="ctr" indent="0" marL="0">
              <a:buNone/>
            </a:pPr>
            <a:r>
              <a:rPr lang="ar-SA" altLang="en-US" sz="1600" b="1" dirty="0">
                <a:solidFill>
                  <a:srgbClr val="1D5FBF"/>
                </a:solidFill>
                <a:latin typeface="Amiri" pitchFamily="2" charset="-78"/>
                <a:ea typeface="Amiri" pitchFamily="2" charset="-78"/>
                <a:cs typeface="Amiri" pitchFamily="2" charset="-78"/>
              </a:rPr>
              <a:t>تُ</a:t>
            </a:r>
            <a:pPr rtl="1" algn="ctr" indent="0" marL="0">
              <a:buNone/>
            </a:pPr>
            <a:r>
              <a:rPr lang="ar-SA" altLang="en-US" sz="1600" b="1" dirty="0">
                <a:solidFill>
                  <a:srgbClr val="1B3B6F"/>
                </a:solidFill>
                <a:latin typeface="Amiri" pitchFamily="2" charset="-78"/>
                <a:ea typeface="Amiri" pitchFamily="2" charset="-78"/>
                <a:cs typeface="Amiri" pitchFamily="2" charset="-78"/>
              </a:rPr>
              <a:t>حِبُّ الجُبْنَ؟</a:t>
            </a:r>
            <a:endParaRPr lang="ar-SA" sz="1600" dirty="0"/>
          </a:p>
        </p:txBody>
      </p:sp>
      <p:sp>
        <p:nvSpPr>
          <p:cNvPr id="32" name="Text 29"/>
          <p:cNvSpPr txBox="1"/>
          <p:nvPr/>
        </p:nvSpPr>
        <p:spPr>
          <a:xfrm>
            <a:off x="6656832" y="3217469"/>
            <a:ext cx="320040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do you (m.) like cheese?</a:t>
            </a:r>
            <a:endParaRPr lang="en-US" sz="950" dirty="0"/>
          </a:p>
        </p:txBody>
      </p:sp>
      <p:sp>
        <p:nvSpPr>
          <p:cNvPr id="33" name="Text 30"/>
          <p:cNvSpPr txBox="1"/>
          <p:nvPr/>
        </p:nvSpPr>
        <p:spPr>
          <a:xfrm>
            <a:off x="3227832" y="2900172"/>
            <a:ext cx="3291840" cy="346771"/>
          </a:xfrm>
          <a:prstGeom prst="rect">
            <a:avLst/>
          </a:prstGeom>
          <a:noFill/>
          <a:ln/>
        </p:spPr>
        <p:txBody>
          <a:bodyPr wrap="square" lIns="0" tIns="0" rIns="0" bIns="0" rtlCol="0" anchor="ctr"/>
          <a:lstStyle/>
          <a:p>
            <a:pPr rtl="1" algn="ctr" indent="0" marL="0">
              <a:buNone/>
            </a:pPr>
            <a:r>
              <a:rPr lang="ar-SA" altLang="en-US" sz="1600" b="1" dirty="0">
                <a:solidFill>
                  <a:srgbClr val="D6336C"/>
                </a:solidFill>
                <a:latin typeface="Amiri" pitchFamily="2" charset="-78"/>
                <a:ea typeface="Amiri" pitchFamily="2" charset="-78"/>
                <a:cs typeface="Amiri" pitchFamily="2" charset="-78"/>
              </a:rPr>
              <a:t>لَا</a:t>
            </a:r>
            <a:pPr rtl="1" algn="ctr" indent="0" marL="0">
              <a:buNone/>
            </a:pPr>
            <a:r>
              <a:rPr lang="ar-SA" altLang="en-US" sz="1600" b="1" dirty="0">
                <a:solidFill>
                  <a:srgbClr val="1B3B6F"/>
                </a:solidFill>
                <a:latin typeface="Amiri" pitchFamily="2" charset="-78"/>
                <a:cs typeface="Amiri" pitchFamily="2" charset="-78"/>
              </a:rPr>
              <a:t> </a:t>
            </a:r>
            <a:pPr rtl="1" algn="ctr" indent="0" marL="0">
              <a:buNone/>
            </a:pPr>
            <a:r>
              <a:rPr lang="ar-SA" altLang="en-US" sz="1600" b="1" dirty="0">
                <a:solidFill>
                  <a:srgbClr val="1D5FBF"/>
                </a:solidFill>
                <a:latin typeface="Amiri" pitchFamily="2" charset="-78"/>
                <a:ea typeface="Amiri" pitchFamily="2" charset="-78"/>
                <a:cs typeface="Amiri" pitchFamily="2" charset="-78"/>
              </a:rPr>
              <a:t>تُ</a:t>
            </a:r>
            <a:pPr rtl="1" algn="ctr" indent="0" marL="0">
              <a:buNone/>
            </a:pPr>
            <a:r>
              <a:rPr lang="ar-SA" altLang="en-US" sz="1600" b="1" dirty="0">
                <a:solidFill>
                  <a:srgbClr val="1B3B6F"/>
                </a:solidFill>
                <a:latin typeface="Amiri" pitchFamily="2" charset="-78"/>
                <a:ea typeface="Amiri" pitchFamily="2" charset="-78"/>
                <a:cs typeface="Amiri" pitchFamily="2" charset="-78"/>
              </a:rPr>
              <a:t>حِبُّ الشَّايَ</a:t>
            </a:r>
            <a:endParaRPr lang="ar-SA" sz="1600" dirty="0"/>
          </a:p>
        </p:txBody>
      </p:sp>
      <p:sp>
        <p:nvSpPr>
          <p:cNvPr id="34" name="Text 31"/>
          <p:cNvSpPr txBox="1"/>
          <p:nvPr/>
        </p:nvSpPr>
        <p:spPr>
          <a:xfrm>
            <a:off x="3182112" y="3217469"/>
            <a:ext cx="338328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you (m.) don’t like tea</a:t>
            </a:r>
            <a:endParaRPr lang="en-US" sz="950" dirty="0"/>
          </a:p>
        </p:txBody>
      </p:sp>
      <p:sp>
        <p:nvSpPr>
          <p:cNvPr id="35" name="Text 32"/>
          <p:cNvSpPr txBox="1"/>
          <p:nvPr/>
        </p:nvSpPr>
        <p:spPr>
          <a:xfrm>
            <a:off x="566928" y="2881884"/>
            <a:ext cx="24963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(m.)</a:t>
            </a:r>
            <a:endParaRPr lang="en-US" sz="1100" dirty="0"/>
          </a:p>
        </p:txBody>
      </p:sp>
      <p:sp>
        <p:nvSpPr>
          <p:cNvPr id="36" name="Shape 33"/>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9" name="Text 36"/>
          <p:cNvSpPr txBox="1"/>
          <p:nvPr/>
        </p:nvSpPr>
        <p:spPr>
          <a:xfrm>
            <a:off x="9994392" y="3496056"/>
            <a:ext cx="16459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a:t>
            </a:r>
            <a:endParaRPr lang="ar-SA" sz="2400" dirty="0"/>
          </a:p>
        </p:txBody>
      </p:sp>
      <p:sp>
        <p:nvSpPr>
          <p:cNvPr id="40" name="Text 37"/>
          <p:cNvSpPr txBox="1"/>
          <p:nvPr/>
        </p:nvSpPr>
        <p:spPr>
          <a:xfrm>
            <a:off x="6702552" y="3514344"/>
            <a:ext cx="3108960" cy="346771"/>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a:t>
            </a:r>
            <a:pPr rtl="1" algn="ctr" indent="0" marL="0">
              <a:buNone/>
            </a:pPr>
            <a:r>
              <a:rPr lang="ar-SA" altLang="en-US" sz="1600" b="1" dirty="0">
                <a:solidFill>
                  <a:srgbClr val="1D5FBF"/>
                </a:solidFill>
                <a:latin typeface="Amiri" pitchFamily="2" charset="-78"/>
                <a:ea typeface="Amiri" pitchFamily="2" charset="-78"/>
                <a:cs typeface="Amiri" pitchFamily="2" charset="-78"/>
              </a:rPr>
              <a:t>تُ</a:t>
            </a:r>
            <a:pPr rtl="1" algn="ctr" indent="0" marL="0">
              <a:buNone/>
            </a:pPr>
            <a:r>
              <a:rPr lang="ar-SA" altLang="en-US" sz="1600" b="1" dirty="0">
                <a:solidFill>
                  <a:srgbClr val="1B3B6F"/>
                </a:solidFill>
                <a:latin typeface="Amiri" pitchFamily="2" charset="-78"/>
                <a:ea typeface="Amiri" pitchFamily="2" charset="-78"/>
                <a:cs typeface="Amiri" pitchFamily="2" charset="-78"/>
              </a:rPr>
              <a:t>حِبِّ</a:t>
            </a:r>
            <a:pPr rtl="1" algn="ctr" indent="0" marL="0">
              <a:buNone/>
            </a:pPr>
            <a:r>
              <a:rPr lang="ar-SA" altLang="en-US" sz="1600" b="1" dirty="0">
                <a:solidFill>
                  <a:srgbClr val="1D5FBF"/>
                </a:solidFill>
                <a:latin typeface="Amiri" pitchFamily="2" charset="-78"/>
                <a:ea typeface="Amiri" pitchFamily="2" charset="-78"/>
                <a:cs typeface="Amiri" pitchFamily="2" charset="-78"/>
              </a:rPr>
              <a:t>ينَ</a:t>
            </a:r>
            <a:pPr rtl="1" algn="ctr" indent="0" marL="0">
              <a:buNone/>
            </a:pPr>
            <a:r>
              <a:rPr lang="ar-SA" altLang="en-US" sz="1600" b="1" dirty="0">
                <a:solidFill>
                  <a:srgbClr val="1B3B6F"/>
                </a:solidFill>
                <a:latin typeface="Amiri" pitchFamily="2" charset="-78"/>
                <a:ea typeface="Amiri" pitchFamily="2" charset="-78"/>
                <a:cs typeface="Amiri" pitchFamily="2" charset="-78"/>
              </a:rPr>
              <a:t> السَّلَطَةَ؟</a:t>
            </a:r>
            <a:endParaRPr lang="ar-SA" sz="1600" dirty="0"/>
          </a:p>
        </p:txBody>
      </p:sp>
      <p:sp>
        <p:nvSpPr>
          <p:cNvPr id="41" name="Text 38"/>
          <p:cNvSpPr txBox="1"/>
          <p:nvPr/>
        </p:nvSpPr>
        <p:spPr>
          <a:xfrm>
            <a:off x="6656832" y="3831641"/>
            <a:ext cx="320040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do you (f.) like salad?</a:t>
            </a:r>
            <a:endParaRPr lang="en-US" sz="950" dirty="0"/>
          </a:p>
        </p:txBody>
      </p:sp>
      <p:sp>
        <p:nvSpPr>
          <p:cNvPr id="42" name="Text 39"/>
          <p:cNvSpPr txBox="1"/>
          <p:nvPr/>
        </p:nvSpPr>
        <p:spPr>
          <a:xfrm>
            <a:off x="3227832" y="3514344"/>
            <a:ext cx="3291840" cy="346771"/>
          </a:xfrm>
          <a:prstGeom prst="rect">
            <a:avLst/>
          </a:prstGeom>
          <a:noFill/>
          <a:ln/>
        </p:spPr>
        <p:txBody>
          <a:bodyPr wrap="square" lIns="0" tIns="0" rIns="0" bIns="0" rtlCol="0" anchor="ctr"/>
          <a:lstStyle/>
          <a:p>
            <a:pPr rtl="1" algn="ctr" indent="0" marL="0">
              <a:buNone/>
            </a:pPr>
            <a:r>
              <a:rPr lang="ar-SA" altLang="en-US" sz="1600" b="1" dirty="0">
                <a:solidFill>
                  <a:srgbClr val="D6336C"/>
                </a:solidFill>
                <a:latin typeface="Amiri" pitchFamily="2" charset="-78"/>
                <a:ea typeface="Amiri" pitchFamily="2" charset="-78"/>
                <a:cs typeface="Amiri" pitchFamily="2" charset="-78"/>
              </a:rPr>
              <a:t>لَا</a:t>
            </a:r>
            <a:pPr rtl="1" algn="ctr" indent="0" marL="0">
              <a:buNone/>
            </a:pPr>
            <a:r>
              <a:rPr lang="ar-SA" altLang="en-US" sz="1600" b="1" dirty="0">
                <a:solidFill>
                  <a:srgbClr val="1B3B6F"/>
                </a:solidFill>
                <a:latin typeface="Amiri" pitchFamily="2" charset="-78"/>
                <a:cs typeface="Amiri" pitchFamily="2" charset="-78"/>
              </a:rPr>
              <a:t> </a:t>
            </a:r>
            <a:pPr rtl="1" algn="ctr" indent="0" marL="0">
              <a:buNone/>
            </a:pPr>
            <a:r>
              <a:rPr lang="ar-SA" altLang="en-US" sz="1600" b="1" dirty="0">
                <a:solidFill>
                  <a:srgbClr val="1D5FBF"/>
                </a:solidFill>
                <a:latin typeface="Amiri" pitchFamily="2" charset="-78"/>
                <a:ea typeface="Amiri" pitchFamily="2" charset="-78"/>
                <a:cs typeface="Amiri" pitchFamily="2" charset="-78"/>
              </a:rPr>
              <a:t>تُ</a:t>
            </a:r>
            <a:pPr rtl="1" algn="ctr" indent="0" marL="0">
              <a:buNone/>
            </a:pPr>
            <a:r>
              <a:rPr lang="ar-SA" altLang="en-US" sz="1600" b="1" dirty="0">
                <a:solidFill>
                  <a:srgbClr val="1B3B6F"/>
                </a:solidFill>
                <a:latin typeface="Amiri" pitchFamily="2" charset="-78"/>
                <a:ea typeface="Amiri" pitchFamily="2" charset="-78"/>
                <a:cs typeface="Amiri" pitchFamily="2" charset="-78"/>
              </a:rPr>
              <a:t>حِبِّ</a:t>
            </a:r>
            <a:pPr rtl="1" algn="ctr" indent="0" marL="0">
              <a:buNone/>
            </a:pPr>
            <a:r>
              <a:rPr lang="ar-SA" altLang="en-US" sz="1600" b="1" dirty="0">
                <a:solidFill>
                  <a:srgbClr val="1D5FBF"/>
                </a:solidFill>
                <a:latin typeface="Amiri" pitchFamily="2" charset="-78"/>
                <a:ea typeface="Amiri" pitchFamily="2" charset="-78"/>
                <a:cs typeface="Amiri" pitchFamily="2" charset="-78"/>
              </a:rPr>
              <a:t>ينَ</a:t>
            </a:r>
            <a:pPr rtl="1" algn="ctr" indent="0" marL="0">
              <a:buNone/>
            </a:pPr>
            <a:r>
              <a:rPr lang="ar-SA" altLang="en-US" sz="1600" b="1" dirty="0">
                <a:solidFill>
                  <a:srgbClr val="1B3B6F"/>
                </a:solidFill>
                <a:latin typeface="Amiri" pitchFamily="2" charset="-78"/>
                <a:ea typeface="Amiri" pitchFamily="2" charset="-78"/>
                <a:cs typeface="Amiri" pitchFamily="2" charset="-78"/>
              </a:rPr>
              <a:t> القَهْوَةَ</a:t>
            </a:r>
            <a:endParaRPr lang="ar-SA" sz="1600" dirty="0"/>
          </a:p>
        </p:txBody>
      </p:sp>
      <p:sp>
        <p:nvSpPr>
          <p:cNvPr id="43" name="Text 40"/>
          <p:cNvSpPr txBox="1"/>
          <p:nvPr/>
        </p:nvSpPr>
        <p:spPr>
          <a:xfrm>
            <a:off x="3182112" y="3831641"/>
            <a:ext cx="338328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you (f.) don’t like coffee</a:t>
            </a:r>
            <a:endParaRPr lang="en-US" sz="950" dirty="0"/>
          </a:p>
        </p:txBody>
      </p:sp>
      <p:sp>
        <p:nvSpPr>
          <p:cNvPr id="44" name="Text 41"/>
          <p:cNvSpPr txBox="1"/>
          <p:nvPr/>
        </p:nvSpPr>
        <p:spPr>
          <a:xfrm>
            <a:off x="566928" y="3496056"/>
            <a:ext cx="24963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(f.)</a:t>
            </a:r>
            <a:endParaRPr lang="en-US" sz="110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994392" y="4110228"/>
            <a:ext cx="16459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هُوَ</a:t>
            </a:r>
            <a:endParaRPr lang="ar-SA" sz="2400" dirty="0"/>
          </a:p>
        </p:txBody>
      </p:sp>
      <p:sp>
        <p:nvSpPr>
          <p:cNvPr id="47" name="Text 44"/>
          <p:cNvSpPr txBox="1"/>
          <p:nvPr/>
        </p:nvSpPr>
        <p:spPr>
          <a:xfrm>
            <a:off x="6702552" y="4128516"/>
            <a:ext cx="3108960" cy="346771"/>
          </a:xfrm>
          <a:prstGeom prst="rect">
            <a:avLst/>
          </a:prstGeom>
          <a:noFill/>
          <a:ln/>
        </p:spPr>
        <p:txBody>
          <a:bodyPr wrap="square" lIns="0" tIns="0" rIns="0" bIns="0" rtlCol="0" anchor="ctr"/>
          <a:lstStyle/>
          <a:p>
            <a:pPr rtl="1" algn="ctr" indent="0" marL="0">
              <a:buNone/>
            </a:pPr>
            <a:r>
              <a:rPr lang="ar-SA" altLang="en-US" sz="1600" b="1" dirty="0">
                <a:solidFill>
                  <a:srgbClr val="1D5FBF"/>
                </a:solidFill>
                <a:latin typeface="Amiri" pitchFamily="2" charset="-78"/>
                <a:ea typeface="Amiri" pitchFamily="2" charset="-78"/>
                <a:cs typeface="Amiri" pitchFamily="2" charset="-78"/>
              </a:rPr>
              <a:t>يُ</a:t>
            </a:r>
            <a:pPr rtl="1" algn="ctr" indent="0" marL="0">
              <a:buNone/>
            </a:pPr>
            <a:r>
              <a:rPr lang="ar-SA" altLang="en-US" sz="1600" b="1" dirty="0">
                <a:solidFill>
                  <a:srgbClr val="1B3B6F"/>
                </a:solidFill>
                <a:latin typeface="Amiri" pitchFamily="2" charset="-78"/>
                <a:ea typeface="Amiri" pitchFamily="2" charset="-78"/>
                <a:cs typeface="Amiri" pitchFamily="2" charset="-78"/>
              </a:rPr>
              <a:t>حِبُّ الدَّجَاجَ</a:t>
            </a:r>
            <a:endParaRPr lang="ar-SA" sz="1600" dirty="0"/>
          </a:p>
        </p:txBody>
      </p:sp>
      <p:sp>
        <p:nvSpPr>
          <p:cNvPr id="48" name="Text 45"/>
          <p:cNvSpPr txBox="1"/>
          <p:nvPr/>
        </p:nvSpPr>
        <p:spPr>
          <a:xfrm>
            <a:off x="6656832" y="4445813"/>
            <a:ext cx="320040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likes chicken</a:t>
            </a:r>
            <a:endParaRPr lang="en-US" sz="950" dirty="0"/>
          </a:p>
        </p:txBody>
      </p:sp>
      <p:sp>
        <p:nvSpPr>
          <p:cNvPr id="49" name="Text 46"/>
          <p:cNvSpPr txBox="1"/>
          <p:nvPr/>
        </p:nvSpPr>
        <p:spPr>
          <a:xfrm>
            <a:off x="3227832" y="4128516"/>
            <a:ext cx="3291840" cy="346771"/>
          </a:xfrm>
          <a:prstGeom prst="rect">
            <a:avLst/>
          </a:prstGeom>
          <a:noFill/>
          <a:ln/>
        </p:spPr>
        <p:txBody>
          <a:bodyPr wrap="square" lIns="0" tIns="0" rIns="0" bIns="0" rtlCol="0" anchor="ctr"/>
          <a:lstStyle/>
          <a:p>
            <a:pPr rtl="1" algn="ctr" indent="0" marL="0">
              <a:buNone/>
            </a:pPr>
            <a:r>
              <a:rPr lang="ar-SA" altLang="en-US" sz="1600" b="1" dirty="0">
                <a:solidFill>
                  <a:srgbClr val="D6336C"/>
                </a:solidFill>
                <a:latin typeface="Amiri" pitchFamily="2" charset="-78"/>
                <a:ea typeface="Amiri" pitchFamily="2" charset="-78"/>
                <a:cs typeface="Amiri" pitchFamily="2" charset="-78"/>
              </a:rPr>
              <a:t>لَا</a:t>
            </a:r>
            <a:pPr rtl="1" algn="ctr" indent="0" marL="0">
              <a:buNone/>
            </a:pPr>
            <a:r>
              <a:rPr lang="ar-SA" altLang="en-US" sz="1600" b="1" dirty="0">
                <a:solidFill>
                  <a:srgbClr val="1B3B6F"/>
                </a:solidFill>
                <a:latin typeface="Amiri" pitchFamily="2" charset="-78"/>
                <a:cs typeface="Amiri" pitchFamily="2" charset="-78"/>
              </a:rPr>
              <a:t> </a:t>
            </a:r>
            <a:pPr rtl="1" algn="ctr" indent="0" marL="0">
              <a:buNone/>
            </a:pPr>
            <a:r>
              <a:rPr lang="ar-SA" altLang="en-US" sz="1600" b="1" dirty="0">
                <a:solidFill>
                  <a:srgbClr val="1D5FBF"/>
                </a:solidFill>
                <a:latin typeface="Amiri" pitchFamily="2" charset="-78"/>
                <a:ea typeface="Amiri" pitchFamily="2" charset="-78"/>
                <a:cs typeface="Amiri" pitchFamily="2" charset="-78"/>
              </a:rPr>
              <a:t>يُ</a:t>
            </a:r>
            <a:pPr rtl="1" algn="ctr" indent="0" marL="0">
              <a:buNone/>
            </a:pPr>
            <a:r>
              <a:rPr lang="ar-SA" altLang="en-US" sz="1600" b="1" dirty="0">
                <a:solidFill>
                  <a:srgbClr val="1B3B6F"/>
                </a:solidFill>
                <a:latin typeface="Amiri" pitchFamily="2" charset="-78"/>
                <a:ea typeface="Amiri" pitchFamily="2" charset="-78"/>
                <a:cs typeface="Amiri" pitchFamily="2" charset="-78"/>
              </a:rPr>
              <a:t>حِبُّ الخَضْرَوَاتِ</a:t>
            </a:r>
            <a:endParaRPr lang="ar-SA" sz="1600" dirty="0"/>
          </a:p>
        </p:txBody>
      </p:sp>
      <p:sp>
        <p:nvSpPr>
          <p:cNvPr id="50" name="Text 47"/>
          <p:cNvSpPr txBox="1"/>
          <p:nvPr/>
        </p:nvSpPr>
        <p:spPr>
          <a:xfrm>
            <a:off x="3182112" y="4445813"/>
            <a:ext cx="338328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doesn’t like vegetables</a:t>
            </a:r>
            <a:endParaRPr lang="en-US" sz="950" dirty="0"/>
          </a:p>
        </p:txBody>
      </p:sp>
      <p:sp>
        <p:nvSpPr>
          <p:cNvPr id="51" name="Text 48"/>
          <p:cNvSpPr txBox="1"/>
          <p:nvPr/>
        </p:nvSpPr>
        <p:spPr>
          <a:xfrm>
            <a:off x="566928" y="4110228"/>
            <a:ext cx="24963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a:t>
            </a:r>
            <a:endParaRPr lang="en-US" sz="1100" dirty="0"/>
          </a:p>
        </p:txBody>
      </p:sp>
      <p:sp>
        <p:nvSpPr>
          <p:cNvPr id="52" name="Shape 49"/>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3" name="Text 50"/>
          <p:cNvSpPr txBox="1"/>
          <p:nvPr/>
        </p:nvSpPr>
        <p:spPr>
          <a:xfrm>
            <a:off x="9994392" y="4724400"/>
            <a:ext cx="16459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هِيَ</a:t>
            </a:r>
            <a:endParaRPr lang="ar-SA" sz="2400" dirty="0"/>
          </a:p>
        </p:txBody>
      </p:sp>
      <p:sp>
        <p:nvSpPr>
          <p:cNvPr id="54" name="Text 51"/>
          <p:cNvSpPr txBox="1"/>
          <p:nvPr/>
        </p:nvSpPr>
        <p:spPr>
          <a:xfrm>
            <a:off x="6702552" y="4742688"/>
            <a:ext cx="3108960" cy="346771"/>
          </a:xfrm>
          <a:prstGeom prst="rect">
            <a:avLst/>
          </a:prstGeom>
          <a:noFill/>
          <a:ln/>
        </p:spPr>
        <p:txBody>
          <a:bodyPr wrap="square" lIns="0" tIns="0" rIns="0" bIns="0" rtlCol="0" anchor="ctr"/>
          <a:lstStyle/>
          <a:p>
            <a:pPr rtl="1" algn="ctr" indent="0" marL="0">
              <a:buNone/>
            </a:pPr>
            <a:r>
              <a:rPr lang="ar-SA" altLang="en-US" sz="1600" b="1" dirty="0">
                <a:solidFill>
                  <a:srgbClr val="1D5FBF"/>
                </a:solidFill>
                <a:latin typeface="Amiri" pitchFamily="2" charset="-78"/>
                <a:ea typeface="Amiri" pitchFamily="2" charset="-78"/>
                <a:cs typeface="Amiri" pitchFamily="2" charset="-78"/>
              </a:rPr>
              <a:t>تُ</a:t>
            </a:r>
            <a:pPr rtl="1" algn="ctr" indent="0" marL="0">
              <a:buNone/>
            </a:pPr>
            <a:r>
              <a:rPr lang="ar-SA" altLang="en-US" sz="1600" b="1" dirty="0">
                <a:solidFill>
                  <a:srgbClr val="1B3B6F"/>
                </a:solidFill>
                <a:latin typeface="Amiri" pitchFamily="2" charset="-78"/>
                <a:ea typeface="Amiri" pitchFamily="2" charset="-78"/>
                <a:cs typeface="Amiri" pitchFamily="2" charset="-78"/>
              </a:rPr>
              <a:t>حِبُّ التُّفَّاحَ</a:t>
            </a:r>
            <a:endParaRPr lang="ar-SA" sz="1600" dirty="0"/>
          </a:p>
        </p:txBody>
      </p:sp>
      <p:sp>
        <p:nvSpPr>
          <p:cNvPr id="55" name="Text 52"/>
          <p:cNvSpPr txBox="1"/>
          <p:nvPr/>
        </p:nvSpPr>
        <p:spPr>
          <a:xfrm>
            <a:off x="6656832" y="5059985"/>
            <a:ext cx="320040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she likes apples</a:t>
            </a:r>
            <a:endParaRPr lang="en-US" sz="950" dirty="0"/>
          </a:p>
        </p:txBody>
      </p:sp>
      <p:sp>
        <p:nvSpPr>
          <p:cNvPr id="56" name="Text 53"/>
          <p:cNvSpPr txBox="1"/>
          <p:nvPr/>
        </p:nvSpPr>
        <p:spPr>
          <a:xfrm>
            <a:off x="3227832" y="4742688"/>
            <a:ext cx="3291840" cy="346771"/>
          </a:xfrm>
          <a:prstGeom prst="rect">
            <a:avLst/>
          </a:prstGeom>
          <a:noFill/>
          <a:ln/>
        </p:spPr>
        <p:txBody>
          <a:bodyPr wrap="square" lIns="0" tIns="0" rIns="0" bIns="0" rtlCol="0" anchor="ctr"/>
          <a:lstStyle/>
          <a:p>
            <a:pPr rtl="1" algn="ctr" indent="0" marL="0">
              <a:buNone/>
            </a:pPr>
            <a:r>
              <a:rPr lang="ar-SA" altLang="en-US" sz="1600" b="1" dirty="0">
                <a:solidFill>
                  <a:srgbClr val="D6336C"/>
                </a:solidFill>
                <a:latin typeface="Amiri" pitchFamily="2" charset="-78"/>
                <a:ea typeface="Amiri" pitchFamily="2" charset="-78"/>
                <a:cs typeface="Amiri" pitchFamily="2" charset="-78"/>
              </a:rPr>
              <a:t>لَا</a:t>
            </a:r>
            <a:pPr rtl="1" algn="ctr" indent="0" marL="0">
              <a:buNone/>
            </a:pPr>
            <a:r>
              <a:rPr lang="ar-SA" altLang="en-US" sz="1600" b="1" dirty="0">
                <a:solidFill>
                  <a:srgbClr val="1B3B6F"/>
                </a:solidFill>
                <a:latin typeface="Amiri" pitchFamily="2" charset="-78"/>
                <a:cs typeface="Amiri" pitchFamily="2" charset="-78"/>
              </a:rPr>
              <a:t> </a:t>
            </a:r>
            <a:pPr rtl="1" algn="ctr" indent="0" marL="0">
              <a:buNone/>
            </a:pPr>
            <a:r>
              <a:rPr lang="ar-SA" altLang="en-US" sz="1600" b="1" dirty="0">
                <a:solidFill>
                  <a:srgbClr val="1D5FBF"/>
                </a:solidFill>
                <a:latin typeface="Amiri" pitchFamily="2" charset="-78"/>
                <a:ea typeface="Amiri" pitchFamily="2" charset="-78"/>
                <a:cs typeface="Amiri" pitchFamily="2" charset="-78"/>
              </a:rPr>
              <a:t>تُ</a:t>
            </a:r>
            <a:pPr rtl="1" algn="ctr" indent="0" marL="0">
              <a:buNone/>
            </a:pPr>
            <a:r>
              <a:rPr lang="ar-SA" altLang="en-US" sz="1600" b="1" dirty="0">
                <a:solidFill>
                  <a:srgbClr val="1B3B6F"/>
                </a:solidFill>
                <a:latin typeface="Amiri" pitchFamily="2" charset="-78"/>
                <a:ea typeface="Amiri" pitchFamily="2" charset="-78"/>
                <a:cs typeface="Amiri" pitchFamily="2" charset="-78"/>
              </a:rPr>
              <a:t>حِبُّ الحَلِيبَ</a:t>
            </a:r>
            <a:endParaRPr lang="ar-SA" sz="1600" dirty="0"/>
          </a:p>
        </p:txBody>
      </p:sp>
      <p:sp>
        <p:nvSpPr>
          <p:cNvPr id="57" name="Text 54"/>
          <p:cNvSpPr txBox="1"/>
          <p:nvPr/>
        </p:nvSpPr>
        <p:spPr>
          <a:xfrm>
            <a:off x="3182112" y="5059985"/>
            <a:ext cx="338328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she doesn’t like milk</a:t>
            </a:r>
            <a:endParaRPr lang="en-US" sz="950" dirty="0"/>
          </a:p>
        </p:txBody>
      </p:sp>
      <p:sp>
        <p:nvSpPr>
          <p:cNvPr id="58" name="Text 55"/>
          <p:cNvSpPr txBox="1"/>
          <p:nvPr/>
        </p:nvSpPr>
        <p:spPr>
          <a:xfrm>
            <a:off x="566928" y="4724400"/>
            <a:ext cx="24963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994392" y="5338572"/>
            <a:ext cx="16459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نَحْنُ</a:t>
            </a:r>
            <a:endParaRPr lang="ar-SA" sz="2400" dirty="0"/>
          </a:p>
        </p:txBody>
      </p:sp>
      <p:sp>
        <p:nvSpPr>
          <p:cNvPr id="61" name="Text 58"/>
          <p:cNvSpPr txBox="1"/>
          <p:nvPr/>
        </p:nvSpPr>
        <p:spPr>
          <a:xfrm>
            <a:off x="6702552" y="5356860"/>
            <a:ext cx="3108960" cy="346771"/>
          </a:xfrm>
          <a:prstGeom prst="rect">
            <a:avLst/>
          </a:prstGeom>
          <a:noFill/>
          <a:ln/>
        </p:spPr>
        <p:txBody>
          <a:bodyPr wrap="square" lIns="0" tIns="0" rIns="0" bIns="0" rtlCol="0" anchor="ctr"/>
          <a:lstStyle/>
          <a:p>
            <a:pPr rtl="1" algn="ctr" indent="0" marL="0">
              <a:buNone/>
            </a:pPr>
            <a:r>
              <a:rPr lang="ar-SA" altLang="en-US" sz="1600" b="1" dirty="0">
                <a:solidFill>
                  <a:srgbClr val="1D5FBF"/>
                </a:solidFill>
                <a:latin typeface="Amiri" pitchFamily="2" charset="-78"/>
                <a:ea typeface="Amiri" pitchFamily="2" charset="-78"/>
                <a:cs typeface="Amiri" pitchFamily="2" charset="-78"/>
              </a:rPr>
              <a:t>نُ</a:t>
            </a:r>
            <a:pPr rtl="1" algn="ctr" indent="0" marL="0">
              <a:buNone/>
            </a:pPr>
            <a:r>
              <a:rPr lang="ar-SA" altLang="en-US" sz="1600" b="1" dirty="0">
                <a:solidFill>
                  <a:srgbClr val="1B3B6F"/>
                </a:solidFill>
                <a:latin typeface="Amiri" pitchFamily="2" charset="-78"/>
                <a:ea typeface="Amiri" pitchFamily="2" charset="-78"/>
                <a:cs typeface="Amiri" pitchFamily="2" charset="-78"/>
              </a:rPr>
              <a:t>حِبُّ الأَرُزَّ</a:t>
            </a:r>
            <a:endParaRPr lang="ar-SA" sz="1600" dirty="0"/>
          </a:p>
        </p:txBody>
      </p:sp>
      <p:sp>
        <p:nvSpPr>
          <p:cNvPr id="62" name="Text 59"/>
          <p:cNvSpPr txBox="1"/>
          <p:nvPr/>
        </p:nvSpPr>
        <p:spPr>
          <a:xfrm>
            <a:off x="6656832" y="5674157"/>
            <a:ext cx="320040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like rice</a:t>
            </a:r>
            <a:endParaRPr lang="en-US" sz="950" dirty="0"/>
          </a:p>
        </p:txBody>
      </p:sp>
      <p:sp>
        <p:nvSpPr>
          <p:cNvPr id="63" name="Text 60"/>
          <p:cNvSpPr txBox="1"/>
          <p:nvPr/>
        </p:nvSpPr>
        <p:spPr>
          <a:xfrm>
            <a:off x="3227832" y="5356860"/>
            <a:ext cx="3291840" cy="346771"/>
          </a:xfrm>
          <a:prstGeom prst="rect">
            <a:avLst/>
          </a:prstGeom>
          <a:noFill/>
          <a:ln/>
        </p:spPr>
        <p:txBody>
          <a:bodyPr wrap="square" lIns="0" tIns="0" rIns="0" bIns="0" rtlCol="0" anchor="ctr"/>
          <a:lstStyle/>
          <a:p>
            <a:pPr rtl="1" algn="ctr" indent="0" marL="0">
              <a:buNone/>
            </a:pPr>
            <a:r>
              <a:rPr lang="ar-SA" altLang="en-US" sz="1600" b="1" dirty="0">
                <a:solidFill>
                  <a:srgbClr val="D6336C"/>
                </a:solidFill>
                <a:latin typeface="Amiri" pitchFamily="2" charset="-78"/>
                <a:ea typeface="Amiri" pitchFamily="2" charset="-78"/>
                <a:cs typeface="Amiri" pitchFamily="2" charset="-78"/>
              </a:rPr>
              <a:t>لَا</a:t>
            </a:r>
            <a:pPr rtl="1" algn="ctr" indent="0" marL="0">
              <a:buNone/>
            </a:pPr>
            <a:r>
              <a:rPr lang="ar-SA" altLang="en-US" sz="1600" b="1" dirty="0">
                <a:solidFill>
                  <a:srgbClr val="1B3B6F"/>
                </a:solidFill>
                <a:latin typeface="Amiri" pitchFamily="2" charset="-78"/>
                <a:cs typeface="Amiri" pitchFamily="2" charset="-78"/>
              </a:rPr>
              <a:t> </a:t>
            </a:r>
            <a:pPr rtl="1" algn="ctr" indent="0" marL="0">
              <a:buNone/>
            </a:pPr>
            <a:r>
              <a:rPr lang="ar-SA" altLang="en-US" sz="1600" b="1" dirty="0">
                <a:solidFill>
                  <a:srgbClr val="1D5FBF"/>
                </a:solidFill>
                <a:latin typeface="Amiri" pitchFamily="2" charset="-78"/>
                <a:ea typeface="Amiri" pitchFamily="2" charset="-78"/>
                <a:cs typeface="Amiri" pitchFamily="2" charset="-78"/>
              </a:rPr>
              <a:t>نُ</a:t>
            </a:r>
            <a:pPr rtl="1" algn="ctr" indent="0" marL="0">
              <a:buNone/>
            </a:pPr>
            <a:r>
              <a:rPr lang="ar-SA" altLang="en-US" sz="1600" b="1" dirty="0">
                <a:solidFill>
                  <a:srgbClr val="1B3B6F"/>
                </a:solidFill>
                <a:latin typeface="Amiri" pitchFamily="2" charset="-78"/>
                <a:ea typeface="Amiri" pitchFamily="2" charset="-78"/>
                <a:cs typeface="Amiri" pitchFamily="2" charset="-78"/>
              </a:rPr>
              <a:t>حِبُّ البَصَلَ</a:t>
            </a:r>
            <a:endParaRPr lang="ar-SA" sz="1600" dirty="0"/>
          </a:p>
        </p:txBody>
      </p:sp>
      <p:sp>
        <p:nvSpPr>
          <p:cNvPr id="64" name="Text 61"/>
          <p:cNvSpPr txBox="1"/>
          <p:nvPr/>
        </p:nvSpPr>
        <p:spPr>
          <a:xfrm>
            <a:off x="3182112" y="5674157"/>
            <a:ext cx="3383280" cy="21253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don’t like onions</a:t>
            </a:r>
            <a:endParaRPr lang="en-US" sz="950" dirty="0"/>
          </a:p>
        </p:txBody>
      </p:sp>
      <p:sp>
        <p:nvSpPr>
          <p:cNvPr id="65" name="Text 62"/>
          <p:cNvSpPr txBox="1"/>
          <p:nvPr/>
        </p:nvSpPr>
        <p:spPr>
          <a:xfrm>
            <a:off x="566928" y="5338572"/>
            <a:ext cx="24963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t>
            </a:r>
            <a:endParaRPr lang="en-US" sz="1100" dirty="0"/>
          </a:p>
        </p:txBody>
      </p:sp>
      <p:sp>
        <p:nvSpPr>
          <p:cNvPr id="66" name="Text 6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food comes straight after the verb — no “to”, no “of”. Lā goes directly before the verb.</a:t>
            </a:r>
            <a:endParaRPr lang="en-US" sz="11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EAT OR DRINK? AND NOUN GENDER (WEBSITE RULE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Eat, drink — and he or she?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آكُلُ · أَشْرَبُ · المُذَكَّرُ وَالمُؤَنَّثُ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972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FOOD · I EAT</a:t>
            </a:r>
            <a:endParaRPr lang="en-US" sz="850" dirty="0"/>
          </a:p>
        </p:txBody>
      </p:sp>
      <p:sp>
        <p:nvSpPr>
          <p:cNvPr id="18" name="Text 15"/>
          <p:cNvSpPr txBox="1"/>
          <p:nvPr/>
        </p:nvSpPr>
        <p:spPr>
          <a:xfrm>
            <a:off x="9375648"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آكُلُ</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آكُلُ الأَرُزَّ وَالدَّجَاجَ.</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eat rice and chicken.</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ā-ku-lu: long ā, written </a:t>
            </a:r>
            <a:pPr algn="l" indent="0" marL="0">
              <a:buNone/>
            </a:pPr>
            <a:r>
              <a:rPr lang="ar-SA" altLang="en-US" sz="1450" dirty="0">
                <a:solidFill>
                  <a:srgbClr val="1F2A37"/>
                </a:solidFill>
                <a:latin typeface="Amiri" pitchFamily="2" charset="-78"/>
                <a:ea typeface="Amiri" pitchFamily="2" charset="-78"/>
                <a:cs typeface="Amiri" pitchFamily="2" charset="-78"/>
              </a:rPr>
              <a:t>آ</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71600" cy="274320"/>
          </a:xfrm>
          <a:prstGeom prst="roundRect">
            <a:avLst>
              <a:gd name="adj" fmla="val 50000"/>
            </a:avLst>
          </a:prstGeom>
          <a:solidFill>
            <a:srgbClr val="1E7B4F"/>
          </a:solidFill>
          <a:ln w="12700">
            <a:solidFill>
              <a:srgbClr val="1E7B4F"/>
            </a:solidFill>
            <a:prstDash val="solid"/>
          </a:ln>
        </p:spPr>
      </p:sp>
      <p:sp>
        <p:nvSpPr>
          <p:cNvPr id="25" name="Text 22"/>
          <p:cNvSpPr txBox="1"/>
          <p:nvPr/>
        </p:nvSpPr>
        <p:spPr>
          <a:xfrm>
            <a:off x="4413504"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DRINKS · I DRINK</a:t>
            </a:r>
            <a:endParaRPr lang="en-US" sz="850" dirty="0"/>
          </a:p>
        </p:txBody>
      </p:sp>
      <p:sp>
        <p:nvSpPr>
          <p:cNvPr id="26" name="Text 23"/>
          <p:cNvSpPr txBox="1"/>
          <p:nvPr/>
        </p:nvSpPr>
        <p:spPr>
          <a:xfrm>
            <a:off x="5830824"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أَشْرَبُ</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أَشْرَبُ المَاءَ وَالعَصِيرَ.</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drink water and juice.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Never with bread or rice!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C0386B"/>
          </a:solidFill>
          <a:ln w="12700">
            <a:solidFill>
              <a:srgbClr val="C0386B"/>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GENDER · Ta marbūṭa</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قَهْوَةٌ · سَلَطَةٌ</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ea typeface="Amiri" pitchFamily="2" charset="-78"/>
                <a:cs typeface="Amiri" pitchFamily="2" charset="-78"/>
              </a:rPr>
              <a:t>القَهْوَةُ مُرَّةٌ، وَالخُبْزُ طَازَجٌ.</a:t>
            </a:r>
            <a:endParaRPr lang="ar-SA" sz="27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coffee is bitter, and the bread is fresh.</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Words ending in </a:t>
            </a:r>
            <a:pPr algn="l" indent="0" marL="0">
              <a:buNone/>
            </a:pPr>
            <a:r>
              <a:rPr lang="ar-SA" altLang="en-US" sz="1450" dirty="0">
                <a:solidFill>
                  <a:srgbClr val="1F2A37"/>
                </a:solidFill>
                <a:latin typeface="Amiri" pitchFamily="2" charset="-78"/>
                <a:ea typeface="Amiri" pitchFamily="2" charset="-78"/>
                <a:cs typeface="Amiri" pitchFamily="2" charset="-78"/>
              </a:rPr>
              <a:t>ة</a:t>
            </a:r>
            <a:pPr algn="l" indent="0" marL="0">
              <a:buNone/>
            </a:pPr>
            <a:r>
              <a:rPr lang="en-US" sz="1100" dirty="0">
                <a:solidFill>
                  <a:srgbClr val="1F2A37"/>
                </a:solidFill>
                <a:latin typeface="Calibri" pitchFamily="34" charset="0"/>
                <a:cs typeface="Amiri" pitchFamily="2" charset="-78"/>
              </a:rPr>
              <a:t> are usually feminine.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quiz: milk is a drink, so it takes ashrabu.</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أَشْرَبُ الحَلِيبَ.</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آكُلُ الحَلِيبَ.</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website grammar rules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350" b="1" dirty="0">
                <a:solidFill>
                  <a:srgbClr val="8A6D1E"/>
                </a:solidFill>
                <a:latin typeface="Amiri" pitchFamily="2" charset="-78"/>
                <a:ea typeface="Amiri" pitchFamily="2" charset="-78"/>
                <a:cs typeface="Amiri" pitchFamily="2" charset="-78"/>
              </a:rPr>
              <a:t>اِسْتِعْمَالُ أُحِبُّ وَلَا أُحِبُّ مَعَ أَسْمَاءِ الطَّعَامِ</a:t>
            </a:r>
            <a:endParaRPr lang="ar-SA" sz="23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Say what you like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أُحِبُّ + الطَّعَامَ / الشَّرَابَ</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أُحِبُّ الخُبْزَ.   ·   أُحِبُّ العَصِيرَ.   ·   أُحِبُّ التُّفَّاحَ وَالمَوْزَ.</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Make the opinion negative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لَا + أُحِبُّ + الاِسْمَ</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لَا أُحِبُّ السَّمَكَ.   ·   لَا أُحِبُّ القَهْوَةَ.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Notice noun gender</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مُذَكَّرٌ: خُبْزٌ · مُؤَنَّثٌ: قَهْوَةٌ</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الخُبْزُ طَازَجٌ.   ·   القَهْوَةُ مُرَّةٌ.   ·   السَّلَطَةُ صِحِّيَّةٌ.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Ask another person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هَلْ تُحِبُّ...؟ / هَلْ تُحِبِّينَ...؟</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هَلْ تُحِبُّ الجُبْنَ؟   ·   هَلْ تُحِبِّينَ السَّلَطَةَ؟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drink the juice.”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آكُلُ العَصِيرَ.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يَشْرَبُ العَصِيرَ.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أَشْرَبُ العَصِيرَ.</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Make the sentence negative: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أُحِبُّ القَهْوَةَ.</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أُحِبُّ القَهْوَةَ.</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أُحِبُّ القَهْوَةَ؟</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القَهْوَةَ أُحِبُّ.</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boy “Do you like fish?”</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تُحِبِّينَ السَّمَكَ؟</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تُحِبُّ السَّمَكَ؟</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السَّمَكُ؟</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the correct action?</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أَشْرَبُ الحَلِيبَ.</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آكُلُ الحَلِيبَ.</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أَشْرَبُ الخُبْزَ.</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drink the juice.”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آكُلُ العَصِيرَ.</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يَشْرَبُ العَصِيرَ.</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أَشْرَبُ العَصِيرَ.</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أَشْرَبُ</a:t>
            </a:r>
            <a:pPr algn="l" indent="0" marL="0">
              <a:buNone/>
            </a:pPr>
            <a:r>
              <a:rPr lang="en-US" sz="1050" i="1" dirty="0">
                <a:solidFill>
                  <a:srgbClr val="8A6D1E"/>
                </a:solidFill>
                <a:latin typeface="Calibri" pitchFamily="34" charset="0"/>
                <a:cs typeface="Amiri" pitchFamily="2" charset="-78"/>
              </a:rPr>
              <a:t> is the first-person verb for drinking.</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Make the sentence negative: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أُحِبُّ القَهْوَةَ.</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 أُحِبُّ القَهْوَةَ.</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أُحِبُّ القَهْوَةَ؟</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القَهْوَةَ أُحِبُّ.</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Put </a:t>
            </a:r>
            <a:pPr algn="l" indent="0" marL="0">
              <a:buNone/>
            </a:pPr>
            <a:r>
              <a:rPr lang="ar-SA" altLang="en-US" sz="1350" dirty="0">
                <a:solidFill>
                  <a:srgbClr val="8A6D1E"/>
                </a:solidFill>
                <a:latin typeface="Amiri" pitchFamily="2" charset="-78"/>
                <a:ea typeface="Amiri" pitchFamily="2" charset="-78"/>
                <a:cs typeface="Amiri" pitchFamily="2" charset="-78"/>
              </a:rPr>
              <a:t>لَا</a:t>
            </a:r>
            <a:pPr algn="l" indent="0" marL="0">
              <a:buNone/>
            </a:pPr>
            <a:r>
              <a:rPr lang="en-US" sz="1050" i="1" dirty="0">
                <a:solidFill>
                  <a:srgbClr val="8A6D1E"/>
                </a:solidFill>
                <a:latin typeface="Calibri" pitchFamily="34" charset="0"/>
                <a:cs typeface="Amiri" pitchFamily="2" charset="-78"/>
              </a:rPr>
              <a:t> immediately before the present-tense verb.</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boy “Do you like fish?”</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تُحِبِّينَ السَّمَكَ؟</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هَلْ تُحِبُّ السَّمَكَ؟</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السَّمَكُ؟</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تُحِبُّ</a:t>
            </a:r>
            <a:pPr algn="l" indent="0" marL="0">
              <a:buNone/>
            </a:pPr>
            <a:r>
              <a:rPr lang="en-US" sz="1050" i="1" dirty="0">
                <a:solidFill>
                  <a:srgbClr val="8A6D1E"/>
                </a:solidFill>
                <a:latin typeface="Calibri" pitchFamily="34" charset="0"/>
                <a:cs typeface="Amiri" pitchFamily="2" charset="-78"/>
              </a:rPr>
              <a:t> addresses a male listener.</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the correct action?</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أَشْرَبُ الحَلِيبَ.</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آكُلُ الحَلِيبَ.</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أَشْرَبُ الخُبْزَ.</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Milk is a drink, so use </a:t>
            </a:r>
            <a:pPr algn="l" indent="0" marL="0">
              <a:buNone/>
            </a:pPr>
            <a:r>
              <a:rPr lang="ar-SA" altLang="en-US" sz="1350" dirty="0">
                <a:solidFill>
                  <a:srgbClr val="8A6D1E"/>
                </a:solidFill>
                <a:latin typeface="Amiri" pitchFamily="2" charset="-78"/>
                <a:ea typeface="Amiri" pitchFamily="2" charset="-78"/>
                <a:cs typeface="Amiri" pitchFamily="2" charset="-78"/>
              </a:rPr>
              <a:t>أَشْرَبُ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Watch me build my food sentences</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Like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ea typeface="Amiri" pitchFamily="2" charset="-78"/>
                <a:cs typeface="Amiri" pitchFamily="2" charset="-78"/>
              </a:rPr>
              <a:t>أُحِبُّ</a:t>
            </a:r>
            <a:pPr rtl="1" algn="ctr" indent="0" marL="0">
              <a:buNone/>
            </a:pPr>
            <a:r>
              <a:rPr lang="ar-SA" altLang="en-US" sz="2800" b="1" dirty="0">
                <a:solidFill>
                  <a:srgbClr val="1B3B6F"/>
                </a:solidFill>
                <a:latin typeface="Amiri" pitchFamily="2" charset="-78"/>
                <a:ea typeface="Amiri" pitchFamily="2" charset="-78"/>
                <a:cs typeface="Amiri" pitchFamily="2" charset="-78"/>
              </a:rPr>
              <a:t> الخُبْزَ وَالجُبْنَ.</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Verb + food. No preposition.</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Add</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وَ</a:t>
            </a:r>
            <a:pPr rtl="1" algn="ctr" indent="0" marL="0">
              <a:buNone/>
            </a:pPr>
            <a:r>
              <a:rPr lang="ar-SA" altLang="en-US" sz="2800" b="1" dirty="0">
                <a:solidFill>
                  <a:srgbClr val="1D5FBF"/>
                </a:solidFill>
                <a:latin typeface="Amiri" pitchFamily="2" charset="-78"/>
                <a:ea typeface="Amiri" pitchFamily="2" charset="-78"/>
                <a:cs typeface="Amiri" pitchFamily="2" charset="-78"/>
              </a:rPr>
              <a:t>أُحِبُّ</a:t>
            </a:r>
            <a:pPr rtl="1" algn="ctr" indent="0" marL="0">
              <a:buNone/>
            </a:pPr>
            <a:r>
              <a:rPr lang="ar-SA" altLang="en-US" sz="2800" b="1" dirty="0">
                <a:solidFill>
                  <a:srgbClr val="1B3B6F"/>
                </a:solidFill>
                <a:latin typeface="Amiri" pitchFamily="2" charset="-78"/>
                <a:ea typeface="Amiri" pitchFamily="2" charset="-78"/>
                <a:cs typeface="Amiri" pitchFamily="2" charset="-78"/>
              </a:rPr>
              <a:t> التُّفَّاحَ أَيْضًا.</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joins, </a:t>
            </a:r>
            <a:pPr algn="l" indent="0" marL="0">
              <a:buNone/>
            </a:pPr>
            <a:r>
              <a:rPr lang="ar-SA" altLang="en-US" sz="1500" dirty="0">
                <a:solidFill>
                  <a:srgbClr val="1F2A37"/>
                </a:solidFill>
                <a:latin typeface="Amiri" pitchFamily="2" charset="-78"/>
                <a:ea typeface="Amiri" pitchFamily="2" charset="-78"/>
                <a:cs typeface="Amiri" pitchFamily="2" charset="-78"/>
              </a:rPr>
              <a:t>أَيْضًا</a:t>
            </a:r>
            <a:pPr algn="l" indent="0" marL="0">
              <a:buNone/>
            </a:pPr>
            <a:r>
              <a:rPr lang="en-US" sz="1150" dirty="0">
                <a:solidFill>
                  <a:srgbClr val="1F2A37"/>
                </a:solidFill>
                <a:latin typeface="Calibri" pitchFamily="34" charset="0"/>
                <a:cs typeface="Amiri" pitchFamily="2" charset="-78"/>
              </a:rPr>
              <a:t> = also.</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Don’t like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لَا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أُحِبُّ السَّمَكَ، وَلَكِنِّي أُحِبُّ الدَّجَاجَ.</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Lā before the verb; but I …</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Drink</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0E7C86"/>
                </a:solidFill>
                <a:latin typeface="Amiri" pitchFamily="2" charset="-78"/>
                <a:ea typeface="Amiri" pitchFamily="2" charset="-78"/>
                <a:cs typeface="Amiri" pitchFamily="2" charset="-78"/>
              </a:rPr>
              <a:t>أَشْرَبُ</a:t>
            </a:r>
            <a:pPr rtl="1" algn="ct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 المَاءَ وَالعَصِيرَ كُلَّ يَوْمٍ.</a:t>
            </a:r>
            <a:endParaRPr lang="ar-SA" sz="18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Drinks → ashrabu.</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LIKE</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NOT</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DRINK</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900" b="1" dirty="0">
                <a:solidFill>
                  <a:srgbClr val="1D5FBF"/>
                </a:solidFill>
                <a:latin typeface="Amiri" pitchFamily="2" charset="-78"/>
                <a:ea typeface="Amiri" pitchFamily="2" charset="-78"/>
                <a:cs typeface="Amiri" pitchFamily="2" charset="-78"/>
              </a:rPr>
              <a:t>أُحِبُّ</a:t>
            </a:r>
            <a:pPr rtl="1" algn="r" indent="0" marL="0">
              <a:buNone/>
            </a:pPr>
            <a:r>
              <a:rPr lang="ar-SA" altLang="en-US" sz="1900" b="1" dirty="0">
                <a:solidFill>
                  <a:srgbClr val="1B3B6F"/>
                </a:solidFill>
                <a:latin typeface="Amiri" pitchFamily="2" charset="-78"/>
                <a:ea typeface="Amiri" pitchFamily="2" charset="-78"/>
                <a:cs typeface="Amiri" pitchFamily="2" charset="-78"/>
              </a:rPr>
              <a:t> الخُبْزَ وَالجُبْنَ، وَ</a:t>
            </a:r>
            <a:pPr rtl="1" algn="r" indent="0" marL="0">
              <a:buNone/>
            </a:pPr>
            <a:r>
              <a:rPr lang="ar-SA" altLang="en-US" sz="1900" b="1" dirty="0">
                <a:solidFill>
                  <a:srgbClr val="1D5FBF"/>
                </a:solidFill>
                <a:latin typeface="Amiri" pitchFamily="2" charset="-78"/>
                <a:ea typeface="Amiri" pitchFamily="2" charset="-78"/>
                <a:cs typeface="Amiri" pitchFamily="2" charset="-78"/>
              </a:rPr>
              <a:t>أُحِبُّ</a:t>
            </a:r>
            <a:pPr rtl="1" algn="r" indent="0" marL="0">
              <a:buNone/>
            </a:pPr>
            <a:r>
              <a:rPr lang="ar-SA" altLang="en-US" sz="1900" b="1" dirty="0">
                <a:solidFill>
                  <a:srgbClr val="1B3B6F"/>
                </a:solidFill>
                <a:latin typeface="Amiri" pitchFamily="2" charset="-78"/>
                <a:ea typeface="Amiri" pitchFamily="2" charset="-78"/>
                <a:cs typeface="Amiri" pitchFamily="2" charset="-78"/>
              </a:rPr>
              <a:t> التُّفَّاحَ أَيْضًا. </a:t>
            </a:r>
            <a:pPr rtl="1" algn="r" indent="0" marL="0">
              <a:buNone/>
            </a:pPr>
            <a:r>
              <a:rPr lang="ar-SA" altLang="en-US" sz="1900" b="1" dirty="0">
                <a:solidFill>
                  <a:srgbClr val="D6336C"/>
                </a:solidFill>
                <a:latin typeface="Amiri" pitchFamily="2" charset="-78"/>
                <a:ea typeface="Amiri" pitchFamily="2" charset="-78"/>
                <a:cs typeface="Amiri" pitchFamily="2" charset="-78"/>
              </a:rPr>
              <a:t>لَا</a:t>
            </a:r>
            <a:pPr rtl="1" algn="r" indent="0" marL="0">
              <a:buNone/>
            </a:pPr>
            <a:r>
              <a:rPr lang="ar-SA" altLang="en-US" sz="1900" b="1" dirty="0">
                <a:solidFill>
                  <a:srgbClr val="1B3B6F"/>
                </a:solidFill>
                <a:latin typeface="Amiri" pitchFamily="2" charset="-78"/>
                <a:ea typeface="Amiri" pitchFamily="2" charset="-78"/>
                <a:cs typeface="Amiri" pitchFamily="2" charset="-78"/>
              </a:rPr>
              <a:t> أُحِبُّ السَّمَكَ، وَلَكِنِّي أُحِبُّ الدَّجَاجَ. آكُلُ الأَرُزَّ كَثِيرًا، وَ</a:t>
            </a:r>
            <a:pPr rtl="1" algn="r" indent="0" marL="0">
              <a:buNone/>
            </a:pPr>
            <a:r>
              <a:rPr lang="ar-SA" altLang="en-US" sz="1900" b="1" dirty="0">
                <a:solidFill>
                  <a:srgbClr val="0E7C86"/>
                </a:solidFill>
                <a:latin typeface="Amiri" pitchFamily="2" charset="-78"/>
                <a:ea typeface="Amiri" pitchFamily="2" charset="-78"/>
                <a:cs typeface="Amiri" pitchFamily="2" charset="-78"/>
              </a:rPr>
              <a:t>أَشْرَبُ</a:t>
            </a:r>
            <a:pPr rtl="1" algn="r" indent="0" marL="0">
              <a:buNone/>
            </a:pPr>
            <a:r>
              <a:rPr lang="ar-SA" altLang="en-US" sz="1900" b="1" dirty="0">
                <a:solidFill>
                  <a:srgbClr val="1B3B6F"/>
                </a:solidFill>
                <a:latin typeface="Amiri" pitchFamily="2" charset="-78"/>
                <a:ea typeface="Amiri" pitchFamily="2" charset="-78"/>
                <a:cs typeface="Amiri" pitchFamily="2" charset="-78"/>
              </a:rPr>
              <a:t> المَاءَ وَالعَصِيرَ كُلَّ يَوْمٍ.</a:t>
            </a:r>
            <a:endParaRPr lang="ar-SA" sz="19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 like bread and cheese, and I like apples too. I don’t like fish, but I like chicken. I eat rice a lot, and I drink water and juice every day.</a:t>
            </a:r>
            <a:endParaRPr lang="en-US" sz="13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أُحِبُّ الخُبْزَ وَالجُبْنَ.</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like bread and cheese.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After أُحِبُّ, use the food as the object.</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لَا أُحِبُّ القَهْوَةَ.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do not like coffee.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Put لَا directly before the present-tense verb.</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أَشْرَبُ المَاءَ وَالعَصِيرَ.</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drink water and juice.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Use أَشْرَبُ with drinks.</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هَلْ تُحِبُّ السَّمَكَ؟</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Do you like fish?</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Use هَلْ to make a yes/no question.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PICTURE MATCH · WEBSITE GAME “VISUAL GAME — FOOD AND DRINKS”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Food pictures: match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صُوَرُ الطَّعَامِ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apple</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499262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175504" y="2249424"/>
            <a:ext cx="649224" cy="649224"/>
          </a:xfrm>
          <a:prstGeom prst="rect">
            <a:avLst/>
          </a:prstGeom>
        </p:spPr>
      </p:pic>
      <p:sp>
        <p:nvSpPr>
          <p:cNvPr id="26" name="Shape 21"/>
          <p:cNvSpPr/>
          <p:nvPr/>
        </p:nvSpPr>
        <p:spPr>
          <a:xfrm>
            <a:off x="618134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6364224" y="2249424"/>
            <a:ext cx="649224" cy="649224"/>
          </a:xfrm>
          <a:prstGeom prst="rect">
            <a:avLst/>
          </a:prstGeom>
        </p:spPr>
      </p:pic>
      <p:sp>
        <p:nvSpPr>
          <p:cNvPr id="28" name="Text 22"/>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milk</a:t>
            </a:r>
            <a:endParaRPr lang="en-US" sz="1100" dirty="0"/>
          </a:p>
        </p:txBody>
      </p:sp>
      <p:sp>
        <p:nvSpPr>
          <p:cNvPr id="29" name="Shape 2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4"/>
          <p:cNvSpPr/>
          <p:nvPr/>
        </p:nvSpPr>
        <p:spPr>
          <a:xfrm>
            <a:off x="585216" y="1938528"/>
            <a:ext cx="365760" cy="365760"/>
          </a:xfrm>
          <a:prstGeom prst="ellipse">
            <a:avLst/>
          </a:prstGeom>
          <a:solidFill>
            <a:srgbClr val="1B3B6F"/>
          </a:solidFill>
          <a:ln w="12700">
            <a:solidFill>
              <a:srgbClr val="1B3B6F"/>
            </a:solidFill>
            <a:prstDash val="solid"/>
          </a:ln>
        </p:spPr>
      </p:sp>
      <p:sp>
        <p:nvSpPr>
          <p:cNvPr id="31" name="Text 2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Shape 26"/>
          <p:cNvSpPr/>
          <p:nvPr/>
        </p:nvSpPr>
        <p:spPr>
          <a:xfrm>
            <a:off x="1173480" y="2066544"/>
            <a:ext cx="1014984" cy="1014984"/>
          </a:xfrm>
          <a:prstGeom prst="ellipse">
            <a:avLst/>
          </a:prstGeom>
          <a:solidFill>
            <a:srgbClr val="F4F1EA"/>
          </a:solidFill>
          <a:ln w="12700">
            <a:solidFill>
              <a:srgbClr val="F4F1EA"/>
            </a:solidFill>
            <a:prstDash val="solid"/>
          </a:ln>
        </p:spPr>
      </p:sp>
      <p:pic>
        <p:nvPicPr>
          <p:cNvPr id="33" name="Image 3" descr="preencoded.png">    </p:cNvPr>
          <p:cNvPicPr>
            <a:picLocks noChangeAspect="1"/>
          </p:cNvPicPr>
          <p:nvPr/>
        </p:nvPicPr>
        <p:blipFill>
          <a:blip r:embed="rId4"/>
          <a:stretch>
            <a:fillRect/>
          </a:stretch>
        </p:blipFill>
        <p:spPr>
          <a:xfrm>
            <a:off x="1356360" y="2249424"/>
            <a:ext cx="649224" cy="649224"/>
          </a:xfrm>
          <a:prstGeom prst="rect">
            <a:avLst/>
          </a:prstGeom>
        </p:spPr>
      </p:pic>
      <p:sp>
        <p:nvSpPr>
          <p:cNvPr id="34" name="Shape 27"/>
          <p:cNvSpPr/>
          <p:nvPr/>
        </p:nvSpPr>
        <p:spPr>
          <a:xfrm>
            <a:off x="236220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2545080" y="2249424"/>
            <a:ext cx="649224" cy="649224"/>
          </a:xfrm>
          <a:prstGeom prst="rect">
            <a:avLst/>
          </a:prstGeom>
        </p:spPr>
      </p:pic>
      <p:sp>
        <p:nvSpPr>
          <p:cNvPr id="36" name="Text 2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salad</a:t>
            </a:r>
            <a:endParaRPr lang="en-US" sz="1100" dirty="0"/>
          </a:p>
        </p:txBody>
      </p:sp>
      <p:sp>
        <p:nvSpPr>
          <p:cNvPr id="37" name="Shape 29"/>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8" name="Shape 30"/>
          <p:cNvSpPr/>
          <p:nvPr/>
        </p:nvSpPr>
        <p:spPr>
          <a:xfrm>
            <a:off x="11247120" y="3831336"/>
            <a:ext cx="292608" cy="292608"/>
          </a:xfrm>
          <a:prstGeom prst="ellipse">
            <a:avLst/>
          </a:prstGeom>
          <a:solidFill>
            <a:srgbClr val="2F6FB0"/>
          </a:solidFill>
          <a:ln w="12700">
            <a:solidFill>
              <a:srgbClr val="2F6FB0"/>
            </a:solidFill>
            <a:prstDash val="solid"/>
          </a:ln>
        </p:spPr>
      </p:sp>
      <p:sp>
        <p:nvSpPr>
          <p:cNvPr id="39" name="Text 31"/>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0" name="Text 32"/>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حَلِيبٌ.</a:t>
            </a:r>
            <a:endParaRPr lang="ar-SA" sz="2000" dirty="0"/>
          </a:p>
        </p:txBody>
      </p:sp>
      <p:sp>
        <p:nvSpPr>
          <p:cNvPr id="41" name="Shape 33"/>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2" name="Shape 34"/>
          <p:cNvSpPr/>
          <p:nvPr/>
        </p:nvSpPr>
        <p:spPr>
          <a:xfrm>
            <a:off x="11247120" y="4398264"/>
            <a:ext cx="292608" cy="292608"/>
          </a:xfrm>
          <a:prstGeom prst="ellipse">
            <a:avLst/>
          </a:prstGeom>
          <a:solidFill>
            <a:srgbClr val="2F6FB0"/>
          </a:solidFill>
          <a:ln w="12700">
            <a:solidFill>
              <a:srgbClr val="2F6FB0"/>
            </a:solidFill>
            <a:prstDash val="solid"/>
          </a:ln>
        </p:spPr>
      </p:sp>
      <p:sp>
        <p:nvSpPr>
          <p:cNvPr id="43" name="Text 35"/>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4" name="Text 36"/>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سَلَطَةٌ.</a:t>
            </a:r>
            <a:endParaRPr lang="ar-SA" sz="2000" dirty="0"/>
          </a:p>
        </p:txBody>
      </p:sp>
      <p:sp>
        <p:nvSpPr>
          <p:cNvPr id="45" name="Shape 37"/>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6" name="Shape 38"/>
          <p:cNvSpPr/>
          <p:nvPr/>
        </p:nvSpPr>
        <p:spPr>
          <a:xfrm>
            <a:off x="11247120" y="4965192"/>
            <a:ext cx="292608" cy="292608"/>
          </a:xfrm>
          <a:prstGeom prst="ellipse">
            <a:avLst/>
          </a:prstGeom>
          <a:solidFill>
            <a:srgbClr val="2F6FB0"/>
          </a:solidFill>
          <a:ln w="12700">
            <a:solidFill>
              <a:srgbClr val="2F6FB0"/>
            </a:solidFill>
            <a:prstDash val="solid"/>
          </a:ln>
        </p:spPr>
      </p:sp>
      <p:sp>
        <p:nvSpPr>
          <p:cNvPr id="47" name="Text 39"/>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8" name="Text 40"/>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تُفَّاحَةٌ.</a:t>
            </a:r>
            <a:endParaRPr lang="ar-SA" sz="2000" dirty="0"/>
          </a:p>
        </p:txBody>
      </p:sp>
      <p:sp>
        <p:nvSpPr>
          <p:cNvPr id="49" name="Text 41"/>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0" name="Text 42"/>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1"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صُوَرُ الطَّعَامِ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apple</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تُفَّاحَةٌ.</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an apple.</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499262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175504" y="2249424"/>
            <a:ext cx="649224" cy="649224"/>
          </a:xfrm>
          <a:prstGeom prst="rect">
            <a:avLst/>
          </a:prstGeom>
        </p:spPr>
      </p:pic>
      <p:sp>
        <p:nvSpPr>
          <p:cNvPr id="31" name="Shape 26"/>
          <p:cNvSpPr/>
          <p:nvPr/>
        </p:nvSpPr>
        <p:spPr>
          <a:xfrm>
            <a:off x="618134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6364224" y="2249424"/>
            <a:ext cx="649224" cy="649224"/>
          </a:xfrm>
          <a:prstGeom prst="rect">
            <a:avLst/>
          </a:prstGeom>
        </p:spPr>
      </p:pic>
      <p:sp>
        <p:nvSpPr>
          <p:cNvPr id="33" name="Text 27"/>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milk</a:t>
            </a:r>
            <a:endParaRPr lang="en-US" sz="1100" dirty="0"/>
          </a:p>
        </p:txBody>
      </p:sp>
      <p:sp>
        <p:nvSpPr>
          <p:cNvPr id="34" name="Shape 28"/>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5" name="Shape 29"/>
          <p:cNvSpPr/>
          <p:nvPr/>
        </p:nvSpPr>
        <p:spPr>
          <a:xfrm>
            <a:off x="7437120" y="3785616"/>
            <a:ext cx="329184" cy="329184"/>
          </a:xfrm>
          <a:prstGeom prst="ellipse">
            <a:avLst/>
          </a:prstGeom>
          <a:solidFill>
            <a:srgbClr val="2E8B57"/>
          </a:solidFill>
          <a:ln w="12700">
            <a:solidFill>
              <a:srgbClr val="2E8B57"/>
            </a:solidFill>
            <a:prstDash val="solid"/>
          </a:ln>
        </p:spPr>
      </p:sp>
      <p:sp>
        <p:nvSpPr>
          <p:cNvPr id="36" name="Text 30"/>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7" name="Text 31"/>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حَلِيبٌ.</a:t>
            </a:r>
            <a:endParaRPr lang="ar-SA" sz="2200" dirty="0"/>
          </a:p>
        </p:txBody>
      </p:sp>
      <p:sp>
        <p:nvSpPr>
          <p:cNvPr id="38" name="Text 32"/>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milk.</a:t>
            </a:r>
            <a:endParaRPr lang="en-US" sz="1200" dirty="0"/>
          </a:p>
        </p:txBody>
      </p:sp>
      <p:sp>
        <p:nvSpPr>
          <p:cNvPr id="39" name="Shape 3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4"/>
          <p:cNvSpPr/>
          <p:nvPr/>
        </p:nvSpPr>
        <p:spPr>
          <a:xfrm>
            <a:off x="585216" y="1938528"/>
            <a:ext cx="365760" cy="365760"/>
          </a:xfrm>
          <a:prstGeom prst="ellipse">
            <a:avLst/>
          </a:prstGeom>
          <a:solidFill>
            <a:srgbClr val="1B3B6F"/>
          </a:solidFill>
          <a:ln w="12700">
            <a:solidFill>
              <a:srgbClr val="1B3B6F"/>
            </a:solidFill>
            <a:prstDash val="solid"/>
          </a:ln>
        </p:spPr>
      </p:sp>
      <p:sp>
        <p:nvSpPr>
          <p:cNvPr id="41" name="Text 3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2" name="Shape 36"/>
          <p:cNvSpPr/>
          <p:nvPr/>
        </p:nvSpPr>
        <p:spPr>
          <a:xfrm>
            <a:off x="1173480" y="2066544"/>
            <a:ext cx="1014984" cy="1014984"/>
          </a:xfrm>
          <a:prstGeom prst="ellipse">
            <a:avLst/>
          </a:prstGeom>
          <a:solidFill>
            <a:srgbClr val="F4F1EA"/>
          </a:solidFill>
          <a:ln w="12700">
            <a:solidFill>
              <a:srgbClr val="F4F1EA"/>
            </a:solidFill>
            <a:prstDash val="solid"/>
          </a:ln>
        </p:spPr>
      </p:sp>
      <p:pic>
        <p:nvPicPr>
          <p:cNvPr id="43" name="Image 3" descr="preencoded.png">    </p:cNvPr>
          <p:cNvPicPr>
            <a:picLocks noChangeAspect="1"/>
          </p:cNvPicPr>
          <p:nvPr/>
        </p:nvPicPr>
        <p:blipFill>
          <a:blip r:embed="rId4"/>
          <a:stretch>
            <a:fillRect/>
          </a:stretch>
        </p:blipFill>
        <p:spPr>
          <a:xfrm>
            <a:off x="1356360" y="2249424"/>
            <a:ext cx="649224" cy="649224"/>
          </a:xfrm>
          <a:prstGeom prst="rect">
            <a:avLst/>
          </a:prstGeom>
        </p:spPr>
      </p:pic>
      <p:sp>
        <p:nvSpPr>
          <p:cNvPr id="44" name="Shape 37"/>
          <p:cNvSpPr/>
          <p:nvPr/>
        </p:nvSpPr>
        <p:spPr>
          <a:xfrm>
            <a:off x="236220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2545080" y="2249424"/>
            <a:ext cx="649224" cy="649224"/>
          </a:xfrm>
          <a:prstGeom prst="rect">
            <a:avLst/>
          </a:prstGeom>
        </p:spPr>
      </p:pic>
      <p:sp>
        <p:nvSpPr>
          <p:cNvPr id="46" name="Text 3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salad</a:t>
            </a:r>
            <a:endParaRPr lang="en-US" sz="1100" dirty="0"/>
          </a:p>
        </p:txBody>
      </p:sp>
      <p:sp>
        <p:nvSpPr>
          <p:cNvPr id="47" name="Shape 39"/>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8" name="Shape 40"/>
          <p:cNvSpPr/>
          <p:nvPr/>
        </p:nvSpPr>
        <p:spPr>
          <a:xfrm>
            <a:off x="3617976" y="3785616"/>
            <a:ext cx="329184" cy="329184"/>
          </a:xfrm>
          <a:prstGeom prst="ellipse">
            <a:avLst/>
          </a:prstGeom>
          <a:solidFill>
            <a:srgbClr val="2E8B57"/>
          </a:solidFill>
          <a:ln w="12700">
            <a:solidFill>
              <a:srgbClr val="2E8B57"/>
            </a:solidFill>
            <a:prstDash val="solid"/>
          </a:ln>
        </p:spPr>
      </p:sp>
      <p:sp>
        <p:nvSpPr>
          <p:cNvPr id="49" name="Text 41"/>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0" name="Text 42"/>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سَلَطَةٌ.</a:t>
            </a:r>
            <a:endParaRPr lang="ar-SA" sz="2200" dirty="0"/>
          </a:p>
        </p:txBody>
      </p:sp>
      <p:sp>
        <p:nvSpPr>
          <p:cNvPr id="51" name="Text 43"/>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salad.</a:t>
            </a:r>
            <a:endParaRPr lang="en-US" sz="1200" dirty="0"/>
          </a:p>
        </p:txBody>
      </p:sp>
      <p:sp>
        <p:nvSpPr>
          <p:cNvPr id="52"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Food or drink?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حَلِيبٌ</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دَجَاجٌ</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عَصِيرٌ</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خِيَارٌ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قَهْوَةٌ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أَرُزٌّ</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مَاءٌ</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سَمَكٌ</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طَعَامٌ · food</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شَرَابٌ · drink</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طَعَامٌ · food</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دَجَاجٌ</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خِيَارٌ</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أَرُزٌّ</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سَمَكٌ</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شَرَابٌ · drink</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حَلِيبٌ</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عَصِيرٌ</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قَهْوَةٌ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مَاءٌ</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normally begins with </a:t>
            </a:r>
            <a:pPr algn="l" indent="0" marL="0">
              <a:buNone/>
            </a:pPr>
            <a:r>
              <a:rPr lang="ar-SA" altLang="en-US" sz="1650" b="1" dirty="0">
                <a:solidFill>
                  <a:srgbClr val="1B3B6F"/>
                </a:solidFill>
                <a:latin typeface="Amiri" pitchFamily="2" charset="-78"/>
                <a:ea typeface="Amiri" pitchFamily="2" charset="-78"/>
                <a:cs typeface="Amiri" pitchFamily="2" charset="-78"/>
              </a:rPr>
              <a:t>أَـ</a:t>
            </a:r>
            <a:pPr algn="l" indent="0" marL="0">
              <a:buNone/>
            </a:pPr>
            <a:r>
              <a:rPr lang="en-US" sz="1250" b="1" dirty="0">
                <a:solidFill>
                  <a:srgbClr val="1B3B6F"/>
                </a:solidFill>
                <a:latin typeface="Calibri" pitchFamily="34" charset="0"/>
                <a:cs typeface="Amiri" pitchFamily="2" charset="-78"/>
              </a:rPr>
              <a:t> because the speaker is “I”?</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يَأْكُلُ</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تَأْكُلُ</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آكُلُ</a:t>
            </a:r>
            <a:endParaRPr lang="ar-SA" sz="2050" dirty="0"/>
          </a:p>
        </p:txBody>
      </p:sp>
      <p:sp>
        <p:nvSpPr>
          <p:cNvPr id="30" name="Shape 27"/>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هَلْ ___ التُّفَّاحَ؟</a:t>
            </a:r>
            <a:endParaRPr lang="ar-SA" sz="1500" dirty="0"/>
          </a:p>
        </p:txBody>
      </p:sp>
      <p:sp>
        <p:nvSpPr>
          <p:cNvPr id="35" name="Shape 32"/>
          <p:cNvSpPr/>
          <p:nvPr/>
        </p:nvSpPr>
        <p:spPr>
          <a:xfrm>
            <a:off x="4459224"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a:t>
            </a:r>
            <a:endParaRPr lang="ar-SA" sz="2050" dirty="0"/>
          </a:p>
        </p:txBody>
      </p:sp>
      <p:sp>
        <p:nvSpPr>
          <p:cNvPr id="38" name="Shape 35"/>
          <p:cNvSpPr/>
          <p:nvPr/>
        </p:nvSpPr>
        <p:spPr>
          <a:xfrm>
            <a:off x="4459224"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تُحِبُّ</a:t>
            </a:r>
            <a:endParaRPr lang="ar-SA" sz="2050" dirty="0"/>
          </a:p>
        </p:txBody>
      </p:sp>
      <p:sp>
        <p:nvSpPr>
          <p:cNvPr id="41" name="Shape 38"/>
          <p:cNvSpPr/>
          <p:nvPr/>
        </p:nvSpPr>
        <p:spPr>
          <a:xfrm>
            <a:off x="4459224"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يُحِبُّ</a:t>
            </a:r>
            <a:endParaRPr lang="ar-SA" sz="2050" dirty="0"/>
          </a:p>
        </p:txBody>
      </p:sp>
      <p:sp>
        <p:nvSpPr>
          <p:cNvPr id="44" name="Shape 41"/>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23504" y="1947672"/>
            <a:ext cx="310896" cy="310896"/>
          </a:xfrm>
          <a:prstGeom prst="ellipse">
            <a:avLst/>
          </a:prstGeom>
          <a:solidFill>
            <a:srgbClr val="1B3B6F"/>
          </a:solidFill>
          <a:ln w="12700">
            <a:solidFill>
              <a:srgbClr val="1B3B6F"/>
            </a:solidFill>
            <a:prstDash val="solid"/>
          </a:ln>
        </p:spPr>
      </p:sp>
      <p:sp>
        <p:nvSpPr>
          <p:cNvPr id="46" name="Text 43"/>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noun is feminine?</a:t>
            </a:r>
            <a:endParaRPr lang="en-US" sz="125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الخُبْزُ</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القَهْوَةُ</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العَصِيرُ</a:t>
            </a:r>
            <a:endParaRPr lang="ar-SA" sz="20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normally begins with </a:t>
            </a:r>
            <a:pPr algn="l" indent="0" marL="0">
              <a:buNone/>
            </a:pPr>
            <a:r>
              <a:rPr lang="ar-SA" altLang="en-US" sz="1650" b="1" dirty="0">
                <a:solidFill>
                  <a:srgbClr val="1B3B6F"/>
                </a:solidFill>
                <a:latin typeface="Amiri" pitchFamily="2" charset="-78"/>
                <a:ea typeface="Amiri" pitchFamily="2" charset="-78"/>
                <a:cs typeface="Amiri" pitchFamily="2" charset="-78"/>
              </a:rPr>
              <a:t>أَـ</a:t>
            </a:r>
            <a:pPr algn="l" indent="0" marL="0">
              <a:buNone/>
            </a:pPr>
            <a:r>
              <a:rPr lang="en-US" sz="1250" b="1" dirty="0">
                <a:solidFill>
                  <a:srgbClr val="1B3B6F"/>
                </a:solidFill>
                <a:latin typeface="Calibri" pitchFamily="34" charset="0"/>
                <a:cs typeface="Amiri" pitchFamily="2" charset="-78"/>
              </a:rPr>
              <a:t> because the speaker is “I”?</a:t>
            </a:r>
            <a:endParaRPr lang="en-US" sz="1250" dirty="0"/>
          </a:p>
        </p:txBody>
      </p:sp>
      <p:sp>
        <p:nvSpPr>
          <p:cNvPr id="21" name="Shape 18"/>
          <p:cNvSpPr/>
          <p:nvPr/>
        </p:nvSpPr>
        <p:spPr>
          <a:xfrm>
            <a:off x="640080" y="2532888"/>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يَأْكُلُ</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تَأْكُلُ</a:t>
            </a:r>
            <a:endParaRPr lang="ar-SA" sz="2050" dirty="0"/>
          </a:p>
        </p:txBody>
      </p:sp>
      <p:sp>
        <p:nvSpPr>
          <p:cNvPr id="27" name="Shape 24"/>
          <p:cNvSpPr/>
          <p:nvPr/>
        </p:nvSpPr>
        <p:spPr>
          <a:xfrm>
            <a:off x="548640" y="3410712"/>
            <a:ext cx="3453384"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44728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آكُلُ</a:t>
            </a:r>
            <a:endParaRPr lang="ar-SA" sz="2050" dirty="0"/>
          </a:p>
        </p:txBody>
      </p:sp>
      <p:sp>
        <p:nvSpPr>
          <p:cNvPr id="31" name="Text 2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آكُلُ</a:t>
            </a:r>
            <a:pPr algn="l" indent="0" marL="0">
              <a:buNone/>
            </a:pPr>
            <a:r>
              <a:rPr lang="en-US" sz="1050" i="1" dirty="0">
                <a:solidFill>
                  <a:srgbClr val="8A6D1E"/>
                </a:solidFill>
                <a:latin typeface="Calibri" pitchFamily="34" charset="0"/>
                <a:cs typeface="Amiri" pitchFamily="2" charset="-78"/>
              </a:rPr>
              <a:t> means “I eat”.</a:t>
            </a:r>
            <a:endParaRPr lang="en-US" sz="1050" dirty="0"/>
          </a:p>
        </p:txBody>
      </p:sp>
      <p:sp>
        <p:nvSpPr>
          <p:cNvPr id="32" name="Shape 29"/>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هَلْ ___ التُّفَّاحَ؟</a:t>
            </a:r>
            <a:endParaRPr lang="ar-SA" sz="1500" dirty="0"/>
          </a:p>
        </p:txBody>
      </p:sp>
      <p:sp>
        <p:nvSpPr>
          <p:cNvPr id="37" name="Shape 34"/>
          <p:cNvSpPr/>
          <p:nvPr/>
        </p:nvSpPr>
        <p:spPr>
          <a:xfrm>
            <a:off x="4459224" y="2532888"/>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أُحِبُّ</a:t>
            </a:r>
            <a:endParaRPr lang="ar-SA" sz="2050" dirty="0"/>
          </a:p>
        </p:txBody>
      </p:sp>
      <p:sp>
        <p:nvSpPr>
          <p:cNvPr id="40" name="Shape 37"/>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299008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تُحِبُّ</a:t>
            </a:r>
            <a:endParaRPr lang="ar-SA" sz="2050" dirty="0"/>
          </a:p>
        </p:txBody>
      </p:sp>
      <p:sp>
        <p:nvSpPr>
          <p:cNvPr id="44" name="Shape 41"/>
          <p:cNvSpPr/>
          <p:nvPr/>
        </p:nvSpPr>
        <p:spPr>
          <a:xfrm>
            <a:off x="4459224" y="344728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يُحِبُّ</a:t>
            </a:r>
            <a:endParaRPr lang="ar-SA" sz="2050" dirty="0"/>
          </a:p>
        </p:txBody>
      </p:sp>
      <p:sp>
        <p:nvSpPr>
          <p:cNvPr id="47" name="Text 44"/>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تُحِبُّ</a:t>
            </a:r>
            <a:pPr algn="l" indent="0" marL="0">
              <a:buNone/>
            </a:pPr>
            <a:r>
              <a:rPr lang="en-US" sz="1050" i="1" dirty="0">
                <a:solidFill>
                  <a:srgbClr val="8A6D1E"/>
                </a:solidFill>
                <a:latin typeface="Calibri" pitchFamily="34" charset="0"/>
                <a:cs typeface="Amiri" pitchFamily="2" charset="-78"/>
              </a:rPr>
              <a:t> when asking a male listener.</a:t>
            </a:r>
            <a:endParaRPr lang="en-US" sz="1050" dirty="0"/>
          </a:p>
        </p:txBody>
      </p:sp>
      <p:sp>
        <p:nvSpPr>
          <p:cNvPr id="48" name="Shape 45"/>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23504" y="1947672"/>
            <a:ext cx="310896" cy="310896"/>
          </a:xfrm>
          <a:prstGeom prst="ellipse">
            <a:avLst/>
          </a:prstGeom>
          <a:solidFill>
            <a:srgbClr val="1B3B6F"/>
          </a:solidFill>
          <a:ln w="12700">
            <a:solidFill>
              <a:srgbClr val="1B3B6F"/>
            </a:solidFill>
            <a:prstDash val="solid"/>
          </a:ln>
        </p:spPr>
      </p:sp>
      <p:sp>
        <p:nvSpPr>
          <p:cNvPr id="50" name="Text 4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noun is feminine?</a:t>
            </a:r>
            <a:endParaRPr lang="en-US" sz="1250" dirty="0"/>
          </a:p>
        </p:txBody>
      </p:sp>
      <p:sp>
        <p:nvSpPr>
          <p:cNvPr id="52" name="Shape 49"/>
          <p:cNvSpPr/>
          <p:nvPr/>
        </p:nvSpPr>
        <p:spPr>
          <a:xfrm>
            <a:off x="8278368" y="2532888"/>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الخُبْزُ</a:t>
            </a:r>
            <a:endParaRPr lang="ar-SA" sz="2050" dirty="0"/>
          </a:p>
        </p:txBody>
      </p:sp>
      <p:sp>
        <p:nvSpPr>
          <p:cNvPr id="55" name="Shape 52"/>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299008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القَهْوَةُ</a:t>
            </a:r>
            <a:endParaRPr lang="ar-SA" sz="2050" dirty="0"/>
          </a:p>
        </p:txBody>
      </p:sp>
      <p:sp>
        <p:nvSpPr>
          <p:cNvPr id="59" name="Shape 56"/>
          <p:cNvSpPr/>
          <p:nvPr/>
        </p:nvSpPr>
        <p:spPr>
          <a:xfrm>
            <a:off x="8278368" y="344728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العَصِيرُ</a:t>
            </a:r>
            <a:endParaRPr lang="ar-SA" sz="2050" dirty="0"/>
          </a:p>
        </p:txBody>
      </p:sp>
      <p:sp>
        <p:nvSpPr>
          <p:cNvPr id="62" name="Text 59"/>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قَهْوَةٌ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أُحِبُّ إِلَى الخُبْزِ.</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Does </a:t>
            </a:r>
            <a:pPr algn="l" indent="0" marL="0">
              <a:buNone/>
            </a:pPr>
            <a:r>
              <a:rPr lang="ar-SA" altLang="en-US" sz="1700" dirty="0">
                <a:solidFill>
                  <a:srgbClr val="5A6472"/>
                </a:solidFill>
                <a:latin typeface="Amiri" pitchFamily="2" charset="-78"/>
                <a:ea typeface="Amiri" pitchFamily="2" charset="-78"/>
                <a:cs typeface="Amiri" pitchFamily="2" charset="-78"/>
              </a:rPr>
              <a:t>أُحِبُّ</a:t>
            </a:r>
            <a:pPr algn="l" indent="0" marL="0">
              <a:buNone/>
            </a:pPr>
            <a:r>
              <a:rPr lang="en-US" sz="1300" i="1" dirty="0">
                <a:solidFill>
                  <a:srgbClr val="5A6472"/>
                </a:solidFill>
                <a:latin typeface="Calibri" pitchFamily="34" charset="0"/>
                <a:cs typeface="Amiri" pitchFamily="2" charset="-78"/>
              </a:rPr>
              <a:t> need a preposition?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لَا أَحِبُّ السَّمَكَ.</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vowel starts “I like”?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أَكُلُ الخُبْزَ.</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How is “I eat” spelt?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أُحِبُّ إِلَى الخُبْزِ.</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أُحِبُّ الخُبْزَ.</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أُحِبُّ</a:t>
            </a:r>
            <a:pPr algn="l" indent="0" marL="0">
              <a:buNone/>
            </a:pPr>
            <a:r>
              <a:rPr lang="en-US" sz="1150" b="1" dirty="0">
                <a:solidFill>
                  <a:srgbClr val="1B3B6F"/>
                </a:solidFill>
                <a:latin typeface="Calibri" pitchFamily="34" charset="0"/>
                <a:cs typeface="Amiri" pitchFamily="2" charset="-78"/>
              </a:rPr>
              <a:t> takes a direct object; do not add </a:t>
            </a:r>
            <a:pPr algn="l" indent="0" marL="0">
              <a:buNone/>
            </a:pPr>
            <a:r>
              <a:rPr lang="ar-SA" altLang="en-US" sz="1500" b="1" dirty="0">
                <a:solidFill>
                  <a:srgbClr val="1B3B6F"/>
                </a:solidFill>
                <a:latin typeface="Amiri" pitchFamily="2" charset="-78"/>
                <a:ea typeface="Amiri" pitchFamily="2" charset="-78"/>
                <a:cs typeface="Amiri" pitchFamily="2" charset="-78"/>
              </a:rPr>
              <a:t>إِلَى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لَا أَحِبُّ السَّمَكَ.</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لَا أُحِبُّ السَّمَكَ.</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first-person form is </a:t>
            </a:r>
            <a:pPr algn="l" indent="0" marL="0">
              <a:buNone/>
            </a:pPr>
            <a:r>
              <a:rPr lang="ar-SA" altLang="en-US" sz="1500" b="1" dirty="0">
                <a:solidFill>
                  <a:srgbClr val="1B3B6F"/>
                </a:solidFill>
                <a:latin typeface="Amiri" pitchFamily="2" charset="-78"/>
                <a:ea typeface="Amiri" pitchFamily="2" charset="-78"/>
                <a:cs typeface="Amiri" pitchFamily="2" charset="-78"/>
              </a:rPr>
              <a:t>أُحِبُّ</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أَكُلُ الخُبْزَ.</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آكُلُ الخُبْزَ.</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آكُلُ</a:t>
            </a:r>
            <a:pPr algn="l" indent="0" marL="0">
              <a:buNone/>
            </a:pPr>
            <a:r>
              <a:rPr lang="en-US" sz="1150" b="1" dirty="0">
                <a:solidFill>
                  <a:srgbClr val="1B3B6F"/>
                </a:solidFill>
                <a:latin typeface="Calibri" pitchFamily="34" charset="0"/>
                <a:cs typeface="Amiri" pitchFamily="2" charset="-78"/>
              </a:rPr>
              <a:t> begins with a long ā written </a:t>
            </a:r>
            <a:pPr algn="l" indent="0" marL="0">
              <a:buNone/>
            </a:pPr>
            <a:r>
              <a:rPr lang="ar-SA" altLang="en-US" sz="1500" b="1" dirty="0">
                <a:solidFill>
                  <a:srgbClr val="1B3B6F"/>
                </a:solidFill>
                <a:latin typeface="Amiri" pitchFamily="2" charset="-78"/>
                <a:ea typeface="Amiri" pitchFamily="2" charset="-78"/>
                <a:cs typeface="Amiri" pitchFamily="2" charset="-78"/>
              </a:rPr>
              <a:t>آ</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does Huda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foods does Huda like together?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bread and cheese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fish and rice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pasta and beans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fruit does she like?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bananas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grapes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apples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not drink?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milk</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coffee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drinks does she have every day?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 and orange juice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 and milk</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coffee and lemon juice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Huda have as a snack?</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lettuce and onions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nuts or biscuits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prawns and rice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أُحِبُّ</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لَا</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أَشْرَبُ</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اِسْمِي هُدَى. أُحِبُّ الخُبْزَ وَالجُبْنَ وَالتُّفَّاحَ.</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name is Huda. I like bread, cheese and apples.</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الوَجْبَةِ الخَفِيفَةِ آكُلُ المُكَسَّرَاتِ أَوِ البِسْكُوِيتَ.</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a snack I eat nuts or biscuits.</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 أُحِبُّ السَّمَكَ، وَلَا أَشْرَبُ القَهْوَةَ.</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don’t like fish, and I don’t drink coffee.</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أَشْرَبُ المَاءَ وَعَصِيرَ البُرْتُقَالِ كُلَّ يَوْمٍ.</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drink water and orange juice every day.</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foods does Huda like together?</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bread and cheese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fish and rice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pasta and beans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الخُبْزَ وَالجُبْنَ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fruit does she like?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bananas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grapes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apples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mentions </a:t>
            </a:r>
            <a:pPr algn="l" indent="0" marL="0">
              <a:buNone/>
            </a:pPr>
            <a:r>
              <a:rPr lang="ar-SA" altLang="en-US" sz="1350" dirty="0">
                <a:solidFill>
                  <a:srgbClr val="8A6D1E"/>
                </a:solidFill>
                <a:latin typeface="Amiri" pitchFamily="2" charset="-78"/>
                <a:ea typeface="Amiri" pitchFamily="2" charset="-78"/>
                <a:cs typeface="Amiri" pitchFamily="2" charset="-78"/>
              </a:rPr>
              <a:t>التُّفَّاحَ</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not drink?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milk</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water</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coffee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وَلَا أَشْرَبُ القَهْوَةَ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drinks does she have every day?</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water and orange juice</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tea and milk</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coffee and lemon juice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drinks </a:t>
            </a:r>
            <a:pPr algn="l" indent="0" marL="0">
              <a:buNone/>
            </a:pPr>
            <a:r>
              <a:rPr lang="ar-SA" altLang="en-US" sz="1350" dirty="0">
                <a:solidFill>
                  <a:srgbClr val="8A6D1E"/>
                </a:solidFill>
                <a:latin typeface="Amiri" pitchFamily="2" charset="-78"/>
                <a:ea typeface="Amiri" pitchFamily="2" charset="-78"/>
                <a:cs typeface="Amiri" pitchFamily="2" charset="-78"/>
              </a:rPr>
              <a:t>المَاءَ وَعَصِيرَ البُرْتُقَالِ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Huda have as a snack?</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lettuce and onions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nuts or biscuits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prawns and rice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آكُلُ المُكَسَّرَاتِ أَوِ البِسْكُوِيتَ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أُحِبُّ</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لَا</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أَشْرَبُ</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Food survey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طَعَامُكَ المُفَضَّلُ؟ / مَا طَعَامُكِ المُفَضَّلُ؟</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تُحِبُّ السَّمَكَ؟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تَشْرَبُ كُلَّ يَوْمٍ؟</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الطَّعَامُ الَّذِي لَا تُحِبُّهُ؟ وَلِمَاذَا؟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طَعَامِي المُفَضَّلُ هُوَ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نَعَمْ، أُحِبُّ … / لَا، لَا أُحِبُّ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أَشْرَبُ ___ وَ ___ كُلَّ يَوْمٍ.</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لَا أُحِبُّ ___ ، وَلَكِنِّي أُحِبُّ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Amiri" pitchFamily="2" charset="-78"/>
                <a:cs typeface="Amiri" pitchFamily="2" charset="-78"/>
              </a:rPr>
              <a:t>أ</a:t>
            </a:r>
            <a:endParaRPr lang="ar-SA"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هَلْ تُحِبِّينَ السَّلَطَةَ؟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Do you (f.) like salad?</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Amiri" pitchFamily="2" charset="-78"/>
                <a:cs typeface="Amiri" pitchFamily="2" charset="-78"/>
              </a:rPr>
              <a:t>ب</a:t>
            </a:r>
            <a:endParaRPr lang="ar-SA"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نَعَمْ، أُحِبُّ السَّلَطَةَ كَثِيرًا.</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Yes, I like salad a lot.</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Name eight foods and four drinks with picture or English support.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Two likes, one dislike, one drink. Use the Core frames and the word bank.</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5–6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Ask and answer four preference questions, then report one classmate’s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Website task: four foods, two drinks, وَ and one negative sentence.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one-item forms (tuffāḥa = one apple) and produce an 8-sentence food profile.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A food profile with وَلَكِنْ, one / many (تُفَّاحَةٌ) and a family member’s likes.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أُحِبُّ السَّمَكَ، وَلَكِنِّي أُحِبُّ الدَّجَاجَ.</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like fish, but I like chicken.</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التُّفَّاحَ أَيْضًا.</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apples too.</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أَخِي يُحِبُّ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brother likes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أُخْتِي لَا تُحِبُّ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sister doesn’t like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أَشْرَبُ القَهْوَةَ.</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drink coffee.</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وَ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 and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أُحِبُّ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like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آكُلُ ______ كَثِيرًا.</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eat … a lot.</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أَشْرَبُ ______ كُلَّ يَوْمٍ.</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drink … every day.</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طَعَامِي المُفَضَّلُ هُوَ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favourite food is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خُبْزٌ  ·  أَرُزٌّ  ·  دَجَاجٌ  ·  سَمَكٌ  ·  جُبْنٌ  ·  تُفَّاحٌ  ·  مَوْزٌ  ·  سَلَطَةٌ  ·  مَاءٌ  ·  حَلِيبٌ  ·  عَصِيرٌ  ·  شَايٌ</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5–6 sentences about foods and drinks you like and dislike. Include at least four food words, two drinks, </a:t>
            </a:r>
            <a:pPr algn="l" indent="0" marL="0">
              <a:buNone/>
            </a:pPr>
            <a:r>
              <a:rPr lang="ar-SA" altLang="en-US" sz="1750" b="1" dirty="0">
                <a:solidFill>
                  <a:srgbClr val="1F2A37"/>
                </a:solidFill>
                <a:latin typeface="Amiri" pitchFamily="2" charset="-78"/>
                <a:ea typeface="Amiri" pitchFamily="2" charset="-78"/>
                <a:cs typeface="Amiri" pitchFamily="2" charset="-78"/>
              </a:rPr>
              <a:t>وَ</a:t>
            </a:r>
            <a:pPr algn="l" indent="0" marL="0">
              <a:buNone/>
            </a:pPr>
            <a:r>
              <a:rPr lang="en-US" sz="1350" b="1" dirty="0">
                <a:solidFill>
                  <a:srgbClr val="1F2A37"/>
                </a:solidFill>
                <a:latin typeface="Calibri" pitchFamily="34" charset="0"/>
                <a:cs typeface="Amiri" pitchFamily="2" charset="-78"/>
              </a:rPr>
              <a:t> and one negative sentence.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ea typeface="Amiri" pitchFamily="2" charset="-78"/>
                <a:cs typeface="Amiri" pitchFamily="2" charset="-78"/>
              </a:rPr>
              <a:t>أُحِبُّ</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ea typeface="Amiri" pitchFamily="2" charset="-78"/>
                <a:cs typeface="Amiri" pitchFamily="2" charset="-78"/>
              </a:rPr>
              <a:t>لَا أُحِبُّ</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at least one sentence with </a:t>
            </a:r>
            <a:pPr algn="l" indent="0" marL="0">
              <a:buNone/>
            </a:pPr>
            <a:r>
              <a:rPr lang="ar-SA" altLang="en-US" sz="1550" dirty="0">
                <a:solidFill>
                  <a:srgbClr val="1F2A37"/>
                </a:solidFill>
                <a:latin typeface="Amiri" pitchFamily="2" charset="-78"/>
                <a:ea typeface="Amiri" pitchFamily="2" charset="-78"/>
                <a:cs typeface="Amiri" pitchFamily="2" charset="-78"/>
              </a:rPr>
              <a:t>آكُلُ</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أَشْرَبُ</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Join ideas with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وَلٰكِنْ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Check the Arabic spelling against the lesson bank.</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آكُلُ تُفَّاحَةً كُلَّ صَبَاحٍ</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eat an apple every morning</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خُصُوصًا المَوْزَ وَالعِنَبَ</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especially bananas and grapes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الفَاكِهَةَ أَكْثَرَ مِنَ الحَلْوَى</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like fruit more than sweets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أُمِّي تُحِبُّ السَّلَطَةَ، وَأَبِي يُحِبُّ الحَسَاءَ</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mother likes salad, and my father likes soup</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آكُلُ ... وَلَا أَشْرَبُ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neither eat … nor drink …</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أُحِبُّ الخُبْزَ وَالجُبْنَ، وَأُحِبُّ التُّفَّاحَ أَيْضًا. لَا أُحِبُّ السَّمَكَ، وَلٰكِنِّي أُحِبُّ الدَّجَاجَ. آكُلُ الأَرُزَّ كَثِيرًا، وَأَشْرَبُ المَاءَ وَالعَصِيرَ كُلَّ يَوْمٍ.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like bread and cheese, and I like apples too. I don’t like fish, but I like chicken. I eat rice a lot, and I drink water and juice every day.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like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dislike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drink</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but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a:r>
            <a:pPr algn="l" indent="0" marL="0">
              <a:buNone/>
            </a:pPr>
            <a:r>
              <a:rPr lang="ar-SA" altLang="en-US" sz="1700" dirty="0">
                <a:solidFill>
                  <a:srgbClr val="1F2A37"/>
                </a:solidFill>
                <a:latin typeface="Amiri" pitchFamily="2" charset="-78"/>
                <a:ea typeface="Amiri" pitchFamily="2" charset="-78"/>
                <a:cs typeface="Amiri" pitchFamily="2" charset="-78"/>
              </a:rPr>
              <a:t>أُحِبُّ</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ea typeface="Amiri" pitchFamily="2" charset="-78"/>
                <a:cs typeface="Amiri" pitchFamily="2" charset="-78"/>
              </a:rPr>
              <a:t>لَا أُحِبُّ</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Food with </a:t>
            </a:r>
            <a:pPr algn="l" indent="0" marL="0">
              <a:buNone/>
            </a:pPr>
            <a:r>
              <a:rPr lang="ar-SA" altLang="en-US" sz="1700" dirty="0">
                <a:solidFill>
                  <a:srgbClr val="1F2A37"/>
                </a:solidFill>
                <a:latin typeface="Amiri" pitchFamily="2" charset="-78"/>
                <a:ea typeface="Amiri" pitchFamily="2" charset="-78"/>
                <a:cs typeface="Amiri" pitchFamily="2" charset="-78"/>
              </a:rPr>
              <a:t>آكُلُ</a:t>
            </a:r>
            <a:pPr algn="l" indent="0" marL="0">
              <a:buNone/>
            </a:pPr>
            <a:r>
              <a:rPr lang="en-US" sz="1300" dirty="0">
                <a:solidFill>
                  <a:srgbClr val="1F2A37"/>
                </a:solidFill>
                <a:latin typeface="Calibri" pitchFamily="34" charset="0"/>
                <a:cs typeface="Amiri" pitchFamily="2" charset="-78"/>
              </a:rPr>
              <a:t>, drinks with </a:t>
            </a:r>
            <a:pPr algn="l" indent="0" marL="0">
              <a:buNone/>
            </a:pPr>
            <a:r>
              <a:rPr lang="ar-SA" altLang="en-US" sz="1700" dirty="0">
                <a:solidFill>
                  <a:srgbClr val="1F2A37"/>
                </a:solidFill>
                <a:latin typeface="Amiri" pitchFamily="2" charset="-78"/>
                <a:ea typeface="Amiri" pitchFamily="2" charset="-78"/>
                <a:cs typeface="Amiri" pitchFamily="2" charset="-78"/>
              </a:rPr>
              <a:t>أَشْرَبُ</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No preposition after </a:t>
            </a:r>
            <a:pPr algn="l" indent="0" marL="0">
              <a:buNone/>
            </a:pPr>
            <a:r>
              <a:rPr lang="ar-SA" altLang="en-US" sz="1700" dirty="0">
                <a:solidFill>
                  <a:srgbClr val="1F2A37"/>
                </a:solidFill>
                <a:latin typeface="Amiri" pitchFamily="2" charset="-78"/>
                <a:ea typeface="Amiri" pitchFamily="2" charset="-78"/>
                <a:cs typeface="Amiri" pitchFamily="2" charset="-78"/>
              </a:rPr>
              <a:t>أُحِبُّ</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joined ideas with </a:t>
            </a:r>
            <a:pPr algn="l" indent="0" marL="0">
              <a:buNone/>
            </a:pPr>
            <a:r>
              <a:rPr lang="ar-SA" altLang="en-US" sz="1700" dirty="0">
                <a:solidFill>
                  <a:srgbClr val="1F2A37"/>
                </a:solidFill>
                <a:latin typeface="Amiri" pitchFamily="2" charset="-78"/>
                <a:ea typeface="Amiri" pitchFamily="2" charset="-78"/>
                <a:cs typeface="Amiri" pitchFamily="2" charset="-78"/>
              </a:rPr>
              <a:t>وَ</a:t>
            </a:r>
            <a:pPr algn="l" indent="0" marL="0">
              <a:buNone/>
            </a:pPr>
            <a:r>
              <a:rPr lang="en-US" sz="1300" dirty="0">
                <a:solidFill>
                  <a:srgbClr val="1F2A37"/>
                </a:solidFill>
                <a:latin typeface="Calibri" pitchFamily="34" charset="0"/>
                <a:cs typeface="Amiri" pitchFamily="2" charset="-78"/>
              </a:rPr>
              <a:t> or </a:t>
            </a:r>
            <a:pPr algn="l" indent="0" marL="0">
              <a:buNone/>
            </a:pPr>
            <a:r>
              <a:rPr lang="ar-SA" altLang="en-US" sz="1700" dirty="0">
                <a:solidFill>
                  <a:srgbClr val="1F2A37"/>
                </a:solidFill>
                <a:latin typeface="Amiri" pitchFamily="2" charset="-78"/>
                <a:ea typeface="Amiri" pitchFamily="2" charset="-78"/>
                <a:cs typeface="Amiri" pitchFamily="2" charset="-78"/>
              </a:rPr>
              <a:t>وَلَكِنْ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one item: </a:t>
            </a:r>
            <a:pPr algn="l" indent="0" marL="0">
              <a:buNone/>
            </a:pPr>
            <a:r>
              <a:rPr lang="ar-SA" altLang="en-US" sz="1700" dirty="0">
                <a:solidFill>
                  <a:srgbClr val="1F2A37"/>
                </a:solidFill>
                <a:latin typeface="Amiri" pitchFamily="2" charset="-78"/>
                <a:ea typeface="Amiri" pitchFamily="2" charset="-78"/>
                <a:cs typeface="Amiri" pitchFamily="2" charset="-78"/>
              </a:rPr>
              <a:t>تُفَّاحَةٌ، مَوْزَةٌ</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water?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مَاءٌ</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حَلِيبٌ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عَصِيرٌ</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“I drink”?</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آكُلُ</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أَشْرَبُ</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أُفَضِّلُ</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is fruit?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مَوْزٌ وَعِنَبٌ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أَرُزٌّ وَخُبْزٌ</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دَجَاجٌ وَسَمَكٌ</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water?</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مَاءٌ</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حَلِيبٌ</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عَصِيرٌ</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مَاءٌ</a:t>
            </a:r>
            <a:pPr algn="l" indent="0" marL="0">
              <a:buNone/>
            </a:pPr>
            <a:r>
              <a:rPr lang="en-US" sz="1050" i="1" dirty="0">
                <a:solidFill>
                  <a:srgbClr val="8A6D1E"/>
                </a:solidFill>
                <a:latin typeface="Calibri" pitchFamily="34" charset="0"/>
                <a:cs typeface="Amiri" pitchFamily="2" charset="-78"/>
              </a:rPr>
              <a:t> means water.</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“I drink”?</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آكُلُ</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أَشْرَبُ</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أُفَضِّلُ</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أَشْرَبُ</a:t>
            </a:r>
            <a:pPr algn="l" indent="0" marL="0">
              <a:buNone/>
            </a:pPr>
            <a:r>
              <a:rPr lang="en-US" sz="1050" i="1" dirty="0">
                <a:solidFill>
                  <a:srgbClr val="8A6D1E"/>
                </a:solidFill>
                <a:latin typeface="Calibri" pitchFamily="34" charset="0"/>
                <a:cs typeface="Amiri" pitchFamily="2" charset="-78"/>
              </a:rPr>
              <a:t> means I drink.</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is fruit?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مَوْزٌ وَعِنَبٌ</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أَرُزٌّ وَخُبْزٌ</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دَجَاجٌ وَسَمَكٌ</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Bananas and grapes are fruit.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family shopping note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نَحْنُ نَشْتَرِي خُبْزًا وَأَرُزًّا وَدَجَاجًا لِلْعَشَاءِ. نَحْتَاجُ أَيْضًا إِلَى زَيْتٍ وَمِلْحٍ وَقَلِيلٍ مِنَ السُّكَّرِ. أُمِّي تُحِبُّ السَّلَطَةَ مَعَ الخَسِّ وَالطَّمَاطِمِ وَالبَصَلِ، وَأَبِي يُحِبُّ الحَسَاءَ. أَخِي لَا يُحِبُّ الخَضْرَوَاتِ، وَلٰكِنَّهُ يُحِبُّ الفَاكِهَةَ، خُصُوصًا المَوْزَ وَالعِنَبَ. نَشْتَرِي أَحْيَانًا الرُّوبِيَانَ وَمَأْكُولَاتٍ بَحْرِيَّةً، وَنَشْتَرِي أَيْضًا حَلِيبًا وَمَاءً.</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نَشْتَرِي</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buy</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لِلْعَشَاءِ</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dinner</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نَحْتَاجُ إِلَى</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need</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زَيْتٍ · مِلْحٍ</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oil · salt</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قَلِيلٍ مِنَ السُّكَّرِ</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little sugar</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الخَسِّ · البَصَلِ</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lettuce · onions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الحَسَاءَ</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soup</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وَلَكِنَّهُ</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but he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خُصُوصًا</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especially</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الرُّوبِيَانَ</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prawns</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family buying for dinner?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fish, potatoes and soup</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bread, rice and chicken</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pasta, eggs and cheese</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likes salad?</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father</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brother</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mother</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brother dislike?</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vegetables</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fruit</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milk</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fruit does he especially like?</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oranges and dates</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bananas and grapes</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apples and strawberries</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drinks are bought?</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milk and water</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juice and tea</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coffee and milk</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Which three ingredients are needed in addition to the main foods?</a:t>
            </a:r>
            <a:endParaRPr lang="en-US" sz="9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cheese, yoghurt and milk</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 coffee and juice</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oil, salt and a little sugar</a:t>
            </a:r>
            <a:endParaRPr lang="en-US" sz="1250" dirty="0"/>
          </a:p>
        </p:txBody>
      </p:sp>
      <p:sp>
        <p:nvSpPr>
          <p:cNvPr id="95" name="Shape 92"/>
          <p:cNvSpPr/>
          <p:nvPr/>
        </p:nvSpPr>
        <p:spPr>
          <a:xfrm>
            <a:off x="6185916"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6" name="Shape 93"/>
          <p:cNvSpPr/>
          <p:nvPr/>
        </p:nvSpPr>
        <p:spPr>
          <a:xfrm>
            <a:off x="6313932" y="4288536"/>
            <a:ext cx="310896" cy="310896"/>
          </a:xfrm>
          <a:prstGeom prst="ellipse">
            <a:avLst/>
          </a:prstGeom>
          <a:solidFill>
            <a:srgbClr val="1B3B6F"/>
          </a:solidFill>
          <a:ln w="12700">
            <a:solidFill>
              <a:srgbClr val="1B3B6F"/>
            </a:solidFill>
            <a:prstDash val="solid"/>
          </a:ln>
        </p:spPr>
      </p:sp>
      <p:sp>
        <p:nvSpPr>
          <p:cNvPr id="97" name="Text 9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98" name="Text 95"/>
          <p:cNvSpPr txBox="1"/>
          <p:nvPr/>
        </p:nvSpPr>
        <p:spPr>
          <a:xfrm>
            <a:off x="6679692"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included in the mother’s salad?</a:t>
            </a:r>
            <a:endParaRPr lang="en-US" sz="1250" dirty="0"/>
          </a:p>
        </p:txBody>
      </p:sp>
      <p:sp>
        <p:nvSpPr>
          <p:cNvPr id="99" name="Shape 96"/>
          <p:cNvSpPr/>
          <p:nvPr/>
        </p:nvSpPr>
        <p:spPr>
          <a:xfrm>
            <a:off x="6368796" y="4873752"/>
            <a:ext cx="256032" cy="256032"/>
          </a:xfrm>
          <a:prstGeom prst="ellipse">
            <a:avLst/>
          </a:prstGeom>
          <a:solidFill>
            <a:srgbClr val="F4F1EA"/>
          </a:solidFill>
          <a:ln w="12700">
            <a:solidFill>
              <a:srgbClr val="F4F1EA"/>
            </a:solidFill>
            <a:prstDash val="solid"/>
          </a:ln>
        </p:spPr>
      </p:sp>
      <p:sp>
        <p:nvSpPr>
          <p:cNvPr id="100" name="Text 9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01" name="Text 98"/>
          <p:cNvSpPr txBox="1"/>
          <p:nvPr/>
        </p:nvSpPr>
        <p:spPr>
          <a:xfrm>
            <a:off x="6697980"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potatoes, carrots and beans</a:t>
            </a:r>
            <a:endParaRPr lang="en-US" sz="1250" dirty="0"/>
          </a:p>
        </p:txBody>
      </p:sp>
      <p:sp>
        <p:nvSpPr>
          <p:cNvPr id="102" name="Shape 99"/>
          <p:cNvSpPr/>
          <p:nvPr/>
        </p:nvSpPr>
        <p:spPr>
          <a:xfrm>
            <a:off x="6368796" y="5330952"/>
            <a:ext cx="256032" cy="256032"/>
          </a:xfrm>
          <a:prstGeom prst="ellipse">
            <a:avLst/>
          </a:prstGeom>
          <a:solidFill>
            <a:srgbClr val="F4F1EA"/>
          </a:solidFill>
          <a:ln w="12700">
            <a:solidFill>
              <a:srgbClr val="F4F1EA"/>
            </a:solidFill>
            <a:prstDash val="solid"/>
          </a:ln>
        </p:spPr>
      </p:sp>
      <p:sp>
        <p:nvSpPr>
          <p:cNvPr id="103" name="Text 10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4" name="Text 101"/>
          <p:cNvSpPr txBox="1"/>
          <p:nvPr/>
        </p:nvSpPr>
        <p:spPr>
          <a:xfrm>
            <a:off x="6697980"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rice, chicken and fish</a:t>
            </a:r>
            <a:endParaRPr lang="en-US" sz="1250" dirty="0"/>
          </a:p>
        </p:txBody>
      </p:sp>
      <p:sp>
        <p:nvSpPr>
          <p:cNvPr id="105" name="Shape 102"/>
          <p:cNvSpPr/>
          <p:nvPr/>
        </p:nvSpPr>
        <p:spPr>
          <a:xfrm>
            <a:off x="6368796" y="5788152"/>
            <a:ext cx="256032" cy="256032"/>
          </a:xfrm>
          <a:prstGeom prst="ellipse">
            <a:avLst/>
          </a:prstGeom>
          <a:solidFill>
            <a:srgbClr val="F4F1EA"/>
          </a:solidFill>
          <a:ln w="12700">
            <a:solidFill>
              <a:srgbClr val="F4F1EA"/>
            </a:solidFill>
            <a:prstDash val="solid"/>
          </a:ln>
        </p:spPr>
      </p:sp>
      <p:sp>
        <p:nvSpPr>
          <p:cNvPr id="106" name="Text 10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7" name="Text 104"/>
          <p:cNvSpPr txBox="1"/>
          <p:nvPr/>
        </p:nvSpPr>
        <p:spPr>
          <a:xfrm>
            <a:off x="6697980"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lettuce, tomatoes and onions</a:t>
            </a:r>
            <a:endParaRPr lang="en-US" sz="1250" dirty="0"/>
          </a:p>
        </p:txBody>
      </p:sp>
      <p:sp>
        <p:nvSpPr>
          <p:cNvPr id="108" name="Shape 105"/>
          <p:cNvSpPr/>
          <p:nvPr/>
        </p:nvSpPr>
        <p:spPr>
          <a:xfrm>
            <a:off x="9050274"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9" name="Shape 106"/>
          <p:cNvSpPr/>
          <p:nvPr/>
        </p:nvSpPr>
        <p:spPr>
          <a:xfrm>
            <a:off x="9178290" y="4288536"/>
            <a:ext cx="310896" cy="310896"/>
          </a:xfrm>
          <a:prstGeom prst="ellipse">
            <a:avLst/>
          </a:prstGeom>
          <a:solidFill>
            <a:srgbClr val="1B3B6F"/>
          </a:solidFill>
          <a:ln w="12700">
            <a:solidFill>
              <a:srgbClr val="1B3B6F"/>
            </a:solidFill>
            <a:prstDash val="solid"/>
          </a:ln>
        </p:spPr>
      </p:sp>
      <p:sp>
        <p:nvSpPr>
          <p:cNvPr id="110" name="Text 107"/>
          <p:cNvSpPr txBox="1"/>
          <p:nvPr/>
        </p:nvSpPr>
        <p:spPr>
          <a:xfrm>
            <a:off x="917829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111" name="Text 108"/>
          <p:cNvSpPr txBox="1"/>
          <p:nvPr/>
        </p:nvSpPr>
        <p:spPr>
          <a:xfrm>
            <a:off x="9544050"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seafood is mentioned specifically?</a:t>
            </a:r>
            <a:endParaRPr lang="en-US" sz="1250" dirty="0"/>
          </a:p>
        </p:txBody>
      </p:sp>
      <p:sp>
        <p:nvSpPr>
          <p:cNvPr id="112" name="Shape 109"/>
          <p:cNvSpPr/>
          <p:nvPr/>
        </p:nvSpPr>
        <p:spPr>
          <a:xfrm>
            <a:off x="9233154" y="4873752"/>
            <a:ext cx="256032" cy="256032"/>
          </a:xfrm>
          <a:prstGeom prst="ellipse">
            <a:avLst/>
          </a:prstGeom>
          <a:solidFill>
            <a:srgbClr val="F4F1EA"/>
          </a:solidFill>
          <a:ln w="12700">
            <a:solidFill>
              <a:srgbClr val="F4F1EA"/>
            </a:solidFill>
            <a:prstDash val="solid"/>
          </a:ln>
        </p:spPr>
      </p:sp>
      <p:sp>
        <p:nvSpPr>
          <p:cNvPr id="113" name="Text 110"/>
          <p:cNvSpPr txBox="1"/>
          <p:nvPr/>
        </p:nvSpPr>
        <p:spPr>
          <a:xfrm>
            <a:off x="923315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14" name="Text 111"/>
          <p:cNvSpPr txBox="1"/>
          <p:nvPr/>
        </p:nvSpPr>
        <p:spPr>
          <a:xfrm>
            <a:off x="9562338"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prawns</a:t>
            </a:r>
            <a:endParaRPr lang="en-US" sz="1250" dirty="0"/>
          </a:p>
        </p:txBody>
      </p:sp>
      <p:sp>
        <p:nvSpPr>
          <p:cNvPr id="115" name="Shape 112"/>
          <p:cNvSpPr/>
          <p:nvPr/>
        </p:nvSpPr>
        <p:spPr>
          <a:xfrm>
            <a:off x="9233154" y="5330952"/>
            <a:ext cx="256032" cy="256032"/>
          </a:xfrm>
          <a:prstGeom prst="ellipse">
            <a:avLst/>
          </a:prstGeom>
          <a:solidFill>
            <a:srgbClr val="F4F1EA"/>
          </a:solidFill>
          <a:ln w="12700">
            <a:solidFill>
              <a:srgbClr val="F4F1EA"/>
            </a:solidFill>
            <a:prstDash val="solid"/>
          </a:ln>
        </p:spPr>
      </p:sp>
      <p:sp>
        <p:nvSpPr>
          <p:cNvPr id="116" name="Text 113"/>
          <p:cNvSpPr txBox="1"/>
          <p:nvPr/>
        </p:nvSpPr>
        <p:spPr>
          <a:xfrm>
            <a:off x="923315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17" name="Text 114"/>
          <p:cNvSpPr txBox="1"/>
          <p:nvPr/>
        </p:nvSpPr>
        <p:spPr>
          <a:xfrm>
            <a:off x="9562338"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tuna</a:t>
            </a:r>
            <a:endParaRPr lang="en-US" sz="1250" dirty="0"/>
          </a:p>
        </p:txBody>
      </p:sp>
      <p:sp>
        <p:nvSpPr>
          <p:cNvPr id="118" name="Shape 115"/>
          <p:cNvSpPr/>
          <p:nvPr/>
        </p:nvSpPr>
        <p:spPr>
          <a:xfrm>
            <a:off x="9233154" y="5788152"/>
            <a:ext cx="256032" cy="256032"/>
          </a:xfrm>
          <a:prstGeom prst="ellipse">
            <a:avLst/>
          </a:prstGeom>
          <a:solidFill>
            <a:srgbClr val="F4F1EA"/>
          </a:solidFill>
          <a:ln w="12700">
            <a:solidFill>
              <a:srgbClr val="F4F1EA"/>
            </a:solidFill>
            <a:prstDash val="solid"/>
          </a:ln>
        </p:spPr>
      </p:sp>
      <p:sp>
        <p:nvSpPr>
          <p:cNvPr id="119" name="Text 116"/>
          <p:cNvSpPr txBox="1"/>
          <p:nvPr/>
        </p:nvSpPr>
        <p:spPr>
          <a:xfrm>
            <a:off x="923315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20" name="Text 117"/>
          <p:cNvSpPr txBox="1"/>
          <p:nvPr/>
        </p:nvSpPr>
        <p:spPr>
          <a:xfrm>
            <a:off x="9562338"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crab</a:t>
            </a:r>
            <a:endParaRPr lang="en-US" sz="1250" dirty="0"/>
          </a:p>
        </p:txBody>
      </p:sp>
      <p:sp>
        <p:nvSpPr>
          <p:cNvPr id="121" name="Text 11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family buying for dinner?</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fish, potatoes and soup</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bread, rice and chicken</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pasta, eggs and cheese</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opening sentence lists </a:t>
            </a:r>
            <a:pPr algn="l" indent="0" marL="0">
              <a:buNone/>
            </a:pPr>
            <a:r>
              <a:rPr lang="ar-SA" altLang="en-US" sz="1350" dirty="0">
                <a:solidFill>
                  <a:srgbClr val="8A6D1E"/>
                </a:solidFill>
                <a:latin typeface="Amiri" pitchFamily="2" charset="-78"/>
                <a:ea typeface="Amiri" pitchFamily="2" charset="-78"/>
                <a:cs typeface="Amiri" pitchFamily="2" charset="-78"/>
              </a:rPr>
              <a:t>خُبْزًا وَأَرُزًّا وَدَجَاجًا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likes salad?</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father</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brother</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mother</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أُمِّي تُحِبُّ السَّلَطَةَ.</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brother dislike?</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vegetables</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fruit</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milk</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does not like </a:t>
            </a:r>
            <a:pPr algn="l" indent="0" marL="0">
              <a:buNone/>
            </a:pPr>
            <a:r>
              <a:rPr lang="ar-SA" altLang="en-US" sz="1350" dirty="0">
                <a:solidFill>
                  <a:srgbClr val="8A6D1E"/>
                </a:solidFill>
                <a:latin typeface="Amiri" pitchFamily="2" charset="-78"/>
                <a:ea typeface="Amiri" pitchFamily="2" charset="-78"/>
                <a:cs typeface="Amiri" pitchFamily="2" charset="-78"/>
              </a:rPr>
              <a:t>الخَضْرَوَاتِ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fruit does he especially like?</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oranges and dates</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bananas and grapes</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apples and strawberries</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says </a:t>
            </a:r>
            <a:pPr algn="l" indent="0" marL="0">
              <a:buNone/>
            </a:pPr>
            <a:r>
              <a:rPr lang="ar-SA" altLang="en-US" sz="1350" dirty="0">
                <a:solidFill>
                  <a:srgbClr val="8A6D1E"/>
                </a:solidFill>
                <a:latin typeface="Amiri" pitchFamily="2" charset="-78"/>
                <a:ea typeface="Amiri" pitchFamily="2" charset="-78"/>
                <a:cs typeface="Amiri" pitchFamily="2" charset="-78"/>
              </a:rPr>
              <a:t>خُصُوصًا المَوْزَ وَالعِنَبَ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drinks are bought?</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milk and water</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juice and tea</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coffee and milk</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sentence gives </a:t>
            </a:r>
            <a:pPr algn="l" indent="0" marL="0">
              <a:buNone/>
            </a:pPr>
            <a:r>
              <a:rPr lang="ar-SA" altLang="en-US" sz="1350" dirty="0">
                <a:solidFill>
                  <a:srgbClr val="8A6D1E"/>
                </a:solidFill>
                <a:latin typeface="Amiri" pitchFamily="2" charset="-78"/>
                <a:ea typeface="Amiri" pitchFamily="2" charset="-78"/>
                <a:cs typeface="Amiri" pitchFamily="2" charset="-78"/>
              </a:rPr>
              <a:t>حَلِيبًا وَمَاءً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Which three ingredients are needed in addition to the main foods?</a:t>
            </a:r>
            <a:endParaRPr lang="en-US" sz="9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cheese, yoghurt and milk</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tea, coffee and juice</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oil, salt and a little sugar</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lists </a:t>
            </a:r>
            <a:pPr algn="l" indent="0" marL="0">
              <a:buNone/>
            </a:pPr>
            <a:r>
              <a:rPr lang="ar-SA" altLang="en-US" sz="1350" dirty="0">
                <a:solidFill>
                  <a:srgbClr val="8A6D1E"/>
                </a:solidFill>
                <a:latin typeface="Amiri" pitchFamily="2" charset="-78"/>
                <a:ea typeface="Amiri" pitchFamily="2" charset="-78"/>
                <a:cs typeface="Amiri" pitchFamily="2" charset="-78"/>
              </a:rPr>
              <a:t>زَيْتٍ وَمِلْحٍ وَقَلِيلٍ مِنَ السُّكَّرِ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8" name="Shape 105"/>
          <p:cNvSpPr/>
          <p:nvPr/>
        </p:nvSpPr>
        <p:spPr>
          <a:xfrm>
            <a:off x="6313932" y="4288536"/>
            <a:ext cx="310896" cy="310896"/>
          </a:xfrm>
          <a:prstGeom prst="ellipse">
            <a:avLst/>
          </a:prstGeom>
          <a:solidFill>
            <a:srgbClr val="1B3B6F"/>
          </a:solidFill>
          <a:ln w="12700">
            <a:solidFill>
              <a:srgbClr val="1B3B6F"/>
            </a:solidFill>
            <a:prstDash val="solid"/>
          </a:ln>
        </p:spPr>
      </p:sp>
      <p:sp>
        <p:nvSpPr>
          <p:cNvPr id="109" name="Text 10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110" name="Text 107"/>
          <p:cNvSpPr txBox="1"/>
          <p:nvPr/>
        </p:nvSpPr>
        <p:spPr>
          <a:xfrm>
            <a:off x="6679692"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included in the mother’s salad?</a:t>
            </a:r>
            <a:endParaRPr lang="en-US" sz="1250" dirty="0"/>
          </a:p>
        </p:txBody>
      </p:sp>
      <p:sp>
        <p:nvSpPr>
          <p:cNvPr id="111" name="Shape 108"/>
          <p:cNvSpPr/>
          <p:nvPr/>
        </p:nvSpPr>
        <p:spPr>
          <a:xfrm>
            <a:off x="6368796" y="4831080"/>
            <a:ext cx="256032" cy="256032"/>
          </a:xfrm>
          <a:prstGeom prst="ellipse">
            <a:avLst/>
          </a:prstGeom>
          <a:solidFill>
            <a:srgbClr val="C9CED6"/>
          </a:solidFill>
          <a:ln w="12700">
            <a:solidFill>
              <a:srgbClr val="C9CED6"/>
            </a:solidFill>
            <a:prstDash val="solid"/>
          </a:ln>
        </p:spPr>
      </p:sp>
      <p:sp>
        <p:nvSpPr>
          <p:cNvPr id="112" name="Text 109"/>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13" name="Text 110"/>
          <p:cNvSpPr txBox="1"/>
          <p:nvPr/>
        </p:nvSpPr>
        <p:spPr>
          <a:xfrm>
            <a:off x="6697980" y="4773168"/>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potatoes, carrots and beans</a:t>
            </a:r>
            <a:endParaRPr lang="en-US" sz="1150" dirty="0"/>
          </a:p>
        </p:txBody>
      </p:sp>
      <p:sp>
        <p:nvSpPr>
          <p:cNvPr id="114" name="Shape 111"/>
          <p:cNvSpPr/>
          <p:nvPr/>
        </p:nvSpPr>
        <p:spPr>
          <a:xfrm>
            <a:off x="6368796" y="5202936"/>
            <a:ext cx="256032" cy="256032"/>
          </a:xfrm>
          <a:prstGeom prst="ellipse">
            <a:avLst/>
          </a:prstGeom>
          <a:solidFill>
            <a:srgbClr val="C9CED6"/>
          </a:solidFill>
          <a:ln w="12700">
            <a:solidFill>
              <a:srgbClr val="C9CED6"/>
            </a:solidFill>
            <a:prstDash val="solid"/>
          </a:ln>
        </p:spPr>
      </p:sp>
      <p:sp>
        <p:nvSpPr>
          <p:cNvPr id="115" name="Text 112"/>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16" name="Text 113"/>
          <p:cNvSpPr txBox="1"/>
          <p:nvPr/>
        </p:nvSpPr>
        <p:spPr>
          <a:xfrm>
            <a:off x="6697980"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rice, chicken and fish</a:t>
            </a:r>
            <a:endParaRPr lang="en-US" sz="1250" dirty="0"/>
          </a:p>
        </p:txBody>
      </p:sp>
      <p:sp>
        <p:nvSpPr>
          <p:cNvPr id="117" name="Shape 114"/>
          <p:cNvSpPr/>
          <p:nvPr/>
        </p:nvSpPr>
        <p:spPr>
          <a:xfrm>
            <a:off x="6277356" y="5538216"/>
            <a:ext cx="2498598" cy="347472"/>
          </a:xfrm>
          <a:prstGeom prst="roundRect">
            <a:avLst>
              <a:gd name="adj" fmla="val 15789"/>
            </a:avLst>
          </a:prstGeom>
          <a:solidFill>
            <a:srgbClr val="E6F4EC"/>
          </a:solidFill>
          <a:ln w="9525">
            <a:solidFill>
              <a:srgbClr val="2E8B57"/>
            </a:solidFill>
            <a:prstDash val="solid"/>
          </a:ln>
        </p:spPr>
      </p:sp>
      <p:sp>
        <p:nvSpPr>
          <p:cNvPr id="118" name="Shape 115"/>
          <p:cNvSpPr/>
          <p:nvPr/>
        </p:nvSpPr>
        <p:spPr>
          <a:xfrm>
            <a:off x="6368796" y="5574792"/>
            <a:ext cx="256032" cy="256032"/>
          </a:xfrm>
          <a:prstGeom prst="ellipse">
            <a:avLst/>
          </a:prstGeom>
          <a:solidFill>
            <a:srgbClr val="2E8B57"/>
          </a:solidFill>
          <a:ln w="12700">
            <a:solidFill>
              <a:srgbClr val="2E8B57"/>
            </a:solidFill>
            <a:prstDash val="solid"/>
          </a:ln>
        </p:spPr>
      </p:sp>
      <p:sp>
        <p:nvSpPr>
          <p:cNvPr id="119" name="Text 116"/>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20" name="Text 117"/>
          <p:cNvSpPr txBox="1"/>
          <p:nvPr/>
        </p:nvSpPr>
        <p:spPr>
          <a:xfrm>
            <a:off x="6697980"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lettuce, tomatoes and onions</a:t>
            </a:r>
            <a:endParaRPr lang="en-US" sz="1150" dirty="0"/>
          </a:p>
        </p:txBody>
      </p:sp>
      <p:sp>
        <p:nvSpPr>
          <p:cNvPr id="121" name="Text 118"/>
          <p:cNvSpPr txBox="1"/>
          <p:nvPr/>
        </p:nvSpPr>
        <p:spPr>
          <a:xfrm>
            <a:off x="6313932"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salad contains </a:t>
            </a:r>
            <a:pPr algn="l" indent="0" marL="0">
              <a:buNone/>
            </a:pPr>
            <a:r>
              <a:rPr lang="ar-SA" altLang="en-US" sz="1350" dirty="0">
                <a:solidFill>
                  <a:srgbClr val="8A6D1E"/>
                </a:solidFill>
                <a:latin typeface="Amiri" pitchFamily="2" charset="-78"/>
                <a:ea typeface="Amiri" pitchFamily="2" charset="-78"/>
                <a:cs typeface="Amiri" pitchFamily="2" charset="-78"/>
              </a:rPr>
              <a:t>الخَسِّ وَالطَّمَاطِمِ وَالبَصَلِ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22" name="Shape 119"/>
          <p:cNvSpPr/>
          <p:nvPr/>
        </p:nvSpPr>
        <p:spPr>
          <a:xfrm>
            <a:off x="9050274"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23" name="Shape 120"/>
          <p:cNvSpPr/>
          <p:nvPr/>
        </p:nvSpPr>
        <p:spPr>
          <a:xfrm>
            <a:off x="9178290" y="4288536"/>
            <a:ext cx="310896" cy="310896"/>
          </a:xfrm>
          <a:prstGeom prst="ellipse">
            <a:avLst/>
          </a:prstGeom>
          <a:solidFill>
            <a:srgbClr val="1B3B6F"/>
          </a:solidFill>
          <a:ln w="12700">
            <a:solidFill>
              <a:srgbClr val="1B3B6F"/>
            </a:solidFill>
            <a:prstDash val="solid"/>
          </a:ln>
        </p:spPr>
      </p:sp>
      <p:sp>
        <p:nvSpPr>
          <p:cNvPr id="124" name="Text 121"/>
          <p:cNvSpPr txBox="1"/>
          <p:nvPr/>
        </p:nvSpPr>
        <p:spPr>
          <a:xfrm>
            <a:off x="917829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125" name="Text 122"/>
          <p:cNvSpPr txBox="1"/>
          <p:nvPr/>
        </p:nvSpPr>
        <p:spPr>
          <a:xfrm>
            <a:off x="9544050"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seafood is mentioned specifically?</a:t>
            </a:r>
            <a:endParaRPr lang="en-US" sz="1250" dirty="0"/>
          </a:p>
        </p:txBody>
      </p:sp>
      <p:sp>
        <p:nvSpPr>
          <p:cNvPr id="126" name="Shape 123"/>
          <p:cNvSpPr/>
          <p:nvPr/>
        </p:nvSpPr>
        <p:spPr>
          <a:xfrm>
            <a:off x="9141714" y="4794504"/>
            <a:ext cx="2498598" cy="347472"/>
          </a:xfrm>
          <a:prstGeom prst="roundRect">
            <a:avLst>
              <a:gd name="adj" fmla="val 15789"/>
            </a:avLst>
          </a:prstGeom>
          <a:solidFill>
            <a:srgbClr val="E6F4EC"/>
          </a:solidFill>
          <a:ln w="9525">
            <a:solidFill>
              <a:srgbClr val="2E8B57"/>
            </a:solidFill>
            <a:prstDash val="solid"/>
          </a:ln>
        </p:spPr>
      </p:sp>
      <p:sp>
        <p:nvSpPr>
          <p:cNvPr id="127" name="Shape 124"/>
          <p:cNvSpPr/>
          <p:nvPr/>
        </p:nvSpPr>
        <p:spPr>
          <a:xfrm>
            <a:off x="9233154" y="4831080"/>
            <a:ext cx="256032" cy="256032"/>
          </a:xfrm>
          <a:prstGeom prst="ellipse">
            <a:avLst/>
          </a:prstGeom>
          <a:solidFill>
            <a:srgbClr val="2E8B57"/>
          </a:solidFill>
          <a:ln w="12700">
            <a:solidFill>
              <a:srgbClr val="2E8B57"/>
            </a:solidFill>
            <a:prstDash val="solid"/>
          </a:ln>
        </p:spPr>
      </p:sp>
      <p:sp>
        <p:nvSpPr>
          <p:cNvPr id="128" name="Text 125"/>
          <p:cNvSpPr txBox="1"/>
          <p:nvPr/>
        </p:nvSpPr>
        <p:spPr>
          <a:xfrm>
            <a:off x="923315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129" name="Text 126"/>
          <p:cNvSpPr txBox="1"/>
          <p:nvPr/>
        </p:nvSpPr>
        <p:spPr>
          <a:xfrm>
            <a:off x="9562338"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prawns</a:t>
            </a:r>
            <a:endParaRPr lang="en-US" sz="1250" dirty="0"/>
          </a:p>
        </p:txBody>
      </p:sp>
      <p:sp>
        <p:nvSpPr>
          <p:cNvPr id="130" name="Shape 127"/>
          <p:cNvSpPr/>
          <p:nvPr/>
        </p:nvSpPr>
        <p:spPr>
          <a:xfrm>
            <a:off x="9233154" y="5202936"/>
            <a:ext cx="256032" cy="256032"/>
          </a:xfrm>
          <a:prstGeom prst="ellipse">
            <a:avLst/>
          </a:prstGeom>
          <a:solidFill>
            <a:srgbClr val="C9CED6"/>
          </a:solidFill>
          <a:ln w="12700">
            <a:solidFill>
              <a:srgbClr val="C9CED6"/>
            </a:solidFill>
            <a:prstDash val="solid"/>
          </a:ln>
        </p:spPr>
      </p:sp>
      <p:sp>
        <p:nvSpPr>
          <p:cNvPr id="131" name="Text 128"/>
          <p:cNvSpPr txBox="1"/>
          <p:nvPr/>
        </p:nvSpPr>
        <p:spPr>
          <a:xfrm>
            <a:off x="923315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32" name="Text 129"/>
          <p:cNvSpPr txBox="1"/>
          <p:nvPr/>
        </p:nvSpPr>
        <p:spPr>
          <a:xfrm>
            <a:off x="9562338"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tuna</a:t>
            </a:r>
            <a:endParaRPr lang="en-US" sz="1250" dirty="0"/>
          </a:p>
        </p:txBody>
      </p:sp>
      <p:sp>
        <p:nvSpPr>
          <p:cNvPr id="133" name="Shape 130"/>
          <p:cNvSpPr/>
          <p:nvPr/>
        </p:nvSpPr>
        <p:spPr>
          <a:xfrm>
            <a:off x="9233154" y="5574792"/>
            <a:ext cx="256032" cy="256032"/>
          </a:xfrm>
          <a:prstGeom prst="ellipse">
            <a:avLst/>
          </a:prstGeom>
          <a:solidFill>
            <a:srgbClr val="C9CED6"/>
          </a:solidFill>
          <a:ln w="12700">
            <a:solidFill>
              <a:srgbClr val="C9CED6"/>
            </a:solidFill>
            <a:prstDash val="solid"/>
          </a:ln>
        </p:spPr>
      </p:sp>
      <p:sp>
        <p:nvSpPr>
          <p:cNvPr id="134" name="Text 131"/>
          <p:cNvSpPr txBox="1"/>
          <p:nvPr/>
        </p:nvSpPr>
        <p:spPr>
          <a:xfrm>
            <a:off x="923315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35" name="Text 132"/>
          <p:cNvSpPr txBox="1"/>
          <p:nvPr/>
        </p:nvSpPr>
        <p:spPr>
          <a:xfrm>
            <a:off x="9562338"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crab</a:t>
            </a:r>
            <a:endParaRPr lang="en-US" sz="1250" dirty="0"/>
          </a:p>
        </p:txBody>
      </p:sp>
      <p:sp>
        <p:nvSpPr>
          <p:cNvPr id="136" name="Text 133"/>
          <p:cNvSpPr txBox="1"/>
          <p:nvPr/>
        </p:nvSpPr>
        <p:spPr>
          <a:xfrm>
            <a:off x="9178290" y="5907024"/>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الرُّوبِيَانُ</a:t>
            </a:r>
            <a:pPr algn="l" indent="0" marL="0">
              <a:buNone/>
            </a:pPr>
            <a:r>
              <a:rPr lang="en-US" sz="1050" i="1" dirty="0">
                <a:solidFill>
                  <a:srgbClr val="8A6D1E"/>
                </a:solidFill>
                <a:latin typeface="Calibri" pitchFamily="34" charset="0"/>
                <a:cs typeface="Amiri" pitchFamily="2" charset="-78"/>
              </a:rPr>
              <a:t> means prawns or shrimp.</a:t>
            </a:r>
            <a:endParaRPr lang="en-US" sz="1050" dirty="0"/>
          </a:p>
        </p:txBody>
      </p:sp>
      <p:sp>
        <p:nvSpPr>
          <p:cNvPr id="137" name="Text 1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Food and Drinks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F5-L02: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F5-L02 · Meals and Eating Routines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فَطُورٌ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breakfast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غَدَاءٌ</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lunch</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عَشَاءٌ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dinner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وَجْبَةٌ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meal</a:t>
            </a:r>
            <a:pPr indent="0" marL="0">
              <a:buNone/>
            </a:pPr>
            <a:r>
              <a:rPr lang="ar-SA" sz="1000" i="1" dirty="0">
                <a:solidFill>
                  <a:srgbClr val="5A6472"/>
                </a:solidFill>
                <a:latin typeface="Calibri" pitchFamily="34" charset="0"/>
                <a:ea typeface="Amiri" pitchFamily="2" charset="-78"/>
                <a:cs typeface="Amiri" pitchFamily="2" charset="-78"/>
              </a:rPr>
              <a:t>  pl. وَجَبَاتٌ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عَادَةً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usually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do you usually eat for breakfast? Write two food words in Arabic.</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فِي الفَطُورِ آكُلُ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F5-L01: the vocabulary tab and the “Food or drink?” sorter.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Survey two people at home and write what they like and don’t like.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an 8-sentence food profile with “but” and one-item forms (tuffāḥa).</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F5-L02 · Meals and Eating Routines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وَجَبَاتُ اليَوْمِ وَعَادَاتُ الأَكْلِ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t>
            </a:r>
            <a:pPr algn="l" indent="0" marL="0">
              <a:buNone/>
            </a:pPr>
            <a:r>
              <a:rPr lang="ar-SA" altLang="en-US" sz="1700" b="1" dirty="0">
                <a:solidFill>
                  <a:srgbClr val="FFFFFF"/>
                </a:solidFill>
                <a:latin typeface="Amiri" pitchFamily="2" charset="-78"/>
                <a:ea typeface="Amiri" pitchFamily="2" charset="-78"/>
                <a:cs typeface="Amiri" pitchFamily="2" charset="-78"/>
              </a:rPr>
              <a:t>أُحِبُّ</a:t>
            </a:r>
            <a:pPr algn="l" indent="0" marL="0">
              <a:buNone/>
            </a:pPr>
            <a:r>
              <a:rPr lang="en-US" sz="1300" b="1" dirty="0">
                <a:solidFill>
                  <a:srgbClr val="FFFFFF"/>
                </a:solidFill>
                <a:latin typeface="Calibri" pitchFamily="34" charset="0"/>
                <a:cs typeface="Amiri" pitchFamily="2" charset="-78"/>
              </a:rPr>
              <a:t> + food · </a:t>
            </a:r>
            <a:pPr algn="l" indent="0" marL="0">
              <a:buNone/>
            </a:pPr>
            <a:r>
              <a:rPr lang="ar-SA" altLang="en-US" sz="1700" b="1" dirty="0">
                <a:solidFill>
                  <a:srgbClr val="FFFFFF"/>
                </a:solidFill>
                <a:latin typeface="Amiri" pitchFamily="2" charset="-78"/>
                <a:ea typeface="Amiri" pitchFamily="2" charset="-78"/>
                <a:cs typeface="Amiri" pitchFamily="2" charset="-78"/>
              </a:rPr>
              <a:t>لَا</a:t>
            </a:r>
            <a:pPr algn="l" indent="0" marL="0">
              <a:buNone/>
            </a:pPr>
            <a:r>
              <a:rPr lang="en-US" sz="1300" b="1" dirty="0">
                <a:solidFill>
                  <a:srgbClr val="FFFFFF"/>
                </a:solidFill>
                <a:latin typeface="Calibri" pitchFamily="34" charset="0"/>
                <a:cs typeface="Amiri" pitchFamily="2" charset="-78"/>
              </a:rPr>
              <a:t> before the verb · </a:t>
            </a:r>
            <a:pPr algn="l" indent="0" marL="0">
              <a:buNone/>
            </a:pPr>
            <a:r>
              <a:rPr lang="ar-SA" altLang="en-US" sz="1700" b="1" dirty="0">
                <a:solidFill>
                  <a:srgbClr val="FFFFFF"/>
                </a:solidFill>
                <a:latin typeface="Amiri" pitchFamily="2" charset="-78"/>
                <a:ea typeface="Amiri" pitchFamily="2" charset="-78"/>
                <a:cs typeface="Amiri" pitchFamily="2" charset="-78"/>
              </a:rPr>
              <a:t>آكُلُ</a:t>
            </a:r>
            <a:pPr algn="l" indent="0" marL="0">
              <a:buNone/>
            </a:pPr>
            <a:r>
              <a:rPr lang="en-US" sz="1300" b="1" dirty="0">
                <a:solidFill>
                  <a:srgbClr val="FFFFFF"/>
                </a:solidFill>
                <a:latin typeface="Calibri" pitchFamily="34" charset="0"/>
                <a:cs typeface="Amiri" pitchFamily="2" charset="-78"/>
              </a:rPr>
              <a:t> food · </a:t>
            </a:r>
            <a:pPr algn="l" indent="0" marL="0">
              <a:buNone/>
            </a:pPr>
            <a:r>
              <a:rPr lang="ar-SA" altLang="en-US" sz="1700" b="1" dirty="0">
                <a:solidFill>
                  <a:srgbClr val="FFFFFF"/>
                </a:solidFill>
                <a:latin typeface="Amiri" pitchFamily="2" charset="-78"/>
                <a:ea typeface="Amiri" pitchFamily="2" charset="-78"/>
                <a:cs typeface="Amiri" pitchFamily="2" charset="-78"/>
              </a:rPr>
              <a:t>أَشْرَبُ</a:t>
            </a:r>
            <a:pPr algn="l" indent="0" marL="0">
              <a:buNone/>
            </a:pPr>
            <a:r>
              <a:rPr lang="en-US" sz="1300" b="1" dirty="0">
                <a:solidFill>
                  <a:srgbClr val="FFFFFF"/>
                </a:solidFill>
                <a:latin typeface="Calibri" pitchFamily="34" charset="0"/>
                <a:cs typeface="Amiri" pitchFamily="2" charset="-78"/>
              </a:rPr>
              <a:t> drinks.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F5-L01 · Food and Drinks</dc:title>
  <dc:subject>PptxGenJS Presentation</dc:subject>
  <dc:creator>Al Madina Online School · Arabic Department</dc:creator>
  <cp:lastModifiedBy>Al Madina Online School · Arabic Department</cp:lastModifiedBy>
  <cp:revision>1</cp:revision>
  <dcterms:created xsi:type="dcterms:W3CDTF">2026-10-11T06:41:43Z</dcterms:created>
  <dcterms:modified xsi:type="dcterms:W3CDTF">2026-10-11T06:41:43Z</dcterms:modified>
</cp:coreProperties>
</file>