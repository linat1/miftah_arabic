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F5 Food, Health and Body › F5-L08. The website lesson “Health Problems and How You Feel”: vocabulary, grammar rules and quiz, patterns, common mistakes, sorter, listening, reading, speaking prompts and model, writing task and model, differentiation, final check and the lesson mission. Picture match: website visual game “Health Problems and How You Feel”.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match ten symptoms to pictures and complete عِنْدِي … frames (عِنْدِي صُدَاعٌ).
• Develop: four problems with a location (عِنْدِي أَلَمٌ فِي …) and a duration (مُنْذُ …), then answer follow-up questions.
• Stretch: a short clinic triage note — symptom, duration, cause and impact (لَا أَسْتَطِيعُ …).
• Three structures, one idea (website teaching note): عِنْدِي صُدَاعٌ · أَشْعُرُ بِصُدَاعٍ · يُؤْلِمُنِي رَأْسِي. Core students choose ONE.
• Website safeguarding note: “The lesson teaches language, not diagnosis. Serious or persistent symptoms require an appropriate adult or healthcare professional.” Role plays use invented problems — nobody shares real medical details.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F5-L07. Questions 3–5 retrieve F5-L07 (this is my hand, the dual, body parts).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Health sentence = what + where + since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مریض، مرض، زکام are identical in meaning. حساس (sensitive) → حَسَاسِيَّةٌ (allergy: being “sensitive” to something). مصیبت (misfortune) shares its root with إِصَابَةٌ (an injury — something that “strikes” you) and مُصَابٌ بِـ (affected by). Also: درد is Persian — Arabic pain = أَلَمٌ (compare Urdu الم “grief”).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Common symptoms (website vocabulary (1 of 2)). Hear → Say → See → Use. Transliteration is printed for Core students (cover it for Develop/Stretch).
Symptoms follow عِنْدِي directly: عِنْدِي صُدَاعٌ / حُمَّى / سُعَالٌ. The أَلَمُ … phrases are idāfas: أَلَمُ المَعِدَةِ “pain of the stomach”.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Common symptoms (website vocabulary (2 of 2)). Hear → Say → See → Use. Transliteration is printed for Core students (cover it for Develop/Stretch).
Symptoms follow عِنْدِي directly: عِنْدِي صُدَاعٌ / حُمَّى / سُعَالٌ. The أَلَمُ … phrases are idāfas: أَلَمُ المَعِدَةِ “pain of the stomach”.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Injury and condition (website vocabulary (1 of 2)). Hear → Say → See → Use. Transliteration is printed for Core students (cover it for Develop/Stretch).
FLEX: teach if time allows; otherwise these are on the website vocabulary tab for homework.
FLEX: injuries and states. مَرِيضٌ / مَرِيضَةٌ and مُصَابٌ / مُصَابَةٌ agree with the SPEAKER (unlike F5-L04, where the adjective agreed with the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Injury and condition (website vocabulary (2 of 2)). Hear → Say → See → Use. Transliteration is printed for Core students (cover it for Develop/Stretch).
FLEX: teach if time allows; otherwise these are on the website vocabulary tab for homework.
FLEX: injuries and states. مَرِيضٌ / مَرِيضَةٌ and مُصَابٌ / مُصَابَةٌ agree with the SPEAKER (unlike F5-L04, where the adjective agreed with the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Describing the problem (website vocabulary (1 of 2)). Hear → Say → See → Use. Transliteration is printed for Core students (cover it for Develop/Stretch).
مُنْذُ + time: مُنْذُ أَمْسِ (since yesterday), مُنْذُ يَوْمَيْنِ (for two days — the dual from F5-L07!), مُنْذُ أُسْبُوعٍ. Question: مُنْذُ مَتَى؟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Describing the problem (website vocabulary (2 of 2)). Hear → Say → See → Use. Transliteration is printed for Core students (cover it for Develop/Stretch).
مُنْذُ + time: مُنْذُ أَمْسِ (since yesterday), مُنْذُ يَوْمَيْنِ (for two days — the dual from F5-L07!), مُنْذُ أُسْبُوعٍ. Question: مُنْذُ مَتَى؟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“Locate pain” (عِنْدِي أَلَمٌ فِي + body part, often with -ī “my”), “Name an illness directly” (عِنْدِي + symptom) and “Add duration” (مُنْذُ + period).
Website common error: عِنْدِي أَلَمٌ عَلَى المَعِدَةِ ✗ → فِي المَعِدَةِ ✓
Reporting (listening): عِنْدَهُ صُدَاعٌ (he has) · عِنْدَهَا أَلَمٌ (she has) — the F4/F5 -hu / -hā endings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teaching note: “Choose one clear structure and complete it accurately. عِنْدِي صُدَاعٌ is a simple possession pattern; أَشْعُرُ بِصُدَاعٍ uses a preposition; يُؤْلِمُنِي رَأْسِي makes the body part the thing that hurts.”
Website rule “Agree with the speaker”: أَنَا مَرِيضٌ / مَرِيضَةٌ اليَوْمَ · أَنَا مُصَابٌ / مُصَابَةٌ بِالزُّكَامِ.
After بِـ the noun ends in -in: بِصُدَاعٍ، بِأَلَمٍ (say it; don’t mark it down at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“The lesson-plan grammar focus is the fixed health frame عِنْدِي أَلَمٌ فِي plus a body part, followed by simple sentences that name an illness and agree with the speaker.”
• Locate pain: Use the complete chunk عِنْدِي أَلَمٌ فِي and then name the affected body part, often with a possessive ending.
• Name an illness directly: Common illnesses and symptoms can follow عِنْدِي directly.
• Agree with the speaker: The adjective changes according to whether the speaker is male or female.
• Add duration: Use مُنْذُ to say how long the problem has continued.
Website common error: Use فِي to locate pain: عِنْدِي أَلَمٌ فِي المَعِدَةِ, not عِنْدِي أَلَمٌ عَلَى المَعِدَةِ.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writing model (four patient messages), with a think-aloud. Students copy two and change the symptom, place and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Health Problems and How You Feel”)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All three use عِنْدِي + symptom. Other website items: عِنْدِي سُعَالٌ · تُؤْلِمُنِي مَعِدَتِي · يُؤْلِمُنِي سِنِّي — the “it hurts me”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Health Problems and How You Feel”)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All three use عِنْدِي + symptom. Other website items: عِنْدِي سُعَالٌ · تُؤْلِمُنِي مَعِدَتِي · يُؤْلِمُنِي سِنِّي — the “it hurts me”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phrase by what it describes.
Items like أَشْعُرُ بِالدُّوَارِ are “feelings / states”; جُرْحٌ and كَسْرٌ are injuries. Accept reasoned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phrase by what it describes.
Items like أَشْعُرُ بِالدُّوَارِ are “feelings / states”; جُرْحٌ and كَسْرٌ are injuries. Accept reasoned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6.
Listen 1: just listen. Listen 2: note answers. Then chat the letters.
Support: after the second listening, show the read-along slide (Arabic + English, line by line) for Core students.
SCRIPT (read aloud):
المُتَّصِلُ الأَوَّلُ عِنْدَهُ صُدَاعٌ وَحُمَّى مُنْذُ أَمْسِ. المُتَّصِلَةُ الثَّانِيَةُ تُؤْلِمُهَا أَسْنَانُهَا مُنْذُ أُسْبُوعٍ. المُتَّصِلُ الثَّالِثُ سَقَطَ، وَعِنْدَهُ جُرْحٌ فِي رُكْبَتِهِ. المُتَّصِلَةُ الرَّابِعَةُ أَكَلَتْ طَعَامًا وَأَصْبَحَ عِنْدَهَا أَلَمٌ فِي المَعِدَةِ وَغَثَيَانٌ. المُتَّصِلُ الخَامِسُ سَقَطَ مِنَ الدَّرَجِ وَكَسَرَ ذِرَاعَهُ. وَالمُتَّصِلَةُ السَّادِسَةُ تَشْعُرُ بِالمَرَضِ وَتَتَقَيَّأُ.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أ: مُنْذُ مَتَى؟ (For how long?)
ب: مُنْذُ أَمْسِ. (Since yesterday.)
Website “Health check-in” — all four prompts are the website’s. Pairs use invented problems (role cards). Website model: مَا المُشْكِلَةُ؟ — عِنْدِي صُدَاعٌ وَأَشْعُرُ بِالتَّعَبِ. — مُنْذُ مَتَى؟ — مُنْذُ أَمْسِ.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Match ten symptoms to pictures and complete عِنْدِي sentence frames. · Develop — Describe four health problems with location and duration, then answer follow-up questions. · Stretch — Write a short clinic triage note distinguishing symptom, duration, cause and impact.
Website writing task (Stretch): Write four short patient messages. Each message should name a different problem, body location where relevant, and duration or cause.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عِنْدِي صُدَاعٌ · أَشْعُرُ بِأَلَمٍ · فِي رُكْبَتِي · مُنْذُ أَمْسِ. Message 4 is written by a girl: مُصَابَةٌ.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(F5-L09 · At the Doctor and Pharmacy) will spend class time USING this language, so students prepare it tonight — short, simple, easy to access (school guidance: “Simple, Short, Interesting, Relevant, Easy to access”). The five words come from the website F5-L09 lesson (at the doctor and pharmacy).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cs typeface="Amiri" pitchFamily="2" charset="-78"/>
              </a:rPr>
              <a:t>Health Problems and How You Feel</a:t>
            </a:r>
            <a:endParaRPr lang="en-US" sz="32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المَشَاكِلُ الصِّحِّيَّةُ وَالشُّعُورُ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Say how you feel, name common symptoms and injuries, locate pain with </a:t>
            </a:r>
            <a:pPr algn="l" indent="0" marL="0">
              <a:buNone/>
            </a:pPr>
            <a:r>
              <a:rPr lang="ar-SA" altLang="en-US" sz="1800" dirty="0">
                <a:solidFill>
                  <a:srgbClr val="C6D2E6"/>
                </a:solidFill>
                <a:latin typeface="Amiri" pitchFamily="2" charset="-78"/>
                <a:cs typeface="Amiri" pitchFamily="2" charset="-78"/>
              </a:rPr>
              <a:t>عِنْدِي أَلَمٌ فِي</a:t>
            </a:r>
            <a:pPr algn="l" indent="0" marL="0">
              <a:buNone/>
            </a:pPr>
            <a:r>
              <a:rPr lang="en-US" sz="1400" dirty="0">
                <a:solidFill>
                  <a:srgbClr val="C6D2E6"/>
                </a:solidFill>
                <a:latin typeface="Calibri" pitchFamily="34" charset="0"/>
                <a:cs typeface="Amiri" pitchFamily="2" charset="-78"/>
              </a:rPr>
              <a:t> … and say how long with </a:t>
            </a:r>
            <a:pPr algn="l" indent="0" marL="0">
              <a:buNone/>
            </a:pPr>
            <a:r>
              <a:rPr lang="ar-SA" altLang="en-US" sz="1800" dirty="0">
                <a:solidFill>
                  <a:srgbClr val="C6D2E6"/>
                </a:solidFill>
                <a:latin typeface="Amiri" pitchFamily="2" charset="-78"/>
                <a:cs typeface="Amiri" pitchFamily="2" charset="-78"/>
              </a:rPr>
              <a:t>مُنْذُ</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F5-L08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Symptoms and the describing phrases, then I have pain in my … since …</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symptom / injury / feeling, fix the mistakes and listen to six callers.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F5-L09.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صُدَاعٌ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cough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headache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fever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مُتْعَبٌ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tired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ill</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happy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my hand.”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يَدِي.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يَدُكَ.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يَدِي.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dual form?</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أُذُنٌ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آذَانٌ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أُذُنَانِ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“back”?</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ظَهْرٌ</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صَدْرٌ</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بَطْنٌ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صُدَاعٌ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cough</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headache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fever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(F5-L07).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مُتْعَبٌ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tired</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ill</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happy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(F5-L07).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my hand.”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هٰذَا يَدِي.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هٰذِهِ يَدُكَ.</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هٰذِهِ يَدِي.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F5-L07: hand is feminine.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dual form?</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أُذُنٌ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آذَانٌ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أُذُنَانِ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F5-L07: -āni = two.</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“back”?</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ظَهْرٌ</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صَدْرٌ</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بَطْنٌ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F5-L07 body vocabulary.</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Health sentence = what + where + since when.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عِنْدِي </a:t>
            </a:r>
            <a:pPr rtl="1" algn="ctr" indent="0" marL="0">
              <a:buNone/>
            </a:pPr>
            <a:r>
              <a:rPr lang="ar-SA" altLang="en-US" sz="2400" b="1" dirty="0">
                <a:solidFill>
                  <a:srgbClr val="D6336C"/>
                </a:solidFill>
                <a:latin typeface="Amiri" pitchFamily="2" charset="-78"/>
                <a:cs typeface="Amiri" pitchFamily="2" charset="-78"/>
              </a:rPr>
              <a:t>أَلَمٌ</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0E7C86"/>
                </a:solidFill>
                <a:latin typeface="Amiri" pitchFamily="2" charset="-78"/>
                <a:cs typeface="Amiri" pitchFamily="2" charset="-78"/>
              </a:rPr>
              <a:t>فِي</a:t>
            </a:r>
            <a:pPr rtl="1" algn="ctr" indent="0" marL="0">
              <a:buNone/>
            </a:pPr>
            <a:r>
              <a:rPr lang="ar-SA" altLang="en-US" sz="2400" b="1" dirty="0">
                <a:solidFill>
                  <a:srgbClr val="1B3B6F"/>
                </a:solidFill>
                <a:latin typeface="Amiri" pitchFamily="2" charset="-78"/>
                <a:cs typeface="Amiri" pitchFamily="2" charset="-78"/>
              </a:rPr>
              <a:t> رَأْسِي </a:t>
            </a:r>
            <a:pPr rtl="1" algn="ctr" indent="0" marL="0">
              <a:buNone/>
            </a:pPr>
            <a:r>
              <a:rPr lang="ar-SA" altLang="en-US" sz="2400" b="1" dirty="0">
                <a:solidFill>
                  <a:srgbClr val="7B3FA0"/>
                </a:solidFill>
                <a:latin typeface="Amiri" pitchFamily="2" charset="-78"/>
                <a:cs typeface="Amiri" pitchFamily="2" charset="-78"/>
              </a:rPr>
              <a:t>مُنْذُ</a:t>
            </a:r>
            <a:pPr rtl="1" algn="ctr" indent="0" marL="0">
              <a:buNone/>
            </a:pPr>
            <a:r>
              <a:rPr lang="ar-SA" altLang="en-US" sz="2400" b="1" dirty="0">
                <a:solidFill>
                  <a:srgbClr val="1B3B6F"/>
                </a:solidFill>
                <a:latin typeface="Amiri" pitchFamily="2" charset="-78"/>
                <a:cs typeface="Amiri" pitchFamily="2" charset="-78"/>
              </a:rPr>
              <a:t> أَمْسِ.</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common illnesses, injuries and symptoms.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cs typeface="Amiri" pitchFamily="2" charset="-78"/>
              </a:rPr>
              <a:t>عِنْدِي</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cs typeface="Amiri" pitchFamily="2" charset="-78"/>
              </a:rPr>
              <a:t>أَشْعُرُ بِـ</a:t>
            </a:r>
            <a:pPr algn="l" indent="0" marL="0">
              <a:buNone/>
            </a:pPr>
            <a:r>
              <a:rPr lang="en-US" sz="1300" dirty="0">
                <a:solidFill>
                  <a:srgbClr val="1F2A37"/>
                </a:solidFill>
                <a:latin typeface="Calibri" pitchFamily="34" charset="0"/>
                <a:cs typeface="Amiri" pitchFamily="2" charset="-78"/>
              </a:rPr>
              <a:t> to describe a health problem.</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Locate pain using </a:t>
            </a:r>
            <a:pPr algn="l" indent="0" marL="0">
              <a:buNone/>
            </a:pPr>
            <a:r>
              <a:rPr lang="ar-SA" altLang="en-US" sz="1700" dirty="0">
                <a:solidFill>
                  <a:srgbClr val="1F2A37"/>
                </a:solidFill>
                <a:latin typeface="Amiri" pitchFamily="2" charset="-78"/>
                <a:cs typeface="Amiri" pitchFamily="2" charset="-78"/>
              </a:rPr>
              <a:t>عِنْدِي أَلَمٌ فِي</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cs typeface="Amiri" pitchFamily="2" charset="-78"/>
              </a:rPr>
              <a:t>مُنْذُ</a:t>
            </a:r>
            <a:pPr algn="l" indent="0" marL="0">
              <a:buNone/>
            </a:pPr>
            <a:r>
              <a:rPr lang="en-US" sz="1300" dirty="0">
                <a:solidFill>
                  <a:srgbClr val="1F2A37"/>
                </a:solidFill>
                <a:latin typeface="Calibri" pitchFamily="34" charset="0"/>
                <a:cs typeface="Amiri" pitchFamily="2" charset="-78"/>
              </a:rPr>
              <a:t> with a simple duration phrase.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how I feel.</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ten symptoms with </a:t>
            </a:r>
            <a:pPr algn="l" indent="0" marL="0">
              <a:buNone/>
            </a:pPr>
            <a:r>
              <a:rPr lang="ar-SA" altLang="en-US" sz="1700" b="1" dirty="0">
                <a:solidFill>
                  <a:srgbClr val="2E8B57"/>
                </a:solidFill>
                <a:latin typeface="Amiri" pitchFamily="2" charset="-78"/>
                <a:cs typeface="Amiri" pitchFamily="2" charset="-78"/>
              </a:rPr>
              <a:t>عِنْدِي</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where it hurts: </a:t>
            </a:r>
            <a:pPr algn="l" indent="0" marL="0">
              <a:buNone/>
            </a:pPr>
            <a:r>
              <a:rPr lang="ar-SA" altLang="en-US" sz="1700" b="1" dirty="0">
                <a:solidFill>
                  <a:srgbClr val="C9780A"/>
                </a:solidFill>
                <a:latin typeface="Amiri" pitchFamily="2" charset="-78"/>
                <a:cs typeface="Amiri" pitchFamily="2" charset="-78"/>
              </a:rPr>
              <a:t>عِنْدِي أَلَمٌ فِي</a:t>
            </a:r>
            <a:pPr algn="l" indent="0" marL="0">
              <a:buNone/>
            </a:pPr>
            <a:r>
              <a:rPr lang="en-US" sz="1300" b="1" dirty="0">
                <a:solidFill>
                  <a:srgbClr val="C9780A"/>
                </a:solidFill>
                <a:latin typeface="Calibri" pitchFamily="34" charset="0"/>
                <a:cs typeface="Amiri" pitchFamily="2" charset="-78"/>
              </a:rPr>
              <a:t> …</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answer </a:t>
            </a:r>
            <a:pPr algn="l" indent="0" marL="0">
              <a:buNone/>
            </a:pPr>
            <a:r>
              <a:rPr lang="ar-SA" altLang="en-US" sz="1700" b="1" dirty="0">
                <a:solidFill>
                  <a:srgbClr val="C9780A"/>
                </a:solidFill>
                <a:latin typeface="Amiri" pitchFamily="2" charset="-78"/>
                <a:cs typeface="Amiri" pitchFamily="2" charset="-78"/>
              </a:rPr>
              <a:t>مُنْذُ مَتَى؟</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three different health structures.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triage note with cause and impact.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35 words from the website in 4 groups. Learn the CORE words first. Hear it → say it → see it → use it.</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Common symptoms · 10</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Injury and condition · 8</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Describing the problem · 8</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a:t>
            </a:r>
            <a:endParaRPr lang="en-US" sz="900" dirty="0"/>
          </a:p>
          <a:p>
            <a:pPr indent="0" marL="0">
              <a:buNone/>
            </a:pPr>
            <a:r>
              <a:rPr lang="en-US" sz="1200" b="1" dirty="0">
                <a:solidFill>
                  <a:srgbClr val="FFFFFF"/>
                </a:solidFill>
                <a:latin typeface="Calibri" pitchFamily="34" charset="0"/>
                <a:cs typeface="Amiri" pitchFamily="2" charset="-78"/>
              </a:rPr>
              <a:t>Illness and accident verbs · 9</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مَرِيضٌ</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‎مریض‎ </a:t>
            </a:r>
            <a:pPr indent="0" marL="0">
              <a:buNone/>
            </a:pPr>
            <a:r>
              <a:rPr lang="en-US" sz="950" b="1" dirty="0">
                <a:solidFill>
                  <a:srgbClr val="2E8B57"/>
                </a:solidFill>
                <a:latin typeface="Calibri" pitchFamily="34" charset="0"/>
                <a:cs typeface="Amiri" pitchFamily="2" charset="-78"/>
              </a:rPr>
              <a:t> marīz · patient / ill</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مَرَضٌ</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‎مرض‎ </a:t>
            </a:r>
            <a:pPr indent="0" marL="0">
              <a:buNone/>
            </a:pPr>
            <a:r>
              <a:rPr lang="en-US" sz="950" b="1" dirty="0">
                <a:solidFill>
                  <a:srgbClr val="2E8B57"/>
                </a:solidFill>
                <a:latin typeface="Calibri" pitchFamily="34" charset="0"/>
                <a:cs typeface="Amiri" pitchFamily="2" charset="-78"/>
              </a:rPr>
              <a:t> marz · illness</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حَسَاسِيَّةٌ</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‎حساس‎ </a:t>
            </a:r>
            <a:pPr indent="0" marL="0">
              <a:buNone/>
            </a:pPr>
            <a:r>
              <a:rPr lang="en-US" sz="950" b="1" dirty="0">
                <a:solidFill>
                  <a:srgbClr val="2E8B57"/>
                </a:solidFill>
                <a:latin typeface="Calibri" pitchFamily="34" charset="0"/>
                <a:cs typeface="Amiri" pitchFamily="2" charset="-78"/>
              </a:rPr>
              <a:t> hassās · sensitive → allergy</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زُكَامٌ</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‎زکام‎ </a:t>
            </a:r>
            <a:pPr indent="0" marL="0">
              <a:buNone/>
            </a:pPr>
            <a:r>
              <a:rPr lang="en-US" sz="950" b="1" dirty="0">
                <a:solidFill>
                  <a:srgbClr val="2E8B57"/>
                </a:solidFill>
                <a:latin typeface="Calibri" pitchFamily="34" charset="0"/>
                <a:cs typeface="Amiri" pitchFamily="2" charset="-78"/>
              </a:rPr>
              <a:t> zukām · a cold</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إِصَابَةٌ</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‎مصیبت‎ </a:t>
            </a:r>
            <a:pPr indent="0" marL="0">
              <a:buNone/>
            </a:pPr>
            <a:r>
              <a:rPr lang="en-US" sz="950" b="1" dirty="0">
                <a:solidFill>
                  <a:srgbClr val="2E8B57"/>
                </a:solidFill>
                <a:latin typeface="Calibri" pitchFamily="34" charset="0"/>
                <a:cs typeface="Amiri" pitchFamily="2" charset="-78"/>
              </a:rPr>
              <a:t> musībat · Urdu: trouble · Arabic: an injury</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Common symptoms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صُدَاعٌ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headache</a:t>
            </a:r>
            <a:endParaRPr lang="en-US" sz="1350" dirty="0"/>
          </a:p>
          <a:p>
            <a:pPr indent="0" marL="0">
              <a:buNone/>
            </a:pPr>
            <a:r>
              <a:rPr lang="en-US" sz="1100" i="1" dirty="0">
                <a:solidFill>
                  <a:srgbClr val="5A6472"/>
                </a:solidFill>
                <a:latin typeface="Calibri" pitchFamily="34" charset="0"/>
                <a:cs typeface="Amiri" pitchFamily="2" charset="-78"/>
              </a:rPr>
              <a:t>ṣu-dā-ʿun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زُكَامٌ</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cold</a:t>
            </a:r>
            <a:endParaRPr lang="en-US" sz="1350" dirty="0"/>
          </a:p>
          <a:p>
            <a:pPr indent="0" marL="0">
              <a:buNone/>
            </a:pPr>
            <a:r>
              <a:rPr lang="en-US" sz="1100" i="1" dirty="0">
                <a:solidFill>
                  <a:srgbClr val="5A6472"/>
                </a:solidFill>
                <a:latin typeface="Calibri" pitchFamily="34" charset="0"/>
                <a:cs typeface="Amiri" pitchFamily="2" charset="-78"/>
              </a:rPr>
              <a:t>zu-kā-mun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حُمَّى</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fever</a:t>
            </a:r>
            <a:endParaRPr lang="en-US" sz="1350" dirty="0"/>
          </a:p>
          <a:p>
            <a:pPr indent="0" marL="0">
              <a:buNone/>
            </a:pPr>
            <a:r>
              <a:rPr lang="en-US" sz="1100" i="1" dirty="0">
                <a:solidFill>
                  <a:srgbClr val="5A6472"/>
                </a:solidFill>
                <a:latin typeface="Calibri" pitchFamily="34" charset="0"/>
                <a:cs typeface="Amiri" pitchFamily="2" charset="-78"/>
              </a:rPr>
              <a:t>ḥum-mā</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سُعَالٌ</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cough</a:t>
            </a:r>
            <a:endParaRPr lang="en-US" sz="1350" dirty="0"/>
          </a:p>
          <a:p>
            <a:pPr indent="0" marL="0">
              <a:buNone/>
            </a:pPr>
            <a:r>
              <a:rPr lang="en-US" sz="1100" i="1" dirty="0">
                <a:solidFill>
                  <a:srgbClr val="5A6472"/>
                </a:solidFill>
                <a:latin typeface="Calibri" pitchFamily="34" charset="0"/>
                <a:cs typeface="Amiri" pitchFamily="2" charset="-78"/>
              </a:rPr>
              <a:t>su-ʿā-lun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أَلَمُ الحَلْقِ</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sore throat</a:t>
            </a:r>
            <a:endParaRPr lang="en-US" sz="1350" dirty="0"/>
          </a:p>
          <a:p>
            <a:pPr indent="0" marL="0">
              <a:buNone/>
            </a:pPr>
            <a:r>
              <a:rPr lang="en-US" sz="1100" i="1" dirty="0">
                <a:solidFill>
                  <a:srgbClr val="5A6472"/>
                </a:solidFill>
                <a:latin typeface="Calibri" pitchFamily="34" charset="0"/>
                <a:cs typeface="Amiri" pitchFamily="2" charset="-78"/>
              </a:rPr>
              <a:t>a-la-mu al-ḥal-qi</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Common symptoms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أَلَمُ المَعِدَةِ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stomach ache</a:t>
            </a:r>
            <a:endParaRPr lang="en-US" sz="1350" dirty="0"/>
          </a:p>
          <a:p>
            <a:pPr indent="0" marL="0">
              <a:buNone/>
            </a:pPr>
            <a:r>
              <a:rPr lang="en-US" sz="1100" i="1" dirty="0">
                <a:solidFill>
                  <a:srgbClr val="5A6472"/>
                </a:solidFill>
                <a:latin typeface="Calibri" pitchFamily="34" charset="0"/>
                <a:cs typeface="Amiri" pitchFamily="2" charset="-78"/>
              </a:rPr>
              <a:t>a-la-mu al-ma-ʿi-da-ti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أَلَمُ الأَسْنَانِ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toothache</a:t>
            </a:r>
            <a:endParaRPr lang="en-US" sz="1350" dirty="0"/>
          </a:p>
          <a:p>
            <a:pPr indent="0" marL="0">
              <a:buNone/>
            </a:pPr>
            <a:r>
              <a:rPr lang="en-US" sz="1100" i="1" dirty="0">
                <a:solidFill>
                  <a:srgbClr val="5A6472"/>
                </a:solidFill>
                <a:latin typeface="Calibri" pitchFamily="34" charset="0"/>
                <a:cs typeface="Amiri" pitchFamily="2" charset="-78"/>
              </a:rPr>
              <a:t>a-la-mu al-as-nā-ni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حَسَاسِيَّةٌ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allergy</a:t>
            </a:r>
            <a:endParaRPr lang="en-US" sz="1350" dirty="0"/>
          </a:p>
          <a:p>
            <a:pPr indent="0" marL="0">
              <a:buNone/>
            </a:pPr>
            <a:r>
              <a:rPr lang="en-US" sz="1100" i="1" dirty="0">
                <a:solidFill>
                  <a:srgbClr val="5A6472"/>
                </a:solidFill>
                <a:latin typeface="Calibri" pitchFamily="34" charset="0"/>
                <a:cs typeface="Amiri" pitchFamily="2" charset="-78"/>
              </a:rPr>
              <a:t>ḥa-sā-siy-ya-tun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غَثَيَانٌ</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nausea</a:t>
            </a:r>
            <a:endParaRPr lang="en-US" sz="1350" dirty="0"/>
          </a:p>
          <a:p>
            <a:pPr indent="0" marL="0">
              <a:buNone/>
            </a:pPr>
            <a:r>
              <a:rPr lang="en-US" sz="1100" i="1" dirty="0">
                <a:solidFill>
                  <a:srgbClr val="5A6472"/>
                </a:solidFill>
                <a:latin typeface="Calibri" pitchFamily="34" charset="0"/>
                <a:cs typeface="Amiri" pitchFamily="2" charset="-78"/>
              </a:rPr>
              <a:t>gha-tha-yā-nun</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دُوَارٌ</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dizziness</a:t>
            </a:r>
            <a:endParaRPr lang="en-US" sz="1350" dirty="0"/>
          </a:p>
          <a:p>
            <a:pPr indent="0" marL="0">
              <a:buNone/>
            </a:pPr>
            <a:r>
              <a:rPr lang="en-US" sz="1100" i="1" dirty="0">
                <a:solidFill>
                  <a:srgbClr val="5A6472"/>
                </a:solidFill>
                <a:latin typeface="Calibri" pitchFamily="34" charset="0"/>
                <a:cs typeface="Amiri" pitchFamily="2" charset="-78"/>
              </a:rPr>
              <a:t>du-wā-run</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Injury and condition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جُرْحٌ</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wound / cut</a:t>
            </a:r>
            <a:endParaRPr lang="en-US" sz="1350" dirty="0"/>
          </a:p>
          <a:p>
            <a:pPr indent="0" marL="0">
              <a:buNone/>
            </a:pPr>
            <a:r>
              <a:rPr lang="en-US" sz="1100" i="1" dirty="0">
                <a:solidFill>
                  <a:srgbClr val="5A6472"/>
                </a:solidFill>
                <a:latin typeface="Calibri" pitchFamily="34" charset="0"/>
                <a:cs typeface="Amiri" pitchFamily="2" charset="-78"/>
              </a:rPr>
              <a:t>jur-ḥun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إِصَابَةٌ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injury</a:t>
            </a:r>
            <a:endParaRPr lang="en-US" sz="1350" dirty="0"/>
          </a:p>
          <a:p>
            <a:pPr indent="0" marL="0">
              <a:buNone/>
            </a:pPr>
            <a:r>
              <a:rPr lang="en-US" sz="1100" i="1" dirty="0">
                <a:solidFill>
                  <a:srgbClr val="5A6472"/>
                </a:solidFill>
                <a:latin typeface="Calibri" pitchFamily="34" charset="0"/>
                <a:cs typeface="Amiri" pitchFamily="2" charset="-78"/>
              </a:rPr>
              <a:t>i-ṣā-ba-tun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كَسْرٌ</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fracture</a:t>
            </a:r>
            <a:endParaRPr lang="en-US" sz="1350" dirty="0"/>
          </a:p>
          <a:p>
            <a:pPr indent="0" marL="0">
              <a:buNone/>
            </a:pPr>
            <a:r>
              <a:rPr lang="en-US" sz="1100" i="1" dirty="0">
                <a:solidFill>
                  <a:srgbClr val="5A6472"/>
                </a:solidFill>
                <a:latin typeface="Calibri" pitchFamily="34" charset="0"/>
                <a:cs typeface="Amiri" pitchFamily="2" charset="-78"/>
              </a:rPr>
              <a:t>kas-run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ذِرَاعٌ مَكْسُورَةٌ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broken arm</a:t>
            </a:r>
            <a:endParaRPr lang="en-US" sz="1350" dirty="0"/>
          </a:p>
          <a:p>
            <a:pPr indent="0" marL="0">
              <a:buNone/>
            </a:pPr>
            <a:r>
              <a:rPr lang="en-US" sz="1100" i="1" dirty="0">
                <a:solidFill>
                  <a:srgbClr val="5A6472"/>
                </a:solidFill>
                <a:latin typeface="Calibri" pitchFamily="34" charset="0"/>
                <a:cs typeface="Amiri" pitchFamily="2" charset="-78"/>
              </a:rPr>
              <a:t>dhi-rā-ʿun mak-sū-ra-tun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Injury and condition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سَاقٌ مَكْسُورَةٌ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broken leg</a:t>
            </a:r>
            <a:endParaRPr lang="en-US" sz="1350" dirty="0"/>
          </a:p>
          <a:p>
            <a:pPr indent="0" marL="0">
              <a:buNone/>
            </a:pPr>
            <a:r>
              <a:rPr lang="en-US" sz="1100" i="1" dirty="0">
                <a:solidFill>
                  <a:srgbClr val="5A6472"/>
                </a:solidFill>
                <a:latin typeface="Calibri" pitchFamily="34" charset="0"/>
                <a:cs typeface="Amiri" pitchFamily="2" charset="-78"/>
              </a:rPr>
              <a:t>sā-qun mak-sū-ra-tun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5" name="Shape 22"/>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مَرِيضٌ / مَرِيضَةٌ</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ill (m/f)</a:t>
            </a:r>
            <a:endParaRPr lang="en-US" sz="1350" dirty="0"/>
          </a:p>
          <a:p>
            <a:pPr indent="0" marL="0">
              <a:buNone/>
            </a:pPr>
            <a:r>
              <a:rPr lang="en-US" sz="1100" i="1" dirty="0">
                <a:solidFill>
                  <a:srgbClr val="5A6472"/>
                </a:solidFill>
                <a:latin typeface="Calibri" pitchFamily="34" charset="0"/>
                <a:cs typeface="Amiri" pitchFamily="2" charset="-78"/>
              </a:rPr>
              <a:t>ma-rī-ḍun / ma-rī-ḍa-tun</a:t>
            </a:r>
            <a:endParaRPr lang="en-US" sz="1350" dirty="0"/>
          </a:p>
        </p:txBody>
      </p:sp>
      <p:sp>
        <p:nvSpPr>
          <p:cNvPr id="29" name="Shape 26"/>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1" name="Text 28"/>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مَرِيضٌ</a:t>
            </a:r>
            <a:endParaRPr lang="ar-SA" sz="1500" dirty="0"/>
          </a:p>
        </p:txBody>
      </p:sp>
      <p:sp>
        <p:nvSpPr>
          <p:cNvPr id="32" name="Shape 29"/>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4" name="Text 31"/>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مَرِيضَةٌ</a:t>
            </a:r>
            <a:endParaRPr lang="ar-SA" sz="1500" dirty="0"/>
          </a:p>
        </p:txBody>
      </p:sp>
      <p:sp>
        <p:nvSpPr>
          <p:cNvPr id="35" name="Shape 32"/>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7" name="Text 34"/>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مَرْضَى</a:t>
            </a:r>
            <a:endParaRPr lang="ar-SA" sz="150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1" name="Shape 38"/>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3" name="Text 40"/>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مُتْعَبٌ / مُتْعَبَةٌ</a:t>
            </a:r>
            <a:endParaRPr lang="ar-SA" sz="3000" dirty="0"/>
          </a:p>
        </p:txBody>
      </p:sp>
      <p:sp>
        <p:nvSpPr>
          <p:cNvPr id="44" name="Text 41"/>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tired</a:t>
            </a:r>
            <a:endParaRPr lang="en-US" sz="1350" dirty="0"/>
          </a:p>
          <a:p>
            <a:pPr indent="0" marL="0">
              <a:buNone/>
            </a:pPr>
            <a:r>
              <a:rPr lang="en-US" sz="1100" i="1" dirty="0">
                <a:solidFill>
                  <a:srgbClr val="5A6472"/>
                </a:solidFill>
                <a:latin typeface="Calibri" pitchFamily="34" charset="0"/>
                <a:cs typeface="Amiri" pitchFamily="2" charset="-78"/>
              </a:rPr>
              <a:t>mut-ʿa-bun / mut-ʿa-ba-tun</a:t>
            </a:r>
            <a:endParaRPr lang="en-US" sz="1350" dirty="0"/>
          </a:p>
        </p:txBody>
      </p:sp>
      <p:sp>
        <p:nvSpPr>
          <p:cNvPr id="45" name="Shape 42"/>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7" name="Text 44"/>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مُتْعَبٌ</a:t>
            </a:r>
            <a:endParaRPr lang="ar-SA" sz="1500" dirty="0"/>
          </a:p>
        </p:txBody>
      </p:sp>
      <p:sp>
        <p:nvSpPr>
          <p:cNvPr id="48" name="Shape 45"/>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0" name="Text 47"/>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مُتْعَبَةٌ</a:t>
            </a:r>
            <a:endParaRPr lang="ar-SA" sz="1500" dirty="0"/>
          </a:p>
        </p:txBody>
      </p:sp>
      <p:sp>
        <p:nvSpPr>
          <p:cNvPr id="51" name="Shape 48"/>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3" name="Text 50"/>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مُتْعَبُونَ</a:t>
            </a:r>
            <a:endParaRPr lang="ar-SA" sz="150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57" name="Shape 54"/>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9" name="Text 5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مُصَابٌ / مُصَابَةٌ بِـ</a:t>
            </a:r>
            <a:endParaRPr lang="ar-SA" sz="3000" dirty="0"/>
          </a:p>
        </p:txBody>
      </p:sp>
      <p:sp>
        <p:nvSpPr>
          <p:cNvPr id="60" name="Text 5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suffering from / affected by</a:t>
            </a:r>
            <a:endParaRPr lang="en-US" sz="1350" dirty="0"/>
          </a:p>
          <a:p>
            <a:pPr indent="0" marL="0">
              <a:buNone/>
            </a:pPr>
            <a:r>
              <a:rPr lang="en-US" sz="1100" i="1" dirty="0">
                <a:solidFill>
                  <a:srgbClr val="5A6472"/>
                </a:solidFill>
                <a:latin typeface="Calibri" pitchFamily="34" charset="0"/>
                <a:cs typeface="Amiri" pitchFamily="2" charset="-78"/>
              </a:rPr>
              <a:t>mu-ṣā-bun / mu-ṣā-ba-tun bi</a:t>
            </a:r>
            <a:endParaRPr lang="en-US" sz="1350" dirty="0"/>
          </a:p>
        </p:txBody>
      </p:sp>
      <p:sp>
        <p:nvSpPr>
          <p:cNvPr id="61" name="Shape 58"/>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3" name="Text 60"/>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مُصَابٌ</a:t>
            </a:r>
            <a:endParaRPr lang="ar-SA" sz="1500" dirty="0"/>
          </a:p>
        </p:txBody>
      </p:sp>
      <p:sp>
        <p:nvSpPr>
          <p:cNvPr id="64" name="Shape 61"/>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6" name="Text 63"/>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مُصَابَةٌ</a:t>
            </a:r>
            <a:endParaRPr lang="ar-SA" sz="1500" dirty="0"/>
          </a:p>
        </p:txBody>
      </p:sp>
      <p:sp>
        <p:nvSpPr>
          <p:cNvPr id="67" name="Shape 64"/>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9" name="Text 66"/>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مُصَابُونَ</a:t>
            </a:r>
            <a:endParaRPr lang="ar-SA" sz="15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Describing the problem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عِنْدِي ...</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a:t>
            </a:r>
            <a:endParaRPr lang="en-US" sz="1350" dirty="0"/>
          </a:p>
          <a:p>
            <a:pPr indent="0" marL="0">
              <a:buNone/>
            </a:pPr>
            <a:r>
              <a:rPr lang="en-US" sz="1100" i="1" dirty="0">
                <a:solidFill>
                  <a:srgbClr val="5A6472"/>
                </a:solidFill>
                <a:latin typeface="Calibri" pitchFamily="34" charset="0"/>
                <a:cs typeface="Amiri" pitchFamily="2" charset="-78"/>
              </a:rPr>
              <a:t>ʿin-dī ...</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عِنْدَهُ</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عِنْدَهَا</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you</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عِنْدَكَ / عِنْدَكِ</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أَشْعُرُ بِـ ...</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feel ...</a:t>
            </a:r>
            <a:endParaRPr lang="en-US" sz="1350" dirty="0"/>
          </a:p>
          <a:p>
            <a:pPr indent="0" marL="0">
              <a:buNone/>
            </a:pPr>
            <a:r>
              <a:rPr lang="en-US" sz="1100" i="1" dirty="0">
                <a:solidFill>
                  <a:srgbClr val="5A6472"/>
                </a:solidFill>
                <a:latin typeface="Calibri" pitchFamily="34" charset="0"/>
                <a:cs typeface="Amiri" pitchFamily="2" charset="-78"/>
              </a:rPr>
              <a:t>ash-ʿu-ru bi ...</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يَشْعُرُ</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تَشْعُرُ</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50" name="Text 47"/>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تَشْعُرِينَ</a:t>
            </a:r>
            <a:endParaRPr lang="ar-SA" sz="135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54" name="Shape 5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عِنْدِي أَلَمٌ فِي ...</a:t>
            </a:r>
            <a:endParaRPr lang="ar-SA" sz="3000" dirty="0"/>
          </a:p>
        </p:txBody>
      </p:sp>
      <p:sp>
        <p:nvSpPr>
          <p:cNvPr id="57" name="Text 5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pain in ...</a:t>
            </a:r>
            <a:endParaRPr lang="en-US" sz="1350" dirty="0"/>
          </a:p>
          <a:p>
            <a:pPr indent="0" marL="0">
              <a:buNone/>
            </a:pPr>
            <a:r>
              <a:rPr lang="en-US" sz="1100" i="1" dirty="0">
                <a:solidFill>
                  <a:srgbClr val="5A6472"/>
                </a:solidFill>
                <a:latin typeface="Calibri" pitchFamily="34" charset="0"/>
                <a:cs typeface="Amiri" pitchFamily="2" charset="-78"/>
              </a:rPr>
              <a:t>ʿin-dī a-la-mun fī ...</a:t>
            </a:r>
            <a:endParaRPr lang="en-US" sz="135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61" name="Text 5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يُؤْلِمُنِي ...</a:t>
            </a:r>
            <a:endParaRPr lang="ar-SA" sz="3000" dirty="0"/>
          </a:p>
        </p:txBody>
      </p:sp>
      <p:sp>
        <p:nvSpPr>
          <p:cNvPr id="62" name="Text 5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 hurts me</a:t>
            </a:r>
            <a:endParaRPr lang="en-US" sz="1350" dirty="0"/>
          </a:p>
          <a:p>
            <a:pPr indent="0" marL="0">
              <a:buNone/>
            </a:pPr>
            <a:r>
              <a:rPr lang="en-US" sz="1100" i="1" dirty="0">
                <a:solidFill>
                  <a:srgbClr val="5A6472"/>
                </a:solidFill>
                <a:latin typeface="Calibri" pitchFamily="34" charset="0"/>
                <a:cs typeface="Amiri" pitchFamily="2" charset="-78"/>
              </a:rPr>
              <a:t>yuʾ-li-mu-nī ...</a:t>
            </a:r>
            <a:endParaRPr lang="en-US"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Describing the problem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مُنْذُ أَمْسِ</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since yesterday</a:t>
            </a:r>
            <a:endParaRPr lang="en-US" sz="1350" dirty="0"/>
          </a:p>
          <a:p>
            <a:pPr indent="0" marL="0">
              <a:buNone/>
            </a:pPr>
            <a:r>
              <a:rPr lang="en-US" sz="1100" i="1" dirty="0">
                <a:solidFill>
                  <a:srgbClr val="5A6472"/>
                </a:solidFill>
                <a:latin typeface="Calibri" pitchFamily="34" charset="0"/>
                <a:cs typeface="Amiri" pitchFamily="2" charset="-78"/>
              </a:rPr>
              <a:t>mun-dhu am-si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مُنْذُ يَوْمَيْنِ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for/since two days</a:t>
            </a:r>
            <a:endParaRPr lang="en-US" sz="1350" dirty="0"/>
          </a:p>
          <a:p>
            <a:pPr indent="0" marL="0">
              <a:buNone/>
            </a:pPr>
            <a:r>
              <a:rPr lang="en-US" sz="1100" i="1" dirty="0">
                <a:solidFill>
                  <a:srgbClr val="5A6472"/>
                </a:solidFill>
                <a:latin typeface="Calibri" pitchFamily="34" charset="0"/>
                <a:cs typeface="Amiri" pitchFamily="2" charset="-78"/>
              </a:rPr>
              <a:t>mun-dhu yaw-may-ni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مُنْذُ أُسْبُوعٍ</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for/since a week</a:t>
            </a:r>
            <a:endParaRPr lang="en-US" sz="1350" dirty="0"/>
          </a:p>
          <a:p>
            <a:pPr indent="0" marL="0">
              <a:buNone/>
            </a:pPr>
            <a:r>
              <a:rPr lang="en-US" sz="1100" i="1" dirty="0">
                <a:solidFill>
                  <a:srgbClr val="5A6472"/>
                </a:solidFill>
                <a:latin typeface="Calibri" pitchFamily="34" charset="0"/>
                <a:cs typeface="Amiri" pitchFamily="2" charset="-78"/>
              </a:rPr>
              <a:t>mun-dhu us-bū-ʿin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مُنْذُ مَتَى؟</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since when / for how long?</a:t>
            </a:r>
            <a:endParaRPr lang="en-US" sz="1350" dirty="0"/>
          </a:p>
          <a:p>
            <a:pPr indent="0" marL="0">
              <a:buNone/>
            </a:pPr>
            <a:r>
              <a:rPr lang="en-US" sz="1100" i="1" dirty="0">
                <a:solidFill>
                  <a:srgbClr val="5A6472"/>
                </a:solidFill>
                <a:latin typeface="Calibri" pitchFamily="34" charset="0"/>
                <a:cs typeface="Amiri" pitchFamily="2" charset="-78"/>
              </a:rPr>
              <a:t>mun-dhu ma-tā?</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B3B6F"/>
                </a:solidFill>
                <a:latin typeface="Calibri" pitchFamily="34" charset="0"/>
                <a:cs typeface="Amiri" pitchFamily="2" charset="-78"/>
              </a:rPr>
              <a:t>GRAMMAR FOCUS · PART 1 · WHAT, WHERE, SINCE WHEN (WEBSITE RULES 1, 2 AND 4)</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 have pain in my … since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عِنْدِي أَلَمٌ فِي …</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2907792" y="1810512"/>
            <a:ext cx="5340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430768" y="226771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a headache and a fever.</a:t>
            </a:r>
            <a:endParaRPr lang="en-US" sz="1100" dirty="0"/>
          </a:p>
        </p:txBody>
      </p:sp>
      <p:sp>
        <p:nvSpPr>
          <p:cNvPr id="21" name="Text 18"/>
          <p:cNvSpPr txBox="1"/>
          <p:nvPr/>
        </p:nvSpPr>
        <p:spPr>
          <a:xfrm>
            <a:off x="2926080" y="2267712"/>
            <a:ext cx="53035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عِنْدِي </a:t>
            </a:r>
            <a:pPr rtl="1" algn="ctr" indent="0" marL="0">
              <a:buNone/>
            </a:pPr>
            <a:r>
              <a:rPr lang="ar-SA" altLang="en-US" sz="2400" b="1" dirty="0">
                <a:solidFill>
                  <a:srgbClr val="D6336C"/>
                </a:solidFill>
                <a:latin typeface="Amiri" pitchFamily="2" charset="-78"/>
                <a:cs typeface="Amiri" pitchFamily="2" charset="-78"/>
              </a:rPr>
              <a:t>صُدَاعٌ</a:t>
            </a:r>
            <a:pPr rtl="1" algn="ctr" indent="0" marL="0">
              <a:buNone/>
            </a:pPr>
            <a:r>
              <a:rPr lang="ar-SA" altLang="en-US" sz="2400" b="1" dirty="0">
                <a:solidFill>
                  <a:srgbClr val="1B3B6F"/>
                </a:solidFill>
                <a:latin typeface="Amiri" pitchFamily="2" charset="-78"/>
                <a:cs typeface="Amiri" pitchFamily="2" charset="-78"/>
              </a:rPr>
              <a:t> وَ</a:t>
            </a:r>
            <a:pPr rtl="1" algn="ctr" indent="0" marL="0">
              <a:buNone/>
            </a:pPr>
            <a:r>
              <a:rPr lang="ar-SA" altLang="en-US" sz="2400" b="1" dirty="0">
                <a:solidFill>
                  <a:srgbClr val="D6336C"/>
                </a:solidFill>
                <a:latin typeface="Amiri" pitchFamily="2" charset="-78"/>
                <a:cs typeface="Amiri" pitchFamily="2" charset="-78"/>
              </a:rPr>
              <a:t>حُمَّى</a:t>
            </a:r>
            <a:pPr rtl="1" algn="ctr" indent="0" marL="0">
              <a:buNone/>
            </a:pPr>
            <a:r>
              <a:rPr lang="ar-SA" altLang="en-US" sz="2400" b="1" dirty="0">
                <a:solidFill>
                  <a:srgbClr val="1B3B6F"/>
                </a:solidFill>
                <a:latin typeface="Amiri" pitchFamily="2" charset="-78"/>
                <a:cs typeface="Amiri" pitchFamily="2" charset="-78"/>
              </a:rPr>
              <a:t>.</a:t>
            </a:r>
            <a:endParaRPr lang="ar-SA" sz="2400" dirty="0"/>
          </a:p>
        </p:txBody>
      </p:sp>
      <p:sp>
        <p:nvSpPr>
          <p:cNvPr id="22" name="Text 19"/>
          <p:cNvSpPr txBox="1"/>
          <p:nvPr/>
        </p:nvSpPr>
        <p:spPr>
          <a:xfrm>
            <a:off x="56692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 symptom</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430768" y="2881884"/>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pain in my head.</a:t>
            </a:r>
            <a:endParaRPr lang="en-US" sz="1100" dirty="0"/>
          </a:p>
        </p:txBody>
      </p:sp>
      <p:sp>
        <p:nvSpPr>
          <p:cNvPr id="27" name="Text 24"/>
          <p:cNvSpPr txBox="1"/>
          <p:nvPr/>
        </p:nvSpPr>
        <p:spPr>
          <a:xfrm>
            <a:off x="2926080" y="2881884"/>
            <a:ext cx="53035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عِنْدِي أَلَمٌ </a:t>
            </a:r>
            <a:pPr rtl="1" algn="ctr" indent="0" marL="0">
              <a:buNone/>
            </a:pPr>
            <a:r>
              <a:rPr lang="ar-SA" altLang="en-US" sz="2400" b="1" dirty="0">
                <a:solidFill>
                  <a:srgbClr val="0E7C86"/>
                </a:solidFill>
                <a:latin typeface="Amiri" pitchFamily="2" charset="-78"/>
                <a:cs typeface="Amiri" pitchFamily="2" charset="-78"/>
              </a:rPr>
              <a:t>فِي</a:t>
            </a:r>
            <a:pPr rtl="1" algn="ctr" indent="0" marL="0">
              <a:buNone/>
            </a:pPr>
            <a:r>
              <a:rPr lang="ar-SA" altLang="en-US" sz="2400" b="1" dirty="0">
                <a:solidFill>
                  <a:srgbClr val="1B3B6F"/>
                </a:solidFill>
                <a:latin typeface="Amiri" pitchFamily="2" charset="-78"/>
                <a:cs typeface="Amiri" pitchFamily="2" charset="-78"/>
              </a:rPr>
              <a:t> رَأْسِي.</a:t>
            </a:r>
            <a:endParaRPr lang="ar-SA" sz="2400" dirty="0"/>
          </a:p>
        </p:txBody>
      </p:sp>
      <p:sp>
        <p:nvSpPr>
          <p:cNvPr id="28" name="Text 25"/>
          <p:cNvSpPr txBox="1"/>
          <p:nvPr/>
        </p:nvSpPr>
        <p:spPr>
          <a:xfrm>
            <a:off x="56692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pain + where</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430768" y="3496056"/>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pain in my back.</a:t>
            </a:r>
            <a:endParaRPr lang="en-US" sz="1100" dirty="0"/>
          </a:p>
        </p:txBody>
      </p:sp>
      <p:sp>
        <p:nvSpPr>
          <p:cNvPr id="33" name="Text 30"/>
          <p:cNvSpPr txBox="1"/>
          <p:nvPr/>
        </p:nvSpPr>
        <p:spPr>
          <a:xfrm>
            <a:off x="2926080" y="3496056"/>
            <a:ext cx="53035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عِنْدِي أَلَمٌ </a:t>
            </a:r>
            <a:pPr rtl="1" algn="ctr" indent="0" marL="0">
              <a:buNone/>
            </a:pPr>
            <a:r>
              <a:rPr lang="ar-SA" altLang="en-US" sz="2400" b="1" dirty="0">
                <a:solidFill>
                  <a:srgbClr val="0E7C86"/>
                </a:solidFill>
                <a:latin typeface="Amiri" pitchFamily="2" charset="-78"/>
                <a:cs typeface="Amiri" pitchFamily="2" charset="-78"/>
              </a:rPr>
              <a:t>فِي</a:t>
            </a:r>
            <a:pPr rtl="1" algn="ctr" indent="0" marL="0">
              <a:buNone/>
            </a:pPr>
            <a:r>
              <a:rPr lang="ar-SA" altLang="en-US" sz="2400" b="1" dirty="0">
                <a:solidFill>
                  <a:srgbClr val="1B3B6F"/>
                </a:solidFill>
                <a:latin typeface="Amiri" pitchFamily="2" charset="-78"/>
                <a:cs typeface="Amiri" pitchFamily="2" charset="-78"/>
              </a:rPr>
              <a:t> ظَهْرِي.</a:t>
            </a:r>
            <a:endParaRPr lang="ar-SA" sz="2400" dirty="0"/>
          </a:p>
        </p:txBody>
      </p:sp>
      <p:sp>
        <p:nvSpPr>
          <p:cNvPr id="34" name="Text 31"/>
          <p:cNvSpPr txBox="1"/>
          <p:nvPr/>
        </p:nvSpPr>
        <p:spPr>
          <a:xfrm>
            <a:off x="56692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pain + where</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430768" y="4110228"/>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had a cold since yesterday.</a:t>
            </a:r>
            <a:endParaRPr lang="en-US" sz="1100" dirty="0"/>
          </a:p>
        </p:txBody>
      </p:sp>
      <p:sp>
        <p:nvSpPr>
          <p:cNvPr id="39" name="Text 36"/>
          <p:cNvSpPr txBox="1"/>
          <p:nvPr/>
        </p:nvSpPr>
        <p:spPr>
          <a:xfrm>
            <a:off x="2926080" y="4110228"/>
            <a:ext cx="53035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عِنْدِي زُكَامٌ </a:t>
            </a:r>
            <a:pPr rtl="1" algn="ctr" indent="0" marL="0">
              <a:buNone/>
            </a:pPr>
            <a:r>
              <a:rPr lang="ar-SA" altLang="en-US" sz="2400" b="1" dirty="0">
                <a:solidFill>
                  <a:srgbClr val="7B3FA0"/>
                </a:solidFill>
                <a:latin typeface="Amiri" pitchFamily="2" charset="-78"/>
                <a:cs typeface="Amiri" pitchFamily="2" charset="-78"/>
              </a:rPr>
              <a:t>مُنْذُ</a:t>
            </a:r>
            <a:pPr rtl="1" algn="ctr" indent="0" marL="0">
              <a:buNone/>
            </a:pPr>
            <a:r>
              <a:rPr lang="ar-SA" altLang="en-US" sz="2400" b="1" dirty="0">
                <a:solidFill>
                  <a:srgbClr val="1B3B6F"/>
                </a:solidFill>
                <a:latin typeface="Amiri" pitchFamily="2" charset="-78"/>
                <a:cs typeface="Amiri" pitchFamily="2" charset="-78"/>
              </a:rPr>
              <a:t> أَمْسِ.</a:t>
            </a:r>
            <a:endParaRPr lang="ar-SA" sz="2400" dirty="0"/>
          </a:p>
        </p:txBody>
      </p:sp>
      <p:sp>
        <p:nvSpPr>
          <p:cNvPr id="40" name="Text 37"/>
          <p:cNvSpPr txBox="1"/>
          <p:nvPr/>
        </p:nvSpPr>
        <p:spPr>
          <a:xfrm>
            <a:off x="56692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since when</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430768" y="4724400"/>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had a cough for two days.</a:t>
            </a:r>
            <a:endParaRPr lang="en-US" sz="1100" dirty="0"/>
          </a:p>
        </p:txBody>
      </p:sp>
      <p:sp>
        <p:nvSpPr>
          <p:cNvPr id="43" name="Text 40"/>
          <p:cNvSpPr txBox="1"/>
          <p:nvPr/>
        </p:nvSpPr>
        <p:spPr>
          <a:xfrm>
            <a:off x="2926080" y="4724400"/>
            <a:ext cx="53035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عِنْدِي سُعَالٌ </a:t>
            </a:r>
            <a:pPr rtl="1" algn="ctr" indent="0" marL="0">
              <a:buNone/>
            </a:pPr>
            <a:r>
              <a:rPr lang="ar-SA" altLang="en-US" sz="2400" b="1" dirty="0">
                <a:solidFill>
                  <a:srgbClr val="7B3FA0"/>
                </a:solidFill>
                <a:latin typeface="Amiri" pitchFamily="2" charset="-78"/>
                <a:cs typeface="Amiri" pitchFamily="2" charset="-78"/>
              </a:rPr>
              <a:t>مُنْذُ</a:t>
            </a:r>
            <a:pPr rtl="1" algn="ctr" indent="0" marL="0">
              <a:buNone/>
            </a:pPr>
            <a:r>
              <a:rPr lang="ar-SA" altLang="en-US" sz="2400" b="1" dirty="0">
                <a:solidFill>
                  <a:srgbClr val="1B3B6F"/>
                </a:solidFill>
                <a:latin typeface="Amiri" pitchFamily="2" charset="-78"/>
                <a:cs typeface="Amiri" pitchFamily="2" charset="-78"/>
              </a:rPr>
              <a:t> يَوْمَيْنِ.</a:t>
            </a:r>
            <a:endParaRPr lang="ar-SA" sz="2400" dirty="0"/>
          </a:p>
        </p:txBody>
      </p:sp>
      <p:sp>
        <p:nvSpPr>
          <p:cNvPr id="44" name="Text 41"/>
          <p:cNvSpPr txBox="1"/>
          <p:nvPr/>
        </p:nvSpPr>
        <p:spPr>
          <a:xfrm>
            <a:off x="56692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for how long</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430768" y="533857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Since when? — For a week.</a:t>
            </a:r>
            <a:endParaRPr lang="en-US" sz="1100" dirty="0"/>
          </a:p>
        </p:txBody>
      </p:sp>
      <p:sp>
        <p:nvSpPr>
          <p:cNvPr id="47" name="Text 44"/>
          <p:cNvSpPr txBox="1"/>
          <p:nvPr/>
        </p:nvSpPr>
        <p:spPr>
          <a:xfrm>
            <a:off x="2926080" y="5338572"/>
            <a:ext cx="5303520" cy="559308"/>
          </a:xfrm>
          <a:prstGeom prst="rect">
            <a:avLst/>
          </a:prstGeom>
          <a:noFill/>
          <a:ln/>
        </p:spPr>
        <p:txBody>
          <a:bodyPr wrap="square" lIns="0" tIns="0" rIns="0" bIns="0" rtlCol="0" anchor="ctr"/>
          <a:lstStyle/>
          <a:p>
            <a:pPr rtl="1" algn="ctr" indent="0" marL="0">
              <a:buNone/>
            </a:pPr>
            <a:r>
              <a:rPr lang="ar-SA" altLang="en-US" sz="2400" b="1" dirty="0">
                <a:solidFill>
                  <a:srgbClr val="7B3FA0"/>
                </a:solidFill>
                <a:latin typeface="Amiri" pitchFamily="2" charset="-78"/>
                <a:cs typeface="Amiri" pitchFamily="2" charset="-78"/>
              </a:rPr>
              <a:t>مُنْذُ مَتَى</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7B3FA0"/>
                </a:solidFill>
                <a:latin typeface="Amiri" pitchFamily="2" charset="-78"/>
                <a:cs typeface="Amiri" pitchFamily="2" charset="-78"/>
              </a:rPr>
              <a:t>مُنْذُ</a:t>
            </a:r>
            <a:pPr rtl="1" algn="ctr" indent="0" marL="0">
              <a:buNone/>
            </a:pPr>
            <a:r>
              <a:rPr lang="ar-SA" altLang="en-US" sz="2400" b="1" dirty="0">
                <a:solidFill>
                  <a:srgbClr val="1B3B6F"/>
                </a:solidFill>
                <a:latin typeface="Amiri" pitchFamily="2" charset="-78"/>
                <a:cs typeface="Amiri" pitchFamily="2" charset="-78"/>
              </a:rPr>
              <a:t> أُسْبُوعٍ.</a:t>
            </a:r>
            <a:endParaRPr lang="ar-SA" sz="2400" dirty="0"/>
          </a:p>
        </p:txBody>
      </p:sp>
      <p:sp>
        <p:nvSpPr>
          <p:cNvPr id="48" name="Text 45"/>
          <p:cNvSpPr txBox="1"/>
          <p:nvPr/>
        </p:nvSpPr>
        <p:spPr>
          <a:xfrm>
            <a:off x="56692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question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Pain is located with fī (in), never ʿalā (on). Mundhu covers both “since” and “for”.</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FOCUS · PART 2 · THREE WAYS TO SAY IT · AGREEMENT (WEBSITE RULE 3)</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 feel … it hurts … I am ill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cs typeface="Amiri" pitchFamily="2" charset="-78"/>
              </a:rPr>
              <a:t>أَشْعُرُ بِـ · يُؤْلِمُنِي · مَرِيضٌ / مَرِيضَةٌ</a:t>
            </a:r>
            <a:endParaRPr lang="ar-SA" sz="27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972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 FEEL + bi-</a:t>
            </a:r>
            <a:endParaRPr lang="en-US" sz="850" dirty="0"/>
          </a:p>
        </p:txBody>
      </p:sp>
      <p:sp>
        <p:nvSpPr>
          <p:cNvPr id="18" name="Text 15"/>
          <p:cNvSpPr txBox="1"/>
          <p:nvPr/>
        </p:nvSpPr>
        <p:spPr>
          <a:xfrm>
            <a:off x="9375648"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أَشْعُرُ بِـ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أَشْعُرُ بِأَلَمٍ فِي المَعِدَةِ.</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feel pain in my stomach.</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Always bi- after ashʿuru.</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2870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IT HURTS ME</a:t>
            </a:r>
            <a:endParaRPr lang="en-US" sz="850" dirty="0"/>
          </a:p>
        </p:txBody>
      </p:sp>
      <p:sp>
        <p:nvSpPr>
          <p:cNvPr id="26" name="Text 23"/>
          <p:cNvSpPr txBox="1"/>
          <p:nvPr/>
        </p:nvSpPr>
        <p:spPr>
          <a:xfrm>
            <a:off x="5487924"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يُؤْلِمُنِي / تُؤْلِمُنِي</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cs typeface="Amiri" pitchFamily="2" charset="-78"/>
              </a:rPr>
              <a:t>يُؤْلِمُنِي رَأْسِي، وَتُؤْلِمُنِي أَسْنَانِي.</a:t>
            </a:r>
            <a:endParaRPr lang="ar-SA" sz="23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head hurts, and my teeth hurt.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body part is the subject.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C0386B"/>
          </a:solidFill>
          <a:ln w="12700">
            <a:solidFill>
              <a:srgbClr val="C0386B"/>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SPEAKER m. / f.</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مَرِيضٌ · مَرِيضَةٌ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أَنَا مَرِيضٌ. · أَنَا مَرِيضَةٌ.</a:t>
            </a:r>
            <a:endParaRPr lang="ar-SA" sz="30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am ill (boy · girl).</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Agrees with who is speaking.</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ashʿuru needs bi-.</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أَشْعُرُ بِصُدَاعٍ.</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أَشْعُرُ صُدَاعٌ.</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500" b="1" dirty="0">
                <a:solidFill>
                  <a:srgbClr val="8A6D1E"/>
                </a:solidFill>
                <a:latin typeface="Amiri" pitchFamily="2" charset="-78"/>
                <a:cs typeface="Amiri" pitchFamily="2" charset="-78"/>
              </a:rPr>
              <a:t>عِنْدِي أَلَمٌ فِي... وَجُمَلُ المَرَضِ البَسِيطَةُ</a:t>
            </a:r>
            <a:endParaRPr lang="ar-SA" sz="25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Locate pain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عِنْدِي أَلَمٌ فِي + جُزْءِ الجِسْمِ</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عِنْدِي أَلَمٌ فِي رَأْسِي.   ·   عِنْدِي أَلَمٌ فِي بَطْنِي.   ·   عِنْدِي أَلَمٌ فِي ظَهْرِي.</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Name an illness directly</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عِنْدِي + مَرَضٌ / عَرَضٌ</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عِنْدِي صُدَاعٌ.   ·   عِنْدِي حُمَّى.   ·   عِنْدِي زُكَامٌ.</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Agree with the speaker</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أَنَا مَرِيضٌ / أَنَا مَرِيضَةٌ</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أَنَا مَرِيضٌ اليَوْمَ.   ·   أَنَا مَرِيضَةٌ اليَوْمَ.</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Add duration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مُنْذُ + مُدَّةٍ</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مُنْذُ أَمْسِ.   ·   مُنْذُ يَوْمَيْنِ.   ·   مُنْذُ أُسْبُوعٍ.</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a headache.”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أَشْرَبُ صُدَاعًا.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رَأْسِي صُدَاعٌ.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عِنْدِي صُدَاعٌ.</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أَشْعُرُ ___ التَّعَبِ.</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“My teeth hurt”?</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يُؤْلِمُنِي رَأْسِي.</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تُؤْلِمُنِي أَسْنَانِي.</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عِنْدِي أَنْفٌ.</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“for two days”?</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مُنْذُ يَوْمَيْنِ</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بَعْدَ يَوْمَيْنِ</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يَوْمَيْنِ</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a headache.”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أَشْرَبُ صُدَاعًا.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رَأْسِي صُدَاعٌ.</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عِنْدِي صُدَاعٌ.</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عِنْدِي</a:t>
            </a:r>
            <a:pPr algn="l" indent="0" marL="0">
              <a:buNone/>
            </a:pPr>
            <a:r>
              <a:rPr lang="en-US" sz="1050" i="1" dirty="0">
                <a:solidFill>
                  <a:srgbClr val="8A6D1E"/>
                </a:solidFill>
                <a:latin typeface="Calibri" pitchFamily="34" charset="0"/>
                <a:cs typeface="Amiri" pitchFamily="2" charset="-78"/>
              </a:rPr>
              <a:t> + symptom is the simplest pattern.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أَشْعُرُ ___ التَّعَبِ.</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fixed structure is </a:t>
            </a:r>
            <a:pPr algn="l" indent="0" marL="0">
              <a:buNone/>
            </a:pPr>
            <a:r>
              <a:rPr lang="ar-SA" altLang="en-US" sz="1350" dirty="0">
                <a:solidFill>
                  <a:srgbClr val="8A6D1E"/>
                </a:solidFill>
                <a:latin typeface="Amiri" pitchFamily="2" charset="-78"/>
                <a:cs typeface="Amiri" pitchFamily="2" charset="-78"/>
              </a:rPr>
              <a:t>أَشْعُرُ 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“My teeth hurt”?</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يُؤْلِمُنِي رَأْسِي.</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تُؤْلِمُنِي أَسْنَانِي.</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عِنْدِي أَنْفٌ.</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phrase names the teeth as the source of pain.</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“for two days”?</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مُنْذُ يَوْمَيْنِ</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بَعْدَ يَوْمَيْنِ</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يَوْمَيْنِ</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مُنْذُ</a:t>
            </a:r>
            <a:pPr algn="l" indent="0" marL="0">
              <a:buNone/>
            </a:pPr>
            <a:r>
              <a:rPr lang="en-US" sz="1050" i="1" dirty="0">
                <a:solidFill>
                  <a:srgbClr val="8A6D1E"/>
                </a:solidFill>
                <a:latin typeface="Calibri" pitchFamily="34" charset="0"/>
                <a:cs typeface="Amiri" pitchFamily="2" charset="-78"/>
              </a:rPr>
              <a:t> introduces duration from a starting point.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Watch me write four patient messages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What + since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عِنْدِي صُدَاعٌ وَحُمَّى </a:t>
            </a:r>
            <a:pPr rtl="1" algn="ctr" indent="0" marL="0">
              <a:buNone/>
            </a:pPr>
            <a:r>
              <a:rPr lang="ar-SA" altLang="en-US" sz="2100" b="1" dirty="0">
                <a:solidFill>
                  <a:srgbClr val="7B3FA0"/>
                </a:solidFill>
                <a:latin typeface="Amiri" pitchFamily="2" charset="-78"/>
                <a:cs typeface="Amiri" pitchFamily="2" charset="-78"/>
              </a:rPr>
              <a:t>مُنْذُ</a:t>
            </a:r>
            <a:pPr rtl="1" algn="ctr" indent="0" marL="0">
              <a:buNone/>
            </a:pPr>
            <a:r>
              <a:rPr lang="ar-SA" altLang="en-US" sz="2100" b="1" dirty="0">
                <a:solidFill>
                  <a:srgbClr val="1B3B6F"/>
                </a:solidFill>
                <a:latin typeface="Amiri" pitchFamily="2" charset="-78"/>
                <a:cs typeface="Amiri" pitchFamily="2" charset="-78"/>
              </a:rPr>
              <a:t> أَمْسِ.</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Symptoms + mundhu.</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Feel + where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أَشْعُرُ </a:t>
            </a:r>
            <a:pPr rtl="1" algn="ctr" indent="0" marL="0">
              <a:buNone/>
            </a:pPr>
            <a:r>
              <a:rPr lang="ar-SA" altLang="en-US" sz="2400" b="1" dirty="0">
                <a:solidFill>
                  <a:srgbClr val="1D5FBF"/>
                </a:solidFill>
                <a:latin typeface="Amiri" pitchFamily="2" charset="-78"/>
                <a:cs typeface="Amiri" pitchFamily="2" charset="-78"/>
              </a:rPr>
              <a:t>بِأَلَمٍ</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0E7C86"/>
                </a:solidFill>
                <a:latin typeface="Amiri" pitchFamily="2" charset="-78"/>
                <a:cs typeface="Amiri" pitchFamily="2" charset="-78"/>
              </a:rPr>
              <a:t>فِي</a:t>
            </a:r>
            <a:pPr rtl="1" algn="ctr" indent="0" marL="0">
              <a:buNone/>
            </a:pPr>
            <a:r>
              <a:rPr lang="ar-SA" altLang="en-US" sz="2400" b="1" dirty="0">
                <a:solidFill>
                  <a:srgbClr val="1B3B6F"/>
                </a:solidFill>
                <a:latin typeface="Amiri" pitchFamily="2" charset="-78"/>
                <a:cs typeface="Amiri" pitchFamily="2" charset="-78"/>
              </a:rPr>
              <a:t> المَعِدَةِ.</a:t>
            </a:r>
            <a:endParaRPr lang="ar-SA" sz="24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bi- after ashʿuru; fī for place.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Cause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cs typeface="Amiri" pitchFamily="2" charset="-78"/>
              </a:rPr>
              <a:t>سَقَطْتُ، وَعِنْدِي جُرْحٌ </a:t>
            </a:r>
            <a:pPr rtl="1" algn="ctr" indent="0" marL="0">
              <a:lnSpc>
                <a:spcPct val="120000"/>
              </a:lnSpc>
              <a:buNone/>
            </a:pPr>
            <a:r>
              <a:rPr lang="ar-SA" altLang="en-US" sz="1900" b="1" dirty="0">
                <a:solidFill>
                  <a:srgbClr val="0E7C86"/>
                </a:solidFill>
                <a:latin typeface="Amiri" pitchFamily="2" charset="-78"/>
                <a:cs typeface="Amiri" pitchFamily="2" charset="-78"/>
              </a:rPr>
              <a:t>فِي</a:t>
            </a:r>
            <a:pPr rtl="1" algn="ctr" indent="0" marL="0">
              <a:lnSpc>
                <a:spcPct val="120000"/>
              </a:lnSpc>
              <a:buNone/>
            </a:pPr>
            <a:r>
              <a:rPr lang="ar-SA" altLang="en-US" sz="1900" b="1" dirty="0">
                <a:solidFill>
                  <a:srgbClr val="1B3B6F"/>
                </a:solidFill>
                <a:latin typeface="Amiri" pitchFamily="2" charset="-78"/>
                <a:cs typeface="Amiri" pitchFamily="2" charset="-78"/>
              </a:rPr>
              <a:t> رُكْبَتِي.</a:t>
            </a:r>
            <a:endParaRPr lang="ar-SA" sz="19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 fell → a cut in my knee.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Agreement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أَنَا مُصَابَ</a:t>
            </a:r>
            <a:pPr rtl="1" algn="ctr" indent="0" marL="0">
              <a:lnSpc>
                <a:spcPct val="120000"/>
              </a:lnSpc>
              <a:buNone/>
            </a:pPr>
            <a:r>
              <a:rPr lang="ar-SA" altLang="en-US" sz="1750" b="1" dirty="0">
                <a:solidFill>
                  <a:srgbClr val="D6336C"/>
                </a:solidFill>
                <a:latin typeface="Amiri" pitchFamily="2" charset="-78"/>
                <a:cs typeface="Amiri" pitchFamily="2" charset="-78"/>
              </a:rPr>
              <a:t>ةٌ</a:t>
            </a:r>
            <a:pPr rtl="1" algn="ctr" indent="0" marL="0">
              <a:lnSpc>
                <a:spcPct val="120000"/>
              </a:lnSpc>
              <a:buNone/>
            </a:pPr>
            <a:r>
              <a:rPr lang="ar-SA" altLang="en-US" sz="1750" b="1" dirty="0">
                <a:solidFill>
                  <a:srgbClr val="1B3B6F"/>
                </a:solidFill>
                <a:latin typeface="Amiri" pitchFamily="2" charset="-78"/>
                <a:cs typeface="Amiri" pitchFamily="2" charset="-78"/>
              </a:rPr>
              <a:t> بِالزُّكَامِ وَأَشْعُرُ بِالتَّعَبِ.</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girl writes → -a.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7B3FA0"/>
          </a:solidFill>
          <a:ln w="12700">
            <a:solidFill>
              <a:srgbClr val="7B3FA0"/>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SINCE</a:t>
            </a:r>
            <a:endParaRPr lang="en-US" sz="800" dirty="0"/>
          </a:p>
        </p:txBody>
      </p:sp>
      <p:sp>
        <p:nvSpPr>
          <p:cNvPr id="47" name="Shape 43"/>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FEEL BI-</a:t>
            </a:r>
            <a:endParaRPr lang="en-US" sz="800" dirty="0"/>
          </a:p>
        </p:txBody>
      </p:sp>
      <p:sp>
        <p:nvSpPr>
          <p:cNvPr id="49" name="Shape 45"/>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WHERE</a:t>
            </a:r>
            <a:endParaRPr lang="en-US" sz="800" dirty="0"/>
          </a:p>
        </p:txBody>
      </p:sp>
      <p:sp>
        <p:nvSpPr>
          <p:cNvPr id="51" name="Shape 47"/>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cs typeface="Amiri" pitchFamily="2" charset="-78"/>
              </a:rPr>
              <a:t>١. عِنْدِي صُدَاعٌ وَحُمَّى </a:t>
            </a:r>
            <a:pPr rtl="1" algn="r" indent="0" marL="0">
              <a:buNone/>
            </a:pPr>
            <a:r>
              <a:rPr lang="ar-SA" altLang="en-US" sz="1850" b="1" dirty="0">
                <a:solidFill>
                  <a:srgbClr val="7B3FA0"/>
                </a:solidFill>
                <a:latin typeface="Amiri" pitchFamily="2" charset="-78"/>
                <a:cs typeface="Amiri" pitchFamily="2" charset="-78"/>
              </a:rPr>
              <a:t>مُنْذُ</a:t>
            </a:r>
            <a:pPr rtl="1" algn="r" indent="0" marL="0">
              <a:buNone/>
            </a:pPr>
            <a:r>
              <a:rPr lang="ar-SA" altLang="en-US" sz="1850" b="1" dirty="0">
                <a:solidFill>
                  <a:srgbClr val="1B3B6F"/>
                </a:solidFill>
                <a:latin typeface="Amiri" pitchFamily="2" charset="-78"/>
                <a:cs typeface="Amiri" pitchFamily="2" charset="-78"/>
              </a:rPr>
              <a:t> أَمْسِ. ٢. أَشْعُرُ </a:t>
            </a:r>
            <a:pPr rtl="1" algn="r" indent="0" marL="0">
              <a:buNone/>
            </a:pPr>
            <a:r>
              <a:rPr lang="ar-SA" altLang="en-US" sz="1850" b="1" dirty="0">
                <a:solidFill>
                  <a:srgbClr val="1D5FBF"/>
                </a:solidFill>
                <a:latin typeface="Amiri" pitchFamily="2" charset="-78"/>
                <a:cs typeface="Amiri" pitchFamily="2" charset="-78"/>
              </a:rPr>
              <a:t>بِأَلَمٍ</a:t>
            </a:r>
            <a:pPr rtl="1" algn="r" indent="0" marL="0">
              <a:buNone/>
            </a:pPr>
            <a:r>
              <a:rPr lang="ar-SA" altLang="en-US" sz="1850" b="1" dirty="0">
                <a:solidFill>
                  <a:srgbClr val="1B3B6F"/>
                </a:solidFill>
                <a:latin typeface="Amiri" pitchFamily="2" charset="-78"/>
                <a:cs typeface="Amiri" pitchFamily="2" charset="-78"/>
              </a:rPr>
              <a:t> </a:t>
            </a:r>
            <a:pPr rtl="1" algn="r" indent="0" marL="0">
              <a:buNone/>
            </a:pPr>
            <a:r>
              <a:rPr lang="ar-SA" altLang="en-US" sz="1850" b="1" dirty="0">
                <a:solidFill>
                  <a:srgbClr val="0E7C86"/>
                </a:solidFill>
                <a:latin typeface="Amiri" pitchFamily="2" charset="-78"/>
                <a:cs typeface="Amiri" pitchFamily="2" charset="-78"/>
              </a:rPr>
              <a:t>فِي</a:t>
            </a:r>
            <a:pPr rtl="1" algn="r" indent="0" marL="0">
              <a:buNone/>
            </a:pPr>
            <a:r>
              <a:rPr lang="ar-SA" altLang="en-US" sz="1850" b="1" dirty="0">
                <a:solidFill>
                  <a:srgbClr val="1B3B6F"/>
                </a:solidFill>
                <a:latin typeface="Amiri" pitchFamily="2" charset="-78"/>
                <a:cs typeface="Amiri" pitchFamily="2" charset="-78"/>
              </a:rPr>
              <a:t> المَعِدَةِ. ٣. سَقَطْتُ وَعِنْدِي جُرْحٌ </a:t>
            </a:r>
            <a:pPr rtl="1" algn="r" indent="0" marL="0">
              <a:buNone/>
            </a:pPr>
            <a:r>
              <a:rPr lang="ar-SA" altLang="en-US" sz="1850" b="1" dirty="0">
                <a:solidFill>
                  <a:srgbClr val="0E7C86"/>
                </a:solidFill>
                <a:latin typeface="Amiri" pitchFamily="2" charset="-78"/>
                <a:cs typeface="Amiri" pitchFamily="2" charset="-78"/>
              </a:rPr>
              <a:t>فِي</a:t>
            </a:r>
            <a:pPr rtl="1" algn="r" indent="0" marL="0">
              <a:buNone/>
            </a:pPr>
            <a:r>
              <a:rPr lang="ar-SA" altLang="en-US" sz="1850" b="1" dirty="0">
                <a:solidFill>
                  <a:srgbClr val="1B3B6F"/>
                </a:solidFill>
                <a:latin typeface="Amiri" pitchFamily="2" charset="-78"/>
                <a:cs typeface="Amiri" pitchFamily="2" charset="-78"/>
              </a:rPr>
              <a:t> رُكْبَتِي. ٤. أَنَا مُصَابَ</a:t>
            </a:r>
            <a:pPr rtl="1" algn="r" indent="0" marL="0">
              <a:buNone/>
            </a:pPr>
            <a:r>
              <a:rPr lang="ar-SA" altLang="en-US" sz="1850" b="1" dirty="0">
                <a:solidFill>
                  <a:srgbClr val="D6336C"/>
                </a:solidFill>
                <a:latin typeface="Amiri" pitchFamily="2" charset="-78"/>
                <a:cs typeface="Amiri" pitchFamily="2" charset="-78"/>
              </a:rPr>
              <a:t>ةٌ</a:t>
            </a:r>
            <a:pPr rtl="1" algn="r" indent="0" marL="0">
              <a:buNone/>
            </a:pPr>
            <a:r>
              <a:rPr lang="ar-SA" altLang="en-US" sz="1850" b="1" dirty="0">
                <a:solidFill>
                  <a:srgbClr val="1B3B6F"/>
                </a:solidFill>
                <a:latin typeface="Amiri" pitchFamily="2" charset="-78"/>
                <a:cs typeface="Amiri" pitchFamily="2" charset="-78"/>
              </a:rPr>
              <a:t> بِالزُّكَامِ وَأَشْعُرُ بِالتَّعَبِ.</a:t>
            </a:r>
            <a:endParaRPr lang="ar-SA" sz="185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50" i="1" dirty="0">
                <a:solidFill>
                  <a:srgbClr val="5A6472"/>
                </a:solidFill>
                <a:latin typeface="Calibri" pitchFamily="34" charset="0"/>
                <a:cs typeface="Amiri" pitchFamily="2" charset="-78"/>
              </a:rPr>
              <a:t>1. I have had a headache and a fever since yesterday. 2. I feel pain in my stomach. 3. I fell and I have a cut on my knee. 4. I (f.) have a cold and I feel tired.</a:t>
            </a:r>
            <a:endParaRPr lang="en-US" sz="115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عِنْدِي صُدَاعٌ وَحُمَّى.</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have a headache and a fever.</a:t>
            </a:r>
            <a:endParaRPr lang="en-US" sz="1250" dirty="0"/>
          </a:p>
          <a:p>
            <a:pPr indent="0" marL="0">
              <a:buNone/>
            </a:pPr>
            <a:r>
              <a:rPr lang="en-US" sz="1050" i="1" dirty="0">
                <a:solidFill>
                  <a:srgbClr val="8A6D1E"/>
                </a:solidFill>
                <a:latin typeface="Calibri" pitchFamily="34" charset="0"/>
                <a:cs typeface="Amiri" pitchFamily="2" charset="-78"/>
              </a:rPr>
              <a:t>Use عِنْدِي + symptom.</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أَشْعُرُ بِأَلَمٍ فِي المَعِدَةِ.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feel pain in my stomach.</a:t>
            </a:r>
            <a:endParaRPr lang="en-US" sz="1250" dirty="0"/>
          </a:p>
          <a:p>
            <a:pPr indent="0" marL="0">
              <a:buNone/>
            </a:pPr>
            <a:r>
              <a:rPr lang="en-US" sz="1050" i="1" dirty="0">
                <a:solidFill>
                  <a:srgbClr val="8A6D1E"/>
                </a:solidFill>
                <a:latin typeface="Calibri" pitchFamily="34" charset="0"/>
                <a:cs typeface="Amiri" pitchFamily="2" charset="-78"/>
              </a:rPr>
              <a:t>أَشْعُرُ بِـ introduces a feeling or pain.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تُؤْلِمُنِي أَسْنَانِي مُنْذُ يَوْمَيْنِ.</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teeth have hurt for two days.</a:t>
            </a:r>
            <a:endParaRPr lang="en-US" sz="1250" dirty="0"/>
          </a:p>
          <a:p>
            <a:pPr indent="0" marL="0">
              <a:buNone/>
            </a:pPr>
            <a:r>
              <a:rPr lang="en-US" sz="1050" i="1" dirty="0">
                <a:solidFill>
                  <a:srgbClr val="8A6D1E"/>
                </a:solidFill>
                <a:latin typeface="Calibri" pitchFamily="34" charset="0"/>
                <a:cs typeface="Amiri" pitchFamily="2" charset="-78"/>
              </a:rPr>
              <a:t>The body part can be the subject of the pain expression.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أَنَا مُصَابٌ بِالزُّكَامِ. / أَنَا مُصَابَةٌ بِالزُّكَامِ.</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have a cold. (m/f)</a:t>
            </a:r>
            <a:endParaRPr lang="en-US" sz="1250" dirty="0"/>
          </a:p>
          <a:p>
            <a:pPr indent="0" marL="0">
              <a:buNone/>
            </a:pPr>
            <a:r>
              <a:rPr lang="en-US" sz="1050" i="1" dirty="0">
                <a:solidFill>
                  <a:srgbClr val="8A6D1E"/>
                </a:solidFill>
                <a:latin typeface="Calibri" pitchFamily="34" charset="0"/>
                <a:cs typeface="Amiri" pitchFamily="2" charset="-78"/>
              </a:rPr>
              <a:t>Make مُصَابٌ / مُصَابَةٌ agree with the speaker.</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HEALTH PROBLEMS AND HOW YOU FEEL”</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What is wrong? Match the picture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مَشْهَدُ الأَعْرَاضِ</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headache</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558698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769864" y="2249424"/>
            <a:ext cx="649224" cy="649224"/>
          </a:xfrm>
          <a:prstGeom prst="rect">
            <a:avLst/>
          </a:prstGeom>
        </p:spPr>
      </p:pic>
      <p:sp>
        <p:nvSpPr>
          <p:cNvPr id="28" name="Text 22"/>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fever</a:t>
            </a:r>
            <a:endParaRPr lang="en-US" sz="1100" dirty="0"/>
          </a:p>
        </p:txBody>
      </p:sp>
      <p:sp>
        <p:nvSpPr>
          <p:cNvPr id="29" name="Shape 2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4"/>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Shape 26"/>
          <p:cNvSpPr/>
          <p:nvPr/>
        </p:nvSpPr>
        <p:spPr>
          <a:xfrm>
            <a:off x="176784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34" name="Text 2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cold</a:t>
            </a:r>
            <a:endParaRPr lang="en-US" sz="1100" dirty="0"/>
          </a:p>
        </p:txBody>
      </p:sp>
      <p:sp>
        <p:nvSpPr>
          <p:cNvPr id="35" name="Shape 28"/>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6" name="Shape 29"/>
          <p:cNvSpPr/>
          <p:nvPr/>
        </p:nvSpPr>
        <p:spPr>
          <a:xfrm>
            <a:off x="11247120" y="3831336"/>
            <a:ext cx="292608" cy="292608"/>
          </a:xfrm>
          <a:prstGeom prst="ellipse">
            <a:avLst/>
          </a:prstGeom>
          <a:solidFill>
            <a:srgbClr val="2F6FB0"/>
          </a:solidFill>
          <a:ln w="12700">
            <a:solidFill>
              <a:srgbClr val="2F6FB0"/>
            </a:solidFill>
            <a:prstDash val="solid"/>
          </a:ln>
        </p:spPr>
      </p:sp>
      <p:sp>
        <p:nvSpPr>
          <p:cNvPr id="37" name="Text 30"/>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8" name="Text 31"/>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عِنْدِي حُمَّى.</a:t>
            </a:r>
            <a:endParaRPr lang="ar-SA" sz="2000" dirty="0"/>
          </a:p>
        </p:txBody>
      </p:sp>
      <p:sp>
        <p:nvSpPr>
          <p:cNvPr id="39" name="Shape 32"/>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0" name="Shape 33"/>
          <p:cNvSpPr/>
          <p:nvPr/>
        </p:nvSpPr>
        <p:spPr>
          <a:xfrm>
            <a:off x="11247120" y="4398264"/>
            <a:ext cx="292608" cy="292608"/>
          </a:xfrm>
          <a:prstGeom prst="ellipse">
            <a:avLst/>
          </a:prstGeom>
          <a:solidFill>
            <a:srgbClr val="2F6FB0"/>
          </a:solidFill>
          <a:ln w="12700">
            <a:solidFill>
              <a:srgbClr val="2F6FB0"/>
            </a:solidFill>
            <a:prstDash val="solid"/>
          </a:ln>
        </p:spPr>
      </p:sp>
      <p:sp>
        <p:nvSpPr>
          <p:cNvPr id="41" name="Text 34"/>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2" name="Text 35"/>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عِنْدِي زُكَامٌ.</a:t>
            </a:r>
            <a:endParaRPr lang="ar-SA" sz="2000" dirty="0"/>
          </a:p>
        </p:txBody>
      </p:sp>
      <p:sp>
        <p:nvSpPr>
          <p:cNvPr id="43" name="Shape 36"/>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4" name="Shape 37"/>
          <p:cNvSpPr/>
          <p:nvPr/>
        </p:nvSpPr>
        <p:spPr>
          <a:xfrm>
            <a:off x="11247120" y="4965192"/>
            <a:ext cx="292608" cy="292608"/>
          </a:xfrm>
          <a:prstGeom prst="ellipse">
            <a:avLst/>
          </a:prstGeom>
          <a:solidFill>
            <a:srgbClr val="2F6FB0"/>
          </a:solidFill>
          <a:ln w="12700">
            <a:solidFill>
              <a:srgbClr val="2F6FB0"/>
            </a:solidFill>
            <a:prstDash val="solid"/>
          </a:ln>
        </p:spPr>
      </p:sp>
      <p:sp>
        <p:nvSpPr>
          <p:cNvPr id="45" name="Text 38"/>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6" name="Text 39"/>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عِنْدِي صُدَاعٌ.</a:t>
            </a:r>
            <a:endParaRPr lang="ar-SA" sz="2000" dirty="0"/>
          </a:p>
        </p:txBody>
      </p:sp>
      <p:sp>
        <p:nvSpPr>
          <p:cNvPr id="47" name="Text 40"/>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8" name="Text 41"/>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9"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مَشْهَدُ الأَعْرَاضِ</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headache</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عِنْدِي صُدَاعٌ.</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have a headache.</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558698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769864" y="2249424"/>
            <a:ext cx="649224" cy="649224"/>
          </a:xfrm>
          <a:prstGeom prst="rect">
            <a:avLst/>
          </a:prstGeom>
        </p:spPr>
      </p:pic>
      <p:sp>
        <p:nvSpPr>
          <p:cNvPr id="33" name="Text 27"/>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fever</a:t>
            </a:r>
            <a:endParaRPr lang="en-US" sz="1100" dirty="0"/>
          </a:p>
        </p:txBody>
      </p:sp>
      <p:sp>
        <p:nvSpPr>
          <p:cNvPr id="34" name="Shape 28"/>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9"/>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30"/>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7" name="Text 31"/>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عِنْدِي حُمَّى.</a:t>
            </a:r>
            <a:endParaRPr lang="ar-SA" sz="2200" dirty="0"/>
          </a:p>
        </p:txBody>
      </p:sp>
      <p:sp>
        <p:nvSpPr>
          <p:cNvPr id="38" name="Text 32"/>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have a fever.</a:t>
            </a:r>
            <a:endParaRPr lang="en-US" sz="1200" dirty="0"/>
          </a:p>
        </p:txBody>
      </p:sp>
      <p:sp>
        <p:nvSpPr>
          <p:cNvPr id="39" name="Shape 3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4"/>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2" name="Shape 36"/>
          <p:cNvSpPr/>
          <p:nvPr/>
        </p:nvSpPr>
        <p:spPr>
          <a:xfrm>
            <a:off x="176784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44" name="Text 3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cold</a:t>
            </a:r>
            <a:endParaRPr lang="en-US" sz="1100" dirty="0"/>
          </a:p>
        </p:txBody>
      </p:sp>
      <p:sp>
        <p:nvSpPr>
          <p:cNvPr id="45" name="Shape 38"/>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6" name="Shape 39"/>
          <p:cNvSpPr/>
          <p:nvPr/>
        </p:nvSpPr>
        <p:spPr>
          <a:xfrm>
            <a:off x="3617976" y="3785616"/>
            <a:ext cx="329184" cy="329184"/>
          </a:xfrm>
          <a:prstGeom prst="ellipse">
            <a:avLst/>
          </a:prstGeom>
          <a:solidFill>
            <a:srgbClr val="2E8B57"/>
          </a:solidFill>
          <a:ln w="12700">
            <a:solidFill>
              <a:srgbClr val="2E8B57"/>
            </a:solidFill>
            <a:prstDash val="solid"/>
          </a:ln>
        </p:spPr>
      </p:sp>
      <p:sp>
        <p:nvSpPr>
          <p:cNvPr id="47" name="Text 40"/>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48" name="Text 41"/>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عِنْدِي زُكَامٌ.</a:t>
            </a:r>
            <a:endParaRPr lang="ar-SA" sz="2200" dirty="0"/>
          </a:p>
        </p:txBody>
      </p:sp>
      <p:sp>
        <p:nvSpPr>
          <p:cNvPr id="49" name="Text 42"/>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have a cold.</a:t>
            </a:r>
            <a:endParaRPr lang="en-US" sz="1200" dirty="0"/>
          </a:p>
        </p:txBody>
      </p:sp>
      <p:sp>
        <p:nvSpPr>
          <p:cNvPr id="50"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Symptom, injury or feeling?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صُدَاعٌ</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ذِرَاعٌ مَكْسُورَةٌ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مُتْعَبٌ</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حُمَّى</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جُرْحٌ فِي الإِصْبَعِ</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أَشْعُرُ بِالدُّوَارِ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سُعَالٌ</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إِصَابَةٌ فِي الرُّكْبَةِ</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عَرَضٌ · symptom</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إِصَابَةٌ · injury</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شُعُورٌ · feeling/state</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عَرَضٌ · symptom</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صُدَاعٌ</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حُمَّى</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سُعَالٌ</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إِصَابَةٌ · injury</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ذِرَاعٌ مَكْسُورَةٌ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جُرْحٌ فِي الإِصْبَعِ</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إِصَابَةٌ فِي الرُّكْبَةِ</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شُعُورٌ · feeling/state</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مُتْعَبٌ</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أَشْعُرُ بِالدُّوَارِ</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speaker form.</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مُصَابٌ بِالزُّكَامِ.</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مُصَابَانِ بِالزُّكَامِ.</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مُصَابَةٌ بِالزُّكَامِ.</a:t>
            </a:r>
            <a:endParaRPr lang="ar-SA" sz="20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grammatically complete?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عِنْدِي بِحُمَّى.</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أَشْعُرُ بِحُمَّى.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أَشْعُرُ حُمَّى.</a:t>
            </a:r>
            <a:endParaRPr lang="ar-SA" sz="2050" dirty="0"/>
          </a:p>
        </p:txBody>
      </p:sp>
      <p:sp>
        <p:nvSpPr>
          <p:cNvPr id="43" name="Shape 40"/>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pain in my back.”</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عِنْدِي أَلَمٌ عَلَى ظَهْرِي.</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عِنْدِي أَلَمٌ فِي ظَهْرِي.</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أَشْرَبُ أَلَمًا فِي ظَهْرِي.</a:t>
            </a:r>
            <a:endParaRPr lang="ar-SA" sz="20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speaker form.</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أَنَا مُصَابٌ بِالزُّكَامِ.</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أَنَا مُصَابَانِ بِالزُّكَامِ.</a:t>
            </a:r>
            <a:endParaRPr lang="ar-SA" sz="20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أَنَا مُصَابَةٌ بِالزُّكَامِ.</a:t>
            </a:r>
            <a:endParaRPr lang="ar-SA" sz="20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مُصَابَةٌ</a:t>
            </a:r>
            <a:pPr algn="l" indent="0" marL="0">
              <a:buNone/>
            </a:pPr>
            <a:r>
              <a:rPr lang="en-US" sz="1050" i="1" dirty="0">
                <a:solidFill>
                  <a:srgbClr val="8A6D1E"/>
                </a:solidFill>
                <a:latin typeface="Calibri" pitchFamily="34" charset="0"/>
                <a:cs typeface="Amiri" pitchFamily="2" charset="-78"/>
              </a:rPr>
              <a:t> agrees with a female speaker.</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grammatically complete?</a:t>
            </a:r>
            <a:endParaRPr lang="en-US" sz="125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عِنْدِي بِحُمَّى.</a:t>
            </a:r>
            <a:endParaRPr lang="ar-SA" sz="20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أَشْعُرُ بِحُمَّى.</a:t>
            </a:r>
            <a:endParaRPr lang="ar-SA" sz="20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أَشْعُرُ حُمَّى.</a:t>
            </a:r>
            <a:endParaRPr lang="ar-SA" sz="2050" dirty="0"/>
          </a:p>
        </p:txBody>
      </p:sp>
      <p:sp>
        <p:nvSpPr>
          <p:cNvPr id="46" name="Text 4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أَشْعُرُ</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before the feeling/symptom.</a:t>
            </a:r>
            <a:endParaRPr lang="en-US" sz="1050" dirty="0"/>
          </a:p>
        </p:txBody>
      </p:sp>
      <p:sp>
        <p:nvSpPr>
          <p:cNvPr id="47" name="Shape 44"/>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pain in my back.”</a:t>
            </a:r>
            <a:endParaRPr lang="en-US" sz="1250" dirty="0"/>
          </a:p>
        </p:txBody>
      </p:sp>
      <p:sp>
        <p:nvSpPr>
          <p:cNvPr id="51" name="Shape 48"/>
          <p:cNvSpPr/>
          <p:nvPr/>
        </p:nvSpPr>
        <p:spPr>
          <a:xfrm>
            <a:off x="8278368" y="2532888"/>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عِنْدِي أَلَمٌ عَلَى ظَهْرِي.</a:t>
            </a:r>
            <a:endParaRPr lang="ar-SA" sz="2050" dirty="0"/>
          </a:p>
        </p:txBody>
      </p:sp>
      <p:sp>
        <p:nvSpPr>
          <p:cNvPr id="54" name="Shape 51"/>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990088"/>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عِنْدِي أَلَمٌ فِي ظَهْرِي.</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أَشْرَبُ أَلَمًا فِي ظَهْرِي.</a:t>
            </a:r>
            <a:endParaRPr lang="ar-SA" sz="2050" dirty="0"/>
          </a:p>
        </p:txBody>
      </p:sp>
      <p:sp>
        <p:nvSpPr>
          <p:cNvPr id="61" name="Text 5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fixed frame uses </a:t>
            </a:r>
            <a:pPr algn="l" indent="0" marL="0">
              <a:buNone/>
            </a:pPr>
            <a:r>
              <a:rPr lang="ar-SA" altLang="en-US" sz="1350" dirty="0">
                <a:solidFill>
                  <a:srgbClr val="8A6D1E"/>
                </a:solidFill>
                <a:latin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عِنْدِي أَلَمٌ عَلَى المَعِدَةِ.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 the stomach, or in it?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أَشْعُرُ صُدَاعٌ.</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must follow ashʿuru?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أَنَا مُصَابٌ بِالزُّكَامِ.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Maryam is speaking: which form?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عِنْدِي أَلَمٌ عَلَى المَعِدَةِ.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عِنْدِي أَلَمٌ فِي المَعِدَةِ.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cs typeface="Amiri" pitchFamily="2" charset="-78"/>
              </a:rPr>
              <a:t>فِي</a:t>
            </a:r>
            <a:pPr algn="l" indent="0" marL="0">
              <a:buNone/>
            </a:pPr>
            <a:r>
              <a:rPr lang="en-US" sz="1150" b="1" dirty="0">
                <a:solidFill>
                  <a:srgbClr val="1B3B6F"/>
                </a:solidFill>
                <a:latin typeface="Calibri" pitchFamily="34" charset="0"/>
                <a:cs typeface="Amiri" pitchFamily="2" charset="-78"/>
              </a:rPr>
              <a:t> to locate pain in a body part.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أَشْعُرُ صُدَاعٌ.</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أَشْعُرُ بِصُدَاعٍ. / عِنْدِي صُدَاعٌ.</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أَشْعُرُ</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 </a:t>
            </a:r>
            <a:pPr algn="l" indent="0" marL="0">
              <a:buNone/>
            </a:pPr>
            <a:r>
              <a:rPr lang="ar-SA" altLang="en-US" sz="1500" b="1" dirty="0">
                <a:solidFill>
                  <a:srgbClr val="1B3B6F"/>
                </a:solidFill>
                <a:latin typeface="Amiri" pitchFamily="2" charset="-78"/>
                <a:cs typeface="Amiri" pitchFamily="2" charset="-78"/>
              </a:rPr>
              <a:t>عِنْدِي</a:t>
            </a:r>
            <a:pPr algn="l" indent="0" marL="0">
              <a:buNone/>
            </a:pPr>
            <a:r>
              <a:rPr lang="en-US" sz="1150" b="1" dirty="0">
                <a:solidFill>
                  <a:srgbClr val="1B3B6F"/>
                </a:solidFill>
                <a:latin typeface="Calibri" pitchFamily="34" charset="0"/>
                <a:cs typeface="Amiri" pitchFamily="2" charset="-78"/>
              </a:rPr>
              <a:t> can take the symptom directly.</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أَنَا مُصَابٌ بِالزُّكَامِ.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أَنَا مُصَابَةٌ بِالزُّكَامِ.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adjective/participle agrees with the speaker.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callers to a clinic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has a fever?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caller 1</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caller 2</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caller 3</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has caller 2 had tooth pain?</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since yesterday</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two days</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a week</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caller 3 injured?</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arm</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ankle</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knee</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problems does caller 4 have?</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stomach pain and nausea</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cough and cold</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headache and fever</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to the fifth caller?</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cut his toe.</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fell and broke his arm.</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developed an allergy.</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sixth caller doing?</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vomiting</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walking</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sleeping</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the word after </a:t>
            </a:r>
            <a:pPr algn="l" indent="0" marL="0">
              <a:lnSpc>
                <a:spcPct val="115000"/>
              </a:lnSpc>
              <a:buNone/>
            </a:pPr>
            <a:r>
              <a:rPr lang="ar-SA" altLang="en-US" sz="1650" dirty="0">
                <a:solidFill>
                  <a:srgbClr val="1E6B52"/>
                </a:solidFill>
                <a:latin typeface="Amiri" pitchFamily="2" charset="-78"/>
                <a:cs typeface="Amiri" pitchFamily="2" charset="-78"/>
              </a:rPr>
              <a:t>عِنْدَهُ / عِنْدَهَا</a:t>
            </a:r>
            <a:pPr algn="l" indent="0" marL="0">
              <a:lnSpc>
                <a:spcPct val="115000"/>
              </a:lnSpc>
              <a:buNone/>
            </a:pPr>
            <a:r>
              <a:rPr lang="en-US" sz="1250" dirty="0">
                <a:solidFill>
                  <a:srgbClr val="1E6B52"/>
                </a:solidFill>
                <a:latin typeface="Calibri" pitchFamily="34" charset="0"/>
                <a:cs typeface="Amiri" pitchFamily="2" charset="-78"/>
              </a:rPr>
              <a:t> and after </a:t>
            </a:r>
            <a:pPr algn="l" indent="0" marL="0">
              <a:lnSpc>
                <a:spcPct val="115000"/>
              </a:lnSpc>
              <a:buNone/>
            </a:pPr>
            <a:r>
              <a:rPr lang="ar-SA" altLang="en-US" sz="1650" dirty="0">
                <a:solidFill>
                  <a:srgbClr val="1E6B52"/>
                </a:solidFill>
                <a:latin typeface="Amiri" pitchFamily="2" charset="-78"/>
                <a:cs typeface="Amiri" pitchFamily="2" charset="-78"/>
              </a:rPr>
              <a:t>مُنْذُ</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المُتَّصِلُ الأَوَّلُ عِنْدَهُ صُدَاعٌ وَحُمَّى مُنْذُ أَمْسِ.</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Caller 1 has had a headache and a fever since yesterday.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المُتَّصِلَةُ الثَّانِيَةُ تُؤْلِمُهَا أَسْنَانُهَا مُنْذُ أُسْبُوعٍ.</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Caller 2’s teeth have hurt for a week.</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المُتَّصِلُ الثَّالِثُ سَقَطَ، وَعِنْدَهُ جُرْحٌ فِي رُكْبَتِهِ.</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Caller 3 fell and has a cut on his knee.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المُتَّصِلَةُ الرَّابِعَةُ أَكَلَتْ طَعَامًا وَأَصْبَحَ عِنْدَهَا أَلَمٌ فِي المَعِدَةِ وَغَثَيَانٌ.</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Caller 4 ate some food and then had stomach pain and nausea.</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750" b="1" dirty="0">
                <a:solidFill>
                  <a:srgbClr val="1B3B6F"/>
                </a:solidFill>
                <a:latin typeface="Amiri" pitchFamily="2" charset="-78"/>
                <a:cs typeface="Amiri" pitchFamily="2" charset="-78"/>
              </a:rPr>
              <a:t>المُتَّصِلُ الخَامِسُ سَقَطَ مِنَ الدَّرَجِ وَكَسَرَ ذِرَاعَهُ. وَالمُتَّصِلَةُ السَّادِسَةُ تَشْعُرُ بِالمَرَضِ وَتَتَقَيَّأُ.</a:t>
            </a:r>
            <a:endParaRPr lang="ar-SA" sz="17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Caller 5 fell down the stairs and broke his arm. Caller 6 feels ill and is being sick.</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has a fever?</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caller 1</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caller 2</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caller 3</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Caller 1 has </a:t>
            </a:r>
            <a:pPr algn="l" indent="0" marL="0">
              <a:buNone/>
            </a:pPr>
            <a:r>
              <a:rPr lang="ar-SA" altLang="en-US" sz="1350" dirty="0">
                <a:solidFill>
                  <a:srgbClr val="8A6D1E"/>
                </a:solidFill>
                <a:latin typeface="Amiri" pitchFamily="2" charset="-78"/>
                <a:cs typeface="Amiri" pitchFamily="2" charset="-78"/>
              </a:rPr>
              <a:t>صُدَاعٌ وَحُمَّى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has caller 2 had tooth pain?</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since yesterday</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two days</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 a week</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مُنْذُ أُسْبُوعٍ.</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caller 3 injured?</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arm</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ankle</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knee</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جُرْحٌ فِي رُكْبَتِهِ.</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problems does caller 4 have?</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stomach pain and nausea</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cough and cold</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headache and fever</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أَلَمٌ فِي المَعِدَةِ وَغَثَيَانٌ.</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to the fifth caller?</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cut his toe.</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fell and broke his arm.</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developed an allergy.</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سَقَطَ ... وَكَسَرَ ذِرَاعَهُ.</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sixth caller doing?</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vomiting</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walking</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sleeping</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تَتَقَيَّأُ</a:t>
            </a:r>
            <a:pPr algn="l" indent="0" marL="0">
              <a:buNone/>
            </a:pPr>
            <a:r>
              <a:rPr lang="en-US" sz="1050" i="1" dirty="0">
                <a:solidFill>
                  <a:srgbClr val="8A6D1E"/>
                </a:solidFill>
                <a:latin typeface="Calibri" pitchFamily="34" charset="0"/>
                <a:cs typeface="Amiri" pitchFamily="2" charset="-78"/>
              </a:rPr>
              <a:t> means she is vomiting.</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the word after </a:t>
            </a:r>
            <a:pPr algn="l" indent="0" marL="0">
              <a:lnSpc>
                <a:spcPct val="115000"/>
              </a:lnSpc>
              <a:buNone/>
            </a:pPr>
            <a:r>
              <a:rPr lang="ar-SA" altLang="en-US" sz="1650" dirty="0">
                <a:solidFill>
                  <a:srgbClr val="1E6B52"/>
                </a:solidFill>
                <a:latin typeface="Amiri" pitchFamily="2" charset="-78"/>
                <a:cs typeface="Amiri" pitchFamily="2" charset="-78"/>
              </a:rPr>
              <a:t>عِنْدَهُ / عِنْدَهَا</a:t>
            </a:r>
            <a:pPr algn="l" indent="0" marL="0">
              <a:lnSpc>
                <a:spcPct val="115000"/>
              </a:lnSpc>
              <a:buNone/>
            </a:pPr>
            <a:r>
              <a:rPr lang="en-US" sz="1250" dirty="0">
                <a:solidFill>
                  <a:srgbClr val="1E6B52"/>
                </a:solidFill>
                <a:latin typeface="Calibri" pitchFamily="34" charset="0"/>
                <a:cs typeface="Amiri" pitchFamily="2" charset="-78"/>
              </a:rPr>
              <a:t> and after </a:t>
            </a:r>
            <a:pPr algn="l" indent="0" marL="0">
              <a:lnSpc>
                <a:spcPct val="115000"/>
              </a:lnSpc>
              <a:buNone/>
            </a:pPr>
            <a:r>
              <a:rPr lang="ar-SA" altLang="en-US" sz="1650" dirty="0">
                <a:solidFill>
                  <a:srgbClr val="1E6B52"/>
                </a:solidFill>
                <a:latin typeface="Amiri" pitchFamily="2" charset="-78"/>
                <a:cs typeface="Amiri" pitchFamily="2" charset="-78"/>
              </a:rPr>
              <a:t>مُنْذُ</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Health check-in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تَشْعُرُ / تَشْعُرِينَ؟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المُشْكِلَةُ؟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أَيْنَ الأَلَمُ؟</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مُنْذُ مَتَى؟ وَمَاذَا حَدَثَ؟</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أَنَا مُتْعَبٌ / مُتْعَبَةٌ · أَنَا بِخَيْرٍ.</a:t>
            </a:r>
            <a:endParaRPr lang="ar-SA" sz="1600" dirty="0"/>
          </a:p>
        </p:txBody>
      </p:sp>
      <p:sp>
        <p:nvSpPr>
          <p:cNvPr id="51" name="Shape 48"/>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عِنْدِي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عِنْدِي أَلَمٌ فِي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مُنْذُ ___ . سَقَطْتُ / أَكَلْتُ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cs typeface="Amiri" pitchFamily="2" charset="-78"/>
              </a:rPr>
              <a:t>أ</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المُشْكِلَةُ؟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the problem?</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cs typeface="Amiri" pitchFamily="2" charset="-78"/>
              </a:rPr>
              <a:t>ب</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عِنْدِي صُدَاعٌ وَأَشْعُرُ بِالتَّعَبِ.</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have a headache and I feel tired.</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Match ten symptoms to pictures and complete </a:t>
            </a:r>
            <a:pPr algn="l" indent="0" marL="0">
              <a:buNone/>
            </a:pPr>
            <a:r>
              <a:rPr lang="ar-SA" altLang="en-US" sz="1800" b="1" dirty="0">
                <a:solidFill>
                  <a:srgbClr val="1F2A37"/>
                </a:solidFill>
                <a:latin typeface="Amiri" pitchFamily="2" charset="-78"/>
                <a:cs typeface="Amiri" pitchFamily="2" charset="-78"/>
              </a:rPr>
              <a:t>عِنْدِي</a:t>
            </a:r>
            <a:pPr algn="l" indent="0" marL="0">
              <a:buNone/>
            </a:pPr>
            <a:r>
              <a:rPr lang="en-US" sz="1400" b="1" dirty="0">
                <a:solidFill>
                  <a:srgbClr val="1F2A37"/>
                </a:solidFill>
                <a:latin typeface="Calibri" pitchFamily="34" charset="0"/>
                <a:cs typeface="Amiri" pitchFamily="2" charset="-78"/>
              </a:rPr>
              <a:t> sentence frames.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Four symptoms with عِنْدِي … and one with I have pain in my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4 messages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Describe four health problems with location and duration, then answer follow-up questions.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four patient messages with body location and duration or cause.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triage note</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short clinic triage note distinguishing symptom, duration, cause and impact.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Symptom, duration, cause and impact (I can’t …) in 6–8 sentences.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 مُنْذُ أَمْسِ.</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since yesterday.</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 مُنْذُ يَوْمَيْنِ / أُسْبُوعٍ.</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for two days / a week.</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يُؤْلِمُنِي رَأْسِي.</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head hurts.</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سَقَطْتُ وَعِنْدِي جُرْحٌ فِي رُكْبَتِي.</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fell and I have a cut in my knee.</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أَشْعُرُ بِأَلَمٍ فِي المَعِدَةِ.</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feel pain in my stomach.</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عِنْدِي صُدَاعٌ.</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a headache.</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عِنْدِي زُكَامٌ وَسُعَالٌ.</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a cold and a cough.</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عِنْدِي أَلَمٌ فِي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pain in my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مَرِيضٌ / مَرِيضَةٌ.</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ill (m. / f.).</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أَشْعُرُ بِالتَّعَبِ.</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feel tired.</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صُدَاعٌ  ·  زُكَامٌ  ·  حُمَّى  ·  سُعَالٌ  ·  أَلَمٌ  ·  جُرْحٌ  ·  عِنْدِي  ·  أَشْعُرُ بِـ  ·  يُؤْلِمُنِي  ·  فِي  ·  مُنْذُ  ·  مَرِيضٌ / مَرِيضَةٌ</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four short patient messages. Each message should name a different problem, body location where relevant, and duration or cause.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two different structures: </a:t>
            </a:r>
            <a:pPr algn="l" indent="0" marL="0">
              <a:buNone/>
            </a:pPr>
            <a:r>
              <a:rPr lang="ar-SA" altLang="en-US" sz="1550" dirty="0">
                <a:solidFill>
                  <a:srgbClr val="1F2A37"/>
                </a:solidFill>
                <a:latin typeface="Amiri" pitchFamily="2" charset="-78"/>
                <a:cs typeface="Amiri" pitchFamily="2" charset="-78"/>
              </a:rPr>
              <a:t>عِنْدِي / أَشْعُرُ بِـ / يُؤْلِمُنِي</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two body parts.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cs typeface="Amiri" pitchFamily="2" charset="-78"/>
              </a:rPr>
              <a:t>مُنْذُ</a:t>
            </a:r>
            <a:pPr algn="l" indent="0" marL="0">
              <a:buNone/>
            </a:pPr>
            <a:r>
              <a:rPr lang="en-US" sz="1200" dirty="0">
                <a:solidFill>
                  <a:srgbClr val="1F2A37"/>
                </a:solidFill>
                <a:latin typeface="Calibri" pitchFamily="34" charset="0"/>
                <a:cs typeface="Amiri" pitchFamily="2" charset="-78"/>
              </a:rPr>
              <a:t> correctly at least once.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Make </a:t>
            </a:r>
            <a:pPr algn="l" indent="0" marL="0">
              <a:buNone/>
            </a:pPr>
            <a:r>
              <a:rPr lang="ar-SA" altLang="en-US" sz="1550" dirty="0">
                <a:solidFill>
                  <a:srgbClr val="1F2A37"/>
                </a:solidFill>
                <a:latin typeface="Amiri" pitchFamily="2" charset="-78"/>
                <a:cs typeface="Amiri" pitchFamily="2" charset="-78"/>
              </a:rPr>
              <a:t>مَرِيضٌ / مُصَابٌ</a:t>
            </a:r>
            <a:pPr algn="l" indent="0" marL="0">
              <a:buNone/>
            </a:pPr>
            <a:r>
              <a:rPr lang="en-US" sz="1200" dirty="0">
                <a:solidFill>
                  <a:srgbClr val="1F2A37"/>
                </a:solidFill>
                <a:latin typeface="Calibri" pitchFamily="34" charset="0"/>
                <a:cs typeface="Amiri" pitchFamily="2" charset="-78"/>
              </a:rPr>
              <a:t> agree with the speaker where used.</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لَنْ آتِيَ إِلَى المَدْرَسَةِ اليَوْمَ</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not come to school today</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أَسْتَطِيعُ المَشْيَ جَيِّدًا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can’t walk well</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عِنْدِي حَسَاسِيَّةٌ مِنْ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have an allergy to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لِذَلِكَ أَقْرَأُ المُكَوِّنَاتِ</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I read the ingredients</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غَسَلَ الجُرْحَ وَوَضَعَ ضِمَادًا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washed the cut and put on a bandage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١. عِنْدِي صُدَاعٌ وَحُمَّى مُنْذُ أَمْسِ. ٢. أَشْعُرُ بِأَلَمٍ فِي المَعِدَةِ. ٣. سَقَطْتُ وَعِنْدِي جُرْحٌ فِي رُكْبَتِي. ٤. أَنَا مُصَابَةٌ بِالزُّكَامِ وَأَشْعُرُ بِالتَّعَبِ.</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1. I have had a headache and a fever since yesterday. 2. I feel pain in my stomach. 3. I fell and I have a cut on my knee. 4. I (f.) have a cold and I feel tired.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 have …</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 feel bi-</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in my …</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since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symptoms with </a:t>
            </a:r>
            <a:pPr algn="l" indent="0" marL="0">
              <a:buNone/>
            </a:pPr>
            <a:r>
              <a:rPr lang="ar-SA" altLang="en-US" sz="1700" dirty="0">
                <a:solidFill>
                  <a:srgbClr val="1F2A37"/>
                </a:solidFill>
                <a:latin typeface="Amiri" pitchFamily="2" charset="-78"/>
                <a:cs typeface="Amiri" pitchFamily="2" charset="-78"/>
              </a:rPr>
              <a:t>عِنْدِي</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Pain is located with </a:t>
            </a:r>
            <a:pPr algn="l" indent="0" marL="0">
              <a:buNone/>
            </a:pPr>
            <a:r>
              <a:rPr lang="ar-SA" altLang="en-US" sz="1700" dirty="0">
                <a:solidFill>
                  <a:srgbClr val="1F2A37"/>
                </a:solidFill>
                <a:latin typeface="Amiri" pitchFamily="2" charset="-78"/>
                <a:cs typeface="Amiri" pitchFamily="2" charset="-78"/>
              </a:rPr>
              <a:t>فِي</a:t>
            </a:r>
            <a:pPr algn="l" indent="0" marL="0">
              <a:buNone/>
            </a:pPr>
            <a:r>
              <a:rPr lang="en-US" sz="1300" dirty="0">
                <a:solidFill>
                  <a:srgbClr val="1F2A37"/>
                </a:solidFill>
                <a:latin typeface="Calibri" pitchFamily="34" charset="0"/>
                <a:cs typeface="Amiri" pitchFamily="2" charset="-78"/>
              </a:rPr>
              <a:t>, not </a:t>
            </a:r>
            <a:pPr algn="l" indent="0" marL="0">
              <a:buNone/>
            </a:pPr>
            <a:r>
              <a:rPr lang="ar-SA" altLang="en-US" sz="1700" dirty="0">
                <a:solidFill>
                  <a:srgbClr val="1F2A37"/>
                </a:solidFill>
                <a:latin typeface="Amiri" pitchFamily="2" charset="-78"/>
                <a:cs typeface="Amiri" pitchFamily="2" charset="-78"/>
              </a:rPr>
              <a:t>عَلَى</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cs typeface="Amiri" pitchFamily="2" charset="-78"/>
              </a:rPr>
              <a:t>مُنْذُ</a:t>
            </a:r>
            <a:pPr algn="l" indent="0" marL="0">
              <a:buNone/>
            </a:pPr>
            <a:r>
              <a:rPr lang="en-US" sz="1300" dirty="0">
                <a:solidFill>
                  <a:srgbClr val="1F2A37"/>
                </a:solidFill>
                <a:latin typeface="Calibri" pitchFamily="34" charset="0"/>
                <a:cs typeface="Amiri" pitchFamily="2" charset="-78"/>
              </a:rPr>
              <a:t> at least once.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ar-SA" altLang="en-US" sz="1700" dirty="0">
                <a:solidFill>
                  <a:srgbClr val="1F2A37"/>
                </a:solidFill>
                <a:latin typeface="Amiri" pitchFamily="2" charset="-78"/>
                <a:cs typeface="Amiri" pitchFamily="2" charset="-78"/>
              </a:rPr>
              <a:t>أَشْعُرُ</a:t>
            </a:r>
            <a:pPr algn="l" indent="0" marL="0">
              <a:buNone/>
            </a:pPr>
            <a:r>
              <a:rPr lang="en-US" sz="1300" dirty="0">
                <a:solidFill>
                  <a:srgbClr val="1F2A37"/>
                </a:solidFill>
                <a:latin typeface="Calibri" pitchFamily="34" charset="0"/>
                <a:cs typeface="Amiri" pitchFamily="2" charset="-78"/>
              </a:rPr>
              <a:t> is always followed by </a:t>
            </a:r>
            <a:pPr algn="l" indent="0" marL="0">
              <a:buNone/>
            </a:pPr>
            <a:r>
              <a:rPr lang="ar-SA" altLang="en-US" sz="1700" dirty="0">
                <a:solidFill>
                  <a:srgbClr val="1F2A37"/>
                </a:solidFill>
                <a:latin typeface="Amiri" pitchFamily="2" charset="-78"/>
                <a:cs typeface="Amiri" pitchFamily="2" charset="-78"/>
              </a:rPr>
              <a:t>بِـ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ar-SA" altLang="en-US" sz="1700" dirty="0">
                <a:solidFill>
                  <a:srgbClr val="1F2A37"/>
                </a:solidFill>
                <a:latin typeface="Amiri" pitchFamily="2" charset="-78"/>
                <a:cs typeface="Amiri" pitchFamily="2" charset="-78"/>
              </a:rPr>
              <a:t>مَرِيضٌ / مُصَابٌ</a:t>
            </a:r>
            <a:pPr algn="l" indent="0" marL="0">
              <a:buNone/>
            </a:pPr>
            <a:r>
              <a:rPr lang="en-US" sz="1300" dirty="0">
                <a:solidFill>
                  <a:srgbClr val="1F2A37"/>
                </a:solidFill>
                <a:latin typeface="Calibri" pitchFamily="34" charset="0"/>
                <a:cs typeface="Amiri" pitchFamily="2" charset="-78"/>
              </a:rPr>
              <a:t> agree with the speaker.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headache?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صُدَاعٌ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سُعَالٌ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زُكَامٌ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injury?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حُمَّى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جُرْحٌ</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غَثَيَانٌ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duration?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مُنْذُ مَتَى؟</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الأَلَمُ؟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تَأْكُلُ؟</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headache?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صُدَاعٌ</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سُعَالٌ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زُكَامٌ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صُدَاعٌ</a:t>
            </a:r>
            <a:pPr algn="l" indent="0" marL="0">
              <a:buNone/>
            </a:pPr>
            <a:r>
              <a:rPr lang="en-US" sz="1050" i="1" dirty="0">
                <a:solidFill>
                  <a:srgbClr val="8A6D1E"/>
                </a:solidFill>
                <a:latin typeface="Calibri" pitchFamily="34" charset="0"/>
                <a:cs typeface="Amiri" pitchFamily="2" charset="-78"/>
              </a:rPr>
              <a:t> means headache.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injury?</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حُمَّى</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جُرْحٌ</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غَثَيَانٌ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جُرْحٌ</a:t>
            </a:r>
            <a:pPr algn="l" indent="0" marL="0">
              <a:buNone/>
            </a:pPr>
            <a:r>
              <a:rPr lang="en-US" sz="1050" i="1" dirty="0">
                <a:solidFill>
                  <a:srgbClr val="8A6D1E"/>
                </a:solidFill>
                <a:latin typeface="Calibri" pitchFamily="34" charset="0"/>
                <a:cs typeface="Amiri" pitchFamily="2" charset="-78"/>
              </a:rPr>
              <a:t> is a wound.</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duration?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مُنْذُ مَتَى؟</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أَيْنَ الأَلَمُ؟</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مَاذَا تَأْكُلُ؟</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مُنْذُ مَتَى؟</a:t>
            </a:r>
            <a:pPr algn="l" indent="0" marL="0">
              <a:buNone/>
            </a:pPr>
            <a:r>
              <a:rPr lang="en-US" sz="1050" i="1" dirty="0">
                <a:solidFill>
                  <a:srgbClr val="8A6D1E"/>
                </a:solidFill>
                <a:latin typeface="Calibri" pitchFamily="34" charset="0"/>
                <a:cs typeface="Amiri" pitchFamily="2" charset="-78"/>
              </a:rPr>
              <a:t> asks since when/how long.</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Health messages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50" dirty="0">
                <a:solidFill>
                  <a:srgbClr val="1F2A37"/>
                </a:solidFill>
                <a:latin typeface="Amiri" pitchFamily="2" charset="-78"/>
                <a:cs typeface="Amiri" pitchFamily="2" charset="-78"/>
              </a:rPr>
              <a:t>الرِّسَالَةُ ١: لَنْ آتِيَ إِلَى المَدْرَسَةِ اليَوْمَ؛ عِنْدِي زُكَامٌ وَسُعَالٌ، وَأَشْعُرُ بِالتَّعَبِ.</a:t>
            </a:r>
            <a:endParaRPr lang="ar-SA" sz="2450" dirty="0"/>
          </a:p>
          <a:p>
            <a:pPr rtl="1" algn="r" indent="0" marL="0">
              <a:lnSpc>
                <a:spcPct val="120000"/>
              </a:lnSpc>
              <a:buNone/>
            </a:pPr>
            <a:r>
              <a:rPr lang="ar-SA" altLang="en-US" sz="2450" dirty="0">
                <a:solidFill>
                  <a:srgbClr val="1F2A37"/>
                </a:solidFill>
                <a:latin typeface="Amiri" pitchFamily="2" charset="-78"/>
                <a:cs typeface="Amiri" pitchFamily="2" charset="-78"/>
              </a:rPr>
              <a:t>الرِّسَالَةُ ٢: سَقَطْتُ فِي المَلْعَبِ، وَعِنْدِي إِصَابَةٌ فِي كَاحِلِي. لَا أَسْتَطِيعُ المَشْيَ جَيِّدًا.</a:t>
            </a:r>
            <a:endParaRPr lang="ar-SA" sz="2450" dirty="0"/>
          </a:p>
          <a:p>
            <a:pPr rtl="1" algn="r" indent="0" marL="0">
              <a:lnSpc>
                <a:spcPct val="120000"/>
              </a:lnSpc>
              <a:buNone/>
            </a:pPr>
            <a:r>
              <a:rPr lang="ar-SA" altLang="en-US" sz="2450" dirty="0">
                <a:solidFill>
                  <a:srgbClr val="1F2A37"/>
                </a:solidFill>
                <a:latin typeface="Amiri" pitchFamily="2" charset="-78"/>
                <a:cs typeface="Amiri" pitchFamily="2" charset="-78"/>
              </a:rPr>
              <a:t>الرِّسَالَةُ ٣: عِنْدِي حَسَاسِيَّةٌ مِنْ بَعْضِ الأَطْعِمَةِ، لِذٰلِكَ أَقْرَأُ المُكَوِّنَاتِ قَبْلَ الأَكْلِ.</a:t>
            </a:r>
            <a:endParaRPr lang="ar-SA" sz="2450" dirty="0"/>
          </a:p>
          <a:p>
            <a:pPr rtl="1" algn="r" indent="0" marL="0">
              <a:lnSpc>
                <a:spcPct val="120000"/>
              </a:lnSpc>
              <a:buNone/>
            </a:pPr>
            <a:r>
              <a:rPr lang="ar-SA" altLang="en-US" sz="2450" dirty="0">
                <a:solidFill>
                  <a:srgbClr val="1F2A37"/>
                </a:solidFill>
                <a:latin typeface="Amiri" pitchFamily="2" charset="-78"/>
                <a:cs typeface="Amiri" pitchFamily="2" charset="-78"/>
              </a:rPr>
              <a:t>الرِّسَالَةُ ٤: جَرَحَ أَخِي إِصْبَعَهُ فِي المَطْبَخِ، فَغَسَلَ الجُرْحَ وَوَضَعَ عَلَيْهِ ضِمَادًا نَظِيفًا.</a:t>
            </a:r>
            <a:endParaRPr lang="ar-SA" sz="24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لَنْ آتِيَ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will not come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سَقَطْتُ</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fell</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المَلْعَبِ</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playground</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كَاحِلِي</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ankle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لَا أَسْتَطِيعُ</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can’t</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حَسَاسِيَّةٌ مِنْ</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allergy to</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لِذَلِكَ</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 / therefore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جَرَحَ إِصْبَعَهُ</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 cut his finger</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فَغَسَلَ</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 he washed</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ضِمَادًا نَظِيفًا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clean bandage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will writer 1 miss school?</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broken arm</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cold and cough</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toothache</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writer 1 feel?</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hungry</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angry</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tired</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writer 2 injured?</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ankle</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knee</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back</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difficulty does writer 2 have?</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cannot hear well</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cannot walk well</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cannot eat</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writer 3 do before eating?</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reads ingredients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drinks water</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phones a doctor</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brother do after cutting his finger?</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continued cooking without cleaning it</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went for a run</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washed the wound and used a clean bandage</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will writer 1 miss school?</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broken arm</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cold and cough</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toothache</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زُكَامٌ وَسُعَالٌ.</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writer 1 feel?</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hungry</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angry</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tired</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أَشْعُرُ بِالتَّعَبِ.</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writer 2 injured?</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ankle</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knee</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back</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كَاحِلِي.</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difficulty does writer 2 have?</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cannot hear well</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cannot walk well</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cannot eat</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 أَسْتَطِيعُ المَشْيَ جَيِّدًا.</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writer 3 do before eating?</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reads ingredients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drinks water</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phones a doctor</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أَقْرَأُ المُكَوِّنَاتِ.</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brother do after cutting his finger?</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continued cooking without cleaning it</a:t>
            </a:r>
            <a:endParaRPr lang="en-US" sz="11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went for a run</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washed the wound and used a clean bandage</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washed the wound and used </a:t>
            </a:r>
            <a:pPr algn="l" indent="0" marL="0">
              <a:buNone/>
            </a:pPr>
            <a:r>
              <a:rPr lang="ar-SA" altLang="en-US" sz="1350" dirty="0">
                <a:solidFill>
                  <a:srgbClr val="8A6D1E"/>
                </a:solidFill>
                <a:latin typeface="Amiri" pitchFamily="2" charset="-78"/>
                <a:cs typeface="Amiri" pitchFamily="2" charset="-78"/>
              </a:rPr>
              <a:t>ضِمَادًا نَظِيفًا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Health Problems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F5-L09: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F5-L09 · At the Doctor and Pharmacy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طَبِيبٌ</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doctor</a:t>
            </a:r>
            <a:pPr indent="0" marL="0">
              <a:buNone/>
            </a:pPr>
            <a:r>
              <a:rPr lang="en-US" sz="1000" i="1" dirty="0">
                <a:solidFill>
                  <a:srgbClr val="5A6472"/>
                </a:solidFill>
                <a:latin typeface="Calibri" pitchFamily="34" charset="0"/>
                <a:cs typeface="Amiri" pitchFamily="2" charset="-78"/>
              </a:rPr>
              <a:t>  f. طَبِيبَةٌ · pl. أَطِبَّاءُ</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صَيْدَلِيَّةٌ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pharmacy</a:t>
            </a:r>
            <a:pPr indent="0" marL="0">
              <a:buNone/>
            </a:pPr>
            <a:r>
              <a:rPr lang="en-US" sz="1000" i="1" dirty="0">
                <a:solidFill>
                  <a:srgbClr val="5A6472"/>
                </a:solidFill>
                <a:latin typeface="Calibri" pitchFamily="34" charset="0"/>
                <a:cs typeface="Amiri" pitchFamily="2" charset="-78"/>
              </a:rPr>
              <a:t>  pl. صَيْدَلِيَّاتٌ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دَوَاءٌ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medicine</a:t>
            </a:r>
            <a:pPr indent="0" marL="0">
              <a:buNone/>
            </a:pPr>
            <a:r>
              <a:rPr lang="en-US" sz="1000" i="1" dirty="0">
                <a:solidFill>
                  <a:srgbClr val="5A6472"/>
                </a:solidFill>
                <a:latin typeface="Calibri" pitchFamily="34" charset="0"/>
                <a:cs typeface="Amiri" pitchFamily="2" charset="-78"/>
              </a:rPr>
              <a:t>  pl. أَدْوِيَةٌ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مَوْعِدٌ</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appointment</a:t>
            </a:r>
            <a:pPr indent="0" marL="0">
              <a:buNone/>
            </a:pPr>
            <a:r>
              <a:rPr lang="en-US" sz="1000" i="1" dirty="0">
                <a:solidFill>
                  <a:srgbClr val="5A6472"/>
                </a:solidFill>
                <a:latin typeface="Calibri" pitchFamily="34" charset="0"/>
                <a:cs typeface="Amiri" pitchFamily="2" charset="-78"/>
              </a:rPr>
              <a:t>  pl. مَوَاعِيدُ</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خُذْ / خُذِي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take! (m. / 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Where do you go when you are ill? Write one place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أَذْهَبُ إِلَى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F5-L08: the vocabulary tab and the “Symptom, injury or feeling?”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four patient messages with location and duration.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clinic triage note: symptom, duration, cause and impact.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cs typeface="Amiri" pitchFamily="2" charset="-78"/>
              </a:rPr>
              <a:t>F5-L09 · At the Doctor and Pharmacy</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عِنْدَ الطَّبِيبِ وَفِي الصَّيْدَلِيَّةِ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cs typeface="Amiri" pitchFamily="2" charset="-78"/>
              </a:rPr>
              <a:t>عِنْدِي</a:t>
            </a:r>
            <a:pPr algn="l" indent="0" marL="0">
              <a:buNone/>
            </a:pPr>
            <a:r>
              <a:rPr lang="en-US" sz="1300" b="1" dirty="0">
                <a:solidFill>
                  <a:srgbClr val="FFFFFF"/>
                </a:solidFill>
                <a:latin typeface="Calibri" pitchFamily="34" charset="0"/>
                <a:cs typeface="Amiri" pitchFamily="2" charset="-78"/>
              </a:rPr>
              <a:t> + symptom · </a:t>
            </a:r>
            <a:pPr algn="l" indent="0" marL="0">
              <a:buNone/>
            </a:pPr>
            <a:r>
              <a:rPr lang="ar-SA" altLang="en-US" sz="1700" b="1" dirty="0">
                <a:solidFill>
                  <a:srgbClr val="FFFFFF"/>
                </a:solidFill>
                <a:latin typeface="Amiri" pitchFamily="2" charset="-78"/>
                <a:cs typeface="Amiri" pitchFamily="2" charset="-78"/>
              </a:rPr>
              <a:t>أَشْعُرُ بِـ</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cs typeface="Amiri" pitchFamily="2" charset="-78"/>
              </a:rPr>
              <a:t>أَلَمٌ فِي</a:t>
            </a:r>
            <a:pPr algn="l" indent="0" marL="0">
              <a:buNone/>
            </a:pPr>
            <a:r>
              <a:rPr lang="en-US" sz="1300" b="1" dirty="0">
                <a:solidFill>
                  <a:srgbClr val="FFFFFF"/>
                </a:solidFill>
                <a:latin typeface="Calibri" pitchFamily="34" charset="0"/>
                <a:cs typeface="Amiri" pitchFamily="2" charset="-78"/>
              </a:rPr>
              <a:t> (not </a:t>
            </a:r>
            <a:pPr algn="l" indent="0" marL="0">
              <a:buNone/>
            </a:pPr>
            <a:r>
              <a:rPr lang="ar-SA" altLang="en-US" sz="1700" b="1" dirty="0">
                <a:solidFill>
                  <a:srgbClr val="FFFFFF"/>
                </a:solidFill>
                <a:latin typeface="Amiri" pitchFamily="2" charset="-78"/>
                <a:cs typeface="Amiri" pitchFamily="2" charset="-78"/>
              </a:rPr>
              <a:t>عَلَى</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cs typeface="Amiri" pitchFamily="2" charset="-78"/>
              </a:rPr>
              <a:t>مُنْذُ</a:t>
            </a:r>
            <a:pPr algn="l" indent="0" marL="0">
              <a:buNone/>
            </a:pPr>
            <a:r>
              <a:rPr lang="en-US" sz="1300" b="1" dirty="0">
                <a:solidFill>
                  <a:srgbClr val="FFFFFF"/>
                </a:solidFill>
                <a:latin typeface="Calibri" pitchFamily="34" charset="0"/>
                <a:cs typeface="Amiri" pitchFamily="2" charset="-78"/>
              </a:rPr>
              <a:t> +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F5-L08 · Health Problems and How You Feel</dc:title>
  <dc:subject>PptxGenJS Presentation</dc:subject>
  <dc:creator>Al Madina Online School · Arabic Department</dc:creator>
  <cp:lastModifiedBy>Al Madina Online School · Arabic Department</cp:lastModifiedBy>
  <cp:revision>1</cp:revision>
  <dcterms:created xsi:type="dcterms:W3CDTF">2026-10-11T06:41:48Z</dcterms:created>
  <dcterms:modified xsi:type="dcterms:W3CDTF">2026-10-11T06:41:48Z</dcterms:modified>
</cp:coreProperties>
</file>