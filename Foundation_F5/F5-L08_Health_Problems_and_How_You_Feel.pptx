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F5-L08. The website lesson “Health Problems and How You Feel”: vocabulary, grammar rules and quiz, patterns, common mistakes, sorter, listening, reading, speaking prompts and model, writing task and model, differentiation, final check and the lesson mission. Picture match: website visual game “Health Problems and How You Feel”.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match ten symptoms to pictures and complete عِنْدِي … frames (عِنْدِي صُدَاعٌ).
• Develop: four problems with a location (عِنْدِي أَلَمٌ فِي …) and a duration (مُنْذُ …), then answer follow-up questions.
• Stretch: a short clinic triage note — symptom, duration, cause and impact (لَا أَسْتَطِيعُ …).
• Three structures, one idea (website teaching note): عِنْدِي صُدَاعٌ · أَشْعُرُ بِصُدَاعٍ · يُؤْلِمُنِي رَأْسِي. Core students choose ONE.
• Website safeguarding note: “The lesson teaches language, not diagnosis. Serious or persistent symptoms require an appropriate adult or healthcare professional.” Role plays use invented problems — nobody shares real medical details.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F5-L07. Questions 3–5 retrieve F5-L07 (this is my hand, the dual, body parts).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Health sentence = what + where + since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مریض، مرض، زکام are identical in meaning. حساس (sensitive) → حَسَاسِيَّةٌ (allergy: being “sensitive” to something). مصیبت (misfortune) shares its root with إِصَابَةٌ (an injury — something that “strikes” you) and مُصَابٌ بِـ (affected by). Also: درد is Persian — Arabic pain = أَلَمٌ (compare Urdu الم “grief”).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symptoms (website vocabulary (1 of 2)). Hear → Say → See → Use. Transliteration is printed for Core students (cover it for Develop/Stretch).
Symptoms follow عِنْدِي directly: عِنْدِي صُدَاعٌ / حُمَّى / سُعَالٌ. The أَلَمُ … phrases are idāfas: أَلَمُ المَعِدَةِ “pain of the stomach”.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symptoms (website vocabulary (2 of 2)). Hear → Say → See → Use. Transliteration is printed for Core students (cover it for Develop/Stretch).
Symptoms follow عِنْدِي directly: عِنْدِي صُدَاعٌ / حُمَّى / سُعَالٌ. The أَلَمُ … phrases are idāfas: أَلَمُ المَعِدَةِ “pain of the stomach”.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Injury and condition (website vocabulary (1 of 2)). Hear → Say → See → Use. Transliteration is printed for Core students (cover it for Develop/Stretch).
FLEX: teach if time allows; otherwise these are on the website vocabulary tab for homework.
FLEX: injuries and states. مَرِيضٌ / مَرِيضَةٌ and مُصَابٌ / مُصَابَةٌ agree with the SPEAKER (unlike F5-L04, where the adjective agreed with the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Injury and condition (website vocabulary (2 of 2)). Hear → Say → See → Use. Transliteration is printed for Core students (cover it for Develop/Stretch).
FLEX: teach if time allows; otherwise these are on the website vocabulary tab for homework.
FLEX: injuries and states. مَرِيضٌ / مَرِيضَةٌ and مُصَابٌ / مُصَابَةٌ agree with the SPEAKER (unlike F5-L04, where the adjective agreed with the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the problem (website vocabulary (1 of 2)). Hear → Say → See → Use. Transliteration is printed for Core students (cover it for Develop/Stretch).
مُنْذُ + time: مُنْذُ أَمْسِ (since yesterday), مُنْذُ يَوْمَيْنِ (for two days — the dual from F5-L07!), مُنْذُ أُسْبُوعٍ. Question: مُنْذُ مَتَى؟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the problem (website vocabulary (2 of 2)). Hear → Say → See → Use. Transliteration is printed for Core students (cover it for Develop/Stretch).
مُنْذُ + time: مُنْذُ أَمْسِ (since yesterday), مُنْذُ يَوْمَيْنِ (for two days — the dual from F5-L07!), مُنْذُ أُسْبُوعٍ. Question: مُنْذُ مَتَى؟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“Locate pain” (عِنْدِي أَلَمٌ فِي + body part, often with -ī “my”), “Name an illness directly” (عِنْدِي + symptom) and “Add duration” (مُنْذُ + period).
Website common error: عِنْدِي أَلَمٌ عَلَى المَعِدَةِ ✗ → فِي المَعِدَةِ ✓
Reporting (listening): عِنْدَهُ صُدَاعٌ (he has) · عِنْدَهَا أَلَمٌ (she has) — the F4/F5 -hu / -hā endings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teaching note: “Choose one clear structure and complete it accurately. عِنْدِي صُدَاعٌ is a simple possession pattern; أَشْعُرُ بِصُدَاعٍ uses a preposition; يُؤْلِمُنِي رَأْسِي makes the body part the thing that hurts.”
Website rule “Agree with the speaker”: أَنَا مَرِيضٌ / مَرِيضَةٌ اليَوْمَ · أَنَا مُصَابٌ / مُصَابَةٌ بِالزُّكَامِ.
After بِـ the noun ends in -in: بِصُدَاعٍ، بِأَلَمٍ (say it; don’t mark it down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fixed health frame عِنْدِي أَلَمٌ فِي plus a body part, followed by simple sentences that name an illness and agree with the speaker.”
• Locate pain: Use the complete chunk عِنْدِي أَلَمٌ فِي and then name the affected body part, often with a possessive ending.
• Name an illness directly: Common illnesses and symptoms can follow عِنْدِي directly.
• Agree with the speaker: The adjective changes according to whether the speaker is male or female.
• Add duration: Use مُنْذُ to say how long the problem has continued.
Website common error: Use فِي to locate pain: عِنْدِي أَلَمٌ فِي المَعِدَةِ, not عِنْدِي أَلَمٌ عَلَى المَعِدَةِ.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(four patient messages), with a think-aloud. Students copy two and change the symptom, place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 Problems and How You Feel”)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عِنْدِي + symptom. Other website items: عِنْدِي سُعَالٌ · تُؤْلِمُنِي مَعِدَتِي · يُؤْلِمُنِي سِنِّي — the “it hurts 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 Problems and How You Feel”)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عِنْدِي + symptom. Other website items: عِنْدِي سُعَالٌ · تُؤْلِمُنِي مَعِدَتِي · يُؤْلِمُنِي سِنِّي — the “it hurts 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what it describes.
Items like أَشْعُرُ بِالدُّوَارِ are “feelings / states”; جُرْحٌ and كَسْرٌ are injuries. Accept reasoned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what it describes.
Items like أَشْعُرُ بِالدُّوَارِ are “feelings / states”; جُرْحٌ and كَسْرٌ are injuries. Accept reasoned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6.
Listen 1: just listen. Listen 2: note answers. Then chat the letters.
Support: after the second listening, show the read-along slide (Arabic + English, line by line) for Core students.
SCRIPT (read aloud):
المُتَّصِلُ الأَوَّلُ عِنْدَهُ صُدَاعٌ وَحُمَّى مُنْذُ أَمْسِ. المُتَّصِلَةُ الثَّانِيَةُ تُؤْلِمُهَا أَسْنَانُهَا مُنْذُ أُسْبُوعٍ. المُتَّصِلُ الثَّالِثُ سَقَطَ، وَعِنْدَهُ جُرْحٌ فِي رُكْبَتِهِ. المُتَّصِلَةُ الرَّابِعَةُ أَكَلَتْ طَعَامًا وَأَصْبَحَ عِنْدَهَا أَلَمٌ فِي المَعِدَةِ وَغَثَيَانٌ. المُتَّصِلُ الخَامِسُ سَقَطَ مِنَ الدَّرَجِ وَكَسَرَ ذِرَاعَهُ. وَالمُتَّصِلَةُ السَّادِسَةُ تَشْعُرُ بِالمَرَضِ وَتَتَقَيَّأُ.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مُنْذُ مَتَى؟ (For how long?)
ب: مُنْذُ أَمْسِ. (Since yesterday.)
Website “Health check-in” — all four prompts are the website’s. Pairs use invented problems (role cards). Website model: مَا المُشْكِلَةُ؟ — عِنْدِي صُدَاعٌ وَأَشْعُرُ بِالتَّعَبِ. — مُنْذُ مَتَى؟ — مُنْذُ أَمْسِ.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Match ten symptoms to pictures and complete عِنْدِي sentence frames. · Develop — Describe four health problems with location and duration, then answer follow-up questions. · Stretch — Write a short clinic triage note distinguishing symptom, duration, cause and impact.
Website writing task (Stretch): Write four short patient messages. Each message should name a different problem, body location where relevant, and duration or cause.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عِنْدِي صُدَاعٌ · أَشْعُرُ بِأَلَمٍ · فِي رُكْبَتِي · مُنْذُ أَمْسِ. Message 4 is written by a girl: مُصَابَةٌ.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(F5-L09 · At the Doctor and Pharmacy) will spend class time USING this language, so students prepare it tonight — short, simple, easy to access (school guidance: “Simple, Short, Interesting, Relevant, Easy to access”). The five words come from the website F5-L09 lesson (at the doctor and pharmacy).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Health Problems and How You Feel</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المَشَاكِلُ الصِّحِّيَّةُ وَالشُّعُورُ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how you feel, name common symptoms and injuries, locate pain with </a:t>
            </a:r>
            <a:pPr algn="l" indent="0" marL="0">
              <a:buNone/>
            </a:pPr>
            <a:r>
              <a:rPr lang="ar-SA" altLang="en-US" sz="1800" dirty="0">
                <a:solidFill>
                  <a:srgbClr val="C6D2E6"/>
                </a:solidFill>
                <a:latin typeface="Amiri" pitchFamily="34" charset="0"/>
                <a:ea typeface="Amiri" pitchFamily="34" charset="-122"/>
                <a:cs typeface="Amiri" pitchFamily="34" charset="-120"/>
              </a:rPr>
              <a:t>عِنْدِي أَلَمٌ فِي</a:t>
            </a:r>
            <a:pPr algn="l" indent="0" marL="0">
              <a:buNone/>
            </a:pPr>
            <a:r>
              <a:rPr lang="en-US" sz="1400" dirty="0">
                <a:solidFill>
                  <a:srgbClr val="C6D2E6"/>
                </a:solidFill>
                <a:latin typeface="Calibri" pitchFamily="34" charset="0"/>
                <a:ea typeface="Calibri" pitchFamily="34" charset="-122"/>
                <a:cs typeface="Calibri" pitchFamily="34" charset="-120"/>
              </a:rPr>
              <a:t> … and say how long with </a:t>
            </a:r>
            <a:pPr algn="l" indent="0" marL="0">
              <a:buNone/>
            </a:pPr>
            <a:r>
              <a:rPr lang="ar-SA" altLang="en-US" sz="1800" dirty="0">
                <a:solidFill>
                  <a:srgbClr val="C6D2E6"/>
                </a:solidFill>
                <a:latin typeface="Amiri" pitchFamily="34" charset="0"/>
                <a:ea typeface="Amiri" pitchFamily="34" charset="-122"/>
                <a:cs typeface="Amiri" pitchFamily="34" charset="-120"/>
              </a:rPr>
              <a:t>مُنْذُ</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F5-L08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Symptoms and the describing phrases, then I have pain in my … since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symptom / injury / feeling, fix the mistakes and listen to six callers.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صُدَاعٌ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cough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headache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مُتْعَبٌ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tired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ill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happy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يَدِي.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dual 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آذَانٌ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أُذُنَانِ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ظَهْرٌ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بَطْنٌ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صُدَاعٌ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cough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headache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مُتْعَبٌ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tired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ill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happy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يَدِي.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يَدُكَ.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يَدِي.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F5-L07: hand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dual form?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آذَانٌ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أُذُنَانِ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F5-L07: -āni = two.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“back”?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ظَهْرٌ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صَدْرٌ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بَطْنٌ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F5-L07 body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Health sentence = what + where + since when.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a:t>
            </a:r>
            <a:pPr rtl="1" algn="ctr" indent="0" marL="0">
              <a:buNone/>
            </a:pPr>
            <a:r>
              <a:rPr lang="ar-SA" altLang="en-US" sz="2400" b="1" dirty="0">
                <a:solidFill>
                  <a:srgbClr val="D6336C"/>
                </a:solidFill>
                <a:latin typeface="Amiri" pitchFamily="34" charset="0"/>
                <a:ea typeface="Amiri" pitchFamily="34" charset="-122"/>
                <a:cs typeface="Amiri" pitchFamily="34" charset="-120"/>
              </a:rPr>
              <a:t>أَلَمٌ</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رَأْسِي </a:t>
            </a:r>
            <a:pPr rtl="1" algn="ctr" indent="0" marL="0">
              <a:buNone/>
            </a:pPr>
            <a:r>
              <a:rPr lang="ar-SA" altLang="en-US" sz="2400" b="1" dirty="0">
                <a:solidFill>
                  <a:srgbClr val="7B3FA0"/>
                </a:solidFill>
                <a:latin typeface="Amiri" pitchFamily="34" charset="0"/>
                <a:ea typeface="Amiri" pitchFamily="34" charset="-122"/>
                <a:cs typeface="Amiri" pitchFamily="34" charset="-120"/>
              </a:rPr>
              <a:t>مُنْذُ</a:t>
            </a:r>
            <a:pPr rtl="1" algn="ctr" indent="0" marL="0">
              <a:buNone/>
            </a:pPr>
            <a:r>
              <a:rPr lang="ar-SA" altLang="en-US" sz="2400" b="1" dirty="0">
                <a:solidFill>
                  <a:srgbClr val="1B3B6F"/>
                </a:solidFill>
                <a:latin typeface="Amiri" pitchFamily="34" charset="0"/>
                <a:ea typeface="Amiri" pitchFamily="34" charset="-122"/>
                <a:cs typeface="Amiri" pitchFamily="34" charset="-120"/>
              </a:rPr>
              <a:t> أَمْسِ.</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common illnesses, injuries and symptoms.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عِنْدِي</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أَشْعُرُ بِـ</a:t>
            </a:r>
            <a:pPr algn="l" indent="0" marL="0">
              <a:buNone/>
            </a:pPr>
            <a:r>
              <a:rPr lang="en-US" sz="1300" dirty="0">
                <a:solidFill>
                  <a:srgbClr val="1F2A37"/>
                </a:solidFill>
                <a:latin typeface="Calibri" pitchFamily="34" charset="0"/>
                <a:ea typeface="Calibri" pitchFamily="34" charset="-122"/>
                <a:cs typeface="Calibri" pitchFamily="34" charset="-120"/>
              </a:rPr>
              <a:t> to describe a health problem.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Locate pain using </a:t>
            </a:r>
            <a:pPr algn="l" indent="0" marL="0">
              <a:buNone/>
            </a:pPr>
            <a:r>
              <a:rPr lang="ar-SA" altLang="en-US" sz="1700" dirty="0">
                <a:solidFill>
                  <a:srgbClr val="1F2A37"/>
                </a:solidFill>
                <a:latin typeface="Amiri" pitchFamily="34" charset="0"/>
                <a:ea typeface="Amiri" pitchFamily="34" charset="-122"/>
                <a:cs typeface="Amiri" pitchFamily="34" charset="-120"/>
              </a:rPr>
              <a:t>عِنْدِي أَلَمٌ فِي</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مُنْذُ</a:t>
            </a:r>
            <a:pPr algn="l" indent="0" marL="0">
              <a:buNone/>
            </a:pPr>
            <a:r>
              <a:rPr lang="en-US" sz="1300" dirty="0">
                <a:solidFill>
                  <a:srgbClr val="1F2A37"/>
                </a:solidFill>
                <a:latin typeface="Calibri" pitchFamily="34" charset="0"/>
                <a:ea typeface="Calibri" pitchFamily="34" charset="-122"/>
                <a:cs typeface="Calibri" pitchFamily="34" charset="-120"/>
              </a:rPr>
              <a:t> with a simple duration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I feel.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ten symptoms with </a:t>
            </a:r>
            <a:pPr algn="l" indent="0" marL="0">
              <a:buNone/>
            </a:pPr>
            <a:r>
              <a:rPr lang="ar-SA" altLang="en-US" sz="1700" b="1" dirty="0">
                <a:solidFill>
                  <a:srgbClr val="2E8B57"/>
                </a:solidFill>
                <a:latin typeface="Amiri" pitchFamily="34" charset="0"/>
                <a:ea typeface="Amiri" pitchFamily="34" charset="-122"/>
                <a:cs typeface="Amiri" pitchFamily="34" charset="-120"/>
              </a:rPr>
              <a:t>عِنْدِي</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where it hurts: </a:t>
            </a:r>
            <a:pPr algn="l" indent="0" marL="0">
              <a:buNone/>
            </a:pPr>
            <a:r>
              <a:rPr lang="ar-SA" altLang="en-US" sz="1700" b="1" dirty="0">
                <a:solidFill>
                  <a:srgbClr val="C9780A"/>
                </a:solidFill>
                <a:latin typeface="Amiri" pitchFamily="34" charset="0"/>
                <a:ea typeface="Amiri" pitchFamily="34" charset="-122"/>
                <a:cs typeface="Amiri" pitchFamily="34" charset="-120"/>
              </a:rPr>
              <a:t>عِنْدِي أَلَمٌ فِي</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a:t>
            </a:r>
            <a:pPr algn="l" indent="0" marL="0">
              <a:buNone/>
            </a:pPr>
            <a:r>
              <a:rPr lang="ar-SA" altLang="en-US" sz="1700" b="1" dirty="0">
                <a:solidFill>
                  <a:srgbClr val="C9780A"/>
                </a:solidFill>
                <a:latin typeface="Amiri" pitchFamily="34" charset="0"/>
                <a:ea typeface="Amiri" pitchFamily="34" charset="-122"/>
                <a:cs typeface="Amiri" pitchFamily="34" charset="-120"/>
              </a:rPr>
              <a:t>مُنْذُ مَتَى؟</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three different health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triage note with cause and impact.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35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Common symptoms · 10</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Injury and condition · 8</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the problem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Illness and accident verbs · 9</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مَرِيضٌ</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‎مریض‎ </a:t>
            </a:r>
            <a:pPr indent="0" marL="0">
              <a:buNone/>
            </a:pPr>
            <a:r>
              <a:rPr lang="en-US" sz="950" b="1" dirty="0">
                <a:solidFill>
                  <a:srgbClr val="2E8B57"/>
                </a:solidFill>
                <a:latin typeface="Calibri" pitchFamily="34" charset="0"/>
                <a:ea typeface="Calibri" pitchFamily="34" charset="-122"/>
                <a:cs typeface="Calibri" pitchFamily="34" charset="-120"/>
              </a:rPr>
              <a:t> marīz · patient / ill</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مَرَضٌ</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‎مرض‎ </a:t>
            </a:r>
            <a:pPr indent="0" marL="0">
              <a:buNone/>
            </a:pPr>
            <a:r>
              <a:rPr lang="en-US" sz="950" b="1" dirty="0">
                <a:solidFill>
                  <a:srgbClr val="2E8B57"/>
                </a:solidFill>
                <a:latin typeface="Calibri" pitchFamily="34" charset="0"/>
                <a:ea typeface="Calibri" pitchFamily="34" charset="-122"/>
                <a:cs typeface="Calibri" pitchFamily="34" charset="-120"/>
              </a:rPr>
              <a:t> marz · illness</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حَسَاسِيَّةٌ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‎حساس‎ </a:t>
            </a:r>
            <a:pPr indent="0" marL="0">
              <a:buNone/>
            </a:pPr>
            <a:r>
              <a:rPr lang="en-US" sz="950" b="1" dirty="0">
                <a:solidFill>
                  <a:srgbClr val="2E8B57"/>
                </a:solidFill>
                <a:latin typeface="Calibri" pitchFamily="34" charset="0"/>
                <a:ea typeface="Calibri" pitchFamily="34" charset="-122"/>
                <a:cs typeface="Calibri" pitchFamily="34" charset="-120"/>
              </a:rPr>
              <a:t> hassās · sensitive → allergy</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زُكَامٌ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‎زکام‎ </a:t>
            </a:r>
            <a:pPr indent="0" marL="0">
              <a:buNone/>
            </a:pPr>
            <a:r>
              <a:rPr lang="en-US" sz="950" b="1" dirty="0">
                <a:solidFill>
                  <a:srgbClr val="2E8B57"/>
                </a:solidFill>
                <a:latin typeface="Calibri" pitchFamily="34" charset="0"/>
                <a:ea typeface="Calibri" pitchFamily="34" charset="-122"/>
                <a:cs typeface="Calibri" pitchFamily="34" charset="-120"/>
              </a:rPr>
              <a:t> zukām · a cold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إِصَابَةٌ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‎مصیبت‎ </a:t>
            </a:r>
            <a:pPr indent="0" marL="0">
              <a:buNone/>
            </a:pPr>
            <a:r>
              <a:rPr lang="en-US" sz="950" b="1" dirty="0">
                <a:solidFill>
                  <a:srgbClr val="2E8B57"/>
                </a:solidFill>
                <a:latin typeface="Calibri" pitchFamily="34" charset="0"/>
                <a:ea typeface="Calibri" pitchFamily="34" charset="-122"/>
                <a:cs typeface="Calibri" pitchFamily="34" charset="-120"/>
              </a:rPr>
              <a:t> musībat · Urdu: trouble · Arabic: an injury</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symptoms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صُدَاعٌ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headache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ṣu-dā-ʿun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زُكَامٌ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zu-kā-mun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حُمَّى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ḥum-mā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سُعَالٌ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su-ʿā-lun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أَلَمُ الحَلْقِ</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sore throat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a-la-mu al-ḥal-qi</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symptoms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أَلَمُ المَعِدَةِ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stomach ache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a-la-mu al-ma-ʿi-da-ti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أَلَمُ الأَسْنَانِ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toothache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a-la-mu al-as-nā-ni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حَسَاسِيَّةٌ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allergy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ḥa-sā-siy-ya-tun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غَثَيَانٌ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nausea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gha-tha-yā-nun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dizziness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du-wā-run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Injury and condition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جُرْحٌ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wound / cut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jur-ḥun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إِصَابَةٌ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injury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i-ṣā-ba-tun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كَسْرٌ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fracture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kas-run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ذِرَاعٌ مَكْسُورَةٌ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broken arm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dhi-rā-ʿun mak-sū-ra-tun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Injury and condition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سَاقٌ مَكْسُورَةٌ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broken leg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sā-qun mak-sū-ra-tun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مَرِيضٌ / مَرِيضَةٌ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ill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ma-rī-ḍun / ma-rī-ḍa-tun</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مَرِيضٌ</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مَرِيضَةٌ</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مَرْضَى</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1" name="Shape 3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مُتْعَبٌ / مُتْعَبَةٌ</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mut-ʿa-bun / mut-ʿa-ba-tun</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مُتْعَبٌ</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مُتْعَبَةٌ</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مُتْعَبُونَ</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7" name="Shape 5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مُصَابٌ / مُصَابَةٌ بِـ</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suffering from / affected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mu-ṣā-bun / mu-ṣā-ba-tun bi</a:t>
            </a:r>
            <a:endParaRPr lang="en-US" sz="1350" dirty="0"/>
          </a:p>
        </p:txBody>
      </p:sp>
      <p:sp>
        <p:nvSpPr>
          <p:cNvPr id="61" name="Shape 5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3" name="Text 6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مُصَابٌ</a:t>
            </a:r>
            <a:endParaRPr lang="ar-SA" sz="1500" dirty="0"/>
          </a:p>
        </p:txBody>
      </p:sp>
      <p:sp>
        <p:nvSpPr>
          <p:cNvPr id="64" name="Shape 6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6" name="Text 6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مُصَابَةٌ</a:t>
            </a:r>
            <a:endParaRPr lang="ar-SA" sz="1500" dirty="0"/>
          </a:p>
        </p:txBody>
      </p:sp>
      <p:sp>
        <p:nvSpPr>
          <p:cNvPr id="67" name="Shape 6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9" name="Text 6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مُصَابُونَ</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the problem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عِنْدِي ...</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ʿin-dī ...</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عِنْدَهُ</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عِنْدَهَا</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you</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عِنْدَكَ / عِنْدَكِ</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أَشْعُرُ بِـ ...</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feel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ash-ʿu-ru bi ...</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يَشْعُرُ</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تَشْعُرُ</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تَشْعُرِينَ</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عِنْدِي أَلَمٌ فِي ...</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pain in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ʿin-dī a-la-mun fī ...</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يُؤْلِمُنِي ...</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 hurts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yuʾ-li-mu-nī ...</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the problem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مُنْذُ أَمْسِ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since yesterday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mun-dhu am-si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مُنْذُ يَوْمَيْنِ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for/since two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mun-dhu yaw-may-ni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مُنْذُ أُسْبُوعٍ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for/since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mun-dhu us-bū-ʿin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مُنْذُ مَتَى؟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since when / for how long?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mun-dhu ma-tā?</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1 · WHAT, WHERE, SINCE WHEN (WEBSITE RULES 1, 2 AND 4)</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have pain in my … since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عِنْدِي أَلَمٌ فِي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29077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a headache and a fever.</a:t>
            </a:r>
            <a:endParaRPr lang="en-US" sz="1100" dirty="0"/>
          </a:p>
        </p:txBody>
      </p:sp>
      <p:sp>
        <p:nvSpPr>
          <p:cNvPr id="21" name="Text 18"/>
          <p:cNvSpPr txBox="1"/>
          <p:nvPr/>
        </p:nvSpPr>
        <p:spPr>
          <a:xfrm>
            <a:off x="2926080" y="2267712"/>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a:t>
            </a:r>
            <a:pPr rtl="1" algn="ctr" indent="0" marL="0">
              <a:buNone/>
            </a:pPr>
            <a:r>
              <a:rPr lang="ar-SA" altLang="en-US" sz="2400" b="1" dirty="0">
                <a:solidFill>
                  <a:srgbClr val="D6336C"/>
                </a:solidFill>
                <a:latin typeface="Amiri" pitchFamily="34" charset="0"/>
                <a:ea typeface="Amiri" pitchFamily="34" charset="-122"/>
                <a:cs typeface="Amiri" pitchFamily="34" charset="-120"/>
              </a:rPr>
              <a:t>صُدَاعٌ</a:t>
            </a:r>
            <a:pPr rtl="1" algn="ctr" indent="0" marL="0">
              <a:buNone/>
            </a:pPr>
            <a:r>
              <a:rPr lang="ar-SA" altLang="en-US" sz="2400" b="1" dirty="0">
                <a:solidFill>
                  <a:srgbClr val="1B3B6F"/>
                </a:solidFill>
                <a:latin typeface="Amiri" pitchFamily="34" charset="0"/>
                <a:ea typeface="Amiri" pitchFamily="34" charset="-122"/>
                <a:cs typeface="Amiri" pitchFamily="34" charset="-120"/>
              </a:rPr>
              <a:t> وَ</a:t>
            </a:r>
            <a:pPr rtl="1" algn="ctr" indent="0" marL="0">
              <a:buNone/>
            </a:pPr>
            <a:r>
              <a:rPr lang="ar-SA" altLang="en-US" sz="2400" b="1" dirty="0">
                <a:solidFill>
                  <a:srgbClr val="D6336C"/>
                </a:solidFill>
                <a:latin typeface="Amiri" pitchFamily="34" charset="0"/>
                <a:ea typeface="Amiri" pitchFamily="34" charset="-122"/>
                <a:cs typeface="Amiri" pitchFamily="34" charset="-120"/>
              </a:rPr>
              <a:t>حُمَّى</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 symptom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pain in my head.</a:t>
            </a:r>
            <a:endParaRPr lang="en-US" sz="1100" dirty="0"/>
          </a:p>
        </p:txBody>
      </p:sp>
      <p:sp>
        <p:nvSpPr>
          <p:cNvPr id="27" name="Text 24"/>
          <p:cNvSpPr txBox="1"/>
          <p:nvPr/>
        </p:nvSpPr>
        <p:spPr>
          <a:xfrm>
            <a:off x="2926080" y="2881884"/>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أَلَمٌ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رَأْسِي.</a:t>
            </a:r>
            <a:endParaRPr lang="ar-SA" sz="24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pain + where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pain in my back.</a:t>
            </a:r>
            <a:endParaRPr lang="en-US" sz="1100" dirty="0"/>
          </a:p>
        </p:txBody>
      </p:sp>
      <p:sp>
        <p:nvSpPr>
          <p:cNvPr id="33" name="Text 30"/>
          <p:cNvSpPr txBox="1"/>
          <p:nvPr/>
        </p:nvSpPr>
        <p:spPr>
          <a:xfrm>
            <a:off x="2926080" y="3496056"/>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أَلَمٌ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ظَهْرِي.</a:t>
            </a:r>
            <a:endParaRPr lang="ar-SA" sz="24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pain + where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had a cold since yesterday.</a:t>
            </a:r>
            <a:endParaRPr lang="en-US" sz="1100" dirty="0"/>
          </a:p>
        </p:txBody>
      </p:sp>
      <p:sp>
        <p:nvSpPr>
          <p:cNvPr id="39" name="Text 36"/>
          <p:cNvSpPr txBox="1"/>
          <p:nvPr/>
        </p:nvSpPr>
        <p:spPr>
          <a:xfrm>
            <a:off x="2926080" y="4110228"/>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زُكَامٌ </a:t>
            </a:r>
            <a:pPr rtl="1" algn="ctr" indent="0" marL="0">
              <a:buNone/>
            </a:pPr>
            <a:r>
              <a:rPr lang="ar-SA" altLang="en-US" sz="2400" b="1" dirty="0">
                <a:solidFill>
                  <a:srgbClr val="7B3FA0"/>
                </a:solidFill>
                <a:latin typeface="Amiri" pitchFamily="34" charset="0"/>
                <a:ea typeface="Amiri" pitchFamily="34" charset="-122"/>
                <a:cs typeface="Amiri" pitchFamily="34" charset="-120"/>
              </a:rPr>
              <a:t>مُنْذُ</a:t>
            </a:r>
            <a:pPr rtl="1" algn="ctr" indent="0" marL="0">
              <a:buNone/>
            </a:pPr>
            <a:r>
              <a:rPr lang="ar-SA" altLang="en-US" sz="2400" b="1" dirty="0">
                <a:solidFill>
                  <a:srgbClr val="1B3B6F"/>
                </a:solidFill>
                <a:latin typeface="Amiri" pitchFamily="34" charset="0"/>
                <a:ea typeface="Amiri" pitchFamily="34" charset="-122"/>
                <a:cs typeface="Amiri" pitchFamily="34" charset="-120"/>
              </a:rPr>
              <a:t> أَمْسِ.</a:t>
            </a:r>
            <a:endParaRPr lang="ar-SA" sz="2400" dirty="0"/>
          </a:p>
        </p:txBody>
      </p:sp>
      <p:sp>
        <p:nvSpPr>
          <p:cNvPr id="40" name="Text 37"/>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since when</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had a cough for two days.</a:t>
            </a:r>
            <a:endParaRPr lang="en-US" sz="1100" dirty="0"/>
          </a:p>
        </p:txBody>
      </p:sp>
      <p:sp>
        <p:nvSpPr>
          <p:cNvPr id="43" name="Text 40"/>
          <p:cNvSpPr txBox="1"/>
          <p:nvPr/>
        </p:nvSpPr>
        <p:spPr>
          <a:xfrm>
            <a:off x="2926080" y="4724400"/>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سُعَالٌ </a:t>
            </a:r>
            <a:pPr rtl="1" algn="ctr" indent="0" marL="0">
              <a:buNone/>
            </a:pPr>
            <a:r>
              <a:rPr lang="ar-SA" altLang="en-US" sz="2400" b="1" dirty="0">
                <a:solidFill>
                  <a:srgbClr val="7B3FA0"/>
                </a:solidFill>
                <a:latin typeface="Amiri" pitchFamily="34" charset="0"/>
                <a:ea typeface="Amiri" pitchFamily="34" charset="-122"/>
                <a:cs typeface="Amiri" pitchFamily="34" charset="-120"/>
              </a:rPr>
              <a:t>مُنْذُ</a:t>
            </a:r>
            <a:pPr rtl="1" algn="ctr" indent="0" marL="0">
              <a:buNone/>
            </a:pPr>
            <a:r>
              <a:rPr lang="ar-SA" altLang="en-US" sz="2400" b="1" dirty="0">
                <a:solidFill>
                  <a:srgbClr val="1B3B6F"/>
                </a:solidFill>
                <a:latin typeface="Amiri" pitchFamily="34" charset="0"/>
                <a:ea typeface="Amiri" pitchFamily="34" charset="-122"/>
                <a:cs typeface="Amiri" pitchFamily="34" charset="-120"/>
              </a:rPr>
              <a:t> يَوْمَيْنِ.</a:t>
            </a:r>
            <a:endParaRPr lang="ar-SA" sz="2400" dirty="0"/>
          </a:p>
        </p:txBody>
      </p:sp>
      <p:sp>
        <p:nvSpPr>
          <p:cNvPr id="44" name="Text 41"/>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for how long</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Since when? — For a week.</a:t>
            </a:r>
            <a:endParaRPr lang="en-US" sz="1100" dirty="0"/>
          </a:p>
        </p:txBody>
      </p:sp>
      <p:sp>
        <p:nvSpPr>
          <p:cNvPr id="47" name="Text 44"/>
          <p:cNvSpPr txBox="1"/>
          <p:nvPr/>
        </p:nvSpPr>
        <p:spPr>
          <a:xfrm>
            <a:off x="2926080" y="5338572"/>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مُنْذُ مَتَى</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7B3FA0"/>
                </a:solidFill>
                <a:latin typeface="Amiri" pitchFamily="34" charset="0"/>
                <a:ea typeface="Amiri" pitchFamily="34" charset="-122"/>
                <a:cs typeface="Amiri" pitchFamily="34" charset="-120"/>
              </a:rPr>
              <a:t>مُنْذُ</a:t>
            </a:r>
            <a:pPr rtl="1" algn="ctr" indent="0" marL="0">
              <a:buNone/>
            </a:pPr>
            <a:r>
              <a:rPr lang="ar-SA" altLang="en-US" sz="2400" b="1" dirty="0">
                <a:solidFill>
                  <a:srgbClr val="1B3B6F"/>
                </a:solidFill>
                <a:latin typeface="Amiri" pitchFamily="34" charset="0"/>
                <a:ea typeface="Amiri" pitchFamily="34" charset="-122"/>
                <a:cs typeface="Amiri" pitchFamily="34" charset="-120"/>
              </a:rPr>
              <a:t> أُسْبُوعٍ.</a:t>
            </a:r>
            <a:endParaRPr lang="ar-SA" sz="2400" dirty="0"/>
          </a:p>
        </p:txBody>
      </p:sp>
      <p:sp>
        <p:nvSpPr>
          <p:cNvPr id="48" name="Text 45"/>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question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Pain is located with fī (in), never ʿalā (on). Mundhu covers both “since” and “for”.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2 · THREE WAYS TO SAY IT · AGREEMENT (WEBSITE RULE 3)</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feel … it hurts … I am 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أَشْعُرُ بِـ · يُؤْلِمُنِي · مَرِيضٌ / مَرِيضَةٌ</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 FEEL + bi-</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أَشْعُرُ بِـ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أَشْعُرُ بِأَلَمٍ فِي المَعِدَةِ.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feel pain in my stomach.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Always bi- after ashʿuru.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IT HURTS ME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يُؤْلِمُنِي / تُؤْلِمُنِي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يُؤْلِمُنِي رَأْسِي، وَتُؤْلِمُنِي أَسْنَانِي.</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head hurts, and my teeth hurt.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body part is the subject.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SPEAKER m. / f.</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مَرِيضٌ · مَرِيضَةٌ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أَنَا مَرِيضٌ. · أَنَا مَرِيضَةٌ.</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ill (boy · girl).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Agrees with who is speaking.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ashʿuru needs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أَشْعُرُ بِصُدَاعٍ.</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أَشْعُرُ صُدَاعٌ.</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34" charset="0"/>
                <a:ea typeface="Amiri" pitchFamily="34" charset="-122"/>
                <a:cs typeface="Amiri" pitchFamily="34" charset="-120"/>
              </a:rPr>
              <a:t>عِنْدِي أَلَمٌ فِي... وَجُمَلُ المَرَضِ البَسِيطَةُ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Locate pain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عِنْدِي أَلَمٌ فِي + جُزْءِ الجِسْمِ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عِنْدِي أَلَمٌ فِي رَأْسِي.   ·   عِنْدِي أَلَمٌ فِي بَطْنِي.   ·   عِنْدِي أَلَمٌ فِي ظَهْرِي.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Name an illness directly</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عِنْدِي + مَرَضٌ / عَرَضٌ</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عِنْدِي صُدَاعٌ.   ·   عِنْدِي حُمَّى.   ·   عِنْدِي زُكَامٌ.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Agree with the speaker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أَنَا مَرِيضٌ / أَنَا مَرِيضَةٌ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مَرِيضٌ اليَوْمَ.   ·   أَنَا مَرِيضَةٌ اليَوْمَ.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Add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مُنْذُ +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مُنْذُ أَمْسِ.   ·   مُنْذُ يَوْمَيْنِ.   ·   مُنْذُ أُسْبُوعٍ.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headache.”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صُدَاعًا.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رَأْسِي صُدَاعٌ.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صُدَاعٌ.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أَشْعُرُ ___ التَّعَبِ.</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“My teeth hurt”?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يُؤْلِمُنِي رَأْسِي.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تُؤْلِمُنِي أَسْنَانِي.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أَنْفٌ.</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“for two days”?</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يَوْمَيْنِ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يَوْمَيْنِ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يَوْمَيْنِ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headache.”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أَشْرَبُ صُدَاعًا.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رَأْسِي صُدَاعٌ.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صُدَاعٌ.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عِنْدِي</a:t>
            </a:r>
            <a:pPr algn="l" indent="0" marL="0">
              <a:buNone/>
            </a:pPr>
            <a:r>
              <a:rPr lang="en-US" sz="1050" i="1" dirty="0">
                <a:solidFill>
                  <a:srgbClr val="8A6D1E"/>
                </a:solidFill>
                <a:latin typeface="Calibri" pitchFamily="34" charset="0"/>
                <a:ea typeface="Calibri" pitchFamily="34" charset="-122"/>
                <a:cs typeface="Calibri" pitchFamily="34" charset="-120"/>
              </a:rPr>
              <a:t> + symptom is the simplest pattern.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أَشْعُرُ ___ التَّعَبِ.</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structure is </a:t>
            </a:r>
            <a:pPr algn="l" indent="0" marL="0">
              <a:buNone/>
            </a:pPr>
            <a:r>
              <a:rPr lang="ar-SA" altLang="en-US" sz="1350" dirty="0">
                <a:solidFill>
                  <a:srgbClr val="8A6D1E"/>
                </a:solidFill>
                <a:latin typeface="Amiri" pitchFamily="34" charset="0"/>
                <a:ea typeface="Amiri" pitchFamily="34" charset="-122"/>
                <a:cs typeface="Amiri" pitchFamily="34" charset="-120"/>
              </a:rPr>
              <a:t>أَشْعُرُ 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“My teeth hurt”?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يُؤْلِمُنِي رَأْسِي.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تُؤْلِمُنِي أَسْنَانِي.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أَنْفٌ.</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names the teeth as the source of pain.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“for two days”?</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مُنْذُ يَوْمَيْنِ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يَوْمَيْنِ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يَوْمَيْنِ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مُنْذُ</a:t>
            </a:r>
            <a:pPr algn="l" indent="0" marL="0">
              <a:buNone/>
            </a:pPr>
            <a:r>
              <a:rPr lang="en-US" sz="1050" i="1" dirty="0">
                <a:solidFill>
                  <a:srgbClr val="8A6D1E"/>
                </a:solidFill>
                <a:latin typeface="Calibri" pitchFamily="34" charset="0"/>
                <a:ea typeface="Calibri" pitchFamily="34" charset="-122"/>
                <a:cs typeface="Calibri" pitchFamily="34" charset="-120"/>
              </a:rPr>
              <a:t> introduces duration from a starting point.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Watch me write four patient messages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What + since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عِنْدِي صُدَاعٌ وَحُمَّى </a:t>
            </a:r>
            <a:pPr rtl="1" algn="ctr" indent="0" marL="0">
              <a:buNone/>
            </a:pPr>
            <a:r>
              <a:rPr lang="ar-SA" altLang="en-US" sz="2100" b="1" dirty="0">
                <a:solidFill>
                  <a:srgbClr val="7B3FA0"/>
                </a:solidFill>
                <a:latin typeface="Amiri" pitchFamily="34" charset="0"/>
                <a:ea typeface="Amiri" pitchFamily="34" charset="-122"/>
                <a:cs typeface="Amiri" pitchFamily="34" charset="-120"/>
              </a:rPr>
              <a:t>مُنْذُ</a:t>
            </a:r>
            <a:pPr rtl="1" algn="ctr" indent="0" marL="0">
              <a:buNone/>
            </a:pPr>
            <a:r>
              <a:rPr lang="ar-SA" altLang="en-US" sz="2100" b="1" dirty="0">
                <a:solidFill>
                  <a:srgbClr val="1B3B6F"/>
                </a:solidFill>
                <a:latin typeface="Amiri" pitchFamily="34" charset="0"/>
                <a:ea typeface="Amiri" pitchFamily="34" charset="-122"/>
                <a:cs typeface="Amiri" pitchFamily="34" charset="-120"/>
              </a:rPr>
              <a:t> أَمْسِ.</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Symptoms + mundhu.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Feel + where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أَشْعُرُ </a:t>
            </a:r>
            <a:pPr rtl="1" algn="ctr" indent="0" marL="0">
              <a:buNone/>
            </a:pPr>
            <a:r>
              <a:rPr lang="ar-SA" altLang="en-US" sz="2400" b="1" dirty="0">
                <a:solidFill>
                  <a:srgbClr val="1D5FBF"/>
                </a:solidFill>
                <a:latin typeface="Amiri" pitchFamily="34" charset="0"/>
                <a:ea typeface="Amiri" pitchFamily="34" charset="-122"/>
                <a:cs typeface="Amiri" pitchFamily="34" charset="-120"/>
              </a:rPr>
              <a:t>بِـ</a:t>
            </a:r>
            <a:pPr rtl="1" algn="ctr" indent="0" marL="0">
              <a:buNone/>
            </a:pPr>
            <a:r>
              <a:rPr lang="ar-SA" altLang="en-US" sz="2400" b="1" dirty="0">
                <a:solidFill>
                  <a:srgbClr val="1B3B6F"/>
                </a:solidFill>
                <a:latin typeface="Amiri" pitchFamily="34" charset="0"/>
                <a:ea typeface="Amiri" pitchFamily="34" charset="-122"/>
                <a:cs typeface="Amiri" pitchFamily="34" charset="-120"/>
              </a:rPr>
              <a:t>أَلَمٍ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المَعِدَةِ.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 after ashʿuru; fī for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Cause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سَقَطْتُ، وَعِنْدِي جُرْحٌ </a:t>
            </a:r>
            <a:pPr rtl="1" algn="ctr" indent="0" marL="0">
              <a:lnSpc>
                <a:spcPct val="120000"/>
              </a:lnSpc>
              <a:buNone/>
            </a:pPr>
            <a:r>
              <a:rPr lang="ar-SA" altLang="en-US" sz="1900" b="1" dirty="0">
                <a:solidFill>
                  <a:srgbClr val="0E7C86"/>
                </a:solidFill>
                <a:latin typeface="Amiri" pitchFamily="34" charset="0"/>
                <a:ea typeface="Amiri" pitchFamily="34" charset="-122"/>
                <a:cs typeface="Amiri" pitchFamily="34" charset="-120"/>
              </a:rPr>
              <a:t>فِي</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رُكْبَتِي.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fell → a cut in my knee.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Agreement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أَنَا مُصَابَ</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بِالزُّكَامِ وَأَشْعُرُ بِالتَّعَبِ.</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girl writes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SINCE</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FEEL BI-</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WHERE</a:t>
            </a:r>
            <a:endParaRPr lang="en-US" sz="800" dirty="0"/>
          </a:p>
        </p:txBody>
      </p:sp>
      <p:sp>
        <p:nvSpPr>
          <p:cNvPr id="51" name="Shape 47"/>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١. عِنْدِي صُدَاعٌ وَحُمَّى </a:t>
            </a:r>
            <a:pPr rtl="1" algn="r" indent="0" marL="0">
              <a:buNone/>
            </a:pPr>
            <a:r>
              <a:rPr lang="ar-SA" altLang="en-US" sz="1850" b="1" dirty="0">
                <a:solidFill>
                  <a:srgbClr val="7B3FA0"/>
                </a:solidFill>
                <a:latin typeface="Amiri" pitchFamily="34" charset="0"/>
                <a:ea typeface="Amiri" pitchFamily="34" charset="-122"/>
                <a:cs typeface="Amiri" pitchFamily="34" charset="-120"/>
              </a:rPr>
              <a:t>مُنْذُ</a:t>
            </a:r>
            <a:pPr rtl="1" algn="r" indent="0" marL="0">
              <a:buNone/>
            </a:pPr>
            <a:r>
              <a:rPr lang="ar-SA" altLang="en-US" sz="1850" b="1" dirty="0">
                <a:solidFill>
                  <a:srgbClr val="1B3B6F"/>
                </a:solidFill>
                <a:latin typeface="Amiri" pitchFamily="34" charset="0"/>
                <a:ea typeface="Amiri" pitchFamily="34" charset="-122"/>
                <a:cs typeface="Amiri" pitchFamily="34" charset="-120"/>
              </a:rPr>
              <a:t> أَمْسِ. ٢. أَشْعُرُ </a:t>
            </a:r>
            <a:pPr rtl="1" algn="r" indent="0" marL="0">
              <a:buNone/>
            </a:pPr>
            <a:r>
              <a:rPr lang="ar-SA" altLang="en-US" sz="1850" b="1" dirty="0">
                <a:solidFill>
                  <a:srgbClr val="1D5FBF"/>
                </a:solidFill>
                <a:latin typeface="Amiri" pitchFamily="34" charset="0"/>
                <a:ea typeface="Amiri" pitchFamily="34" charset="-122"/>
                <a:cs typeface="Amiri" pitchFamily="34" charset="-120"/>
              </a:rPr>
              <a:t>بِأَلَمٍ</a:t>
            </a:r>
            <a:pPr rtl="1" algn="r" indent="0" marL="0">
              <a:buNone/>
            </a:pPr>
            <a:r>
              <a:rPr lang="ar-SA" altLang="en-US" sz="1850" b="1" dirty="0">
                <a:solidFill>
                  <a:srgbClr val="1B3B6F"/>
                </a:solidFill>
                <a:latin typeface="Amiri" pitchFamily="34" charset="0"/>
                <a:ea typeface="Amiri" pitchFamily="34" charset="-122"/>
                <a:cs typeface="Amiri" pitchFamily="34" charset="-120"/>
              </a:rPr>
              <a:t> </a:t>
            </a:r>
            <a:pPr rtl="1" algn="r" indent="0" marL="0">
              <a:buNone/>
            </a:pPr>
            <a:r>
              <a:rPr lang="ar-SA" altLang="en-US" sz="1850" b="1" dirty="0">
                <a:solidFill>
                  <a:srgbClr val="0E7C86"/>
                </a:solidFill>
                <a:latin typeface="Amiri" pitchFamily="34" charset="0"/>
                <a:ea typeface="Amiri" pitchFamily="34" charset="-122"/>
                <a:cs typeface="Amiri" pitchFamily="34" charset="-120"/>
              </a:rPr>
              <a:t>فِي</a:t>
            </a:r>
            <a:pPr rtl="1" algn="r" indent="0" marL="0">
              <a:buNone/>
            </a:pPr>
            <a:r>
              <a:rPr lang="ar-SA" altLang="en-US" sz="1850" b="1" dirty="0">
                <a:solidFill>
                  <a:srgbClr val="1B3B6F"/>
                </a:solidFill>
                <a:latin typeface="Amiri" pitchFamily="34" charset="0"/>
                <a:ea typeface="Amiri" pitchFamily="34" charset="-122"/>
                <a:cs typeface="Amiri" pitchFamily="34" charset="-120"/>
              </a:rPr>
              <a:t> المَعِدَةِ. ٣. سَقَطْتُ وَعِنْدِي جُرْحٌ </a:t>
            </a:r>
            <a:pPr rtl="1" algn="r" indent="0" marL="0">
              <a:buNone/>
            </a:pPr>
            <a:r>
              <a:rPr lang="ar-SA" altLang="en-US" sz="1850" b="1" dirty="0">
                <a:solidFill>
                  <a:srgbClr val="0E7C86"/>
                </a:solidFill>
                <a:latin typeface="Amiri" pitchFamily="34" charset="0"/>
                <a:ea typeface="Amiri" pitchFamily="34" charset="-122"/>
                <a:cs typeface="Amiri" pitchFamily="34" charset="-120"/>
              </a:rPr>
              <a:t>فِي</a:t>
            </a:r>
            <a:pPr rtl="1" algn="r" indent="0" marL="0">
              <a:buNone/>
            </a:pPr>
            <a:r>
              <a:rPr lang="ar-SA" altLang="en-US" sz="1850" b="1" dirty="0">
                <a:solidFill>
                  <a:srgbClr val="1B3B6F"/>
                </a:solidFill>
                <a:latin typeface="Amiri" pitchFamily="34" charset="0"/>
                <a:ea typeface="Amiri" pitchFamily="34" charset="-122"/>
                <a:cs typeface="Amiri" pitchFamily="34" charset="-120"/>
              </a:rPr>
              <a:t> رُكْبَتِي. ٤. أَنَا مُصَابَ</a:t>
            </a:r>
            <a:pPr rtl="1" algn="r" indent="0" marL="0">
              <a:buNone/>
            </a:pPr>
            <a:r>
              <a:rPr lang="ar-SA" altLang="en-US" sz="1850" b="1" dirty="0">
                <a:solidFill>
                  <a:srgbClr val="D6336C"/>
                </a:solidFill>
                <a:latin typeface="Amiri" pitchFamily="34" charset="0"/>
                <a:ea typeface="Amiri" pitchFamily="34" charset="-122"/>
                <a:cs typeface="Amiri" pitchFamily="34" charset="-120"/>
              </a:rPr>
              <a:t>ةٌ</a:t>
            </a:r>
            <a:pPr rtl="1" algn="r" indent="0" marL="0">
              <a:buNone/>
            </a:pPr>
            <a:r>
              <a:rPr lang="ar-SA" altLang="en-US" sz="1850" b="1" dirty="0">
                <a:solidFill>
                  <a:srgbClr val="1B3B6F"/>
                </a:solidFill>
                <a:latin typeface="Amiri" pitchFamily="34" charset="0"/>
                <a:ea typeface="Amiri" pitchFamily="34" charset="-122"/>
                <a:cs typeface="Amiri" pitchFamily="34" charset="-120"/>
              </a:rPr>
              <a:t> بِالزُّكَامِ وَأَشْعُرُ بِالتَّعَبِ.</a:t>
            </a:r>
            <a:endParaRPr lang="ar-SA" sz="185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1. I have had a headache and a fever since yesterday. 2. I feel pain in my stomach. 3. I fell and I have a cut on my knee. 4. I (f.) have a cold and I feel tired.</a:t>
            </a:r>
            <a:endParaRPr lang="en-US" sz="11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عِنْدِي صُدَاعٌ وَحُمَّى.</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a headache and a fever.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عِنْدِي + symptom.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أَشْعُرُ بِأَلَمٍ فِي المَعِدَةِ.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feel pain in my stomach.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أَشْعُرُ بِـ introduces a feeling or pain.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تُؤْلِمُنِي أَسْنَانِي مُنْذُ يَوْمَيْنِ.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teeth have hurt for two days.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body part can be the subject of the pain expression.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مُصَابٌ بِالزُّكَامِ. / أَنَا مُصَابَةٌ بِالزُّكَامِ.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a cold. (m/f)</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Make مُصَابٌ / مُصَابَةٌ agree with the speaker.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HEALTH PROBLEMS AND HOW YOU FEEL”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What is wrong?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headache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fever</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cold</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حُمَّى.</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زُكَامٌ.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صُدَاعٌ.</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headache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صُدَاعٌ.</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headache.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fever</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حُمَّى.</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fever.</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cold</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زُكَامٌ.</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cold.</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Symptom, injury or feeling?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صُدَاعٌ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ذِرَاعٌ مَكْسُورَةٌ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جُرْحٌ فِي الإِصْبَعِ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أَشْعُرُ بِالدُّوَارِ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سُعَالٌ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إِصَابَةٌ فِي الرُّكْبَةِ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عَرَضٌ · symptom</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إِصَابَةٌ · injury</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شُعُورٌ · feeling/state</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عَرَضٌ · symptom</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صُدَاعٌ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حُمَّى</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سُعَالٌ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إِصَابَةٌ · injury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ذِرَاعٌ مَكْسُورَةٌ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جُرْحٌ فِي الإِصْبَعِ</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إِصَابَةٌ فِي الرُّكْبَةِ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شُعُورٌ · feeling/state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أَشْعُرُ بِالدُّوَارِ</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speaker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مُصَابٌ بِالزُّكَامِ.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مُصَابَانِ بِالزُّكَامِ.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مُصَابَةٌ بِالزُّكَامِ.</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grammatically complete?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بِحُمَّى.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أَشْعُرُ بِحُمَّى.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أَشْعُرُ حُمَّى.</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pain in my back.”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أَلَمٌ عَلَى ظَهْرِي.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أَلَمٌ فِي ظَهْرِي.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أَلَمًا فِي ظَهْرِي.</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speaker form.</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مُصَابٌ بِالزُّكَامِ.</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مُصَابَانِ بِالزُّكَامِ.</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أَنَا مُصَابَةٌ بِالزُّكَامِ.</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مُصَابَةٌ</a:t>
            </a:r>
            <a:pPr algn="l" indent="0" marL="0">
              <a:buNone/>
            </a:pPr>
            <a:r>
              <a:rPr lang="en-US" sz="1050" i="1" dirty="0">
                <a:solidFill>
                  <a:srgbClr val="8A6D1E"/>
                </a:solidFill>
                <a:latin typeface="Calibri" pitchFamily="34" charset="0"/>
                <a:ea typeface="Calibri" pitchFamily="34" charset="-122"/>
                <a:cs typeface="Calibri" pitchFamily="34" charset="-120"/>
              </a:rPr>
              <a:t> agrees with a female speaker.</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grammatically complete?</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عِنْدِي بِحُمَّى.</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أَشْعُرُ بِحُمَّى.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أَشْعُرُ حُمَّى.</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أَشْعُرُ</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before the feeling/symptom.</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pain in my back.”</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عِنْدِي أَلَمٌ عَلَى ظَهْرِي.</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عِنْدِي أَلَمٌ فِي ظَهْرِي.</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أَشْرَبُ أَلَمًا فِي ظَهْرِي.</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frame uses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عِنْدِي أَلَمٌ عَلَى المَعِدَةِ.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 the stomach, or in it?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أَشْعُرُ صُدَاعٌ.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must follow ashʿuru?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مُصَابٌ بِالزُّكَامِ.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Maryam is speaking: which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عِنْدِي أَلَمٌ عَلَى المَعِدَةِ.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عِنْدِي أَلَمٌ فِي المَعِدَةِ.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 to locate pain in a body part.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أَشْعُرُ صُدَاعٌ.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أَشْعُرُ بِصُدَاعٍ. / عِنْدِي صُدَاعٌ.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أَشْعُرُ</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a:t>
            </a:r>
            <a:pPr algn="l" indent="0" marL="0">
              <a:buNone/>
            </a:pPr>
            <a:r>
              <a:rPr lang="ar-SA" altLang="en-US" sz="1500" b="1" dirty="0">
                <a:solidFill>
                  <a:srgbClr val="1B3B6F"/>
                </a:solidFill>
                <a:latin typeface="Amiri" pitchFamily="34" charset="0"/>
                <a:ea typeface="Amiri" pitchFamily="34" charset="-122"/>
                <a:cs typeface="Amiri" pitchFamily="34" charset="-120"/>
              </a:rPr>
              <a:t>عِنْدِي</a:t>
            </a:r>
            <a:pPr algn="l" indent="0" marL="0">
              <a:buNone/>
            </a:pPr>
            <a:r>
              <a:rPr lang="en-US" sz="1150" b="1" dirty="0">
                <a:solidFill>
                  <a:srgbClr val="1B3B6F"/>
                </a:solidFill>
                <a:latin typeface="Calibri" pitchFamily="34" charset="0"/>
                <a:ea typeface="Calibri" pitchFamily="34" charset="-122"/>
                <a:cs typeface="Calibri" pitchFamily="34" charset="-120"/>
              </a:rPr>
              <a:t> can take the symptom directly.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مُصَابٌ بِالزُّكَامِ.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مُصَابَةٌ بِالزُّكَامِ.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adjective/participle agrees with the speaker.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callers to a clinic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a fever?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1</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2</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3</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caller 2 had tooth pain?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since yesterday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a week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caller 3 injured?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arm</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ankle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knee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problems does caller 4 have?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stomach pain and nausea</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cough and cold</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headache and fever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fifth caller?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cut his toe.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fell and broke his arm.</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developed an allergy.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sixth caller doing?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vomiting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walking</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word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عِنْدَهُ / عِنْدَهَا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and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مُنْذُ</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المُتَّصِلُ الأَوَّلُ عِنْدَهُ صُدَاعٌ وَحُمَّى مُنْذُ أَمْسِ.</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1 has had a headache and a fever since yesterday.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المُتَّصِلَةُ الثَّانِيَةُ تُؤْلِمُهَا أَسْنَانُهَا مُنْذُ أُسْبُوعٍ.</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2’s teeth have hurt for a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المُتَّصِلُ الثَّالِثُ سَقَطَ، وَعِنْدَهُ جُرْحٌ فِي رُكْبَتِهِ.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3 fell and has a cut on his knee.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المُتَّصِلَةُ الرَّابِعَةُ أَكَلَتْ طَعَامًا وَأَصْبَحَ عِنْدَهَا أَلَمٌ فِي المَعِدَةِ وَغَثَيَانٌ.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4 ate some food and then had stomach pain and nausea.</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المُتَّصِلُ الخَامِسُ سَقَطَ مِنَ الدَّرَجِ وَكَسَرَ ذِرَاعَهُ. وَالمُتَّصِلَةُ السَّادِسَةُ تَشْعُرُ بِالمَرَضِ وَتَتَقَيَّأُ.</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5 fell down the stairs and broke his arm. Caller 6 feels ill and is being sick.</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a fever?</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caller 1</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caller 2</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caller 3</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Caller 1 has </a:t>
            </a:r>
            <a:pPr algn="l" indent="0" marL="0">
              <a:buNone/>
            </a:pPr>
            <a:r>
              <a:rPr lang="ar-SA" altLang="en-US" sz="1350" dirty="0">
                <a:solidFill>
                  <a:srgbClr val="8A6D1E"/>
                </a:solidFill>
                <a:latin typeface="Amiri" pitchFamily="34" charset="0"/>
                <a:ea typeface="Amiri" pitchFamily="34" charset="-122"/>
                <a:cs typeface="Amiri" pitchFamily="34" charset="-120"/>
              </a:rPr>
              <a:t>صُدَاعٌ وَحُمَّى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caller 2 had tooth pain?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since yesterday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two days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a week</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مُنْذُ أُسْبُوعٍ.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caller 3 injured?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arm</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ankle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knee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جُرْحٌ فِي رُكْبَتِهِ.</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problems does caller 4 have?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stomach pain and nausea</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cough and cold</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headache and fever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أَلَمٌ فِي المَعِدَةِ وَغَثَيَانٌ.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fifth caller?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cut his toe.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fell and broke his arm.</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developed an allergy.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سَقَطَ ... وَكَسَرَ ذِرَاعَهُ.</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sixth caller doing?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vomiting</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walking</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تَتَقَيَّأُ</a:t>
            </a:r>
            <a:pPr algn="l" indent="0" marL="0">
              <a:buNone/>
            </a:pPr>
            <a:r>
              <a:rPr lang="en-US" sz="1050" i="1" dirty="0">
                <a:solidFill>
                  <a:srgbClr val="8A6D1E"/>
                </a:solidFill>
                <a:latin typeface="Calibri" pitchFamily="34" charset="0"/>
                <a:ea typeface="Calibri" pitchFamily="34" charset="-122"/>
                <a:cs typeface="Calibri" pitchFamily="34" charset="-120"/>
              </a:rPr>
              <a:t> means she is vomiting.</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word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عِنْدَهُ / عِنْدَهَا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and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مُنْذُ</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 check-in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تَشْعُرُ / تَشْعُرِينَ؟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الأَلَمُ؟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مُنْذُ مَتَى؟ وَمَاذَا حَدَثَ؟</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مُتْعَبٌ / مُتْعَبَةٌ · أَنَا بِخَيْرٍ.</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عِنْدِي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عِنْدِي أَلَمٌ فِي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مُنْذُ ___ . سَقَطْتُ / أَكَلْتُ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المُشْكِلَةُ؟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problem?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عِنْدِي صُدَاعٌ وَأَشْعُرُ بِالتَّعَبِ.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have a headache and I feel tired.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Match ten symptoms to pictures and complete </a:t>
            </a:r>
            <a:pPr algn="l" indent="0" marL="0">
              <a:buNone/>
            </a:pPr>
            <a:r>
              <a:rPr lang="ar-SA" altLang="en-US" sz="1800" b="1" dirty="0">
                <a:solidFill>
                  <a:srgbClr val="1F2A37"/>
                </a:solidFill>
                <a:latin typeface="Amiri" pitchFamily="34" charset="0"/>
                <a:ea typeface="Amiri" pitchFamily="34" charset="-122"/>
                <a:cs typeface="Amiri" pitchFamily="34" charset="-120"/>
              </a:rPr>
              <a:t>عِنْدِي</a:t>
            </a:r>
            <a:pPr algn="l" indent="0" marL="0">
              <a:buNone/>
            </a:pPr>
            <a:r>
              <a:rPr lang="en-US" sz="1400" b="1" dirty="0">
                <a:solidFill>
                  <a:srgbClr val="1F2A37"/>
                </a:solidFill>
                <a:latin typeface="Calibri" pitchFamily="34" charset="0"/>
                <a:ea typeface="Calibri" pitchFamily="34" charset="-122"/>
                <a:cs typeface="Calibri" pitchFamily="34" charset="-120"/>
              </a:rPr>
              <a:t> sentence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symptoms with عِنْدِي … and one with I have pain in my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 messages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four health problems with location and duration, then answer follow-up questions.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patient messages with body location and duration or cause.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triage note</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short clinic triage note distinguishing symptom, duration, cause and impact.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Symptom, duration, cause and impact (I can’t …) in 6–8 sentences.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مُنْذُ أَمْسِ.</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since yesterday.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مُنْذُ يَوْمَيْنِ / أُسْبُوعٍ.</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for two days / a week.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يُؤْلِمُنِي رَأْسِي.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head hurts.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سَقَطْتُ وَعِنْدِي جُرْحٌ فِي رُكْبَتِي.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fell and I have a cut in my knee.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أَشْعُرُ بِأَلَمٍ فِي المَعِدَةِ.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feel pain in my stomach.</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صُدَاعٌ.</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headache.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زُكَامٌ وَسُعَالٌ.</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cold and a cough.</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أَلَمٌ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pain in my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مَرِيضٌ / مَرِيضَةٌ.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ill (m. / f.).</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أَشْعُرُ بِالتَّعَبِ.</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feel tired.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صُدَاعٌ  ·  زُكَامٌ  ·  حُمَّى  ·  سُعَالٌ  ·  أَلَمٌ  ·  جُرْحٌ  ·  عِنْدِي  ·  أَشْعُرُ بِـ  ·  يُؤْلِمُنِي  ·  فِي  ·  مُنْذُ  ·  مَرِيضٌ / مَرِيضَةٌ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four short patient messages. Each message should name a different problem, body location where relevant, and duration or cause.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different structures: </a:t>
            </a:r>
            <a:pPr algn="l" indent="0" marL="0">
              <a:buNone/>
            </a:pPr>
            <a:r>
              <a:rPr lang="ar-SA" altLang="en-US" sz="1550" dirty="0">
                <a:solidFill>
                  <a:srgbClr val="1F2A37"/>
                </a:solidFill>
                <a:latin typeface="Amiri" pitchFamily="34" charset="0"/>
                <a:ea typeface="Amiri" pitchFamily="34" charset="-122"/>
                <a:cs typeface="Amiri" pitchFamily="34" charset="-120"/>
              </a:rPr>
              <a:t>عِنْدِي / أَشْعُرُ بِـ / يُؤْلِمُنِي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two body parts.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مُنْذُ</a:t>
            </a:r>
            <a:pPr algn="l" indent="0" marL="0">
              <a:buNone/>
            </a:pPr>
            <a:r>
              <a:rPr lang="en-US" sz="1200" dirty="0">
                <a:solidFill>
                  <a:srgbClr val="1F2A37"/>
                </a:solidFill>
                <a:latin typeface="Calibri" pitchFamily="34" charset="0"/>
                <a:ea typeface="Calibri" pitchFamily="34" charset="-122"/>
                <a:cs typeface="Calibri" pitchFamily="34" charset="-120"/>
              </a:rPr>
              <a:t> correctly at least once.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Make </a:t>
            </a:r>
            <a:pPr algn="l" indent="0" marL="0">
              <a:buNone/>
            </a:pPr>
            <a:r>
              <a:rPr lang="ar-SA" altLang="en-US" sz="1550" dirty="0">
                <a:solidFill>
                  <a:srgbClr val="1F2A37"/>
                </a:solidFill>
                <a:latin typeface="Amiri" pitchFamily="34" charset="0"/>
                <a:ea typeface="Amiri" pitchFamily="34" charset="-122"/>
                <a:cs typeface="Amiri" pitchFamily="34" charset="-120"/>
              </a:rPr>
              <a:t>مَرِيضٌ / مُصَابٌ</a:t>
            </a:r>
            <a:pPr algn="l" indent="0" marL="0">
              <a:buNone/>
            </a:pPr>
            <a:r>
              <a:rPr lang="en-US" sz="1200" dirty="0">
                <a:solidFill>
                  <a:srgbClr val="1F2A37"/>
                </a:solidFill>
                <a:latin typeface="Calibri" pitchFamily="34" charset="0"/>
                <a:ea typeface="Calibri" pitchFamily="34" charset="-122"/>
                <a:cs typeface="Calibri" pitchFamily="34" charset="-120"/>
              </a:rPr>
              <a:t> agree with the speaker where used.</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آتِيَ إِلَى المَدْرَسَةِ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not come to school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أَسْتَطِيعُ المَشْيَ جَيِّدًا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can’t walk well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حَسَاسِيَّةٌ مِنْ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have an allergy to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أَقْرَأُ المُكَوِّنَاتِ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read the ingredients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غَسَلَ الجُرْحَ وَوَضَعَ ضِمَادًا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washed the cut and put on a bandage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١. عِنْدِي صُدَاعٌ وَحُمَّى مُنْذُ أَمْسِ. ٢. أَشْعُرُ بِأَلَمٍ فِي المَعِدَةِ. ٣. سَقَطْتُ وَعِنْدِي جُرْحٌ فِي رُكْبَتِي. ٤. أَنَا مُصَابَةٌ بِالزُّكَامِ وَأَشْعُرُ بِالتَّعَبِ.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1. I have had a headache and a fever since yesterday. 2. I feel pain in my stomach. 3. I fell and I have a cut on my knee. 4. I (f.) have a cold and I feel tired.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 have …</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 feel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 my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symptoms with </a:t>
            </a:r>
            <a:pPr algn="l" indent="0" marL="0">
              <a:buNone/>
            </a:pPr>
            <a:r>
              <a:rPr lang="ar-SA" altLang="en-US" sz="1700" dirty="0">
                <a:solidFill>
                  <a:srgbClr val="1F2A37"/>
                </a:solidFill>
                <a:latin typeface="Amiri" pitchFamily="34" charset="0"/>
                <a:ea typeface="Amiri" pitchFamily="34" charset="-122"/>
                <a:cs typeface="Amiri" pitchFamily="34" charset="-120"/>
              </a:rPr>
              <a:t>عِنْدِي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Pain is located with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not </a:t>
            </a:r>
            <a:pPr algn="l" indent="0" marL="0">
              <a:buNone/>
            </a:pPr>
            <a:r>
              <a:rPr lang="ar-SA" altLang="en-US" sz="1700" dirty="0">
                <a:solidFill>
                  <a:srgbClr val="1F2A37"/>
                </a:solidFill>
                <a:latin typeface="Amiri" pitchFamily="34" charset="0"/>
                <a:ea typeface="Amiri" pitchFamily="34" charset="-122"/>
                <a:cs typeface="Amiri" pitchFamily="34" charset="-120"/>
              </a:rPr>
              <a:t>عَلَى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مُنْذُ</a:t>
            </a:r>
            <a:pPr algn="l" indent="0" marL="0">
              <a:buNone/>
            </a:pPr>
            <a:r>
              <a:rPr lang="en-US" sz="1300" dirty="0">
                <a:solidFill>
                  <a:srgbClr val="1F2A37"/>
                </a:solidFill>
                <a:latin typeface="Calibri" pitchFamily="34" charset="0"/>
                <a:ea typeface="Calibri" pitchFamily="34" charset="-122"/>
                <a:cs typeface="Calibri" pitchFamily="34" charset="-120"/>
              </a:rPr>
              <a:t> at least once.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أَشْعُرُ</a:t>
            </a:r>
            <a:pPr algn="l" indent="0" marL="0">
              <a:buNone/>
            </a:pPr>
            <a:r>
              <a:rPr lang="en-US" sz="1300" dirty="0">
                <a:solidFill>
                  <a:srgbClr val="1F2A37"/>
                </a:solidFill>
                <a:latin typeface="Calibri" pitchFamily="34" charset="0"/>
                <a:ea typeface="Calibri" pitchFamily="34" charset="-122"/>
                <a:cs typeface="Calibri" pitchFamily="34" charset="-120"/>
              </a:rPr>
              <a:t> is always followed by </a:t>
            </a:r>
            <a:pPr algn="l" indent="0" marL="0">
              <a:buNone/>
            </a:pPr>
            <a:r>
              <a:rPr lang="ar-SA" altLang="en-US" sz="1700" dirty="0">
                <a:solidFill>
                  <a:srgbClr val="1F2A37"/>
                </a:solidFill>
                <a:latin typeface="Amiri" pitchFamily="34" charset="0"/>
                <a:ea typeface="Amiri" pitchFamily="34" charset="-122"/>
                <a:cs typeface="Amiri" pitchFamily="34" charset="-120"/>
              </a:rPr>
              <a:t>بِـ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مَرِيضٌ / مُصَابٌ</a:t>
            </a:r>
            <a:pPr algn="l" indent="0" marL="0">
              <a:buNone/>
            </a:pPr>
            <a:r>
              <a:rPr lang="en-US" sz="1300" dirty="0">
                <a:solidFill>
                  <a:srgbClr val="1F2A37"/>
                </a:solidFill>
                <a:latin typeface="Calibri" pitchFamily="34" charset="0"/>
                <a:ea typeface="Calibri" pitchFamily="34" charset="-122"/>
                <a:cs typeface="Calibri" pitchFamily="34" charset="-120"/>
              </a:rPr>
              <a:t> agree with the speaker.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headache?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زُكَامٌ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injury?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جُرْحٌ</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غَثَيَانٌ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مَتَى؟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الأَلَمُ؟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تَأْكُلُ؟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headache?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صُدَاعٌ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زُكَامٌ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صُدَاعٌ</a:t>
            </a:r>
            <a:pPr algn="l" indent="0" marL="0">
              <a:buNone/>
            </a:pPr>
            <a:r>
              <a:rPr lang="en-US" sz="1050" i="1" dirty="0">
                <a:solidFill>
                  <a:srgbClr val="8A6D1E"/>
                </a:solidFill>
                <a:latin typeface="Calibri" pitchFamily="34" charset="0"/>
                <a:ea typeface="Calibri" pitchFamily="34" charset="-122"/>
                <a:cs typeface="Calibri" pitchFamily="34" charset="-120"/>
              </a:rPr>
              <a:t> means headache.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injury?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حُمَّى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جُرْحٌ</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غَثَيَانٌ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جُرْحٌ</a:t>
            </a:r>
            <a:pPr algn="l" indent="0" marL="0">
              <a:buNone/>
            </a:pPr>
            <a:r>
              <a:rPr lang="en-US" sz="1050" i="1" dirty="0">
                <a:solidFill>
                  <a:srgbClr val="8A6D1E"/>
                </a:solidFill>
                <a:latin typeface="Calibri" pitchFamily="34" charset="0"/>
                <a:ea typeface="Calibri" pitchFamily="34" charset="-122"/>
                <a:cs typeface="Calibri" pitchFamily="34" charset="-120"/>
              </a:rPr>
              <a:t> is a wound.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duration?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مُنْذُ مَتَى؟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 الأَلَمُ؟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تَأْكُلُ؟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مُنْذُ مَتَى؟</a:t>
            </a:r>
            <a:pPr algn="l" indent="0" marL="0">
              <a:buNone/>
            </a:pPr>
            <a:r>
              <a:rPr lang="en-US" sz="1050" i="1" dirty="0">
                <a:solidFill>
                  <a:srgbClr val="8A6D1E"/>
                </a:solidFill>
                <a:latin typeface="Calibri" pitchFamily="34" charset="0"/>
                <a:ea typeface="Calibri" pitchFamily="34" charset="-122"/>
                <a:cs typeface="Calibri" pitchFamily="34" charset="-120"/>
              </a:rPr>
              <a:t> asks since when/how long.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 messages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الرِّسَالَةُ ١: لَنْ آتِيَ إِلَى المَدْرَسَةِ اليَوْمَ؛ عِنْدِي زُكَامٌ وَسُعَالٌ، وَأَشْعُرُ بِالتَّعَبِ.</a:t>
            </a:r>
            <a:endParaRPr lang="ar-SA" sz="2450" dirty="0"/>
          </a:p>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الرِّسَالَةُ ٢: سَقَطْتُ فِي المَلْعَبِ، وَعِنْدِي إِصَابَةٌ فِي كَاحِلِي. لَا أَسْتَطِيعُ المَشْيَ جَيِّدًا.</a:t>
            </a:r>
            <a:endParaRPr lang="ar-SA" sz="2450" dirty="0"/>
          </a:p>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الرِّسَالَةُ ٣: عِنْدِي حَسَاسِيَّةٌ مِنْ بَعْضِ الأَطْعِمَةِ، لِذٰلِكَ أَقْرَأُ المُكَوِّنَاتِ قَبْلَ الأَكْلِ.</a:t>
            </a:r>
            <a:endParaRPr lang="ar-SA" sz="2450" dirty="0"/>
          </a:p>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الرِّسَالَةُ ٤: جَرَحَ أَخِي إِصْبَعَهُ فِي المَطْبَخِ، فَغَسَلَ الجُرْحَ وَوَضَعَ عَلَيْهِ ضِمَادًا نَظِيفًا.</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لَنْ آتِيَ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not come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سَقَطْتُ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fell</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المَلْعَبِ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playground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كَاحِلِي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ankle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أَسْتَطِيعُ</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can’t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حَسَاسِيَّةٌ مِنْ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allergy to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لِذَلِكَ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 therefore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جَرَحَ إِصْبَعَهُ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cut his finger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فَغَسَلَ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he washed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ضِمَادًا نَظِيفًا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clean bandage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writer 1 miss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broken arm</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cold and cough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toothache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writer 1 feel?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hungry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angry</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tired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writer 2 injured?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ankle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knee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back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difficulty does writer 2 have?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cannot hear well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cannot walk well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cannot eat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writer 3 do before eating?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reads ingredients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drinks water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phones a doctor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brother do after cutting his finger?</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continued cooking without cleaning it</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went for a run</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washed the wound and used a clean bandage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writer 1 miss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broken arm</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cold and cough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toothache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زُكَامٌ وَسُعَالٌ.</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writer 1 feel?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hungry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angry</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tired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أَشْعُرُ بِالتَّعَبِ.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writer 2 injured?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ankle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knee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back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كَاحِلِي.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difficulty does writer 2 have?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cannot hear well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cannot walk well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cannot eat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أَسْتَطِيعُ المَشْيَ جَيِّدًا.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writer 3 do before eating?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reads ingredients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drinks water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phones a doctor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أَقْرَأُ المُكَوِّنَاتِ.</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brother do after cutting his finger?</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continued cooking without cleaning it</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went for a run</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washed the wound and used a clean bandage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washed the wound and used </a:t>
            </a:r>
            <a:pPr algn="l" indent="0" marL="0">
              <a:buNone/>
            </a:pPr>
            <a:r>
              <a:rPr lang="ar-SA" altLang="en-US" sz="1350" dirty="0">
                <a:solidFill>
                  <a:srgbClr val="8A6D1E"/>
                </a:solidFill>
                <a:latin typeface="Amiri" pitchFamily="34" charset="0"/>
                <a:ea typeface="Amiri" pitchFamily="34" charset="-122"/>
                <a:cs typeface="Amiri" pitchFamily="34" charset="-120"/>
              </a:rPr>
              <a:t>ضِمَادًا نَظِيفًا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F5-L09 · At the Doctor and Pharmacy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طَبِيبٌ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doctor</a:t>
            </a:r>
            <a:pPr indent="0" marL="0">
              <a:buNone/>
            </a:pPr>
            <a:r>
              <a:rPr lang="en-US" sz="1000" i="1" dirty="0">
                <a:solidFill>
                  <a:srgbClr val="5A6472"/>
                </a:solidFill>
                <a:latin typeface="Calibri" pitchFamily="34" charset="0"/>
                <a:ea typeface="Calibri" pitchFamily="34" charset="-122"/>
                <a:cs typeface="Calibri" pitchFamily="34" charset="-120"/>
              </a:rPr>
              <a:t>  f. طَبِيبَةٌ · pl. أَطِبَّاءُ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صَيْدَلِيَّةٌ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pharmacy</a:t>
            </a:r>
            <a:pPr indent="0" marL="0">
              <a:buNone/>
            </a:pPr>
            <a:r>
              <a:rPr lang="en-US" sz="1000" i="1" dirty="0">
                <a:solidFill>
                  <a:srgbClr val="5A6472"/>
                </a:solidFill>
                <a:latin typeface="Calibri" pitchFamily="34" charset="0"/>
                <a:ea typeface="Calibri" pitchFamily="34" charset="-122"/>
                <a:cs typeface="Calibri" pitchFamily="34" charset="-120"/>
              </a:rPr>
              <a:t>  pl. صَيْدَلِيَّاتٌ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medicine</a:t>
            </a:r>
            <a:pPr indent="0" marL="0">
              <a:buNone/>
            </a:pPr>
            <a:r>
              <a:rPr lang="en-US" sz="1000" i="1" dirty="0">
                <a:solidFill>
                  <a:srgbClr val="5A6472"/>
                </a:solidFill>
                <a:latin typeface="Calibri" pitchFamily="34" charset="0"/>
                <a:ea typeface="Calibri" pitchFamily="34" charset="-122"/>
                <a:cs typeface="Calibri" pitchFamily="34" charset="-120"/>
              </a:rPr>
              <a:t>  pl. أَدْوِيَةٌ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appointment</a:t>
            </a:r>
            <a:pPr indent="0" marL="0">
              <a:buNone/>
            </a:pPr>
            <a:r>
              <a:rPr lang="en-US" sz="1000" i="1" dirty="0">
                <a:solidFill>
                  <a:srgbClr val="5A6472"/>
                </a:solidFill>
                <a:latin typeface="Calibri" pitchFamily="34" charset="0"/>
                <a:ea typeface="Calibri" pitchFamily="34" charset="-122"/>
                <a:cs typeface="Calibri" pitchFamily="34" charset="-120"/>
              </a:rPr>
              <a:t>  pl. مَوَاعِيدُ</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خُذْ / خُذِي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take!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do you go when you are ill? Write one place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أَذْهَبُ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F5-L08: the vocabulary tab and the “Symptom, injury or feeling?”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four patient messages with location and duration.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clinic triage note: symptom, duration, cause and impact.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F5-L09 · At the Doctor and Pharmacy</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عِنْدَ الطَّبِيبِ وَفِي الصَّيْدَلِيَّةِ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عِنْدِي</a:t>
            </a:r>
            <a:pPr algn="l" indent="0" marL="0">
              <a:buNone/>
            </a:pPr>
            <a:r>
              <a:rPr lang="en-US" sz="1300" b="1" dirty="0">
                <a:solidFill>
                  <a:srgbClr val="FFFFFF"/>
                </a:solidFill>
                <a:latin typeface="Calibri" pitchFamily="34" charset="0"/>
                <a:ea typeface="Calibri" pitchFamily="34" charset="-122"/>
                <a:cs typeface="Calibri" pitchFamily="34" charset="-120"/>
              </a:rPr>
              <a:t> + symptom · </a:t>
            </a:r>
            <a:pPr algn="l" indent="0" marL="0">
              <a:buNone/>
            </a:pPr>
            <a:r>
              <a:rPr lang="ar-SA" altLang="en-US" sz="1700" b="1" dirty="0">
                <a:solidFill>
                  <a:srgbClr val="FFFFFF"/>
                </a:solidFill>
                <a:latin typeface="Amiri" pitchFamily="34" charset="0"/>
                <a:ea typeface="Amiri" pitchFamily="34" charset="-122"/>
                <a:cs typeface="Amiri" pitchFamily="34" charset="-120"/>
              </a:rPr>
              <a:t>أَشْعُرُ بِـ</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أَلَمٌ فِي</a:t>
            </a:r>
            <a:pPr algn="l" indent="0" marL="0">
              <a:buNone/>
            </a:pPr>
            <a:r>
              <a:rPr lang="en-US" sz="1300" b="1" dirty="0">
                <a:solidFill>
                  <a:srgbClr val="FFFFFF"/>
                </a:solidFill>
                <a:latin typeface="Calibri" pitchFamily="34" charset="0"/>
                <a:ea typeface="Calibri" pitchFamily="34" charset="-122"/>
                <a:cs typeface="Calibri" pitchFamily="34" charset="-120"/>
              </a:rPr>
              <a:t> (not </a:t>
            </a:r>
            <a:pPr algn="l" indent="0" marL="0">
              <a:buNone/>
            </a:pPr>
            <a:r>
              <a:rPr lang="ar-SA" altLang="en-US" sz="1700" b="1" dirty="0">
                <a:solidFill>
                  <a:srgbClr val="FFFFFF"/>
                </a:solidFill>
                <a:latin typeface="Amiri" pitchFamily="34" charset="0"/>
                <a:ea typeface="Amiri" pitchFamily="34" charset="-122"/>
                <a:cs typeface="Amiri" pitchFamily="34" charset="-120"/>
              </a:rPr>
              <a:t>عَلَى</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مُنْذُ</a:t>
            </a:r>
            <a:pPr algn="l" indent="0" marL="0">
              <a:buNone/>
            </a:pPr>
            <a:r>
              <a:rPr lang="en-US" sz="1300" b="1" dirty="0">
                <a:solidFill>
                  <a:srgbClr val="FFFFFF"/>
                </a:solidFill>
                <a:latin typeface="Calibri" pitchFamily="34" charset="0"/>
                <a:ea typeface="Calibri" pitchFamily="34" charset="-122"/>
                <a:cs typeface="Calibri" pitchFamily="34" charset="-120"/>
              </a:rPr>
              <a:t> +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F5-L08 · Health Problems and How You Feel</dc:title>
  <dc:subject>PptxGenJS Presentation</dc:subject>
  <dc:creator>Al Madina Online School · Arabic Department</dc:creator>
  <cp:lastModifiedBy>Al Madina Online School · Arabic Department</cp:lastModifiedBy>
  <cp:revision>1</cp:revision>
  <dcterms:created xsi:type="dcterms:W3CDTF">2026-09-27T21:50:14Z</dcterms:created>
  <dcterms:modified xsi:type="dcterms:W3CDTF">2026-09-27T21:50:14Z</dcterms:modified>
</cp:coreProperties>
</file>