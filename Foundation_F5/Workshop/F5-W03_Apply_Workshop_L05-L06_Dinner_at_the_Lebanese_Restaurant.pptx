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F5-L05 · Learn F5-L06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F5-L05 (Ordering Food Politely) and F5-L06 (Menus, Prices and Dishes).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F5-L05 and F5-L06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F5-L05? After F5-L06?” Take two answers in the chat for each lesson (one word or one sentence is enough). Then read objective 3 — today’s new situation that needs BOTH lessons. Students tick their route goals at the end of the lesson.
F5-L05 language: urīdu … min faḍlika; hal ʿindakum …?; kami al-siʿru?; law samaḥta / law samaḥti; al-ḥisābu min faḍlika; polite replies (shukran · ʿafwan)
F5-L06 language: menu sections; prices with numbers + currency (junayhāt · dīnār · dirham); rakhīṣ / ghālin; al-majmūʿu; yatakawwanu / tatakawwanu min … (a dish consists of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F5-L05.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F5-L06.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F5-L05 and F5-L06. Teacher reads it once with a confident student; then pairs. Ask: “Which lines are from F5-L05? Which from F5-L06?” Polite ordering (لَوْ سَمَحْتَ · أُرِيدُ … مِنْ فَضْلِكَ · الحِسَابُ) comes from F5-L05; menu words, يَتَكَوَّنُ / تَتَكَوَّنُ مِنْ and prices from F5-L06. Note the numbers: 3–10 + جُنَيْهَاتٍ; 11 and above + جُنَيْهًا.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polite requests, questions and the bill (F5-L05) with menu sections, ingredients, prices and the total (F5-L06). SUPPORTED: the plan column gives the first words, not the full answer. To a girl Partner A says: to a waitress: لَوْ سَمَحْتِ · مِنْ فَضْلِكِ — and the waitress asks a girl: مَاذَا تُرِيدِينَ؟. Put a simple menu with prices on screen or in the chat before the card: حُمُّصٌ ٣ · فَلَافِلُ ٢ · كَبْسَةٌ ٩ · شَاوَرْمَا ٧ · عَصِيرٌ ٢ · بَقْلَاوَةٌ ٤ (جُنَيْهَاتٌ).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F5-L05 and F5-L06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F5-L05 and F5-L06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(46 words). CHECK YOURSELF (2 min). Find each bullet point in the model, and one phrase from F5-L05 and one from F5-L06.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F5-L05 + F5-L06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Dinner at the Lebanese Restaurant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عَشَاءٌ فِي المَطْعَمِ اللُّبْنَانِيِّ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polite ordering with menus and prices: they read a menu, ask what a dish is made of and how much it costs, order a starter, a main dish and a drink politely, ask for the bill and work out the total, then write a short restaurant review.</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F5-L05 + F5-L06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F5-L05 and F5-L06.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F5-L05 + F5-L06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F5-L05: Ordering Food Politely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F5-L06: Menus, Prices and Dishes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at the restaurant · A short restaurant review</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F5-L05 and F5-L06.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F5-L05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F5-L05 · Ordering Food Politely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 / مِنْ فَضْلِكِ</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(m/f)</a:t>
            </a:r>
            <a:endParaRPr lang="en-US" sz="1350" dirty="0"/>
          </a:p>
          <a:p>
            <a:pPr indent="0" marL="0">
              <a:buNone/>
            </a:pPr>
            <a:r>
              <a:rPr lang="en-US" sz="1100" i="1" dirty="0">
                <a:solidFill>
                  <a:srgbClr val="5A6472"/>
                </a:solidFill>
                <a:latin typeface="Calibri" pitchFamily="34" charset="0"/>
                <a:cs typeface="Amiri" pitchFamily="2" charset="-78"/>
              </a:rPr>
              <a:t>min faḍ-li-ka / min faḍ-li-ki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 سَمَحْتَ / لَوْ سَمَحْتِ</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excuse me / if you please</a:t>
            </a:r>
            <a:endParaRPr lang="en-US" sz="1350" dirty="0"/>
          </a:p>
          <a:p>
            <a:pPr indent="0" marL="0">
              <a:buNone/>
            </a:pPr>
            <a:r>
              <a:rPr lang="en-US" sz="1100" i="1" dirty="0">
                <a:solidFill>
                  <a:srgbClr val="5A6472"/>
                </a:solidFill>
                <a:latin typeface="Calibri" pitchFamily="34" charset="0"/>
                <a:cs typeface="Amiri" pitchFamily="2" charset="-78"/>
              </a:rPr>
              <a:t>law sa-maḥ-ta / law sa-maḥ-ti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مَطْعَمٌ</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restaurant</a:t>
            </a:r>
            <a:endParaRPr lang="en-US" sz="1350" dirty="0"/>
          </a:p>
          <a:p>
            <a:pPr indent="0" marL="0">
              <a:buNone/>
            </a:pPr>
            <a:r>
              <a:rPr lang="en-US" sz="1100" i="1" dirty="0">
                <a:solidFill>
                  <a:srgbClr val="5A6472"/>
                </a:solidFill>
                <a:latin typeface="Calibri" pitchFamily="34" charset="0"/>
                <a:cs typeface="Amiri" pitchFamily="2" charset="-78"/>
              </a:rPr>
              <a:t>maṭ-ʿa-mun</a:t>
            </a:r>
            <a:endParaRPr lang="en-US" sz="1350" dirty="0"/>
          </a:p>
        </p:txBody>
      </p:sp>
      <p:sp>
        <p:nvSpPr>
          <p:cNvPr id="38" name="Shape 3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0" name="Text 37"/>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مَطْعَمٌ</a:t>
            </a:r>
            <a:endParaRPr lang="ar-SA" sz="1500" dirty="0"/>
          </a:p>
        </p:txBody>
      </p:sp>
      <p:sp>
        <p:nvSpPr>
          <p:cNvPr id="41" name="Shape 3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مَطَاعِمُ</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نَادِلٌ / نَادِلَةٌ</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waiter / waitress</a:t>
            </a:r>
            <a:endParaRPr lang="en-US" sz="1350" dirty="0"/>
          </a:p>
          <a:p>
            <a:pPr indent="0" marL="0">
              <a:buNone/>
            </a:pPr>
            <a:r>
              <a:rPr lang="en-US" sz="1100" i="1" dirty="0">
                <a:solidFill>
                  <a:srgbClr val="5A6472"/>
                </a:solidFill>
                <a:latin typeface="Calibri" pitchFamily="34" charset="0"/>
                <a:cs typeface="Amiri" pitchFamily="2" charset="-78"/>
              </a:rPr>
              <a:t>nā-di-lun / nā-di-la-tun</a:t>
            </a:r>
            <a:endParaRPr lang="en-US" sz="1350" dirty="0"/>
          </a:p>
        </p:txBody>
      </p:sp>
      <p:sp>
        <p:nvSpPr>
          <p:cNvPr id="53" name="Shape 50"/>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5" name="Text 52"/>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نَادِلٌ</a:t>
            </a:r>
            <a:endParaRPr lang="ar-SA" sz="1500" dirty="0"/>
          </a:p>
        </p:txBody>
      </p:sp>
      <p:sp>
        <p:nvSpPr>
          <p:cNvPr id="56" name="Shape 53"/>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8" name="Text 55"/>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نَادِلَةٌ</a:t>
            </a:r>
            <a:endParaRPr lang="ar-SA" sz="1500" dirty="0"/>
          </a:p>
        </p:txBody>
      </p:sp>
      <p:sp>
        <p:nvSpPr>
          <p:cNvPr id="59" name="Shape 56"/>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1" name="Text 58"/>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نُدُلٌ</a:t>
            </a:r>
            <a:endParaRPr lang="ar-SA" sz="1500" dirty="0"/>
          </a:p>
        </p:txBody>
      </p:sp>
      <p:sp>
        <p:nvSpPr>
          <p:cNvPr id="62" name="Shape 5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4389120"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5" name="Shape 6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الحِسَابُ</a:t>
            </a:r>
            <a:endParaRPr lang="ar-SA" sz="3000" dirty="0"/>
          </a:p>
        </p:txBody>
      </p:sp>
      <p:sp>
        <p:nvSpPr>
          <p:cNvPr id="68" name="Text 6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bill</a:t>
            </a:r>
            <a:endParaRPr lang="en-US" sz="1350" dirty="0"/>
          </a:p>
          <a:p>
            <a:pPr indent="0" marL="0">
              <a:buNone/>
            </a:pPr>
            <a:r>
              <a:rPr lang="en-US" sz="1100" i="1" dirty="0">
                <a:solidFill>
                  <a:srgbClr val="5A6472"/>
                </a:solidFill>
                <a:latin typeface="Calibri" pitchFamily="34" charset="0"/>
                <a:cs typeface="Amiri" pitchFamily="2" charset="-78"/>
              </a:rPr>
              <a:t>al-ḥi-sā-bu</a:t>
            </a:r>
            <a:endParaRPr lang="en-US" sz="1350" dirty="0"/>
          </a:p>
        </p:txBody>
      </p:sp>
      <p:sp>
        <p:nvSpPr>
          <p:cNvPr id="69" name="Shape 6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66928"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2" name="Shape 6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السِّعْرُ؟</a:t>
            </a:r>
            <a:endParaRPr lang="ar-SA" sz="3000" dirty="0"/>
          </a:p>
        </p:txBody>
      </p:sp>
      <p:sp>
        <p:nvSpPr>
          <p:cNvPr id="75" name="Text 7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a:t>
            </a:r>
            <a:endParaRPr lang="en-US" sz="1350" dirty="0"/>
          </a:p>
          <a:p>
            <a:pPr indent="0" marL="0">
              <a:buNone/>
            </a:pPr>
            <a:r>
              <a:rPr lang="en-US" sz="1100" i="1" dirty="0">
                <a:solidFill>
                  <a:srgbClr val="5A6472"/>
                </a:solidFill>
                <a:latin typeface="Calibri" pitchFamily="34" charset="0"/>
                <a:cs typeface="Amiri" pitchFamily="2" charset="-78"/>
              </a:rPr>
              <a:t>ka-mi as-siʿ-ru?</a:t>
            </a:r>
            <a:endParaRPr lang="en-US" sz="13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F5-L06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F5-L06 · Menus, Prices and Dishes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قَائِمَةٌ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menu / list</a:t>
            </a:r>
            <a:endParaRPr lang="en-US" sz="1350" dirty="0"/>
          </a:p>
          <a:p>
            <a:pPr indent="0" marL="0">
              <a:buNone/>
            </a:pPr>
            <a:r>
              <a:rPr lang="en-US" sz="1100" i="1" dirty="0">
                <a:solidFill>
                  <a:srgbClr val="5A6472"/>
                </a:solidFill>
                <a:latin typeface="Calibri" pitchFamily="34" charset="0"/>
                <a:cs typeface="Amiri" pitchFamily="2" charset="-78"/>
              </a:rPr>
              <a:t>qā-ʾi-ma-tun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قَائِمَةٌ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قَوَائِمُ</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طَبَقٌ رَئِيسِيٌّ</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main dish</a:t>
            </a:r>
            <a:endParaRPr lang="en-US" sz="1350" dirty="0"/>
          </a:p>
          <a:p>
            <a:pPr indent="0" marL="0">
              <a:buNone/>
            </a:pPr>
            <a:r>
              <a:rPr lang="en-US" sz="1100" i="1" dirty="0">
                <a:solidFill>
                  <a:srgbClr val="5A6472"/>
                </a:solidFill>
                <a:latin typeface="Calibri" pitchFamily="34" charset="0"/>
                <a:cs typeface="Amiri" pitchFamily="2" charset="-78"/>
              </a:rPr>
              <a:t>ṭa-ba-qun ra-ʾī-siy-yun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طَبَقٌ رَئِيسِيٌّ</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أَطْبَاقٌ رَئِيسِيَّةٌ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مَشْرُوبَاتٌ</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drinks</a:t>
            </a:r>
            <a:endParaRPr lang="en-US" sz="1350" dirty="0"/>
          </a:p>
          <a:p>
            <a:pPr indent="0" marL="0">
              <a:buNone/>
            </a:pPr>
            <a:r>
              <a:rPr lang="en-US" sz="1100" i="1" dirty="0">
                <a:solidFill>
                  <a:srgbClr val="5A6472"/>
                </a:solidFill>
                <a:latin typeface="Calibri" pitchFamily="34" charset="0"/>
                <a:cs typeface="Amiri" pitchFamily="2" charset="-78"/>
              </a:rPr>
              <a:t>mash-rū-bā-tun</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5" name="Shape 5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ثَمَنٌ</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cost / price</a:t>
            </a:r>
            <a:endParaRPr lang="en-US" sz="1350" dirty="0"/>
          </a:p>
          <a:p>
            <a:pPr indent="0" marL="0">
              <a:buNone/>
            </a:pPr>
            <a:r>
              <a:rPr lang="en-US" sz="1100" i="1" dirty="0">
                <a:solidFill>
                  <a:srgbClr val="5A6472"/>
                </a:solidFill>
                <a:latin typeface="Calibri" pitchFamily="34" charset="0"/>
                <a:cs typeface="Amiri" pitchFamily="2" charset="-78"/>
              </a:rPr>
              <a:t>tha-ma-nun</a:t>
            </a:r>
            <a:endParaRPr lang="en-US"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المَجْمُوعُ</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total</a:t>
            </a:r>
            <a:endParaRPr lang="en-US" sz="1350" dirty="0"/>
          </a:p>
          <a:p>
            <a:pPr indent="0" marL="0">
              <a:buNone/>
            </a:pPr>
            <a:r>
              <a:rPr lang="en-US" sz="1100" i="1" dirty="0">
                <a:solidFill>
                  <a:srgbClr val="5A6472"/>
                </a:solidFill>
                <a:latin typeface="Calibri" pitchFamily="34" charset="0"/>
                <a:cs typeface="Amiri" pitchFamily="2" charset="-78"/>
              </a:rPr>
              <a:t>al-maj-mū-ʿu</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Shape 6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فَلَافِلُ</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falafel</a:t>
            </a:r>
            <a:endParaRPr lang="en-US" sz="1350" dirty="0"/>
          </a:p>
          <a:p>
            <a:pPr indent="0" marL="0">
              <a:buNone/>
            </a:pPr>
            <a:r>
              <a:rPr lang="en-US" sz="1100" i="1" dirty="0">
                <a:solidFill>
                  <a:srgbClr val="5A6472"/>
                </a:solidFill>
                <a:latin typeface="Calibri" pitchFamily="34" charset="0"/>
                <a:cs typeface="Amiri" pitchFamily="2" charset="-78"/>
              </a:rPr>
              <a:t>fa-lā-fi-lu</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ذَهَبْتُ مَعَ … إِلَى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طَبَقٌ … مِنْ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يَتَكَوَّنُ / تَتَكَوَّنُ مِنْ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طَلَبْتُ … وَ…</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سَأَلْتُ النَّادِلَ: هَلْ عِنْدَكُمْ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سِعْرُهُ / سِعْرُهَا … جُنَيْهَاتٍ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المَجْمُوعُ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الطَّعَامُ … وَكَانَ النَّادِلُ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F5-L05 · Ordering Food Politely</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F5-L06 · Menus, Prices and Dishes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F5-L05 · Ordering Food Politely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ذَهَبْتُ مَعَ … إِلَى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طَلَبْتُ … وَ…</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سَأَلْتُ النَّادِلَ: هَلْ عِنْدَكُمْ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الطَّعَامُ … وَكَانَ النَّادِلُ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F5-L06 · Menus, Prices and Dishes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طَبَقٌ … مِنْ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يَتَكَوَّنُ / تَتَكَوَّنُ مِنْ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سِعْرُهُ / سِعْرُهَا … جُنَيْهَاتٍ</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المَجْمُوعُ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Ordering from the menu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نَطْلُبُ مِنَ القَائِمَةِ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 evening! Here is the menu. What would you like?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مَسَاءُ الخَيْرِ! هٰذِهِ قَائِمَةُ الطَّعَامِ. مَاذَا تُرِيدُ؟</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Excuse me, what is the kabsa made of?</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سَمَحْتَ، مِمَّ تَتَكَوَّنُ الكَبْسَةُ؟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made of rice, chicken and spices.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تَتَكَوَّنُ مِنْ أَرُزٍّ وَدَجَاجٍ وَبَهَارَاتٍ.</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would like hummus and kabsa, please. How much is it?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أُرِيدُ حُمُّصًا وَكَبْسَةً، مِنْ فَضْلِكَ. كَمِ السِّعْرُ؟</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hummus is three pounds, and the kabsa is nine pounds.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الحُمُّصُ ثَلَاثَةُ جُنَيْهَاتٍ، وَالكَبْسَةُ تِسْعَةُ جُنَيْهَاتٍ.</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Excellent. And the bill, please — the total is twelve pounds.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مُمْتَازٌ. وَالحِسَابُ مِنْ فَضْلِكَ — المَجْمُوعُ اثْنَا عَشَرَ جُنَيْهًا.</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مَعَ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 مِنْ فَضْلِكَ</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would you like to eat?</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أَنْ تَأْكُلَ؟</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رَخِيصَةٌ</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سِعْرُهَا جُنَيْهَانِ</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the falafel? (£2)</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سِعْرُ الفَلَافِلِ؟ (2 £)</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بِدُونِ سُكَّرٍ</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 ، مِنْ فَضْلِكَ</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would you like to drink?</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تُرِيدُ أَنْ تَشْرَبَ؟</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main dish do you want?</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الطَّبَقُ الرَّئِيسِيُّ الَّذِي تُرِيدُهُ؟</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هَلْ عِنْدَكُمْ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أُرِيدُ … / لَا، شُكْرًا</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Would you like dessert?</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حَلْوَيَاتٍ؟</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وَزَيْتِ الزَّيْتُونِ</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يَتَكَوَّنُ مِنَ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hummus made of?</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مِمَّ يَتَكَوَّنُ الحُمُّصُ؟</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F5-L05, even numbers from F5-L06.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Role-play card — at the restaurant</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المَطْعَمِ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أُرِيدُ … مِنْ فَضْلِكَ</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Order a starter politely.</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وَسَهْلًا! مَاذَا تُرِيدُ مِنَ المُقَبِّلَاتِ؟</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 ← مِمَّ يَتَكَوَّنُ / تَتَكَوَّنُ …؟ ثُمَّ أُرِيدُ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what a dish is made of, then order it.</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وَمِنَ الأَطْبَاقِ الرَّئِيسِيَّةِ؟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هَلْ عِنْدَكُمْ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if they have a drink, then order.</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تُرِيدُ أَنْ تَشْرَبَ؟</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كَمْ سِعْرُ …؟ … غَالٍ / رَخِيصٌ</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price of a dessert and decide.</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حَلْوَيَاتٍ؟</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الطَّعَامُ … ، الحِسَابُ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an opinion and ask for the bill.</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كُلُّ شَيْءٍ جَيِّدٌ؟</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customer · Partner A = the waiter.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perfect meal out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وَجْبَتِي المِثَالِيَّةُ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about your perfect meal at a restaurant: which restaurant and with whom, what you order (a starter, a main dish, a drink and a dessert), what one dish is made of, the prices and the total.</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أَطْلُبُ … وَ… · السِّعْرُ … جُنَيْهَاتٍ</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يَتَكَوَّنُ / تَتَكَوَّنُ مِنْ</a:t>
            </a:r>
            <a:pPr algn="l" indent="0" marL="0">
              <a:buNone/>
            </a:pPr>
            <a:r>
              <a:rPr lang="en-US" sz="1150" dirty="0">
                <a:solidFill>
                  <a:srgbClr val="1F2A37"/>
                </a:solidFill>
                <a:latin typeface="Calibri" pitchFamily="34" charset="0"/>
                <a:cs typeface="Amiri" pitchFamily="2" charset="-78"/>
              </a:rPr>
              <a:t> …‏ and the total (‏</a:t>
            </a:r>
            <a:pPr algn="l" indent="0" marL="0">
              <a:buNone/>
            </a:pPr>
            <a:r>
              <a:rPr lang="ar-SA" altLang="en-US" sz="1500" dirty="0">
                <a:solidFill>
                  <a:srgbClr val="1F2A37"/>
                </a:solidFill>
                <a:latin typeface="Amiri" pitchFamily="2" charset="-78"/>
                <a:ea typeface="Amiri" pitchFamily="2" charset="-78"/>
                <a:cs typeface="Amiri" pitchFamily="2" charset="-78"/>
              </a:rPr>
              <a:t>المَجْمُوعُ</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your opinion: ‏</a:t>
            </a:r>
            <a:pPr algn="l" indent="0" marL="0">
              <a:buNone/>
            </a:pPr>
            <a:r>
              <a:rPr lang="ar-SA" altLang="en-US" sz="1500" dirty="0">
                <a:solidFill>
                  <a:srgbClr val="1F2A37"/>
                </a:solidFill>
                <a:latin typeface="Amiri" pitchFamily="2" charset="-78"/>
                <a:ea typeface="Amiri" pitchFamily="2" charset="-78"/>
                <a:cs typeface="Amiri" pitchFamily="2" charset="-78"/>
              </a:rPr>
              <a:t>رَخِيصٌ / غَالٍ</a:t>
            </a:r>
            <a:pPr algn="l" indent="0" marL="0">
              <a:buNone/>
            </a:pPr>
            <a:r>
              <a:rPr lang="en-US" sz="1150" dirty="0">
                <a:solidFill>
                  <a:srgbClr val="1F2A37"/>
                </a:solidFill>
                <a:latin typeface="Calibri" pitchFamily="34" charset="0"/>
                <a:cs typeface="Amiri" pitchFamily="2" charset="-78"/>
              </a:rPr>
              <a:t>‏ — and a polite request you use there.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أُرِيدُ … مِنْ فَضْلِكَ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would like …, please</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مِمَّ يَتَكَوَّنُ / تَتَكَوَّنُ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what is … made of?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السِّعْرُ … جُنَيْهَاتٍ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price is … pounds</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المَجْمُوعُ … · الحِسَابُ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total … · the bill,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would like a coffee, please.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تُرِيدُ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قَهْوَةً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قَهْوَةٌ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شُكْرًا.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soup costs four pounds.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سِعْرُ الشُّورْبَةِ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سِعْرُ الشُّورْبَةُ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أَرْبَعَةُ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أَرْبَعُ</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جُنَيْهَاتٍ.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جُنَيْهًا.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Do you have fish?</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عِنْدَكُمْ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سَمَكٌ؟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سَمَكًا؟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would like a coffee, please.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would like = </a:t>
            </a:r>
            <a:pPr algn="l" indent="0" marL="0">
              <a:buNone/>
            </a:pPr>
            <a:r>
              <a:rPr lang="ar-SA" altLang="en-US" sz="1350" dirty="0">
                <a:solidFill>
                  <a:srgbClr val="5A6472"/>
                </a:solidFill>
                <a:latin typeface="Amiri" pitchFamily="2" charset="-78"/>
                <a:ea typeface="Amiri" pitchFamily="2" charset="-78"/>
                <a:cs typeface="Amiri" pitchFamily="2" charset="-78"/>
              </a:rPr>
              <a:t>أُرِيدُ</a:t>
            </a:r>
            <a:pPr algn="l" indent="0" marL="0">
              <a:buNone/>
            </a:pPr>
            <a:r>
              <a:rPr lang="en-US" sz="1050" i="1" dirty="0">
                <a:solidFill>
                  <a:srgbClr val="5A6472"/>
                </a:solidFill>
                <a:latin typeface="Calibri" pitchFamily="34" charset="0"/>
                <a:cs typeface="Amiri" pitchFamily="2" charset="-78"/>
              </a:rPr>
              <a:t> + object in -an / -atan.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أُرِيدُ قَهْوَةً مِنْ فَضْلِكَ.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soup costs four pounds.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جُنَيْهٌ</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أَرْبَعَةُ</a:t>
            </a:r>
            <a:pPr algn="l" indent="0" marL="0">
              <a:buNone/>
            </a:pPr>
            <a:r>
              <a:rPr lang="en-US" sz="1050" i="1" dirty="0">
                <a:solidFill>
                  <a:srgbClr val="5A6472"/>
                </a:solidFill>
                <a:latin typeface="Calibri" pitchFamily="34" charset="0"/>
                <a:cs typeface="Amiri" pitchFamily="2" charset="-78"/>
              </a:rPr>
              <a:t>; 3–10 + plural genitive </a:t>
            </a:r>
            <a:pPr algn="l" indent="0" marL="0">
              <a:buNone/>
            </a:pPr>
            <a:r>
              <a:rPr lang="ar-SA" altLang="en-US" sz="1350" dirty="0">
                <a:solidFill>
                  <a:srgbClr val="5A6472"/>
                </a:solidFill>
                <a:latin typeface="Amiri" pitchFamily="2" charset="-78"/>
                <a:ea typeface="Amiri" pitchFamily="2" charset="-78"/>
                <a:cs typeface="Amiri" pitchFamily="2" charset="-78"/>
              </a:rPr>
              <a:t>جُنَيْهَاتٍ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سِعْرُ الشُّورْبَةِ أَرْبَعَةُ جُنَيْهَاتٍ.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Do you have fish?</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(all) have = </a:t>
            </a:r>
            <a:pPr algn="l" indent="0" marL="0">
              <a:buNone/>
            </a:pPr>
            <a:r>
              <a:rPr lang="ar-SA" altLang="en-US" sz="1350" dirty="0">
                <a:solidFill>
                  <a:srgbClr val="5A6472"/>
                </a:solidFill>
                <a:latin typeface="Amiri" pitchFamily="2" charset="-78"/>
                <a:ea typeface="Amiri" pitchFamily="2" charset="-78"/>
                <a:cs typeface="Amiri" pitchFamily="2" charset="-78"/>
              </a:rPr>
              <a:t>هَلْ عِنْدَكُمْ</a:t>
            </a:r>
            <a:pPr algn="l" indent="0" marL="0">
              <a:buNone/>
            </a:pPr>
            <a:r>
              <a:rPr lang="en-US" sz="1050" i="1" dirty="0">
                <a:solidFill>
                  <a:srgbClr val="5A6472"/>
                </a:solidFill>
                <a:latin typeface="Calibri" pitchFamily="34" charset="0"/>
                <a:cs typeface="Amiri" pitchFamily="2" charset="-78"/>
              </a:rPr>
              <a:t> + noun (-un).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عِنْدَكُمْ سَمَكٌ؟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شَايٌ مِنْ فَضْلِكَ.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أُرِيدُ</a:t>
            </a:r>
            <a:pPr algn="l" indent="0" marL="0">
              <a:buNone/>
            </a:pPr>
            <a:r>
              <a:rPr lang="en-US" sz="1300" i="1" dirty="0">
                <a:solidFill>
                  <a:srgbClr val="5A6472"/>
                </a:solidFill>
                <a:latin typeface="Calibri" pitchFamily="34" charset="0"/>
                <a:cs typeface="Amiri" pitchFamily="2" charset="-78"/>
              </a:rPr>
              <a:t> the thing is the object.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سِعْرُهُ عَشَرَةُ جُنَيْهًا.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3–10 + plural.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سِعْرُ الشُّورْبَةُ؟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second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شَايٌ مِنْ فَضْلِكَ.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شَايًا مِنْ فَضْلِكَ.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Object → -an: ‏</a:t>
            </a:r>
            <a:pPr algn="l" indent="0" marL="0">
              <a:buNone/>
            </a:pPr>
            <a:r>
              <a:rPr lang="ar-SA" altLang="en-US" sz="1500" b="1" dirty="0">
                <a:solidFill>
                  <a:srgbClr val="1B3B6F"/>
                </a:solidFill>
                <a:latin typeface="Amiri" pitchFamily="2" charset="-78"/>
                <a:ea typeface="Amiri" pitchFamily="2" charset="-78"/>
                <a:cs typeface="Amiri" pitchFamily="2" charset="-78"/>
              </a:rPr>
              <a:t>شَايًا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سِعْرُهُ عَشَرَةُ جُنَيْهًا.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سِعْرُهُ عَشَرَةُ جُنَيْهَاتٍ.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3–10 → plural genitive: ‏</a:t>
            </a:r>
            <a:pPr algn="l" indent="0" marL="0">
              <a:buNone/>
            </a:pPr>
            <a:r>
              <a:rPr lang="ar-SA" altLang="en-US" sz="1500" b="1" dirty="0">
                <a:solidFill>
                  <a:srgbClr val="1B3B6F"/>
                </a:solidFill>
                <a:latin typeface="Amiri" pitchFamily="2" charset="-78"/>
                <a:ea typeface="Amiri" pitchFamily="2" charset="-78"/>
                <a:cs typeface="Amiri" pitchFamily="2" charset="-78"/>
              </a:rPr>
              <a:t>جُنَيْهَاتٍ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سِعْرُ الشُّورْبَةُ؟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كَمْ سِعْرُ الشُّورْبَةِ؟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سِعْرُ</a:t>
            </a:r>
            <a:pPr algn="l" indent="0" marL="0">
              <a:buNone/>
            </a:pPr>
            <a:r>
              <a:rPr lang="en-US" sz="1150" b="1" dirty="0">
                <a:solidFill>
                  <a:srgbClr val="1B3B6F"/>
                </a:solidFill>
                <a:latin typeface="Calibri" pitchFamily="34" charset="0"/>
                <a:cs typeface="Amiri" pitchFamily="2" charset="-78"/>
              </a:rPr>
              <a:t>‏ + noun in genitive (iḍāfa).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يَتَكَوَّنُ / تَتَكَوَّنُ ______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made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سَأَلْتُ النَّادِلَ: هَلْ عِنْدَكُمْ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asked the waiter: do you have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الطَّعَامُ ______ ، وَلٰكِنْ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the food is …, but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مَعَ ______ إِلَى مَطْعَمِ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went with … to … restaurant.</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______ وَ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ordered … and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وَشَرِبْتُ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drank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سِعْرُ ______ ______ جُنَيْهَاتٍ.</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price of … is … pounds.</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المَجْمُوعُ ______ .</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total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مُقَبِّلَاتٌ  ·  طَبَقٌ رَئِيسِيٌّ  ·  حَلْوَيَاتٌ · مَشْرُوبَاتٌ  ·  أُرِيدُ … مِنْ فَضْلِكَ  ·  لَوْ سَمَحْتَ  ·  يَتَكَوَّنُ · تَتَكَوَّنُ مِنْ  ·  جُنَيْهَاتٍ · جُنَيْهًا  ·  رَخِيصٌ · غَالٍ</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short restaurant review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رَأْيِي فِي المَطْعَمِ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review (about 45–65 words) of a meal at a restaurant (real or imagined). Include: • where and with whom • what you ordered: a starter, a main dish and a drink • what one dish is made of • the prices and the total • one polite question you asked • your opinion of the food and the price.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F5-L05 AND F5-L06.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مَعَ … إِلَى مَطْعَمِ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went with … to … restaurant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 وَ…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ordered … and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تَتَكَوَّنُ الكَبْسَةُ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kabsa is made of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المَجْمُوعُ … · كَانَ المَطْعَمُ رَخِيصًا / غَالِيًا</a:t>
            </a:r>
            <a:endParaRPr lang="ar-SA" sz="17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total … · the restaurant was cheap / expensive</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order politely with ‏</a:t>
            </a:r>
            <a:pPr algn="l" indent="0" marL="0">
              <a:buNone/>
            </a:pPr>
            <a:r>
              <a:rPr lang="ar-SA" altLang="en-US" sz="1450" dirty="0">
                <a:solidFill>
                  <a:srgbClr val="5A6472"/>
                </a:solidFill>
                <a:latin typeface="Amiri" pitchFamily="2" charset="-78"/>
                <a:ea typeface="Amiri" pitchFamily="2" charset="-78"/>
                <a:cs typeface="Amiri" pitchFamily="2" charset="-78"/>
              </a:rPr>
              <a:t>أُرِيدُ … مِنْ فَضْلِكَ</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numbers + ‏</a:t>
            </a:r>
            <a:pPr algn="l" indent="0" marL="0">
              <a:buNone/>
            </a:pPr>
            <a:r>
              <a:rPr lang="ar-SA" altLang="en-US" sz="1450" dirty="0">
                <a:solidFill>
                  <a:srgbClr val="5A6472"/>
                </a:solidFill>
                <a:latin typeface="Amiri" pitchFamily="2" charset="-78"/>
                <a:ea typeface="Amiri" pitchFamily="2" charset="-78"/>
                <a:cs typeface="Amiri" pitchFamily="2" charset="-78"/>
              </a:rPr>
              <a:t>جُنَيْهَاتٍ / جُنَيْهًا</a:t>
            </a:r>
            <a:pPr algn="l" indent="0" marL="0">
              <a:buNone/>
            </a:pPr>
            <a:r>
              <a:rPr lang="en-US" sz="1100" dirty="0">
                <a:solidFill>
                  <a:srgbClr val="5A6472"/>
                </a:solidFill>
                <a:latin typeface="Calibri" pitchFamily="34" charset="0"/>
                <a:cs typeface="Amiri" pitchFamily="2" charset="-78"/>
              </a:rPr>
              <a:t>‏ correctly and ‏</a:t>
            </a:r>
            <a:pPr algn="l" indent="0" marL="0">
              <a:buNone/>
            </a:pPr>
            <a:r>
              <a:rPr lang="ar-SA" altLang="en-US" sz="1450" dirty="0">
                <a:solidFill>
                  <a:srgbClr val="5A6472"/>
                </a:solidFill>
                <a:latin typeface="Amiri" pitchFamily="2" charset="-78"/>
                <a:ea typeface="Amiri" pitchFamily="2" charset="-78"/>
                <a:cs typeface="Amiri" pitchFamily="2" charset="-78"/>
              </a:rPr>
              <a:t>يَتَكَوَّنُ / تَتَكَوَّنُ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فَلَافِلَ، مِنْ فَضْلِكَ.</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would like falafel, please.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وَسَهْلًا! مَاذَا تُرِيدُ مِنَ المُقَبِّلَاتِ؟</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مِمَّ تَتَكَوَّنُ الكَبْسَةُ؟ … طَيِّبٌ، أُرِيدُ الكَبْسَةَ.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What is the kabsa made of? … OK, I would like the kabsa.</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وَمِنَ الأَطْبَاقِ الرَّئِيسِيَّةِ؟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عِنْدَكُمْ عَصِيرُ لَيْمُونٍ بِالنَّعْنَاعِ؟</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Do you have lemon and mint juice?</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تُرِيدُ أَنْ تَشْرَبَ؟</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سِعْرُ البَقْلَاوَةِ؟ … أَرْبَعَةُ جُنَيْهَاتٍ؟ نَعَمْ، مِنْ فَضْلِكَ.</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much is the baklava? … Four pounds? Yes, please.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تُرِيدُ حَلْوَيَاتٍ؟</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الطَّعَامُ لَذِيذٌ جِدًّا، شُكْرًا. الحِسَابُ مِنْ فَضْلِكَ.</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the food is very tasty, thank you. The bill, please.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كُلُّ شَيْءٍ جَيِّدٌ؟</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ذَهَبْتُ مَعَ عَائِلَتِي إِلَى مَطْعَمِ «الأَرْزِ» اللُّبْنَانِيِّ. طَلَبْتُ حُمُّصًا وَكَبْسَةً، وَشَرِبْتُ عَصِيرَ لَيْمُونٍ. تَتَكَوَّنُ الكَبْسَةُ مِنْ أَرُزٍّ وَدَجَاجٍ وَبَهَارَاتٍ. سَأَلْتُ النَّادِلَ: هَلْ عِنْدَكُمْ بَقْلَاوَةٌ؟ قَالَ: نَعَمْ. سِعْرُ الحُمُّصِ ثَلَاثَةُ جُنَيْهَاتٍ، وَسِعْرُ الكَبْسَةِ تِسْعَةُ جُنَيْهَاتٍ، وَالمَجْمُوعُ اثْنَا عَشَرَ جُنَيْهًا. فِي رَأْيِي الطَّعَامُ لَذِيذٌ جِدًّا، وَالمَطْعَمُ لَيْسَ غَالِيًا.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went with my family to the Cedar Lebanese restaurant. I ordered hummus and kabsa, and I drank lemon juice. Kabsa is made of rice, chicken and spices. I asked the waiter: do you have baklava? He said yes. The hummus costs three pounds and the kabsa nine pounds, and the total is twelve pounds. In my opinion the food is very tasty, and the restaurant is not expensive.”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طَلَبْتُ حُمُّصًا وَكَبْسَةً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تَتَكَوَّنُ الكَبْسَةُ مِنْ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هَلْ عِنْدَكُمْ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اثْنَا عَشَرَ جُنَيْهًا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F5-W03 · Apply workshop (F5-L05 + F5-L06)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F5-L05 and F5-L06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F5-L07 · The Body and Its Parts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الجِسْمُ وَأَعْضَاؤُهُ</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F5-W03 · Apply Workshop — Dinner at the Lebanese Restaurant</dc:title>
  <dc:subject>PptxGenJS Presentation</dc:subject>
  <dc:creator>Al Madina Online School · Arabic Department</dc:creator>
  <cp:lastModifiedBy>Al Madina Online School · Arabic Department</cp:lastModifiedBy>
  <cp:revision>1</cp:revision>
  <dcterms:created xsi:type="dcterms:W3CDTF">2026-10-26T15:47:40Z</dcterms:created>
  <dcterms:modified xsi:type="dcterms:W3CDTF">2026-10-26T15:47:40Z</dcterms:modified>
</cp:coreProperties>
</file>