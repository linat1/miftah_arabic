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F5-L07 · Learn F5-L08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F5-L07 (The Body and Its Parts) and F5-L08 (Health Problems and How You Feel).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F5-L07 and F5-L08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F5-L07? After F5-L08?” Take two answers in the chat for each lesson (one word or one sentence is enough). Then read objective 3 — today’s new situation that needs BOTH lessons. Students tick their route goals at the end of the lesson.
F5-L07 language: hādhā / hādhihi by gender (ʿayn, udhun, yad, rijl, qadam are feminine); the dual for pairs (ʿaynāni · yadāni); arā bi-ʿaynayya · asmaʿu bi-udhunayya; possessive endings
F5-L08 language: ʿindī + illness (ṣudāʿun · zukāmun · ḥummā); ʿindī alamun fī …; ashʿuru bi-…; mundhu + time (mundhu amsi · mundhu yawmayni); anā marīḍun / marīḍatun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F5-L07 and F5-L08. Teacher reads it once with a confident student; then pairs. Ask: “Which lines are from F5-L07? Which from F5-L08?” Body parts and duals (أُذُنِي · عَيْنَيَّ — ear and eye are feminine) come from F5-L07; illnesses, عِنْدِي أَلَمٌ فِي … and مُنْذُ … from F5-L08.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body parts, duals and feminine body words (F5-L07) with illnesses, pain, feelings and مُنْذُ (F5-L08). SUPPORTED: the plan column gives the first words, not the full answer. To a girl Partner A says: كَيْفَ تَشْعُرِينَ؟ · مَاذَا عِنْدَكِ؟ · مُنْذُ مَتَى أَنْتِ مَرِيضَةٌ؟ — she answers: أَنَا مَرِيضَةٌ. Accept a simpler answer for task 5 from Core students: نَعَمْ، عِنْدِي أَلَمٌ فِي عَيْنَيَّ.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F5-L07 and F5-L08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F5-L07 and F5-L08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(43 words). CHECK YOURSELF (2 min). Find each bullet point in the model, and one phrase from F5-L07 and one from F5-L08.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F5-L07 + F5-L08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Apply Workshop — At the School Nurse</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عِنْدَ مُمَرِّضَةِ المَدْرَسَةِ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body parts with illness: at the school nurse’s office they say where it hurts (with the right body part and duals), what they have and since when, describe how they feel, and then write an absence message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F5-L07 + F5-L08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F5-L07 and F5-L08.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F5-L07 + F5-L08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F5-L07: The Body and Its Parts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F5-L08: Health Problems and How You Feel</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school nurse’s office · A message from the nurse’s office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F5-L07 and F5-L08.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F5-L07 · The Body and Its Parts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(hādhā)</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t>
            </a:r>
            <a:endParaRPr lang="en-US" sz="1350" dirty="0"/>
          </a:p>
          <a:p>
            <a:pPr indent="0" marL="0">
              <a:buNone/>
            </a:pPr>
            <a:r>
              <a:rPr lang="en-US" sz="1100" i="1" dirty="0">
                <a:solidFill>
                  <a:srgbClr val="5A6472"/>
                </a:solidFill>
                <a:latin typeface="Calibri" pitchFamily="34" charset="0"/>
                <a:cs typeface="Amiri" pitchFamily="2" charset="-78"/>
              </a:rPr>
              <a:t>raʾ-sun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رَأْسٌ</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رَأْسِي</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رُؤُوسٌ</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 / عَيْنَانِ</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eye / two eyes</a:t>
            </a:r>
            <a:endParaRPr lang="en-US" sz="1350" dirty="0"/>
          </a:p>
          <a:p>
            <a:pPr indent="0" marL="0">
              <a:buNone/>
            </a:pPr>
            <a:r>
              <a:rPr lang="en-US" sz="1100" i="1" dirty="0">
                <a:solidFill>
                  <a:srgbClr val="5A6472"/>
                </a:solidFill>
                <a:latin typeface="Calibri" pitchFamily="34" charset="0"/>
                <a:cs typeface="Amiri" pitchFamily="2" charset="-78"/>
              </a:rPr>
              <a:t>ʿay-nun / ʿay-nā-ni</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عَيْنَانِ</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عُيُونٌ</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أَنْفٌ</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nose</a:t>
            </a:r>
            <a:endParaRPr lang="en-US" sz="1350" dirty="0"/>
          </a:p>
          <a:p>
            <a:pPr indent="0" marL="0">
              <a:buNone/>
            </a:pPr>
            <a:r>
              <a:rPr lang="en-US" sz="1100" i="1" dirty="0">
                <a:solidFill>
                  <a:srgbClr val="5A6472"/>
                </a:solidFill>
                <a:latin typeface="Calibri" pitchFamily="34" charset="0"/>
                <a:cs typeface="Amiri" pitchFamily="2" charset="-78"/>
              </a:rPr>
              <a:t>an-fun</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ذِرَاعٌ</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arm</a:t>
            </a:r>
            <a:endParaRPr lang="en-US" sz="1350" dirty="0"/>
          </a:p>
          <a:p>
            <a:pPr indent="0" marL="0">
              <a:buNone/>
            </a:pPr>
            <a:r>
              <a:rPr lang="en-US" sz="1100" i="1" dirty="0">
                <a:solidFill>
                  <a:srgbClr val="5A6472"/>
                </a:solidFill>
                <a:latin typeface="Calibri" pitchFamily="34" charset="0"/>
                <a:cs typeface="Amiri" pitchFamily="2" charset="-78"/>
              </a:rPr>
              <a:t>dhi-rā-ʿun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ظَهْرٌ</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back</a:t>
            </a:r>
            <a:endParaRPr lang="en-US" sz="1350" dirty="0"/>
          </a:p>
          <a:p>
            <a:pPr indent="0" marL="0">
              <a:buNone/>
            </a:pPr>
            <a:r>
              <a:rPr lang="en-US" sz="1100" i="1" dirty="0">
                <a:solidFill>
                  <a:srgbClr val="5A6472"/>
                </a:solidFill>
                <a:latin typeface="Calibri" pitchFamily="34" charset="0"/>
                <a:cs typeface="Amiri" pitchFamily="2" charset="-78"/>
              </a:rPr>
              <a:t>ẓah-run</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(hādhihi)</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قَدَمٌ / قَدَمَانِ</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foot / two feet</a:t>
            </a:r>
            <a:endParaRPr lang="en-US" sz="1350" dirty="0"/>
          </a:p>
          <a:p>
            <a:pPr indent="0" marL="0">
              <a:buNone/>
            </a:pPr>
            <a:r>
              <a:rPr lang="en-US" sz="1100" i="1" dirty="0">
                <a:solidFill>
                  <a:srgbClr val="5A6472"/>
                </a:solidFill>
                <a:latin typeface="Calibri" pitchFamily="34" charset="0"/>
                <a:cs typeface="Amiri" pitchFamily="2" charset="-78"/>
              </a:rPr>
              <a:t>qa-da-mun / qa-da-mā-ni</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قَدَمٌ</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قَدَمَانِ</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أَقْدَامٌ</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F5-L08 · Health Problems and How You Feel</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صُدَاعٌ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headache</a:t>
            </a:r>
            <a:endParaRPr lang="en-US" sz="1350" dirty="0"/>
          </a:p>
          <a:p>
            <a:pPr indent="0" marL="0">
              <a:buNone/>
            </a:pPr>
            <a:r>
              <a:rPr lang="en-US" sz="1100" i="1" dirty="0">
                <a:solidFill>
                  <a:srgbClr val="5A6472"/>
                </a:solidFill>
                <a:latin typeface="Calibri" pitchFamily="34" charset="0"/>
                <a:cs typeface="Amiri" pitchFamily="2" charset="-78"/>
              </a:rPr>
              <a:t>ṣu-dā-ʿun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fever</a:t>
            </a:r>
            <a:endParaRPr lang="en-US" sz="1350" dirty="0"/>
          </a:p>
          <a:p>
            <a:pPr indent="0" marL="0">
              <a:buNone/>
            </a:pPr>
            <a:r>
              <a:rPr lang="en-US" sz="1100" i="1" dirty="0">
                <a:solidFill>
                  <a:srgbClr val="5A6472"/>
                </a:solidFill>
                <a:latin typeface="Calibri" pitchFamily="34" charset="0"/>
                <a:cs typeface="Amiri" pitchFamily="2" charset="-78"/>
              </a:rPr>
              <a:t>ḥum-mā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أَلَمُ الحَلْقِ</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sore throat</a:t>
            </a:r>
            <a:endParaRPr lang="en-US" sz="1350" dirty="0"/>
          </a:p>
          <a:p>
            <a:pPr indent="0" marL="0">
              <a:buNone/>
            </a:pPr>
            <a:r>
              <a:rPr lang="en-US" sz="1100" i="1" dirty="0">
                <a:solidFill>
                  <a:srgbClr val="5A6472"/>
                </a:solidFill>
                <a:latin typeface="Calibri" pitchFamily="34" charset="0"/>
                <a:cs typeface="Amiri" pitchFamily="2" charset="-78"/>
              </a:rPr>
              <a:t>a-la-mu al-ḥal-qi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أَلَمُ الأَسْنَانِ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toothache</a:t>
            </a:r>
            <a:endParaRPr lang="en-US" sz="1350" dirty="0"/>
          </a:p>
          <a:p>
            <a:pPr indent="0" marL="0">
              <a:buNone/>
            </a:pPr>
            <a:r>
              <a:rPr lang="en-US" sz="1100" i="1" dirty="0">
                <a:solidFill>
                  <a:srgbClr val="5A6472"/>
                </a:solidFill>
                <a:latin typeface="Calibri" pitchFamily="34" charset="0"/>
                <a:cs typeface="Amiri" pitchFamily="2" charset="-78"/>
              </a:rPr>
              <a:t>a-la-mu al-as-nā-ni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أَشْعُرُ بِـ ...</a:t>
            </a:r>
            <a:endParaRPr lang="ar-SA" sz="3000" dirty="0"/>
          </a:p>
        </p:txBody>
      </p:sp>
      <p:sp>
        <p:nvSpPr>
          <p:cNvPr id="51" name="Text 4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feel ...</a:t>
            </a:r>
            <a:endParaRPr lang="en-US" sz="1350" dirty="0"/>
          </a:p>
          <a:p>
            <a:pPr indent="0" marL="0">
              <a:buNone/>
            </a:pPr>
            <a:r>
              <a:rPr lang="en-US" sz="1100" i="1" dirty="0">
                <a:solidFill>
                  <a:srgbClr val="5A6472"/>
                </a:solidFill>
                <a:latin typeface="Calibri" pitchFamily="34" charset="0"/>
                <a:cs typeface="Amiri" pitchFamily="2" charset="-78"/>
              </a:rPr>
              <a:t>ash-ʿu-ru bi ...</a:t>
            </a:r>
            <a:endParaRPr lang="en-US" sz="1350" dirty="0"/>
          </a:p>
        </p:txBody>
      </p:sp>
      <p:sp>
        <p:nvSpPr>
          <p:cNvPr id="52" name="Shape 4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4" name="Text 5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يَشْعُرُ</a:t>
            </a:r>
            <a:endParaRPr lang="ar-SA" sz="1500" dirty="0"/>
          </a:p>
        </p:txBody>
      </p:sp>
      <p:sp>
        <p:nvSpPr>
          <p:cNvPr id="55" name="Shape 5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تَشْعُرُ</a:t>
            </a:r>
            <a:endParaRPr lang="ar-SA" sz="1500" dirty="0"/>
          </a:p>
        </p:txBody>
      </p:sp>
      <p:sp>
        <p:nvSpPr>
          <p:cNvPr id="58" name="Shape 5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60" name="Text 57"/>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تَشْعُرِينَ</a:t>
            </a:r>
            <a:endParaRPr lang="ar-SA"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مُنْذُ أَمْسِ</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since yesterday</a:t>
            </a:r>
            <a:endParaRPr lang="en-US" sz="1350" dirty="0"/>
          </a:p>
          <a:p>
            <a:pPr indent="0" marL="0">
              <a:buNone/>
            </a:pPr>
            <a:r>
              <a:rPr lang="en-US" sz="1100" i="1" dirty="0">
                <a:solidFill>
                  <a:srgbClr val="5A6472"/>
                </a:solidFill>
                <a:latin typeface="Calibri" pitchFamily="34" charset="0"/>
                <a:cs typeface="Amiri" pitchFamily="2" charset="-78"/>
              </a:rPr>
              <a:t>mun-dhu am-si</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 لَهَا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أَنَا آسِفٌ / آسِفَةٌ، لَمْ آتِ إِلَى المَدْرَسَةِ …</a:t>
            </a:r>
            <a:endParaRPr lang="ar-SA" sz="14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عِنْدِي … وَ…</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 عَيْنَاهَا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يَدَاهُ … وَرِجْلَاهُ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مُنْذُ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إِنْ شَاءَ اللّٰهُ سَأَرْجِعُ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يَرَى بِعَيْنَيْهِ · يَمْشِي بِرِجْلَيْهِ</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F5-L07 · The Body and Its Parts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F5-L08 · Health Problems and How You Feel</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F5-L07 · The Body and Its Parts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 لَهَا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 عَيْنَاهَا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يَدَاهُ … وَرِجْلَاهُ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يَرَى بِعَيْنَيْهِ · يَمْشِي بِرِجْلَيْهِ</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F5-L08 · Health Problems and How You Feel</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آسِفٌ / آسِفَةٌ، لَمْ آتِ إِلَى المَدْرَسَةِ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عِنْدِي … وَ…</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مُنْذُ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إِنْ شَاءَ اللّٰهُ سَأَرْجِعُ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wrong?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بِكَ؟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wrong, Ali? How do you feel?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بِكَ يَا عَلِيُّ؟ كَيْفَ تَشْعُرُ؟</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ill. I have a headache, and I feel tired.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أَنَا مَرِيضٌ. عِنْدِي صُدَاعٌ، وَأَشْعُرُ بِالتَّعَبِ.</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when?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مُنْذُ مَتَى؟</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yesterday. And I have a pain in my right ear too.</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مُنْذُ أَمْسِ. وَعِنْدِي أَلَمٌ فِي أُذُنِي اليُمْنَى أَيْضًا.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fever?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عِنْدَكَ حُمَّى؟</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but my eyes are red, and my throat hurts.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لَا، لٰكِنَّ عَيْنَيَّ حَمْرَاوَانِ، وَحَلْقِي يُؤْلِمُنِي.</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لِي … ← لِي يَدَانِ</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 / هٰذِهِ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(point to a part)</a:t>
            </a:r>
            <a:endParaRPr lang="en-US" sz="1100" dirty="0"/>
          </a:p>
        </p:txBody>
      </p:sp>
      <p:sp>
        <p:nvSpPr>
          <p:cNvPr id="25" name="Text 22"/>
          <p:cNvSpPr txBox="1"/>
          <p:nvPr/>
        </p:nvSpPr>
        <p:spPr>
          <a:xfrm>
            <a:off x="1069848" y="2267712"/>
            <a:ext cx="338328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هٰذَا؟ / مَا هٰذِهِ؟</a:t>
            </a:r>
            <a:pPr algn="l" indent="0" marL="0">
              <a:buNone/>
            </a:pPr>
            <a:r>
              <a:rPr lang="en-US" sz="1100" dirty="0">
                <a:solidFill>
                  <a:srgbClr val="5A6472"/>
                </a:solidFill>
                <a:latin typeface="Calibri" pitchFamily="34" charset="0"/>
                <a:cs typeface="Amiri" pitchFamily="2" charset="-78"/>
              </a:rPr>
              <a:t> (point)</a:t>
            </a:r>
            <a:endParaRPr lang="en-US" sz="11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أَشْعُرُ بِالتَّعَبِ / أَنَا بِخَيْرٍ</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feel today?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تَشْعُرُ اليَوْمَ؟</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56648" y="3496056"/>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أَرَى بِعَيْنَيَّ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see with?</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تَرَى؟</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 أَيْضًا</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عِنْدِي أَلَمٌ فِي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pain?</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الأَلَمُ؟</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اليُمْنَى / اليُسْرَى</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أَكْتُبُ بِيَدِي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write with?</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تَكْتُبُ؟</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يَوْمَيْنِ / أُسْبُوعٍ</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have you been ill?</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مُنْذُ مَتَى أَنْتَ مَرِيضٌ؟</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F5-L07, even numbers from F5-L08.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the school nurse’s office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مَكْتَبُ المُمَرِّضَةِ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أَنَا مَرِيضٌ … أَشْعُرُ بِالتَّعَبِ</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 are ill and how you feel.</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كَيْفَ تَشْعُرُ؟</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عِنْدِي أَلَمٌ فِي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body part that hurts.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الأَلَمُ؟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عِنْدِي … وَ…</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problems.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عِنْدَكَ؟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مَتَى ← مُنْذُ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since when.</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مُنْذُ مَتَى أَنْتَ مَرِيضٌ؟</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عَيْنَايَ … / لَا،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about your eyes (dual).</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افْتَحْ فَمَكَ … وَهَلْ تُؤْلِمُكَ عَيْنَاكَ؟</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student who feels ill · Partner A = the school nurse.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last time I was ill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آخِرَ مَرَّةٍ كُنْتُ مَرِيضًا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a time you were ill (or invent one): what you had, which body parts hurt, since when, how you felt and what you did.</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كَانَ عِنْدِي … · عِنْدِي أَلَمٌ فِي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body parts (one dual) and </a:t>
            </a:r>
            <a:pPr algn="l" indent="0" marL="0">
              <a:buNone/>
            </a:pPr>
            <a:r>
              <a:rPr lang="ar-SA" altLang="en-US" sz="1500" dirty="0">
                <a:solidFill>
                  <a:srgbClr val="1F2A37"/>
                </a:solidFill>
                <a:latin typeface="Amiri" pitchFamily="2" charset="-78"/>
                <a:ea typeface="Amiri" pitchFamily="2" charset="-78"/>
                <a:cs typeface="Amiri" pitchFamily="2" charset="-78"/>
              </a:rPr>
              <a:t>مُنْذُ</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how you felt (</a:t>
            </a:r>
            <a:pPr algn="l" indent="0" marL="0">
              <a:buNone/>
            </a:pPr>
            <a:r>
              <a:rPr lang="ar-SA" altLang="en-US" sz="1500" dirty="0">
                <a:solidFill>
                  <a:srgbClr val="1F2A37"/>
                </a:solidFill>
                <a:latin typeface="Amiri" pitchFamily="2" charset="-78"/>
                <a:ea typeface="Amiri" pitchFamily="2" charset="-78"/>
                <a:cs typeface="Amiri" pitchFamily="2" charset="-78"/>
              </a:rPr>
              <a:t>أَشْعُرُ بِالتَّعَبِ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بِالبَرْدِ</a:t>
            </a:r>
            <a:pPr algn="l" indent="0" marL="0">
              <a:buNone/>
            </a:pPr>
            <a:r>
              <a:rPr lang="en-US" sz="1150" dirty="0">
                <a:solidFill>
                  <a:srgbClr val="1F2A37"/>
                </a:solidFill>
                <a:latin typeface="Calibri" pitchFamily="34" charset="0"/>
                <a:cs typeface="Amiri" pitchFamily="2" charset="-78"/>
              </a:rPr>
              <a:t>) and what you did: </a:t>
            </a:r>
            <a:pPr algn="l" indent="0" marL="0">
              <a:buNone/>
            </a:pPr>
            <a:r>
              <a:rPr lang="ar-SA" altLang="en-US" sz="1500" dirty="0">
                <a:solidFill>
                  <a:srgbClr val="1F2A37"/>
                </a:solidFill>
                <a:latin typeface="Amiri" pitchFamily="2" charset="-78"/>
                <a:ea typeface="Amiri" pitchFamily="2" charset="-78"/>
                <a:cs typeface="Amiri" pitchFamily="2" charset="-78"/>
              </a:rPr>
              <a:t>ذَهَبْتُ إِلَى الطَّبِيبِ</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صُدَاعٌ / زُكَامٌ / حُمَّى</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 headache / a cold / a fever</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أَلَمٌ فِي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 pain in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مُنْذُ أَمْسِ · مُنْذُ يَوْمَيْنِ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since yesterday · for two days</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أَشْعُرُ بِالتَّعَبِ</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feel tired</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hand.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يَدُكَ</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اليُمْنَى.</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اليَمِينُ.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a stomach ache since yesterday.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أَلَمٌ فِي المَعِدَةِ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أَلَمٌ فِي المَعِدَةُ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مُنْذُ أَمْسِ.</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hear with my ears.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أَسْمَعُ</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يَسْمَعُ</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بِأُذُنَيَّ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بِأُذُنَايَ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hand.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يَدٌ</a:t>
            </a:r>
            <a:pPr algn="l" indent="0" marL="0">
              <a:buNone/>
            </a:pPr>
            <a:r>
              <a:rPr lang="en-US" sz="1050" i="1" dirty="0">
                <a:solidFill>
                  <a:srgbClr val="5A6472"/>
                </a:solidFill>
                <a:latin typeface="Calibri" pitchFamily="34" charset="0"/>
                <a:cs typeface="Amiri" pitchFamily="2" charset="-78"/>
              </a:rPr>
              <a:t> is feminine (no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يَدِي اليُمْنَى.</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a stomach ache since yesterday.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a:t>
            </a:r>
            <a:pPr algn="l" indent="0" marL="0">
              <a:buNone/>
            </a:pPr>
            <a:r>
              <a:rPr lang="ar-SA" altLang="en-US" sz="1350" dirty="0">
                <a:solidFill>
                  <a:srgbClr val="5A6472"/>
                </a:solidFill>
                <a:latin typeface="Amiri" pitchFamily="2" charset="-78"/>
                <a:ea typeface="Amiri" pitchFamily="2" charset="-78"/>
                <a:cs typeface="Amiri" pitchFamily="2" charset="-78"/>
              </a:rPr>
              <a:t>عِنْدِي</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genitive; since = </a:t>
            </a:r>
            <a:pPr algn="l" indent="0" marL="0">
              <a:buNone/>
            </a:pPr>
            <a:r>
              <a:rPr lang="ar-SA" altLang="en-US" sz="1350" dirty="0">
                <a:solidFill>
                  <a:srgbClr val="5A6472"/>
                </a:solidFill>
                <a:latin typeface="Amiri" pitchFamily="2" charset="-78"/>
                <a:ea typeface="Amiri" pitchFamily="2" charset="-78"/>
                <a:cs typeface="Amiri" pitchFamily="2" charset="-78"/>
              </a:rPr>
              <a:t>مُنْذُ</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أَلَمٌ فِي المَعِدَةِ مُنْذُ أَمْسِ.</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hear with my ears.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my two ears = </a:t>
            </a:r>
            <a:pPr algn="l" indent="0" marL="0">
              <a:buNone/>
            </a:pPr>
            <a:r>
              <a:rPr lang="ar-SA" altLang="en-US" sz="1350" dirty="0">
                <a:solidFill>
                  <a:srgbClr val="5A6472"/>
                </a:solidFill>
                <a:latin typeface="Amiri" pitchFamily="2" charset="-78"/>
                <a:ea typeface="Amiri" pitchFamily="2" charset="-78"/>
                <a:cs typeface="Amiri" pitchFamily="2" charset="-78"/>
              </a:rPr>
              <a:t>بِأُذُنَيَّ</a:t>
            </a:r>
            <a:pPr algn="l" indent="0" marL="0">
              <a:buNone/>
            </a:pPr>
            <a:r>
              <a:rPr lang="en-US" sz="1050" i="1" dirty="0">
                <a:solidFill>
                  <a:srgbClr val="5A6472"/>
                </a:solidFill>
                <a:latin typeface="Calibri" pitchFamily="34" charset="0"/>
                <a:cs typeface="Amiri" pitchFamily="2" charset="-78"/>
              </a:rPr>
              <a:t> (dual after bi-).</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أَسْمَعُ بِأُذُنَيَّ .</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عَيْنٌ.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عَيْنٌ</a:t>
            </a:r>
            <a:pPr algn="l" indent="0" marL="0">
              <a:buNone/>
            </a:pPr>
            <a:r>
              <a:rPr lang="en-US" sz="1300" i="1" dirty="0">
                <a:solidFill>
                  <a:srgbClr val="5A6472"/>
                </a:solidFill>
                <a:latin typeface="Calibri" pitchFamily="34" charset="0"/>
                <a:cs typeface="Amiri" pitchFamily="2" charset="-78"/>
              </a:rPr>
              <a:t> is feminine without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عِنْدِي صُدَاعٌ مِنْ أَمْسِ.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“since” in Arabic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 اثْنَانِ 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of something → one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عَيْنٌ.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عَيْنٌ.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Body pairs (</a:t>
            </a:r>
            <a:pPr algn="l" indent="0" marL="0">
              <a:buNone/>
            </a:pPr>
            <a:r>
              <a:rPr lang="ar-SA" altLang="en-US" sz="1500" b="1" dirty="0">
                <a:solidFill>
                  <a:srgbClr val="1B3B6F"/>
                </a:solidFill>
                <a:latin typeface="Amiri" pitchFamily="2" charset="-78"/>
                <a:ea typeface="Amiri" pitchFamily="2" charset="-78"/>
                <a:cs typeface="Amiri" pitchFamily="2" charset="-78"/>
              </a:rPr>
              <a:t>عَيْنٌ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أُذُنٌ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يَدٌ</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رِجْلٌ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قَدَمٌ</a:t>
            </a:r>
            <a:pPr algn="l" indent="0" marL="0">
              <a:buNone/>
            </a:pPr>
            <a:r>
              <a:rPr lang="en-US" sz="1150" b="1" dirty="0">
                <a:solidFill>
                  <a:srgbClr val="1B3B6F"/>
                </a:solidFill>
                <a:latin typeface="Calibri" pitchFamily="34" charset="0"/>
                <a:cs typeface="Amiri" pitchFamily="2" charset="-78"/>
              </a:rPr>
              <a:t>) are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عِنْدِي صُدَاعٌ مِنْ أَمْسِ.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عِنْدِي صُدَاعٌ مُنْذُ أَمْسِ.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Since / for = </a:t>
            </a:r>
            <a:pPr algn="l" indent="0" marL="0">
              <a:buNone/>
            </a:pPr>
            <a:r>
              <a:rPr lang="ar-SA" altLang="en-US" sz="1500" b="1" dirty="0">
                <a:solidFill>
                  <a:srgbClr val="1B3B6F"/>
                </a:solidFill>
                <a:latin typeface="Amiri" pitchFamily="2" charset="-78"/>
                <a:ea typeface="Amiri" pitchFamily="2" charset="-78"/>
                <a:cs typeface="Amiri" pitchFamily="2" charset="-78"/>
              </a:rPr>
              <a:t>مُنْذُ</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 اثْنَانِ 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 يَدَانِ.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dual: </a:t>
            </a:r>
            <a:pPr algn="l" indent="0" marL="0">
              <a:buNone/>
            </a:pPr>
            <a:r>
              <a:rPr lang="ar-SA" altLang="en-US" sz="1500" b="1" dirty="0">
                <a:solidFill>
                  <a:srgbClr val="1B3B6F"/>
                </a:solidFill>
                <a:latin typeface="Amiri" pitchFamily="2" charset="-78"/>
                <a:ea typeface="Amiri" pitchFamily="2" charset="-78"/>
                <a:cs typeface="Amiri" pitchFamily="2" charset="-78"/>
              </a:rPr>
              <a:t>يَدَانِ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 ______ تُؤْلِمَانِنِي أَيْضًا.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my (two) … hurt too.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أَشْعُرُ بِالتَّعَبِ، لِذٰلِكَ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feel tired, so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مَرِيضٌ / مَرِيضَةٌ اليَوْمَ.</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ill today.</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أَلَمٌ فِي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pain in my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Since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رَأْسِي · ظَهْرِي  ·  أُذُنِي · عَيْنَايَ  ·  يَدِي · رِجْلِي  ·  صُدَاعٌ · زُكَامٌ  ·  حُمَّى · سُعَالٌ  ·  عِنْدِي أَلَمٌ فِي  ·  مُنْذُ أَمْسِ  ·  أَشْعُرُ بِالتَّعَبِ</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 message from the nurse’s office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مِنْ مَكْتَبِ المُمَرِّضَةِ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message (about 40–60 words) to your teacher or your parents from the nurse’s office. Include: • a polite greeting • that you are ill and how you feel • two problems • which body parts hurt (one dual) • since when • what you will do now.</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F5-L07 AND F5-L08.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مَرِيضٌ / مَرِيضَةٌ، وَأَشْعُرُ بِالتَّعَبِ</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ill and I feel tired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 وَعِنْدِي أَلَمٌ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 and I have a pain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عَيْنَايَ / أُذُنَايَ تُؤْلِمَانِنِي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eyes / ears hurt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 · سَأَرْجِعُ إِلَى البَيْتِ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 · I will go home</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هٰذِهِ</a:t>
            </a:r>
            <a:pPr algn="l" indent="0" marL="0">
              <a:buNone/>
            </a:pPr>
            <a:r>
              <a:rPr lang="en-US" sz="1100" dirty="0">
                <a:solidFill>
                  <a:srgbClr val="5A6472"/>
                </a:solidFill>
                <a:latin typeface="Calibri" pitchFamily="34" charset="0"/>
                <a:cs typeface="Amiri" pitchFamily="2" charset="-78"/>
              </a:rPr>
              <a:t> for the feminine body parts (</a:t>
            </a:r>
            <a:pPr algn="l" indent="0" marL="0">
              <a:buNone/>
            </a:pPr>
            <a:r>
              <a:rPr lang="ar-SA" altLang="en-US" sz="1450" dirty="0">
                <a:solidFill>
                  <a:srgbClr val="5A6472"/>
                </a:solidFill>
                <a:latin typeface="Amiri" pitchFamily="2" charset="-78"/>
                <a:ea typeface="Amiri" pitchFamily="2" charset="-78"/>
                <a:cs typeface="Amiri" pitchFamily="2" charset="-78"/>
              </a:rPr>
              <a:t>عَيْنٌ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يَدٌ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رِجْلٌ</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it hurts (</a:t>
            </a:r>
            <a:pPr algn="l" indent="0" marL="0">
              <a:buNone/>
            </a:pPr>
            <a:r>
              <a:rPr lang="ar-SA" altLang="en-US" sz="1450" dirty="0">
                <a:solidFill>
                  <a:srgbClr val="5A6472"/>
                </a:solidFill>
                <a:latin typeface="Amiri" pitchFamily="2" charset="-78"/>
                <a:ea typeface="Amiri" pitchFamily="2" charset="-78"/>
                <a:cs typeface="Amiri" pitchFamily="2" charset="-78"/>
              </a:rPr>
              <a:t>عِنْدِي أَلَمٌ فِي</a:t>
            </a:r>
            <a:pPr algn="l" indent="0" marL="0">
              <a:buNone/>
            </a:pPr>
            <a:r>
              <a:rPr lang="en-US" sz="1100" dirty="0">
                <a:solidFill>
                  <a:srgbClr val="5A6472"/>
                </a:solidFill>
                <a:latin typeface="Calibri" pitchFamily="34" charset="0"/>
                <a:cs typeface="Amiri" pitchFamily="2" charset="-78"/>
              </a:rPr>
              <a:t> …) and agree </a:t>
            </a:r>
            <a:pPr algn="l" indent="0" marL="0">
              <a:buNone/>
            </a:pPr>
            <a:r>
              <a:rPr lang="ar-SA" altLang="en-US" sz="1450" dirty="0">
                <a:solidFill>
                  <a:srgbClr val="5A6472"/>
                </a:solidFill>
                <a:latin typeface="Amiri" pitchFamily="2" charset="-78"/>
                <a:ea typeface="Amiri" pitchFamily="2" charset="-78"/>
                <a:cs typeface="Amiri" pitchFamily="2" charset="-78"/>
              </a:rPr>
              <a:t>مَرِيضٌ / مَرِيضَةٌ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مَرِيضٌ، وَأَشْعُرُ بِالتَّعَبِ.</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ill, and I feel tired.</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كَيْفَ تَشْعُرُ؟</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أَلَمٌ فِي رَأْسِي وَفِي ظَهْرِي.</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a pain in my head and in my back.</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الأَلَمُ؟</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زُكَامٌ وَسُعَالٌ.</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a cold and a cough.</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عِنْدَكَ؟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مُنْذُ يَوْمَيْنِ.</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 two days.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مَتَى أَنْتَ مَرِيضٌ؟</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عَيْنَايَ تُؤْلِمَانِنِي قَلِيلًا.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my eyes hurt a little.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افْتَحْ فَمَكَ … وَهَلْ تُؤْلِمُكَ عَيْنَاكَ؟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يَا أُمِّي. أَنَا فِي مَكْتَبِ المُمَرِّضَةِ لِأَنِّي مَرِيضٌ اليَوْمَ. عِنْدِي زُكَامٌ وَسُعَالٌ مُنْذُ أَمْسِ. عِنْدِي أَلَمٌ فِي رَأْسِي وَفِي حَلْقِي، وَعَيْنَايَ تُؤْلِمَانِنِي قَلِيلًا. أَشْعُرُ بِالتَّعَبِ، لِذٰلِكَ قَالَتِ المُمَرِّضَةُ: يَجِبُ أَنْ تَرْجِعَ إِلَى البَيْتِ. هَلْ يُمْكِنُ أَنْ تَأْتِي إِلَى المَدْرَسَةِ، مِنْ فَضْلِكِ؟</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Mum. I am in the nurse’s office because I am ill today. I have had a cold and a cough since yesterday. I have a pain in my head and in my throat, and my eyes hurt a little. I feel tired, so the nurse said: you must go home. Can you come to school, please?”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مُنْذُ أَمْسِ</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عِنْدِي أَلَمٌ فِي رَأْسِي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عَيْنَايَ تُؤْلِمَانِنِي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أَشْعُرُ بِالتَّعَبِ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F5-W04 · Apply workshop (F5-L07 + F5-L08)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F5-L07 and F5-L08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F5-L09 · At the Doctor and Pharmacy</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عِنْدَ الطَّبِيبِ وَفِي الصَّيْدَلِيَّةِ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F5-W04 · Apply Workshop — At the School Nurse</dc:title>
  <dc:subject>PptxGenJS Presentation</dc:subject>
  <dc:creator>Al Madina Online School · Arabic Department</dc:creator>
  <cp:lastModifiedBy>Al Madina Online School · Arabic Department</cp:lastModifiedBy>
  <cp:revision>1</cp:revision>
  <dcterms:created xsi:type="dcterms:W3CDTF">2026-10-26T15:08:16Z</dcterms:created>
  <dcterms:modified xsi:type="dcterms:W3CDTF">2026-10-26T15:08:16Z</dcterms:modified>
</cp:coreProperties>
</file>