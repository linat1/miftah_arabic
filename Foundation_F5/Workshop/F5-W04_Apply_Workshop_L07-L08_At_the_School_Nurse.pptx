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F5-L07 · Learn F5-L08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F5-L07 (The Body and Its Parts) and F5-L08 (Health Problems and How You Feel).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F5-L07 and F5-L08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F5-L07? After F5-L08?” Take two answers in the chat for each lesson (one word or one sentence is enough). Then read objective 3 — today’s new situation that needs BOTH lessons. Students tick their route goals at the end of the lesson.
F5-L07 language: hādhā / hādhihi by gender (ʿayn, udhun, yad, rijl, qadam are feminine); the dual for pairs (ʿaynāni · yadāni); arā bi-ʿaynayya · asmaʿu bi-udhunayya; possessive endings
F5-L08 language: ʿindī + illness (ṣudāʿun · zukāmun · ḥummā); ʿindī alamun fī …; ashʿuru bi-…; mundhu + time (mundhu amsi · mundhu yawmayni); anā marīḍun / marīḍatun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F5-L07.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F5-L08.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F5-L07 and F5-L08. Teacher reads it once with a confident student; then pairs. Ask: “Which lines are from F5-L07? Which from F5-L08?” Body parts and duals (أُذُنِي · عَيْنَيَّ — ear and eye are feminine) come from F5-L07; illnesses, عِنْدِي أَلَمٌ فِي … and مُنْذُ … from F5-L08.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body parts, duals and feminine body words (F5-L07) with illnesses, pain, feelings and مُنْذُ (F5-L08). SUPPORTED: the plan column gives the first words, not the full answer. To a girl Partner A says: كَيْفَ تَشْعُرِينَ؟ · مَاذَا عِنْدَكِ؟ · مُنْذُ مَتَى أَنْتِ مَرِيضَةٌ؟ — she answers: أَنَا مَرِيضَةٌ. Accept a simpler answer for task 5 from Core students: نَعَمْ، عِنْدِي أَلَمٌ فِي عَيْنَيَّ.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F5-L07 and F5-L08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F5-L07 and F5-L08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(43 words). CHECK YOURSELF (2 min). Find each bullet point in the model, and one phrase from F5-L07 and one from F5-L08.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F5  ·  F5-L07 + F5-L08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F5-W04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900" b="1" dirty="0">
                <a:solidFill>
                  <a:srgbClr val="FFFFFF"/>
                </a:solidFill>
                <a:latin typeface="Cambria" pitchFamily="34" charset="0"/>
                <a:cs typeface="Amiri" pitchFamily="2" charset="-78"/>
              </a:rPr>
              <a:t>Apply Workshop — At the School Nurse</a:t>
            </a:r>
            <a:endParaRPr lang="en-US" sz="29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عِنْدَ مُمَرِّضَةِ المَدْرَسَةِ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join body parts with illness: at the school nurse’s office they say where it hurts (with the right body part and duals), what they have and since when, describe how they feel, and then write an absence message that uses both lessons.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F5-L07 + F5-L08</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F5 › F5-L08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F5-W04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F5-W04 · Apply workshop (F5-L07 + F5-L08)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F5-W04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F5-W04 · Apply workshop (F5-L07 + F5-L08)</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F5-L07 and F5-L08.</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F5-W04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F5-L07 + F5-L08</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F5-W04 · Apply workshop (F5-L07 + F5-L08)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F5-L07: The Body and Its Parts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F5-L08: Health Problems and How You Feel</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school nurse’s office · A message from the nurse’s office</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F5-W04 · Apply workshop (F5-L07 + F5-L08)</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F5-L07 and F5-L08.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F5-W04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F5-L07</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F5-L07 · The Body and Its Parts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F5-W04 · Apply workshop (F5-L07 + F5-L08)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(hādhā)</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رَأْسٌ</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head</a:t>
            </a:r>
            <a:endParaRPr lang="en-US" sz="1350" dirty="0"/>
          </a:p>
          <a:p>
            <a:pPr indent="0" marL="0">
              <a:buNone/>
            </a:pPr>
            <a:r>
              <a:rPr lang="en-US" sz="1100" i="1" dirty="0">
                <a:solidFill>
                  <a:srgbClr val="5A6472"/>
                </a:solidFill>
                <a:latin typeface="Calibri" pitchFamily="34" charset="0"/>
                <a:cs typeface="Amiri" pitchFamily="2" charset="-78"/>
              </a:rPr>
              <a:t>raʾ-sun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رَأْسٌ</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رَأْسِي</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رُؤُوسٌ</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(hādhihi)</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عَيْنٌ / عَيْنَانِ</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eye / two eyes</a:t>
            </a:r>
            <a:endParaRPr lang="en-US" sz="1350" dirty="0"/>
          </a:p>
          <a:p>
            <a:pPr indent="0" marL="0">
              <a:buNone/>
            </a:pPr>
            <a:r>
              <a:rPr lang="en-US" sz="1100" i="1" dirty="0">
                <a:solidFill>
                  <a:srgbClr val="5A6472"/>
                </a:solidFill>
                <a:latin typeface="Calibri" pitchFamily="34" charset="0"/>
                <a:cs typeface="Amiri" pitchFamily="2" charset="-78"/>
              </a:rPr>
              <a:t>ʿay-nun / ʿay-nā-ni</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عَيْنٌ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two</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عَيْنَانِ</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عُيُونٌ</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أَنْفٌ</a:t>
            </a:r>
            <a:endParaRPr lang="ar-SA" sz="3000" dirty="0"/>
          </a:p>
        </p:txBody>
      </p:sp>
      <p:sp>
        <p:nvSpPr>
          <p:cNvPr id="57" name="Text 5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nose</a:t>
            </a:r>
            <a:endParaRPr lang="en-US" sz="1350" dirty="0"/>
          </a:p>
          <a:p>
            <a:pPr indent="0" marL="0">
              <a:buNone/>
            </a:pPr>
            <a:r>
              <a:rPr lang="en-US" sz="1100" i="1" dirty="0">
                <a:solidFill>
                  <a:srgbClr val="5A6472"/>
                </a:solidFill>
                <a:latin typeface="Calibri" pitchFamily="34" charset="0"/>
                <a:cs typeface="Amiri" pitchFamily="2" charset="-78"/>
              </a:rPr>
              <a:t>an-fun</a:t>
            </a:r>
            <a:endParaRPr lang="en-US" sz="135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1" name="Shape 5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3" name="Text 6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ذِرَاعٌ</a:t>
            </a:r>
            <a:endParaRPr lang="ar-SA" sz="3000" dirty="0"/>
          </a:p>
        </p:txBody>
      </p:sp>
      <p:sp>
        <p:nvSpPr>
          <p:cNvPr id="64" name="Text 6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arm</a:t>
            </a:r>
            <a:endParaRPr lang="en-US" sz="1350" dirty="0"/>
          </a:p>
          <a:p>
            <a:pPr indent="0" marL="0">
              <a:buNone/>
            </a:pPr>
            <a:r>
              <a:rPr lang="en-US" sz="1100" i="1" dirty="0">
                <a:solidFill>
                  <a:srgbClr val="5A6472"/>
                </a:solidFill>
                <a:latin typeface="Calibri" pitchFamily="34" charset="0"/>
                <a:cs typeface="Amiri" pitchFamily="2" charset="-78"/>
              </a:rPr>
              <a:t>dhi-rā-ʿun</a:t>
            </a:r>
            <a:endParaRPr lang="en-US" sz="135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ظَهْرٌ</a:t>
            </a:r>
            <a:endParaRPr lang="ar-SA" sz="3000" dirty="0"/>
          </a:p>
        </p:txBody>
      </p:sp>
      <p:sp>
        <p:nvSpPr>
          <p:cNvPr id="71" name="Text 6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back</a:t>
            </a:r>
            <a:endParaRPr lang="en-US" sz="1350" dirty="0"/>
          </a:p>
          <a:p>
            <a:pPr indent="0" marL="0">
              <a:buNone/>
            </a:pPr>
            <a:r>
              <a:rPr lang="en-US" sz="1100" i="1" dirty="0">
                <a:solidFill>
                  <a:srgbClr val="5A6472"/>
                </a:solidFill>
                <a:latin typeface="Calibri" pitchFamily="34" charset="0"/>
                <a:cs typeface="Amiri" pitchFamily="2" charset="-78"/>
              </a:rPr>
              <a:t>ẓah-run</a:t>
            </a:r>
            <a:endParaRPr lang="en-US" sz="1350" dirty="0"/>
          </a:p>
        </p:txBody>
      </p:sp>
      <p:sp>
        <p:nvSpPr>
          <p:cNvPr id="72" name="Shape 6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566928" y="4261104"/>
            <a:ext cx="310896" cy="310896"/>
          </a:xfrm>
          <a:prstGeom prst="ellipse">
            <a:avLst/>
          </a:prstGeom>
          <a:solidFill>
            <a:srgbClr val="F4F1EA"/>
          </a:solidFill>
          <a:ln w="12700">
            <a:solidFill>
              <a:srgbClr val="F4F1EA"/>
            </a:solidFill>
            <a:prstDash val="solid"/>
          </a:ln>
        </p:spPr>
      </p:sp>
      <p:sp>
        <p:nvSpPr>
          <p:cNvPr id="74" name="Text 7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5" name="Shape 72"/>
          <p:cNvSpPr/>
          <p:nvPr/>
        </p:nvSpPr>
        <p:spPr>
          <a:xfrm>
            <a:off x="960120" y="4279392"/>
            <a:ext cx="1020470" cy="256032"/>
          </a:xfrm>
          <a:prstGeom prst="roundRect">
            <a:avLst>
              <a:gd name="adj" fmla="val 50000"/>
            </a:avLst>
          </a:prstGeom>
          <a:solidFill>
            <a:srgbClr val="EFE7D2"/>
          </a:solidFill>
          <a:ln w="12700">
            <a:solidFill>
              <a:srgbClr val="EFE7D2"/>
            </a:solidFill>
            <a:prstDash val="solid"/>
          </a:ln>
        </p:spPr>
      </p:sp>
      <p:sp>
        <p:nvSpPr>
          <p:cNvPr id="76" name="Text 73"/>
          <p:cNvSpPr txBox="1"/>
          <p:nvPr/>
        </p:nvSpPr>
        <p:spPr>
          <a:xfrm>
            <a:off x="960120"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(hādhihi)</a:t>
            </a:r>
            <a:endParaRPr lang="en-US" sz="800" dirty="0"/>
          </a:p>
        </p:txBody>
      </p:sp>
      <p:sp>
        <p:nvSpPr>
          <p:cNvPr id="77" name="Shape 74"/>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8" name="Text 75"/>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9" name="Text 76"/>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قَدَمٌ / قَدَمَانِ</a:t>
            </a:r>
            <a:endParaRPr lang="ar-SA" sz="3000" dirty="0"/>
          </a:p>
        </p:txBody>
      </p:sp>
      <p:sp>
        <p:nvSpPr>
          <p:cNvPr id="80" name="Text 77"/>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foot / two feet</a:t>
            </a:r>
            <a:endParaRPr lang="en-US" sz="1350" dirty="0"/>
          </a:p>
          <a:p>
            <a:pPr indent="0" marL="0">
              <a:buNone/>
            </a:pPr>
            <a:r>
              <a:rPr lang="en-US" sz="1100" i="1" dirty="0">
                <a:solidFill>
                  <a:srgbClr val="5A6472"/>
                </a:solidFill>
                <a:latin typeface="Calibri" pitchFamily="34" charset="0"/>
                <a:cs typeface="Amiri" pitchFamily="2" charset="-78"/>
              </a:rPr>
              <a:t>qa-da-mun / qa-da-mā-ni</a:t>
            </a:r>
            <a:endParaRPr lang="en-US" sz="1350" dirty="0"/>
          </a:p>
        </p:txBody>
      </p:sp>
      <p:sp>
        <p:nvSpPr>
          <p:cNvPr id="81" name="Shape 78"/>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83" name="Text 80"/>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قَدَمٌ</a:t>
            </a:r>
            <a:endParaRPr lang="ar-SA" sz="1500" dirty="0"/>
          </a:p>
        </p:txBody>
      </p:sp>
      <p:sp>
        <p:nvSpPr>
          <p:cNvPr id="84" name="Shape 81"/>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two</a:t>
            </a:r>
            <a:endParaRPr lang="en-US" sz="750" dirty="0"/>
          </a:p>
        </p:txBody>
      </p:sp>
      <p:sp>
        <p:nvSpPr>
          <p:cNvPr id="86" name="Text 83"/>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قَدَمَانِ</a:t>
            </a:r>
            <a:endParaRPr lang="ar-SA" sz="1500" dirty="0"/>
          </a:p>
        </p:txBody>
      </p:sp>
      <p:sp>
        <p:nvSpPr>
          <p:cNvPr id="87" name="Shape 84"/>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9" name="Text 86"/>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أَقْدَامٌ</a:t>
            </a:r>
            <a:endParaRPr lang="ar-SA" sz="150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F5-W04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F5-L08</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F5-L08 · Health Problems and How You Feel</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F5-W04 · Apply workshop (F5-L07 + F5-L08)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صُدَاعٌ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headache</a:t>
            </a:r>
            <a:endParaRPr lang="en-US" sz="1350" dirty="0"/>
          </a:p>
          <a:p>
            <a:pPr indent="0" marL="0">
              <a:buNone/>
            </a:pPr>
            <a:r>
              <a:rPr lang="en-US" sz="1100" i="1" dirty="0">
                <a:solidFill>
                  <a:srgbClr val="5A6472"/>
                </a:solidFill>
                <a:latin typeface="Calibri" pitchFamily="34" charset="0"/>
                <a:cs typeface="Amiri" pitchFamily="2" charset="-78"/>
              </a:rPr>
              <a:t>ṣu-dā-ʿun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حُمَّى</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fever</a:t>
            </a:r>
            <a:endParaRPr lang="en-US" sz="1350" dirty="0"/>
          </a:p>
          <a:p>
            <a:pPr indent="0" marL="0">
              <a:buNone/>
            </a:pPr>
            <a:r>
              <a:rPr lang="en-US" sz="1100" i="1" dirty="0">
                <a:solidFill>
                  <a:srgbClr val="5A6472"/>
                </a:solidFill>
                <a:latin typeface="Calibri" pitchFamily="34" charset="0"/>
                <a:cs typeface="Amiri" pitchFamily="2" charset="-78"/>
              </a:rPr>
              <a:t>ḥum-mā</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أَلَمُ الحَلْقِ</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sore throat</a:t>
            </a:r>
            <a:endParaRPr lang="en-US" sz="1350" dirty="0"/>
          </a:p>
          <a:p>
            <a:pPr indent="0" marL="0">
              <a:buNone/>
            </a:pPr>
            <a:r>
              <a:rPr lang="en-US" sz="1100" i="1" dirty="0">
                <a:solidFill>
                  <a:srgbClr val="5A6472"/>
                </a:solidFill>
                <a:latin typeface="Calibri" pitchFamily="34" charset="0"/>
                <a:cs typeface="Amiri" pitchFamily="2" charset="-78"/>
              </a:rPr>
              <a:t>a-la-mu al-ḥal-qi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أَلَمُ الأَسْنَانِ</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toothache</a:t>
            </a:r>
            <a:endParaRPr lang="en-US" sz="1350" dirty="0"/>
          </a:p>
          <a:p>
            <a:pPr indent="0" marL="0">
              <a:buNone/>
            </a:pPr>
            <a:r>
              <a:rPr lang="en-US" sz="1100" i="1" dirty="0">
                <a:solidFill>
                  <a:srgbClr val="5A6472"/>
                </a:solidFill>
                <a:latin typeface="Calibri" pitchFamily="34" charset="0"/>
                <a:cs typeface="Amiri" pitchFamily="2" charset="-78"/>
              </a:rPr>
              <a:t>a-la-mu al-as-nā-ni</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Shape 43"/>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8" name="Shape 4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أَشْعُرُ بِـ ...</a:t>
            </a:r>
            <a:endParaRPr lang="ar-SA" sz="3000" dirty="0"/>
          </a:p>
        </p:txBody>
      </p:sp>
      <p:sp>
        <p:nvSpPr>
          <p:cNvPr id="51" name="Text 4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feel ...</a:t>
            </a:r>
            <a:endParaRPr lang="en-US" sz="1350" dirty="0"/>
          </a:p>
          <a:p>
            <a:pPr indent="0" marL="0">
              <a:buNone/>
            </a:pPr>
            <a:r>
              <a:rPr lang="en-US" sz="1100" i="1" dirty="0">
                <a:solidFill>
                  <a:srgbClr val="5A6472"/>
                </a:solidFill>
                <a:latin typeface="Calibri" pitchFamily="34" charset="0"/>
                <a:cs typeface="Amiri" pitchFamily="2" charset="-78"/>
              </a:rPr>
              <a:t>ash-ʿu-ru bi ...</a:t>
            </a:r>
            <a:endParaRPr lang="en-US" sz="1350" dirty="0"/>
          </a:p>
        </p:txBody>
      </p:sp>
      <p:sp>
        <p:nvSpPr>
          <p:cNvPr id="52" name="Shape 4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54" name="Text 51"/>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يَشْعُرُ</a:t>
            </a:r>
            <a:endParaRPr lang="ar-SA" sz="1500" dirty="0"/>
          </a:p>
        </p:txBody>
      </p:sp>
      <p:sp>
        <p:nvSpPr>
          <p:cNvPr id="55" name="Shape 5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7" name="Text 5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تَشْعُرُ</a:t>
            </a:r>
            <a:endParaRPr lang="ar-SA" sz="1500" dirty="0"/>
          </a:p>
        </p:txBody>
      </p:sp>
      <p:sp>
        <p:nvSpPr>
          <p:cNvPr id="58" name="Shape 5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f.</a:t>
            </a:r>
            <a:endParaRPr lang="en-US" sz="700" dirty="0"/>
          </a:p>
        </p:txBody>
      </p:sp>
      <p:sp>
        <p:nvSpPr>
          <p:cNvPr id="60" name="Text 57"/>
          <p:cNvSpPr txBox="1"/>
          <p:nvPr/>
        </p:nvSpPr>
        <p:spPr>
          <a:xfrm>
            <a:off x="446227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تَشْعُرِينَ</a:t>
            </a:r>
            <a:endParaRPr lang="ar-SA" sz="1350" dirty="0"/>
          </a:p>
        </p:txBody>
      </p:sp>
      <p:sp>
        <p:nvSpPr>
          <p:cNvPr id="61" name="Shape 5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66928"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4" name="Shape 6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5" name="Text 6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6" name="Text 6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مُنْذُ أَمْسِ</a:t>
            </a:r>
            <a:endParaRPr lang="ar-SA" sz="3000" dirty="0"/>
          </a:p>
        </p:txBody>
      </p:sp>
      <p:sp>
        <p:nvSpPr>
          <p:cNvPr id="67" name="Text 6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since yesterday</a:t>
            </a:r>
            <a:endParaRPr lang="en-US" sz="1350" dirty="0"/>
          </a:p>
          <a:p>
            <a:pPr indent="0" marL="0">
              <a:buNone/>
            </a:pPr>
            <a:r>
              <a:rPr lang="en-US" sz="1100" i="1" dirty="0">
                <a:solidFill>
                  <a:srgbClr val="5A6472"/>
                </a:solidFill>
                <a:latin typeface="Calibri" pitchFamily="34" charset="0"/>
                <a:cs typeface="Amiri" pitchFamily="2" charset="-78"/>
              </a:rPr>
              <a:t>mun-dhu am-si</a:t>
            </a:r>
            <a:endParaRPr lang="en-US" sz="13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F5-W04 · Apply workshop (F5-L07 + F5-L08)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لَهُ / لَهَا …</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2" charset="-78"/>
                <a:ea typeface="Amiri" pitchFamily="2" charset="-78"/>
                <a:cs typeface="Amiri" pitchFamily="2" charset="-78"/>
              </a:rPr>
              <a:t>أَنَا آسِفٌ / آسِفَةٌ، لَمْ آتِ إِلَى المَدْرَسَةِ …</a:t>
            </a:r>
            <a:endParaRPr lang="ar-SA" sz="14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 عِنْدِي … وَ…</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عَيْنَاهُ / عَيْنَاهَا …</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يَدَاهُ … وَرِجْلَاهُ …</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مُنْذُ …</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إِنْ شَاءَ اللّٰهُ سَأَرْجِعُ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يَرَى بِعَيْنَيْهِ · يَمْشِي بِرِجْلَيْهِ</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F5-L07 · The Body and Its Parts</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F5-L08 · Health Problems and How You Feel</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F5-W04 · Apply workshop (F5-L07 + F5-L08)</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F5-L07 · The Body and Its Parts</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لَهُ / لَهَا …</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عَيْنَاهُ / عَيْنَاهَا …</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يَدَاهُ … وَرِجْلَاهُ …</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يَرَى بِعَيْنَيْهِ · يَمْشِي بِرِجْلَيْهِ</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F5-L08 · Health Problems and How You Feel</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آسِفٌ / آسِفَةٌ، لَمْ آتِ إِلَى المَدْرَسَةِ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 عِنْدِي … وَ…</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مُنْذُ …</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إِنْ شَاءَ اللّٰهُ سَأَرْجِعُ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is wrong?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مَاذَا بِكَ؟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F5-W04 · Apply workshop (F5-L07 + F5-L08)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wrong, Ali? How do you feel?</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مَاذَا بِكَ يَا عَلِيُّ؟ كَيْفَ تَشْعُرُ؟</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am ill. I have a headache, and I feel tired.</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أَنَا مَرِيضٌ. عِنْدِي صُدَاعٌ، وَأَشْعُرُ بِالتَّعَبِ.</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Since when?</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مُنْذُ مَتَى؟</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Since yesterday. And I have a pain in my right ear too.</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مُنْذُ أَمْسِ. وَعِنْدِي أَلَمٌ فِي أُذُنِي اليُمْنَى أَيْضًا.</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have a fever?</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هَلْ عِنْدَكَ حُمَّى؟</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but my eyes are red, and my throat hurts.</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لَا، لٰكِنَّ عَيْنَيَّ حَمْرَاوَانِ، وَحَلْقِي يُؤْلِمُنِي.</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F5-W04 · Apply workshop (F5-L07 + F5-L08)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لِي … ← لِي يَدَانِ</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هٰذَا … / هٰذِهِ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this? (point to a part)</a:t>
            </a:r>
            <a:endParaRPr lang="en-US" sz="1100" dirty="0"/>
          </a:p>
        </p:txBody>
      </p:sp>
      <p:sp>
        <p:nvSpPr>
          <p:cNvPr id="25" name="Text 22"/>
          <p:cNvSpPr txBox="1"/>
          <p:nvPr/>
        </p:nvSpPr>
        <p:spPr>
          <a:xfrm>
            <a:off x="1069848" y="2267712"/>
            <a:ext cx="3383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pPr algn="l" indent="0" marL="0">
              <a:buNone/>
            </a:pPr>
            <a:r>
              <a:rPr lang="ar-SA" altLang="en-US" sz="1450" dirty="0">
                <a:solidFill>
                  <a:srgbClr val="5A6472"/>
                </a:solidFill>
                <a:latin typeface="Amiri" pitchFamily="2" charset="-78"/>
                <a:ea typeface="Amiri" pitchFamily="2" charset="-78"/>
                <a:cs typeface="Amiri" pitchFamily="2" charset="-78"/>
              </a:rPr>
              <a:t>مَا هٰذَا؟ / مَا هٰذِهِ؟</a:t>
            </a:r>
            <a:pPr algn="l" indent="0" marL="0">
              <a:buNone/>
            </a:pPr>
            <a:r>
              <a:rPr lang="en-US" sz="1100" dirty="0">
                <a:solidFill>
                  <a:srgbClr val="5A6472"/>
                </a:solidFill>
                <a:latin typeface="Calibri" pitchFamily="34" charset="0"/>
                <a:cs typeface="Amiri" pitchFamily="2" charset="-78"/>
              </a:rPr>
              <a:t>‏ (point)</a:t>
            </a:r>
            <a:endParaRPr lang="en-US" sz="11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أَشْعُرُ بِالتَّعَبِ / أَنَا بِخَيْرٍ</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do you feel today?</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تَشْعُرُ اليَوْمَ؟</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56648" y="3496056"/>
            <a:ext cx="1901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أَرَى بِعَيْنَيَّ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see with?</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بِمَاذَا تَرَى؟</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وَفِي … أَيْضًا</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عِنْدِي أَلَمٌ فِي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is the pain?</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الأَلَمُ؟</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اليُمْنَى / اليُسْرَى</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أَكْتُبُ بِيَدِي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write with?</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بِمَاذَا تَكْتُبُ؟</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يَوْمَيْنِ / أُسْبُوعٍ</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مُنْذُ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long have you been ill?</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مُنْذُ مَتَى أَنْتَ مَرِيضٌ؟</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F5-L07, even numbers from F5-L08.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Role-play card — the school nurse’s office</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مَكْتَبُ المُمَرِّضَةِ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F5-W04 · Apply workshop (F5-L07 + F5-L08)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 أَنَا مَرِيضٌ … أَشْعُرُ بِالتَّعَبِ</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you are ill and how you feel.</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أَهْلًا! كَيْفَ تَشْعُرُ؟</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أَيْنَ ← عِنْدِي أَلَمٌ فِي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the body part that hurts.</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الأَلَمُ؟</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عِنْدِي … وَ…</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two problems.</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عِنْدَكَ؟</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مُنْذُ مَتَى ← مُنْذُ …</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since when.</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مُنْذُ مَتَى أَنْتَ مَرِيضٌ؟</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 نَعَمْ، عَيْنَايَ … / لَا، …</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about your eyes (dual).</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افْتَحْ فَمَكَ … وَهَلْ تُؤْلِمُكَ عَيْنَاكَ؟</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the student who feels ill · Partner A = the school nurse. Read the plan for 1 minute, then hide it and speak. Task ! is a surprise.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last time I was ill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آخِرَ مَرَّةٍ كُنْتُ مَرِيضًا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F5-W04 · Apply workshop (F5-L07 + F5-L08)</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about a time you were ill (or invent one): what you had, which body parts hurt, since when, how you felt and what you did.</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كَانَ عِنْدِي … · عِنْدِي أَلَمٌ فِي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two body parts (one dual) and ‏</a:t>
            </a:r>
            <a:pPr algn="l" indent="0" marL="0">
              <a:buNone/>
            </a:pPr>
            <a:r>
              <a:rPr lang="ar-SA" altLang="en-US" sz="1500" dirty="0">
                <a:solidFill>
                  <a:srgbClr val="1F2A37"/>
                </a:solidFill>
                <a:latin typeface="Amiri" pitchFamily="2" charset="-78"/>
                <a:ea typeface="Amiri" pitchFamily="2" charset="-78"/>
                <a:cs typeface="Amiri" pitchFamily="2" charset="-78"/>
              </a:rPr>
              <a:t>مُنْذُ</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how you felt (‏</a:t>
            </a:r>
            <a:pPr algn="l" indent="0" marL="0">
              <a:buNone/>
            </a:pPr>
            <a:r>
              <a:rPr lang="ar-SA" altLang="en-US" sz="1500" dirty="0">
                <a:solidFill>
                  <a:srgbClr val="1F2A37"/>
                </a:solidFill>
                <a:latin typeface="Amiri" pitchFamily="2" charset="-78"/>
                <a:ea typeface="Amiri" pitchFamily="2" charset="-78"/>
                <a:cs typeface="Amiri" pitchFamily="2" charset="-78"/>
              </a:rPr>
              <a:t>أَشْعُرُ بِالتَّعَبِ</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بِالبَرْدِ</a:t>
            </a:r>
            <a:pPr algn="l" indent="0" marL="0">
              <a:buNone/>
            </a:pPr>
            <a:r>
              <a:rPr lang="en-US" sz="1150" dirty="0">
                <a:solidFill>
                  <a:srgbClr val="1F2A37"/>
                </a:solidFill>
                <a:latin typeface="Calibri" pitchFamily="34" charset="0"/>
                <a:cs typeface="Amiri" pitchFamily="2" charset="-78"/>
              </a:rPr>
              <a:t>‏) and what you did: ‏</a:t>
            </a:r>
            <a:pPr algn="l" indent="0" marL="0">
              <a:buNone/>
            </a:pPr>
            <a:r>
              <a:rPr lang="ar-SA" altLang="en-US" sz="1500" dirty="0">
                <a:solidFill>
                  <a:srgbClr val="1F2A37"/>
                </a:solidFill>
                <a:latin typeface="Amiri" pitchFamily="2" charset="-78"/>
                <a:ea typeface="Amiri" pitchFamily="2" charset="-78"/>
                <a:cs typeface="Amiri" pitchFamily="2" charset="-78"/>
              </a:rPr>
              <a:t>ذَهَبْتُ إِلَى الطَّبِيبِ</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عِنْدِي صُدَاعٌ / زُكَامٌ / حُمَّى</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have a headache / a cold / a fever</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عِنْدِي أَلَمٌ فِي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have a pain in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مُنْذُ أَمْسِ · مُنْذُ يَوْمَيْنِ</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since yesterday · for two days</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أَشْعُرُ بِالتَّعَبِ</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feel tired</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F5-W04 · Apply workshop (F5-L07 + F5-L08)</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This is my hand.</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هٰذِهِ</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هٰذَا</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يَدِي</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يَدُكَ</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اليُمْنَى.</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اليَمِينُ.</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have a stomach ache since yesterday.</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عِنْدِي</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عِنْدَهُ</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أَلَمٌ فِي المَعِدَةِ</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أَلَمٌ فِي المَعِدَةُ</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مُنْذُ أَمْسِ.</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أَمْسِ.</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hear with my ears.</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أَسْمَعُ</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يَسْمَعُ</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بِأُذُنَيَّ</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بِأُذُنَايَ</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algn="l" indent="0" marL="0">
              <a:buNone/>
            </a:pPr>
            <a:r>
              <a:rPr lang="en-US" sz="1800" dirty="0">
                <a:solidFill>
                  <a:srgbClr val="1F2A37"/>
                </a:solidFill>
                <a:latin typeface="Calibri" pitchFamily="34" charset="0"/>
                <a:cs typeface="Amiri" pitchFamily="2" charset="-78"/>
              </a:rPr>
              <a:t>.</a:t>
            </a:r>
            <a:endParaRPr lang="en-US"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أَمْسِ.</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F5-W04 · Apply workshop (F5-L07 + F5-L08)</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This is my hand.</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يَدٌ</a:t>
            </a:r>
            <a:pPr algn="l" indent="0" marL="0">
              <a:buNone/>
            </a:pPr>
            <a:r>
              <a:rPr lang="en-US" sz="1050" i="1" dirty="0">
                <a:solidFill>
                  <a:srgbClr val="5A6472"/>
                </a:solidFill>
                <a:latin typeface="Calibri" pitchFamily="34" charset="0"/>
                <a:cs typeface="Amiri" pitchFamily="2" charset="-78"/>
              </a:rPr>
              <a:t> is feminine (no </a:t>
            </a:r>
            <a:pPr algn="l" indent="0" marL="0">
              <a:buNone/>
            </a:pPr>
            <a:r>
              <a:rPr lang="ar-SA" altLang="en-US" sz="1350" dirty="0">
                <a:solidFill>
                  <a:srgbClr val="5A6472"/>
                </a:solidFill>
                <a:latin typeface="Amiri" pitchFamily="2" charset="-78"/>
                <a:ea typeface="Amiri" pitchFamily="2" charset="-78"/>
                <a:cs typeface="Amiri" pitchFamily="2" charset="-78"/>
              </a:rPr>
              <a:t>ة</a:t>
            </a:r>
            <a:pPr algn="l" indent="0" marL="0">
              <a:buNone/>
            </a:pPr>
            <a:r>
              <a:rPr lang="en-US" sz="1050" i="1"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هٰذِهِ</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هٰذِهِ يَدِي اليُمْنَى.</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have a stomach ache since yesterday.</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 </a:t>
            </a:r>
            <a:pPr algn="l" indent="0" marL="0">
              <a:buNone/>
            </a:pPr>
            <a:r>
              <a:rPr lang="ar-SA" altLang="en-US" sz="1350" dirty="0">
                <a:solidFill>
                  <a:srgbClr val="5A6472"/>
                </a:solidFill>
                <a:latin typeface="Amiri" pitchFamily="2" charset="-78"/>
                <a:ea typeface="Amiri" pitchFamily="2" charset="-78"/>
                <a:cs typeface="Amiri" pitchFamily="2" charset="-78"/>
              </a:rPr>
              <a:t>عِنْدِي</a:t>
            </a:r>
            <a:pPr algn="l" indent="0" marL="0">
              <a:buNone/>
            </a:pPr>
            <a:r>
              <a:rPr lang="en-US" sz="1050" i="1" dirty="0">
                <a:solidFill>
                  <a:srgbClr val="5A6472"/>
                </a:solidFill>
                <a:latin typeface="Calibri" pitchFamily="34" charset="0"/>
                <a:cs typeface="Amiri" pitchFamily="2" charset="-78"/>
              </a:rPr>
              <a:t>; </a:t>
            </a:r>
            <a:pPr algn="l" indent="0" marL="0">
              <a:buNone/>
            </a:pPr>
            <a:r>
              <a:rPr lang="ar-SA" altLang="en-US" sz="1350" dirty="0">
                <a:solidFill>
                  <a:srgbClr val="5A6472"/>
                </a:solidFill>
                <a:latin typeface="Amiri" pitchFamily="2" charset="-78"/>
                <a:ea typeface="Amiri" pitchFamily="2" charset="-78"/>
                <a:cs typeface="Amiri" pitchFamily="2" charset="-78"/>
              </a:rPr>
              <a:t>فِي</a:t>
            </a:r>
            <a:pPr algn="l" indent="0" marL="0">
              <a:buNone/>
            </a:pPr>
            <a:r>
              <a:rPr lang="en-US" sz="1050" i="1" dirty="0">
                <a:solidFill>
                  <a:srgbClr val="5A6472"/>
                </a:solidFill>
                <a:latin typeface="Calibri" pitchFamily="34" charset="0"/>
                <a:cs typeface="Amiri" pitchFamily="2" charset="-78"/>
              </a:rPr>
              <a:t> + genitive; since = </a:t>
            </a:r>
            <a:pPr algn="l" indent="0" marL="0">
              <a:buNone/>
            </a:pPr>
            <a:r>
              <a:rPr lang="ar-SA" altLang="en-US" sz="1350" dirty="0">
                <a:solidFill>
                  <a:srgbClr val="5A6472"/>
                </a:solidFill>
                <a:latin typeface="Amiri" pitchFamily="2" charset="-78"/>
                <a:ea typeface="Amiri" pitchFamily="2" charset="-78"/>
                <a:cs typeface="Amiri" pitchFamily="2" charset="-78"/>
              </a:rPr>
              <a:t>مُنْذُ</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عِنْدِي أَلَمٌ فِي المَعِدَةِ مُنْذُ أَمْسِ.</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hear with my ears.</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with my two ears = </a:t>
            </a:r>
            <a:pPr algn="l" indent="0" marL="0">
              <a:buNone/>
            </a:pPr>
            <a:r>
              <a:rPr lang="ar-SA" altLang="en-US" sz="1350" dirty="0">
                <a:solidFill>
                  <a:srgbClr val="5A6472"/>
                </a:solidFill>
                <a:latin typeface="Amiri" pitchFamily="2" charset="-78"/>
                <a:ea typeface="Amiri" pitchFamily="2" charset="-78"/>
                <a:cs typeface="Amiri" pitchFamily="2" charset="-78"/>
              </a:rPr>
              <a:t>بِأُذُنَيَّ</a:t>
            </a:r>
            <a:pPr algn="l" indent="0" marL="0">
              <a:buNone/>
            </a:pPr>
            <a:r>
              <a:rPr lang="en-US" sz="1050" i="1" dirty="0">
                <a:solidFill>
                  <a:srgbClr val="5A6472"/>
                </a:solidFill>
                <a:latin typeface="Calibri" pitchFamily="34" charset="0"/>
                <a:cs typeface="Amiri" pitchFamily="2" charset="-78"/>
              </a:rPr>
              <a:t> (dual after bi-).</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أَسْمَعُ بِأُذُنَيَّ .</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F5-W04 · Apply workshop (F5-L07 + F5-L08)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هٰذَا عَيْنٌ.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عَيْنٌ</a:t>
            </a:r>
            <a:pPr algn="l" indent="0" marL="0">
              <a:buNone/>
            </a:pPr>
            <a:r>
              <a:rPr lang="en-US" sz="1300" i="1" dirty="0">
                <a:solidFill>
                  <a:srgbClr val="5A6472"/>
                </a:solidFill>
                <a:latin typeface="Calibri" pitchFamily="34" charset="0"/>
                <a:cs typeface="Amiri" pitchFamily="2" charset="-78"/>
              </a:rPr>
              <a:t> is feminine without </a:t>
            </a:r>
            <a:pPr algn="l" indent="0" marL="0">
              <a:buNone/>
            </a:pPr>
            <a:r>
              <a:rPr lang="ar-SA" altLang="en-US" sz="1700" dirty="0">
                <a:solidFill>
                  <a:srgbClr val="5A6472"/>
                </a:solidFill>
                <a:latin typeface="Amiri" pitchFamily="2" charset="-78"/>
                <a:ea typeface="Amiri" pitchFamily="2" charset="-78"/>
                <a:cs typeface="Amiri" pitchFamily="2" charset="-78"/>
              </a:rPr>
              <a:t>ة</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عِنْدِي صُدَاعٌ مِنْ أَمْسِ.</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“since” in Arabic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لِي اثْنَانِ يَدٌ.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Two of something → one word.</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F5-W04 · Apply workshop (F5-L07 + F5-L08)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هٰذَا عَيْنٌ.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هٰذِهِ عَيْنٌ.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Body pairs (‏</a:t>
            </a:r>
            <a:pPr algn="l" indent="0" marL="0">
              <a:buNone/>
            </a:pPr>
            <a:r>
              <a:rPr lang="ar-SA" altLang="en-US" sz="1500" b="1" dirty="0">
                <a:solidFill>
                  <a:srgbClr val="1B3B6F"/>
                </a:solidFill>
                <a:latin typeface="Amiri" pitchFamily="2" charset="-78"/>
                <a:ea typeface="Amiri" pitchFamily="2" charset="-78"/>
                <a:cs typeface="Amiri" pitchFamily="2" charset="-78"/>
              </a:rPr>
              <a:t>عَيْنٌ</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أُذُنٌ</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يَدٌ</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رِجْلٌ</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قَدَمٌ</a:t>
            </a:r>
            <a:pPr algn="l" indent="0" marL="0">
              <a:buNone/>
            </a:pPr>
            <a:r>
              <a:rPr lang="en-US" sz="1150" b="1" dirty="0">
                <a:solidFill>
                  <a:srgbClr val="1B3B6F"/>
                </a:solidFill>
                <a:latin typeface="Calibri" pitchFamily="34" charset="0"/>
                <a:cs typeface="Amiri" pitchFamily="2" charset="-78"/>
              </a:rPr>
              <a:t>‏) are feminine.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عِنْدِي صُدَاعٌ مِنْ أَمْسِ.</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عِنْدِي صُدَاعٌ مُنْذُ أَمْسِ.</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Since / for = ‏</a:t>
            </a:r>
            <a:pPr algn="l" indent="0" marL="0">
              <a:buNone/>
            </a:pPr>
            <a:r>
              <a:rPr lang="ar-SA" altLang="en-US" sz="1500" b="1" dirty="0">
                <a:solidFill>
                  <a:srgbClr val="1B3B6F"/>
                </a:solidFill>
                <a:latin typeface="Amiri" pitchFamily="2" charset="-78"/>
                <a:ea typeface="Amiri" pitchFamily="2" charset="-78"/>
                <a:cs typeface="Amiri" pitchFamily="2" charset="-78"/>
              </a:rPr>
              <a:t>مُنْذُ</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لِي اثْنَانِ يَدٌ.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لِي يَدَانِ.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the dual: ‏</a:t>
            </a:r>
            <a:pPr algn="l" indent="0" marL="0">
              <a:buNone/>
            </a:pPr>
            <a:r>
              <a:rPr lang="ar-SA" altLang="en-US" sz="1500" b="1" dirty="0">
                <a:solidFill>
                  <a:srgbClr val="1B3B6F"/>
                </a:solidFill>
                <a:latin typeface="Amiri" pitchFamily="2" charset="-78"/>
                <a:ea typeface="Amiri" pitchFamily="2" charset="-78"/>
                <a:cs typeface="Amiri" pitchFamily="2" charset="-78"/>
              </a:rPr>
              <a:t>يَدَانِ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F5-W04 · Apply workshop (F5-L07 + F5-L08)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 ______ تُؤْلِمَانِنِي أَيْضًا.</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my (two) … hurt too.</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أَشْعُرُ بِالتَّعَبِ، لِذٰلِكَ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feel tired, so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السَّلَامُ عَلَيْكُمْ يَا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Peace be upon you,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مَرِيضٌ / مَرِيضَةٌ اليَوْمَ.</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ill today.</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______ وَ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 and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أَلَمٌ فِي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a pain in my …</a:t>
            </a:r>
            <a:endParaRPr lang="en-US" sz="1050" dirty="0"/>
          </a:p>
        </p:txBody>
      </p:sp>
      <p:sp>
        <p:nvSpPr>
          <p:cNvPr id="33" name="Text 30"/>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مُنْذُ ______ .</a:t>
            </a:r>
            <a:endParaRPr lang="ar-SA" sz="1800" dirty="0"/>
          </a:p>
        </p:txBody>
      </p:sp>
      <p:sp>
        <p:nvSpPr>
          <p:cNvPr id="34" name="Text 31"/>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Since …</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رَأْسِي · ظَهْرِي  ·  أُذُنِي · عَيْنَايَ  ·  يَدِي · رِجْلِي  ·  صُدَاعٌ · زُكَامٌ  ·  حُمَّى · سُعَالٌ  ·  عِنْدِي أَلَمٌ فِي  ·  مُنْذُ أَمْسِ  ·  أَشْعُرُ بِالتَّعَبِ</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F5-W04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40–60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A message from the nurse’s office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مِنْ مَكْتَبِ المُمَرِّضَةِ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F5-W04 · Apply workshop (F5-L07 + F5-L08)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message (about 40–60 words) to your teacher or your parents from the nurse’s office. Include: • a polite greeting • that you are ill and how you feel • two problems • which body parts hurt (one dual) • since when • what you will do now.</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F5-L07 AND F5-L08.</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مَرِيضٌ / مَرِيضَةٌ، وَأَشْعُرُ بِالتَّعَبِ</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ill and I feel tired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 وَعِنْدِي أَلَمٌ فِي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have … and I have a pain in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عَيْنَايَ / أُذُنَايَ تُؤْلِمَانِنِي</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eyes / ears hurt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مُنْذُ … · سَأَرْجِعُ إِلَى البَيْتِ</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since … · I will go home</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F5-W04 · Apply workshop (F5-L07 + F5-L08)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هٰذِهِ</a:t>
            </a:r>
            <a:pPr algn="l" indent="0" marL="0">
              <a:buNone/>
            </a:pPr>
            <a:r>
              <a:rPr lang="en-US" sz="1100" dirty="0">
                <a:solidFill>
                  <a:srgbClr val="5A6472"/>
                </a:solidFill>
                <a:latin typeface="Calibri" pitchFamily="34" charset="0"/>
                <a:cs typeface="Amiri" pitchFamily="2" charset="-78"/>
              </a:rPr>
              <a:t>‏ for the feminine body parts (‏</a:t>
            </a:r>
            <a:pPr algn="l" indent="0" marL="0">
              <a:buNone/>
            </a:pPr>
            <a:r>
              <a:rPr lang="ar-SA" altLang="en-US" sz="1450" dirty="0">
                <a:solidFill>
                  <a:srgbClr val="5A6472"/>
                </a:solidFill>
                <a:latin typeface="Amiri" pitchFamily="2" charset="-78"/>
                <a:ea typeface="Amiri" pitchFamily="2" charset="-78"/>
                <a:cs typeface="Amiri" pitchFamily="2" charset="-78"/>
              </a:rPr>
              <a:t>عَيْنٌ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يَدٌ</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رِجْلٌ</a:t>
            </a:r>
            <a:pPr algn="l" indent="0" marL="0">
              <a:buNone/>
            </a:pPr>
            <a:r>
              <a:rPr lang="en-US" sz="1100" dirty="0">
                <a:solidFill>
                  <a:srgbClr val="5A6472"/>
                </a:solidFill>
                <a:latin typeface="Calibri" pitchFamily="34" charset="0"/>
                <a:cs typeface="Amiri" pitchFamily="2" charset="-78"/>
              </a:rPr>
              <a:t> …‏)?</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where it hurts (‏</a:t>
            </a:r>
            <a:pPr algn="l" indent="0" marL="0">
              <a:buNone/>
            </a:pPr>
            <a:r>
              <a:rPr lang="ar-SA" altLang="en-US" sz="1450" dirty="0">
                <a:solidFill>
                  <a:srgbClr val="5A6472"/>
                </a:solidFill>
                <a:latin typeface="Amiri" pitchFamily="2" charset="-78"/>
                <a:ea typeface="Amiri" pitchFamily="2" charset="-78"/>
                <a:cs typeface="Amiri" pitchFamily="2" charset="-78"/>
              </a:rPr>
              <a:t>عِنْدِي أَلَمٌ فِي</a:t>
            </a:r>
            <a:pPr algn="l" indent="0" marL="0">
              <a:buNone/>
            </a:pPr>
            <a:r>
              <a:rPr lang="en-US" sz="1100" dirty="0">
                <a:solidFill>
                  <a:srgbClr val="5A6472"/>
                </a:solidFill>
                <a:latin typeface="Calibri" pitchFamily="34" charset="0"/>
                <a:cs typeface="Amiri" pitchFamily="2" charset="-78"/>
              </a:rPr>
              <a:t> …‏) and agree ‏</a:t>
            </a:r>
            <a:pPr algn="l" indent="0" marL="0">
              <a:buNone/>
            </a:pPr>
            <a:r>
              <a:rPr lang="ar-SA" altLang="en-US" sz="1450" dirty="0">
                <a:solidFill>
                  <a:srgbClr val="5A6472"/>
                </a:solidFill>
                <a:latin typeface="Amiri" pitchFamily="2" charset="-78"/>
                <a:ea typeface="Amiri" pitchFamily="2" charset="-78"/>
                <a:cs typeface="Amiri" pitchFamily="2" charset="-78"/>
              </a:rPr>
              <a:t>مَرِيضٌ / مَرِيضَةٌ</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F5-W04 · Apply workshop (F5-L07 + F5-L08)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مَرِيضٌ، وَأَشْعُرُ بِالتَّعَبِ.</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ill, and I feel tired.</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أَهْلًا! كَيْفَ تَشْعُرُ؟</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عِنْدِي أَلَمٌ فِي رَأْسِي وَفِي ظَهْرِي.</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have a pain in my head and in my back.</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أَيْنَ الأَلَمُ؟</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عِنْدِي زُكَامٌ وَسُعَالٌ.</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have a cold and a cough.</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عِنْدَكَ؟</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مُنْذُ يَوْمَيْنِ.</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For two days.</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مُنْذُ مَتَى أَنْتَ مَرِيضٌ؟</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نَعَمْ، عَيْنَايَ تُؤْلِمَانِنِي قَلِيلًا.</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Yes, my eyes hurt a little.</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افْتَحْ فَمَكَ … وَهَلْ تُؤْلِمُكَ عَيْنَاكَ؟</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F5-W04 · Apply workshop (F5-L07 + F5-L08)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السَّلَامُ عَلَيْكُمْ يَا أُمِّي. أَنَا فِي مَكْتَبِ المُمَرِّضَةِ لِأَنِّي مَرِيضٌ اليَوْمَ. عِنْدِي زُكَامٌ وَسُعَالٌ مُنْذُ أَمْسِ. عِنْدِي أَلَمٌ فِي رَأْسِي وَفِي حَلْقِي، وَعَيْنَايَ تُؤْلِمَانِنِي قَلِيلًا. أَشْعُرُ بِالتَّعَبِ، لِذٰلِكَ قَالَتِ المُمَرِّضَةُ: يَجِبُ أَنْ تَرْجِعَ إِلَى البَيْتِ. هَلْ يُمْكِنُ أَنْ تَأْتِي إِلَى المَدْرَسَةِ، مِنْ فَضْلِكِ؟</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“Peace be upon you, Mum. I am in the nurse’s office because I am ill today. I have had a cold and a cough since yesterday. I have a pain in my head and in my throat, and my eyes hurt a little. I feel tired, so the nurse said: you must go home. Can you come to school, please?”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مُنْذُ أَمْسِ</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عِنْدِي أَلَمٌ فِي رَأْسِي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عَيْنَايَ تُؤْلِمَانِنِي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أَشْعُرُ بِالتَّعَبِ</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F5-W04 · Apply workshop (F5-L07 + F5-L08)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F5-L07 and F5-L08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F5-W04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cs typeface="Amiri" pitchFamily="2" charset="-78"/>
              </a:rPr>
              <a:t>F5-L09 · At the Doctor and Pharmacy</a:t>
            </a:r>
            <a:endParaRPr lang="en-US" sz="26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عِنْدَ الطَّبِيبِ وَفِي الصَّيْدَلِيَّةِ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F5-W04 · Apply Workshop — At the School Nurse</dc:title>
  <dc:subject>PptxGenJS Presentation</dc:subject>
  <dc:creator>Al Madina Online School · Arabic Department</dc:creator>
  <cp:lastModifiedBy>Al Madina Online School · Arabic Department</cp:lastModifiedBy>
  <cp:revision>1</cp:revision>
  <dcterms:created xsi:type="dcterms:W3CDTF">2026-10-26T15:47:41Z</dcterms:created>
  <dcterms:modified xsi:type="dcterms:W3CDTF">2026-10-26T15:47:41Z</dcterms:modified>
</cp:coreProperties>
</file>