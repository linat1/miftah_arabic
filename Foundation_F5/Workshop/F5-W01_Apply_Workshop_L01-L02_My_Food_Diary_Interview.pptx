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F5-L01 · Learn F5-L02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F5-L01 (Food and Drinks) and F5-L02 (Meals and Eating Routines).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F5-L01 and F5-L02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F5-L01? After F5-L02?” Take two answers in the chat for each lesson (one word or one sentence is enough). Then read objective 3 — today’s new situation that needs BOTH lessons. Students tick their route goals at the end of the lesson.
F5-L01 language: ākulu (I eat) · ashrabu (I drink) + food as object (-a); uḥibbu / lā uḥibbu; hal tuḥibbu / tuḥibbīna …?; food categories
F5-L02 language: fī al-fuṭūri / al-ghadāʾi / al-ʿashāʾi + ākulu · ashrabu · atanāwalu; times and frequency (ʿādatan · aḥyānan · kulla yawmin); maʿa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F5-L01.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F5-L02.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F5-L01 and F5-L02. Teacher reads it once with a confident student; then pairs. Ask: “Which lines are from F5-L01? Which from F5-L02?” Foods as objects (خُبْزًا · جُبْنًا · أَرُزًّا) and likes come from F5-L01; meals, where, with whom and frequency (عَادَةً · أَحْيَانًا · كُلَّ يَوْمٍ) from F5-L02.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food and drink as objects and likes (F5-L01) with meals, place, company and frequency (F5-L02). SUPPORTED: the plan column gives the first words, not the full answer. To a girl Partner A says: مَاذَا تَأْكُلِينَ وَتَشْرَبِينَ؟ · مَتَى تَتَنَاوَلِينَ …؟ · هَلْ تَأْكُلِينَ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F5-L01 and F5-L02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F5-L01 and F5-L02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(42 words). CHECK YOURSELF (2 min). Find each bullet point in the model, and one phrase from F5-L01 and one from F5-L02.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F5-L01 + F5-L02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F5-W01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My Food Diary Interview</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يَوْمِيَّاتُ طَعَامِي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foods and drinks with meals and routines: they interview each other for a class food survey (what, when, where, with whom, how often), report a partner’s answers, give a short talk and write a one-day food diary that uses both lessons.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F5-L01 + F5-L02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F5-L01 and F5-L02.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F5-L01 + F5-L02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F5-L01: Food and Drinks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F5-L02: Meals and Eating Routines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class food survey · My food diary for one day</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F5-L01 and F5-L02.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F5-L01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F5-L01 · Food and Drinks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خُبْزٌ</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bread</a:t>
            </a:r>
            <a:endParaRPr lang="en-US" sz="1350" dirty="0"/>
          </a:p>
          <a:p>
            <a:pPr indent="0" marL="0">
              <a:buNone/>
            </a:pPr>
            <a:r>
              <a:rPr lang="en-US" sz="1100" i="1" dirty="0">
                <a:solidFill>
                  <a:srgbClr val="5A6472"/>
                </a:solidFill>
                <a:latin typeface="Calibri" pitchFamily="34" charset="0"/>
                <a:cs typeface="Amiri" pitchFamily="2" charset="-78"/>
              </a:rPr>
              <a:t>khub-zun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جُبْنٌ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cheese</a:t>
            </a:r>
            <a:endParaRPr lang="en-US" sz="1350" dirty="0"/>
          </a:p>
          <a:p>
            <a:pPr indent="0" marL="0">
              <a:buNone/>
            </a:pPr>
            <a:r>
              <a:rPr lang="en-US" sz="1100" i="1" dirty="0">
                <a:solidFill>
                  <a:srgbClr val="5A6472"/>
                </a:solidFill>
                <a:latin typeface="Calibri" pitchFamily="34" charset="0"/>
                <a:cs typeface="Amiri" pitchFamily="2" charset="-78"/>
              </a:rPr>
              <a:t>jub-nun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food · one</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سَمَكٌ</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fish</a:t>
            </a:r>
            <a:endParaRPr lang="en-US" sz="1350" dirty="0"/>
          </a:p>
          <a:p>
            <a:pPr indent="0" marL="0">
              <a:buNone/>
            </a:pPr>
            <a:r>
              <a:rPr lang="en-US" sz="1100" i="1" dirty="0">
                <a:solidFill>
                  <a:srgbClr val="5A6472"/>
                </a:solidFill>
                <a:latin typeface="Calibri" pitchFamily="34" charset="0"/>
                <a:cs typeface="Amiri" pitchFamily="2" charset="-78"/>
              </a:rPr>
              <a:t>sa-ma-kun</a:t>
            </a:r>
            <a:endParaRPr lang="en-US" sz="1350" dirty="0"/>
          </a:p>
        </p:txBody>
      </p:sp>
      <p:sp>
        <p:nvSpPr>
          <p:cNvPr id="38" name="Shape 3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food</a:t>
            </a:r>
            <a:endParaRPr lang="en-US" sz="700" dirty="0"/>
          </a:p>
        </p:txBody>
      </p:sp>
      <p:sp>
        <p:nvSpPr>
          <p:cNvPr id="40" name="Text 37"/>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سَمَكٌ</a:t>
            </a:r>
            <a:endParaRPr lang="ar-SA" sz="1350" dirty="0"/>
          </a:p>
        </p:txBody>
      </p:sp>
      <p:sp>
        <p:nvSpPr>
          <p:cNvPr id="41" name="Shape 3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one fish</a:t>
            </a:r>
            <a:endParaRPr lang="en-US" sz="700" dirty="0"/>
          </a:p>
        </p:txBody>
      </p:sp>
      <p:sp>
        <p:nvSpPr>
          <p:cNvPr id="43" name="Text 40"/>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سَمَكَةٌ</a:t>
            </a:r>
            <a:endParaRPr lang="ar-SA"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7" name="Shape 4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food · one</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بُرْتُقَالٌ</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oranges</a:t>
            </a:r>
            <a:endParaRPr lang="en-US" sz="1350" dirty="0"/>
          </a:p>
          <a:p>
            <a:pPr indent="0" marL="0">
              <a:buNone/>
            </a:pPr>
            <a:r>
              <a:rPr lang="en-US" sz="1100" i="1" dirty="0">
                <a:solidFill>
                  <a:srgbClr val="5A6472"/>
                </a:solidFill>
                <a:latin typeface="Calibri" pitchFamily="34" charset="0"/>
                <a:cs typeface="Amiri" pitchFamily="2" charset="-78"/>
              </a:rPr>
              <a:t>bur-tu-qā-lun</a:t>
            </a:r>
            <a:endParaRPr lang="en-US" sz="1350" dirty="0"/>
          </a:p>
        </p:txBody>
      </p:sp>
      <p:sp>
        <p:nvSpPr>
          <p:cNvPr id="53" name="Shape 5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food</a:t>
            </a:r>
            <a:endParaRPr lang="en-US" sz="700" dirty="0"/>
          </a:p>
        </p:txBody>
      </p:sp>
      <p:sp>
        <p:nvSpPr>
          <p:cNvPr id="55" name="Text 52"/>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بُرْتُقَالٌ</a:t>
            </a:r>
            <a:endParaRPr lang="ar-SA" sz="1350" dirty="0"/>
          </a:p>
        </p:txBody>
      </p:sp>
      <p:sp>
        <p:nvSpPr>
          <p:cNvPr id="56" name="Shape 5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one orange</a:t>
            </a:r>
            <a:endParaRPr lang="en-US" sz="700" dirty="0"/>
          </a:p>
        </p:txBody>
      </p:sp>
      <p:sp>
        <p:nvSpPr>
          <p:cNvPr id="58" name="Text 55"/>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بُرْتُقَالَةٌ</a:t>
            </a:r>
            <a:endParaRPr lang="ar-SA"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2" name="Shape 5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سَلَطَةٌ</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salad</a:t>
            </a:r>
            <a:endParaRPr lang="en-US" sz="1350" dirty="0"/>
          </a:p>
          <a:p>
            <a:pPr indent="0" marL="0">
              <a:buNone/>
            </a:pPr>
            <a:r>
              <a:rPr lang="en-US" sz="1100" i="1" dirty="0">
                <a:solidFill>
                  <a:srgbClr val="5A6472"/>
                </a:solidFill>
                <a:latin typeface="Calibri" pitchFamily="34" charset="0"/>
                <a:cs typeface="Amiri" pitchFamily="2" charset="-78"/>
              </a:rPr>
              <a:t>sa-la-ṭa-tun</a:t>
            </a:r>
            <a:endParaRPr lang="en-US" sz="135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9" name="Shape 6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1" name="Text 6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عَصِيرٌ</a:t>
            </a:r>
            <a:endParaRPr lang="ar-SA" sz="3000" dirty="0"/>
          </a:p>
        </p:txBody>
      </p:sp>
      <p:sp>
        <p:nvSpPr>
          <p:cNvPr id="72" name="Text 6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juice</a:t>
            </a:r>
            <a:endParaRPr lang="en-US" sz="1350" dirty="0"/>
          </a:p>
          <a:p>
            <a:pPr indent="0" marL="0">
              <a:buNone/>
            </a:pPr>
            <a:r>
              <a:rPr lang="en-US" sz="1100" i="1" dirty="0">
                <a:solidFill>
                  <a:srgbClr val="5A6472"/>
                </a:solidFill>
                <a:latin typeface="Calibri" pitchFamily="34" charset="0"/>
                <a:cs typeface="Amiri" pitchFamily="2" charset="-78"/>
              </a:rPr>
              <a:t>ʿa-ṣī-run</a:t>
            </a:r>
            <a:endParaRPr lang="en-US"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F5-L02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F5-L02 · Meals and Eating Routines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فُطُورٌ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breakfast</a:t>
            </a:r>
            <a:endParaRPr lang="en-US" sz="1350" dirty="0"/>
          </a:p>
          <a:p>
            <a:pPr indent="0" marL="0">
              <a:buNone/>
            </a:pPr>
            <a:r>
              <a:rPr lang="en-US" sz="1100" i="1" dirty="0">
                <a:solidFill>
                  <a:srgbClr val="5A6472"/>
                </a:solidFill>
                <a:latin typeface="Calibri" pitchFamily="34" charset="0"/>
                <a:cs typeface="Amiri" pitchFamily="2" charset="-78"/>
              </a:rPr>
              <a:t>fu-ṭū-run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عَشَاءٌ</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dinner</a:t>
            </a:r>
            <a:endParaRPr lang="en-US" sz="1350" dirty="0"/>
          </a:p>
          <a:p>
            <a:pPr indent="0" marL="0">
              <a:buNone/>
            </a:pPr>
            <a:r>
              <a:rPr lang="en-US" sz="1100" i="1" dirty="0">
                <a:solidFill>
                  <a:srgbClr val="5A6472"/>
                </a:solidFill>
                <a:latin typeface="Calibri" pitchFamily="34" charset="0"/>
                <a:cs typeface="Amiri" pitchFamily="2" charset="-78"/>
              </a:rPr>
              <a:t>ʿa-shā-ʾun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الصَّبَاحِ</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morning</a:t>
            </a:r>
            <a:endParaRPr lang="en-US" sz="1350" dirty="0"/>
          </a:p>
          <a:p>
            <a:pPr indent="0" marL="0">
              <a:buNone/>
            </a:pPr>
            <a:r>
              <a:rPr lang="en-US" sz="1100" i="1" dirty="0">
                <a:solidFill>
                  <a:srgbClr val="5A6472"/>
                </a:solidFill>
                <a:latin typeface="Calibri" pitchFamily="34" charset="0"/>
                <a:cs typeface="Amiri" pitchFamily="2" charset="-78"/>
              </a:rPr>
              <a:t>fī aṣ-ṣa-bā-ḥi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 · we</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آكُلُ</a:t>
            </a:r>
            <a:endParaRPr lang="ar-SA" sz="3000" dirty="0"/>
          </a:p>
        </p:txBody>
      </p:sp>
      <p:sp>
        <p:nvSpPr>
          <p:cNvPr id="44" name="Text 4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eat</a:t>
            </a:r>
            <a:endParaRPr lang="en-US" sz="1350" dirty="0"/>
          </a:p>
          <a:p>
            <a:pPr indent="0" marL="0">
              <a:buNone/>
            </a:pPr>
            <a:r>
              <a:rPr lang="en-US" sz="1100" i="1" dirty="0">
                <a:solidFill>
                  <a:srgbClr val="5A6472"/>
                </a:solidFill>
                <a:latin typeface="Calibri" pitchFamily="34" charset="0"/>
                <a:cs typeface="Amiri" pitchFamily="2" charset="-78"/>
              </a:rPr>
              <a:t>ā-ku-lu</a:t>
            </a:r>
            <a:endParaRPr lang="en-US" sz="1350" dirty="0"/>
          </a:p>
        </p:txBody>
      </p:sp>
      <p:sp>
        <p:nvSpPr>
          <p:cNvPr id="45" name="Shape 42"/>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7" name="Text 44"/>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يَأْكُلُ</a:t>
            </a:r>
            <a:endParaRPr lang="ar-SA" sz="1500" dirty="0"/>
          </a:p>
        </p:txBody>
      </p:sp>
      <p:sp>
        <p:nvSpPr>
          <p:cNvPr id="48" name="Shape 45"/>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0" name="Text 47"/>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تَأْكُلُ</a:t>
            </a:r>
            <a:endParaRPr lang="ar-SA" sz="1500" dirty="0"/>
          </a:p>
        </p:txBody>
      </p:sp>
      <p:sp>
        <p:nvSpPr>
          <p:cNvPr id="51" name="Shape 48"/>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53" name="Text 50"/>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نَأْكُلُ</a:t>
            </a:r>
            <a:endParaRPr lang="ar-SA" sz="150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7" name="Shape 54"/>
          <p:cNvSpPr/>
          <p:nvPr/>
        </p:nvSpPr>
        <p:spPr>
          <a:xfrm>
            <a:off x="4782312" y="4279392"/>
            <a:ext cx="1331366"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 · we</a:t>
            </a:r>
            <a:endParaRPr lang="en-US" sz="800" dirty="0"/>
          </a:p>
        </p:txBody>
      </p:sp>
      <p:sp>
        <p:nvSpPr>
          <p:cNvPr id="59" name="Shape 5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أَتَنَاوَلُ</a:t>
            </a:r>
            <a:endParaRPr lang="ar-SA" sz="3000" dirty="0"/>
          </a:p>
        </p:txBody>
      </p:sp>
      <p:sp>
        <p:nvSpPr>
          <p:cNvPr id="62" name="Text 5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have / consume</a:t>
            </a:r>
            <a:endParaRPr lang="en-US" sz="1350" dirty="0"/>
          </a:p>
          <a:p>
            <a:pPr indent="0" marL="0">
              <a:buNone/>
            </a:pPr>
            <a:r>
              <a:rPr lang="en-US" sz="1100" i="1" dirty="0">
                <a:solidFill>
                  <a:srgbClr val="5A6472"/>
                </a:solidFill>
                <a:latin typeface="Calibri" pitchFamily="34" charset="0"/>
                <a:cs typeface="Amiri" pitchFamily="2" charset="-78"/>
              </a:rPr>
              <a:t>a-ta-nā-wa-lu</a:t>
            </a:r>
            <a:endParaRPr lang="en-US" sz="1350" dirty="0"/>
          </a:p>
        </p:txBody>
      </p:sp>
      <p:sp>
        <p:nvSpPr>
          <p:cNvPr id="63" name="Shape 60"/>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5" name="Text 62"/>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يَتَنَاوَلُ</a:t>
            </a:r>
            <a:endParaRPr lang="ar-SA" sz="1500" dirty="0"/>
          </a:p>
        </p:txBody>
      </p:sp>
      <p:sp>
        <p:nvSpPr>
          <p:cNvPr id="66" name="Shape 63"/>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8" name="Text 65"/>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تَتَنَاوَلُ</a:t>
            </a:r>
            <a:endParaRPr lang="ar-SA" sz="1500" dirty="0"/>
          </a:p>
        </p:txBody>
      </p:sp>
      <p:sp>
        <p:nvSpPr>
          <p:cNvPr id="69" name="Shape 66"/>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71" name="Text 68"/>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نَتَنَاوَلُ</a:t>
            </a:r>
            <a:endParaRPr lang="ar-SA" sz="150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5" name="Shape 7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7" name="Text 7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أَحْيَانًا</a:t>
            </a:r>
            <a:endParaRPr lang="ar-SA" sz="3000" dirty="0"/>
          </a:p>
        </p:txBody>
      </p:sp>
      <p:sp>
        <p:nvSpPr>
          <p:cNvPr id="78" name="Text 7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sometimes</a:t>
            </a:r>
            <a:endParaRPr lang="en-US" sz="1350" dirty="0"/>
          </a:p>
          <a:p>
            <a:pPr indent="0" marL="0">
              <a:buNone/>
            </a:pPr>
            <a:r>
              <a:rPr lang="en-US" sz="1100" i="1" dirty="0">
                <a:solidFill>
                  <a:srgbClr val="5A6472"/>
                </a:solidFill>
                <a:latin typeface="Calibri" pitchFamily="34" charset="0"/>
                <a:cs typeface="Amiri" pitchFamily="2" charset="-78"/>
              </a:rPr>
              <a:t>aḥ-yā-nan</a:t>
            </a:r>
            <a:endParaRPr lang="en-US" sz="13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آكُلُ … وَ… وَ…</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الفُطُورِ آكُلُ … وَأَشْرَبُ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أَتَنَاوَلُ الغَدَاءَ فِي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أَشْرَبُ … وَ…</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كَثِيرًا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عَادَةً · أَحْيَانًا · كُلَّ يَوْمٍ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وَجْبَتِي المُفَضَّلَةُ … لِأَنَّ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أُحِبُّ … · لَا آكُلُ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F5-L01 · Food and Drinks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F5-L02 · Meals and Eating Routines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F5-L01 · Food and Drinks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آكُلُ … وَ… وَ…</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أَشْرَبُ … وَ…</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كَثِيرًا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أُحِبُّ … · لَا آكُلُ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F5-L02 · Meals and Eating Routines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الفُطُورِ آكُلُ … وَأَشْرَبُ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أَتَنَاوَلُ الغَدَاءَ فِي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عَادَةً · أَحْيَانًا · كُلَّ يَوْمٍ</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وَجْبَتِي المُفَضَّلَةُ … لِأَنَّ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food survey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اسْتِبْيَانُ الطَّعَامِ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eat for breakfast?</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مَاذَا تَأْكُلُ فِي الفُطُورِ؟</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Usually I eat bread and cheese, and I drink orange juice.</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عَادَةً آكُلُ خُبْزًا وَجُبْنًا، وَأَشْرَبُ عَصِيرَ بُرْتُقَالٍ.</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where do you have lunch?</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وَأَيْنَ تَتَنَاوَلُ الغَدَاءَ؟</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school. I sometimes eat rice and chicken.</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فِي المَدْرَسَةِ. آكُلُ أَرُزًّا وَدَجَاجًا أَحْيَانًا.</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do you eat dinner with?</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مَعَ مَنْ تَأْكُلُ العَشَاءَ؟</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my family every day. I like fish a lot, but I don’t like potatoes.</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مَعَ عَائِلَتِي كُلَّ يَوْمٍ. أُحِبُّ السَّمَكَ كَثِيرًا، لٰكِنِّي لَا أُحِبُّ البَطَاطِسَ.</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 أَيْضًا</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آكُلُ … كَثِيرًا</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eat a lot?</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تَأْكُلُ كَثِيرًا؟</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وَأَشْرَبُ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الفُطُورِ آكُلُ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eat for breakfast?</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تَأْكُلُ فِي الفُطُورِ؟</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وَأَحْيَانًا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أَشْرَبُ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drink in the morning?</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تَشْرَبُ فِي الصَّبَاحِ؟</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فِي السَّاعَةِ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أَتَنَاوَلُ الغَدَاءَ فِي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do you have lunch?</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تَتَنَاوَلُ الغَدَاءَ؟</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خُصُوصًا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أُحِبُّ … / لَا، لَا أُحِبُّ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like vegetables?</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تُحِبُّ الخُضَارَ؟</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فِي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آكُلُ العَشَاءَ مَعَ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do you eat dinner with?</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مَعَ مَنْ تَأْكُلُ العَشَاءَ؟</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F5-L01, even numbers from F5-L02.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Role-play card — the class food survey</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اسْتِبْيَانُ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آكُلُ … وَ… ، وَأَشْرَبُ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two foods and one drink.</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تَأْكُلُ وَتَشْرَبُ فِي الفُطُورِ؟</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 عَادَةً … فِي السَّاعَةِ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time and a frequency word.</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تَتَنَاوَلُ الفُطُورَ؟</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 مَعَ مَنْ ← فِي … مَعَ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place and a person.</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وَمَعَ مَنْ تَتَنَاوَلُ الغَدَاءَ؟</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نَعَمْ، أَحْيَانًا آكُلُ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with what and how often.</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تَأْكُلُ وَجْبَةً خَفِيفَةً بَعْدَ المَدْرَسَةِ؟</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لَا آكُلُ … أَبَدًا، لٰكِنِّي أُحِبُّ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 food you never eat, and one you love.</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لَا تَأْكُلُ أَبَدًا؟</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the student being surveyed · Partner A = the survey leader.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What I ate yesterday — and what I usually eat</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طَعَامِي فِي يَوْمٍ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about your meals on a normal day: breakfast, lunch, a snack and dinner — what you eat and drink, where, with whom and how often. Finish with a food you love and one you don’t.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فِي الفُطُورِ آكُلُ … · فِي الغَدَاءِ … · فِي العَشَاءِ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where, with whom and one frequency word.</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snack, a time and </a:t>
            </a:r>
            <a:pPr algn="l" indent="0" marL="0">
              <a:buNone/>
            </a:pPr>
            <a:r>
              <a:rPr lang="ar-SA" altLang="en-US" sz="1500" dirty="0">
                <a:solidFill>
                  <a:srgbClr val="1F2A37"/>
                </a:solidFill>
                <a:latin typeface="Amiri" pitchFamily="2" charset="-78"/>
                <a:ea typeface="Amiri" pitchFamily="2" charset="-78"/>
                <a:cs typeface="Amiri" pitchFamily="2" charset="-78"/>
              </a:rPr>
              <a:t>أُحِبُّ … كَثِيرًا، لٰكِنِّي لَا أُحِبُّ</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الفُطُورِ آكُلُ … وَأَشْرَبُ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for breakfast I eat … and drink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أَتَنَاوَلُ الغَدَاءَ فِي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have lunch in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مَعَ عَائِلَتِي · مَعَ أَصْدِقَائِي</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with my family · with my friends</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عَادَةً · أَحْيَانًا · كُلَّ يَوْمٍ</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usually · sometimes · every day</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eat rice and chicken.</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آكُلُ</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يَأْكُلُ</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الأَرُزَّ</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الأَرُزُّ</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وَالدَّجَاجَ.</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وَالدَّجَاجُ.</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For breakfast I usually eat eggs.</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الفُطُورِ</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الفُطُورُ فِي</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عَادَةً آكُلُ</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عَادَةً أَكَلَ</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البَيْضَ.</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البَيْضُ.</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don’t drink coffee.</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لَا</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لَيْسَ</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أَشْرَبُ</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تَشْرَبُ</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القَهْوَةَ.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القَهْوَةُ.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eat rice and chicken.</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eat = </a:t>
            </a:r>
            <a:pPr algn="l" indent="0" marL="0">
              <a:buNone/>
            </a:pPr>
            <a:r>
              <a:rPr lang="ar-SA" altLang="en-US" sz="1350" dirty="0">
                <a:solidFill>
                  <a:srgbClr val="5A6472"/>
                </a:solidFill>
                <a:latin typeface="Amiri" pitchFamily="2" charset="-78"/>
                <a:ea typeface="Amiri" pitchFamily="2" charset="-78"/>
                <a:cs typeface="Amiri" pitchFamily="2" charset="-78"/>
              </a:rPr>
              <a:t>آكُلُ</a:t>
            </a:r>
            <a:pPr algn="l" indent="0" marL="0">
              <a:buNone/>
            </a:pPr>
            <a:r>
              <a:rPr lang="en-US" sz="1050" i="1" dirty="0">
                <a:solidFill>
                  <a:srgbClr val="5A6472"/>
                </a:solidFill>
                <a:latin typeface="Calibri" pitchFamily="34" charset="0"/>
                <a:cs typeface="Amiri" pitchFamily="2" charset="-78"/>
              </a:rPr>
              <a:t>; the food is the object → -a.</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آكُلُ الأَرُزَّ وَالدَّجَاجَ.</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For breakfast I usually eat eggs.</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For breakfast = </a:t>
            </a:r>
            <a:pPr algn="l" indent="0" marL="0">
              <a:buNone/>
            </a:pPr>
            <a:r>
              <a:rPr lang="ar-SA" altLang="en-US" sz="1350" dirty="0">
                <a:solidFill>
                  <a:srgbClr val="5A6472"/>
                </a:solidFill>
                <a:latin typeface="Amiri" pitchFamily="2" charset="-78"/>
                <a:ea typeface="Amiri" pitchFamily="2" charset="-78"/>
                <a:cs typeface="Amiri" pitchFamily="2" charset="-78"/>
              </a:rPr>
              <a:t>فِي الفُطُورِ</a:t>
            </a:r>
            <a:pPr algn="l" indent="0" marL="0">
              <a:buNone/>
            </a:pPr>
            <a:r>
              <a:rPr lang="en-US" sz="1050" i="1" dirty="0">
                <a:solidFill>
                  <a:srgbClr val="5A6472"/>
                </a:solidFill>
                <a:latin typeface="Calibri" pitchFamily="34" charset="0"/>
                <a:cs typeface="Amiri" pitchFamily="2" charset="-78"/>
              </a:rPr>
              <a:t>; usually I eat = </a:t>
            </a:r>
            <a:pPr algn="l" indent="0" marL="0">
              <a:buNone/>
            </a:pPr>
            <a:r>
              <a:rPr lang="ar-SA" altLang="en-US" sz="1350" dirty="0">
                <a:solidFill>
                  <a:srgbClr val="5A6472"/>
                </a:solidFill>
                <a:latin typeface="Amiri" pitchFamily="2" charset="-78"/>
                <a:ea typeface="Amiri" pitchFamily="2" charset="-78"/>
                <a:cs typeface="Amiri" pitchFamily="2" charset="-78"/>
              </a:rPr>
              <a:t>عَادَةً آكُلُ</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فِي الفُطُورِ عَادَةً آكُلُ البَيْضَ.</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don’t drink coffee.</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Negative of a verb = </a:t>
            </a:r>
            <a:pPr algn="l" indent="0" marL="0">
              <a:buNone/>
            </a:pPr>
            <a:r>
              <a:rPr lang="ar-SA" altLang="en-US" sz="1350" dirty="0">
                <a:solidFill>
                  <a:srgbClr val="5A6472"/>
                </a:solidFill>
                <a:latin typeface="Amiri" pitchFamily="2" charset="-78"/>
                <a:ea typeface="Amiri" pitchFamily="2" charset="-78"/>
                <a:cs typeface="Amiri" pitchFamily="2" charset="-78"/>
              </a:rPr>
              <a:t>لَا</a:t>
            </a:r>
            <a:pPr algn="l" indent="0" marL="0">
              <a:buNone/>
            </a:pPr>
            <a:r>
              <a:rPr lang="en-US" sz="1050" i="1" dirty="0">
                <a:solidFill>
                  <a:srgbClr val="5A6472"/>
                </a:solidFill>
                <a:latin typeface="Calibri" pitchFamily="34" charset="0"/>
                <a:cs typeface="Amiri" pitchFamily="2" charset="-78"/>
              </a:rPr>
              <a:t> + verb.</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لَا أَشْرَبُ القَهْوَةَ.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يَأْكُلُ الخُبْزَ.</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eats?</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آكُلُ فِي الفُطُورُ الخُبْزَ.</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Look after </a:t>
            </a:r>
            <a:pPr algn="l" indent="0" marL="0">
              <a:buNone/>
            </a:pPr>
            <a:r>
              <a:rPr lang="ar-SA" altLang="en-US" sz="1700" dirty="0">
                <a:solidFill>
                  <a:srgbClr val="5A6472"/>
                </a:solidFill>
                <a:latin typeface="Amiri" pitchFamily="2" charset="-78"/>
                <a:ea typeface="Amiri" pitchFamily="2" charset="-78"/>
                <a:cs typeface="Amiri" pitchFamily="2" charset="-78"/>
              </a:rPr>
              <a:t>فِي</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لَيْسَ أُحِبُّ السَّمَكَ.</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Negative with a verb.</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يَأْكُلُ الخُبْزَ.</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آكُلُ الخُبْزَ.</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 eat = </a:t>
            </a:r>
            <a:pPr algn="l" indent="0" marL="0">
              <a:buNone/>
            </a:pPr>
            <a:r>
              <a:rPr lang="ar-SA" altLang="en-US" sz="1500" b="1" dirty="0">
                <a:solidFill>
                  <a:srgbClr val="1B3B6F"/>
                </a:solidFill>
                <a:latin typeface="Amiri" pitchFamily="2" charset="-78"/>
                <a:ea typeface="Amiri" pitchFamily="2" charset="-78"/>
                <a:cs typeface="Amiri" pitchFamily="2" charset="-78"/>
              </a:rPr>
              <a:t>آكُلُ</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آكُلُ فِي الفُطُورُ الخُبْزَ.</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آكُلُ فِي الفُطُورِ الخُبْزَ.</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فِي</a:t>
            </a:r>
            <a:pPr algn="l" indent="0" marL="0">
              <a:buNone/>
            </a:pPr>
            <a:r>
              <a:rPr lang="en-US" sz="1150" b="1" dirty="0">
                <a:solidFill>
                  <a:srgbClr val="1B3B6F"/>
                </a:solidFill>
                <a:latin typeface="Calibri" pitchFamily="34" charset="0"/>
                <a:cs typeface="Amiri" pitchFamily="2" charset="-78"/>
              </a:rPr>
              <a:t> + genitive: </a:t>
            </a:r>
            <a:pPr algn="l" indent="0" marL="0">
              <a:buNone/>
            </a:pPr>
            <a:r>
              <a:rPr lang="ar-SA" altLang="en-US" sz="1500" b="1" dirty="0">
                <a:solidFill>
                  <a:srgbClr val="1B3B6F"/>
                </a:solidFill>
                <a:latin typeface="Amiri" pitchFamily="2" charset="-78"/>
                <a:ea typeface="Amiri" pitchFamily="2" charset="-78"/>
                <a:cs typeface="Amiri" pitchFamily="2" charset="-78"/>
              </a:rPr>
              <a:t>الفُطُورِ</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لَيْسَ أُحِبُّ السَّمَكَ.</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لَا أُحِبُّ السَّمَكَ.</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With a present verb use </a:t>
            </a:r>
            <a:pPr algn="l" indent="0" marL="0">
              <a:buNone/>
            </a:pPr>
            <a:r>
              <a:rPr lang="ar-SA" altLang="en-US" sz="1500" b="1" dirty="0">
                <a:solidFill>
                  <a:srgbClr val="1B3B6F"/>
                </a:solidFill>
                <a:latin typeface="Amiri" pitchFamily="2" charset="-78"/>
                <a:ea typeface="Amiri" pitchFamily="2" charset="-78"/>
                <a:cs typeface="Amiri" pitchFamily="2" charset="-78"/>
              </a:rPr>
              <a:t>لَا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عَادَةً / أَحْيَانًا / كُلَّ يَوْمٍ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Usually / sometimes / every day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لٰكِنِّي لَا أُحِبُّ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But I don’t like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السَّاعَةِ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 o’clock.</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الفُطُورِ آكُلُ ______ وَأَشْرَبُ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For breakfast I eat … and drink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أَتَنَاوَلُ الغَدَاءَ فِي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lunch in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المَدْرَسَةِ آكُلُ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school I eat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العَشَاءِ آكُلُ ______ مَعَ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For dinner I eat … with …</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______ كَثِيرًا.</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a lot.</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خُبْزًا · جُبْنًا  ·  أَرُزًّا · دَجَاجًا  ·  سَمَكًا · سَلَطَةً  ·  مَاءً · عَصِيرًا · شَايًا  ·  الفُطُورُ · الغَدَاءُ · العَشَاءُ  ·  وَجْبَةٌ خَفِيفَةٌ  ·  عَادَةً · أَحْيَانًا  ·  كُلَّ يَوْمٍ</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food diary for one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يَوْمِيَّاتُ طَعَامِي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your food diary (about 45–65 words) for a normal school day. Include: • breakfast: what and when • lunch: what and where • a snack after school • dinner: what and with whom • one food you love and one you don’t • one frequency word in every meal.</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F5-L01 AND F5-L02.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الفُطُورِ آكُلُ … وَأَشْرَبُ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breakfast I eat … and drink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أَتَنَاوَلُ الغَدَاءَ فِي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have lunch in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المَدْرَسَةِ آكُلُ وَجْبَةً خَفِيفَةً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school I eat a snack</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 كَثِيرًا، لٰكِنِّي لَا أُحِبُّ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like … a lot, but I don’t like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آكُلُ / أَشْرَبُ</a:t>
            </a:r>
            <a:pPr algn="l" indent="0" marL="0">
              <a:buNone/>
            </a:pPr>
            <a:r>
              <a:rPr lang="en-US" sz="1100" dirty="0">
                <a:solidFill>
                  <a:srgbClr val="5A6472"/>
                </a:solidFill>
                <a:latin typeface="Calibri" pitchFamily="34" charset="0"/>
                <a:cs typeface="Amiri" pitchFamily="2" charset="-78"/>
              </a:rPr>
              <a:t> with the food as object (-a)?</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times and frequency words?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آكُلُ خُبْزًا وَبَيْضًا، وَأَشْرَبُ شَايًا.</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eat bread and eggs, and I drink tea.</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تَأْكُلُ وَتَشْرَبُ فِي الفُطُورِ؟</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عَادَةً أَتَنَاوَلُ الفُطُورَ فِي السَّاعَةِ السَّابِعَةِ.</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usually have breakfast at seven o’clock.</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تَتَنَاوَلُ الفُطُورَ؟</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أَتَنَاوَلُ الغَدَاءَ فِي المَقْصَفِ مَعَ أَصْدِقَائِي.</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have lunch in the canteen with my friends.</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وَمَعَ مَنْ تَتَنَاوَلُ الغَدَاءَ؟</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أَحْيَانًا آكُلُ مَوْزًا أَوْ جُبْنًا.</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sometimes I eat a banana or some cheese.</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تَأْكُلُ وَجْبَةً خَفِيفَةً بَعْدَ المَدْرَسَةِ؟</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آكُلُ السَّمَكَ أَبَدًا، لٰكِنِّي أُحِبُّ الدَّجَاجَ كَثِيرًا.</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never eat fish, but I like chicken a lot.</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لَا تَأْكُلُ أَبَدًا؟</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عَادَةً أَتَنَاوَلُ الفُطُورَ فِي السَّاعَةِ السَّابِعَةِ. آكُلُ خُبْزًا وَجُبْنًا، وَأَشْرَبُ عَصِيرَ بُرْتُقَالٍ. أَتَنَاوَلُ الغَدَاءَ فِي المَقْصَفِ مَعَ أَصْدِقَائِي، وَأَحْيَانًا آكُلُ أَرُزًّا وَدَجَاجًا. بَعْدَ المَدْرَسَةِ آكُلُ مَوْزًا. فِي العَشَاءِ آكُلُ سَمَكًا وَسَلَطَةً مَعَ عَائِلَتِي كُلَّ يَوْمٍ. أُحِبُّ السَّمَكَ كَثِيرًا، لٰكِنِّي لَا أُحِبُّ البَطَاطِسَ.</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usually have breakfast at seven o’clock. I eat bread and cheese, and I drink orange juice. I have lunch in the canteen with my friends, and sometimes I eat rice and chicken. After school I eat a banana. For dinner I eat fish and salad with my family every day. I like fish a lot, but I don’t like potatoes.”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آكُلُ خُبْزًا وَجُبْنًا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فِي المَقْصَفِ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مَعَ عَائِلَتِي كُلَّ يَوْمٍ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لٰكِنِّي لَا أُحِبُّ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F5-L01 and F5-L02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F5-W01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50" b="1" dirty="0">
                <a:solidFill>
                  <a:srgbClr val="FFFFFF"/>
                </a:solidFill>
                <a:latin typeface="Cambria" pitchFamily="34" charset="0"/>
                <a:cs typeface="Amiri" pitchFamily="2" charset="-78"/>
              </a:rPr>
              <a:t>F5-L03 · Likes, Dislikes and Preferences</a:t>
            </a:r>
            <a:endParaRPr lang="en-US" sz="24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الإِعْجَابُ وَالتَّفْضِيلُ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F5-W01 · Apply Workshop — My Food Diary Interview</dc:title>
  <dc:subject>PptxGenJS Presentation</dc:subject>
  <dc:creator>Al Madina Online School · Arabic Department</dc:creator>
  <cp:lastModifiedBy>Al Madina Online School · Arabic Department</cp:lastModifiedBy>
  <cp:revision>1</cp:revision>
  <dcterms:created xsi:type="dcterms:W3CDTF">2026-10-26T15:17:32Z</dcterms:created>
  <dcterms:modified xsi:type="dcterms:W3CDTF">2026-10-26T15:17:32Z</dcterms:modified>
</cp:coreProperties>
</file>