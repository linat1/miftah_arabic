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F5-L01 · Learn F5-L02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F5-L01 (Food and Drinks) and F5-L02 (Meals and Eating Routines).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F5-L01 and F5-L02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F5-L01? After F5-L02?” Take two answers in the chat for each lesson (one word or one sentence is enough). Then read objective 3 — today’s new situation that needs BOTH lessons. Students tick their route goals at the end of the lesson.
F5-L01 language: ākulu (I eat) · ashrabu (I drink) + food as object (-a); uḥibbu / lā uḥibbu; hal tuḥibbu / tuḥibbīna …?; food categories
F5-L02 language: fī al-fuṭūri / al-ghadāʾi / al-ʿashāʾi + ākulu · ashrabu · atanāwalu; times and frequency (ʿādatan · aḥyānan · kulla yawmin); maʿa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F5-L01 and F5-L02. Teacher reads it once with a confident student; then pairs. Ask: “Which lines are from F5-L01? Which from F5-L02?” Foods as objects (خُبْزًا · جُبْنًا · أَرُزًّا) and likes come from F5-L01; meals, where, with whom and frequency (عَادَةً · أَحْيَانًا · كُلَّ يَوْمٍ) from F5-L02.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food and drink as objects and likes (F5-L01) with meals, place, company and frequency (F5-L02). SUPPORTED: the plan column gives the first words, not the full answer. To a girl Partner A says: مَاذَا تَأْكُلِينَ وَتَشْرَبِينَ؟ · مَتَى تَتَنَاوَلِينَ …؟ · هَلْ تَأْكُلِينَ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F5-L01 and F5-L02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F5-L01 and F5-L02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(42 words). CHECK YOURSELF (2 min). Find each bullet point in the model, and one phrase from F5-L01 and one from F5-L02.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F5-L01 + F5-L02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My Food Diary Interview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يَوْمِيَّاتُ طَعَامِي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foods and drinks with meals and routines: they interview each other for a class food survey (what, when, where, with whom, how often), report a partner’s answers, give a short talk and write a one-day food diary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F5-L01 + F5-L02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F5-L01 and F5-L02.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F5-L01 + F5-L02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F5-L01: Food and Drinks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F5-L02: Meals and Eating Routines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food survey · My food diary for one day</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F5-L01 and F5-L02.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F5-L01 · Food and Drinks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bread</a:t>
            </a:r>
            <a:endParaRPr lang="en-US" sz="1350" dirty="0"/>
          </a:p>
          <a:p>
            <a:pPr indent="0" marL="0">
              <a:buNone/>
            </a:pPr>
            <a:r>
              <a:rPr lang="en-US" sz="1100" i="1" dirty="0">
                <a:solidFill>
                  <a:srgbClr val="5A6472"/>
                </a:solidFill>
                <a:latin typeface="Calibri" pitchFamily="34" charset="0"/>
                <a:cs typeface="Amiri" pitchFamily="2" charset="-78"/>
              </a:rPr>
              <a:t>khub-zun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جُبْنٌ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cheese</a:t>
            </a:r>
            <a:endParaRPr lang="en-US" sz="1350" dirty="0"/>
          </a:p>
          <a:p>
            <a:pPr indent="0" marL="0">
              <a:buNone/>
            </a:pPr>
            <a:r>
              <a:rPr lang="en-US" sz="1100" i="1" dirty="0">
                <a:solidFill>
                  <a:srgbClr val="5A6472"/>
                </a:solidFill>
                <a:latin typeface="Calibri" pitchFamily="34" charset="0"/>
                <a:cs typeface="Amiri" pitchFamily="2" charset="-78"/>
              </a:rPr>
              <a:t>jub-nun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سَمَكٌ</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sa-ma-kun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fish</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سَمَكَةٌ</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food · one</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oranges</a:t>
            </a:r>
            <a:endParaRPr lang="en-US" sz="1350" dirty="0"/>
          </a:p>
          <a:p>
            <a:pPr indent="0" marL="0">
              <a:buNone/>
            </a:pPr>
            <a:r>
              <a:rPr lang="en-US" sz="1100" i="1" dirty="0">
                <a:solidFill>
                  <a:srgbClr val="5A6472"/>
                </a:solidFill>
                <a:latin typeface="Calibri" pitchFamily="34" charset="0"/>
                <a:cs typeface="Amiri" pitchFamily="2" charset="-78"/>
              </a:rPr>
              <a:t>bur-tu-qā-lun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a:t>
            </a:r>
            <a:endParaRPr lang="en-US" sz="700" dirty="0"/>
          </a:p>
        </p:txBody>
      </p:sp>
      <p:sp>
        <p:nvSpPr>
          <p:cNvPr id="55" name="Text 5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a:t>
            </a:r>
            <a:endParaRPr lang="ar-SA" sz="135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one orange</a:t>
            </a:r>
            <a:endParaRPr lang="en-US" sz="700" dirty="0"/>
          </a:p>
        </p:txBody>
      </p:sp>
      <p:sp>
        <p:nvSpPr>
          <p:cNvPr id="58" name="Text 5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سَلَطَةٌ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salad</a:t>
            </a:r>
            <a:endParaRPr lang="en-US" sz="1350" dirty="0"/>
          </a:p>
          <a:p>
            <a:pPr indent="0" marL="0">
              <a:buNone/>
            </a:pPr>
            <a:r>
              <a:rPr lang="en-US" sz="1100" i="1" dirty="0">
                <a:solidFill>
                  <a:srgbClr val="5A6472"/>
                </a:solidFill>
                <a:latin typeface="Calibri" pitchFamily="34" charset="0"/>
                <a:cs typeface="Amiri" pitchFamily="2" charset="-78"/>
              </a:rPr>
              <a:t>sa-la-ṭa-tun</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عَصِيرٌ</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juice</a:t>
            </a:r>
            <a:endParaRPr lang="en-US" sz="1350" dirty="0"/>
          </a:p>
          <a:p>
            <a:pPr indent="0" marL="0">
              <a:buNone/>
            </a:pPr>
            <a:r>
              <a:rPr lang="en-US" sz="1100" i="1" dirty="0">
                <a:solidFill>
                  <a:srgbClr val="5A6472"/>
                </a:solidFill>
                <a:latin typeface="Calibri" pitchFamily="34" charset="0"/>
                <a:cs typeface="Amiri" pitchFamily="2" charset="-78"/>
              </a:rPr>
              <a:t>ʿa-ṣī-run</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F5-L02 · Meals and Eating Routines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فُطُورٌ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breakfast</a:t>
            </a:r>
            <a:endParaRPr lang="en-US" sz="1350" dirty="0"/>
          </a:p>
          <a:p>
            <a:pPr indent="0" marL="0">
              <a:buNone/>
            </a:pPr>
            <a:r>
              <a:rPr lang="en-US" sz="1100" i="1" dirty="0">
                <a:solidFill>
                  <a:srgbClr val="5A6472"/>
                </a:solidFill>
                <a:latin typeface="Calibri" pitchFamily="34" charset="0"/>
                <a:cs typeface="Amiri" pitchFamily="2" charset="-78"/>
              </a:rPr>
              <a:t>fu-ṭū-run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عَشَاءٌ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dinner</a:t>
            </a:r>
            <a:endParaRPr lang="en-US" sz="1350" dirty="0"/>
          </a:p>
          <a:p>
            <a:pPr indent="0" marL="0">
              <a:buNone/>
            </a:pPr>
            <a:r>
              <a:rPr lang="en-US" sz="1100" i="1" dirty="0">
                <a:solidFill>
                  <a:srgbClr val="5A6472"/>
                </a:solidFill>
                <a:latin typeface="Calibri" pitchFamily="34" charset="0"/>
                <a:cs typeface="Amiri" pitchFamily="2" charset="-78"/>
              </a:rPr>
              <a:t>ʿa-shā-ʾun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آكُلُ</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eat</a:t>
            </a:r>
            <a:endParaRPr lang="en-US" sz="1350" dirty="0"/>
          </a:p>
          <a:p>
            <a:pPr indent="0" marL="0">
              <a:buNone/>
            </a:pPr>
            <a:r>
              <a:rPr lang="en-US" sz="1100" i="1" dirty="0">
                <a:solidFill>
                  <a:srgbClr val="5A6472"/>
                </a:solidFill>
                <a:latin typeface="Calibri" pitchFamily="34" charset="0"/>
                <a:cs typeface="Amiri" pitchFamily="2" charset="-78"/>
              </a:rPr>
              <a:t>ā-ku-lu</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يَأْكُلُ</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تَأْكُلُ</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3" name="Text 50"/>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نَأْكُلُ</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 consume</a:t>
            </a:r>
            <a:endParaRPr lang="en-US" sz="1350" dirty="0"/>
          </a:p>
          <a:p>
            <a:pPr indent="0" marL="0">
              <a:buNone/>
            </a:pPr>
            <a:r>
              <a:rPr lang="en-US" sz="1100" i="1" dirty="0">
                <a:solidFill>
                  <a:srgbClr val="5A6472"/>
                </a:solidFill>
                <a:latin typeface="Calibri" pitchFamily="34" charset="0"/>
                <a:cs typeface="Amiri" pitchFamily="2" charset="-78"/>
              </a:rPr>
              <a:t>a-ta-nā-wa-lu</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71" name="Text 6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نَتَنَاوَلُ</a:t>
            </a:r>
            <a:endParaRPr lang="ar-SA" sz="150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كَثِيرًا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وَجْبَتِي المُفَضَّلَةُ …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 لَا آكُلُ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F5-L01 · Food and Drinks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F5-L02 · Meals and Eating Routines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F5-L01 · Food and Drinks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 وَ…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كَثِيرًا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 لَا آكُلُ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F5-L02 · Meals and Eating Routines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وَجْبَتِي المُفَضَّلَةُ …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food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تَأْكُلُ فِي الفُطُورِ؟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I eat bread and cheese, and I drink orange juice.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عَادَةً آكُلُ خُبْزًا وَجُبْنًا، وَأَشْرَبُ عَصِيرَ بُرْتُقَالٍ.</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where do you have lunch?</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وَأَيْنَ تَتَنَاوَلُ الغَدَاءَ؟</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school. I sometimes eat rice and chicken.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المَدْرَسَةِ. آكُلُ أَرُزًّا وَدَجَاجًا أَحْيَانًا.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eat dinner with?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 مَنْ تَأْكُلُ العَشَاءَ؟</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my family every day. I like fish a lot, but I don’t like potatoes.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 عَائِلَتِي كُلَّ يَوْمٍ. أُحِبُّ السَّمَكَ كَثِيرًا، لٰكِنِّي لَا أُحِبُّ البَطَاطِسَ.</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 كَثِيرًا</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a lot?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كَثِيرًا؟</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وَأَشْرَبُ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الفُطُورِ آكُلُ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eat for breakfast?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فِي الفُطُورِ؟</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وَأَحْيَانًا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أَشْرَبُ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drink in the morning?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تَشْرَبُ فِي الصَّبَاحِ؟</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السَّاعَةِ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أَتَنَاوَلُ الغَدَاءَ فِي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have lunch?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تَتَنَاوَلُ الغَدَاءَ؟</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خُصُوصًا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أُحِبُّ … / لَا، لَا أُحِبُّ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vegetables?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الخُضَارَ؟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آكُلُ العَشَاءَ مَعَ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do you eat dinner with?</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تَأْكُلُ العَشَاءَ؟</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F5-L01, even numbers from F5-L02.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Role-play card — the class food survey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آكُلُ … وَ… ، وَأَشْرَبُ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foods and one drink.</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تَأْكُلُ وَتَشْرَبُ فِي الفُطُورِ؟</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عَادَةً … فِي السَّاعَةِ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time and a frequency word.</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تَتَنَاوَلُ الفُطُورَ؟</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مَعَ مَنْ ← فِي … مَعَ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place and a person.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وَمَعَ مَنْ تَتَنَاوَلُ الغَدَاءَ؟</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أَحْيَانًا آكُلُ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what and how often.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تَأْكُلُ وَجْبَةً خَفِيفَةً بَعْدَ المَدْرَسَةِ؟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آكُلُ … أَبَدًا، لٰكِنِّي أُحِبُّ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food you never eat, and one you love.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تَأْكُلُ أَبَدًا؟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being surveyed · Partner A = the survey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What I ate yesterday — and what I usually eat</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طَعَامِي فِي 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meals on a normal day: breakfast, lunch, a snack and dinner — what you eat and drink, where, with whom and how often. Finish with a food you love and one you don’t.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الفُطُورِ آكُلُ … · فِي الغَدَاءِ … · فِي العَشَاءِ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where, with whom and one frequency word.</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snack, a time and ‏</a:t>
            </a:r>
            <a:pPr algn="l" indent="0" marL="0">
              <a:buNone/>
            </a:pPr>
            <a:r>
              <a:rPr lang="ar-SA" altLang="en-US" sz="1500" dirty="0">
                <a:solidFill>
                  <a:srgbClr val="1F2A37"/>
                </a:solidFill>
                <a:latin typeface="Amiri" pitchFamily="2" charset="-78"/>
                <a:ea typeface="Amiri" pitchFamily="2" charset="-78"/>
                <a:cs typeface="Amiri" pitchFamily="2" charset="-78"/>
              </a:rPr>
              <a:t>أُحِبُّ … كَثِيرًا، لٰكِنِّي لَا أُحِبُّ</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الفُطُورِ آكُلُ … وَأَشْرَبُ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for breakfast I eat … and drink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أَتَنَاوَلُ الغَدَاءَ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lunch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مَعَ عَائِلَتِي · مَعَ أَصْدِقَائِي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with my family · with my friends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عَادَةً · أَحْيَانًا · كُلَّ يَوْمٍ</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usually · sometimes · every day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eat rice and chicken.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آكُلُ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يَأْكُلُ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الأَرُزَّ</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الأَرُزُّ</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وَالدَّجَاجَ.</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وَالدَّجَاجُ.</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For breakfast I usually eat eggs.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الفُطُورِ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الفُطُورُ فِي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 آكُلُ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 أَكَلَ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البَيْضَ.</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البَيْضُ.</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don’t drink coffee.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لَيْسَ</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تَشْرَبُ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القَهْوَةَ.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القَهْوَةُ.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eat rice and chicken.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eat = </a:t>
            </a:r>
            <a:pPr algn="l" indent="0" marL="0">
              <a:buNone/>
            </a:pPr>
            <a:r>
              <a:rPr lang="ar-SA" altLang="en-US" sz="1350" dirty="0">
                <a:solidFill>
                  <a:srgbClr val="5A6472"/>
                </a:solidFill>
                <a:latin typeface="Amiri" pitchFamily="2" charset="-78"/>
                <a:ea typeface="Amiri" pitchFamily="2" charset="-78"/>
                <a:cs typeface="Amiri" pitchFamily="2" charset="-78"/>
              </a:rPr>
              <a:t>آكُلُ</a:t>
            </a:r>
            <a:pPr algn="l" indent="0" marL="0">
              <a:buNone/>
            </a:pPr>
            <a:r>
              <a:rPr lang="en-US" sz="1050" i="1" dirty="0">
                <a:solidFill>
                  <a:srgbClr val="5A6472"/>
                </a:solidFill>
                <a:latin typeface="Calibri" pitchFamily="34" charset="0"/>
                <a:cs typeface="Amiri" pitchFamily="2" charset="-78"/>
              </a:rPr>
              <a:t>; the food is the object → -a.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آكُلُ الأَرُزَّ وَالدَّجَاجَ.</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For breakfast I usually eat eggs.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breakfast = </a:t>
            </a:r>
            <a:pPr algn="l" indent="0" marL="0">
              <a:buNone/>
            </a:pPr>
            <a:r>
              <a:rPr lang="ar-SA" altLang="en-US" sz="1350" dirty="0">
                <a:solidFill>
                  <a:srgbClr val="5A6472"/>
                </a:solidFill>
                <a:latin typeface="Amiri" pitchFamily="2" charset="-78"/>
                <a:ea typeface="Amiri" pitchFamily="2" charset="-78"/>
                <a:cs typeface="Amiri" pitchFamily="2" charset="-78"/>
              </a:rPr>
              <a:t>فِي الفُطُورِ</a:t>
            </a:r>
            <a:pPr algn="l" indent="0" marL="0">
              <a:buNone/>
            </a:pPr>
            <a:r>
              <a:rPr lang="en-US" sz="1050" i="1" dirty="0">
                <a:solidFill>
                  <a:srgbClr val="5A6472"/>
                </a:solidFill>
                <a:latin typeface="Calibri" pitchFamily="34" charset="0"/>
                <a:cs typeface="Amiri" pitchFamily="2" charset="-78"/>
              </a:rPr>
              <a:t>; usually I eat = </a:t>
            </a:r>
            <a:pPr algn="l" indent="0" marL="0">
              <a:buNone/>
            </a:pPr>
            <a:r>
              <a:rPr lang="ar-SA" altLang="en-US" sz="1350" dirty="0">
                <a:solidFill>
                  <a:srgbClr val="5A6472"/>
                </a:solidFill>
                <a:latin typeface="Amiri" pitchFamily="2" charset="-78"/>
                <a:ea typeface="Amiri" pitchFamily="2" charset="-78"/>
                <a:cs typeface="Amiri" pitchFamily="2" charset="-78"/>
              </a:rPr>
              <a:t>عَادَةً آكُلُ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الفُطُورِ عَادَةً آكُلُ البَيْضَ.</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don’t drink coffee.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Negative of a verb = </a:t>
            </a:r>
            <a:pPr algn="l" indent="0" marL="0">
              <a:buNone/>
            </a:pPr>
            <a:r>
              <a:rPr lang="ar-SA" altLang="en-US" sz="1350" dirty="0">
                <a:solidFill>
                  <a:srgbClr val="5A6472"/>
                </a:solidFill>
                <a:latin typeface="Amiri" pitchFamily="2" charset="-78"/>
                <a:ea typeface="Amiri" pitchFamily="2" charset="-78"/>
                <a:cs typeface="Amiri" pitchFamily="2" charset="-78"/>
              </a:rPr>
              <a:t>لَا</a:t>
            </a:r>
            <a:pPr algn="l" indent="0" marL="0">
              <a:buNone/>
            </a:pPr>
            <a:r>
              <a:rPr lang="en-US" sz="1050" i="1" dirty="0">
                <a:solidFill>
                  <a:srgbClr val="5A6472"/>
                </a:solidFill>
                <a:latin typeface="Calibri" pitchFamily="34" charset="0"/>
                <a:cs typeface="Amiri" pitchFamily="2" charset="-78"/>
              </a:rPr>
              <a:t> + verb.</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أَشْرَبُ القَهْوَةَ.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يَأْكُلُ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eats?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آكُلُ فِي الفُطُورُ الخُبْزَ.</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after </a:t>
            </a:r>
            <a:pPr algn="l" indent="0" marL="0">
              <a:buNone/>
            </a:pPr>
            <a:r>
              <a:rPr lang="ar-SA" altLang="en-US" sz="1700" dirty="0">
                <a:solidFill>
                  <a:srgbClr val="5A6472"/>
                </a:solidFill>
                <a:latin typeface="Amiri" pitchFamily="2" charset="-78"/>
                <a:ea typeface="Amiri" pitchFamily="2" charset="-78"/>
                <a:cs typeface="Amiri" pitchFamily="2" charset="-78"/>
              </a:rPr>
              <a:t>فِي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أُحِبُّ السَّمَكَ.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with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يَأْكُلُ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آكُلُ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eat = ‏</a:t>
            </a:r>
            <a:pPr algn="l" indent="0" marL="0">
              <a:buNone/>
            </a:pPr>
            <a:r>
              <a:rPr lang="ar-SA" altLang="en-US" sz="1500" b="1" dirty="0">
                <a:solidFill>
                  <a:srgbClr val="1B3B6F"/>
                </a:solidFill>
                <a:latin typeface="Amiri" pitchFamily="2" charset="-78"/>
                <a:ea typeface="Amiri" pitchFamily="2" charset="-78"/>
                <a:cs typeface="Amiri" pitchFamily="2" charset="-78"/>
              </a:rPr>
              <a:t>آكُلُ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آكُلُ فِي الفُطُورُ الخُبْزَ.</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آكُلُ فِي الفُطُورِ الخُبْزَ.</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 genitive: ‏</a:t>
            </a:r>
            <a:pPr algn="l" indent="0" marL="0">
              <a:buNone/>
            </a:pPr>
            <a:r>
              <a:rPr lang="ar-SA" altLang="en-US" sz="1500" b="1" dirty="0">
                <a:solidFill>
                  <a:srgbClr val="1B3B6F"/>
                </a:solidFill>
                <a:latin typeface="Amiri" pitchFamily="2" charset="-78"/>
                <a:ea typeface="Amiri" pitchFamily="2" charset="-78"/>
                <a:cs typeface="Amiri" pitchFamily="2" charset="-78"/>
              </a:rPr>
              <a:t>الفُطُورِ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أُحِبُّ السَّمَكَ.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أُحِبُّ السَّمَكَ.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 present verb use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 أَحْيَانًا / كُلَّ يَوْمٍ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Usually / sometimes / every day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لٰكِنِّي لَا أُحِبُّ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 don’t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 o’clock.</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وَأَشْرَبُ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breakfast I eat … and drink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lunch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eat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العَشَاءِ آكُلُ ______ مَعَ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dinner I eat … with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كَثِيرًا.</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خُبْزًا · جُبْنًا  ·  أَرُزًّا · دَجَاجًا  ·  سَمَكًا · سَلَطَةً  ·  مَاءً · عَصِيرًا · شَايًا  ·  الفُطُورُ · الغَدَاءُ · العَشَاءُ  ·  وَجْبَةٌ خَفِيفَةٌ  ·  عَادَةً · أَحْيَانًا  ·  كُلَّ يَوْمٍ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diary for one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يَوْمِيَّاتُ طَعَامِي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your food diary (about 45–65 words) for a normal school day. Include: • breakfast: what and when • lunch: what and where • a snack after school • dinner: what and with whom • one food you love and one you don’t • one frequency word in every meal.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F5-L01 AND F5-L02.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 وَأَشْرَبُ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breakfast I eat … and drink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lunch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وَجْبَةً خَفِيفَةً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 I eat a snack</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 كَثِيرًا، لٰكِنِّي لَا أُحِبُّ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 … a lot, but I don’t like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آكُلُ / أَشْرَبُ</a:t>
            </a:r>
            <a:pPr algn="l" indent="0" marL="0">
              <a:buNone/>
            </a:pPr>
            <a:r>
              <a:rPr lang="en-US" sz="1100" dirty="0">
                <a:solidFill>
                  <a:srgbClr val="5A6472"/>
                </a:solidFill>
                <a:latin typeface="Calibri" pitchFamily="34" charset="0"/>
                <a:cs typeface="Amiri" pitchFamily="2" charset="-78"/>
              </a:rPr>
              <a:t>‏ with the food as object (-a)?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times and frequency words?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خُبْزًا وَبَيْضًا، وَأَشْرَبُ شَايًا.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eat bread and eggs, and I drink tea.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تَأْكُلُ وَتَشْرَبُ فِي الفُطُورِ؟</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السَّابِعَةِ.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have breakfast at seven o’clock.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تَتَنَاوَلُ الفُطُورَ؟</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الغَدَاءَ فِي المَقْصَفِ مَعَ أَصْدِقَائِي.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lunch in the canteen with my friends.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وَمَعَ مَنْ تَتَنَاوَلُ الغَدَاءَ؟</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أَحْيَانًا آكُلُ مَوْزًا أَوْ جُبْنًا.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sometimes I eat a banana or some cheese.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تَأْكُلُ وَجْبَةً خَفِيفَةً بَعْدَ المَدْرَسَةِ؟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آكُلُ السَّمَكَ أَبَدًا، لٰكِنِّي أُحِبُّ الدَّجَاجَ كَثِيرًا.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never eat fish, but I like chicken a lot.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تَأْكُلُ أَبَدًا؟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آكُلُ خُبْزًا وَجُبْنًا، وَأَشْرَبُ عَصِيرَ بُرْتُقَالٍ. أَتَنَاوَلُ الغَدَاءَ فِي المَقْصَفِ مَعَ أَصْدِقَائِي، وَأَحْيَانًا آكُلُ أَرُزًّا وَدَجَاجًا. بَعْدَ المَدْرَسَةِ آكُلُ مَوْزًا. فِي العَشَاءِ آكُلُ سَمَكًا وَسَلَطَةً مَعَ عَائِلَتِي كُلَّ يَوْمٍ. أُحِبُّ السَّمَكَ كَثِيرًا، لٰكِنِّي لَا أُحِبُّ البَطَاطِسَ.</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have breakfast at seven o’clock. I eat bread and cheese, and I drink orange juice. I have lunch in the canteen with my friends, and sometimes I eat rice and chicken. After school I eat a banana. For dinner I eat fish and salad with my family every day. I like fish a lot, but I don’t like potatoes.”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آكُلُ خُبْزًا وَجُبْنًا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المَقْصَفِ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عَائِلَتِي كُلَّ يَوْمٍ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لٰكِنِّي لَا أُحِبُّ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F5-W01 · Apply workshop (F5-L01 + F5-L02)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F5-L01 and F5-L02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F5-L03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الإِعْجَابُ وَالتَّفْضِيلُ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F5-W01 · Apply Workshop — My Food Diary Interview</dc:title>
  <dc:subject>PptxGenJS Presentation</dc:subject>
  <dc:creator>Al Madina Online School · Arabic Department</dc:creator>
  <cp:lastModifiedBy>Al Madina Online School · Arabic Department</cp:lastModifiedBy>
  <cp:revision>1</cp:revision>
  <dcterms:created xsi:type="dcterms:W3CDTF">2026-10-26T15:47:38Z</dcterms:created>
  <dcterms:modified xsi:type="dcterms:W3CDTF">2026-10-26T15:47:38Z</dcterms:modified>
</cp:coreProperties>
</file>