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F5-L03 · Learn F5-L04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F5-L03 (Likes, Dislikes and Preferences) and F5-L04 (Giving Reasons: Taste and Health).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F5-L03 and F5-L04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F5-L03? After F5-L04?” Take two answers in the chat for each lesson (one word or one sentence is enough). Then read objective 3 — today’s new situation that needs BOTH lessons. Students tick their route goals at the end of the lesson.
F5-L03 language: ufaḍḍilu … ʿalā …; uḥibbu … akthara min …; ṭaʿāmī al-mufaḍḍalu; intensity (jiddan · kathīran · qalīlan); hal tuḥibbu / tuḥibbīna?; huwa yufaḍḍilu / hiya tufaḍḍilu
F5-L04 language: li-annahu + masculine adjective (al-shāy → ḥulwun) / li-annahā + feminine adjective (al-salaṭa → ṭāzajatun); non-human plurals → feminine singular; fī raʾyī; wa-lākin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F5-L04.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F5-L03 and F5-L04. Teacher reads it once with a confident student; then pairs. Ask: “Which lines are from F5-L03? Which from F5-L04?” أُفَضِّلُ … عَلَى … and أُحِبُّ … أَكْثَرَ come from F5-L03; لِأَنَّهُ / لِأَنَّهَا + taste and health adjectives from F5-L04. Point out: البَطَاطِسُ (non-human plural) → هِيَ … صِحِّيَّةٌ.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preferences and comparisons (F5-L03) with taste and health reasons that agree with the food (F5-L04). SUPPORTED: the plan column gives the first words, not the full answer. To a girl Partner A says: مَا أَلَذُّ طَبَقٍ فِي رَأْيِكِ؟ · أَيُّهُمَا تُفَضِّلِينَ؟ · مَاذَا لَا تُحِبِّينَ؟.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F5-L03 and F5-L04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F5-L03 and F5-L04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and one phrase from F5-L03 and one from F5-L04.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F5-L03 + F5-L04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Class Food Awards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جَوَائِزُ الطَّعَامِ فِي الصَّفِّ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preferences with reasons of taste and health: they vote in the class food awards (tastiest dish, healthiest snack, best drink), say what they prefer and why with adjectives that agree, report a partner’s choices and write their award nominations.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F5-L03 + F5-L04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F5-L03 and F5-L04.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F5-L03 + F5-L04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F5-L03: Likes, Dislikes and Preferences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F5-L04: Giving Reasons: Taste and Health</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food awards interview · My food award nominations</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F5-L03 and F5-L04.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F5-L03 · Likes, Dislikes and Preferences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like / love</a:t>
            </a:r>
            <a:endParaRPr lang="en-US" sz="1350" dirty="0"/>
          </a:p>
          <a:p>
            <a:pPr indent="0" marL="0">
              <a:buNone/>
            </a:pPr>
            <a:r>
              <a:rPr lang="en-US" sz="1100" i="1" dirty="0">
                <a:solidFill>
                  <a:srgbClr val="5A6472"/>
                </a:solidFill>
                <a:latin typeface="Calibri" pitchFamily="34" charset="0"/>
                <a:cs typeface="Amiri" pitchFamily="2" charset="-78"/>
              </a:rPr>
              <a:t>u-ḥib-bu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يُحِبُّ</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تُحِبُّ</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a:t>
            </a:r>
            <a:endParaRPr lang="en-US" sz="1350" dirty="0"/>
          </a:p>
          <a:p>
            <a:pPr indent="0" marL="0">
              <a:buNone/>
            </a:pPr>
            <a:r>
              <a:rPr lang="en-US" sz="1100" i="1" dirty="0">
                <a:solidFill>
                  <a:srgbClr val="5A6472"/>
                </a:solidFill>
                <a:latin typeface="Calibri" pitchFamily="34" charset="0"/>
                <a:cs typeface="Amiri" pitchFamily="2" charset="-78"/>
              </a:rPr>
              <a:t>u-faḍ-ḍi-lu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يُفَضِّلُ</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تُفَضِّلُ</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نُفَضِّلُ</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مِنْ</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than</a:t>
            </a:r>
            <a:endParaRPr lang="en-US" sz="1350" dirty="0"/>
          </a:p>
          <a:p>
            <a:pPr indent="0" marL="0">
              <a:buNone/>
            </a:pPr>
            <a:r>
              <a:rPr lang="en-US" sz="1100" i="1" dirty="0">
                <a:solidFill>
                  <a:srgbClr val="5A6472"/>
                </a:solidFill>
                <a:latin typeface="Calibri" pitchFamily="34" charset="0"/>
                <a:cs typeface="Amiri" pitchFamily="2" charset="-78"/>
              </a:rPr>
              <a:t>ak-tha-ra min</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little</a:t>
            </a:r>
            <a:endParaRPr lang="en-US" sz="1350" dirty="0"/>
          </a:p>
          <a:p>
            <a:pPr indent="0" marL="0">
              <a:buNone/>
            </a:pPr>
            <a:r>
              <a:rPr lang="en-US" sz="1100" i="1" dirty="0">
                <a:solidFill>
                  <a:srgbClr val="5A6472"/>
                </a:solidFill>
                <a:latin typeface="Calibri" pitchFamily="34" charset="0"/>
                <a:cs typeface="Amiri" pitchFamily="2" charset="-78"/>
              </a:rPr>
              <a:t>qa-lī-lan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تُحِبُّ؟</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like? (m)</a:t>
            </a:r>
            <a:endParaRPr lang="en-US" sz="1350" dirty="0"/>
          </a:p>
          <a:p>
            <a:pPr indent="0" marL="0">
              <a:buNone/>
            </a:pPr>
            <a:r>
              <a:rPr lang="en-US" sz="1100" i="1" dirty="0">
                <a:solidFill>
                  <a:srgbClr val="5A6472"/>
                </a:solidFill>
                <a:latin typeface="Calibri" pitchFamily="34" charset="0"/>
                <a:cs typeface="Amiri" pitchFamily="2" charset="-78"/>
              </a:rPr>
              <a:t>hal tu-ḥib-bu?</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 يُفَضِّلُ</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prefers</a:t>
            </a:r>
            <a:endParaRPr lang="en-US" sz="1350" dirty="0"/>
          </a:p>
          <a:p>
            <a:pPr indent="0" marL="0">
              <a:buNone/>
            </a:pPr>
            <a:r>
              <a:rPr lang="en-US" sz="1100" i="1" dirty="0">
                <a:solidFill>
                  <a:srgbClr val="5A6472"/>
                </a:solidFill>
                <a:latin typeface="Calibri" pitchFamily="34" charset="0"/>
                <a:cs typeface="Amiri" pitchFamily="2" charset="-78"/>
              </a:rPr>
              <a:t>hu-wa yu-faḍ-ḍi-lu</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F5-L04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F5-L04 · Giving Reasons: Taste and Health</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لَذِيذٌ / لَذِيذَةٌ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delicious</a:t>
            </a:r>
            <a:endParaRPr lang="en-US" sz="1350" dirty="0"/>
          </a:p>
          <a:p>
            <a:pPr indent="0" marL="0">
              <a:buNone/>
            </a:pPr>
            <a:r>
              <a:rPr lang="en-US" sz="1100" i="1" dirty="0">
                <a:solidFill>
                  <a:srgbClr val="5A6472"/>
                </a:solidFill>
                <a:latin typeface="Calibri" pitchFamily="34" charset="0"/>
                <a:cs typeface="Amiri" pitchFamily="2" charset="-78"/>
              </a:rPr>
              <a:t>la-dhī-dhun / la-dhī-dha-tun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مَالِحٌ / مَالِحَةٌ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salty</a:t>
            </a:r>
            <a:endParaRPr lang="en-US" sz="1350" dirty="0"/>
          </a:p>
          <a:p>
            <a:pPr indent="0" marL="0">
              <a:buNone/>
            </a:pPr>
            <a:r>
              <a:rPr lang="en-US" sz="1100" i="1" dirty="0">
                <a:solidFill>
                  <a:srgbClr val="5A6472"/>
                </a:solidFill>
                <a:latin typeface="Calibri" pitchFamily="34" charset="0"/>
                <a:cs typeface="Amiri" pitchFamily="2" charset="-78"/>
              </a:rPr>
              <a:t>mā-li-ḥun / mā-li-ḥa-tun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حَارٌّ / حَارَّةٌ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spicy / hot</a:t>
            </a:r>
            <a:endParaRPr lang="en-US" sz="1350" dirty="0"/>
          </a:p>
          <a:p>
            <a:pPr indent="0" marL="0">
              <a:buNone/>
            </a:pPr>
            <a:r>
              <a:rPr lang="en-US" sz="1100" i="1" dirty="0">
                <a:solidFill>
                  <a:srgbClr val="5A6472"/>
                </a:solidFill>
                <a:latin typeface="Calibri" pitchFamily="34" charset="0"/>
                <a:cs typeface="Amiri" pitchFamily="2" charset="-78"/>
              </a:rPr>
              <a:t>ḥār-run / ḥār-ra-tun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 / صِحِّيَّةٌ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healthy</a:t>
            </a:r>
            <a:endParaRPr lang="en-US" sz="1350" dirty="0"/>
          </a:p>
          <a:p>
            <a:pPr indent="0" marL="0">
              <a:buNone/>
            </a:pPr>
            <a:r>
              <a:rPr lang="en-US" sz="1100" i="1" dirty="0">
                <a:solidFill>
                  <a:srgbClr val="5A6472"/>
                </a:solidFill>
                <a:latin typeface="Calibri" pitchFamily="34" charset="0"/>
                <a:cs typeface="Amiri" pitchFamily="2" charset="-78"/>
              </a:rPr>
              <a:t>ṣiḥ-ḥiy-yun / ṣiḥ-ḥiy-ya-tun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is (m)</a:t>
            </a:r>
            <a:endParaRPr lang="en-US" sz="1350" dirty="0"/>
          </a:p>
          <a:p>
            <a:pPr indent="0" marL="0">
              <a:buNone/>
            </a:pPr>
            <a:r>
              <a:rPr lang="en-US" sz="1100" i="1" dirty="0">
                <a:solidFill>
                  <a:srgbClr val="5A6472"/>
                </a:solidFill>
                <a:latin typeface="Calibri" pitchFamily="34" charset="0"/>
                <a:cs typeface="Amiri" pitchFamily="2" charset="-78"/>
              </a:rPr>
              <a:t>li-ʾan-na-hu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طَعَامِي المُفَضَّلُ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 لِأَنَّهُ … جِدًّا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عَلَى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أَكْثَرَ مِنْ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صِحِّيٌّ / صِحِّيَّةٌ وَمُفِيدٌ / مُفِيدَةٌ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 وَلٰكِنْ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يُفَضِّلُ … · هِيَ تُفَضِّلُ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F5-L03 · Likes, Dislikes and Preferences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F5-L04 · Giving Reasons: Taste and Health</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F5-L03 · Likes, Dislikes and Preferences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طَعَامِي المُفَضَّلُ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 عَلَى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أَكْثَرَ مِنْ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يُفَضِّلُ … · هِيَ تُفَضِّلُ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F5-L04 · Giving Reasons: Taste and Health</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 لِأَنَّهُ … جِدًّا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صِحِّيٌّ / صِحِّيَّةٌ وَمُفِيدٌ / مُفِيدَةٌ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 وَلٰكِنْ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one wins?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الفَائِزُ؟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tea or juice?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أَيُّهُمَا تُفَضِّلُ: الشَّايَ أَمِ العَصِيرَ؟</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juice to tea because it is sweet and fresh.</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أُفَضِّلُ العَصِيرَ عَلَى الشَّايِ لِأَنَّهُ حُلْوٌ وَطَازَجٌ.</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your favourite food?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طَعَامُكَ المُفَضَّلُ؟</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food is kabsa because it is delicious and a little spicy.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طَعَامِي المُفَضَّلُ الكَبْسَةُ لِأَنَّهَا لَذِيذَةٌ وَحَارَّةٌ قَلِيلًا.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chips?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تُحِبُّ البَطَاطِسَ المَقْلِيَّةَ؟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but in my opinion they are not healthy, so I like salad more.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لٰكِنْ فِي رَأْيِي هِيَ لَيْسَتْ صِحِّيَّةً، لِذٰلِكَ أُحِبُّ السَّلَطَةَ أَكْثَرَ.</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أُحِبُّهُ / أُحِبُّهَا جِدًّا</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طَعَامِي المُفَضَّلُ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food?</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طَعَامُكَ المُفَضَّلُ؟</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وَمُفِيدَةٌ لِلْجِسْمِ</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fruit?</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 الفَاكِهَةَ؟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tea or juice?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الشَّايَ أَمِ العَصِيرَ؟</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لَا أَشْرَبُهَا</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هِيَ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coffee?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القَهْوَةِ؟</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كَثِيرًا / قَلِيلًا</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أُحِبُّهَا … / لَا،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sweets / desserts?</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الحَلْوَيَاتِ؟</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لٰكِنَّهَا لَذِيذَةٌ</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لَيْسَتْ صِحِّيَّةً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chips healthy?</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البَطَاطِسُ المَقْلِيَّةُ صِحِّيَّةٌ؟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F5-L03, even numbers from F5-L04.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Role-play card — the food awards interview</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الجَوَائِزِ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 لِأَنَّهُ / لِأَنَّهَا لَذِيذٌ / لَذِيذَةٌ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dish and give a taste reason.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أَلَذُّ طَبَقٍ فِي رَأْيِكَ؟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 لِأَنَّهُ / لِأَنَّهَا صِحِّيٌّ / صِحِّيَّةٌ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healthy snack and give a reason.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أَصَحُّ وَجْبَةٍ خَفِيفَةٍ؟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 أُفَضِّلُ … عَلَى … لِأَنَّ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 one and give a reason.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الأَرُزَّ أَمِ الخُبْزَ؟</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لَا أُحِبُّ … لِأَنَّهُ / لِأَنَّهَا … جِدًّا</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food you dislike, with a reason.</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تُحِبُّ؟ لِمَاذَا؟</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هُوَ يُفَضِّلُ … / هِيَ تُفَضِّلُ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a family member’s preference.</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يُفَضِّلُ أَخُوكَ أَوْ أُخْتُكَ؟</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voter · Partner A = the awards presenter.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My awards: the best and the worst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جَوَائِزِي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and give your own food awards: the tastiest dish, the healthiest food, the best drink and the food you like least — each with a reason that agrees (</a:t>
            </a:r>
            <a:pPr algn="l" indent="0" marL="0">
              <a:buNone/>
            </a:pPr>
            <a:r>
              <a:rPr lang="ar-SA" altLang="en-US" sz="1750" dirty="0">
                <a:solidFill>
                  <a:srgbClr val="1F2A37"/>
                </a:solidFill>
                <a:latin typeface="Amiri" pitchFamily="2" charset="-78"/>
                <a:ea typeface="Amiri" pitchFamily="2" charset="-78"/>
                <a:cs typeface="Amiri" pitchFamily="2" charset="-78"/>
              </a:rPr>
              <a:t>لِأَنَّهُ / لِأَنَّهَا</a:t>
            </a:r>
            <a:pPr algn="l" indent="0" marL="0">
              <a:buNone/>
            </a:pPr>
            <a:r>
              <a:rPr lang="en-US" sz="1350" dirty="0">
                <a:solidFill>
                  <a:srgbClr val="1F2A37"/>
                </a:solidFill>
                <a:latin typeface="Calibri" pitchFamily="34" charset="0"/>
                <a:cs typeface="Amiri" pitchFamily="2" charset="-78"/>
              </a:rPr>
              <a: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طَعَامِي المُفَضَّلُ … · أُفَضِّلُ … عَلَى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reason for each award: </a:t>
            </a:r>
            <a:pPr algn="l" indent="0" marL="0">
              <a:buNone/>
            </a:pPr>
            <a:r>
              <a:rPr lang="ar-SA" altLang="en-US" sz="1500" dirty="0">
                <a:solidFill>
                  <a:srgbClr val="1F2A37"/>
                </a:solidFill>
                <a:latin typeface="Amiri" pitchFamily="2" charset="-78"/>
                <a:ea typeface="Amiri" pitchFamily="2" charset="-78"/>
                <a:cs typeface="Amiri" pitchFamily="2" charset="-78"/>
              </a:rPr>
              <a:t>لِأَنَّهُ لَذِيذٌ</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لِأَنَّهَا صِحِّيَّةٌ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أُحِبُّ … أَكْثَرَ مِنْ</a:t>
            </a:r>
            <a:pPr algn="l" indent="0" marL="0">
              <a:buNone/>
            </a:pPr>
            <a:r>
              <a:rPr lang="en-US" sz="1150" dirty="0">
                <a:solidFill>
                  <a:srgbClr val="1F2A37"/>
                </a:solidFill>
                <a:latin typeface="Calibri" pitchFamily="34" charset="0"/>
                <a:cs typeface="Amiri" pitchFamily="2" charset="-78"/>
              </a:rPr>
              <a:t> … and an opinion with </a:t>
            </a:r>
            <a:pPr algn="l" indent="0" marL="0">
              <a:buNone/>
            </a:pPr>
            <a:r>
              <a:rPr lang="ar-SA" altLang="en-US" sz="1500" dirty="0">
                <a:solidFill>
                  <a:srgbClr val="1F2A37"/>
                </a:solidFill>
                <a:latin typeface="Amiri" pitchFamily="2" charset="-78"/>
                <a:ea typeface="Amiri" pitchFamily="2" charset="-78"/>
                <a:cs typeface="Amiri" pitchFamily="2" charset="-78"/>
              </a:rPr>
              <a:t>فِي رَأْيِي … وَلٰكِنْ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أُفَضِّلُ … عَلَى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prefer … to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أَكْثَرَ مِنْ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more than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لِأَنَّهُ لَذِيذٌ · لِأَنَّهَا طَازَجَةٌ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it is delicious · fresh</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 وَلٰكِنْ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 but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tea to coffee.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تُفَضِّلُ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القَهْوَةِ.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القَهْوَةُ.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salad because it is fresh.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السَّلَطَةَ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السَّلَطَةُ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طَازَجَةٌ.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طَازَجٌ.</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fish more than meat.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السَّمَكَ</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السَّمَكُ</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اللَّحْمِ.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اللَّحْمَ.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tea to coffee.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X to Y = </a:t>
            </a:r>
            <a:pPr algn="l" indent="0" marL="0">
              <a:buNone/>
            </a:pPr>
            <a:r>
              <a:rPr lang="ar-SA" altLang="en-US" sz="1350" dirty="0">
                <a:solidFill>
                  <a:srgbClr val="5A6472"/>
                </a:solidFill>
                <a:latin typeface="Amiri" pitchFamily="2" charset="-78"/>
                <a:ea typeface="Amiri" pitchFamily="2" charset="-78"/>
                <a:cs typeface="Amiri" pitchFamily="2" charset="-78"/>
              </a:rPr>
              <a:t>أُفَضِّلُ</a:t>
            </a:r>
            <a:pPr algn="l" indent="0" marL="0">
              <a:buNone/>
            </a:pPr>
            <a:r>
              <a:rPr lang="en-US" sz="1050" i="1" dirty="0">
                <a:solidFill>
                  <a:srgbClr val="5A6472"/>
                </a:solidFill>
                <a:latin typeface="Calibri" pitchFamily="34" charset="0"/>
                <a:cs typeface="Amiri" pitchFamily="2" charset="-78"/>
              </a:rPr>
              <a:t> X </a:t>
            </a:r>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 Y.</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الشَّايَ عَلَى القَهْوَةِ.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salad because it is fresh.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سَلَطَةٌ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لِأَنَّهَا طَازَجَةٌ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السَّلَطَةَ لِأَنَّهَا طَازَجَةٌ.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fish more than meat.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 than = </a:t>
            </a:r>
            <a:pPr algn="l" indent="0" marL="0">
              <a:buNone/>
            </a:pPr>
            <a:r>
              <a:rPr lang="ar-SA" altLang="en-US" sz="1350" dirty="0">
                <a:solidFill>
                  <a:srgbClr val="5A6472"/>
                </a:solidFill>
                <a:latin typeface="Amiri" pitchFamily="2" charset="-78"/>
                <a:ea typeface="Amiri" pitchFamily="2" charset="-78"/>
                <a:cs typeface="Amiri" pitchFamily="2" charset="-78"/>
              </a:rPr>
              <a:t>أَكْثَرَ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السَّمَكَ أَكْثَرَ مِنَ اللَّحْمِ.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أُفَضِّلُ الأَرُزَّ مِنَ الخُبْزِ.</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Prefer X TO Y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البُرْتُقَالَ لِأَنَّهَا حُلْوَةٌ.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بُرْتُقَالٌ</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طَعَامِي المُفَضَّلَةُ الدَّجَاجُ.</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طَعَامٌ</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أُفَضِّلُ الأَرُزَّ مِنَ الخُبْزِ.</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أُفَضِّلُ الأَرُزَّ عَلَى الخُبْزِ.</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أُفَضِّلُ … عَلَى …</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البُرْتُقَالَ لِأَنَّهَا حُلْوَةٌ.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البُرْتُقَالَ لِأَنَّهُ حُلْوٌ.</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 </a:t>
            </a:r>
            <a:pPr algn="l" indent="0" marL="0">
              <a:buNone/>
            </a:pPr>
            <a:r>
              <a:rPr lang="ar-SA" altLang="en-US" sz="1500" b="1" dirty="0">
                <a:solidFill>
                  <a:srgbClr val="1B3B6F"/>
                </a:solidFill>
                <a:latin typeface="Amiri" pitchFamily="2" charset="-78"/>
                <a:ea typeface="Amiri" pitchFamily="2" charset="-78"/>
                <a:cs typeface="Amiri" pitchFamily="2" charset="-78"/>
              </a:rPr>
              <a:t>لِأَنَّهُ حُلْوٌ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طَعَامِي المُفَضَّلَةُ الدَّجَاجُ.</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طَعَامِي المُفَضَّلُ الدَّجَاجُ.</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 </a:t>
            </a:r>
            <a:pPr algn="l" indent="0" marL="0">
              <a:buNone/>
            </a:pPr>
            <a:r>
              <a:rPr lang="ar-SA" altLang="en-US" sz="1500" b="1" dirty="0">
                <a:solidFill>
                  <a:srgbClr val="1B3B6F"/>
                </a:solidFill>
                <a:latin typeface="Amiri" pitchFamily="2" charset="-78"/>
                <a:ea typeface="Amiri" pitchFamily="2" charset="-78"/>
                <a:cs typeface="Amiri" pitchFamily="2" charset="-78"/>
              </a:rPr>
              <a:t>المُفَضَّلُ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أَكْثَرَ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more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يُفَضِّلُ / أُمِّي تُفَضِّلُ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 mother prefers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______ ، وَلٰكِنْ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but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أَلَذُّ طَبَقٍ ______ لِأَنَّهُ / لِأَنَّهَا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tastiest dish is … because it is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أَصَحُّ طَعَامٍ ______ لِأَنَّهُ / لِأَنَّهَا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healthiest food is … because it is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عَلَى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لِأَنَّهُ / لِأَنَّهَا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 because it is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لَذِيذٌ · لَذِيذَةٌ  ·  حُلْوٌ · حُلْوَةٌ  ·  مَالِحٌ · حَارٌّ  ·  طَازَجٌ · طَازَجَةٌ  ·  صِحِّيٌّ · صِحِّيَّةٌ  ·  أُفَضِّلُ … عَلَى …  ·  أَكْثَرَ مِنْ  ·  لِأَنَّهُ · لِأَنَّهَا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food award nominations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تَرْشِيحَاتِي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your nominations (about 45–65 words) for the class food awards. Include: • the tastiest dish, with a reason • the healthiest food, with a reason • one preference with </a:t>
            </a:r>
            <a:pPr algn="l" indent="0" marL="0">
              <a:buNone/>
            </a:pPr>
            <a:r>
              <a:rPr lang="ar-SA" altLang="en-US" sz="1450" b="1" dirty="0">
                <a:solidFill>
                  <a:srgbClr val="1F2A37"/>
                </a:solidFill>
                <a:latin typeface="Amiri" pitchFamily="2" charset="-78"/>
                <a:ea typeface="Amiri" pitchFamily="2" charset="-78"/>
                <a:cs typeface="Amiri" pitchFamily="2" charset="-78"/>
              </a:rPr>
              <a:t>أُفَضِّلُ … عَلَى</a:t>
            </a:r>
            <a:pPr algn="l" indent="0" marL="0">
              <a:buNone/>
            </a:pPr>
            <a:r>
              <a:rPr lang="en-US" sz="1100" b="1" dirty="0">
                <a:solidFill>
                  <a:srgbClr val="1F2A37"/>
                </a:solidFill>
                <a:latin typeface="Calibri" pitchFamily="34" charset="0"/>
                <a:cs typeface="Amiri" pitchFamily="2" charset="-78"/>
              </a:rPr>
              <a:t> … • one comparison with </a:t>
            </a:r>
            <a:pPr algn="l" indent="0" marL="0">
              <a:buNone/>
            </a:pPr>
            <a:r>
              <a:rPr lang="ar-SA" altLang="en-US" sz="1450" b="1" dirty="0">
                <a:solidFill>
                  <a:srgbClr val="1F2A37"/>
                </a:solidFill>
                <a:latin typeface="Amiri" pitchFamily="2" charset="-78"/>
                <a:ea typeface="Amiri" pitchFamily="2" charset="-78"/>
                <a:cs typeface="Amiri" pitchFamily="2" charset="-78"/>
              </a:rPr>
              <a:t>أَكْثَرَ مِنْ</a:t>
            </a:r>
            <a:pPr algn="l" indent="0" marL="0">
              <a:buNone/>
            </a:pPr>
            <a:r>
              <a:rPr lang="en-US" sz="1100" b="1" dirty="0">
                <a:solidFill>
                  <a:srgbClr val="1F2A37"/>
                </a:solidFill>
                <a:latin typeface="Calibri" pitchFamily="34" charset="0"/>
                <a:cs typeface="Amiri" pitchFamily="2" charset="-78"/>
              </a:rPr>
              <a:t> • a food you don’t like, with a reason • what a family member prefers.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F5-L03 AND F5-L04.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أَلَذُّ طَبَقٍ … لِأَنَّهُ / لِأَنَّهَا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tastiest dish is … because it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أَصَحُّ طَعَامٍ … لِأَنَّهُ صِحِّيٌّ وَمُفِيدٌ</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healthiest food is … because it is healthy and good for you</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عَلَى … · أُحِبُّ … أَكْثَرَ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to … · I like … more than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 لِأَنَّهُ / لِأَنَّهَا … جِدًّا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like … because it is very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أُفَضِّلُ … عَلَى</a:t>
            </a:r>
            <a:pPr algn="l" indent="0" marL="0">
              <a:buNone/>
            </a:pPr>
            <a:r>
              <a:rPr lang="en-US" sz="1100" dirty="0">
                <a:solidFill>
                  <a:srgbClr val="5A6472"/>
                </a:solidFill>
                <a:latin typeface="Calibri" pitchFamily="34" charset="0"/>
                <a:cs typeface="Amiri" pitchFamily="2" charset="-78"/>
              </a:rPr>
              <a:t> …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adjective agree with the food (including plurals)?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الحُمُّصُ، لِأَنَّهُ لَذِيذٌ وَطَازَجٌ.</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Hummus, because it is delicious and fresh.</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أَلَذُّ طَبَقٍ فِي رَأْيِكَ؟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المَوْزُ، لِأَنَّهُ صِحِّيٌّ وَمُفِيدٌ.</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Bananas, because they are healthy and good for you.</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أَصَحُّ وَجْبَةٍ خَفِيفَةٍ؟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الأَرُزَّ عَلَى الخُبْزِ لِأَنَّهُ خَفِيفٌ.</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rice to bread because it is light.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تُفَضِّلُ: الأَرُزَّ أَمِ الخُبْزَ؟</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القَهْوَةَ لِأَنَّهَا مُرَّةٌ جِدًّا.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like coffee because it is very bitter.</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لَا تُحِبُّ؟ لِمَاذَا؟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أُخْتِي تُفَضِّلُ الحَلْوَيَاتِ عَلَى الفَاكِهَةِ، لٰكِنَّهَا لَيْسَتْ صِحِّيَّةً!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sister prefers sweets to fruit, but they are not healthy!</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يُفَضِّلُ أَخُوكَ أَوْ أُخْتُكَ؟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أَلَذُّ طَبَقٍ فِي رَأْيِي الكَبْسَةُ لِأَنَّهَا لَذِيذَةٌ وَحَارَّةٌ قَلِيلًا. أَصَحُّ طَعَامٍ السَّلَطَةُ لِأَنَّهَا طَازَجَةٌ وَمُفِيدَةٌ. أُفَضِّلُ العَصِيرَ عَلَى الشَّايِ لِأَنَّهُ حُلْوٌ، وَأُحِبُّ السَّمَكَ أَكْثَرَ مِنَ الدَّجَاجِ. لَا أُحِبُّ القَهْوَةَ لِأَنَّهَا مُرَّةٌ جِدًّا. أَبِي يُفَضِّلُ الحُمُّصَ، وَأُخْتِي تُفَضِّلُ الحَلْوَيَاتِ، وَلٰكِنَّهَا لَيْسَتْ صِحِّيَّةً!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tastiest dish, in my opinion, is kabsa because it is delicious and a little spicy. The healthiest food is salad because it is fresh and good for you. I prefer juice to tea because it is sweet, and I like fish more than chicken. I don’t like coffee because it is very bitter. My father prefers hummus, and my sister prefers sweets — but they are not healthy!”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لَذِيذَةٌ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العَصِيرَ عَلَى الشَّايِ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مِنَ الدَّجَاجِ</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مُرَّةٌ جِدًّا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F5-W02 · Apply workshop (F5-L03 + F5-L04)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F5-L03 and F5-L04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F5-L05 · Ordering Food Politely</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طَلَبُ الطَّعَامِ بِأَدَبٍ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F5-W02 · Apply Workshop — The Class Food Awards</dc:title>
  <dc:subject>PptxGenJS Presentation</dc:subject>
  <dc:creator>Al Madina Online School · Arabic Department</dc:creator>
  <cp:lastModifiedBy>Al Madina Online School · Arabic Department</cp:lastModifiedBy>
  <cp:revision>1</cp:revision>
  <dcterms:created xsi:type="dcterms:W3CDTF">2026-10-26T15:17:33Z</dcterms:created>
  <dcterms:modified xsi:type="dcterms:W3CDTF">2026-10-26T15:17:33Z</dcterms:modified>
</cp:coreProperties>
</file>