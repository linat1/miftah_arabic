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WORKSHOP AT A GLANCE — the third lesson of the week (Learn F5-L11 · Learn F5-L12 · Apply). 60 minutes on Teams: teacher-led in the main room for the short whole-class steps, pairs or breakout rooms of two or three for speaking, individual writing.
0–3 Welcome + plan · 3–6 What we learnt this week · PART 1 REMEMBER: word race (4) · which lesson? sort (4) · PART 2 SPEAK: new dialogue (5) · mixed question cards (6) · role-play card (7) · 30–45 seconds talk (4) · PART 3 WRITE: sentence builder (3) · spot and fix (3) · connected writing (12) + buddy check (3) · CHECK YOURSELF: models + self-check (5).
PURPOSE: students APPLY the language of BOTH lessons in new contexts — the question cards, builder and common mistakes come from the two practice rooms; the dialogue, role-play, talk and writing task are new and join the lessons together.
CONTENT: F5-L11 (Speaking and Writing About Food and Health) and F5-L12 (Review and Unit Assessment: Food, Health and Body).
SET-UP: share this deck or its PDF in the chat. Pairs or breakout rooms for Part 2 (same-level rooms keep the routes simple). Everyone writes in their own book or document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min). Apply = use what you learnt in F5-L11 and F5-L12 in a NEW situation. Point out the step number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LEARNT (3 min, main room). Ask: “What can you say after F5-L11? After F5-L12?” Take two answers in the chat for each lesson (one word or one sentence is enough). Then read objective 3 — today’s new situation that needs BOTH lessons. Students tick their route goals at the end of the lesson.
F5-L11 language: the whole F5 system: food and meals, preferences + li-annahu / li-annahā, ordering, the body, illness with ʿindī … mundhu, advice; connectors awwalan · thumma · baʿda dhālika · ayḍan · lākinna · li-anna · li-dhālika · akhīran · mathalan
F5-L12 language: all of F5: ākulu / ashrabu; meals + frequency; ufaḍḍilu … ʿalā; li-annahu / li-annahā + agreeing adjectives; ordering (urīdu … min faḍlika); body parts + duals; ʿindī … mundhu; advice with yajibu 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(4 min). Quick, energetic retrieval. Model one round with a student, then pairs race. Collect the best score in the chat. Listen for words students hesitate over and revisit them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F5-L11.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F5-L12.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3 (5 min). A NEW dialogue that joins F5-L11 and F5-L12. Teacher reads it once with a confident student; then pairs. Ask: “Which lines are from F5-L11? Which from F5-L12?” The connectors (مَثَلًا · لِذٰلِكَ · أَوَّلًا · أَخِيرًا) and the three-part answer come from F5-L11; the content revises the whole unit, as in F5-L12.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min, pairs or rooms). The questions come from the two practice rooms, now mixed so students switch between the lessons. Teacher: visit rooms and ask one Stretch follow-up question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5 (7 min). One NEW situation that needs both lessons: the whole F5 system (F5-L12 review) in connected spoken answers with connectors and examples (F5-L11). SUPPORTED: the plan column gives the first words, not the full answer. To a girl Partner A says: صِفِي وَجَبَاتِكِ · أَيُّهُمَا تُفَضِّلِينَ؟ · مَتَى كُنْتِ مَرِيضَةً؟ · مَا نَصِيحَتُكِ؟.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(4 min). Fluency: one talk that uses BOTH lessons. Two volunteers speak to the whole class at the end (open mic).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F5-L11 and F5-L12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F5-L11 and F5-L12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support. Core: use the Core frames for every bullet. Develop: use the Develop frames only if stuck. Stretch: no frames — add reasons, a time phrase and an extra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(10 min writing, everyone on their own). Core: frames for every bullet (30–40 words). Develop: 40–70 words, frames only if stuck. Stretch: no frames, add reasons. Teacher reads ONE sentence per student (in the chat or the shared document) and gives one live correction.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BUDDY CHECK (3 min). Pairs swap texts (or share screens). Then everyone returns to the main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Each student finds one task they answered less fully and says it again using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 (49 words). CHECK YOURSELF (2 min). Find each bullet point in the model, and one phrase from F5-L11 and one from F5-L12. Then each student copies ONE phrase from the model into their own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YEAR 7  ·  FOUNDATION F5  ·  F5-L11 + F5-L12 · APPLY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F5-W06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Apply Workshop — Our Food and Health Podcast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التَّطْبِيقِ — بُودْكَاسْتُ الطَّعَامِ وَالصِّحَّةِ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use all of F5 for one real purpose: they record an episode of a class podcast — meals and favourite foods with reasons, a time they were ill, and advice for a healthy life — then write it up as a three-paragraph magazine article with connectors.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Apply workshop · F5-L11 + F5-L12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Foundation · end of unit F5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Pathways › Foundation › F5 › F5-L12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PLAN · LEARN, LEARN, APPLY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lessons — now use them together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 learnt: F5-L11 and F5-L12.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تَعَلَّمْنَا؟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1 · Remember: word race and “which lesson?” sort.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22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2 · Speak: say the model dialogue · question cards · role-play card · short talk.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19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3 · Write: sentence builder · spot and fix · write your text · buddy check.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WORKSHOP RUNS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Today there is no new language: you USE the words and structures of the last two lessons together. Everybody speaks in every step and everybody writes their own text. Choose your route — Core, Develop or Stretch — and move up when you are ready.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WHAT WE LEARNT THIS WEEK · F5-L11 + F5-L12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week’s two lessons — and today’s goal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نُطَبِّقُ مَا تَعَلَّمْنَا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4663440" cy="4315968"/>
          </a:xfrm>
          <a:prstGeom prst="roundRect">
            <a:avLst>
              <a:gd name="adj" fmla="val 1695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TODAY YOU WILL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سَتَتَعَلَّمُ اليَوْمَ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2860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F5-L11: Speaking and Writing About Food and Health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1821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F5-L12: Review and Unit Assessment: Food, Health and Body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187952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078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Apply both: the podcast guest · Article: my food and my health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32120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Everyone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Answer questions from BOTH lessons in full sentences.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26974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Write the text using the frames.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3410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32120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Most of us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532120" y="374904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Join both lessons in one conversation and a 30–45 seconds talk.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32120" y="416052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Write the text, frames only if stuck.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49240" y="473659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32120" y="48737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32120" y="4873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Aim high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52120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Speak without notes; add reasons and opinions.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562356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Add a reason (</a:t>
            </a:r>
            <a:pPr algn="l" indent="0" marL="0">
              <a:buNone/>
            </a:pPr>
            <a:r>
              <a:rPr lang="ar-SA" altLang="en-US" sz="17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) and an extra detail to every point.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1 · WORD RACE · 4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Word race: two lessons, one race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🏁  English → Arabic, from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next two slides show words from F5-L11 and F5-L12. Partner A says a word in ENGLISH; Partner B says it in ARABIC. One point for every correct answer in 90 seconds — then swap.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Teacher: first round together (3 words from each slide).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Pairs: 90 seconds each, as many as you can.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 the lessons: one word from slide 1, one from slide 2.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use two words — one from each lesson — in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 clearly.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word, then a short sentence with it.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Join a word from each lesson in one sentence with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or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correct!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حَاوِلْ 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try again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نُقْطَةٌ لَكَ / لَكِ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point for you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F5-L11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F5-L11 · Speaking and Writing About Food and Health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الأَوَّلِ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</a:t>
            </a:r>
            <a:endParaRPr lang="ar-SA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firstly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aw-wa-lan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ذٰلِكَ</a:t>
            </a:r>
            <a:endParaRPr lang="ar-SA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after that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baʿ-da dhā-li-ka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وَلٰكِنْ / لٰكِنَّ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but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wa-lā-kin / lā-kin-na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endParaRPr lang="ar-SA" sz="3000" dirty="0"/>
          </a:p>
        </p:txBody>
      </p:sp>
      <p:sp>
        <p:nvSpPr>
          <p:cNvPr id="42" name="Text 39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therefore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li-dhā-li-ka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فَضْلِكَ، أَعِدِ السُّؤَالَ.</a:t>
            </a:r>
            <a:endParaRPr lang="ar-SA" sz="3000" dirty="0"/>
          </a:p>
        </p:txBody>
      </p:sp>
      <p:sp>
        <p:nvSpPr>
          <p:cNvPr id="49" name="Text 46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Please repeat the question.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min faḍ-li-ka, a-ʿi-di as-su-ʾā-la.</a:t>
            </a:r>
            <a:endParaRPr 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my opinion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fī raʾ-yī</a:t>
            </a:r>
            <a:endParaRPr lang="en-US" sz="1350" dirty="0"/>
          </a:p>
        </p:txBody>
      </p:sp>
      <p:sp>
        <p:nvSpPr>
          <p:cNvPr id="57" name="Text 5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F5-L12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F5-L12 · Review and Unit Assessment: Food, Health and Body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الثَّانِي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خُبْزٌ · أَرُزٌّ · دَجَاجٌ</a:t>
            </a:r>
            <a:endParaRPr lang="ar-SA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bread · rice · chicken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khub-zun · a-ruz-zun · da-jā-jun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فُطُورٌ · غَدَاءٌ · عَشَاءٌ</a:t>
            </a:r>
            <a:endParaRPr lang="ar-SA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breakfast · lunch · dinner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fu-ṭū-run · gha-dā-ʾun · ʿa-shā-ʾun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عَلَى …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prefer …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u-faḍ-ḍi-lu … ʿa-lā …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رَأْسٌ · عَيْنَانِ · يَدَانِ</a:t>
            </a:r>
            <a:endParaRPr lang="ar-SA" sz="3000" dirty="0"/>
          </a:p>
        </p:txBody>
      </p:sp>
      <p:sp>
        <p:nvSpPr>
          <p:cNvPr id="42" name="Text 39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head · two eyes · two hands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raʾ-sun · ʿay-nā-ni · ya-dā-ni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أَلَمٌ فِي …</a:t>
            </a:r>
            <a:endParaRPr lang="ar-SA" sz="3000" dirty="0"/>
          </a:p>
        </p:txBody>
      </p:sp>
      <p:sp>
        <p:nvSpPr>
          <p:cNvPr id="49" name="Text 46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have a pain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ʿin-dī a-la-mun fī …</a:t>
            </a:r>
            <a:endParaRPr 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دَوَاءٌ · صَيْدَلِيَّةٌ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medicine · pharmacy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da-wā-ʾun · ṣay-da-liy-ya-tun</a:t>
            </a:r>
            <a:endParaRPr lang="en-US" sz="1350" dirty="0"/>
          </a:p>
        </p:txBody>
      </p:sp>
      <p:sp>
        <p:nvSpPr>
          <p:cNvPr id="57" name="Text 5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2 · SORT IT · READ EACH CARD, THEN SORT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Food or health?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15984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07424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الأَرُزَّ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163056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54496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صُدَاعٌ</a:t>
            </a:r>
            <a:endParaRPr lang="ar-SA" sz="1800" dirty="0"/>
          </a:p>
        </p:txBody>
      </p:sp>
      <p:sp>
        <p:nvSpPr>
          <p:cNvPr id="19" name="Shape 16"/>
          <p:cNvSpPr/>
          <p:nvPr/>
        </p:nvSpPr>
        <p:spPr>
          <a:xfrm>
            <a:off x="3310128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01568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عَيْنَانِ · يَدَانِ</a:t>
            </a:r>
            <a:endParaRPr lang="ar-SA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الغَدَاءِ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9015984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107424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لَذِيذَةٌ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6163056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أَمْسِ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3310128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01568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تَسْتَرِيحَ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457200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48640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حُمُّصًا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3076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3076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Food and meals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Health and the body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2 ·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Sort: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5916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23076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Food and meals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3076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الأَرُزَّ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6323076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الغَدَاءِ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6323076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4516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لَذِيذَةٌ</a:t>
            </a:r>
            <a:endParaRPr lang="ar-SA" sz="1800" dirty="0"/>
          </a:p>
        </p:txBody>
      </p:sp>
      <p:sp>
        <p:nvSpPr>
          <p:cNvPr id="24" name="Shape 21"/>
          <p:cNvSpPr/>
          <p:nvPr/>
        </p:nvSpPr>
        <p:spPr>
          <a:xfrm>
            <a:off x="6323076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حُمُّصًا</a:t>
            </a:r>
            <a:endParaRPr lang="ar-SA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Health and the body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صُدَاعٌ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594360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عَيْنَانِ · يَدَانِ</a:t>
            </a:r>
            <a:endParaRPr lang="ar-SA" sz="1800" dirty="0"/>
          </a:p>
        </p:txBody>
      </p:sp>
      <p:sp>
        <p:nvSpPr>
          <p:cNvPr id="33" name="Shape 30"/>
          <p:cNvSpPr/>
          <p:nvPr/>
        </p:nvSpPr>
        <p:spPr>
          <a:xfrm>
            <a:off x="594360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أَمْسِ</a:t>
            </a:r>
            <a:endParaRPr lang="ar-SA" sz="1800" dirty="0"/>
          </a:p>
        </p:txBody>
      </p:sp>
      <p:sp>
        <p:nvSpPr>
          <p:cNvPr id="35" name="Shape 32"/>
          <p:cNvSpPr/>
          <p:nvPr/>
        </p:nvSpPr>
        <p:spPr>
          <a:xfrm>
            <a:off x="594360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تَسْتَرِيحَ</a:t>
            </a:r>
            <a:endParaRPr lang="ar-SA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4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2 · STEP 3 · SAY THE MODEL DIALOGUE · BOTH LESSONS IN ONE CONVERSATION</a:t>
            </a:r>
            <a:endParaRPr lang="en-US" sz="934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Podcast episode 1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الحَلْقَةُ الأُولَى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181051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1810512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Say it in Arabic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Who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226771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Welcome to our podcast! What is your favourite food, Nour?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6771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بِكُمْ فِي بُودْكَاسْتِنَا! مَا طَعَامُكِ المُفَضَّلُ يَا نُورُ؟</a:t>
            </a:r>
            <a:endParaRPr lang="ar-SA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26771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2881884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food is fish because it is tasty and healthy. For example, I eat it with rice.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2881884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طَعَامِي المُفَضَّلُ السَّمَكُ لِأَنَّهُ لَذِيذٌ وَصِحِّيٌّ. مَثَلًا، آكُلُهُ مَعَ الأَرُزِّ.</a:t>
            </a:r>
            <a:endParaRPr lang="ar-SA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881884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3496056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were you last ill?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3496056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كُنْتِ مَرِيضَةً آخِرَ مَرَّةٍ؟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496056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4110228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winter. I had a cold and a fever, so I went to the doctor.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110228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الشِّتَاءِ. كَانَ عِنْدِي زُكَامٌ وَحُمَّى، لِذٰلِكَ ذَهَبْتُ إِلَى الطَّبِيبِ.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4110228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4724400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what is your advice for the listeners?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724400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نَصِيحَتُكِ لِلْمُسْتَمِعِينَ؟</a:t>
            </a:r>
            <a:endParaRPr lang="ar-SA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724400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0688" y="533857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Firstly, we must drink enough water, and finally it is better to sleep early.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533857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يَجِبُ أَنْ نَشْرَبَ مَاءً كَافِيًا، وَأَخِيرًا مِنَ الأَفْضَلِ أَنْ نَنَامَ مُبَكِّرًا.</a:t>
            </a:r>
            <a:endParaRPr lang="ar-SA" sz="19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33857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Round 1: read it in pairs (A and B). Round 2: swap letters. Round 3: cover the Arabic and say it from the English. Then change TWO details — one from each lesson — and say it again.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QUESTION CARDS · QUESTIONS FROM BOTH LESSONS, MIXED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Mixed questions — answer, then add more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أَسْئِلَةٌ مِنَ الدَّرْسَيْنِ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20072" y="181051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Add more (Develop · Stretch)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76872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your answer (Core)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38360" y="226771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26771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طَعَامِي المُفَضَّلُ … لِأَنَّهُ / لِأَنَّهَا …</a:t>
            </a:r>
            <a:endParaRPr lang="ar-SA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636008" y="226771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Favourite food? Why?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طَعَامُكَ المُفَضَّلُ؟ لِمَاذَا؟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2881884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/ لِأَنَّهَا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2881884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طَعَامِي المُفَضَّلُ …</a:t>
            </a:r>
            <a:endParaRPr lang="ar-SA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636008" y="2881884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food?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طَعَامُكَ المُفَضَّلُ؟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38360" y="3496056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وَأَخِيرًا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995160" y="3496056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4636008" y="3496056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meals on a normal day.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وَجَبَاتِكَ فِي يَوْمٍ عَادِيٍّ.</a:t>
            </a:r>
            <a:endParaRPr lang="ar-SA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91672" y="354177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91672" y="3541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38360" y="4110228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6995160" y="4110228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عَلَى …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636008" y="4110228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Tea or coffee?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51560" y="4110228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تُفَضِّلُ: الشَّايَ أَمِ القَهْوَةَ؟</a:t>
            </a:r>
            <a:endParaRPr lang="ar-SA" sz="1700" dirty="0"/>
          </a:p>
        </p:txBody>
      </p:sp>
      <p:sp>
        <p:nvSpPr>
          <p:cNvPr id="50" name="Text 47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1091672" y="41559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091672" y="41559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38360" y="4724400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لٰكِنَّ أُخْتِي …</a:t>
            </a:r>
            <a:endParaRPr lang="ar-SA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4724400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عَادَةً أَطْلُبُ …</a:t>
            </a:r>
            <a:endParaRPr lang="ar-SA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4636008" y="4724400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order at a restaurant?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51560" y="4724400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تَطْلُبُ فِي المَطْعَمِ؟</a:t>
            </a:r>
            <a:endParaRPr lang="ar-SA" sz="17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738360" y="533857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وَأَنْفِي …</a:t>
            </a:r>
            <a:endParaRPr lang="ar-SA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6995160" y="533857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عَيْنَايَ … وَشَعْرِي …</a:t>
            </a:r>
            <a:endParaRPr lang="ar-SA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4636008" y="533857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face.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051560" y="533857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وَجْهَكَ.</a:t>
            </a:r>
            <a:endParaRPr lang="ar-SA" sz="170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Odd numbers come from F5-L11, even numbers from F5-L12. Core: a full sentence from the starter. Develop: add the “more” part. Stretch: link two answers with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,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or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. Swap after each question.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7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ROLE-PLAY CARD · USE THE PLAN, THEN HIDE IT AND SPEAK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Role-play card — the podcast guest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ضَيْفُ البُودْكَاسْتِ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← فِي الفُطُورِ … وَفِي الغَدَاءِ …</a:t>
            </a:r>
            <a:endParaRPr lang="ar-SA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Two meals with what you eat.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وَجَبَاتِكَ فِي يَوْمٍ عَادِيٍّ.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← أُفَضِّلُ … عَلَى … لِأَنَّهُ / لِأَنَّهَا …</a:t>
            </a:r>
            <a:endParaRPr lang="ar-SA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Prefer one with a reason that agrees.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تُفَضِّلُ: الشَّايَ أَمِ القَهْوَةَ؟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أَقُولُ: أُرِيدُ … مِنْ فَضْلِكَ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order, politely.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تَطْلُبُ فِي المَطْعَمِ؟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← كَانَ عِنْدِي … ، لِذٰلِكَ …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you had and what you did.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كُنْتَ مَرِيضًا آخِرَ مَرَّةٍ؟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← أَوَّلًا يَجِبُ أَنْ … وَأَخِيرًا …</a:t>
            </a:r>
            <a:endParaRPr lang="ar-SA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Two pieces of advice with connectors.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نَصِيحَتُكَ لِحَيَاةٍ صِحِّيَّةٍ؟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the podcast guest · Partner A = the presenter. Read the plan for 1 minute, then hide it and speak. Task ! is a surprise.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6 · SHORT TALK · 30–45 SECONDS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My one-minute podcast slot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فَقْرَتِي فِي البُودْكَاسْتِ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6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30–45 seconds — use both lessons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Record your podcast slot (30–45 seconds) in three parts: (1) your meals and favourite food with a reason, (2) a time you were ill and what you did, (3) one piece of advice for a healthy life. Use </a:t>
            </a:r>
            <a:pPr algn="l" indent="0" marL="0">
              <a:buNone/>
            </a:pPr>
            <a:r>
              <a:rPr lang="ar-SA" altLang="en-US" sz="17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</a:t>
            </a:r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and </a:t>
            </a:r>
            <a:pPr algn="l" indent="0" marL="0">
              <a:buNone/>
            </a:pPr>
            <a:r>
              <a:rPr lang="ar-SA" altLang="en-US" sz="17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Think for 30 seconds: 2 key words from EACH lesson,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partner times it.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Partner: one thing that went well + one thing to improve.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— then the teacher invites two volunteers.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طَعَامِي المُفَضَّلُ … لِأَنَّهُ … · كَانَ عِنْدِي … · يَجِبُ أَنْ …</a:t>
            </a:r>
            <a:endParaRPr lang="ar-SA" sz="14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four connectors: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أَخِيرًا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an example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…), a preference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عَلَى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 and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 أَخِيرًا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firstly … then … finally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 example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عِنْدِي … ، لِذٰلِكَ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had …, so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· مِنَ الأَفْضَلِ أَنْ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must · it is better to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3 · STEP 7 · SENTENCE BUILDER ·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three correct sentences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1 · start here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4828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1168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121408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like fish, but my brother prefers meat.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0576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السَّمَكَ،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9180576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35440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0616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السَّمَكُ،</a:t>
            </a:r>
            <a:endParaRPr lang="ar-SA" sz="1800" dirty="0"/>
          </a:p>
        </p:txBody>
      </p:sp>
      <p:sp>
        <p:nvSpPr>
          <p:cNvPr id="28" name="Shape 25"/>
          <p:cNvSpPr/>
          <p:nvPr/>
        </p:nvSpPr>
        <p:spPr>
          <a:xfrm>
            <a:off x="6624828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9692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4868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وَلٰكِنَّ أَخِي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624828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9692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44868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وَلٰكِنَّ أَخُو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4069080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23944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يُفَضِّلُ اللَّحْمَ.</a:t>
            </a:r>
            <a:endParaRPr lang="ar-SA" sz="1800" dirty="0"/>
          </a:p>
        </p:txBody>
      </p:sp>
      <p:sp>
        <p:nvSpPr>
          <p:cNvPr id="37" name="Shape 34"/>
          <p:cNvSpPr/>
          <p:nvPr/>
        </p:nvSpPr>
        <p:spPr>
          <a:xfrm>
            <a:off x="4069080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23944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تُفَضِّلُ اللَّحْمَ.</a:t>
            </a:r>
            <a:endParaRPr lang="ar-SA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339242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350215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prefer salad to chips because it is healthy.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180576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35440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500616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السَّلَطَةَ</a:t>
            </a:r>
            <a:endParaRPr lang="ar-SA" sz="1800" dirty="0"/>
          </a:p>
        </p:txBody>
      </p:sp>
      <p:sp>
        <p:nvSpPr>
          <p:cNvPr id="47" name="Shape 44"/>
          <p:cNvSpPr/>
          <p:nvPr/>
        </p:nvSpPr>
        <p:spPr>
          <a:xfrm>
            <a:off x="9180576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35440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السَّلَطَةُ</a:t>
            </a:r>
            <a:endParaRPr lang="ar-SA" sz="1800" dirty="0"/>
          </a:p>
        </p:txBody>
      </p:sp>
      <p:sp>
        <p:nvSpPr>
          <p:cNvPr id="50" name="Shape 47"/>
          <p:cNvSpPr/>
          <p:nvPr/>
        </p:nvSpPr>
        <p:spPr>
          <a:xfrm>
            <a:off x="6624828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79692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944868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البَطَاطِسِ</a:t>
            </a:r>
            <a:endParaRPr lang="ar-SA" sz="1800" dirty="0"/>
          </a:p>
        </p:txBody>
      </p:sp>
      <p:sp>
        <p:nvSpPr>
          <p:cNvPr id="53" name="Shape 50"/>
          <p:cNvSpPr/>
          <p:nvPr/>
        </p:nvSpPr>
        <p:spPr>
          <a:xfrm>
            <a:off x="6624828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79692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944868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البَطَاطِسِ</a:t>
            </a:r>
            <a:endParaRPr lang="ar-SA" sz="1800" dirty="0"/>
          </a:p>
        </p:txBody>
      </p:sp>
      <p:sp>
        <p:nvSpPr>
          <p:cNvPr id="56" name="Shape 53"/>
          <p:cNvSpPr/>
          <p:nvPr/>
        </p:nvSpPr>
        <p:spPr>
          <a:xfrm>
            <a:off x="4069080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23944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صِحِّيَّةٌ.</a:t>
            </a:r>
            <a:endParaRPr lang="ar-SA" sz="1800" dirty="0"/>
          </a:p>
        </p:txBody>
      </p:sp>
      <p:sp>
        <p:nvSpPr>
          <p:cNvPr id="59" name="Shape 56"/>
          <p:cNvSpPr/>
          <p:nvPr/>
        </p:nvSpPr>
        <p:spPr>
          <a:xfrm>
            <a:off x="4069080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23944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 صِحِّيٌّ.</a:t>
            </a:r>
            <a:endParaRPr lang="ar-SA" sz="1800" dirty="0"/>
          </a:p>
        </p:txBody>
      </p:sp>
      <p:sp>
        <p:nvSpPr>
          <p:cNvPr id="62" name="Shape 59"/>
          <p:cNvSpPr/>
          <p:nvPr/>
        </p:nvSpPr>
        <p:spPr>
          <a:xfrm>
            <a:off x="457200" y="477316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94360" y="4910328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51560" y="4882896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For example, I eat an apple every day.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180576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235440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9500616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مَثَلًا،</a:t>
            </a:r>
            <a:endParaRPr lang="ar-SA" sz="1800" dirty="0"/>
          </a:p>
        </p:txBody>
      </p:sp>
      <p:sp>
        <p:nvSpPr>
          <p:cNvPr id="69" name="Shape 66"/>
          <p:cNvSpPr/>
          <p:nvPr/>
        </p:nvSpPr>
        <p:spPr>
          <a:xfrm>
            <a:off x="9180576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9500616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لِذٰلِكَ،</a:t>
            </a:r>
            <a:endParaRPr lang="ar-SA" sz="1800" dirty="0"/>
          </a:p>
        </p:txBody>
      </p:sp>
      <p:sp>
        <p:nvSpPr>
          <p:cNvPr id="72" name="Shape 69"/>
          <p:cNvSpPr/>
          <p:nvPr/>
        </p:nvSpPr>
        <p:spPr>
          <a:xfrm>
            <a:off x="6624828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679692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944868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آكُلُ تُفَّاحَةً</a:t>
            </a:r>
            <a:endParaRPr lang="ar-SA" sz="1800" dirty="0"/>
          </a:p>
        </p:txBody>
      </p:sp>
      <p:sp>
        <p:nvSpPr>
          <p:cNvPr id="75" name="Shape 72"/>
          <p:cNvSpPr/>
          <p:nvPr/>
        </p:nvSpPr>
        <p:spPr>
          <a:xfrm>
            <a:off x="6624828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679692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944868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آكُلُ تُفَّاحَةٌ</a:t>
            </a:r>
            <a:endParaRPr lang="ar-SA" sz="1800" dirty="0"/>
          </a:p>
        </p:txBody>
      </p:sp>
      <p:sp>
        <p:nvSpPr>
          <p:cNvPr id="78" name="Shape 75"/>
          <p:cNvSpPr/>
          <p:nvPr/>
        </p:nvSpPr>
        <p:spPr>
          <a:xfrm>
            <a:off x="4069080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23944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يَوْمٍ.</a:t>
            </a:r>
            <a:endParaRPr lang="ar-SA" sz="1800" dirty="0"/>
          </a:p>
        </p:txBody>
      </p:sp>
      <p:sp>
        <p:nvSpPr>
          <p:cNvPr id="81" name="Shape 78"/>
          <p:cNvSpPr/>
          <p:nvPr/>
        </p:nvSpPr>
        <p:spPr>
          <a:xfrm>
            <a:off x="4069080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23944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389120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كُلُّ يَوْمٍ.</a:t>
            </a:r>
            <a:endParaRPr lang="ar-SA" sz="180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7 · CHECK YOUR SENTENCES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Sentence builder: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like fish, but my brother prefers meat.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633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noun in -a (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); he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يُفَضِّلُ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901952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السَّمَكَ، وَلٰكِنَّ أَخِي يُفَضِّلُ اللَّحْمَ.</a:t>
            </a:r>
            <a:endParaRPr lang="ar-SA" sz="28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prefer salad to chips because it is healthy.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عَلَى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…; salad (f.)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صِحِّيَّةٌ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83280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السَّلَطَةَ عَلَى البَطَاطِسِ لِأَنَّهَا صِحِّيَّةٌ.</a:t>
            </a:r>
            <a:endParaRPr lang="ar-SA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4773168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For example, I eat an apple every day.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5321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5961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 example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object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تُفَّاحَةً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4864608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مَثَلًا، آكُلُ تُفَّاحَةً كُلَّ يَوْمٍ.</a:t>
            </a:r>
            <a:endParaRPr lang="ar-SA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8 · SPOT AND FIX · MISTAKES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Find the mistake, fix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183112" y="2249424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8311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901952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الحُمُّصَ لِأَنَّهَا لَذِيذَةٌ.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9019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حُمُّصٌ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is masculine.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183112" y="3694176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8311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346704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يَدِي.</a:t>
            </a:r>
            <a:endParaRPr lang="ar-SA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34670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يَدٌ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is feminine.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83112" y="5138928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83112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4791456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زُكَامٌ مِنْ يَوْمَيْنِ.</a:t>
            </a:r>
            <a:endParaRPr lang="ar-SA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91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“for two days”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8 · CORRECTIONS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Spot and fix: corrections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19019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الحُمُّصَ لِأَنَّهَا لَذِيذَةٌ.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190195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19019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الحُمُّصَ لِأَنَّهُ لَذِيذٌ.</a:t>
            </a:r>
            <a:endParaRPr lang="ar-SA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190195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Masculine food →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 لَذِيذٌ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503920" y="33467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يَدِي.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8641080" y="3904488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346704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467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 يَدِي.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346704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Feminine body part →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03920" y="47914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زُكَامٌ مِنْ يَوْمَيْنِ.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8641080" y="5349240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791456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479145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زُكَامٌ مُنْذُ يَوْمَيْنِ.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79145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Duration =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FRAMES IF YOU NEED THEM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writing frames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قَوَالِبُ الكِتَابَةِ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مَثَلًا، ______ .</a:t>
            </a:r>
            <a:endParaRPr lang="ar-SA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 example, …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______ عَلَى ______ 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… to …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2468880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______ .</a:t>
            </a:r>
            <a:endParaRPr lang="ar-SA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 / since …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190488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0543032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543032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الفُطُورِ آكُلُ ______ ، وَفِي الغَدَاءِ ______ .</a:t>
            </a:r>
            <a:endParaRPr lang="ar-SA" sz="155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For breakfast I eat …, and for lunch …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طَعَامِي المُفَضَّلُ ______ لِأَنَّهُ / لِأَنَّهَا ______ .</a:t>
            </a:r>
            <a:endParaRPr lang="ar-SA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My favourite food is … because it is …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02168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عِنْدِي ______ ، لِذٰلِكَ ______ .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I had …, so …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202168" y="3950208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يَجِبُ أَنْ ______ .</a:t>
            </a:r>
            <a:endParaRPr lang="ar-SA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327648" y="3950208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Firstly we must …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202168" y="4517136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وَأَخِيرًا مِنَ الأَفْضَلِ أَنْ ______ 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6327648" y="4517136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And finally it is better to …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550468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640080" y="5541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 BANK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5760720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· ثُمَّ  ·  بَعْدَ ذٰلِكَ · أَخِيرًا  ·  مَثَلًا  ·  لِأَنَّ · لِذٰلِكَ  ·  لَذِيذٌ · صِحِّيٌّ  ·  عِنْدِي … مُنْذُ …  ·  يَجِبُ أَنْ  ·  مِنَ الأَفْضَلِ أَنْ</a:t>
            </a:r>
            <a:endParaRPr lang="ar-SA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10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ABOUT 50–70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Article: my food and my health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طَعَامِي وَصِحَّتِي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7784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38528"/>
            <a:ext cx="1984248" cy="292608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38528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WRITING · BOTH LESSONS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331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Write your podcast as a magazine article (about 50–70 words) in three paragraphs. Paragraph 1: your meals and favourite food, with a reason and a preference. Paragraph 2: a time you were ill — what you had, since when, what you did. Paragraph 3: two pieces of advice for a healthy life. Use at least five connectors, including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</a:t>
            </a:r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and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310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Every bullet point has at least one sentence.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840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Language from F5-L11 AND F5-L12.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70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Full sentences with the right ending (I · my · he · she).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At least one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and one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(Develop).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31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Buddy check, then fix one thing.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51383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31136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الفُطُورِ … وَفِي الغَدَاءِ …</a:t>
            </a:r>
            <a:endParaRPr lang="ar-SA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560320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 breakfast … and for lunch …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889504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عَلَى … لِأَنَّهُ / لِأَنَّهَا …</a:t>
            </a:r>
            <a:endParaRPr lang="ar-SA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218688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… to … because it …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547872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عِنْدِي … مُنْذُ … ، لِذٰلِكَ …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877056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had … for …, so …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206240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يَجِبُ أَنْ … وَأَخِيرًا …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535424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firstly we must … and finally …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BUDDY CHECK · SWAP AND READ YOUR BUDDY’S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Buddy check: five points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مَعَ زَمِيلِكَ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Line / example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455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18105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Did the writer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82128" y="2267712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267712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EVERY bullet point?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0471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300471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00471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three paragraphs: meals and food · illness · advice?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741725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741725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601968" y="3741725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get the agreements right (food adjectives, body parts, he / she verbs)?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478731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478731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01968" y="4478731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linking words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521573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882128" y="521573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601968" y="521573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reason, a time phrase or an opinion?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Give back: one thing that went well + one thing to improve. The writer fixes ONE thing straight away.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ROLE-PLAY CARD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Role-play card: compare with a strong answer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الفُطُورِ آكُلُ خُبْزًا وَبَيْضًا، وَفِي الغَدَاءِ آكُلُ دَجَاجًا وَسَلَطَةً.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 breakfast I eat bread and eggs, and for lunch I eat chicken and salad.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وَجَبَاتِكَ فِي يَوْمٍ عَادِيٍّ.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الشَّايَ عَلَى القَهْوَةِ لِأَنَّ القَهْوَةَ مُرَّةٌ.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tea to coffee because coffee is bitter.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تُفَضِّلُ: الشَّايَ أَمِ القَهْوَةَ؟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أَقُولُ: أُرِيدُ شَاوَرْمَا وَعَصِيرًا، مِنْ فَضْلِكَ.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say: I would like shawarma and a juice, please.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تَطْلُبُ فِي المَطْعَمِ؟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الشَّهْرَ المَاضِيَ كَانَ عِنْدِي أَلَمٌ فِي الحَلْقِ، لِذٰلِكَ شَرِبْتُ شَايًا بِالعَسَلِ.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Last month I had a sore throat, so I drank tea with honey.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كُنْتَ مَرِيضًا آخِرَ مَرَّةٍ؟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يَجِبُ أَنْ نَأْكُلَ الفَاكِهَةَ، وَأَخِيرًا مِنَ الأَفْضَلِ أَنْ نَمْشِيَ كُلَّ يَوْمٍ.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Firstly we must eat fruit, and finally it is better to walk every day.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نَصِيحَتُكَ لِحَيَاةٍ صِحِّيَّةٍ؟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Did you answer every task in a full sentence? Find one phrase from each lesson in the models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WRITE YOUR TEXT · A STRONG ANSWER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Writing: compare with a strong answer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38528"/>
            <a:ext cx="108173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الفُطُورِ آكُلُ خُبْزًا وَجُبْنًا، وَفِي الغَدَاءِ آكُلُ أَرُزًّا وَسَمَكًا. طَعَامِي المُفَضَّلُ السَّمَكُ لِأَنَّهُ لَذِيذٌ وَصِحِّيٌّ، وَأُفَضِّلُ العَصِيرَ عَلَى المَشْرُوبَاتِ الغَازِيَّةِ.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الشِّتَاءِ كَانَ عِنْدِي زُكَامٌ وَحُمَّى مُنْذُ ثَلَاثَةِ أَيَّامٍ، لِذٰلِكَ ذَهَبْتُ إِلَى الطَّبِيبِ.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يَجِبُ أَنْ نَأْكُلَ طَعَامًا مُتَوَازِنًا، مَثَلًا الفَاكِهَةَ وَالخَضْرَوَاتِ. وَأَخِيرًا، مِنَ الأَفْضَلِ أَنْ نَنَامَ مُبَكِّرًا.</a:t>
            </a:r>
            <a:endParaRPr lang="ar-SA" sz="2600" dirty="0"/>
          </a:p>
        </p:txBody>
      </p:sp>
      <p:sp>
        <p:nvSpPr>
          <p:cNvPr id="17" name="Shape 14"/>
          <p:cNvSpPr/>
          <p:nvPr/>
        </p:nvSpPr>
        <p:spPr>
          <a:xfrm>
            <a:off x="457200" y="5166360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10908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“For breakfast I eat bread and cheese, and for lunch I eat rice and fish. My favourite food is fish because it is tasty and healthy, and I prefer juice to fizzy drinks. / In winter I had a cold and a fever for three days, so I went to the doctor. / Firstly, we must eat a balanced diet, for example fruit and vegetables. And finally, it is better to sleep early.”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FIND IN THE MODEL: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97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D5FBF"/>
          </a:solidFill>
          <a:ln w="12700">
            <a:solidFill>
              <a:srgbClr val="1D5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 لَذِيذٌ وَصِحِّيٌّ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 ذَهَبْتُ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الفَاكِهَةَ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55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55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وَأَخِيرًا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F5-W06 · Apply workshop (F5-L11 + F5-L12)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questions from F5-L11 and F5-L12 in full sentences.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wrote a sentence for every bullet point.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language from BOTH lessons when I spoke and when I wrote.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buddy checked my text and I fixed one mistake.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added reasons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and extra details without frames.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F5-W06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used two lessons together!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LESSON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F5 complete · Well done — the unit is complete</a:t>
            </a:r>
            <a:endParaRPr lang="en-US" sz="2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keep using this unit’s language — say it, then write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F5-W06 · Apply Workshop — Our Food and Health Podcast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2026-10-26T15:08:17Z</dcterms:created>
  <dcterms:modified xsi:type="dcterms:W3CDTF">2026-10-26T15:08:17Z</dcterms:modified>
</cp:coreProperties>
</file>