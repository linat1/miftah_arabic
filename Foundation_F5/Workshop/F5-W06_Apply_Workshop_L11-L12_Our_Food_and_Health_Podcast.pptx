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APPLY WORKSHOP AT A GLANCE — the third lesson of the week (Learn F5-L11 · Learn F5-L12 · Apply). 60 minutes on Teams: teacher-led in the main room for the short whole-class steps, pairs or breakout rooms of two or three for speaking, individual writing.
0–3 Welcome + plan · 3–6 What we learnt this week · PART 1 REMEMBER: word race (4) · which lesson? sort (4) · PART 2 SPEAK: new dialogue (5) · mixed question cards (6) · role-play card (7) · 30–45 seconds talk (4) · PART 3 WRITE: sentence builder (3) · spot and fix (3) · connected writing (12) + buddy check (3) · CHECK YOURSELF: models + self-check (5).
PURPOSE: students APPLY the language of BOTH lessons in new contexts — the question cards, builder and common mistakes come from the two practice rooms; the dialogue, role-play, talk and writing task are new and join the lessons together.
CONTENT: F5-L11 (Speaking and Writing About Food and Health) and F5-L12 (Review and Unit Assessment: Food, Health and Body).
SET-UP: share this deck or its PDF in the chat. Pairs or breakout rooms for Part 2 (same-level rooms keep the routes simple). Everyone writes in their own book or document in Part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min). Apply = use what you learnt in F5-L11 and F5-L12 in a NEW situation. Point out the step number in the top-left of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WE LEARNT (3 min, main room). Ask: “What can you say after F5-L11? After F5-L12?” Take two answers in the chat for each lesson (one word or one sentence is enough). Then read objective 3 — today’s new situation that needs BOTH lessons. Students tick their route goals at the end of the lesson.
F5-L11 language: the whole F5 system: food and meals, preferences + li-annahu / li-annahā, ordering, the body, illness with ʿindī … mundhu, advice; connectors awwalan · thumma · baʿda dhālika · ayḍan · lākinna · li-anna · li-dhālika · akhīran · mathalan
F5-L12 language: all of F5: ākulu / ashrabu; meals + frequency; ufaḍḍilu … ʿalā; li-annahu / li-annahā + agreeing adjectives; ordering (urīdu … min faḍlika); body parts + duals; ʿindī … mundhu; advice with yajibu 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(4 min). Quick, energetic retrieval. Model one round with a student, then pairs race. Collect the best score in the chat. Listen for words students hesitate over and revisit them in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F5-L11.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F5-L12.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STEP 3 (5 min). A NEW dialogue that joins F5-L11 and F5-L12. Teacher reads it once with a confident student; then pairs. Ask: “Which lines are from F5-L11? Which from F5-L12?” The connectors (مَثَلًا · لِذٰلِكَ · أَوَّلًا · أَخِيرًا) and the three-part answer come from F5-L11; the content revises the whole unit, as in F5-L12.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(6 min, pairs or rooms). The questions come from the two practice rooms, now mixed so students switch between the lessons. Teacher: visit rooms and ask one Stretch follow-up question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STEP 5 (7 min). One NEW situation that needs both lessons: the whole F5 system (F5-L12 review) in connected spoken answers with connectors and examples (F5-L11). SUPPORTED: the plan column gives the first words, not the full answer. To a girl Partner A says: صِفِي وَجَبَاتِكِ · أَيُّهُمَا تُفَضِّلِينَ؟ · مَتَى كُنْتِ مَرِيضَةً؟ · مَا نَصِيحَتُكِ؟.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6 (4 min). Fluency: one talk that uses BOTH lessons. Two volunteers speak to the whole class at the end (open mic).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F5-L11 and F5-L12 practice rooms. Read the English, choose the correct part from each column (start on the RIGHT). Pairs agree, then check. Students copy the correct sentences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F5-L11 and F5-L12 practice rooms. Read the English, choose the correct part from each column (start on the RIGHT). Pairs agree, then check. Students copy the correct sentences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support. Core: use the Core frames for every bullet. Develop: use the Develop frames only if stuck. Stretch: no frames — add reasons, a time phrase and an extra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(10 min writing, everyone on their own). Core: frames for every bullet (30–40 words). Develop: 40–70 words, frames only if stuck. Stretch: no frames, add reasons. Teacher reads ONE sentence per student (in the chat or the shared document) and gives one live correction.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BUDDY CHECK (3 min). Pairs swap texts (or share screens). Then everyone returns to the main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YOURSELF (2 min, main room). Each student finds one task they answered less fully and says it again using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 (49 words). CHECK YOURSELF (2 min). Find each bullet point in the model, and one phrase from F5-L11 and one from F5-L12. Then each student copies ONE phrase from the model into their own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YEAR 7  ·  FOUNDATION F5  ·  F5-L11 + F5-L12 · APPLY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F5-W06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Apply Workshop — Our Food and Health Podcast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التَّطْبِيقِ — بُودْكَاسْتُ الطَّعَامِ وَالصِّحَّةِ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Students use all of F5 for one real purpose: they record an episode of a class podcast — meals and favourite foods with reasons, a time they were ill, and advice for a healthy life — then write it up as a three-paragraph magazine article with connectors.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Apply workshop · F5-L11 + F5-L12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Foundation · end of unit F5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Pathways › Foundation › F5 › F5-L12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F5-W06 · Apply workshop (F5-L11 + F5-L12)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24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PLAN · LEARN, LEARN, APPLY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Two lessons — now use them together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خُطُوَاتُ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F5-W06 · Apply workshop (F5-L11 + F5-L12)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6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 learnt: F5-L11 and F5-L12.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تَعَلَّمْنَا؟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1 · Remember: word race and “which lesson?” sort.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2F6FB0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تَذَكَّرْ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22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2 · Speak: say the model dialogue · question cards · role-play card · short talk.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19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3 · Write: sentence builder · spot and fix · write your text · buddy check.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اكْتُبْ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5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Check yourself with the models.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HOW THE WORKSHOP RUNS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Today there is no new language: you USE the words and structures of the last two lessons together. Everybody speaks in every step and everybody writes their own text. Choose your route — Core, Develop or Stretch — and move up when you are ready.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24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WHAT WE LEARNT THIS WEEK · F5-L11 + F5-L12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This week’s two lessons — and today’s goal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نُطَبِّقُ مَا تَعَلَّمْنَا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F5-W06 · Apply workshop (F5-L11 + F5-L12)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4663440" cy="4315968"/>
          </a:xfrm>
          <a:prstGeom prst="roundRect">
            <a:avLst>
              <a:gd name="adj" fmla="val 1695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202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TODAY YOU WILL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83464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سَتَتَعَلَّمُ اليَوْمَ</a:t>
            </a:r>
            <a:endParaRPr lang="ar-SA" sz="1600" dirty="0"/>
          </a:p>
        </p:txBody>
      </p:sp>
      <p:sp>
        <p:nvSpPr>
          <p:cNvPr id="18" name="Shape 15"/>
          <p:cNvSpPr/>
          <p:nvPr/>
        </p:nvSpPr>
        <p:spPr>
          <a:xfrm>
            <a:off x="685800" y="2395728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2286000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F5-L11: Speaking and Writing About Food and Health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85800" y="3291840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3182112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F5-L12: Review and Unit Assessment: Food, Health and Body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4187952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4187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188720" y="4078224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Apply both: the podcast guest · Article: my food and my health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349240" y="181051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32120" y="194767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532120" y="194767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766560" y="1947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Everyone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532120" y="228600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Answer questions from BOTH lessons in full sentences.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5532120" y="26974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Write the text using the frames.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349240" y="327355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532120" y="341071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532120" y="341071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766560" y="34107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Most of us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5532120" y="374904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Join both lessons in one conversation and a 30–45 seconds talk.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5532120" y="416052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Write the text, frames only if stuck.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349240" y="473659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532120" y="48737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532120" y="487375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6766560" y="48737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Aim high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5532120" y="52120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Speak without notes; add reasons and opinions.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5532120" y="562356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Add a reason (</a:t>
            </a:r>
            <a:pPr algn="l" indent="0" marL="0">
              <a:buNone/>
            </a:pPr>
            <a:r>
              <a:rPr lang="ar-SA" altLang="en-US" sz="17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) and an extra detail to every point.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1 · WORD RACE · 4 MINUTES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Word race: two lessons, one race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سِبَاقُ الكَلِمَاتِ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F5-W06 · Apply workshop (F5-L11 + F5-L12)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1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🏁  English → Arabic, from both lessons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next two slides show words from F5-L11 and F5-L12. Partner A says a word in ENGLISH; Partner B says it in ARABIC. One point for every correct answer in 90 seconds — then swap.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Teacher: first round together (3 words from each slide).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Pairs: 90 seconds each, as many as you can.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Mix the lessons: one word from slide 1, one from slide 2.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Last round: use two words — one from each lesson — in ONE sentence.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the Arabic word clearly.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the word, then a short sentence with it.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Join a word from each lesson in one sentence with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or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 / دَوْرُكِ!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 (m. / f.)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correct!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حَاوِلْ مَرَّةً أُخْرَى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try again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نُقْطَةٌ لَكَ / لَكِ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point for you (m. / f.)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F5-L11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F5-L11 · Speaking and Writing About Food and Health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كَلِمَاتُ الدَّرْسِ الأَوَّلِ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F5-W06 · Apply workshop (F5-L11 + F5-L12)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11312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</a:t>
            </a:r>
            <a:endParaRPr lang="ar-SA" sz="3000" dirty="0"/>
          </a:p>
        </p:txBody>
      </p:sp>
      <p:sp>
        <p:nvSpPr>
          <p:cNvPr id="21" name="Text 18"/>
          <p:cNvSpPr txBox="1"/>
          <p:nvPr/>
        </p:nvSpPr>
        <p:spPr>
          <a:xfrm>
            <a:off x="8238744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firstly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aw-wa-lan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بَعْدَ ذٰلِكَ</a:t>
            </a:r>
            <a:endParaRPr lang="ar-SA" sz="3000" dirty="0"/>
          </a:p>
        </p:txBody>
      </p:sp>
      <p:sp>
        <p:nvSpPr>
          <p:cNvPr id="28" name="Text 25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after that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baʿ-da dhā-li-ka</a:t>
            </a:r>
            <a:endParaRPr lang="en-US" sz="1350" dirty="0"/>
          </a:p>
        </p:txBody>
      </p:sp>
      <p:sp>
        <p:nvSpPr>
          <p:cNvPr id="29" name="Shape 26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وَلٰكِنْ / لٰكِنَّ</a:t>
            </a:r>
            <a:endParaRPr lang="ar-SA" sz="3000" dirty="0"/>
          </a:p>
        </p:txBody>
      </p:sp>
      <p:sp>
        <p:nvSpPr>
          <p:cNvPr id="35" name="Text 32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but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wa-lā-kin / lā-kin-na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1" name="Text 38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</a:t>
            </a:r>
            <a:endParaRPr lang="ar-SA" sz="3000" dirty="0"/>
          </a:p>
        </p:txBody>
      </p:sp>
      <p:sp>
        <p:nvSpPr>
          <p:cNvPr id="42" name="Text 39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therefore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li-dhā-li-ka</a:t>
            </a:r>
            <a:endParaRPr lang="en-US" sz="1350" dirty="0"/>
          </a:p>
        </p:txBody>
      </p:sp>
      <p:sp>
        <p:nvSpPr>
          <p:cNvPr id="43" name="Shape 40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8" name="Text 45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فَضْلِكَ، أَعِدِ السُّؤَالَ.</a:t>
            </a:r>
            <a:endParaRPr lang="ar-SA" sz="3000" dirty="0"/>
          </a:p>
        </p:txBody>
      </p:sp>
      <p:sp>
        <p:nvSpPr>
          <p:cNvPr id="49" name="Text 46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Please repeat the question.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min faḍ-li-ka, a-ʿi-di as-su-ʾā-la.</a:t>
            </a:r>
            <a:endParaRPr lang="en-US" sz="1350" dirty="0"/>
          </a:p>
        </p:txBody>
      </p:sp>
      <p:sp>
        <p:nvSpPr>
          <p:cNvPr id="50" name="Shape 4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53" name="Shape 50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5" name="Text 52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رَأْيِي</a:t>
            </a:r>
            <a:endParaRPr lang="ar-SA" sz="3000" dirty="0"/>
          </a:p>
        </p:txBody>
      </p:sp>
      <p:sp>
        <p:nvSpPr>
          <p:cNvPr id="56" name="Text 53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my opinion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fī raʾ-yī</a:t>
            </a:r>
            <a:endParaRPr lang="en-US" sz="1350" dirty="0"/>
          </a:p>
        </p:txBody>
      </p:sp>
      <p:sp>
        <p:nvSpPr>
          <p:cNvPr id="57" name="Text 5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F5-L12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F5-L12 · Review and Unit Assessment: Food, Health and Body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كَلِمَاتُ الدَّرْسِ الثَّانِي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F5-W06 · Apply workshop (F5-L11 + F5-L12)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11312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خُبْزٌ · أَرُزٌّ · دَجَاجٌ</a:t>
            </a:r>
            <a:endParaRPr lang="ar-SA" sz="3000" dirty="0"/>
          </a:p>
        </p:txBody>
      </p:sp>
      <p:sp>
        <p:nvSpPr>
          <p:cNvPr id="21" name="Text 18"/>
          <p:cNvSpPr txBox="1"/>
          <p:nvPr/>
        </p:nvSpPr>
        <p:spPr>
          <a:xfrm>
            <a:off x="8238744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bread · rice · chicken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khub-zun · a-ruz-zun · da-jā-jun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فُطُورٌ · غَدَاءٌ · عَشَاءٌ</a:t>
            </a:r>
            <a:endParaRPr lang="ar-SA" sz="3000" dirty="0"/>
          </a:p>
        </p:txBody>
      </p:sp>
      <p:sp>
        <p:nvSpPr>
          <p:cNvPr id="28" name="Text 25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breakfast · lunch · dinner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fu-ṭū-run · gha-dā-ʾun · ʿa-shā-ʾun</a:t>
            </a:r>
            <a:endParaRPr lang="en-US" sz="1350" dirty="0"/>
          </a:p>
        </p:txBody>
      </p:sp>
      <p:sp>
        <p:nvSpPr>
          <p:cNvPr id="29" name="Shape 26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… عَلَى …</a:t>
            </a:r>
            <a:endParaRPr lang="ar-SA" sz="3000" dirty="0"/>
          </a:p>
        </p:txBody>
      </p:sp>
      <p:sp>
        <p:nvSpPr>
          <p:cNvPr id="35" name="Text 32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prefer … to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u-faḍ-ḍi-lu … ʿa-lā …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1" name="Text 38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رَأْسٌ · عَيْنَانِ · يَدَانِ</a:t>
            </a:r>
            <a:endParaRPr lang="ar-SA" sz="3000" dirty="0"/>
          </a:p>
        </p:txBody>
      </p:sp>
      <p:sp>
        <p:nvSpPr>
          <p:cNvPr id="42" name="Text 39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head · two eyes · two hands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raʾ-sun · ʿay-nā-ni · ya-dā-ni</a:t>
            </a:r>
            <a:endParaRPr lang="en-US" sz="1350" dirty="0"/>
          </a:p>
        </p:txBody>
      </p:sp>
      <p:sp>
        <p:nvSpPr>
          <p:cNvPr id="43" name="Shape 40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8" name="Text 45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أَلَمٌ فِي …</a:t>
            </a:r>
            <a:endParaRPr lang="ar-SA" sz="3000" dirty="0"/>
          </a:p>
        </p:txBody>
      </p:sp>
      <p:sp>
        <p:nvSpPr>
          <p:cNvPr id="49" name="Text 46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have a pain in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ʿin-dī a-la-mun fī …</a:t>
            </a:r>
            <a:endParaRPr lang="en-US" sz="1350" dirty="0"/>
          </a:p>
        </p:txBody>
      </p:sp>
      <p:sp>
        <p:nvSpPr>
          <p:cNvPr id="50" name="Shape 4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53" name="Shape 50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5" name="Text 52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دَوَاءٌ · صَيْدَلِيَّةٌ</a:t>
            </a:r>
            <a:endParaRPr lang="ar-SA" sz="3000" dirty="0"/>
          </a:p>
        </p:txBody>
      </p:sp>
      <p:sp>
        <p:nvSpPr>
          <p:cNvPr id="56" name="Text 53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medicine · pharmacy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da-wā-ʾun · ṣay-da-liy-ya-tun</a:t>
            </a:r>
            <a:endParaRPr lang="en-US" sz="1350" dirty="0"/>
          </a:p>
        </p:txBody>
      </p:sp>
      <p:sp>
        <p:nvSpPr>
          <p:cNvPr id="57" name="Text 5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2 · SORT IT · READ EACH CARD, THEN SORT IT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Food or health?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صَنِّفِ البِطَاقَاتِ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F5-W06 · Apply workshop (F5-L11 + F5-L12)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9015984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9107424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الأَرُزَّ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6163056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254496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صُدَاعٌ</a:t>
            </a:r>
            <a:endParaRPr lang="ar-SA" sz="1800" dirty="0"/>
          </a:p>
        </p:txBody>
      </p:sp>
      <p:sp>
        <p:nvSpPr>
          <p:cNvPr id="19" name="Shape 16"/>
          <p:cNvSpPr/>
          <p:nvPr/>
        </p:nvSpPr>
        <p:spPr>
          <a:xfrm>
            <a:off x="3310128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401568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عَيْنَانِ · يَدَانِ</a:t>
            </a:r>
            <a:endParaRPr lang="ar-SA" sz="1800" dirty="0"/>
          </a:p>
        </p:txBody>
      </p:sp>
      <p:sp>
        <p:nvSpPr>
          <p:cNvPr id="21" name="Shape 18"/>
          <p:cNvSpPr/>
          <p:nvPr/>
        </p:nvSpPr>
        <p:spPr>
          <a:xfrm>
            <a:off x="457200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48640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الغَدَاءِ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9015984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107424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لَذِيذَةٌ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6163056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254496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 أَمْسِ</a:t>
            </a:r>
            <a:endParaRPr lang="ar-SA" sz="1800" dirty="0"/>
          </a:p>
        </p:txBody>
      </p:sp>
      <p:sp>
        <p:nvSpPr>
          <p:cNvPr id="27" name="Shape 24"/>
          <p:cNvSpPr/>
          <p:nvPr/>
        </p:nvSpPr>
        <p:spPr>
          <a:xfrm>
            <a:off x="3310128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3401568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تَسْتَرِيحَ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457200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48640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حُمُّصًا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185916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323076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323076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Food and meals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57200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94360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94360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Health and the body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2 · ANSWERS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Sort: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صَنِّفِ البِطَاقَاتِ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F5-W06 · Apply workshop (F5-L11 + F5-L12)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185916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23076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23076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Food and meals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323076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14516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الأَرُزَّ</a:t>
            </a:r>
            <a:endParaRPr lang="ar-SA" sz="1800" dirty="0"/>
          </a:p>
        </p:txBody>
      </p:sp>
      <p:sp>
        <p:nvSpPr>
          <p:cNvPr id="20" name="Shape 17"/>
          <p:cNvSpPr/>
          <p:nvPr/>
        </p:nvSpPr>
        <p:spPr>
          <a:xfrm>
            <a:off x="6323076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14516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الغَدَاءِ</a:t>
            </a:r>
            <a:endParaRPr lang="ar-SA" sz="1800" dirty="0"/>
          </a:p>
        </p:txBody>
      </p:sp>
      <p:sp>
        <p:nvSpPr>
          <p:cNvPr id="22" name="Shape 19"/>
          <p:cNvSpPr/>
          <p:nvPr/>
        </p:nvSpPr>
        <p:spPr>
          <a:xfrm>
            <a:off x="6323076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14516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لَذِيذَةٌ</a:t>
            </a:r>
            <a:endParaRPr lang="ar-SA" sz="1800" dirty="0"/>
          </a:p>
        </p:txBody>
      </p:sp>
      <p:sp>
        <p:nvSpPr>
          <p:cNvPr id="24" name="Shape 21"/>
          <p:cNvSpPr/>
          <p:nvPr/>
        </p:nvSpPr>
        <p:spPr>
          <a:xfrm>
            <a:off x="6323076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14516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حُمُّصًا</a:t>
            </a:r>
            <a:endParaRPr lang="ar-SA" sz="1800" dirty="0"/>
          </a:p>
        </p:txBody>
      </p:sp>
      <p:sp>
        <p:nvSpPr>
          <p:cNvPr id="26" name="Shape 23"/>
          <p:cNvSpPr/>
          <p:nvPr/>
        </p:nvSpPr>
        <p:spPr>
          <a:xfrm>
            <a:off x="457200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4360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4360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Health and the body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94360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صُدَاعٌ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594360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85800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عَيْنَانِ · يَدَانِ</a:t>
            </a:r>
            <a:endParaRPr lang="ar-SA" sz="1800" dirty="0"/>
          </a:p>
        </p:txBody>
      </p:sp>
      <p:sp>
        <p:nvSpPr>
          <p:cNvPr id="33" name="Shape 30"/>
          <p:cNvSpPr/>
          <p:nvPr/>
        </p:nvSpPr>
        <p:spPr>
          <a:xfrm>
            <a:off x="594360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85800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 أَمْسِ</a:t>
            </a:r>
            <a:endParaRPr lang="ar-SA" sz="1800" dirty="0"/>
          </a:p>
        </p:txBody>
      </p:sp>
      <p:sp>
        <p:nvSpPr>
          <p:cNvPr id="35" name="Shape 32"/>
          <p:cNvSpPr/>
          <p:nvPr/>
        </p:nvSpPr>
        <p:spPr>
          <a:xfrm>
            <a:off x="594360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5800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تَسْتَرِيحَ</a:t>
            </a:r>
            <a:endParaRPr lang="ar-SA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24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4" b="1" spc="15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2 · STEP 3 · SAY THE MODEL DIALOGUE · BOTH LESSONS IN ONE CONVERSATION</a:t>
            </a:r>
            <a:endParaRPr lang="en-US" sz="934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Podcast episode 1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الحَلْقَةُ الأُولَى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F5-W06 · Apply workshop (F5-L11 + F5-L12)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54112" y="1810512"/>
            <a:ext cx="3904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444752" y="1810512"/>
            <a:ext cx="6163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Say it in Arabic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Who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90688" y="226771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Welcome to our podcast! What is your favourite food, Nour?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226771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 بِكُمْ فِي بُودْكَاسْتِنَا! مَا طَعَامُكِ المُفَضَّلُ يَا نُورُ؟</a:t>
            </a:r>
            <a:endParaRPr lang="ar-SA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226771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90688" y="2881884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food is fish because it is tasty and healthy. For example, I eat it with rice.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463040" y="2881884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طَعَامِي المُفَضَّلُ السَّمَكُ لِأَنَّهُ لَذِيذٌ وَصِحِّيٌّ. مَثَلًا، آكُلُهُ مَعَ الأَرُزِّ.</a:t>
            </a:r>
            <a:endParaRPr lang="ar-SA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881884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90688" y="3496056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were you last ill?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463040" y="3496056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كُنْتِ مَرِيضَةً آخِرَ مَرَّةٍ؟</a:t>
            </a:r>
            <a:endParaRPr lang="ar-SA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3496056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90688" y="4110228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winter. I had a cold and a fever, so I went to the doctor.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463040" y="4110228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الشِّتَاءِ. كَانَ عِنْدِي زُكَامٌ وَحُمَّى، لِذٰلِكَ ذَهَبْتُ إِلَى الطَّبِيبِ.</a:t>
            </a:r>
            <a:endParaRPr lang="ar-SA" sz="19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4110228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90688" y="4724400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what is your advice for the listeners?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463040" y="4724400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نَصِيحَتُكِ لِلْمُسْتَمِعِينَ؟</a:t>
            </a:r>
            <a:endParaRPr lang="ar-SA" sz="19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724400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90688" y="533857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Firstly, we must drink enough water, and finally it is better to sleep early.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463040" y="533857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أَوَّلًا، يَجِبُ أَنْ نَشْرَبَ مَاءً كَافِيًا، وَأَخِيرًا مِنَ الأَفْضَلِ أَنْ نَنَامَ مُبَكِّرًا.</a:t>
            </a:r>
            <a:endParaRPr lang="ar-SA" sz="19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533857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Round 1: read it in pairs (A and B). Round 2: swap letters. Round 3: cover the Arabic and say it from the English. Then change TWO details — one from each lesson — and say it again.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24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4 · QUESTION CARDS · QUESTIONS FROM BOTH LESSONS, MIXED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Mixed questions — answer, then add more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أَسْئِلَةٌ مِنَ الدَّرْسَيْنِ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F5-W06 · Apply workshop (F5-L11 + F5-L12)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720072" y="181051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Add more (Develop · Stretch)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976872" y="1810512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your answer (Core)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9432" y="181051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asks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738360" y="226771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مَثَلًا …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226771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طَعَامِي المُفَضَّلُ … لِأَنَّهُ / لِأَنَّهَا …</a:t>
            </a:r>
            <a:endParaRPr lang="ar-SA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4636008" y="2267712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Favourite food? Why?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51560" y="2267712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طَعَامُكَ المُفَضَّلُ؟ لِمَاذَا؟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26771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9" name="Shape 26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738360" y="2881884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لِأَنَّهُ / لِأَنَّهَا …</a:t>
            </a:r>
            <a:endParaRPr lang="ar-SA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6995160" y="2881884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طَعَامِي المُفَضَّلُ …</a:t>
            </a:r>
            <a:endParaRPr lang="ar-SA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4636008" y="2881884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food?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2881884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طَعَامُكَ المُفَضَّلُ؟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2881884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7" name="Shape 3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738360" y="3496056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وَأَخِيرًا …</a:t>
            </a:r>
            <a:endParaRPr lang="ar-SA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6995160" y="3496056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ثُمَّ …</a:t>
            </a:r>
            <a:endParaRPr lang="ar-SA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4636008" y="3496056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meals on a normal day.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051560" y="3496056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وَجَبَاتِكَ فِي يَوْمٍ عَادِيٍّ.</a:t>
            </a:r>
            <a:endParaRPr lang="ar-SA" sz="17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3496056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11091672" y="3541776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1091672" y="354177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5" name="Shape 42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738360" y="4110228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لِأَنَّ …</a:t>
            </a:r>
            <a:endParaRPr lang="ar-SA" sz="1500" dirty="0"/>
          </a:p>
        </p:txBody>
      </p:sp>
      <p:sp>
        <p:nvSpPr>
          <p:cNvPr id="47" name="Text 44"/>
          <p:cNvSpPr txBox="1"/>
          <p:nvPr/>
        </p:nvSpPr>
        <p:spPr>
          <a:xfrm>
            <a:off x="6995160" y="4110228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… عَلَى …</a:t>
            </a:r>
            <a:endParaRPr lang="ar-SA" sz="1600" dirty="0"/>
          </a:p>
        </p:txBody>
      </p:sp>
      <p:sp>
        <p:nvSpPr>
          <p:cNvPr id="48" name="Text 45"/>
          <p:cNvSpPr txBox="1"/>
          <p:nvPr/>
        </p:nvSpPr>
        <p:spPr>
          <a:xfrm>
            <a:off x="4636008" y="4110228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Tea or coffee?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1051560" y="4110228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أَيُّهُمَا تُفَضِّلُ: الشَّايَ أَمِ القَهْوَةَ؟</a:t>
            </a:r>
            <a:endParaRPr lang="ar-SA" sz="1700" dirty="0"/>
          </a:p>
        </p:txBody>
      </p:sp>
      <p:sp>
        <p:nvSpPr>
          <p:cNvPr id="50" name="Text 47"/>
          <p:cNvSpPr txBox="1"/>
          <p:nvPr/>
        </p:nvSpPr>
        <p:spPr>
          <a:xfrm>
            <a:off x="566928" y="4110228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11091672" y="415594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1091672" y="41559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3" name="Shape 50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9738360" y="4724400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لٰكِنَّ أُخْتِي …</a:t>
            </a:r>
            <a:endParaRPr lang="ar-SA" sz="1500" dirty="0"/>
          </a:p>
        </p:txBody>
      </p:sp>
      <p:sp>
        <p:nvSpPr>
          <p:cNvPr id="55" name="Text 52"/>
          <p:cNvSpPr txBox="1"/>
          <p:nvPr/>
        </p:nvSpPr>
        <p:spPr>
          <a:xfrm>
            <a:off x="6995160" y="4724400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عَادَةً أَطْلُبُ …</a:t>
            </a:r>
            <a:endParaRPr lang="ar-SA" sz="1600" dirty="0"/>
          </a:p>
        </p:txBody>
      </p:sp>
      <p:sp>
        <p:nvSpPr>
          <p:cNvPr id="56" name="Text 53"/>
          <p:cNvSpPr txBox="1"/>
          <p:nvPr/>
        </p:nvSpPr>
        <p:spPr>
          <a:xfrm>
            <a:off x="4636008" y="4724400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order at a restaurant?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1051560" y="4724400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تَطْلُبُ فِي المَطْعَمِ؟</a:t>
            </a:r>
            <a:endParaRPr lang="ar-SA" sz="17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4724400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738360" y="533857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وَأَنْفِي …</a:t>
            </a:r>
            <a:endParaRPr lang="ar-SA" sz="1500" dirty="0"/>
          </a:p>
        </p:txBody>
      </p:sp>
      <p:sp>
        <p:nvSpPr>
          <p:cNvPr id="61" name="Text 58"/>
          <p:cNvSpPr txBox="1"/>
          <p:nvPr/>
        </p:nvSpPr>
        <p:spPr>
          <a:xfrm>
            <a:off x="6995160" y="533857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عَيْنَايَ … وَشَعْرِي …</a:t>
            </a:r>
            <a:endParaRPr lang="ar-SA" sz="1600" dirty="0"/>
          </a:p>
        </p:txBody>
      </p:sp>
      <p:sp>
        <p:nvSpPr>
          <p:cNvPr id="62" name="Text 59"/>
          <p:cNvSpPr txBox="1"/>
          <p:nvPr/>
        </p:nvSpPr>
        <p:spPr>
          <a:xfrm>
            <a:off x="4636008" y="5338572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face.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1051560" y="5338572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وَجْهَكَ.</a:t>
            </a:r>
            <a:endParaRPr lang="ar-SA" sz="1700" dirty="0"/>
          </a:p>
        </p:txBody>
      </p:sp>
      <p:sp>
        <p:nvSpPr>
          <p:cNvPr id="64" name="Text 61"/>
          <p:cNvSpPr txBox="1"/>
          <p:nvPr/>
        </p:nvSpPr>
        <p:spPr>
          <a:xfrm>
            <a:off x="566928" y="533857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100" dirty="0"/>
          </a:p>
        </p:txBody>
      </p:sp>
      <p:sp>
        <p:nvSpPr>
          <p:cNvPr id="65" name="Text 6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Odd numbers come from F5-L11, even numbers from F5-L12. Core: a full sentence from the starter. Develop: add the “more” part. Stretch: link two answers with 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, 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or 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. Swap after each question.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24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7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5 · ROLE-PLAY CARD · USE THE PLAN, THEN HIDE IT AND SPEAK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Role-play card — the podcast guest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ضَيْفُ البُودْكَاسْتِ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F5-W06 · Apply workshop (F5-L11 + F5-L12)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57032" y="1810512"/>
            <a:ext cx="3401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Plan: first words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96519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Speaker’s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785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75320" y="2267712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← فِي الفُطُورِ … وَفِي الغَدَاءِ …</a:t>
            </a:r>
            <a:endParaRPr lang="ar-SA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5001768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Two meals with what you eat.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وَجَبَاتِكَ فِي يَوْمٍ عَادِيٍّ.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75320" y="300471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أَيُّهُمَا ← أُفَضِّلُ … عَلَى … لِأَنَّهُ / لِأَنَّهَا …</a:t>
            </a:r>
            <a:endParaRPr lang="ar-SA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5001768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Prefer one with a reason that agrees.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أَيُّهُمَا تُفَضِّلُ: الشَّايَ أَمِ القَهْوَةَ؟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75320" y="3741725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← أَقُولُ: أُرِيدُ … مِنْ فَضْلِكَ</a:t>
            </a:r>
            <a:endParaRPr lang="ar-SA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5001768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order, politely.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تَطْلُبُ فِي المَطْعَمِ؟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75320" y="4478731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← كَانَ عِنْدِي … ، لِذٰلِكَ …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001768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you had and what you did.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كُنْتَ مَرِيضًا آخِرَ مَرَّةٍ؟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275320" y="521573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← أَوَّلًا يَجِبُ أَنْ … وَأَخِيرًا …</a:t>
            </a:r>
            <a:endParaRPr lang="ar-SA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5001768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Two pieces of advice with connectors.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نَصِيحَتُكَ لِحَيَاةٍ صِحِّيَّةٍ؟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Speaker = the podcast guest · Partner A = the presenter. Read the plan for 1 minute, then hide it and speak. Task ! is a surprise. Then swap roles.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24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6 · SHORT TALK · 30–45 SECONDS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My one-minute podcast slot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فَقْرَتِي فِي البُودْكَاسْتِ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F5-W06 · Apply workshop (F5-L11 + F5-L12)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6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⏱  Talk for 30–45 seconds — use both lessons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Record your podcast slot (30–45 seconds) in three parts: (1) your meals and favourite food with a reason, (2) a time you were ill and what you did, (3) one piece of advice for a healthy life. Use </a:t>
            </a:r>
            <a:pPr algn="l" indent="0" marL="0">
              <a:buNone/>
            </a:pPr>
            <a:r>
              <a:rPr lang="ar-SA" altLang="en-US" sz="17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مَثَلًا</a:t>
            </a:r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and </a:t>
            </a:r>
            <a:pPr algn="l" indent="0" marL="0">
              <a:buNone/>
            </a:pPr>
            <a:r>
              <a:rPr lang="ar-SA" altLang="en-US" sz="17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</a:t>
            </a:r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Think for 30 seconds: 2 key words from EACH lesson, no sentences.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Speaker talks; the partner times it.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Partner: one thing that went well + one thing to improve.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— then the teacher invites two volunteers.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طَعَامِي المُفَضَّلُ … لِأَنَّهُ … · كَانَ عِنْدِي … · يَجِبُ أَنْ …</a:t>
            </a:r>
            <a:endParaRPr lang="ar-SA" sz="14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Use four connectors: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ثُمَّ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أَخِيرًا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Add an example (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مَثَلًا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…), a preference (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… عَلَى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…) and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ثُمَّ … أَخِيرًا …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firstly … then … finally …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مَثَلًا …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for example …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عِنْدِي … ، لِذٰلِكَ …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had …, so …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· مِنَ الأَفْضَلِ أَنْ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must · it is better to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24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3 · STEP 7 · SENTENCE BUILDER ·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Build three correct sentences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الجُمْلَةَ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F5-W06 · Apply workshop (F5-L11 + F5-L12)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9180576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1 · start here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624828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2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4069080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3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2011680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94360" y="2148840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9436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51560" y="2121408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 like fish, but my brother prefers meat.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9180576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235440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500616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السَّمَكَ،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9180576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35440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9500616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السَّمَكُ،</a:t>
            </a:r>
            <a:endParaRPr lang="ar-SA" sz="1800" dirty="0"/>
          </a:p>
        </p:txBody>
      </p:sp>
      <p:sp>
        <p:nvSpPr>
          <p:cNvPr id="28" name="Shape 25"/>
          <p:cNvSpPr/>
          <p:nvPr/>
        </p:nvSpPr>
        <p:spPr>
          <a:xfrm>
            <a:off x="6624828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679692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944868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وَلٰكِنَّ أَخِي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624828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679692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6944868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وَلٰكِنَّ أَخُو</a:t>
            </a:r>
            <a:endParaRPr lang="ar-SA" sz="1800" dirty="0"/>
          </a:p>
        </p:txBody>
      </p:sp>
      <p:sp>
        <p:nvSpPr>
          <p:cNvPr id="34" name="Shape 31"/>
          <p:cNvSpPr/>
          <p:nvPr/>
        </p:nvSpPr>
        <p:spPr>
          <a:xfrm>
            <a:off x="4069080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123944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4389120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يُفَضِّلُ اللَّحْمَ.</a:t>
            </a:r>
            <a:endParaRPr lang="ar-SA" sz="1800" dirty="0"/>
          </a:p>
        </p:txBody>
      </p:sp>
      <p:sp>
        <p:nvSpPr>
          <p:cNvPr id="37" name="Shape 34"/>
          <p:cNvSpPr/>
          <p:nvPr/>
        </p:nvSpPr>
        <p:spPr>
          <a:xfrm>
            <a:off x="4069080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123944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4389120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تُفَضِّلُ اللَّحْمَ.</a:t>
            </a:r>
            <a:endParaRPr lang="ar-SA" sz="1800" dirty="0"/>
          </a:p>
        </p:txBody>
      </p:sp>
      <p:sp>
        <p:nvSpPr>
          <p:cNvPr id="40" name="Shape 37"/>
          <p:cNvSpPr/>
          <p:nvPr/>
        </p:nvSpPr>
        <p:spPr>
          <a:xfrm>
            <a:off x="457200" y="3392424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94360" y="3529584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4360" y="35295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3502152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 prefer salad to chips because it is healthy.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9180576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235440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9500616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السَّلَطَةَ</a:t>
            </a:r>
            <a:endParaRPr lang="ar-SA" sz="1800" dirty="0"/>
          </a:p>
        </p:txBody>
      </p:sp>
      <p:sp>
        <p:nvSpPr>
          <p:cNvPr id="47" name="Shape 44"/>
          <p:cNvSpPr/>
          <p:nvPr/>
        </p:nvSpPr>
        <p:spPr>
          <a:xfrm>
            <a:off x="9180576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235440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9500616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السَّلَطَةُ</a:t>
            </a:r>
            <a:endParaRPr lang="ar-SA" sz="1800" dirty="0"/>
          </a:p>
        </p:txBody>
      </p:sp>
      <p:sp>
        <p:nvSpPr>
          <p:cNvPr id="50" name="Shape 47"/>
          <p:cNvSpPr/>
          <p:nvPr/>
        </p:nvSpPr>
        <p:spPr>
          <a:xfrm>
            <a:off x="6624828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679692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6944868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عَلَى البَطَاطِسِ</a:t>
            </a:r>
            <a:endParaRPr lang="ar-SA" sz="1800" dirty="0"/>
          </a:p>
        </p:txBody>
      </p:sp>
      <p:sp>
        <p:nvSpPr>
          <p:cNvPr id="53" name="Shape 50"/>
          <p:cNvSpPr/>
          <p:nvPr/>
        </p:nvSpPr>
        <p:spPr>
          <a:xfrm>
            <a:off x="6624828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679692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6944868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البَطَاطِسِ</a:t>
            </a:r>
            <a:endParaRPr lang="ar-SA" sz="1800" dirty="0"/>
          </a:p>
        </p:txBody>
      </p:sp>
      <p:sp>
        <p:nvSpPr>
          <p:cNvPr id="56" name="Shape 53"/>
          <p:cNvSpPr/>
          <p:nvPr/>
        </p:nvSpPr>
        <p:spPr>
          <a:xfrm>
            <a:off x="4069080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4123944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8" name="Text 55"/>
          <p:cNvSpPr txBox="1"/>
          <p:nvPr/>
        </p:nvSpPr>
        <p:spPr>
          <a:xfrm>
            <a:off x="4389120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صِحِّيَّةٌ.</a:t>
            </a:r>
            <a:endParaRPr lang="ar-SA" sz="1800" dirty="0"/>
          </a:p>
        </p:txBody>
      </p:sp>
      <p:sp>
        <p:nvSpPr>
          <p:cNvPr id="59" name="Shape 56"/>
          <p:cNvSpPr/>
          <p:nvPr/>
        </p:nvSpPr>
        <p:spPr>
          <a:xfrm>
            <a:off x="4069080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4123944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61" name="Text 58"/>
          <p:cNvSpPr txBox="1"/>
          <p:nvPr/>
        </p:nvSpPr>
        <p:spPr>
          <a:xfrm>
            <a:off x="4389120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لِأَنَّهُ صِحِّيٌّ.</a:t>
            </a:r>
            <a:endParaRPr lang="ar-SA" sz="1800" dirty="0"/>
          </a:p>
        </p:txBody>
      </p:sp>
      <p:sp>
        <p:nvSpPr>
          <p:cNvPr id="62" name="Shape 59"/>
          <p:cNvSpPr/>
          <p:nvPr/>
        </p:nvSpPr>
        <p:spPr>
          <a:xfrm>
            <a:off x="457200" y="4773168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3" name="Shape 60"/>
          <p:cNvSpPr/>
          <p:nvPr/>
        </p:nvSpPr>
        <p:spPr>
          <a:xfrm>
            <a:off x="594360" y="4910328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9436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51560" y="4882896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For example, I eat an apple every day.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9180576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9235440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68" name="Text 65"/>
          <p:cNvSpPr txBox="1"/>
          <p:nvPr/>
        </p:nvSpPr>
        <p:spPr>
          <a:xfrm>
            <a:off x="9500616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مَثَلًا،</a:t>
            </a:r>
            <a:endParaRPr lang="ar-SA" sz="1800" dirty="0"/>
          </a:p>
        </p:txBody>
      </p:sp>
      <p:sp>
        <p:nvSpPr>
          <p:cNvPr id="69" name="Shape 66"/>
          <p:cNvSpPr/>
          <p:nvPr/>
        </p:nvSpPr>
        <p:spPr>
          <a:xfrm>
            <a:off x="9180576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9235440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1" name="Text 68"/>
          <p:cNvSpPr txBox="1"/>
          <p:nvPr/>
        </p:nvSpPr>
        <p:spPr>
          <a:xfrm>
            <a:off x="9500616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لِذٰلِكَ،</a:t>
            </a:r>
            <a:endParaRPr lang="ar-SA" sz="1800" dirty="0"/>
          </a:p>
        </p:txBody>
      </p:sp>
      <p:sp>
        <p:nvSpPr>
          <p:cNvPr id="72" name="Shape 69"/>
          <p:cNvSpPr/>
          <p:nvPr/>
        </p:nvSpPr>
        <p:spPr>
          <a:xfrm>
            <a:off x="6624828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6679692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74" name="Text 71"/>
          <p:cNvSpPr txBox="1"/>
          <p:nvPr/>
        </p:nvSpPr>
        <p:spPr>
          <a:xfrm>
            <a:off x="6944868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آكُلُ تُفَّاحَةً</a:t>
            </a:r>
            <a:endParaRPr lang="ar-SA" sz="1800" dirty="0"/>
          </a:p>
        </p:txBody>
      </p:sp>
      <p:sp>
        <p:nvSpPr>
          <p:cNvPr id="75" name="Shape 72"/>
          <p:cNvSpPr/>
          <p:nvPr/>
        </p:nvSpPr>
        <p:spPr>
          <a:xfrm>
            <a:off x="6624828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6679692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7" name="Text 74"/>
          <p:cNvSpPr txBox="1"/>
          <p:nvPr/>
        </p:nvSpPr>
        <p:spPr>
          <a:xfrm>
            <a:off x="6944868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آكُلُ تُفَّاحَةٌ</a:t>
            </a:r>
            <a:endParaRPr lang="ar-SA" sz="1800" dirty="0"/>
          </a:p>
        </p:txBody>
      </p:sp>
      <p:sp>
        <p:nvSpPr>
          <p:cNvPr id="78" name="Shape 75"/>
          <p:cNvSpPr/>
          <p:nvPr/>
        </p:nvSpPr>
        <p:spPr>
          <a:xfrm>
            <a:off x="4069080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123944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80" name="Text 77"/>
          <p:cNvSpPr txBox="1"/>
          <p:nvPr/>
        </p:nvSpPr>
        <p:spPr>
          <a:xfrm>
            <a:off x="4389120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كُلَّ يَوْمٍ.</a:t>
            </a:r>
            <a:endParaRPr lang="ar-SA" sz="1800" dirty="0"/>
          </a:p>
        </p:txBody>
      </p:sp>
      <p:sp>
        <p:nvSpPr>
          <p:cNvPr id="81" name="Shape 78"/>
          <p:cNvSpPr/>
          <p:nvPr/>
        </p:nvSpPr>
        <p:spPr>
          <a:xfrm>
            <a:off x="4069080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123944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83" name="Text 80"/>
          <p:cNvSpPr txBox="1"/>
          <p:nvPr/>
        </p:nvSpPr>
        <p:spPr>
          <a:xfrm>
            <a:off x="4389120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كُلُّ يَوْمٍ.</a:t>
            </a:r>
            <a:endParaRPr lang="ar-SA" sz="1800" dirty="0"/>
          </a:p>
        </p:txBody>
      </p:sp>
      <p:sp>
        <p:nvSpPr>
          <p:cNvPr id="84" name="Text 8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7 · CHECK YOUR SENTENCES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Sentence builder: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الجُمْلَةَ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F5-W06 · Apply workshop (F5-L11 + F5-L12)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47672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47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190195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 like fish, but my brother prefers meat.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235915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143000" y="2633472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+ noun in -a (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أَخِي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); he →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يُفَضِّلُ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0" y="1901952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السَّمَكَ، وَلٰكِنَّ أَخِي يُفَضِّلُ اللَّحْمَ.</a:t>
            </a:r>
            <a:endParaRPr lang="ar-SA" sz="2800" dirty="0"/>
          </a:p>
        </p:txBody>
      </p:sp>
      <p:sp>
        <p:nvSpPr>
          <p:cNvPr id="22" name="Shape 19"/>
          <p:cNvSpPr/>
          <p:nvPr/>
        </p:nvSpPr>
        <p:spPr>
          <a:xfrm>
            <a:off x="457200" y="3291840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40080" y="3429000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143000" y="3383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 prefer salad to chips because it is healthy.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1143000" y="38404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143000" y="4114800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… عَلَى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…; salad (f.) →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صِحِّيَّةٌ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4572000" y="3383280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السَّلَطَةَ عَلَى البَطَاطِسِ لِأَنَّهَا صِحِّيَّةٌ.</a:t>
            </a:r>
            <a:endParaRPr lang="ar-SA" sz="2800" dirty="0"/>
          </a:p>
        </p:txBody>
      </p:sp>
      <p:sp>
        <p:nvSpPr>
          <p:cNvPr id="29" name="Shape 26"/>
          <p:cNvSpPr/>
          <p:nvPr/>
        </p:nvSpPr>
        <p:spPr>
          <a:xfrm>
            <a:off x="457200" y="4773168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40080" y="4910328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008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1143000" y="4864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For example, I eat an apple every day.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" y="53218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" y="559612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For example =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مَثَلًا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; object →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تُفَّاحَةً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4572000" y="4864608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مَثَلًا، آكُلُ تُفَّاحَةً كُلَّ يَوْمٍ.</a:t>
            </a:r>
            <a:endParaRPr lang="ar-SA" sz="2800" dirty="0"/>
          </a:p>
        </p:txBody>
      </p:sp>
      <p:sp>
        <p:nvSpPr>
          <p:cNvPr id="36" name="Text 3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STEP 8 · SPOT AND FIX · MISTAKES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Find the mistake, fix it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F5-W06 · Apply workshop (F5-L11 + F5-L12)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11183112" y="2249424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1183112" y="2249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023360" y="1901952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الحُمُّصَ لِأَنَّهَا لَذِيذَةٌ.</a:t>
            </a:r>
            <a:endParaRPr lang="ar-SA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1901952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7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حُمُّصٌ</a:t>
            </a:r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is masculine.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1183112" y="3694176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1183112" y="3694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023360" y="3346704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يَدِي.</a:t>
            </a:r>
            <a:endParaRPr lang="ar-SA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3346704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7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يَدٌ</a:t>
            </a:r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is feminine.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11183112" y="5138928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1183112" y="5138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023360" y="4791456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زُكَامٌ مِنْ يَوْمَيْنِ.</a:t>
            </a:r>
            <a:endParaRPr lang="ar-SA" sz="30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" y="4791456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“for two days”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24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8 · CORRECTIONS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Spot and fix: corrections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F5-W06 · Apply workshop (F5-L11 + F5-L12)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503920" y="190195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الحُمُّصَ لِأَنَّهَا لَذِيذَةٌ.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8641080" y="2459736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138160" y="1901952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3566160" y="1901952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الحُمُّصَ لِأَنَّهُ لَذِيذٌ.</a:t>
            </a:r>
            <a:endParaRPr lang="ar-SA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1901952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Masculine food →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لِأَنَّهُ لَذِيذٌ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503920" y="3346704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يَدِي.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8641080" y="3904488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138160" y="3346704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3566160" y="3346704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هٰذِهِ يَدِي.</a:t>
            </a:r>
            <a:endParaRPr lang="ar-SA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" y="3346704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Feminine body part →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هٰذِهِ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503920" y="4791456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زُكَامٌ مِنْ يَوْمَيْنِ.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8641080" y="5349240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138160" y="4791456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3566160" y="4791456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زُكَامٌ مُنْذُ يَوْمَيْنِ.</a:t>
            </a:r>
            <a:endParaRPr lang="ar-SA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4791456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Duration =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WRITE YOUR TEXT · FRAMES IF YOU NEED THEM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Your writing frames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قَوَالِبُ الكِتَابَةِ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F5-W06 · Apply workshop (F5-L11 + F5-L12)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4360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2468880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مَثَلًا، ______ .</a:t>
            </a:r>
            <a:endParaRPr lang="ar-SA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For example, …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2468880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______ عَلَى ______ 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… to …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2468880" y="3383280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 ______ .</a:t>
            </a:r>
            <a:endParaRPr lang="ar-SA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594360" y="3383280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For / since …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190488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10543032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543032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8202168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الفُطُورِ آكُلُ ______ ، وَفِي الغَدَاءِ ______ .</a:t>
            </a:r>
            <a:endParaRPr lang="ar-SA" sz="1550" dirty="0"/>
          </a:p>
        </p:txBody>
      </p:sp>
      <p:sp>
        <p:nvSpPr>
          <p:cNvPr id="28" name="Text 25"/>
          <p:cNvSpPr txBox="1"/>
          <p:nvPr/>
        </p:nvSpPr>
        <p:spPr>
          <a:xfrm>
            <a:off x="6327648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¶1 For breakfast I eat …, and for lunch …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202168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طَعَامِي المُفَضَّلُ ______ لِأَنَّهُ / لِأَنَّهَا ______ .</a:t>
            </a:r>
            <a:endParaRPr lang="ar-SA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6327648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¶1 My favourite food is … because it is …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202168" y="3383280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عِنْدِي ______ ، لِذٰلِكَ ______ .</a:t>
            </a:r>
            <a:endParaRPr lang="ar-SA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6327648" y="3383280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¶2 I had …, so …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8202168" y="3950208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يَجِبُ أَنْ ______ .</a:t>
            </a:r>
            <a:endParaRPr lang="ar-SA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6327648" y="3950208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¶3 Firstly we must …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8202168" y="4517136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وَأَخِيرًا مِنَ الأَفْضَلِ أَنْ ______ 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6327648" y="4517136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¶3 And finally it is better to …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457200" y="5504688"/>
            <a:ext cx="11274552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640080" y="55412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WORD BANK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640080" y="5760720"/>
            <a:ext cx="10908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· ثُمَّ  ·  بَعْدَ ذٰلِكَ · أَخِيرًا  ·  مَثَلًا  ·  لِأَنَّ · لِذٰلِكَ  ·  لَذِيذٌ · صِحِّيٌّ  ·  عِنْدِي … مُنْذُ …  ·  يَجِبُ أَنْ  ·  مِنَ الأَفْضَلِ أَنْ</a:t>
            </a:r>
            <a:endParaRPr lang="ar-SA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24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10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WRITE YOUR TEXT · ABOUT 50–70 WORDS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Article: my food and my health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طَعَامِي وَصِحَّتِي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F5-W06 · Apply workshop (F5-L11 + F5-L12)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7784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38528"/>
            <a:ext cx="1984248" cy="292608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38528"/>
            <a:ext cx="198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WRITING · BOTH LESSONS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3317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Write your podcast as a magazine article (about 50–70 words) in three paragraphs. Paragraph 1: your meals and favourite food, with a reason and a preference. Paragraph 2: a time you were ill — what you had, since when, what you did. Paragraph 3: two pieces of advice for a healthy life. Use at least five connectors, including 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مَثَلًا</a:t>
            </a:r>
            <a:pPr algn="l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and 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</a:t>
            </a:r>
            <a:pPr algn="l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3310128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Every bullet point has at least one sentence.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384048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Language from F5-L11 AND F5-L12.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85800" y="4370832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Full sentences with the right ending (I · my · he · she).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901184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At least one 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and one 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(Develop).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5431536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Buddy check, then fix one thing.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17920" y="1810512"/>
            <a:ext cx="551383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8412480" y="2231136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الفُطُورِ … وَفِي الغَدَاءِ …</a:t>
            </a:r>
            <a:endParaRPr lang="ar-SA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0" y="2560320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for breakfast … and for lunch …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412480" y="2889504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… عَلَى … لِأَنَّهُ / لِأَنَّهَا …</a:t>
            </a:r>
            <a:endParaRPr lang="ar-SA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400800" y="3218688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… to … because it …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8412480" y="3547872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عِنْدِي … مُنْذُ … ، لِذٰلِكَ …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400800" y="3877056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had … for …, so …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412480" y="4206240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يَجِبُ أَنْ … وَأَخِيرًا …</a:t>
            </a:r>
            <a:endParaRPr lang="ar-SA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6400800" y="4535424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firstly we must … and finally …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24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BUDDY CHECK · SWAP AND READ YOUR BUDDY’S TEXT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Buddy check: five points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رَاجِعْ مَعَ زَمِيلِكَ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F5-W06 · Apply workshop (F5-L11 + F5-L12)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Line / example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455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65392" y="181051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Did the writer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882128" y="2267712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601968" y="2267712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EVERY bullet point?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300471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882128" y="300471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601968" y="300471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write three paragraphs: meals and food · illness · advice?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741725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882128" y="3741725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601968" y="3741725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get the agreements right (food adjectives, body parts, he / she verbs)?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478731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882128" y="4478731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601968" y="4478731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linking words (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ثُمَّ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)?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521573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882128" y="521573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601968" y="521573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reason, a time phrase or an opinion?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Give back: one thing that went well + one thing to improve. The writer fixes ONE thing straight away.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24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ROLE-PLAY CARD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Role-play card: compare with a strong answer</a:t>
            </a:r>
            <a:endParaRPr lang="en-US" sz="20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F5-W06 · Apply workshop (F5-L11 + F5-L12)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 strong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الفُطُورِ آكُلُ خُبْزًا وَبَيْضًا، وَفِي الغَدَاءِ آكُلُ دَجَاجًا وَسَلَطَةً.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For breakfast I eat bread and eggs, and for lunch I eat chicken and salad.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وَجَبَاتِكَ فِي يَوْمٍ عَادِيٍّ.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الشَّايَ عَلَى القَهْوَةِ لِأَنَّ القَهْوَةَ مُرَّةٌ.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tea to coffee because coffee is bitter.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أَيُّهُمَا تُفَضِّلُ: الشَّايَ أَمِ القَهْوَةَ؟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أَقُولُ: أُرِيدُ شَاوَرْمَا وَعَصِيرًا، مِنْ فَضْلِكَ.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say: I would like shawarma and a juice, please.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تَطْلُبُ فِي المَطْعَمِ؟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الشَّهْرَ المَاضِيَ كَانَ عِنْدِي أَلَمٌ فِي الحَلْقِ، لِذٰلِكَ شَرِبْتُ شَايًا بِالعَسَلِ.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Last month I had a sore throat, so I drank tea with honey.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كُنْتَ مَرِيضًا آخِرَ مَرَّةٍ؟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يَجِبُ أَنْ نَأْكُلَ الفَاكِهَةَ، وَأَخِيرًا مِنَ الأَفْضَلِ أَنْ نَمْشِيَ كُلَّ يَوْمٍ.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Firstly we must eat fruit, and finally it is better to walk every day.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نَصِيحَتُكَ لِحَيَاةٍ صِحِّيَّةٍ؟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Did you answer every task in a full sentence? Find one phrase from each lesson in the models and say it aloud.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24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WRITE YOUR TEXT · A STRONG ANSWER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Writing: compare with a strong answer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F5-W06 · Apply workshop (F5-L11 + F5-L12)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38528"/>
            <a:ext cx="1081735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الفُطُورِ آكُلُ خُبْزًا وَجُبْنًا، وَفِي الغَدَاءِ آكُلُ أَرُزًّا وَسَمَكًا. طَعَامِي المُفَضَّلُ السَّمَكُ لِأَنَّهُ لَذِيذٌ وَصِحِّيٌّ، وَأُفَضِّلُ العَصِيرَ عَلَى المَشْرُوبَاتِ الغَازِيَّةِ.</a:t>
            </a:r>
            <a:endParaRPr lang="ar-SA" sz="26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الشِّتَاءِ كَانَ عِنْدِي زُكَامٌ وَحُمَّى مُنْذُ ثَلَاثَةِ أَيَّامٍ، لِذٰلِكَ ذَهَبْتُ إِلَى الطَّبِيبِ.</a:t>
            </a:r>
            <a:endParaRPr lang="ar-SA" sz="26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أَوَّلًا، يَجِبُ أَنْ نَأْكُلَ طَعَامًا مُتَوَازِنًا، مَثَلًا الفَاكِهَةَ وَالخَضْرَوَاتِ. وَأَخِيرًا، مِنَ الأَفْضَلِ أَنْ نَنَامَ مُبَكِّرًا.</a:t>
            </a:r>
            <a:endParaRPr lang="ar-SA" sz="2600" dirty="0"/>
          </a:p>
        </p:txBody>
      </p:sp>
      <p:sp>
        <p:nvSpPr>
          <p:cNvPr id="17" name="Shape 14"/>
          <p:cNvSpPr/>
          <p:nvPr/>
        </p:nvSpPr>
        <p:spPr>
          <a:xfrm>
            <a:off x="457200" y="5166360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5202936"/>
            <a:ext cx="1090879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“For breakfast I eat bread and cheese, and for lunch I eat rice and fish. My favourite food is fish because it is tasty and healthy, and I prefer juice to fizzy drinks. / In winter I had a cold and a fever for three days, so I went to the doctor. / Firstly, we must eat a balanced diet, for example fruit and vegetables. And finally, it is better to sleep early.”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60533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FIND IN THE MODEL: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2697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D5FBF"/>
          </a:solidFill>
          <a:ln w="12700">
            <a:solidFill>
              <a:srgbClr val="1D5F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697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لِأَنَّهُ لَذِيذٌ وَصِحِّيٌّ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983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983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 ذَهَبْتُ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269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C77700"/>
          </a:solidFill>
          <a:ln w="12700">
            <a:solidFill>
              <a:srgbClr val="C7770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69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مَثَلًا الفَاكِهَةَ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555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 w="12700">
            <a:solidFill>
              <a:srgbClr val="7B3FA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555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وَأَخِيرًا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24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F5-W06 · Apply workshop (F5-L11 + F5-L12)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questions from F5-L11 and F5-L12 in full sentences.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wrote a sentence for every bullet point.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language from BOTH lessons when I spoke and when I wrote.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buddy checked my text and I fixed one mistake.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added reasons (</a:t>
            </a:r>
            <a:pPr algn="l" indent="0" marL="0">
              <a:buNone/>
            </a:pPr>
            <a:r>
              <a:rPr lang="ar-SA" altLang="en-US" sz="17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) and extra details without frames.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24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F5-W06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you used two lessons together!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LESSON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F5 complete · Well done — the unit is complete</a:t>
            </a:r>
            <a:endParaRPr lang="en-US" sz="2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keep using this unit’s language — say it, then write it.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F5-W06 · Apply Workshop — Our Food and Health Podcast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2026-10-26T15:17:36Z</dcterms:created>
  <dcterms:modified xsi:type="dcterms:W3CDTF">2026-10-26T15:17:36Z</dcterms:modified>
</cp:coreProperties>
</file>