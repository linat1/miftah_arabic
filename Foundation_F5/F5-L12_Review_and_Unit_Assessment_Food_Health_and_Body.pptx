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Map · 2–6 Knowledge check (not marked) · 6–7 Assessment map · 7–20 Listening (15) · 20–32 Reading (15) · 32–46 Writing (15) · 46–56 Speaking (15, one-to-one or trusted pairs) · 56–60 Profile and F6 step.
FLEX slides are optional. Use them if the class is moving quickly; otherwise the same activities are on the website for homework.
Content source: Miftah Arabic website, Pathways › Foundation › F5 Food, Health and Body › F5-L12. The website F5-L12 is a four-skill, 60-mark unit assessment (15 per skill): a twelve-question knowledge check, the F5 language vault and grammar review (a twelve-question grammar laboratory and three sentence builders), Part A listening (Mariam’s food and health routine · at the doctor · a restaurant order: 15 questions), Part B reading (the Al-Waha restaurant menu · a health article · pharmacy instructions: 15 questions), Part C writing (a five-field clinic form + an 80–100-word article طَعَامِي وَصِحَّتِي), Part D speaking (restaurant role play 5 · doctor role play 5 · conversation 5) and a reflection with one precise next action.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Website: “Each skill remains visible separately. Your result should identify what to practise next, not reduce progress to one number.”
• Website writing rule: “This is independently assessed evidence: do not use translation software or AI.”
• Health content: all role plays use invented symptoms; nobody shares real medical information.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01 knowledge check · 02 grammar and sentence-building review · 03 four-skills dashboard · 04 listening · 05 reading · 06 writing · 07 speaking · 08 reflection and next-step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F5-L11. Questions 2–5 are from the website twelve-question F5 knowledge check (used diagnostically).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find ONE gap to repair before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“F5 grammar and sentence-building review”): Present-tense communication (آكُلُ · أَشْرَبُ · أُفَضِّلُ · أَتَنَاوَلُ; تُـ for you/she, يُـ for he) · Reasons and agreement · Symptoms and duration · Advice with أَنْ.
Website sentence builders (correct choices): أُفَضِّلُ السَّلَطَةَ لِأَنَّهَا صِحِّيَّةٌ. · عِنْدِي أَلَمٌ فِي مَعِدَتِي مُنْذُ يَوْمَيْنِ. · مِنَ الأَفْضَلِ أَنْ تَشْرَبَ المَاءَ بِانْتِظَامٍ.
The website language vault (all F5 vocabulary by lesson) is for revision BEFORE the assessment — close it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“Four-skills profile”). Website: “Listening and reading update automatically after checking. Enter the agreed writing and speaking marks after those tasks have been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(website, 5 marks). Read twice at natural pace (website: each recording may be played twice); students answer after the second reading.
SCRIPT: اِسْمِي مَرْيَمُ، وَأُحَاوِلُ أَنْ أَتَنَاوَلَ طَعَامًا مُتَوَازِنًا. فِي الفُطُورِ آكُلُ الزَّبَادِي وَالفَاكِهَةَ وَقِطْعَةً مِنَ الخُبْزِ، وَأَشْرَبُ كُوبًا مِنَ الحَلِيبِ. لَا أَشْرَبُ المَشْرُوبَاتِ الغَازِيَّةَ لِأَنَّهَا تَحْتَوِي عَلَى سُكَّرٍ كَثِيرٍ. فِي الغَدَاءِ آكُلُ الدَّجَاجَ مَعَ الأَرُزِّ وَالسَّلَطَةِ. أَشْرَبُ المَاءَ، وَلَكِنَّ هَدَفِي أَنْ أَزِيدَ كَمِّيَّةَ المَاءِ الَّتِي أَشْرَبُهَا كُلَّ يَوْمٍ.
Private chat: five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Website: reveal the script only after the attempt; students identify one listening cue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(website, 5 marks). Read twice at natural pace (website: each recording may be played twice); students answer after the second reading.
SCRIPT: الطَّبِيبُ: مَا المُشْكِلَةُ؟ المَرِيضُ: عِنْدِي أَلَمٌ شَدِيدٌ فِي مَعِدَتِي مُنْذُ يَوْمَيْنِ، وَعِنْدِي حُمَّى خَفِيفَةٌ أَيْضًا. الطَّبِيبُ: هَلْ أَكَلْتَ طَعَامًا دَسِمًا؟ المَرِيضُ: نَعَمْ، أَكَلْتُ طَعَامًا دَسِمًا فِي المَطْعَمِ. الطَّبِيبُ: يَجِبُ أَنْ تَشْرَبَ المَاءَ وَأَنْ تَسْتَرِيحَ. لَا تَأْكُلْ طَعَامًا دَسِمًا اليَوْمَ. إِذَا اسْتَمَرَّ الأَلَمُ، فَارْجِعْ إِلَى العِيَادَةِ.
Private chat: five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Website: reveal the script only after the attempt; students identify one listening cue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(website, 5 marks). Read twice at natural pace (website: each recording may be played twice); students answer after the second reading.
SCRIPT: النَّادِلُ: مَسَاءُ الخَيْرِ. مَاذَا تُرِيدُ؟ الزَّبُونُ: أُرِيدُ طَبَقَ الكَبْسَةِ، مِنْ فَضْلِكَ. النَّادِلُ: الكَبْسَةُ تَتَكَوَّنُ مِنَ الأَرُزِّ وَالدَّجَاجِ وَالتَّوَابِلِ. هَلْ تُرِيدُ شَيْئًا مَعَهَا؟ الزَّبُونُ: نَعَمْ، أُرِيدُ سَلَطَةً صَغِيرَةً وَعَصِيرَ اللَّيْمُونِ. النَّادِلُ: حَسَنًا. الزَّبُونُ: شُكْرًا. وَبَعْدَ الطَّعَامِ: الحِسَابُ، لَوْ سَمَحْتَ.
Private chat: five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Website: reveal the script only after the attempt; students identify one listening cue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TEXT 1 (website menu, reproduced as a table). No English support on assessment texts. Keep on screen while students answer (next slide).
قَائِمَةُ مَطْعَمِ الوَاحَةِ · حَسَاءُ العَدَسِ مَعَ الخُبْزِ (نَبَاتِيٌّ): ٨ دَنَانِيرَ · الدَّجَاجُ مَعَ الأَرُزِّ: ١٨ دِينَارًا · السَّمَكُ المَشْوِيُّ مَعَ البَطَاطِسِ وَالسَّلَطَةِ: ٢٢ دِينَارًا · سَلَطَةُ الفَاكِهَةِ: ٧ دَنَانِيرَ · شَايٌ: ٣ دَنَانِيرَ · مَاءٌ مَعْدِنِيٌّ: ٤ · عَصِيرُ بُرْتُقَالٍ: 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5 marks on this text).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2 (website health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5 marks on this text).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3 (website pharmacy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5 marks on this text).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TASK 1 (website): five fields in Arabic — symptom, affected body part, duration, one food habit and the advice wanted. Suggested marking: part of the 15 writing marks (e.g. 5 for the form, 10 for the article) or holistic with the article — agree the split with your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TASK 2 (website): 80–100 words — meals and favourite food, a justified opinion, at least two health habits, one improvement target and advice to another student.
Suggested strands (as in F3 and F4): task completion · range · accuracy. The F5-L11 website model article (طَعَامِي وَصِحَّتِي) is the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(website, 15 marks). Website follow-up questions: مَا طَعَامُكَ المُفَضَّلُ؟ وَلِمَاذَا؟ · مَاذَا تَأْكُلُ وَتَشْرَبُ فِي الفُطُورِ؟ · كَيْفَ تُحَافِظُ عَلَى صِحَّتِكَ؟ · مَتَى ذَهَبْتَ إِلَى الطَّبِيبِ آخِرَ مَرَّةٍ؟ · مَا العَادَةُ الَّتِي تُرِيدُ أَنْ تُحَسِّنَهَا؟
To a girl: طَعَامُكِ، تَأْكُلِينَ وَتَشْرَبِينَ، تُحَافِظِينَ، ذَهَبْتِ، تُرِيدِينَ.
ORGANISATION: one-to-one with the teacher while others finish writing, or trusted pairs with the teacher listening (teacher plays the waiter /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“Reflection and next-step plan”). Website: “Each skill remains visible separately.” The bands are a teacher guide in line with the F3 and F4 assessments (the F5 page gives the four skill totals).
Website bridge: “F5 has secured food, meals, body parts and simple health interactions. F6 will use the same communication habits with places, transport, signs and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(F6-L01 · Places in Town) will spend class time USING this language, so students prepare it tonight — short, simple, easy to access (school guidance: “Simple, Short, Interesting, Relevant, Easy to access”). F6 begins with places in town (website F6-L01 “Places in Town: Buildings and Public Spaces”).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Food, Health and Body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food, meals, the body, illness, healthcare and healthy habits — then choose one precise next step for F6.</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F5-L12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F5</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Knowledge check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review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15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15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24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15 + speaking 15.</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next step.</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F6: town.</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knowledge check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assessment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prefer fruit because it is healthy”?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الفَاكِهَةَ لِأَنَّهَا صِحِّيَّةٌ.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الفَاكِهَةَ لِأَنَّهُ صِحِّيٌّ.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الفَاكِهَةَ فِي المَدْرَسَةِ.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 have pain in my stomach”?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مَعِدَتِي لَذِيذَةٌ.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مَعِدَتِي.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أَلَمٌ فِي مَعِدَتِي.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noun is feminine?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رَأْسٌ</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ظَهْرٌ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for the bill?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الحِسَابُ، لَوْ سَمَحْتَ.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قَائِمَةُ الطَّعَامِ.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عِنْدَكُمْ حَسَاءٌ؟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assessment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prefer fruit because it is healthy”?</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الفَاكِهَةَ لِأَنَّهَا صِحِّيَّةٌ.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الفَاكِهَةَ لِأَنَّهُ صِحِّيٌّ.</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 الفَاكِهَةَ فِي المَدْرَسَةِ.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knowledge check 1: fruit is feminine.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 have pain in my stomach”?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مَعِدَتِي لَذِيذَةٌ.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أَشْرَبُ مَعِدَتِي.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عِنْدِي أَلَمٌ فِي مَعِدَتِي.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knowledge check 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noun is feminine?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رَأْسٌ</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ظَهْرٌ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knowledge check 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for the bill?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الحِسَابُ، لَوْ سَمَحْتَ.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قَائِمَةُ الطَّعَامِ.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عِنْدَكُمْ حَسَاءٌ؟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knowledge check 8.</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find ONE gap to repair before the assessment.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اِقْرَأْ · اِبْحَثْ عَنِ الدَّلِيلِ · أَجِبْ</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F5 GRAMMAR SYSTEM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patterns to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REASON AGREEMENT</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لِأَنَّهَا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السَّلَطَةُ صِحِّيَّةٌ لِأَنَّهَا طَازَجَةٌ.</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salad is healthy because it is fresh.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Agrees with the noun, not the speaker.</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SYMPTOM + DURATION</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عِنْدِي … فِي … مُنْذُ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عِنْدِي أَلَمٌ فِي مَعِدَتِي مُنْذُ يَوْمَيْنِ.</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have had stomach pain for two days.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Keep each structure complete.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1658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16586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ADVICE + أَنْ</a:t>
            </a:r>
            <a:endParaRPr lang="en-US" sz="850" dirty="0"/>
          </a:p>
        </p:txBody>
      </p:sp>
      <p:sp>
        <p:nvSpPr>
          <p:cNvPr id="34" name="Text 31"/>
          <p:cNvSpPr txBox="1"/>
          <p:nvPr/>
        </p:nvSpPr>
        <p:spPr>
          <a:xfrm>
            <a:off x="1805940"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يَجِبُ أَنْ · مِنَ الأَفْضَلِ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مِنَ الأَفْضَلِ أَنْ تَنَامَ مُبَكِّرًا.</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better to sleep early.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verb (-a) after an.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grammar laboratory: the first-person verb starts with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أَنَا أَتَنَاوَلُ الفُطُورَ.</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أَنَا تَتَنَاوَلُ الفُطُورَ.</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fifteen marks each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recordings (heard twice): Mariam’s routine · at the doctor · a restaurant order — 5 questions each</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a restaurant menu · a health article · pharmacy instructions — 5 questions each</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clinic form + an 80–100-word article: My food and my health</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Restaurant role play (5) · doctor role play (5) · food-and-health conversation (5)</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Listening · Mariam’s food and health routine</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 النَّصُّ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Mariam eat for breakfast?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eggs and cheese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soup and rice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yoghurt, fruit and bread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drink in the morning?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 juice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avoid fizzy drinks?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expensive.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contain a lot of sugar.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cannot find them.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meal includes chicken and rice?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lunch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dinner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personal target does she mention?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more chocolate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eating fruit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 more water</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Mariam eat for breakfast?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eggs and cheese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soup and rice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yoghurt, fruit and bread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الزَّبَادِي وَالفَاكِهَةَ وَقِطْعَةً مِنَ الخُبْزِ</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drink in the morning?</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milk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orange juice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كُوبًا مِنَ الحَلِيبِ</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avoid fizzy drinks?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expensive.</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contain a lot of sugar.</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cannot find them.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تَحْتَوِي عَلَى سُكَّرٍ كَثِيرٍ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meal includes chicken and rice?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lunch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breakfast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dinner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الغَدَاءِ آكُلُ الدَّجَاجَ مَعَ الأَرُزِّ</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personal target does she mention?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 more chocolate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eating fruit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drink more water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 أَزِيدَ كَمِّيَّةَ المَاءِ</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 At the doctor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 النَّصُّ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patient feel pain?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stomach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teeth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the problem lasted?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since this morning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two days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a week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additional symptom is mentioned?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fever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cough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toothache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doctor advise the patient to avoid?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fatty food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should the patient return?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tomorrow in every case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 pain continues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one month</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patient feel pain?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stomach</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teeth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أَلَمٌ شَدِيدٌ فِي مَعِدَتِي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the problem lasted?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since this morning</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 two days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a week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مُنْذُ يَوْمَيْنِ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additional symptom is mentioned?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fever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cough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toothache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حُمَّى خَفِيفَةٌ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doctor advise the patient to avoid?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fatty food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تَأْكُلْ طَعَامًا دَسِمًا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should the patient return?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tomorrow in every case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 the pain continues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one month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اسْتَمَرَّ الأَلَمُ</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 A restaurant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 النَّصُّ الثَّالِثُ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traditional dish does the customer order?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mansaf</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kabsa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couscous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dish contain?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 chicken and spices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 beans and eggs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pasta and cheese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side dish is requested?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soup</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chips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salad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drink is selected?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mineral water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lemon juice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at the end?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customer changes the order.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customer asks for the bill.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restaurant closes.</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traditional dish does the customer order?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mansaf</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kabsa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couscous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أُرِيدُ طَبَقَ الكَبْسَةِ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dish contain?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rice, chicken and spices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bread, beans and eggs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pasta and cheese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الأَرُزِّ وَالدَّجَاجِ وَالتَّوَابِلِ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side dish is requested?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soup</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chips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salad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سَلَطَةً صَغِيرَةً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drink is selected?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mineral water</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lemon juice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عَصِيرَ اللَّيْمُونِ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at the end?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customer changes the order.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customer asks for the bill.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restaurant closes.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الحِسَابُ، لَوْ سَمَحْتَ</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TEXT 1 · A RESTAURANT MENU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Al-Waha restaurant menu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قَائِمَةُ مَطْعَمِ الوَاحَةِ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3575304" y="1810512"/>
            <a:ext cx="808329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الطَّبَقُ</a:t>
            </a:r>
            <a:endParaRPr lang="en-US" sz="1100" dirty="0"/>
          </a:p>
        </p:txBody>
      </p:sp>
      <p:sp>
        <p:nvSpPr>
          <p:cNvPr id="17" name="Text 14"/>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السِّعْرُ</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3593592" y="2267712"/>
            <a:ext cx="8046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حَسَاءُ العَدَسِ مَعَ الخُبْزِ (نَبَاتِيٌّ)</a:t>
            </a:r>
            <a:endParaRPr lang="ar-SA" sz="2400" dirty="0"/>
          </a:p>
        </p:txBody>
      </p:sp>
      <p:sp>
        <p:nvSpPr>
          <p:cNvPr id="20" name="Text 17"/>
          <p:cNvSpPr txBox="1"/>
          <p:nvPr/>
        </p:nvSpPr>
        <p:spPr>
          <a:xfrm>
            <a:off x="548640" y="2267712"/>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٨ دَنَانِيرَ</a:t>
            </a:r>
            <a:endParaRPr lang="ar-SA" sz="24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3593592" y="3054096"/>
            <a:ext cx="8046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الدَّجَاجُ مَعَ الأَرُزِّ</a:t>
            </a:r>
            <a:endParaRPr lang="ar-SA" sz="2400" dirty="0"/>
          </a:p>
        </p:txBody>
      </p:sp>
      <p:sp>
        <p:nvSpPr>
          <p:cNvPr id="23" name="Text 20"/>
          <p:cNvSpPr txBox="1"/>
          <p:nvPr/>
        </p:nvSpPr>
        <p:spPr>
          <a:xfrm>
            <a:off x="548640" y="3054096"/>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١٨ دِينَارًا</a:t>
            </a:r>
            <a:endParaRPr lang="ar-SA" sz="24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3593592" y="3840480"/>
            <a:ext cx="8046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السَّمَكُ المَشْوِيُّ مَعَ البَطَاطِسِ وَالسَّلَطَةِ</a:t>
            </a:r>
            <a:endParaRPr lang="ar-SA" sz="2400" dirty="0"/>
          </a:p>
        </p:txBody>
      </p:sp>
      <p:sp>
        <p:nvSpPr>
          <p:cNvPr id="26" name="Text 23"/>
          <p:cNvSpPr txBox="1"/>
          <p:nvPr/>
        </p:nvSpPr>
        <p:spPr>
          <a:xfrm>
            <a:off x="548640" y="3840480"/>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٢٢ دِينَارًا</a:t>
            </a:r>
            <a:endParaRPr lang="ar-SA" sz="2400" dirty="0"/>
          </a:p>
        </p:txBody>
      </p:sp>
      <p:sp>
        <p:nvSpPr>
          <p:cNvPr id="27" name="Shape 2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3593592" y="4626864"/>
            <a:ext cx="8046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سَلَطَةُ الفَاكِهَةِ</a:t>
            </a:r>
            <a:endParaRPr lang="ar-SA" sz="2400" dirty="0"/>
          </a:p>
        </p:txBody>
      </p:sp>
      <p:sp>
        <p:nvSpPr>
          <p:cNvPr id="29" name="Text 26"/>
          <p:cNvSpPr txBox="1"/>
          <p:nvPr/>
        </p:nvSpPr>
        <p:spPr>
          <a:xfrm>
            <a:off x="548640" y="4626864"/>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٧ دَنَانِيرَ</a:t>
            </a:r>
            <a:endParaRPr lang="ar-SA" sz="2400" dirty="0"/>
          </a:p>
        </p:txBody>
      </p:sp>
      <p:sp>
        <p:nvSpPr>
          <p:cNvPr id="30" name="Shape 27"/>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3593592" y="5413248"/>
            <a:ext cx="80467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شَايٌ · مَاءٌ مَعْدِنِيٌّ · عَصِيرُ بُرْتُقَالٍ</a:t>
            </a:r>
            <a:endParaRPr lang="ar-SA" sz="2400" dirty="0"/>
          </a:p>
        </p:txBody>
      </p:sp>
      <p:sp>
        <p:nvSpPr>
          <p:cNvPr id="32" name="Text 29"/>
          <p:cNvSpPr txBox="1"/>
          <p:nvPr/>
        </p:nvSpPr>
        <p:spPr>
          <a:xfrm>
            <a:off x="548640" y="5413248"/>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٣ · ٤ · ٦</a:t>
            </a:r>
            <a:endParaRPr lang="ar-SA" sz="24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1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menu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meal is vegetarian?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lentil soup with bread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 with rice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grilled fish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costs 18 dinars?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grilled fish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fruit salad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 and rice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served with the grilled fish?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 and cheese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potatoes and salad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 and yoghurt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cheapest drink?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mineral water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 juice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dessert contains fruit?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chocolate cake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ice cream only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fruit salad</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menu: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meal is vegetarian?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lentil soup with bread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chicken with rice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grilled fish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حَسَاءُ العَدَسِ مَعَ الخُبْزِ (نَبَاتِيٌّ)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costs 18 dinars?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grilled fish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fruit salad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chicken and rice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الدَّجَاجُ مَعَ الأَرُزِّ: ١٨</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served with the grilled fish?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bread and cheese</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potatoes and salad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rice and yoghurt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مَعَ البَطَاطِسِ وَالسَّلَطَةِ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cheapest drink?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mineral water</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tea</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orange juice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شَايٌ: ٣</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dessert contains fruit?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chocolate cake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ice cream only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fruit salad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سَلَطَةُ الفَاكِهَةِ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2 · A HEALTH ARTICLE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Healthy habits for students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عَادَاتٌ صِحِّيَّةٌ لِلطُّلَّابِ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عَادَاتٌ صِحِّيَّةٌ لِلطُّلَّابِ · تَعْتَمِدُ الصِّحَّةُ عَلَى عَادَاتٍ يَوْمِيَّةٍ مُتَوَازِنَةٍ. يَنْبَغِي أَنْ نَأْكُلَ خَمْسَ حِصَصٍ مِنَ الفَاكِهَةِ وَالخَضْرَوَاتِ، وَأَنْ نَشْرَبَ المَاءَ بِانْتِظَامٍ. مِنَ الأَفْضَلِ أَنْ نُقَلِّلَ المَشْرُوبَاتِ السُّكَّرِيَّةَ لِأَنَّهَا قَدْ تَضُرُّ الأَسْنَانَ وَالجِسْمَ. كَمَا يَجِبُ أَنْ نَنَامَ مُبَكِّرًا وَنُمَارِسَ الرِّيَاضَةَ. قَبْلَ النَّوْمِ، اِسْتَرِحْ وَلَا تَسْتَخْدِمِ الهَاتِفَ لِسَاعَاتٍ طَوِيلَةٍ. لِذَلِكَ، اِبْنِ عَادَاتٍ صَغِيرَةً وَثَابِتَةً.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2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health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message?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medicine keeps people healthy.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 is unnecessary.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Health depends on balanced daily habits.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portions of fruit and vegetables are recommended?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sugary drinks be reduced?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always cold.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can harm the teeth and body.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difficult to buy.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a student do before sleeping?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a heavy meal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a phone for hours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relax and avoid long phone use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introduces a result?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health article: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message?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medicine keeps people healthy.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Exercise is unnecessary.</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Health depends on balanced daily habits.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تَعْتَمِدُ الصِّحَّةُ عَلَى عَادَاتٍ يَوْمِيَّةٍ مُتَوَازِنَةٍ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portions of fruit and vegetables are recommended?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 حِصَصٍ</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sugary drinks be reduced?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always cold.</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can harm the teeth and body.</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difficult to buy.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 تَضُرُّ الأَسْنَانَ وَالجِسْمَ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a student do before sleeping?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 a heavy meal</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use a phone for hours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relax and avoid long phone use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اِسْتَرِحْ وَلَا تَسْتَخْدِمِ الهَاتِفَ</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introduces a result?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أَيْضًا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لِذَلِكَ، اِبْنِ عَادَاتٍ صَغِيرَةً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3 · A PHARMACY NOTICE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Pharmacy instructions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تَعْلِيمَاتُ الصَّيْدَلِيَّةِ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تَعْلِيمَاتُ الصَّيْدَلِيَّةِ · خُذْ هٰذَا الدَّوَاءَ مَرَّتَيْنِ فِي اليَوْمِ بَعْدَ الطَّعَامِ. لَا تَزِدِ الجُرْعَةَ. إِذَا ظَهَرَتْ حَسَاسِيَّةٌ، تَوَقَّفْ عَنِ الدَّوَاءِ وَاتَّصِلْ بِالطَّبِيبِ. اِحْفَظِ الدَّوَاءَ فِي مَكَانٍ بَارِدٍ وَجَافٍّ، بَعِيدًا عَنِ الأَطْفَالِ.</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3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pharmacy notice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should read the notice?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restaurant workers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customers collecting medicine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 passengers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the medicine taken?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daily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daily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times daily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it taken?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food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at night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food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patient do if an allergy appears?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and contact a doctor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more medicine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it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the medicine be kept?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direct sunlight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cool dry place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food on the table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pharmacy notice: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should read the notice?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restaurant workers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customers collecting medicine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bus passengers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تَعْلِيمَاتُ الصَّيْدَلِيَّةِ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the medicine taken?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daily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daily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 times daily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اليَوْمِ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it taken?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food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at night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food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بَعْدَ الطَّعَامِ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patient do if an allergy appears?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stop and contact a doctor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 more medicine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it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تَوَقَّفْ … وَاتَّصِلْ بِالطَّبِيبِ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the medicine be kept?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direct sunlight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cool dry place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food on the table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مَكَانٍ بَارِدٍ وَجَافٍّ</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TASK 1 · CLINIC FORM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clinic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العِيَادَةِ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43708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389120" y="2267712"/>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العَرَضُ</a:t>
            </a:r>
            <a:endParaRPr lang="ar-SA" sz="2200" dirty="0"/>
          </a:p>
        </p:txBody>
      </p:sp>
      <p:sp>
        <p:nvSpPr>
          <p:cNvPr id="22" name="Text 19"/>
          <p:cNvSpPr txBox="1"/>
          <p:nvPr/>
        </p:nvSpPr>
        <p:spPr>
          <a:xfrm>
            <a:off x="566928" y="2267712"/>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Symptom</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4389120" y="300471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جُزْءُ الجِسْمِ</a:t>
            </a:r>
            <a:endParaRPr lang="ar-SA" sz="2200" dirty="0"/>
          </a:p>
        </p:txBody>
      </p:sp>
      <p:sp>
        <p:nvSpPr>
          <p:cNvPr id="28" name="Text 25"/>
          <p:cNvSpPr txBox="1"/>
          <p:nvPr/>
        </p:nvSpPr>
        <p:spPr>
          <a:xfrm>
            <a:off x="566928" y="300471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Affected body part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389120" y="3741725"/>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المُدَّةُ</a:t>
            </a:r>
            <a:endParaRPr lang="ar-SA" sz="2200" dirty="0"/>
          </a:p>
        </p:txBody>
      </p:sp>
      <p:sp>
        <p:nvSpPr>
          <p:cNvPr id="34" name="Text 31"/>
          <p:cNvSpPr txBox="1"/>
          <p:nvPr/>
        </p:nvSpPr>
        <p:spPr>
          <a:xfrm>
            <a:off x="566928" y="3741725"/>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Duration</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4389120" y="4478731"/>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عَادَةٌ غِذَائِيَّةٌ</a:t>
            </a:r>
            <a:endParaRPr lang="ar-SA" sz="2200" dirty="0"/>
          </a:p>
        </p:txBody>
      </p:sp>
      <p:sp>
        <p:nvSpPr>
          <p:cNvPr id="40" name="Text 37"/>
          <p:cNvSpPr txBox="1"/>
          <p:nvPr/>
        </p:nvSpPr>
        <p:spPr>
          <a:xfrm>
            <a:off x="566928" y="4478731"/>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One food habit</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4389120" y="521573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النَّصِيحَةُ المَطْلُوبَةُ</a:t>
            </a:r>
            <a:endParaRPr lang="ar-SA" sz="2200" dirty="0"/>
          </a:p>
        </p:txBody>
      </p:sp>
      <p:sp>
        <p:nvSpPr>
          <p:cNvPr id="46" name="Text 43"/>
          <p:cNvSpPr txBox="1"/>
          <p:nvPr/>
        </p:nvSpPr>
        <p:spPr>
          <a:xfrm>
            <a:off x="566928" y="521573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The advice you want</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Invented details only. Example: </a:t>
            </a:r>
            <a:pPr algn="l" indent="0" marL="0">
              <a:buNone/>
            </a:pPr>
            <a:r>
              <a:rPr lang="ar-SA" altLang="en-US" sz="1500" b="1" dirty="0">
                <a:solidFill>
                  <a:srgbClr val="1B3B6F"/>
                </a:solidFill>
                <a:latin typeface="Amiri" pitchFamily="2" charset="-78"/>
                <a:ea typeface="Amiri" pitchFamily="2" charset="-78"/>
                <a:cs typeface="Amiri" pitchFamily="2" charset="-78"/>
              </a:rPr>
              <a:t>صُدَاعٌ</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رَأْسِي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مُنْذُ يَوْمَيْنِ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أَشْرَبُ قَلِيلًا مِنَ المَاءِ</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مَاذَا يَجِبُ أَنْ أَفْعَلَ؟</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TASK 2 · 80–100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food and my health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طَعَامِي وَصِحَّتِي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checklist</a:t>
            </a:r>
            <a:endParaRPr lang="en-US" sz="1100" dirty="0"/>
          </a:p>
        </p:txBody>
      </p:sp>
      <p:sp>
        <p:nvSpPr>
          <p:cNvPr id="17" name="Text 14"/>
          <p:cNvSpPr txBox="1"/>
          <p:nvPr/>
        </p:nvSpPr>
        <p:spPr>
          <a:xfrm>
            <a:off x="53035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Include all five points</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967728" y="2267712"/>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Food and drink vocabulary accurate</a:t>
            </a:r>
            <a:endParaRPr lang="en-US" sz="1100" dirty="0"/>
          </a:p>
        </p:txBody>
      </p:sp>
      <p:sp>
        <p:nvSpPr>
          <p:cNvPr id="20" name="Text 17"/>
          <p:cNvSpPr txBox="1"/>
          <p:nvPr/>
        </p:nvSpPr>
        <p:spPr>
          <a:xfrm>
            <a:off x="566928" y="2267712"/>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Your meals and favourite food.</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967728" y="3004718"/>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li-annahu / li-annahā + three connectives</a:t>
            </a:r>
            <a:endParaRPr lang="en-US" sz="1100" dirty="0"/>
          </a:p>
        </p:txBody>
      </p:sp>
      <p:sp>
        <p:nvSpPr>
          <p:cNvPr id="25" name="Text 22"/>
          <p:cNvSpPr txBox="1"/>
          <p:nvPr/>
        </p:nvSpPr>
        <p:spPr>
          <a:xfrm>
            <a:off x="566928" y="3004718"/>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 justified opinion (because …).</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967728" y="3741725"/>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yajibu an or min al-afḍal an</a:t>
            </a:r>
            <a:endParaRPr lang="en-US" sz="1100" dirty="0"/>
          </a:p>
        </p:txBody>
      </p:sp>
      <p:sp>
        <p:nvSpPr>
          <p:cNvPr id="30" name="Text 27"/>
          <p:cNvSpPr txBox="1"/>
          <p:nvPr/>
        </p:nvSpPr>
        <p:spPr>
          <a:xfrm>
            <a:off x="566928" y="3741725"/>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At least two health habits.</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967728" y="4478731"/>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 checked</a:t>
            </a:r>
            <a:endParaRPr lang="en-US" sz="1100" dirty="0"/>
          </a:p>
        </p:txBody>
      </p:sp>
      <p:sp>
        <p:nvSpPr>
          <p:cNvPr id="35" name="Text 32"/>
          <p:cNvSpPr txBox="1"/>
          <p:nvPr/>
        </p:nvSpPr>
        <p:spPr>
          <a:xfrm>
            <a:off x="566928" y="4478731"/>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One improvement target.</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967728" y="5215738"/>
            <a:ext cx="4690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Body / health spelling checked</a:t>
            </a:r>
            <a:endParaRPr lang="en-US" sz="1100" dirty="0"/>
          </a:p>
        </p:txBody>
      </p:sp>
      <p:sp>
        <p:nvSpPr>
          <p:cNvPr id="40" name="Text 37"/>
          <p:cNvSpPr txBox="1"/>
          <p:nvPr/>
        </p:nvSpPr>
        <p:spPr>
          <a:xfrm>
            <a:off x="566928" y="5215738"/>
            <a:ext cx="6217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Advice to another student.</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independent evidence — no translation software or AI. Plan → draft → check (verbs, gender, reasons, connectives, spelling).</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D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role plays and a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05872" y="1810512"/>
            <a:ext cx="1252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273552" y="1810512"/>
            <a:ext cx="6986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442448" y="2267712"/>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1" name="Text 18"/>
          <p:cNvSpPr txBox="1"/>
          <p:nvPr/>
        </p:nvSpPr>
        <p:spPr>
          <a:xfrm>
            <a:off x="3310128" y="2267712"/>
            <a:ext cx="6949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 the waiter, ask about a dish, order food and a drink, answer one clarification, ask for the bill.</a:t>
            </a:r>
            <a:endParaRPr lang="en-US" sz="1100" dirty="0"/>
          </a:p>
        </p:txBody>
      </p:sp>
      <p:sp>
        <p:nvSpPr>
          <p:cNvPr id="22" name="Text 19"/>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1 · restaurant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442448" y="3054096"/>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7" name="Text 24"/>
          <p:cNvSpPr txBox="1"/>
          <p:nvPr/>
        </p:nvSpPr>
        <p:spPr>
          <a:xfrm>
            <a:off x="3310128" y="3054096"/>
            <a:ext cx="6949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symptom and body part, say how long, answer a question, respond to advice.</a:t>
            </a:r>
            <a:endParaRPr lang="en-US" sz="1100" dirty="0"/>
          </a:p>
        </p:txBody>
      </p:sp>
      <p:sp>
        <p:nvSpPr>
          <p:cNvPr id="28" name="Text 25"/>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2 · doctor</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442448" y="3840480"/>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3" name="Text 30"/>
          <p:cNvSpPr txBox="1"/>
          <p:nvPr/>
        </p:nvSpPr>
        <p:spPr>
          <a:xfrm>
            <a:off x="3310128" y="3840480"/>
            <a:ext cx="6949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meals, a justified preference, healthy habits and one future target.</a:t>
            </a:r>
            <a:endParaRPr lang="en-US" sz="1100" dirty="0"/>
          </a:p>
        </p:txBody>
      </p:sp>
      <p:sp>
        <p:nvSpPr>
          <p:cNvPr id="34" name="Text 31"/>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Conversation</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use the cards as prompts, not scripts. Be ready for natural follow-up questions.</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F5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F5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confident food and health communication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selected F5 lessons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reflection: “Name evidence, not only a feeling.” My strongest evidence was … · My next precise action is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foods, drinks, meals and body parts.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hurts and since when.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order politely and ask about prices.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advice with </a:t>
            </a:r>
            <a:pPr algn="l" indent="0" marL="0">
              <a:buNone/>
            </a:pPr>
            <a:r>
              <a:rPr lang="ar-SA" altLang="en-US" sz="1700" dirty="0">
                <a:solidFill>
                  <a:srgbClr val="1F2A37"/>
                </a:solidFill>
                <a:latin typeface="Amiri" pitchFamily="2" charset="-78"/>
                <a:ea typeface="Amiri" pitchFamily="2" charset="-78"/>
                <a:cs typeface="Amiri" pitchFamily="2" charset="-78"/>
              </a:rPr>
              <a:t>يَجِبُ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80–100 connected words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F5-L12 · F5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F6-L01 · Places in Town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مَدِينَةٌ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city</a:t>
            </a:r>
            <a:pPr indent="0" marL="0">
              <a:buNone/>
            </a:pPr>
            <a:r>
              <a:rPr lang="ar-SA" sz="1000" i="1" dirty="0">
                <a:solidFill>
                  <a:srgbClr val="5A6472"/>
                </a:solidFill>
                <a:latin typeface="Calibri" pitchFamily="34" charset="0"/>
                <a:ea typeface="Amiri" pitchFamily="2" charset="-78"/>
                <a:cs typeface="Amiri" pitchFamily="2" charset="-78"/>
              </a:rPr>
              <a:t>  pl. مُدُنٌ</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شَارِعٌ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street</a:t>
            </a:r>
            <a:pPr indent="0" marL="0">
              <a:buNone/>
            </a:pPr>
            <a:r>
              <a:rPr lang="ar-SA" sz="1000" i="1" dirty="0">
                <a:solidFill>
                  <a:srgbClr val="5A6472"/>
                </a:solidFill>
                <a:latin typeface="Calibri" pitchFamily="34" charset="0"/>
                <a:ea typeface="Amiri" pitchFamily="2" charset="-78"/>
                <a:cs typeface="Amiri" pitchFamily="2" charset="-78"/>
              </a:rPr>
              <a:t>  pl. شَوَارِعُ</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neighbourhood</a:t>
            </a:r>
            <a:pPr indent="0" marL="0">
              <a:buNone/>
            </a:pPr>
            <a:r>
              <a:rPr lang="ar-SA" sz="1000" i="1" dirty="0">
                <a:solidFill>
                  <a:srgbClr val="5A6472"/>
                </a:solidFill>
                <a:latin typeface="Calibri" pitchFamily="34" charset="0"/>
                <a:ea typeface="Amiri" pitchFamily="2" charset="-78"/>
                <a:cs typeface="Amiri" pitchFamily="2" charset="-78"/>
              </a:rPr>
              <a:t>  pl. أَحْيَاءٌ</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مَرْكَزُ المَدِينَةِ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city centre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قَرْيَةٌ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village</a:t>
            </a:r>
            <a:pPr indent="0" marL="0">
              <a:buNone/>
            </a:pPr>
            <a:r>
              <a:rPr lang="ar-SA" sz="1000" i="1" dirty="0">
                <a:solidFill>
                  <a:srgbClr val="5A6472"/>
                </a:solidFill>
                <a:latin typeface="Calibri" pitchFamily="34" charset="0"/>
                <a:ea typeface="Amiri" pitchFamily="2" charset="-78"/>
                <a:cs typeface="Amiri" pitchFamily="2" charset="-78"/>
              </a:rPr>
              <a:t>  pl. قُرًى</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 you live in a city, a town or a village?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أَسْكُنُ 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F5-L12 section with your lowest score; learn the five town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sentence of your assessed article, then learn the five town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about your area with the five town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F6-L01 · Places in Town</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الأَمَاكِنُ فِي المَدِينَةِ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F5 complete — well done! Carry the same habits into F6: reasons, agreement, complete structures.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F5-L12 · Review and Unit Assessment: Food, Health and Body</dc:title>
  <dc:subject>PptxGenJS Presentation</dc:subject>
  <dc:creator>Al Madina Online School · Arabic Department</dc:creator>
  <cp:lastModifiedBy>Al Madina Online School · Arabic Department</cp:lastModifiedBy>
  <cp:revision>1</cp:revision>
  <dcterms:created xsi:type="dcterms:W3CDTF">2026-10-11T06:41:51Z</dcterms:created>
  <dcterms:modified xsi:type="dcterms:W3CDTF">2026-10-11T06:41:51Z</dcterms:modified>
</cp:coreProperties>
</file>