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F5 Food, Health and Body › F5-L03. The website lesson “Likes, Dislikes and Preferences”: vocabulary, grammar rules and quiz, patterns, common mistakes, sorter, listening, reading, speaking prompts and model, writing task and model, differentiation, final check and the lesson mission. Picture match: website visual game “Likes, Dislikes and Preferences”.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three opinions from a frame — أُحِبُّ … كَثِيرًا · لَا أُحِبُّ … · أُفَضِّلُ …
• Develop: compare three food pairs (أُفَضِّلُ أ أَكْثَرَ مِنْ ب) and report a partner (هُوَ يُفَضِّلُ / هِيَ تُفَضِّلُ).
• Stretch: summarise class survey results with numbers and plural verbs (يُفَضِّلُونَ) — the website reading text is the model.
• Website warning: أُفَضِّلُ (I prefer, a verb) ≠ أَفْضَلُ (better / best). The shadda and the first vowel make the difference.
• Website: “Preferences are personal, so there is no ‘correct’ favourite food. The accuracy comes from the language.”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at the end of F5-L02. Questions 3–5 retrieve F5-L02 (meal + drink, asking a girl, frequency).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I like it → I like it a lot → I prefer it MORE THAN something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افضل (best) and فضیلت share the root of أُفَضِّلُ — but WARNING: Arabic أَفْضَلُ (best) is exactly the word students must NOT write for “I prefer” (the website’s common error). خصوصاً is identical in Urdu. عشق → أَعْشَقُ (“I adore” — strong, even funny, with food). قلیل (little, few) → قَلِيلًا.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Opinion language (website vocabulary). Hear → Say → See → Use. Transliteration is printed for Core students (cover it for Develop/Stretch).
أَعْشَقُ is very strong (“I adore”) — fun for Stretch. لَا أَسْتَطِيعُ أَنْ آكُلَ (I can’t eat) is useful for allergies and diets.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Comparison and intensity (website vocabulary). Hear → Say → See → Use. Transliteration is printed for Core students (cover it for Develop/Stretch).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Questions and reporting (website vocabulary). Hear → Say → See → Use. Transliteration is printed for Core students (cover it for Develop/Stretch).
أَيُّهُمَا (to a boy) / أَيَّتُهُمَا (to a girl) = “which of the two”. Core students can simply ask هَلْ تُفَضِّلُ … أَمْ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“State a preference” (أُفَضِّلُ + item) and “Compare two items” (أُفَضِّلُ أ + أَكْثَرَ مِنْ + ب).
Website common error: أُفَضِّلُ السَّمَكَ مِنَ اللَّحْمِ ✗ → أَكْثَرَ مِنَ اللَّحْمِ ✓ (use the complete chunk).
Pronunciation: مِنْ + ال → مِنَ ال (min-a l-laḥmi). The second item ends in kasra (اللَّحْمِ، القَهْوَةِ).
Note: the website game uses أُفَضِّلُ … عَلَى … (prepared at home) — equally correct: أُفَضِّلُ الشَّايَ عَلَى القَهْوَةِ.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“Change the verb for the person” (يُـ with هُوَ, تُـ with هِيَ) and “Ask between alternatives” (أَمْ between two named items).
To a girl: أَيَّتُهُمَا تُفَضِّلِينَ: الشَّايَ أَمِ القَهْوَةَ؟ (website model). Simpler for Core: هَلْ تُفَضِّلُ / تُفَضِّلِينَ الشَّايَ أَمِ القَهْوَةَ؟
Website teaching note: “Do not confuse أُفَضِّلُ ‘I prefer’ with أَفْضَلُ ‘better/best’.”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“The lesson-plan grammar focus moves from a simple like to a comparison. Use أُفَضِّلُ for the preferred item and the complete chunk أَكْثَرَ مِنْ to compare it with another.”
• State a preference: أُفَضِّلُ is a verb meaning “I prefer”. It is followed by the preferred item.
• Compare two items: Name the preferred item first, then use the complete comparison chunk أَكْثَرَ مِنْ.
• Change the verb for the person: Use يُـ with هُوَ and تُـ with هِيَ.
• Ask between alternatives: Use أَمْ between two named alternatives.
Website common error: Do not confuse أُفَضِّلُ (“I prefer”) with أَفْضَلُ (“better/best”).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the website writing model built step by step. Students copy it, then replace the friend with a real or invented person (صَدِيقِي يُفَضِّلُ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Likes, Dislikes and Preferences”)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 other items are about reading, football and cycling — useful later). The third item uses أُفَضِّلُ … عَلَى … — another way to compare, prepared at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Likes, Dislikes and Preferences”)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 other items are about reading, football and cycling — useful later). The third item uses أُفَضِّلُ … عَلَى … — another way to compare, prepared at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sentence by the type of opinion it expresses.
The “prefer” column includes طَعَامِي المُفَضَّلُ — a preference without the verb. Ask which word gave it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sentence by the type of opinion it expresses.
The “prefer” column includes طَعَامِي المُفَضَّلُ — a preference without the verb. Ask which word gave it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4. Develop / Stretch: all 4, then say why Omar prefers water.
Listen 1: just listen. Listen 2: note answers. Then chat the letters.
Support: after the second listening, show the read-along slide (Arabic + English, line by line) for Core students.
SCRIPT (read aloud):
يُفَضِّلُ سَامِرٌ التَّمْرَ أَكْثَرَ مِنَ الكَعْكِ. أَمَّا لَيْلَى فَتُحِبُّ الحَسَاءَ وَلَا تُحِبُّ البِيتْزَا. يُحِبُّ عُمَرُ العَصِيرَ، وَلٰكِنَّهُ يُفَضِّلُ المَاءَ لِأَنَّهُ يَشْرَبُهُ كُلَّ يَوْمٍ. تُفَضِّلُ نُورٌ السَّمَكَ أَكْثَرَ مِنَ اللَّحْمِ.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أ: وَهَلْ تُحِبِّينَ العَصِيرَ؟ (And do you like juice?)
ب: نَعَمْ، أُحِبُّهُ كَثِيرًا. (Yes, I like it a lot.)
Website “Preference interview” — all four prompts are the website’s. Website model: أَيَّتُهُمَا تُفَضِّلِينَ: الشَّايَ أَمِ القَهْوَةَ؟ — أُفَضِّلُ الشَّايَ أَكْثَرَ مِنَ القَهْوَةِ. — وَهَلْ تُحِبِّينَ العَصِيرَ؟ — نَعَمْ، أُحِبُّهُ كَثِيرًا. After the interview, Develop students report: هُوَ يُفَضِّلُ … / هِيَ تُفَضِّلُ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Choose and say three likes/dislikes using a displayed sentence frame. · Develop — Compare three food pairs and report a partner’s answers. · Stretch — Summarise class survey results using numbers and plural verb forms.
Website writing task (Stretch): Create a short report about your preferences and one other person’s preferences. Write 7–8 sentences and include one comparison.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Evidence: كَثِيرًا، خُصُوصًا · لَا أُحِبُّ القَهْوَةَ · أَكْثَرَ مِنَ اللَّحْمِ · هِيَ تُفَضِّلُ. The model has 5 sentences — Develop adds two more to reach 7–8.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8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(F5-L04 · Giving Reasons: Taste and Health) will spend class time USING this language, so students prepare it tonight — short, simple, easy to access (school guidance: “Simple, Short, Interesting, Relevant, Easy to access”). The five words come from the website F5-L04 lesson (taste and health reasons).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F5  ·  F5-L03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F5-L03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500" b="1" dirty="0">
                <a:solidFill>
                  <a:srgbClr val="FFFFFF"/>
                </a:solidFill>
                <a:latin typeface="Cambria" pitchFamily="34" charset="0"/>
                <a:cs typeface="Amiri" pitchFamily="2" charset="-78"/>
              </a:rPr>
              <a:t>Likes, Dislikes and Preferences</a:t>
            </a:r>
            <a:endParaRPr lang="en-US" sz="35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الإِعْجَابُ وَالتَّفْضِيلُ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Extend food opinions with </a:t>
            </a:r>
            <a:pPr algn="l" indent="0" marL="0">
              <a:buNone/>
            </a:pPr>
            <a:r>
              <a:rPr lang="ar-SA" altLang="en-US" sz="1800" dirty="0">
                <a:solidFill>
                  <a:srgbClr val="C6D2E6"/>
                </a:solidFill>
                <a:latin typeface="Amiri" pitchFamily="2" charset="-78"/>
                <a:ea typeface="Amiri" pitchFamily="2" charset="-78"/>
                <a:cs typeface="Amiri" pitchFamily="2" charset="-78"/>
              </a:rPr>
              <a:t>أُفَضِّلُ</a:t>
            </a:r>
            <a:pPr algn="l" indent="0" marL="0">
              <a:buNone/>
            </a:pPr>
            <a:r>
              <a:rPr lang="en-US" sz="1400" dirty="0">
                <a:solidFill>
                  <a:srgbClr val="C6D2E6"/>
                </a:solidFill>
                <a:latin typeface="Calibri" pitchFamily="34" charset="0"/>
                <a:cs typeface="Amiri" pitchFamily="2" charset="-78"/>
              </a:rPr>
              <a:t>, compare two foods with </a:t>
            </a:r>
            <a:pPr algn="l" indent="0" marL="0">
              <a:buNone/>
            </a:pPr>
            <a:r>
              <a:rPr lang="ar-SA" altLang="en-US" sz="1800" dirty="0">
                <a:solidFill>
                  <a:srgbClr val="C6D2E6"/>
                </a:solidFill>
                <a:latin typeface="Amiri" pitchFamily="2" charset="-78"/>
                <a:ea typeface="Amiri" pitchFamily="2" charset="-78"/>
                <a:cs typeface="Amiri" pitchFamily="2" charset="-78"/>
              </a:rPr>
              <a:t>أَكْثَرَ مِنْ</a:t>
            </a:r>
            <a:pPr algn="l" indent="0" marL="0">
              <a:buNone/>
            </a:pPr>
            <a:r>
              <a:rPr lang="en-US" sz="1400" dirty="0">
                <a:solidFill>
                  <a:srgbClr val="C6D2E6"/>
                </a:solidFill>
                <a:latin typeface="Calibri" pitchFamily="34" charset="0"/>
                <a:cs typeface="Amiri" pitchFamily="2" charset="-78"/>
              </a:rPr>
              <a:t>, add intensity words and ask a boy or a girl which they prefer.</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F5-L03 · Foundation F5 · Food, Health and Body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F5 › F5-L03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Likes and Preferences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Likes and Preferences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Opinion and intensity words, then prefer + more than, and he / she forms.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sort like / dislike / prefer, fix the mistakes and listen to four friends.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F5-L04.</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41</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Likes and Preferences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لَذِيذٌ</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healthy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delicious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favourite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مُفَضَّلٌ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favourite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lot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usually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says “At breakfast I drink milk”?</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الفُطُورِ آكُلُ الحَلِيبَ.</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الحَلِيبِ أَشْرَبُ الفُطُورَ.</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الفُطُورِ أَشْرَبُ الحَلِيبَ.</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girl what she eats for dinner.</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يَأْكُلُ فِي العَشَاءِ؟</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آكُلُ فِي العَشَاءِ؟</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تَأْكُلِينَ فِي العَشَاءِ؟</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أَحْيَانًا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sometimes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always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usually</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41</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Likes and Preferences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لَذِيذٌ</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healthy</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delicious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favourite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(F5-L02).</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مُفَضَّلٌ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favourite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lot</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usually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(F5-L02).</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says “At breakfast I drink milk”?</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الفُطُورِ آكُلُ الحَلِيبَ.</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الحَلِيبِ أَشْرَبُ الفُطُورَ.</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 الفُطُورِ أَشْرَبُ الحَلِيبَ.</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F5-L02: drinks take ashrabu.</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girl what she eats for dinner.</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مَاذَا يَأْكُلُ فِي العَشَاءِ؟</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مَاذَا آكُلُ فِي العَشَاءِ؟</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مَاذَا تَأْكُلِينَ فِي العَشَاءِ؟</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F5-L02: a female listener → taʼkulīna.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أَحْيَانًا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sometimes</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always</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usually</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F5-L02 frequency words.</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I like it → I like it a lot → I prefer it MORE THAN something else.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أُحِبُّ الشَّايَ </a:t>
            </a:r>
            <a:pPr rtl="1" algn="ctr" indent="0" marL="0">
              <a:lnSpc>
                <a:spcPct val="120000"/>
              </a:lnSpc>
              <a:buNone/>
            </a:pPr>
            <a:r>
              <a:rPr lang="ar-SA" altLang="en-US" sz="1950" b="1" dirty="0">
                <a:solidFill>
                  <a:srgbClr val="7B3FA0"/>
                </a:solidFill>
                <a:latin typeface="Amiri" pitchFamily="2" charset="-78"/>
                <a:ea typeface="Amiri" pitchFamily="2" charset="-78"/>
                <a:cs typeface="Amiri" pitchFamily="2" charset="-78"/>
              </a:rPr>
              <a:t>كَثِيرًا</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أُفَضِّلُ</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الشَّايَ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أَكْثَرَ مِنَ</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القَهْوَةِ</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41</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Likes and Preferences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t>
            </a:r>
            <a:pPr algn="l" indent="0" marL="0">
              <a:buNone/>
            </a:pPr>
            <a:r>
              <a:rPr lang="ar-SA" altLang="en-US" sz="1700" dirty="0">
                <a:solidFill>
                  <a:srgbClr val="1F2A37"/>
                </a:solidFill>
                <a:latin typeface="Amiri" pitchFamily="2" charset="-78"/>
                <a:ea typeface="Amiri" pitchFamily="2" charset="-78"/>
                <a:cs typeface="Amiri" pitchFamily="2" charset="-78"/>
              </a:rPr>
              <a:t>أُحِبُّ، لَا أُحِبُّ</a:t>
            </a:r>
            <a:pPr algn="l" indent="0" marL="0">
              <a:buNone/>
            </a:pPr>
            <a:r>
              <a:rPr lang="en-US" sz="1300" dirty="0">
                <a:solidFill>
                  <a:srgbClr val="1F2A37"/>
                </a:solidFill>
                <a:latin typeface="Calibri" pitchFamily="34" charset="0"/>
                <a:cs typeface="Amiri" pitchFamily="2" charset="-78"/>
              </a:rPr>
              <a:t> and </a:t>
            </a:r>
            <a:pPr algn="l" indent="0" marL="0">
              <a:buNone/>
            </a:pPr>
            <a:r>
              <a:rPr lang="ar-SA" altLang="en-US" sz="1700" dirty="0">
                <a:solidFill>
                  <a:srgbClr val="1F2A37"/>
                </a:solidFill>
                <a:latin typeface="Amiri" pitchFamily="2" charset="-78"/>
                <a:ea typeface="Amiri" pitchFamily="2" charset="-78"/>
                <a:cs typeface="Amiri" pitchFamily="2" charset="-78"/>
              </a:rPr>
              <a:t>أُفَضِّلُ</a:t>
            </a:r>
            <a:pPr algn="l" indent="0" marL="0">
              <a:buNone/>
            </a:pPr>
            <a:r>
              <a:rPr lang="en-US" sz="1300" dirty="0">
                <a:solidFill>
                  <a:srgbClr val="1F2A37"/>
                </a:solidFill>
                <a:latin typeface="Calibri" pitchFamily="34" charset="0"/>
                <a:cs typeface="Amiri" pitchFamily="2" charset="-78"/>
              </a:rPr>
              <a:t> in food contexts.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Compare two foods using </a:t>
            </a:r>
            <a:pPr algn="l" indent="0" marL="0">
              <a:buNone/>
            </a:pPr>
            <a:r>
              <a:rPr lang="ar-SA" altLang="en-US" sz="1700" dirty="0">
                <a:solidFill>
                  <a:srgbClr val="1F2A37"/>
                </a:solidFill>
                <a:latin typeface="Amiri" pitchFamily="2" charset="-78"/>
                <a:ea typeface="Amiri" pitchFamily="2" charset="-78"/>
                <a:cs typeface="Amiri" pitchFamily="2" charset="-78"/>
              </a:rPr>
              <a:t>أَكْثَرَ مِنْ</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Ask male and female classmates about preferences.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Understand stated and implied preferences in short texts.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give three different food opinions.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use </a:t>
            </a:r>
            <a:pPr algn="l" indent="0" marL="0">
              <a:buNone/>
            </a:pPr>
            <a:r>
              <a:rPr lang="ar-SA" altLang="en-US" sz="1700" b="1" dirty="0">
                <a:solidFill>
                  <a:srgbClr val="2E8B57"/>
                </a:solidFill>
                <a:latin typeface="Amiri" pitchFamily="2" charset="-78"/>
                <a:ea typeface="Amiri" pitchFamily="2" charset="-78"/>
                <a:cs typeface="Amiri" pitchFamily="2" charset="-78"/>
              </a:rPr>
              <a:t>كَثِيرًا</a:t>
            </a:r>
            <a:pPr algn="l" indent="0" marL="0">
              <a:buNone/>
            </a:pPr>
            <a:r>
              <a:rPr lang="en-US" sz="1300" b="1" dirty="0">
                <a:solidFill>
                  <a:srgbClr val="2E8B57"/>
                </a:solidFill>
                <a:latin typeface="Calibri" pitchFamily="34" charset="0"/>
                <a:cs typeface="Amiri" pitchFamily="2" charset="-78"/>
              </a:rPr>
              <a:t> or </a:t>
            </a:r>
            <a:pPr algn="l" indent="0" marL="0">
              <a:buNone/>
            </a:pPr>
            <a:r>
              <a:rPr lang="ar-SA" altLang="en-US" sz="1700" b="1" dirty="0">
                <a:solidFill>
                  <a:srgbClr val="2E8B57"/>
                </a:solidFill>
                <a:latin typeface="Amiri" pitchFamily="2" charset="-78"/>
                <a:ea typeface="Amiri" pitchFamily="2" charset="-78"/>
                <a:cs typeface="Amiri" pitchFamily="2" charset="-78"/>
              </a:rPr>
              <a:t>جِدًّا</a:t>
            </a:r>
            <a:pPr algn="l" indent="0" marL="0">
              <a:buNone/>
            </a:pPr>
            <a:r>
              <a:rPr lang="en-US" sz="1300" b="1" dirty="0">
                <a:solidFill>
                  <a:srgbClr val="2E8B57"/>
                </a:solidFill>
                <a:latin typeface="Calibri" pitchFamily="34" charset="0"/>
                <a:cs typeface="Amiri" pitchFamily="2" charset="-78"/>
              </a:rPr>
              <a: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compare two foods with </a:t>
            </a:r>
            <a:pPr algn="l" indent="0" marL="0">
              <a:buNone/>
            </a:pPr>
            <a:r>
              <a:rPr lang="ar-SA" altLang="en-US" sz="1700" b="1" dirty="0">
                <a:solidFill>
                  <a:srgbClr val="C9780A"/>
                </a:solidFill>
                <a:latin typeface="Amiri" pitchFamily="2" charset="-78"/>
                <a:ea typeface="Amiri" pitchFamily="2" charset="-78"/>
                <a:cs typeface="Amiri" pitchFamily="2" charset="-78"/>
              </a:rPr>
              <a:t>أَكْثَرَ مِنْ</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report what he or she prefers.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ask “which of the two?” to a boy or a girl.</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summarise a class survey with numbers.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41</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18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Opinion language · 6</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Comparison and intensity · 6</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Questions and reporting · 6</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أُفَضِّلُ</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‎فضیلت / افضل‎ </a:t>
            </a:r>
            <a:pPr indent="0" marL="0">
              <a:buNone/>
            </a:pPr>
            <a:r>
              <a:rPr lang="en-US" sz="950" b="1" dirty="0">
                <a:solidFill>
                  <a:srgbClr val="2E8B57"/>
                </a:solidFill>
                <a:latin typeface="Calibri" pitchFamily="34" charset="0"/>
                <a:cs typeface="Amiri" pitchFamily="2" charset="-78"/>
              </a:rPr>
              <a:t> afzal · Urdu: best, excellence → I prefer</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مُفَضَّلٌ</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‎پسندیدہ‎ </a:t>
            </a:r>
            <a:pPr indent="0" marL="0">
              <a:buNone/>
            </a:pPr>
            <a:r>
              <a:rPr lang="en-US" sz="950" b="1" dirty="0">
                <a:solidFill>
                  <a:srgbClr val="2E8B57"/>
                </a:solidFill>
                <a:latin typeface="Calibri" pitchFamily="34" charset="0"/>
                <a:cs typeface="Amiri" pitchFamily="2" charset="-78"/>
              </a:rPr>
              <a:t> pasandīda · favourite (a new word)</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خُصُوصًا</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‎خصوصاً‎ </a:t>
            </a:r>
            <a:pPr indent="0" marL="0">
              <a:buNone/>
            </a:pPr>
            <a:r>
              <a:rPr lang="en-US" sz="950" b="1" dirty="0">
                <a:solidFill>
                  <a:srgbClr val="2E8B57"/>
                </a:solidFill>
                <a:latin typeface="Calibri" pitchFamily="34" charset="0"/>
                <a:cs typeface="Amiri" pitchFamily="2" charset="-78"/>
              </a:rPr>
              <a:t> khusūsan · especially</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عِشْقٌ</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‎عشق‎ </a:t>
            </a:r>
            <a:pPr indent="0" marL="0">
              <a:buNone/>
            </a:pPr>
            <a:r>
              <a:rPr lang="en-US" sz="950" b="1" dirty="0">
                <a:solidFill>
                  <a:srgbClr val="2E8B57"/>
                </a:solidFill>
                <a:latin typeface="Calibri" pitchFamily="34" charset="0"/>
                <a:cs typeface="Amiri" pitchFamily="2" charset="-78"/>
              </a:rPr>
              <a:t> ishq · passion → I adore (aʿshaqu)</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قَلِيلًا</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‎قلیل‎ </a:t>
            </a:r>
            <a:pPr indent="0" marL="0">
              <a:buNone/>
            </a:pPr>
            <a:r>
              <a:rPr lang="en-US" sz="950" b="1" dirty="0">
                <a:solidFill>
                  <a:srgbClr val="2E8B57"/>
                </a:solidFill>
                <a:latin typeface="Calibri" pitchFamily="34" charset="0"/>
                <a:cs typeface="Amiri" pitchFamily="2" charset="-78"/>
              </a:rPr>
              <a:t> qalīl · little → a little</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41</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Likes and Preferences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Opinion language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331366"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 · we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أُحِبُّ</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like / love</a:t>
            </a:r>
            <a:endParaRPr lang="en-US" sz="1350" dirty="0"/>
          </a:p>
          <a:p>
            <a:pPr indent="0" marL="0">
              <a:buNone/>
            </a:pPr>
            <a:r>
              <a:rPr lang="en-US" sz="1100" i="1" dirty="0">
                <a:solidFill>
                  <a:srgbClr val="5A6472"/>
                </a:solidFill>
                <a:latin typeface="Calibri" pitchFamily="34" charset="0"/>
                <a:cs typeface="Amiri" pitchFamily="2" charset="-78"/>
              </a:rPr>
              <a:t>u-ḥib-bu</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يُحِبُّ</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تُحِبُّ</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نُحِبُّ</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لَا أُحِبُّ</a:t>
            </a:r>
            <a:endParaRPr lang="ar-SA" sz="3000" dirty="0"/>
          </a:p>
        </p:txBody>
      </p:sp>
      <p:sp>
        <p:nvSpPr>
          <p:cNvPr id="39" name="Text 3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do not like</a:t>
            </a:r>
            <a:endParaRPr lang="en-US" sz="1350" dirty="0"/>
          </a:p>
          <a:p>
            <a:pPr indent="0" marL="0">
              <a:buNone/>
            </a:pPr>
            <a:r>
              <a:rPr lang="en-US" sz="1100" i="1" dirty="0">
                <a:solidFill>
                  <a:srgbClr val="5A6472"/>
                </a:solidFill>
                <a:latin typeface="Calibri" pitchFamily="34" charset="0"/>
                <a:cs typeface="Amiri" pitchFamily="2" charset="-78"/>
              </a:rPr>
              <a:t>lā u-ḥib-bu</a:t>
            </a:r>
            <a:endParaRPr lang="en-US" sz="135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3" name="Shape 40"/>
          <p:cNvSpPr/>
          <p:nvPr/>
        </p:nvSpPr>
        <p:spPr>
          <a:xfrm>
            <a:off x="960120" y="1938528"/>
            <a:ext cx="1331366"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960120" y="1938528"/>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 · we</a:t>
            </a:r>
            <a:endParaRPr lang="en-US" sz="800" dirty="0"/>
          </a:p>
        </p:txBody>
      </p:sp>
      <p:sp>
        <p:nvSpPr>
          <p:cNvPr id="45" name="Shape 42"/>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7" name="Text 44"/>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أُفَضِّلُ</a:t>
            </a:r>
            <a:endParaRPr lang="ar-SA" sz="3000" dirty="0"/>
          </a:p>
        </p:txBody>
      </p:sp>
      <p:sp>
        <p:nvSpPr>
          <p:cNvPr id="48" name="Text 45"/>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prefer</a:t>
            </a:r>
            <a:endParaRPr lang="en-US" sz="1350" dirty="0"/>
          </a:p>
          <a:p>
            <a:pPr indent="0" marL="0">
              <a:buNone/>
            </a:pPr>
            <a:r>
              <a:rPr lang="en-US" sz="1100" i="1" dirty="0">
                <a:solidFill>
                  <a:srgbClr val="5A6472"/>
                </a:solidFill>
                <a:latin typeface="Calibri" pitchFamily="34" charset="0"/>
                <a:cs typeface="Amiri" pitchFamily="2" charset="-78"/>
              </a:rPr>
              <a:t>u-faḍ-ḍi-lu</a:t>
            </a:r>
            <a:endParaRPr lang="en-US" sz="1350" dirty="0"/>
          </a:p>
        </p:txBody>
      </p:sp>
      <p:sp>
        <p:nvSpPr>
          <p:cNvPr id="49" name="Shape 46"/>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51" name="Text 48"/>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يُفَضِّلُ</a:t>
            </a:r>
            <a:endParaRPr lang="ar-SA" sz="1500" dirty="0"/>
          </a:p>
        </p:txBody>
      </p:sp>
      <p:sp>
        <p:nvSpPr>
          <p:cNvPr id="52" name="Shape 49"/>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4" name="Text 51"/>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تُفَضِّلُ</a:t>
            </a:r>
            <a:endParaRPr lang="ar-SA" sz="1500" dirty="0"/>
          </a:p>
        </p:txBody>
      </p:sp>
      <p:sp>
        <p:nvSpPr>
          <p:cNvPr id="55" name="Shape 52"/>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57" name="Text 54"/>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نُفَضِّلُ</a:t>
            </a:r>
            <a:endParaRPr lang="ar-SA" sz="1500" dirty="0"/>
          </a:p>
        </p:txBody>
      </p:sp>
      <p:sp>
        <p:nvSpPr>
          <p:cNvPr id="58" name="Shape 5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8211312"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1" name="Text 5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أَعْشَقُ</a:t>
            </a:r>
            <a:endParaRPr lang="ar-SA" sz="3000" dirty="0"/>
          </a:p>
        </p:txBody>
      </p:sp>
      <p:sp>
        <p:nvSpPr>
          <p:cNvPr id="62" name="Text 5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adore / love</a:t>
            </a:r>
            <a:endParaRPr lang="en-US" sz="1350" dirty="0"/>
          </a:p>
          <a:p>
            <a:pPr indent="0" marL="0">
              <a:buNone/>
            </a:pPr>
            <a:r>
              <a:rPr lang="en-US" sz="1100" i="1" dirty="0">
                <a:solidFill>
                  <a:srgbClr val="5A6472"/>
                </a:solidFill>
                <a:latin typeface="Calibri" pitchFamily="34" charset="0"/>
                <a:cs typeface="Amiri" pitchFamily="2" charset="-78"/>
              </a:rPr>
              <a:t>aʿ-sha-qu</a:t>
            </a:r>
            <a:endParaRPr lang="en-US" sz="135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6" name="Text 6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لَا أَسْتَطِيعُ أَنْ آكُلَ</a:t>
            </a:r>
            <a:endParaRPr lang="ar-SA" sz="3000" dirty="0"/>
          </a:p>
        </p:txBody>
      </p:sp>
      <p:sp>
        <p:nvSpPr>
          <p:cNvPr id="67" name="Text 6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cannot eat</a:t>
            </a:r>
            <a:endParaRPr lang="en-US" sz="1350" dirty="0"/>
          </a:p>
          <a:p>
            <a:pPr indent="0" marL="0">
              <a:buNone/>
            </a:pPr>
            <a:r>
              <a:rPr lang="en-US" sz="1100" i="1" dirty="0">
                <a:solidFill>
                  <a:srgbClr val="5A6472"/>
                </a:solidFill>
                <a:latin typeface="Calibri" pitchFamily="34" charset="0"/>
                <a:cs typeface="Amiri" pitchFamily="2" charset="-78"/>
              </a:rPr>
              <a:t>lā as-ta-ṭī-ʿu an ā-ku-la</a:t>
            </a:r>
            <a:endParaRPr lang="en-US" sz="1350" dirty="0"/>
          </a:p>
        </p:txBody>
      </p:sp>
      <p:sp>
        <p:nvSpPr>
          <p:cNvPr id="68" name="Shape 6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566928" y="4261104"/>
            <a:ext cx="310896" cy="310896"/>
          </a:xfrm>
          <a:prstGeom prst="ellipse">
            <a:avLst/>
          </a:prstGeom>
          <a:solidFill>
            <a:srgbClr val="F4F1EA"/>
          </a:solidFill>
          <a:ln w="12700">
            <a:solidFill>
              <a:srgbClr val="F4F1EA"/>
            </a:solidFill>
            <a:prstDash val="solid"/>
          </a:ln>
        </p:spPr>
      </p:sp>
      <p:sp>
        <p:nvSpPr>
          <p:cNvPr id="70" name="Text 6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1" name="Shape 68"/>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72" name="Text 69"/>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73" name="Shape 7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4" name="Text 7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5" name="Text 72"/>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طَعَامِي المُفَضَّلُ</a:t>
            </a:r>
            <a:endParaRPr lang="ar-SA" sz="3000" dirty="0"/>
          </a:p>
        </p:txBody>
      </p:sp>
      <p:sp>
        <p:nvSpPr>
          <p:cNvPr id="76" name="Text 73"/>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my favourite food</a:t>
            </a:r>
            <a:endParaRPr lang="en-US" sz="1350" dirty="0"/>
          </a:p>
          <a:p>
            <a:pPr indent="0" marL="0">
              <a:buNone/>
            </a:pPr>
            <a:r>
              <a:rPr lang="en-US" sz="1100" i="1" dirty="0">
                <a:solidFill>
                  <a:srgbClr val="5A6472"/>
                </a:solidFill>
                <a:latin typeface="Calibri" pitchFamily="34" charset="0"/>
                <a:cs typeface="Amiri" pitchFamily="2" charset="-78"/>
              </a:rPr>
              <a:t>ṭa-ʿā-mī al-mu-faḍ-ḍa-lu</a:t>
            </a:r>
            <a:endParaRPr lang="en-US" sz="1350" dirty="0"/>
          </a:p>
        </p:txBody>
      </p:sp>
      <p:sp>
        <p:nvSpPr>
          <p:cNvPr id="77" name="Shape 74"/>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78" name="Text 75"/>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food (m.)</a:t>
            </a:r>
            <a:endParaRPr lang="en-US" sz="700" dirty="0"/>
          </a:p>
        </p:txBody>
      </p:sp>
      <p:sp>
        <p:nvSpPr>
          <p:cNvPr id="79" name="Text 76"/>
          <p:cNvSpPr txBox="1"/>
          <p:nvPr/>
        </p:nvSpPr>
        <p:spPr>
          <a:xfrm>
            <a:off x="2944368"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طَعَامِي المُفَضَّلُ</a:t>
            </a:r>
            <a:endParaRPr lang="ar-SA" sz="1350" dirty="0"/>
          </a:p>
        </p:txBody>
      </p:sp>
      <p:sp>
        <p:nvSpPr>
          <p:cNvPr id="80" name="Shape 77"/>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drink (m.)</a:t>
            </a:r>
            <a:endParaRPr lang="en-US" sz="700" dirty="0"/>
          </a:p>
        </p:txBody>
      </p:sp>
      <p:sp>
        <p:nvSpPr>
          <p:cNvPr id="82" name="Text 79"/>
          <p:cNvSpPr txBox="1"/>
          <p:nvPr/>
        </p:nvSpPr>
        <p:spPr>
          <a:xfrm>
            <a:off x="1792224"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مَشْرُوبِي المُفَضَّلُ</a:t>
            </a:r>
            <a:endParaRPr lang="ar-SA" sz="1350" dirty="0"/>
          </a:p>
        </p:txBody>
      </p:sp>
      <p:sp>
        <p:nvSpPr>
          <p:cNvPr id="83" name="Shape 80"/>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84" name="Text 81"/>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fruit (f.)</a:t>
            </a:r>
            <a:endParaRPr lang="en-US" sz="700" dirty="0"/>
          </a:p>
        </p:txBody>
      </p:sp>
      <p:sp>
        <p:nvSpPr>
          <p:cNvPr id="85" name="Text 82"/>
          <p:cNvSpPr txBox="1"/>
          <p:nvPr/>
        </p:nvSpPr>
        <p:spPr>
          <a:xfrm>
            <a:off x="640080"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فَاكِهَتِي المُفَضَّلَةُ</a:t>
            </a:r>
            <a:endParaRPr lang="ar-SA" sz="135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41</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Likes and Preferences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Comparison and intensity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أَكْثَرَ مِنْ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more than</a:t>
            </a:r>
            <a:endParaRPr lang="en-US" sz="1350" dirty="0"/>
          </a:p>
          <a:p>
            <a:pPr indent="0" marL="0">
              <a:buNone/>
            </a:pPr>
            <a:r>
              <a:rPr lang="en-US" sz="1100" i="1" dirty="0">
                <a:solidFill>
                  <a:srgbClr val="5A6472"/>
                </a:solidFill>
                <a:latin typeface="Calibri" pitchFamily="34" charset="0"/>
                <a:cs typeface="Amiri" pitchFamily="2" charset="-78"/>
              </a:rPr>
              <a:t>ak-tha-ra min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أَقَلَّ مِنْ</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less than</a:t>
            </a:r>
            <a:endParaRPr lang="en-US" sz="1350" dirty="0"/>
          </a:p>
          <a:p>
            <a:pPr indent="0" marL="0">
              <a:buNone/>
            </a:pPr>
            <a:r>
              <a:rPr lang="en-US" sz="1100" i="1" dirty="0">
                <a:solidFill>
                  <a:srgbClr val="5A6472"/>
                </a:solidFill>
                <a:latin typeface="Calibri" pitchFamily="34" charset="0"/>
                <a:cs typeface="Amiri" pitchFamily="2" charset="-78"/>
              </a:rPr>
              <a:t>a-qal-la min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كَثِيرًا</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lot</a:t>
            </a:r>
            <a:endParaRPr lang="en-US" sz="1350" dirty="0"/>
          </a:p>
          <a:p>
            <a:pPr indent="0" marL="0">
              <a:buNone/>
            </a:pPr>
            <a:r>
              <a:rPr lang="en-US" sz="1100" i="1" dirty="0">
                <a:solidFill>
                  <a:srgbClr val="5A6472"/>
                </a:solidFill>
                <a:latin typeface="Calibri" pitchFamily="34" charset="0"/>
                <a:cs typeface="Amiri" pitchFamily="2" charset="-78"/>
              </a:rPr>
              <a:t>ka-thī-ran</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7" name="Shape 3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قَلِيلًا</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little</a:t>
            </a:r>
            <a:endParaRPr lang="en-US" sz="1350" dirty="0"/>
          </a:p>
          <a:p>
            <a:pPr indent="0" marL="0">
              <a:buNone/>
            </a:pPr>
            <a:r>
              <a:rPr lang="en-US" sz="1100" i="1" dirty="0">
                <a:solidFill>
                  <a:srgbClr val="5A6472"/>
                </a:solidFill>
                <a:latin typeface="Calibri" pitchFamily="34" charset="0"/>
                <a:cs typeface="Amiri" pitchFamily="2" charset="-78"/>
              </a:rPr>
              <a:t>qa-lī-lan</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4" name="Shape 4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جِدًّا</a:t>
            </a:r>
            <a:endParaRPr lang="ar-SA" sz="3000" dirty="0"/>
          </a:p>
        </p:txBody>
      </p:sp>
      <p:sp>
        <p:nvSpPr>
          <p:cNvPr id="47" name="Text 4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very</a:t>
            </a:r>
            <a:endParaRPr lang="en-US" sz="1350" dirty="0"/>
          </a:p>
          <a:p>
            <a:pPr indent="0" marL="0">
              <a:buNone/>
            </a:pPr>
            <a:r>
              <a:rPr lang="en-US" sz="1100" i="1" dirty="0">
                <a:solidFill>
                  <a:srgbClr val="5A6472"/>
                </a:solidFill>
                <a:latin typeface="Calibri" pitchFamily="34" charset="0"/>
                <a:cs typeface="Amiri" pitchFamily="2" charset="-78"/>
              </a:rPr>
              <a:t>jid-dan</a:t>
            </a:r>
            <a:endParaRPr lang="en-US" sz="1350" dirty="0"/>
          </a:p>
        </p:txBody>
      </p:sp>
      <p:sp>
        <p:nvSpPr>
          <p:cNvPr id="48" name="Shape 4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66928"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1" name="Text 4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خُصُوصًا</a:t>
            </a:r>
            <a:endParaRPr lang="ar-SA" sz="3000" dirty="0"/>
          </a:p>
        </p:txBody>
      </p:sp>
      <p:sp>
        <p:nvSpPr>
          <p:cNvPr id="52" name="Text 4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especially</a:t>
            </a:r>
            <a:endParaRPr lang="en-US" sz="1350" dirty="0"/>
          </a:p>
          <a:p>
            <a:pPr indent="0" marL="0">
              <a:buNone/>
            </a:pPr>
            <a:r>
              <a:rPr lang="en-US" sz="1100" i="1" dirty="0">
                <a:solidFill>
                  <a:srgbClr val="5A6472"/>
                </a:solidFill>
                <a:latin typeface="Calibri" pitchFamily="34" charset="0"/>
                <a:cs typeface="Amiri" pitchFamily="2" charset="-78"/>
              </a:rPr>
              <a:t>khu-ṣū-ṣan</a:t>
            </a:r>
            <a:endParaRPr lang="en-US" sz="135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41</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Likes and Preferences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Questions and reporting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هَلْ تُحِبُّ؟</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 you like? (m)</a:t>
            </a:r>
            <a:endParaRPr lang="en-US" sz="1350" dirty="0"/>
          </a:p>
          <a:p>
            <a:pPr indent="0" marL="0">
              <a:buNone/>
            </a:pPr>
            <a:r>
              <a:rPr lang="en-US" sz="1100" i="1" dirty="0">
                <a:solidFill>
                  <a:srgbClr val="5A6472"/>
                </a:solidFill>
                <a:latin typeface="Calibri" pitchFamily="34" charset="0"/>
                <a:cs typeface="Amiri" pitchFamily="2" charset="-78"/>
              </a:rPr>
              <a:t>hal tu-ḥib-bu?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هَلْ تُحِبِّينَ؟</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 you like? (f)</a:t>
            </a:r>
            <a:endParaRPr lang="en-US" sz="1350" dirty="0"/>
          </a:p>
          <a:p>
            <a:pPr indent="0" marL="0">
              <a:buNone/>
            </a:pPr>
            <a:r>
              <a:rPr lang="en-US" sz="1100" i="1" dirty="0">
                <a:solidFill>
                  <a:srgbClr val="5A6472"/>
                </a:solidFill>
                <a:latin typeface="Calibri" pitchFamily="34" charset="0"/>
                <a:cs typeface="Amiri" pitchFamily="2" charset="-78"/>
              </a:rPr>
              <a:t>hal tu-ḥib-bī-na?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أَيُّهُمَا تُفَضِّلُ؟</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which of the two do you prefer? (m)</a:t>
            </a:r>
            <a:endParaRPr lang="en-US" sz="1350" dirty="0"/>
          </a:p>
          <a:p>
            <a:pPr indent="0" marL="0">
              <a:buNone/>
            </a:pPr>
            <a:r>
              <a:rPr lang="en-US" sz="1100" i="1" dirty="0">
                <a:solidFill>
                  <a:srgbClr val="5A6472"/>
                </a:solidFill>
                <a:latin typeface="Calibri" pitchFamily="34" charset="0"/>
                <a:cs typeface="Amiri" pitchFamily="2" charset="-78"/>
              </a:rPr>
              <a:t>ay-yu-hu-mā tu-faḍ-ḍi-lu?</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أَيَّتُهُمَا تُفَضِّلِينَ؟</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which of the two do you prefer? (f)</a:t>
            </a:r>
            <a:endParaRPr lang="en-US" sz="1350" dirty="0"/>
          </a:p>
          <a:p>
            <a:pPr indent="0" marL="0">
              <a:buNone/>
            </a:pPr>
            <a:r>
              <a:rPr lang="en-US" sz="1100" i="1" dirty="0">
                <a:solidFill>
                  <a:srgbClr val="5A6472"/>
                </a:solidFill>
                <a:latin typeface="Calibri" pitchFamily="34" charset="0"/>
                <a:cs typeface="Amiri" pitchFamily="2" charset="-78"/>
              </a:rPr>
              <a:t>ay-ya-tu-hu-mā tu-faḍ-ḍi-lī-na?</a:t>
            </a:r>
            <a:endParaRPr lang="en-US" sz="1350" dirty="0"/>
          </a:p>
        </p:txBody>
      </p:sp>
      <p:sp>
        <p:nvSpPr>
          <p:cNvPr id="39" name="Shape 3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4389120"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42" name="Shape 3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هُوَ يُفَضِّلُ</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prefers</a:t>
            </a:r>
            <a:endParaRPr lang="en-US" sz="1350" dirty="0"/>
          </a:p>
          <a:p>
            <a:pPr indent="0" marL="0">
              <a:buNone/>
            </a:pPr>
            <a:r>
              <a:rPr lang="en-US" sz="1100" i="1" dirty="0">
                <a:solidFill>
                  <a:srgbClr val="5A6472"/>
                </a:solidFill>
                <a:latin typeface="Calibri" pitchFamily="34" charset="0"/>
                <a:cs typeface="Amiri" pitchFamily="2" charset="-78"/>
              </a:rPr>
              <a:t>hu-wa yu-faḍ-ḍi-lu</a:t>
            </a:r>
            <a:endParaRPr lang="en-US" sz="1350" dirty="0"/>
          </a:p>
        </p:txBody>
      </p:sp>
      <p:sp>
        <p:nvSpPr>
          <p:cNvPr id="46" name="Shape 4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66928"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49" name="Shape 46"/>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1" name="Text 4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هِيَ تُفَضِّلُ</a:t>
            </a:r>
            <a:endParaRPr lang="ar-SA" sz="3000" dirty="0"/>
          </a:p>
        </p:txBody>
      </p:sp>
      <p:sp>
        <p:nvSpPr>
          <p:cNvPr id="52" name="Text 4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she prefers</a:t>
            </a:r>
            <a:endParaRPr lang="en-US" sz="1350" dirty="0"/>
          </a:p>
          <a:p>
            <a:pPr indent="0" marL="0">
              <a:buNone/>
            </a:pPr>
            <a:r>
              <a:rPr lang="en-US" sz="1100" i="1" dirty="0">
                <a:solidFill>
                  <a:srgbClr val="5A6472"/>
                </a:solidFill>
                <a:latin typeface="Calibri" pitchFamily="34" charset="0"/>
                <a:cs typeface="Amiri" pitchFamily="2" charset="-78"/>
              </a:rPr>
              <a:t>hi-ya tu-faḍ-ḍi-lu</a:t>
            </a:r>
            <a:endParaRPr lang="en-US" sz="135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41</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Likes and Preferences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PREFER + MORE THAN (WEBSITE RULES 1 AND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 prefer A more than B</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أُفَضِّلُ + أَكْثَرَ مِنْ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02752" y="1810512"/>
            <a:ext cx="33558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2633472" y="1810512"/>
            <a:ext cx="5522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a:t>
            </a:r>
            <a:endParaRPr lang="en-US" sz="1100" dirty="0"/>
          </a:p>
        </p:txBody>
      </p:sp>
      <p:sp>
        <p:nvSpPr>
          <p:cNvPr id="18" name="Text 15"/>
          <p:cNvSpPr txBox="1"/>
          <p:nvPr/>
        </p:nvSpPr>
        <p:spPr>
          <a:xfrm>
            <a:off x="530352"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Step</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8339328" y="2267712"/>
            <a:ext cx="33192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like dates a lot.</a:t>
            </a:r>
            <a:endParaRPr lang="en-US" sz="1100" dirty="0"/>
          </a:p>
        </p:txBody>
      </p:sp>
      <p:sp>
        <p:nvSpPr>
          <p:cNvPr id="21" name="Text 18"/>
          <p:cNvSpPr txBox="1"/>
          <p:nvPr/>
        </p:nvSpPr>
        <p:spPr>
          <a:xfrm>
            <a:off x="2651760" y="2267712"/>
            <a:ext cx="54864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أُحِبُّ التَّمْرَ </a:t>
            </a:r>
            <a:pPr rtl="1" algn="ctr" indent="0" marL="0">
              <a:buNone/>
            </a:pPr>
            <a:r>
              <a:rPr lang="ar-SA" altLang="en-US" sz="2600" b="1" dirty="0">
                <a:solidFill>
                  <a:srgbClr val="7B3FA0"/>
                </a:solidFill>
                <a:latin typeface="Amiri" pitchFamily="2" charset="-78"/>
                <a:ea typeface="Amiri" pitchFamily="2" charset="-78"/>
                <a:cs typeface="Amiri" pitchFamily="2" charset="-78"/>
              </a:rPr>
              <a:t>كَثِيرًا</a:t>
            </a:r>
            <a:pPr rtl="1" algn="ctr" indent="0" marL="0">
              <a:buNone/>
            </a:pPr>
            <a:r>
              <a:rPr lang="ar-SA" altLang="en-US" sz="2600" b="1" dirty="0">
                <a:solidFill>
                  <a:srgbClr val="1B3B6F"/>
                </a:solidFill>
                <a:latin typeface="Amiri" pitchFamily="2" charset="-78"/>
                <a:cs typeface="Amiri" pitchFamily="2" charset="-78"/>
              </a:rPr>
              <a:t>.</a:t>
            </a:r>
            <a:endParaRPr lang="ar-SA" sz="2600" dirty="0"/>
          </a:p>
        </p:txBody>
      </p:sp>
      <p:sp>
        <p:nvSpPr>
          <p:cNvPr id="22" name="Text 19"/>
          <p:cNvSpPr txBox="1"/>
          <p:nvPr/>
        </p:nvSpPr>
        <p:spPr>
          <a:xfrm>
            <a:off x="566928" y="2267712"/>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like</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339328" y="3004718"/>
            <a:ext cx="33192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prefer juice.</a:t>
            </a:r>
            <a:endParaRPr lang="en-US" sz="1100" dirty="0"/>
          </a:p>
        </p:txBody>
      </p:sp>
      <p:sp>
        <p:nvSpPr>
          <p:cNvPr id="27" name="Text 24"/>
          <p:cNvSpPr txBox="1"/>
          <p:nvPr/>
        </p:nvSpPr>
        <p:spPr>
          <a:xfrm>
            <a:off x="2651760" y="3004718"/>
            <a:ext cx="5486400" cy="682142"/>
          </a:xfrm>
          <a:prstGeom prst="rect">
            <a:avLst/>
          </a:prstGeom>
          <a:noFill/>
          <a:ln/>
        </p:spPr>
        <p:txBody>
          <a:bodyPr wrap="square" lIns="0" tIns="0" rIns="0" bIns="0" rtlCol="0" anchor="ctr"/>
          <a:lstStyle/>
          <a:p>
            <a:pPr rtl="1" algn="ctr" indent="0" marL="0">
              <a:buNone/>
            </a:pPr>
            <a:r>
              <a:rPr lang="ar-SA" altLang="en-US" sz="2600" b="1" dirty="0">
                <a:solidFill>
                  <a:srgbClr val="1D5FBF"/>
                </a:solidFill>
                <a:latin typeface="Amiri" pitchFamily="2" charset="-78"/>
                <a:ea typeface="Amiri" pitchFamily="2" charset="-78"/>
                <a:cs typeface="Amiri" pitchFamily="2" charset="-78"/>
              </a:rPr>
              <a:t>أُفَضِّلُ</a:t>
            </a:r>
            <a:pPr rtl="1" algn="ctr" indent="0" marL="0">
              <a:buNone/>
            </a:pPr>
            <a:r>
              <a:rPr lang="ar-SA" altLang="en-US" sz="2600" b="1" dirty="0">
                <a:solidFill>
                  <a:srgbClr val="1B3B6F"/>
                </a:solidFill>
                <a:latin typeface="Amiri" pitchFamily="2" charset="-78"/>
                <a:ea typeface="Amiri" pitchFamily="2" charset="-78"/>
                <a:cs typeface="Amiri" pitchFamily="2" charset="-78"/>
              </a:rPr>
              <a:t> العَصِيرَ.</a:t>
            </a:r>
            <a:endParaRPr lang="ar-SA" sz="2600" dirty="0"/>
          </a:p>
        </p:txBody>
      </p:sp>
      <p:sp>
        <p:nvSpPr>
          <p:cNvPr id="28" name="Text 25"/>
          <p:cNvSpPr txBox="1"/>
          <p:nvPr/>
        </p:nvSpPr>
        <p:spPr>
          <a:xfrm>
            <a:off x="566928" y="3004718"/>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prefer</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8339328" y="3741725"/>
            <a:ext cx="33192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prefer fish more than meat.</a:t>
            </a:r>
            <a:endParaRPr lang="en-US" sz="1100" dirty="0"/>
          </a:p>
        </p:txBody>
      </p:sp>
      <p:sp>
        <p:nvSpPr>
          <p:cNvPr id="33" name="Text 30"/>
          <p:cNvSpPr txBox="1"/>
          <p:nvPr/>
        </p:nvSpPr>
        <p:spPr>
          <a:xfrm>
            <a:off x="2651760" y="3741725"/>
            <a:ext cx="5486400" cy="682142"/>
          </a:xfrm>
          <a:prstGeom prst="rect">
            <a:avLst/>
          </a:prstGeom>
          <a:noFill/>
          <a:ln/>
        </p:spPr>
        <p:txBody>
          <a:bodyPr wrap="square" lIns="0" tIns="0" rIns="0" bIns="0" rtlCol="0" anchor="ctr"/>
          <a:lstStyle/>
          <a:p>
            <a:pPr rtl="1" algn="ctr" indent="0" marL="0">
              <a:buNone/>
            </a:pPr>
            <a:r>
              <a:rPr lang="ar-SA" altLang="en-US" sz="2600" b="1" dirty="0">
                <a:solidFill>
                  <a:srgbClr val="1D5FBF"/>
                </a:solidFill>
                <a:latin typeface="Amiri" pitchFamily="2" charset="-78"/>
                <a:ea typeface="Amiri" pitchFamily="2" charset="-78"/>
                <a:cs typeface="Amiri" pitchFamily="2" charset="-78"/>
              </a:rPr>
              <a:t>أُفَضِّلُ</a:t>
            </a:r>
            <a:pPr rtl="1" algn="ctr" indent="0" marL="0">
              <a:buNone/>
            </a:pPr>
            <a:r>
              <a:rPr lang="ar-SA" altLang="en-US" sz="2600" b="1" dirty="0">
                <a:solidFill>
                  <a:srgbClr val="1B3B6F"/>
                </a:solidFill>
                <a:latin typeface="Amiri" pitchFamily="2" charset="-78"/>
                <a:ea typeface="Amiri" pitchFamily="2" charset="-78"/>
                <a:cs typeface="Amiri" pitchFamily="2" charset="-78"/>
              </a:rPr>
              <a:t> السَّمَكَ </a:t>
            </a:r>
            <a:pPr rtl="1" algn="ctr" indent="0" marL="0">
              <a:buNone/>
            </a:pPr>
            <a:r>
              <a:rPr lang="ar-SA" altLang="en-US" sz="2600" b="1" dirty="0">
                <a:solidFill>
                  <a:srgbClr val="0E7C86"/>
                </a:solidFill>
                <a:latin typeface="Amiri" pitchFamily="2" charset="-78"/>
                <a:ea typeface="Amiri" pitchFamily="2" charset="-78"/>
                <a:cs typeface="Amiri" pitchFamily="2" charset="-78"/>
              </a:rPr>
              <a:t>أَكْثَرَ مِنَ</a:t>
            </a:r>
            <a:pPr rtl="1" algn="ctr" indent="0" marL="0">
              <a:buNone/>
            </a:pPr>
            <a:r>
              <a:rPr lang="ar-SA" altLang="en-US" sz="2600" b="1" dirty="0">
                <a:solidFill>
                  <a:srgbClr val="1B3B6F"/>
                </a:solidFill>
                <a:latin typeface="Amiri" pitchFamily="2" charset="-78"/>
                <a:ea typeface="Amiri" pitchFamily="2" charset="-78"/>
                <a:cs typeface="Amiri" pitchFamily="2" charset="-78"/>
              </a:rPr>
              <a:t> اللَّحْمِ.</a:t>
            </a:r>
            <a:endParaRPr lang="ar-SA" sz="2600" dirty="0"/>
          </a:p>
        </p:txBody>
      </p:sp>
      <p:sp>
        <p:nvSpPr>
          <p:cNvPr id="34" name="Text 31"/>
          <p:cNvSpPr txBox="1"/>
          <p:nvPr/>
        </p:nvSpPr>
        <p:spPr>
          <a:xfrm>
            <a:off x="566928" y="3741725"/>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compare</a:t>
            </a:r>
            <a:endParaRPr lang="en-US" sz="11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8339328" y="4478731"/>
            <a:ext cx="33192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prefer tea more than coffee.</a:t>
            </a:r>
            <a:endParaRPr lang="en-US" sz="1100" dirty="0"/>
          </a:p>
        </p:txBody>
      </p:sp>
      <p:sp>
        <p:nvSpPr>
          <p:cNvPr id="39" name="Text 36"/>
          <p:cNvSpPr txBox="1"/>
          <p:nvPr/>
        </p:nvSpPr>
        <p:spPr>
          <a:xfrm>
            <a:off x="2651760" y="4478731"/>
            <a:ext cx="5486400" cy="682142"/>
          </a:xfrm>
          <a:prstGeom prst="rect">
            <a:avLst/>
          </a:prstGeom>
          <a:noFill/>
          <a:ln/>
        </p:spPr>
        <p:txBody>
          <a:bodyPr wrap="square" lIns="0" tIns="0" rIns="0" bIns="0" rtlCol="0" anchor="ctr"/>
          <a:lstStyle/>
          <a:p>
            <a:pPr rtl="1" algn="ctr" indent="0" marL="0">
              <a:buNone/>
            </a:pPr>
            <a:r>
              <a:rPr lang="ar-SA" altLang="en-US" sz="2600" b="1" dirty="0">
                <a:solidFill>
                  <a:srgbClr val="1D5FBF"/>
                </a:solidFill>
                <a:latin typeface="Amiri" pitchFamily="2" charset="-78"/>
                <a:ea typeface="Amiri" pitchFamily="2" charset="-78"/>
                <a:cs typeface="Amiri" pitchFamily="2" charset="-78"/>
              </a:rPr>
              <a:t>أُفَضِّلُ</a:t>
            </a:r>
            <a:pPr rtl="1" algn="ctr" indent="0" marL="0">
              <a:buNone/>
            </a:pPr>
            <a:r>
              <a:rPr lang="ar-SA" altLang="en-US" sz="2600" b="1" dirty="0">
                <a:solidFill>
                  <a:srgbClr val="1B3B6F"/>
                </a:solidFill>
                <a:latin typeface="Amiri" pitchFamily="2" charset="-78"/>
                <a:ea typeface="Amiri" pitchFamily="2" charset="-78"/>
                <a:cs typeface="Amiri" pitchFamily="2" charset="-78"/>
              </a:rPr>
              <a:t> الشَّايَ </a:t>
            </a:r>
            <a:pPr rtl="1" algn="ctr" indent="0" marL="0">
              <a:buNone/>
            </a:pPr>
            <a:r>
              <a:rPr lang="ar-SA" altLang="en-US" sz="2600" b="1" dirty="0">
                <a:solidFill>
                  <a:srgbClr val="0E7C86"/>
                </a:solidFill>
                <a:latin typeface="Amiri" pitchFamily="2" charset="-78"/>
                <a:ea typeface="Amiri" pitchFamily="2" charset="-78"/>
                <a:cs typeface="Amiri" pitchFamily="2" charset="-78"/>
              </a:rPr>
              <a:t>أَكْثَرَ مِنَ</a:t>
            </a:r>
            <a:pPr rtl="1" algn="ctr" indent="0" marL="0">
              <a:buNone/>
            </a:pPr>
            <a:r>
              <a:rPr lang="ar-SA" altLang="en-US" sz="2600" b="1" dirty="0">
                <a:solidFill>
                  <a:srgbClr val="1B3B6F"/>
                </a:solidFill>
                <a:latin typeface="Amiri" pitchFamily="2" charset="-78"/>
                <a:ea typeface="Amiri" pitchFamily="2" charset="-78"/>
                <a:cs typeface="Amiri" pitchFamily="2" charset="-78"/>
              </a:rPr>
              <a:t> القَهْوَةِ.</a:t>
            </a:r>
            <a:endParaRPr lang="ar-SA" sz="2600" dirty="0"/>
          </a:p>
        </p:txBody>
      </p:sp>
      <p:sp>
        <p:nvSpPr>
          <p:cNvPr id="40" name="Text 37"/>
          <p:cNvSpPr txBox="1"/>
          <p:nvPr/>
        </p:nvSpPr>
        <p:spPr>
          <a:xfrm>
            <a:off x="566928" y="4478731"/>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compare</a:t>
            </a:r>
            <a:endParaRPr lang="en-US" sz="1100" dirty="0"/>
          </a:p>
        </p:txBody>
      </p:sp>
      <p:sp>
        <p:nvSpPr>
          <p:cNvPr id="41" name="Shape 3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2" name="Text 39"/>
          <p:cNvSpPr txBox="1"/>
          <p:nvPr/>
        </p:nvSpPr>
        <p:spPr>
          <a:xfrm>
            <a:off x="8339328" y="5215738"/>
            <a:ext cx="33192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eat meat less than chicken.</a:t>
            </a:r>
            <a:endParaRPr lang="en-US" sz="1100" dirty="0"/>
          </a:p>
        </p:txBody>
      </p:sp>
      <p:sp>
        <p:nvSpPr>
          <p:cNvPr id="43" name="Text 40"/>
          <p:cNvSpPr txBox="1"/>
          <p:nvPr/>
        </p:nvSpPr>
        <p:spPr>
          <a:xfrm>
            <a:off x="2651760" y="5215738"/>
            <a:ext cx="54864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آكُلُ اللَّحْمَ </a:t>
            </a:r>
            <a:pPr rtl="1" algn="ctr" indent="0" marL="0">
              <a:buNone/>
            </a:pPr>
            <a:r>
              <a:rPr lang="ar-SA" altLang="en-US" sz="2600" b="1" dirty="0">
                <a:solidFill>
                  <a:srgbClr val="0E7C86"/>
                </a:solidFill>
                <a:latin typeface="Amiri" pitchFamily="2" charset="-78"/>
                <a:ea typeface="Amiri" pitchFamily="2" charset="-78"/>
                <a:cs typeface="Amiri" pitchFamily="2" charset="-78"/>
              </a:rPr>
              <a:t>أَقَلَّ مِنَ</a:t>
            </a:r>
            <a:pPr rtl="1" algn="ctr" indent="0" marL="0">
              <a:buNone/>
            </a:pPr>
            <a:r>
              <a:rPr lang="ar-SA" altLang="en-US" sz="2600" b="1" dirty="0">
                <a:solidFill>
                  <a:srgbClr val="1B3B6F"/>
                </a:solidFill>
                <a:latin typeface="Amiri" pitchFamily="2" charset="-78"/>
                <a:ea typeface="Amiri" pitchFamily="2" charset="-78"/>
                <a:cs typeface="Amiri" pitchFamily="2" charset="-78"/>
              </a:rPr>
              <a:t> الدَّجَاجِ.</a:t>
            </a:r>
            <a:endParaRPr lang="ar-SA" sz="2600" dirty="0"/>
          </a:p>
        </p:txBody>
      </p:sp>
      <p:sp>
        <p:nvSpPr>
          <p:cNvPr id="44" name="Text 41"/>
          <p:cNvSpPr txBox="1"/>
          <p:nvPr/>
        </p:nvSpPr>
        <p:spPr>
          <a:xfrm>
            <a:off x="566928" y="5215738"/>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 less</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Preferred item FIRST, then the whole chunk akthara min + the second item (ending in -i).</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Likes and Preferences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2 · REPORT AND ASK (WEBSITE RULES 3 AND 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He prefers, she prefers — which one?</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يُفَضِّلُ · تُفَضِّلُ · أَمْ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41148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4114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HE</a:t>
            </a:r>
            <a:endParaRPr lang="en-US" sz="850" dirty="0"/>
          </a:p>
        </p:txBody>
      </p:sp>
      <p:sp>
        <p:nvSpPr>
          <p:cNvPr id="18" name="Text 15"/>
          <p:cNvSpPr txBox="1"/>
          <p:nvPr/>
        </p:nvSpPr>
        <p:spPr>
          <a:xfrm>
            <a:off x="8689848" y="1874520"/>
            <a:ext cx="29047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هُوَ يُفَضِّلُ</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هُوَ يُفَضِّلُ المَاءَ.</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He prefers water.</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yu- for he.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48006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4800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SHE</a:t>
            </a:r>
            <a:endParaRPr lang="en-US" sz="850" dirty="0"/>
          </a:p>
        </p:txBody>
      </p:sp>
      <p:sp>
        <p:nvSpPr>
          <p:cNvPr id="26" name="Text 23"/>
          <p:cNvSpPr txBox="1"/>
          <p:nvPr/>
        </p:nvSpPr>
        <p:spPr>
          <a:xfrm>
            <a:off x="4939284" y="1874520"/>
            <a:ext cx="28361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هِيَ تُفَضِّلُ</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هِيَ تُفَضِّلُ العَصِيرَ.</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She prefers juice.</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tu- for she.</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30302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WHICH? · A OR B</a:t>
            </a:r>
            <a:endParaRPr lang="en-US" sz="850" dirty="0"/>
          </a:p>
        </p:txBody>
      </p:sp>
      <p:sp>
        <p:nvSpPr>
          <p:cNvPr id="34" name="Text 31"/>
          <p:cNvSpPr txBox="1"/>
          <p:nvPr/>
        </p:nvSpPr>
        <p:spPr>
          <a:xfrm>
            <a:off x="1943100"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أَيُّهُمَا … أَمْ …؟</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450" b="1" dirty="0">
                <a:solidFill>
                  <a:srgbClr val="1B3B6F"/>
                </a:solidFill>
                <a:latin typeface="Amiri" pitchFamily="2" charset="-78"/>
                <a:ea typeface="Amiri" pitchFamily="2" charset="-78"/>
                <a:cs typeface="Amiri" pitchFamily="2" charset="-78"/>
              </a:rPr>
              <a:t>أَيُّهُمَا تُفَضِّلُ: الأَرُزَّ أَمِ الخُبْزَ؟</a:t>
            </a:r>
            <a:endParaRPr lang="ar-SA" sz="24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Which do you prefer: rice or bread?</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am = or (in questions).</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common error: with hiya the verb starts with tu-.</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300" b="1" dirty="0">
                <a:solidFill>
                  <a:srgbClr val="1B3B6F"/>
                </a:solidFill>
                <a:latin typeface="Amiri" pitchFamily="2" charset="-78"/>
                <a:ea typeface="Amiri" pitchFamily="2" charset="-78"/>
                <a:cs typeface="Amiri" pitchFamily="2" charset="-78"/>
              </a:rPr>
              <a:t>هِيَ تُفَضِّلُ الشَّايَ.</a:t>
            </a:r>
            <a:endParaRPr lang="ar-SA" sz="23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300" b="1" dirty="0">
                <a:solidFill>
                  <a:srgbClr val="B83227"/>
                </a:solidFill>
                <a:latin typeface="Amiri" pitchFamily="2" charset="-78"/>
                <a:ea typeface="Amiri" pitchFamily="2" charset="-78"/>
                <a:cs typeface="Amiri" pitchFamily="2" charset="-78"/>
              </a:rPr>
              <a:t>هِيَ يُفَضِّلُ الشَّايَ.</a:t>
            </a:r>
            <a:endParaRPr lang="ar-SA" sz="23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41</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Likes and Preferences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website grammar rules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التَّفْضِيلُ وَالمُقَارَنَةُ بِـ أَكْثَرَ مِنْ</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State a preference</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أُفَضِّلُ + الشَّيْءَ</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أُفَضِّلُ العَصِيرَ.   ·   أُفَضِّلُ الفَاكِهَةَ.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Compare two items</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أُفَضِّلُ أَ + أَكْثَرَ مِنْ + ب</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أُفَضِّلُ الشَّايَ أَكْثَرَ مِنَ القَهْوَةِ.   ·   أُفَضِّلُ السَّمَكَ أَكْثَرَ مِنَ اللَّحْمِ.</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Change the verb for the person</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هُوَ يُفَضِّلُ · هِيَ تُفَضِّلُ</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هُوَ يُفَضِّلُ المَاءَ.   ·   هِيَ تُفَضِّلُ العَصِيرَ.</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Ask between alternatives</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أَيُّهُمَا تُفَضِّلُ: أَ... أَمْ ب؟</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أَيُّهُمَا تُفَضِّلُ: الأَرُزَّ أَمِ الخُبْزَ؟   ·   هَلْ تُفَضِّلِينَ الشَّايَ أَمِ القَهْوَةَ؟</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41</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Likes and Preferences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prefer water.”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أَفْضَلُ المَاءَ.</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يُفَضِّلُ المَاءَ.</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أُفَضِّلُ المَاءَ.</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2" name="Text 29"/>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أُفَضِّلُ السَّمَكَ ___ اللَّحْمِ.</a:t>
            </a:r>
            <a:endParaRPr lang="ar-SA" sz="150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أَكْثَرَ مِنَ</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question offers two alternatives?</a:t>
            </a:r>
            <a:endParaRPr lang="en-US" sz="125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تُحِبُّ الشَّايَ؟</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أَتُفَضِّلُ الشَّايَ أَمِ القَهْوَةَ؟</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مَتَى تَشْرَبُ الشَّايَ؟</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prefers juice.”</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تُفَضِّلُ العَصِيرَ.</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يُفَضِّلُ العَصِيرَ.</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أُفَضِّلُ العَصِيرَ.</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41</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Likes and Preferences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prefer water.”</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أَفْضَلُ المَاءَ.</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يُفَضِّلُ المَاءَ.</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أُفَضِّلُ المَاءَ.</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the verb </a:t>
            </a:r>
            <a:pPr algn="l" indent="0" marL="0">
              <a:buNone/>
            </a:pPr>
            <a:r>
              <a:rPr lang="ar-SA" altLang="en-US" sz="1350" dirty="0">
                <a:solidFill>
                  <a:srgbClr val="8A6D1E"/>
                </a:solidFill>
                <a:latin typeface="Amiri" pitchFamily="2" charset="-78"/>
                <a:ea typeface="Amiri" pitchFamily="2" charset="-78"/>
                <a:cs typeface="Amiri" pitchFamily="2" charset="-78"/>
              </a:rPr>
              <a:t>أُفَضِّلُ</a:t>
            </a:r>
            <a:pPr algn="l" indent="0" marL="0">
              <a:buNone/>
            </a:pPr>
            <a:r>
              <a:rPr lang="en-US" sz="1050" i="1" dirty="0">
                <a:solidFill>
                  <a:srgbClr val="8A6D1E"/>
                </a:solidFill>
                <a:latin typeface="Calibri" pitchFamily="34" charset="0"/>
                <a:cs typeface="Amiri" pitchFamily="2" charset="-78"/>
              </a:rPr>
              <a:t> for “I prefer”.</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أُفَضِّلُ السَّمَكَ ___ اللَّحْمِ.</a:t>
            </a:r>
            <a:endParaRPr lang="ar-SA" sz="150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أَكْثَرَ مِنَ</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أَكْثَرَ مِنْ</a:t>
            </a:r>
            <a:pPr algn="l" indent="0" marL="0">
              <a:buNone/>
            </a:pPr>
            <a:r>
              <a:rPr lang="en-US" sz="1050" i="1" dirty="0">
                <a:solidFill>
                  <a:srgbClr val="8A6D1E"/>
                </a:solidFill>
                <a:latin typeface="Calibri" pitchFamily="34" charset="0"/>
                <a:cs typeface="Amiri" pitchFamily="2" charset="-78"/>
              </a:rPr>
              <a:t> introduces the less-preferred comparison item.</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question offers two alternatives?</a:t>
            </a:r>
            <a:endParaRPr lang="en-US" sz="125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هَلْ تُحِبُّ الشَّايَ؟</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أَتُفَضِّلُ الشَّايَ أَمِ القَهْوَةَ؟</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مَتَى تَشْرَبُ الشَّايَ؟</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أَمْ</a:t>
            </a:r>
            <a:pPr algn="l" indent="0" marL="0">
              <a:buNone/>
            </a:pPr>
            <a:r>
              <a:rPr lang="en-US" sz="1050" i="1" dirty="0">
                <a:solidFill>
                  <a:srgbClr val="8A6D1E"/>
                </a:solidFill>
                <a:latin typeface="Calibri" pitchFamily="34" charset="0"/>
                <a:cs typeface="Amiri" pitchFamily="2" charset="-78"/>
              </a:rPr>
              <a:t> links the two alternatives.</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prefers juice.”</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هِيَ تُفَضِّلُ العَصِيرَ.</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هِيَ يُفَضِّلُ العَصِيرَ.</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هِيَ أُفَضِّلُ العَصِيرَ.</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third-person verb begins with </a:t>
            </a:r>
            <a:pPr algn="l" indent="0" marL="0">
              <a:buNone/>
            </a:pPr>
            <a:r>
              <a:rPr lang="ar-SA" altLang="en-US" sz="1350" dirty="0">
                <a:solidFill>
                  <a:srgbClr val="8A6D1E"/>
                </a:solidFill>
                <a:latin typeface="Amiri" pitchFamily="2" charset="-78"/>
                <a:ea typeface="Amiri" pitchFamily="2" charset="-78"/>
                <a:cs typeface="Amiri" pitchFamily="2" charset="-78"/>
              </a:rPr>
              <a:t>تَـ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41</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Likes and Preferences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Watch me build a preference report</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1 · Like + intensity</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أُحِبُّ الفَاكِهَةَ </a:t>
            </a:r>
            <a:pPr rtl="1" algn="ctr" indent="0" marL="0">
              <a:lnSpc>
                <a:spcPct val="120000"/>
              </a:lnSpc>
              <a:buNone/>
            </a:pPr>
            <a:r>
              <a:rPr lang="ar-SA" altLang="en-US" sz="1750" b="1" dirty="0">
                <a:solidFill>
                  <a:srgbClr val="7B3FA0"/>
                </a:solidFill>
                <a:latin typeface="Amiri" pitchFamily="2" charset="-78"/>
                <a:ea typeface="Amiri" pitchFamily="2" charset="-78"/>
                <a:cs typeface="Amiri" pitchFamily="2" charset="-78"/>
              </a:rPr>
              <a:t>كَثِيرًا</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a:t>
            </a:r>
            <a:pPr rtl="1" algn="ctr" indent="0" marL="0">
              <a:lnSpc>
                <a:spcPct val="120000"/>
              </a:lnSpc>
              <a:buNone/>
            </a:pPr>
            <a:r>
              <a:rPr lang="ar-SA" altLang="en-US" sz="1750" b="1" dirty="0">
                <a:solidFill>
                  <a:srgbClr val="7B3FA0"/>
                </a:solidFill>
                <a:latin typeface="Amiri" pitchFamily="2" charset="-78"/>
                <a:ea typeface="Amiri" pitchFamily="2" charset="-78"/>
                <a:cs typeface="Amiri" pitchFamily="2" charset="-78"/>
              </a:rPr>
              <a:t>خُصُوصًا</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التُّفَّاحَ.</a:t>
            </a:r>
            <a:endParaRPr lang="ar-SA" sz="17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lot, especially …</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2 · Dislike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لَا أُحِبُّ القَهْوَةَ.</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Lā before the verb.</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3 · Compare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1D5FBF"/>
                </a:solidFill>
                <a:latin typeface="Amiri" pitchFamily="2" charset="-78"/>
                <a:ea typeface="Amiri" pitchFamily="2" charset="-78"/>
                <a:cs typeface="Amiri" pitchFamily="2" charset="-78"/>
              </a:rPr>
              <a:t>أُفَضِّلُ</a:t>
            </a:r>
            <a:pPr rtl="1" algn="ctr" indent="0" marL="0">
              <a:lnSpc>
                <a:spcPct val="120000"/>
              </a:lnSpc>
              <a:buNone/>
            </a:pPr>
            <a:r>
              <a:rPr lang="ar-SA" altLang="en-US" sz="1900" b="1" dirty="0">
                <a:solidFill>
                  <a:srgbClr val="1B3B6F"/>
                </a:solidFill>
                <a:latin typeface="Amiri" pitchFamily="2" charset="-78"/>
                <a:ea typeface="Amiri" pitchFamily="2" charset="-78"/>
                <a:cs typeface="Amiri" pitchFamily="2" charset="-78"/>
              </a:rPr>
              <a:t> السَّمَكَ </a:t>
            </a:r>
            <a:pPr rtl="1" algn="ctr" indent="0" marL="0">
              <a:lnSpc>
                <a:spcPct val="120000"/>
              </a:lnSpc>
              <a:buNone/>
            </a:pPr>
            <a:r>
              <a:rPr lang="ar-SA" altLang="en-US" sz="1900" b="1" dirty="0">
                <a:solidFill>
                  <a:srgbClr val="0E7C86"/>
                </a:solidFill>
                <a:latin typeface="Amiri" pitchFamily="2" charset="-78"/>
                <a:ea typeface="Amiri" pitchFamily="2" charset="-78"/>
                <a:cs typeface="Amiri" pitchFamily="2" charset="-78"/>
              </a:rPr>
              <a:t>أَكْثَرَ مِنَ</a:t>
            </a:r>
            <a:pPr rtl="1" algn="ctr" indent="0" marL="0">
              <a:lnSpc>
                <a:spcPct val="120000"/>
              </a:lnSpc>
              <a:buNone/>
            </a:pPr>
            <a:r>
              <a:rPr lang="ar-SA" altLang="en-US" sz="1900" b="1" dirty="0">
                <a:solidFill>
                  <a:srgbClr val="1B3B6F"/>
                </a:solidFill>
                <a:latin typeface="Amiri" pitchFamily="2" charset="-78"/>
                <a:ea typeface="Amiri" pitchFamily="2" charset="-78"/>
                <a:cs typeface="Amiri" pitchFamily="2" charset="-78"/>
              </a:rPr>
              <a:t> اللَّحْمِ.</a:t>
            </a:r>
            <a:endParaRPr lang="ar-SA" sz="19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Preferred item first.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4 · Report her</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صَدِيقَتِي </a:t>
            </a:r>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تُفَضِّلُ</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العَصِيرَ </a:t>
            </a:r>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أَكْثَرَ مِنَ</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الحَلِيبِ.</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She → tu-.</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7B3FA0"/>
          </a:solidFill>
          <a:ln w="12700">
            <a:solidFill>
              <a:srgbClr val="7B3FA0"/>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HOW MUCH</a:t>
            </a:r>
            <a:endParaRPr lang="en-US" sz="800" dirty="0"/>
          </a:p>
        </p:txBody>
      </p:sp>
      <p:sp>
        <p:nvSpPr>
          <p:cNvPr id="47" name="Shape 43"/>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PREFER</a:t>
            </a:r>
            <a:endParaRPr lang="en-US" sz="800" dirty="0"/>
          </a:p>
        </p:txBody>
      </p:sp>
      <p:sp>
        <p:nvSpPr>
          <p:cNvPr id="49" name="Shape 45"/>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MORE THAN</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أُحِبُّ الفَاكِهَةَ </a:t>
            </a:r>
            <a:pPr rtl="1" algn="r" indent="0" marL="0">
              <a:lnSpc>
                <a:spcPct val="120000"/>
              </a:lnSpc>
              <a:buNone/>
            </a:pPr>
            <a:r>
              <a:rPr lang="ar-SA" altLang="en-US" sz="1500" b="1" dirty="0">
                <a:solidFill>
                  <a:srgbClr val="7B3FA0"/>
                </a:solidFill>
                <a:latin typeface="Amiri" pitchFamily="2" charset="-78"/>
                <a:ea typeface="Amiri" pitchFamily="2" charset="-78"/>
                <a:cs typeface="Amiri" pitchFamily="2" charset="-78"/>
              </a:rPr>
              <a:t>كَثِيرًا</a:t>
            </a:r>
            <a:pPr rtl="1" algn="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 </a:t>
            </a:r>
            <a:pPr rtl="1" algn="r" indent="0" marL="0">
              <a:lnSpc>
                <a:spcPct val="120000"/>
              </a:lnSpc>
              <a:buNone/>
            </a:pPr>
            <a:r>
              <a:rPr lang="ar-SA" altLang="en-US" sz="1500" b="1" dirty="0">
                <a:solidFill>
                  <a:srgbClr val="7B3FA0"/>
                </a:solidFill>
                <a:latin typeface="Amiri" pitchFamily="2" charset="-78"/>
                <a:ea typeface="Amiri" pitchFamily="2" charset="-78"/>
                <a:cs typeface="Amiri" pitchFamily="2" charset="-78"/>
              </a:rPr>
              <a:t>خُصُوصًا</a:t>
            </a:r>
            <a:pPr rtl="1" algn="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 التُّفَّاحَ. لَا أُحِبُّ القَهْوَةَ. </a:t>
            </a:r>
            <a:pPr rtl="1" algn="r" indent="0" marL="0">
              <a:lnSpc>
                <a:spcPct val="120000"/>
              </a:lnSpc>
              <a:buNone/>
            </a:pPr>
            <a:r>
              <a:rPr lang="ar-SA" altLang="en-US" sz="1500" b="1" dirty="0">
                <a:solidFill>
                  <a:srgbClr val="1D5FBF"/>
                </a:solidFill>
                <a:latin typeface="Amiri" pitchFamily="2" charset="-78"/>
                <a:ea typeface="Amiri" pitchFamily="2" charset="-78"/>
                <a:cs typeface="Amiri" pitchFamily="2" charset="-78"/>
              </a:rPr>
              <a:t>أُفَضِّلُ</a:t>
            </a:r>
            <a:pPr rtl="1" algn="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 السَّمَكَ </a:t>
            </a:r>
            <a:pPr rtl="1" algn="r" indent="0" marL="0">
              <a:lnSpc>
                <a:spcPct val="120000"/>
              </a:lnSpc>
              <a:buNone/>
            </a:pPr>
            <a:r>
              <a:rPr lang="ar-SA" altLang="en-US" sz="1500" b="1" dirty="0">
                <a:solidFill>
                  <a:srgbClr val="0E7C86"/>
                </a:solidFill>
                <a:latin typeface="Amiri" pitchFamily="2" charset="-78"/>
                <a:ea typeface="Amiri" pitchFamily="2" charset="-78"/>
                <a:cs typeface="Amiri" pitchFamily="2" charset="-78"/>
              </a:rPr>
              <a:t>أَكْثَرَ مِنَ</a:t>
            </a:r>
            <a:pPr rtl="1" algn="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 اللَّحْمِ. صَدِيقَتِي تُحِبُّ الدَّجَاجَ، وَلَا تُحِبُّ السَّلَطَةَ. هِيَ </a:t>
            </a:r>
            <a:pPr rtl="1" algn="r" indent="0" marL="0">
              <a:lnSpc>
                <a:spcPct val="120000"/>
              </a:lnSpc>
              <a:buNone/>
            </a:pPr>
            <a:r>
              <a:rPr lang="ar-SA" altLang="en-US" sz="1500" b="1" dirty="0">
                <a:solidFill>
                  <a:srgbClr val="1D5FBF"/>
                </a:solidFill>
                <a:latin typeface="Amiri" pitchFamily="2" charset="-78"/>
                <a:ea typeface="Amiri" pitchFamily="2" charset="-78"/>
                <a:cs typeface="Amiri" pitchFamily="2" charset="-78"/>
              </a:rPr>
              <a:t>تُفَضِّلُ</a:t>
            </a:r>
            <a:pPr rtl="1" algn="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 العَصِيرَ </a:t>
            </a:r>
            <a:pPr rtl="1" algn="r" indent="0" marL="0">
              <a:lnSpc>
                <a:spcPct val="120000"/>
              </a:lnSpc>
              <a:buNone/>
            </a:pPr>
            <a:r>
              <a:rPr lang="ar-SA" altLang="en-US" sz="1500" b="1" dirty="0">
                <a:solidFill>
                  <a:srgbClr val="0E7C86"/>
                </a:solidFill>
                <a:latin typeface="Amiri" pitchFamily="2" charset="-78"/>
                <a:ea typeface="Amiri" pitchFamily="2" charset="-78"/>
                <a:cs typeface="Amiri" pitchFamily="2" charset="-78"/>
              </a:rPr>
              <a:t>أَكْثَرَ مِنَ</a:t>
            </a:r>
            <a:pPr rtl="1" algn="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 الحَلِيبِ.</a:t>
            </a:r>
            <a:endParaRPr lang="ar-SA" sz="15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 like fruit a lot, especially apples. I don’t like coffee. I prefer fish more than meat. My friend likes chicken and doesn’t like salad. She prefers juice more than milk.</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41</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Likes and Preferences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أُفَضِّلُ السَّمَكَ أَكْثَرَ مِنَ اللَّحْمِ.</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prefer fish more than meat.</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Use أَكْثَرَ مِنْ before the second item.</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أُحِبُّ التَّمْرَ كَثِيرًا.</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like dates a lot.</a:t>
            </a:r>
            <a:endParaRPr lang="en-US" sz="1250" dirty="0"/>
          </a:p>
          <a:p>
            <a:pPr indent="0" marL="0">
              <a:buNone/>
            </a:pPr>
            <a:r>
              <a:rPr lang="en-US" sz="1050" i="1" dirty="0">
                <a:solidFill>
                  <a:srgbClr val="8A6D1E"/>
                </a:solidFill>
                <a:latin typeface="Calibri" pitchFamily="34" charset="0"/>
                <a:cs typeface="Amiri" pitchFamily="2" charset="-78"/>
              </a:rPr>
              <a:t>Intensity words usually follow the opinion/object.</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أَيَّتُهُمَا تُفَضِّلِينَ: الشَّايَ أَمِ القَهْوَةَ؟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Which do you prefer: tea or coffee? (to a female)</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أَمْ links alternatives in a question.</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هِيَ تُفَضِّلُ العَصِيرَ، وَلَا تُحِبُّ الحَلِيبَ.</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She prefers juice and does not like milk.</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Report another person using يـ / تـ verb forms.</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41</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Likes and Preferences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7" b="1" spc="150" kern="0" dirty="0">
                <a:solidFill>
                  <a:srgbClr val="2F6FB0"/>
                </a:solidFill>
                <a:latin typeface="Calibri" pitchFamily="34" charset="0"/>
                <a:cs typeface="Amiri" pitchFamily="2" charset="-78"/>
              </a:rPr>
              <a:t>WE DO · PICTURE MATCH · WEBSITE GAME “VISUAL GAME — LIKES, DISLIKES AND PREFERENCES”</a:t>
            </a:r>
            <a:endParaRPr lang="en-US" sz="807"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Like, dislike, prefer: match the picture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أُحِبُّ أَمْ لَا أُحِبُّ؟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like</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don’t like</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prefer A &gt; B</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لَا أُحِبُّ الحَلِيبَ.</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أُفَضِّلُ القَهْوَةَ عَلَى المَشْرُوبِ الغَازِيِّ.</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أُحِبُّ التُّفَّاحَ.</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41</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Likes and Preferences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أُحِبُّ أَمْ لَا أُحِبُّ؟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like</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أُحِبُّ التُّفَّاحَ.</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like apples.</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don’t like</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لَا أُحِبُّ الحَلِيبَ.</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don’t like milk.</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prefer A &gt; B</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أُفَضِّلُ القَهْوَةَ عَلَى المَشْرُوبِ الغَازِيِّ.</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prefer coffee to fizzy drinks.</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41</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Likes and Preferences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Like, dislike or prefer?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أُحِبُّ الفَرَاوِلَةَ كَثِيرًا.</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أُحِبُّ الحَسَاءَ.</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أُفَضِّلُ المَاءَ أَكْثَرَ مِنَ العَصِيرِ.</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أَعْشَقُ الشُّوكُولَاتَ.</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أُحِبُّ الأَطْعِمَةَ المَالِحَةَ.</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طَعَامِي المُفَضَّلُ هُوَ السَّمَكُ.</a:t>
            </a:r>
            <a:endParaRPr lang="ar-SA" sz="1800" dirty="0"/>
          </a:p>
        </p:txBody>
      </p:sp>
      <p:sp>
        <p:nvSpPr>
          <p:cNvPr id="27" name="Shape 24"/>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28" name="Shape 25"/>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29" name="Text 26"/>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1 · أُحِبُّ · like</a:t>
            </a:r>
            <a:endParaRPr lang="en-US" sz="950" dirty="0"/>
          </a:p>
        </p:txBody>
      </p:sp>
      <p:sp>
        <p:nvSpPr>
          <p:cNvPr id="30" name="Shape 27"/>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1" name="Shape 28"/>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2" name="Text 29"/>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لَا أُحِبُّ · dislike</a:t>
            </a:r>
            <a:endParaRPr lang="en-US" sz="950" dirty="0"/>
          </a:p>
        </p:txBody>
      </p:sp>
      <p:sp>
        <p:nvSpPr>
          <p:cNvPr id="33" name="Shape 30"/>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34" name="Shape 31"/>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3 · أُفَضِّلُ · prefer</a:t>
            </a:r>
            <a:endParaRPr lang="en-US" sz="9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41</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Likes and Preferences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1 · أُحِبُّ · like</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أُحِبُّ الفَرَاوِلَةَ كَثِيرًا.</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أَعْشَقُ الشُّوكُولَاتَ.</a:t>
            </a:r>
            <a:endParaRPr lang="ar-SA" sz="1800" dirty="0"/>
          </a:p>
        </p:txBody>
      </p:sp>
      <p:sp>
        <p:nvSpPr>
          <p:cNvPr id="22" name="Shape 19"/>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3" name="Shape 20"/>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4" name="Text 21"/>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لَا أُحِبُّ · dislike</a:t>
            </a:r>
            <a:endParaRPr lang="en-US" sz="950" dirty="0"/>
          </a:p>
        </p:txBody>
      </p:sp>
      <p:sp>
        <p:nvSpPr>
          <p:cNvPr id="25" name="Shape 22"/>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6" name="Text 23"/>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أُحِبُّ الحَسَاءَ.</a:t>
            </a:r>
            <a:endParaRPr lang="ar-SA" sz="1800" dirty="0"/>
          </a:p>
        </p:txBody>
      </p:sp>
      <p:sp>
        <p:nvSpPr>
          <p:cNvPr id="27" name="Shape 24"/>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أُحِبُّ الأَطْعِمَةَ المَالِحَةَ.</a:t>
            </a:r>
            <a:endParaRPr lang="ar-SA" sz="1800" dirty="0"/>
          </a:p>
        </p:txBody>
      </p:sp>
      <p:sp>
        <p:nvSpPr>
          <p:cNvPr id="29" name="Shape 26"/>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0" name="Shape 27"/>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1" name="Text 28"/>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3 · أُفَضِّلُ · prefer</a:t>
            </a:r>
            <a:endParaRPr lang="en-US" sz="950" dirty="0"/>
          </a:p>
        </p:txBody>
      </p:sp>
      <p:sp>
        <p:nvSpPr>
          <p:cNvPr id="32" name="Shape 29"/>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3" name="Text 30"/>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أُفَضِّلُ المَاءَ أَكْثَرَ مِنَ العَصِيرِ.</a:t>
            </a:r>
            <a:endParaRPr lang="ar-SA" sz="1800" dirty="0"/>
          </a:p>
        </p:txBody>
      </p:sp>
      <p:sp>
        <p:nvSpPr>
          <p:cNvPr id="34" name="Shape 31"/>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5" name="Text 32"/>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طَعَامِي المُفَضَّلُ هُوَ السَّمَكُ.</a:t>
            </a:r>
            <a:endParaRPr lang="ar-SA" sz="1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41</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Likes and Preferences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a:t>
            </a:r>
            <a:endParaRPr lang="en-US" sz="850" dirty="0"/>
          </a:p>
        </p:txBody>
      </p:sp>
      <p:sp>
        <p:nvSpPr>
          <p:cNvPr id="17" name="Shape 14"/>
          <p:cNvSpPr/>
          <p:nvPr/>
        </p:nvSpPr>
        <p:spPr>
          <a:xfrm>
            <a:off x="457200"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strengthens a like?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كَثِيرًا</a:t>
            </a:r>
            <a:endParaRPr lang="ar-SA" sz="2050" dirty="0"/>
          </a:p>
        </p:txBody>
      </p:sp>
      <p:sp>
        <p:nvSpPr>
          <p:cNvPr id="30" name="Shape 27"/>
          <p:cNvSpPr/>
          <p:nvPr/>
        </p:nvSpPr>
        <p:spPr>
          <a:xfrm>
            <a:off x="4276344"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addresses a girl?</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تُفَضِّلُ</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تُفَضِّلِينَ</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يُفَضِّلُ</a:t>
            </a:r>
            <a:endParaRPr lang="ar-SA" sz="2050" dirty="0"/>
          </a:p>
        </p:txBody>
      </p:sp>
      <p:sp>
        <p:nvSpPr>
          <p:cNvPr id="43" name="Shape 40"/>
          <p:cNvSpPr/>
          <p:nvPr/>
        </p:nvSpPr>
        <p:spPr>
          <a:xfrm>
            <a:off x="8095488"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form for “she prefers”.</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يُفَضِّلُ</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تُفَضِّلُ</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أُفَضِّلُ</a:t>
            </a:r>
            <a:endParaRPr lang="ar-SA" sz="20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41</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Likes and Preferences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a:t>
            </a:r>
            <a:endParaRPr lang="en-US" sz="850" dirty="0"/>
          </a:p>
        </p:txBody>
      </p:sp>
      <p:sp>
        <p:nvSpPr>
          <p:cNvPr id="17" name="Shape 14"/>
          <p:cNvSpPr/>
          <p:nvPr/>
        </p:nvSpPr>
        <p:spPr>
          <a:xfrm>
            <a:off x="457200"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strengthens a like?</a:t>
            </a:r>
            <a:endParaRPr lang="en-US" sz="1250" dirty="0"/>
          </a:p>
        </p:txBody>
      </p:sp>
      <p:sp>
        <p:nvSpPr>
          <p:cNvPr id="21" name="Shape 18"/>
          <p:cNvSpPr/>
          <p:nvPr/>
        </p:nvSpPr>
        <p:spPr>
          <a:xfrm>
            <a:off x="640080" y="2532888"/>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مِنْ</a:t>
            </a:r>
            <a:endParaRPr lang="ar-SA" sz="2050" dirty="0"/>
          </a:p>
        </p:txBody>
      </p:sp>
      <p:sp>
        <p:nvSpPr>
          <p:cNvPr id="24" name="Shape 21"/>
          <p:cNvSpPr/>
          <p:nvPr/>
        </p:nvSpPr>
        <p:spPr>
          <a:xfrm>
            <a:off x="640080" y="2990088"/>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هَلْ</a:t>
            </a:r>
            <a:endParaRPr lang="ar-SA" sz="2050" dirty="0"/>
          </a:p>
        </p:txBody>
      </p:sp>
      <p:sp>
        <p:nvSpPr>
          <p:cNvPr id="27" name="Shape 24"/>
          <p:cNvSpPr/>
          <p:nvPr/>
        </p:nvSpPr>
        <p:spPr>
          <a:xfrm>
            <a:off x="548640" y="3410712"/>
            <a:ext cx="3453384"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44728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كَثِيرًا</a:t>
            </a:r>
            <a:endParaRPr lang="ar-SA" sz="2050" dirty="0"/>
          </a:p>
        </p:txBody>
      </p:sp>
      <p:sp>
        <p:nvSpPr>
          <p:cNvPr id="31" name="Text 28"/>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كَثِيرًا</a:t>
            </a:r>
            <a:pPr algn="l" indent="0" marL="0">
              <a:buNone/>
            </a:pPr>
            <a:r>
              <a:rPr lang="en-US" sz="1050" i="1" dirty="0">
                <a:solidFill>
                  <a:srgbClr val="8A6D1E"/>
                </a:solidFill>
                <a:latin typeface="Calibri" pitchFamily="34" charset="0"/>
                <a:cs typeface="Amiri" pitchFamily="2" charset="-78"/>
              </a:rPr>
              <a:t> means “a lot”.</a:t>
            </a:r>
            <a:endParaRPr lang="en-US" sz="1050" dirty="0"/>
          </a:p>
        </p:txBody>
      </p:sp>
      <p:sp>
        <p:nvSpPr>
          <p:cNvPr id="32" name="Shape 29"/>
          <p:cNvSpPr/>
          <p:nvPr/>
        </p:nvSpPr>
        <p:spPr>
          <a:xfrm>
            <a:off x="4276344"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addresses a girl?</a:t>
            </a:r>
            <a:endParaRPr lang="en-US" sz="1250" dirty="0"/>
          </a:p>
        </p:txBody>
      </p:sp>
      <p:sp>
        <p:nvSpPr>
          <p:cNvPr id="36" name="Shape 33"/>
          <p:cNvSpPr/>
          <p:nvPr/>
        </p:nvSpPr>
        <p:spPr>
          <a:xfrm>
            <a:off x="4459224" y="2532888"/>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تُفَضِّلُ</a:t>
            </a:r>
            <a:endParaRPr lang="ar-SA" sz="2050" dirty="0"/>
          </a:p>
        </p:txBody>
      </p:sp>
      <p:sp>
        <p:nvSpPr>
          <p:cNvPr id="39" name="Shape 36"/>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4459224" y="2990088"/>
            <a:ext cx="256032" cy="256032"/>
          </a:xfrm>
          <a:prstGeom prst="ellipse">
            <a:avLst/>
          </a:prstGeom>
          <a:solidFill>
            <a:srgbClr val="2E8B57"/>
          </a:solidFill>
          <a:ln w="12700">
            <a:solidFill>
              <a:srgbClr val="2E8B57"/>
            </a:solidFill>
            <a:prstDash val="solid"/>
          </a:ln>
        </p:spPr>
      </p:sp>
      <p:sp>
        <p:nvSpPr>
          <p:cNvPr id="41" name="Text 38"/>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تُفَضِّلِينَ</a:t>
            </a:r>
            <a:endParaRPr lang="ar-SA" sz="2050" dirty="0"/>
          </a:p>
        </p:txBody>
      </p:sp>
      <p:sp>
        <p:nvSpPr>
          <p:cNvPr id="43" name="Shape 40"/>
          <p:cNvSpPr/>
          <p:nvPr/>
        </p:nvSpPr>
        <p:spPr>
          <a:xfrm>
            <a:off x="4459224" y="344728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يُفَضِّلُ</a:t>
            </a:r>
            <a:endParaRPr lang="ar-SA" sz="2050" dirty="0"/>
          </a:p>
        </p:txBody>
      </p:sp>
      <p:sp>
        <p:nvSpPr>
          <p:cNvPr id="46" name="Text 43"/>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listener form ends in </a:t>
            </a:r>
            <a:pPr algn="l" indent="0" marL="0">
              <a:buNone/>
            </a:pPr>
            <a:r>
              <a:rPr lang="ar-SA" altLang="en-US" sz="1350" dirty="0">
                <a:solidFill>
                  <a:srgbClr val="8A6D1E"/>
                </a:solidFill>
                <a:latin typeface="Amiri" pitchFamily="2" charset="-78"/>
                <a:ea typeface="Amiri" pitchFamily="2" charset="-78"/>
                <a:cs typeface="Amiri" pitchFamily="2" charset="-78"/>
              </a:rPr>
              <a:t>ـِينَ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4"/>
          <p:cNvSpPr/>
          <p:nvPr/>
        </p:nvSpPr>
        <p:spPr>
          <a:xfrm>
            <a:off x="8095488"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form for “she prefers”.</a:t>
            </a:r>
            <a:endParaRPr lang="en-US" sz="1250" dirty="0"/>
          </a:p>
        </p:txBody>
      </p:sp>
      <p:sp>
        <p:nvSpPr>
          <p:cNvPr id="51" name="Shape 48"/>
          <p:cNvSpPr/>
          <p:nvPr/>
        </p:nvSpPr>
        <p:spPr>
          <a:xfrm>
            <a:off x="8278368" y="2532888"/>
            <a:ext cx="256032" cy="256032"/>
          </a:xfrm>
          <a:prstGeom prst="ellipse">
            <a:avLst/>
          </a:prstGeom>
          <a:solidFill>
            <a:srgbClr val="C9CED6"/>
          </a:solidFill>
          <a:ln w="12700">
            <a:solidFill>
              <a:srgbClr val="C9CED6"/>
            </a:solidFill>
            <a:prstDash val="solid"/>
          </a:ln>
        </p:spPr>
      </p:sp>
      <p:sp>
        <p:nvSpPr>
          <p:cNvPr id="52" name="Text 49"/>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هِيَ يُفَضِّلُ</a:t>
            </a:r>
            <a:endParaRPr lang="ar-SA" sz="2050" dirty="0"/>
          </a:p>
        </p:txBody>
      </p:sp>
      <p:sp>
        <p:nvSpPr>
          <p:cNvPr id="54" name="Shape 51"/>
          <p:cNvSpPr/>
          <p:nvPr/>
        </p:nvSpPr>
        <p:spPr>
          <a:xfrm>
            <a:off x="8186928" y="2953512"/>
            <a:ext cx="3453384"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8278368" y="2990088"/>
            <a:ext cx="256032" cy="256032"/>
          </a:xfrm>
          <a:prstGeom prst="ellipse">
            <a:avLst/>
          </a:prstGeom>
          <a:solidFill>
            <a:srgbClr val="2E8B57"/>
          </a:solidFill>
          <a:ln w="12700">
            <a:solidFill>
              <a:srgbClr val="2E8B57"/>
            </a:solidFill>
            <a:prstDash val="solid"/>
          </a:ln>
        </p:spPr>
      </p:sp>
      <p:sp>
        <p:nvSpPr>
          <p:cNvPr id="56" name="Text 5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هِيَ تُفَضِّلُ</a:t>
            </a:r>
            <a:endParaRPr lang="ar-SA" sz="2050" dirty="0"/>
          </a:p>
        </p:txBody>
      </p:sp>
      <p:sp>
        <p:nvSpPr>
          <p:cNvPr id="58" name="Shape 55"/>
          <p:cNvSpPr/>
          <p:nvPr/>
        </p:nvSpPr>
        <p:spPr>
          <a:xfrm>
            <a:off x="8278368" y="344728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هِيَ أُفَضِّلُ</a:t>
            </a:r>
            <a:endParaRPr lang="ar-SA" sz="2050" dirty="0"/>
          </a:p>
        </p:txBody>
      </p:sp>
      <p:sp>
        <p:nvSpPr>
          <p:cNvPr id="61" name="Text 58"/>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With </a:t>
            </a:r>
            <a:pPr algn="l" indent="0" marL="0">
              <a:buNone/>
            </a:pPr>
            <a:r>
              <a:rPr lang="ar-SA" altLang="en-US" sz="1350" dirty="0">
                <a:solidFill>
                  <a:srgbClr val="8A6D1E"/>
                </a:solidFill>
                <a:latin typeface="Amiri" pitchFamily="2" charset="-78"/>
                <a:ea typeface="Amiri" pitchFamily="2" charset="-78"/>
                <a:cs typeface="Amiri" pitchFamily="2" charset="-78"/>
              </a:rPr>
              <a:t>هِيَ</a:t>
            </a:r>
            <a:pPr algn="l" indent="0" marL="0">
              <a:buNone/>
            </a:pPr>
            <a:r>
              <a:rPr lang="en-US" sz="1050" i="1" dirty="0">
                <a:solidFill>
                  <a:srgbClr val="8A6D1E"/>
                </a:solidFill>
                <a:latin typeface="Calibri" pitchFamily="34" charset="0"/>
                <a:cs typeface="Amiri" pitchFamily="2" charset="-78"/>
              </a:rPr>
              <a:t>, use </a:t>
            </a:r>
            <a:pPr algn="l" indent="0" marL="0">
              <a:buNone/>
            </a:pPr>
            <a:r>
              <a:rPr lang="ar-SA" altLang="en-US" sz="1350" dirty="0">
                <a:solidFill>
                  <a:srgbClr val="8A6D1E"/>
                </a:solidFill>
                <a:latin typeface="Amiri" pitchFamily="2" charset="-78"/>
                <a:ea typeface="Amiri" pitchFamily="2" charset="-78"/>
                <a:cs typeface="Amiri" pitchFamily="2" charset="-78"/>
              </a:rPr>
              <a:t>تُفَضِّلُ</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2" name="Text 5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41</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Likes and Preferences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أَنَا أَفْضَلُ العَصِيرَ.</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Verb “I prefer” or adjective “best”?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أُفَضِّلُ السَّمَكَ مِنَ اللَّحْمِ.</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is missing before </a:t>
            </a:r>
            <a:pPr algn="l" indent="0" marL="0">
              <a:buNone/>
            </a:pPr>
            <a:r>
              <a:rPr lang="ar-SA" altLang="en-US" sz="1700" dirty="0">
                <a:solidFill>
                  <a:srgbClr val="5A6472"/>
                </a:solidFill>
                <a:latin typeface="Amiri" pitchFamily="2" charset="-78"/>
                <a:ea typeface="Amiri" pitchFamily="2" charset="-78"/>
                <a:cs typeface="Amiri" pitchFamily="2" charset="-78"/>
              </a:rPr>
              <a:t>مِنَ</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هِيَ يُفَضِّلُ الشَّايَ.</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She → which first letter?</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41</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Likes and Preferences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أَنَا أَفْضَلُ العَصِيرَ.</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أَنَا أُفَضِّلُ العَصِيرَ.</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أُفَضِّلُ</a:t>
            </a:r>
            <a:pPr algn="l" indent="0" marL="0">
              <a:buNone/>
            </a:pPr>
            <a:r>
              <a:rPr lang="en-US" sz="1150" b="1" dirty="0">
                <a:solidFill>
                  <a:srgbClr val="1B3B6F"/>
                </a:solidFill>
                <a:latin typeface="Calibri" pitchFamily="34" charset="0"/>
                <a:cs typeface="Amiri" pitchFamily="2" charset="-78"/>
              </a:rPr>
              <a:t> is the verb “I prefer”.</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أُفَضِّلُ السَّمَكَ مِنَ اللَّحْمِ.</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أُفَضِّلُ السَّمَكَ أَكْثَرَ مِنَ اللَّحْمِ.</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the complete comparison chunk </a:t>
            </a:r>
            <a:pPr algn="l" indent="0" marL="0">
              <a:buNone/>
            </a:pPr>
            <a:r>
              <a:rPr lang="ar-SA" altLang="en-US" sz="1500" b="1" dirty="0">
                <a:solidFill>
                  <a:srgbClr val="1B3B6F"/>
                </a:solidFill>
                <a:latin typeface="Amiri" pitchFamily="2" charset="-78"/>
                <a:ea typeface="Amiri" pitchFamily="2" charset="-78"/>
                <a:cs typeface="Amiri" pitchFamily="2" charset="-78"/>
              </a:rPr>
              <a:t>أَكْثَرَ مِنْ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هِيَ يُفَضِّلُ الشَّايَ.</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هِيَ تُفَضِّلُ الشَّايَ.</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With </a:t>
            </a:r>
            <a:pPr algn="l" indent="0" marL="0">
              <a:buNone/>
            </a:pPr>
            <a:r>
              <a:rPr lang="ar-SA" altLang="en-US" sz="1500" b="1" dirty="0">
                <a:solidFill>
                  <a:srgbClr val="1B3B6F"/>
                </a:solidFill>
                <a:latin typeface="Amiri" pitchFamily="2" charset="-78"/>
                <a:ea typeface="Amiri" pitchFamily="2" charset="-78"/>
                <a:cs typeface="Amiri" pitchFamily="2" charset="-78"/>
              </a:rPr>
              <a:t>هِيَ</a:t>
            </a:r>
            <a:pPr algn="l" indent="0" marL="0">
              <a:buNone/>
            </a:pPr>
            <a:r>
              <a:rPr lang="en-US" sz="1150" b="1" dirty="0">
                <a:solidFill>
                  <a:srgbClr val="1B3B6F"/>
                </a:solidFill>
                <a:latin typeface="Calibri" pitchFamily="34" charset="0"/>
                <a:cs typeface="Amiri" pitchFamily="2" charset="-78"/>
              </a:rPr>
              <a:t>, the present-tense verb begins with </a:t>
            </a:r>
            <a:pPr algn="l" indent="0" marL="0">
              <a:buNone/>
            </a:pPr>
            <a:r>
              <a:rPr lang="ar-SA" altLang="en-US" sz="1500" b="1" dirty="0">
                <a:solidFill>
                  <a:srgbClr val="1B3B6F"/>
                </a:solidFill>
                <a:latin typeface="Amiri" pitchFamily="2" charset="-78"/>
                <a:ea typeface="Amiri" pitchFamily="2" charset="-78"/>
                <a:cs typeface="Amiri" pitchFamily="2" charset="-78"/>
              </a:rPr>
              <a:t>تـ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41</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Likes and Preferences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food choices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Samir prefer to cake?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dates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fruit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chocolate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food does Layla dislike?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soup</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fish</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pizza</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Omar prefer?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juice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milk</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water</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Nour prefer to meat?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fish</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chicken</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beans</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0" name="Text 67"/>
          <p:cNvSpPr txBox="1"/>
          <p:nvPr/>
        </p:nvSpPr>
        <p:spPr>
          <a:xfrm>
            <a:off x="4477512"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يُفَضِّلُ</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لَا تُحِبُّ</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أَكْثَرَ مِنْ</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41</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Likes and Preferences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يُفَضِّلُ سَامِرٌ التَّمْرَ أَكْثَرَ مِنَ الكَعْكِ.</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Samir prefers dates more than cake.</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أَمَّا لَيْلَى فَتُحِبُّ الحَسَاءَ وَلَا تُحِبُّ البِيتْزَا.</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for Layla, she likes soup and doesn’t like pizza.</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يُحِبُّ عُمَرُ العَصِيرَ، وَلَكِنَّهُ يُفَضِّلُ المَاءَ لِأَنَّهُ يَشْرَبُهُ كُلَّ يَوْمٍ.</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Omar likes juice, but he prefers water because he drinks it every day.</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تُفَضِّلُ نُورٌ السَّمَكَ أَكْثَرَ مِنَ اللَّحْمِ.</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Nour prefers fish more than meat.</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41</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Likes and Preferences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Samir prefer to cake?</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dates</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fruit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chocolate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prefers </a:t>
            </a:r>
            <a:pPr algn="l" indent="0" marL="0">
              <a:buNone/>
            </a:pPr>
            <a:r>
              <a:rPr lang="ar-SA" altLang="en-US" sz="1350" dirty="0">
                <a:solidFill>
                  <a:srgbClr val="8A6D1E"/>
                </a:solidFill>
                <a:latin typeface="Amiri" pitchFamily="2" charset="-78"/>
                <a:ea typeface="Amiri" pitchFamily="2" charset="-78"/>
                <a:cs typeface="Amiri" pitchFamily="2" charset="-78"/>
              </a:rPr>
              <a:t>التَّمْرَ</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food does Layla dislike?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soup</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fish</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pizza</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ea typeface="Amiri" pitchFamily="2" charset="-78"/>
                <a:cs typeface="Amiri" pitchFamily="2" charset="-78"/>
              </a:rPr>
              <a:t>لَا تُحِبُّ البِيتْزَا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Omar prefer?</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juice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milk</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water</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likes juice but prefers water.</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Nour prefer to meat?</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fish</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chicken</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beans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prefers </a:t>
            </a:r>
            <a:pPr algn="l" indent="0" marL="0">
              <a:buNone/>
            </a:pPr>
            <a:r>
              <a:rPr lang="ar-SA" altLang="en-US" sz="1350" dirty="0">
                <a:solidFill>
                  <a:srgbClr val="8A6D1E"/>
                </a:solidFill>
                <a:latin typeface="Amiri" pitchFamily="2" charset="-78"/>
                <a:ea typeface="Amiri" pitchFamily="2" charset="-78"/>
                <a:cs typeface="Amiri" pitchFamily="2" charset="-78"/>
              </a:rPr>
              <a:t>السَّمَكَ</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77" name="Text 74"/>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8" name="Text 75"/>
          <p:cNvSpPr txBox="1"/>
          <p:nvPr/>
        </p:nvSpPr>
        <p:spPr>
          <a:xfrm>
            <a:off x="4477512"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يُفَضِّلُ</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لَا تُحِبُّ</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أَكْثَرَ مِنْ</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41</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Likes and Preferences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Preference interview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طَعَامُكَ المُفَضَّلُ؟</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أَيُّهُمَا تُفَضِّلُ: السَّمَكَ أَمِ الدَّجَاجَ؟</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تُحِبُّ الخَضْرَوَاتِ؟</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المَشْرُوبُ الَّذِي لَا تُحِبُّهُ؟ وَمَاذَا تُفَضِّلُ؟</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طَعَامِي المُفَضَّلُ هُوَ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أُفَضِّلُ ___ أَكْثَرَ مِنَ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نَعَمْ، أُحِبُّهَا كَثِيرًا / لَا، لَا أُحِبُّهَا.</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لَا أُحِبُّ ___ ، وَأُفَضِّلُ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Calibri" pitchFamily="34" charset="0"/>
                <a:ea typeface="Amiri" pitchFamily="2" charset="-78"/>
                <a:cs typeface="Amiri" pitchFamily="2" charset="-78"/>
              </a:rPr>
              <a:t>أ</a:t>
            </a:r>
            <a:endParaRPr lang="ar-SA"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أَيَّتُهُمَا تُفَضِّلِينَ: الشَّايَ أَمِ القَهْوَةَ؟</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Which do you (f.) prefer: tea or coffee?</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Calibri" pitchFamily="34" charset="0"/>
                <a:ea typeface="Amiri" pitchFamily="2" charset="-78"/>
                <a:cs typeface="Amiri" pitchFamily="2" charset="-78"/>
              </a:rPr>
              <a:t>ب</a:t>
            </a:r>
            <a:endParaRPr lang="ar-SA"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أُفَضِّلُ الشَّايَ أَكْثَرَ مِنَ القَهْوَةِ.</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 prefer tea more than coffee.</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41</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Likes and Preferences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Choose and say three likes/dislikes using a displayed sentence frame.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Like, like a lot, don’t like, favourite food — from the Core frames.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7–8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Compare three food pairs and report a partner’s answers.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your preferences + one other person, with one comparison.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8–10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Summarise class survey results using numbers and plural verb forms.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 class survey summary with numbers and plural verbs (yufaḍḍilūna).</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41</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Likes and Preferences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أُفَضِّلُ ______ أَكْثَرَ مِنَ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prefer … more than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خُصُوصًا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especially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صَدِيقِي يُفَضِّلُ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friend (m.) prefers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صَدِيقَتِي لَا تُحِبُّ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friend (f.) doesn’t like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أَيُّهُمَا تُفَضِّلُ: ______ أَمِ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Which do you prefer: … or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______ كَثِيرًا.</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 a lot.</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أُحِبُّ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don’t like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أُفَضِّلُ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prefer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طَعَامِي المُفَضَّلُ هُوَ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favourite food is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مَشْرُوبِي المُفَضَّلُ هُوَ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favourite drink is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أُحِبُّ  ·  لَا أُحِبُّ  ·  أُفَضِّلُ  ·  يُفَضِّلُ  ·  تُفَضِّلُ  ·  أَكْثَرَ مِنْ  ·  أَقَلَّ مِنْ  ·  كَثِيرًا  ·  جِدًّا  ·  قَلِيلًا  ·  خُصُوصًا  ·  أَمْ</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41</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Likes and Preferences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Create a short report about your preferences and one other person’s preferences. Write 7–8 sentences and include one comparison.</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a:r>
            <a:pPr algn="l" indent="0" marL="0">
              <a:buNone/>
            </a:pPr>
            <a:r>
              <a:rPr lang="ar-SA" altLang="en-US" sz="1550" dirty="0">
                <a:solidFill>
                  <a:srgbClr val="1F2A37"/>
                </a:solidFill>
                <a:latin typeface="Amiri" pitchFamily="2" charset="-78"/>
                <a:ea typeface="Amiri" pitchFamily="2" charset="-78"/>
                <a:cs typeface="Amiri" pitchFamily="2" charset="-78"/>
              </a:rPr>
              <a:t>أُحِبُّ، لَا أُحِبُّ</a:t>
            </a:r>
            <a:pPr algn="l" indent="0" marL="0">
              <a:buNone/>
            </a:pPr>
            <a:r>
              <a:rPr lang="en-US" sz="1200" dirty="0">
                <a:solidFill>
                  <a:srgbClr val="1F2A37"/>
                </a:solidFill>
                <a:latin typeface="Calibri" pitchFamily="34" charset="0"/>
                <a:cs typeface="Amiri" pitchFamily="2" charset="-78"/>
              </a:rPr>
              <a:t> and </a:t>
            </a:r>
            <a:pPr algn="l" indent="0" marL="0">
              <a:buNone/>
            </a:pPr>
            <a:r>
              <a:rPr lang="ar-SA" altLang="en-US" sz="1550" dirty="0">
                <a:solidFill>
                  <a:srgbClr val="1F2A37"/>
                </a:solidFill>
                <a:latin typeface="Amiri" pitchFamily="2" charset="-78"/>
                <a:ea typeface="Amiri" pitchFamily="2" charset="-78"/>
                <a:cs typeface="Amiri" pitchFamily="2" charset="-78"/>
              </a:rPr>
              <a:t>أُفَضِّلُ</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a:t>
            </a:r>
            <a:pPr algn="l" indent="0" marL="0">
              <a:buNone/>
            </a:pPr>
            <a:r>
              <a:rPr lang="ar-SA" altLang="en-US" sz="1550" dirty="0">
                <a:solidFill>
                  <a:srgbClr val="1F2A37"/>
                </a:solidFill>
                <a:latin typeface="Amiri" pitchFamily="2" charset="-78"/>
                <a:ea typeface="Amiri" pitchFamily="2" charset="-78"/>
                <a:cs typeface="Amiri" pitchFamily="2" charset="-78"/>
              </a:rPr>
              <a:t>أَكْثَرَ مِنْ</a:t>
            </a:r>
            <a:pPr algn="l" indent="0" marL="0">
              <a:buNone/>
            </a:pPr>
            <a:r>
              <a:rPr lang="en-US" sz="1200" dirty="0">
                <a:solidFill>
                  <a:srgbClr val="1F2A37"/>
                </a:solidFill>
                <a:latin typeface="Calibri" pitchFamily="34" charset="0"/>
                <a:cs typeface="Amiri" pitchFamily="2" charset="-78"/>
              </a:rPr>
              <a:t> correctly.</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a:r>
            <a:pPr algn="l" indent="0" marL="0">
              <a:buNone/>
            </a:pPr>
            <a:r>
              <a:rPr lang="ar-SA" altLang="en-US" sz="1550" dirty="0">
                <a:solidFill>
                  <a:srgbClr val="1F2A37"/>
                </a:solidFill>
                <a:latin typeface="Amiri" pitchFamily="2" charset="-78"/>
                <a:ea typeface="Amiri" pitchFamily="2" charset="-78"/>
                <a:cs typeface="Amiri" pitchFamily="2" charset="-78"/>
              </a:rPr>
              <a:t>هُوَ / هِيَ</a:t>
            </a:r>
            <a:pPr algn="l" indent="0" marL="0">
              <a:buNone/>
            </a:pPr>
            <a:r>
              <a:rPr lang="en-US" sz="1200" dirty="0">
                <a:solidFill>
                  <a:srgbClr val="1F2A37"/>
                </a:solidFill>
                <a:latin typeface="Calibri" pitchFamily="34" charset="0"/>
                <a:cs typeface="Amiri" pitchFamily="2" charset="-78"/>
              </a:rPr>
              <a:t> with the correct verb form.</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 one intensity word such as </a:t>
            </a:r>
            <a:pPr algn="l" indent="0" marL="0">
              <a:buNone/>
            </a:pPr>
            <a:r>
              <a:rPr lang="ar-SA" altLang="en-US" sz="1550" dirty="0">
                <a:solidFill>
                  <a:srgbClr val="1F2A37"/>
                </a:solidFill>
                <a:latin typeface="Amiri" pitchFamily="2" charset="-78"/>
                <a:ea typeface="Amiri" pitchFamily="2" charset="-78"/>
                <a:cs typeface="Amiri" pitchFamily="2" charset="-78"/>
              </a:rPr>
              <a:t>كَثِيرًا</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جِدًّا</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سَأَلْنَا عَشَرَةَ طُلَّابٍ</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asked ten students</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أَرْبَعَةُ طُلَّابٍ يُفَضِّلُونَ …</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four students prefer …</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طَالِبَانِ يُحِبَّانِ …</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two students like …</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تُحِبُّ اللَّحْمَ وَلَا السَّمَكَ</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she likes neither meat nor fish</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أَمَّا المَشْرُوبُ المُفَضَّلُ فَهُوَ …</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as for the favourite drink, it is …</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41</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Likes and Preferences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أُحِبُّ الفَاكِهَةَ كَثِيرًا، خُصُوصًا التُّفَّاحَ. لَا أُحِبُّ القَهْوَةَ. أُفَضِّلُ السَّمَكَ أَكْثَرَ مِنَ اللَّحْمِ. صَدِيقَتِي تُحِبُّ الدَّجَاجَ، وَلَا تُحِبُّ السَّلَطَةَ. هِيَ تُفَضِّلُ العَصِيرَ أَكْثَرَ مِنَ الحَلِيبِ.</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like fruit a lot, especially apples. I don’t like coffee. I prefer fish more than meat. My friend likes chicken and doesn’t like salad. She prefers juice more than milk.</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intensity</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dislike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comparison</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she prefers</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41</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Likes and Preferences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gave three different opinions.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t>
            </a:r>
            <a:pPr algn="l" indent="0" marL="0">
              <a:buNone/>
            </a:pPr>
            <a:r>
              <a:rPr lang="ar-SA" altLang="en-US" sz="1700" dirty="0">
                <a:solidFill>
                  <a:srgbClr val="1F2A37"/>
                </a:solidFill>
                <a:latin typeface="Amiri" pitchFamily="2" charset="-78"/>
                <a:ea typeface="Amiri" pitchFamily="2" charset="-78"/>
                <a:cs typeface="Amiri" pitchFamily="2" charset="-78"/>
              </a:rPr>
              <a:t>أُفَضِّلُ</a:t>
            </a:r>
            <a:pPr algn="l" indent="0" marL="0">
              <a:buNone/>
            </a:pPr>
            <a:r>
              <a:rPr lang="en-US" sz="1300" dirty="0">
                <a:solidFill>
                  <a:srgbClr val="1F2A37"/>
                </a:solidFill>
                <a:latin typeface="Calibri" pitchFamily="34" charset="0"/>
                <a:cs typeface="Amiri" pitchFamily="2" charset="-78"/>
              </a:rPr>
              <a:t>, not </a:t>
            </a:r>
            <a:pPr algn="l" indent="0" marL="0">
              <a:buNone/>
            </a:pPr>
            <a:r>
              <a:rPr lang="ar-SA" altLang="en-US" sz="1700" dirty="0">
                <a:solidFill>
                  <a:srgbClr val="1F2A37"/>
                </a:solidFill>
                <a:latin typeface="Amiri" pitchFamily="2" charset="-78"/>
                <a:ea typeface="Amiri" pitchFamily="2" charset="-78"/>
                <a:cs typeface="Amiri" pitchFamily="2" charset="-78"/>
              </a:rPr>
              <a:t>أَفْضَلُ</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comparison has </a:t>
            </a:r>
            <a:pPr algn="l" indent="0" marL="0">
              <a:buNone/>
            </a:pPr>
            <a:r>
              <a:rPr lang="ar-SA" altLang="en-US" sz="1700" dirty="0">
                <a:solidFill>
                  <a:srgbClr val="1F2A37"/>
                </a:solidFill>
                <a:latin typeface="Amiri" pitchFamily="2" charset="-78"/>
                <a:ea typeface="Amiri" pitchFamily="2" charset="-78"/>
                <a:cs typeface="Amiri" pitchFamily="2" charset="-78"/>
              </a:rPr>
              <a:t>أَكْثَرَ مِنْ</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He → </a:t>
            </a:r>
            <a:pPr algn="l" indent="0" marL="0">
              <a:buNone/>
            </a:pPr>
            <a:r>
              <a:rPr lang="ar-SA" altLang="en-US" sz="1700" dirty="0">
                <a:solidFill>
                  <a:srgbClr val="1F2A37"/>
                </a:solidFill>
                <a:latin typeface="Amiri" pitchFamily="2" charset="-78"/>
                <a:ea typeface="Amiri" pitchFamily="2" charset="-78"/>
                <a:cs typeface="Amiri" pitchFamily="2" charset="-78"/>
              </a:rPr>
              <a:t>يُـ</a:t>
            </a:r>
            <a:pPr algn="l" indent="0" marL="0">
              <a:buNone/>
            </a:pPr>
            <a:r>
              <a:rPr lang="en-US" sz="1300" dirty="0">
                <a:solidFill>
                  <a:srgbClr val="1F2A37"/>
                </a:solidFill>
                <a:latin typeface="Calibri" pitchFamily="34" charset="0"/>
                <a:cs typeface="Amiri" pitchFamily="2" charset="-78"/>
              </a:rPr>
              <a:t>, she → </a:t>
            </a:r>
            <a:pPr algn="l" indent="0" marL="0">
              <a:buNone/>
            </a:pPr>
            <a:r>
              <a:rPr lang="ar-SA" altLang="en-US" sz="1700" dirty="0">
                <a:solidFill>
                  <a:srgbClr val="1F2A37"/>
                </a:solidFill>
                <a:latin typeface="Amiri" pitchFamily="2" charset="-78"/>
                <a:ea typeface="Amiri" pitchFamily="2" charset="-78"/>
                <a:cs typeface="Amiri" pitchFamily="2" charset="-78"/>
              </a:rPr>
              <a:t>تُـ</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summarised a survey with numbers.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41</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Likes and Preferences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“I prefer”?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أُفَضِّلُ</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أُحِبُّ</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أَشْرَبُ</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هِيَ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السَّلَطَةَ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يُفَضِّلُ</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تُفَضِّلُ</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أُفَضِّلُ</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comparison?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أُفَضِّلُ السَّمَكَ أَكْثَرَ مِنَ اللَّحْمِ.</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أُحِبُّ السَّمَكَ.</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أُحِبُّ اللَّحْمَ.</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41</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Likes and Preferences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“I prefer”?</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أُفَضِّلُ</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أُحِبُّ</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أَشْرَبُ</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أُفَضِّلُ</a:t>
            </a:r>
            <a:pPr algn="l" indent="0" marL="0">
              <a:buNone/>
            </a:pPr>
            <a:r>
              <a:rPr lang="en-US" sz="1050" i="1" dirty="0">
                <a:solidFill>
                  <a:srgbClr val="8A6D1E"/>
                </a:solidFill>
                <a:latin typeface="Calibri" pitchFamily="34" charset="0"/>
                <a:cs typeface="Amiri" pitchFamily="2" charset="-78"/>
              </a:rPr>
              <a:t> means I prefer.</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هِيَ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السَّلَطَةَ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يُفَضِّلُ</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تُفَضِّلُ</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أُفَضِّلُ</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هِيَ</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تُفَضِّلُ</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comparison?</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أُفَضِّلُ السَّمَكَ أَكْثَرَ مِنَ اللَّحْمِ.</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أُحِبُّ السَّمَكَ.</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لَا أُحِبُّ اللَّحْمَ.</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compares fish and meat.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41</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Likes and Preferences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class food survey</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سَأَلْنَا عَشَرَةَ طُلَّابٍ عَنْ طَعَامِهِمُ المُفَضَّلِ. أَرْبَعَةُ طُلَّابٍ يُفَضِّلُونَ الدَّجَاجَ، وَثَلَاثَةٌ يُفَضِّلُونَ البِيتْزَا. طَالِبَانِ يُحِبَّانِ السَّمَكَ أَكْثَرَ مِنَ اللَّحْمِ، وَطَالِبَةٌ وَاحِدَةٌ لَا تُحِبُّ اللَّحْمَ وَلَا السَّمَكَ؛ فَهِيَ تُفَضِّلُ الطَّعَامَ النَّبَاتِيَّ. أَمَّا المَشْرُوبُ المُفَضَّلُ فَهُوَ المَاءُ.</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سَأَلْنَا</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asked</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عَشَرَةَ طُلَّابٍ</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ten students</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طَعَامِهِمُ المُفَضَّلِ</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their favourite food</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يُفَضِّلُونَ</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they prefer</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طَالِبَانِ يُحِبَّانِ</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two students like</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طَالِبَةٌ وَاحِدَةٌ</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one (girl) student</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وَلَا السَّمَكَ</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nor fish</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النَّبَاتِيَّ</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vegetarian</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أَمَّا … فَـ</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as for …</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المَشْرُوبُ</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drink</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41</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Likes and Preferences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students preferred chicken?</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four</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five</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preferred pizza?</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four</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two students prefer to meat?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fish</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chicken</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vegetarian food</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one student choose vegetarian food?</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dislikes vegetables.</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dislikes meat and fish.</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cannot drink milk.</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was the favourite drink?</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water</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juice</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41</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Likes and Preferences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students preferred chicken?</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three</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four</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five</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أَرْبَعَةُ طُلَّابٍ.</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preferred pizza?</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four</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three</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ثَلَاثَةٌ يُفَضِّلُونَ البِيتْزَا.</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two students prefer to meat?</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fish</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chicken</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vegetarian food</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They preferred </a:t>
            </a:r>
            <a:pPr algn="l" indent="0" marL="0">
              <a:buNone/>
            </a:pPr>
            <a:r>
              <a:rPr lang="ar-SA" altLang="en-US" sz="1350" dirty="0">
                <a:solidFill>
                  <a:srgbClr val="8A6D1E"/>
                </a:solidFill>
                <a:latin typeface="Amiri" pitchFamily="2" charset="-78"/>
                <a:ea typeface="Amiri" pitchFamily="2" charset="-78"/>
                <a:cs typeface="Amiri" pitchFamily="2" charset="-78"/>
              </a:rPr>
              <a:t>السَّمَكَ</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one student choose vegetarian food?</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dislikes vegetables.</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She dislikes meat and fish.</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cannot drink milk.</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text explicitly says she likes neither meat nor fish.</a:t>
            </a:r>
            <a:endParaRPr lang="en-US" sz="10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was the favourite drink?</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water</a:t>
            </a:r>
            <a:endParaRPr lang="en-US" sz="12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juice</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tea</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final sentence says </a:t>
            </a:r>
            <a:pPr algn="l" indent="0" marL="0">
              <a:buNone/>
            </a:pPr>
            <a:r>
              <a:rPr lang="ar-SA" altLang="en-US" sz="1350" dirty="0">
                <a:solidFill>
                  <a:srgbClr val="8A6D1E"/>
                </a:solidFill>
                <a:latin typeface="Amiri" pitchFamily="2" charset="-78"/>
                <a:ea typeface="Amiri" pitchFamily="2" charset="-78"/>
                <a:cs typeface="Amiri" pitchFamily="2" charset="-78"/>
              </a:rPr>
              <a:t>المَاءُ</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41</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Likes and Preferences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F5-L04: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F5-L04 · Giving Reasons: Taste and Health</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لِأَنَّهُ / لِأَنَّهَا</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because it (m. / f.)</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حُلْوٌ</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sweet</a:t>
            </a:r>
            <a:pPr indent="0" marL="0">
              <a:buNone/>
            </a:pPr>
            <a:r>
              <a:rPr lang="ar-SA" sz="1000" i="1" dirty="0">
                <a:solidFill>
                  <a:srgbClr val="5A6472"/>
                </a:solidFill>
                <a:latin typeface="Calibri" pitchFamily="34" charset="0"/>
                <a:ea typeface="Amiri" pitchFamily="2" charset="-78"/>
                <a:cs typeface="Amiri" pitchFamily="2" charset="-78"/>
              </a:rPr>
              <a:t>  f. حُلْوَةٌ</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مَالِحٌ</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salty</a:t>
            </a:r>
            <a:pPr indent="0" marL="0">
              <a:buNone/>
            </a:pPr>
            <a:r>
              <a:rPr lang="ar-SA" sz="1000" i="1" dirty="0">
                <a:solidFill>
                  <a:srgbClr val="5A6472"/>
                </a:solidFill>
                <a:latin typeface="Calibri" pitchFamily="34" charset="0"/>
                <a:ea typeface="Amiri" pitchFamily="2" charset="-78"/>
                <a:cs typeface="Amiri" pitchFamily="2" charset="-78"/>
              </a:rPr>
              <a:t>  f. مَالِحَةٌ</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حَارٌّ</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spicy / hot</a:t>
            </a:r>
            <a:pPr indent="0" marL="0">
              <a:buNone/>
            </a:pPr>
            <a:r>
              <a:rPr lang="ar-SA" sz="1000" i="1" dirty="0">
                <a:solidFill>
                  <a:srgbClr val="5A6472"/>
                </a:solidFill>
                <a:latin typeface="Calibri" pitchFamily="34" charset="0"/>
                <a:ea typeface="Amiri" pitchFamily="2" charset="-78"/>
                <a:cs typeface="Amiri" pitchFamily="2" charset="-78"/>
              </a:rPr>
              <a:t>  f. حَارَّةٌ</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صِحِّيٌّ</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healthy</a:t>
            </a:r>
            <a:pPr indent="0" marL="0">
              <a:buNone/>
            </a:pPr>
            <a:r>
              <a:rPr lang="ar-SA" sz="1000" i="1" dirty="0">
                <a:solidFill>
                  <a:srgbClr val="5A6472"/>
                </a:solidFill>
                <a:latin typeface="Calibri" pitchFamily="34" charset="0"/>
                <a:ea typeface="Amiri" pitchFamily="2" charset="-78"/>
                <a:cs typeface="Amiri" pitchFamily="2" charset="-78"/>
              </a:rPr>
              <a:t>  f. صِحِّيَّةٌ</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Why do you like your favourite food? Write one reason in English or Arabic.</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أُحِبُّ … لِأَنَّهُ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F5-L03: the vocabulary tab and the “Like, dislike or prefer?” sorter.</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Interview one person at home and write 7–8 sentences with one comparison.</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Stretch: summarise a (real or invented) class survey with numbers.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41</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F5-L03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350" b="1" dirty="0">
                <a:solidFill>
                  <a:srgbClr val="FFFFFF"/>
                </a:solidFill>
                <a:latin typeface="Cambria" pitchFamily="34" charset="0"/>
                <a:cs typeface="Amiri" pitchFamily="2" charset="-78"/>
              </a:rPr>
              <a:t>F5-L04 · Giving Reasons: Taste and Health</a:t>
            </a:r>
            <a:endParaRPr lang="en-US" sz="23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إِبْدَاءُ الأَسْبَابِ وَوَصْفُ المَذَاقِ</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t>
            </a:r>
            <a:pPr algn="l" indent="0" marL="0">
              <a:buNone/>
            </a:pPr>
            <a:r>
              <a:rPr lang="ar-SA" altLang="en-US" sz="1700" b="1" dirty="0">
                <a:solidFill>
                  <a:srgbClr val="FFFFFF"/>
                </a:solidFill>
                <a:latin typeface="Amiri" pitchFamily="2" charset="-78"/>
                <a:ea typeface="Amiri" pitchFamily="2" charset="-78"/>
                <a:cs typeface="Amiri" pitchFamily="2" charset="-78"/>
              </a:rPr>
              <a:t>أُفَضِّلُ</a:t>
            </a:r>
            <a:pPr algn="l" indent="0" marL="0">
              <a:buNone/>
            </a:pPr>
            <a:r>
              <a:rPr lang="en-US" sz="1300" b="1" dirty="0">
                <a:solidFill>
                  <a:srgbClr val="FFFFFF"/>
                </a:solidFill>
                <a:latin typeface="Calibri" pitchFamily="34" charset="0"/>
                <a:cs typeface="Amiri" pitchFamily="2" charset="-78"/>
              </a:rPr>
              <a:t> (I prefer) ≠ </a:t>
            </a:r>
            <a:pPr algn="l" indent="0" marL="0">
              <a:buNone/>
            </a:pPr>
            <a:r>
              <a:rPr lang="ar-SA" altLang="en-US" sz="1700" b="1" dirty="0">
                <a:solidFill>
                  <a:srgbClr val="FFFFFF"/>
                </a:solidFill>
                <a:latin typeface="Amiri" pitchFamily="2" charset="-78"/>
                <a:ea typeface="Amiri" pitchFamily="2" charset="-78"/>
                <a:cs typeface="Amiri" pitchFamily="2" charset="-78"/>
              </a:rPr>
              <a:t>أَفْضَلُ</a:t>
            </a:r>
            <a:pPr algn="l" indent="0" marL="0">
              <a:buNone/>
            </a:pPr>
            <a:r>
              <a:rPr lang="en-US" sz="1300" b="1" dirty="0">
                <a:solidFill>
                  <a:srgbClr val="FFFFFF"/>
                </a:solidFill>
                <a:latin typeface="Calibri" pitchFamily="34" charset="0"/>
                <a:cs typeface="Amiri" pitchFamily="2" charset="-78"/>
              </a:rPr>
              <a:t> (best) · preferred item + </a:t>
            </a:r>
            <a:pPr algn="l" indent="0" marL="0">
              <a:buNone/>
            </a:pPr>
            <a:r>
              <a:rPr lang="ar-SA" altLang="en-US" sz="1700" b="1" dirty="0">
                <a:solidFill>
                  <a:srgbClr val="FFFFFF"/>
                </a:solidFill>
                <a:latin typeface="Amiri" pitchFamily="2" charset="-78"/>
                <a:ea typeface="Amiri" pitchFamily="2" charset="-78"/>
                <a:cs typeface="Amiri" pitchFamily="2" charset="-78"/>
              </a:rPr>
              <a:t>أَكْثَرَ مِنْ</a:t>
            </a:r>
            <a:pPr algn="l" indent="0" marL="0">
              <a:buNone/>
            </a:pPr>
            <a:r>
              <a:rPr lang="en-US" sz="1300" b="1" dirty="0">
                <a:solidFill>
                  <a:srgbClr val="FFFFFF"/>
                </a:solidFill>
                <a:latin typeface="Calibri" pitchFamily="34" charset="0"/>
                <a:cs typeface="Amiri" pitchFamily="2" charset="-78"/>
              </a:rPr>
              <a:t> + the other.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F5-L03 · Likes, Dislikes and Preferences</dc:title>
  <dc:subject>PptxGenJS Presentation</dc:subject>
  <dc:creator>Al Madina Online School · Arabic Department</dc:creator>
  <cp:lastModifiedBy>Al Madina Online School · Arabic Department</cp:lastModifiedBy>
  <cp:revision>1</cp:revision>
  <dcterms:created xsi:type="dcterms:W3CDTF">2026-10-11T06:41:45Z</dcterms:created>
  <dcterms:modified xsi:type="dcterms:W3CDTF">2026-10-11T06:41:45Z</dcterms:modified>
</cp:coreProperties>
</file>