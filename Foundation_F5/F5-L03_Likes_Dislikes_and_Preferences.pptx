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F5-L03. The website lesson “Likes, Dislikes and Preferences”: vocabulary, grammar rules and quiz, patterns, common mistakes, sorter, listening, reading, speaking prompts and model, writing task and model, differentiation, final check and the lesson mission. Picture match: website visual game “Likes, Dislikes and Preferences”.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opinions from a frame — أُحِبُّ … كَثِيرًا · لَا أُحِبُّ … · أُفَضِّلُ …
• Develop: compare three food pairs (أُفَضِّلُ أ أَكْثَرَ مِنْ ب) and report a partner (هُوَ يُفَضِّلُ / هِيَ تُفَضِّلُ).
• Stretch: summarise class survey results with numbers and plural verbs (يُفَضِّلُونَ) — the website reading text is the model.
• Website warning: أُفَضِّلُ (I prefer, a verb) ≠ أَفْضَلُ (better / best). The shadda and the first vowel make the difference.
• Website: “Preferences are personal, so there is no ‘correct’ favourite food. The accuracy comes from the language.”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F5-L02. Questions 3–5 retrieve F5-L02 (meal + drink, asking a girl,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 like it → I like it a lot → I prefer it MORE THAN something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افضل (best) and فضیلت share the root of أُفَضِّلُ — but WARNING: Arabic أَفْضَلُ (best) is exactly the word students must NOT write for “I prefer” (the website’s common error). خصوصاً is identical in Urdu. عشق → أَعْشَقُ (“I adore” — strong, even funny, with food). قلیل (little, few) → قَلِيلًا.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Opinion language (website vocabulary). Hear → Say → See → Use. Transliteration is printed for Core students (cover it for Develop/Stretch).
أَعْشَقُ is very strong (“I adore”) — fun for Stretch. لَا أَسْتَطِيعُ أَنْ آكُلَ (I can’t eat) is useful for allergies and diets.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Comparison and intensity (website vocabulary).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Questions and reporting (website vocabulary). Hear → Say → See → Use. Transliteration is printed for Core students (cover it for Develop/Stretch).
أَيُّهُمَا (to a boy) / أَيَّتُهُمَا (to a girl) = “which of the two”. Core students can simply ask هَلْ تُفَضِّلُ … أَمْ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“State a preference” (أُفَضِّلُ + item) and “Compare two items” (أُفَضِّلُ أ + أَكْثَرَ مِنْ + ب).
Website common error: أُفَضِّلُ السَّمَكَ مِنَ اللَّحْمِ ✗ → أَكْثَرَ مِنَ اللَّحْمِ ✓ (use the complete chunk).
Pronunciation: مِنْ + ال → مِنَ ال (min-a l-laḥmi). The second item ends in kasra (اللَّحْمِ، القَهْوَةِ).
Note: the website game uses أُفَضِّلُ … عَلَى … (prepared at home) — equally correct: أُفَضِّلُ الشَّايَ عَلَى القَهْوَةِ.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“Change the verb for the person” (يُـ with هُوَ, تُـ with هِيَ) and “Ask between alternatives” (أَمْ between two named items).
To a girl: أَيَّتُهُمَا تُفَضِّلِينَ: الشَّايَ أَمِ القَهْوَةَ؟ (website model). Simpler for Core: هَلْ تُفَضِّلُ / تُفَضِّلِينَ الشَّايَ أَمِ القَهْوَةَ؟
Website teaching note: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moves from a simple like to a comparison. Use أُفَضِّلُ for the preferred item and the complete chunk أَكْثَرَ مِنْ to compare it with another.”
• State a preference: أُفَضِّلُ is a verb meaning “I prefer”. It is followed by the preferred item.
• Compare two items: Name the preferred item first, then use the complete comparison chunk أَكْثَرَ مِنْ.
• Change the verb for the person: Use يُـ with هُوَ and تُـ with هِيَ.
• Ask between alternatives: Use أَمْ between two named alternatives.
Website common error: Do not confuse أُفَضِّلُ (“I prefer”) with أَفْضَلُ (“better/best”).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built step by step. Students copy it, then replace the friend with a real or invented person (صَدِيقِي يُفَضِّلُ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Likes, Dislikes and Preferences”)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other items are about reading, football and cycling — useful later). The third item uses أُفَضِّلُ … عَلَى … — another way to compare, prepared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sentence by the type of opinion it expresses.
The “prefer” column includes طَعَامِي المُفَضَّلُ — a preference without the verb. Ask which word gave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4, then say why Omar prefers water.
Listen 1: just listen. Listen 2: note answers. Then chat the letters.
Support: after the second listening, show the read-along slide (Arabic + English, line by line) for Core students.
SCRIPT (read aloud):
يُفَضِّلُ سَامِرٌ التَّمْرَ أَكْثَرَ مِنَ الكَعْكِ. أَمَّا لَيْلَى فَتُحِبُّ الحَسَاءَ وَلَا تُحِبُّ البِيتْزَا. يُحِبُّ عُمَرُ العَصِيرَ، وَلٰكِنَّهُ يُفَضِّلُ المَاءَ لِأَنَّهُ يَشْرَبُهُ كُلَّ يَوْمٍ. تُفَضِّلُ نُورٌ السَّمَكَ أَكْثَرَ مِنَ اللَّحْمِ.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وَهَلْ تُحِبِّينَ العَصِيرَ؟ (And do you like juice?)
ب: نَعَمْ، أُحِبُّهُ كَثِيرًا. (Yes, I like it a lot.)
Website “Preference interview” — all four prompts are the website’s. Website model: أَيَّتُهُمَا تُفَضِّلِينَ: الشَّايَ أَمِ القَهْوَةَ؟ — أُفَضِّلُ الشَّايَ أَكْثَرَ مِنَ القَهْوَةِ. — وَهَلْ تُحِبِّينَ العَصِيرَ؟ — نَعَمْ، أُحِبُّهُ كَثِيرًا. After the interview, Develop students report: هُوَ يُفَضِّلُ … / هِيَ تُفَضِّلُ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and say three likes/dislikes using a displayed sentence frame. · Develop — Compare three food pairs and report a partner’s answers. · Stretch — Summarise class survey results using numbers and plural verb forms.
Website writing task (Stretch): Create a short report about your preferences and one other person’s preferences. Write 7–8 sentences and include one comparison.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كَثِيرًا، خُصُوصًا · لَا أُحِبُّ القَهْوَةَ · أَكْثَرَ مِنَ اللَّحْمِ · هِيَ تُفَضِّلُ. The model has 5 sentences — Develop adds two more to reach 7–8.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(F5-L04 · Giving Reasons: Taste and Health) will spend class time USING this language, so students prepare it tonight — short, simple, easy to access (school guidance: “Simple, Short, Interesting, Relevant, Easy to access”). The five words come from the website F5-L04 lesson (taste and health reasons).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Likes, Dislikes and Preferences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الإِعْجَابُ وَالتَّفْضِيلُ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Extend food opinions with </a:t>
            </a:r>
            <a:pPr algn="l" indent="0" marL="0">
              <a:buNone/>
            </a:pPr>
            <a:r>
              <a:rPr lang="ar-SA" altLang="en-US" sz="1800" dirty="0">
                <a:solidFill>
                  <a:srgbClr val="C6D2E6"/>
                </a:solidFill>
                <a:latin typeface="Amiri" pitchFamily="2" charset="-78"/>
                <a:ea typeface="Amiri" pitchFamily="2" charset="-78"/>
                <a:cs typeface="Amiri" pitchFamily="2" charset="-78"/>
              </a:rPr>
              <a:t>أُفَضِّلُ</a:t>
            </a:r>
            <a:pPr algn="l" indent="0" marL="0">
              <a:buNone/>
            </a:pPr>
            <a:r>
              <a:rPr lang="en-US" sz="1400" dirty="0">
                <a:solidFill>
                  <a:srgbClr val="C6D2E6"/>
                </a:solidFill>
                <a:latin typeface="Calibri" pitchFamily="34" charset="0"/>
                <a:cs typeface="Amiri" pitchFamily="2" charset="-78"/>
              </a:rPr>
              <a:t>, compare two foods with </a:t>
            </a:r>
            <a:pPr algn="l" indent="0" marL="0">
              <a:buNone/>
            </a:pPr>
            <a:r>
              <a:rPr lang="ar-SA" altLang="en-US" sz="1800" dirty="0">
                <a:solidFill>
                  <a:srgbClr val="C6D2E6"/>
                </a:solidFill>
                <a:latin typeface="Amiri" pitchFamily="2" charset="-78"/>
                <a:ea typeface="Amiri" pitchFamily="2" charset="-78"/>
                <a:cs typeface="Amiri" pitchFamily="2" charset="-78"/>
              </a:rPr>
              <a:t>أَكْثَرَ مِنْ</a:t>
            </a:r>
            <a:pPr algn="l" indent="0" marL="0">
              <a:buNone/>
            </a:pPr>
            <a:r>
              <a:rPr lang="en-US" sz="1400" dirty="0">
                <a:solidFill>
                  <a:srgbClr val="C6D2E6"/>
                </a:solidFill>
                <a:latin typeface="Calibri" pitchFamily="34" charset="0"/>
                <a:cs typeface="Amiri" pitchFamily="2" charset="-78"/>
              </a:rPr>
              <a:t>, add intensity words and ask a boy or a girl which they prefer.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F5-L03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Opinion and intensity words, then prefer + more than, and he / she forms.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like / dislike / prefer, fix the mistakes and listen to four friends.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لَذِيذٌ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delicious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“At breakfast I drink milk”?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 آكُلُ الحَلِيبَ.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الحَلِيبِ أَشْرَبُ الفُطُورَ.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 أَشْرَبُ الحَلِيبَ.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يَأْكُلُ فِي العَشَاءِ؟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آكُلُ فِي العَشَاءِ؟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تَأْكُلِينَ فِي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لَذِيذٌ</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healthy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delicious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favourite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favourite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“At breakfast I drink milk”?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الفُطُورِ آكُلُ الحَلِيبَ.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الحَلِيبِ أَشْرَبُ الفُطُورَ.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الفُطُورِ أَشْرَبُ الحَلِيبَ.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drinks take ashrabu.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يَأْكُلُ فِي العَشَاءِ؟</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آكُلُ فِي العَشَاءِ؟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تَأْكُلِينَ فِي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a female listener → taʼkulīna.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F5-L02 frequency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 like it → I like it a lot → I prefer it MORE THAN something else.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أُحِبُّ الشَّايَ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كَثِيرًا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أُفَضِّلُ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الشَّايَ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أَكْثَرَ مِنَ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أُحِبُّ، لَا أُحِبُّ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 in food contexts.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foods using </a:t>
            </a:r>
            <a:pPr algn="l" indent="0" marL="0">
              <a:buNone/>
            </a:pPr>
            <a:r>
              <a:rPr lang="ar-SA" altLang="en-US" sz="1700" dirty="0">
                <a:solidFill>
                  <a:srgbClr val="1F2A37"/>
                </a:solidFill>
                <a:latin typeface="Amiri" pitchFamily="2" charset="-78"/>
                <a:ea typeface="Amiri" pitchFamily="2" charset="-78"/>
                <a:cs typeface="Amiri" pitchFamily="2" charset="-78"/>
              </a:rPr>
              <a:t>أَكْثَرَ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male and female classmates about preferences.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stated and implied preferences in short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three different food opinions.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t>
            </a:r>
            <a:pPr algn="l" indent="0" marL="0">
              <a:buNone/>
            </a:pPr>
            <a:r>
              <a:rPr lang="ar-SA" altLang="en-US" sz="1700" b="1" dirty="0">
                <a:solidFill>
                  <a:srgbClr val="2E8B57"/>
                </a:solidFill>
                <a:latin typeface="Amiri" pitchFamily="2" charset="-78"/>
                <a:ea typeface="Amiri" pitchFamily="2" charset="-78"/>
                <a:cs typeface="Amiri" pitchFamily="2" charset="-78"/>
              </a:rPr>
              <a:t>كَثِيرًا</a:t>
            </a:r>
            <a:pPr algn="l" indent="0" marL="0">
              <a:buNone/>
            </a:pPr>
            <a:r>
              <a:rPr lang="en-US" sz="1300" b="1" dirty="0">
                <a:solidFill>
                  <a:srgbClr val="2E8B57"/>
                </a:solidFill>
                <a:latin typeface="Calibri" pitchFamily="34" charset="0"/>
                <a:cs typeface="Amiri" pitchFamily="2" charset="-78"/>
              </a:rPr>
              <a:t> or </a:t>
            </a:r>
            <a:pPr algn="l" indent="0" marL="0">
              <a:buNone/>
            </a:pPr>
            <a:r>
              <a:rPr lang="ar-SA" altLang="en-US" sz="1700" b="1" dirty="0">
                <a:solidFill>
                  <a:srgbClr val="2E8B57"/>
                </a:solidFill>
                <a:latin typeface="Amiri" pitchFamily="2" charset="-78"/>
                <a:ea typeface="Amiri" pitchFamily="2" charset="-78"/>
                <a:cs typeface="Amiri" pitchFamily="2" charset="-78"/>
              </a:rPr>
              <a:t>جِدًّا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foods with </a:t>
            </a:r>
            <a:pPr algn="l" indent="0" marL="0">
              <a:buNone/>
            </a:pPr>
            <a:r>
              <a:rPr lang="ar-SA" altLang="en-US" sz="1700" b="1" dirty="0">
                <a:solidFill>
                  <a:srgbClr val="C9780A"/>
                </a:solidFill>
                <a:latin typeface="Amiri" pitchFamily="2" charset="-78"/>
                <a:ea typeface="Amiri" pitchFamily="2" charset="-78"/>
                <a:cs typeface="Amiri" pitchFamily="2" charset="-78"/>
              </a:rPr>
              <a:t>أَكْثَرَ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report what he or she prefers.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ask “which of the two?” to a boy or a girl.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 class survey with numbers.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Opinion language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Comparison and intensity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Questions and reporting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أُفَضِّلُ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‎فضیلت / افضل‎ </a:t>
            </a:r>
            <a:pPr indent="0" marL="0">
              <a:buNone/>
            </a:pPr>
            <a:r>
              <a:rPr lang="en-US" sz="950" b="1" dirty="0">
                <a:solidFill>
                  <a:srgbClr val="2E8B57"/>
                </a:solidFill>
                <a:latin typeface="Calibri" pitchFamily="34" charset="0"/>
                <a:cs typeface="Amiri" pitchFamily="2" charset="-78"/>
              </a:rPr>
              <a:t> afzal · Urdu: best, excellence → I prefer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مُفَضَّلٌ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‎پسندیدہ‎ </a:t>
            </a:r>
            <a:pPr indent="0" marL="0">
              <a:buNone/>
            </a:pPr>
            <a:r>
              <a:rPr lang="en-US" sz="950" b="1" dirty="0">
                <a:solidFill>
                  <a:srgbClr val="2E8B57"/>
                </a:solidFill>
                <a:latin typeface="Calibri" pitchFamily="34" charset="0"/>
                <a:cs typeface="Amiri" pitchFamily="2" charset="-78"/>
              </a:rPr>
              <a:t> pasandīda · favourite (a new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خُصُوصًا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‎خصوصاً‎ </a:t>
            </a:r>
            <a:pPr indent="0" marL="0">
              <a:buNone/>
            </a:pPr>
            <a:r>
              <a:rPr lang="en-US" sz="950" b="1" dirty="0">
                <a:solidFill>
                  <a:srgbClr val="2E8B57"/>
                </a:solidFill>
                <a:latin typeface="Calibri" pitchFamily="34" charset="0"/>
                <a:cs typeface="Amiri" pitchFamily="2" charset="-78"/>
              </a:rPr>
              <a:t> khusūsan · especially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عِشْقٌ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‎عشق‎ </a:t>
            </a:r>
            <a:pPr indent="0" marL="0">
              <a:buNone/>
            </a:pPr>
            <a:r>
              <a:rPr lang="en-US" sz="950" b="1" dirty="0">
                <a:solidFill>
                  <a:srgbClr val="2E8B57"/>
                </a:solidFill>
                <a:latin typeface="Calibri" pitchFamily="34" charset="0"/>
                <a:cs typeface="Amiri" pitchFamily="2" charset="-78"/>
              </a:rPr>
              <a:t> ishq · passion → I adore (aʿshaqu)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قَلِيلًا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‎قلیل‎ </a:t>
            </a:r>
            <a:pPr indent="0" marL="0">
              <a:buNone/>
            </a:pPr>
            <a:r>
              <a:rPr lang="en-US" sz="950" b="1" dirty="0">
                <a:solidFill>
                  <a:srgbClr val="2E8B57"/>
                </a:solidFill>
                <a:latin typeface="Calibri" pitchFamily="34" charset="0"/>
                <a:cs typeface="Amiri" pitchFamily="2" charset="-78"/>
              </a:rPr>
              <a:t> qalīl · little → a little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Opinion language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love</a:t>
            </a:r>
            <a:endParaRPr lang="en-US" sz="1350" dirty="0"/>
          </a:p>
          <a:p>
            <a:pPr indent="0" marL="0">
              <a:buNone/>
            </a:pPr>
            <a:r>
              <a:rPr lang="en-US" sz="1100" i="1" dirty="0">
                <a:solidFill>
                  <a:srgbClr val="5A6472"/>
                </a:solidFill>
                <a:latin typeface="Calibri" pitchFamily="34" charset="0"/>
                <a:cs typeface="Amiri" pitchFamily="2" charset="-78"/>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أُحِبُّ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like</a:t>
            </a:r>
            <a:endParaRPr lang="en-US" sz="1350" dirty="0"/>
          </a:p>
          <a:p>
            <a:pPr indent="0" marL="0">
              <a:buNone/>
            </a:pPr>
            <a:r>
              <a:rPr lang="en-US" sz="1100" i="1" dirty="0">
                <a:solidFill>
                  <a:srgbClr val="5A6472"/>
                </a:solidFill>
                <a:latin typeface="Calibri" pitchFamily="34" charset="0"/>
                <a:cs typeface="Amiri" pitchFamily="2" charset="-78"/>
              </a:rPr>
              <a:t>lā u-ḥib-bu</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يُفَضِّلُ</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تُفَضِّلُ</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نُفَضِّلُ</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أَعْشَقُ</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adore / love</a:t>
            </a:r>
            <a:endParaRPr lang="en-US" sz="1350" dirty="0"/>
          </a:p>
          <a:p>
            <a:pPr indent="0" marL="0">
              <a:buNone/>
            </a:pPr>
            <a:r>
              <a:rPr lang="en-US" sz="1100" i="1" dirty="0">
                <a:solidFill>
                  <a:srgbClr val="5A6472"/>
                </a:solidFill>
                <a:latin typeface="Calibri" pitchFamily="34" charset="0"/>
                <a:cs typeface="Amiri" pitchFamily="2" charset="-78"/>
              </a:rPr>
              <a:t>aʿ-sha-qu</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أَسْتَطِيعُ أَنْ آكُلَ</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cannot eat</a:t>
            </a:r>
            <a:endParaRPr lang="en-US" sz="1350" dirty="0"/>
          </a:p>
          <a:p>
            <a:pPr indent="0" marL="0">
              <a:buNone/>
            </a:pPr>
            <a:r>
              <a:rPr lang="en-US" sz="1100" i="1" dirty="0">
                <a:solidFill>
                  <a:srgbClr val="5A6472"/>
                </a:solidFill>
                <a:latin typeface="Calibri" pitchFamily="34" charset="0"/>
                <a:cs typeface="Amiri" pitchFamily="2" charset="-78"/>
              </a:rPr>
              <a:t>lā as-ta-ṭī-ʿu an ā-ku-la</a:t>
            </a:r>
            <a:endParaRPr lang="en-US" sz="135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1" name="Shape 6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طَعَامِي المُفَضَّلُ</a:t>
            </a:r>
            <a:endParaRPr lang="ar-SA" sz="3000" dirty="0"/>
          </a:p>
        </p:txBody>
      </p:sp>
      <p:sp>
        <p:nvSpPr>
          <p:cNvPr id="76" name="Text 7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favourite food</a:t>
            </a:r>
            <a:endParaRPr lang="en-US" sz="1350" dirty="0"/>
          </a:p>
          <a:p>
            <a:pPr indent="0" marL="0">
              <a:buNone/>
            </a:pPr>
            <a:r>
              <a:rPr lang="en-US" sz="1100" i="1" dirty="0">
                <a:solidFill>
                  <a:srgbClr val="5A6472"/>
                </a:solidFill>
                <a:latin typeface="Calibri" pitchFamily="34" charset="0"/>
                <a:cs typeface="Amiri" pitchFamily="2" charset="-78"/>
              </a:rPr>
              <a:t>ṭa-ʿā-mī al-mu-faḍ-ḍa-lu</a:t>
            </a:r>
            <a:endParaRPr lang="en-US" sz="1350" dirty="0"/>
          </a:p>
        </p:txBody>
      </p:sp>
      <p:sp>
        <p:nvSpPr>
          <p:cNvPr id="77" name="Shape 7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food (m.)</a:t>
            </a:r>
            <a:endParaRPr lang="en-US" sz="700" dirty="0"/>
          </a:p>
        </p:txBody>
      </p:sp>
      <p:sp>
        <p:nvSpPr>
          <p:cNvPr id="79" name="Text 76"/>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طَعَامِي المُفَضَّلُ</a:t>
            </a:r>
            <a:endParaRPr lang="ar-SA" sz="1350" dirty="0"/>
          </a:p>
        </p:txBody>
      </p:sp>
      <p:sp>
        <p:nvSpPr>
          <p:cNvPr id="80" name="Shape 7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drink (m.)</a:t>
            </a:r>
            <a:endParaRPr lang="en-US" sz="700" dirty="0"/>
          </a:p>
        </p:txBody>
      </p:sp>
      <p:sp>
        <p:nvSpPr>
          <p:cNvPr id="82" name="Text 79"/>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مَشْرُوبِي المُفَضَّلُ</a:t>
            </a:r>
            <a:endParaRPr lang="ar-SA" sz="1350" dirty="0"/>
          </a:p>
        </p:txBody>
      </p:sp>
      <p:sp>
        <p:nvSpPr>
          <p:cNvPr id="83" name="Shape 8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fruit (f.)</a:t>
            </a:r>
            <a:endParaRPr lang="en-US" sz="700" dirty="0"/>
          </a:p>
        </p:txBody>
      </p:sp>
      <p:sp>
        <p:nvSpPr>
          <p:cNvPr id="85" name="Text 82"/>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فَاكِهَتِي المُفَضَّلَةُ</a:t>
            </a:r>
            <a:endParaRPr lang="ar-SA" sz="13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and intensity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than</a:t>
            </a:r>
            <a:endParaRPr lang="en-US" sz="1350" dirty="0"/>
          </a:p>
          <a:p>
            <a:pPr indent="0" marL="0">
              <a:buNone/>
            </a:pPr>
            <a:r>
              <a:rPr lang="en-US" sz="1100" i="1" dirty="0">
                <a:solidFill>
                  <a:srgbClr val="5A6472"/>
                </a:solidFill>
                <a:latin typeface="Calibri" pitchFamily="34" charset="0"/>
                <a:cs typeface="Amiri" pitchFamily="2" charset="-78"/>
              </a:rPr>
              <a:t>a-qal-la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كَثِيرًا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lot</a:t>
            </a:r>
            <a:endParaRPr lang="en-US" sz="1350" dirty="0"/>
          </a:p>
          <a:p>
            <a:pPr indent="0" marL="0">
              <a:buNone/>
            </a:pPr>
            <a:r>
              <a:rPr lang="en-US" sz="1100" i="1" dirty="0">
                <a:solidFill>
                  <a:srgbClr val="5A6472"/>
                </a:solidFill>
                <a:latin typeface="Calibri" pitchFamily="34" charset="0"/>
                <a:cs typeface="Amiri" pitchFamily="2" charset="-78"/>
              </a:rPr>
              <a:t>ka-thī-ran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little</a:t>
            </a:r>
            <a:endParaRPr lang="en-US" sz="1350" dirty="0"/>
          </a:p>
          <a:p>
            <a:pPr indent="0" marL="0">
              <a:buNone/>
            </a:pPr>
            <a:r>
              <a:rPr lang="en-US" sz="1100" i="1" dirty="0">
                <a:solidFill>
                  <a:srgbClr val="5A6472"/>
                </a:solidFill>
                <a:latin typeface="Calibri" pitchFamily="34" charset="0"/>
                <a:cs typeface="Amiri" pitchFamily="2" charset="-78"/>
              </a:rPr>
              <a:t>qa-lī-lan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جِدًّا</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very</a:t>
            </a:r>
            <a:endParaRPr lang="en-US" sz="1350" dirty="0"/>
          </a:p>
          <a:p>
            <a:pPr indent="0" marL="0">
              <a:buNone/>
            </a:pPr>
            <a:r>
              <a:rPr lang="en-US" sz="1100" i="1" dirty="0">
                <a:solidFill>
                  <a:srgbClr val="5A6472"/>
                </a:solidFill>
                <a:latin typeface="Calibri" pitchFamily="34" charset="0"/>
                <a:cs typeface="Amiri" pitchFamily="2" charset="-78"/>
              </a:rPr>
              <a:t>jid-dan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خُصُوصًا</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and reporting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تُحِبُّ؟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(m)</a:t>
            </a:r>
            <a:endParaRPr lang="en-US" sz="1350" dirty="0"/>
          </a:p>
          <a:p>
            <a:pPr indent="0" marL="0">
              <a:buNone/>
            </a:pPr>
            <a:r>
              <a:rPr lang="en-US" sz="1100" i="1" dirty="0">
                <a:solidFill>
                  <a:srgbClr val="5A6472"/>
                </a:solidFill>
                <a:latin typeface="Calibri" pitchFamily="34" charset="0"/>
                <a:cs typeface="Amiri" pitchFamily="2" charset="-78"/>
              </a:rPr>
              <a:t>hal tu-ḥib-bu?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تُحِبِّينَ؟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(f)</a:t>
            </a:r>
            <a:endParaRPr lang="en-US" sz="1350" dirty="0"/>
          </a:p>
          <a:p>
            <a:pPr indent="0" marL="0">
              <a:buNone/>
            </a:pPr>
            <a:r>
              <a:rPr lang="en-US" sz="1100" i="1" dirty="0">
                <a:solidFill>
                  <a:srgbClr val="5A6472"/>
                </a:solidFill>
                <a:latin typeface="Calibri" pitchFamily="34" charset="0"/>
                <a:cs typeface="Amiri" pitchFamily="2" charset="-78"/>
              </a:rPr>
              <a:t>hal tu-ḥib-bī-na?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أَيُّهُمَا تُفَضِّلُ؟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of the two do you prefer? (m)</a:t>
            </a:r>
            <a:endParaRPr lang="en-US" sz="1350" dirty="0"/>
          </a:p>
          <a:p>
            <a:pPr indent="0" marL="0">
              <a:buNone/>
            </a:pPr>
            <a:r>
              <a:rPr lang="en-US" sz="1100" i="1" dirty="0">
                <a:solidFill>
                  <a:srgbClr val="5A6472"/>
                </a:solidFill>
                <a:latin typeface="Calibri" pitchFamily="34" charset="0"/>
                <a:cs typeface="Amiri" pitchFamily="2" charset="-78"/>
              </a:rPr>
              <a:t>ay-yu-hu-mā tu-faḍ-ḍi-lu?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أَيَّتُهُمَا تُفَضِّلِينَ؟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of the two do you prefer? (f)</a:t>
            </a:r>
            <a:endParaRPr lang="en-US" sz="1350" dirty="0"/>
          </a:p>
          <a:p>
            <a:pPr indent="0" marL="0">
              <a:buNone/>
            </a:pPr>
            <a:r>
              <a:rPr lang="en-US" sz="1100" i="1" dirty="0">
                <a:solidFill>
                  <a:srgbClr val="5A6472"/>
                </a:solidFill>
                <a:latin typeface="Calibri" pitchFamily="34" charset="0"/>
                <a:cs typeface="Amiri" pitchFamily="2" charset="-78"/>
              </a:rPr>
              <a:t>ay-ya-tu-hu-mā tu-faḍ-ḍi-lī-na?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 يُفَضِّلُ</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prefers</a:t>
            </a:r>
            <a:endParaRPr lang="en-US" sz="1350" dirty="0"/>
          </a:p>
          <a:p>
            <a:pPr indent="0" marL="0">
              <a:buNone/>
            </a:pPr>
            <a:r>
              <a:rPr lang="en-US" sz="1100" i="1" dirty="0">
                <a:solidFill>
                  <a:srgbClr val="5A6472"/>
                </a:solidFill>
                <a:latin typeface="Calibri" pitchFamily="34" charset="0"/>
                <a:cs typeface="Amiri" pitchFamily="2" charset="-78"/>
              </a:rPr>
              <a:t>hu-wa yu-faḍ-ḍi-lu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هِيَ تُفَضِّلُ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prefers</a:t>
            </a:r>
            <a:endParaRPr lang="en-US" sz="1350" dirty="0"/>
          </a:p>
          <a:p>
            <a:pPr indent="0" marL="0">
              <a:buNone/>
            </a:pPr>
            <a:r>
              <a:rPr lang="en-US" sz="1100" i="1" dirty="0">
                <a:solidFill>
                  <a:srgbClr val="5A6472"/>
                </a:solidFill>
                <a:latin typeface="Calibri" pitchFamily="34" charset="0"/>
                <a:cs typeface="Amiri" pitchFamily="2" charset="-78"/>
              </a:rPr>
              <a:t>hi-ya tu-faḍ-ḍi-lu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PREFER + MORE THAN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prefer A more than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 أَكْثَرَ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027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63347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39328" y="2267712"/>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dates a lot.</a:t>
            </a:r>
            <a:endParaRPr lang="en-US" sz="1100" dirty="0"/>
          </a:p>
        </p:txBody>
      </p:sp>
      <p:sp>
        <p:nvSpPr>
          <p:cNvPr id="21" name="Text 18"/>
          <p:cNvSpPr txBox="1"/>
          <p:nvPr/>
        </p:nvSpPr>
        <p:spPr>
          <a:xfrm>
            <a:off x="2651760" y="2267712"/>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أُحِبُّ التَّمْرَ </a:t>
            </a:r>
            <a:pPr rtl="1" algn="ctr" indent="0" marL="0">
              <a:buNone/>
            </a:pPr>
            <a:r>
              <a:rPr lang="ar-SA" altLang="en-US" sz="2600" b="1" dirty="0">
                <a:solidFill>
                  <a:srgbClr val="7B3FA0"/>
                </a:solidFill>
                <a:latin typeface="Amiri" pitchFamily="2" charset="-78"/>
                <a:ea typeface="Amiri" pitchFamily="2" charset="-78"/>
                <a:cs typeface="Amiri" pitchFamily="2" charset="-78"/>
              </a:rPr>
              <a:t>كَثِيرًا</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like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339328" y="300471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juice.</a:t>
            </a:r>
            <a:endParaRPr lang="en-US" sz="1100" dirty="0"/>
          </a:p>
        </p:txBody>
      </p:sp>
      <p:sp>
        <p:nvSpPr>
          <p:cNvPr id="27" name="Text 24"/>
          <p:cNvSpPr txBox="1"/>
          <p:nvPr/>
        </p:nvSpPr>
        <p:spPr>
          <a:xfrm>
            <a:off x="2651760" y="300471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أُفَضِّلُ</a:t>
            </a:r>
            <a:pPr rtl="1" algn="ctr" indent="0" marL="0">
              <a:buNone/>
            </a:pPr>
            <a:r>
              <a:rPr lang="ar-SA" altLang="en-US" sz="2600" b="1" dirty="0">
                <a:solidFill>
                  <a:srgbClr val="1B3B6F"/>
                </a:solidFill>
                <a:latin typeface="Amiri" pitchFamily="2" charset="-78"/>
                <a:ea typeface="Amiri" pitchFamily="2" charset="-78"/>
                <a:cs typeface="Amiri" pitchFamily="2" charset="-78"/>
              </a:rPr>
              <a:t> العَصِيرَ.</a:t>
            </a:r>
            <a:endParaRPr lang="ar-SA" sz="26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prefer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339328" y="3741725"/>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fish more than meat.</a:t>
            </a:r>
            <a:endParaRPr lang="en-US" sz="1100" dirty="0"/>
          </a:p>
        </p:txBody>
      </p:sp>
      <p:sp>
        <p:nvSpPr>
          <p:cNvPr id="33" name="Text 30"/>
          <p:cNvSpPr txBox="1"/>
          <p:nvPr/>
        </p:nvSpPr>
        <p:spPr>
          <a:xfrm>
            <a:off x="2651760" y="3741725"/>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أُفَضِّلُ</a:t>
            </a:r>
            <a:pPr rtl="1" algn="ctr" indent="0" marL="0">
              <a:buNone/>
            </a:pPr>
            <a:r>
              <a:rPr lang="ar-SA" altLang="en-US" sz="2600" b="1" dirty="0">
                <a:solidFill>
                  <a:srgbClr val="1B3B6F"/>
                </a:solidFill>
                <a:latin typeface="Amiri" pitchFamily="2" charset="-78"/>
                <a:ea typeface="Amiri" pitchFamily="2" charset="-78"/>
                <a:cs typeface="Amiri" pitchFamily="2" charset="-78"/>
              </a:rPr>
              <a:t> السَّمَكَ </a:t>
            </a:r>
            <a:pPr rtl="1" algn="ctr" indent="0" marL="0">
              <a:buNone/>
            </a:pPr>
            <a:r>
              <a:rPr lang="ar-SA" altLang="en-US" sz="2600" b="1" dirty="0">
                <a:solidFill>
                  <a:srgbClr val="0E7C86"/>
                </a:solidFill>
                <a:latin typeface="Amiri" pitchFamily="2" charset="-78"/>
                <a:ea typeface="Amiri" pitchFamily="2" charset="-78"/>
                <a:cs typeface="Amiri" pitchFamily="2" charset="-78"/>
              </a:rPr>
              <a:t>أَكْثَرَ مِنَ</a:t>
            </a:r>
            <a:pPr rtl="1" algn="ctr" indent="0" marL="0">
              <a:buNone/>
            </a:pPr>
            <a:r>
              <a:rPr lang="ar-SA" altLang="en-US" sz="2600" b="1" dirty="0">
                <a:solidFill>
                  <a:srgbClr val="1B3B6F"/>
                </a:solidFill>
                <a:latin typeface="Amiri" pitchFamily="2" charset="-78"/>
                <a:ea typeface="Amiri" pitchFamily="2" charset="-78"/>
                <a:cs typeface="Amiri" pitchFamily="2" charset="-78"/>
              </a:rPr>
              <a:t> اللَّحْمِ.</a:t>
            </a:r>
            <a:endParaRPr lang="ar-SA" sz="26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compare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339328" y="4478731"/>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tea more than coffee.</a:t>
            </a:r>
            <a:endParaRPr lang="en-US" sz="1100" dirty="0"/>
          </a:p>
        </p:txBody>
      </p:sp>
      <p:sp>
        <p:nvSpPr>
          <p:cNvPr id="39" name="Text 36"/>
          <p:cNvSpPr txBox="1"/>
          <p:nvPr/>
        </p:nvSpPr>
        <p:spPr>
          <a:xfrm>
            <a:off x="2651760" y="4478731"/>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2" charset="-78"/>
                <a:ea typeface="Amiri" pitchFamily="2" charset="-78"/>
                <a:cs typeface="Amiri" pitchFamily="2" charset="-78"/>
              </a:rPr>
              <a:t>أُفَضِّلُ</a:t>
            </a:r>
            <a:pPr rtl="1" algn="ctr" indent="0" marL="0">
              <a:buNone/>
            </a:pPr>
            <a:r>
              <a:rPr lang="ar-SA" altLang="en-US" sz="2600" b="1" dirty="0">
                <a:solidFill>
                  <a:srgbClr val="1B3B6F"/>
                </a:solidFill>
                <a:latin typeface="Amiri" pitchFamily="2" charset="-78"/>
                <a:ea typeface="Amiri" pitchFamily="2" charset="-78"/>
                <a:cs typeface="Amiri" pitchFamily="2" charset="-78"/>
              </a:rPr>
              <a:t> الشَّايَ </a:t>
            </a:r>
            <a:pPr rtl="1" algn="ctr" indent="0" marL="0">
              <a:buNone/>
            </a:pPr>
            <a:r>
              <a:rPr lang="ar-SA" altLang="en-US" sz="2600" b="1" dirty="0">
                <a:solidFill>
                  <a:srgbClr val="0E7C86"/>
                </a:solidFill>
                <a:latin typeface="Amiri" pitchFamily="2" charset="-78"/>
                <a:ea typeface="Amiri" pitchFamily="2" charset="-78"/>
                <a:cs typeface="Amiri" pitchFamily="2" charset="-78"/>
              </a:rPr>
              <a:t>أَكْثَرَ مِنَ</a:t>
            </a:r>
            <a:pPr rtl="1" algn="ctr" indent="0" marL="0">
              <a:buNone/>
            </a:pPr>
            <a:r>
              <a:rPr lang="ar-SA" altLang="en-US" sz="2600" b="1" dirty="0">
                <a:solidFill>
                  <a:srgbClr val="1B3B6F"/>
                </a:solidFill>
                <a:latin typeface="Amiri" pitchFamily="2" charset="-78"/>
                <a:ea typeface="Amiri" pitchFamily="2" charset="-78"/>
                <a:cs typeface="Amiri" pitchFamily="2" charset="-78"/>
              </a:rPr>
              <a:t> القَهْوَةِ.</a:t>
            </a:r>
            <a:endParaRPr lang="ar-SA" sz="2600" dirty="0"/>
          </a:p>
        </p:txBody>
      </p:sp>
      <p:sp>
        <p:nvSpPr>
          <p:cNvPr id="40" name="Text 37"/>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compare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339328" y="5215738"/>
            <a:ext cx="33192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eat meat less than chicken.</a:t>
            </a:r>
            <a:endParaRPr lang="en-US" sz="1100" dirty="0"/>
          </a:p>
        </p:txBody>
      </p:sp>
      <p:sp>
        <p:nvSpPr>
          <p:cNvPr id="43" name="Text 40"/>
          <p:cNvSpPr txBox="1"/>
          <p:nvPr/>
        </p:nvSpPr>
        <p:spPr>
          <a:xfrm>
            <a:off x="2651760" y="5215738"/>
            <a:ext cx="54864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آكُلُ اللَّحْمَ </a:t>
            </a:r>
            <a:pPr rtl="1" algn="ctr" indent="0" marL="0">
              <a:buNone/>
            </a:pPr>
            <a:r>
              <a:rPr lang="ar-SA" altLang="en-US" sz="2600" b="1" dirty="0">
                <a:solidFill>
                  <a:srgbClr val="0E7C86"/>
                </a:solidFill>
                <a:latin typeface="Amiri" pitchFamily="2" charset="-78"/>
                <a:ea typeface="Amiri" pitchFamily="2" charset="-78"/>
                <a:cs typeface="Amiri" pitchFamily="2" charset="-78"/>
              </a:rPr>
              <a:t>أَقَلَّ مِنَ</a:t>
            </a:r>
            <a:pPr rtl="1" algn="ctr" indent="0" marL="0">
              <a:buNone/>
            </a:pPr>
            <a:r>
              <a:rPr lang="ar-SA" altLang="en-US" sz="2600" b="1" dirty="0">
                <a:solidFill>
                  <a:srgbClr val="1B3B6F"/>
                </a:solidFill>
                <a:latin typeface="Amiri" pitchFamily="2" charset="-78"/>
                <a:ea typeface="Amiri" pitchFamily="2" charset="-78"/>
                <a:cs typeface="Amiri" pitchFamily="2" charset="-78"/>
              </a:rPr>
              <a:t> الدَّجَاجِ.</a:t>
            </a:r>
            <a:endParaRPr lang="ar-SA" sz="2600" dirty="0"/>
          </a:p>
        </p:txBody>
      </p:sp>
      <p:sp>
        <p:nvSpPr>
          <p:cNvPr id="44" name="Text 41"/>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less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Preferred item FIRST, then the whole chunk akthara min + the second item (ending in -i).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REPORT AND ASK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 prefers, she prefers — which one?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يُفَضِّلُ · تُفَضِّلُ · أَمْ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4114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4114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t>
            </a:r>
            <a:endParaRPr lang="en-US" sz="850" dirty="0"/>
          </a:p>
        </p:txBody>
      </p:sp>
      <p:sp>
        <p:nvSpPr>
          <p:cNvPr id="18" name="Text 15"/>
          <p:cNvSpPr txBox="1"/>
          <p:nvPr/>
        </p:nvSpPr>
        <p:spPr>
          <a:xfrm>
            <a:off x="8689848" y="1874520"/>
            <a:ext cx="29047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هُوَ يُفَضِّلُ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هُوَ يُفَضِّلُ المَاءَ.</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prefers water.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 for he.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4800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4800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SHE</a:t>
            </a:r>
            <a:endParaRPr lang="en-US" sz="850" dirty="0"/>
          </a:p>
        </p:txBody>
      </p:sp>
      <p:sp>
        <p:nvSpPr>
          <p:cNvPr id="26" name="Text 23"/>
          <p:cNvSpPr txBox="1"/>
          <p:nvPr/>
        </p:nvSpPr>
        <p:spPr>
          <a:xfrm>
            <a:off x="4939284" y="1874520"/>
            <a:ext cx="28361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هِيَ تُفَضِّلُ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هِيَ تُفَضِّلُ العَصِيرَ.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prefers juice.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 for she.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WHICH? · A OR B</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أَيُّهُمَا …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أَيُّهُمَا تُفَضِّلُ: الأَرُزَّ أَمِ الخُبْزَ؟</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Which do you prefer: rice or bread?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am = or (in questions).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with hiya the verb starts with 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هِيَ تُفَضِّلُ الشَّايَ.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هِيَ يُفَضِّلُ الشَّايَ.</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التَّفْضِيلُ وَالمُقَارَنَةُ بِـ أَكْثَرَ مِنْ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State a preference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 الشَّيْءَ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العَصِيرَ.   ·   أُفَضِّلُ الفَاكِهَةَ.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Compare two items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أُفَضِّلُ أَ + أَكْثَرَ مِنْ + 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أُفَضِّلُ الشَّايَ أَكْثَرَ مِنَ القَهْوَةِ.   ·   أُفَضِّلُ السَّمَكَ أَكْثَرَ مِنَ اللَّحْمِ.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Change the verb for the person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هُوَ يُفَضِّلُ · هِيَ تُفَضِّلُ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يُفَضِّلُ المَاءَ.   ·   هِيَ تُفَضِّلُ العَصِيرَ.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Ask between alternatives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أَيُّهُمَا تُفَضِّلُ: أَ... أَمْ 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أَيُّهُمَا تُفَضِّلُ: الأَرُزَّ أَمِ الخُبْزَ؟   ·   هَلْ تُفَضِّلِينَ الشَّايَ أَمِ القَهْوَةَ؟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prefer water.”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يُفَضِّلُ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المَاءَ.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أُفَضِّلُ السَّمَكَ ___ اللَّحْمِ.</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مِنَ</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two alternatives?</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الشَّايَ؟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أَتُفَضِّلُ الشَّايَ أَمِ القَهْوَةَ؟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تَشْرَبُ الشَّايَ؟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تُفَضِّلُ العَصِيرَ.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يُفَضِّلُ العَصِيرَ.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أُفَضِّلُ العَصِيرَ.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prefer water.”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المَاءَ.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يُفَضِّلُ المَاءَ.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المَاءَ.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verb </a:t>
            </a:r>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for “I prefer”.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أُفَضِّلُ السَّمَكَ ___ اللَّحْمِ.</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مِنَ</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أَكْثَرَ مِنْ</a:t>
            </a:r>
            <a:pPr algn="l" indent="0" marL="0">
              <a:buNone/>
            </a:pPr>
            <a:r>
              <a:rPr lang="en-US" sz="1050" i="1" dirty="0">
                <a:solidFill>
                  <a:srgbClr val="8A6D1E"/>
                </a:solidFill>
                <a:latin typeface="Calibri" pitchFamily="34" charset="0"/>
                <a:cs typeface="Amiri" pitchFamily="2" charset="-78"/>
              </a:rPr>
              <a:t> introduces the less-preferred comparison item.</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two alternatives?</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الشَّايَ؟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أَتُفَضِّلُ الشَّايَ أَمِ القَهْوَةَ؟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تَشْرَبُ الشَّايَ؟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links the two alternatives.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prefers juice.”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تُفَضِّلُ العَصِيرَ.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يُفَضِّلُ العَصِيرَ.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أُفَضِّلُ العَصِيرَ.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verb begins with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a preference report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Like + intensity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أُحِبُّ الفَاكِهَةَ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كَثِيرًا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خُصُوصًا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التُّفَّاحَ.</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lot, especially …</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Dislike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لَا أُحِبُّ القَهْوَةَ.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Lā before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أُفَضِّلُ</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السَّمَكَ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أَكْثَرَ مِنَ</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اللَّحْمِ.</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Preferred item first.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Report her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صَدِيقَتِي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تُفَضِّلُ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العَصِيرَ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أَكْثَرَ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الحَلِيبِ.</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MUCH</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MORE THAN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أُحِبُّ الفَاكِهَةَ </a:t>
            </a:r>
            <a:pPr rtl="1" algn="r" indent="0" marL="0">
              <a:lnSpc>
                <a:spcPct val="120000"/>
              </a:lnSpc>
              <a:buNone/>
            </a:pPr>
            <a:r>
              <a:rPr lang="ar-SA" altLang="en-US" sz="1500" b="1" dirty="0">
                <a:solidFill>
                  <a:srgbClr val="7B3FA0"/>
                </a:solidFill>
                <a:latin typeface="Amiri" pitchFamily="2" charset="-78"/>
                <a:ea typeface="Amiri" pitchFamily="2" charset="-78"/>
                <a:cs typeface="Amiri" pitchFamily="2" charset="-78"/>
              </a:rPr>
              <a:t>كَثِيرًا</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a:t>
            </a:r>
            <a:pPr rtl="1" algn="r" indent="0" marL="0">
              <a:lnSpc>
                <a:spcPct val="120000"/>
              </a:lnSpc>
              <a:buNone/>
            </a:pPr>
            <a:r>
              <a:rPr lang="ar-SA" altLang="en-US" sz="1500" b="1" dirty="0">
                <a:solidFill>
                  <a:srgbClr val="7B3FA0"/>
                </a:solidFill>
                <a:latin typeface="Amiri" pitchFamily="2" charset="-78"/>
                <a:ea typeface="Amiri" pitchFamily="2" charset="-78"/>
                <a:cs typeface="Amiri" pitchFamily="2" charset="-78"/>
              </a:rPr>
              <a:t>خُصُوصًا</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التُّفَّاحَ. لَا أُحِبُّ القَهْوَةَ.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أُفَضِّلُ</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السَّمَكَ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أَكْثَرَ مِنَ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اللَّحْمِ. صَدِيقَتِي تُحِبُّ الدَّجَاجَ، وَلَا تُحِبُّ السَّلَطَةَ. هِيَ </a:t>
            </a:r>
            <a:pPr rtl="1" algn="r" indent="0" marL="0">
              <a:lnSpc>
                <a:spcPct val="120000"/>
              </a:lnSpc>
              <a:buNone/>
            </a:pPr>
            <a:r>
              <a:rPr lang="ar-SA" altLang="en-US" sz="1500" b="1" dirty="0">
                <a:solidFill>
                  <a:srgbClr val="1D5FBF"/>
                </a:solidFill>
                <a:latin typeface="Amiri" pitchFamily="2" charset="-78"/>
                <a:ea typeface="Amiri" pitchFamily="2" charset="-78"/>
                <a:cs typeface="Amiri" pitchFamily="2" charset="-78"/>
              </a:rPr>
              <a:t>تُفَضِّلُ</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العَصِيرَ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أَكْثَرَ مِنَ</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الحَلِيبِ.</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like fruit a lot, especially apples. I don’t like coffee. I prefer fish more than meat. My friend likes chicken and doesn’t like salad. She prefers juice more than milk.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السَّمَكَ أَكْثَرَ مِنَ اللَّحْمِ.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fish more than meat.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أَكْثَرَ مِنْ before the second item.</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أُحِبُّ التَّمْرَ كَثِيرًا.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like dates a lot.</a:t>
            </a:r>
            <a:endParaRPr lang="en-US" sz="1250" dirty="0"/>
          </a:p>
          <a:p>
            <a:pPr indent="0" marL="0">
              <a:buNone/>
            </a:pPr>
            <a:r>
              <a:rPr lang="en-US" sz="1050" i="1" dirty="0">
                <a:solidFill>
                  <a:srgbClr val="8A6D1E"/>
                </a:solidFill>
                <a:latin typeface="Calibri" pitchFamily="34" charset="0"/>
                <a:cs typeface="Amiri" pitchFamily="2" charset="-78"/>
              </a:rPr>
              <a:t>Intensity words usually follow the opinion/object.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أَيَّتُهُمَا تُفَضِّلِينَ: الشَّايَ أَمِ القَهْوَةَ؟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Which do you prefer: tea or coffee? (to a female)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أَمْ links alternatives in a question.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تُفَضِّلُ العَصِيرَ، وَلَا تُحِبُّ الحَلِيبَ.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prefers juice and does not like milk.</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Report another person using يـ / تـ verb forms.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2F6FB0"/>
                </a:solidFill>
                <a:latin typeface="Calibri" pitchFamily="34" charset="0"/>
                <a:cs typeface="Amiri" pitchFamily="2" charset="-78"/>
              </a:rPr>
              <a:t>WE DO · PICTURE MATCH · WEBSITE GAME “VISUAL GAME — LIKES, DISLIKES AND PREFERENCES”</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Like, dislike, prefer: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don’t like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prefer A &gt; B</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أُحِبُّ الحَلِيبَ.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القَهْوَةَ عَلَى المَشْرُوبِ الغَازِيِّ.</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التُّفَّاحَ.</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أُحِبُّ أَمْ لَا أُحِبُّ؟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التُّفَّاحَ.</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apples.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don’t like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أُحِبُّ الحَلِيبَ.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don’t like milk.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prefer A &gt; B</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أُفَضِّلُ القَهْوَةَ عَلَى المَشْرُوبِ الغَازِيِّ.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prefer coffee to fizzy drinks.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Like, dislike or prefer?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الفَرَاوِلَةَ كَثِيرًا.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الحَسَاءَ.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المَاءَ أَكْثَرَ مِنَ العَصِيرِ.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أَعْشَقُ الشُّوكُولَاتَ.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الأَطْعِمَةَ المَالِحَةَ.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هُوَ السَّمَكُ.</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أُحِبُّ · like</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لَا أُحِبُّ · dislike</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أُفَضِّلُ · prefer</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أُحِبُّ · like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الفَرَاوِلَةَ كَثِيرًا.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أَعْشَقُ الشُّوكُولَاتَ.</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لَا أُحِبُّ · dislike</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الحَسَاءَ.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الأَطْعِمَةَ المَالِحَةَ.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أُفَضِّلُ · prefer</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المَاءَ أَكْثَرَ مِنَ العَصِيرِ.</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هُوَ السَّمَكُ.</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كَثِيرًا</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a girl?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تُفَضِّلِينَ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يُفَضِّلُ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for “she prefers”.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يُفَضِّلُ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تُفَضِّلُ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أُفَضِّلُ</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strengthens a like?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كَثِيرًا</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كَثِيرًا</a:t>
            </a:r>
            <a:pPr algn="l" indent="0" marL="0">
              <a:buNone/>
            </a:pPr>
            <a:r>
              <a:rPr lang="en-US" sz="1050" i="1" dirty="0">
                <a:solidFill>
                  <a:srgbClr val="8A6D1E"/>
                </a:solidFill>
                <a:latin typeface="Calibri" pitchFamily="34" charset="0"/>
                <a:cs typeface="Amiri" pitchFamily="2" charset="-78"/>
              </a:rPr>
              <a:t> means “a lot”.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addresses a girl?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تُفَضِّلُ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تُفَضِّلِينَ</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يُفَضِّلُ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for “she prefers”.</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يُفَضِّلُ</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هِيَ تُفَضِّلُ</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أُفَضِّلُ</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use </a:t>
            </a:r>
            <a:pPr algn="l" indent="0" marL="0">
              <a:buNone/>
            </a:pPr>
            <a:r>
              <a:rPr lang="ar-SA" altLang="en-US" sz="1350" dirty="0">
                <a:solidFill>
                  <a:srgbClr val="8A6D1E"/>
                </a:solidFill>
                <a:latin typeface="Amiri" pitchFamily="2" charset="-78"/>
                <a:ea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أَفْضَلُ العَصِيرَ.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Verb “I prefer” or adjective “best”?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السَّمَكَ مِنَ اللَّحْمِ.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a:t>
            </a:r>
            <a:pPr algn="l" indent="0" marL="0">
              <a:buNone/>
            </a:pPr>
            <a:r>
              <a:rPr lang="ar-SA" altLang="en-US" sz="1700" dirty="0">
                <a:solidFill>
                  <a:srgbClr val="5A6472"/>
                </a:solidFill>
                <a:latin typeface="Amiri" pitchFamily="2" charset="-78"/>
                <a:ea typeface="Amiri" pitchFamily="2" charset="-78"/>
                <a:cs typeface="Amiri" pitchFamily="2" charset="-78"/>
              </a:rPr>
              <a:t>مِنَ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يُفَضِّلُ الشَّايَ.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first letter?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أَفْضَلُ العَصِيرَ.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أُفَضِّلُ العَصِيرَ.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أُفَضِّلُ</a:t>
            </a:r>
            <a:pPr algn="l" indent="0" marL="0">
              <a:buNone/>
            </a:pPr>
            <a:r>
              <a:rPr lang="en-US" sz="1150" b="1" dirty="0">
                <a:solidFill>
                  <a:srgbClr val="1B3B6F"/>
                </a:solidFill>
                <a:latin typeface="Calibri" pitchFamily="34" charset="0"/>
                <a:cs typeface="Amiri" pitchFamily="2" charset="-78"/>
              </a:rPr>
              <a:t> is the verb “I prefer”.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السَّمَكَ مِنَ اللَّحْمِ.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السَّمَكَ أَكْثَرَ مِنَ اللَّحْمِ.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complete comparison chunk </a:t>
            </a:r>
            <a:pPr algn="l" indent="0" marL="0">
              <a:buNone/>
            </a:pPr>
            <a:r>
              <a:rPr lang="ar-SA" altLang="en-US" sz="1500" b="1" dirty="0">
                <a:solidFill>
                  <a:srgbClr val="1B3B6F"/>
                </a:solidFill>
                <a:latin typeface="Amiri" pitchFamily="2" charset="-78"/>
                <a:ea typeface="Amiri" pitchFamily="2" charset="-78"/>
                <a:cs typeface="Amiri" pitchFamily="2" charset="-78"/>
              </a:rPr>
              <a:t>أَكْثَرَ 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يُفَضِّلُ الشَّايَ.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تُفَضِّلُ الشَّايَ.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 the present-tense verb begins with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food choices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prefer to cake?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fruit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chocolate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food does Layla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pizza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prefer?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prefer to meat?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beans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تُحِبُّ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أَكْثَرَ مِنْ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يُفَضِّلُ سَامِرٌ التَّمْرَ أَكْثَرَ مِنَ الكَعْكِ.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Samir prefers dates more than cake.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لَيْلَى فَتُحِبُّ الحَسَاءَ وَلَا تُحِبُّ البِيتْزَا.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Layla, she likes soup and doesn’t like pizza.</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عُمَرُ العَصِيرَ، وَلَكِنَّهُ يُفَضِّلُ المَاءَ لِأَنَّهُ يَشْرَبُهُ كُلَّ يَوْمٍ.</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likes juice, but he prefers water because he drinks it every day.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تُفَضِّلُ نُورٌ السَّمَكَ أَكْثَرَ مِنَ اللَّحْمِ.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Nour prefers fish more than meat.</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Samir prefer to cake?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fruit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chocolate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prefers </a:t>
            </a:r>
            <a:pPr algn="l" indent="0" marL="0">
              <a:buNone/>
            </a:pPr>
            <a:r>
              <a:rPr lang="ar-SA" altLang="en-US" sz="1350" dirty="0">
                <a:solidFill>
                  <a:srgbClr val="8A6D1E"/>
                </a:solidFill>
                <a:latin typeface="Amiri" pitchFamily="2" charset="-78"/>
                <a:ea typeface="Amiri" pitchFamily="2" charset="-78"/>
                <a:cs typeface="Amiri" pitchFamily="2" charset="-78"/>
              </a:rPr>
              <a:t>التَّمْرَ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food does Layla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pizza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لَا تُحِبُّ البِيتْزَا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prefer?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likes juice but prefers water.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Nour prefer to meat?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beans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prefers </a:t>
            </a:r>
            <a:pPr algn="l" indent="0" marL="0">
              <a:buNone/>
            </a:pPr>
            <a:r>
              <a:rPr lang="ar-SA" altLang="en-US" sz="1350" dirty="0">
                <a:solidFill>
                  <a:srgbClr val="8A6D1E"/>
                </a:solidFill>
                <a:latin typeface="Amiri" pitchFamily="2" charset="-78"/>
                <a:ea typeface="Amiri" pitchFamily="2" charset="-78"/>
                <a:cs typeface="Amiri" pitchFamily="2" charset="-78"/>
              </a:rPr>
              <a:t>السَّمَكَ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يُفَضِّلُ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لَا تُحِبُّ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أَكْثَرَ مِنْ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Preference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طَعَامُكَ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أَيُّهُمَا تُفَضِّلُ: السَّمَكَ أَمِ الدَّجَاجَ؟</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الخَضْرَوَاتِ؟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المَشْرُوبُ الَّذِي لَا تُحِبُّهُ؟ وَمَاذَا تُفَضِّلُ؟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طَعَامِي المُفَضَّلُ هُوَ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أَكْثَرَ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أُحِبُّهَا كَثِيرًا / لَا، لَا أُحِبُّهَا.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أُحِبُّ ___ ، وَأُفَضِّلُ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أَيَّتُهُمَا تُفَضِّلِينَ: الشَّايَ أَمِ القَهْوَةَ؟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do you (f.) prefer: tea or coffee?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أُفَضِّلُ الشَّايَ أَكْثَرَ مِنَ القَهْوَةِ.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prefer tea more than coffee.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Choose and say three likes/dislikes using a displayed sentence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Like, like a lot, don’t like, favourite food — from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three food pairs and report a partner’s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preferences + one other person, with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Summarise class survey results using numbers and plural verb forms.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class survey summary with numbers and plural verbs (yufaḍḍilūna).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خُصُوصًا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especially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يُفَضِّلُ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prefers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لَا تُحِبُّ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doesn’t like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أَيُّهُمَا تُفَضِّلُ: ______ أَمِ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Which do you prefer: … or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كَثِيرًا.</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a lot.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طَعَامِي المُفَضَّلُ هُوَ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food is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مَشْرُوبِي المُفَضَّلُ هُوَ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drink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أُحِبُّ  ·  لَا أُحِبُّ  ·  أُفَضِّلُ  ·  يُفَضِّلُ  ·  تُفَضِّلُ  ·  أَكْثَرَ مِنْ  ·  أَقَلَّ مِنْ  ·  كَثِيرًا  ·  جِدًّا  ·  قَلِيلًا  ·  خُصُوصًا  ·  أَمْ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short report about your preferences and one other person’s preferences. Write 7–8 sentences and include one comparison.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أُحِبُّ، لَا أُحِبُّ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أُفَضِّلُ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أَكْثَرَ مِنْ</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هُوَ / هِيَ</a:t>
            </a:r>
            <a:pPr algn="l" indent="0" marL="0">
              <a:buNone/>
            </a:pPr>
            <a:r>
              <a:rPr lang="en-US" sz="1200" dirty="0">
                <a:solidFill>
                  <a:srgbClr val="1F2A37"/>
                </a:solidFill>
                <a:latin typeface="Calibri" pitchFamily="34" charset="0"/>
                <a:cs typeface="Amiri" pitchFamily="2" charset="-78"/>
              </a:rPr>
              <a:t> with the correct verb form.</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one intensity word such as </a:t>
            </a:r>
            <a:pPr algn="l" indent="0" marL="0">
              <a:buNone/>
            </a:pPr>
            <a:r>
              <a:rPr lang="ar-SA" altLang="en-US" sz="1550" dirty="0">
                <a:solidFill>
                  <a:srgbClr val="1F2A37"/>
                </a:solidFill>
                <a:latin typeface="Amiri" pitchFamily="2" charset="-78"/>
                <a:ea typeface="Amiri" pitchFamily="2" charset="-78"/>
                <a:cs typeface="Amiri" pitchFamily="2" charset="-78"/>
              </a:rPr>
              <a:t>كَثِيرًا</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جِدًّا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سَأَلْنَا عَشَرَةَ طُلَّابٍ</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asked ten students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أَرْبَعَةُ طُلَّابٍ يُفَضِّلُونَ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four students prefer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طَالِبَانِ يُحِبَّانِ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two students like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تُحِبُّ اللَّحْمَ وَلَا السَّمَكَ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likes neither meat nor fish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المَشْرُوبُ المُفَضَّلُ فَهُوَ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favourite drink, it is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أُحِبُّ الفَاكِهَةَ كَثِيرًا، خُصُوصًا التُّفَّاحَ. لَا أُحِبُّ القَهْوَةَ. أُفَضِّلُ السَّمَكَ أَكْثَرَ مِنَ اللَّحْمِ. صَدِيقَتِي تُحِبُّ الدَّجَاجَ، وَلَا تُحِبُّ السَّلَطَةَ. هِيَ تُفَضِّلُ العَصِيرَ أَكْثَرَ مِنَ الحَلِيبِ.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fruit a lot, especially apples. I don’t like coffee. I prefer fish more than meat. My friend likes chicken and doesn’t like salad. She prefers juice more than milk.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intensity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dislike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she prefers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three different opinions.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ea typeface="Amiri" pitchFamily="2" charset="-78"/>
                <a:cs typeface="Amiri" pitchFamily="2" charset="-78"/>
              </a:rPr>
              <a:t>أَفْضَلُ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comparison has </a:t>
            </a:r>
            <a:pPr algn="l" indent="0" marL="0">
              <a:buNone/>
            </a:pPr>
            <a:r>
              <a:rPr lang="ar-SA" altLang="en-US" sz="1700" dirty="0">
                <a:solidFill>
                  <a:srgbClr val="1F2A37"/>
                </a:solidFill>
                <a:latin typeface="Amiri" pitchFamily="2" charset="-78"/>
                <a:ea typeface="Amiri" pitchFamily="2" charset="-78"/>
                <a:cs typeface="Amiri" pitchFamily="2" charset="-78"/>
              </a:rPr>
              <a:t>أَكْثَرَ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 → </a:t>
            </a:r>
            <a:pPr algn="l" indent="0" marL="0">
              <a:buNone/>
            </a:pPr>
            <a:r>
              <a:rPr lang="ar-SA" altLang="en-US" sz="1700" dirty="0">
                <a:solidFill>
                  <a:srgbClr val="1F2A37"/>
                </a:solidFill>
                <a:latin typeface="Amiri" pitchFamily="2" charset="-78"/>
                <a:ea typeface="Amiri" pitchFamily="2" charset="-78"/>
                <a:cs typeface="Amiri" pitchFamily="2" charset="-78"/>
              </a:rPr>
              <a:t>يُـ</a:t>
            </a:r>
            <a:pPr algn="l" indent="0" marL="0">
              <a:buNone/>
            </a:pPr>
            <a:r>
              <a:rPr lang="en-US" sz="1300" dirty="0">
                <a:solidFill>
                  <a:srgbClr val="1F2A37"/>
                </a:solidFill>
                <a:latin typeface="Calibri" pitchFamily="34" charset="0"/>
                <a:cs typeface="Amiri" pitchFamily="2" charset="-78"/>
              </a:rPr>
              <a:t>, she → </a:t>
            </a:r>
            <a:pPr algn="l" indent="0" marL="0">
              <a:buNone/>
            </a:pPr>
            <a:r>
              <a:rPr lang="ar-SA" altLang="en-US" sz="1700" dirty="0">
                <a:solidFill>
                  <a:srgbClr val="1F2A37"/>
                </a:solidFill>
                <a:latin typeface="Amiri" pitchFamily="2" charset="-78"/>
                <a:ea typeface="Amiri" pitchFamily="2" charset="-78"/>
                <a:cs typeface="Amiri" pitchFamily="2" charset="-78"/>
              </a:rPr>
              <a:t>تُـ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summarised a survey with numbers.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prefer”?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السَّلَطَةَ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تُفَضِّلُ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السَّمَكَ أَكْثَرَ مِنَ اللَّحْمِ.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أُحِبُّ اللَّحْمَ.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prefer”?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means I prefer.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السَّلَطَةَ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يُفَضِّلُ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تُفَضِّلُ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أُفَضِّلُ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أُفَضِّلُ السَّمَكَ أَكْثَرَ مِنَ اللَّحْمِ.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السَّمَكَ.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أُحِبُّ اللَّحْمَ.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compares fish and meat.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class food survey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سَأَلْنَا عَشَرَةَ طُلَّابٍ عَنْ طَعَامِهِمُ المُفَضَّلِ. أَرْبَعَةُ طُلَّابٍ يُفَضِّلُونَ الدَّجَاجَ، وَثَلَاثَةٌ يُفَضِّلُونَ البِيتْزَا. طَالِبَانِ يُحِبَّانِ السَّمَكَ أَكْثَرَ مِنَ اللَّحْمِ، وَطَالِبَةٌ وَاحِدَةٌ لَا تُحِبُّ اللَّحْمَ وَلَا السَّمَكَ؛ فَهِيَ تُفَضِّلُ الطَّعَامَ النَّبَاتِيَّ. أَمَّا المَشْرُوبُ المُفَضَّلُ فَهُوَ المَاءُ.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سَأَلْنَا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asked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عَشَرَةَ طُلَّابٍ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ten students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طَعَامِهِمُ المُفَضَّلِ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favourite food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يُفَضِّلُونَ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prefer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طَالِبَانِ يُحِبَّانِ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students like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طَالِبَةٌ وَاحِدَةٌ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(girl) student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وَلَا السَّمَكَ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nor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النَّبَاتِيَّ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 … فَـ</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المَشْرُوبُ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preferred chicken?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preferred pizza?</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two students prefer to meat?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food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one student choose vegetarian food?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vegetables.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meat and fish.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cannot drink milk.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favourite drink?</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students preferred chicken?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طُلَّابٍ.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preferred pizza?</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ثَلَاثَةٌ يُفَضِّلُونَ البِيتْزَا.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two students prefer to meat?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vegetarian food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preferred </a:t>
            </a:r>
            <a:pPr algn="l" indent="0" marL="0">
              <a:buNone/>
            </a:pPr>
            <a:r>
              <a:rPr lang="ar-SA" altLang="en-US" sz="1350" dirty="0">
                <a:solidFill>
                  <a:srgbClr val="8A6D1E"/>
                </a:solidFill>
                <a:latin typeface="Amiri" pitchFamily="2" charset="-78"/>
                <a:ea typeface="Amiri" pitchFamily="2" charset="-78"/>
                <a:cs typeface="Amiri" pitchFamily="2" charset="-78"/>
              </a:rPr>
              <a:t>السَّمَكَ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one student choose vegetarian food?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vegetables.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dislikes meat and fish.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cannot drink milk.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explicitly says she likes neither meat nor fish.</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favourite drink?</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says </a:t>
            </a:r>
            <a:pPr algn="l" indent="0" marL="0">
              <a:buNone/>
            </a:pPr>
            <a:r>
              <a:rPr lang="ar-SA" altLang="en-US" sz="1350" dirty="0">
                <a:solidFill>
                  <a:srgbClr val="8A6D1E"/>
                </a:solidFill>
                <a:latin typeface="Amiri" pitchFamily="2" charset="-78"/>
                <a:ea typeface="Amiri" pitchFamily="2" charset="-78"/>
                <a:cs typeface="Amiri" pitchFamily="2" charset="-78"/>
              </a:rPr>
              <a:t>المَاءُ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F5-L03 · Likes and Preferences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F5-L04 · Giving Reasons: Taste and Health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لِأَنَّهُ / لِأَنَّهَا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it (m. / 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حُلْوٌ</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sweet</a:t>
            </a:r>
            <a:pPr indent="0" marL="0">
              <a:buNone/>
            </a:pPr>
            <a:r>
              <a:rPr lang="ar-SA" sz="1000" i="1" dirty="0">
                <a:solidFill>
                  <a:srgbClr val="5A6472"/>
                </a:solidFill>
                <a:latin typeface="Calibri" pitchFamily="34" charset="0"/>
                <a:ea typeface="Amiri" pitchFamily="2" charset="-78"/>
                <a:cs typeface="Amiri" pitchFamily="2" charset="-78"/>
              </a:rPr>
              <a:t>  f. حُلْوَةٌ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مَالِحٌ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salty</a:t>
            </a:r>
            <a:pPr indent="0" marL="0">
              <a:buNone/>
            </a:pPr>
            <a:r>
              <a:rPr lang="ar-SA" sz="1000" i="1" dirty="0">
                <a:solidFill>
                  <a:srgbClr val="5A6472"/>
                </a:solidFill>
                <a:latin typeface="Calibri" pitchFamily="34" charset="0"/>
                <a:ea typeface="Amiri" pitchFamily="2" charset="-78"/>
                <a:cs typeface="Amiri" pitchFamily="2" charset="-78"/>
              </a:rPr>
              <a:t>  f. مَالِحَةٌ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spicy / hot</a:t>
            </a:r>
            <a:pPr indent="0" marL="0">
              <a:buNone/>
            </a:pPr>
            <a:r>
              <a:rPr lang="ar-SA" sz="1000" i="1" dirty="0">
                <a:solidFill>
                  <a:srgbClr val="5A6472"/>
                </a:solidFill>
                <a:latin typeface="Calibri" pitchFamily="34" charset="0"/>
                <a:ea typeface="Amiri" pitchFamily="2" charset="-78"/>
                <a:cs typeface="Amiri" pitchFamily="2" charset="-78"/>
              </a:rPr>
              <a:t>  f. حَارَّةٌ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healthy</a:t>
            </a:r>
            <a:pPr indent="0" marL="0">
              <a:buNone/>
            </a:pPr>
            <a:r>
              <a:rPr lang="ar-SA" sz="1000" i="1" dirty="0">
                <a:solidFill>
                  <a:srgbClr val="5A6472"/>
                </a:solidFill>
                <a:latin typeface="Calibri" pitchFamily="34" charset="0"/>
                <a:ea typeface="Amiri" pitchFamily="2" charset="-78"/>
                <a:cs typeface="Amiri" pitchFamily="2" charset="-78"/>
              </a:rPr>
              <a:t>  f.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Why do you like your favourite food? Write one reason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أُحِبُّ … لِأَنَّهُ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F5-L03: the vocabulary tab and the “Like, dislike or prefer?”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Interview one person at home and write 7–8 sentences with one comparison.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Stretch: summarise a (real or invented) class survey with numbers.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F5-L04 · Giving Reasons: Taste and Health</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إِبْدَاءُ الأَسْبَابِ وَوَصْفُ المَذَاقِ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أُفَضِّلُ</a:t>
            </a:r>
            <a:pPr algn="l" indent="0" marL="0">
              <a:buNone/>
            </a:pPr>
            <a:r>
              <a:rPr lang="en-US" sz="1300" b="1" dirty="0">
                <a:solidFill>
                  <a:srgbClr val="FFFFFF"/>
                </a:solidFill>
                <a:latin typeface="Calibri" pitchFamily="34" charset="0"/>
                <a:cs typeface="Amiri" pitchFamily="2" charset="-78"/>
              </a:rPr>
              <a:t> (I prefer) ≠ </a:t>
            </a:r>
            <a:pPr algn="l" indent="0" marL="0">
              <a:buNone/>
            </a:pPr>
            <a:r>
              <a:rPr lang="ar-SA" altLang="en-US" sz="1700" b="1" dirty="0">
                <a:solidFill>
                  <a:srgbClr val="FFFFFF"/>
                </a:solidFill>
                <a:latin typeface="Amiri" pitchFamily="2" charset="-78"/>
                <a:ea typeface="Amiri" pitchFamily="2" charset="-78"/>
                <a:cs typeface="Amiri" pitchFamily="2" charset="-78"/>
              </a:rPr>
              <a:t>أَفْضَلُ</a:t>
            </a:r>
            <a:pPr algn="l" indent="0" marL="0">
              <a:buNone/>
            </a:pPr>
            <a:r>
              <a:rPr lang="en-US" sz="1300" b="1" dirty="0">
                <a:solidFill>
                  <a:srgbClr val="FFFFFF"/>
                </a:solidFill>
                <a:latin typeface="Calibri" pitchFamily="34" charset="0"/>
                <a:cs typeface="Amiri" pitchFamily="2" charset="-78"/>
              </a:rPr>
              <a:t> (best) · preferred item + </a:t>
            </a:r>
            <a:pPr algn="l" indent="0" marL="0">
              <a:buNone/>
            </a:pPr>
            <a:r>
              <a:rPr lang="ar-SA" altLang="en-US" sz="1700" b="1" dirty="0">
                <a:solidFill>
                  <a:srgbClr val="FFFFFF"/>
                </a:solidFill>
                <a:latin typeface="Amiri" pitchFamily="2" charset="-78"/>
                <a:ea typeface="Amiri" pitchFamily="2" charset="-78"/>
                <a:cs typeface="Amiri" pitchFamily="2" charset="-78"/>
              </a:rPr>
              <a:t>أَكْثَرَ مِنْ</a:t>
            </a:r>
            <a:pPr algn="l" indent="0" marL="0">
              <a:buNone/>
            </a:pPr>
            <a:r>
              <a:rPr lang="en-US" sz="1300" b="1" dirty="0">
                <a:solidFill>
                  <a:srgbClr val="FFFFFF"/>
                </a:solidFill>
                <a:latin typeface="Calibri" pitchFamily="34" charset="0"/>
                <a:cs typeface="Amiri" pitchFamily="2" charset="-78"/>
              </a:rPr>
              <a:t> + the other.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F5-L03 · Likes, Dislikes and Preferences</dc:title>
  <dc:subject>PptxGenJS Presentation</dc:subject>
  <dc:creator>Al Madina Online School · Arabic Department</dc:creator>
  <cp:lastModifiedBy>Al Madina Online School · Arabic Department</cp:lastModifiedBy>
  <cp:revision>1</cp:revision>
  <dcterms:created xsi:type="dcterms:W3CDTF">2026-10-11T06:41:45Z</dcterms:created>
  <dcterms:modified xsi:type="dcterms:W3CDTF">2026-10-11T06:41:45Z</dcterms:modified>
</cp:coreProperties>
</file>