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F5-L09 (At the Doctor and Pharmacy) — new practice tasks built on the lesson’s own word bank and grammar (explaining a problem (ʿindī … mundhu …); advice with yajibu an + verb in -a; imperatives to a boy / girl (istariḥ / istarīḥī · ishrab / ishrabī · khudh / khudhī); kam marratan fī al-yawm?).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to a female customer the pharmacist says: أُسَاعِدُكِ · عِنْدَكِ · خُذِي · تَشْرَبِي. Language: ʿindī … mundhu · imperatives (khudh / khudhī) · kam marratan fī al-yawm · yajibu an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At the Doctor and Pharmacy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عِنْدَ الطَّبِيبِ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at the doctor’s and the pharmacy: say the health-service words, act a consultation, answer question cards, do a role-play card at a pharmacy, give a 30-second talk, then build, fix and write a short note of the doctor’s advice.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F5-L09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and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 m/f</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أَسْنَانٍ</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dentist</a:t>
            </a:r>
            <a:endParaRPr lang="en-US" sz="1350" dirty="0"/>
          </a:p>
          <a:p>
            <a:pPr indent="0" marL="0">
              <a:buNone/>
            </a:pPr>
            <a:r>
              <a:rPr lang="en-US" sz="1100" i="1" dirty="0">
                <a:solidFill>
                  <a:srgbClr val="5A6472"/>
                </a:solidFill>
                <a:latin typeface="Calibri" pitchFamily="34" charset="0"/>
                <a:cs typeface="Amiri" pitchFamily="2" charset="-78"/>
              </a:rPr>
              <a:t>ṭa-bī-bu as-nā-nin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49" name="Shape 46"/>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1" name="Text 48"/>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مُسْتَشْفًى</a:t>
            </a:r>
            <a:endParaRPr lang="ar-SA" sz="1500" dirty="0"/>
          </a:p>
        </p:txBody>
      </p:sp>
      <p:sp>
        <p:nvSpPr>
          <p:cNvPr id="52" name="Shape 49"/>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مُسْتَشْفَيَاتٌ</a:t>
            </a:r>
            <a:endParaRPr lang="ar-SA" sz="15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عِيَادَةٌ</a:t>
            </a:r>
            <a:endParaRPr lang="ar-SA" sz="3000" dirty="0"/>
          </a:p>
        </p:txBody>
      </p:sp>
      <p:sp>
        <p:nvSpPr>
          <p:cNvPr id="61" name="Text 5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clinic</a:t>
            </a:r>
            <a:endParaRPr lang="en-US" sz="1350" dirty="0"/>
          </a:p>
          <a:p>
            <a:pPr indent="0" marL="0">
              <a:buNone/>
            </a:pPr>
            <a:r>
              <a:rPr lang="en-US" sz="1100" i="1" dirty="0">
                <a:solidFill>
                  <a:srgbClr val="5A6472"/>
                </a:solidFill>
                <a:latin typeface="Calibri" pitchFamily="34" charset="0"/>
                <a:cs typeface="Amiri" pitchFamily="2" charset="-78"/>
              </a:rPr>
              <a:t>ʿi-yā-da-tun</a:t>
            </a:r>
            <a:endParaRPr lang="en-US" sz="1350" dirty="0"/>
          </a:p>
        </p:txBody>
      </p:sp>
      <p:sp>
        <p:nvSpPr>
          <p:cNvPr id="62" name="Shape 5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4389120"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5" name="Shape 6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صَيْدَلِيَّةٌ</a:t>
            </a:r>
            <a:endParaRPr lang="ar-SA" sz="3000" dirty="0"/>
          </a:p>
        </p:txBody>
      </p:sp>
      <p:sp>
        <p:nvSpPr>
          <p:cNvPr id="68" name="Text 6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pharmacy</a:t>
            </a:r>
            <a:endParaRPr lang="en-US" sz="1350" dirty="0"/>
          </a:p>
          <a:p>
            <a:pPr indent="0" marL="0">
              <a:buNone/>
            </a:pPr>
            <a:r>
              <a:rPr lang="en-US" sz="1100" i="1" dirty="0">
                <a:solidFill>
                  <a:srgbClr val="5A6472"/>
                </a:solidFill>
                <a:latin typeface="Calibri" pitchFamily="34" charset="0"/>
                <a:cs typeface="Amiri" pitchFamily="2" charset="-78"/>
              </a:rPr>
              <a:t>ṣay-da-liy-ya-tun</a:t>
            </a:r>
            <a:endParaRPr lang="en-US" sz="135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2" name="Shape 6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دَوَاءٌ</a:t>
            </a:r>
            <a:endParaRPr lang="ar-SA" sz="3000" dirty="0"/>
          </a:p>
        </p:txBody>
      </p:sp>
      <p:sp>
        <p:nvSpPr>
          <p:cNvPr id="75" name="Text 7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medicine</a:t>
            </a:r>
            <a:endParaRPr lang="en-US" sz="1350" dirty="0"/>
          </a:p>
          <a:p>
            <a:pPr indent="0" marL="0">
              <a:buNone/>
            </a:pPr>
            <a:r>
              <a:rPr lang="en-US" sz="1100" i="1" dirty="0">
                <a:solidFill>
                  <a:srgbClr val="5A6472"/>
                </a:solidFill>
                <a:latin typeface="Calibri" pitchFamily="34" charset="0"/>
                <a:cs typeface="Amiri" pitchFamily="2" charset="-78"/>
              </a:rPr>
              <a:t>da-wā-ʾun</a:t>
            </a:r>
            <a:endParaRPr lang="en-US" sz="13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Medicine and advice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طِبِّيٌّ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medical appointment</a:t>
            </a:r>
            <a:endParaRPr lang="en-US" sz="1350" dirty="0"/>
          </a:p>
          <a:p>
            <a:pPr indent="0" marL="0">
              <a:buNone/>
            </a:pPr>
            <a:r>
              <a:rPr lang="en-US" sz="1100" i="1" dirty="0">
                <a:solidFill>
                  <a:srgbClr val="5A6472"/>
                </a:solidFill>
                <a:latin typeface="Calibri" pitchFamily="34" charset="0"/>
                <a:cs typeface="Amiri" pitchFamily="2" charset="-78"/>
              </a:rPr>
              <a:t>maw-ʿi-dun ṭib-biy-yun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حُبُوبٌ</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tablets</a:t>
            </a:r>
            <a:endParaRPr lang="en-US" sz="1350" dirty="0"/>
          </a:p>
          <a:p>
            <a:pPr indent="0" marL="0">
              <a:buNone/>
            </a:pPr>
            <a:r>
              <a:rPr lang="en-US" sz="1100" i="1" dirty="0">
                <a:solidFill>
                  <a:srgbClr val="5A6472"/>
                </a:solidFill>
                <a:latin typeface="Calibri" pitchFamily="34" charset="0"/>
                <a:cs typeface="Amiri" pitchFamily="2" charset="-78"/>
              </a:rPr>
              <a:t>ḥu-bū-bun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 ...</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should / one must ...</a:t>
            </a:r>
            <a:endParaRPr lang="en-US" sz="1350" dirty="0"/>
          </a:p>
          <a:p>
            <a:pPr indent="0" marL="0">
              <a:buNone/>
            </a:pPr>
            <a:r>
              <a:rPr lang="en-US" sz="1100" i="1" dirty="0">
                <a:solidFill>
                  <a:srgbClr val="5A6472"/>
                </a:solidFill>
                <a:latin typeface="Calibri" pitchFamily="34" charset="0"/>
                <a:cs typeface="Amiri" pitchFamily="2" charset="-78"/>
              </a:rPr>
              <a:t>ya-ji-bu an ...</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اِسْتَرِحْ / اِسْتَرِيحِي</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 m/f</a:t>
            </a:r>
            <a:endParaRPr lang="en-US" sz="1350" dirty="0"/>
          </a:p>
          <a:p>
            <a:pPr indent="0" marL="0">
              <a:buNone/>
            </a:pPr>
            <a:r>
              <a:rPr lang="en-US" sz="1100" i="1" dirty="0">
                <a:solidFill>
                  <a:srgbClr val="5A6472"/>
                </a:solidFill>
                <a:latin typeface="Calibri" pitchFamily="34" charset="0"/>
                <a:cs typeface="Amiri" pitchFamily="2" charset="-78"/>
              </a:rPr>
              <a:t>is-ta-riḥ / is-ta-rī-ḥī</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7" name="Text 4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اِسْتَرِحْ</a:t>
            </a:r>
            <a:endParaRPr lang="ar-SA" sz="150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0" name="Text 47"/>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اِسْتَرِيحِي</a:t>
            </a:r>
            <a:endParaRPr lang="ar-SA" sz="150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اِسْتَرِيحُوا</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اِشْرَبْ / اِشْرَبِي</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 m/f</a:t>
            </a:r>
            <a:endParaRPr lang="en-US" sz="1350" dirty="0"/>
          </a:p>
          <a:p>
            <a:pPr indent="0" marL="0">
              <a:buNone/>
            </a:pPr>
            <a:r>
              <a:rPr lang="en-US" sz="1100" i="1" dirty="0">
                <a:solidFill>
                  <a:srgbClr val="5A6472"/>
                </a:solidFill>
                <a:latin typeface="Calibri" pitchFamily="34" charset="0"/>
                <a:cs typeface="Amiri" pitchFamily="2" charset="-78"/>
              </a:rPr>
              <a:t>ish-rab / ish-ra-bī</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اِشْرَبْ</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اِشْرَبِي</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اِشْرَبُوا</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76" name="Text 73"/>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7" name="Shape 7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8" name="Text 7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خُذْ / خُذِي</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 m/f</a:t>
            </a:r>
            <a:endParaRPr lang="en-US" sz="1350" dirty="0"/>
          </a:p>
          <a:p>
            <a:pPr indent="0" marL="0">
              <a:buNone/>
            </a:pPr>
            <a:r>
              <a:rPr lang="en-US" sz="1100" i="1" dirty="0">
                <a:solidFill>
                  <a:srgbClr val="5A6472"/>
                </a:solidFill>
                <a:latin typeface="Calibri" pitchFamily="34" charset="0"/>
                <a:cs typeface="Amiri" pitchFamily="2" charset="-78"/>
              </a:rPr>
              <a:t>khudh / khu-dhī</a:t>
            </a:r>
            <a:endParaRPr lang="en-US" sz="1350" dirty="0"/>
          </a:p>
        </p:txBody>
      </p:sp>
      <p:sp>
        <p:nvSpPr>
          <p:cNvPr id="81" name="Shape 7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3" name="Text 8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خُذْ</a:t>
            </a:r>
            <a:endParaRPr lang="ar-SA" sz="1500" dirty="0"/>
          </a:p>
        </p:txBody>
      </p:sp>
      <p:sp>
        <p:nvSpPr>
          <p:cNvPr id="84" name="Shape 8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خُذِي</a:t>
            </a:r>
            <a:endParaRPr lang="ar-SA" sz="1500" dirty="0"/>
          </a:p>
        </p:txBody>
      </p:sp>
      <p:sp>
        <p:nvSpPr>
          <p:cNvPr id="87" name="Shape 8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9" name="Text 8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خُذُوا</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doctor’s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عِنْدَ الطَّبِيبِ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Come in — what’s wrong?</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تَفَضَّلْ، مَاذَا بِكَ؟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had a cough and a sore throat for three days.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عِنْدِي سُعَالٌ وَأَلَمٌ فِي الحَلْقِ مُنْذُ ثَلَاثَةِ أَيَّامٍ.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a fever?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عِنْدَكَ حُمَّى؟</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a little at night.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قَلِيلًا فِي اللَّيْلِ.</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must rest. Drink plenty of water, and take this medicine.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تَسْتَرِيحَ. اشْرَبْ مَاءً كَثِيرًا، وَخُذْ هٰذَا الدَّوَاءَ.</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times a day? — Three times, after food.</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مَرَّةً فِي اليَوْمِ؟ — ثَلَاثَ مَرَّاتٍ، بَعْدَ الأَكْلِ.</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choose a different problem (</a:t>
            </a:r>
            <a:pPr algn="l" indent="0" marL="0">
              <a:buNone/>
            </a:pPr>
            <a:r>
              <a:rPr lang="ar-SA" altLang="en-US" sz="1500" b="1" dirty="0">
                <a:solidFill>
                  <a:srgbClr val="1B3B6F"/>
                </a:solidFill>
                <a:latin typeface="Amiri" pitchFamily="2" charset="-78"/>
                <a:ea typeface="Amiri" pitchFamily="2" charset="-78"/>
                <a:cs typeface="Amiri" pitchFamily="2" charset="-78"/>
              </a:rPr>
              <a:t>صُدَاعٌ</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أَلَمُ المَعِدَةِ</a:t>
            </a:r>
            <a:pPr algn="l" indent="0" marL="0">
              <a:buNone/>
            </a:pPr>
            <a:r>
              <a:rPr lang="en-US" sz="1150" b="1" dirty="0">
                <a:solidFill>
                  <a:srgbClr val="1B3B6F"/>
                </a:solidFill>
                <a:latin typeface="Calibri" pitchFamily="34" charset="0"/>
                <a:cs typeface="Amiri" pitchFamily="2" charset="-78"/>
              </a:rPr>
              <a:t>) and give different advice.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مُنْذُ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What’s wrong?</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بِكَ؟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العِيَادَةِ</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إِلَى طَبِيبِ الأَسْنَانِ</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go with toothache?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تَذْهَبُ عِنْدَمَا يَكُونُ عِنْدَكَ أَلَمُ الأَسْنَانِ؟</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وَاشْرَبْ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يَقُولُ: اسْتَرِحْ وَ…</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the doctor say when you have a cold?</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يَقُولُ الطَّبِيبُ عِنْدَمَا عِنْدَكَ زُكَامٌ؟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بَعْدَ الأَكْلِ</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آخُذُهُ … مَرَّاتٍ فِي اليَوْمِ</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do you take the medicine?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تَأْخُذُ الدَّوَاءَ؟</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الَّتِي بِجَانِبِ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أَشْتَرِيهِ مِنَ الصَّيْدَلِيَّةِ</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buy medicine?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تَشْتَرِي الدَّوَاءَ؟</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card — at the pharmacy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الصَّيْدَلِيَّةِ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عِنْدِي … مُنْذُ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the problem.</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كَيْفَ أُسَاعِدُكَ؟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أَشْعُرُ بِالتَّعَبِ أَيْضًا</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one symptom.</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شَيْءٌ آخَرُ؟</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كَمْ مَرَّةً فِي اليَوْمِ؟</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how often.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خُذْ هٰذِهِ الحُبُوبَ.</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شُكْرًا ← … كَمِ السِّعْرُ؟</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 ask the price.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مَرَّتَيْنِ. وَيَجِبُ أَنْ تَشْرَبَ مَاءً كَثِيرًا.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customer · Leader = the pharmacist.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a visit to the doctor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زِيَارَةٌ لِلطَّبِيبِ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describe a visit to the doctor (real or imagined): the problem, since when, what the doctor said, and the medicine.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عِنْدِي … · ذَهَبْتُ إِلَى … · قَالَ: اسْتَرِحْ.</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مُنْذُ</a:t>
            </a:r>
            <a:pPr algn="l" indent="0" marL="0">
              <a:buNone/>
            </a:pPr>
            <a:r>
              <a:rPr lang="en-US" sz="1150" dirty="0">
                <a:solidFill>
                  <a:srgbClr val="1F2A37"/>
                </a:solidFill>
                <a:latin typeface="Calibri" pitchFamily="34" charset="0"/>
                <a:cs typeface="Amiri" pitchFamily="2" charset="-78"/>
              </a:rPr>
              <a:t> … and two pieces of advice (</a:t>
            </a:r>
            <a:pPr algn="l" indent="0" marL="0">
              <a:buNone/>
            </a:pPr>
            <a:r>
              <a:rPr lang="ar-SA" altLang="en-US" sz="1500" dirty="0">
                <a:solidFill>
                  <a:srgbClr val="1F2A37"/>
                </a:solidFill>
                <a:latin typeface="Amiri" pitchFamily="2" charset="-78"/>
                <a:ea typeface="Amiri" pitchFamily="2" charset="-78"/>
                <a:cs typeface="Amiri" pitchFamily="2" charset="-78"/>
              </a:rPr>
              <a:t>يَجِبُ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how often you took the medicine and how you feel now.</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You must rest at home. (to a boy)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تَسْتَرِيحَ</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تَسْتَرِيحُ</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البَيْتِ.</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البَيْتَ.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Drink plenty of water! (to a girl)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اشْرَبِي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اشْرَبْ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مَاءً</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Take the medicine three times a day.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خُذِ الدَّوَاءَ</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تَأْخُذُ الدَّوَاءُ</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ثَلَاثَ مَرَّاتٍ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ثَلَاثَةُ مَرَّةٍ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اليَوْمِ.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اليَوْمَ.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You must rest at home. (to a boy)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يَجِبُ أَنْ</a:t>
            </a:r>
            <a:pPr algn="l" indent="0" marL="0">
              <a:buNone/>
            </a:pPr>
            <a:r>
              <a:rPr lang="en-US" sz="1050" i="1" dirty="0">
                <a:solidFill>
                  <a:srgbClr val="5A6472"/>
                </a:solidFill>
                <a:latin typeface="Calibri" pitchFamily="34" charset="0"/>
                <a:cs typeface="Amiri" pitchFamily="2" charset="-78"/>
              </a:rPr>
              <a:t> + verb ending in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تَسْتَرِيحَ فِي البَيْتِ.</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Drink plenty of water! (to a girl)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a:t>
            </a:r>
            <a:pPr algn="l" indent="0" marL="0">
              <a:buNone/>
            </a:pPr>
            <a:r>
              <a:rPr lang="ar-SA" altLang="en-US" sz="1350" dirty="0">
                <a:solidFill>
                  <a:srgbClr val="5A6472"/>
                </a:solidFill>
                <a:latin typeface="Amiri" pitchFamily="2" charset="-78"/>
                <a:ea typeface="Amiri" pitchFamily="2" charset="-78"/>
                <a:cs typeface="Amiri" pitchFamily="2" charset="-78"/>
              </a:rPr>
              <a:t>اشْرَبِي</a:t>
            </a:r>
            <a:pPr algn="l" indent="0" marL="0">
              <a:buNone/>
            </a:pPr>
            <a:r>
              <a:rPr lang="en-US" sz="1050" i="1" dirty="0">
                <a:solidFill>
                  <a:srgbClr val="5A6472"/>
                </a:solidFill>
                <a:latin typeface="Calibri" pitchFamily="34" charset="0"/>
                <a:cs typeface="Amiri" pitchFamily="2" charset="-78"/>
              </a:rPr>
              <a:t>; object → </a:t>
            </a:r>
            <a:pPr algn="l" indent="0" marL="0">
              <a:buNone/>
            </a:pPr>
            <a:r>
              <a:rPr lang="ar-SA" altLang="en-US" sz="1350" dirty="0">
                <a:solidFill>
                  <a:srgbClr val="5A6472"/>
                </a:solidFill>
                <a:latin typeface="Amiri" pitchFamily="2" charset="-78"/>
                <a:ea typeface="Amiri" pitchFamily="2" charset="-78"/>
                <a:cs typeface="Amiri" pitchFamily="2" charset="-78"/>
              </a:rPr>
              <a:t>مَاءً كَثِيرًا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اشْرَبِي مَاءً كَثِيرًا!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Take the medicine three times a day.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Take! = </a:t>
            </a:r>
            <a:pPr algn="l" indent="0" marL="0">
              <a:buNone/>
            </a:pPr>
            <a:r>
              <a:rPr lang="ar-SA" altLang="en-US" sz="1350" dirty="0">
                <a:solidFill>
                  <a:srgbClr val="5A6472"/>
                </a:solidFill>
                <a:latin typeface="Amiri" pitchFamily="2" charset="-78"/>
                <a:ea typeface="Amiri" pitchFamily="2" charset="-78"/>
                <a:cs typeface="Amiri" pitchFamily="2" charset="-78"/>
              </a:rPr>
              <a:t>خُذْ</a:t>
            </a:r>
            <a:pPr algn="l" indent="0" marL="0">
              <a:buNone/>
            </a:pPr>
            <a:r>
              <a:rPr lang="en-US" sz="1050" i="1" dirty="0">
                <a:solidFill>
                  <a:srgbClr val="5A6472"/>
                </a:solidFill>
                <a:latin typeface="Calibri" pitchFamily="34" charset="0"/>
                <a:cs typeface="Amiri" pitchFamily="2" charset="-78"/>
              </a:rPr>
              <a:t>; three times = </a:t>
            </a:r>
            <a:pPr algn="l" indent="0" marL="0">
              <a:buNone/>
            </a:pPr>
            <a:r>
              <a:rPr lang="ar-SA" altLang="en-US" sz="1350" dirty="0">
                <a:solidFill>
                  <a:srgbClr val="5A6472"/>
                </a:solidFill>
                <a:latin typeface="Amiri" pitchFamily="2" charset="-78"/>
                <a:ea typeface="Amiri" pitchFamily="2" charset="-78"/>
                <a:cs typeface="Amiri" pitchFamily="2" charset="-78"/>
              </a:rPr>
              <a:t>ثَلَاثَ مَرَّاتٍ</a:t>
            </a:r>
            <a:pPr algn="l" indent="0" marL="0">
              <a:buNone/>
            </a:pPr>
            <a:r>
              <a:rPr lang="en-US" sz="1050" i="1" dirty="0">
                <a:solidFill>
                  <a:srgbClr val="5A6472"/>
                </a:solidFill>
                <a:latin typeface="Calibri" pitchFamily="34" charset="0"/>
                <a:cs typeface="Amiri" pitchFamily="2" charset="-78"/>
              </a:rPr>
              <a:t> (f. noun → </a:t>
            </a:r>
            <a:pPr algn="l" indent="0" marL="0">
              <a:buNone/>
            </a:pPr>
            <a:r>
              <a:rPr lang="ar-SA" altLang="en-US" sz="1350" dirty="0">
                <a:solidFill>
                  <a:srgbClr val="5A6472"/>
                </a:solidFill>
                <a:latin typeface="Amiri" pitchFamily="2" charset="-78"/>
                <a:ea typeface="Amiri" pitchFamily="2" charset="-78"/>
                <a:cs typeface="Amiri" pitchFamily="2" charset="-78"/>
              </a:rPr>
              <a:t>ثَلَاثَ</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خُذِ الدَّوَاءَ ثَلَاثَ مَرَّاتٍ فِي اليَوْمِ.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خُذْ الدَّوَاءَ يَا سَلْمَى.</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Salma is a girl.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تَشْرَبُ المَاءَ.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آخُذُ الدَّوَاءَ ثَلَاثَةَ مَرَّاتٍ.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مَرَّةٌ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خُذْ الدَّوَاءَ يَا سَلْمَى.</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خُذِي الدَّوَاءَ يَا سَلْمَى.</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خُذِي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تَشْرَبُ المَاءَ.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تَشْرَبَ المَاءَ.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آخُذُ الدَّوَاءَ ثَلَاثَةَ مَرَّاتٍ.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آخُذُ الدَّوَاءَ ثَلَاثَ مَرَّاتٍ.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ثَلَاثَ</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وَقَالَ: اسْتَرِحْ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he said: rest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إِنْ شَاءَ اللّٰهُ سَأَكُونُ بِخَيْرٍ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God willing I will be well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إِلَى الطَّبِيبِ لِأَنَّ عِنْدِي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went to the doctor because I have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مُنْذُ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had … since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الطَّبِيبُ: يَجِبُ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doctor said: I must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آخُذُ الدَّوَاءَ ______ مَرَّاتٍ فِي اليَوْمِ.</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take the medicine … times a day.</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طَبِيبٌ · طَبِيبَةٌ  ·  عِيَادَةٌ · صَيْدَلِيَّةٌ  ·  دَوَاءٌ · حُبُوبٌ  ·  مَوْعِدٌ  ·  يَجِبُ أَنْ  ·  اسْتَرِحْ · اشْرَبْ · خُذْ  ·  مَرَّتَيْنِ · ثَلَاثَ مَرَّاتٍ  ·  بَعْدَ الأَكْلِ</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The doctor’s advice — a note for my family</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نَصِيحَةُ الطَّبِيبِ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You went to the doctor. Write a note (about 40–55 words) for your family. Include: • the problem and since when • what the doctor said (two pieces of advice with </a:t>
            </a:r>
            <a:pPr algn="l" indent="0" marL="0">
              <a:buNone/>
            </a:pPr>
            <a:r>
              <a:rPr lang="ar-SA" altLang="en-US" sz="1700" b="1" dirty="0">
                <a:solidFill>
                  <a:srgbClr val="1F2A37"/>
                </a:solidFill>
                <a:latin typeface="Amiri" pitchFamily="2" charset="-78"/>
                <a:ea typeface="Amiri" pitchFamily="2" charset="-78"/>
                <a:cs typeface="Amiri" pitchFamily="2" charset="-78"/>
              </a:rPr>
              <a:t>يَجِبُ أَنْ</a:t>
            </a:r>
            <a:pPr algn="l" indent="0" marL="0">
              <a:buNone/>
            </a:pPr>
            <a:r>
              <a:rPr lang="en-US" sz="1300" b="1" dirty="0">
                <a:solidFill>
                  <a:srgbClr val="1F2A37"/>
                </a:solidFill>
                <a:latin typeface="Calibri" pitchFamily="34" charset="0"/>
                <a:cs typeface="Amiri" pitchFamily="2" charset="-78"/>
              </a:rPr>
              <a:t> or imperatives) • the medicine and how often • when you will feel better (hope).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إِلَى الطَّبِيبِ لِأَنَّ عِنْدِي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to the doctor because I have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الطَّبِيبُ: يَجِبُ 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doctor said: I must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آخُذُ الدَّوَاءَ … مَرَّاتٍ فِي اليَوْمِ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take the medicine … times a day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إِنْ شَاءَ اللّٰهُ سَأَكُونُ بِخَيْرٍ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God willing I will be fine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the problem with </a:t>
            </a:r>
            <a:pPr algn="l" indent="0" marL="0">
              <a:buNone/>
            </a:pPr>
            <a:r>
              <a:rPr lang="ar-SA" altLang="en-US" sz="1450" dirty="0">
                <a:solidFill>
                  <a:srgbClr val="5A6472"/>
                </a:solidFill>
                <a:latin typeface="Amiri" pitchFamily="2" charset="-78"/>
                <a:ea typeface="Amiri" pitchFamily="2" charset="-78"/>
                <a:cs typeface="Amiri" pitchFamily="2" charset="-78"/>
              </a:rPr>
              <a:t>عِنْدِي … مُنْذُ</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advice with </a:t>
            </a:r>
            <a:pPr algn="l" indent="0" marL="0">
              <a:buNone/>
            </a:pPr>
            <a:r>
              <a:rPr lang="ar-SA" altLang="en-US" sz="1450" dirty="0">
                <a:solidFill>
                  <a:srgbClr val="5A6472"/>
                </a:solidFill>
                <a:latin typeface="Amiri" pitchFamily="2" charset="-78"/>
                <a:ea typeface="Amiri" pitchFamily="2" charset="-78"/>
                <a:cs typeface="Amiri" pitchFamily="2" charset="-78"/>
              </a:rPr>
              <a:t>يَجِبُ أَنْ</a:t>
            </a:r>
            <a:pPr algn="l" indent="0" marL="0">
              <a:buNone/>
            </a:pPr>
            <a:r>
              <a:rPr lang="en-US" sz="1100" dirty="0">
                <a:solidFill>
                  <a:srgbClr val="5A6472"/>
                </a:solidFill>
                <a:latin typeface="Calibri" pitchFamily="34" charset="0"/>
                <a:cs typeface="Amiri" pitchFamily="2" charset="-78"/>
              </a:rPr>
              <a:t> + -a or a correct imperative?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صُدَاعٌ قَوِيٌّ مُنْذُ الصَّبَاحِ.</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had a bad headache since the morning.</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كَيْفَ أُسَاعِدُكَ؟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أَشْعُرُ بِالتَّعَبِ أَيْضًا.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feel tired too.</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عِنْدَكَ شَيْءٌ آخَرُ؟</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كَمْ مَرَّةً فِي اليَوْمِ آخُذُهَا؟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Thanks. How many times a day do I take them?</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خُذْ هٰذِهِ الحُبُوبَ.</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 كَمِ السِّعْرُ، مِنْ فَضْلِكَ؟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you very much. How much is it, please?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مَرَّتَيْنِ. وَيَجِبُ أَنْ تَشْرَبَ مَاءً كَثِيرًا.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أُمِّي العَزِيزَةُ، ذَهَبْتُ إِلَى الطَّبِيبِ اليَوْمَ، لِأَنَّ عِنْدِي سُعَالًا وَحُمَّى مُنْذُ يَوْمَيْنِ. قَالَ الطَّبِيبُ: يَجِبُ أَنْ تَسْتَرِيحَ فِي البَيْتِ، وَاشْرَبْ مَاءً كَثِيرًا. أَعْطَانِي دَوَاءً، وَآخُذُهُ ثَلَاثَ مَرَّاتٍ فِي اليَوْمِ بَعْدَ الأَكْلِ. إِنْ شَاءَ اللّٰهُ سَأَكُونُ بِخَيْرٍ بَعْدَ أَيَّامٍ قَلِيلَةٍ. ابْنُكِ يُوسُفُ.</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Mum, I went to the doctor today, because I have had a cough and a fever for two days. The doctor said: you must rest at home, and drink plenty of water. He gave me medicine, and I take it three times a day after food. God willing I will be fine in a few days. Your son,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عِنْدِي سُعَالًا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تَسْتَرِيحَ</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ثَلَاثَ مَرَّاتٍ فِي اليَوْمِ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إِنْ شَاءَ اللّٰهُ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F5-L10 · Healthy Habits and Advice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العَادَاتُ الصِّحِّيَّةُ وَالنَّصِيحَةُ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F5-L09 · Practice Room — At the Doctor and Pharmacy</dc:title>
  <dc:subject>PptxGenJS Presentation</dc:subject>
  <dc:creator>Al Madina Online School · Arabic Department</dc:creator>
  <cp:lastModifiedBy>Al Madina Online School · Arabic Department</cp:lastModifiedBy>
  <cp:revision>1</cp:revision>
  <dcterms:created xsi:type="dcterms:W3CDTF">2026-10-25T17:41:34Z</dcterms:created>
  <dcterms:modified xsi:type="dcterms:W3CDTF">2026-10-25T17:41:34Z</dcterms:modified>
</cp:coreProperties>
</file>