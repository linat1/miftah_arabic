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F5-L11 (Speaking and Writing About Food and Health) — new practice tasks built on the lesson’s own word bank and grammar (the whole F5 system: food and meals, preferences + li-annahu / li-annahā, ordering, the body, illness with ʿindī … mundhu, advice; connectors awwalan · thumma · baʿda dhālika · ayḍan · lākinna · li-anna · li-dhālika · akhīran · mathalan).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F5-L11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تَأْكُلِينَ · تَشْعُرِينَ · تَسْهَرِينَ · سَتُغَيِّرِينَهُ. Developed answers: each task = answer + example / reason / result. Task ! is unexpected.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F5-L11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Speaking and Writing About Food and Health</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طَعَامِي وَصِحَّتِي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run their own speaking and writing practice bringing F5 together: say the connectors, act a model exchange, answer six topic questions with developed answers, do a role-play card on a health survey, give a one-minute talk, then build, fix and write an article: </a:t>
            </a:r>
            <a:pPr algn="l" indent="0" marL="0">
              <a:buNone/>
            </a:pPr>
            <a:r>
              <a:rPr lang="ar-SA" altLang="en-US" sz="1750" dirty="0">
                <a:solidFill>
                  <a:srgbClr val="C6D2E6"/>
                </a:solidFill>
                <a:latin typeface="Amiri" pitchFamily="2" charset="-78"/>
                <a:ea typeface="Amiri" pitchFamily="2" charset="-78"/>
                <a:cs typeface="Amiri" pitchFamily="2" charset="-78"/>
              </a:rPr>
              <a:t>طَعَامِي وَصِحَّتِي</a:t>
            </a:r>
            <a:pPr algn="l" indent="0" marL="0">
              <a:buNone/>
            </a:pPr>
            <a:r>
              <a:rPr lang="en-US" sz="1350" dirty="0">
                <a:solidFill>
                  <a:srgbClr val="C6D2E6"/>
                </a:solidFill>
                <a:latin typeface="Calibri" pitchFamily="34" charset="0"/>
                <a:cs typeface="Amiri" pitchFamily="2" charset="-78"/>
              </a:rPr>
              <a:t>.</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F5-L11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Connectors for developed answers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أَوَّلًا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firstly</a:t>
            </a:r>
            <a:endParaRPr lang="en-US" sz="1350" dirty="0"/>
          </a:p>
          <a:p>
            <a:pPr indent="0" marL="0">
              <a:buNone/>
            </a:pPr>
            <a:r>
              <a:rPr lang="en-US" sz="1100" i="1" dirty="0">
                <a:solidFill>
                  <a:srgbClr val="5A6472"/>
                </a:solidFill>
                <a:latin typeface="Calibri" pitchFamily="34" charset="0"/>
                <a:cs typeface="Amiri" pitchFamily="2" charset="-78"/>
              </a:rPr>
              <a:t>aw-wa-lan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a:t>
            </a:r>
            <a:endParaRPr lang="en-US" sz="1350" dirty="0"/>
          </a:p>
          <a:p>
            <a:pPr indent="0" marL="0">
              <a:buNone/>
            </a:pPr>
            <a:r>
              <a:rPr lang="en-US" sz="1100" i="1" dirty="0">
                <a:solidFill>
                  <a:srgbClr val="5A6472"/>
                </a:solidFill>
                <a:latin typeface="Calibri" pitchFamily="34" charset="0"/>
                <a:cs typeface="Amiri" pitchFamily="2" charset="-78"/>
              </a:rPr>
              <a:t>thum-ma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ذٰلِكَ</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that</a:t>
            </a:r>
            <a:endParaRPr lang="en-US" sz="1350" dirty="0"/>
          </a:p>
          <a:p>
            <a:pPr indent="0" marL="0">
              <a:buNone/>
            </a:pPr>
            <a:r>
              <a:rPr lang="en-US" sz="1100" i="1" dirty="0">
                <a:solidFill>
                  <a:srgbClr val="5A6472"/>
                </a:solidFill>
                <a:latin typeface="Calibri" pitchFamily="34" charset="0"/>
                <a:cs typeface="Amiri" pitchFamily="2" charset="-78"/>
              </a:rPr>
              <a:t>baʿ-da dhā-li-ka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أَيْضًا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also</a:t>
            </a:r>
            <a:endParaRPr lang="en-US" sz="1350" dirty="0"/>
          </a:p>
          <a:p>
            <a:pPr indent="0" marL="0">
              <a:buNone/>
            </a:pPr>
            <a:r>
              <a:rPr lang="en-US" sz="1100" i="1" dirty="0">
                <a:solidFill>
                  <a:srgbClr val="5A6472"/>
                </a:solidFill>
                <a:latin typeface="Calibri" pitchFamily="34" charset="0"/>
                <a:cs typeface="Amiri" pitchFamily="2" charset="-78"/>
              </a:rPr>
              <a:t>ay-ḍan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 / لٰكِنَّ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a:t>
            </a:r>
            <a:endParaRPr lang="en-US" sz="1350" dirty="0"/>
          </a:p>
          <a:p>
            <a:pPr indent="0" marL="0">
              <a:buNone/>
            </a:pPr>
            <a:r>
              <a:rPr lang="en-US" sz="1100" i="1" dirty="0">
                <a:solidFill>
                  <a:srgbClr val="5A6472"/>
                </a:solidFill>
                <a:latin typeface="Calibri" pitchFamily="34" charset="0"/>
                <a:cs typeface="Amiri" pitchFamily="2" charset="-78"/>
              </a:rPr>
              <a:t>wa-lā-kin / lā-kin-na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phrases and examples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أَخِيرًا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finally</a:t>
            </a:r>
            <a:endParaRPr lang="en-US" sz="1350" dirty="0"/>
          </a:p>
          <a:p>
            <a:pPr indent="0" marL="0">
              <a:buNone/>
            </a:pPr>
            <a:r>
              <a:rPr lang="en-US" sz="1100" i="1" dirty="0">
                <a:solidFill>
                  <a:srgbClr val="5A6472"/>
                </a:solidFill>
                <a:latin typeface="Calibri" pitchFamily="34" charset="0"/>
                <a:cs typeface="Amiri" pitchFamily="2" charset="-78"/>
              </a:rPr>
              <a:t>a-khī-ran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فَضْلِكَ، أَعِدِ السُّؤَالَ.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 repeat the question.</a:t>
            </a:r>
            <a:endParaRPr lang="en-US" sz="1350" dirty="0"/>
          </a:p>
          <a:p>
            <a:pPr indent="0" marL="0">
              <a:buNone/>
            </a:pPr>
            <a:r>
              <a:rPr lang="en-US" sz="1100" i="1" dirty="0">
                <a:solidFill>
                  <a:srgbClr val="5A6472"/>
                </a:solidFill>
                <a:latin typeface="Calibri" pitchFamily="34" charset="0"/>
                <a:cs typeface="Amiri" pitchFamily="2" charset="-78"/>
              </a:rPr>
              <a:t>min faḍ-li-ka, a-ʿi-di as-su-ʾā-la.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دَعْنِي أُفَكِّرُ.</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 me think.</a:t>
            </a:r>
            <a:endParaRPr lang="en-US" sz="1350" dirty="0"/>
          </a:p>
          <a:p>
            <a:pPr indent="0" marL="0">
              <a:buNone/>
            </a:pPr>
            <a:r>
              <a:rPr lang="en-US" sz="1100" i="1" dirty="0">
                <a:solidFill>
                  <a:srgbClr val="5A6472"/>
                </a:solidFill>
                <a:latin typeface="Calibri" pitchFamily="34" charset="0"/>
                <a:cs typeface="Amiri" pitchFamily="2" charset="-78"/>
              </a:rPr>
              <a:t>daʿ-nī u-fak-ki-ru.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مَثَلًا</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ma-tha-lan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Developed answers: food and health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أَجْوِبَةٌ مُطَوَّرَةٌ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eat for breakfast?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تَأْكُلُ فِي الفُطُورِ؟</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I drink milk, then I eat porridge with banana, because it is healthy.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أَوَّلًا أَشْرَبُ الحَلِيبَ، ثُمَّ آكُلُ الشُّوفَانَ مَعَ المَوْزِ، لِأَنَّهُ صِحِّيٌّ.</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like sweets?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تُحِبُّ الحَلْوَيَاتِ؟</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love them, but I don’t eat them every day. For example, I eat cake only on Friday.</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نَعَمْ، أُحِبُّهَا كَثِيرًا، وَلٰكِنْ لَا آكُلُهَا كُلَّ يَوْمٍ. مَثَلًا، آكُلُ الكَعْكَ يَوْمَ الجُمُعَةِ فَقَطْ.</a:t>
            </a:r>
            <a:endParaRPr lang="ar-SA" sz="17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stay healthy?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تُحَافِظُ عَلَى صِحَّتِكَ؟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walk a lot and sleep early, so I feel energetic at school.</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أَمْشِي كَثِيرًا، وَأَنَامُ مُبَكِّرًا، لِذٰلِكَ أَشْعُرُ بِالنَّشَاطِ فِي المَدْرَسَةِ.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Round 3: answer with YOUR facts — every answer needs a connector + a reason or example.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طَعَامِي المُفَضَّلُ … لِأَنَّهُ / لِأَنَّهَا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Favourite food? Why?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طَعَامُكَ المُفَضَّلُ؟ لِمَاذَا؟</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وَأَخِيرًا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أَوَّلًا … ثُمَّ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meals on a normal day.</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وَجَبَاتِكَ فِي يَوْمٍ عَادِيٍّ.</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أُخْتِي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عَادَةً أَطْلُبُ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order at a restaurant?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تَطْلُبُ فِي المَطْعَمِ؟</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لِذٰلِكَ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مَرِيضًا … ؛ كَانَ عِنْدِي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were you last ill?</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كُنْتَ مَرِيضًا آخِرَ مَرَّةٍ؟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يَجِبُ أَنْ … / مِنَ الأَفْضَلِ 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advice for a healthy life?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نَصِيحَتُكَ لِحَيَاةٍ صِحِّيَّةٍ؟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Role-play card — a health survey interview</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اسْتِبْيَانٌ صِحِّيٌّ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آكُلُ … وَجَبَاتٍ :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 which meals.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وَجْبَةً تَأْكُلُ فِي اليَوْمِ؟</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 مَثَلًا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 example.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تَأْكُلُ الخُضَارَ؟</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أَشْعُرُ بِالتَّعَبِ ، لِذٰلِكَ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Feeling + result.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تَشْعُرُ عِنْدَمَا تَسْهَرُ؟</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سَتُغَيِّرُ ← سَأَشْرَبُ / سَأَنَامُ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الشَّيْءُ الَّذِي سَتُغَيِّرُهُ فِي حَيَاتِكَ؟</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 Leader = a researcher from a health charity.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One minute: my food and my health</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دَقِيقَةٌ: طَعَامِي وَصِحَّتِي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Deliver a ONE-MINUTE talk: your meals, your favourite food (with a reason), a time you were ill, and your healthy-living advice. Use at least five connectors.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30 seconds: one sentence on each part.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45 seconds with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مَثَلًا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ثُمَّ</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60 seconds with </a:t>
            </a:r>
            <a:pPr algn="l" indent="0" marL="0">
              <a:buNone/>
            </a:pPr>
            <a:r>
              <a:rPr lang="ar-SA" altLang="en-US" sz="1500" dirty="0">
                <a:solidFill>
                  <a:srgbClr val="1F2A37"/>
                </a:solidFill>
                <a:latin typeface="Amiri" pitchFamily="2" charset="-78"/>
                <a:ea typeface="Amiri" pitchFamily="2" charset="-78"/>
                <a:cs typeface="Amiri" pitchFamily="2" charset="-78"/>
              </a:rPr>
              <a:t>لِذٰلِكَ</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وَلٰكِنْ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أَخِيرًا</a:t>
            </a:r>
            <a:pPr algn="l" indent="0" marL="0">
              <a:buNone/>
            </a:pPr>
            <a:r>
              <a:rPr lang="en-US" sz="1150" dirty="0">
                <a:solidFill>
                  <a:srgbClr val="1F2A37"/>
                </a:solidFill>
                <a:latin typeface="Calibri" pitchFamily="34" charset="0"/>
                <a:cs typeface="Amiri" pitchFamily="2" charset="-78"/>
              </a:rPr>
              <a:t> and a past illness.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like fish, but my brother prefers meat.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السَّمَكَ،</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السَّمَكُ،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 أَخِي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 أَخُو</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يُفَضِّلُ اللَّحْمَ.</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تُفَضِّلُ اللَّحْمَ.</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For example, I eat an apple every day.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مَثَلًا،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آكُلُ تُفَّاحَةً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آكُلُ تُفَّاحَةٌ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يَوْمٍ.</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يَوْمٍ.</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Finally, I sleep early.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أَخِيرًا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أَوَّلًا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يَنَامُ</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مُبَكِّرًا.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مُبَكِّرٌ.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like fish, but my brother prefers meat.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لٰكِنَّ</a:t>
            </a:r>
            <a:pPr algn="l" indent="0" marL="0">
              <a:buNone/>
            </a:pPr>
            <a:r>
              <a:rPr lang="en-US" sz="1050" i="1" dirty="0">
                <a:solidFill>
                  <a:srgbClr val="5A6472"/>
                </a:solidFill>
                <a:latin typeface="Calibri" pitchFamily="34" charset="0"/>
                <a:cs typeface="Amiri" pitchFamily="2" charset="-78"/>
              </a:rPr>
              <a:t> + noun in -a (</a:t>
            </a:r>
            <a:pPr algn="l" indent="0" marL="0">
              <a:buNone/>
            </a:pPr>
            <a:r>
              <a:rPr lang="ar-SA" altLang="en-US" sz="1350" dirty="0">
                <a:solidFill>
                  <a:srgbClr val="5A6472"/>
                </a:solidFill>
                <a:latin typeface="Amiri" pitchFamily="2" charset="-78"/>
                <a:ea typeface="Amiri" pitchFamily="2" charset="-78"/>
                <a:cs typeface="Amiri" pitchFamily="2" charset="-78"/>
              </a:rPr>
              <a:t>أَخِي</a:t>
            </a:r>
            <a:pPr algn="l" indent="0" marL="0">
              <a:buNone/>
            </a:pPr>
            <a:r>
              <a:rPr lang="en-US" sz="1050" i="1" dirty="0">
                <a:solidFill>
                  <a:srgbClr val="5A6472"/>
                </a:solidFill>
                <a:latin typeface="Calibri" pitchFamily="34" charset="0"/>
                <a:cs typeface="Amiri" pitchFamily="2" charset="-78"/>
              </a:rPr>
              <a:t>); he → </a:t>
            </a:r>
            <a:pPr algn="l" indent="0" marL="0">
              <a:buNone/>
            </a:pPr>
            <a:r>
              <a:rPr lang="ar-SA" altLang="en-US" sz="1350" dirty="0">
                <a:solidFill>
                  <a:srgbClr val="5A6472"/>
                </a:solidFill>
                <a:latin typeface="Amiri" pitchFamily="2" charset="-78"/>
                <a:ea typeface="Amiri" pitchFamily="2" charset="-78"/>
                <a:cs typeface="Amiri" pitchFamily="2" charset="-78"/>
              </a:rPr>
              <a:t>يُفَضِّلُ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أُحِبُّ السَّمَكَ، وَلٰكِنَّ أَخِي يُفَضِّلُ اللَّحْمَ.</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For example, I eat an apple every day.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example = </a:t>
            </a:r>
            <a:pPr algn="l" indent="0" marL="0">
              <a:buNone/>
            </a:pPr>
            <a:r>
              <a:rPr lang="ar-SA" altLang="en-US" sz="1350" dirty="0">
                <a:solidFill>
                  <a:srgbClr val="5A6472"/>
                </a:solidFill>
                <a:latin typeface="Amiri" pitchFamily="2" charset="-78"/>
                <a:ea typeface="Amiri" pitchFamily="2" charset="-78"/>
                <a:cs typeface="Amiri" pitchFamily="2" charset="-78"/>
              </a:rPr>
              <a:t>مَثَلًا</a:t>
            </a:r>
            <a:pPr algn="l" indent="0" marL="0">
              <a:buNone/>
            </a:pPr>
            <a:r>
              <a:rPr lang="en-US" sz="1050" i="1" dirty="0">
                <a:solidFill>
                  <a:srgbClr val="5A6472"/>
                </a:solidFill>
                <a:latin typeface="Calibri" pitchFamily="34" charset="0"/>
                <a:cs typeface="Amiri" pitchFamily="2" charset="-78"/>
              </a:rPr>
              <a:t>; object → </a:t>
            </a:r>
            <a:pPr algn="l" indent="0" marL="0">
              <a:buNone/>
            </a:pPr>
            <a:r>
              <a:rPr lang="ar-SA" altLang="en-US" sz="1350" dirty="0">
                <a:solidFill>
                  <a:srgbClr val="5A6472"/>
                </a:solidFill>
                <a:latin typeface="Amiri" pitchFamily="2" charset="-78"/>
                <a:ea typeface="Amiri" pitchFamily="2" charset="-78"/>
                <a:cs typeface="Amiri" pitchFamily="2" charset="-78"/>
              </a:rPr>
              <a:t>تُفَّاحَةً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مَثَلًا، آكُلُ تُفَّاحَةً كُلَّ يَوْمٍ.</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Finally, I sleep early.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 </a:t>
            </a:r>
            <a:pPr algn="l" indent="0" marL="0">
              <a:buNone/>
            </a:pPr>
            <a:r>
              <a:rPr lang="ar-SA" altLang="en-US" sz="1350" dirty="0">
                <a:solidFill>
                  <a:srgbClr val="5A6472"/>
                </a:solidFill>
                <a:latin typeface="Amiri" pitchFamily="2" charset="-78"/>
                <a:ea typeface="Amiri" pitchFamily="2" charset="-78"/>
                <a:cs typeface="Amiri" pitchFamily="2" charset="-78"/>
              </a:rPr>
              <a:t>أَخِيرًا</a:t>
            </a:r>
            <a:pPr algn="l" indent="0" marL="0">
              <a:buNone/>
            </a:pPr>
            <a:r>
              <a:rPr lang="en-US" sz="1050" i="1" dirty="0">
                <a:solidFill>
                  <a:srgbClr val="5A6472"/>
                </a:solidFill>
                <a:latin typeface="Calibri" pitchFamily="34" charset="0"/>
                <a:cs typeface="Amiri" pitchFamily="2" charset="-78"/>
              </a:rPr>
              <a:t>; early = </a:t>
            </a:r>
            <a:pPr algn="l" indent="0" marL="0">
              <a:buNone/>
            </a:pPr>
            <a:r>
              <a:rPr lang="ar-SA" altLang="en-US" sz="1350" dirty="0">
                <a:solidFill>
                  <a:srgbClr val="5A6472"/>
                </a:solidFill>
                <a:latin typeface="Amiri" pitchFamily="2" charset="-78"/>
                <a:ea typeface="Amiri" pitchFamily="2" charset="-78"/>
                <a:cs typeface="Amiri" pitchFamily="2" charset="-78"/>
              </a:rPr>
              <a:t>مُبَكِّرًا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أَخِيرًا أَنَامُ مُبَكِّرًا.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الحُمُّصَ لِأَنَّهَا لَذِيذَةٌ.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حُمُّصٌ</a:t>
            </a:r>
            <a:pPr algn="l" indent="0" marL="0">
              <a:buNone/>
            </a:pPr>
            <a:r>
              <a:rPr lang="en-US" sz="1300" i="1" dirty="0">
                <a:solidFill>
                  <a:srgbClr val="5A6472"/>
                </a:solidFill>
                <a:latin typeface="Calibri" pitchFamily="34" charset="0"/>
                <a:cs typeface="Amiri" pitchFamily="2" charset="-78"/>
              </a:rPr>
              <a:t> is masculine.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عِنْدِي زُكَامٌ مِنْ يَوْمَيْنِ.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“for two days”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تَأْكُلُ الخُضَارَ.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الحُمُّصَ لِأَنَّهَا لَذِيذَةٌ.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الحُمُّصَ لِأَنَّهُ لَذِيذٌ.</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food → </a:t>
            </a:r>
            <a:pPr algn="l" indent="0" marL="0">
              <a:buNone/>
            </a:pPr>
            <a:r>
              <a:rPr lang="ar-SA" altLang="en-US" sz="1500" b="1" dirty="0">
                <a:solidFill>
                  <a:srgbClr val="1B3B6F"/>
                </a:solidFill>
                <a:latin typeface="Amiri" pitchFamily="2" charset="-78"/>
                <a:ea typeface="Amiri" pitchFamily="2" charset="-78"/>
                <a:cs typeface="Amiri" pitchFamily="2" charset="-78"/>
              </a:rPr>
              <a:t>لِأَنَّهُ لَذِيذٌ</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عِنْدِي زُكَامٌ مِنْ يَوْمَيْنِ.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عِنْدِي زُكَامٌ مُنْذُ يَوْمَيْنِ.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Duration = </a:t>
            </a:r>
            <a:pPr algn="l" indent="0" marL="0">
              <a:buNone/>
            </a:pPr>
            <a:r>
              <a:rPr lang="ar-SA" altLang="en-US" sz="1500" b="1" dirty="0">
                <a:solidFill>
                  <a:srgbClr val="1B3B6F"/>
                </a:solidFill>
                <a:latin typeface="Amiri" pitchFamily="2" charset="-78"/>
                <a:ea typeface="Amiri" pitchFamily="2" charset="-78"/>
                <a:cs typeface="Amiri" pitchFamily="2" charset="-78"/>
              </a:rPr>
              <a:t>مُنْذُ</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تَأْكُلُ الخُضَارَ.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تَأْكُلَ الخُضَارَ.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verb in -a.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أُحِبُّ الحَلْوَيَاتِ، وَلٰكِنْ ______ . مَثَلًا ______ .</a:t>
            </a:r>
            <a:endParaRPr lang="ar-SA" sz="16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sweets, but … For example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ذَهَبْتُ إِلَى الطَّبِيبِ، فَقَالَ: ______ ، لِذٰلِكَ ______ .</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went to the doctor, and he said: …, so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فِي الفُطُورِ ______ ، ثُمَّ فِي الغَدَاءِ ______ .</a:t>
            </a:r>
            <a:endParaRPr lang="ar-SA" sz="16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breakfast …, then for lunch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طَعَامِي المُفَضَّلُ ______ لِأَنَّهُ / لِأَنَّهَا ______ .</a:t>
            </a:r>
            <a:endParaRPr lang="ar-SA" sz="16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food is … because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فِي الشِّتَاءِ كُنْتُ مَرِيضًا / مَرِيضَةً؛ كَانَ عِنْدِي ______ .</a:t>
            </a:r>
            <a:endParaRPr lang="ar-SA" sz="145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winter I was ill; I had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يَجِبُ أَنْ ______ ، وَمِنَ الأَفْضَلِ أَنْ ______ .</a:t>
            </a:r>
            <a:endParaRPr lang="ar-SA" sz="175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must …, and it is better to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أَوَّلًا · ثُمَّ  ·  بَعْدَ ذٰلِكَ · أَخِيرًا  ·  أَيْضًا · مَثَلًا  ·  وَلٰكِنْ  ·  لِأَنَّ · لِذٰلِكَ  ·  كَانَ عِنْدِي  ·  يَجِبُ أَنْ  ·  مِنَ الأَفْضَلِ 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Article: my food and my health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مَقَالَةٌ: طَعَامِي وَصِحَّتِي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article (about 60–80 words) for the school magazine: </a:t>
            </a:r>
            <a:pPr algn="l" indent="0" marL="0">
              <a:buNone/>
            </a:pPr>
            <a:r>
              <a:rPr lang="ar-SA" altLang="en-US" sz="1450" b="1" dirty="0">
                <a:solidFill>
                  <a:srgbClr val="1F2A37"/>
                </a:solidFill>
                <a:latin typeface="Amiri" pitchFamily="2" charset="-78"/>
                <a:ea typeface="Amiri" pitchFamily="2" charset="-78"/>
                <a:cs typeface="Amiri" pitchFamily="2" charset="-78"/>
              </a:rPr>
              <a:t>طَعَامِي وَصِحَّتِي</a:t>
            </a:r>
            <a:pPr algn="l" indent="0" marL="0">
              <a:buNone/>
            </a:pPr>
            <a:r>
              <a:rPr lang="en-US" sz="1100" b="1" dirty="0">
                <a:solidFill>
                  <a:srgbClr val="1F2A37"/>
                </a:solidFill>
                <a:latin typeface="Calibri" pitchFamily="34" charset="0"/>
                <a:cs typeface="Amiri" pitchFamily="2" charset="-78"/>
              </a:rPr>
              <a:t>. Paragraph 1: your meals and favourite food (with reasons). Paragraph 2: a time you were ill and what you did. Paragraph 3: your healthy-living advice. Use at least five connectors, including </a:t>
            </a:r>
            <a:pPr algn="l" indent="0" marL="0">
              <a:buNone/>
            </a:pPr>
            <a:r>
              <a:rPr lang="ar-SA" altLang="en-US" sz="1450" b="1" dirty="0">
                <a:solidFill>
                  <a:srgbClr val="1F2A37"/>
                </a:solidFill>
                <a:latin typeface="Amiri" pitchFamily="2" charset="-78"/>
                <a:ea typeface="Amiri" pitchFamily="2" charset="-78"/>
                <a:cs typeface="Amiri" pitchFamily="2" charset="-78"/>
              </a:rPr>
              <a:t>مَثَلًا</a:t>
            </a:r>
            <a:pPr algn="l" indent="0" marL="0">
              <a:buNone/>
            </a:pPr>
            <a:r>
              <a:rPr lang="en-US" sz="1100" b="1" dirty="0">
                <a:solidFill>
                  <a:srgbClr val="1F2A37"/>
                </a:solidFill>
                <a:latin typeface="Calibri" pitchFamily="34" charset="0"/>
                <a:cs typeface="Amiri" pitchFamily="2" charset="-78"/>
              </a:rPr>
              <a:t> and </a:t>
            </a:r>
            <a:pPr algn="l" indent="0" marL="0">
              <a:buNone/>
            </a:pPr>
            <a:r>
              <a:rPr lang="ar-SA" altLang="en-US" sz="1450" b="1" dirty="0">
                <a:solidFill>
                  <a:srgbClr val="1F2A37"/>
                </a:solidFill>
                <a:latin typeface="Amiri" pitchFamily="2" charset="-78"/>
                <a:ea typeface="Amiri" pitchFamily="2" charset="-78"/>
                <a:cs typeface="Amiri" pitchFamily="2" charset="-78"/>
              </a:rPr>
              <a:t>لِذٰلِكَ</a:t>
            </a:r>
            <a:pPr algn="l" indent="0" marL="0">
              <a:buNone/>
            </a:pPr>
            <a:r>
              <a:rPr lang="en-US" sz="1100" b="1" dirty="0">
                <a:solidFill>
                  <a:srgbClr val="1F2A37"/>
                </a:solidFill>
                <a:latin typeface="Calibri" pitchFamily="34" charset="0"/>
                <a:cs typeface="Amiri" pitchFamily="2" charset="-78"/>
              </a:rPr>
              <a:t>.</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 ثُمَّ … وَبَعْدَ ذٰلِكَ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 then … after that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مَثَلًا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example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مَرِيضًا … ؛ كَانَ عِنْدِي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was ill …; I had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يَجِبُ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you must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three paragraphs: meals and food · illness · advice?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least five connectors, including </a:t>
            </a:r>
            <a:pPr algn="l" indent="0" marL="0">
              <a:buNone/>
            </a:pPr>
            <a:r>
              <a:rPr lang="ar-SA" altLang="en-US" sz="1450" dirty="0">
                <a:solidFill>
                  <a:srgbClr val="5A6472"/>
                </a:solidFill>
                <a:latin typeface="Amiri" pitchFamily="2" charset="-78"/>
                <a:ea typeface="Amiri" pitchFamily="2" charset="-78"/>
                <a:cs typeface="Amiri" pitchFamily="2" charset="-78"/>
              </a:rPr>
              <a:t>مَثَلًا</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لِذٰلِكَ</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آكُلُ ثَلَاثَ وَجَبَاتٍ: الفُطُورَ وَالغَدَاءَ وَالعَشَاءَ.</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eat three meals: breakfast, lunch and dinner.</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وَجْبَةً تَأْكُلُ فِي اليَوْمِ؟</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مَثَلًا آكُلُ الجَزَرَ وَالخِيَارَ مَعَ الغَدَاءِ.</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for example I eat carrots and cucumber with lunch.</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تَأْكُلُ الخُضَارَ؟</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أَشْعُرُ بِالتَّعَبِ فِي الصَّبَاحِ، لِذٰلِكَ لَا أَتَرَكَّزُ فِي الصَّفِّ.</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feel tired in the morning, so I don’t concentrate in class.</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تَشْعُرُ عِنْدَمَا تَسْهَرُ؟</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سَأَشْرَبُ مَاءً أَكْثَرَ، وَسَأَشْرَبُ مَشْرُوبَاتٍ غَازِيَّةً أَقَلَّ.</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drink more water, and fewer fizzy drinks.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الشَّيْءُ الَّذِي سَتُغَيِّرُهُ فِي حَيَاتِكَ؟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طَعَامِي وَصِحَّتِي</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فِي الفُطُورِ آكُلُ البَيْضَ، ثُمَّ فِي الغَدَاءِ آكُلُ الأَرُزَّ مَعَ السَّلَطَةِ. طَعَامِي المُفَضَّلُ المَقْلُوبَةُ، لِأَنَّهَا لَذِيذَةٌ وَتُذَكِّرُنِي بِجَدَّتِي. أُحِبُّ الحَلْوَيَاتِ أَيْضًا، وَلٰكِنْ لَا آكُلُهَا كَثِيرًا.</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فِي الشِّتَاءِ كُنْتُ مَرِيضًا؛ كَانَ عِنْدِي زُكَامٌ وَحُمَّى. ذَهَبْتُ إِلَى الطَّبِيبِ، فَقَالَ: اسْتَرِحْ، لِذٰلِكَ بَقِيتُ فِي البَيْتِ ثَلَاثَةَ أَيَّامٍ.</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نَصِيحَتِي: يَجِبُ أَنْ تَأْكُلَ الفَاكِهَةَ، مَثَلًا التُّفَّاحَ، وَمِنَ الأَفْضَلِ أَنْ تَنَامَ مُبَكِّرًا.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food and my health. For breakfast I eat eggs, then for lunch I eat rice with salad. My favourite food is maqluba, because it is delicious and reminds me of my grandmother. I like sweets too, but I don’t eat them a lot. / In winter I was ill; I had a cold and a fever. I went to the doctor and he said: rest, so I stayed at home for three days. / My advice: you must eat fruit, for example apples, and it is better to sleep early.”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ثُمَّ فِي الغَدَاءِ</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لَذِيذَةٌ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لِذٰلِكَ بَقِيتُ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مَثَلًا التُّفَّاحَ</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F5-L12 · Review and Unit Assessment: Food, Health and Body</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F5-L11 · Practice Room — Speaking and Writing About Food and Health</dc:title>
  <dc:subject>PptxGenJS Presentation</dc:subject>
  <dc:creator>Al Madina Online School · Arabic Department</dc:creator>
  <cp:lastModifiedBy>Al Madina Online School · Arabic Department</cp:lastModifiedBy>
  <cp:revision>1</cp:revision>
  <dcterms:created xsi:type="dcterms:W3CDTF">2026-10-25T17:41:36Z</dcterms:created>
  <dcterms:modified xsi:type="dcterms:W3CDTF">2026-10-25T17:41:36Z</dcterms:modified>
</cp:coreProperties>
</file>