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F5-L05 (Ordering Food Politely) — new practice tasks built on the lesson’s own word bank and grammar (urīdu … min faḍlika; hal ʿindakum …?; kami al-siʿru?; law samaḥta / law samaḥti; al-ḥisābu min faḍlika; polite replies (shukran · ʿafwan)).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F5-L05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to a waitress the customer says: مِنْ فَضْلِكِ · لَوْ سَمَحْتِ; to a female customer the waiter says: تَفَضَّلِي · تُرِيدِينَ. Language: urīdu + accusative · min faḍlika / -ki · kam siʿru + noun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F5-L05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Practice Room — Ordering Food Politely</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أَطْلُبُ الطَّعَامَ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ordering food: say the café phrases, act a full café dialogue, answer waiter question cards, do a role-play card at a café in Amman, give a 30-second order, then build, fix and write a short review of a café visit.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F5-L05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Polite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 / مِنْ فَضْلِكِ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(m/f)</a:t>
            </a:r>
            <a:endParaRPr lang="en-US" sz="1350" dirty="0"/>
          </a:p>
          <a:p>
            <a:pPr indent="0" marL="0">
              <a:buNone/>
            </a:pPr>
            <a:r>
              <a:rPr lang="en-US" sz="1100" i="1" dirty="0">
                <a:solidFill>
                  <a:srgbClr val="5A6472"/>
                </a:solidFill>
                <a:latin typeface="Calibri" pitchFamily="34" charset="0"/>
                <a:cs typeface="Amiri" pitchFamily="2" charset="-78"/>
              </a:rPr>
              <a:t>min faḍ-li-ka / min faḍ-li-ki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would like ...</a:t>
            </a:r>
            <a:endParaRPr lang="en-US" sz="1350" dirty="0"/>
          </a:p>
          <a:p>
            <a:pPr indent="0" marL="0">
              <a:buNone/>
            </a:pPr>
            <a:r>
              <a:rPr lang="en-US" sz="1100" i="1" dirty="0">
                <a:solidFill>
                  <a:srgbClr val="5A6472"/>
                </a:solidFill>
                <a:latin typeface="Calibri" pitchFamily="34" charset="0"/>
                <a:cs typeface="Amiri" pitchFamily="2" charset="-78"/>
              </a:rPr>
              <a:t>u-rī-du ...</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يُرِيدُ</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تُرِيدُ</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 f.</a:t>
            </a:r>
            <a:endParaRPr lang="en-US" sz="700" dirty="0"/>
          </a:p>
        </p:txBody>
      </p:sp>
      <p:sp>
        <p:nvSpPr>
          <p:cNvPr id="39" name="Text 36"/>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تُرِيدِينَ</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لَوْ سَمَحْتَ / لَوْ سَمَحْتِ</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excuse me / if you please</a:t>
            </a:r>
            <a:endParaRPr lang="en-US" sz="1350" dirty="0"/>
          </a:p>
          <a:p>
            <a:pPr indent="0" marL="0">
              <a:buNone/>
            </a:pPr>
            <a:r>
              <a:rPr lang="en-US" sz="1100" i="1" dirty="0">
                <a:solidFill>
                  <a:srgbClr val="5A6472"/>
                </a:solidFill>
                <a:latin typeface="Calibri" pitchFamily="34" charset="0"/>
                <a:cs typeface="Amiri" pitchFamily="2" charset="-78"/>
              </a:rPr>
              <a:t>law sa-maḥ-ta / law sa-maḥ-ti</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a:t>
            </a:r>
            <a:endParaRPr lang="en-US" sz="1350" dirty="0"/>
          </a:p>
          <a:p>
            <a:pPr indent="0" marL="0">
              <a:buNone/>
            </a:pPr>
            <a:r>
              <a:rPr lang="en-US" sz="1100" i="1" dirty="0">
                <a:solidFill>
                  <a:srgbClr val="5A6472"/>
                </a:solidFill>
                <a:latin typeface="Calibri" pitchFamily="34" charset="0"/>
                <a:cs typeface="Amiri" pitchFamily="2" charset="-78"/>
              </a:rPr>
              <a:t>shuk-ran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maṭ-ʿa-mun</a:t>
            </a:r>
            <a:endParaRPr lang="en-US" sz="1350" dirty="0"/>
          </a:p>
        </p:txBody>
      </p:sp>
      <p:sp>
        <p:nvSpPr>
          <p:cNvPr id="63" name="Shape 60"/>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5" name="Text 62"/>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مَطْعَمٌ</a:t>
            </a:r>
            <a:endParaRPr lang="ar-SA" sz="1500" dirty="0"/>
          </a:p>
        </p:txBody>
      </p:sp>
      <p:sp>
        <p:nvSpPr>
          <p:cNvPr id="66" name="Shape 63"/>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مَطَاعِمُ</a:t>
            </a:r>
            <a:endParaRPr lang="ar-SA" sz="150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2" name="Shape 6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مَقْهًى</a:t>
            </a:r>
            <a:endParaRPr lang="ar-SA" sz="3000" dirty="0"/>
          </a:p>
        </p:txBody>
      </p:sp>
      <p:sp>
        <p:nvSpPr>
          <p:cNvPr id="75" name="Text 7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café</a:t>
            </a:r>
            <a:endParaRPr lang="en-US" sz="1350" dirty="0"/>
          </a:p>
          <a:p>
            <a:pPr indent="0" marL="0">
              <a:buNone/>
            </a:pPr>
            <a:r>
              <a:rPr lang="en-US" sz="1100" i="1" dirty="0">
                <a:solidFill>
                  <a:srgbClr val="5A6472"/>
                </a:solidFill>
                <a:latin typeface="Calibri" pitchFamily="34" charset="0"/>
                <a:cs typeface="Amiri" pitchFamily="2" charset="-78"/>
              </a:rPr>
              <a:t>maq-han</a:t>
            </a:r>
            <a:endParaRPr lang="en-US" sz="13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café or restaurant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نَادِلٌ / نَادِلَةٌ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waiter / waitress</a:t>
            </a:r>
            <a:endParaRPr lang="en-US" sz="1350" dirty="0"/>
          </a:p>
          <a:p>
            <a:pPr indent="0" marL="0">
              <a:buNone/>
            </a:pPr>
            <a:r>
              <a:rPr lang="en-US" sz="1100" i="1" dirty="0">
                <a:solidFill>
                  <a:srgbClr val="5A6472"/>
                </a:solidFill>
                <a:latin typeface="Calibri" pitchFamily="34" charset="0"/>
                <a:cs typeface="Amiri" pitchFamily="2" charset="-78"/>
              </a:rPr>
              <a:t>nā-di-lun / nā-di-la-tun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نَادِلَةٌ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نُدُلٌ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قَائِمَةُ الطَّعَامِ</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menu</a:t>
            </a:r>
            <a:endParaRPr lang="en-US" sz="1350" dirty="0"/>
          </a:p>
          <a:p>
            <a:pPr indent="0" marL="0">
              <a:buNone/>
            </a:pPr>
            <a:r>
              <a:rPr lang="en-US" sz="1100" i="1" dirty="0">
                <a:solidFill>
                  <a:srgbClr val="5A6472"/>
                </a:solidFill>
                <a:latin typeface="Calibri" pitchFamily="34" charset="0"/>
                <a:cs typeface="Amiri" pitchFamily="2" charset="-78"/>
              </a:rPr>
              <a:t>qā-ʾi-ma-tu aṭ-ṭa-ʿā-mi</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الحِسَابُ</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bill</a:t>
            </a:r>
            <a:endParaRPr lang="en-US" sz="1350" dirty="0"/>
          </a:p>
          <a:p>
            <a:pPr indent="0" marL="0">
              <a:buNone/>
            </a:pPr>
            <a:r>
              <a:rPr lang="en-US" sz="1100" i="1" dirty="0">
                <a:solidFill>
                  <a:srgbClr val="5A6472"/>
                </a:solidFill>
                <a:latin typeface="Calibri" pitchFamily="34" charset="0"/>
                <a:cs typeface="Amiri" pitchFamily="2" charset="-78"/>
              </a:rPr>
              <a:t>al-ḥi-sā-bu</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عِنْدَكُمْ ...؟</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have ...?</a:t>
            </a:r>
            <a:endParaRPr lang="en-US" sz="1350" dirty="0"/>
          </a:p>
          <a:p>
            <a:pPr indent="0" marL="0">
              <a:buNone/>
            </a:pPr>
            <a:r>
              <a:rPr lang="en-US" sz="1100" i="1" dirty="0">
                <a:solidFill>
                  <a:srgbClr val="5A6472"/>
                </a:solidFill>
                <a:latin typeface="Calibri" pitchFamily="34" charset="0"/>
                <a:cs typeface="Amiri" pitchFamily="2" charset="-78"/>
              </a:rPr>
              <a:t>hal ʿin-da-kum ...?</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السِّعْرُ؟</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a:t>
            </a:r>
            <a:endParaRPr lang="en-US" sz="1350" dirty="0"/>
          </a:p>
          <a:p>
            <a:pPr indent="0" marL="0">
              <a:buNone/>
            </a:pPr>
            <a:r>
              <a:rPr lang="en-US" sz="1100" i="1" dirty="0">
                <a:solidFill>
                  <a:srgbClr val="5A6472"/>
                </a:solidFill>
                <a:latin typeface="Calibri" pitchFamily="34" charset="0"/>
                <a:cs typeface="Amiri" pitchFamily="2" charset="-78"/>
              </a:rPr>
              <a:t>ka-mi as-siʿ-ru?</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الحِسَابُ مِنْ فَضْلِكَ</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bill, please</a:t>
            </a:r>
            <a:endParaRPr lang="en-US" sz="1350" dirty="0"/>
          </a:p>
          <a:p>
            <a:pPr indent="0" marL="0">
              <a:buNone/>
            </a:pPr>
            <a:r>
              <a:rPr lang="en-US" sz="1100" i="1" dirty="0">
                <a:solidFill>
                  <a:srgbClr val="5A6472"/>
                </a:solidFill>
                <a:latin typeface="Calibri" pitchFamily="34" charset="0"/>
                <a:cs typeface="Amiri" pitchFamily="2" charset="-78"/>
              </a:rPr>
              <a:t>al-ḥi-sā-bu min faḍ-li-ka</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café</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المَقْهَى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Welcome! What would you like?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أَهْلًا وَسَهْلًا! مَاذَا تُرِيدُ؟</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would like a chicken sandwich and an orange juice, please.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شَطِيرَةَ دَجَاجٍ وَعَصِيرَ بُرْتُقَالٍ، مِنْ فَضْلِكَ.</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Here you are. Would you like anything else?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تَفَضَّلْ. هَلْ تُرِيدُ شَيْئًا آخَرَ؟</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chocolate cake?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عِنْدَكُمْ كَعْكٌ بِالشُّوكُولَاتَةِ؟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we do. It costs three dinars.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عِنْدَنَا. سِعْرُهُ ثَلَاثَةُ دَنَانِيرَ.</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OK, thank you. Excuse me, the bill please.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حَسَنًا، شُكْرًا. لَوْ سَمَحْتَ، الحِسَابُ مِنْ فَضْلِكَ.</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order YOUR real favourite meal — and ask one question about the menu.</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waiter asks — answer politely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مَعَ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 مِنْ فَضْلِكَ</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would you like to eat?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 أَنْ تَأْكُلَ؟</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بِدُونِ سُكَّرٍ</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 ، مِنْ فَضْلِكَ</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would you like to drink?</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تُرِيدُ أَنْ تَشْرَبَ؟</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هَلْ عِنْدَكُمْ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أُرِيدُ … / لَا، شُكْرًا</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Would you like dessert?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حَلْوَيَاتٍ؟</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شُكْرًا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الطَّعَامُ … جِدًّا</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everything OK?</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كُلُّ شَيْءٍ جَيِّدٌ؟</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كَمِ المَجْمُوعُ؟</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أَدْفَعُ نَقْدًا / بِالبِطَاقَةِ</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are you paying?</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تَدْفَعُ؟</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Role-play card — ordering at a café in Amman</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مَقْهًى فِي عَمَّانَ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مَسَاءَ الخَيْرِ ← مَسَاءَ النُّورِ ، شُكْرًا</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Greet and thank.</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مَسَاءَ الخَيْرِ! تَفَضَّلْ، هٰذِهِ قَائِمَةُ الطَّعَامِ.</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أُرِيدُ … مِنْ فَضْلِكَ</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a main dish.</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تُرِيدُ؟</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لِلشُّرْبِ ← … ، مِنْ فَضْلِكَ</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a drink.</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وَلِلشُّرْبِ؟</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كَمْ سِعْرُ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price of something.</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عِنْدَكَ سُؤَالٌ؟</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customer · Leader = the waiter or waitress.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perfect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طَلَبِي المِثَالِيُّ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order a full meal politely: greeting, a main dish, a drink, a dessert, a question about price, and the bill.</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أُرِيدُ … مِنْ فَضْلِكَ</a:t>
            </a:r>
            <a:pPr algn="l" indent="0" marL="0">
              <a:buNone/>
            </a:pPr>
            <a:r>
              <a:rPr lang="en-US" sz="1150" dirty="0">
                <a:solidFill>
                  <a:srgbClr val="1F2A37"/>
                </a:solidFill>
                <a:latin typeface="Calibri" pitchFamily="34" charset="0"/>
                <a:cs typeface="Amiri" pitchFamily="2" charset="-78"/>
              </a:rPr>
              <a:t> (three times) + </a:t>
            </a:r>
            <a:pPr algn="l" indent="0" marL="0">
              <a:buNone/>
            </a:pPr>
            <a:r>
              <a:rPr lang="ar-SA" altLang="en-US" sz="1500" dirty="0">
                <a:solidFill>
                  <a:srgbClr val="1F2A37"/>
                </a:solidFill>
                <a:latin typeface="Amiri" pitchFamily="2" charset="-78"/>
                <a:ea typeface="Amiri" pitchFamily="2" charset="-78"/>
                <a:cs typeface="Amiri" pitchFamily="2" charset="-78"/>
              </a:rPr>
              <a:t>شُكْرًا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هَلْ عِنْدَكُمْ …؟</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كَمِ السِّعْرُ؟</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لَوْ سَمَحْتَ / لَوْ سَمَحْتِ</a:t>
            </a:r>
            <a:pPr algn="l" indent="0" marL="0">
              <a:buNone/>
            </a:pPr>
            <a:r>
              <a:rPr lang="en-US" sz="1150" dirty="0">
                <a:solidFill>
                  <a:srgbClr val="1F2A37"/>
                </a:solidFill>
                <a:latin typeface="Calibri" pitchFamily="34" charset="0"/>
                <a:cs typeface="Amiri" pitchFamily="2" charset="-78"/>
              </a:rPr>
              <a:t> and a comment on the food.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would like a coffee, please.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تُرِيدُ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قَهْوَةً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قَهْوَةٌ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شُكْرًا.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 you have fish?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عِنْدَكُمْ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سَمَكٌ؟</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سَمَكًا؟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Excuse me, the bill please (to a waitress).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سَمَحْتِ،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 سَمَحْتَ،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الحِسَابُ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الحِسَابَ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فَضْلِكَ.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would like a coffee, please.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 </a:t>
            </a:r>
            <a:pPr algn="l" indent="0" marL="0">
              <a:buNone/>
            </a:pPr>
            <a:r>
              <a:rPr lang="ar-SA" altLang="en-US" sz="1350" dirty="0">
                <a:solidFill>
                  <a:srgbClr val="5A6472"/>
                </a:solidFill>
                <a:latin typeface="Amiri" pitchFamily="2" charset="-78"/>
                <a:ea typeface="Amiri" pitchFamily="2" charset="-78"/>
                <a:cs typeface="Amiri" pitchFamily="2" charset="-78"/>
              </a:rPr>
              <a:t>أُرِيدُ</a:t>
            </a:r>
            <a:pPr algn="l" indent="0" marL="0">
              <a:buNone/>
            </a:pPr>
            <a:r>
              <a:rPr lang="en-US" sz="1050" i="1" dirty="0">
                <a:solidFill>
                  <a:srgbClr val="5A6472"/>
                </a:solidFill>
                <a:latin typeface="Calibri" pitchFamily="34" charset="0"/>
                <a:cs typeface="Amiri" pitchFamily="2" charset="-78"/>
              </a:rPr>
              <a:t> + object in -an / -atan.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قَهْوَةً مِنْ فَضْلِكَ.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 you have fish?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(all) have = </a:t>
            </a:r>
            <a:pPr algn="l" indent="0" marL="0">
              <a:buNone/>
            </a:pPr>
            <a:r>
              <a:rPr lang="ar-SA" altLang="en-US" sz="1350" dirty="0">
                <a:solidFill>
                  <a:srgbClr val="5A6472"/>
                </a:solidFill>
                <a:latin typeface="Amiri" pitchFamily="2" charset="-78"/>
                <a:ea typeface="Amiri" pitchFamily="2" charset="-78"/>
                <a:cs typeface="Amiri" pitchFamily="2" charset="-78"/>
              </a:rPr>
              <a:t>هَلْ عِنْدَكُمْ</a:t>
            </a:r>
            <a:pPr algn="l" indent="0" marL="0">
              <a:buNone/>
            </a:pPr>
            <a:r>
              <a:rPr lang="en-US" sz="1050" i="1" dirty="0">
                <a:solidFill>
                  <a:srgbClr val="5A6472"/>
                </a:solidFill>
                <a:latin typeface="Calibri" pitchFamily="34" charset="0"/>
                <a:cs typeface="Amiri" pitchFamily="2" charset="-78"/>
              </a:rPr>
              <a:t> + noun (-un).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عِنْدَكُمْ سَمَكٌ؟</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Excuse me, the bill please (to a waitress).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woman → </a:t>
            </a:r>
            <a:pPr algn="l" indent="0" marL="0">
              <a:buNone/>
            </a:pPr>
            <a:r>
              <a:rPr lang="ar-SA" altLang="en-US" sz="1350" dirty="0">
                <a:solidFill>
                  <a:srgbClr val="5A6472"/>
                </a:solidFill>
                <a:latin typeface="Amiri" pitchFamily="2" charset="-78"/>
                <a:ea typeface="Amiri" pitchFamily="2" charset="-78"/>
                <a:cs typeface="Amiri" pitchFamily="2" charset="-78"/>
              </a:rPr>
              <a:t>سَمَحْتِ</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فَضْلِكِ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لَوْ سَمَحْتِ، الحِسَابُ مِنْ فَضْلِكِ.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شَايٌ مِنْ فَضْلِكَ.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أُرِيدُ</a:t>
            </a:r>
            <a:pPr algn="l" indent="0" marL="0">
              <a:buNone/>
            </a:pPr>
            <a:r>
              <a:rPr lang="en-US" sz="1300" i="1" dirty="0">
                <a:solidFill>
                  <a:srgbClr val="5A6472"/>
                </a:solidFill>
                <a:latin typeface="Calibri" pitchFamily="34" charset="0"/>
                <a:cs typeface="Amiri" pitchFamily="2" charset="-78"/>
              </a:rPr>
              <a:t> the thing is the object.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كَمْ سِعْرُ الشُّورْبَةُ؟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second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أَعْطِنِي المَاءَ!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direct — make it polite.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شَايٌ مِنْ فَضْلِكَ.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شَايًا مِنْ فَضْلِكَ.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Object → -an: </a:t>
            </a:r>
            <a:pPr algn="l" indent="0" marL="0">
              <a:buNone/>
            </a:pPr>
            <a:r>
              <a:rPr lang="ar-SA" altLang="en-US" sz="1500" b="1" dirty="0">
                <a:solidFill>
                  <a:srgbClr val="1B3B6F"/>
                </a:solidFill>
                <a:latin typeface="Amiri" pitchFamily="2" charset="-78"/>
                <a:ea typeface="Amiri" pitchFamily="2" charset="-78"/>
                <a:cs typeface="Amiri" pitchFamily="2" charset="-78"/>
              </a:rPr>
              <a:t>شَايًا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كَمْ سِعْرُ الشُّورْبَةُ؟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كَمْ سِعْرُ الشُّورْبَةِ؟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سِعْرُ</a:t>
            </a:r>
            <a:pPr algn="l" indent="0" marL="0">
              <a:buNone/>
            </a:pPr>
            <a:r>
              <a:rPr lang="en-US" sz="1150" b="1" dirty="0">
                <a:solidFill>
                  <a:srgbClr val="1B3B6F"/>
                </a:solidFill>
                <a:latin typeface="Calibri" pitchFamily="34" charset="0"/>
                <a:cs typeface="Amiri" pitchFamily="2" charset="-78"/>
              </a:rPr>
              <a:t> + noun in genitive (iḍāfa).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أَعْطِنِي المَاءَ!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المَاءَ، مِنْ فَضْلِكَ.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Polite ordering: </a:t>
            </a:r>
            <a:pPr algn="l" indent="0" marL="0">
              <a:buNone/>
            </a:pPr>
            <a:r>
              <a:rPr lang="ar-SA" altLang="en-US" sz="1500" b="1" dirty="0">
                <a:solidFill>
                  <a:srgbClr val="1B3B6F"/>
                </a:solidFill>
                <a:latin typeface="Amiri" pitchFamily="2" charset="-78"/>
                <a:ea typeface="Amiri" pitchFamily="2" charset="-78"/>
                <a:cs typeface="Amiri" pitchFamily="2" charset="-78"/>
              </a:rPr>
              <a:t>أُرِيدُ … مِنْ فَضْلِكَ</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سَأَلْتُ النَّادِلَ: هَلْ عِنْدَكُمْ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asked the waiter: do you have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النَّادِلُ ______ ، لٰكِنَّ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waiter was …, but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مَعَ ______ إِلَى مَقْهَى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with … to … café.</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ordered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السِّعْرُ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price was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الطَّعَامُ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food was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مَقْهًى · مَطْعَمٌ  ·  نَادِلٌ · نَادِلَةٌ  ·  قَائِمَةُ الطَّعَامِ  ·  طَلَبْتُ  ·  مِنْ فَضْلِكَ  ·  هَلْ عِنْدَكُمْ …؟  ·  السِّعْرُ · الحِسَابُ  ·  لَذِيذٌ · لَطِيفٌ</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café visit — a short review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زِيَارَةُ مَقْهًى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short review (about 40–60 words) of a visit to a café or restaurant (real or imagined). Include: • where and with whom • what you ordered to eat and drink • one question you asked the waiter • the price • your opinion of the food and the service.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مَعَ …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with …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طَلَبْتُ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ordered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سَأَلْتُ النَّادِلَ: هَلْ عِنْدَكُمْ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asked the waiter: do you have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الطَّعَامُ … وَكَانَ النَّادِلُ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food was … and the waiter was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order politely with </a:t>
            </a:r>
            <a:pPr algn="l" indent="0" marL="0">
              <a:buNone/>
            </a:pPr>
            <a:r>
              <a:rPr lang="ar-SA" altLang="en-US" sz="1450" dirty="0">
                <a:solidFill>
                  <a:srgbClr val="5A6472"/>
                </a:solidFill>
                <a:latin typeface="Amiri" pitchFamily="2" charset="-78"/>
                <a:ea typeface="Amiri" pitchFamily="2" charset="-78"/>
                <a:cs typeface="Amiri" pitchFamily="2" charset="-78"/>
              </a:rPr>
              <a:t>أُرِيدُ … مِنْ فَضْلِكَ</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 question (</a:t>
            </a:r>
            <a:pPr algn="l" indent="0" marL="0">
              <a:buNone/>
            </a:pPr>
            <a:r>
              <a:rPr lang="ar-SA" altLang="en-US" sz="1450" dirty="0">
                <a:solidFill>
                  <a:srgbClr val="5A6472"/>
                </a:solidFill>
                <a:latin typeface="Amiri" pitchFamily="2" charset="-78"/>
                <a:ea typeface="Amiri" pitchFamily="2" charset="-78"/>
                <a:cs typeface="Amiri" pitchFamily="2" charset="-78"/>
              </a:rPr>
              <a:t>هَلْ عِنْدَكُمْ …؟</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كَمِ السِّعْرُ؟</a:t>
            </a:r>
            <a:pPr algn="l" indent="0" marL="0">
              <a:buNone/>
            </a:pPr>
            <a:r>
              <a:rPr lang="en-US" sz="1100" dirty="0">
                <a:solidFill>
                  <a:srgbClr val="5A6472"/>
                </a:solidFill>
                <a:latin typeface="Calibri" pitchFamily="34" charset="0"/>
                <a:cs typeface="Amiri" pitchFamily="2" charset="-78"/>
              </a:rPr>
              <a:t>) and give the price?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مَسَاءَ النُّورِ، شُكْرًا جَزِيلًا.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Good evening, thank you very much.</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مَسَاءَ الخَيْرِ! تَفَضَّلْ، هٰذِهِ قَائِمَةُ الطَّعَامِ.</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فَلَافِلَ وَحُمُّصًا، مِنْ فَضْلِكَ.</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would like falafel and hummus, please.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تُرِيدُ؟</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 لَيْمُونٍ بِالنَّعْنَاعِ، مِنْ فَضْلِكَ.</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lemon and mint juice, please.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وَلِلشُّرْبِ؟</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كَمْ سِعْرُ الكُنَافَةِ؟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how much is the kunafa?</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عِنْدَكَ سُؤَالٌ؟</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يَوْمَ السَّبْتِ ذَهَبْتُ مَعَ عَائِلَتِي إِلَى مَطْعَمٍ لُبْنَانِيٍّ. طَلَبْتُ شَاوِرْمَا دَجَاجٍ وَعَصِيرَ مَانْجُو. سَأَلْتُ النَّادِلَ: هَلْ عِنْدَكُمْ كُنَافَةٌ؟ فَقَالَ: نَعَمْ! كَانَ المَجْمُوعُ أَرْبَعِينَ جُنَيْهًا لِأَرْبَعَةِ أَشْخَاصٍ. كَانَ الطَّعَامُ لَذِيذًا جِدًّا، وَكَانَ النَّادِلُ لَطِيفًا، لٰكِنَّ المَطْعَمَ كَانَ مُزْدَحِمًا.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Saturday I went with my family to a Lebanese restaurant. I ordered a chicken shawarma and a mango juice. I asked the waiter: do you have kunafa? He said yes! The total was forty pounds for four people. The food was very delicious, and the waiter was kind, but the restaurant was crowded.”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طَلَبْتُ شَاوِرْمَا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عِنْدَكُمْ كُنَافَةٌ؟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المَجْمُوعُ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الطَّعَامُ لَذِيذًا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F5-L05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F5-L05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F5-L06 · Menus, Prices and Dishes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قَوَائِمُ الطَّعَامِ وَالأَسْعَارُ وَالأَطْبَاقُ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F5-L05 · Practice Room — Ordering Food Politely</dc:title>
  <dc:subject>PptxGenJS Presentation</dc:subject>
  <dc:creator>Al Madina Online School · Arabic Department</dc:creator>
  <cp:lastModifiedBy>Al Madina Online School · Arabic Department</cp:lastModifiedBy>
  <cp:revision>1</cp:revision>
  <dcterms:created xsi:type="dcterms:W3CDTF">2026-10-25T17:38:30Z</dcterms:created>
  <dcterms:modified xsi:type="dcterms:W3CDTF">2026-10-25T17:38:30Z</dcterms:modified>
</cp:coreProperties>
</file>