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F5-L10 (Healthy Habits and Advice) — new practice tasks built on the lesson’s own word bank and grammar (habits with he / she verbs (yashrabu · yaʾkulu · yumārisu · yanāmu); advice: yajibu an (strong) · min al-afḍali an (gentle) · lā yajibu an (negative); li-anna · li-dhālika).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if the younger student is a girl: تَنَامِي · تَشْرَبِيهَا · تَأْكُلِي · امْشِي · العَبِي. Three strengths of advice: yajibu an · min al-afḍali an · lā yajibu an — each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Healthy Habits and Advice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العَادَاتُ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healthy habits: say the habit phrases, act a short dialogue, answer question cards, do a role-play card as a health coach, give a 30-second talk, then build, fix and write a short advice leaflet.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F5-L10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Healthy habits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يَشْرَبُ مَاءً كَافِيًا</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 enough water</a:t>
            </a:r>
            <a:endParaRPr lang="en-US" sz="1350" dirty="0"/>
          </a:p>
          <a:p>
            <a:pPr indent="0" marL="0">
              <a:buNone/>
            </a:pPr>
            <a:r>
              <a:rPr lang="en-US" sz="1100" i="1" dirty="0">
                <a:solidFill>
                  <a:srgbClr val="5A6472"/>
                </a:solidFill>
                <a:latin typeface="Calibri" pitchFamily="34" charset="0"/>
                <a:cs typeface="Amiri" pitchFamily="2" charset="-78"/>
              </a:rPr>
              <a:t>yash-ra-bu mā-ʾan kā-fi-yan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أَشْرَبُ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تَشْرَبُ</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نَشْرَبُ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يَأْكُلُ طَعَامًا مُتَوَازِنًا</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eats a balanced diet</a:t>
            </a:r>
            <a:endParaRPr lang="en-US" sz="1350" dirty="0"/>
          </a:p>
          <a:p>
            <a:pPr indent="0" marL="0">
              <a:buNone/>
            </a:pPr>
            <a:r>
              <a:rPr lang="en-US" sz="1100" i="1" dirty="0">
                <a:solidFill>
                  <a:srgbClr val="5A6472"/>
                </a:solidFill>
                <a:latin typeface="Calibri" pitchFamily="34" charset="0"/>
                <a:cs typeface="Amiri" pitchFamily="2" charset="-78"/>
              </a:rPr>
              <a:t>yaʾ-ku-lu ṭa-ʿā-man mu-ta-wā-zi-nan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يَأْكُلُ الفَاكِهَةَ وَالخَضْرَوَاتِ</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eats fruit and vegetables</a:t>
            </a:r>
            <a:endParaRPr lang="en-US" sz="1350" dirty="0"/>
          </a:p>
          <a:p>
            <a:pPr indent="0" marL="0">
              <a:buNone/>
            </a:pPr>
            <a:r>
              <a:rPr lang="en-US" sz="1100" i="1" dirty="0">
                <a:solidFill>
                  <a:srgbClr val="5A6472"/>
                </a:solidFill>
                <a:latin typeface="Calibri" pitchFamily="34" charset="0"/>
                <a:cs typeface="Amiri" pitchFamily="2" charset="-78"/>
              </a:rPr>
              <a:t>yaʾ-ku-lu al-fā-ki-ha-ta wāl-khaḍ-ra-wā-ti</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يُمَارِسُ التَّمَارِينَ الرِّيَاضِيَّةَ</a:t>
            </a:r>
            <a:endParaRPr lang="ar-SA" sz="29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does exercise</a:t>
            </a:r>
            <a:endParaRPr lang="en-US" sz="1350" dirty="0"/>
          </a:p>
          <a:p>
            <a:pPr indent="0" marL="0">
              <a:buNone/>
            </a:pPr>
            <a:r>
              <a:rPr lang="en-US" sz="1100" i="1" dirty="0">
                <a:solidFill>
                  <a:srgbClr val="5A6472"/>
                </a:solidFill>
                <a:latin typeface="Calibri" pitchFamily="34" charset="0"/>
                <a:cs typeface="Amiri" pitchFamily="2" charset="-78"/>
              </a:rPr>
              <a:t>yu-mā-ri-su at-ta-mā-rī-na ar-ri-yā-ḍiy-ya-ta</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يَمْشِي</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walks</a:t>
            </a:r>
            <a:endParaRPr lang="en-US" sz="1350" dirty="0"/>
          </a:p>
          <a:p>
            <a:pPr indent="0" marL="0">
              <a:buNone/>
            </a:pPr>
            <a:r>
              <a:rPr lang="en-US" sz="1100" i="1" dirty="0">
                <a:solidFill>
                  <a:srgbClr val="5A6472"/>
                </a:solidFill>
                <a:latin typeface="Calibri" pitchFamily="34" charset="0"/>
                <a:cs typeface="Amiri" pitchFamily="2" charset="-78"/>
              </a:rPr>
              <a:t>yam-shī</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أَمْشِي</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تَمْشِي</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نَمْشِي</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يَنَامُ مُبَكِّرًا</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sleeps early</a:t>
            </a:r>
            <a:endParaRPr lang="en-US" sz="1350" dirty="0"/>
          </a:p>
          <a:p>
            <a:pPr indent="0" marL="0">
              <a:buNone/>
            </a:pPr>
            <a:r>
              <a:rPr lang="en-US" sz="1100" i="1" dirty="0">
                <a:solidFill>
                  <a:srgbClr val="5A6472"/>
                </a:solidFill>
                <a:latin typeface="Calibri" pitchFamily="34" charset="0"/>
                <a:cs typeface="Amiri" pitchFamily="2" charset="-78"/>
              </a:rPr>
              <a:t>ya-nā-mu mu-bak-ki-ran</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أَنَامُ</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تَنَامُ</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نَنَامُ</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Unhealthy habits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يَسْتَرِيحُ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rests</a:t>
            </a:r>
            <a:endParaRPr lang="en-US" sz="1350" dirty="0"/>
          </a:p>
          <a:p>
            <a:pPr indent="0" marL="0">
              <a:buNone/>
            </a:pPr>
            <a:r>
              <a:rPr lang="en-US" sz="1100" i="1" dirty="0">
                <a:solidFill>
                  <a:srgbClr val="5A6472"/>
                </a:solidFill>
                <a:latin typeface="Calibri" pitchFamily="34" charset="0"/>
                <a:cs typeface="Amiri" pitchFamily="2" charset="-78"/>
              </a:rPr>
              <a:t>yas-ta-rī-ḥu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يُنَظِّفُ أَسْنَانَهُ</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cleans his teeth</a:t>
            </a:r>
            <a:endParaRPr lang="en-US" sz="1350" dirty="0"/>
          </a:p>
          <a:p>
            <a:pPr indent="0" marL="0">
              <a:buNone/>
            </a:pPr>
            <a:r>
              <a:rPr lang="en-US" sz="1100" i="1" dirty="0">
                <a:solidFill>
                  <a:srgbClr val="5A6472"/>
                </a:solidFill>
                <a:latin typeface="Calibri" pitchFamily="34" charset="0"/>
                <a:cs typeface="Amiri" pitchFamily="2" charset="-78"/>
              </a:rPr>
              <a:t>yu-naẓ-ẓi-fu as-nā-na-hu</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أُنَظِّفُ أَسْنَانِي</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تُنَظِّفُ أَسْنَانَهَا</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نُنَظِّفُ أَسْنَانَنَا</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يَأْكُلُ سُكَّرًا كَثِيرًا</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eats a lot of sugar</a:t>
            </a:r>
            <a:endParaRPr lang="en-US" sz="1350" dirty="0"/>
          </a:p>
          <a:p>
            <a:pPr indent="0" marL="0">
              <a:buNone/>
            </a:pPr>
            <a:r>
              <a:rPr lang="en-US" sz="1100" i="1" dirty="0">
                <a:solidFill>
                  <a:srgbClr val="5A6472"/>
                </a:solidFill>
                <a:latin typeface="Calibri" pitchFamily="34" charset="0"/>
                <a:cs typeface="Amiri" pitchFamily="2" charset="-78"/>
              </a:rPr>
              <a:t>yaʾ-ku-lu suk-ka-ran ka-thī-ran</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يَشْرَبُ مَشْرُوبَاتٍ غَازِيَّةً</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 fizzy drinks</a:t>
            </a:r>
            <a:endParaRPr lang="en-US" sz="1350" dirty="0"/>
          </a:p>
          <a:p>
            <a:pPr indent="0" marL="0">
              <a:buNone/>
            </a:pPr>
            <a:r>
              <a:rPr lang="en-US" sz="1100" i="1" dirty="0">
                <a:solidFill>
                  <a:srgbClr val="5A6472"/>
                </a:solidFill>
                <a:latin typeface="Calibri" pitchFamily="34" charset="0"/>
                <a:cs typeface="Amiri" pitchFamily="2" charset="-78"/>
              </a:rPr>
              <a:t>yash-ra-bu mash-rū-bā-tin ghā-ziy-ya-tan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 · we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يَسْهَرُ</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stays up late</a:t>
            </a:r>
            <a:endParaRPr lang="en-US" sz="1350" dirty="0"/>
          </a:p>
          <a:p>
            <a:pPr indent="0" marL="0">
              <a:buNone/>
            </a:pPr>
            <a:r>
              <a:rPr lang="en-US" sz="1100" i="1" dirty="0">
                <a:solidFill>
                  <a:srgbClr val="5A6472"/>
                </a:solidFill>
                <a:latin typeface="Calibri" pitchFamily="34" charset="0"/>
                <a:cs typeface="Amiri" pitchFamily="2" charset="-78"/>
              </a:rPr>
              <a:t>yas-ha-ru</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أَسْهَرُ</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تَسْهَرُ</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نَسْهَرُ</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يَجْلِسُ طَوِيلًا</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sits for a long time</a:t>
            </a:r>
            <a:endParaRPr lang="en-US" sz="1350" dirty="0"/>
          </a:p>
          <a:p>
            <a:pPr indent="0" marL="0">
              <a:buNone/>
            </a:pPr>
            <a:r>
              <a:rPr lang="en-US" sz="1100" i="1" dirty="0">
                <a:solidFill>
                  <a:srgbClr val="5A6472"/>
                </a:solidFill>
                <a:latin typeface="Calibri" pitchFamily="34" charset="0"/>
                <a:cs typeface="Amiri" pitchFamily="2" charset="-78"/>
              </a:rPr>
              <a:t>yaj-li-su ṭa-wī-lan</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your lifestyle healthy?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حَيَاتُكَ 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live a healthy life?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تَعِيشُ حَيَاةً صِحِّيَّةً؟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drink enough water, and I walk to school every day.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أَشْرَبُ مَاءً كَافِيًا، وَأَمْشِي إِلَى المَدْرَسَةِ كُلَّ يَوْمٍ.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eat a lot of sugar?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تَأْكُلُ سُكَّرًا كَثِيرًا؟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Sometimes… and I stay up late a lot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أَحْيَانًا… وَأَسْهَرُ كَثِيرًا أَيْضًا!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better to sleep early, because sleep is important for studying.</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الأَفْضَلِ أَنْ تَنَامَ مُبَكِّرًا، لِأَنَّ النَّوْمَ مُهِمٌّ لِلدِّرَاسَةِ.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And I shouldn’t drink fizzy drinks, so I’ll drink juice.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صَحِيحٌ. وَلَا يَجِبُ أَنْ أَشْرَبَ المَشْرُوبَاتِ الغَازِيَّةَ، لِذٰلِكَ سَأَشْرَبُ العَصِيرَ.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YOUR real habits — one healthy, one unhealthy, and one piece of advice.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كَافٍ / لَيْسَ كَافِيًا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أَنَامُ … سَاعَاتٍ</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hours do you sleep?</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تَنَامُ؟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مَرَّتَيْنِ فِي الأُسْبُوعِ</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أُمَارِسُ … / لَا،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do exercise?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تُمَارِسُ الرِّيَاضَةَ؟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أَسْهَرُ / آكُلُ … كَثِيرًا</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unhealthy habit?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العَادَةُ غَيْرُ الصِّحِّيَّةِ عِنْدَكَ؟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مُفِيدَةٌ</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نَأْكُلَ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should we eat every day?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نَأْكُلَ كُلَّ يَوْمٍ؟</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الأَفْضَلِ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advice to a friend who sits too long in front of a screen?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نَصِيحَتُكَ لِصَدِيقٍ يَجْلِسُ طَوِيلًا أَمَامَ الشَّاشَةِ؟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the school health coach</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مُدَرِّبُ الصِّحَّةِ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يَجِبُ أَنْ تَنَامَ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strong advice about sleep.</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أَنَا تَعْبَانُ كُلَّ صَبَاحٍ. مَاذَا أَفْعَلُ؟</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يَجِبُ ← لَا يَجِبُ أَنْ تَشْرَبَ … لِأَنَّ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negative advice + reason.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أَشْرَبُ مَشْرُوبَاتٍ غَازِيَّةً كُلَّ يَوْمٍ.</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الأَفْضَلِ ← مِنَ الأَفْضَلِ أَنْ تَأْكُلَ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gentle advice.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لَا أُحِبُّ الخُضَارَ.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الرِّيَاضَةُ ← امْشِ … مَرَّاتٍ فِي الأُسْبُوعِ</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exercise + frequency.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وَالرِّيَاضَةُ؟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student health coach · Leader = a younger student.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healthy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خُطَّتِي الصِّحِّيَّةُ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two healthy things you do, one unhealthy habit, and three pieces of advice you will follow.</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habits + one </a:t>
            </a:r>
            <a:pPr algn="l" indent="0" marL="0">
              <a:buNone/>
            </a:pPr>
            <a:r>
              <a:rPr lang="ar-SA" altLang="en-US" sz="1500" dirty="0">
                <a:solidFill>
                  <a:srgbClr val="1F2A37"/>
                </a:solidFill>
                <a:latin typeface="Amiri" pitchFamily="2" charset="-78"/>
                <a:ea typeface="Amiri" pitchFamily="2" charset="-78"/>
                <a:cs typeface="Amiri" pitchFamily="2" charset="-78"/>
              </a:rPr>
              <a:t>يَجِبُ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الأَفْضَلِ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لَا يَجِبُ أَنْ</a:t>
            </a:r>
            <a:pPr algn="l" indent="0" marL="0">
              <a:buNone/>
            </a:pPr>
            <a:r>
              <a:rPr lang="en-US" sz="1150" dirty="0">
                <a:solidFill>
                  <a:srgbClr val="1F2A37"/>
                </a:solidFill>
                <a:latin typeface="Calibri" pitchFamily="34" charset="0"/>
                <a:cs typeface="Amiri" pitchFamily="2" charset="-78"/>
              </a:rPr>
              <a:t> … and a plan with </a:t>
            </a:r>
            <a:pPr algn="l" indent="0" marL="0">
              <a:buNone/>
            </a:pPr>
            <a:r>
              <a:rPr lang="ar-SA" altLang="en-US" sz="1500" dirty="0">
                <a:solidFill>
                  <a:srgbClr val="1F2A37"/>
                </a:solidFill>
                <a:latin typeface="Amiri" pitchFamily="2" charset="-78"/>
                <a:ea typeface="Amiri" pitchFamily="2" charset="-78"/>
                <a:cs typeface="Amiri" pitchFamily="2" charset="-78"/>
              </a:rPr>
              <a:t>لِذٰلِكَ سَأَنَامُ</a:t>
            </a:r>
            <a:pPr algn="l" indent="0" marL="0">
              <a:buNone/>
            </a:pPr>
            <a:r>
              <a:rPr lang="en-US" sz="1150" dirty="0">
                <a:solidFill>
                  <a:srgbClr val="1F2A37"/>
                </a:solidFill>
                <a:latin typeface="Calibri" pitchFamily="34" charset="0"/>
                <a:cs typeface="Amiri" pitchFamily="2" charset="-78"/>
              </a:rPr>
              <a:t> … (so I will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better to walk to school.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الأَفْضَلِ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الأَفْضَلُ مِنْ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تَمْشِيَ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تَمْشِي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المَدْرَسَةِ.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المَدْرَسَةَ.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eats a balanced diet, so he is healthy.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يَأْكُلُ طَعَامًا مُتَوَازِنًا،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يَأْكُلُ طَعَامٌ مُتَوَازِنٌ،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بِصِحَّةٍ جَيِّدَةٍ.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بِصِحَّةٌ جَيِّدَةٌ.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should not stay up late.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يَجِبُ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نَسْهَرَ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نَسْهَرُ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better to walk to school.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Gentle advice = </a:t>
            </a:r>
            <a:pPr algn="l" indent="0" marL="0">
              <a:buNone/>
            </a:pPr>
            <a:r>
              <a:rPr lang="ar-SA" altLang="en-US" sz="1350" dirty="0">
                <a:solidFill>
                  <a:srgbClr val="5A6472"/>
                </a:solidFill>
                <a:latin typeface="Amiri" pitchFamily="2" charset="-78"/>
                <a:ea typeface="Amiri" pitchFamily="2" charset="-78"/>
                <a:cs typeface="Amiri" pitchFamily="2" charset="-78"/>
              </a:rPr>
              <a:t>مِنَ الأَفْضَلِ أَنْ</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تَمْشِيَ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الأَفْضَلِ أَنْ تَمْشِيَ إِلَى المَدْرَسَةِ.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eats a balanced diet, so he is healthy.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Object → -an;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يَأْكُلُ طَعَامًا مُتَوَازِنًا، لِذٰلِكَ هُوَ بِصِحَّةٍ جَيِّدَةٍ.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should not stay up late.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advice = </a:t>
            </a:r>
            <a:pPr algn="l" indent="0" marL="0">
              <a:buNone/>
            </a:pPr>
            <a:r>
              <a:rPr lang="ar-SA" altLang="en-US" sz="1350" dirty="0">
                <a:solidFill>
                  <a:srgbClr val="5A6472"/>
                </a:solidFill>
                <a:latin typeface="Amiri" pitchFamily="2" charset="-78"/>
                <a:ea typeface="Amiri" pitchFamily="2" charset="-78"/>
                <a:cs typeface="Amiri" pitchFamily="2" charset="-78"/>
              </a:rPr>
              <a:t>لَا يَجِبُ أَنْ</a:t>
            </a:r>
            <a:pPr algn="l" indent="0" marL="0">
              <a:buNone/>
            </a:pPr>
            <a:r>
              <a:rPr lang="en-US" sz="1050" i="1" dirty="0">
                <a:solidFill>
                  <a:srgbClr val="5A6472"/>
                </a:solidFill>
                <a:latin typeface="Calibri" pitchFamily="34" charset="0"/>
                <a:cs typeface="Amiri" pitchFamily="2" charset="-78"/>
              </a:rPr>
              <a:t> + verb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يَجِبُ أَنْ نَسْهَرَ كَثِيرًا.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نَشْرَبُ مَاءً كَافِيًا.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تَأْكُلُ سُكَّرًا كَثِيرًا.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brother = 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أَنَامُ مُبَكِّرًا لِذٰلِكَ النَّوْمُ مُهِمٌّ.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Reason or result?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نَشْرَبُ مَاءً كَافِيًا.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نَشْرَبَ مَاءً كَافِيًا.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تَأْكُلُ سُكَّرًا كَثِيرًا.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يَأْكُلُ سُكَّرًا كَثِيرًا.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 → </a:t>
            </a:r>
            <a:pPr algn="l" indent="0" marL="0">
              <a:buNone/>
            </a:pPr>
            <a:r>
              <a:rPr lang="ar-SA" altLang="en-US" sz="1500" b="1" dirty="0">
                <a:solidFill>
                  <a:srgbClr val="1B3B6F"/>
                </a:solidFill>
                <a:latin typeface="Amiri" pitchFamily="2" charset="-78"/>
                <a:ea typeface="Amiri" pitchFamily="2" charset="-78"/>
                <a:cs typeface="Amiri" pitchFamily="2" charset="-78"/>
              </a:rPr>
              <a:t>يَأْكُلُ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أَنَامُ مُبَكِّرًا لِذٰلِكَ النَّوْمُ مُهِمٌّ.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أَنَامُ مُبَكِّرًا لِأَنَّ النَّوْمَ مُهِمٌّ.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reason →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لَيْسَ صِحِّيًّا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not healthy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النَّوْمُ مُهِمٌّ، لِذٰلِكَ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Sleep is important, so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وَ ______ كُلَّ يَوْمٍ.</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and … every day.</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must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الأَفْضَلِ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better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يَجِبُ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shouldn’t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يَشْرَبُ مَاءً كَافِيًا  ·  يَأْكُلُ الفَاكِهَةَ وَالخُضَارَ  ·  يُمَارِسُ الرِّيَاضَةَ  ·  يَنَامُ مُبَكِّرًا  ·  يَسْهَرُ · سُكَّرٌ كَثِيرٌ  ·  يَجِبُ أَنْ  ·  مِنَ الأَفْضَلِ أَنْ  ·  لِأَنَّ · لِذٰلِكَ</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healthy-habits leaflet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نَشْرَةُ العَادَاتِ الصِّحِّيَّةِ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short leaflet (about 40–60 words) for younger students. Include: • two healthy habits you have • one unhealthy habit and why it is bad • three pieces of advice: </a:t>
            </a:r>
            <a:pPr algn="l" indent="0" marL="0">
              <a:buNone/>
            </a:pPr>
            <a:r>
              <a:rPr lang="ar-SA" altLang="en-US" sz="1650" b="1" dirty="0">
                <a:solidFill>
                  <a:srgbClr val="1F2A37"/>
                </a:solidFill>
                <a:latin typeface="Amiri" pitchFamily="2" charset="-78"/>
                <a:ea typeface="Amiri" pitchFamily="2" charset="-78"/>
                <a:cs typeface="Amiri" pitchFamily="2" charset="-78"/>
              </a:rPr>
              <a:t>يَجِبُ أَنْ</a:t>
            </a:r>
            <a:pPr algn="l" indent="0" marL="0">
              <a:buNone/>
            </a:pPr>
            <a:r>
              <a:rPr lang="en-US" sz="1250" b="1" dirty="0">
                <a:solidFill>
                  <a:srgbClr val="1F2A37"/>
                </a:solidFill>
                <a:latin typeface="Calibri" pitchFamily="34" charset="0"/>
                <a:cs typeface="Amiri" pitchFamily="2" charset="-78"/>
              </a:rPr>
              <a:t> … · </a:t>
            </a:r>
            <a:pPr algn="l" indent="0" marL="0">
              <a:buNone/>
            </a:pPr>
            <a:r>
              <a:rPr lang="ar-SA" altLang="en-US" sz="1650" b="1" dirty="0">
                <a:solidFill>
                  <a:srgbClr val="1F2A37"/>
                </a:solidFill>
                <a:latin typeface="Amiri" pitchFamily="2" charset="-78"/>
                <a:ea typeface="Amiri" pitchFamily="2" charset="-78"/>
                <a:cs typeface="Amiri" pitchFamily="2" charset="-78"/>
              </a:rPr>
              <a:t>مِنَ الأَفْضَلِ أَنْ</a:t>
            </a:r>
            <a:pPr algn="l" indent="0" marL="0">
              <a:buNone/>
            </a:pPr>
            <a:r>
              <a:rPr lang="en-US" sz="1250" b="1" dirty="0">
                <a:solidFill>
                  <a:srgbClr val="1F2A37"/>
                </a:solidFill>
                <a:latin typeface="Calibri" pitchFamily="34" charset="0"/>
                <a:cs typeface="Amiri" pitchFamily="2" charset="-78"/>
              </a:rPr>
              <a:t> … · </a:t>
            </a:r>
            <a:pPr algn="l" indent="0" marL="0">
              <a:buNone/>
            </a:pPr>
            <a:r>
              <a:rPr lang="ar-SA" altLang="en-US" sz="1650" b="1" dirty="0">
                <a:solidFill>
                  <a:srgbClr val="1F2A37"/>
                </a:solidFill>
                <a:latin typeface="Amiri" pitchFamily="2" charset="-78"/>
                <a:ea typeface="Amiri" pitchFamily="2" charset="-78"/>
                <a:cs typeface="Amiri" pitchFamily="2" charset="-78"/>
              </a:rPr>
              <a:t>لَا يَجِبُ أَنْ</a:t>
            </a:r>
            <a:pPr algn="l" indent="0" marL="0">
              <a:buNone/>
            </a:pPr>
            <a:r>
              <a:rPr lang="en-US" sz="1250" b="1" dirty="0">
                <a:solidFill>
                  <a:srgbClr val="1F2A37"/>
                </a:solidFill>
                <a:latin typeface="Calibri" pitchFamily="34" charset="0"/>
                <a:cs typeface="Amiri" pitchFamily="2" charset="-78"/>
              </a:rPr>
              <a:t> … • a reason with </a:t>
            </a:r>
            <a:pPr algn="l" indent="0" marL="0">
              <a:buNone/>
            </a:pPr>
            <a:r>
              <a:rPr lang="ar-SA" altLang="en-US" sz="1650" b="1" dirty="0">
                <a:solidFill>
                  <a:srgbClr val="1F2A37"/>
                </a:solidFill>
                <a:latin typeface="Amiri" pitchFamily="2" charset="-78"/>
                <a:ea typeface="Amiri" pitchFamily="2" charset="-78"/>
                <a:cs typeface="Amiri" pitchFamily="2" charset="-78"/>
              </a:rPr>
              <a:t>لِأَنَّ</a:t>
            </a:r>
            <a:pPr algn="l" indent="0" marL="0">
              <a:buNone/>
            </a:pPr>
            <a:r>
              <a:rPr lang="en-US" sz="1250" b="1" dirty="0">
                <a:solidFill>
                  <a:srgbClr val="1F2A37"/>
                </a:solidFill>
                <a:latin typeface="Calibri" pitchFamily="34" charset="0"/>
                <a:cs typeface="Amiri" pitchFamily="2" charset="-78"/>
              </a:rPr>
              <a:t> and a result with </a:t>
            </a:r>
            <a:pPr algn="l" indent="0" marL="0">
              <a:buNone/>
            </a:pPr>
            <a:r>
              <a:rPr lang="ar-SA" altLang="en-US" sz="1650" b="1" dirty="0">
                <a:solidFill>
                  <a:srgbClr val="1F2A37"/>
                </a:solidFill>
                <a:latin typeface="Amiri" pitchFamily="2" charset="-78"/>
                <a:ea typeface="Amiri" pitchFamily="2" charset="-78"/>
                <a:cs typeface="Amiri" pitchFamily="2" charset="-78"/>
              </a:rPr>
              <a:t>لِذٰلِكَ</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أَشْرَبُ … وَأَمْشِي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drink … and I walk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must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الأَفْضَلِ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better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يَجِبُ أَنْ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shouldn’t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advice with </a:t>
            </a:r>
            <a:pPr algn="l" indent="0" marL="0">
              <a:buNone/>
            </a:pPr>
            <a:r>
              <a:rPr lang="ar-SA" altLang="en-US" sz="1450" dirty="0">
                <a:solidFill>
                  <a:srgbClr val="5A6472"/>
                </a:solidFill>
                <a:latin typeface="Amiri" pitchFamily="2" charset="-78"/>
                <a:ea typeface="Amiri" pitchFamily="2" charset="-78"/>
                <a:cs typeface="Amiri" pitchFamily="2" charset="-78"/>
              </a:rPr>
              <a:t>يَجِبُ أَنْ</a:t>
            </a:r>
            <a:pPr algn="l" indent="0" marL="0">
              <a:buNone/>
            </a:pPr>
            <a:r>
              <a:rPr lang="en-US" sz="1100" dirty="0">
                <a:solidFill>
                  <a:srgbClr val="5A6472"/>
                </a:solidFill>
                <a:latin typeface="Calibri" pitchFamily="34" charset="0"/>
                <a:cs typeface="Amiri" pitchFamily="2" charset="-78"/>
              </a:rPr>
              <a:t> + verb in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three strengths of advice and both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لِذٰلِكَ</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تَنَامَ مُبَكِّرًا، قَبْلَ السَّاعَةِ العَاشِرَةِ.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must sleep early, before ten o’clock.</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تَعْبَانُ كُلَّ صَبَاحٍ. مَاذَا أَفْعَلُ؟</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يَجِبُ أَنْ تَشْرَبَهَا كَثِيرًا، لِأَنَّ فِيهَا سُكَّرًا كَثِيرًا.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shouldn’t drink them a lot, because they have lots of sugar.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أَشْرَبُ مَشْرُوبَاتٍ غَازِيَّةً كُلَّ يَوْمٍ.</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الأَفْضَلِ أَنْ تَأْكُلَ قَلِيلًا مِنَ السَّلَطَةِ مَعَ الغَدَاءِ.</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It’s better to eat a little salad with lunch.</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الخُضَارَ.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امْشِ أَوِ العَبْ كُرَةَ القَدَمِ ثَلَاثَ مَرَّاتٍ فِي الأُسْبُوعِ.</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Walk or play football three times a week.</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وَالرِّيَاضَةُ؟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كَيْفَ تَعِيشُ حَيَاةً صِحِّيَّةً؟ أَنَا أَشْرَبُ مَاءً كَافِيًا، وَأَلْعَبُ كُرَةَ السَّلَّةِ مَرَّتَيْنِ فِي الأُسْبُوعِ. لٰكِنِّي أَسْهَرُ أَحْيَانًا، وَهٰذَا لَيْسَ صِحِّيًّا لِأَنَّ الجِسْمَ يَحْتَاجُ إِلَى النَّوْمِ. يَجِبُ أَنْ تَأْكُلَ الفَاكِهَةَ كُلَّ يَوْمٍ. مِنَ الأَفْضَلِ أَنْ تَمْشِيَ إِلَى المَدْرَسَةِ. لَا يَجِبُ أَنْ تَجْلِسَ طَوِيلًا أَمَامَ الشَّاشَةِ، لِذٰلِكَ أَغْلِقْ هَاتِفَكَ فِي المَسَاءِ!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“How do you live a healthy life? I drink enough water, and I play basketball twice a week. But I sometimes stay up late, and that is not healthy because the body needs sleep. You must eat fruit every day. It is better to walk to school. You shouldn’t sit for a long time in front of a screen, so switch off your phone in the evening!”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الجِسْمَ يَحْتَاجُ</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تَأْكُلَ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الأَفْضَلِ أَنْ تَمْشِيَ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أَغْلِقْ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F5-L11 · Speaking and Writing About Food and Health</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 عَنِ الطَّعَامِ وَالصِّحَّةِ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F5-L10 · Practice Room — Healthy Habits and Advice</dc:title>
  <dc:subject>PptxGenJS Presentation</dc:subject>
  <dc:creator>Al Madina Online School · Arabic Department</dc:creator>
  <cp:lastModifiedBy>Al Madina Online School · Arabic Department</cp:lastModifiedBy>
  <cp:revision>1</cp:revision>
  <dcterms:created xsi:type="dcterms:W3CDTF">2026-10-25T17:41:45Z</dcterms:created>
  <dcterms:modified xsi:type="dcterms:W3CDTF">2026-10-25T17:41:45Z</dcterms:modified>
</cp:coreProperties>
</file>