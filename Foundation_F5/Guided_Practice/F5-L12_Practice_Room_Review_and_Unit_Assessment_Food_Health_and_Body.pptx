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F5-L12 (Review and Unit Assessment: Food, Health and Body) — new practice tasks built on the lesson’s own word bank and grammar (all of F5: ākulu / ashrabu; meals + frequency; ufaḍḍilu … ʿalā; li-annahu / li-annahā + agreeing adjectives; ordering (urīdu … min faḍlika); body parts + duals; ʿindī … mundhu; advice with yajibu 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بِكِ · أَنْتِ لَسْتِ · أَكَلْتِ · تُرِيدِينَ · بِأُمِّكِ. Five prompts covering illness, food and polite requests; task ! is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 Food, Health and Body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تَدْرِيبٌ لِلتَّقْيِيمِ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Assessment practice for F5: students run their own speaking and writing rehearsal in breakout rooms — a quick word check, a model exchange, exam-style question cards, a five-prompt role play, a 45-second talk, then build, fix and write a timed text on food and health.</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F5-L12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F5 check: food and meals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خُبْزٌ · أَرُزٌّ · دَجَاجٌ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 · rice · chicken</a:t>
            </a:r>
            <a:endParaRPr lang="en-US" sz="1350" dirty="0"/>
          </a:p>
          <a:p>
            <a:pPr indent="0" marL="0">
              <a:buNone/>
            </a:pPr>
            <a:r>
              <a:rPr lang="en-US" sz="1100" i="1" dirty="0">
                <a:solidFill>
                  <a:srgbClr val="5A6472"/>
                </a:solidFill>
                <a:latin typeface="Calibri" pitchFamily="34" charset="0"/>
                <a:cs typeface="Amiri" pitchFamily="2" charset="-78"/>
              </a:rPr>
              <a:t>khub-zun · a-ruz-zun · da-jā-jun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فَاكِهَةٌ · خُضَارٌ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fruit · vegetables</a:t>
            </a:r>
            <a:endParaRPr lang="en-US" sz="1350" dirty="0"/>
          </a:p>
          <a:p>
            <a:pPr indent="0" marL="0">
              <a:buNone/>
            </a:pPr>
            <a:r>
              <a:rPr lang="en-US" sz="1100" i="1" dirty="0">
                <a:solidFill>
                  <a:srgbClr val="5A6472"/>
                </a:solidFill>
                <a:latin typeface="Calibri" pitchFamily="34" charset="0"/>
                <a:cs typeface="Amiri" pitchFamily="2" charset="-78"/>
              </a:rPr>
              <a:t>fā-ki-ha-tun · khu-ḍā-run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فُطُورٌ · غَدَاءٌ · عَشَاءٌ</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breakfast · lunch · dinner</a:t>
            </a:r>
            <a:endParaRPr lang="en-US" sz="1350" dirty="0"/>
          </a:p>
          <a:p>
            <a:pPr indent="0" marL="0">
              <a:buNone/>
            </a:pPr>
            <a:r>
              <a:rPr lang="en-US" sz="1100" i="1" dirty="0">
                <a:solidFill>
                  <a:srgbClr val="5A6472"/>
                </a:solidFill>
                <a:latin typeface="Calibri" pitchFamily="34" charset="0"/>
                <a:cs typeface="Amiri" pitchFamily="2" charset="-78"/>
              </a:rPr>
              <a:t>fu-ṭū-run · gha-dā-ʾun · ʿa-shā-ʾun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لَذِيذٌ · صِحِّيٌّ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delicious · healthy</a:t>
            </a:r>
            <a:endParaRPr lang="en-US" sz="1350" dirty="0"/>
          </a:p>
          <a:p>
            <a:pPr indent="0" marL="0">
              <a:buNone/>
            </a:pPr>
            <a:r>
              <a:rPr lang="en-US" sz="1100" i="1" dirty="0">
                <a:solidFill>
                  <a:srgbClr val="5A6472"/>
                </a:solidFill>
                <a:latin typeface="Calibri" pitchFamily="34" charset="0"/>
                <a:cs typeface="Amiri" pitchFamily="2" charset="-78"/>
              </a:rPr>
              <a:t>la-dhī-dhun · ṣiḥ-ḥiy-yun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 عَلَى …</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 … to …</a:t>
            </a:r>
            <a:endParaRPr lang="en-US" sz="1350" dirty="0"/>
          </a:p>
          <a:p>
            <a:pPr indent="0" marL="0">
              <a:buNone/>
            </a:pPr>
            <a:r>
              <a:rPr lang="en-US" sz="1100" i="1" dirty="0">
                <a:solidFill>
                  <a:srgbClr val="5A6472"/>
                </a:solidFill>
                <a:latin typeface="Calibri" pitchFamily="34" charset="0"/>
                <a:cs typeface="Amiri" pitchFamily="2" charset="-78"/>
              </a:rPr>
              <a:t>u-faḍ-ḍi-lu … ʿa-lā …</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 مِنْ فَضْلِكَ</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would like …, please</a:t>
            </a:r>
            <a:endParaRPr lang="en-US" sz="1350" dirty="0"/>
          </a:p>
          <a:p>
            <a:pPr indent="0" marL="0">
              <a:buNone/>
            </a:pPr>
            <a:r>
              <a:rPr lang="en-US" sz="1100" i="1" dirty="0">
                <a:solidFill>
                  <a:srgbClr val="5A6472"/>
                </a:solidFill>
                <a:latin typeface="Calibri" pitchFamily="34" charset="0"/>
                <a:cs typeface="Amiri" pitchFamily="2" charset="-78"/>
              </a:rPr>
              <a:t>u-rī-du … min faḍ-li-ka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F5 check: body and health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رَأْسٌ · عَيْنَانِ · يَدَانِ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 · two eyes · two hands</a:t>
            </a:r>
            <a:endParaRPr lang="en-US" sz="1350" dirty="0"/>
          </a:p>
          <a:p>
            <a:pPr indent="0" marL="0">
              <a:buNone/>
            </a:pPr>
            <a:r>
              <a:rPr lang="en-US" sz="1100" i="1" dirty="0">
                <a:solidFill>
                  <a:srgbClr val="5A6472"/>
                </a:solidFill>
                <a:latin typeface="Calibri" pitchFamily="34" charset="0"/>
                <a:cs typeface="Amiri" pitchFamily="2" charset="-78"/>
              </a:rPr>
              <a:t>raʾ-sun · ʿay-nā-ni · ya-dā-ni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صُدَاعٌ · زُكَامٌ · حُمَّى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headache · cold · fever</a:t>
            </a:r>
            <a:endParaRPr lang="en-US" sz="1350" dirty="0"/>
          </a:p>
          <a:p>
            <a:pPr indent="0" marL="0">
              <a:buNone/>
            </a:pPr>
            <a:r>
              <a:rPr lang="en-US" sz="1100" i="1" dirty="0">
                <a:solidFill>
                  <a:srgbClr val="5A6472"/>
                </a:solidFill>
                <a:latin typeface="Calibri" pitchFamily="34" charset="0"/>
                <a:cs typeface="Amiri" pitchFamily="2" charset="-78"/>
              </a:rPr>
              <a:t>ṣu-dā-ʿun · zu-kā-mun · ḥum-mā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عِنْدِي أَلَمٌ فِي …</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 pain in …</a:t>
            </a:r>
            <a:endParaRPr lang="en-US" sz="1350" dirty="0"/>
          </a:p>
          <a:p>
            <a:pPr indent="0" marL="0">
              <a:buNone/>
            </a:pPr>
            <a:r>
              <a:rPr lang="en-US" sz="1100" i="1" dirty="0">
                <a:solidFill>
                  <a:srgbClr val="5A6472"/>
                </a:solidFill>
                <a:latin typeface="Calibri" pitchFamily="34" charset="0"/>
                <a:cs typeface="Amiri" pitchFamily="2" charset="-78"/>
              </a:rPr>
              <a:t>ʿin-dī a-la-mun fī …</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 for</a:t>
            </a:r>
            <a:endParaRPr lang="en-US" sz="1350" dirty="0"/>
          </a:p>
          <a:p>
            <a:pPr indent="0" marL="0">
              <a:buNone/>
            </a:pPr>
            <a:r>
              <a:rPr lang="en-US" sz="1100" i="1" dirty="0">
                <a:solidFill>
                  <a:srgbClr val="5A6472"/>
                </a:solidFill>
                <a:latin typeface="Calibri" pitchFamily="34" charset="0"/>
                <a:cs typeface="Amiri" pitchFamily="2" charset="-78"/>
              </a:rPr>
              <a:t>mun-dhu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دَوَاءٌ · صَيْدَلِيَّةٌ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medicine · pharmacy</a:t>
            </a:r>
            <a:endParaRPr lang="en-US" sz="1350" dirty="0"/>
          </a:p>
          <a:p>
            <a:pPr indent="0" marL="0">
              <a:buNone/>
            </a:pPr>
            <a:r>
              <a:rPr lang="en-US" sz="1100" i="1" dirty="0">
                <a:solidFill>
                  <a:srgbClr val="5A6472"/>
                </a:solidFill>
                <a:latin typeface="Calibri" pitchFamily="34" charset="0"/>
                <a:cs typeface="Amiri" pitchFamily="2" charset="-78"/>
              </a:rPr>
              <a:t>da-wā-ʾun · ṣay-da-liy-ya-tun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 مِنَ الأَفْضَلِ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 · it is better to</a:t>
            </a:r>
            <a:endParaRPr lang="en-US" sz="1350" dirty="0"/>
          </a:p>
          <a:p>
            <a:pPr indent="0" marL="0">
              <a:buNone/>
            </a:pPr>
            <a:r>
              <a:rPr lang="en-US" sz="1100" i="1" dirty="0">
                <a:solidFill>
                  <a:srgbClr val="5A6472"/>
                </a:solidFill>
                <a:latin typeface="Calibri" pitchFamily="34" charset="0"/>
                <a:cs typeface="Amiri" pitchFamily="2" charset="-78"/>
              </a:rPr>
              <a:t>ya-ji-bu an · mi-na al-af-ḍa-li 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exam-style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مِثْلَ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usually eat for dinner?</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تَأْكُلُ عَادَةً فِي العَشَاءِ؟</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I eat chicken with rice, and sometimes fish.</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عَادَةً آكُلُ الدَّجَاجَ مَعَ الأَرُزِّ، وَأَحْيَانًا السَّمَكَ.</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 in good health?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أَنْتَ بِصِحَّةٍ جَيِّدَةٍ؟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but I have had a headache since the morning, because I stayed up late.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لٰكِنْ عِنْدِي صُدَاعٌ مُنْذُ الصَّبَاحِ، لِأَنِّي سَهِرْتُ.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advice to a friend who eats lots of sweets?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نَصِيحَتُكَ لِصَدِيقٍ يَأْكُلُ حَلْوَيَاتٍ كَثِيرَةً؟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should eat fruit instead, because it is healthy and sweet.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يَأْكُلَ الفَاكِهَةَ بَدَلًا مِنْهَا، لِأَنَّهَا صِحِّيَّةٌ وَحُلْوَةٌ.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Round 3: answer with your own facts under exam conditions — no slide.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طَعَامِي المُفَضَّلُ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food?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طَعَامُكَ المُفَضَّلُ؟</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عَلَى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Tea or coffee?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الشَّايَ أَمِ القَهْوَةَ؟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عَيْنَايَ … وَشَعْرِي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face.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وَجْهَكَ.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وَأَحْيَانًا آخُذُ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أَسْتَرِيحُ وَ…</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you have a headache?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عِنْدَمَا عِنْدَكَ صُدَاعٌ؟</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أَشْرَبُ … وَأُمَارِسُ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live healthily?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تَعِيشُ حَيَاةً صِحِّيَّةً؟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feeling ill on a school trip (five prompts)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مَرِيضٌ فِي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عِنْدِي أَلَمٌ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is wrong.</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بِكَ؟ أَنْتَ لَسْتَ بِخَيْرٍ.</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 ← مُنْذُ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أَكَلْتُ … وَشَرِبْتُ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ate.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أَكَلْتَ؟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أُرِيدُ … مِنْ فَضْلِكَ</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water / to sit down.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شَيْئًا؟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 شُكْرًا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أَنْ نَتَّصِلَ بِأُمِّكَ؟</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trip leader. Read the plan for 1 minute, then hide it and speak.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45 seconds: food, body and health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الطَّعَامُ وَالصِّحَّةُ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45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45 seconds without stopping about food, meals and health — include a preference, a reason, an illness and one piece of advice.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four facts, one per theme.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reasons and connectors.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 a past illness and advice with </a:t>
            </a:r>
            <a:pPr algn="l" indent="0" marL="0">
              <a:buNone/>
            </a:pPr>
            <a:r>
              <a:rPr lang="ar-SA" altLang="en-US" sz="1500" dirty="0">
                <a:solidFill>
                  <a:srgbClr val="1F2A37"/>
                </a:solidFill>
                <a:latin typeface="Amiri" pitchFamily="2" charset="-78"/>
                <a:ea typeface="Amiri" pitchFamily="2" charset="-78"/>
                <a:cs typeface="Amiri" pitchFamily="2" charset="-78"/>
              </a:rPr>
              <a:t>يَجِبُ أَنْ / مِنَ الأَفْضَلِ 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salad to chips because it is healthy.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السَّلَطَةَ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السَّلَطَةُ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البَطَاطِسِ</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البَطَاطِسِ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 صِحِّيَّةٌ.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صِحِّيٌّ.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a pain in my ear since yesterday.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 أَلَمٌ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 أَلَمًا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أُذُنِي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أُذُنَيِّ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مُنْذُ أَمْسِ.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You should drink more water. (to a girl)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تَشْرَبِي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تَشْرَبِينَ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مَاءً أَكْثَرَ.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مَاءٌ أَكْثَرُ.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salad to chips because it is healthy.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أُفَضِّلُ … عَلَى</a:t>
            </a:r>
            <a:pPr algn="l" indent="0" marL="0">
              <a:buNone/>
            </a:pPr>
            <a:r>
              <a:rPr lang="en-US" sz="1050" i="1" dirty="0">
                <a:solidFill>
                  <a:srgbClr val="5A6472"/>
                </a:solidFill>
                <a:latin typeface="Calibri" pitchFamily="34" charset="0"/>
                <a:cs typeface="Amiri" pitchFamily="2" charset="-78"/>
              </a:rPr>
              <a:t> …; salad (f.) → </a:t>
            </a:r>
            <a:pPr algn="l" indent="0" marL="0">
              <a:buNone/>
            </a:pPr>
            <a:r>
              <a:rPr lang="ar-SA" altLang="en-US" sz="1350" dirty="0">
                <a:solidFill>
                  <a:srgbClr val="5A6472"/>
                </a:solidFill>
                <a:latin typeface="Amiri" pitchFamily="2" charset="-78"/>
                <a:ea typeface="Amiri" pitchFamily="2" charset="-78"/>
                <a:cs typeface="Amiri" pitchFamily="2" charset="-78"/>
              </a:rPr>
              <a:t>لِأَنَّهَا صِحِّيَّةٌ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السَّلَطَةَ عَلَى البَطَاطِسِ لِأَنَّهَا صِحِّيَّةٌ.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a pain in my ear since yesterday.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عِنْدِي أَلَمٌ فِي … مُنْذُ</a:t>
            </a:r>
            <a:pPr algn="l" indent="0" marL="0">
              <a:buNone/>
            </a:pPr>
            <a:r>
              <a:rPr lang="en-US" sz="1050" i="1" dirty="0">
                <a:solidFill>
                  <a:srgbClr val="5A6472"/>
                </a:solidFill>
                <a:latin typeface="Calibri" pitchFamily="34" charset="0"/>
                <a:cs typeface="Amiri" pitchFamily="2" charset="-78"/>
              </a:rPr>
              <a:t> …</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أَلَمٌ فِي أُذُنِي مُنْذُ أَمْسِ.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You should drink more water. (to a girl)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the -īna becomes -ī: </a:t>
            </a:r>
            <a:pPr algn="l" indent="0" marL="0">
              <a:buNone/>
            </a:pPr>
            <a:r>
              <a:rPr lang="ar-SA" altLang="en-US" sz="1350" dirty="0">
                <a:solidFill>
                  <a:srgbClr val="5A6472"/>
                </a:solidFill>
                <a:latin typeface="Amiri" pitchFamily="2" charset="-78"/>
                <a:ea typeface="Amiri" pitchFamily="2" charset="-78"/>
                <a:cs typeface="Amiri" pitchFamily="2" charset="-78"/>
              </a:rPr>
              <a:t>تَشْرَبِي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تَشْرَبِي مَاءً أَكْثَرَ.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يَدِي.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يَدٌ</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عَصِيرٌ مِنْ فَضْلِكَ.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أُرِيدُ</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القَهْوَةُ مُرٌّ.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قَهْوَةٌ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يَدِي.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يَدِي.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body part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عَصِيرٌ مِنْ فَضْلِكَ.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عَصِيرًا مِنْ فَضْلِكَ.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Object → -an.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القَهْوَةُ مُرٌّ.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القَهْوَةُ مُرَّةٌ.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مُرَّةٌ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ذَهَبْتُ إِلَى ______ ، وَ ______ ، لِذٰلِكَ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to …, and …,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الفُطُورِ آكُلُ ______ ، وَفِي العَشَاءِ ______ .</a:t>
            </a:r>
            <a:endParaRPr lang="ar-SA" sz="15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I eat …, and for dinner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طَعَامِي المُفَضَّلُ ______ لِأَنَّهُ / لِأَنَّهَا ______ .</a:t>
            </a:r>
            <a:endParaRPr lang="ar-SA" sz="16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المَاضِي كَانَ عِنْدِي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month I had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آكُلُ · أَشْرَبُ  ·  عَادَةً · أَحْيَانًا  ·  أُفَضِّلُ … عَلَى  ·  لِأَنَّهُ · لِأَنَّهَا  ·  كَانَ عِنْدِي  ·  مُنْذُ  ·  يَجِبُ أَنْ  ·  لِذٰلِكَ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Timed writing: food and health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كِتَابَةٌ مُؤَقَّتَةٌ: الطَّعَامُ وَالصِّحَّةُ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Timed practice (12 minutes). Write about 55–75 words for an e-pal. Include: • your meals on a normal day • your favourite food and a preference, with reasons • a time you were ill (what, since when, what you did) • one piece of advice for a healthy life.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الفُطُورِ … وَفِي الغَدَاءِ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breakfast … and for lunch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لِأَنَّهُ / لِأَنَّهَا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عِنْدِي … مُنْذُ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had … for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 / مِنَ الأَفْضَلِ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must … / it is better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every bullet point in full sentences within the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agreements right (food adjectives, body parts, he / she verbs)?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أَلَمٌ فِي المَعِدَةِ.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a stomach ache.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بِكَ؟ أَنْتَ لَسْتَ بِخَيْرٍ.</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مُنْذُ الغَدَاءِ.</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Since lunch.</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أَكَلْتُ شَطِيرَةً كَبِيرَةً، وَشَرِبْتُ عَصِيرًا بَارِدًا.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ate a big sandwich and drank a cold juice.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أَكَلْتَ؟</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مَاءً، مِنْ فَضْلِكَ، وَأُرِيدُ أَنْ أَجْلِسَ قَلِيلًا.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water, please, and I want to sit for a while.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شَيْئًا؟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شُكْرًا، أَشْعُرُ بِتَحَسُّنٍ قَلِيلًا الآنَ.</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thank you, I feel a little better now.</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أَنْ نَتَّصِلَ بِأُمِّكَ؟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فِي الفُطُورِ آكُلُ الخُبْزَ مَعَ الجُبْنِ، وَفِي العَشَاءِ آكُلُ الدَّجَاجَ مَعَ الخُضَارِ. طَعَامِي المُفَضَّلُ الكَبْسَةُ لِأَنَّهَا لَذِيذَةٌ، وَأُفَضِّلُ العَصِيرَ عَلَى المَشْرُوبَاتِ الغَازِيَّةِ لِأَنَّهُ صِحِّيٌّ. فِي الشَّهْرِ المَاضِي كَانَ عِنْدِي زُكَامٌ وَسُعَالٌ مُنْذُ أُسْبُوعٍ، فَذَهَبْتُ إِلَى الطَّبِيبِ، وَأَخَذْتُ الدَّوَاءَ. نَصِيحَتِي: يَجِبُ أَنْ تَنَامَ مُبَكِّرًا، وَتَشْرَبَ مَاءً كَثِيرًا.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For breakfast I eat bread with cheese, and for dinner I eat chicken with vegetables. My favourite food is kabsa because it is delicious, and I prefer juice to fizzy drinks because it is healthy. Last month I had a cold and a cough for a week, so I went to the doctor and took the medicine. My advice: you must sleep early and drink plenty of water.”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الفُطُورِ آكُلُ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لَذِيذَةٌ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العَصِيرَ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تَنَامَ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F5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the question word, answer in full sentences, check every agreement.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F5-L12 · Practice Room — Review and Unit Assessment: Food, Health and Body</dc:title>
  <dc:subject>PptxGenJS Presentation</dc:subject>
  <dc:creator>Al Madina Online School · Arabic Department</dc:creator>
  <cp:lastModifiedBy>Al Madina Online School · Arabic Department</cp:lastModifiedBy>
  <cp:revision>1</cp:revision>
  <dcterms:created xsi:type="dcterms:W3CDTF">2026-10-25T17:41:36Z</dcterms:created>
  <dcterms:modified xsi:type="dcterms:W3CDTF">2026-10-25T17:41:36Z</dcterms:modified>
</cp:coreProperties>
</file>