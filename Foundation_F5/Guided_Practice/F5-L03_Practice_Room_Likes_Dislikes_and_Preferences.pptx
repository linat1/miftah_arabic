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F5-L03 (Likes, Dislikes and Preferences) — new practice tasks built on the lesson’s own word bank and grammar (ufaḍḍilu … ʿalā …; uḥibbu … akthara min …; ṭaʿāmī al-mufaḍḍalu; intensity (jiddan · kathīran · qalīlan); hal tuḥibbu / tuḥibbīna?; huwa yufaḍḍilu / hiya tufaḍḍilu).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تُرِيدِينَ · تُفَضِّلِينَ. Language: ufaḍḍilu X ʿalā Y · akthara min + genitive · reporting he / she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Likes, Dislikes and Preferences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مَا أُحِبُّ مِنَ الطَّعَامِ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with food preferences: say the opinion words, act a short dialogue, answer question cards, do a role-play card choosing a family takeaway, give a 30-second talk, then build, fix and write a short food-preferences profile.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F5-L03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Liking and preferring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like / love</a:t>
            </a:r>
            <a:endParaRPr lang="en-US" sz="1350" dirty="0"/>
          </a:p>
          <a:p>
            <a:pPr indent="0" marL="0">
              <a:buNone/>
            </a:pPr>
            <a:r>
              <a:rPr lang="en-US" sz="1100" i="1" dirty="0">
                <a:solidFill>
                  <a:srgbClr val="5A6472"/>
                </a:solidFill>
                <a:latin typeface="Calibri" pitchFamily="34" charset="0"/>
                <a:cs typeface="Amiri" pitchFamily="2" charset="-78"/>
              </a:rPr>
              <a:t>u-ḥib-bu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يُحِبُّ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تُحِبُّ</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أُحِبُّ</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like</a:t>
            </a:r>
            <a:endParaRPr lang="en-US" sz="1350" dirty="0"/>
          </a:p>
          <a:p>
            <a:pPr indent="0" marL="0">
              <a:buNone/>
            </a:pPr>
            <a:r>
              <a:rPr lang="en-US" sz="1100" i="1" dirty="0">
                <a:solidFill>
                  <a:srgbClr val="5A6472"/>
                </a:solidFill>
                <a:latin typeface="Calibri" pitchFamily="34" charset="0"/>
                <a:cs typeface="Amiri" pitchFamily="2" charset="-78"/>
              </a:rPr>
              <a:t>lā u-ḥib-bu</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يُفَضِّلُ</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تُفَضِّلُ</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نُفَضِّلُ</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طَعَامِي المُفَضَّلُ</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favourite food</a:t>
            </a:r>
            <a:endParaRPr lang="en-US" sz="1350" dirty="0"/>
          </a:p>
          <a:p>
            <a:pPr indent="0" marL="0">
              <a:buNone/>
            </a:pPr>
            <a:r>
              <a:rPr lang="en-US" sz="1100" i="1" dirty="0">
                <a:solidFill>
                  <a:srgbClr val="5A6472"/>
                </a:solidFill>
                <a:latin typeface="Calibri" pitchFamily="34" charset="0"/>
                <a:cs typeface="Amiri" pitchFamily="2" charset="-78"/>
              </a:rPr>
              <a:t>ṭa-ʿā-mī al-mu-faḍ-ḍa-lu</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 (m.)</a:t>
            </a:r>
            <a:endParaRPr lang="en-US" sz="700" dirty="0"/>
          </a:p>
        </p:txBody>
      </p:sp>
      <p:sp>
        <p:nvSpPr>
          <p:cNvPr id="69" name="Text 66"/>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طَعَامِي المُفَضَّلُ</a:t>
            </a:r>
            <a:endParaRPr lang="ar-SA" sz="135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drink (m.)</a:t>
            </a:r>
            <a:endParaRPr lang="en-US" sz="700" dirty="0"/>
          </a:p>
        </p:txBody>
      </p:sp>
      <p:sp>
        <p:nvSpPr>
          <p:cNvPr id="72" name="Text 69"/>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مَشْرُوبِي المُفَضَّلُ</a:t>
            </a:r>
            <a:endParaRPr lang="ar-SA" sz="135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fruit (f.)</a:t>
            </a:r>
            <a:endParaRPr lang="en-US" sz="700" dirty="0"/>
          </a:p>
        </p:txBody>
      </p:sp>
      <p:sp>
        <p:nvSpPr>
          <p:cNvPr id="75" name="Text 72"/>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فَاكِهَتِي المُفَضَّلَةُ</a:t>
            </a:r>
            <a:endParaRPr lang="ar-SA" sz="135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مِنْ</a:t>
            </a:r>
            <a:endParaRPr lang="ar-SA" sz="3000" dirty="0"/>
          </a:p>
        </p:txBody>
      </p:sp>
      <p:sp>
        <p:nvSpPr>
          <p:cNvPr id="82" name="Text 7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than</a:t>
            </a:r>
            <a:endParaRPr lang="en-US" sz="1350" dirty="0"/>
          </a:p>
          <a:p>
            <a:pPr indent="0" marL="0">
              <a:buNone/>
            </a:pPr>
            <a:r>
              <a:rPr lang="en-US" sz="1100" i="1" dirty="0">
                <a:solidFill>
                  <a:srgbClr val="5A6472"/>
                </a:solidFill>
                <a:latin typeface="Calibri" pitchFamily="34" charset="0"/>
                <a:cs typeface="Amiri" pitchFamily="2" charset="-78"/>
              </a:rPr>
              <a:t>ak-tha-ra min</a:t>
            </a:r>
            <a:endParaRPr lang="en-US" sz="135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lot</a:t>
            </a:r>
            <a:endParaRPr lang="en-US" sz="1350" dirty="0"/>
          </a:p>
          <a:p>
            <a:pPr indent="0" marL="0">
              <a:buNone/>
            </a:pPr>
            <a:r>
              <a:rPr lang="en-US" sz="1100" i="1" dirty="0">
                <a:solidFill>
                  <a:srgbClr val="5A6472"/>
                </a:solidFill>
                <a:latin typeface="Calibri" pitchFamily="34" charset="0"/>
                <a:cs typeface="Amiri" pitchFamily="2" charset="-78"/>
              </a:rPr>
              <a:t>ka-thī-ran</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Asking and reporting preferences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little</a:t>
            </a:r>
            <a:endParaRPr lang="en-US" sz="1350" dirty="0"/>
          </a:p>
          <a:p>
            <a:pPr indent="0" marL="0">
              <a:buNone/>
            </a:pPr>
            <a:r>
              <a:rPr lang="en-US" sz="1100" i="1" dirty="0">
                <a:solidFill>
                  <a:srgbClr val="5A6472"/>
                </a:solidFill>
                <a:latin typeface="Calibri" pitchFamily="34" charset="0"/>
                <a:cs typeface="Amiri" pitchFamily="2" charset="-78"/>
              </a:rPr>
              <a:t>qa-lī-lan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very</a:t>
            </a:r>
            <a:endParaRPr lang="en-US" sz="1350" dirty="0"/>
          </a:p>
          <a:p>
            <a:pPr indent="0" marL="0">
              <a:buNone/>
            </a:pPr>
            <a:r>
              <a:rPr lang="en-US" sz="1100" i="1" dirty="0">
                <a:solidFill>
                  <a:srgbClr val="5A6472"/>
                </a:solidFill>
                <a:latin typeface="Calibri" pitchFamily="34" charset="0"/>
                <a:cs typeface="Amiri" pitchFamily="2" charset="-78"/>
              </a:rPr>
              <a:t>jid-dan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تُحِبُّ؟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like? (m)</a:t>
            </a:r>
            <a:endParaRPr lang="en-US" sz="1350" dirty="0"/>
          </a:p>
          <a:p>
            <a:pPr indent="0" marL="0">
              <a:buNone/>
            </a:pPr>
            <a:r>
              <a:rPr lang="en-US" sz="1100" i="1" dirty="0">
                <a:solidFill>
                  <a:srgbClr val="5A6472"/>
                </a:solidFill>
                <a:latin typeface="Calibri" pitchFamily="34" charset="0"/>
                <a:cs typeface="Amiri" pitchFamily="2" charset="-78"/>
              </a:rPr>
              <a:t>hal tu-ḥib-bu?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تُحِبِّينَ؟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like? (f)</a:t>
            </a:r>
            <a:endParaRPr lang="en-US" sz="1350" dirty="0"/>
          </a:p>
          <a:p>
            <a:pPr indent="0" marL="0">
              <a:buNone/>
            </a:pPr>
            <a:r>
              <a:rPr lang="en-US" sz="1100" i="1" dirty="0">
                <a:solidFill>
                  <a:srgbClr val="5A6472"/>
                </a:solidFill>
                <a:latin typeface="Calibri" pitchFamily="34" charset="0"/>
                <a:cs typeface="Amiri" pitchFamily="2" charset="-78"/>
              </a:rPr>
              <a:t>hal tu-ḥib-bī-na?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 يُفَضِّلُ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prefers</a:t>
            </a:r>
            <a:endParaRPr lang="en-US" sz="1350" dirty="0"/>
          </a:p>
          <a:p>
            <a:pPr indent="0" marL="0">
              <a:buNone/>
            </a:pPr>
            <a:r>
              <a:rPr lang="en-US" sz="1100" i="1" dirty="0">
                <a:solidFill>
                  <a:srgbClr val="5A6472"/>
                </a:solidFill>
                <a:latin typeface="Calibri" pitchFamily="34" charset="0"/>
                <a:cs typeface="Amiri" pitchFamily="2" charset="-78"/>
              </a:rPr>
              <a:t>hu-wa yu-faḍ-ḍi-lu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هِيَ تُفَضِّلُ</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prefers</a:t>
            </a:r>
            <a:endParaRPr lang="en-US" sz="1350" dirty="0"/>
          </a:p>
          <a:p>
            <a:pPr indent="0" marL="0">
              <a:buNone/>
            </a:pPr>
            <a:r>
              <a:rPr lang="en-US" sz="1100" i="1" dirty="0">
                <a:solidFill>
                  <a:srgbClr val="5A6472"/>
                </a:solidFill>
                <a:latin typeface="Calibri" pitchFamily="34" charset="0"/>
                <a:cs typeface="Amiri" pitchFamily="2" charset="-78"/>
              </a:rPr>
              <a:t>hi-ya tu-faḍ-ḍi-lu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Pizza or kabsa?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البِيتْزَا أَمِ الكَبْسَةُ؟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food?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طَعَامُكَ المُفَضَّلُ؟</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favourite food is kabsa — I love it!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طَعَامِي المُفَضَّلُ الكَبْسَةُ، أُحِبُّهَا جِدًّا!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kabsa or pizza?</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أَيُّهُمَا تُفَضِّلُ: الكَبْسَةَ أَمِ البِيتْزَا؟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kabsa to pizza. And you, do you like pizza?</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أُفَضِّلُ الكَبْسَةَ عَلَى البِيتْزَا. وَأَنْتِ، هَلْ تُحِبِّينَ البِيتْزَا؟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like it a lot, but I like fish more than it.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أُحِبُّهَا كَثِيرًا، لٰكِنِّي أُحِبُّ السَّمَكَ أَكْثَرَ مِنْهَا.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 prefers chicken, and my sister prefers salad.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أَخِي يُفَضِّلُ الدَّجَاجَ، وَأُخْتِي تُفَضِّلُ السَّلَطَةَ.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compare YOUR two real favourite foods.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أُحِبُّهُ / أُحِبُّهَا جِدًّا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طَعَامِي المُفَضَّلُ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food?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طَعَامُكَ المُفَضَّلُ؟</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tea or juice?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الشَّايَ أَمِ العَصِيرَ؟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كَثِيرًا / قَلِيلًا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أُحِبُّهَا … / لَا،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sweets / desserts?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الحَلْوَيَاتِ؟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أَكْثَرَ مِنْ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like more: rice or potatoes?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تُحِبُّ أَكْثَرَ: الأَرُزَّ أَمِ البَطَاطِسَ؟</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وَأُمِّي تُفَضِّلُ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يُفَضِّلُ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father prefer?</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يُفَضِّلُ أَبُوكَ؟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choosing a takeaway for the family</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نَخْتَارُ العَشَاءَ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choice.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لِلْعَشَاءِ؟</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أُفَضِّلُ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البِيتْزَا أَمِ الدَّجَاجَ؟</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أُمِّي تُحِبُّ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mum’s preference.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تُحِبُّ أُمِّي؟</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 أَبِي يُفَضِّلُ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dad’s preference.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وَأَبِي؟</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yourself · Leader = your older brother or sister.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food favourites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طَعَامِي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favourite food and drink, one preference between two foods, and what someone in your family prefers.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طَعَامِي المُفَضَّلُ … · أُفَضِّلُ … · لَا أُحِبُّ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intensity (</a:t>
            </a:r>
            <a:pPr algn="l" indent="0" marL="0">
              <a:buNone/>
            </a:pPr>
            <a:r>
              <a:rPr lang="ar-SA" altLang="en-US" sz="1500" dirty="0">
                <a:solidFill>
                  <a:srgbClr val="1F2A37"/>
                </a:solidFill>
                <a:latin typeface="Amiri" pitchFamily="2" charset="-78"/>
                <a:ea typeface="Amiri" pitchFamily="2" charset="-78"/>
                <a:cs typeface="Amiri" pitchFamily="2" charset="-78"/>
              </a:rPr>
              <a:t>جِدًّا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كَثِيرًا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قَلِيلًا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أَكْثَرَ 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two family members (</a:t>
            </a:r>
            <a:pPr algn="l" indent="0" marL="0">
              <a:buNone/>
            </a:pPr>
            <a:r>
              <a:rPr lang="ar-SA" altLang="en-US" sz="1500" dirty="0">
                <a:solidFill>
                  <a:srgbClr val="1F2A37"/>
                </a:solidFill>
                <a:latin typeface="Amiri" pitchFamily="2" charset="-78"/>
                <a:ea typeface="Amiri" pitchFamily="2" charset="-78"/>
                <a:cs typeface="Amiri" pitchFamily="2" charset="-78"/>
              </a:rPr>
              <a:t>هُوَ يُفَضِّلُ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هِيَ تُفَضِّلُ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tea to coffee.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القَهْوَةِ.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القَهْوَةُ.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fish more than meat.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السَّمَكُ</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اللَّحْمِ.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اللَّحْمَ.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prefers salad.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تُفَضِّلُ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يُفَضِّلُ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السَّلَطَةَ.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السَّلَطَةُ.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tea to coffee.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X to Y = </a:t>
            </a:r>
            <a:pPr algn="l" indent="0" marL="0">
              <a:buNone/>
            </a:pPr>
            <a:r>
              <a:rPr lang="ar-SA" altLang="en-US" sz="1350" dirty="0">
                <a:solidFill>
                  <a:srgbClr val="5A6472"/>
                </a:solidFill>
                <a:latin typeface="Amiri" pitchFamily="2" charset="-78"/>
                <a:ea typeface="Amiri" pitchFamily="2" charset="-78"/>
                <a:cs typeface="Amiri" pitchFamily="2" charset="-78"/>
              </a:rPr>
              <a:t>أُفَضِّلُ</a:t>
            </a:r>
            <a:pPr algn="l" indent="0" marL="0">
              <a:buNone/>
            </a:pPr>
            <a:r>
              <a:rPr lang="en-US" sz="1050" i="1"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Y.</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الشَّايَ عَلَى القَهْوَةِ.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fish more than meat.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 than = </a:t>
            </a:r>
            <a:pPr algn="l" indent="0" marL="0">
              <a:buNone/>
            </a:pPr>
            <a:r>
              <a:rPr lang="ar-SA" altLang="en-US" sz="1350" dirty="0">
                <a:solidFill>
                  <a:srgbClr val="5A6472"/>
                </a:solidFill>
                <a:latin typeface="Amiri" pitchFamily="2" charset="-78"/>
                <a:ea typeface="Amiri" pitchFamily="2" charset="-78"/>
                <a:cs typeface="Amiri" pitchFamily="2" charset="-78"/>
              </a:rPr>
              <a:t>أَكْثَرَ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السَّمَكَ أَكْثَرَ مِنَ اللَّحْمِ.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prefers salad.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تُفَضِّلُ</a:t>
            </a:r>
            <a:pPr algn="l" indent="0" marL="0">
              <a:buNone/>
            </a:pPr>
            <a:r>
              <a:rPr lang="en-US" sz="1050" i="1" dirty="0">
                <a:solidFill>
                  <a:srgbClr val="5A6472"/>
                </a:solidFill>
                <a:latin typeface="Calibri" pitchFamily="34" charset="0"/>
                <a:cs typeface="Amiri" pitchFamily="2" charset="-78"/>
              </a:rPr>
              <a:t>; object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تُفَضِّلُ السَّلَطَةَ.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أُفَضِّلُ الأَرُزَّ مِنَ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 X TO Y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طَعَامِي المُفَضَّلَةُ الدَّجَاجُ.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طَعَامٌ</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تُفَضِّلُ السَّمَكَ.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father = he.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أُفَضِّلُ الأَرُزَّ مِنَ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أُفَضِّلُ الأَرُزَّ عَلَى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أُفَضِّلُ … عَلَى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طَعَامِي المُفَضَّلَةُ الدَّجَاجُ.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طَعَامِي المُفَضَّلُ الدَّجَاجُ.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 </a:t>
            </a:r>
            <a:pPr algn="l" indent="0" marL="0">
              <a:buNone/>
            </a:pPr>
            <a:r>
              <a:rPr lang="ar-SA" altLang="en-US" sz="1500" b="1" dirty="0">
                <a:solidFill>
                  <a:srgbClr val="1B3B6F"/>
                </a:solidFill>
                <a:latin typeface="Amiri" pitchFamily="2" charset="-78"/>
                <a:ea typeface="Amiri" pitchFamily="2" charset="-78"/>
                <a:cs typeface="Amiri" pitchFamily="2" charset="-78"/>
              </a:rPr>
              <a:t>المُفَضَّلُ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تُفَضِّلُ السَّمَكَ.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يُفَضِّلُ السَّمَكَ.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 → </a:t>
            </a:r>
            <a:pPr algn="l" indent="0" marL="0">
              <a:buNone/>
            </a:pPr>
            <a:r>
              <a:rPr lang="ar-SA" altLang="en-US" sz="1500" b="1" dirty="0">
                <a:solidFill>
                  <a:srgbClr val="1B3B6F"/>
                </a:solidFill>
                <a:latin typeface="Amiri" pitchFamily="2" charset="-78"/>
                <a:ea typeface="Amiri" pitchFamily="2" charset="-78"/>
                <a:cs typeface="Amiri" pitchFamily="2" charset="-78"/>
              </a:rPr>
              <a:t>يُفَضِّلُ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أَكْثَرَ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more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تُحِبُّ ______ جِدًّا، لٰكِنِّي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mum loves …, but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طَعَامِي المُفَضَّلُ ______ ، وَشَرَابِي المُفَضَّلُ ______ .</a:t>
            </a:r>
            <a:endParaRPr lang="ar-SA" sz="15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 and my favourite drink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يُفَضِّلُ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dad prefers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طَعَامِي المُفَضَّلُ  ·  أُفَضِّلُ … عَلَى  ·  أَكْثَرَ مِنْ  ·  جِدًّا · كَثِيرًا · قَلِيلًا  ·  يُفَضِّلُ · تُفَضِّلُ  ·  يُحِبُّ · تُحِبُّ  ·  لٰكِنَّ  ·  خُصُوصًا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food preferences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طَعَامِي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food profile (about 40–60 words) for a cooking club. Include: • your favourite food and drink • one preference (</a:t>
            </a:r>
            <a:pPr algn="l" indent="0" marL="0">
              <a:buNone/>
            </a:pPr>
            <a:r>
              <a:rPr lang="ar-SA" altLang="en-US" sz="1700" b="1" dirty="0">
                <a:solidFill>
                  <a:srgbClr val="1F2A37"/>
                </a:solidFill>
                <a:latin typeface="Amiri" pitchFamily="2" charset="-78"/>
                <a:ea typeface="Amiri" pitchFamily="2" charset="-78"/>
                <a:cs typeface="Amiri" pitchFamily="2" charset="-78"/>
              </a:rPr>
              <a:t>أُفَضِّلُ … عَلَى</a:t>
            </a:r>
            <a:pPr algn="l" indent="0" marL="0">
              <a:buNone/>
            </a:pPr>
            <a:r>
              <a:rPr lang="en-US" sz="1300" b="1" dirty="0">
                <a:solidFill>
                  <a:srgbClr val="1F2A37"/>
                </a:solidFill>
                <a:latin typeface="Calibri" pitchFamily="34" charset="0"/>
                <a:cs typeface="Amiri" pitchFamily="2" charset="-78"/>
              </a:rPr>
              <a:t> …) • one comparison (</a:t>
            </a:r>
            <a:pPr algn="l" indent="0" marL="0">
              <a:buNone/>
            </a:pPr>
            <a:r>
              <a:rPr lang="ar-SA" altLang="en-US" sz="1700" b="1" dirty="0">
                <a:solidFill>
                  <a:srgbClr val="1F2A37"/>
                </a:solidFill>
                <a:latin typeface="Amiri" pitchFamily="2" charset="-78"/>
                <a:ea typeface="Amiri" pitchFamily="2" charset="-78"/>
                <a:cs typeface="Amiri" pitchFamily="2" charset="-78"/>
              </a:rPr>
              <a:t>أُحِبُّ … أَكْثَرَ مِنْ</a:t>
            </a:r>
            <a:pPr algn="l" indent="0" marL="0">
              <a:buNone/>
            </a:pPr>
            <a:r>
              <a:rPr lang="en-US" sz="1300" b="1" dirty="0">
                <a:solidFill>
                  <a:srgbClr val="1F2A37"/>
                </a:solidFill>
                <a:latin typeface="Calibri" pitchFamily="34" charset="0"/>
                <a:cs typeface="Amiri" pitchFamily="2" charset="-78"/>
              </a:rPr>
              <a:t> …) • a food you like a little or don’t like • two family members’ preferences.</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طَعَامِي المُفَضَّلُ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food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أَكْثَرَ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more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يُفَضِّلُ … · هِيَ تُفَضِّلُ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prefers … · she prefers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أُفَضِّلُ … عَلَى</a:t>
            </a:r>
            <a:pPr algn="l" indent="0" marL="0">
              <a:buNone/>
            </a:pPr>
            <a:r>
              <a:rPr lang="en-US" sz="1100" dirty="0">
                <a:solidFill>
                  <a:srgbClr val="5A6472"/>
                </a:solidFill>
                <a:latin typeface="Calibri" pitchFamily="34" charset="0"/>
                <a:cs typeface="Amiri" pitchFamily="2" charset="-78"/>
              </a:rPr>
              <a:t> …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أَكْثَرَ مِنْ</a:t>
            </a:r>
            <a:pPr algn="l" indent="0" marL="0">
              <a:buNone/>
            </a:pPr>
            <a:r>
              <a:rPr lang="en-US" sz="1100" dirty="0">
                <a:solidFill>
                  <a:srgbClr val="5A6472"/>
                </a:solidFill>
                <a:latin typeface="Calibri" pitchFamily="34" charset="0"/>
                <a:cs typeface="Amiri" pitchFamily="2" charset="-78"/>
              </a:rPr>
              <a:t> and report he / she preferences?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الفَلَافِلَ وَالحُمُّصَ.</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falafel and hummus.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 لِلْعَشَاءِ؟</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الدَّجَاجَ عَلَى البِيتْزَا.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chicken to pizza.</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تُفَضِّلُ: البِيتْزَا أَمِ الدَّجَاجَ؟</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تُحِبُّ السَّمَكَ أَكْثَرَ مِنَ الدَّجَاجِ.</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Mum likes fish more than chicken.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تُحِبُّ أُمِّي؟</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يُفَضِّلُ الكَبْسَةَ دَائِمًا!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Dad always prefers kabsa!</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وَأَبِي؟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طَعَامِي المُفَضَّلُ المَنْسَفُ، وَشَرَابِي المُفَضَّلُ عَصِيرُ المَانْجُو. أُفَضِّلُ الأَرُزَّ عَلَى المَعْكَرُونَةِ، وَأُحِبُّ الدَّجَاجَ أَكْثَرَ مِنَ السَّمَكِ. أُحِبُّ الخُضَارَ قَلِيلًا، لٰكِنِّي لَا أُحِبُّ البَصَلَ أَبَدًا. أَبِي يُفَضِّلُ القَهْوَةَ العَرَبِيَّةَ، وَأُمِّي تُحِبُّ الحَلْوَيَاتِ جِدًّا، خُصُوصًا الكُنَافَةَ.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favourite food is mansaf, and my favourite drink is mango juice. I prefer rice to pasta, and I like chicken more than fish. I like vegetables a little, but I don’t like onions at all. My dad prefers Arabic coffee, and my mum loves desserts very much, especially kunafa.”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طَعَامِي المُفَضَّلُ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الأَرُزَّ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مِنَ السَّمَكِ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أَبِي يُفَضِّلُ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cs typeface="Amiri" pitchFamily="2" charset="-78"/>
              </a:rPr>
              <a:t>F5-L04 · Giving Reasons: Taste and Health</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إِبْدَاءُ الأَسْبَابِ وَوَصْفُ المَذَاقِ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F5-L03 · Practice Room — Likes, Dislikes and Preferences</dc:title>
  <dc:subject>PptxGenJS Presentation</dc:subject>
  <dc:creator>Al Madina Online School · Arabic Department</dc:creator>
  <cp:lastModifiedBy>Al Madina Online School · Arabic Department</cp:lastModifiedBy>
  <cp:revision>1</cp:revision>
  <dcterms:created xsi:type="dcterms:W3CDTF">2026-10-25T17:35:56Z</dcterms:created>
  <dcterms:modified xsi:type="dcterms:W3CDTF">2026-10-25T17:35:56Z</dcterms:modified>
</cp:coreProperties>
</file>