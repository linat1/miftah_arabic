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F5-L02 (Meals and Eating Routines) — new practice tasks built on the lesson’s own word bank and grammar (fī al-fuṭūri / al-ghadāʾi / al-ʿashāʾi + ākulu · ashrabu · atanāwalu; times and frequency (ʿādatan · aḥyānan · kulla yawmin); maʿa man?).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F5-L02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تَأْكُلِينَ · تَشْرَبِينَ. Language: frequency words before the verb (ʿādatan ākulu …) · natanāwalu (we) · fī al-sāʿati.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Meals and Eating Routines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وَجَبَاتُ اليَوْمِ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speaking and writing practice about meals: say the meal and routine words, act a short dialogue, answer question cards, do a role-play card on a homestay with an Arab family, give a 30-second talk, then build, fix and write about their meals in a day.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F5-L02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Meals and times of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فُطُورٌ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breakfast</a:t>
            </a:r>
            <a:endParaRPr lang="en-US" sz="1350" dirty="0"/>
          </a:p>
          <a:p>
            <a:pPr indent="0" marL="0">
              <a:buNone/>
            </a:pPr>
            <a:r>
              <a:rPr lang="en-US" sz="1100" i="1" dirty="0">
                <a:solidFill>
                  <a:srgbClr val="5A6472"/>
                </a:solidFill>
                <a:latin typeface="Calibri" pitchFamily="34" charset="0"/>
                <a:cs typeface="Amiri" pitchFamily="2" charset="-78"/>
              </a:rPr>
              <a:t>fu-ṭū-run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غَدَاءٌ</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lunch</a:t>
            </a:r>
            <a:endParaRPr lang="en-US" sz="1350" dirty="0"/>
          </a:p>
          <a:p>
            <a:pPr indent="0" marL="0">
              <a:buNone/>
            </a:pPr>
            <a:r>
              <a:rPr lang="en-US" sz="1100" i="1" dirty="0">
                <a:solidFill>
                  <a:srgbClr val="5A6472"/>
                </a:solidFill>
                <a:latin typeface="Calibri" pitchFamily="34" charset="0"/>
                <a:cs typeface="Amiri" pitchFamily="2" charset="-78"/>
              </a:rPr>
              <a:t>gha-dā-ʾun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عَشَاءٌ</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dinner</a:t>
            </a:r>
            <a:endParaRPr lang="en-US" sz="1350" dirty="0"/>
          </a:p>
          <a:p>
            <a:pPr indent="0" marL="0">
              <a:buNone/>
            </a:pPr>
            <a:r>
              <a:rPr lang="en-US" sz="1100" i="1" dirty="0">
                <a:solidFill>
                  <a:srgbClr val="5A6472"/>
                </a:solidFill>
                <a:latin typeface="Calibri" pitchFamily="34" charset="0"/>
                <a:cs typeface="Amiri" pitchFamily="2" charset="-78"/>
              </a:rPr>
              <a:t>ʿa-shā-ʾun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وَجْبَةٌ خَفِيفَةٌ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snack</a:t>
            </a:r>
            <a:endParaRPr lang="en-US" sz="1350" dirty="0"/>
          </a:p>
          <a:p>
            <a:pPr indent="0" marL="0">
              <a:buNone/>
            </a:pPr>
            <a:r>
              <a:rPr lang="en-US" sz="1100" i="1" dirty="0">
                <a:solidFill>
                  <a:srgbClr val="5A6472"/>
                </a:solidFill>
                <a:latin typeface="Calibri" pitchFamily="34" charset="0"/>
                <a:cs typeface="Amiri" pitchFamily="2" charset="-78"/>
              </a:rPr>
              <a:t>waj-ba-tun kha-fī-fa-tun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الصَّبَاحِ</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morning</a:t>
            </a:r>
            <a:endParaRPr lang="en-US" sz="1350" dirty="0"/>
          </a:p>
          <a:p>
            <a:pPr indent="0" marL="0">
              <a:buNone/>
            </a:pPr>
            <a:r>
              <a:rPr lang="en-US" sz="1100" i="1" dirty="0">
                <a:solidFill>
                  <a:srgbClr val="5A6472"/>
                </a:solidFill>
                <a:latin typeface="Calibri" pitchFamily="34" charset="0"/>
                <a:cs typeface="Amiri" pitchFamily="2" charset="-78"/>
              </a:rPr>
              <a:t>fī aṣ-ṣa-bā-ḥi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المَسَاءِ</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evening</a:t>
            </a:r>
            <a:endParaRPr lang="en-US" sz="1350" dirty="0"/>
          </a:p>
          <a:p>
            <a:pPr indent="0" marL="0">
              <a:buNone/>
            </a:pPr>
            <a:r>
              <a:rPr lang="en-US" sz="1100" i="1" dirty="0">
                <a:solidFill>
                  <a:srgbClr val="5A6472"/>
                </a:solidFill>
                <a:latin typeface="Calibri" pitchFamily="34" charset="0"/>
                <a:cs typeface="Amiri" pitchFamily="2" charset="-78"/>
              </a:rPr>
              <a:t>fī al-ma-sā-ʾi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Eating verbs and frequency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331366"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آكُلُ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eat</a:t>
            </a:r>
            <a:endParaRPr lang="en-US" sz="1350" dirty="0"/>
          </a:p>
          <a:p>
            <a:pPr indent="0" marL="0">
              <a:buNone/>
            </a:pPr>
            <a:r>
              <a:rPr lang="en-US" sz="1100" i="1" dirty="0">
                <a:solidFill>
                  <a:srgbClr val="5A6472"/>
                </a:solidFill>
                <a:latin typeface="Calibri" pitchFamily="34" charset="0"/>
                <a:cs typeface="Amiri" pitchFamily="2" charset="-78"/>
              </a:rPr>
              <a:t>ā-ku-lu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يَأْكُلُ</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تَأْكُلُ</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نَأْكُلُ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331366"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أَشْرَبُ</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drink</a:t>
            </a:r>
            <a:endParaRPr lang="en-US" sz="1350" dirty="0"/>
          </a:p>
          <a:p>
            <a:pPr indent="0" marL="0">
              <a:buNone/>
            </a:pPr>
            <a:r>
              <a:rPr lang="en-US" sz="1100" i="1" dirty="0">
                <a:solidFill>
                  <a:srgbClr val="5A6472"/>
                </a:solidFill>
                <a:latin typeface="Calibri" pitchFamily="34" charset="0"/>
                <a:cs typeface="Amiri" pitchFamily="2" charset="-78"/>
              </a:rPr>
              <a:t>ash-ra-bu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يَشْرَبُ</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تَشْرَبُ</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نَشْرَبُ</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أَتَنَاوَلُ</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 consume</a:t>
            </a:r>
            <a:endParaRPr lang="en-US" sz="1350" dirty="0"/>
          </a:p>
          <a:p>
            <a:pPr indent="0" marL="0">
              <a:buNone/>
            </a:pPr>
            <a:r>
              <a:rPr lang="en-US" sz="1100" i="1" dirty="0">
                <a:solidFill>
                  <a:srgbClr val="5A6472"/>
                </a:solidFill>
                <a:latin typeface="Calibri" pitchFamily="34" charset="0"/>
                <a:cs typeface="Amiri" pitchFamily="2" charset="-78"/>
              </a:rPr>
              <a:t>a-ta-nā-wa-lu</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يَتَنَاوَلُ</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تَتَنَاوَلُ</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نَتَنَاوَلُ</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a:t>
            </a:r>
            <a:endParaRPr lang="ar-SA" sz="3000" dirty="0"/>
          </a:p>
        </p:txBody>
      </p:sp>
      <p:sp>
        <p:nvSpPr>
          <p:cNvPr id="75" name="Text 7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a:t>
            </a:r>
            <a:endParaRPr lang="en-US" sz="1350" dirty="0"/>
          </a:p>
          <a:p>
            <a:pPr indent="0" marL="0">
              <a:buNone/>
            </a:pPr>
            <a:r>
              <a:rPr lang="en-US" sz="1100" i="1" dirty="0">
                <a:solidFill>
                  <a:srgbClr val="5A6472"/>
                </a:solidFill>
                <a:latin typeface="Calibri" pitchFamily="34" charset="0"/>
                <a:cs typeface="Amiri" pitchFamily="2" charset="-78"/>
              </a:rPr>
              <a:t>ʿā-da-tan</a:t>
            </a:r>
            <a:endParaRPr lang="en-US" sz="1350" dirty="0"/>
          </a:p>
        </p:txBody>
      </p:sp>
      <p:sp>
        <p:nvSpPr>
          <p:cNvPr id="76" name="Shape 7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389120"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9" name="Shape 7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أَحْيَانًا</a:t>
            </a:r>
            <a:endParaRPr lang="ar-SA" sz="3000" dirty="0"/>
          </a:p>
        </p:txBody>
      </p:sp>
      <p:sp>
        <p:nvSpPr>
          <p:cNvPr id="82" name="Text 7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6" name="Shape 8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 يَوْمٍ</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every day</a:t>
            </a:r>
            <a:endParaRPr lang="en-US" sz="1350" dirty="0"/>
          </a:p>
          <a:p>
            <a:pPr indent="0" marL="0">
              <a:buNone/>
            </a:pPr>
            <a:r>
              <a:rPr lang="en-US" sz="1100" i="1" dirty="0">
                <a:solidFill>
                  <a:srgbClr val="5A6472"/>
                </a:solidFill>
                <a:latin typeface="Calibri" pitchFamily="34" charset="0"/>
                <a:cs typeface="Amiri" pitchFamily="2" charset="-78"/>
              </a:rPr>
              <a:t>kul-la yaw-min</a:t>
            </a:r>
            <a:endParaRPr lang="en-US"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 you have for breakfast?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تَأْكُلُ فِي الفُطُورِ؟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usually eat for breakfast?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تَأْكُلُ فِي الفُطُورِ عَادَةً؟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Usually I eat bread with cheese, and I drink milk.</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عَادَةً آكُلُ الخُبْزَ مَعَ الجُبْنِ، وَأَشْرَبُ الحَلِيبَ.</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when do you have lunch?</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وَمَتَى تَتَنَاوَلُ الغَدَاءَ؟</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lunch at school at half past twelve.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أَتَنَاوَلُ الغَدَاءَ فِي المَدْرَسَةِ فِي الثَّانِيَةَ عَشْرَةَ وَالنِّصْفِ.</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dinner? Who do you eat with?</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وَالعَشَاءُ؟ مَعَ مَنْ تَأْكُلُ؟</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eat dinner with my family at seven, and sometimes with my grandmother.</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آكُلُ العَشَاءَ مَعَ عَائِلَتِي فِي السَّابِعَةِ، وَأَحْيَانًا مَعَ جَدَّتِي.</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YOUR real meals — what, when and with whom.</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وَأَشْرَبُ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الفُطُورِ آكُلُ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eat for breakfast?</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تَأْكُلُ فِي الفُطُورِ؟</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السَّاعَةِ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أَتَنَاوَلُ الغَدَاءَ فِي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have lunch?</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تَتَنَاوَلُ الغَدَاءَ؟</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آكُلُ العَشَاءَ مَعَ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eat dinner with?</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تَأْكُلُ العَشَاءَ؟</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أَحْيَانًا</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آكُلُ … / لَا،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a snack after school?</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تَأْكُلُ وَجْبَةً خَفِيفَةً بَعْدَ المَدْرَسَةِ؟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وَجْبَتِي المُفَضَّلَةُ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meal?</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وَجْبَتُكَ المُفَضَّلَةُ؟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Role-play card — staying with an Arab host family</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مَعَ العَائِلَةِ المُضِيفَةِ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عَادَةً آكُلُ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usual breakfast.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تَأْكُلُ فِي الفُطُورِ عَادَةً؟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أَشْرَبُ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drink.</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تَشْرَبُ؟</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نَتَنَاوَلُ العَشَاءَ فِي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time.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تَتَنَاوَلُونَ العَشَاءَ فِي بِرِيطَانِيَا؟</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أَحْيَانًا آكُلُ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 no + what.</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تَأْكُلُ وَجْبَةً خَفِيفَةً فِي المَسَاءِ؟</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an exchange student · Leader = the host mother.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meals in a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وَجَبَاتِي فِي يَوْمٍ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your meals on a school day: breakfast, lunch, snack and dinner — what, when and with whom.</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sentence for each meal.</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times and frequency (</a:t>
            </a:r>
            <a:pPr algn="l" indent="0" marL="0">
              <a:buNone/>
            </a:pPr>
            <a:r>
              <a:rPr lang="ar-SA" altLang="en-US" sz="1500" dirty="0">
                <a:solidFill>
                  <a:srgbClr val="1F2A37"/>
                </a:solidFill>
                <a:latin typeface="Amiri" pitchFamily="2" charset="-78"/>
                <a:ea typeface="Amiri" pitchFamily="2" charset="-78"/>
                <a:cs typeface="Amiri" pitchFamily="2" charset="-78"/>
              </a:rPr>
              <a:t>عَادَةً</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أَحْيَانًا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who you eat with and how the weekend is different.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For breakfast I usually eat eggs.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الفُطُورِ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الفُطُورُ فِي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عَادَةً آكُلُ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عَادَةً أَكَلَ</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البَيْضَ.</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البَيْضُ.</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have lunch at school.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أَتَنَاوَلُ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تَتَنَاوَلُ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الغَدَاءَ</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الغَدَاءُ</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المَدْرَسَةِ.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المَدْرَسَةُ.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eat dinner with my grandmother.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نَأْكُلُ العَشَاءَ</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آكُلُ العَشَاءَ نَحْنُ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جَدَّتِي.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جَدَّتُنَا هِيَ.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For breakfast I usually eat eggs.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breakfast = </a:t>
            </a:r>
            <a:pPr algn="l" indent="0" marL="0">
              <a:buNone/>
            </a:pPr>
            <a:r>
              <a:rPr lang="ar-SA" altLang="en-US" sz="1350" dirty="0">
                <a:solidFill>
                  <a:srgbClr val="5A6472"/>
                </a:solidFill>
                <a:latin typeface="Amiri" pitchFamily="2" charset="-78"/>
                <a:ea typeface="Amiri" pitchFamily="2" charset="-78"/>
                <a:cs typeface="Amiri" pitchFamily="2" charset="-78"/>
              </a:rPr>
              <a:t>فِي الفُطُورِ</a:t>
            </a:r>
            <a:pPr algn="l" indent="0" marL="0">
              <a:buNone/>
            </a:pPr>
            <a:r>
              <a:rPr lang="en-US" sz="1050" i="1" dirty="0">
                <a:solidFill>
                  <a:srgbClr val="5A6472"/>
                </a:solidFill>
                <a:latin typeface="Calibri" pitchFamily="34" charset="0"/>
                <a:cs typeface="Amiri" pitchFamily="2" charset="-78"/>
              </a:rPr>
              <a:t>; usually I eat = </a:t>
            </a:r>
            <a:pPr algn="l" indent="0" marL="0">
              <a:buNone/>
            </a:pPr>
            <a:r>
              <a:rPr lang="ar-SA" altLang="en-US" sz="1350" dirty="0">
                <a:solidFill>
                  <a:srgbClr val="5A6472"/>
                </a:solidFill>
                <a:latin typeface="Amiri" pitchFamily="2" charset="-78"/>
                <a:ea typeface="Amiri" pitchFamily="2" charset="-78"/>
                <a:cs typeface="Amiri" pitchFamily="2" charset="-78"/>
              </a:rPr>
              <a:t>عَادَةً آكُلُ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الفُطُورِ عَادَةً آكُلُ البَيْضَ.</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have lunch at school.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 </a:t>
            </a:r>
            <a:pPr algn="l" indent="0" marL="0">
              <a:buNone/>
            </a:pPr>
            <a:r>
              <a:rPr lang="ar-SA" altLang="en-US" sz="1350" dirty="0">
                <a:solidFill>
                  <a:srgbClr val="5A6472"/>
                </a:solidFill>
                <a:latin typeface="Amiri" pitchFamily="2" charset="-78"/>
                <a:ea typeface="Amiri" pitchFamily="2" charset="-78"/>
                <a:cs typeface="Amiri" pitchFamily="2" charset="-78"/>
              </a:rPr>
              <a:t>أَتَنَاوَلُ</a:t>
            </a:r>
            <a:pPr algn="l" indent="0" marL="0">
              <a:buNone/>
            </a:pPr>
            <a:r>
              <a:rPr lang="en-US" sz="1050" i="1" dirty="0">
                <a:solidFill>
                  <a:srgbClr val="5A6472"/>
                </a:solidFill>
                <a:latin typeface="Calibri" pitchFamily="34" charset="0"/>
                <a:cs typeface="Amiri" pitchFamily="2" charset="-78"/>
              </a:rPr>
              <a:t>; object -a;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أَتَنَاوَلُ الغَدَاءَ فِي المَدْرَسَةِ.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eat dinner with my grandmother.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eat = </a:t>
            </a:r>
            <a:pPr algn="l" indent="0" marL="0">
              <a:buNone/>
            </a:pPr>
            <a:r>
              <a:rPr lang="ar-SA" altLang="en-US" sz="1350" dirty="0">
                <a:solidFill>
                  <a:srgbClr val="5A6472"/>
                </a:solidFill>
                <a:latin typeface="Amiri" pitchFamily="2" charset="-78"/>
                <a:ea typeface="Amiri" pitchFamily="2" charset="-78"/>
                <a:cs typeface="Amiri" pitchFamily="2" charset="-78"/>
              </a:rPr>
              <a:t>نَأْكُلُ</a:t>
            </a:r>
            <a:pPr algn="l" indent="0" marL="0">
              <a:buNone/>
            </a:pPr>
            <a:r>
              <a:rPr lang="en-US" sz="1050" i="1" dirty="0">
                <a:solidFill>
                  <a:srgbClr val="5A6472"/>
                </a:solidFill>
                <a:latin typeface="Calibri" pitchFamily="34" charset="0"/>
                <a:cs typeface="Amiri" pitchFamily="2" charset="-78"/>
              </a:rPr>
              <a:t>; with = </a:t>
            </a:r>
            <a:pPr algn="l" indent="0" marL="0">
              <a:buNone/>
            </a:pPr>
            <a:r>
              <a:rPr lang="ar-SA" altLang="en-US" sz="1350" dirty="0">
                <a:solidFill>
                  <a:srgbClr val="5A6472"/>
                </a:solidFill>
                <a:latin typeface="Amiri" pitchFamily="2" charset="-78"/>
                <a:ea typeface="Amiri" pitchFamily="2" charset="-78"/>
                <a:cs typeface="Amiri" pitchFamily="2" charset="-78"/>
              </a:rPr>
              <a:t>مَعَ</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نَأْكُلُ العَشَاءَ مَعَ جَدَّتِي.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آكُلُ فِي الفُطُورُ الخُبْزَ.</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فِي</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أَتَنَاوَلُ العَشَاءَ فِي سَبْعَةٍ.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Clock time.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نَحْنُ يَأْكُلُ مَعًا.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We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آكُلُ فِي الفُطُورُ الخُبْزَ.</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آكُلُ فِي الفُطُورِ الخُبْزَ.</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 + genitive: </a:t>
            </a:r>
            <a:pPr algn="l" indent="0" marL="0">
              <a:buNone/>
            </a:pPr>
            <a:r>
              <a:rPr lang="ar-SA" altLang="en-US" sz="1500" b="1" dirty="0">
                <a:solidFill>
                  <a:srgbClr val="1B3B6F"/>
                </a:solidFill>
                <a:latin typeface="Amiri" pitchFamily="2" charset="-78"/>
                <a:ea typeface="Amiri" pitchFamily="2" charset="-78"/>
                <a:cs typeface="Amiri" pitchFamily="2" charset="-78"/>
              </a:rPr>
              <a:t>الفُطُورِ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أَتَنَاوَلُ العَشَاءَ فِي سَبْعَةٍ.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أَتَنَاوَلُ العَشَاءَ فِي السَّاعَةِ السَّابِعَةِ.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Clock time = </a:t>
            </a:r>
            <a:pPr algn="l" indent="0" marL="0">
              <a:buNone/>
            </a:pPr>
            <a:r>
              <a:rPr lang="ar-SA" altLang="en-US" sz="1500" b="1" dirty="0">
                <a:solidFill>
                  <a:srgbClr val="1B3B6F"/>
                </a:solidFill>
                <a:latin typeface="Amiri" pitchFamily="2" charset="-78"/>
                <a:ea typeface="Amiri" pitchFamily="2" charset="-78"/>
                <a:cs typeface="Amiri" pitchFamily="2" charset="-78"/>
              </a:rPr>
              <a:t>فِي السَّاعَةِ</a:t>
            </a:r>
            <a:pPr algn="l" indent="0" marL="0">
              <a:buNone/>
            </a:pPr>
            <a:r>
              <a:rPr lang="en-US" sz="1150" b="1" dirty="0">
                <a:solidFill>
                  <a:srgbClr val="1B3B6F"/>
                </a:solidFill>
                <a:latin typeface="Calibri" pitchFamily="34" charset="0"/>
                <a:cs typeface="Amiri" pitchFamily="2" charset="-78"/>
              </a:rPr>
              <a:t> + ordinal.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نَحْنُ يَأْكُلُ مَعًا.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نَحْنُ نَأْكُلُ مَعًا.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 → na-: </a:t>
            </a:r>
            <a:pPr algn="l" indent="0" marL="0">
              <a:buNone/>
            </a:pPr>
            <a:r>
              <a:rPr lang="ar-SA" altLang="en-US" sz="1500" b="1" dirty="0">
                <a:solidFill>
                  <a:srgbClr val="1B3B6F"/>
                </a:solidFill>
                <a:latin typeface="Amiri" pitchFamily="2" charset="-78"/>
                <a:ea typeface="Amiri" pitchFamily="2" charset="-78"/>
                <a:cs typeface="Amiri" pitchFamily="2" charset="-78"/>
              </a:rPr>
              <a:t>نَأْكُلُ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المَدْرَسَةِ آكُلُ وَجْبَةً خَفِيفَةً: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school I eat a snack: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الفُطُورِ آكُلُ ______ وَأَشْرَبُ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breakfast I eat … and drink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أَتَنَاوَلُ الغَدَاءَ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lunch at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آكُلُ العَشَاءَ مَعَ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eat dinner with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وَجْبَتِي المُفَضَّلَةُ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meal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فُطُورٌ · غَدَاءٌ · عَشَاءٌ  ·  وَجْبَةٌ خَفِيفَةٌ  ·  آكُلُ · أَشْرَبُ  ·  أَتَنَاوَلُ  ·  فِي السَّاعَةِ …  ·  عَادَةً · أَحْيَانًا  ·  مَعَ عَائِلَتِي  ·  لِأَنَّ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meals in a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وَجَبَاتِي فِي يَوْمٍ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text (about 40–60 words) for a “food diary” project. Include: • breakfast (what and when) • lunch (where) • a snack • dinner (with whom) • your favourite meal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الفُطُورِ آكُلُ … وَأَشْرَبُ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breakfast I eat … and drink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أَتَنَاوَلُ الغَدَاءَ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lunch at /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عَادَةً · أَحْيَانًا · كُلَّ يَوْمٍ</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usually · sometimes · every day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وَجْبَتِي المُفَضَّلَةُ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favourite meal is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about every meal with </a:t>
            </a:r>
            <a:pPr algn="l" indent="0" marL="0">
              <a:buNone/>
            </a:pPr>
            <a:r>
              <a:rPr lang="ar-SA" altLang="en-US" sz="1450" dirty="0">
                <a:solidFill>
                  <a:srgbClr val="5A6472"/>
                </a:solidFill>
                <a:latin typeface="Amiri" pitchFamily="2" charset="-78"/>
                <a:ea typeface="Amiri" pitchFamily="2" charset="-78"/>
                <a:cs typeface="Amiri" pitchFamily="2" charset="-78"/>
              </a:rPr>
              <a:t>فِي الفُطُورِ / الغَدَاءِ / العَشَاءِ</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times and frequency words?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عَادَةً آكُلُ البَيْضَ وَالخُبْزَ.</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Usually I eat eggs and bread.</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تَأْكُلُ فِي الفُطُورِ عَادَةً؟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أَشْرَبُ الشَّايَ بِالحَلِيبِ.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drink tea with milk.</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تَشْرَبُ؟</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نَتَنَاوَلُ العَشَاءَ فِي السَّاعَةِ السَّادِسَةِ.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have dinner at six o’clock.</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تَتَنَاوَلُونَ العَشَاءَ فِي بِرِيطَانِيَا؟</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أَحْيَانًا آكُلُ تُفَّاحَةً قَبْلَ النَّوْمِ.</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Sometimes I eat an apple before bed.</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تَأْكُلُ وَجْبَةً خَفِيفَةً فِي المَسَاءِ؟</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الفُطُورِ عَادَةً آكُلُ الخُبْزَ مَعَ الجُبْنِ، وَأَشْرَبُ الحَلِيبَ فِي السَّابِعَةِ. أَتَنَاوَلُ الغَدَاءَ فِي المَدْرَسَةِ، وَآكُلُ الأَرُزَّ أَوِ المَعْكَرُونَةَ. بَعْدَ المَدْرَسَةِ آكُلُ وَجْبَةً خَفِيفَةً: تُفَّاحَةً أَوْ مَوْزَةً. آكُلُ العَشَاءَ مَعَ عَائِلَتِي فِي السَّاعَةِ السَّادِسَةِ. وَجْبَتِي المُفَضَّلَةُ العَشَاءُ، لِأَنَّنَا نَأْكُلُ مَعًا وَنَتَكَلَّمُ.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“For breakfast I usually eat bread with cheese and drink milk at seven. I have lunch at school, and I eat rice or pasta. After school I eat a snack: an apple or a banana. I eat dinner with my family at six o’clock. My favourite meal is dinner, because we eat together and talk.”</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الفُطُورِ عَادَةً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أَتَنَاوَلُ الغَدَاءَ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وَجْبَةً خَفِيفَةً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لِأَنَّنَا نَأْكُلُ مَعًا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50" b="1" dirty="0">
                <a:solidFill>
                  <a:srgbClr val="FFFFFF"/>
                </a:solidFill>
                <a:latin typeface="Cambria" pitchFamily="34" charset="0"/>
                <a:cs typeface="Amiri" pitchFamily="2" charset="-78"/>
              </a:rPr>
              <a:t>F5-L03 · Likes, Dislikes and Preferences</a:t>
            </a:r>
            <a:endParaRPr lang="en-US" sz="24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الإِعْجَابُ وَالتَّفْضِيلُ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F5-L02 · Practice Room — Meals and Eating Routines</dc:title>
  <dc:subject>PptxGenJS Presentation</dc:subject>
  <dc:creator>Al Madina Online School · Arabic Department</dc:creator>
  <cp:lastModifiedBy>Al Madina Online School · Arabic Department</cp:lastModifiedBy>
  <cp:revision>1</cp:revision>
  <dcterms:created xsi:type="dcterms:W3CDTF">2026-10-25T17:36:02Z</dcterms:created>
  <dcterms:modified xsi:type="dcterms:W3CDTF">2026-10-25T17:36:02Z</dcterms:modified>
</cp:coreProperties>
</file>