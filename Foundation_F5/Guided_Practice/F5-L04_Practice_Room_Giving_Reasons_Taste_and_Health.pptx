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F5-L04 (Giving Reasons: Taste and Health) — new practice tasks built on the lesson’s own word bank and grammar (li-annahu + masculine adjective (al-shāy → ḥulwun) / li-annahā + feminine adjective (al-salaṭa → ṭāzajatun); non-human plurals → feminine singular; fī raʾyī; wa-lākin).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F5-L04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رَأْيُكِ. Language: li-annahā for al-shūrba / al-salaṭa; li-annahu for al-aruzz · laysat +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F5-L04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Giving Reasons: Taste and Health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المَذَاقُ وَالصِّحَّةُ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giving food opinions with reasons: say the taste and health adjectives, act a short dialogue, answer question cards, do a role-play card as a food critic, give a 30-second talk, then build, fix and write a short food review.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F5-L04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Taste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لَذِيذٌ / لَذِيذَةٌ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delicious</a:t>
            </a:r>
            <a:endParaRPr lang="en-US" sz="1350" dirty="0"/>
          </a:p>
          <a:p>
            <a:pPr indent="0" marL="0">
              <a:buNone/>
            </a:pPr>
            <a:r>
              <a:rPr lang="en-US" sz="1100" i="1" dirty="0">
                <a:solidFill>
                  <a:srgbClr val="5A6472"/>
                </a:solidFill>
                <a:latin typeface="Calibri" pitchFamily="34" charset="0"/>
                <a:cs typeface="Amiri" pitchFamily="2" charset="-78"/>
              </a:rPr>
              <a:t>la-dhī-dhun / la-dhī-dha-tun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حُلْوٌ / حُلْوَةٌ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sweet</a:t>
            </a:r>
            <a:endParaRPr lang="en-US" sz="1350" dirty="0"/>
          </a:p>
          <a:p>
            <a:pPr indent="0" marL="0">
              <a:buNone/>
            </a:pPr>
            <a:r>
              <a:rPr lang="en-US" sz="1100" i="1" dirty="0">
                <a:solidFill>
                  <a:srgbClr val="5A6472"/>
                </a:solidFill>
                <a:latin typeface="Calibri" pitchFamily="34" charset="0"/>
                <a:cs typeface="Amiri" pitchFamily="2" charset="-78"/>
              </a:rPr>
              <a:t>ḥul-wun / ḥul-wa-tun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مَالِحٌ / مَالِحَةٌ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salty</a:t>
            </a:r>
            <a:endParaRPr lang="en-US" sz="1350" dirty="0"/>
          </a:p>
          <a:p>
            <a:pPr indent="0" marL="0">
              <a:buNone/>
            </a:pPr>
            <a:r>
              <a:rPr lang="en-US" sz="1100" i="1" dirty="0">
                <a:solidFill>
                  <a:srgbClr val="5A6472"/>
                </a:solidFill>
                <a:latin typeface="Calibri" pitchFamily="34" charset="0"/>
                <a:cs typeface="Amiri" pitchFamily="2" charset="-78"/>
              </a:rPr>
              <a:t>mā-li-ḥun / mā-li-ḥa-tun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 / مُرَّةٌ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bitter</a:t>
            </a:r>
            <a:endParaRPr lang="en-US" sz="1350" dirty="0"/>
          </a:p>
          <a:p>
            <a:pPr indent="0" marL="0">
              <a:buNone/>
            </a:pPr>
            <a:r>
              <a:rPr lang="en-US" sz="1100" i="1" dirty="0">
                <a:solidFill>
                  <a:srgbClr val="5A6472"/>
                </a:solidFill>
                <a:latin typeface="Calibri" pitchFamily="34" charset="0"/>
                <a:cs typeface="Amiri" pitchFamily="2" charset="-78"/>
              </a:rPr>
              <a:t>mur-run / mur-ra-tun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حَارٌّ / حَارَّةٌ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spicy / hot</a:t>
            </a:r>
            <a:endParaRPr lang="en-US" sz="1350" dirty="0"/>
          </a:p>
          <a:p>
            <a:pPr indent="0" marL="0">
              <a:buNone/>
            </a:pPr>
            <a:r>
              <a:rPr lang="en-US" sz="1100" i="1" dirty="0">
                <a:solidFill>
                  <a:srgbClr val="5A6472"/>
                </a:solidFill>
                <a:latin typeface="Calibri" pitchFamily="34" charset="0"/>
                <a:cs typeface="Amiri" pitchFamily="2" charset="-78"/>
              </a:rPr>
              <a:t>ḥār-run / ḥār-ra-tun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طَازَجٌ / طَازَجَةٌ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fresh</a:t>
            </a:r>
            <a:endParaRPr lang="en-US" sz="1350" dirty="0"/>
          </a:p>
          <a:p>
            <a:pPr indent="0" marL="0">
              <a:buNone/>
            </a:pPr>
            <a:r>
              <a:rPr lang="en-US" sz="1100" i="1" dirty="0">
                <a:solidFill>
                  <a:srgbClr val="5A6472"/>
                </a:solidFill>
                <a:latin typeface="Calibri" pitchFamily="34" charset="0"/>
                <a:cs typeface="Amiri" pitchFamily="2" charset="-78"/>
              </a:rPr>
              <a:t>ṭā-za-jun / ṭā-za-ja-tun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and giving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 / صِحِّيَّةٌ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healthy</a:t>
            </a:r>
            <a:endParaRPr lang="en-US" sz="1350" dirty="0"/>
          </a:p>
          <a:p>
            <a:pPr indent="0" marL="0">
              <a:buNone/>
            </a:pPr>
            <a:r>
              <a:rPr lang="en-US" sz="1100" i="1" dirty="0">
                <a:solidFill>
                  <a:srgbClr val="5A6472"/>
                </a:solidFill>
                <a:latin typeface="Calibri" pitchFamily="34" charset="0"/>
                <a:cs typeface="Amiri" pitchFamily="2" charset="-78"/>
              </a:rPr>
              <a:t>ṣiḥ-ḥiy-yun / ṣiḥ-ḥiy-ya-tun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 / مُفِيدَةٌ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beneficial</a:t>
            </a:r>
            <a:endParaRPr lang="en-US" sz="1350" dirty="0"/>
          </a:p>
          <a:p>
            <a:pPr indent="0" marL="0">
              <a:buNone/>
            </a:pPr>
            <a:r>
              <a:rPr lang="en-US" sz="1100" i="1" dirty="0">
                <a:solidFill>
                  <a:srgbClr val="5A6472"/>
                </a:solidFill>
                <a:latin typeface="Calibri" pitchFamily="34" charset="0"/>
                <a:cs typeface="Amiri" pitchFamily="2" charset="-78"/>
              </a:rPr>
              <a:t>mu-fī-dun / mu-fī-da-tun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is (m)</a:t>
            </a:r>
            <a:endParaRPr lang="en-US" sz="1350" dirty="0"/>
          </a:p>
          <a:p>
            <a:pPr indent="0" marL="0">
              <a:buNone/>
            </a:pPr>
            <a:r>
              <a:rPr lang="en-US" sz="1100" i="1" dirty="0">
                <a:solidFill>
                  <a:srgbClr val="5A6472"/>
                </a:solidFill>
                <a:latin typeface="Calibri" pitchFamily="34" charset="0"/>
                <a:cs typeface="Amiri" pitchFamily="2" charset="-78"/>
              </a:rPr>
              <a:t>li-ʾan-na-hu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is (f)</a:t>
            </a:r>
            <a:endParaRPr lang="en-US" sz="1350" dirty="0"/>
          </a:p>
          <a:p>
            <a:pPr indent="0" marL="0">
              <a:buNone/>
            </a:pPr>
            <a:r>
              <a:rPr lang="en-US" sz="1100" i="1" dirty="0">
                <a:solidFill>
                  <a:srgbClr val="5A6472"/>
                </a:solidFill>
                <a:latin typeface="Calibri" pitchFamily="34" charset="0"/>
                <a:cs typeface="Amiri" pitchFamily="2" charset="-78"/>
              </a:rPr>
              <a:t>li-ʾan-na-hā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wa-lā-kin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do you like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تُحِبُّهُ؟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hummus?</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تُحِبُّ الحُمُّصَ؟</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like it because it is delicious and healthy.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أُحِبُّهُ لِأَنَّهُ لَذِيذٌ وَصِحِّيٌّ.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chocolate?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وَالشُّوكُولَاتَةُ؟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it because it is sweet, but in my opinion it is not healthy.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أُحِبُّهَا لِأَنَّهَا حُلْوَةٌ، وَلٰكِنْ فِي رَأْيِي هِيَ لَيْسَتْ صِحِّيَّةً.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spicy food?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تُحِبُّ الطَّعَامَ الحَارَّ؟</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I don’t like it because it is too spicy!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لَا أُحِبُّهُ لِأَنَّهُ حَارٌّ جِدًّا!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opinions — check </a:t>
            </a:r>
            <a:pPr algn="l" indent="0" marL="0">
              <a:buNone/>
            </a:pPr>
            <a:r>
              <a:rPr lang="ar-SA" altLang="en-US" sz="1500" b="1" dirty="0">
                <a:solidFill>
                  <a:srgbClr val="1B3B6F"/>
                </a:solidFill>
                <a:latin typeface="Amiri" pitchFamily="2" charset="-78"/>
                <a:ea typeface="Amiri" pitchFamily="2" charset="-78"/>
                <a:cs typeface="Amiri" pitchFamily="2" charset="-78"/>
              </a:rPr>
              <a:t>لِأَنَّهُ / لِأَنَّهَا</a:t>
            </a:r>
            <a:pPr algn="l" indent="0" marL="0">
              <a:buNone/>
            </a:pPr>
            <a:r>
              <a:rPr lang="en-US" sz="1150" b="1" dirty="0">
                <a:solidFill>
                  <a:srgbClr val="1B3B6F"/>
                </a:solidFill>
                <a:latin typeface="Calibri" pitchFamily="34" charset="0"/>
                <a:cs typeface="Amiri" pitchFamily="2" charset="-78"/>
              </a:rPr>
              <a:t> every time.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وَمُفِيدَةٌ لِلْجِسْمِ</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like fruit?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تُحِبُّ الفَاكِهَةَ؟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لِذٰلِكَ لَا أَشْرَبُهَا</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هِيَ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coffee?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القَهْوَةِ؟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لٰكِنَّهَا لَذِيذَةٌ</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لَيْسَتْ صِحِّيَّةً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chips healthy?</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البَطَاطِسُ المَقْلِيَّةُ صِحِّيَّةٌ؟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مَالِحٌ / مُرٌّ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 لِأَنَّهُ / لِأَنَّهَا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food don’t you like? Why?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الطَّعَامُ الَّذِي لَا تُحِبُّهُ؟ لِمَاذَا؟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فِيهَا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healthiest meal in your opinion?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أَصَحُّ وَجْبَةٍ فِي رَأْيِكَ؟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Role-play card — the school food critic</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نَاقِدُ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رَأْيُكَ ← أُحِبُّهَا لِأَنَّهَا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reason (f.).</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رَأْيُكَ فِي الشُّورْبَةِ؟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الأَرُزُّ ← هُوَ … لِأَنَّهُ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 + reason (m.).</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وَالأَرُزُّ؟</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هِيَ … / لَا، هِيَ لَيْسَتْ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about freshness.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السَّلَطَةُ طَازَجَةٌ؟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فِي رَأْيِي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one change + reason.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نُغَيِّرُ فِي القَائِمَةِ؟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student food critic · Leader = the canteen manager.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tasty or healthy?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لَذِيذٌ أَمْ 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three foods: one tasty, one healthy, one you don’t like — each with a reason.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foods with </a:t>
            </a:r>
            <a:pPr algn="l" indent="0" marL="0">
              <a:buNone/>
            </a:pPr>
            <a:r>
              <a:rPr lang="ar-SA" altLang="en-US" sz="1500" dirty="0">
                <a:solidFill>
                  <a:srgbClr val="1F2A37"/>
                </a:solidFill>
                <a:latin typeface="Amiri" pitchFamily="2" charset="-78"/>
                <a:ea typeface="Amiri" pitchFamily="2" charset="-78"/>
                <a:cs typeface="Amiri" pitchFamily="2" charset="-78"/>
              </a:rPr>
              <a:t>لِأَنَّهُ / لِأَنَّهَا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فِي رَأْيِي</a:t>
            </a:r>
            <a:pPr algn="l" indent="0" marL="0">
              <a:buNone/>
            </a:pPr>
            <a:r>
              <a:rPr lang="en-US" sz="1150" dirty="0">
                <a:solidFill>
                  <a:srgbClr val="1F2A37"/>
                </a:solidFill>
                <a:latin typeface="Calibri" pitchFamily="34" charset="0"/>
                <a:cs typeface="Amiri" pitchFamily="2" charset="-78"/>
              </a:rPr>
              <a:t> and a taste + health adjective.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وَلٰكِنْ</a:t>
            </a:r>
            <a:pPr algn="l" indent="0" marL="0">
              <a:buNone/>
            </a:pPr>
            <a:r>
              <a:rPr lang="en-US" sz="1150" dirty="0">
                <a:solidFill>
                  <a:srgbClr val="1F2A37"/>
                </a:solidFill>
                <a:latin typeface="Calibri" pitchFamily="34" charset="0"/>
                <a:cs typeface="Amiri" pitchFamily="2" charset="-78"/>
              </a:rPr>
              <a:t> to balance: </a:t>
            </a:r>
            <a:pPr algn="l" indent="0" marL="0">
              <a:buNone/>
            </a:pPr>
            <a:r>
              <a:rPr lang="ar-SA" altLang="en-US" sz="1500" dirty="0">
                <a:solidFill>
                  <a:srgbClr val="1F2A37"/>
                </a:solidFill>
                <a:latin typeface="Amiri" pitchFamily="2" charset="-78"/>
                <a:ea typeface="Amiri" pitchFamily="2" charset="-78"/>
                <a:cs typeface="Amiri" pitchFamily="2" charset="-78"/>
              </a:rPr>
              <a:t>لَذِيذٌ وَلٰكِنْ لَيْسَ صِحِّيًّا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like salad because it is fresh.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السَّلَطَةَ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أُحِبُّ السَّلَطَةُ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طَازَجَةٌ.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طَازَجٌ.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Tea is sweet but not healthy.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الشَّايُ حُلْوٌ</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الشَّايُ حُلْوَةٌ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وَلٰكِنَّهُ</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وَلِأَنَّهُ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صِحِّيًّا.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صِحِّيٌّ.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Vegetables are useful for the body.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الخُضَارُ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الخُضَارَ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مُفِيدَةٌ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مُفِيدُونَ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لِلْجِسْمِ.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الجِسْمَ.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like salad because it is fresh.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سَلَطَةٌ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لِأَنَّهَا طَازَجَةٌ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أُحِبُّ السَّلَطَةَ لِأَنَّهَا طَازَجَةٌ.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Tea is sweet but not healthy.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شَايٌ</a:t>
            </a:r>
            <a:pPr algn="l" indent="0" marL="0">
              <a:buNone/>
            </a:pPr>
            <a:r>
              <a:rPr lang="en-US" sz="1050" i="1" dirty="0">
                <a:solidFill>
                  <a:srgbClr val="5A6472"/>
                </a:solidFill>
                <a:latin typeface="Calibri" pitchFamily="34" charset="0"/>
                <a:cs typeface="Amiri" pitchFamily="2" charset="-78"/>
              </a:rPr>
              <a:t> (m.); after </a:t>
            </a:r>
            <a:pPr algn="l" indent="0" marL="0">
              <a:buNone/>
            </a:pPr>
            <a:r>
              <a:rPr lang="ar-SA" altLang="en-US" sz="1350" dirty="0">
                <a:solidFill>
                  <a:srgbClr val="5A6472"/>
                </a:solidFill>
                <a:latin typeface="Amiri" pitchFamily="2" charset="-78"/>
                <a:ea typeface="Amiri" pitchFamily="2" charset="-78"/>
                <a:cs typeface="Amiri" pitchFamily="2" charset="-78"/>
              </a:rPr>
              <a:t>لَيْسَ</a:t>
            </a:r>
            <a:pPr algn="l" indent="0" marL="0">
              <a:buNone/>
            </a:pPr>
            <a:r>
              <a:rPr lang="en-US" sz="1050" i="1" dirty="0">
                <a:solidFill>
                  <a:srgbClr val="5A6472"/>
                </a:solidFill>
                <a:latin typeface="Calibri" pitchFamily="34" charset="0"/>
                <a:cs typeface="Amiri" pitchFamily="2" charset="-78"/>
              </a:rPr>
              <a:t> → accusative </a:t>
            </a:r>
            <a:pPr algn="l" indent="0" marL="0">
              <a:buNone/>
            </a:pPr>
            <a:r>
              <a:rPr lang="ar-SA" altLang="en-US" sz="1350" dirty="0">
                <a:solidFill>
                  <a:srgbClr val="5A6472"/>
                </a:solidFill>
                <a:latin typeface="Amiri" pitchFamily="2" charset="-78"/>
                <a:ea typeface="Amiri" pitchFamily="2" charset="-78"/>
                <a:cs typeface="Amiri" pitchFamily="2" charset="-78"/>
              </a:rPr>
              <a:t>صِحِّيًّا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الشَّايُ حُلْوٌ وَلٰكِنَّهُ لَيْسَ صِحِّيًّا.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Vegetables are useful for the body.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t>
            </a:r>
            <a:pPr algn="l" indent="0" marL="0">
              <a:buNone/>
            </a:pPr>
            <a:r>
              <a:rPr lang="ar-SA" altLang="en-US" sz="1350" dirty="0">
                <a:solidFill>
                  <a:srgbClr val="5A6472"/>
                </a:solidFill>
                <a:latin typeface="Amiri" pitchFamily="2" charset="-78"/>
                <a:ea typeface="Amiri" pitchFamily="2" charset="-78"/>
                <a:cs typeface="Amiri" pitchFamily="2" charset="-78"/>
              </a:rPr>
              <a:t>مُفِيدَةٌ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الخُضَارُ مُفِيدَةٌ لِلْجِسْمِ.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البُرْتُقَالَ لِأَنَّهَا حُلْوَةٌ.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بُرْتُقَالٌ</a:t>
            </a:r>
            <a:pPr algn="l" indent="0" marL="0">
              <a:buNone/>
            </a:pPr>
            <a:r>
              <a:rPr lang="en-US" sz="1300" i="1" dirty="0">
                <a:solidFill>
                  <a:srgbClr val="5A6472"/>
                </a:solidFill>
                <a:latin typeface="Calibri" pitchFamily="34" charset="0"/>
                <a:cs typeface="Amiri" pitchFamily="2" charset="-78"/>
              </a:rPr>
              <a:t> is masculine.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الحَلْوَيَاتُ لَذِيذُونَ.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Desserts are not people.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الشُّوكُولَاتَةُ لَيْسَتْ صِحِّيَّةٌ.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لَيْسَتْ</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البُرْتُقَالَ لِأَنَّهَا حُلْوَةٌ.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البُرْتُقَالَ لِأَنَّهُ حُلْوٌ.</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 </a:t>
            </a:r>
            <a:pPr algn="l" indent="0" marL="0">
              <a:buNone/>
            </a:pPr>
            <a:r>
              <a:rPr lang="ar-SA" altLang="en-US" sz="1500" b="1" dirty="0">
                <a:solidFill>
                  <a:srgbClr val="1B3B6F"/>
                </a:solidFill>
                <a:latin typeface="Amiri" pitchFamily="2" charset="-78"/>
                <a:ea typeface="Amiri" pitchFamily="2" charset="-78"/>
                <a:cs typeface="Amiri" pitchFamily="2" charset="-78"/>
              </a:rPr>
              <a:t>لِأَنَّهُ حُلْوٌ</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الحَلْوَيَاتُ لَذِيذُونَ.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الحَلْوَيَاتُ لَذِيذَةٌ.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الشُّوكُولَاتَةُ لَيْسَتْ صِحِّيَّةٌ.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الشُّوكُولَاتَةُ لَيْسَتْ صِحِّيَّةً.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لَيْسَ / لَيْسَتْ</a:t>
            </a:r>
            <a:pPr algn="l" indent="0" marL="0">
              <a:buNone/>
            </a:pPr>
            <a:r>
              <a:rPr lang="en-US" sz="1150" b="1" dirty="0">
                <a:solidFill>
                  <a:srgbClr val="1B3B6F"/>
                </a:solidFill>
                <a:latin typeface="Calibri" pitchFamily="34" charset="0"/>
                <a:cs typeface="Amiri" pitchFamily="2" charset="-78"/>
              </a:rPr>
              <a:t> + accusative (-an / -atan).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______ صِحِّيٌّ / صِحِّيَّةٌ وَمُفِيدٌ / مُفِيدَةٌ لِلْجِسْمِ.</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healthy and good for the body.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الطَّعَامُ لَذِيذٌ، وَلٰكِنْ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food is tasty,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أَيْضًا لِأَنَّهُ / لِأَنَّهَا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also like … because it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لِأَنَّهُ / لِأَنَّهَا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 because it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الطَّعَامُ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food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لَذِيذٌ · لَذِيذَةٌ  ·  حُلْوٌ · حُلْوَةٌ  ·  مَالِحٌ · مَالِحَةٌ  ·  حَارٌّ · حَارَّةٌ  ·  طَازَجٌ · طَازَجَةٌ  ·  صِحِّيٌّ · صِحِّيَّةٌ  ·  لِأَنَّهُ · لِأَنَّهَا  ·  وَلٰكِنْ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food review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review (about 40–60 words) of the food at your school canteen or at a family meal. Include: • two dishes you like, with taste reasons • one dish you don’t like, with a reason • one healthy food • your overall opinion with </a:t>
            </a:r>
            <a:pPr algn="l" indent="0" marL="0">
              <a:buNone/>
            </a:pPr>
            <a:r>
              <a:rPr lang="ar-SA" altLang="en-US" sz="1750" b="1" dirty="0">
                <a:solidFill>
                  <a:srgbClr val="1F2A37"/>
                </a:solidFill>
                <a:latin typeface="Amiri" pitchFamily="2" charset="-78"/>
                <a:ea typeface="Amiri" pitchFamily="2" charset="-78"/>
                <a:cs typeface="Amiri" pitchFamily="2" charset="-78"/>
              </a:rPr>
              <a:t>وَلٰكِنْ</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because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 لِأَنَّهُ … جِدًّا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like … because it is very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صِحِّيٌّ / صِحِّيَّةٌ وَمُفِيدٌ / مُفِيدَةٌ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healthy and good for you</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 وَلٰكِنْ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 but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reason for every opinion with </a:t>
            </a:r>
            <a:pPr algn="l" indent="0" marL="0">
              <a:buNone/>
            </a:pPr>
            <a:r>
              <a:rPr lang="ar-SA" altLang="en-US" sz="1450" dirty="0">
                <a:solidFill>
                  <a:srgbClr val="5A6472"/>
                </a:solidFill>
                <a:latin typeface="Amiri" pitchFamily="2" charset="-78"/>
                <a:ea typeface="Amiri" pitchFamily="2" charset="-78"/>
                <a:cs typeface="Amiri" pitchFamily="2" charset="-78"/>
              </a:rPr>
              <a:t>لِأَنَّهُ / لِأَنَّهَا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every adjective agree with the food (including plurals)?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أُحِبُّهَا لِأَنَّهَا سَاخِنَةٌ وَلَذِيذَةٌ.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it because it is hot and delicious.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رَأْيُكَ فِي الشُّورْبَةِ؟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أُحِبُّهُ كَثِيرًا لِأَنَّهُ مَالِحٌ جِدًّا.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it much because it is very salty.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وَالأَرُزُّ؟</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هِيَ طَازَجَةٌ وَصِحِّيَّةٌ.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it is fresh and healthy.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السَّلَطَةُ طَازَجَةٌ؟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نُضِيفُ الفَاكِهَةَ، لِأَنَّهَا صِحِّيَّةٌ وَحُلْوَةٌ.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my opinion we should add fruit, because it is healthy and sweet.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نُغَيِّرُ فِي القَائِمَةِ؟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الطَّعَامَ فِي مَقْصَفِ المَدْرَسَةِ. أُحِبُّ الشُّورْبَةَ لِأَنَّهَا سَاخِنَةٌ وَلَذِيذَةٌ، وَأُحِبُّ الدَّجَاجَ أَيْضًا لِأَنَّهُ طَازَجٌ. لَا أُحِبُّ البِيتْزَا هُنَاكَ، لِأَنَّهَا مَالِحَةٌ جِدًّا. السَّلَطَةُ صِحِّيَّةٌ وَمُفِيدَةٌ لِلْجِسْمِ. فِي رَأْيِي الطَّعَامُ جَيِّدٌ، وَلٰكِنْ يَجِبُ أَنْ تَكُونَ هُنَاكَ فَاكِهَةٌ أَكْثَرُ.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the food in the school canteen. I like the soup because it is hot and delicious, and I like the chicken too because it is fresh. I don’t like the pizza there, because it is very salty. The salad is healthy and good for the body. In my opinion the food is good, but there should be more fruit.”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سَاخِنَةٌ وَلَذِيذَةٌ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 طَازَجٌ</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مَالِحَةٌ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وَلٰكِنْ يَجِبُ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F5-L04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F5-L04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F5-L05 · Ordering Food Politely</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طَلَبُ الطَّعَامِ بِأَدَبٍ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F5-L04 · Practice Room — Giving Reasons: Taste and Health</dc:title>
  <dc:subject>PptxGenJS Presentation</dc:subject>
  <dc:creator>Al Madina Online School · Arabic Department</dc:creator>
  <cp:lastModifiedBy>Al Madina Online School · Arabic Department</cp:lastModifiedBy>
  <cp:revision>1</cp:revision>
  <dcterms:created xsi:type="dcterms:W3CDTF">2026-10-25T17:35:56Z</dcterms:created>
  <dcterms:modified xsi:type="dcterms:W3CDTF">2026-10-25T17:35:56Z</dcterms:modified>
</cp:coreProperties>
</file>