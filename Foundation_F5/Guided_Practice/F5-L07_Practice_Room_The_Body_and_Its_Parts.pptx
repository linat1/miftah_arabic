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F5-L07 (The Body and Its Parts) — new practice tasks built on the lesson’s own word bank and grammar (hādhā / hādhihi by gender (ʿayn, udhun, yad, rijl, qadam are feminine); the dual for pairs (ʿaynāni · yadāni); arā bi-ʿaynayya · asmaʿu bi-udhunayya; possessive endings).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F5-L07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صِفِي. Language: duals and their adjectives (ṣaghīratāni · ṭawīlatāni) · lahu + body parts · bi- + body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(36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F5-L07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cs typeface="Amiri" pitchFamily="2" charset="-78"/>
              </a:rPr>
              <a:t>Practice Room — The Body and Its Parts</a:t>
            </a:r>
            <a:endParaRPr lang="en-US" sz="27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الجِسْمُ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Students run their own speaking and writing practice about the body: say and point to body parts, act a short dialogue, answer question cards, do a role-play card describing a monster for a class story, give a 30-second talk, then build, fix and write a description of a character.</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F5-L07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Head and face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(hādhā)</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رَأْسٌ</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head</a:t>
            </a:r>
            <a:endParaRPr lang="en-US" sz="1350" dirty="0"/>
          </a:p>
          <a:p>
            <a:pPr indent="0" marL="0">
              <a:buNone/>
            </a:pPr>
            <a:r>
              <a:rPr lang="en-US" sz="1100" i="1" dirty="0">
                <a:solidFill>
                  <a:srgbClr val="5A6472"/>
                </a:solidFill>
                <a:latin typeface="Calibri" pitchFamily="34" charset="0"/>
                <a:cs typeface="Amiri" pitchFamily="2" charset="-78"/>
              </a:rPr>
              <a:t>raʾ-sun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رَأْسٌ</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رَأْسِي</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رُؤُوسٌ</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وَجْهٌ</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face</a:t>
            </a:r>
            <a:endParaRPr lang="en-US" sz="1350" dirty="0"/>
          </a:p>
          <a:p>
            <a:pPr indent="0" marL="0">
              <a:buNone/>
            </a:pPr>
            <a:r>
              <a:rPr lang="en-US" sz="1100" i="1" dirty="0">
                <a:solidFill>
                  <a:srgbClr val="5A6472"/>
                </a:solidFill>
                <a:latin typeface="Calibri" pitchFamily="34" charset="0"/>
                <a:cs typeface="Amiri" pitchFamily="2" charset="-78"/>
              </a:rPr>
              <a:t>waj-hun</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Shape 40"/>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(hādhihi)</a:t>
            </a:r>
            <a:endParaRPr lang="en-US" sz="800" dirty="0"/>
          </a:p>
        </p:txBody>
      </p:sp>
      <p:sp>
        <p:nvSpPr>
          <p:cNvPr id="45" name="Shape 4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عَيْنٌ / عَيْنَانِ</a:t>
            </a:r>
            <a:endParaRPr lang="ar-SA" sz="3000" dirty="0"/>
          </a:p>
        </p:txBody>
      </p:sp>
      <p:sp>
        <p:nvSpPr>
          <p:cNvPr id="48" name="Text 4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eye / two eyes</a:t>
            </a:r>
            <a:endParaRPr lang="en-US" sz="1350" dirty="0"/>
          </a:p>
          <a:p>
            <a:pPr indent="0" marL="0">
              <a:buNone/>
            </a:pPr>
            <a:r>
              <a:rPr lang="en-US" sz="1100" i="1" dirty="0">
                <a:solidFill>
                  <a:srgbClr val="5A6472"/>
                </a:solidFill>
                <a:latin typeface="Calibri" pitchFamily="34" charset="0"/>
                <a:cs typeface="Amiri" pitchFamily="2" charset="-78"/>
              </a:rPr>
              <a:t>ʿay-nun / ʿay-nā-ni</a:t>
            </a:r>
            <a:endParaRPr lang="en-US" sz="1350" dirty="0"/>
          </a:p>
        </p:txBody>
      </p:sp>
      <p:sp>
        <p:nvSpPr>
          <p:cNvPr id="49" name="Shape 46"/>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1" name="Text 48"/>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عَيْنٌ</a:t>
            </a:r>
            <a:endParaRPr lang="ar-SA" sz="1500" dirty="0"/>
          </a:p>
        </p:txBody>
      </p:sp>
      <p:sp>
        <p:nvSpPr>
          <p:cNvPr id="52" name="Shape 49"/>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54" name="Text 51"/>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عَيْنَانِ</a:t>
            </a:r>
            <a:endParaRPr lang="ar-SA" sz="1500" dirty="0"/>
          </a:p>
        </p:txBody>
      </p:sp>
      <p:sp>
        <p:nvSpPr>
          <p:cNvPr id="55" name="Shape 52"/>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7" name="Text 54"/>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عُيُونٌ</a:t>
            </a:r>
            <a:endParaRPr lang="ar-SA" sz="15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1" name="Shape 58"/>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(hādhihi)</a:t>
            </a:r>
            <a:endParaRPr lang="en-US" sz="800" dirty="0"/>
          </a:p>
        </p:txBody>
      </p:sp>
      <p:sp>
        <p:nvSpPr>
          <p:cNvPr id="63" name="Shape 6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أُذُنٌ / أُذُنَانِ</a:t>
            </a:r>
            <a:endParaRPr lang="ar-SA" sz="3000" dirty="0"/>
          </a:p>
        </p:txBody>
      </p:sp>
      <p:sp>
        <p:nvSpPr>
          <p:cNvPr id="66" name="Text 6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ear / two ears</a:t>
            </a:r>
            <a:endParaRPr lang="en-US" sz="1350" dirty="0"/>
          </a:p>
          <a:p>
            <a:pPr indent="0" marL="0">
              <a:buNone/>
            </a:pPr>
            <a:r>
              <a:rPr lang="en-US" sz="1100" i="1" dirty="0">
                <a:solidFill>
                  <a:srgbClr val="5A6472"/>
                </a:solidFill>
                <a:latin typeface="Calibri" pitchFamily="34" charset="0"/>
                <a:cs typeface="Amiri" pitchFamily="2" charset="-78"/>
              </a:rPr>
              <a:t>u-dhu-nun / u-dhu-nā-ni</a:t>
            </a:r>
            <a:endParaRPr lang="en-US" sz="1350" dirty="0"/>
          </a:p>
        </p:txBody>
      </p:sp>
      <p:sp>
        <p:nvSpPr>
          <p:cNvPr id="67" name="Shape 64"/>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69" name="Text 66"/>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أُذُنٌ</a:t>
            </a:r>
            <a:endParaRPr lang="ar-SA" sz="1500" dirty="0"/>
          </a:p>
        </p:txBody>
      </p:sp>
      <p:sp>
        <p:nvSpPr>
          <p:cNvPr id="70" name="Shape 67"/>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72" name="Text 69"/>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أُذُنَانِ</a:t>
            </a:r>
            <a:endParaRPr lang="ar-SA" sz="1500" dirty="0"/>
          </a:p>
        </p:txBody>
      </p:sp>
      <p:sp>
        <p:nvSpPr>
          <p:cNvPr id="73" name="Shape 70"/>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5" name="Text 72"/>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آذَانٌ</a:t>
            </a:r>
            <a:endParaRPr lang="ar-SA" sz="1500" dirty="0"/>
          </a:p>
        </p:txBody>
      </p:sp>
      <p:sp>
        <p:nvSpPr>
          <p:cNvPr id="76" name="Shape 7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389120" y="4261104"/>
            <a:ext cx="310896" cy="310896"/>
          </a:xfrm>
          <a:prstGeom prst="ellipse">
            <a:avLst/>
          </a:prstGeom>
          <a:solidFill>
            <a:srgbClr val="F4F1EA"/>
          </a:solidFill>
          <a:ln w="12700">
            <a:solidFill>
              <a:srgbClr val="F4F1EA"/>
            </a:solidFill>
            <a:prstDash val="solid"/>
          </a:ln>
        </p:spPr>
      </p:sp>
      <p:sp>
        <p:nvSpPr>
          <p:cNvPr id="78" name="Text 7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9" name="Shape 7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0" name="Text 7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1" name="Text 7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أَنْفٌ</a:t>
            </a:r>
            <a:endParaRPr lang="ar-SA" sz="3000" dirty="0"/>
          </a:p>
        </p:txBody>
      </p:sp>
      <p:sp>
        <p:nvSpPr>
          <p:cNvPr id="82" name="Text 7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nose</a:t>
            </a:r>
            <a:endParaRPr lang="en-US" sz="1350" dirty="0"/>
          </a:p>
          <a:p>
            <a:pPr indent="0" marL="0">
              <a:buNone/>
            </a:pPr>
            <a:r>
              <a:rPr lang="en-US" sz="1100" i="1" dirty="0">
                <a:solidFill>
                  <a:srgbClr val="5A6472"/>
                </a:solidFill>
                <a:latin typeface="Calibri" pitchFamily="34" charset="0"/>
                <a:cs typeface="Amiri" pitchFamily="2" charset="-78"/>
              </a:rPr>
              <a:t>an-fun</a:t>
            </a:r>
            <a:endParaRPr lang="en-US" sz="1350" dirty="0"/>
          </a:p>
        </p:txBody>
      </p:sp>
      <p:sp>
        <p:nvSpPr>
          <p:cNvPr id="83" name="Shape 8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566928"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6" name="Shape 8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8" name="Text 8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فَمٌ</a:t>
            </a:r>
            <a:endParaRPr lang="ar-SA" sz="3000" dirty="0"/>
          </a:p>
        </p:txBody>
      </p:sp>
      <p:sp>
        <p:nvSpPr>
          <p:cNvPr id="89" name="Text 8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mouth</a:t>
            </a:r>
            <a:endParaRPr lang="en-US" sz="1350" dirty="0"/>
          </a:p>
          <a:p>
            <a:pPr indent="0" marL="0">
              <a:buNone/>
            </a:pPr>
            <a:r>
              <a:rPr lang="en-US" sz="1100" i="1" dirty="0">
                <a:solidFill>
                  <a:srgbClr val="5A6472"/>
                </a:solidFill>
                <a:latin typeface="Calibri" pitchFamily="34" charset="0"/>
                <a:cs typeface="Amiri" pitchFamily="2" charset="-78"/>
              </a:rPr>
              <a:t>fa-mun</a:t>
            </a:r>
            <a:endParaRPr lang="en-US"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Body, arms and legs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ذِرَاعٌ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arm</a:t>
            </a:r>
            <a:endParaRPr lang="en-US" sz="1350" dirty="0"/>
          </a:p>
          <a:p>
            <a:pPr indent="0" marL="0">
              <a:buNone/>
            </a:pPr>
            <a:r>
              <a:rPr lang="en-US" sz="1100" i="1" dirty="0">
                <a:solidFill>
                  <a:srgbClr val="5A6472"/>
                </a:solidFill>
                <a:latin typeface="Calibri" pitchFamily="34" charset="0"/>
                <a:cs typeface="Amiri" pitchFamily="2" charset="-78"/>
              </a:rPr>
              <a:t>dhi-rā-ʿun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(hādhihi)</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يَدٌ / يَدَانِ</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hand / two hands</a:t>
            </a:r>
            <a:endParaRPr lang="en-US" sz="1350" dirty="0"/>
          </a:p>
          <a:p>
            <a:pPr indent="0" marL="0">
              <a:buNone/>
            </a:pPr>
            <a:r>
              <a:rPr lang="en-US" sz="1100" i="1" dirty="0">
                <a:solidFill>
                  <a:srgbClr val="5A6472"/>
                </a:solidFill>
                <a:latin typeface="Calibri" pitchFamily="34" charset="0"/>
                <a:cs typeface="Amiri" pitchFamily="2" charset="-78"/>
              </a:rPr>
              <a:t>ya-dun / ya-dā-ni</a:t>
            </a:r>
            <a:endParaRPr lang="en-US" sz="1350" dirty="0"/>
          </a:p>
        </p:txBody>
      </p:sp>
      <p:sp>
        <p:nvSpPr>
          <p:cNvPr id="31" name="Shape 28"/>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33" name="Text 30"/>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يَدٌ</a:t>
            </a:r>
            <a:endParaRPr lang="ar-SA" sz="1500" dirty="0"/>
          </a:p>
        </p:txBody>
      </p:sp>
      <p:sp>
        <p:nvSpPr>
          <p:cNvPr id="34" name="Shape 31"/>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36" name="Text 33"/>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يَدَانِ</a:t>
            </a:r>
            <a:endParaRPr lang="ar-SA" sz="1500" dirty="0"/>
          </a:p>
        </p:txBody>
      </p:sp>
      <p:sp>
        <p:nvSpPr>
          <p:cNvPr id="37" name="Shape 34"/>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9" name="Text 36"/>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أَيْدٍ</a:t>
            </a:r>
            <a:endParaRPr lang="ar-SA" sz="15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ظَهْرٌ</a:t>
            </a:r>
            <a:endParaRPr lang="ar-SA" sz="3000" dirty="0"/>
          </a:p>
        </p:txBody>
      </p:sp>
      <p:sp>
        <p:nvSpPr>
          <p:cNvPr id="46" name="Text 4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back</a:t>
            </a:r>
            <a:endParaRPr lang="en-US" sz="1350" dirty="0"/>
          </a:p>
          <a:p>
            <a:pPr indent="0" marL="0">
              <a:buNone/>
            </a:pPr>
            <a:r>
              <a:rPr lang="en-US" sz="1100" i="1" dirty="0">
                <a:solidFill>
                  <a:srgbClr val="5A6472"/>
                </a:solidFill>
                <a:latin typeface="Calibri" pitchFamily="34" charset="0"/>
                <a:cs typeface="Amiri" pitchFamily="2" charset="-78"/>
              </a:rPr>
              <a:t>ẓah-run</a:t>
            </a:r>
            <a:endParaRPr lang="en-US"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0" name="Shape 47"/>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(hādhihi)</a:t>
            </a:r>
            <a:endParaRPr lang="en-US" sz="800" dirty="0"/>
          </a:p>
        </p:txBody>
      </p:sp>
      <p:sp>
        <p:nvSpPr>
          <p:cNvPr id="52" name="Shape 4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رِجْلٌ</a:t>
            </a:r>
            <a:endParaRPr lang="ar-SA" sz="3000" dirty="0"/>
          </a:p>
        </p:txBody>
      </p:sp>
      <p:sp>
        <p:nvSpPr>
          <p:cNvPr id="55" name="Text 5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leg</a:t>
            </a:r>
            <a:endParaRPr lang="en-US" sz="1350" dirty="0"/>
          </a:p>
          <a:p>
            <a:pPr indent="0" marL="0">
              <a:buNone/>
            </a:pPr>
            <a:r>
              <a:rPr lang="en-US" sz="1100" i="1" dirty="0">
                <a:solidFill>
                  <a:srgbClr val="5A6472"/>
                </a:solidFill>
                <a:latin typeface="Calibri" pitchFamily="34" charset="0"/>
                <a:cs typeface="Amiri" pitchFamily="2" charset="-78"/>
              </a:rPr>
              <a:t>rij-lun</a:t>
            </a:r>
            <a:endParaRPr lang="en-US" sz="1350" dirty="0"/>
          </a:p>
        </p:txBody>
      </p:sp>
      <p:sp>
        <p:nvSpPr>
          <p:cNvPr id="56" name="Shape 5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8" name="Text 55"/>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رِجْلٌ</a:t>
            </a:r>
            <a:endParaRPr lang="ar-SA" sz="1500" dirty="0"/>
          </a:p>
        </p:txBody>
      </p:sp>
      <p:sp>
        <p:nvSpPr>
          <p:cNvPr id="59" name="Shape 5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61" name="Text 58"/>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رِجْلَانِ</a:t>
            </a:r>
            <a:endParaRPr lang="ar-SA" sz="1500" dirty="0"/>
          </a:p>
        </p:txBody>
      </p:sp>
      <p:sp>
        <p:nvSpPr>
          <p:cNvPr id="62" name="Shape 5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4" name="Text 61"/>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أَرْجُلٌ</a:t>
            </a:r>
            <a:endParaRPr lang="ar-SA" sz="150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8" name="Shape 65"/>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(hādhihi)</a:t>
            </a:r>
            <a:endParaRPr lang="en-US" sz="800" dirty="0"/>
          </a:p>
        </p:txBody>
      </p:sp>
      <p:sp>
        <p:nvSpPr>
          <p:cNvPr id="70" name="Shape 6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1" name="Text 6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2" name="Text 6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قَدَمٌ / قَدَمَانِ</a:t>
            </a:r>
            <a:endParaRPr lang="ar-SA" sz="3000" dirty="0"/>
          </a:p>
        </p:txBody>
      </p:sp>
      <p:sp>
        <p:nvSpPr>
          <p:cNvPr id="73" name="Text 7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foot / two feet</a:t>
            </a:r>
            <a:endParaRPr lang="en-US" sz="1350" dirty="0"/>
          </a:p>
          <a:p>
            <a:pPr indent="0" marL="0">
              <a:buNone/>
            </a:pPr>
            <a:r>
              <a:rPr lang="en-US" sz="1100" i="1" dirty="0">
                <a:solidFill>
                  <a:srgbClr val="5A6472"/>
                </a:solidFill>
                <a:latin typeface="Calibri" pitchFamily="34" charset="0"/>
                <a:cs typeface="Amiri" pitchFamily="2" charset="-78"/>
              </a:rPr>
              <a:t>qa-da-mun / qa-da-mā-ni</a:t>
            </a:r>
            <a:endParaRPr lang="en-US" sz="1350" dirty="0"/>
          </a:p>
        </p:txBody>
      </p:sp>
      <p:sp>
        <p:nvSpPr>
          <p:cNvPr id="74" name="Shape 71"/>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76" name="Text 73"/>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قَدَمٌ</a:t>
            </a:r>
            <a:endParaRPr lang="ar-SA" sz="1500" dirty="0"/>
          </a:p>
        </p:txBody>
      </p:sp>
      <p:sp>
        <p:nvSpPr>
          <p:cNvPr id="77" name="Shape 74"/>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79" name="Text 76"/>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قَدَمَانِ</a:t>
            </a:r>
            <a:endParaRPr lang="ar-SA" sz="1500" dirty="0"/>
          </a:p>
        </p:txBody>
      </p:sp>
      <p:sp>
        <p:nvSpPr>
          <p:cNvPr id="80" name="Shape 77"/>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2" name="Text 79"/>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أَقْدَامٌ</a:t>
            </a:r>
            <a:endParaRPr lang="ar-SA" sz="1500" dirty="0"/>
          </a:p>
        </p:txBody>
      </p:sp>
      <p:sp>
        <p:nvSpPr>
          <p:cNvPr id="83" name="Shape 8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566928"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6" name="Text 8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سِنٌّ / أَسْنَانٌ</a:t>
            </a:r>
            <a:endParaRPr lang="ar-SA" sz="3000" dirty="0"/>
          </a:p>
        </p:txBody>
      </p:sp>
      <p:sp>
        <p:nvSpPr>
          <p:cNvPr id="87" name="Text 8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tooth / teeth</a:t>
            </a:r>
            <a:endParaRPr lang="en-US" sz="1350" dirty="0"/>
          </a:p>
          <a:p>
            <a:pPr indent="0" marL="0">
              <a:buNone/>
            </a:pPr>
            <a:r>
              <a:rPr lang="en-US" sz="1100" i="1" dirty="0">
                <a:solidFill>
                  <a:srgbClr val="5A6472"/>
                </a:solidFill>
                <a:latin typeface="Calibri" pitchFamily="34" charset="0"/>
                <a:cs typeface="Amiri" pitchFamily="2" charset="-78"/>
              </a:rPr>
              <a:t>sin-nun / as-nā-nun</a:t>
            </a:r>
            <a:endParaRPr lang="en-US" sz="135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 we do with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نَفْعَلُ بِهِ؟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this?</a:t>
            </a:r>
            <a:endParaRPr lang="en-US" sz="1100" dirty="0"/>
          </a:p>
        </p:txBody>
      </p:sp>
      <p:sp>
        <p:nvSpPr>
          <p:cNvPr id="21" name="Text 18"/>
          <p:cNvSpPr txBox="1"/>
          <p:nvPr/>
        </p:nvSpPr>
        <p:spPr>
          <a:xfrm>
            <a:off x="1481328" y="2267712"/>
            <a:ext cx="6126480" cy="55930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هٰذِهِ؟</a:t>
            </a:r>
            <a:pPr algn="l" indent="0" marL="0">
              <a:buNone/>
            </a:pPr>
            <a:r>
              <a:rPr lang="en-US" sz="1100" dirty="0">
                <a:solidFill>
                  <a:srgbClr val="5A6472"/>
                </a:solidFill>
                <a:latin typeface="Calibri" pitchFamily="34" charset="0"/>
                <a:cs typeface="Amiri" pitchFamily="2" charset="-78"/>
              </a:rPr>
              <a:t> (point to your eye)</a:t>
            </a:r>
            <a:endParaRPr lang="en-US" sz="11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an eye. I have two eyes.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هٰذِهِ عَيْنٌ. لِي عَيْنَانِ.</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with your eyes?</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تَفْعَلُ بِعَيْنَيْكَ؟</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see with my eyes, and I hear with my ears.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أَرَى بِعَيْنَيَّ، وَأَسْمَعُ بِأُذُنَيَّ.</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is this?</a:t>
            </a:r>
            <a:endParaRPr lang="en-US" sz="1100" dirty="0"/>
          </a:p>
        </p:txBody>
      </p:sp>
      <p:sp>
        <p:nvSpPr>
          <p:cNvPr id="37" name="Text 34"/>
          <p:cNvSpPr txBox="1"/>
          <p:nvPr/>
        </p:nvSpPr>
        <p:spPr>
          <a:xfrm>
            <a:off x="1481328" y="4724400"/>
            <a:ext cx="6126480" cy="55930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وَمَا هٰذَا؟</a:t>
            </a:r>
            <a:pPr algn="l" indent="0" marL="0">
              <a:buNone/>
            </a:pPr>
            <a:r>
              <a:rPr lang="en-US" sz="1100" dirty="0">
                <a:solidFill>
                  <a:srgbClr val="5A6472"/>
                </a:solidFill>
                <a:latin typeface="Calibri" pitchFamily="34" charset="0"/>
                <a:cs typeface="Amiri" pitchFamily="2" charset="-78"/>
              </a:rPr>
              <a:t> (point to your head)</a:t>
            </a:r>
            <a:endParaRPr lang="en-US" sz="11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a head. And I write with my hand, and I walk with my feet.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هٰذَا رَأْسٌ. وَأَكْتُبُ بِيَدِي، وَأَمْشِي بِقَدَمَيَّ.</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pointing to each part on camera. Round 2: swap letters. Round 3: the Leader points silently — the Speaker names it with </a:t>
            </a:r>
            <a:pPr algn="l" indent="0" marL="0">
              <a:buNone/>
            </a:pPr>
            <a:r>
              <a:rPr lang="ar-SA" altLang="en-US" sz="1500" b="1" dirty="0">
                <a:solidFill>
                  <a:srgbClr val="1B3B6F"/>
                </a:solidFill>
                <a:latin typeface="Amiri" pitchFamily="2" charset="-78"/>
                <a:ea typeface="Amiri" pitchFamily="2" charset="-78"/>
                <a:cs typeface="Amiri" pitchFamily="2" charset="-78"/>
              </a:rPr>
              <a:t>هٰذَا / هٰذِهِ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لِي … ← لِي يَدَانِ</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هٰذَا … / هٰذِهِ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this? (point to a part)</a:t>
            </a:r>
            <a:endParaRPr lang="en-US" sz="1100" dirty="0"/>
          </a:p>
        </p:txBody>
      </p:sp>
      <p:sp>
        <p:nvSpPr>
          <p:cNvPr id="25" name="Text 22"/>
          <p:cNvSpPr txBox="1"/>
          <p:nvPr/>
        </p:nvSpPr>
        <p:spPr>
          <a:xfrm>
            <a:off x="1069848" y="2267712"/>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هٰذَا؟ / مَا هٰذِهِ؟</a:t>
            </a:r>
            <a:pPr algn="l" indent="0" marL="0">
              <a:buNone/>
            </a:pPr>
            <a:r>
              <a:rPr lang="en-US" sz="1100" dirty="0">
                <a:solidFill>
                  <a:srgbClr val="5A6472"/>
                </a:solidFill>
                <a:latin typeface="Calibri" pitchFamily="34" charset="0"/>
                <a:cs typeface="Amiri" pitchFamily="2" charset="-78"/>
              </a:rPr>
              <a:t> (point)</a:t>
            </a:r>
            <a:endParaRPr lang="en-US" sz="11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أَرَى بِعَيْنَيَّ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see with?</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بِمَاذَا تَرَى؟</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اليُمْنَى / اليُسْرَى</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أَكْتُبُ بِيَدِي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write with?</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بِمَاذَا تَكْتُبُ؟</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لِي عَشَرَةُ أَصَابِعَ</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fingers do you have?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إِصْبَعًا لَكَ؟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وَأَنْفُهُ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عَيْنَاهُ … وَشَعْرُهُ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friend’s face.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وَجْهَ صَدِيقِكَ.</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designing a friendly monster for a class story</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وَحْشٌ لَطِيفٌ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لَهُ رَأْسَانِ / رَأْسٌ وَاحِدٌ</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how many heads.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رَأْسًا لِلْوَحْشِ؟</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لَهُ … أَعْيُنٍ … ← ثَلَاثُ أَعْيُنٍ</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 colour.</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وَكَمْ عَيْنًا؟</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 يَدَاهُ … وَرِجْلَاهُ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hands and legs.</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يَدَيْهِ وَرِجْلَيْهِ.</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يَسْمَعُ بِهِمَا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it does with them.</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يَفْعَلُ بِأُذُنَيْهِ الكَبِيرَتَيْنِ؟</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designer · Leader = the story writer.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describe a character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أَصِفُ شَخْصِيَّةً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 30 seconds, describe a real person or a cartoon character: face, eyes, hair, height — and one thing they do with a body part.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parts with hādhā / hādhihi or lahu / lahā.</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duals with adjectives: </a:t>
            </a:r>
            <a:pPr algn="l" indent="0" marL="0">
              <a:buNone/>
            </a:pPr>
            <a:r>
              <a:rPr lang="ar-SA" altLang="en-US" sz="1500" dirty="0">
                <a:solidFill>
                  <a:srgbClr val="1F2A37"/>
                </a:solidFill>
                <a:latin typeface="Amiri" pitchFamily="2" charset="-78"/>
                <a:ea typeface="Amiri" pitchFamily="2" charset="-78"/>
                <a:cs typeface="Amiri" pitchFamily="2" charset="-78"/>
              </a:rPr>
              <a:t>عَيْنَاهُ زَرْقَاوَانِ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verbs: </a:t>
            </a:r>
            <a:pPr algn="l" indent="0" marL="0">
              <a:buNone/>
            </a:pPr>
            <a:r>
              <a:rPr lang="ar-SA" altLang="en-US" sz="1500" dirty="0">
                <a:solidFill>
                  <a:srgbClr val="1F2A37"/>
                </a:solidFill>
                <a:latin typeface="Amiri" pitchFamily="2" charset="-78"/>
                <a:ea typeface="Amiri" pitchFamily="2" charset="-78"/>
                <a:cs typeface="Amiri" pitchFamily="2" charset="-78"/>
              </a:rPr>
              <a:t>يَرَى بِعَيْنَيْهِ</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يَمْشِي بِرِجْلَيْهِ</a:t>
            </a:r>
            <a:pPr algn="l" indent="0" marL="0">
              <a:buNone/>
            </a:pPr>
            <a:r>
              <a:rPr lang="en-US" sz="1150" dirty="0">
                <a:solidFill>
                  <a:srgbClr val="1F2A37"/>
                </a:solidFill>
                <a:latin typeface="Calibri" pitchFamily="34" charset="0"/>
                <a:cs typeface="Amiri" pitchFamily="2" charset="-78"/>
              </a:rPr>
              <a:t> and a comparison.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This is my hand.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يَدِي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يَدُكَ</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اليُمْنَى.</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اليَمِينُ.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hear with my ears.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أَسْمَعُ</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يَسْمَعُ</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بِأُذُنَيَّ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بِأُذُنَايَ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algn="l" indent="0" marL="0">
              <a:buNone/>
            </a:pPr>
            <a:r>
              <a:rPr lang="en-US" sz="1800" dirty="0">
                <a:solidFill>
                  <a:srgbClr val="1F2A37"/>
                </a:solidFill>
                <a:latin typeface="Calibri" pitchFamily="34" charset="0"/>
                <a:cs typeface="Amiri" pitchFamily="2" charset="-78"/>
              </a:rPr>
              <a:t>.</a:t>
            </a:r>
            <a:endParaRPr lang="en-US"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Her eyes are big.</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عَيْنَاهَا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عَيْنَاهُ</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كَبِيرَتَانِ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كَبِيرَانِ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algn="l" indent="0" marL="0">
              <a:buNone/>
            </a:pPr>
            <a:r>
              <a:rPr lang="en-US" sz="1800" dirty="0">
                <a:solidFill>
                  <a:srgbClr val="1F2A37"/>
                </a:solidFill>
                <a:latin typeface="Calibri" pitchFamily="34" charset="0"/>
                <a:cs typeface="Amiri" pitchFamily="2" charset="-78"/>
              </a:rPr>
              <a:t>.</a:t>
            </a:r>
            <a:endParaRPr lang="en-US"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This is my hand.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يَدٌ</a:t>
            </a:r>
            <a:pPr algn="l" indent="0" marL="0">
              <a:buNone/>
            </a:pPr>
            <a:r>
              <a:rPr lang="en-US" sz="1050" i="1" dirty="0">
                <a:solidFill>
                  <a:srgbClr val="5A6472"/>
                </a:solidFill>
                <a:latin typeface="Calibri" pitchFamily="34" charset="0"/>
                <a:cs typeface="Amiri" pitchFamily="2" charset="-78"/>
              </a:rPr>
              <a:t> is feminine (no </a:t>
            </a:r>
            <a:pPr algn="l" indent="0" marL="0">
              <a:buNone/>
            </a:pPr>
            <a:r>
              <a:rPr lang="ar-SA" altLang="en-US" sz="1350" dirty="0">
                <a:solidFill>
                  <a:srgbClr val="5A6472"/>
                </a:solidFill>
                <a:latin typeface="Amiri" pitchFamily="2" charset="-78"/>
                <a:ea typeface="Amiri" pitchFamily="2" charset="-78"/>
                <a:cs typeface="Amiri" pitchFamily="2" charset="-78"/>
              </a:rPr>
              <a:t>ة</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هٰذِهِ</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هٰذِهِ يَدِي اليُمْنَى.</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hear with my ears.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with my two ears = </a:t>
            </a:r>
            <a:pPr algn="l" indent="0" marL="0">
              <a:buNone/>
            </a:pPr>
            <a:r>
              <a:rPr lang="ar-SA" altLang="en-US" sz="1350" dirty="0">
                <a:solidFill>
                  <a:srgbClr val="5A6472"/>
                </a:solidFill>
                <a:latin typeface="Amiri" pitchFamily="2" charset="-78"/>
                <a:ea typeface="Amiri" pitchFamily="2" charset="-78"/>
                <a:cs typeface="Amiri" pitchFamily="2" charset="-78"/>
              </a:rPr>
              <a:t>بِأُذُنَيَّ</a:t>
            </a:r>
            <a:pPr algn="l" indent="0" marL="0">
              <a:buNone/>
            </a:pPr>
            <a:r>
              <a:rPr lang="en-US" sz="1050" i="1" dirty="0">
                <a:solidFill>
                  <a:srgbClr val="5A6472"/>
                </a:solidFill>
                <a:latin typeface="Calibri" pitchFamily="34" charset="0"/>
                <a:cs typeface="Amiri" pitchFamily="2" charset="-78"/>
              </a:rPr>
              <a:t> (dual after bi-).</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أَسْمَعُ بِأُذُنَيَّ .</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Her eyes are big.</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Her → -hā; </a:t>
            </a:r>
            <a:pPr algn="l" indent="0" marL="0">
              <a:buNone/>
            </a:pPr>
            <a:r>
              <a:rPr lang="ar-SA" altLang="en-US" sz="1350" dirty="0">
                <a:solidFill>
                  <a:srgbClr val="5A6472"/>
                </a:solidFill>
                <a:latin typeface="Amiri" pitchFamily="2" charset="-78"/>
                <a:ea typeface="Amiri" pitchFamily="2" charset="-78"/>
                <a:cs typeface="Amiri" pitchFamily="2" charset="-78"/>
              </a:rPr>
              <a:t>عَيْنٌ</a:t>
            </a:r>
            <a:pPr algn="l" indent="0" marL="0">
              <a:buNone/>
            </a:pPr>
            <a:r>
              <a:rPr lang="en-US" sz="1050" i="1" dirty="0">
                <a:solidFill>
                  <a:srgbClr val="5A6472"/>
                </a:solidFill>
                <a:latin typeface="Calibri" pitchFamily="34" charset="0"/>
                <a:cs typeface="Amiri" pitchFamily="2" charset="-78"/>
              </a:rPr>
              <a:t> is feminine → dual adjective </a:t>
            </a:r>
            <a:pPr algn="l" indent="0" marL="0">
              <a:buNone/>
            </a:pPr>
            <a:r>
              <a:rPr lang="ar-SA" altLang="en-US" sz="1350" dirty="0">
                <a:solidFill>
                  <a:srgbClr val="5A6472"/>
                </a:solidFill>
                <a:latin typeface="Amiri" pitchFamily="2" charset="-78"/>
                <a:ea typeface="Amiri" pitchFamily="2" charset="-78"/>
                <a:cs typeface="Amiri" pitchFamily="2" charset="-78"/>
              </a:rPr>
              <a:t>كَبِيرَتَانِ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عَيْنَاهَا كَبِيرَتَانِ .</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عَيْنٌ.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عَيْنٌ</a:t>
            </a:r>
            <a:pPr algn="l" indent="0" marL="0">
              <a:buNone/>
            </a:pPr>
            <a:r>
              <a:rPr lang="en-US" sz="1300" i="1" dirty="0">
                <a:solidFill>
                  <a:srgbClr val="5A6472"/>
                </a:solidFill>
                <a:latin typeface="Calibri" pitchFamily="34" charset="0"/>
                <a:cs typeface="Amiri" pitchFamily="2" charset="-78"/>
              </a:rPr>
              <a:t> is feminine without </a:t>
            </a:r>
            <a:pPr algn="l" indent="0" marL="0">
              <a:buNone/>
            </a:pPr>
            <a:r>
              <a:rPr lang="ar-SA" altLang="en-US" sz="1700" dirty="0">
                <a:solidFill>
                  <a:srgbClr val="5A6472"/>
                </a:solidFill>
                <a:latin typeface="Amiri" pitchFamily="2" charset="-78"/>
                <a:ea typeface="Amiri" pitchFamily="2" charset="-78"/>
                <a:cs typeface="Amiri" pitchFamily="2" charset="-78"/>
              </a:rPr>
              <a:t>ة</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لِي اثْنَانِ يَدٌ.</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of something → one word.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أَرَى بِعَيْنِي الاثْنَيْنِ.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With my two eyes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عَيْنٌ.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عَيْنٌ.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Body pairs (</a:t>
            </a:r>
            <a:pPr algn="l" indent="0" marL="0">
              <a:buNone/>
            </a:pPr>
            <a:r>
              <a:rPr lang="ar-SA" altLang="en-US" sz="1500" b="1" dirty="0">
                <a:solidFill>
                  <a:srgbClr val="1B3B6F"/>
                </a:solidFill>
                <a:latin typeface="Amiri" pitchFamily="2" charset="-78"/>
                <a:ea typeface="Amiri" pitchFamily="2" charset="-78"/>
                <a:cs typeface="Amiri" pitchFamily="2" charset="-78"/>
              </a:rPr>
              <a:t>عَيْنٌ</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أُذُنٌ</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يَدٌ</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رِجْلٌ</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قَدَمٌ</a:t>
            </a:r>
            <a:pPr algn="l" indent="0" marL="0">
              <a:buNone/>
            </a:pPr>
            <a:r>
              <a:rPr lang="en-US" sz="1150" b="1" dirty="0">
                <a:solidFill>
                  <a:srgbClr val="1B3B6F"/>
                </a:solidFill>
                <a:latin typeface="Calibri" pitchFamily="34" charset="0"/>
                <a:cs typeface="Amiri" pitchFamily="2" charset="-78"/>
              </a:rPr>
              <a:t>) are feminine.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لِي اثْنَانِ يَدٌ.</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لِي يَدَانِ.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dual: </a:t>
            </a:r>
            <a:pPr algn="l" indent="0" marL="0">
              <a:buNone/>
            </a:pPr>
            <a:r>
              <a:rPr lang="ar-SA" altLang="en-US" sz="1500" b="1" dirty="0">
                <a:solidFill>
                  <a:srgbClr val="1B3B6F"/>
                </a:solidFill>
                <a:latin typeface="Amiri" pitchFamily="2" charset="-78"/>
                <a:ea typeface="Amiri" pitchFamily="2" charset="-78"/>
                <a:cs typeface="Amiri" pitchFamily="2" charset="-78"/>
              </a:rPr>
              <a:t>يَدَانِ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أَرَى بِعَيْنِي الاثْنَيْنِ.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أَرَى بِعَيْنَيَّ.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Dual + my = </a:t>
            </a:r>
            <a:pPr algn="l" indent="0" marL="0">
              <a:buNone/>
            </a:pPr>
            <a:r>
              <a:rPr lang="ar-SA" altLang="en-US" sz="1500" b="1" dirty="0">
                <a:solidFill>
                  <a:srgbClr val="1B3B6F"/>
                </a:solidFill>
                <a:latin typeface="Amiri" pitchFamily="2" charset="-78"/>
                <a:ea typeface="Amiri" pitchFamily="2" charset="-78"/>
                <a:cs typeface="Amiri" pitchFamily="2" charset="-78"/>
              </a:rPr>
              <a:t>عَيْنَيَّ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يَرَى / تَرَى بِعَيْنَيْهِ ______ ، وَيَسْمَعُ / وَتَسْمَعُ بِأُذُنَيْهِ ______ .</a:t>
            </a:r>
            <a:endParaRPr lang="ar-SA" sz="12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With its eyes it sees …, and with its ears it hears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رِجْلَاهُ ______ ، لِذٰلِكَ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Its legs are …, so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اسْمُهُ / اسْمُهَا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 her name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لَهُ / لَهَا رَأْسٌ ______ ، وَعَيْنَانِ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has a … head and … eyes.</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لَهُ / لَهَا ______ وَ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has … and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يَدَاهُ / يَدَاهَا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Its hands are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رَأْسٌ · وَجْهٌ  ·  عَيْنَانِ · أُذُنَانِ  ·  أَنْفٌ · فَمٌ  ·  يَدَانِ · ذِرَاعَانِ  ·  رِجْلَانِ · قَدَمَانِ  ·  كَبِيرٌ · صَغِيرَتَانِ  ·  لَهُ · لَهَا  ·  يَرَى بِعَيْنَيْهِ · يَمْشِي بِرِجْلَيْهِ</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Describe a character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أَصِفُ شَخْصِيَّةً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a description (about 40–60 words) of a character for a class story — a person, a robot or a friendly monster. Include: • the head and face (eyes, nose, mouth, hair) • arms, hands, legs and feet, with numbers or duals • colours and sizes that agree • what it does with two body parts.</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لَهُ / لَهَا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 it has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عَيْنَاهُ / عَيْنَاهَا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his / her eyes are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يَدَاهُ … وَرِجْلَاهُ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its hands are … and its legs are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يَرَى بِعَيْنَيْهِ · يَمْشِي بِرِجْلَيْهِ</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sees with … · walks with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هٰذِهِ</a:t>
            </a:r>
            <a:pPr algn="l" indent="0" marL="0">
              <a:buNone/>
            </a:pPr>
            <a:r>
              <a:rPr lang="en-US" sz="1100" dirty="0">
                <a:solidFill>
                  <a:srgbClr val="5A6472"/>
                </a:solidFill>
                <a:latin typeface="Calibri" pitchFamily="34" charset="0"/>
                <a:cs typeface="Amiri" pitchFamily="2" charset="-78"/>
              </a:rPr>
              <a:t> for the feminine body parts (</a:t>
            </a:r>
            <a:pPr algn="l" indent="0" marL="0">
              <a:buNone/>
            </a:pPr>
            <a:r>
              <a:rPr lang="ar-SA" altLang="en-US" sz="1450" dirty="0">
                <a:solidFill>
                  <a:srgbClr val="5A6472"/>
                </a:solidFill>
                <a:latin typeface="Amiri" pitchFamily="2" charset="-78"/>
                <a:ea typeface="Amiri" pitchFamily="2" charset="-78"/>
                <a:cs typeface="Amiri" pitchFamily="2" charset="-78"/>
              </a:rPr>
              <a:t>عَيْنٌ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يَدٌ</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رِجْلٌ</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duals with matching adjectives (</a:t>
            </a:r>
            <a:pPr algn="l" indent="0" marL="0">
              <a:buNone/>
            </a:pPr>
            <a:r>
              <a:rPr lang="ar-SA" altLang="en-US" sz="1450" dirty="0">
                <a:solidFill>
                  <a:srgbClr val="5A6472"/>
                </a:solidFill>
                <a:latin typeface="Amiri" pitchFamily="2" charset="-78"/>
                <a:ea typeface="Amiri" pitchFamily="2" charset="-78"/>
                <a:cs typeface="Amiri" pitchFamily="2" charset="-78"/>
              </a:rPr>
              <a:t>عَيْنَانِ كَبِيرَتَانِ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 رَأْسَانِ كَبِيرَانِ!</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has two big heads!</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رَأْسًا لِلْوَحْشِ؟</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 ثَلَاثُ أَعْيُنٍ خَضْرَاءَ.</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has three green eyes.</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وَكَمْ عَيْنًا؟</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يَدَاهُ صَغِيرَتَانِ، وَرِجْلَاهُ طَوِيلَتَانِ جِدًّا.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Its hands are small, and its legs are very long.</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يَدَيْهِ وَرِجْلَيْهِ.</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يَسْمَعُ بِهِمَا كُلَّ شَيْءٍ فِي المَدِينَةِ!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hears everything in the city with them!</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يَفْعَلُ بِأُذُنَيْهِ الكَبِيرَتَيْنِ؟</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هٰذَا رُوبُوتٌ اسْمُهُ نُورٌ. لَهُ رَأْسٌ مُرَبَّعٌ فِضِّيٌّ، وَعَيْنَانِ زَرْقَاوَانِ كَبِيرَتَانِ. أَنْفُهُ صَغِيرٌ، وَفَمُهُ أَحْمَرُ. لَهُ أَرْبَعُ أَذْرُعٍ طَوِيلَةٍ، وَيَدَاهُ قَوِيَّتَانِ جِدًّا. رِجْلَاهُ قَصِيرَتَانِ، لِذٰلِكَ يَمْشِي بِبُطْءٍ. يَرَى بِعَيْنَيْهِ فِي اللَّيْلِ، وَيَحْمِلُ بِيَدَيْهِ الكُتُبَ الثَّقِيلَةَ لِلْمُعَلِّمِ.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“This is a robot called Nour. It has a square silver head and two big blue eyes. Its nose is small and its mouth is red. It has four long arms, and its hands are very strong. Its legs are short, so it walks slowly. It sees with its eyes at night, and carries the teacher’s heavy books with its hands.”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عَيْنَانِ زَرْقَاوَانِ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يَدَاهُ قَوِيَّتَانِ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رِجْلَاهُ قَصِيرَتَانِ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يَرَى بِعَيْنَيْهِ</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50" b="1" dirty="0">
                <a:solidFill>
                  <a:srgbClr val="FFFFFF"/>
                </a:solidFill>
                <a:latin typeface="Cambria" pitchFamily="34" charset="0"/>
                <a:cs typeface="Amiri" pitchFamily="2" charset="-78"/>
              </a:rPr>
              <a:t>F5-L08 · Health Problems and How You Feel</a:t>
            </a:r>
            <a:endParaRPr lang="en-US" sz="22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المَشَاكِلُ الصِّحِّيَّةُ وَالشُّعُورُ</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F5-L07 · Practice Room — The Body and Its Parts</dc:title>
  <dc:subject>PptxGenJS Presentation</dc:subject>
  <dc:creator>Al Madina Online School · Arabic Department</dc:creator>
  <cp:lastModifiedBy>Al Madina Online School · Arabic Department</cp:lastModifiedBy>
  <cp:revision>1</cp:revision>
  <dcterms:created xsi:type="dcterms:W3CDTF">2026-10-25T17:38:50Z</dcterms:created>
  <dcterms:modified xsi:type="dcterms:W3CDTF">2026-10-25T17:38:50Z</dcterms:modified>
</cp:coreProperties>
</file>