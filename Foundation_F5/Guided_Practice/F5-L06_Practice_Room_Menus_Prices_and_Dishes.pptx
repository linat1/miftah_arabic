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F5-L06 (Menus, Prices and Dishes) — new practice tasks built on the lesson’s own word bank and grammar (menu sections; prices with numbers + currency (junayhāt · dīnār · dirham); rakhīṣ / ghālin; al-majmūʿu; yatakawwanu / tatakawwanu min … (a dish consists of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F5-L06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to a waitress: مِنْ فَضْلِكِ. Language: plural ordering (nurīdu) · numbers + plurals (arbaʿatu aṭbāqin) · kam siʿru + genitive · prices 11+ → singular accusative (khamsūna junayhan).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(34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F5-L06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Menus, Prices and Dishes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القَائِمَةُ وَالأَسْعَارُ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with menus: say the menu words, read a menu dialogue, answer price questions, do a role-play card ordering for the family and totalling the bill, give a 30-second dish description, then build, fix and write a menu description of a favourite dish.</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F5-L06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Menu sections and prices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قَائِمَةٌ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menu / list</a:t>
            </a:r>
            <a:endParaRPr lang="en-US" sz="1350" dirty="0"/>
          </a:p>
          <a:p>
            <a:pPr indent="0" marL="0">
              <a:buNone/>
            </a:pPr>
            <a:r>
              <a:rPr lang="en-US" sz="1100" i="1" dirty="0">
                <a:solidFill>
                  <a:srgbClr val="5A6472"/>
                </a:solidFill>
                <a:latin typeface="Calibri" pitchFamily="34" charset="0"/>
                <a:cs typeface="Amiri" pitchFamily="2" charset="-78"/>
              </a:rPr>
              <a:t>qā-ʾi-ma-tun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قَائِمَةٌ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قَوَائِمُ</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مُقَبِّلَاتٌ</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starters</a:t>
            </a:r>
            <a:endParaRPr lang="en-US" sz="1350" dirty="0"/>
          </a:p>
          <a:p>
            <a:pPr indent="0" marL="0">
              <a:buNone/>
            </a:pPr>
            <a:r>
              <a:rPr lang="en-US" sz="1100" i="1" dirty="0">
                <a:solidFill>
                  <a:srgbClr val="5A6472"/>
                </a:solidFill>
                <a:latin typeface="Calibri" pitchFamily="34" charset="0"/>
                <a:cs typeface="Amiri" pitchFamily="2" charset="-78"/>
              </a:rPr>
              <a:t>mu-qab-bi-lā-tun</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طَبَقٌ رَئِيسِيٌّ</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main dish</a:t>
            </a:r>
            <a:endParaRPr lang="en-US" sz="1350" dirty="0"/>
          </a:p>
          <a:p>
            <a:pPr indent="0" marL="0">
              <a:buNone/>
            </a:pPr>
            <a:r>
              <a:rPr lang="en-US" sz="1100" i="1" dirty="0">
                <a:solidFill>
                  <a:srgbClr val="5A6472"/>
                </a:solidFill>
                <a:latin typeface="Calibri" pitchFamily="34" charset="0"/>
                <a:cs typeface="Amiri" pitchFamily="2" charset="-78"/>
              </a:rPr>
              <a:t>ṭa-ba-qun ra-ʾī-siy-yun</a:t>
            </a:r>
            <a:endParaRPr lang="en-US" sz="1350" dirty="0"/>
          </a:p>
        </p:txBody>
      </p:sp>
      <p:sp>
        <p:nvSpPr>
          <p:cNvPr id="46" name="Shape 4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8" name="Text 4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طَبَقٌ رَئِيسِيٌّ</a:t>
            </a:r>
            <a:endParaRPr lang="ar-SA" sz="1500" dirty="0"/>
          </a:p>
        </p:txBody>
      </p:sp>
      <p:sp>
        <p:nvSpPr>
          <p:cNvPr id="49" name="Shape 4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1" name="Text 4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أَطْبَاقٌ رَئِيسِيَّةٌ</a:t>
            </a:r>
            <a:endParaRPr lang="ar-SA" sz="150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5" name="Shape 5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حَلْوَيَاتٌ</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desserts</a:t>
            </a:r>
            <a:endParaRPr lang="en-US" sz="1350" dirty="0"/>
          </a:p>
          <a:p>
            <a:pPr indent="0" marL="0">
              <a:buNone/>
            </a:pPr>
            <a:r>
              <a:rPr lang="en-US" sz="1100" i="1" dirty="0">
                <a:solidFill>
                  <a:srgbClr val="5A6472"/>
                </a:solidFill>
                <a:latin typeface="Calibri" pitchFamily="34" charset="0"/>
                <a:cs typeface="Amiri" pitchFamily="2" charset="-78"/>
              </a:rPr>
              <a:t>ḥal-wa-yā-tun</a:t>
            </a:r>
            <a:endParaRPr lang="en-US"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مَشْرُوبَاتٌ</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drinks</a:t>
            </a:r>
            <a:endParaRPr lang="en-US" sz="1350" dirty="0"/>
          </a:p>
          <a:p>
            <a:pPr indent="0" marL="0">
              <a:buNone/>
            </a:pPr>
            <a:r>
              <a:rPr lang="en-US" sz="1100" i="1" dirty="0">
                <a:solidFill>
                  <a:srgbClr val="5A6472"/>
                </a:solidFill>
                <a:latin typeface="Calibri" pitchFamily="34" charset="0"/>
                <a:cs typeface="Amiri" pitchFamily="2" charset="-78"/>
              </a:rPr>
              <a:t>mash-rū-bā-tun</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9" name="Shape 6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سِعْرٌ / أَسْعَارٌ</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price / prices</a:t>
            </a:r>
            <a:endParaRPr lang="en-US" sz="1350" dirty="0"/>
          </a:p>
          <a:p>
            <a:pPr indent="0" marL="0">
              <a:buNone/>
            </a:pPr>
            <a:r>
              <a:rPr lang="en-US" sz="1100" i="1" dirty="0">
                <a:solidFill>
                  <a:srgbClr val="5A6472"/>
                </a:solidFill>
                <a:latin typeface="Calibri" pitchFamily="34" charset="0"/>
                <a:cs typeface="Amiri" pitchFamily="2" charset="-78"/>
              </a:rPr>
              <a:t>siʿ-run / as-ʿā-run</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Dishes from the Arab world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cost / price</a:t>
            </a:r>
            <a:endParaRPr lang="en-US" sz="1350" dirty="0"/>
          </a:p>
          <a:p>
            <a:pPr indent="0" marL="0">
              <a:buNone/>
            </a:pPr>
            <a:r>
              <a:rPr lang="en-US" sz="1100" i="1" dirty="0">
                <a:solidFill>
                  <a:srgbClr val="5A6472"/>
                </a:solidFill>
                <a:latin typeface="Calibri" pitchFamily="34" charset="0"/>
                <a:cs typeface="Amiri" pitchFamily="2" charset="-78"/>
              </a:rPr>
              <a:t>tha-ma-nun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رَخِيصٌ / غَالٍ</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 / expensive</a:t>
            </a:r>
            <a:endParaRPr lang="en-US" sz="1350" dirty="0"/>
          </a:p>
          <a:p>
            <a:pPr indent="0" marL="0">
              <a:buNone/>
            </a:pPr>
            <a:r>
              <a:rPr lang="en-US" sz="1100" i="1" dirty="0">
                <a:solidFill>
                  <a:srgbClr val="5A6472"/>
                </a:solidFill>
                <a:latin typeface="Calibri" pitchFamily="34" charset="0"/>
                <a:cs typeface="Amiri" pitchFamily="2" charset="-78"/>
              </a:rPr>
              <a:t>ra-khī-ṣun / ghā-lin</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cheap m. / f.</a:t>
            </a:r>
            <a:endParaRPr lang="en-US" sz="700" dirty="0"/>
          </a:p>
        </p:txBody>
      </p:sp>
      <p:sp>
        <p:nvSpPr>
          <p:cNvPr id="33" name="Text 30"/>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رَخِيصٌ / رَخِيصَةٌ</a:t>
            </a:r>
            <a:endParaRPr lang="ar-SA" sz="135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dear m. / f.</a:t>
            </a:r>
            <a:endParaRPr lang="en-US" sz="700" dirty="0"/>
          </a:p>
        </p:txBody>
      </p:sp>
      <p:sp>
        <p:nvSpPr>
          <p:cNvPr id="36" name="Text 33"/>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غَالٍ / غَالِيَةٌ</a:t>
            </a:r>
            <a:endParaRPr lang="ar-SA" sz="135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cheaper · dearer</a:t>
            </a:r>
            <a:endParaRPr lang="en-US" sz="700" dirty="0"/>
          </a:p>
        </p:txBody>
      </p:sp>
      <p:sp>
        <p:nvSpPr>
          <p:cNvPr id="39" name="Text 36"/>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أَرْخَصُ · أَغْلَى</a:t>
            </a:r>
            <a:endParaRPr lang="ar-SA"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المَجْمُوعُ</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total</a:t>
            </a:r>
            <a:endParaRPr lang="en-US" sz="1350" dirty="0"/>
          </a:p>
          <a:p>
            <a:pPr indent="0" marL="0">
              <a:buNone/>
            </a:pPr>
            <a:r>
              <a:rPr lang="en-US" sz="1100" i="1" dirty="0">
                <a:solidFill>
                  <a:srgbClr val="5A6472"/>
                </a:solidFill>
                <a:latin typeface="Calibri" pitchFamily="34" charset="0"/>
                <a:cs typeface="Amiri" pitchFamily="2" charset="-78"/>
              </a:rPr>
              <a:t>al-maj-mū-ʿu</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حُمُّصٌ</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hummus</a:t>
            </a:r>
            <a:endParaRPr lang="en-US" sz="1350" dirty="0"/>
          </a:p>
          <a:p>
            <a:pPr indent="0" marL="0">
              <a:buNone/>
            </a:pPr>
            <a:r>
              <a:rPr lang="en-US" sz="1100" i="1" dirty="0">
                <a:solidFill>
                  <a:srgbClr val="5A6472"/>
                </a:solidFill>
                <a:latin typeface="Calibri" pitchFamily="34" charset="0"/>
                <a:cs typeface="Amiri" pitchFamily="2" charset="-78"/>
              </a:rPr>
              <a:t>ḥum-mu-ṣun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فَلَافِلُ</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falafel</a:t>
            </a:r>
            <a:endParaRPr lang="en-US" sz="1350" dirty="0"/>
          </a:p>
          <a:p>
            <a:pPr indent="0" marL="0">
              <a:buNone/>
            </a:pPr>
            <a:r>
              <a:rPr lang="en-US" sz="1100" i="1" dirty="0">
                <a:solidFill>
                  <a:srgbClr val="5A6472"/>
                </a:solidFill>
                <a:latin typeface="Calibri" pitchFamily="34" charset="0"/>
                <a:cs typeface="Amiri" pitchFamily="2" charset="-78"/>
              </a:rPr>
              <a:t>fa-lā-fi-lu</a:t>
            </a:r>
            <a:endParaRPr lang="en-US"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4" name="Shape 6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كَبْسَةٌ</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kabsa</a:t>
            </a:r>
            <a:endParaRPr lang="en-US" sz="1350" dirty="0"/>
          </a:p>
          <a:p>
            <a:pPr indent="0" marL="0">
              <a:buNone/>
            </a:pPr>
            <a:r>
              <a:rPr lang="en-US" sz="1100" i="1" dirty="0">
                <a:solidFill>
                  <a:srgbClr val="5A6472"/>
                </a:solidFill>
                <a:latin typeface="Calibri" pitchFamily="34" charset="0"/>
                <a:cs typeface="Amiri" pitchFamily="2" charset="-78"/>
              </a:rPr>
              <a:t>kab-sa-tun</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the menu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نَقْرَأُ القَائِمَةَ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on the starters menu?</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فِي قَائِمَةِ المُقَبِّلَاتِ؟</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hummus, falafel and tabbouleh.</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فِيهَا حُمُّصٌ وَفَلَافِلُ وَتَبُّولَةٌ.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the hummus?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سِعْرُ الحُمُّصِ؟</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costs three pounds, and it is cheap.</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سِعْرُهُ ثَلَاثَةُ جُنَيْهَاتٍ، وَهُوَ رَخِيصٌ.</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is kabsa?</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الكَبْسَةُ؟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a Saudi dish made of rice, chicken and spices. It costs ten pounds.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2" charset="-78"/>
                <a:ea typeface="Amiri" pitchFamily="2" charset="-78"/>
                <a:cs typeface="Amiri" pitchFamily="2" charset="-78"/>
              </a:rPr>
              <a:t>هِيَ طَبَقٌ سُعُودِيٌّ يَتَكَوَّنُ مِنَ الأَرُزِّ وَالدَّجَاجِ وَالبَهَارَاتِ. سِعْرُهَا عَشَرَةُ جُنَيْهَاتٍ.</a:t>
            </a:r>
            <a:endParaRPr lang="ar-SA" sz="18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a dish from YOUR family’s country with </a:t>
            </a:r>
            <a:pPr algn="l" indent="0" marL="0">
              <a:buNone/>
            </a:pPr>
            <a:r>
              <a:rPr lang="ar-SA" altLang="en-US" sz="1500" b="1" dirty="0">
                <a:solidFill>
                  <a:srgbClr val="1B3B6F"/>
                </a:solidFill>
                <a:latin typeface="Amiri" pitchFamily="2" charset="-78"/>
                <a:ea typeface="Amiri" pitchFamily="2" charset="-78"/>
                <a:cs typeface="Amiri" pitchFamily="2" charset="-78"/>
              </a:rPr>
              <a:t>يَتَكَوَّنُ مِنْ</a:t>
            </a:r>
            <a:pPr algn="l" indent="0" marL="0">
              <a:buNone/>
            </a:pPr>
            <a:r>
              <a:rPr lang="en-US" sz="1150" b="1" dirty="0">
                <a:solidFill>
                  <a:srgbClr val="1B3B6F"/>
                </a:solidFill>
                <a:latin typeface="Calibri" pitchFamily="34" charset="0"/>
                <a:cs typeface="Amiri" pitchFamily="2" charset="-78"/>
              </a:rPr>
              <a: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وَهِيَ رَخِيصَةٌ</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سِعْرُهَا جُنَيْهَانِ</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is the falafel? (£2)</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سِعْرُ الفَلَافِلِ؟ (2 £)</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أُرِيدُ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main dish do you want?</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الطَّبَقُ الرَّئِيسِيُّ الَّذِي تُرِيدُهُ؟</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وَزَيْتِ الزَّيْتُونِ</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يَتَكَوَّنُ مِنَ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hummus made of?</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مِمَّ يَتَكَوَّنُ الحُمُّصُ؟</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الأَسْعَارَ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 لَا، هُوَ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this restaurant expensive?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هٰذَا المَطْعَمُ غَالٍ؟</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المَجْمُوعُ عَشَرَةُ جُنَيْهَاتٍ</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total? (£3 + £7)</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المَجْمُوعُ؟ (3 £ + 7 £)</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Role-play card — ordering for the family and paying</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أَطْلُبُ لِعَائِلَتِي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نُرِيدُ … وَ…</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Order two starters.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تُرِيدُونَ مِنَ المُقَبِّلَاتِ؟</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الرَّئِيسِيُّ ← أَرْبَعَةُ أَطْبَاقِ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Order a main dish for four.</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وَالطَّبَقُ الرَّئِيسِيُّ؟</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كَمْ سِعْرُ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price first.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تُرِيدُونَ حَلْوَيَاتٍ؟</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المَجْمُوعُ ← هٰذَا … ، أَدْفَعُ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React and pay.</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المَجْمُوعُ خَمْسُونَ جُنَيْهًا.</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oldest child ordering · Leader = the waiter.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a dish I love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طَبَقٌ أُحِبُّهُ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one dish for 30 seconds: its name and country, what it is made of, its price in a restaurant, and why you love it.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Name + country + two ingredients.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يَتَكَوَّنُ / تَتَكَوَّنُ مِنْ</a:t>
            </a:r>
            <a:pPr algn="l" indent="0" marL="0">
              <a:buNone/>
            </a:pPr>
            <a:r>
              <a:rPr lang="en-US" sz="1150" dirty="0">
                <a:solidFill>
                  <a:srgbClr val="1F2A37"/>
                </a:solidFill>
                <a:latin typeface="Calibri" pitchFamily="34" charset="0"/>
                <a:cs typeface="Amiri" pitchFamily="2" charset="-78"/>
              </a:rPr>
              <a:t> … and a price.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taste adjectives that agree and when your family eats it.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soup costs four pounds.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سِعْرُ الشُّورْبَةِ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سِعْرُ الشُّورْبَةُ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أَرْبَعَةُ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أَرْبَعُ</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جُنَيْهَاتٍ.</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جُنَيْهًا.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Kabsa is made of rice and meat.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الكَبْسَةُ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الكَبْسَةَ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تَتَكَوَّنُ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يَتَكَوَّنُ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الأَرُزِّ وَاللَّحْمِ.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الأَرُزَّ وَاللَّحْمَ.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total is twenty pounds.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المَجْمُوعُ</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المَجْمُوعَ</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عِشْرُونَ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عِشْرِينَ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جُنَيْهًا.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جُنَيْهَاتٍ.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soup costs four pounds.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جُنَيْهٌ</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أَرْبَعَةُ</a:t>
            </a:r>
            <a:pPr algn="l" indent="0" marL="0">
              <a:buNone/>
            </a:pPr>
            <a:r>
              <a:rPr lang="en-US" sz="1050" i="1" dirty="0">
                <a:solidFill>
                  <a:srgbClr val="5A6472"/>
                </a:solidFill>
                <a:latin typeface="Calibri" pitchFamily="34" charset="0"/>
                <a:cs typeface="Amiri" pitchFamily="2" charset="-78"/>
              </a:rPr>
              <a:t>; 3–10 + plural genitive </a:t>
            </a:r>
            <a:pPr algn="l" indent="0" marL="0">
              <a:buNone/>
            </a:pPr>
            <a:r>
              <a:rPr lang="ar-SA" altLang="en-US" sz="1350" dirty="0">
                <a:solidFill>
                  <a:srgbClr val="5A6472"/>
                </a:solidFill>
                <a:latin typeface="Amiri" pitchFamily="2" charset="-78"/>
                <a:ea typeface="Amiri" pitchFamily="2" charset="-78"/>
                <a:cs typeface="Amiri" pitchFamily="2" charset="-78"/>
              </a:rPr>
              <a:t>جُنَيْهَاتٍ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سِعْرُ الشُّورْبَةِ أَرْبَعَةُ جُنَيْهَاتٍ.</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Kabsa is made of rice and meat.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Kabsa (f.) → </a:t>
            </a:r>
            <a:pPr algn="l" indent="0" marL="0">
              <a:buNone/>
            </a:pPr>
            <a:r>
              <a:rPr lang="ar-SA" altLang="en-US" sz="1350" dirty="0">
                <a:solidFill>
                  <a:srgbClr val="5A6472"/>
                </a:solidFill>
                <a:latin typeface="Amiri" pitchFamily="2" charset="-78"/>
                <a:ea typeface="Amiri" pitchFamily="2" charset="-78"/>
                <a:cs typeface="Amiri" pitchFamily="2" charset="-78"/>
              </a:rPr>
              <a:t>تَتَكَوَّنُ 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الكَبْسَةُ تَتَكَوَّنُ مِنَ الأَرُزِّ وَاللَّحْمِ.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total is twenty pounds.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11–99 + singular accusative: </a:t>
            </a:r>
            <a:pPr algn="l" indent="0" marL="0">
              <a:buNone/>
            </a:pPr>
            <a:r>
              <a:rPr lang="ar-SA" altLang="en-US" sz="1350" dirty="0">
                <a:solidFill>
                  <a:srgbClr val="5A6472"/>
                </a:solidFill>
                <a:latin typeface="Amiri" pitchFamily="2" charset="-78"/>
                <a:ea typeface="Amiri" pitchFamily="2" charset="-78"/>
                <a:cs typeface="Amiri" pitchFamily="2" charset="-78"/>
              </a:rPr>
              <a:t>عِشْرُونَ جُنَيْهًا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المَجْمُوعُ عِشْرُونَ جُنَيْهًا.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سِعْرُهُ عَشَرَةُ جُنَيْهًا.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3–10 + plural.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الفَلَافِلُ غَالٍ جِدًّا.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فَلَافِلُ</a:t>
            </a:r>
            <a:pPr algn="l" indent="0" marL="0">
              <a:buNone/>
            </a:pPr>
            <a:r>
              <a:rPr lang="en-US" sz="1300" i="1" dirty="0">
                <a:solidFill>
                  <a:srgbClr val="5A6472"/>
                </a:solidFill>
                <a:latin typeface="Calibri" pitchFamily="34" charset="0"/>
                <a:cs typeface="Amiri" pitchFamily="2" charset="-78"/>
              </a:rPr>
              <a:t> is a plural (non-human).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الحُمُّصُ تَتَكَوَّنُ مِنَ الحِمَّصِ.</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حُمُّصٌ</a:t>
            </a:r>
            <a:pPr algn="l" indent="0" marL="0">
              <a:buNone/>
            </a:pPr>
            <a:r>
              <a:rPr lang="en-US" sz="1300" i="1" dirty="0">
                <a:solidFill>
                  <a:srgbClr val="5A6472"/>
                </a:solidFill>
                <a:latin typeface="Calibri" pitchFamily="34" charset="0"/>
                <a:cs typeface="Amiri" pitchFamily="2" charset="-78"/>
              </a:rPr>
              <a:t> is masculine.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سِعْرُهُ عَشَرَةُ جُنَيْهًا.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سِعْرُهُ عَشَرَةُ جُنَيْهَاتٍ.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3–10 → plural genitive: </a:t>
            </a:r>
            <a:pPr algn="l" indent="0" marL="0">
              <a:buNone/>
            </a:pPr>
            <a:r>
              <a:rPr lang="ar-SA" altLang="en-US" sz="1500" b="1" dirty="0">
                <a:solidFill>
                  <a:srgbClr val="1B3B6F"/>
                </a:solidFill>
                <a:latin typeface="Amiri" pitchFamily="2" charset="-78"/>
                <a:ea typeface="Amiri" pitchFamily="2" charset="-78"/>
                <a:cs typeface="Amiri" pitchFamily="2" charset="-78"/>
              </a:rPr>
              <a:t>جُنَيْهَاتٍ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الفَلَافِلُ غَالٍ جِدًّا.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الفَلَافِلُ غَالِيَةٌ جِدًّا.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الحُمُّصُ تَتَكَوَّنُ مِنَ الحِمَّصِ.</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الحُمُّصُ يَتَكَوَّنُ مِنَ الحِمَّصِ وَالطَّحِينَةِ.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 </a:t>
            </a:r>
            <a:pPr algn="l" indent="0" marL="0">
              <a:buNone/>
            </a:pPr>
            <a:r>
              <a:rPr lang="ar-SA" altLang="en-US" sz="1500" b="1" dirty="0">
                <a:solidFill>
                  <a:srgbClr val="1B3B6F"/>
                </a:solidFill>
                <a:latin typeface="Amiri" pitchFamily="2" charset="-78"/>
                <a:ea typeface="Amiri" pitchFamily="2" charset="-78"/>
                <a:cs typeface="Amiri" pitchFamily="2" charset="-78"/>
              </a:rPr>
              <a:t>يَتَكَوَّنُ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مَعَهُ / مَعَهَا: ______ (______ جُنَيْهَاتٍ).</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With it: … (… pounds).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المَجْمُوعُ ______ ، وَهٰذَا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total is …, and that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طَبَقٌ ______ مِنْ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a … dish from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يَتَكَوَّنُ / تَتَكَوَّنُ مِنْ ______ وَ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made of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______ جِدًّا.</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very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سِعْرُهُ / سِعْرُهَا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costs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مُقَبِّلَاتٌ  ·  طَبَقٌ رَئِيسِيٌّ  ·  حَلْوَيَاتٌ · مَشْرُوبَاتٌ  ·  يَتَكَوَّنُ · تَتَكَوَّنُ مِنْ  ·  سِعْرٌ · المَجْمُوعُ  ·  جُنَيْهَاتٌ · جُنَيْهًا  ·  رَخِيصٌ · غَالٍ  ·  لَذِيذٌ · حَارٌّ</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A menu card for my favourite dish</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طَبَقِي المُفَضَّلِ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 menu card (about 40–60 words) for a class “food from around the world” day. Include: • the name of the dish and its country • what it is made of (</a:t>
            </a:r>
            <a:pPr algn="l" indent="0" marL="0">
              <a:buNone/>
            </a:pPr>
            <a:r>
              <a:rPr lang="ar-SA" altLang="en-US" sz="1700" b="1" dirty="0">
                <a:solidFill>
                  <a:srgbClr val="1F2A37"/>
                </a:solidFill>
                <a:latin typeface="Amiri" pitchFamily="2" charset="-78"/>
                <a:ea typeface="Amiri" pitchFamily="2" charset="-78"/>
                <a:cs typeface="Amiri" pitchFamily="2" charset="-78"/>
              </a:rPr>
              <a:t>يَتَكَوَّنُ / تَتَكَوَّنُ مِنْ</a:t>
            </a:r>
            <a:pPr algn="l" indent="0" marL="0">
              <a:buNone/>
            </a:pPr>
            <a:r>
              <a:rPr lang="en-US" sz="1300" b="1" dirty="0">
                <a:solidFill>
                  <a:srgbClr val="1F2A37"/>
                </a:solidFill>
                <a:latin typeface="Calibri" pitchFamily="34" charset="0"/>
                <a:cs typeface="Amiri" pitchFamily="2" charset="-78"/>
              </a:rPr>
              <a:t>) • its taste • its price • a drink and a dessert to go with it, with prices.</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طَبَقٌ … مِنْ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a … dish from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يَتَكَوَّنُ / تَتَكَوَّنُ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made of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سِعْرُهُ / سِعْرُهَا … جُنَيْهَاتٍ</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costs … pounds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المَجْمُوعُ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total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dish, its ingredients and a price?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numbers + </a:t>
            </a:r>
            <a:pPr algn="l" indent="0" marL="0">
              <a:buNone/>
            </a:pPr>
            <a:r>
              <a:rPr lang="ar-SA" altLang="en-US" sz="1450" dirty="0">
                <a:solidFill>
                  <a:srgbClr val="5A6472"/>
                </a:solidFill>
                <a:latin typeface="Amiri" pitchFamily="2" charset="-78"/>
                <a:ea typeface="Amiri" pitchFamily="2" charset="-78"/>
                <a:cs typeface="Amiri" pitchFamily="2" charset="-78"/>
              </a:rPr>
              <a:t>جُنَيْهَاتٍ / جُنَيْهًا</a:t>
            </a:r>
            <a:pPr algn="l" indent="0" marL="0">
              <a:buNone/>
            </a:pPr>
            <a:r>
              <a:rPr lang="en-US" sz="1100" dirty="0">
                <a:solidFill>
                  <a:srgbClr val="5A6472"/>
                </a:solidFill>
                <a:latin typeface="Calibri" pitchFamily="34" charset="0"/>
                <a:cs typeface="Amiri" pitchFamily="2" charset="-78"/>
              </a:rPr>
              <a:t> correctly and </a:t>
            </a:r>
            <a:pPr algn="l" indent="0" marL="0">
              <a:buNone/>
            </a:pPr>
            <a:r>
              <a:rPr lang="ar-SA" altLang="en-US" sz="1450" dirty="0">
                <a:solidFill>
                  <a:srgbClr val="5A6472"/>
                </a:solidFill>
                <a:latin typeface="Amiri" pitchFamily="2" charset="-78"/>
                <a:ea typeface="Amiri" pitchFamily="2" charset="-78"/>
                <a:cs typeface="Amiri" pitchFamily="2" charset="-78"/>
              </a:rPr>
              <a:t>يَتَكَوَّنُ / تَتَكَوَّنُ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نُرِيدُ حُمُّصًا وَتَبُّولَةً، مِنْ فَضْلِكَ.</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would like hummus and tabbouleh, please.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تُرِيدُونَ مِنَ المُقَبِّلَاتِ؟</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أَرْبَعَةُ أَطْبَاقِ كَبْسَةٍ، مِنْ فَضْلِكَ.</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Four plates of kabsa, please.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وَالطَّبَقُ الرَّئِيسِيُّ؟</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كَمْ سِعْرُ البَقْلَاوَةِ؟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much is the baklava?</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تُرِيدُونَ حَلْوَيَاتٍ؟</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مَعْقُولٌ. أَدْفَعُ بِالبِطَاقَةِ، شُكْرًا.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That’s reasonable. I’ll pay by card, thank you.</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المَجْمُوعُ خَمْسُونَ جُنَيْهًا.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المَقْلُوبَةُ طَبَقٌ فِلَسْطِينِيٌّ مَشْهُورٌ. تَتَكَوَّنُ مِنَ الأَرُزِّ وَالدَّجَاجِ وَالبَاذِنْجَانِ وَالبَهَارَاتِ. هِيَ لَذِيذَةٌ جِدًّا وَلَيْسَتْ حَارَّةً. سِعْرُهَا ثَمَانِيَةُ جُنَيْهَاتٍ. مَعَهَا: لَبَنٌ بِالخِيَارِ (جُنَيْهَانِ)، وَبَعْدَهَا كُنَافَةٌ (أَرْبَعَةُ جُنَيْهَاتٍ). المَجْمُوعُ أَرْبَعَةَ عَشَرَ جُنَيْهًا، وَهٰذَا رَخِيصٌ لِوَجْبَةٍ كَبِيرَةٍ!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“Maqluba is a famous Palestinian dish. It is made of rice, chicken, aubergine and spices. It is very delicious and not spicy. It costs eight pounds. With it: yoghurt with cucumber (two pounds), and after it kunafa (four pounds). The total is fourteen pounds — cheap for a big meal!”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طَبَقٌ فِلَسْطِينِيٌّ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تَتَكَوَّنُ مِنَ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سِعْرُهَا ثَمَانِيَةُ جُنَيْهَاتٍ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المَجْمُوعُ</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F5-L06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F5-L07 · The Body and Its Parts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الجِسْمُ وَأَعْضَاؤُهُ</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F5-L06 · Practice Room — Menus, Prices and Dishes</dc:title>
  <dc:subject>PptxGenJS Presentation</dc:subject>
  <dc:creator>Al Madina Online School · Arabic Department</dc:creator>
  <cp:lastModifiedBy>Al Madina Online School · Arabic Department</cp:lastModifiedBy>
  <cp:revision>1</cp:revision>
  <dcterms:created xsi:type="dcterms:W3CDTF">2026-10-25T17:38:30Z</dcterms:created>
  <dcterms:modified xsi:type="dcterms:W3CDTF">2026-10-25T17:38:30Z</dcterms:modified>
</cp:coreProperties>
</file>