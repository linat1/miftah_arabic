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F5-L08 (Health Problems and How You Feel) — new practice tasks built on the lesson’s own word bank and grammar (ʿindī + illness (ṣudāʿun · zukāmun · ḥummā); ʿindī alamun fī …; ashʿuru bi-…; mundhu + time (mundhu amsi · mundhu yawmayni); anā marīḍun / marīḍatun).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F5-L08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أُسَاعِدُكِ · سَتَأْتِينَ — and the Speaker says أَنَا مَرِيضَةٌ. Language: anā marīḍun / marīḍatun · ʿindī + illness · mundhu +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(38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F5-L08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Health Problems and How You Feel</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كَيْفَ تَشْعُرُ؟</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run their own speaking and writing practice about feeling ill: say the symptom words, act a short dialogue, answer question cards, do a role-play card phoning the school to say you are ill, give a 30-second talk, then build, fix and write an absence message.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F5-L08 · Foundation F5 · Food, Health and Body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Illnesses and symptoms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صُدَاعٌ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headache</a:t>
            </a:r>
            <a:endParaRPr lang="en-US" sz="1350" dirty="0"/>
          </a:p>
          <a:p>
            <a:pPr indent="0" marL="0">
              <a:buNone/>
            </a:pPr>
            <a:r>
              <a:rPr lang="en-US" sz="1100" i="1" dirty="0">
                <a:solidFill>
                  <a:srgbClr val="5A6472"/>
                </a:solidFill>
                <a:latin typeface="Calibri" pitchFamily="34" charset="0"/>
                <a:cs typeface="Amiri" pitchFamily="2" charset="-78"/>
              </a:rPr>
              <a:t>ṣu-dā-ʿun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زُكَامٌ</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cold</a:t>
            </a:r>
            <a:endParaRPr lang="en-US" sz="1350" dirty="0"/>
          </a:p>
          <a:p>
            <a:pPr indent="0" marL="0">
              <a:buNone/>
            </a:pPr>
            <a:r>
              <a:rPr lang="en-US" sz="1100" i="1" dirty="0">
                <a:solidFill>
                  <a:srgbClr val="5A6472"/>
                </a:solidFill>
                <a:latin typeface="Calibri" pitchFamily="34" charset="0"/>
                <a:cs typeface="Amiri" pitchFamily="2" charset="-78"/>
              </a:rPr>
              <a:t>zu-kā-mun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حُمَّى</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fever</a:t>
            </a:r>
            <a:endParaRPr lang="en-US" sz="1350" dirty="0"/>
          </a:p>
          <a:p>
            <a:pPr indent="0" marL="0">
              <a:buNone/>
            </a:pPr>
            <a:r>
              <a:rPr lang="en-US" sz="1100" i="1" dirty="0">
                <a:solidFill>
                  <a:srgbClr val="5A6472"/>
                </a:solidFill>
                <a:latin typeface="Calibri" pitchFamily="34" charset="0"/>
                <a:cs typeface="Amiri" pitchFamily="2" charset="-78"/>
              </a:rPr>
              <a:t>ḥum-mā</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سُعَالٌ</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cough</a:t>
            </a:r>
            <a:endParaRPr lang="en-US" sz="1350" dirty="0"/>
          </a:p>
          <a:p>
            <a:pPr indent="0" marL="0">
              <a:buNone/>
            </a:pPr>
            <a:r>
              <a:rPr lang="en-US" sz="1100" i="1" dirty="0">
                <a:solidFill>
                  <a:srgbClr val="5A6472"/>
                </a:solidFill>
                <a:latin typeface="Calibri" pitchFamily="34" charset="0"/>
                <a:cs typeface="Amiri" pitchFamily="2" charset="-78"/>
              </a:rPr>
              <a:t>su-ʿā-lun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أَلَمُ الحَلْقِ</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sore throat</a:t>
            </a:r>
            <a:endParaRPr lang="en-US" sz="1350" dirty="0"/>
          </a:p>
          <a:p>
            <a:pPr indent="0" marL="0">
              <a:buNone/>
            </a:pPr>
            <a:r>
              <a:rPr lang="en-US" sz="1100" i="1" dirty="0">
                <a:solidFill>
                  <a:srgbClr val="5A6472"/>
                </a:solidFill>
                <a:latin typeface="Calibri" pitchFamily="34" charset="0"/>
                <a:cs typeface="Amiri" pitchFamily="2" charset="-78"/>
              </a:rPr>
              <a:t>a-la-mu al-ḥal-qi</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أَلَمُ المَعِدَةِ</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stomach ache</a:t>
            </a:r>
            <a:endParaRPr lang="en-US" sz="1350" dirty="0"/>
          </a:p>
          <a:p>
            <a:pPr indent="0" marL="0">
              <a:buNone/>
            </a:pPr>
            <a:r>
              <a:rPr lang="en-US" sz="1100" i="1" dirty="0">
                <a:solidFill>
                  <a:srgbClr val="5A6472"/>
                </a:solidFill>
                <a:latin typeface="Calibri" pitchFamily="34" charset="0"/>
                <a:cs typeface="Amiri" pitchFamily="2" charset="-78"/>
              </a:rPr>
              <a:t>a-la-mu al-ma-ʿi-da-ti</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Saying how you feel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أَلَمُ الأَسْنَانِ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toothache</a:t>
            </a:r>
            <a:endParaRPr lang="en-US" sz="1350" dirty="0"/>
          </a:p>
          <a:p>
            <a:pPr indent="0" marL="0">
              <a:buNone/>
            </a:pPr>
            <a:r>
              <a:rPr lang="en-US" sz="1100" i="1" dirty="0">
                <a:solidFill>
                  <a:srgbClr val="5A6472"/>
                </a:solidFill>
                <a:latin typeface="Calibri" pitchFamily="34" charset="0"/>
                <a:cs typeface="Amiri" pitchFamily="2" charset="-78"/>
              </a:rPr>
              <a:t>a-la-mu al-as-nā-ni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عِنْدِي ...</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have ...</a:t>
            </a:r>
            <a:endParaRPr lang="en-US" sz="1350" dirty="0"/>
          </a:p>
          <a:p>
            <a:pPr indent="0" marL="0">
              <a:buNone/>
            </a:pPr>
            <a:r>
              <a:rPr lang="en-US" sz="1100" i="1" dirty="0">
                <a:solidFill>
                  <a:srgbClr val="5A6472"/>
                </a:solidFill>
                <a:latin typeface="Calibri" pitchFamily="34" charset="0"/>
                <a:cs typeface="Amiri" pitchFamily="2" charset="-78"/>
              </a:rPr>
              <a:t>ʿin-dī ...</a:t>
            </a:r>
            <a:endParaRPr lang="en-US" sz="1350" dirty="0"/>
          </a:p>
        </p:txBody>
      </p:sp>
      <p:sp>
        <p:nvSpPr>
          <p:cNvPr id="31" name="Shape 28"/>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3" name="Text 30"/>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عِنْدَهُ</a:t>
            </a:r>
            <a:endParaRPr lang="ar-SA" sz="1500" dirty="0"/>
          </a:p>
        </p:txBody>
      </p:sp>
      <p:sp>
        <p:nvSpPr>
          <p:cNvPr id="34" name="Shape 31"/>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6" name="Text 33"/>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عِنْدَهَا</a:t>
            </a:r>
            <a:endParaRPr lang="ar-SA" sz="1500" dirty="0"/>
          </a:p>
        </p:txBody>
      </p:sp>
      <p:sp>
        <p:nvSpPr>
          <p:cNvPr id="37" name="Shape 34"/>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you</a:t>
            </a:r>
            <a:endParaRPr lang="en-US" sz="750" dirty="0"/>
          </a:p>
        </p:txBody>
      </p:sp>
      <p:sp>
        <p:nvSpPr>
          <p:cNvPr id="39" name="Text 36"/>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عِنْدَكَ / عِنْدَكِ</a:t>
            </a:r>
            <a:endParaRPr lang="ar-SA" sz="150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3" name="Shape 40"/>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5" name="Shape 4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أَشْعُرُ بِـ ...</a:t>
            </a:r>
            <a:endParaRPr lang="ar-SA" sz="3000" dirty="0"/>
          </a:p>
        </p:txBody>
      </p:sp>
      <p:sp>
        <p:nvSpPr>
          <p:cNvPr id="48" name="Text 4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feel ...</a:t>
            </a:r>
            <a:endParaRPr lang="en-US" sz="1350" dirty="0"/>
          </a:p>
          <a:p>
            <a:pPr indent="0" marL="0">
              <a:buNone/>
            </a:pPr>
            <a:r>
              <a:rPr lang="en-US" sz="1100" i="1" dirty="0">
                <a:solidFill>
                  <a:srgbClr val="5A6472"/>
                </a:solidFill>
                <a:latin typeface="Calibri" pitchFamily="34" charset="0"/>
                <a:cs typeface="Amiri" pitchFamily="2" charset="-78"/>
              </a:rPr>
              <a:t>ash-ʿu-ru bi ...</a:t>
            </a:r>
            <a:endParaRPr lang="en-US" sz="1350" dirty="0"/>
          </a:p>
        </p:txBody>
      </p:sp>
      <p:sp>
        <p:nvSpPr>
          <p:cNvPr id="49" name="Shape 46"/>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51" name="Text 48"/>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يَشْعُرُ</a:t>
            </a:r>
            <a:endParaRPr lang="ar-SA" sz="1500" dirty="0"/>
          </a:p>
        </p:txBody>
      </p:sp>
      <p:sp>
        <p:nvSpPr>
          <p:cNvPr id="52" name="Shape 49"/>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4" name="Text 51"/>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تَشْعُرُ</a:t>
            </a:r>
            <a:endParaRPr lang="ar-SA" sz="1500" dirty="0"/>
          </a:p>
        </p:txBody>
      </p:sp>
      <p:sp>
        <p:nvSpPr>
          <p:cNvPr id="55" name="Shape 52"/>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f.</a:t>
            </a:r>
            <a:endParaRPr lang="en-US" sz="700" dirty="0"/>
          </a:p>
        </p:txBody>
      </p:sp>
      <p:sp>
        <p:nvSpPr>
          <p:cNvPr id="57" name="Text 54"/>
          <p:cNvSpPr txBox="1"/>
          <p:nvPr/>
        </p:nvSpPr>
        <p:spPr>
          <a:xfrm>
            <a:off x="64008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تَشْعُرِينَ</a:t>
            </a:r>
            <a:endParaRPr lang="ar-SA" sz="135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1" name="Shape 5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عِنْدِي أَلَمٌ فِي ...</a:t>
            </a:r>
            <a:endParaRPr lang="ar-SA" sz="3000" dirty="0"/>
          </a:p>
        </p:txBody>
      </p:sp>
      <p:sp>
        <p:nvSpPr>
          <p:cNvPr id="64" name="Text 6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have pain in ...</a:t>
            </a:r>
            <a:endParaRPr lang="en-US" sz="1350" dirty="0"/>
          </a:p>
          <a:p>
            <a:pPr indent="0" marL="0">
              <a:buNone/>
            </a:pPr>
            <a:r>
              <a:rPr lang="en-US" sz="1100" i="1" dirty="0">
                <a:solidFill>
                  <a:srgbClr val="5A6472"/>
                </a:solidFill>
                <a:latin typeface="Calibri" pitchFamily="34" charset="0"/>
                <a:cs typeface="Amiri" pitchFamily="2" charset="-78"/>
              </a:rPr>
              <a:t>ʿin-dī a-la-mun fī ...</a:t>
            </a:r>
            <a:endParaRPr lang="en-US" sz="135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مُنْذُ أَمْسِ</a:t>
            </a:r>
            <a:endParaRPr lang="ar-SA" sz="3000" dirty="0"/>
          </a:p>
        </p:txBody>
      </p:sp>
      <p:sp>
        <p:nvSpPr>
          <p:cNvPr id="71" name="Text 6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since yesterday</a:t>
            </a:r>
            <a:endParaRPr lang="en-US" sz="1350" dirty="0"/>
          </a:p>
          <a:p>
            <a:pPr indent="0" marL="0">
              <a:buNone/>
            </a:pPr>
            <a:r>
              <a:rPr lang="en-US" sz="1100" i="1" dirty="0">
                <a:solidFill>
                  <a:srgbClr val="5A6472"/>
                </a:solidFill>
                <a:latin typeface="Calibri" pitchFamily="34" charset="0"/>
                <a:cs typeface="Amiri" pitchFamily="2" charset="-78"/>
              </a:rPr>
              <a:t>mun-dhu am-si</a:t>
            </a:r>
            <a:endParaRPr lang="en-US" sz="135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5" name="Shape 7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7" name="Text 7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مُنْذُ مَتَى؟</a:t>
            </a:r>
            <a:endParaRPr lang="ar-SA" sz="3000" dirty="0"/>
          </a:p>
        </p:txBody>
      </p:sp>
      <p:sp>
        <p:nvSpPr>
          <p:cNvPr id="78" name="Text 7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since when / for how long?</a:t>
            </a:r>
            <a:endParaRPr lang="en-US" sz="1350" dirty="0"/>
          </a:p>
          <a:p>
            <a:pPr indent="0" marL="0">
              <a:buNone/>
            </a:pPr>
            <a:r>
              <a:rPr lang="en-US" sz="1100" i="1" dirty="0">
                <a:solidFill>
                  <a:srgbClr val="5A6472"/>
                </a:solidFill>
                <a:latin typeface="Calibri" pitchFamily="34" charset="0"/>
                <a:cs typeface="Amiri" pitchFamily="2" charset="-78"/>
              </a:rPr>
              <a:t>mun-dhu ma-tā?</a:t>
            </a:r>
            <a:endParaRPr lang="en-US" sz="13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What’s wrong?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بِكَ؟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What’s wrong? You are not well.</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بِكَ؟ أَنْتَ لَسْتَ بِخَيْرٍ.</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have a headache, and I feel tired.</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عِنْدِي صُدَاعٌ، وَأَشْعُرُ بِالتَّعَبِ.</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Since when?</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مُنْذُ مَتَى؟</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Since yesterday. And I have a sore throat too.</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مُنْذُ أَمْسِ. وَعِنْدِي أَلَمٌ فِي الحَلْقِ أَيْضًا.</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have a fever?</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عِنْدَكَ حُمَّى؟</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a little. I think I have a cold.</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قَلِيلًا. أَظُنُّ أَنَّ عِنْدِي زُكَامًا.</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choose a different illness and a different “since when”.</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أَشْعُرُ بِالتَّعَبِ / أَنَا بِخَيْرٍ</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feel today?</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تَشْعُرُ اليَوْمَ؟</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وَفِي … أَيْضًا</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عِنْدِي أَلَمٌ فِي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the pain?</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الأَلَمُ؟</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يَوْمَيْنِ / أُسْبُوعٍ</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مُنْذُ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long have you been ill?</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مُنْذُ مَتَى أَنْتَ مَرِيضٌ؟</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عِنْدِي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عِنْدِي … / لَا، لَيْسَتْ عِنْدِي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have a fever?</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عِنْدَكَ حُمَّى؟</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وَأَشْرَبُ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أَبْقَى فِي البَيْتِ وَ…</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when you have a cold?</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عِنْدَمَا يَكُونُ عِنْدَكَ زُكَامٌ؟</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Role-play card — phoning school to say you are ill</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أَتَّصِلُ بِالمَدْرَسَةِ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صَبَاحَ ← صَبَاحَ النُّورِ ، أَنَا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Greet + give your name.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مَدْرَسَةُ النُّورِ، صَبَاحَ الخَيْرِ.</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أَنَا مَرِيضٌ ، عِنْدِي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you are ill + the problem.</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أُسَاعِدُكَ؟</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مُنْذُ مَتَى ← مُنْذُ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since when.</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مُنْذُ مَتَى؟</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لَا أَعْرِفُ ، إِنْ شَاءَ اللّٰهُ … شُكْرًا</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 thank.</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سَتَأْتِي غَدًا؟</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student (or a parent) phoning · Leader = the school office.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the last time I was ill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آخِرُ مَرَّةٍ كُنْتُ مَرِيضًا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 seconds about how you feel today, then describe one illness you had: what, where it hurt, how long — and what you did.</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أَشْعُرُ بِالتَّعَبِ · عِنْدِي … · مُنْذُ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عِنْدِي أَلَمٌ فِي</a:t>
            </a:r>
            <a:pPr algn="l" indent="0" marL="0">
              <a:buNone/>
            </a:pPr>
            <a:r>
              <a:rPr lang="en-US" sz="1150" dirty="0">
                <a:solidFill>
                  <a:srgbClr val="1F2A37"/>
                </a:solidFill>
                <a:latin typeface="Calibri" pitchFamily="34" charset="0"/>
                <a:cs typeface="Amiri" pitchFamily="2" charset="-78"/>
              </a:rPr>
              <a:t> … and two symptoms.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Tell it in the past: </a:t>
            </a:r>
            <a:pPr algn="l" indent="0" marL="0">
              <a:buNone/>
            </a:pPr>
            <a:r>
              <a:rPr lang="ar-SA" altLang="en-US" sz="1500" dirty="0">
                <a:solidFill>
                  <a:srgbClr val="1F2A37"/>
                </a:solidFill>
                <a:latin typeface="Amiri" pitchFamily="2" charset="-78"/>
                <a:ea typeface="Amiri" pitchFamily="2" charset="-78"/>
                <a:cs typeface="Amiri" pitchFamily="2" charset="-78"/>
              </a:rPr>
              <a:t>كَانَ عِنْدِي</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بَقِيتُ فِي البَيْتِ</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have a stomach ache since yesterday.</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عِنْدَهُ</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أَلَمٌ فِي المَعِدَةِ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أَلَمٌ فِي المَعِدَةُ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مُنْذُ أَمْسِ.</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أَمْسِ.</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sister is ill; she has a fever.</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أُخْتِي مَرِيضَةٌ،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أُخْتِي مَرِيضٌ،</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عِنْدَهَا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حُمَّى.</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حُمَّاهَا.</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feel tired.</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أَشْعُرُ</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يَشْعُرُ</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بِالتَّعَبِ</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التَّعَبَ</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algn="l" indent="0" marL="0">
              <a:buNone/>
            </a:pPr>
            <a:r>
              <a:rPr lang="en-US" sz="1800" dirty="0">
                <a:solidFill>
                  <a:srgbClr val="1F2A37"/>
                </a:solidFill>
                <a:latin typeface="Calibri" pitchFamily="34" charset="0"/>
                <a:cs typeface="Amiri" pitchFamily="2" charset="-78"/>
              </a:rPr>
              <a:t>.</a:t>
            </a:r>
            <a:endParaRPr lang="en-US"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have a stomach ache since yesterday.</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 </a:t>
            </a:r>
            <a:pPr algn="l" indent="0" marL="0">
              <a:buNone/>
            </a:pPr>
            <a:r>
              <a:rPr lang="ar-SA" altLang="en-US" sz="1350" dirty="0">
                <a:solidFill>
                  <a:srgbClr val="5A6472"/>
                </a:solidFill>
                <a:latin typeface="Amiri" pitchFamily="2" charset="-78"/>
                <a:ea typeface="Amiri" pitchFamily="2" charset="-78"/>
                <a:cs typeface="Amiri" pitchFamily="2" charset="-78"/>
              </a:rPr>
              <a:t>عِنْدِي</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فِي</a:t>
            </a:r>
            <a:pPr algn="l" indent="0" marL="0">
              <a:buNone/>
            </a:pPr>
            <a:r>
              <a:rPr lang="en-US" sz="1050" i="1" dirty="0">
                <a:solidFill>
                  <a:srgbClr val="5A6472"/>
                </a:solidFill>
                <a:latin typeface="Calibri" pitchFamily="34" charset="0"/>
                <a:cs typeface="Amiri" pitchFamily="2" charset="-78"/>
              </a:rPr>
              <a:t> + genitive; since = </a:t>
            </a:r>
            <a:pPr algn="l" indent="0" marL="0">
              <a:buNone/>
            </a:pPr>
            <a:r>
              <a:rPr lang="ar-SA" altLang="en-US" sz="1350" dirty="0">
                <a:solidFill>
                  <a:srgbClr val="5A6472"/>
                </a:solidFill>
                <a:latin typeface="Amiri" pitchFamily="2" charset="-78"/>
                <a:ea typeface="Amiri" pitchFamily="2" charset="-78"/>
                <a:cs typeface="Amiri" pitchFamily="2" charset="-78"/>
              </a:rPr>
              <a:t>مُنْذُ</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عِنْدِي أَلَمٌ فِي المَعِدَةِ مُنْذُ أَمْسِ.</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sister is ill; she has a fever.</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girl → </a:t>
            </a:r>
            <a:pPr algn="l" indent="0" marL="0">
              <a:buNone/>
            </a:pPr>
            <a:r>
              <a:rPr lang="ar-SA" altLang="en-US" sz="1350" dirty="0">
                <a:solidFill>
                  <a:srgbClr val="5A6472"/>
                </a:solidFill>
                <a:latin typeface="Amiri" pitchFamily="2" charset="-78"/>
                <a:ea typeface="Amiri" pitchFamily="2" charset="-78"/>
                <a:cs typeface="Amiri" pitchFamily="2" charset="-78"/>
              </a:rPr>
              <a:t>مَرِيضَةٌ</a:t>
            </a:r>
            <a:pPr algn="l" indent="0" marL="0">
              <a:buNone/>
            </a:pPr>
            <a:r>
              <a:rPr lang="en-US" sz="1050" i="1" dirty="0">
                <a:solidFill>
                  <a:srgbClr val="5A6472"/>
                </a:solidFill>
                <a:latin typeface="Calibri" pitchFamily="34" charset="0"/>
                <a:cs typeface="Amiri" pitchFamily="2" charset="-78"/>
              </a:rPr>
              <a:t>; she has = </a:t>
            </a:r>
            <a:pPr algn="l" indent="0" marL="0">
              <a:buNone/>
            </a:pPr>
            <a:r>
              <a:rPr lang="ar-SA" altLang="en-US" sz="1350" dirty="0">
                <a:solidFill>
                  <a:srgbClr val="5A6472"/>
                </a:solidFill>
                <a:latin typeface="Amiri" pitchFamily="2" charset="-78"/>
                <a:ea typeface="Amiri" pitchFamily="2" charset="-78"/>
                <a:cs typeface="Amiri" pitchFamily="2" charset="-78"/>
              </a:rPr>
              <a:t>عِنْدَهَا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أُخْتِي مَرِيضَةٌ، عِنْدَهَا حُمَّى.</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feel tired.</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feel = </a:t>
            </a:r>
            <a:pPr algn="l" indent="0" marL="0">
              <a:buNone/>
            </a:pPr>
            <a:r>
              <a:rPr lang="ar-SA" altLang="en-US" sz="1350" dirty="0">
                <a:solidFill>
                  <a:srgbClr val="5A6472"/>
                </a:solidFill>
                <a:latin typeface="Amiri" pitchFamily="2" charset="-78"/>
                <a:ea typeface="Amiri" pitchFamily="2" charset="-78"/>
                <a:cs typeface="Amiri" pitchFamily="2" charset="-78"/>
              </a:rPr>
              <a:t>أَشْعُرُ</a:t>
            </a:r>
            <a:pPr algn="l" indent="0" marL="0">
              <a:buNone/>
            </a:pPr>
            <a:r>
              <a:rPr lang="en-US" sz="1050" i="1" dirty="0">
                <a:solidFill>
                  <a:srgbClr val="5A6472"/>
                </a:solidFill>
                <a:latin typeface="Calibri" pitchFamily="34" charset="0"/>
                <a:cs typeface="Amiri" pitchFamily="2" charset="-78"/>
              </a:rPr>
              <a:t> + bi- + noun.</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أَشْعُرُ بِالتَّعَبِ .</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عِنْدِي صُدَاعٌ مِنْ أَمْسِ.</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“since” in Arabic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عِنْدِي أَلَمٌ فِي رَأْسِي وَأُذُنِي. أَنَا مَرِيضٌ.</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Sara is speaking — she is a girl.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أَشْعُرُ التَّعَبَ.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This verb needs a small word.</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عِنْدِي صُدَاعٌ مِنْ أَمْسِ.</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عِنْدِي صُدَاعٌ مُنْذُ أَمْسِ.</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Since / for = </a:t>
            </a:r>
            <a:pPr algn="l" indent="0" marL="0">
              <a:buNone/>
            </a:pPr>
            <a:r>
              <a:rPr lang="ar-SA" altLang="en-US" sz="1500" b="1" dirty="0">
                <a:solidFill>
                  <a:srgbClr val="1B3B6F"/>
                </a:solidFill>
                <a:latin typeface="Amiri" pitchFamily="2" charset="-78"/>
                <a:ea typeface="Amiri" pitchFamily="2" charset="-78"/>
                <a:cs typeface="Amiri" pitchFamily="2" charset="-78"/>
              </a:rPr>
              <a:t>مُنْذُ</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عِنْدِي أَلَمٌ فِي رَأْسِي وَأُذُنِي. أَنَا مَرِيضٌ.</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عِنْدِي أَلَمٌ فِي رَأْسِي وَأُذُنِي. أَنَا مَرِيضَةٌ.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girl → </a:t>
            </a:r>
            <a:pPr algn="l" indent="0" marL="0">
              <a:buNone/>
            </a:pPr>
            <a:r>
              <a:rPr lang="ar-SA" altLang="en-US" sz="1500" b="1" dirty="0">
                <a:solidFill>
                  <a:srgbClr val="1B3B6F"/>
                </a:solidFill>
                <a:latin typeface="Amiri" pitchFamily="2" charset="-78"/>
                <a:ea typeface="Amiri" pitchFamily="2" charset="-78"/>
                <a:cs typeface="Amiri" pitchFamily="2" charset="-78"/>
              </a:rPr>
              <a:t>مَرِيضَةٌ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أَشْعُرُ التَّعَبَ.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أَشْعُرُ بِالتَّعَبِ.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أَشْعُرُ</a:t>
            </a:r>
            <a:pPr algn="l" indent="0" marL="0">
              <a:buNone/>
            </a:pPr>
            <a:r>
              <a:rPr lang="en-US" sz="1150" b="1" dirty="0">
                <a:solidFill>
                  <a:srgbClr val="1B3B6F"/>
                </a:solidFill>
                <a:latin typeface="Calibri" pitchFamily="34" charset="0"/>
                <a:cs typeface="Amiri" pitchFamily="2" charset="-78"/>
              </a:rPr>
              <a:t> + bi-.</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عِنْدِي أَلَمٌ فِي ______ ، وَأَشْعُرُ بِالتَّعَبِ / بِالبَرْدِ.</a:t>
            </a:r>
            <a:endParaRPr lang="ar-SA" sz="15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pain in …, and I feel tired / cold.</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ذَهَبْتُ إِلَى ______ ، وَ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went to …, and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السَّلَامُ عَلَيْكُمْ يَا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Peace be upon you,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آسِفٌ / آسِفَةٌ، أَنَا مَرِيضٌ / مَرِيضَةٌ.</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sorry, I am ill.</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______ وَ ______ مُنْذُ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 and … since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سَأَرْجِعُ إِلَى المَدْرَسَةِ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come back to school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صُدَاعٌ · زُكَامٌ  ·  حُمَّى · سُعَالٌ  ·  أَلَمُ الحَلْقِ  ·  عِنْدِي أَلَمٌ فِي  ·  أَشْعُرُ بِالتَّعَبِ  ·  مَرِيضٌ · مَرِيضَةٌ  ·  مُنْذُ أَمْسِ  ·  إِنْ شَاءَ اللّٰهُ</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 absence message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غِيَابٍ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Write a short message (about 35–55 words) to your teacher explaining why you missed school. Include: • a polite greeting • that you were / are ill • two symptoms and where it hurts • since when • what you did (doctor? rest?) • when you hope to come back.</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أَنَا آسِفٌ / آسِفَةٌ، لَمْ آتِ إِلَى المَدْرَسَةِ …</a:t>
            </a:r>
            <a:endParaRPr lang="ar-SA" sz="175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sorry, I didn’t come to school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عِنْدِي … وَ…</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had … and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مُنْذُ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since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إِنْ شَاءَ اللّٰهُ سَأَرْجِعُ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God willing I will come back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عِنْدِي</a:t>
            </a:r>
            <a:pPr algn="l" indent="0" marL="0">
              <a:buNone/>
            </a:pPr>
            <a:r>
              <a:rPr lang="en-US" sz="1100" dirty="0">
                <a:solidFill>
                  <a:srgbClr val="5A6472"/>
                </a:solidFill>
                <a:latin typeface="Calibri" pitchFamily="34" charset="0"/>
                <a:cs typeface="Amiri" pitchFamily="2" charset="-78"/>
              </a:rPr>
              <a:t> + illness and </a:t>
            </a:r>
            <a:pPr algn="l" indent="0" marL="0">
              <a:buNone/>
            </a:pPr>
            <a:r>
              <a:rPr lang="ar-SA" altLang="en-US" sz="1450" dirty="0">
                <a:solidFill>
                  <a:srgbClr val="5A6472"/>
                </a:solidFill>
                <a:latin typeface="Amiri" pitchFamily="2" charset="-78"/>
                <a:ea typeface="Amiri" pitchFamily="2" charset="-78"/>
                <a:cs typeface="Amiri" pitchFamily="2" charset="-78"/>
              </a:rPr>
              <a:t>مُنْذُ</a:t>
            </a:r>
            <a:pPr algn="l" indent="0" marL="0">
              <a:buNone/>
            </a:pPr>
            <a:r>
              <a:rPr lang="en-US" sz="1100" dirty="0">
                <a:solidFill>
                  <a:srgbClr val="5A6472"/>
                </a:solidFill>
                <a:latin typeface="Calibri" pitchFamily="34" charset="0"/>
                <a:cs typeface="Amiri" pitchFamily="2" charset="-78"/>
              </a:rPr>
              <a:t> + time?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where it hurts (</a:t>
            </a:r>
            <a:pPr algn="l" indent="0" marL="0">
              <a:buNone/>
            </a:pPr>
            <a:r>
              <a:rPr lang="ar-SA" altLang="en-US" sz="1450" dirty="0">
                <a:solidFill>
                  <a:srgbClr val="5A6472"/>
                </a:solidFill>
                <a:latin typeface="Amiri" pitchFamily="2" charset="-78"/>
                <a:ea typeface="Amiri" pitchFamily="2" charset="-78"/>
                <a:cs typeface="Amiri" pitchFamily="2" charset="-78"/>
              </a:rPr>
              <a:t>عِنْدِي أَلَمٌ فِي</a:t>
            </a:r>
            <a:pPr algn="l" indent="0" marL="0">
              <a:buNone/>
            </a:pPr>
            <a:r>
              <a:rPr lang="en-US" sz="1100" dirty="0">
                <a:solidFill>
                  <a:srgbClr val="5A6472"/>
                </a:solidFill>
                <a:latin typeface="Calibri" pitchFamily="34" charset="0"/>
                <a:cs typeface="Amiri" pitchFamily="2" charset="-78"/>
              </a:rPr>
              <a:t> …) and agree </a:t>
            </a:r>
            <a:pPr algn="l" indent="0" marL="0">
              <a:buNone/>
            </a:pPr>
            <a:r>
              <a:rPr lang="ar-SA" altLang="en-US" sz="1450" dirty="0">
                <a:solidFill>
                  <a:srgbClr val="5A6472"/>
                </a:solidFill>
                <a:latin typeface="Amiri" pitchFamily="2" charset="-78"/>
                <a:ea typeface="Amiri" pitchFamily="2" charset="-78"/>
                <a:cs typeface="Amiri" pitchFamily="2" charset="-78"/>
              </a:rPr>
              <a:t>مَرِيضٌ / مَرِيضَةٌ</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صَبَاحَ النُّورِ، أَنَا أَحْمَدُ مِنَ الصَّفِّ الثَّامِنِ.</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Good morning, I am Ahmed from Year 8.</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مَدْرَسَةُ النُّورِ، صَبَاحَ الخَيْرِ.</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مَرِيضٌ اليَوْمَ، عِنْدِي حُمَّى وَسُعَالٌ.</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ill today; I have a fever and a cough.</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أُسَاعِدُكَ؟</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مُنْذُ لَيْلَةِ أَمْسِ.</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Since last night.</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مُنْذُ مَتَى؟</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إِنْ شَاءَ اللّٰهُ، إِذَا كُنْتُ أَفْضَلَ. شُكْرًا جَزِيلًا.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God willing, if I am better. Thank you very much.</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سَتَأْتِي غَدًا؟</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السَّلَامُ عَلَيْكُمْ يَا أُسْتَاذُ خَالِدٌ، أَنَا آسِفَةٌ، لَمْ آتِ إِلَى المَدْرَسَةِ اليَوْمَ لِأَنِّي مَرِيضَةٌ. عِنْدِي حُمَّى وَسُعَالٌ مُنْذُ يَوْمَيْنِ، وَعِنْدِي أَلَمٌ فِي الحَلْقِ. ذَهَبْتُ إِلَى الطَّبِيبِ أَمْسِ، فَقَالَ: اسْتَرِيحِي. إِنْ شَاءَ اللّٰهُ سَأَرْجِعُ يَوْمَ الإِثْنَيْنِ. مَعَ الشُّكْرِ، مَرْيَمُ.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“Peace be upon you, Mr Khalid. I am sorry, I didn’t come to school today because I am ill. I have had a fever and a cough for two days, and I have a sore throat. I went to the doctor yesterday, and he said: rest. God willing I will come back on Monday. With thanks, Maryam.”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لِأَنِّي مَرِيضَةٌ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مُنْذُ يَوْمَيْنِ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عِنْدِي أَلَمٌ فِي الحَلْقِ</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إِنْ شَاءَ اللّٰهُ</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F5-L08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cs typeface="Amiri" pitchFamily="2" charset="-78"/>
              </a:rPr>
              <a:t>F5-L09 · At the Doctor and Pharmacy</a:t>
            </a:r>
            <a:endParaRPr lang="en-US" sz="26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عِنْدَ الطَّبِيبِ وَفِي الصَّيْدَلِيَّةِ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F5-L08 · Practice Room — Health Problems and How You Feel</dc:title>
  <dc:subject>PptxGenJS Presentation</dc:subject>
  <dc:creator>Al Madina Online School · Arabic Department</dc:creator>
  <cp:lastModifiedBy>Al Madina Online School · Arabic Department</cp:lastModifiedBy>
  <cp:revision>1</cp:revision>
  <dcterms:created xsi:type="dcterms:W3CDTF">2026-10-25T18:35:01Z</dcterms:created>
  <dcterms:modified xsi:type="dcterms:W3CDTF">2026-10-25T18:35:01Z</dcterms:modified>
</cp:coreProperties>
</file>