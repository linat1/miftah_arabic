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ROOM AT A GLANCE — one combined lesson (speaking, then writing), 55–60 minutes: about 6 minutes in the main room, about 45 minutes in breakout rooms of two or three, about 6 minutes back together.
0–2 Welcome · 2–5 How the room works · ROOMS, Part A Speaking: Step 1 Word warm-up (5) · Step 2 Say the model dialogue (5) · Step 3 Question cards (7) · Step 4 Role-play card (7) · Step 5 Short talk (4) · Part B Writing: Step 6 Sentence builder (4) · Step 7 Spot and fix (3) · Step 8 Write your text (12) + buddy check (3) · back in the main room: Check yourself (4) · Self-check + close (2).
PURPOSE: students practise the lesson’s language ON THEIR OWN with a clear structure. The teacher visits each room (about 3 minutes per room), listens, reads one piece of writing per student and gives one live correction.
CONTENT: F5-L08 (Health Problems and How You Feel) — new practice tasks built on the lesson’s own word bank and grammar (ʿindī + illness (ṣudāʿun · zukāmun · ḥummā); ʿindī alamun fī …; ashʿuru bi-…; mundhu + time (mundhu amsi · mundhu yawmayni); anā marīḍun / marīḍatun).
SET-UP: rooms of two or three (same-level rooms keep the routes simple). Share this deck or its PDF in the chat so every room can follow the steps. Each student writes in their own book or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Part A is speaking, Part B is writing. The step number is always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ROOM WORKS (3 min, main room). Model the roles quickly with two volunteers using one question from Step 3. Stress: the Coach is kind and specific. Then open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(5 min in rooms). The two word slides that follow come from the F5-L08 lesson. Teacher: visit the first room straight away to model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the Leader picks the English, the Speaker gives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(5 min). The dialogue models today’s language in a real exchange.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(7 min). The starter column is support, not the answer: students finish it with their OWN information. Coach listens for the key structure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4 (7 min). SUPPORTED: the plan column models the thinking (first words), not the full answer. Everyone is Speaker once. To a girl the Leader says: أُسَاعِدُكِ · سَتَأْتِينَ — and the Speaker says أَنَا مَرِيضَةٌ. Language: anā marīḍun / marīḍatun · ʿindī + illness · mundhu +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(4 min). A short talk builds fluency and confidence.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support. Core: use the Core frames for every sentence. Develop: use the Develop frames only if stuck. Stretch: no frames — add a reason, a time phrase and one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(10 min writing). Core: frames for every bullet (25–35 words). Develop: 40–60 words, frames only if stuck. Stretch: no frames, add reasons and another time frame. Teacher visits rooms and reads ONE sentence per student.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(38 words). CHECK YOURSELF (2 min). Find each bullet point in the model.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F5  ·  F5-L08 · PRACTICE ROOM</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F5-L08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Practice Room — Health Problems and How You Feel</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غُرْفَةُ التَّدَرُّبِ — كَيْفَ تَشْعُرُ؟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run their own speaking and writing practice about feeling ill: say the symptom words, act a short dialogue, answer question cards, do a role-play card phoning the school to say you are ill, give a 30-second talk, then build, fix and write an absence message.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F5-L08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F5 › F5-L08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 · practice room</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Speaking + writing practice 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ROOM PLAN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 first, then write — you run it yourselves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 · practice room</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2F6FB0"/>
          </a:solidFill>
          <a:ln w="12700">
            <a:solidFill>
              <a:srgbClr val="2F6FB0"/>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1–2: word warm-up · say the model dialogue.</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الكَلِمَاتُ وَالحِوَارُ</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3–5: question cards · role-play card · short talk.</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2F6FB0"/>
          </a:solidFill>
          <a:ln w="12700">
            <a:solidFill>
              <a:srgbClr val="2F6FB0"/>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6–7: sentence builder · spot and fix.</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ابْنِ وَصَحِّحْ</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8: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ROOM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Everybody speaks in every step and everybody writes their own text. Swap roles after each task. If you finish early, do the step again with the Stretch route.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BEFORE THE ROOMS · HOW YOUR ROOM WORKS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roles — then write alone, check together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نَعْمَلُ فِي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 · practice room</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ROLES (SWAP AFTER EVERY TASK)</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LEADER — opens the next step, keeps the time and reads the questions.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SPEAKER — answers in Arabic, in a full sentence. Think for a few seconds, then speak.</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COACH — listens, checks with the slide, then says one thing that went well and one thing to improve. (In a pair, the Leader is also the Coach.)</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WRITING (Part B): everyone writes their OWN text; then swap with a buddy and check.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USEFUL ROOM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دَوْرُكَ! / دَوْرُكِ!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turn! (m. /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أَعِدْ مِنْ فَضْلِكَ.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repeat please.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أُفَكِّرُ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I’m thinking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A · STEP 1 · WORD WARM-UP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it — then use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قُلْهَا وَاسْتَعْمِلْهَا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Word ping-pong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says a word in ENGLISH from the next two slides. The Speaker says it in ARABIC. The Coach checks the Arabic (and the ending) on the slide.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Leader: say 4 English words; Speaker answers in Arabic.</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checks the word on the slide.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 new words each time.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each word in a short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a:t>
            </a:r>
            <a:pPr algn="l" indent="0" marL="0">
              <a:buNone/>
            </a:pPr>
            <a:r>
              <a:rPr lang="ar-SA" altLang="en-US" sz="1500" dirty="0">
                <a:solidFill>
                  <a:srgbClr val="1F2A37"/>
                </a:solidFill>
                <a:latin typeface="Amiri" pitchFamily="2" charset="-78"/>
                <a:ea typeface="Amiri" pitchFamily="2" charset="-78"/>
                <a:cs typeface="Amiri" pitchFamily="2" charset="-78"/>
              </a:rPr>
              <a:t>أَنَا … / عِنْدِي … / هٰذَا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the feminine or plural form too, then a sentence with two words.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أَعِدْ مِنْ فَضْلِكَ / أَعِيدِي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repeat please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(1)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Illnesses and symptoms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صُدَاعٌ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headache</a:t>
            </a:r>
            <a:endParaRPr lang="en-US" sz="1350" dirty="0"/>
          </a:p>
          <a:p>
            <a:pPr indent="0" marL="0">
              <a:buNone/>
            </a:pPr>
            <a:r>
              <a:rPr lang="en-US" sz="1100" i="1" dirty="0">
                <a:solidFill>
                  <a:srgbClr val="5A6472"/>
                </a:solidFill>
                <a:latin typeface="Calibri" pitchFamily="34" charset="0"/>
                <a:cs typeface="Amiri" pitchFamily="2" charset="-78"/>
              </a:rPr>
              <a:t>ṣu-dā-ʿun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زُكَامٌ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cold</a:t>
            </a:r>
            <a:endParaRPr lang="en-US" sz="1350" dirty="0"/>
          </a:p>
          <a:p>
            <a:pPr indent="0" marL="0">
              <a:buNone/>
            </a:pPr>
            <a:r>
              <a:rPr lang="en-US" sz="1100" i="1" dirty="0">
                <a:solidFill>
                  <a:srgbClr val="5A6472"/>
                </a:solidFill>
                <a:latin typeface="Calibri" pitchFamily="34" charset="0"/>
                <a:cs typeface="Amiri" pitchFamily="2" charset="-78"/>
              </a:rPr>
              <a:t>zu-kā-mun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حُمَّى</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fever</a:t>
            </a:r>
            <a:endParaRPr lang="en-US" sz="1350" dirty="0"/>
          </a:p>
          <a:p>
            <a:pPr indent="0" marL="0">
              <a:buNone/>
            </a:pPr>
            <a:r>
              <a:rPr lang="en-US" sz="1100" i="1" dirty="0">
                <a:solidFill>
                  <a:srgbClr val="5A6472"/>
                </a:solidFill>
                <a:latin typeface="Calibri" pitchFamily="34" charset="0"/>
                <a:cs typeface="Amiri" pitchFamily="2" charset="-78"/>
              </a:rPr>
              <a:t>ḥum-mā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سُعَالٌ</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cough</a:t>
            </a:r>
            <a:endParaRPr lang="en-US" sz="1350" dirty="0"/>
          </a:p>
          <a:p>
            <a:pPr indent="0" marL="0">
              <a:buNone/>
            </a:pPr>
            <a:r>
              <a:rPr lang="en-US" sz="1100" i="1" dirty="0">
                <a:solidFill>
                  <a:srgbClr val="5A6472"/>
                </a:solidFill>
                <a:latin typeface="Calibri" pitchFamily="34" charset="0"/>
                <a:cs typeface="Amiri" pitchFamily="2" charset="-78"/>
              </a:rPr>
              <a:t>su-ʿā-lun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أَلَمُ الحَلْقِ</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sore throat</a:t>
            </a:r>
            <a:endParaRPr lang="en-US" sz="1350" dirty="0"/>
          </a:p>
          <a:p>
            <a:pPr indent="0" marL="0">
              <a:buNone/>
            </a:pPr>
            <a:r>
              <a:rPr lang="en-US" sz="1100" i="1" dirty="0">
                <a:solidFill>
                  <a:srgbClr val="5A6472"/>
                </a:solidFill>
                <a:latin typeface="Calibri" pitchFamily="34" charset="0"/>
                <a:cs typeface="Amiri" pitchFamily="2" charset="-78"/>
              </a:rPr>
              <a:t>a-la-mu al-ḥal-qi</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أَلَمُ المَعِدَةِ</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stomach ache</a:t>
            </a:r>
            <a:endParaRPr lang="en-US" sz="1350" dirty="0"/>
          </a:p>
          <a:p>
            <a:pPr indent="0" marL="0">
              <a:buNone/>
            </a:pPr>
            <a:r>
              <a:rPr lang="en-US" sz="1100" i="1" dirty="0">
                <a:solidFill>
                  <a:srgbClr val="5A6472"/>
                </a:solidFill>
                <a:latin typeface="Calibri" pitchFamily="34" charset="0"/>
                <a:cs typeface="Amiri" pitchFamily="2" charset="-78"/>
              </a:rPr>
              <a:t>a-la-mu al-ma-ʿi-da-ti</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(2)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Saying how you feel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أَلَمُ الأَسْنَانِ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toothache</a:t>
            </a:r>
            <a:endParaRPr lang="en-US" sz="1350" dirty="0"/>
          </a:p>
          <a:p>
            <a:pPr indent="0" marL="0">
              <a:buNone/>
            </a:pPr>
            <a:r>
              <a:rPr lang="en-US" sz="1100" i="1" dirty="0">
                <a:solidFill>
                  <a:srgbClr val="5A6472"/>
                </a:solidFill>
                <a:latin typeface="Calibri" pitchFamily="34" charset="0"/>
                <a:cs typeface="Amiri" pitchFamily="2" charset="-78"/>
              </a:rPr>
              <a:t>a-la-mu al-as-nā-ni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عِنْدِي ...</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have ...</a:t>
            </a:r>
            <a:endParaRPr lang="en-US" sz="1350" dirty="0"/>
          </a:p>
          <a:p>
            <a:pPr indent="0" marL="0">
              <a:buNone/>
            </a:pPr>
            <a:r>
              <a:rPr lang="en-US" sz="1100" i="1" dirty="0">
                <a:solidFill>
                  <a:srgbClr val="5A6472"/>
                </a:solidFill>
                <a:latin typeface="Calibri" pitchFamily="34" charset="0"/>
                <a:cs typeface="Amiri" pitchFamily="2" charset="-78"/>
              </a:rPr>
              <a:t>ʿin-dī ...</a:t>
            </a:r>
            <a:endParaRPr lang="en-US" sz="1350" dirty="0"/>
          </a:p>
        </p:txBody>
      </p:sp>
      <p:sp>
        <p:nvSpPr>
          <p:cNvPr id="31" name="Shape 28"/>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3" name="Text 30"/>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عِنْدَهُ</a:t>
            </a:r>
            <a:endParaRPr lang="ar-SA" sz="1500" dirty="0"/>
          </a:p>
        </p:txBody>
      </p:sp>
      <p:sp>
        <p:nvSpPr>
          <p:cNvPr id="34" name="Shape 31"/>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6" name="Text 33"/>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عِنْدَهَا</a:t>
            </a:r>
            <a:endParaRPr lang="ar-SA" sz="1500" dirty="0"/>
          </a:p>
        </p:txBody>
      </p:sp>
      <p:sp>
        <p:nvSpPr>
          <p:cNvPr id="37" name="Shape 34"/>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you</a:t>
            </a:r>
            <a:endParaRPr lang="en-US" sz="750" dirty="0"/>
          </a:p>
        </p:txBody>
      </p:sp>
      <p:sp>
        <p:nvSpPr>
          <p:cNvPr id="39" name="Text 36"/>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عِنْدَكَ / عِنْدَكِ</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3" name="Shape 40"/>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5" name="Shape 4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أَشْعُرُ بِـ ...</a:t>
            </a:r>
            <a:endParaRPr lang="ar-SA" sz="3000" dirty="0"/>
          </a:p>
        </p:txBody>
      </p:sp>
      <p:sp>
        <p:nvSpPr>
          <p:cNvPr id="48" name="Text 4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feel ...</a:t>
            </a:r>
            <a:endParaRPr lang="en-US" sz="1350" dirty="0"/>
          </a:p>
          <a:p>
            <a:pPr indent="0" marL="0">
              <a:buNone/>
            </a:pPr>
            <a:r>
              <a:rPr lang="en-US" sz="1100" i="1" dirty="0">
                <a:solidFill>
                  <a:srgbClr val="5A6472"/>
                </a:solidFill>
                <a:latin typeface="Calibri" pitchFamily="34" charset="0"/>
                <a:cs typeface="Amiri" pitchFamily="2" charset="-78"/>
              </a:rPr>
              <a:t>ash-ʿu-ru bi ...</a:t>
            </a:r>
            <a:endParaRPr lang="en-US" sz="1350" dirty="0"/>
          </a:p>
        </p:txBody>
      </p:sp>
      <p:sp>
        <p:nvSpPr>
          <p:cNvPr id="49" name="Shape 46"/>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51" name="Text 48"/>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يَشْعُرُ</a:t>
            </a:r>
            <a:endParaRPr lang="ar-SA" sz="1500" dirty="0"/>
          </a:p>
        </p:txBody>
      </p:sp>
      <p:sp>
        <p:nvSpPr>
          <p:cNvPr id="52" name="Shape 49"/>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4" name="Text 51"/>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تَشْعُرُ</a:t>
            </a:r>
            <a:endParaRPr lang="ar-SA" sz="1500" dirty="0"/>
          </a:p>
        </p:txBody>
      </p:sp>
      <p:sp>
        <p:nvSpPr>
          <p:cNvPr id="55" name="Shape 52"/>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f.</a:t>
            </a:r>
            <a:endParaRPr lang="en-US" sz="700" dirty="0"/>
          </a:p>
        </p:txBody>
      </p:sp>
      <p:sp>
        <p:nvSpPr>
          <p:cNvPr id="57" name="Text 54"/>
          <p:cNvSpPr txBox="1"/>
          <p:nvPr/>
        </p:nvSpPr>
        <p:spPr>
          <a:xfrm>
            <a:off x="64008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تَشْعُرِينَ</a:t>
            </a:r>
            <a:endParaRPr lang="ar-SA" sz="135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عِنْدِي أَلَمٌ فِي ...</a:t>
            </a:r>
            <a:endParaRPr lang="ar-SA" sz="3000" dirty="0"/>
          </a:p>
        </p:txBody>
      </p:sp>
      <p:sp>
        <p:nvSpPr>
          <p:cNvPr id="64" name="Text 6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have pain in ...</a:t>
            </a:r>
            <a:endParaRPr lang="en-US" sz="1350" dirty="0"/>
          </a:p>
          <a:p>
            <a:pPr indent="0" marL="0">
              <a:buNone/>
            </a:pPr>
            <a:r>
              <a:rPr lang="en-US" sz="1100" i="1" dirty="0">
                <a:solidFill>
                  <a:srgbClr val="5A6472"/>
                </a:solidFill>
                <a:latin typeface="Calibri" pitchFamily="34" charset="0"/>
                <a:cs typeface="Amiri" pitchFamily="2" charset="-78"/>
              </a:rPr>
              <a:t>ʿin-dī a-la-mun fī ...</a:t>
            </a:r>
            <a:endParaRPr lang="en-US"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مُنْذُ أَمْسِ</a:t>
            </a:r>
            <a:endParaRPr lang="ar-SA" sz="3000" dirty="0"/>
          </a:p>
        </p:txBody>
      </p:sp>
      <p:sp>
        <p:nvSpPr>
          <p:cNvPr id="71" name="Text 6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since yesterday</a:t>
            </a:r>
            <a:endParaRPr lang="en-US" sz="1350" dirty="0"/>
          </a:p>
          <a:p>
            <a:pPr indent="0" marL="0">
              <a:buNone/>
            </a:pPr>
            <a:r>
              <a:rPr lang="en-US" sz="1100" i="1" dirty="0">
                <a:solidFill>
                  <a:srgbClr val="5A6472"/>
                </a:solidFill>
                <a:latin typeface="Calibri" pitchFamily="34" charset="0"/>
                <a:cs typeface="Amiri" pitchFamily="2" charset="-78"/>
              </a:rPr>
              <a:t>mun-dhu am-si</a:t>
            </a:r>
            <a:endParaRPr lang="en-US" sz="1350" dirty="0"/>
          </a:p>
        </p:txBody>
      </p:sp>
      <p:sp>
        <p:nvSpPr>
          <p:cNvPr id="72" name="Shape 6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566928" y="4261104"/>
            <a:ext cx="310896" cy="310896"/>
          </a:xfrm>
          <a:prstGeom prst="ellipse">
            <a:avLst/>
          </a:prstGeom>
          <a:solidFill>
            <a:srgbClr val="F4F1EA"/>
          </a:solidFill>
          <a:ln w="12700">
            <a:solidFill>
              <a:srgbClr val="F4F1EA"/>
            </a:solidFill>
            <a:prstDash val="solid"/>
          </a:ln>
        </p:spPr>
      </p:sp>
      <p:sp>
        <p:nvSpPr>
          <p:cNvPr id="74" name="Text 7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5" name="Shape 7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7" name="Text 7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مُنْذُ مَتَى؟</a:t>
            </a:r>
            <a:endParaRPr lang="ar-SA" sz="3000" dirty="0"/>
          </a:p>
        </p:txBody>
      </p:sp>
      <p:sp>
        <p:nvSpPr>
          <p:cNvPr id="78" name="Text 7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since when / for how long?</a:t>
            </a:r>
            <a:endParaRPr lang="en-US" sz="1350" dirty="0"/>
          </a:p>
          <a:p>
            <a:pPr indent="0" marL="0">
              <a:buNone/>
            </a:pPr>
            <a:r>
              <a:rPr lang="en-US" sz="1100" i="1" dirty="0">
                <a:solidFill>
                  <a:srgbClr val="5A6472"/>
                </a:solidFill>
                <a:latin typeface="Calibri" pitchFamily="34" charset="0"/>
                <a:cs typeface="Amiri" pitchFamily="2" charset="-78"/>
              </a:rPr>
              <a:t>mun-dhu ma-tā?</a:t>
            </a:r>
            <a:endParaRPr lang="en-US" sz="13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STEP 2 · SAY THE MODEL DIALOGUE · READ IT, THEN SAY IT WITHOUT LOOKING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What’s wrong?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مَاذَا بِكَ؟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What’s wrong? You are not well.</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مَاذَا بِكَ؟ أَنْتَ لَسْتَ بِخَيْرٍ.</a:t>
            </a:r>
            <a:endParaRPr lang="ar-SA" sz="20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have a headache, and I feel tired.</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عِنْدِي صُدَاعٌ، وَأَشْعُرُ بِالتَّعَبِ.</a:t>
            </a:r>
            <a:endParaRPr lang="ar-SA" sz="20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Since when?</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مُنْذُ مَتَى؟</a:t>
            </a:r>
            <a:endParaRPr lang="ar-SA" sz="20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Since yesterday. And I have a sore throat too.</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مُنْذُ أَمْسِ. وَعِنْدِي أَلَمٌ فِي الحَلْقِ أَيْضًا.</a:t>
            </a:r>
            <a:endParaRPr lang="ar-SA" sz="20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have a fever?</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هَلْ عِنْدَكَ حُمَّى؟</a:t>
            </a:r>
            <a:endParaRPr lang="ar-SA" sz="20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a little. I think I have a cold.</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نَعَمْ، قَلِيلًا. أَظُنُّ أَنَّ عِنْدِي زُكَامًا.</a:t>
            </a:r>
            <a:endParaRPr lang="ar-SA" sz="20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Round 1: read it in pairs. Round 2: swap letters. Round 3: choose a different illness and a different “since when”.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3 · QUESTION CARDS · THE LEADER ASKS, THE SPEAKER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Answer in a full sentence — then add more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وَأَجْوِبَةٌ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38360" y="2267712"/>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a:t>
            </a:r>
            <a:endParaRPr lang="ar-SA" sz="1500" dirty="0"/>
          </a:p>
        </p:txBody>
      </p:sp>
      <p:sp>
        <p:nvSpPr>
          <p:cNvPr id="23" name="Text 20"/>
          <p:cNvSpPr txBox="1"/>
          <p:nvPr/>
        </p:nvSpPr>
        <p:spPr>
          <a:xfrm>
            <a:off x="6995160" y="2267712"/>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أَشْعُرُ بِالتَّعَبِ / أَنَا بِخَيْرٍ</a:t>
            </a:r>
            <a:endParaRPr lang="ar-SA" sz="1600" dirty="0"/>
          </a:p>
        </p:txBody>
      </p:sp>
      <p:sp>
        <p:nvSpPr>
          <p:cNvPr id="24" name="Text 21"/>
          <p:cNvSpPr txBox="1"/>
          <p:nvPr/>
        </p:nvSpPr>
        <p:spPr>
          <a:xfrm>
            <a:off x="4636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you feel today?</a:t>
            </a:r>
            <a:endParaRPr lang="en-US" sz="1100" dirty="0"/>
          </a:p>
        </p:txBody>
      </p:sp>
      <p:sp>
        <p:nvSpPr>
          <p:cNvPr id="25" name="Text 22"/>
          <p:cNvSpPr txBox="1"/>
          <p:nvPr/>
        </p:nvSpPr>
        <p:spPr>
          <a:xfrm>
            <a:off x="1051560" y="2267712"/>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تَشْعُرُ اليَوْمَ؟</a:t>
            </a:r>
            <a:endParaRPr lang="ar-SA" sz="1700" dirty="0"/>
          </a:p>
        </p:txBody>
      </p:sp>
      <p:sp>
        <p:nvSpPr>
          <p:cNvPr id="26" name="Text 23"/>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38360" y="300471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وَفِي … أَيْضًا</a:t>
            </a:r>
            <a:endParaRPr lang="ar-SA" sz="1500" dirty="0"/>
          </a:p>
        </p:txBody>
      </p:sp>
      <p:sp>
        <p:nvSpPr>
          <p:cNvPr id="31" name="Text 28"/>
          <p:cNvSpPr txBox="1"/>
          <p:nvPr/>
        </p:nvSpPr>
        <p:spPr>
          <a:xfrm>
            <a:off x="6995160" y="300471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عِنْدِي أَلَمٌ فِي …</a:t>
            </a:r>
            <a:endParaRPr lang="ar-SA" sz="1600" dirty="0"/>
          </a:p>
        </p:txBody>
      </p:sp>
      <p:sp>
        <p:nvSpPr>
          <p:cNvPr id="32" name="Text 29"/>
          <p:cNvSpPr txBox="1"/>
          <p:nvPr/>
        </p:nvSpPr>
        <p:spPr>
          <a:xfrm>
            <a:off x="4636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is the pain?</a:t>
            </a:r>
            <a:endParaRPr lang="en-US" sz="1100" dirty="0"/>
          </a:p>
        </p:txBody>
      </p:sp>
      <p:sp>
        <p:nvSpPr>
          <p:cNvPr id="33" name="Text 30"/>
          <p:cNvSpPr txBox="1"/>
          <p:nvPr/>
        </p:nvSpPr>
        <p:spPr>
          <a:xfrm>
            <a:off x="1051560" y="300471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الأَلَمُ؟</a:t>
            </a:r>
            <a:endParaRPr lang="ar-SA" sz="1700" dirty="0"/>
          </a:p>
        </p:txBody>
      </p:sp>
      <p:sp>
        <p:nvSpPr>
          <p:cNvPr id="34" name="Text 31"/>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38360" y="3741725"/>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يَوْمَيْنِ / أُسْبُوعٍ</a:t>
            </a:r>
            <a:endParaRPr lang="ar-SA" sz="1500" dirty="0"/>
          </a:p>
        </p:txBody>
      </p:sp>
      <p:sp>
        <p:nvSpPr>
          <p:cNvPr id="39" name="Text 36"/>
          <p:cNvSpPr txBox="1"/>
          <p:nvPr/>
        </p:nvSpPr>
        <p:spPr>
          <a:xfrm>
            <a:off x="6995160" y="3741725"/>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مُنْذُ …</a:t>
            </a:r>
            <a:endParaRPr lang="ar-SA" sz="1600" dirty="0"/>
          </a:p>
        </p:txBody>
      </p:sp>
      <p:sp>
        <p:nvSpPr>
          <p:cNvPr id="40" name="Text 37"/>
          <p:cNvSpPr txBox="1"/>
          <p:nvPr/>
        </p:nvSpPr>
        <p:spPr>
          <a:xfrm>
            <a:off x="4636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long have you been ill?</a:t>
            </a:r>
            <a:endParaRPr lang="en-US" sz="1100" dirty="0"/>
          </a:p>
        </p:txBody>
      </p:sp>
      <p:sp>
        <p:nvSpPr>
          <p:cNvPr id="41" name="Text 38"/>
          <p:cNvSpPr txBox="1"/>
          <p:nvPr/>
        </p:nvSpPr>
        <p:spPr>
          <a:xfrm>
            <a:off x="1051560" y="3741725"/>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مُنْذُ مَتَى أَنْتَ مَرِيضٌ؟</a:t>
            </a:r>
            <a:endParaRPr lang="ar-SA" sz="1700" dirty="0"/>
          </a:p>
        </p:txBody>
      </p:sp>
      <p:sp>
        <p:nvSpPr>
          <p:cNvPr id="42" name="Text 39"/>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38360" y="4478731"/>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لٰكِنْ عِنْدِي …</a:t>
            </a:r>
            <a:endParaRPr lang="ar-SA" sz="1500" dirty="0"/>
          </a:p>
        </p:txBody>
      </p:sp>
      <p:sp>
        <p:nvSpPr>
          <p:cNvPr id="47" name="Text 44"/>
          <p:cNvSpPr txBox="1"/>
          <p:nvPr/>
        </p:nvSpPr>
        <p:spPr>
          <a:xfrm>
            <a:off x="6995160" y="4478731"/>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عِنْدِي … / لَا، لَيْسَتْ عِنْدِي …</a:t>
            </a:r>
            <a:endParaRPr lang="ar-SA" sz="1600" dirty="0"/>
          </a:p>
        </p:txBody>
      </p:sp>
      <p:sp>
        <p:nvSpPr>
          <p:cNvPr id="48" name="Text 45"/>
          <p:cNvSpPr txBox="1"/>
          <p:nvPr/>
        </p:nvSpPr>
        <p:spPr>
          <a:xfrm>
            <a:off x="4636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have a fever?</a:t>
            </a:r>
            <a:endParaRPr lang="en-US" sz="1100" dirty="0"/>
          </a:p>
        </p:txBody>
      </p:sp>
      <p:sp>
        <p:nvSpPr>
          <p:cNvPr id="49" name="Text 46"/>
          <p:cNvSpPr txBox="1"/>
          <p:nvPr/>
        </p:nvSpPr>
        <p:spPr>
          <a:xfrm>
            <a:off x="1051560" y="4478731"/>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عِنْدَكَ حُمَّى؟</a:t>
            </a:r>
            <a:endParaRPr lang="ar-SA" sz="1700" dirty="0"/>
          </a:p>
        </p:txBody>
      </p:sp>
      <p:sp>
        <p:nvSpPr>
          <p:cNvPr id="50" name="Text 47"/>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738360" y="521573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وَأَشْرَبُ …</a:t>
            </a:r>
            <a:endParaRPr lang="ar-SA" sz="1500" dirty="0"/>
          </a:p>
        </p:txBody>
      </p:sp>
      <p:sp>
        <p:nvSpPr>
          <p:cNvPr id="53" name="Text 50"/>
          <p:cNvSpPr txBox="1"/>
          <p:nvPr/>
        </p:nvSpPr>
        <p:spPr>
          <a:xfrm>
            <a:off x="6995160" y="521573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أَبْقَى فِي البَيْتِ وَ…</a:t>
            </a:r>
            <a:endParaRPr lang="ar-SA" sz="1600" dirty="0"/>
          </a:p>
        </p:txBody>
      </p:sp>
      <p:sp>
        <p:nvSpPr>
          <p:cNvPr id="54" name="Text 51"/>
          <p:cNvSpPr txBox="1"/>
          <p:nvPr/>
        </p:nvSpPr>
        <p:spPr>
          <a:xfrm>
            <a:off x="4636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do when you have a cold?</a:t>
            </a:r>
            <a:endParaRPr lang="en-US" sz="1100" dirty="0"/>
          </a:p>
        </p:txBody>
      </p:sp>
      <p:sp>
        <p:nvSpPr>
          <p:cNvPr id="55" name="Text 52"/>
          <p:cNvSpPr txBox="1"/>
          <p:nvPr/>
        </p:nvSpPr>
        <p:spPr>
          <a:xfrm>
            <a:off x="1051560" y="521573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تَفْعَلُ عِنْدَمَا يَكُونُ عِنْدَكَ زُكَامٌ؟</a:t>
            </a:r>
            <a:endParaRPr lang="ar-SA" sz="1700" dirty="0"/>
          </a:p>
        </p:txBody>
      </p:sp>
      <p:sp>
        <p:nvSpPr>
          <p:cNvPr id="56" name="Text 53"/>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Each Speaker answers every question. Core: a full sentence from the starter. Develop: add the “more” part. Stretch: add a reason with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 second detail. Swap after each question.</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Role-play card — phoning school to say you are ill</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أَتَّصِلُ بِالمَدْرَسَةِ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75320" y="2267712"/>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صَبَاحَ ← صَبَاحَ النُّورِ ، أَنَا …</a:t>
            </a:r>
            <a:endParaRPr lang="ar-SA" sz="1600" dirty="0"/>
          </a:p>
        </p:txBody>
      </p:sp>
      <p:sp>
        <p:nvSpPr>
          <p:cNvPr id="22" name="Text 19"/>
          <p:cNvSpPr txBox="1"/>
          <p:nvPr/>
        </p:nvSpPr>
        <p:spPr>
          <a:xfrm>
            <a:off x="500176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Greet + give your name.</a:t>
            </a:r>
            <a:endParaRPr lang="en-US" sz="1100" dirty="0"/>
          </a:p>
        </p:txBody>
      </p:sp>
      <p:sp>
        <p:nvSpPr>
          <p:cNvPr id="23" name="Text 20"/>
          <p:cNvSpPr txBox="1"/>
          <p:nvPr/>
        </p:nvSpPr>
        <p:spPr>
          <a:xfrm>
            <a:off x="1051560" y="2267712"/>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مَدْرَسَةُ النُّورِ، صَبَاحَ الخَيْرِ.</a:t>
            </a:r>
            <a:endParaRPr lang="ar-SA" sz="1700" dirty="0"/>
          </a:p>
        </p:txBody>
      </p:sp>
      <p:sp>
        <p:nvSpPr>
          <p:cNvPr id="24" name="Text 21"/>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75320" y="3054096"/>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 أَنَا مَرِيضٌ ، عِنْدِي …</a:t>
            </a:r>
            <a:endParaRPr lang="ar-SA" sz="1600" dirty="0"/>
          </a:p>
        </p:txBody>
      </p:sp>
      <p:sp>
        <p:nvSpPr>
          <p:cNvPr id="29" name="Text 26"/>
          <p:cNvSpPr txBox="1"/>
          <p:nvPr/>
        </p:nvSpPr>
        <p:spPr>
          <a:xfrm>
            <a:off x="500176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you are ill + the problem.</a:t>
            </a:r>
            <a:endParaRPr lang="en-US" sz="1100" dirty="0"/>
          </a:p>
        </p:txBody>
      </p:sp>
      <p:sp>
        <p:nvSpPr>
          <p:cNvPr id="30" name="Text 27"/>
          <p:cNvSpPr txBox="1"/>
          <p:nvPr/>
        </p:nvSpPr>
        <p:spPr>
          <a:xfrm>
            <a:off x="1051560" y="3054096"/>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أُسَاعِدُكَ؟</a:t>
            </a:r>
            <a:endParaRPr lang="ar-SA" sz="1700" dirty="0"/>
          </a:p>
        </p:txBody>
      </p:sp>
      <p:sp>
        <p:nvSpPr>
          <p:cNvPr id="31" name="Text 28"/>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275320" y="3840480"/>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مُنْذُ مَتَى ← مُنْذُ …</a:t>
            </a:r>
            <a:endParaRPr lang="ar-SA" sz="1600" dirty="0"/>
          </a:p>
        </p:txBody>
      </p:sp>
      <p:sp>
        <p:nvSpPr>
          <p:cNvPr id="36" name="Text 33"/>
          <p:cNvSpPr txBox="1"/>
          <p:nvPr/>
        </p:nvSpPr>
        <p:spPr>
          <a:xfrm>
            <a:off x="500176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since when.</a:t>
            </a:r>
            <a:endParaRPr lang="en-US" sz="1100" dirty="0"/>
          </a:p>
        </p:txBody>
      </p:sp>
      <p:sp>
        <p:nvSpPr>
          <p:cNvPr id="37" name="Text 34"/>
          <p:cNvSpPr txBox="1"/>
          <p:nvPr/>
        </p:nvSpPr>
        <p:spPr>
          <a:xfrm>
            <a:off x="1051560" y="3840480"/>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مُنْذُ مَتَى؟</a:t>
            </a:r>
            <a:endParaRPr lang="ar-SA" sz="1700" dirty="0"/>
          </a:p>
        </p:txBody>
      </p:sp>
      <p:sp>
        <p:nvSpPr>
          <p:cNvPr id="38" name="Text 35"/>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8275320" y="4626864"/>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لَا أَعْرِفُ ، إِنْ شَاءَ اللّٰهُ … شُكْرًا</a:t>
            </a:r>
            <a:endParaRPr lang="ar-SA" sz="1600" dirty="0"/>
          </a:p>
        </p:txBody>
      </p:sp>
      <p:sp>
        <p:nvSpPr>
          <p:cNvPr id="43" name="Text 40"/>
          <p:cNvSpPr txBox="1"/>
          <p:nvPr/>
        </p:nvSpPr>
        <p:spPr>
          <a:xfrm>
            <a:off x="500176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 thank.</a:t>
            </a:r>
            <a:endParaRPr lang="en-US" sz="1100" dirty="0"/>
          </a:p>
        </p:txBody>
      </p:sp>
      <p:sp>
        <p:nvSpPr>
          <p:cNvPr id="44" name="Text 41"/>
          <p:cNvSpPr txBox="1"/>
          <p:nvPr/>
        </p:nvSpPr>
        <p:spPr>
          <a:xfrm>
            <a:off x="1051560" y="4626864"/>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سَتَأْتِي غَدًا؟</a:t>
            </a:r>
            <a:endParaRPr lang="ar-SA" sz="1700" dirty="0"/>
          </a:p>
        </p:txBody>
      </p:sp>
      <p:sp>
        <p:nvSpPr>
          <p:cNvPr id="45" name="Text 42"/>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a student (or a parent) phoning · Leader = the school office. Read the plan for 1 minute, then hide it and speak. Then swap roles.</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5 · SHORT TALK · 30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30 seconds: the last time I was ill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آخِرُ مَرَّةٍ كُنْتُ مَرِيضًا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5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30 seconds — no stopping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 seconds about how you feel today, then describe one illness you had: what, where it hurt, how long — and what you did.</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3–4 key words,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Leader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until everyone has spoken.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أَشْعُرُ بِالتَّعَبِ · عِنْدِي … · مُنْذُ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عِنْدِي أَلَمٌ فِي</a:t>
            </a:r>
            <a:pPr algn="l" indent="0" marL="0">
              <a:buNone/>
            </a:pPr>
            <a:r>
              <a:rPr lang="en-US" sz="1150" dirty="0">
                <a:solidFill>
                  <a:srgbClr val="1F2A37"/>
                </a:solidFill>
                <a:latin typeface="Calibri" pitchFamily="34" charset="0"/>
                <a:cs typeface="Amiri" pitchFamily="2" charset="-78"/>
              </a:rPr>
              <a:t> … and two symptoms.</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Tell it in the past: </a:t>
            </a:r>
            <a:pPr algn="l" indent="0" marL="0">
              <a:buNone/>
            </a:pPr>
            <a:r>
              <a:rPr lang="ar-SA" altLang="en-US" sz="1500" dirty="0">
                <a:solidFill>
                  <a:srgbClr val="1F2A37"/>
                </a:solidFill>
                <a:latin typeface="Amiri" pitchFamily="2" charset="-78"/>
                <a:ea typeface="Amiri" pitchFamily="2" charset="-78"/>
                <a:cs typeface="Amiri" pitchFamily="2" charset="-78"/>
              </a:rPr>
              <a:t>كَانَ عِنْدِي</a:t>
            </a:r>
            <a:pPr algn="l" indent="0" marL="0">
              <a:buNone/>
            </a:pPr>
            <a:r>
              <a:rPr lang="en-US" sz="1150" dirty="0">
                <a:solidFill>
                  <a:srgbClr val="1F2A37"/>
                </a:solidFill>
                <a:latin typeface="Calibri" pitchFamily="34" charset="0"/>
                <a:cs typeface="Amiri" pitchFamily="2" charset="-78"/>
              </a:rPr>
              <a:t> … · </a:t>
            </a:r>
            <a:pPr algn="l" indent="0" marL="0">
              <a:buNone/>
            </a:pPr>
            <a:r>
              <a:rPr lang="ar-SA" altLang="en-US" sz="1500" dirty="0">
                <a:solidFill>
                  <a:srgbClr val="1F2A37"/>
                </a:solidFill>
                <a:latin typeface="Amiri" pitchFamily="2" charset="-78"/>
                <a:ea typeface="Amiri" pitchFamily="2" charset="-78"/>
                <a:cs typeface="Amiri" pitchFamily="2" charset="-78"/>
              </a:rPr>
              <a:t>بَقِيتُ فِي البَيْتِ</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أَنَا … وَ…</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am … and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عِنْدِي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have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أُحِبُّ … لِأَنَّ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like … because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وَأَيْضًا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and also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B · STEP 6 · SENTENCE BUILDER · CHOOSE A OR B IN EACH COLUMN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 · practice room</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have a stomach ache since yesterday.</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عِنْدِي</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عِنْدَهُ</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أَلَمٌ فِي المَعِدَةِ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أَلَمٌ فِي المَعِدَةُ</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مُنْذُ أَمْسِ.</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أَمْسِ.</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sister is ill; she has a fever.</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أُخْتِي مَرِيضَةٌ،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أُخْتِي مَرِيضٌ،</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عِنْدَهَا</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عِنْدِي</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حُمَّى.</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حُمَّاهَا.</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feel tired.</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أَشْعُرُ</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يَشْعُرُ</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بِالتَّعَبِ</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التَّعَبَ</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algn="l" indent="0" marL="0">
              <a:buNone/>
            </a:pPr>
            <a:r>
              <a:rPr lang="en-US" sz="1800" dirty="0">
                <a:solidFill>
                  <a:srgbClr val="1F2A37"/>
                </a:solidFill>
                <a:latin typeface="Calibri" pitchFamily="34" charset="0"/>
                <a:cs typeface="Amiri" pitchFamily="2" charset="-78"/>
              </a:rPr>
              <a:t>.</a:t>
            </a:r>
            <a:endParaRPr lang="en-US"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أَمْسِ.</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6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 · practice room</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have a stomach ache since yesterday.</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 </a:t>
            </a:r>
            <a:pPr algn="l" indent="0" marL="0">
              <a:buNone/>
            </a:pPr>
            <a:r>
              <a:rPr lang="ar-SA" altLang="en-US" sz="1350" dirty="0">
                <a:solidFill>
                  <a:srgbClr val="5A6472"/>
                </a:solidFill>
                <a:latin typeface="Amiri" pitchFamily="2" charset="-78"/>
                <a:ea typeface="Amiri" pitchFamily="2" charset="-78"/>
                <a:cs typeface="Amiri" pitchFamily="2" charset="-78"/>
              </a:rPr>
              <a:t>عِنْدِي</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فِي</a:t>
            </a:r>
            <a:pPr algn="l" indent="0" marL="0">
              <a:buNone/>
            </a:pPr>
            <a:r>
              <a:rPr lang="en-US" sz="1050" i="1" dirty="0">
                <a:solidFill>
                  <a:srgbClr val="5A6472"/>
                </a:solidFill>
                <a:latin typeface="Calibri" pitchFamily="34" charset="0"/>
                <a:cs typeface="Amiri" pitchFamily="2" charset="-78"/>
              </a:rPr>
              <a:t> + genitive; since = </a:t>
            </a:r>
            <a:pPr algn="l" indent="0" marL="0">
              <a:buNone/>
            </a:pPr>
            <a:r>
              <a:rPr lang="ar-SA" altLang="en-US" sz="1350" dirty="0">
                <a:solidFill>
                  <a:srgbClr val="5A6472"/>
                </a:solidFill>
                <a:latin typeface="Amiri" pitchFamily="2" charset="-78"/>
                <a:ea typeface="Amiri" pitchFamily="2" charset="-78"/>
                <a:cs typeface="Amiri" pitchFamily="2" charset="-78"/>
              </a:rPr>
              <a:t>مُنْذُ</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عِنْدِي أَلَمٌ فِي المَعِدَةِ مُنْذُ أَمْسِ.</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sister is ill; she has a fever.</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girl → </a:t>
            </a:r>
            <a:pPr algn="l" indent="0" marL="0">
              <a:buNone/>
            </a:pPr>
            <a:r>
              <a:rPr lang="ar-SA" altLang="en-US" sz="1350" dirty="0">
                <a:solidFill>
                  <a:srgbClr val="5A6472"/>
                </a:solidFill>
                <a:latin typeface="Amiri" pitchFamily="2" charset="-78"/>
                <a:ea typeface="Amiri" pitchFamily="2" charset="-78"/>
                <a:cs typeface="Amiri" pitchFamily="2" charset="-78"/>
              </a:rPr>
              <a:t>مَرِيضَةٌ</a:t>
            </a:r>
            <a:pPr algn="l" indent="0" marL="0">
              <a:buNone/>
            </a:pPr>
            <a:r>
              <a:rPr lang="en-US" sz="1050" i="1" dirty="0">
                <a:solidFill>
                  <a:srgbClr val="5A6472"/>
                </a:solidFill>
                <a:latin typeface="Calibri" pitchFamily="34" charset="0"/>
                <a:cs typeface="Amiri" pitchFamily="2" charset="-78"/>
              </a:rPr>
              <a:t>; she has = </a:t>
            </a:r>
            <a:pPr algn="l" indent="0" marL="0">
              <a:buNone/>
            </a:pPr>
            <a:r>
              <a:rPr lang="ar-SA" altLang="en-US" sz="1350" dirty="0">
                <a:solidFill>
                  <a:srgbClr val="5A6472"/>
                </a:solidFill>
                <a:latin typeface="Amiri" pitchFamily="2" charset="-78"/>
                <a:ea typeface="Amiri" pitchFamily="2" charset="-78"/>
                <a:cs typeface="Amiri" pitchFamily="2" charset="-78"/>
              </a:rPr>
              <a:t>عِنْدَهَا</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أُخْتِي مَرِيضَةٌ، عِنْدَهَا حُمَّى.</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feel tired.</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feel = </a:t>
            </a:r>
            <a:pPr algn="l" indent="0" marL="0">
              <a:buNone/>
            </a:pPr>
            <a:r>
              <a:rPr lang="ar-SA" altLang="en-US" sz="1350" dirty="0">
                <a:solidFill>
                  <a:srgbClr val="5A6472"/>
                </a:solidFill>
                <a:latin typeface="Amiri" pitchFamily="2" charset="-78"/>
                <a:ea typeface="Amiri" pitchFamily="2" charset="-78"/>
                <a:cs typeface="Amiri" pitchFamily="2" charset="-78"/>
              </a:rPr>
              <a:t>أَشْعُرُ</a:t>
            </a:r>
            <a:pPr algn="l" indent="0" marL="0">
              <a:buNone/>
            </a:pPr>
            <a:r>
              <a:rPr lang="en-US" sz="1050" i="1" dirty="0">
                <a:solidFill>
                  <a:srgbClr val="5A6472"/>
                </a:solidFill>
                <a:latin typeface="Calibri" pitchFamily="34" charset="0"/>
                <a:cs typeface="Amiri" pitchFamily="2" charset="-78"/>
              </a:rPr>
              <a:t> + bi- + noun.</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أَشْعُرُ بِالتَّعَبِ .</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7 · SPOT AND FIX · MISTAKES STUDENTS OFTEN MAKE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عِنْدِي صُدَاعٌ مِنْ أَمْسِ.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“since” in Arabic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algn="l" indent="0" marL="0">
              <a:buNone/>
            </a:pPr>
            <a:r>
              <a:rPr lang="ar-SA" altLang="en-US" sz="3900" b="1" dirty="0">
                <a:solidFill>
                  <a:srgbClr val="B83227"/>
                </a:solidFill>
                <a:latin typeface="Amiri" pitchFamily="2" charset="-78"/>
                <a:ea typeface="Amiri" pitchFamily="2" charset="-78"/>
                <a:cs typeface="Amiri" pitchFamily="2" charset="-78"/>
              </a:rPr>
              <a:t>عِنْدِي أَلَمٌ فِي رَأْسِي وَ أُذُنِي</a:t>
            </a:r>
            <a:pPr algn="l" indent="0" marL="0">
              <a:buNone/>
            </a:pPr>
            <a:r>
              <a:rPr lang="en-US" sz="3000" b="1" dirty="0">
                <a:solidFill>
                  <a:srgbClr val="B83227"/>
                </a:solidFill>
                <a:latin typeface="Calibri" pitchFamily="34" charset="0"/>
                <a:cs typeface="Amiri" pitchFamily="2" charset="-78"/>
              </a:rPr>
              <a:t>. (Sara: </a:t>
            </a:r>
            <a:pPr algn="l" indent="0" marL="0">
              <a:buNone/>
            </a:pPr>
            <a:r>
              <a:rPr lang="ar-SA" altLang="en-US" sz="3900" b="1" dirty="0">
                <a:solidFill>
                  <a:srgbClr val="B83227"/>
                </a:solidFill>
                <a:latin typeface="Amiri" pitchFamily="2" charset="-78"/>
                <a:ea typeface="Amiri" pitchFamily="2" charset="-78"/>
                <a:cs typeface="Amiri" pitchFamily="2" charset="-78"/>
              </a:rPr>
              <a:t>أَنَا مَرِيضٌ</a:t>
            </a:r>
            <a:pPr algn="l" indent="0" marL="0">
              <a:buNone/>
            </a:pPr>
            <a:r>
              <a:rPr lang="en-US" sz="3000" b="1" dirty="0">
                <a:solidFill>
                  <a:srgbClr val="B83227"/>
                </a:solidFill>
                <a:latin typeface="Calibri" pitchFamily="34" charset="0"/>
                <a:cs typeface="Amiri" pitchFamily="2" charset="-78"/>
              </a:rPr>
              <a:t>)</a:t>
            </a:r>
            <a:endParaRPr lang="en-US"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Sara is a girl.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أَشْعُرُ التَّعَبَ.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This verb needs a small word.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عِنْدِي صُدَاعٌ مِنْ أَمْسِ.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عِنْدِي صُدَاعٌ مُنْذُ أَمْسِ.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Since / for = </a:t>
            </a:r>
            <a:pPr algn="l" indent="0" marL="0">
              <a:buNone/>
            </a:pPr>
            <a:r>
              <a:rPr lang="ar-SA" altLang="en-US" sz="1500" b="1" dirty="0">
                <a:solidFill>
                  <a:srgbClr val="1B3B6F"/>
                </a:solidFill>
                <a:latin typeface="Amiri" pitchFamily="2" charset="-78"/>
                <a:ea typeface="Amiri" pitchFamily="2" charset="-78"/>
                <a:cs typeface="Amiri" pitchFamily="2" charset="-78"/>
              </a:rPr>
              <a:t>مُنْذُ</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algn="l" indent="0" marL="0">
              <a:buNone/>
            </a:pPr>
            <a:r>
              <a:rPr lang="ar-SA" altLang="en-US" sz="2350" dirty="0">
                <a:solidFill>
                  <a:srgbClr val="B83227"/>
                </a:solidFill>
                <a:latin typeface="Amiri" pitchFamily="2" charset="-78"/>
                <a:ea typeface="Amiri" pitchFamily="2" charset="-78"/>
                <a:cs typeface="Amiri" pitchFamily="2" charset="-78"/>
              </a:rPr>
              <a:t>عِنْدِي أَلَمٌ فِي رَأْسِي وَ أُذُنِي</a:t>
            </a:r>
            <a:pPr algn="l" indent="0" marL="0">
              <a:buNone/>
            </a:pPr>
            <a:r>
              <a:rPr lang="en-US" sz="1800" dirty="0">
                <a:solidFill>
                  <a:srgbClr val="B83227"/>
                </a:solidFill>
                <a:latin typeface="Calibri" pitchFamily="34" charset="0"/>
                <a:cs typeface="Amiri" pitchFamily="2" charset="-78"/>
              </a:rPr>
              <a:t>. (Sara: </a:t>
            </a:r>
            <a:pPr algn="l" indent="0" marL="0">
              <a:buNone/>
            </a:pPr>
            <a:r>
              <a:rPr lang="ar-SA" altLang="en-US" sz="2350" dirty="0">
                <a:solidFill>
                  <a:srgbClr val="B83227"/>
                </a:solidFill>
                <a:latin typeface="Amiri" pitchFamily="2" charset="-78"/>
                <a:ea typeface="Amiri" pitchFamily="2" charset="-78"/>
                <a:cs typeface="Amiri" pitchFamily="2" charset="-78"/>
              </a:rPr>
              <a:t>أَنَا مَرِيضٌ</a:t>
            </a:r>
            <a:pPr algn="l" indent="0" marL="0">
              <a:buNone/>
            </a:pPr>
            <a:r>
              <a:rPr lang="en-US" sz="1800" dirty="0">
                <a:solidFill>
                  <a:srgbClr val="B83227"/>
                </a:solidFill>
                <a:latin typeface="Calibri" pitchFamily="34" charset="0"/>
                <a:cs typeface="Amiri" pitchFamily="2" charset="-78"/>
              </a:rPr>
              <a:t>)</a:t>
            </a:r>
            <a:endParaRPr lang="en-US"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مَرِيضَةٌ.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girl → </a:t>
            </a:r>
            <a:pPr algn="l" indent="0" marL="0">
              <a:buNone/>
            </a:pPr>
            <a:r>
              <a:rPr lang="ar-SA" altLang="en-US" sz="1500" b="1" dirty="0">
                <a:solidFill>
                  <a:srgbClr val="1B3B6F"/>
                </a:solidFill>
                <a:latin typeface="Amiri" pitchFamily="2" charset="-78"/>
                <a:ea typeface="Amiri" pitchFamily="2" charset="-78"/>
                <a:cs typeface="Amiri" pitchFamily="2" charset="-78"/>
              </a:rPr>
              <a:t>مَرِيضَةٌ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أَشْعُرُ التَّعَبَ.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أَشْعُرُ بِالتَّعَبِ.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أَشْعُرُ</a:t>
            </a:r>
            <a:pPr algn="l" indent="0" marL="0">
              <a:buNone/>
            </a:pPr>
            <a:r>
              <a:rPr lang="en-US" sz="1150" b="1" dirty="0">
                <a:solidFill>
                  <a:srgbClr val="1B3B6F"/>
                </a:solidFill>
                <a:latin typeface="Calibri" pitchFamily="34" charset="0"/>
                <a:cs typeface="Amiri" pitchFamily="2" charset="-78"/>
              </a:rPr>
              <a:t> + bi-.</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 · practice room</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عِنْدِي أَلَمٌ فِي ______ ، وَأَشْعُرُ بِالتَّعَبِ / بِالبَرْدِ.</a:t>
            </a:r>
            <a:endParaRPr lang="ar-SA" sz="15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pain in …, and I feel tired / cold.</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ذَهَبْتُ إِلَى ______ ، وَ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went to …, and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السَّلَامُ عَلَيْكُمْ يَا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Peace be upon you,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آسِفٌ / آسِفَةٌ، أَنَا مَرِيضٌ / مَرِيضَةٌ.</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sorry, I am ill.</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______ وَ ______ مُنْذُ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 and … since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سَأَرْجِعُ إِلَى المَدْرَسَةِ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come back to school …</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صُدَاعٌ · زُكَامٌ  ·  حُمَّى · سُعَالٌ  ·  أَلَمُ الحَلْقِ  ·  عِنْدِي أَلَمٌ فِي  ·  أَشْعُرُ بِالتَّعَبِ  ·  مَرِيضٌ · مَرِيضَةٌ  ·  مُنْذُ أَمْسِ  ·  إِنْ شَاءَ اللّٰهُ</a:t>
            </a:r>
            <a:endParaRPr lang="ar-SA" sz="16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ABOUT 40–60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 absence message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غِيَابٍ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 · practice room</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828800"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8288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SHORT TEXT</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Write a short message (about 35–55 words) to your teacher explaining why you missed school. Include: • a polite greeting • that you were / are ill • two symptoms and where it hurts • since when • what you did (doctor? rest?) • when you hope to come back.</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Words from today’s word bank.</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أَنَا آسِفٌ / آسِفَةٌ، لَمْ آتِ إِلَى المَدْرَسَةِ …</a:t>
            </a:r>
            <a:endParaRPr lang="ar-SA" sz="175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sorry, I didn’t come to school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 عِنْدِي … وَ…</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had … and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مُنْذُ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since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إِنْ شَاءَ اللّٰهُ سَأَرْجِعُ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God willing I will come back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عِنْدِي</a:t>
            </a:r>
            <a:pPr algn="l" indent="0" marL="0">
              <a:buNone/>
            </a:pPr>
            <a:r>
              <a:rPr lang="en-US" sz="1100" dirty="0">
                <a:solidFill>
                  <a:srgbClr val="5A6472"/>
                </a:solidFill>
                <a:latin typeface="Calibri" pitchFamily="34" charset="0"/>
                <a:cs typeface="Amiri" pitchFamily="2" charset="-78"/>
              </a:rPr>
              <a:t> + illness and </a:t>
            </a:r>
            <a:pPr algn="l" indent="0" marL="0">
              <a:buNone/>
            </a:pPr>
            <a:r>
              <a:rPr lang="ar-SA" altLang="en-US" sz="1450" dirty="0">
                <a:solidFill>
                  <a:srgbClr val="5A6472"/>
                </a:solidFill>
                <a:latin typeface="Amiri" pitchFamily="2" charset="-78"/>
                <a:ea typeface="Amiri" pitchFamily="2" charset="-78"/>
                <a:cs typeface="Amiri" pitchFamily="2" charset="-78"/>
              </a:rPr>
              <a:t>مُنْذُ</a:t>
            </a:r>
            <a:pPr algn="l" indent="0" marL="0">
              <a:buNone/>
            </a:pPr>
            <a:r>
              <a:rPr lang="en-US" sz="1100" dirty="0">
                <a:solidFill>
                  <a:srgbClr val="5A6472"/>
                </a:solidFill>
                <a:latin typeface="Calibri" pitchFamily="34" charset="0"/>
                <a:cs typeface="Amiri" pitchFamily="2" charset="-78"/>
              </a:rPr>
              <a:t> + time?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where it hurts (</a:t>
            </a:r>
            <a:pPr algn="l" indent="0" marL="0">
              <a:buNone/>
            </a:pPr>
            <a:r>
              <a:rPr lang="ar-SA" altLang="en-US" sz="1450" dirty="0">
                <a:solidFill>
                  <a:srgbClr val="5A6472"/>
                </a:solidFill>
                <a:latin typeface="Amiri" pitchFamily="2" charset="-78"/>
                <a:ea typeface="Amiri" pitchFamily="2" charset="-78"/>
                <a:cs typeface="Amiri" pitchFamily="2" charset="-78"/>
              </a:rPr>
              <a:t>عِنْدِي أَلَمٌ فِي</a:t>
            </a:r>
            <a:pPr algn="l" indent="0" marL="0">
              <a:buNone/>
            </a:pPr>
            <a:r>
              <a:rPr lang="en-US" sz="1100" dirty="0">
                <a:solidFill>
                  <a:srgbClr val="5A6472"/>
                </a:solidFill>
                <a:latin typeface="Calibri" pitchFamily="34" charset="0"/>
                <a:cs typeface="Amiri" pitchFamily="2" charset="-78"/>
              </a:rPr>
              <a:t> …) and agree </a:t>
            </a:r>
            <a:pPr algn="l" indent="0" marL="0">
              <a:buNone/>
            </a:pPr>
            <a:r>
              <a:rPr lang="ar-SA" altLang="en-US" sz="1450" dirty="0">
                <a:solidFill>
                  <a:srgbClr val="5A6472"/>
                </a:solidFill>
                <a:latin typeface="Amiri" pitchFamily="2" charset="-78"/>
                <a:ea typeface="Amiri" pitchFamily="2" charset="-78"/>
                <a:cs typeface="Amiri" pitchFamily="2" charset="-78"/>
              </a:rPr>
              <a:t>مَرِيضٌ / مَرِيضَةٌ</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800600" y="2286000"/>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صَبَاحَ النُّورِ، أَنَا أَحْمَدُ مِنَ الصَّفِّ الثَّامِنِ.</a:t>
            </a:r>
            <a:endParaRPr lang="ar-SA" sz="1800" dirty="0"/>
          </a:p>
        </p:txBody>
      </p:sp>
      <p:sp>
        <p:nvSpPr>
          <p:cNvPr id="21" name="Text 18"/>
          <p:cNvSpPr txBox="1"/>
          <p:nvPr/>
        </p:nvSpPr>
        <p:spPr>
          <a:xfrm>
            <a:off x="4754880" y="2706624"/>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Good morning, I am Ahmed from Year 8.</a:t>
            </a:r>
            <a:endParaRPr lang="en-US" sz="950" dirty="0"/>
          </a:p>
        </p:txBody>
      </p:sp>
      <p:sp>
        <p:nvSpPr>
          <p:cNvPr id="22" name="Text 19"/>
          <p:cNvSpPr txBox="1"/>
          <p:nvPr/>
        </p:nvSpPr>
        <p:spPr>
          <a:xfrm>
            <a:off x="1051560"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مَدْرَسَةُ النُّورِ، صَبَاحَ الخَيْرِ.</a:t>
            </a:r>
            <a:endParaRPr lang="ar-SA" sz="16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800600" y="3072384"/>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مَرِيضٌ اليَوْمَ، عِنْدِي حُمَّى وَسُعَالٌ.</a:t>
            </a:r>
            <a:endParaRPr lang="ar-SA" sz="1800" dirty="0"/>
          </a:p>
        </p:txBody>
      </p:sp>
      <p:sp>
        <p:nvSpPr>
          <p:cNvPr id="26" name="Text 23"/>
          <p:cNvSpPr txBox="1"/>
          <p:nvPr/>
        </p:nvSpPr>
        <p:spPr>
          <a:xfrm>
            <a:off x="4754880" y="3493008"/>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ill today; I have a fever and a cough.</a:t>
            </a:r>
            <a:endParaRPr lang="en-US" sz="950" dirty="0"/>
          </a:p>
        </p:txBody>
      </p:sp>
      <p:sp>
        <p:nvSpPr>
          <p:cNvPr id="27" name="Text 24"/>
          <p:cNvSpPr txBox="1"/>
          <p:nvPr/>
        </p:nvSpPr>
        <p:spPr>
          <a:xfrm>
            <a:off x="1051560"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أُسَاعِدُكَ؟</a:t>
            </a:r>
            <a:endParaRPr lang="ar-SA" sz="16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800600" y="3858768"/>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مُنْذُ لَيْلَةِ أَمْسِ.</a:t>
            </a:r>
            <a:endParaRPr lang="ar-SA" sz="1800" dirty="0"/>
          </a:p>
        </p:txBody>
      </p:sp>
      <p:sp>
        <p:nvSpPr>
          <p:cNvPr id="31" name="Text 28"/>
          <p:cNvSpPr txBox="1"/>
          <p:nvPr/>
        </p:nvSpPr>
        <p:spPr>
          <a:xfrm>
            <a:off x="4754880" y="4279392"/>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Since last night.</a:t>
            </a:r>
            <a:endParaRPr lang="en-US" sz="950" dirty="0"/>
          </a:p>
        </p:txBody>
      </p:sp>
      <p:sp>
        <p:nvSpPr>
          <p:cNvPr id="32" name="Text 29"/>
          <p:cNvSpPr txBox="1"/>
          <p:nvPr/>
        </p:nvSpPr>
        <p:spPr>
          <a:xfrm>
            <a:off x="1051560"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مُنْذُ مَتَى؟</a:t>
            </a:r>
            <a:endParaRPr lang="ar-SA" sz="16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4800600" y="4645152"/>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إِنْ شَاءَ اللّٰهُ، إِذَا كُنْتُ أَفْضَلَ. شُكْرًا جَزِيلًا.</a:t>
            </a:r>
            <a:endParaRPr lang="ar-SA" sz="1800" dirty="0"/>
          </a:p>
        </p:txBody>
      </p:sp>
      <p:sp>
        <p:nvSpPr>
          <p:cNvPr id="36" name="Text 33"/>
          <p:cNvSpPr txBox="1"/>
          <p:nvPr/>
        </p:nvSpPr>
        <p:spPr>
          <a:xfrm>
            <a:off x="4754880" y="5065776"/>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God willing, if I am better. Thank you very much.</a:t>
            </a:r>
            <a:endParaRPr lang="en-US" sz="950" dirty="0"/>
          </a:p>
        </p:txBody>
      </p:sp>
      <p:sp>
        <p:nvSpPr>
          <p:cNvPr id="37" name="Text 34"/>
          <p:cNvSpPr txBox="1"/>
          <p:nvPr/>
        </p:nvSpPr>
        <p:spPr>
          <a:xfrm>
            <a:off x="1051560" y="4626864"/>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سَتَأْتِي غَدًا؟</a:t>
            </a:r>
            <a:endParaRPr lang="ar-SA" sz="1600" dirty="0"/>
          </a:p>
        </p:txBody>
      </p:sp>
      <p:sp>
        <p:nvSpPr>
          <p:cNvPr id="38" name="Text 35"/>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Choose one phrase you did not use and say it aloud.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 · practice room</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السَّلَامُ عَلَيْكُمْ يَا أُسْتَاذُ خَالِدٌ، أَنَا آسِفَةٌ، لَمْ آتِ إِلَى المَدْرَسَةِ اليَوْمَ لِأَنِّي مَرِيضَةٌ. عِنْدِي حُمَّى وَسُعَالٌ مُنْذُ يَوْمَيْنِ، وَعِنْدِي أَلَمٌ فِي الحَلْقِ. ذَهَبْتُ إِلَى الطَّبِيبِ أَمْسِ، فَقَالَ: اسْتَرِيحِي. إِنْ شَاءَ اللّٰهُ سَأَرْجِعُ يَوْمَ الإِثْنَيْنِ. مَعَ الشُّكْرِ، مَرْيَمُ.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“Peace be upon you, Mr Khalid. I am sorry, I didn’t come to school today because I am ill. I have had a fever and a cough for two days, and I have a sore throat. I went to the doctor yesterday, and he said: rest. God willing I will come back on Monday. With thanks, Maryam.”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لِأَنِّي مَرِيضَةٌ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مُنْذُ يَوْمَيْنِ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عِنْدِي أَلَمٌ فِي الحَلْقِ</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إِنْ شَاءَ اللّٰهُ</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 · practice room</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questions and the role-play tasks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today’s key structure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F5-L08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practised it yourselves!</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cs typeface="Amiri" pitchFamily="2" charset="-78"/>
              </a:rPr>
              <a:t>F5-L09 · At the Doctor and Pharmacy</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عِنْدَ الطَّبِيبِ وَفِي الصَّيْدَلِيَّةِ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say it, then write it — full sentences, every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F5-L08 · Practice Room — Health Problems and How You Feel</dc:title>
  <dc:subject>PptxGenJS Presentation</dc:subject>
  <dc:creator>Al Madina Online School · Arabic Department</dc:creator>
  <cp:lastModifiedBy>Al Madina Online School · Arabic Department</cp:lastModifiedBy>
  <cp:revision>1</cp:revision>
  <dcterms:created xsi:type="dcterms:W3CDTF">2026-10-25T17:38:50Z</dcterms:created>
  <dcterms:modified xsi:type="dcterms:W3CDTF">2026-10-25T17:38:50Z</dcterms:modified>
</cp:coreProperties>
</file>