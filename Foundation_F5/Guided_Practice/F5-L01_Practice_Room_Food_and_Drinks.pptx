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F5-L01 (Food and Drinks) — new practice tasks built on the lesson’s own word bank and grammar (ākulu (I eat) · ashrabu (I drink) + food as object (-a); uḥibbu / lā uḥibbu; hal tuḥibbu / tuḥibbīna …?; food categories).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F5-L01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SUPPORTED: the plan column models the thinking (first words), not the full answer. Everyone is Speaker once. To a girl the Leader says: تُحِبِّينَ · تَأْكُلِينَهُ. Language: naʾkulu / nashrabu (we) · food as object with -a · lā ākulu.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(25–35 words). Develop: 40–60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(30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F5  ·  F5-L01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F5-L01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350" b="1" dirty="0">
                <a:solidFill>
                  <a:srgbClr val="FFFFFF"/>
                </a:solidFill>
                <a:latin typeface="Cambria" pitchFamily="34" charset="0"/>
                <a:cs typeface="Amiri" pitchFamily="2" charset="-78"/>
              </a:rPr>
              <a:t>Practice Room — Food and Drinks</a:t>
            </a:r>
            <a:endParaRPr lang="en-US" sz="33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الطَّعَامُ وَالشَّرَابُ</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run their own speaking and writing practice about food and drinks: say the food words, act a short dialogue, answer question cards, do a role-play card planning a picnic, give a 30-second talk, then build, fix and write about what they eat and drink.</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F5-L01 · Foundation F5 · Food, Health and Body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F5 › F5-L01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F5-L01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F5-L01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F5-L01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F5-L01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F5-L01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F5-L01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F5-L01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F5-L01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Food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F5-L01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خُبْزٌ</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bread</a:t>
            </a:r>
            <a:endParaRPr lang="en-US" sz="1350" dirty="0"/>
          </a:p>
          <a:p>
            <a:pPr indent="0" marL="0">
              <a:buNone/>
            </a:pPr>
            <a:r>
              <a:rPr lang="en-US" sz="1100" i="1" dirty="0">
                <a:solidFill>
                  <a:srgbClr val="5A6472"/>
                </a:solidFill>
                <a:latin typeface="Calibri" pitchFamily="34" charset="0"/>
                <a:cs typeface="Amiri" pitchFamily="2" charset="-78"/>
              </a:rPr>
              <a:t>khub-zun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أَرُزٌّ</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rice</a:t>
            </a:r>
            <a:endParaRPr lang="en-US" sz="1350" dirty="0"/>
          </a:p>
          <a:p>
            <a:pPr indent="0" marL="0">
              <a:buNone/>
            </a:pPr>
            <a:r>
              <a:rPr lang="en-US" sz="1100" i="1" dirty="0">
                <a:solidFill>
                  <a:srgbClr val="5A6472"/>
                </a:solidFill>
                <a:latin typeface="Calibri" pitchFamily="34" charset="0"/>
                <a:cs typeface="Amiri" pitchFamily="2" charset="-78"/>
              </a:rPr>
              <a:t>a-ruz-zun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جُبْنٌ</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cheese</a:t>
            </a:r>
            <a:endParaRPr lang="en-US" sz="1350" dirty="0"/>
          </a:p>
          <a:p>
            <a:pPr indent="0" marL="0">
              <a:buNone/>
            </a:pPr>
            <a:r>
              <a:rPr lang="en-US" sz="1100" i="1" dirty="0">
                <a:solidFill>
                  <a:srgbClr val="5A6472"/>
                </a:solidFill>
                <a:latin typeface="Calibri" pitchFamily="34" charset="0"/>
                <a:cs typeface="Amiri" pitchFamily="2" charset="-78"/>
              </a:rPr>
              <a:t>jub-nun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دَجَاجٌ</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chicken</a:t>
            </a:r>
            <a:endParaRPr lang="en-US" sz="1350" dirty="0"/>
          </a:p>
          <a:p>
            <a:pPr indent="0" marL="0">
              <a:buNone/>
            </a:pPr>
            <a:r>
              <a:rPr lang="en-US" sz="1100" i="1" dirty="0">
                <a:solidFill>
                  <a:srgbClr val="5A6472"/>
                </a:solidFill>
                <a:latin typeface="Calibri" pitchFamily="34" charset="0"/>
                <a:cs typeface="Amiri" pitchFamily="2" charset="-78"/>
              </a:rPr>
              <a:t>da-jā-jun</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46" name="Shape 43"/>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47" name="Text 44"/>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food · one</a:t>
            </a:r>
            <a:endParaRPr lang="en-US" sz="800" dirty="0"/>
          </a:p>
        </p:txBody>
      </p:sp>
      <p:sp>
        <p:nvSpPr>
          <p:cNvPr id="48" name="Shape 4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0" name="Text 4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سَمَكٌ</a:t>
            </a:r>
            <a:endParaRPr lang="ar-SA" sz="3000" dirty="0"/>
          </a:p>
        </p:txBody>
      </p:sp>
      <p:sp>
        <p:nvSpPr>
          <p:cNvPr id="51" name="Text 4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fish</a:t>
            </a:r>
            <a:endParaRPr lang="en-US" sz="1350" dirty="0"/>
          </a:p>
          <a:p>
            <a:pPr indent="0" marL="0">
              <a:buNone/>
            </a:pPr>
            <a:r>
              <a:rPr lang="en-US" sz="1100" i="1" dirty="0">
                <a:solidFill>
                  <a:srgbClr val="5A6472"/>
                </a:solidFill>
                <a:latin typeface="Calibri" pitchFamily="34" charset="0"/>
                <a:cs typeface="Amiri" pitchFamily="2" charset="-78"/>
              </a:rPr>
              <a:t>sa-ma-kun</a:t>
            </a:r>
            <a:endParaRPr lang="en-US" sz="1350" dirty="0"/>
          </a:p>
        </p:txBody>
      </p:sp>
      <p:sp>
        <p:nvSpPr>
          <p:cNvPr id="52" name="Shape 49"/>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53" name="Text 50"/>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food</a:t>
            </a:r>
            <a:endParaRPr lang="en-US" sz="700" dirty="0"/>
          </a:p>
        </p:txBody>
      </p:sp>
      <p:sp>
        <p:nvSpPr>
          <p:cNvPr id="54" name="Text 51"/>
          <p:cNvSpPr txBox="1"/>
          <p:nvPr/>
        </p:nvSpPr>
        <p:spPr>
          <a:xfrm>
            <a:off x="6190488"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سَمَكٌ</a:t>
            </a:r>
            <a:endParaRPr lang="ar-SA" sz="1350" dirty="0"/>
          </a:p>
        </p:txBody>
      </p:sp>
      <p:sp>
        <p:nvSpPr>
          <p:cNvPr id="55" name="Shape 52"/>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56" name="Text 53"/>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one fish</a:t>
            </a:r>
            <a:endParaRPr lang="en-US" sz="700" dirty="0"/>
          </a:p>
        </p:txBody>
      </p:sp>
      <p:sp>
        <p:nvSpPr>
          <p:cNvPr id="57" name="Text 54"/>
          <p:cNvSpPr txBox="1"/>
          <p:nvPr/>
        </p:nvSpPr>
        <p:spPr>
          <a:xfrm>
            <a:off x="4462272"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سَمَكَةٌ</a:t>
            </a:r>
            <a:endParaRPr lang="ar-SA" sz="1350" dirty="0"/>
          </a:p>
        </p:txBody>
      </p:sp>
      <p:sp>
        <p:nvSpPr>
          <p:cNvPr id="58" name="Shape 5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566928"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1" name="Shape 58"/>
          <p:cNvSpPr/>
          <p:nvPr/>
        </p:nvSpPr>
        <p:spPr>
          <a:xfrm>
            <a:off x="960120" y="4279392"/>
            <a:ext cx="896112" cy="256032"/>
          </a:xfrm>
          <a:prstGeom prst="roundRect">
            <a:avLst>
              <a:gd name="adj" fmla="val 50000"/>
            </a:avLst>
          </a:prstGeom>
          <a:solidFill>
            <a:srgbClr val="EFE7D2"/>
          </a:solidFill>
          <a:ln w="12700">
            <a:solidFill>
              <a:srgbClr val="EFE7D2"/>
            </a:solidFill>
            <a:prstDash val="solid"/>
          </a:ln>
        </p:spPr>
      </p:sp>
      <p:sp>
        <p:nvSpPr>
          <p:cNvPr id="62" name="Text 59"/>
          <p:cNvSpPr txBox="1"/>
          <p:nvPr/>
        </p:nvSpPr>
        <p:spPr>
          <a:xfrm>
            <a:off x="960120"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food · one</a:t>
            </a:r>
            <a:endParaRPr lang="en-US" sz="800" dirty="0"/>
          </a:p>
        </p:txBody>
      </p:sp>
      <p:sp>
        <p:nvSpPr>
          <p:cNvPr id="63" name="Shape 6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4" name="Text 6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5" name="Text 62"/>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مَوْزٌ</a:t>
            </a:r>
            <a:endParaRPr lang="ar-SA" sz="3000" dirty="0"/>
          </a:p>
        </p:txBody>
      </p:sp>
      <p:sp>
        <p:nvSpPr>
          <p:cNvPr id="66" name="Text 63"/>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bananas</a:t>
            </a:r>
            <a:endParaRPr lang="en-US" sz="1350" dirty="0"/>
          </a:p>
          <a:p>
            <a:pPr indent="0" marL="0">
              <a:buNone/>
            </a:pPr>
            <a:r>
              <a:rPr lang="en-US" sz="1100" i="1" dirty="0">
                <a:solidFill>
                  <a:srgbClr val="5A6472"/>
                </a:solidFill>
                <a:latin typeface="Calibri" pitchFamily="34" charset="0"/>
                <a:cs typeface="Amiri" pitchFamily="2" charset="-78"/>
              </a:rPr>
              <a:t>maw-zun</a:t>
            </a:r>
            <a:endParaRPr lang="en-US" sz="1350" dirty="0"/>
          </a:p>
        </p:txBody>
      </p:sp>
      <p:sp>
        <p:nvSpPr>
          <p:cNvPr id="67" name="Shape 64"/>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68" name="Text 65"/>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food</a:t>
            </a:r>
            <a:endParaRPr lang="en-US" sz="700" dirty="0"/>
          </a:p>
        </p:txBody>
      </p:sp>
      <p:sp>
        <p:nvSpPr>
          <p:cNvPr id="69" name="Text 66"/>
          <p:cNvSpPr txBox="1"/>
          <p:nvPr/>
        </p:nvSpPr>
        <p:spPr>
          <a:xfrm>
            <a:off x="2368296"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مَوْزٌ</a:t>
            </a:r>
            <a:endParaRPr lang="ar-SA" sz="1350" dirty="0"/>
          </a:p>
        </p:txBody>
      </p:sp>
      <p:sp>
        <p:nvSpPr>
          <p:cNvPr id="70" name="Shape 67"/>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71" name="Text 68"/>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one banana</a:t>
            </a:r>
            <a:endParaRPr lang="en-US" sz="700" dirty="0"/>
          </a:p>
        </p:txBody>
      </p:sp>
      <p:sp>
        <p:nvSpPr>
          <p:cNvPr id="72" name="Text 69"/>
          <p:cNvSpPr txBox="1"/>
          <p:nvPr/>
        </p:nvSpPr>
        <p:spPr>
          <a:xfrm>
            <a:off x="6400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مَوْزَةٌ</a:t>
            </a:r>
            <a:endParaRPr lang="ar-SA" sz="13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F5-L01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Fruit, vegetables and drinks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F5-L01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food · one</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بُرْتُقَالٌ</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oranges</a:t>
            </a:r>
            <a:endParaRPr lang="en-US" sz="1350" dirty="0"/>
          </a:p>
          <a:p>
            <a:pPr indent="0" marL="0">
              <a:buNone/>
            </a:pPr>
            <a:r>
              <a:rPr lang="en-US" sz="1100" i="1" dirty="0">
                <a:solidFill>
                  <a:srgbClr val="5A6472"/>
                </a:solidFill>
                <a:latin typeface="Calibri" pitchFamily="34" charset="0"/>
                <a:cs typeface="Amiri" pitchFamily="2" charset="-78"/>
              </a:rPr>
              <a:t>bur-tu-qā-lun</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food</a:t>
            </a:r>
            <a:endParaRPr lang="en-US" sz="700" dirty="0"/>
          </a:p>
        </p:txBody>
      </p:sp>
      <p:sp>
        <p:nvSpPr>
          <p:cNvPr id="26" name="Text 23"/>
          <p:cNvSpPr txBox="1"/>
          <p:nvPr/>
        </p:nvSpPr>
        <p:spPr>
          <a:xfrm>
            <a:off x="10012680"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بُرْتُقَالٌ</a:t>
            </a:r>
            <a:endParaRPr lang="ar-SA" sz="135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one orange</a:t>
            </a:r>
            <a:endParaRPr lang="en-US" sz="700" dirty="0"/>
          </a:p>
        </p:txBody>
      </p:sp>
      <p:sp>
        <p:nvSpPr>
          <p:cNvPr id="29" name="Text 26"/>
          <p:cNvSpPr txBox="1"/>
          <p:nvPr/>
        </p:nvSpPr>
        <p:spPr>
          <a:xfrm>
            <a:off x="8284464"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بُرْتُقَالَةٌ</a:t>
            </a:r>
            <a:endParaRPr lang="ar-SA" sz="135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3" name="Shape 30"/>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بَطَاطِسُ</a:t>
            </a:r>
            <a:endParaRPr lang="ar-SA" sz="3000" dirty="0"/>
          </a:p>
        </p:txBody>
      </p:sp>
      <p:sp>
        <p:nvSpPr>
          <p:cNvPr id="36" name="Text 3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potatoes</a:t>
            </a:r>
            <a:endParaRPr lang="en-US" sz="1350" dirty="0"/>
          </a:p>
          <a:p>
            <a:pPr indent="0" marL="0">
              <a:buNone/>
            </a:pPr>
            <a:r>
              <a:rPr lang="en-US" sz="1100" i="1" dirty="0">
                <a:solidFill>
                  <a:srgbClr val="5A6472"/>
                </a:solidFill>
                <a:latin typeface="Calibri" pitchFamily="34" charset="0"/>
                <a:cs typeface="Amiri" pitchFamily="2" charset="-78"/>
              </a:rPr>
              <a:t>ba-ṭā-ṭi-su</a:t>
            </a:r>
            <a:endParaRPr lang="en-US" sz="1350" dirty="0"/>
          </a:p>
        </p:txBody>
      </p:sp>
      <p:sp>
        <p:nvSpPr>
          <p:cNvPr id="37" name="Shape 3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566928" y="1920240"/>
            <a:ext cx="310896" cy="310896"/>
          </a:xfrm>
          <a:prstGeom prst="ellipse">
            <a:avLst/>
          </a:prstGeom>
          <a:solidFill>
            <a:srgbClr val="F4F1EA"/>
          </a:solidFill>
          <a:ln w="12700">
            <a:solidFill>
              <a:srgbClr val="F4F1EA"/>
            </a:solidFill>
            <a:prstDash val="solid"/>
          </a:ln>
        </p:spPr>
      </p:sp>
      <p:sp>
        <p:nvSpPr>
          <p:cNvPr id="39" name="Text 3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40" name="Shape 3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1" name="Text 3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2" name="Text 3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سَلَطَةٌ</a:t>
            </a:r>
            <a:endParaRPr lang="ar-SA" sz="3000" dirty="0"/>
          </a:p>
        </p:txBody>
      </p:sp>
      <p:sp>
        <p:nvSpPr>
          <p:cNvPr id="43" name="Text 4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salad</a:t>
            </a:r>
            <a:endParaRPr lang="en-US" sz="1350" dirty="0"/>
          </a:p>
          <a:p>
            <a:pPr indent="0" marL="0">
              <a:buNone/>
            </a:pPr>
            <a:r>
              <a:rPr lang="en-US" sz="1100" i="1" dirty="0">
                <a:solidFill>
                  <a:srgbClr val="5A6472"/>
                </a:solidFill>
                <a:latin typeface="Calibri" pitchFamily="34" charset="0"/>
                <a:cs typeface="Amiri" pitchFamily="2" charset="-78"/>
              </a:rPr>
              <a:t>sa-la-ṭa-tun</a:t>
            </a:r>
            <a:endParaRPr lang="en-US" sz="1350" dirty="0"/>
          </a:p>
        </p:txBody>
      </p:sp>
      <p:sp>
        <p:nvSpPr>
          <p:cNvPr id="44" name="Shape 4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8211312" y="4261104"/>
            <a:ext cx="310896" cy="310896"/>
          </a:xfrm>
          <a:prstGeom prst="ellipse">
            <a:avLst/>
          </a:prstGeom>
          <a:solidFill>
            <a:srgbClr val="F4F1EA"/>
          </a:solidFill>
          <a:ln w="12700">
            <a:solidFill>
              <a:srgbClr val="F4F1EA"/>
            </a:solidFill>
            <a:prstDash val="solid"/>
          </a:ln>
        </p:spPr>
      </p:sp>
      <p:sp>
        <p:nvSpPr>
          <p:cNvPr id="46" name="Text 4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7" name="Shape 4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9" name="Text 4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مَاءٌ</a:t>
            </a:r>
            <a:endParaRPr lang="ar-SA" sz="3000" dirty="0"/>
          </a:p>
        </p:txBody>
      </p:sp>
      <p:sp>
        <p:nvSpPr>
          <p:cNvPr id="50" name="Text 4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water</a:t>
            </a:r>
            <a:endParaRPr lang="en-US" sz="1350" dirty="0"/>
          </a:p>
          <a:p>
            <a:pPr indent="0" marL="0">
              <a:buNone/>
            </a:pPr>
            <a:r>
              <a:rPr lang="en-US" sz="1100" i="1" dirty="0">
                <a:solidFill>
                  <a:srgbClr val="5A6472"/>
                </a:solidFill>
                <a:latin typeface="Calibri" pitchFamily="34" charset="0"/>
                <a:cs typeface="Amiri" pitchFamily="2" charset="-78"/>
              </a:rPr>
              <a:t>mā-ʾun</a:t>
            </a:r>
            <a:endParaRPr lang="en-US" sz="1350" dirty="0"/>
          </a:p>
        </p:txBody>
      </p:sp>
      <p:sp>
        <p:nvSpPr>
          <p:cNvPr id="51" name="Shape 48"/>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4389120"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54" name="Shape 51"/>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6" name="Text 5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عَصِيرٌ</a:t>
            </a:r>
            <a:endParaRPr lang="ar-SA" sz="3000" dirty="0"/>
          </a:p>
        </p:txBody>
      </p:sp>
      <p:sp>
        <p:nvSpPr>
          <p:cNvPr id="57" name="Text 5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juice</a:t>
            </a:r>
            <a:endParaRPr lang="en-US" sz="1350" dirty="0"/>
          </a:p>
          <a:p>
            <a:pPr indent="0" marL="0">
              <a:buNone/>
            </a:pPr>
            <a:r>
              <a:rPr lang="en-US" sz="1100" i="1" dirty="0">
                <a:solidFill>
                  <a:srgbClr val="5A6472"/>
                </a:solidFill>
                <a:latin typeface="Calibri" pitchFamily="34" charset="0"/>
                <a:cs typeface="Amiri" pitchFamily="2" charset="-78"/>
              </a:rPr>
              <a:t>ʿa-ṣī-run</a:t>
            </a:r>
            <a:endParaRPr lang="en-US" sz="1350" dirty="0"/>
          </a:p>
        </p:txBody>
      </p:sp>
      <p:sp>
        <p:nvSpPr>
          <p:cNvPr id="58" name="Shape 5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566928"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61" name="Shape 58"/>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62" name="Text 59"/>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3" name="Text 60"/>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شَايٌ</a:t>
            </a:r>
            <a:endParaRPr lang="ar-SA" sz="3000" dirty="0"/>
          </a:p>
        </p:txBody>
      </p:sp>
      <p:sp>
        <p:nvSpPr>
          <p:cNvPr id="64" name="Text 61"/>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tea</a:t>
            </a:r>
            <a:endParaRPr lang="en-US" sz="1350" dirty="0"/>
          </a:p>
          <a:p>
            <a:pPr indent="0" marL="0">
              <a:buNone/>
            </a:pPr>
            <a:r>
              <a:rPr lang="en-US" sz="1100" i="1" dirty="0">
                <a:solidFill>
                  <a:srgbClr val="5A6472"/>
                </a:solidFill>
                <a:latin typeface="Calibri" pitchFamily="34" charset="0"/>
                <a:cs typeface="Amiri" pitchFamily="2" charset="-78"/>
              </a:rPr>
              <a:t>shā-yun</a:t>
            </a:r>
            <a:endParaRPr lang="en-US" sz="1350" dirty="0"/>
          </a:p>
        </p:txBody>
      </p:sp>
      <p:sp>
        <p:nvSpPr>
          <p:cNvPr id="65" name="Text 6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do you like to eat?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مَاذَا تُحِبُّ أَنْ تَأْكُلَ؟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like to eat?</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مَاذَا تُحِبُّ أَنْ تَأْكُلَ؟</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like chicken and rice a lot.</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أُحِبُّ الدَّجَاجَ وَالأَرُزَّ كَثِيرًا.</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do you like fish?</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وَهَلْ تُحِبُّ السَّمَكَ؟</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No, I don’t like fish. And you (to a girl)?</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لَا، لَا أُحِبُّ السَّمَكَ. وَأَنْتِ؟</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like salad and fruit, especially bananas.</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أَنَا أُحِبُّ السَّلَطَةَ وَالفَاكِهَةَ، خُصُوصًا المَوْزَ.</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what do you drink? — I drink water and juice.</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وَمَاذَا تَشْرَبِينَ؟ — أَشْرَبُ المَاءَ وَالعَصِيرَ.</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give YOUR real food likes and dislikes.</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 أَيْضًا</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آكُلُ … كَثِيرًا</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eat a lot?</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تَأْكُلُ كَثِيرًا؟</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وَأَحْيَانًا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أَشْرَبُ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drink in the morning?</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تَشْرَبُ فِي الصَّبَاحِ؟</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خُصُوصًا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أُحِبُّ … / لَا، لَا أُحِبُّ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like vegetables?</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تُحِبُّ الخُضَارَ؟</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لٰكِنْ لَا أُحِبُّ …</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أُحِبُّ … وَ…</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fruit do you like?</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الفَاكِهَةُ الَّتِي تُحِبُّهَا؟</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لِأَنَّهُ / لِأَنَّهَا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لَا آكُلُ … أَبَدًا</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 you never eat?</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لَا تَأْكُلُ أَبَدًا؟</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Role-play card — planning a class picnic</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نُخَطِّطُ لِنُزْهَةٍ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 نَأْكُلُ … وَ…</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Suggest two foods.</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نَأْكُلُ فِي النُّزْهَةِ؟</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 نَشْرَبُ … وَ…</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Suggest two drinks.</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وَمَاذَا نَشْرَبُ؟</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75320" y="3840480"/>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 نَعَمْ، أُحِبُّ … / لَا، …</a:t>
            </a:r>
            <a:endParaRPr lang="ar-SA" sz="16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yes / no.</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تُحِبُّ الدَّجَاجَ؟</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75320" y="4626864"/>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 لَا آكُلُ …</a:t>
            </a:r>
            <a:endParaRPr lang="ar-SA" sz="16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one thing you don’t eat.</a:t>
            </a:r>
            <a:endParaRPr lang="en-US" sz="1100" dirty="0"/>
          </a:p>
        </p:txBody>
      </p:sp>
      <p:sp>
        <p:nvSpPr>
          <p:cNvPr id="44" name="Text 41"/>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هُنَاكَ شَيْءٌ لَا تَأْكُلُهُ؟</a:t>
            </a:r>
            <a:endParaRPr lang="ar-SA" sz="17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a student · Leader = a classmate making the list. Read the plan for 1 minute, then hide it and speak. Then swap roles.</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30 seconds: what I eat and drink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مَاذَا آكُلُ وَأَشْرَبُ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F5-L01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30 seconds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30 seconds about what you eat and drink: favourites, things you don’t like, and what you never eat.</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آكُلُ … · أَشْرَبُ … · أُحِبُّ …</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لَا أُحِبُّ</a:t>
            </a:r>
            <a:pPr algn="l" indent="0" marL="0">
              <a:buNone/>
            </a:pPr>
            <a:r>
              <a:rPr lang="en-US" sz="1150" dirty="0">
                <a:solidFill>
                  <a:srgbClr val="1F2A37"/>
                </a:solidFill>
                <a:latin typeface="Calibri" pitchFamily="34" charset="0"/>
                <a:cs typeface="Amiri" pitchFamily="2" charset="-78"/>
              </a:rPr>
              <a:t> … and </a:t>
            </a:r>
            <a:pPr algn="l" indent="0" marL="0">
              <a:buNone/>
            </a:pPr>
            <a:r>
              <a:rPr lang="ar-SA" altLang="en-US" sz="1500" dirty="0">
                <a:solidFill>
                  <a:srgbClr val="1F2A37"/>
                </a:solidFill>
                <a:latin typeface="Amiri" pitchFamily="2" charset="-78"/>
                <a:ea typeface="Amiri" pitchFamily="2" charset="-78"/>
                <a:cs typeface="Amiri" pitchFamily="2" charset="-78"/>
              </a:rPr>
              <a:t>كَثِيرًا / أَحْيَانًا</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خُصُوصًا</a:t>
            </a:r>
            <a:pPr algn="l" indent="0" marL="0">
              <a:buNone/>
            </a:pPr>
            <a:r>
              <a:rPr lang="en-US" sz="1150" dirty="0">
                <a:solidFill>
                  <a:srgbClr val="1F2A37"/>
                </a:solidFill>
                <a:latin typeface="Calibri" pitchFamily="34" charset="0"/>
                <a:cs typeface="Amiri" pitchFamily="2" charset="-78"/>
              </a:rPr>
              <a:t> … and a family member: </a:t>
            </a:r>
            <a:pPr algn="l" indent="0" marL="0">
              <a:buNone/>
            </a:pPr>
            <a:r>
              <a:rPr lang="ar-SA" altLang="en-US" sz="1500" dirty="0">
                <a:solidFill>
                  <a:srgbClr val="1F2A37"/>
                </a:solidFill>
                <a:latin typeface="Amiri" pitchFamily="2" charset="-78"/>
                <a:ea typeface="Amiri" pitchFamily="2" charset="-78"/>
                <a:cs typeface="Amiri" pitchFamily="2" charset="-78"/>
              </a:rPr>
              <a:t>أُمِّي تُحِبُّ</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أَنَا … وَ…</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am … and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عِنْدِي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have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أُحِبُّ … لِأَنَّ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like … because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وَأَيْضًا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and also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F5-L01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eat rice and chicken.</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آكُلُ</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يَأْكُلُ</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الأَرُزَّ</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الأَرُزُّ</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وَالدَّجَاجَ.</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وَالدَّجَاجُ.</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don’t drink coffee.</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لَا</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لَيْسَ</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أَشْرَبُ</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تَشْرَبُ</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القَهْوَةَ.</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القَهْوَةُ.</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Do you like salad? (to a girl)</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هَلْ</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مَا</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تُحِبِّينَ</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تُحِبُّ</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السَّلَطَةَ؟</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السَّلَطَةُ؟</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F5-L01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eat rice and chicken.</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eat = </a:t>
            </a:r>
            <a:pPr algn="l" indent="0" marL="0">
              <a:buNone/>
            </a:pPr>
            <a:r>
              <a:rPr lang="ar-SA" altLang="en-US" sz="1350" dirty="0">
                <a:solidFill>
                  <a:srgbClr val="5A6472"/>
                </a:solidFill>
                <a:latin typeface="Amiri" pitchFamily="2" charset="-78"/>
                <a:ea typeface="Amiri" pitchFamily="2" charset="-78"/>
                <a:cs typeface="Amiri" pitchFamily="2" charset="-78"/>
              </a:rPr>
              <a:t>آكُلُ</a:t>
            </a:r>
            <a:pPr algn="l" indent="0" marL="0">
              <a:buNone/>
            </a:pPr>
            <a:r>
              <a:rPr lang="en-US" sz="1050" i="1" dirty="0">
                <a:solidFill>
                  <a:srgbClr val="5A6472"/>
                </a:solidFill>
                <a:latin typeface="Calibri" pitchFamily="34" charset="0"/>
                <a:cs typeface="Amiri" pitchFamily="2" charset="-78"/>
              </a:rPr>
              <a:t>; the food is the object → -a.</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آكُلُ الأَرُزَّ وَالدَّجَاجَ.</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don’t drink coffee.</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Negative of a verb = </a:t>
            </a:r>
            <a:pPr algn="l" indent="0" marL="0">
              <a:buNone/>
            </a:pPr>
            <a:r>
              <a:rPr lang="ar-SA" altLang="en-US" sz="1350" dirty="0">
                <a:solidFill>
                  <a:srgbClr val="5A6472"/>
                </a:solidFill>
                <a:latin typeface="Amiri" pitchFamily="2" charset="-78"/>
                <a:ea typeface="Amiri" pitchFamily="2" charset="-78"/>
                <a:cs typeface="Amiri" pitchFamily="2" charset="-78"/>
              </a:rPr>
              <a:t>لَا</a:t>
            </a:r>
            <a:pPr algn="l" indent="0" marL="0">
              <a:buNone/>
            </a:pPr>
            <a:r>
              <a:rPr lang="en-US" sz="1050" i="1" dirty="0">
                <a:solidFill>
                  <a:srgbClr val="5A6472"/>
                </a:solidFill>
                <a:latin typeface="Calibri" pitchFamily="34" charset="0"/>
                <a:cs typeface="Amiri" pitchFamily="2" charset="-78"/>
              </a:rPr>
              <a:t> + verb.</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لَا أَشْرَبُ القَهْوَةَ.</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Do you like salad? (to a girl)</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To a girl → </a:t>
            </a:r>
            <a:pPr algn="l" indent="0" marL="0">
              <a:buNone/>
            </a:pPr>
            <a:r>
              <a:rPr lang="ar-SA" altLang="en-US" sz="1350" dirty="0">
                <a:solidFill>
                  <a:srgbClr val="5A6472"/>
                </a:solidFill>
                <a:latin typeface="Amiri" pitchFamily="2" charset="-78"/>
                <a:ea typeface="Amiri" pitchFamily="2" charset="-78"/>
                <a:cs typeface="Amiri" pitchFamily="2" charset="-78"/>
              </a:rPr>
              <a:t>تُحِبِّينَ</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هَلْ تُحِبِّينَ السَّلَطَةَ؟</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F5-L01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أَنَا يَأْكُلُ الخُبْزَ.</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Who eats?</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لَيْسَ أُحِبُّ السَّمَكَ.</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Negative with a verb.</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هَلْ تُحِبُّ المَوْزَ يَا هُدَى؟</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Huda is a girl.</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F5-L01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أَنَا يَأْكُلُ الخُبْزَ.</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أَنَا آكُلُ الخُبْزَ.</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 eat = </a:t>
            </a:r>
            <a:pPr algn="l" indent="0" marL="0">
              <a:buNone/>
            </a:pPr>
            <a:r>
              <a:rPr lang="ar-SA" altLang="en-US" sz="1500" b="1" dirty="0">
                <a:solidFill>
                  <a:srgbClr val="1B3B6F"/>
                </a:solidFill>
                <a:latin typeface="Amiri" pitchFamily="2" charset="-78"/>
                <a:ea typeface="Amiri" pitchFamily="2" charset="-78"/>
                <a:cs typeface="Amiri" pitchFamily="2" charset="-78"/>
              </a:rPr>
              <a:t>آكُلُ</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لَيْسَ أُحِبُّ السَّمَكَ.</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لَا أُحِبُّ السَّمَكَ.</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With a present verb use </a:t>
            </a:r>
            <a:pPr algn="l" indent="0" marL="0">
              <a:buNone/>
            </a:pPr>
            <a:r>
              <a:rPr lang="ar-SA" altLang="en-US" sz="1500" b="1" dirty="0">
                <a:solidFill>
                  <a:srgbClr val="1B3B6F"/>
                </a:solidFill>
                <a:latin typeface="Amiri" pitchFamily="2" charset="-78"/>
                <a:ea typeface="Amiri" pitchFamily="2" charset="-78"/>
                <a:cs typeface="Amiri" pitchFamily="2" charset="-78"/>
              </a:rPr>
              <a:t>لَا</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هَلْ تُحِبُّ المَوْزَ يَا هُدَى؟</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هَلْ تُحِبِّينَ المَوْزَ يَا هُدَى؟</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To a girl: </a:t>
            </a:r>
            <a:pPr algn="l" indent="0" marL="0">
              <a:buNone/>
            </a:pPr>
            <a:r>
              <a:rPr lang="ar-SA" altLang="en-US" sz="1500" b="1" dirty="0">
                <a:solidFill>
                  <a:srgbClr val="1B3B6F"/>
                </a:solidFill>
                <a:latin typeface="Amiri" pitchFamily="2" charset="-78"/>
                <a:ea typeface="Amiri" pitchFamily="2" charset="-78"/>
                <a:cs typeface="Amiri" pitchFamily="2" charset="-78"/>
              </a:rPr>
              <a:t>تُحِبِّينَ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F5-L01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الفَاكِهَةَ، خُصُوصًا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like fruit, especially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أَبِي / أُمِّي يُحِبُّ / تُحِبُّ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dad / mum likes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آكُلُ ______ وَ ______ وَ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eat …, … and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أَشْرَبُ ______ وَ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drink … and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______ كَثِيرًا.</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like … a lot.</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أُحِبُّ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don’t like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آكُلُ · أَشْرَبُ  ·  أُحِبُّ · لَا أُحِبُّ  ·  خُبْزٌ · أَرُزٌّ  ·  دَجَاجٌ · سَمَكٌ  ·  سَلَطَةٌ · بَطَاطِسُ  ·  مَاءٌ · عَصِيرٌ · شَايٌ  ·  كَثِيرًا · أَحْيَانًا  ·  خُصُوصًا</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F5-L01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40–60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I eat and drink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مَاذَا آكُلُ وَأَشْرَبُ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F5-L01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828800"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8288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SHORT TEXT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 short text (about 35–55 words) for a class food survey. Include: • three foods you eat • two drinks • what you like a lot • what you don’t like • one thing a family member likes.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Words from today’s word bank.</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آكُلُ … وَ… وَ…</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eat …, … and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أَشْرَبُ … وَ…</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drink … and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 كَثِيرًا</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like … a lot</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أُحِبُّ … · لَا آكُلُ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don’t like … · I don’t eat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a:r>
            <a:pPr algn="l" indent="0" marL="0">
              <a:buNone/>
            </a:pPr>
            <a:r>
              <a:rPr lang="ar-SA" altLang="en-US" sz="1450" dirty="0">
                <a:solidFill>
                  <a:srgbClr val="5A6472"/>
                </a:solidFill>
                <a:latin typeface="Amiri" pitchFamily="2" charset="-78"/>
                <a:ea typeface="Amiri" pitchFamily="2" charset="-78"/>
                <a:cs typeface="Amiri" pitchFamily="2" charset="-78"/>
              </a:rPr>
              <a:t>آكُلُ / أَشْرَبُ</a:t>
            </a:r>
            <a:pPr algn="l" indent="0" marL="0">
              <a:buNone/>
            </a:pPr>
            <a:r>
              <a:rPr lang="en-US" sz="1100" dirty="0">
                <a:solidFill>
                  <a:srgbClr val="5A6472"/>
                </a:solidFill>
                <a:latin typeface="Calibri" pitchFamily="34" charset="0"/>
                <a:cs typeface="Amiri" pitchFamily="2" charset="-78"/>
              </a:rPr>
              <a:t> with the food as object (-a)?</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a:r>
            <a:pPr algn="l" indent="0" marL="0">
              <a:buNone/>
            </a:pPr>
            <a:r>
              <a:rPr lang="ar-SA" altLang="en-US" sz="1450" dirty="0">
                <a:solidFill>
                  <a:srgbClr val="5A6472"/>
                </a:solidFill>
                <a:latin typeface="Amiri" pitchFamily="2" charset="-78"/>
                <a:ea typeface="Amiri" pitchFamily="2" charset="-78"/>
                <a:cs typeface="Amiri" pitchFamily="2" charset="-78"/>
              </a:rPr>
              <a:t>لَا</a:t>
            </a:r>
            <a:pPr algn="l" indent="0" marL="0">
              <a:buNone/>
            </a:pPr>
            <a:r>
              <a:rPr lang="en-US" sz="1100" dirty="0">
                <a:solidFill>
                  <a:srgbClr val="5A6472"/>
                </a:solidFill>
                <a:latin typeface="Calibri" pitchFamily="34" charset="0"/>
                <a:cs typeface="Amiri" pitchFamily="2" charset="-78"/>
              </a:rPr>
              <a:t> before the verb to say what you don’t like or eat?</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نَأْكُلُ الخُبْزَ وَالجُبْنَ.</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eat bread and cheese.</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نَأْكُلُ فِي النُّزْهَةِ؟</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نَشْرَبُ المَاءَ وَعَصِيرَ البُرْتُقَالِ.</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We drink water and orange juice.</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وَمَاذَا نَشْرَبُ؟</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أُحِبُّ الدَّجَاجَ كَثِيرًا.</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I like chicken a lot.</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تُحِبُّ الدَّجَاجَ؟</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نَعَمْ، لَا آكُلُ السَّمَكَ.</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Yes, I don’t eat fish.</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هُنَاكَ شَيْءٌ لَا تَأْكُلُهُ؟</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F5-L01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آكُلُ الخُبْزَ وَالأَرُزَّ وَالدَّجَاجَ كُلَّ أُسْبُوعٍ. أَشْرَبُ المَاءَ وَالحَلِيبَ، وَأَحْيَانًا الشَّايَ. أُحِبُّ الفَاكِهَةَ كَثِيرًا، خُصُوصًا المَوْزَ وَالبُرْتُقَالَ. لَا أُحِبُّ السَّمَكَ، وَلَا آكُلُ البَطَاطِسَ كَثِيرًا. أَبِي يُحِبُّ السَّلَطَةَ، وَأُمِّي تُحِبُّ العَصِيرَ.</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eat bread, rice and chicken every week. I drink water and milk, and sometimes tea. I like fruit a lot, especially bananas and oranges. I don’t like fish, and I don’t eat potatoes much. My dad likes salad, and my mum likes juice.”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آكُلُ الخُبْزَ</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أَشْرَبُ المَاءَ</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خُصُوصًا المَوْزَ</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لَا أُحِبُّ السَّمَكَ</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F5-L01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F5 · Food, Health and Body · F5-L01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F5-L01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F5-L02 · Meals and Eating Routines</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وَجَبَاتُ اليَوْمِ وَعَادَاتُ الأَكْلِ</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F5-L01 · Practice Room — Food and Drinks</dc:title>
  <dc:subject>PptxGenJS Presentation</dc:subject>
  <dc:creator>Al Madina Online School · Arabic Department</dc:creator>
  <cp:lastModifiedBy>Al Madina Online School · Arabic Department</cp:lastModifiedBy>
  <cp:revision>1</cp:revision>
  <dcterms:created xsi:type="dcterms:W3CDTF">2026-10-25T17:35:54Z</dcterms:created>
  <dcterms:modified xsi:type="dcterms:W3CDTF">2026-10-25T17:35:54Z</dcterms:modified>
</cp:coreProperties>
</file>