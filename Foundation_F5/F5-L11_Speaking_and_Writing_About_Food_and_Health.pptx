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F5-L11. The website lesson “Speaking and Writing About Food and Health”: vocabulary, grammar rules and quiz, patterns, common mistakes, sorter, listening, reading, speaking prompts and model, writing task and model, differentiation, final check and the lesson mission. Picture match: website visual game “Speaking and Writing About Food and Health”.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five-box planner and sentence starters → 60–70 accurate words.
• Develop: 80–100 words and six topic questions answered with reasons.
• Stretch: write independently, then improve range: a comparison (أَكْثَرَ مِنْ), a purpose phrase (لِلْحِفَاظِ عَلَى صِحَّتِي) and a precise target.
• Website: “A developed answer normally contains at least two pieces of information: an answer plus a reason, example, comparison or time detail.”
• Website writing routine: content → organisation → accuracy. Check in this order: verbs → gender → reasons → connectives → spelling.
• Keep today’s article and speaking notes: they are the evidence students bring to F5-L12 (unit assessment).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F5-L10. Questions 3–5 retrieve F5-L10 (advice, result) and F5-L04 (reason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developed answer = answer + reason, example, comparison or time. A list is not a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مثال and تصحیح are identical. فکر (Urdu: worry, thought) → فِكْرَةٌ (an idea). خط (Urdu: a letter, a line) → خُطَّةٌ (a plan — “lines” drawn in advance). رجوع (returning, turning back) → مُرَاجَعَةٌ (review: going back over your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High-value connectives (website vocabulary (1 of 2)). Hear → Say → See → Use. Transliteration is printed for Core students (cover it for Develop/Stretch).
Connectives by job: sequence (أَوَّلًا، ثُمَّ، بَعْدَ ذَلِكَ، أَخِيرًا) · add (أَيْضًا) · contrast (وَلَكِنْ) · reason (لِأَنَّ) · result (لِذَلِكَ).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High-value connectives (website vocabulary (2 of 2)). Hear → Say → See → Use. Transliteration is printed for Core students (cover it for Develop/Stretch).
Connectives by job: sequence (أَوَّلًا، ثُمَّ، بَعْدَ ذَلِكَ، أَخِيرًا) · add (أَيْضًا) · contrast (وَلَكِنْ) · reason (لِأَنَّ) · result (لِذَلِكَ).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repair (website vocabulary). Hear → Say → See → Use. Transliteration is printed for Core students (cover it for Develop/Stretch).
Speaking repair keeps a conversation alive (F4-L10): أَعِدِ السُّؤَالَ، مِنْ فَضْلِكَ · دَعْنِي أُفَكِّرُ (let me think) — use it instead of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Writing checks (website vocabulary (1 of 2)). Hear → Say → See → Use. Transliteration is printed for Core students (cover it for Develop/Stretch).
FLEX: teach if time allows; otherwise these are on the website vocabulary tab for homework.
FLEX: writing-check words. The website checking routine: verbs → gender → reasons → connectives → spelling.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Writing checks (website vocabulary (2 of 2)). Hear → Say → See → Use. Transliteration is printed for Core students (cover it for Develop/Stretch).
FLEX: teach if time allows; otherwise these are on the website vocabulary tab for homework.
FLEX: writing-check words. The website checking routine: verbs → gender → reasons → connectives → spelling.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“Model article plan” (reading section): title طَعَامِي وَصِحَّتِي · idea 1 meals on a normal day · idea 2 favourite food and the reason · idea 3 healthy habits and one habit to improve · conclusion: advice and a personal goal. The model sentences are the website’s full-mark article, one per box.
Core students write ONE sentence per box (≈ 60–70 words with the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“Sequence actions”, “Add another detail” (وَ، أَيْضًا، كَمَا), “Show contrast” (وَلَكِنْ) and “Develop an opinion” (opinion + لِأَنَّ + reason).
Website common error: “Do not add connectives only to increase a count. Choose the connective that matches the relationship between the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lesson-plan grammar focus is organising a 6–8 sentence paragraph with sequence, addition and contrast. The connectives must show a real relationship between ideas.”
• Sequence actions: Use sequence words to organise meals, habits or a daily routine.
• Add another detail: Use addition connectives when the next idea supports or extends the first.
• Show contrast: Use وَلٰكِنْ when the second idea differs from the first.
• Develop an opinion: A developed paragraph gives a precise opinion and explains why.
Website common error: Do not add connectives only to increase a count. Choose the connective that matches the relationship between the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teaching note “a developed answer = answer + reason, example, comparison or time detail”, modelled on the website topic-conversation model (a female student: مُبَكِّرَةً). Students repeat the chain with their own favourite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action into planning, drafting or checking.
Stages (website): plan (ideas, choose connectives) → draft (write it all, add a reason and an example) → check (li-annahu / li-annahā, word count,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action into planning, drafting or checking.
Stages (website): plan (ideas, choose connectives) → draft (write it all, add a reason and an example) → check (li-annahu / li-annahā, word count,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then find three F5 lessons in Amal’s answer.
Listen 1: just listen. Listen 2: note answers. Then chat the letters.
Support: after the second listening, show the read-along slide (Arabic + English, line by line) for Core students.
SCRIPT (read aloud):
أُحِبُّ الطَّعَامَ المَنْزِلِيَّ لِأَنَّهُ طَازَجٌ، وَطَعَامِي المُفَضَّلُ هُوَ السَّمَكُ مَعَ الأَرُزِّ. فِي الفُطُورِ آكُلُ الزَّبَادِي وَالفَاكِهَةَ. أَحْيَانًا أَذْهَبُ إِلَى المَطْعَمِ مَعَ أُسْرَتِي، وَأَطْلُبُ الحَسَاءَ أَوِ السَّلَطَةَ. لِلْحِفَاظِ عَلَى صِحَّتِي، أَشْرَبُ المَاءَ وَأَمْشِي كُلَّ يَوْمٍ. هَدَفِي أَنْ أَنَامَ مُبَكِّرَةً.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المُحَاوِرُ: وَمَاذَا تَفْعَلِينَ لِتَكُونِي صِحِّيَّةً؟ (What do you do to be healthy?)
الطَّالِبَةُ: أَشْرَبُ المَاءَ وَأَمْشِي كُلَّ يَوْمٍ، وَلٰكِنِّي أُرِيدُ أَنْ أَنَامَ مُبَكِّرَةً. (I drink water and walk daily, but I want to sleep earlier.)
Website “Full F5 topic conversation” — six website questions (merged into four prompts on the slide). Each answer = answer + one detail. Pairs use the repair phrases if needed (أَعِدِ السُّؤَالَ، مِنْ فَضْلِكَ · دَعْنِي أُفَكِّرُ). Keep notes for F5-L12.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five-box planner and sentence starters to produce 60–70 accurate words. · Develop — Write 80–100 words and answer six topic questions with reasons. · Stretch — Write independently, then improve range by adding comparison, purpose and a precise personal target.
Website writing task (Stretch): Write an 80–100-word article entitled طَعَامِي وَصِحَّتِي. Cover your meals, a favourite food with a reason, a restaurant choice, healthy habits and one improvement target.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أَتَنَاوَلُ الفُطُورَ · أَكْثَرَ مِنَ اللَّحْمِ · لِلْحِفَاظِ عَلَى صِحَّتِي · لِذَلِكَ هَدَفِي. Count the connectives: وَ، لِأَنَّهُ، أَحْيَانًا، وَلَكِنِّي، لِذَلِكَ.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(F5-L12 · Review and Unit Assessment) will spend class time USING this language, so students prepare it tonight — short, simple, easy to access (school guidance: “Simple, Short, Interesting, Relevant, Easy to access”). The five words prepare the F5-L12 review and unit assessment.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Speaking and Writing About Food and Health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التَّحَدُّثُ وَالكِتَابَةُ عَنِ الطَّعَامِ وَالصِّحَّةِ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the whole of F5 together: answer six topic questions with developed answers, then plan, write and check an 80–100-word article: </a:t>
            </a:r>
            <a:pPr algn="l" indent="0" marL="0">
              <a:buNone/>
            </a:pPr>
            <a:r>
              <a:rPr lang="ar-SA" altLang="en-US" sz="1800" dirty="0">
                <a:solidFill>
                  <a:srgbClr val="C6D2E6"/>
                </a:solidFill>
                <a:latin typeface="Amiri" pitchFamily="2" charset="-78"/>
                <a:cs typeface="Amiri" pitchFamily="2" charset="-78"/>
              </a:rPr>
              <a:t>طَعَامِي وَصِحَّتِي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F5-L11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Connectives, repair phrases and writing checks, then the five-part article plan.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plan / draft / check, fix three F5 errors and listen to Amal’s topic conversation.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فِقْرَةٌ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paragraph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أَدَوَاتُ الرَّبْطِ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connectives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introduction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word count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strongest advice?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الأَفْضَلِ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result?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أُحِبُّ السَّلَطَةَ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cs typeface="Amiri" pitchFamily="2" charset="-78"/>
              </a:rPr>
              <a:t>صِحِّيَّةٌ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فِقْرَةٌ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paragraph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أَدَوَاتُ الرَّبْطِ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connectives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introduction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word count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strongest advice?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الأَفْضَلِ أَنْ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أَنْ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أَنْ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F5-L10: yajibu an is strong.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result?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F5-L10: li-dhālika = so / therefore.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أُحِبُّ السَّلَطَةَ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cs typeface="Amiri" pitchFamily="2" charset="-78"/>
              </a:rPr>
              <a:t>صِحِّيَّةٌ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F5-L04: salad is feminine.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developed answer = answer + reason, example, comparison or time. A list is not a paragraph.</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أُحِبُّ السَّمَكَ </a:t>
            </a:r>
            <a:pPr rtl="1" algn="ctr" indent="0" marL="0">
              <a:lnSpc>
                <a:spcPct val="120000"/>
              </a:lnSpc>
              <a:buNone/>
            </a:pPr>
            <a:r>
              <a:rPr lang="ar-SA" altLang="en-US" sz="1950" b="1" dirty="0">
                <a:solidFill>
                  <a:srgbClr val="0E7C86"/>
                </a:solidFill>
                <a:latin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cs typeface="Amiri" pitchFamily="2" charset="-78"/>
              </a:rPr>
              <a:t> لَذِيذٌ، وَآكُلُهُ مَعَ الأَرُزِّ.</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and combine food, meal, body, illness and advice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Sustain a topic conversation with developed answers.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and write an organised food-and-health paragraph.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Edit for verb forms, gender agreement, reasons and advice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six questions with one detail each.</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60–70 words from the planner.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developed answers with reasons.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80–100 words with four connectives.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comparison, purpose and a precise target.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find and fix my most common F5 error.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High-value connectives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Speaking repair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Writing checks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مِثَالٌ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خُطَّةٌ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‎خط‎ </a:t>
            </a:r>
            <a:pPr indent="0" marL="0">
              <a:buNone/>
            </a:pPr>
            <a:r>
              <a:rPr lang="en-US" sz="950" b="1" dirty="0">
                <a:solidFill>
                  <a:srgbClr val="2E8B57"/>
                </a:solidFill>
                <a:latin typeface="Calibri" pitchFamily="34" charset="0"/>
                <a:cs typeface="Amiri" pitchFamily="2" charset="-78"/>
              </a:rPr>
              <a:t> khat · Urdu: a letter / line · Arabic: a plan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تَصْحِيحٌ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‎تصحیح‎ </a:t>
            </a:r>
            <a:pPr indent="0" marL="0">
              <a:buNone/>
            </a:pPr>
            <a:r>
              <a:rPr lang="en-US" sz="950" b="1" dirty="0">
                <a:solidFill>
                  <a:srgbClr val="2E8B57"/>
                </a:solidFill>
                <a:latin typeface="Calibri" pitchFamily="34" charset="0"/>
                <a:cs typeface="Amiri" pitchFamily="2" charset="-78"/>
              </a:rPr>
              <a:t> tas-hīh · correction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فِكْرَةٌ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‎فکر‎ </a:t>
            </a:r>
            <a:pPr indent="0" marL="0">
              <a:buNone/>
            </a:pPr>
            <a:r>
              <a:rPr lang="en-US" sz="950" b="1" dirty="0">
                <a:solidFill>
                  <a:srgbClr val="2E8B57"/>
                </a:solidFill>
                <a:latin typeface="Calibri" pitchFamily="34" charset="0"/>
                <a:cs typeface="Amiri" pitchFamily="2" charset="-78"/>
              </a:rPr>
              <a:t> fikr · worry → an idea</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مُرَاجَعَةٌ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‎رجوع‎ </a:t>
            </a:r>
            <a:pPr indent="0" marL="0">
              <a:buNone/>
            </a:pPr>
            <a:r>
              <a:rPr lang="en-US" sz="950" b="1" dirty="0">
                <a:solidFill>
                  <a:srgbClr val="2E8B57"/>
                </a:solidFill>
                <a:latin typeface="Calibri" pitchFamily="34" charset="0"/>
                <a:cs typeface="Amiri" pitchFamily="2" charset="-78"/>
              </a:rPr>
              <a:t> rujūʿ · returning → review</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High-value connectives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أَوَّلًا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firstly</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أَيْضًا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High-value connectives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 / لٰكِنَّ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wa-lā-kin / lā-kin-na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أَخِيرًا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a:t>
            </a:r>
            <a:endParaRPr lang="en-US" sz="1350" dirty="0"/>
          </a:p>
          <a:p>
            <a:pPr indent="0" marL="0">
              <a:buNone/>
            </a:pPr>
            <a:r>
              <a:rPr lang="en-US" sz="1100" i="1" dirty="0">
                <a:solidFill>
                  <a:srgbClr val="5A6472"/>
                </a:solidFill>
                <a:latin typeface="Calibri" pitchFamily="34" charset="0"/>
                <a:cs typeface="Amiri" pitchFamily="2" charset="-78"/>
              </a:rPr>
              <a:t>a-khī-ran</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فَضْلِكَ، أَعِدِ السُّؤَالَ.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repeat the question.</a:t>
            </a:r>
            <a:endParaRPr lang="en-US" sz="1350" dirty="0"/>
          </a:p>
          <a:p>
            <a:pPr indent="0" marL="0">
              <a:buNone/>
            </a:pPr>
            <a:r>
              <a:rPr lang="en-US" sz="1100" i="1" dirty="0">
                <a:solidFill>
                  <a:srgbClr val="5A6472"/>
                </a:solidFill>
                <a:latin typeface="Calibri" pitchFamily="34" charset="0"/>
                <a:cs typeface="Amiri" pitchFamily="2" charset="-78"/>
              </a:rPr>
              <a:t>min faḍ-li-ka, a-ʿi-di as-su-ʾā-la.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لَمْ أَفْهَمْ كَلِمَةَ ...</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did not understand the word ...</a:t>
            </a:r>
            <a:endParaRPr lang="en-US" sz="1350" dirty="0"/>
          </a:p>
          <a:p>
            <a:pPr indent="0" marL="0">
              <a:buNone/>
            </a:pPr>
            <a:r>
              <a:rPr lang="en-US" sz="1100" i="1" dirty="0">
                <a:solidFill>
                  <a:srgbClr val="5A6472"/>
                </a:solidFill>
                <a:latin typeface="Calibri" pitchFamily="34" charset="0"/>
                <a:cs typeface="Amiri" pitchFamily="2" charset="-78"/>
              </a:rPr>
              <a:t>lam af-ham ka-li-ma-ta ...</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هَلْ تَعْنِي ...؟</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mean ...?</a:t>
            </a:r>
            <a:endParaRPr lang="en-US" sz="1350" dirty="0"/>
          </a:p>
          <a:p>
            <a:pPr indent="0" marL="0">
              <a:buNone/>
            </a:pPr>
            <a:r>
              <a:rPr lang="en-US" sz="1100" i="1" dirty="0">
                <a:solidFill>
                  <a:srgbClr val="5A6472"/>
                </a:solidFill>
                <a:latin typeface="Calibri" pitchFamily="34" charset="0"/>
                <a:cs typeface="Amiri" pitchFamily="2" charset="-78"/>
              </a:rPr>
              <a:t>hal taʿ-nī ...?</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دَعْنِي أُفَكِّرُ.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مَثَلًا</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ma-tha-lan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checks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خُطَّةٌ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plan</a:t>
            </a:r>
            <a:endParaRPr lang="en-US" sz="1350" dirty="0"/>
          </a:p>
          <a:p>
            <a:pPr indent="0" marL="0">
              <a:buNone/>
            </a:pPr>
            <a:r>
              <a:rPr lang="en-US" sz="1100" i="1" dirty="0">
                <a:solidFill>
                  <a:srgbClr val="5A6472"/>
                </a:solidFill>
                <a:latin typeface="Calibri" pitchFamily="34" charset="0"/>
                <a:cs typeface="Amiri" pitchFamily="2" charset="-78"/>
              </a:rPr>
              <a:t>khuṭ-ṭa-tun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فِكْرَةٌ رَئِيسِيَّةٌ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idea</a:t>
            </a:r>
            <a:endParaRPr lang="en-US" sz="1350" dirty="0"/>
          </a:p>
          <a:p>
            <a:pPr indent="0" marL="0">
              <a:buNone/>
            </a:pPr>
            <a:r>
              <a:rPr lang="en-US" sz="1100" i="1" dirty="0">
                <a:solidFill>
                  <a:srgbClr val="5A6472"/>
                </a:solidFill>
                <a:latin typeface="Calibri" pitchFamily="34" charset="0"/>
                <a:cs typeface="Amiri" pitchFamily="2" charset="-78"/>
              </a:rPr>
              <a:t>fik-ra-tun ra-ʾī-siy-ya-tun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سَبَبٌ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reason</a:t>
            </a:r>
            <a:endParaRPr lang="en-US" sz="1350" dirty="0"/>
          </a:p>
          <a:p>
            <a:pPr indent="0" marL="0">
              <a:buNone/>
            </a:pPr>
            <a:r>
              <a:rPr lang="en-US" sz="1100" i="1" dirty="0">
                <a:solidFill>
                  <a:srgbClr val="5A6472"/>
                </a:solidFill>
                <a:latin typeface="Calibri" pitchFamily="34" charset="0"/>
                <a:cs typeface="Amiri" pitchFamily="2" charset="-78"/>
              </a:rPr>
              <a:t>sa-ba-bun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example</a:t>
            </a:r>
            <a:endParaRPr lang="en-US" sz="1350" dirty="0"/>
          </a:p>
          <a:p>
            <a:pPr indent="0" marL="0">
              <a:buNone/>
            </a:pPr>
            <a:r>
              <a:rPr lang="en-US" sz="1100" i="1" dirty="0">
                <a:solidFill>
                  <a:srgbClr val="5A6472"/>
                </a:solidFill>
                <a:latin typeface="Calibri" pitchFamily="34" charset="0"/>
                <a:cs typeface="Amiri" pitchFamily="2" charset="-78"/>
              </a:rPr>
              <a:t>mi-thā-lun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checks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مُطَابَقَةٌ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a:t>
            </a:r>
            <a:endParaRPr lang="en-US" sz="1350" dirty="0"/>
          </a:p>
          <a:p>
            <a:pPr indent="0" marL="0">
              <a:buNone/>
            </a:pPr>
            <a:r>
              <a:rPr lang="en-US" sz="1100" i="1" dirty="0">
                <a:solidFill>
                  <a:srgbClr val="5A6472"/>
                </a:solidFill>
                <a:latin typeface="Calibri" pitchFamily="34" charset="0"/>
                <a:cs typeface="Amiri" pitchFamily="2" charset="-78"/>
              </a:rPr>
              <a:t>mu-ṭā-ba-qa-tun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تَصْحِيحٌ</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correction</a:t>
            </a:r>
            <a:endParaRPr lang="en-US" sz="1350" dirty="0"/>
          </a:p>
          <a:p>
            <a:pPr indent="0" marL="0">
              <a:buNone/>
            </a:pPr>
            <a:r>
              <a:rPr lang="en-US" sz="1100" i="1" dirty="0">
                <a:solidFill>
                  <a:srgbClr val="5A6472"/>
                </a:solidFill>
                <a:latin typeface="Calibri" pitchFamily="34" charset="0"/>
                <a:cs typeface="Amiri" pitchFamily="2" charset="-78"/>
              </a:rPr>
              <a:t>taṣ-ḥī-ḥun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مُرَاجَعَةٌ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review</a:t>
            </a:r>
            <a:endParaRPr lang="en-US" sz="1350" dirty="0"/>
          </a:p>
          <a:p>
            <a:pPr indent="0" marL="0">
              <a:buNone/>
            </a:pPr>
            <a:r>
              <a:rPr lang="en-US" sz="1100" i="1" dirty="0">
                <a:solidFill>
                  <a:srgbClr val="5A6472"/>
                </a:solidFill>
                <a:latin typeface="Calibri" pitchFamily="34" charset="0"/>
                <a:cs typeface="Amiri" pitchFamily="2" charset="-78"/>
              </a:rPr>
              <a:t>mu-rā-ja-ʿa-tun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عَدَدُ الكَلِمَاتِ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word count</a:t>
            </a:r>
            <a:endParaRPr lang="en-US" sz="1350" dirty="0"/>
          </a:p>
          <a:p>
            <a:pPr indent="0" marL="0">
              <a:buNone/>
            </a:pPr>
            <a:r>
              <a:rPr lang="en-US" sz="1100" i="1" dirty="0">
                <a:solidFill>
                  <a:srgbClr val="5A6472"/>
                </a:solidFill>
                <a:latin typeface="Calibri" pitchFamily="34" charset="0"/>
                <a:cs typeface="Amiri" pitchFamily="2" charset="-78"/>
              </a:rPr>
              <a:t>ʿa-da-du al-ka-li-mā-ti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1 · THE ARTICLE PLAN (WEBSITE READING: MODEL ARTICLE PLAN)</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food and my health: five boxes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F5 lesson</a:t>
            </a:r>
            <a:endParaRPr lang="en-US" sz="1100" dirty="0"/>
          </a:p>
        </p:txBody>
      </p:sp>
      <p:sp>
        <p:nvSpPr>
          <p:cNvPr id="17" name="Text 14"/>
          <p:cNvSpPr txBox="1"/>
          <p:nvPr/>
        </p:nvSpPr>
        <p:spPr>
          <a:xfrm>
            <a:off x="327355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Box</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162288" y="2267712"/>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L01–L02</a:t>
            </a:r>
            <a:endParaRPr lang="en-US" sz="1100" dirty="0"/>
          </a:p>
        </p:txBody>
      </p:sp>
      <p:sp>
        <p:nvSpPr>
          <p:cNvPr id="21" name="Text 18"/>
          <p:cNvSpPr txBox="1"/>
          <p:nvPr/>
        </p:nvSpPr>
        <p:spPr>
          <a:xfrm>
            <a:off x="3291840" y="2267712"/>
            <a:ext cx="56692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عَادَةً أَتَنَاوَلُ الفُطُورَ فِي السَّاعَةِ السَّابِعَةِ، وَآكُلُ الخُبْزَ وَالجُبْنَ.</a:t>
            </a:r>
            <a:endParaRPr lang="ar-SA" sz="20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meals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162288" y="300471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L03–L04</a:t>
            </a:r>
            <a:endParaRPr lang="en-US" sz="1100" dirty="0"/>
          </a:p>
        </p:txBody>
      </p:sp>
      <p:sp>
        <p:nvSpPr>
          <p:cNvPr id="27" name="Text 24"/>
          <p:cNvSpPr txBox="1"/>
          <p:nvPr/>
        </p:nvSpPr>
        <p:spPr>
          <a:xfrm>
            <a:off x="3291840" y="3004718"/>
            <a:ext cx="56692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أُفَضِّلُ السَّمَكَ </a:t>
            </a:r>
            <a:pPr rtl="1" algn="ctr" indent="0" marL="0">
              <a:buNone/>
            </a:pPr>
            <a:r>
              <a:rPr lang="ar-SA" altLang="en-US" sz="2200" b="1" dirty="0">
                <a:solidFill>
                  <a:srgbClr val="7B3FA0"/>
                </a:solidFill>
                <a:latin typeface="Amiri" pitchFamily="2" charset="-78"/>
                <a:cs typeface="Amiri" pitchFamily="2" charset="-78"/>
              </a:rPr>
              <a:t>أَكْثَرَ مِنَ</a:t>
            </a:r>
            <a:pPr rtl="1" algn="ctr" indent="0" marL="0">
              <a:buNone/>
            </a:pPr>
            <a:r>
              <a:rPr lang="ar-SA" altLang="en-US" sz="2200" b="1" dirty="0">
                <a:solidFill>
                  <a:srgbClr val="1B3B6F"/>
                </a:solidFill>
                <a:latin typeface="Amiri" pitchFamily="2" charset="-78"/>
                <a:cs typeface="Amiri" pitchFamily="2" charset="-78"/>
              </a:rPr>
              <a:t> اللَّحْمِ </a:t>
            </a:r>
            <a:pPr rtl="1" algn="ctr" indent="0" marL="0">
              <a:buNone/>
            </a:pPr>
            <a:r>
              <a:rPr lang="ar-SA" altLang="en-US" sz="2200" b="1" dirty="0">
                <a:solidFill>
                  <a:srgbClr val="0E7C86"/>
                </a:solidFill>
                <a:latin typeface="Amiri" pitchFamily="2" charset="-78"/>
                <a:cs typeface="Amiri" pitchFamily="2" charset="-78"/>
              </a:rPr>
              <a:t>لِأَنَّهُ</a:t>
            </a:r>
            <a:pPr rtl="1" algn="ctr" indent="0" marL="0">
              <a:buNone/>
            </a:pPr>
            <a:r>
              <a:rPr lang="ar-SA" altLang="en-US" sz="2200" b="1" dirty="0">
                <a:solidFill>
                  <a:srgbClr val="1B3B6F"/>
                </a:solidFill>
                <a:latin typeface="Amiri" pitchFamily="2" charset="-78"/>
                <a:cs typeface="Amiri" pitchFamily="2" charset="-78"/>
              </a:rPr>
              <a:t> لَذِيذٌ وَمُفِيدٌ.</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favourite + reason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162288" y="3741725"/>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L05–L06</a:t>
            </a:r>
            <a:endParaRPr lang="en-US" sz="1100" dirty="0"/>
          </a:p>
        </p:txBody>
      </p:sp>
      <p:sp>
        <p:nvSpPr>
          <p:cNvPr id="33" name="Text 30"/>
          <p:cNvSpPr txBox="1"/>
          <p:nvPr/>
        </p:nvSpPr>
        <p:spPr>
          <a:xfrm>
            <a:off x="3291840" y="3741725"/>
            <a:ext cx="56692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أَحْيَانًا أَذْهَبُ إِلَى مَطْعَمٍ، وَأَطْلُبُ الحَسَاءَ وَالسَّلَطَةَ.</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restaurant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162288" y="4478731"/>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L07–L10</a:t>
            </a:r>
            <a:endParaRPr lang="en-US" sz="1100" dirty="0"/>
          </a:p>
        </p:txBody>
      </p:sp>
      <p:sp>
        <p:nvSpPr>
          <p:cNvPr id="37" name="Text 34"/>
          <p:cNvSpPr txBox="1"/>
          <p:nvPr/>
        </p:nvSpPr>
        <p:spPr>
          <a:xfrm>
            <a:off x="3291840" y="4478731"/>
            <a:ext cx="566928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لِلْحِفَاظِ عَلَى صِحَّتِي</a:t>
            </a:r>
            <a:pPr rtl="1" algn="ctr" indent="0" marL="0">
              <a:buNone/>
            </a:pPr>
            <a:r>
              <a:rPr lang="ar-SA" altLang="en-US" sz="2200" b="1" dirty="0">
                <a:solidFill>
                  <a:srgbClr val="1B3B6F"/>
                </a:solidFill>
                <a:latin typeface="Amiri" pitchFamily="2" charset="-78"/>
                <a:cs typeface="Amiri" pitchFamily="2" charset="-78"/>
              </a:rPr>
              <a:t>، أَشْرَبُ مَاءً كَافِيًا وَأُمَارِسُ الرِّيَاضَةَ.</a:t>
            </a:r>
            <a:endParaRPr lang="ar-SA" sz="22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healthy habits</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162288" y="521573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L10</a:t>
            </a:r>
            <a:endParaRPr lang="en-US" sz="1100" dirty="0"/>
          </a:p>
        </p:txBody>
      </p:sp>
      <p:sp>
        <p:nvSpPr>
          <p:cNvPr id="43" name="Text 40"/>
          <p:cNvSpPr txBox="1"/>
          <p:nvPr/>
        </p:nvSpPr>
        <p:spPr>
          <a:xfrm>
            <a:off x="3291840" y="5215738"/>
            <a:ext cx="566928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وَلَكِنِّي</a:t>
            </a:r>
            <a:pPr rtl="1" algn="ctr" indent="0" marL="0">
              <a:buNone/>
            </a:pPr>
            <a:r>
              <a:rPr lang="ar-SA" altLang="en-US" sz="2200" b="1" dirty="0">
                <a:solidFill>
                  <a:srgbClr val="1B3B6F"/>
                </a:solidFill>
                <a:latin typeface="Amiri" pitchFamily="2" charset="-78"/>
                <a:cs typeface="Amiri" pitchFamily="2" charset="-78"/>
              </a:rPr>
              <a:t> أَنَامُ مُتَأَخِّرًا أَحْيَانًا؛ </a:t>
            </a:r>
            <a:pPr rtl="1" algn="ctr" indent="0" marL="0">
              <a:buNone/>
            </a:pPr>
            <a:r>
              <a:rPr lang="ar-SA" altLang="en-US" sz="2200" b="1" dirty="0">
                <a:solidFill>
                  <a:srgbClr val="0E7C86"/>
                </a:solidFill>
                <a:latin typeface="Amiri" pitchFamily="2" charset="-78"/>
                <a:cs typeface="Amiri" pitchFamily="2" charset="-78"/>
              </a:rPr>
              <a:t>لِذَلِكَ</a:t>
            </a:r>
            <a:pPr rtl="1" algn="ctr" indent="0" marL="0">
              <a:buNone/>
            </a:pPr>
            <a:r>
              <a:rPr lang="ar-SA" altLang="en-US" sz="2200" b="1" dirty="0">
                <a:solidFill>
                  <a:srgbClr val="1B3B6F"/>
                </a:solidFill>
                <a:latin typeface="Amiri" pitchFamily="2" charset="-78"/>
                <a:cs typeface="Amiri" pitchFamily="2" charset="-78"/>
              </a:rPr>
              <a:t> هَدَفِي أَنْ أَنَامَ مُبَكِّرًا.</a:t>
            </a:r>
            <a:endParaRPr lang="ar-SA" sz="22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goal</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paragraph must include examples and connectives — a list of words is not enough.”</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CONNECTIVES WITH A REAL JOB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Sequence · add · contrast · reason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SEQUENCE</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أَوَّلًا · ثُمَّ · أَخِيرًا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أَوَّلًا أَتَنَاوَلُ الفُطُورَ، ثُمَّ أَشْرَبُ المَاءَ.</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First I have breakfast, then I drink water.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Order of events.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وَلَكِنْ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أُحِبُّ الحَلْوَيَاتِ، وَلَكِنْ لَا آكُلُهَا كَثِيرًا.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sweets, but I don’t eat them much.</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second idea differs.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OPINION + REASON</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رَأْيٌ + لِأَنَّ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أُفَضِّلُ الطَّعَامَ المَنْزِلِيَّ لِأَنَّهُ طَازَجٌ وَصِحِّيٌّ.</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home food because it is fresh and healthy.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turn a list into actions with verbs.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فِي الفُطُورِ آكُلُ الخُبْزَ وَأَشْرَبُ الحَلِيبَ.</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فِي الفُطُورِ الخُبْزُ وَالحَلِيبُ.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Connectives for a food-and-health paragraph</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cs typeface="Amiri" pitchFamily="2" charset="-78"/>
              </a:rPr>
              <a:t>أَدَوَاتُ الرَّبْطِ فِي فِقْرَةٍ عَنِ الطَّعَامِ وَالصِّحَّةِ</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Sequence actions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أَوَّلًا · ثُمَّ · بَعْدَ ذٰلِكَ · أَخِيرًا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أَوَّلًا أَتَنَاوَلُ الفُطُورَ.   ·   ثُمَّ أَشْرَبُ المَاءَ.   ·   أَخِيرًا أَنَامُ مُبَكِّرًا.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Add another detail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وَ · أَيْضًا · كَمَا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آكُلُ الفَاكِهَةَ وَأَشْرَبُ المَاءَ.   ·   أُمَارِسُ الرِّيَاضَةَ أَيْضًا.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Show contrast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وَلٰكِنْ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أُحِبُّ الحَلْوَيَاتِ، وَلٰكِنْ لَا آكُلُهَا كَثِيرًا.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Develop an opinion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رَأْيٌ + لِأَنَّ + سَبَبٌ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أُفَضِّلُ الطَّعَامَ المَنْزِلِيَّ لِأَنَّهُ طَازَجٌ وَصِحِّيٌّ.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opening for a meal paragraph?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خُبْزٌ جُبْنٌ حَلِيبٌ.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الفُطُورِ آكُلُ الخُبْزَ وَالجُبْنَ.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sequences the next action?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developed?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السَّمَكَ.</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السَّمَكَ لِأَنَّهُ لَذِيذٌ وَصِحِّيٌّ.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سَمَكٌ.</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purpose phrase.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لِلْحِفَاظِ عَلَى صِحَّتِي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 صِحَّتِي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صِحَّتِي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opening for a meal paragraph?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خُبْزٌ جُبْنٌ حَلِيبٌ.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الفُطُورِ آكُلُ الخُبْزَ وَالجُبْنَ.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a clear context and complete sentence.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sequences the next action?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means “then”.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developed?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السَّمَكَ.</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السَّمَكَ لِأَنَّهُ لَذِيذٌ وَصِحِّيٌّ.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سَمَكٌ.</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adds a specific reason and extra detail.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purpose phrase.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لِلْحِفَاظِ عَلَى صِحَّتِي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 صِحَّتِي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صِحَّتِي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means “to maintain my health”.</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Watch me turn short answers into developed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Short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أُحِبُّ السَّمَكَ.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Correct — but only one idea.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 reason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أُحِبُّ السَّمَكَ </a:t>
            </a:r>
            <a:pPr rtl="1" algn="ctr" indent="0" marL="0">
              <a:lnSpc>
                <a:spcPct val="120000"/>
              </a:lnSpc>
              <a:buNone/>
            </a:pPr>
            <a:r>
              <a:rPr lang="ar-SA" altLang="en-US" sz="1850" b="1" dirty="0">
                <a:solidFill>
                  <a:srgbClr val="0E7C86"/>
                </a:solidFill>
                <a:latin typeface="Amiri" pitchFamily="2" charset="-78"/>
                <a:cs typeface="Amiri" pitchFamily="2" charset="-78"/>
              </a:rPr>
              <a:t>لِأَنَّهُ</a:t>
            </a:r>
            <a:pPr rtl="1" algn="ctr" indent="0" marL="0">
              <a:lnSpc>
                <a:spcPct val="120000"/>
              </a:lnSpc>
              <a:buNone/>
            </a:pPr>
            <a:r>
              <a:rPr lang="ar-SA" altLang="en-US" sz="1850" b="1" dirty="0">
                <a:solidFill>
                  <a:srgbClr val="1B3B6F"/>
                </a:solidFill>
                <a:latin typeface="Amiri" pitchFamily="2" charset="-78"/>
                <a:cs typeface="Amiri" pitchFamily="2" charset="-78"/>
              </a:rPr>
              <a:t> لَذِيذٌ وَمُفِيدٌ.</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Fish is m. → li-annahu.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 example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 وَآكُلُهُ مَعَ الأَرُزِّ وَالسَّلَطَةِ.</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 when I eat it.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 contrast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D6336C"/>
                </a:solidFill>
                <a:latin typeface="Amiri" pitchFamily="2" charset="-78"/>
                <a:cs typeface="Amiri" pitchFamily="2" charset="-78"/>
              </a:rPr>
              <a:t>وَلَكِنِّي</a:t>
            </a:r>
            <a:pPr rtl="1" algn="ctr" indent="0" marL="0">
              <a:buNone/>
            </a:pPr>
            <a:r>
              <a:rPr lang="ar-SA" altLang="en-US" sz="2300" b="1" dirty="0">
                <a:solidFill>
                  <a:srgbClr val="1B3B6F"/>
                </a:solidFill>
                <a:latin typeface="Amiri" pitchFamily="2" charset="-78"/>
                <a:cs typeface="Amiri" pitchFamily="2" charset="-78"/>
              </a:rPr>
              <a:t> لَا آكُلُهُ كُلَّ يَوْمٍ.</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Balance.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طَعَامِي المُفَضَّلُ هُوَ السَّمَكُ </a:t>
            </a:r>
            <a:pPr rtl="1" algn="r" indent="0" marL="0">
              <a:buNone/>
            </a:pPr>
            <a:r>
              <a:rPr lang="ar-SA" altLang="en-US" sz="1900" b="1" dirty="0">
                <a:solidFill>
                  <a:srgbClr val="0E7C86"/>
                </a:solidFill>
                <a:latin typeface="Amiri" pitchFamily="2" charset="-78"/>
                <a:cs typeface="Amiri" pitchFamily="2" charset="-78"/>
              </a:rPr>
              <a:t>لِأَنَّهُ</a:t>
            </a:r>
            <a:pPr rtl="1" algn="r" indent="0" marL="0">
              <a:buNone/>
            </a:pPr>
            <a:r>
              <a:rPr lang="ar-SA" altLang="en-US" sz="1900" b="1" dirty="0">
                <a:solidFill>
                  <a:srgbClr val="1B3B6F"/>
                </a:solidFill>
                <a:latin typeface="Amiri" pitchFamily="2" charset="-78"/>
                <a:cs typeface="Amiri" pitchFamily="2" charset="-78"/>
              </a:rPr>
              <a:t> لَذِيذٌ وَمُفِيدٌ. آكُلُهُ مَعَ الأَرُزِّ وَالسَّلَطَةِ. أَشْرَبُ المَاءَ وَأَمْشِي كُلَّ يَوْمٍ، </a:t>
            </a:r>
            <a:pPr rtl="1" algn="r" indent="0" marL="0">
              <a:buNone/>
            </a:pPr>
            <a:r>
              <a:rPr lang="ar-SA" altLang="en-US" sz="1900" b="1" dirty="0">
                <a:solidFill>
                  <a:srgbClr val="D6336C"/>
                </a:solidFill>
                <a:latin typeface="Amiri" pitchFamily="2" charset="-78"/>
                <a:cs typeface="Amiri" pitchFamily="2" charset="-78"/>
              </a:rPr>
              <a:t>وَلَكِنِّي</a:t>
            </a:r>
            <a:pPr rtl="1" algn="r" indent="0" marL="0">
              <a:buNone/>
            </a:pPr>
            <a:r>
              <a:rPr lang="ar-SA" altLang="en-US" sz="1900" b="1" dirty="0">
                <a:solidFill>
                  <a:srgbClr val="1B3B6F"/>
                </a:solidFill>
                <a:latin typeface="Amiri" pitchFamily="2" charset="-78"/>
                <a:cs typeface="Amiri" pitchFamily="2" charset="-78"/>
              </a:rPr>
              <a:t> أُرِيدُ أَنْ أَنَامَ مُبَكِّرَةً.</a:t>
            </a:r>
            <a:endParaRPr lang="ar-SA" sz="19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My favourite food is fish because it is delicious and beneficial. I eat it with rice and salad. I drink water and walk every day, but I want to sleep earlier.</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الفُطُورِ آكُلُ الخُبْزَ وَالجُبْنَ، ثُمَّ أَشْرَبُ الحَلِيبَ.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At breakfast I eat bread and cheese, then drink milk.</a:t>
            </a:r>
            <a:endParaRPr lang="en-US" sz="1250" dirty="0"/>
          </a:p>
          <a:p>
            <a:pPr indent="0" marL="0">
              <a:buNone/>
            </a:pPr>
            <a:r>
              <a:rPr lang="en-US" sz="1050" i="1" dirty="0">
                <a:solidFill>
                  <a:srgbClr val="8A6D1E"/>
                </a:solidFill>
                <a:latin typeface="Calibri" pitchFamily="34" charset="0"/>
                <a:cs typeface="Amiri" pitchFamily="2" charset="-78"/>
              </a:rPr>
              <a:t>Connect meal details instead of listing isolated words.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أُفَضِّلُ الطَّعَامَ الصِّحِّيَّ لِأَنَّهُ يُسَاعِدُنِي عَلَى التَّرْكِيزِ.</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healthy food because it helps me concentrate.</a:t>
            </a:r>
            <a:endParaRPr lang="en-US" sz="1250" dirty="0"/>
          </a:p>
          <a:p>
            <a:pPr indent="0" marL="0">
              <a:buNone/>
            </a:pPr>
            <a:r>
              <a:rPr lang="en-US" sz="1050" i="1" dirty="0">
                <a:solidFill>
                  <a:srgbClr val="8A6D1E"/>
                </a:solidFill>
                <a:latin typeface="Calibri" pitchFamily="34" charset="0"/>
                <a:cs typeface="Amiri" pitchFamily="2" charset="-78"/>
              </a:rPr>
              <a:t>Develop an opinion with a personal reason.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cs typeface="Amiri" pitchFamily="2" charset="-78"/>
              </a:rPr>
              <a:t>لِلْحِفَاظِ عَلَى صِحَّتِي، يَجِبُ أَنْ أَشْرَبَ المَاءَ وَأَنْ أُمَارِسَ الرِّيَاضَةَ.</a:t>
            </a:r>
            <a:endParaRPr lang="ar-SA" sz="24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To maintain my health, I should drink water and exercise.</a:t>
            </a:r>
            <a:endParaRPr lang="en-US" sz="1250" dirty="0"/>
          </a:p>
          <a:p>
            <a:pPr indent="0" marL="0">
              <a:buNone/>
            </a:pPr>
            <a:r>
              <a:rPr lang="en-US" sz="1050" i="1" dirty="0">
                <a:solidFill>
                  <a:srgbClr val="8A6D1E"/>
                </a:solidFill>
                <a:latin typeface="Calibri" pitchFamily="34" charset="0"/>
                <a:cs typeface="Amiri" pitchFamily="2" charset="-78"/>
              </a:rPr>
              <a:t>Use a purpose phrase to open advice.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أَخِيرًا، هَدَفِي أَنْ أَنَامَ مُبَكِّرًا وَأَنْ أُقَلِّلَ مِنَ السُّكَّرِ.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Finally, my goal is to sleep early and reduce sugar.</a:t>
            </a:r>
            <a:endParaRPr lang="en-US" sz="1250" dirty="0"/>
          </a:p>
          <a:p>
            <a:pPr indent="0" marL="0">
              <a:buNone/>
            </a:pPr>
            <a:r>
              <a:rPr lang="en-US" sz="1050" i="1" dirty="0">
                <a:solidFill>
                  <a:srgbClr val="8A6D1E"/>
                </a:solidFill>
                <a:latin typeface="Calibri" pitchFamily="34" charset="0"/>
                <a:cs typeface="Amiri" pitchFamily="2" charset="-78"/>
              </a:rPr>
              <a:t>End with a specific next step.</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stage of writing?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أَكْتُبُ أَفْكَارًا عَنِ الفُطُورِ وَالصِّحَّةِ</a:t>
            </a:r>
            <a:endParaRPr lang="ar-SA" sz="17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أَكْتُبُ الفَقْرَةَ كَامِلَةً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أَتَأَكَّدُ مِنْ لِأَنَّهُ / لِأَنَّهَا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أَخْتَارُ ثَلَاثَةَ رَوَابِطَ</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أُضِيفُ سَبَبًا وَمِثَالًا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أَعُدُّ الكَلِمَاتِ وَأُصَحِّحُ الأَخْطَاءَ</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خُطَّةٌ · plan</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مَسْوَدَّةٌ · draft</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مُرَاجَعَةٌ · check</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خُطَّةٌ · plan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أَكْتُبُ أَفْكَارًا عَنِ الفُطُورِ وَالصِّحَّةِ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أَخْتَارُ ثَلَاثَةَ رَوَابِطَ</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مَسْوَدَّةٌ · draft</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أَكْتُبُ الفَقْرَةَ كَامِلَةً</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أُضِيفُ سَبَبًا وَمِثَالًا</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مُرَاجَعَةٌ · check</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أَتَأَكَّدُ مِنْ لِأَنَّهُ / لِأَنَّهَا</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أَعُدُّ الكَلِمَاتِ وَأُصَحِّحُ الأَخْطَاءَ</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precise target?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سَأَكُونُ صِحِّيًّا.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الصِّحَّةُ جَيِّدَةٌ.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هَدَفِي أَنْ أَشْرَبَ سِتَّةَ أَكْوَابٍ مِنَ المَاءِ يَوْمِيًّا.</a:t>
            </a:r>
            <a:endParaRPr lang="ar-SA" sz="2050" dirty="0"/>
          </a:p>
        </p:txBody>
      </p:sp>
      <p:sp>
        <p:nvSpPr>
          <p:cNvPr id="30" name="Shape 27"/>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shows contrast?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أَيْضًا</a:t>
            </a:r>
            <a:endParaRPr lang="ar-SA" sz="2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precise target?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سَأَكُونُ صِحِّيًّا.</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الصِّحَّةُ جَيِّدَةٌ.</a:t>
            </a:r>
            <a:endParaRPr lang="ar-SA" sz="2050" dirty="0"/>
          </a:p>
        </p:txBody>
      </p:sp>
      <p:sp>
        <p:nvSpPr>
          <p:cNvPr id="27" name="Shape 24"/>
          <p:cNvSpPr/>
          <p:nvPr/>
        </p:nvSpPr>
        <p:spPr>
          <a:xfrm>
            <a:off x="548640" y="341071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هَدَفِي أَنْ أَشْرَبَ سِتَّةَ أَكْوَابٍ مِنَ المَاءِ يَوْمِيًّا.</a:t>
            </a:r>
            <a:endParaRPr lang="ar-SA" sz="2050" dirty="0"/>
          </a:p>
        </p:txBody>
      </p:sp>
      <p:sp>
        <p:nvSpPr>
          <p:cNvPr id="31" name="Text 2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a clear measurable action.</a:t>
            </a:r>
            <a:endParaRPr lang="en-US" sz="1050" dirty="0"/>
          </a:p>
        </p:txBody>
      </p:sp>
      <p:sp>
        <p:nvSpPr>
          <p:cNvPr id="32" name="Shape 29"/>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shows contrast?</a:t>
            </a:r>
            <a:endParaRPr lang="en-US" sz="1250" dirty="0"/>
          </a:p>
        </p:txBody>
      </p:sp>
      <p:sp>
        <p:nvSpPr>
          <p:cNvPr id="36" name="Shape 33"/>
          <p:cNvSpPr/>
          <p:nvPr/>
        </p:nvSpPr>
        <p:spPr>
          <a:xfrm>
            <a:off x="6368796"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ثُمَّ</a:t>
            </a:r>
            <a:endParaRPr lang="ar-SA" sz="2050" dirty="0"/>
          </a:p>
        </p:txBody>
      </p:sp>
      <p:sp>
        <p:nvSpPr>
          <p:cNvPr id="39" name="Shape 36"/>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وَلٰكِنْ</a:t>
            </a:r>
            <a:endParaRPr lang="ar-SA" sz="2050" dirty="0"/>
          </a:p>
        </p:txBody>
      </p:sp>
      <p:sp>
        <p:nvSpPr>
          <p:cNvPr id="43" name="Shape 40"/>
          <p:cNvSpPr/>
          <p:nvPr/>
        </p:nvSpPr>
        <p:spPr>
          <a:xfrm>
            <a:off x="6368796"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أَيْضًا</a:t>
            </a:r>
            <a:endParaRPr lang="ar-SA" sz="2050" dirty="0"/>
          </a:p>
        </p:txBody>
      </p:sp>
      <p:sp>
        <p:nvSpPr>
          <p:cNvPr id="46" name="Text 4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introduces a contrasting idea.</a:t>
            </a:r>
            <a:endParaRPr lang="en-US" sz="10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أُحِبُّ السَّلَطَةَ لِأَنَّهُ صِحِّيٌّ.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salad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يَجِبُ أَنْ أَشْرَبُ المَاءَ.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after </a:t>
            </a:r>
            <a:pPr algn="l" indent="0" marL="0">
              <a:buNone/>
            </a:pPr>
            <a:r>
              <a:rPr lang="ar-SA" altLang="en-US" sz="1700" dirty="0">
                <a:solidFill>
                  <a:srgbClr val="5A6472"/>
                </a:solidFill>
                <a:latin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الفُطُورِ الخُبْزُ وَالحَلِيبُ.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are the verbs?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أُحِبُّ السَّلَطَةَ لِأَنَّهُ صِحِّيٌّ.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أُحِبُّ السَّلَطَةَ لِأَنَّهَا صِحِّيَّةٌ.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Repair both pronoun and adjective agreement.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يَجِبُ أَنْ أَشْرَبُ المَاءَ.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يَجِبُ أَنْ أَشْرَبَ المَاءَ.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modelled ending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الفُطُورِ الخُبْزُ وَالحَلِيبُ.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الفُطُورِ آكُلُ الخُبْزَ وَأَشْرَبُ الحَلِيبَ.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verbs to turn a list into communicated actions.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 Amal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food does Amal like?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home-cooked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food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restaurant food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dish?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 with bread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salad with cheese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with 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eat for breakfast?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and eggs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 and salad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yoghurt and fruit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healthy habit.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walks daily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drinks fizzy drinks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stays up late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goal?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less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early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more sugar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لِأَنَّهُ</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فِي الفُطُورِ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هَدَفِي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الطَّعَامَ المَنْزِلِيَّ لِأَنَّهُ طَازَجٌ، وَطَعَامِي المُفَضَّلُ هُوَ السَّمَكُ مَعَ الأَرُزِّ.</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home-cooked food because it is fresh, and my favourite food is fish with rice.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الفُطُورِ آكُلُ الزَّبَادِي وَالفَاكِهَةَ.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breakfast I eat yoghurt and fruit.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أَحْيَانًا أَذْهَبُ إِلَى المَطْعَمِ مَعَ أُسْرَتِي، وَأَطْلُبُ الحَسَاءَ أَوِ السَّلَطَةَ.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I go to a restaurant with my family, and I order soup or salad.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لِلْحِفَاظِ عَلَى صِحَّتِي، أَشْرَبُ المَاءَ وَأَمْشِي كُلَّ يَوْمٍ.</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keep healthy, I drink water and walk every day.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هَدَفِي أَنْ أَنَامَ مُبَكِّرَةً.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goal is to sleep early.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food does Amal like?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home-cooked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 food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restaurant food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الطَّعَامَ المَنْزِلِيَّ.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dish?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 with bread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salad with cheese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fish with 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السَّمَكُ مَعَ الأَرُزِّ.</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eat for breakfast?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bread and eggs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 and salad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yoghurt and fruit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الزَّبَادِي وَالفَاكِهَةَ.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healthy habit.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walks daily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drinks fizzy drinks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stays up late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walks every day.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goal?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 less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sleep early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 more sugar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 أَنَامَ مُبَكِّرَةً.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لِأَنَّهُ</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فِي الفُطُورِ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هَدَفِي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Full F5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وَجَبَاتِكَ فِي يَوْمٍ عَادِيٍّ. · مَا طَعَامُكَ المُفَضَّلُ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تَطْلُبُ فِي مَطْعَمٍ؟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تَفْعَلُ عِنْدَمَا تَمْرَضُ؟</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العَادَاتُ الصِّحِّيَّةُ المُهِمَّةُ؟ وَمَا هَدَفُكَ الصِّحِّيُّ؟</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cs typeface="Amiri" pitchFamily="2" charset="-78"/>
              </a:rPr>
              <a:t>فِي الفُطُورِ آكُلُ … · طَعَامِي المُفَضَّلُ … لِأَنَّهُ …</a:t>
            </a:r>
            <a:endParaRPr lang="ar-SA" sz="13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أَطْلُبُ ___ وَ ___ ، لِأَنَّ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أَذْهَبُ إِلَى الطَّبِيبِ … / أَسْتَرِيحُ وَأَشْرَبُ …</a:t>
            </a:r>
            <a:endParaRPr lang="ar-SA" sz="15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يَجِبُ أَنْ … · هَدَفِي أَنْ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المُحَاوِرُ</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طَعَامُكِ المُفَضَّلُ وَلِمَاذَا؟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 favourite food and why?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الطَّالِبَةُ</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طَعَامِي المُفَضَّلُ هُوَ السَّمَكُ لِأَنَّهُ لَذِيذٌ وَمُفِيدٌ. آكُلُهُ مَعَ الأَرُزِّ وَالسَّلَطَةِ.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favourite food is fish because it is delicious and beneficial. I eat it with rice and salad.</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60–70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five-box planner and sentence starters to produce 60–70 accurate words.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five-box planner with one sentence per box and the starters.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80–100 words and answer six topic questions with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meals, favourite + reason, restaurant, habits, one target; four connectives.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independently, then improve range by adding comparison, purpose and a precise personal target.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independently, then add a comparison, a purpose phrase and a precise target.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أَكْثَرَ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more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لِلْحِفَاظِ عَلَى صِحَّتِي،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keep healthy,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وَلَكِنِّي أَسْهَرُ أَحْيَانًا؛ لِذَلِكَ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 sometimes stay up late; so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أَخِيرًا،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عَادَةً أَتَنَاوَلُ الفُطُورَ فِي السَّاعَةِ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usually have breakfast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طَعَامِي المُفَضَّلُ هُوَ ______ لِأَنَّهُ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food is … because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أَحْيَانًا أَذْهَبُ إِلَى مَطْعَمٍ وَأَطْلُبُ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go to a restaurant and order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أَشْرَبُ مَاءً كَافِيًا 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drink enough water and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هَدَفِي 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goal is to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أَوَّلًا  ·  ثُمَّ  ·  بَعْدَ ذَلِكَ  ·  أَيْضًا  ·  وَلَكِنْ  ·  لِأَنَّ  ·  لِذَلِكَ  ·  أَخِيرًا  ·  فِي رَأْيِي  ·  مَثَلًا  ·  يَجِبُ أَنْ  ·  هَدَفِي 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80–100-word article entitled </a:t>
            </a:r>
            <a:pPr algn="l" indent="0" marL="0">
              <a:buNone/>
            </a:pPr>
            <a:r>
              <a:rPr lang="ar-SA" altLang="en-US" sz="1750" b="1" dirty="0">
                <a:solidFill>
                  <a:srgbClr val="1F2A37"/>
                </a:solidFill>
                <a:latin typeface="Amiri" pitchFamily="2" charset="-78"/>
                <a:cs typeface="Amiri" pitchFamily="2" charset="-78"/>
              </a:rPr>
              <a:t>طَعَامِي وَصِحَّتِي</a:t>
            </a:r>
            <a:pPr algn="l" indent="0" marL="0">
              <a:buNone/>
            </a:pPr>
            <a:r>
              <a:rPr lang="en-US" sz="1350" b="1" dirty="0">
                <a:solidFill>
                  <a:srgbClr val="1F2A37"/>
                </a:solidFill>
                <a:latin typeface="Calibri" pitchFamily="34" charset="0"/>
                <a:cs typeface="Amiri" pitchFamily="2" charset="-78"/>
              </a:rPr>
              <a:t>. Cover your meals, a favourite food with a reason, a restaurant choice, healthy habits and one improvement target.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content point rather than writing one long section.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four connectives.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opinion + reason, one comparison and two advice/goal structures.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verb subjects, noun–adjective agreement and </a:t>
            </a:r>
            <a:pPr algn="l" indent="0" marL="0">
              <a:buNone/>
            </a:pPr>
            <a:r>
              <a:rPr lang="ar-SA" altLang="en-US" sz="1550" dirty="0">
                <a:solidFill>
                  <a:srgbClr val="1F2A37"/>
                </a:solidFill>
                <a:latin typeface="Amiri" pitchFamily="2" charset="-78"/>
                <a:cs typeface="Amiri" pitchFamily="2" charset="-78"/>
              </a:rPr>
              <a:t>لِأَنَّهُ / لِأَنَّهَا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لِلْحِفَاظِ عَلَى صِحَّتِي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keep my health</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يُسَاعِدُنِي عَلَى التَّرْكِيزِ</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helps me concentrate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 أَكْثَرَ مِنْ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more than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سِتَّةَ أَكْوَابٍ مِنَ المَاءِ يَوْمِيًّا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six glasses of water a day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 أُقَلِّلَ مِنَ السُّكَّرِ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reduce sugar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طَعَامِي وَصِحَّتِي</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عَادَةً أَتَنَاوَلُ الفُطُورَ فِي السَّاعَةِ السَّابِعَةِ، وَآكُلُ الخُبْزَ وَالجُبْنَ. فِي الغَدَاءِ أُفَضِّلُ السَّمَكَ أَكْثَرَ مِنَ اللَّحْمِ لِأَنَّهُ لَذِيذٌ وَمُفِيدٌ. أَحْيَانًا أَذْهَبُ إِلَى مَطْعَمٍ مَعَ عَائِلَتِي، وَأَطْلُبُ الحَسَاءَ وَالسَّلَطَةَ. لِلْحِفَاظِ عَلَى صِحَّتِي، أَشْرَبُ مَاءً كَافِيًا وَأُمَارِسُ الرِّيَاضَةَ. وَلٰكِنِّي أَنَامُ مُتَأَخِّرًا أَحْيَانًا؛ لِذٰلِكَ هَدَفِي أَنْ أَنَامَ مُبَكِّرًا.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food and my health. I usually have breakfast at seven o’clock, and I eat bread and cheese. At lunch I prefer fish more than meat because it is delicious and beneficial. Sometimes I go to a restaurant with my family and order soup and salad. To keep healthy, I drink enough water and do sport. But I sometimes sleep late; so my goal is to sleep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meal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purpose phrase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so + goal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covered all five boxes.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sentence has a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Four connectives, each with a real job.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Verbs → gender → reasons → spelling checked.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Comparison, purpose and a precise target.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means therefore?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لِذٰلِكَ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for repetition?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الحِسَابَ.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أَعِدِ السُّؤَالَ، مِنْ فَضْلِكَ.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مُنْذُ مَتَى؟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personal goal?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هَدَفِي أَنْ أَنَامَ مُبَكِّرًا.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يَشْرَبَ النَّاسُ المَاءَ.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الحَسَاءُ لَذِيذٌ.</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means therefore?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لِذٰلِكَ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لِذٰلِكَ</a:t>
            </a:r>
            <a:pPr algn="l" indent="0" marL="0">
              <a:buNone/>
            </a:pPr>
            <a:r>
              <a:rPr lang="en-US" sz="1050" i="1" dirty="0">
                <a:solidFill>
                  <a:srgbClr val="8A6D1E"/>
                </a:solidFill>
                <a:latin typeface="Calibri" pitchFamily="34" charset="0"/>
                <a:cs typeface="Amiri" pitchFamily="2" charset="-78"/>
              </a:rPr>
              <a:t> means therefore.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for repetition?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أُرِيدُ الحِسَابَ.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أَعِدِ السُّؤَالَ، مِنْ فَضْلِكَ.</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مُنْذُ مَتَى؟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politely asks for the question again.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personal goal?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هَدَفِي أَنْ أَنَامَ مُبَكِّرًا.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يَجِبُ أَنْ يَشْرَبَ النَّاسُ المَاءَ.</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الحَسَاءُ لَذِيذٌ.</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names the speaker’s target.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Model article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العُنْوَانُ: طَعَامِي وَصِحَّتِي</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الفِكْرَةُ ١: وَجَبَاتِي فِي يَوْمٍ عَادِيٍّ.</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الفِكْرَةُ ٢: طَعَامِي المُفَضَّلُ وَالسَّبَبُ.</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الفِكْرَةُ ٣: عَادَاتِي الصِّحِّيَّةُ وَعَادَةٌ أُرِيدُ تَحْسِينَهَا.</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الخَاتِمَةُ: نَصِيحَةٌ وَهَدَفٌ شَخْصِيٌّ.</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يَجِبُ أَنْ تَتَضَمَّنَ الفَقْرَةُ أَمْثِلَةً وَرَوَابِطَ، وَلَا يَكْفِي سَرْدُ قَائِمَةٍ مِنَ الكَلِمَاتِ.</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العُنْوَانُ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title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الفِكْرَةُ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idea</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يَوْمٍ عَادِيٍّ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normal day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السَّبَبُ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reason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أُرِيدُ تَحْسِينَهَا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want to improve it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الخَاتِمَةُ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conclusion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هَدَفٌ شَخْصِيٌّ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personal goal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تَتَضَمَّنَ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include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يَكْفِي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enough</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سَرْدُ قَائِمَةٍ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listing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41</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 title?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School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Food and Health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Town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belongs in idea 2?</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timetable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ages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food and reason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idea 3 combine?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healthy habits and an improvement target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prices and dishes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body labels and colours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conclusion contain?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greeting only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advice and a personal goal</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menu</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enough?</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listing vocabulary without development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examples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connectives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41</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 title?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School</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Food and Health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Town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طَعَامِي وَصِحَّتِي.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belongs in idea 2?</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timetable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ages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favourite food and reason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plan explicitly states this.</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idea 3 combine?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healthy habits and an improvement target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prices and dishes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body labels and colours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are named.</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conclusion contain?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greeting only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advice and a personal goal</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menu</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نَصِيحَةٌ وَهَدَفٌ شَخْصِيٌّ.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enough?</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listing vocabulary without development</a:t>
            </a:r>
            <a:endParaRPr lang="en-US" sz="12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examples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connectives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rejects a mere list.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41</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F5-L12 ·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اِسْتِمَاعٌ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قِرَاءَةٌ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تَحَدُّثٌ</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speaking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skill is strongest for you? Which needs more practice?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أَقْوَى مَهَارَةٍ عِنْدِي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60–70-word article from the planner; revise the F5 vocabulary tabs.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t>
            </a:r>
            <a:pPr algn="l" indent="0" marL="0">
              <a:buNone/>
            </a:pPr>
            <a:r>
              <a:rPr lang="ar-SA" altLang="en-US" sz="1550" dirty="0">
                <a:solidFill>
                  <a:srgbClr val="1F2A37"/>
                </a:solidFill>
                <a:latin typeface="Amiri" pitchFamily="2" charset="-78"/>
                <a:cs typeface="Amiri" pitchFamily="2" charset="-78"/>
              </a:rPr>
              <a:t>طَعَامِي وَصِحَّتِي</a:t>
            </a:r>
            <a:pPr algn="l" indent="0" marL="0">
              <a:buNone/>
            </a:pPr>
            <a:r>
              <a:rPr lang="en-US" sz="1200" dirty="0">
                <a:solidFill>
                  <a:srgbClr val="1F2A37"/>
                </a:solidFill>
                <a:latin typeface="Calibri" pitchFamily="34" charset="0"/>
                <a:cs typeface="Amiri" pitchFamily="2" charset="-78"/>
              </a:rPr>
              <a:t> (80–100 words); practise the six questions aloud.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your article: comparison, purpose phrase and precise target; record your talk privately.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41</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F5-L12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answer + reason / example · plan → draft → check (verbs, gender, reasons, spelling).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F5-L11 · Speaking and Writing About Food and Health</dc:title>
  <dc:subject>PptxGenJS Presentation</dc:subject>
  <dc:creator>Al Madina Online School · Arabic Department</dc:creator>
  <cp:lastModifiedBy>Al Madina Online School · Arabic Department</cp:lastModifiedBy>
  <cp:revision>1</cp:revision>
  <dcterms:created xsi:type="dcterms:W3CDTF">2026-10-11T06:41:50Z</dcterms:created>
  <dcterms:modified xsi:type="dcterms:W3CDTF">2026-10-11T06:41:50Z</dcterms:modified>
</cp:coreProperties>
</file>