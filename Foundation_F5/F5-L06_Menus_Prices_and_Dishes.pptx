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F5 Food, Health and Body › F5-L06. The website lesson “Menus, Prices and Dishes”: vocabulary, grammar rules and quiz, patterns, common mistakes, sorter, listening, reading, speaking prompts and model, writing task and model, differentiation, final check and the lesson mission. Picture match: website visual game “Menus, Prices and Dishes”.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find an item and its price on the menu and answer كَمْ ثَمَنُ …؟ with a number (numerals are fine) + دَنَانِيرُ.
• Develop: total three orders and describe one dish with يَتَكَوَّنُ / تَتَكَوَّنُ مِنْ.
• Stretch: compare two menus (price, variety, vegetarian options) and recommend one — أَرْخَصُ / أَغْلَى.
• Numbers: accept numerals (٤ or 4) for Core. Develop say 3–10 + plural (خَمْسَةُ دَنَانِيرَ); 11+ take a singular (اثْنَا عَشَرَ دِينَارًا) — say it, don’t drill it.
• Website: “Arabic-speaking communities have diverse cuisines … present examples as specific rather than universal.” Invite students to share family dishes (Pakistani, Somali, Bangladeshi, Arab …) — every cuisine is welcome.
• Website teaching note: “Use a calculator only after identifying the correct items and prices.”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F5-L05. Questions 3–5 retrieve F5-L05 (polite order, availability, the bill).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Ask the price with “how much is the price OF …”, answer with its price + number + 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قائمہ (established; also a list) → قَائِمَةُ الطَّعَامِ (menu, literally “the list of food”). مجموعی (in total) → المَجْمُوعُ. حلال is identical. تقلید (following, imitation) → تَقْلِيدِيٌّ (traditional — “followed from before”). حلوہ (halwa!) shares its root with حَلْوَيَاتٌ (desserts) and حُلْوٌ (sweet, F5-L04).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Menu and money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Menu and money (website vocabulary (2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Dishes across Arabic-speaking communities (website vocabulary (1 of 2)). Hear → Say → See → Use. Transliteration is printed for Core students (cover it for Develop/Stretch).
DISHES (website): حُمُّصٌ، فَلَافِلُ، تَبُّولَةٌ (Levant) · كُسْكُسٌ، حَرِيرَةٌ (North Africa) · كَبْسَةٌ (Gulf) · مَنْسَفٌ (Jordan) · مُلُوخِيَّةٌ (Egypt and beyond) · مَحْشِيٌّ، مَقْلُوبَةٌ (many regions). Website: a dish may have several names or versions. Ask: which dishes do YOUR families cook? (بِرْيَانِي، سَمُوسَا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Dishes across Arabic-speaking communities (website vocabulary (2 of 2)). Hear → Say → See → Use. Transliteration is printed for Core students (cover it for Develop/Stretch).
DISHES (website): حُمُّصٌ، فَلَافِلُ، تَبُّولَةٌ (Levant) · كُسْكُسٌ، حَرِيرَةٌ (North Africa) · كَبْسَةٌ (Gulf) · مَنْسَفٌ (Jordan) · مُلُوخِيَّةٌ (Egypt and beyond) · مَحْشِيٌّ، مَقْلُوبَةٌ (many regions). Website: a dish may have several names or versions. Ask: which dishes do YOUR families cook? (بِرْيَانِي، سَمُوسَا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Describing dishes (website vocabulary (1 of 2)). Hear → Say → See → Use. Transliteration is printed for Core students (cover it for Develop/Stretch).
FLEX: teach if time allows; otherwise these are on the website vocabulary tab for homework.
FLEX: the describing verbs are taught on the grammar slides. Group 4 (tableware: fork, knife, spoon, cup, glass …) is on the website vocabulary tab and in the reading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Describing dishes (website vocabulary (2 of 2)). Hear → Say → See → Use. Transliteration is printed for Core students (cover it for Develop/Stretch).
FLEX: teach if time allows; otherwise these are on the website vocabulary tab for homework.
FLEX: the describing verbs are taught on the grammar slides. Group 4 (tableware: fork, knife, spoon, cup, glass …) is on the website vocabulary tab and in the reading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“Ask the price” (كَمْ سِعْرُ / ثَمَنُ + item: an idāfa, so the item ends in kasra) and “State a price” (ثَمَنُهُ for a masculine item, ثَمَنُهَا for a feminine one — the F5-L04 -hu / -hā choice again).
Website common error: كَمْ السِّعْرُ الحَسَاءُ؟ ✗ → كَمْ سِعْرُ الحَسَاءِ؟ ✓
Numbers (teacher guide): 2 = دِينَارَانِ · 3–10 = number + plural (خَمْسَةُ دَنَانِيرَ) · 11–99 = number + singular -an (اثْنَا عَشَرَ دِينَارًا). Core may simply write the numeral: ثَمَنُهُ ٤ دَنَانِيرَ.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“Describe ingredients” (يَتَكَوَّنُ / تَتَكَوَّنُ مِنْ agrees with the dish name) and “Say what accompanies a dish” (يُقَدَّمُ / تُقَدَّمُ مَعَ).
Also: يَحْتَوِي عَلَى (contains): يَحْتَوِي الحَسَاءُ عَلَى العَدَسِ وَالخَضْرَوَاتِ.
Value (website pattern): الحُمُّصُ رَخِيصٌ، وَلَكِنَّ الطَّبَقَ الرَّئِيسِيَّ غَالٍ. Stretch: المَاءُ أَرْخَصُ مِنَ العَصِيرِ.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lesson-plan grammar focus is the price question كَمْ and accurate number–currency phrases. Menu descriptions also recycle agreement and the high-value structures يَتَكَوَّنُ مِنْ and يُقَدَّمُ مَعَ.”
• Ask the price: Use كَمْ followed by “price/cost of” and the menu item.
• State a price: Use ـهُ for a masculine item and ـهَا for a feminine item.
• Describe ingredients: The verb agrees with the dish name.
• Say what accompanies a dish: Use the masculine or feminine passive form according to the dish.
Website common error: Do not write كَمْ السِّعْرُ الحَسَاءُ؟ Use the complete phrase كَمْ سِعْرُ الحَسَاءِ؟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menu (reading section) and patterns combined. Share the menu on screen first; think aloud as you find the section, the item and the price. Students copy the model and change the dish.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Menus, Prices and Dishes”)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in pounds (جُنَيْهَاتٌ): the clue is the NUMBER word — سِتَّةُ، ثَلَاثَةُ، جُنَيْهَانِ (two pounds: the dual). Other website items: pizza £8, soup £7, cake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Menus, Prices and Dishes”)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in pounds (جُنَيْهَاتٌ): the clue is the NUMBER word — سِتَّةُ، ثَلَاثَةُ، جُنَيْهَانِ (two pounds: the dual). Other website items: pizza £8, soup £7, cake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most likely menu section.
Before sorting, ask: which of these dishes has anyone tasted? Accept that some dishes can be a starter OR a main in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most likely menu section.
Before sorting, ask: which of these dishes has anyone tasted? Accept that some dishes can be a starter OR a main in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then calculate the whole bill (4 + 5 + 12 + 10 + 6 = 37).
Listen 1: just listen. Listen 2: note answers. Then chat the letters.
Support: after the second listening, show the read-along slide (Arabic + English, line by line) for Core students.
SCRIPT (read aloud):
طَلَبَتِ الأُسْرَةُ حُمُّصًا بِأَرْبَعَةِ دَنَانِيرَ، وَسَلَطَةً بِخَمْسَةِ دَنَانِيرَ. طَلَبَ الأَبُ كَبْسَةً بِاثْنَيْ عَشَرَ دِينَارًا، وَطَلَبَتِ الأُمُّ مَقْلُوبَةً بِعَشَرَةِ دَنَانِيرَ. شَرِبَ الطِّفْلَانِ عَصِيرَيْنِ، ثَمَنُ كُلِّ وَاحِدٍ ثَلَاثَةُ دَنَانِيرَ.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 وَمِمَّ تَتَكَوَّنُ؟ (And what does it consist of?)
ب: تَتَكَوَّنُ مِنَ الأَرُزِّ وَالدَّجَاجِ وَالتَّوَابِلِ. (It consists of rice, chicken and spices.)
Website “Menu decision” — the four prompts are the website’s; use the reading-section menu on screen. Website model: كَمْ ثَمَنُ الكَبْسَةِ؟ — ثَمَنُهَا اثْنَا عَشَرَ دِينَارًا. — وَمِمَّ تَتَكَوَّنُ؟ — تَتَكَوَّنُ مِنَ الأَرُزِّ وَالدَّجَاجِ وَالتَّوَابِلِ.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Read a menu and answer price questions with a number and item. · Develop — Calculate three order totals and describe one dish’s ingredients. · Stretch — Compare two menus for price, variety and dietary options in a short recommendation.
Website writing task (Stretch): Design a concise Arabic menu with at least two starters, three main dishes, two desserts and three drinks. Add prices, then write four sentences describing value and ingredients.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المُقَبِّلَاتُ / الأَطْبَاقُ الرَّئِيسِيَّةُ / المَشْرُوبَاتُ · ٤، ١٢ … · تَتَكَوَّنُ مِنْ (×2) · أَرْخَصُ مِنَ.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(F5-L07 · The Body and Its Parts) will spend class time USING this language, so students prepare it tonight — short, simple, easy to access (school guidance: “Simple, Short, Interesting, Relevant, Easy to access”). The five words come from the website F5-L07 lesson (the body and its parts).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Menus, Prices and Dishes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قَوَائِمُ الطَّعَامِ وَالأَسْعَارُ وَالأَطْبَاقُ</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an Arabic menu, ask and answer about prices, total a small order and describe a dish from an Arabic-speaking community with </a:t>
            </a:r>
            <a:pPr algn="l" indent="0" marL="0">
              <a:buNone/>
            </a:pPr>
            <a:r>
              <a:rPr lang="ar-SA" altLang="en-US" sz="1800" dirty="0">
                <a:solidFill>
                  <a:srgbClr val="C6D2E6"/>
                </a:solidFill>
                <a:latin typeface="Amiri" pitchFamily="2" charset="-78"/>
                <a:ea typeface="Amiri" pitchFamily="2" charset="-78"/>
                <a:cs typeface="Amiri" pitchFamily="2" charset="-78"/>
              </a:rPr>
              <a:t>يَتَكَوَّنُ / تَتَكَوَّنُ مِنْ</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F5-L06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Menu words and dishes, then how much? · its price is … · it consists of …</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Price picture match, sort the menu, fix the questions and listen to a family order.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F5-L07.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سِعْرٌ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menu</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طَبَقٌ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dish / plate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waiter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starter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complete polite order.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أَعْطِنِي حَسَاءً.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حَسَاءٌ.</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حَسَاءً، مِنْ فَضْلِكَ.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café “Do you have vegetarian food?”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عِنْدَكَ طَعَامٌ نَبَاتِيٌّ؟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طَعَامٌ نَبَاتِيٌّ؟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عِنْدَكُمْ طَعَامٌ نَبَاتِيٌّ؟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الحِسَابُ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bill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price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menu</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سِعْرٌ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dish</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price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menu</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طَبَقٌ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dish / plate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waiter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starter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complete polite order.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أَعْطِنِي حَسَاءً.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حَسَاءٌ.</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حَسَاءً، مِنْ فَضْلِكَ.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F5-L05: I would like + please.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café “Do you have vegetarian food?”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عِنْدَكَ طَعَامٌ نَبَاتِيٌّ؟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طَعَامٌ نَبَاتِيٌّ؟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عِنْدَكُمْ طَعَامٌ نَبَاتِيٌّ؟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F5-L05: ʿindakum for a business.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الحِسَابُ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bill</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price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menu</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F5-L05 vocabulary.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Ask the price with “how much is the price OF …”, answer with its price + number + currency.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كَمْ ثَمَنُ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الكَبْسَةِ؟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ثَمَنُهَا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اثْنَا عَشَرَ دِينَارًا.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 structured Arabic menu and identify sections.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and answer about prices using </a:t>
            </a:r>
            <a:pPr algn="l" indent="0" marL="0">
              <a:buNone/>
            </a:pPr>
            <a:r>
              <a:rPr lang="ar-SA" altLang="en-US" sz="1700" dirty="0">
                <a:solidFill>
                  <a:srgbClr val="1F2A37"/>
                </a:solidFill>
                <a:latin typeface="Amiri" pitchFamily="2" charset="-78"/>
                <a:ea typeface="Amiri" pitchFamily="2" charset="-78"/>
                <a:cs typeface="Amiri" pitchFamily="2" charset="-78"/>
              </a:rPr>
              <a:t>كَمْ ثَمَنُ</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Calculate a simple food order using Arabic-Indic or Western numerals.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 selection of regional dishes and their main ingredients.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an item and its price on a menu.</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a:t>
            </a:r>
            <a:pPr algn="l" indent="0" marL="0">
              <a:buNone/>
            </a:pPr>
            <a:r>
              <a:rPr lang="ar-SA" altLang="en-US" sz="1700" b="1" dirty="0">
                <a:solidFill>
                  <a:srgbClr val="2E8B57"/>
                </a:solidFill>
                <a:latin typeface="Amiri" pitchFamily="2" charset="-78"/>
                <a:ea typeface="Amiri" pitchFamily="2" charset="-78"/>
                <a:cs typeface="Amiri" pitchFamily="2" charset="-78"/>
              </a:rPr>
              <a:t>كَمْ ثَمَنُ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total a small order.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describe a dish with </a:t>
            </a:r>
            <a:pPr algn="l" indent="0" marL="0">
              <a:buNone/>
            </a:pPr>
            <a:r>
              <a:rPr lang="ar-SA" altLang="en-US" sz="1700" b="1" dirty="0">
                <a:solidFill>
                  <a:srgbClr val="C9780A"/>
                </a:solidFill>
                <a:latin typeface="Amiri" pitchFamily="2" charset="-78"/>
                <a:ea typeface="Amiri" pitchFamily="2" charset="-78"/>
                <a:cs typeface="Amiri" pitchFamily="2" charset="-78"/>
              </a:rPr>
              <a:t>يَتَكَوَّنُ مِنْ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menus with </a:t>
            </a:r>
            <a:pPr algn="l" indent="0" marL="0">
              <a:buNone/>
            </a:pPr>
            <a:r>
              <a:rPr lang="ar-SA" altLang="en-US" sz="1700" b="1" dirty="0">
                <a:solidFill>
                  <a:srgbClr val="B83227"/>
                </a:solidFill>
                <a:latin typeface="Amiri" pitchFamily="2" charset="-78"/>
                <a:ea typeface="Amiri" pitchFamily="2" charset="-78"/>
                <a:cs typeface="Amiri" pitchFamily="2" charset="-78"/>
              </a:rPr>
              <a:t>أَرْخَصُ / أَغْلَى</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recommend a menu with reasons.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37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Menu and money · 9</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Dishes across Arabic-speaking communities · 10</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Describing dishes · 9</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Tableware and utensils · 9</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قَائِمَةٌ</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‎قائمہ‎ </a:t>
            </a:r>
            <a:pPr indent="0" marL="0">
              <a:buNone/>
            </a:pPr>
            <a:r>
              <a:rPr lang="en-US" sz="950" b="1" dirty="0">
                <a:solidFill>
                  <a:srgbClr val="2E8B57"/>
                </a:solidFill>
                <a:latin typeface="Calibri" pitchFamily="34" charset="0"/>
                <a:cs typeface="Amiri" pitchFamily="2" charset="-78"/>
              </a:rPr>
              <a:t> qāʼima · Urdu: a list / established → a menu</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مَجْمُوعٌ</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‎مجموعی / مجموعہ‎ </a:t>
            </a:r>
            <a:pPr indent="0" marL="0">
              <a:buNone/>
            </a:pPr>
            <a:r>
              <a:rPr lang="en-US" sz="950" b="1" dirty="0">
                <a:solidFill>
                  <a:srgbClr val="2E8B57"/>
                </a:solidFill>
                <a:latin typeface="Calibri" pitchFamily="34" charset="0"/>
                <a:cs typeface="Amiri" pitchFamily="2" charset="-78"/>
              </a:rPr>
              <a:t> majmūʿa · collection → the total</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حَلَالٌ</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‎حلال‎ </a:t>
            </a:r>
            <a:pPr indent="0" marL="0">
              <a:buNone/>
            </a:pPr>
            <a:r>
              <a:rPr lang="en-US" sz="950" b="1" dirty="0">
                <a:solidFill>
                  <a:srgbClr val="2E8B57"/>
                </a:solidFill>
                <a:latin typeface="Calibri" pitchFamily="34" charset="0"/>
                <a:cs typeface="Amiri" pitchFamily="2" charset="-78"/>
              </a:rPr>
              <a:t> halāl · halal</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تَقْلِيدِيٌّ</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‎تقلید‎ </a:t>
            </a:r>
            <a:pPr indent="0" marL="0">
              <a:buNone/>
            </a:pPr>
            <a:r>
              <a:rPr lang="en-US" sz="950" b="1" dirty="0">
                <a:solidFill>
                  <a:srgbClr val="2E8B57"/>
                </a:solidFill>
                <a:latin typeface="Calibri" pitchFamily="34" charset="0"/>
                <a:cs typeface="Amiri" pitchFamily="2" charset="-78"/>
              </a:rPr>
              <a:t> taqlīd · imitation → traditional</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حَلْوَيَاتٌ</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‎حلوہ‎ </a:t>
            </a:r>
            <a:pPr indent="0" marL="0">
              <a:buNone/>
            </a:pPr>
            <a:r>
              <a:rPr lang="en-US" sz="950" b="1" dirty="0">
                <a:solidFill>
                  <a:srgbClr val="2E8B57"/>
                </a:solidFill>
                <a:latin typeface="Calibri" pitchFamily="34" charset="0"/>
                <a:cs typeface="Amiri" pitchFamily="2" charset="-78"/>
              </a:rPr>
              <a:t> halwa · a sweet → desserts</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Menu and money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قَائِمَةٌ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menu / list</a:t>
            </a:r>
            <a:endParaRPr lang="en-US" sz="1350" dirty="0"/>
          </a:p>
          <a:p>
            <a:pPr indent="0" marL="0">
              <a:buNone/>
            </a:pPr>
            <a:r>
              <a:rPr lang="en-US" sz="1100" i="1" dirty="0">
                <a:solidFill>
                  <a:srgbClr val="5A6472"/>
                </a:solidFill>
                <a:latin typeface="Calibri" pitchFamily="34" charset="0"/>
                <a:cs typeface="Amiri" pitchFamily="2" charset="-78"/>
              </a:rPr>
              <a:t>qā-ʾi-ma-tun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قَائِمَةٌ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قَوَائِمُ</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مُقَبِّلَاتٌ</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starters</a:t>
            </a:r>
            <a:endParaRPr lang="en-US" sz="1350" dirty="0"/>
          </a:p>
          <a:p>
            <a:pPr indent="0" marL="0">
              <a:buNone/>
            </a:pPr>
            <a:r>
              <a:rPr lang="en-US" sz="1100" i="1" dirty="0">
                <a:solidFill>
                  <a:srgbClr val="5A6472"/>
                </a:solidFill>
                <a:latin typeface="Calibri" pitchFamily="34" charset="0"/>
                <a:cs typeface="Amiri" pitchFamily="2" charset="-78"/>
              </a:rPr>
              <a:t>mu-qab-bi-lā-tun</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طَبَقٌ رَئِيسِيٌّ</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main dish</a:t>
            </a:r>
            <a:endParaRPr lang="en-US" sz="1350" dirty="0"/>
          </a:p>
          <a:p>
            <a:pPr indent="0" marL="0">
              <a:buNone/>
            </a:pPr>
            <a:r>
              <a:rPr lang="en-US" sz="1100" i="1" dirty="0">
                <a:solidFill>
                  <a:srgbClr val="5A6472"/>
                </a:solidFill>
                <a:latin typeface="Calibri" pitchFamily="34" charset="0"/>
                <a:cs typeface="Amiri" pitchFamily="2" charset="-78"/>
              </a:rPr>
              <a:t>ṭa-ba-qun ra-ʾī-siy-yun</a:t>
            </a:r>
            <a:endParaRPr lang="en-US" sz="1350" dirty="0"/>
          </a:p>
        </p:txBody>
      </p:sp>
      <p:sp>
        <p:nvSpPr>
          <p:cNvPr id="46" name="Shape 4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8" name="Text 4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طَبَقٌ رَئِيسِيٌّ</a:t>
            </a:r>
            <a:endParaRPr lang="ar-SA" sz="1500" dirty="0"/>
          </a:p>
        </p:txBody>
      </p:sp>
      <p:sp>
        <p:nvSpPr>
          <p:cNvPr id="49" name="Shape 4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1" name="Text 4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أَطْبَاقٌ رَئِيسِيَّةٌ</a:t>
            </a:r>
            <a:endParaRPr lang="ar-SA" sz="150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5" name="Shape 5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حَلْوَيَاتٌ</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desserts</a:t>
            </a:r>
            <a:endParaRPr lang="en-US" sz="1350" dirty="0"/>
          </a:p>
          <a:p>
            <a:pPr indent="0" marL="0">
              <a:buNone/>
            </a:pPr>
            <a:r>
              <a:rPr lang="en-US" sz="1100" i="1" dirty="0">
                <a:solidFill>
                  <a:srgbClr val="5A6472"/>
                </a:solidFill>
                <a:latin typeface="Calibri" pitchFamily="34" charset="0"/>
                <a:cs typeface="Amiri" pitchFamily="2" charset="-78"/>
              </a:rPr>
              <a:t>ḥal-wa-yā-tun</a:t>
            </a:r>
            <a:endParaRPr lang="en-US"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مَشْرُوبَاتٌ</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drinks</a:t>
            </a:r>
            <a:endParaRPr lang="en-US" sz="1350" dirty="0"/>
          </a:p>
          <a:p>
            <a:pPr indent="0" marL="0">
              <a:buNone/>
            </a:pPr>
            <a:r>
              <a:rPr lang="en-US" sz="1100" i="1" dirty="0">
                <a:solidFill>
                  <a:srgbClr val="5A6472"/>
                </a:solidFill>
                <a:latin typeface="Calibri" pitchFamily="34" charset="0"/>
                <a:cs typeface="Amiri" pitchFamily="2" charset="-78"/>
              </a:rPr>
              <a:t>mash-rū-bā-tun</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Menu and money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سِعْرٌ / أَسْعَارٌ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price / prices</a:t>
            </a:r>
            <a:endParaRPr lang="en-US" sz="1350" dirty="0"/>
          </a:p>
          <a:p>
            <a:pPr indent="0" marL="0">
              <a:buNone/>
            </a:pPr>
            <a:r>
              <a:rPr lang="en-US" sz="1100" i="1" dirty="0">
                <a:solidFill>
                  <a:srgbClr val="5A6472"/>
                </a:solidFill>
                <a:latin typeface="Calibri" pitchFamily="34" charset="0"/>
                <a:cs typeface="Amiri" pitchFamily="2" charset="-78"/>
              </a:rPr>
              <a:t>siʿ-run / as-ʿā-run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cost / price</a:t>
            </a:r>
            <a:endParaRPr lang="en-US" sz="1350" dirty="0"/>
          </a:p>
          <a:p>
            <a:pPr indent="0" marL="0">
              <a:buNone/>
            </a:pPr>
            <a:r>
              <a:rPr lang="en-US" sz="1100" i="1" dirty="0">
                <a:solidFill>
                  <a:srgbClr val="5A6472"/>
                </a:solidFill>
                <a:latin typeface="Calibri" pitchFamily="34" charset="0"/>
                <a:cs typeface="Amiri" pitchFamily="2" charset="-78"/>
              </a:rPr>
              <a:t>tha-ma-nun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Shape 2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رَخِيصٌ / غَالٍ</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 / expensive</a:t>
            </a:r>
            <a:endParaRPr lang="en-US" sz="1350" dirty="0"/>
          </a:p>
          <a:p>
            <a:pPr indent="0" marL="0">
              <a:buNone/>
            </a:pPr>
            <a:r>
              <a:rPr lang="en-US" sz="1100" i="1" dirty="0">
                <a:solidFill>
                  <a:srgbClr val="5A6472"/>
                </a:solidFill>
                <a:latin typeface="Calibri" pitchFamily="34" charset="0"/>
                <a:cs typeface="Amiri" pitchFamily="2" charset="-78"/>
              </a:rPr>
              <a:t>ra-khī-ṣun / ghā-lin</a:t>
            </a:r>
            <a:endParaRPr lang="en-US" sz="1350" dirty="0"/>
          </a:p>
        </p:txBody>
      </p:sp>
      <p:sp>
        <p:nvSpPr>
          <p:cNvPr id="38" name="Shape 3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cheap m. / f.</a:t>
            </a:r>
            <a:endParaRPr lang="en-US" sz="700" dirty="0"/>
          </a:p>
        </p:txBody>
      </p:sp>
      <p:sp>
        <p:nvSpPr>
          <p:cNvPr id="40" name="Text 37"/>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رَخِيصٌ / رَخِيصَةٌ</a:t>
            </a:r>
            <a:endParaRPr lang="ar-SA" sz="1350" dirty="0"/>
          </a:p>
        </p:txBody>
      </p:sp>
      <p:sp>
        <p:nvSpPr>
          <p:cNvPr id="41" name="Shape 3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dear m. / f.</a:t>
            </a:r>
            <a:endParaRPr lang="en-US" sz="700" dirty="0"/>
          </a:p>
        </p:txBody>
      </p:sp>
      <p:sp>
        <p:nvSpPr>
          <p:cNvPr id="43" name="Text 40"/>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غَالٍ / غَالِيَةٌ</a:t>
            </a:r>
            <a:endParaRPr lang="ar-SA" sz="1350" dirty="0"/>
          </a:p>
        </p:txBody>
      </p:sp>
      <p:sp>
        <p:nvSpPr>
          <p:cNvPr id="44" name="Shape 4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cheaper · dearer</a:t>
            </a:r>
            <a:endParaRPr lang="en-US" sz="700" dirty="0"/>
          </a:p>
        </p:txBody>
      </p:sp>
      <p:sp>
        <p:nvSpPr>
          <p:cNvPr id="46" name="Text 43"/>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أَرْخَصُ · أَغْلَى</a:t>
            </a:r>
            <a:endParaRPr lang="ar-SA"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المَجْمُوعُ</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total</a:t>
            </a:r>
            <a:endParaRPr lang="en-US" sz="1350" dirty="0"/>
          </a:p>
          <a:p>
            <a:pPr indent="0" marL="0">
              <a:buNone/>
            </a:pPr>
            <a:r>
              <a:rPr lang="en-US" sz="1100" i="1" dirty="0">
                <a:solidFill>
                  <a:srgbClr val="5A6472"/>
                </a:solidFill>
                <a:latin typeface="Calibri" pitchFamily="34" charset="0"/>
                <a:cs typeface="Amiri" pitchFamily="2" charset="-78"/>
              </a:rPr>
              <a:t>al-maj-mū-ʿu</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Dishes across Arabic-speaking communities (1 of 2)</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حُمُّصٌ</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hummus</a:t>
            </a:r>
            <a:endParaRPr lang="en-US" sz="1350" dirty="0"/>
          </a:p>
          <a:p>
            <a:pPr indent="0" marL="0">
              <a:buNone/>
            </a:pPr>
            <a:r>
              <a:rPr lang="en-US" sz="1100" i="1" dirty="0">
                <a:solidFill>
                  <a:srgbClr val="5A6472"/>
                </a:solidFill>
                <a:latin typeface="Calibri" pitchFamily="34" charset="0"/>
                <a:cs typeface="Amiri" pitchFamily="2" charset="-78"/>
              </a:rPr>
              <a:t>ḥum-mu-ṣun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فَلَافِلُ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falafel</a:t>
            </a:r>
            <a:endParaRPr lang="en-US" sz="1350" dirty="0"/>
          </a:p>
          <a:p>
            <a:pPr indent="0" marL="0">
              <a:buNone/>
            </a:pPr>
            <a:r>
              <a:rPr lang="en-US" sz="1100" i="1" dirty="0">
                <a:solidFill>
                  <a:srgbClr val="5A6472"/>
                </a:solidFill>
                <a:latin typeface="Calibri" pitchFamily="34" charset="0"/>
                <a:cs typeface="Amiri" pitchFamily="2" charset="-78"/>
              </a:rPr>
              <a:t>fa-lā-fi-lu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تَبُّولَةٌ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tabbouleh</a:t>
            </a:r>
            <a:endParaRPr lang="en-US" sz="1350" dirty="0"/>
          </a:p>
          <a:p>
            <a:pPr indent="0" marL="0">
              <a:buNone/>
            </a:pPr>
            <a:r>
              <a:rPr lang="en-US" sz="1100" i="1" dirty="0">
                <a:solidFill>
                  <a:srgbClr val="5A6472"/>
                </a:solidFill>
                <a:latin typeface="Calibri" pitchFamily="34" charset="0"/>
                <a:cs typeface="Amiri" pitchFamily="2" charset="-78"/>
              </a:rPr>
              <a:t>tab-bū-la-tun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كُسْكُسٌ</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couscous</a:t>
            </a:r>
            <a:endParaRPr lang="en-US" sz="1350" dirty="0"/>
          </a:p>
          <a:p>
            <a:pPr indent="0" marL="0">
              <a:buNone/>
            </a:pPr>
            <a:r>
              <a:rPr lang="en-US" sz="1100" i="1" dirty="0">
                <a:solidFill>
                  <a:srgbClr val="5A6472"/>
                </a:solidFill>
                <a:latin typeface="Calibri" pitchFamily="34" charset="0"/>
                <a:cs typeface="Amiri" pitchFamily="2" charset="-78"/>
              </a:rPr>
              <a:t>kus-ku-sun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كَبْسَةٌ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kabsa</a:t>
            </a:r>
            <a:endParaRPr lang="en-US" sz="1350" dirty="0"/>
          </a:p>
          <a:p>
            <a:pPr indent="0" marL="0">
              <a:buNone/>
            </a:pPr>
            <a:r>
              <a:rPr lang="en-US" sz="1100" i="1" dirty="0">
                <a:solidFill>
                  <a:srgbClr val="5A6472"/>
                </a:solidFill>
                <a:latin typeface="Calibri" pitchFamily="34" charset="0"/>
                <a:cs typeface="Amiri" pitchFamily="2" charset="-78"/>
              </a:rPr>
              <a:t>kab-sa-tun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Dishes across Arabic-speaking communities (2 of 2)</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مَنْسَفٌ</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mansaf</a:t>
            </a:r>
            <a:endParaRPr lang="en-US" sz="1350" dirty="0"/>
          </a:p>
          <a:p>
            <a:pPr indent="0" marL="0">
              <a:buNone/>
            </a:pPr>
            <a:r>
              <a:rPr lang="en-US" sz="1100" i="1" dirty="0">
                <a:solidFill>
                  <a:srgbClr val="5A6472"/>
                </a:solidFill>
                <a:latin typeface="Calibri" pitchFamily="34" charset="0"/>
                <a:cs typeface="Amiri" pitchFamily="2" charset="-78"/>
              </a:rPr>
              <a:t>man-sa-fun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مُلُوخِيَّةٌ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molokhia</a:t>
            </a:r>
            <a:endParaRPr lang="en-US" sz="1350" dirty="0"/>
          </a:p>
          <a:p>
            <a:pPr indent="0" marL="0">
              <a:buNone/>
            </a:pPr>
            <a:r>
              <a:rPr lang="en-US" sz="1100" i="1" dirty="0">
                <a:solidFill>
                  <a:srgbClr val="5A6472"/>
                </a:solidFill>
                <a:latin typeface="Calibri" pitchFamily="34" charset="0"/>
                <a:cs typeface="Amiri" pitchFamily="2" charset="-78"/>
              </a:rPr>
              <a:t>mu-lū-khiy-ya-tun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حَرِيرَةٌ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harira soup</a:t>
            </a:r>
            <a:endParaRPr lang="en-US" sz="1350" dirty="0"/>
          </a:p>
          <a:p>
            <a:pPr indent="0" marL="0">
              <a:buNone/>
            </a:pPr>
            <a:r>
              <a:rPr lang="en-US" sz="1100" i="1" dirty="0">
                <a:solidFill>
                  <a:srgbClr val="5A6472"/>
                </a:solidFill>
                <a:latin typeface="Calibri" pitchFamily="34" charset="0"/>
                <a:cs typeface="Amiri" pitchFamily="2" charset="-78"/>
              </a:rPr>
              <a:t>ḥa-rī-ra-tun</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مَحْشِيٌّ</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stuffed vegetables</a:t>
            </a:r>
            <a:endParaRPr lang="en-US" sz="1350" dirty="0"/>
          </a:p>
          <a:p>
            <a:pPr indent="0" marL="0">
              <a:buNone/>
            </a:pPr>
            <a:r>
              <a:rPr lang="en-US" sz="1100" i="1" dirty="0">
                <a:solidFill>
                  <a:srgbClr val="5A6472"/>
                </a:solidFill>
                <a:latin typeface="Calibri" pitchFamily="34" charset="0"/>
                <a:cs typeface="Amiri" pitchFamily="2" charset="-78"/>
              </a:rPr>
              <a:t>maḥ-shiy-yun</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مَقْلُوبَةٌ</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maqluba</a:t>
            </a:r>
            <a:endParaRPr lang="en-US" sz="1350" dirty="0"/>
          </a:p>
          <a:p>
            <a:pPr indent="0" marL="0">
              <a:buNone/>
            </a:pPr>
            <a:r>
              <a:rPr lang="en-US" sz="1100" i="1" dirty="0">
                <a:solidFill>
                  <a:srgbClr val="5A6472"/>
                </a:solidFill>
                <a:latin typeface="Calibri" pitchFamily="34" charset="0"/>
                <a:cs typeface="Amiri" pitchFamily="2" charset="-78"/>
              </a:rPr>
              <a:t>maq-lū-ba-tun</a:t>
            </a:r>
            <a:endParaRPr lang="en-US"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dishes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يَتَكَوَّنُ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consists of (m)</a:t>
            </a:r>
            <a:endParaRPr lang="en-US" sz="1350" dirty="0"/>
          </a:p>
          <a:p>
            <a:pPr indent="0" marL="0">
              <a:buNone/>
            </a:pPr>
            <a:r>
              <a:rPr lang="en-US" sz="1100" i="1" dirty="0">
                <a:solidFill>
                  <a:srgbClr val="5A6472"/>
                </a:solidFill>
                <a:latin typeface="Calibri" pitchFamily="34" charset="0"/>
                <a:cs typeface="Amiri" pitchFamily="2" charset="-78"/>
              </a:rPr>
              <a:t>ya-ta-kaw-wa-nu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تَتَكَوَّنُ مِنْ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consists of (f)</a:t>
            </a:r>
            <a:endParaRPr lang="en-US" sz="1350" dirty="0"/>
          </a:p>
          <a:p>
            <a:pPr indent="0" marL="0">
              <a:buNone/>
            </a:pPr>
            <a:r>
              <a:rPr lang="en-US" sz="1100" i="1" dirty="0">
                <a:solidFill>
                  <a:srgbClr val="5A6472"/>
                </a:solidFill>
                <a:latin typeface="Calibri" pitchFamily="34" charset="0"/>
                <a:cs typeface="Amiri" pitchFamily="2" charset="-78"/>
              </a:rPr>
              <a:t>ta-ta-kaw-wa-nu min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يُقَدَّمُ مَعَ</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served with (m)</a:t>
            </a:r>
            <a:endParaRPr lang="en-US" sz="1350" dirty="0"/>
          </a:p>
          <a:p>
            <a:pPr indent="0" marL="0">
              <a:buNone/>
            </a:pPr>
            <a:r>
              <a:rPr lang="en-US" sz="1100" i="1" dirty="0">
                <a:solidFill>
                  <a:srgbClr val="5A6472"/>
                </a:solidFill>
                <a:latin typeface="Calibri" pitchFamily="34" charset="0"/>
                <a:cs typeface="Amiri" pitchFamily="2" charset="-78"/>
              </a:rPr>
              <a:t>yu-qad-da-mu ma-ʿa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تُقَدَّمُ مَعَ</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served with (f)</a:t>
            </a:r>
            <a:endParaRPr lang="en-US" sz="1350" dirty="0"/>
          </a:p>
          <a:p>
            <a:pPr indent="0" marL="0">
              <a:buNone/>
            </a:pPr>
            <a:r>
              <a:rPr lang="en-US" sz="1100" i="1" dirty="0">
                <a:solidFill>
                  <a:srgbClr val="5A6472"/>
                </a:solidFill>
                <a:latin typeface="Calibri" pitchFamily="34" charset="0"/>
                <a:cs typeface="Amiri" pitchFamily="2" charset="-78"/>
              </a:rPr>
              <a:t>tu-qad-da-mu ma-ʿa</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يَحْتَوِي عَلَى</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contains</a:t>
            </a:r>
            <a:endParaRPr lang="en-US" sz="1350" dirty="0"/>
          </a:p>
          <a:p>
            <a:pPr indent="0" marL="0">
              <a:buNone/>
            </a:pPr>
            <a:r>
              <a:rPr lang="en-US" sz="1100" i="1" dirty="0">
                <a:solidFill>
                  <a:srgbClr val="5A6472"/>
                </a:solidFill>
                <a:latin typeface="Calibri" pitchFamily="34" charset="0"/>
                <a:cs typeface="Amiri" pitchFamily="2" charset="-78"/>
              </a:rPr>
              <a:t>yaḥ-ta-wī ʿa-lā</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dishes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مَكَوِّنَاتٌ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ingredients</a:t>
            </a:r>
            <a:endParaRPr lang="en-US" sz="1350" dirty="0"/>
          </a:p>
          <a:p>
            <a:pPr indent="0" marL="0">
              <a:buNone/>
            </a:pPr>
            <a:r>
              <a:rPr lang="en-US" sz="1100" i="1" dirty="0">
                <a:solidFill>
                  <a:srgbClr val="5A6472"/>
                </a:solidFill>
                <a:latin typeface="Calibri" pitchFamily="34" charset="0"/>
                <a:cs typeface="Amiri" pitchFamily="2" charset="-78"/>
              </a:rPr>
              <a:t>ma-kaw-wi-nā-tun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طَبَقٌ تَقْلِيدِيٌّ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 dish</a:t>
            </a:r>
            <a:endParaRPr lang="en-US" sz="1350" dirty="0"/>
          </a:p>
          <a:p>
            <a:pPr indent="0" marL="0">
              <a:buNone/>
            </a:pPr>
            <a:r>
              <a:rPr lang="en-US" sz="1100" i="1" dirty="0">
                <a:solidFill>
                  <a:srgbClr val="5A6472"/>
                </a:solidFill>
                <a:latin typeface="Calibri" pitchFamily="34" charset="0"/>
                <a:cs typeface="Amiri" pitchFamily="2" charset="-78"/>
              </a:rPr>
              <a:t>ṭa-ba-qun taq-lī-diy-yun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نَبَاتِيٌّ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vegetarian</a:t>
            </a:r>
            <a:endParaRPr lang="en-US" sz="1350" dirty="0"/>
          </a:p>
          <a:p>
            <a:pPr indent="0" marL="0">
              <a:buNone/>
            </a:pPr>
            <a:r>
              <a:rPr lang="en-US" sz="1100" i="1" dirty="0">
                <a:solidFill>
                  <a:srgbClr val="5A6472"/>
                </a:solidFill>
                <a:latin typeface="Calibri" pitchFamily="34" charset="0"/>
                <a:cs typeface="Amiri" pitchFamily="2" charset="-78"/>
              </a:rPr>
              <a:t>na-bā-tiy-yun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halal</a:t>
            </a:r>
            <a:endParaRPr lang="en-US" sz="1350" dirty="0"/>
          </a:p>
          <a:p>
            <a:pPr indent="0" marL="0">
              <a:buNone/>
            </a:pPr>
            <a:r>
              <a:rPr lang="en-US" sz="1100" i="1" dirty="0">
                <a:solidFill>
                  <a:srgbClr val="5A6472"/>
                </a:solidFill>
                <a:latin typeface="Calibri" pitchFamily="34" charset="0"/>
                <a:cs typeface="Amiri" pitchFamily="2" charset="-78"/>
              </a:rPr>
              <a:t>ḥa-lā-lun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ASK AND STATE A PRICE (WEBSITE RULES 1 AND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much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ثَمَنُ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Item</a:t>
            </a:r>
            <a:endParaRPr lang="en-US" sz="1100" dirty="0"/>
          </a:p>
        </p:txBody>
      </p:sp>
      <p:sp>
        <p:nvSpPr>
          <p:cNvPr id="17" name="Text 14"/>
          <p:cNvSpPr txBox="1"/>
          <p:nvPr/>
        </p:nvSpPr>
        <p:spPr>
          <a:xfrm>
            <a:off x="576986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628632" y="2286000"/>
            <a:ext cx="20116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الحُمُّصُ</a:t>
            </a:r>
            <a:endParaRPr lang="ar-SA" sz="1950" dirty="0"/>
          </a:p>
        </p:txBody>
      </p:sp>
      <p:sp>
        <p:nvSpPr>
          <p:cNvPr id="21" name="Text 18"/>
          <p:cNvSpPr txBox="1"/>
          <p:nvPr/>
        </p:nvSpPr>
        <p:spPr>
          <a:xfrm>
            <a:off x="9582912" y="2676997"/>
            <a:ext cx="21031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 · 4</a:t>
            </a:r>
            <a:endParaRPr lang="en-US" sz="950" dirty="0"/>
          </a:p>
        </p:txBody>
      </p:sp>
      <p:sp>
        <p:nvSpPr>
          <p:cNvPr id="22" name="Text 19"/>
          <p:cNvSpPr txBox="1"/>
          <p:nvPr/>
        </p:nvSpPr>
        <p:spPr>
          <a:xfrm>
            <a:off x="5788152" y="2286000"/>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كَمْ ثَمَنُ</a:t>
            </a:r>
            <a:pPr rtl="1" algn="ctr" indent="0" marL="0">
              <a:buNone/>
            </a:pPr>
            <a:r>
              <a:rPr lang="ar-SA" altLang="en-US" sz="1950" b="1" dirty="0">
                <a:solidFill>
                  <a:srgbClr val="1B3B6F"/>
                </a:solidFill>
                <a:latin typeface="Amiri" pitchFamily="2" charset="-78"/>
                <a:ea typeface="Amiri" pitchFamily="2" charset="-78"/>
                <a:cs typeface="Amiri" pitchFamily="2" charset="-78"/>
              </a:rPr>
              <a:t> الحُمُّصِ؟</a:t>
            </a:r>
            <a:endParaRPr lang="ar-SA" sz="1950" dirty="0"/>
          </a:p>
        </p:txBody>
      </p:sp>
      <p:sp>
        <p:nvSpPr>
          <p:cNvPr id="23" name="Text 20"/>
          <p:cNvSpPr txBox="1"/>
          <p:nvPr/>
        </p:nvSpPr>
        <p:spPr>
          <a:xfrm>
            <a:off x="5742432" y="2676997"/>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much is the hummus?</a:t>
            </a:r>
            <a:endParaRPr lang="en-US" sz="950" dirty="0"/>
          </a:p>
        </p:txBody>
      </p:sp>
      <p:sp>
        <p:nvSpPr>
          <p:cNvPr id="24" name="Text 21"/>
          <p:cNvSpPr txBox="1"/>
          <p:nvPr/>
        </p:nvSpPr>
        <p:spPr>
          <a:xfrm>
            <a:off x="548640" y="2286000"/>
            <a:ext cx="5056632"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ea typeface="Amiri" pitchFamily="2" charset="-78"/>
                <a:cs typeface="Amiri" pitchFamily="2" charset="-78"/>
              </a:rPr>
              <a:t>ثَمَنُهُ</a:t>
            </a:r>
            <a:pPr rtl="1" algn="ctr" indent="0" marL="0">
              <a:buNone/>
            </a:pPr>
            <a:r>
              <a:rPr lang="ar-SA" altLang="en-US" sz="1950" b="1" dirty="0">
                <a:solidFill>
                  <a:srgbClr val="1B3B6F"/>
                </a:solidFill>
                <a:latin typeface="Amiri" pitchFamily="2" charset="-78"/>
                <a:ea typeface="Amiri" pitchFamily="2" charset="-78"/>
                <a:cs typeface="Amiri" pitchFamily="2" charset="-78"/>
              </a:rPr>
              <a:t> أَرْبَعَةُ دَنَانِيرَ.</a:t>
            </a:r>
            <a:endParaRPr lang="ar-SA" sz="1950" dirty="0"/>
          </a:p>
        </p:txBody>
      </p:sp>
      <p:sp>
        <p:nvSpPr>
          <p:cNvPr id="25" name="Text 22"/>
          <p:cNvSpPr txBox="1"/>
          <p:nvPr/>
        </p:nvSpPr>
        <p:spPr>
          <a:xfrm>
            <a:off x="502920" y="2676997"/>
            <a:ext cx="51480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costs four dinars.</a:t>
            </a:r>
            <a:endParaRPr lang="en-US" sz="95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9" name="Text 26"/>
          <p:cNvSpPr txBox="1"/>
          <p:nvPr/>
        </p:nvSpPr>
        <p:spPr>
          <a:xfrm>
            <a:off x="9628632" y="3023006"/>
            <a:ext cx="20116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السَّلَطَةُ</a:t>
            </a:r>
            <a:endParaRPr lang="ar-SA" sz="1950" dirty="0"/>
          </a:p>
        </p:txBody>
      </p:sp>
      <p:sp>
        <p:nvSpPr>
          <p:cNvPr id="30" name="Text 27"/>
          <p:cNvSpPr txBox="1"/>
          <p:nvPr/>
        </p:nvSpPr>
        <p:spPr>
          <a:xfrm>
            <a:off x="9582912" y="3414004"/>
            <a:ext cx="21031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 · 5</a:t>
            </a:r>
            <a:endParaRPr lang="en-US" sz="950" dirty="0"/>
          </a:p>
        </p:txBody>
      </p:sp>
      <p:sp>
        <p:nvSpPr>
          <p:cNvPr id="31" name="Text 28"/>
          <p:cNvSpPr txBox="1"/>
          <p:nvPr/>
        </p:nvSpPr>
        <p:spPr>
          <a:xfrm>
            <a:off x="5788152" y="3023006"/>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كَمْ سِعْرُ</a:t>
            </a:r>
            <a:pPr rtl="1" algn="ctr" indent="0" marL="0">
              <a:buNone/>
            </a:pPr>
            <a:r>
              <a:rPr lang="ar-SA" altLang="en-US" sz="1950" b="1" dirty="0">
                <a:solidFill>
                  <a:srgbClr val="1B3B6F"/>
                </a:solidFill>
                <a:latin typeface="Amiri" pitchFamily="2" charset="-78"/>
                <a:ea typeface="Amiri" pitchFamily="2" charset="-78"/>
                <a:cs typeface="Amiri" pitchFamily="2" charset="-78"/>
              </a:rPr>
              <a:t> السَّلَطَةِ؟</a:t>
            </a:r>
            <a:endParaRPr lang="ar-SA" sz="1950" dirty="0"/>
          </a:p>
        </p:txBody>
      </p:sp>
      <p:sp>
        <p:nvSpPr>
          <p:cNvPr id="32" name="Text 29"/>
          <p:cNvSpPr txBox="1"/>
          <p:nvPr/>
        </p:nvSpPr>
        <p:spPr>
          <a:xfrm>
            <a:off x="5742432" y="3414004"/>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much is the salad?</a:t>
            </a:r>
            <a:endParaRPr lang="en-US" sz="950" dirty="0"/>
          </a:p>
        </p:txBody>
      </p:sp>
      <p:sp>
        <p:nvSpPr>
          <p:cNvPr id="33" name="Text 30"/>
          <p:cNvSpPr txBox="1"/>
          <p:nvPr/>
        </p:nvSpPr>
        <p:spPr>
          <a:xfrm>
            <a:off x="548640" y="3023006"/>
            <a:ext cx="5056632"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ثَمَنُهَا</a:t>
            </a:r>
            <a:pPr rtl="1" algn="ctr" indent="0" marL="0">
              <a:buNone/>
            </a:pPr>
            <a:r>
              <a:rPr lang="ar-SA" altLang="en-US" sz="1950" b="1" dirty="0">
                <a:solidFill>
                  <a:srgbClr val="1B3B6F"/>
                </a:solidFill>
                <a:latin typeface="Amiri" pitchFamily="2" charset="-78"/>
                <a:ea typeface="Amiri" pitchFamily="2" charset="-78"/>
                <a:cs typeface="Amiri" pitchFamily="2" charset="-78"/>
              </a:rPr>
              <a:t> خَمْسَةُ دَنَانِيرَ.</a:t>
            </a:r>
            <a:endParaRPr lang="ar-SA" sz="1950" dirty="0"/>
          </a:p>
        </p:txBody>
      </p:sp>
      <p:sp>
        <p:nvSpPr>
          <p:cNvPr id="34" name="Text 31"/>
          <p:cNvSpPr txBox="1"/>
          <p:nvPr/>
        </p:nvSpPr>
        <p:spPr>
          <a:xfrm>
            <a:off x="502920" y="3414004"/>
            <a:ext cx="51480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costs five dinars.</a:t>
            </a:r>
            <a:endParaRPr lang="en-US" sz="95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628632" y="3760013"/>
            <a:ext cx="20116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الكَبْسَةُ</a:t>
            </a:r>
            <a:endParaRPr lang="ar-SA" sz="1950" dirty="0"/>
          </a:p>
        </p:txBody>
      </p:sp>
      <p:sp>
        <p:nvSpPr>
          <p:cNvPr id="39" name="Text 36"/>
          <p:cNvSpPr txBox="1"/>
          <p:nvPr/>
        </p:nvSpPr>
        <p:spPr>
          <a:xfrm>
            <a:off x="9582912" y="4151010"/>
            <a:ext cx="21031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 · 12</a:t>
            </a:r>
            <a:endParaRPr lang="en-US" sz="950" dirty="0"/>
          </a:p>
        </p:txBody>
      </p:sp>
      <p:sp>
        <p:nvSpPr>
          <p:cNvPr id="40" name="Text 37"/>
          <p:cNvSpPr txBox="1"/>
          <p:nvPr/>
        </p:nvSpPr>
        <p:spPr>
          <a:xfrm>
            <a:off x="5788152" y="3760013"/>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كَمْ ثَمَنُ</a:t>
            </a:r>
            <a:pPr rtl="1" algn="ctr" indent="0" marL="0">
              <a:buNone/>
            </a:pPr>
            <a:r>
              <a:rPr lang="ar-SA" altLang="en-US" sz="1950" b="1" dirty="0">
                <a:solidFill>
                  <a:srgbClr val="1B3B6F"/>
                </a:solidFill>
                <a:latin typeface="Amiri" pitchFamily="2" charset="-78"/>
                <a:ea typeface="Amiri" pitchFamily="2" charset="-78"/>
                <a:cs typeface="Amiri" pitchFamily="2" charset="-78"/>
              </a:rPr>
              <a:t> الكَبْسَةِ؟</a:t>
            </a:r>
            <a:endParaRPr lang="ar-SA" sz="1950" dirty="0"/>
          </a:p>
        </p:txBody>
      </p:sp>
      <p:sp>
        <p:nvSpPr>
          <p:cNvPr id="41" name="Text 38"/>
          <p:cNvSpPr txBox="1"/>
          <p:nvPr/>
        </p:nvSpPr>
        <p:spPr>
          <a:xfrm>
            <a:off x="5742432" y="4151010"/>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much is the kabsa?</a:t>
            </a:r>
            <a:endParaRPr lang="en-US" sz="950" dirty="0"/>
          </a:p>
        </p:txBody>
      </p:sp>
      <p:sp>
        <p:nvSpPr>
          <p:cNvPr id="42" name="Text 39"/>
          <p:cNvSpPr txBox="1"/>
          <p:nvPr/>
        </p:nvSpPr>
        <p:spPr>
          <a:xfrm>
            <a:off x="548640" y="3760013"/>
            <a:ext cx="5056632"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ثَمَنُهَا</a:t>
            </a:r>
            <a:pPr rtl="1" algn="ctr" indent="0" marL="0">
              <a:buNone/>
            </a:pPr>
            <a:r>
              <a:rPr lang="ar-SA" altLang="en-US" sz="1950" b="1" dirty="0">
                <a:solidFill>
                  <a:srgbClr val="1B3B6F"/>
                </a:solidFill>
                <a:latin typeface="Amiri" pitchFamily="2" charset="-78"/>
                <a:ea typeface="Amiri" pitchFamily="2" charset="-78"/>
                <a:cs typeface="Amiri" pitchFamily="2" charset="-78"/>
              </a:rPr>
              <a:t> اثْنَا عَشَرَ دِينَارًا.</a:t>
            </a:r>
            <a:endParaRPr lang="ar-SA" sz="1950" dirty="0"/>
          </a:p>
        </p:txBody>
      </p:sp>
      <p:sp>
        <p:nvSpPr>
          <p:cNvPr id="43" name="Text 40"/>
          <p:cNvSpPr txBox="1"/>
          <p:nvPr/>
        </p:nvSpPr>
        <p:spPr>
          <a:xfrm>
            <a:off x="502920" y="4151010"/>
            <a:ext cx="51480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costs twelve dinars.</a:t>
            </a:r>
            <a:endParaRPr lang="en-US" sz="950" dirty="0"/>
          </a:p>
        </p:txBody>
      </p:sp>
      <p:sp>
        <p:nvSpPr>
          <p:cNvPr id="44" name="Shape 41"/>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7" name="Text 44"/>
          <p:cNvSpPr txBox="1"/>
          <p:nvPr/>
        </p:nvSpPr>
        <p:spPr>
          <a:xfrm>
            <a:off x="9628632" y="4497019"/>
            <a:ext cx="20116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المَاءُ</a:t>
            </a:r>
            <a:endParaRPr lang="ar-SA" sz="1950" dirty="0"/>
          </a:p>
        </p:txBody>
      </p:sp>
      <p:sp>
        <p:nvSpPr>
          <p:cNvPr id="48" name="Text 45"/>
          <p:cNvSpPr txBox="1"/>
          <p:nvPr/>
        </p:nvSpPr>
        <p:spPr>
          <a:xfrm>
            <a:off x="9582912" y="4888017"/>
            <a:ext cx="21031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 · 2</a:t>
            </a:r>
            <a:endParaRPr lang="en-US" sz="950" dirty="0"/>
          </a:p>
        </p:txBody>
      </p:sp>
      <p:sp>
        <p:nvSpPr>
          <p:cNvPr id="49" name="Text 46"/>
          <p:cNvSpPr txBox="1"/>
          <p:nvPr/>
        </p:nvSpPr>
        <p:spPr>
          <a:xfrm>
            <a:off x="5788152" y="4497019"/>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كَمْ ثَمَنُ</a:t>
            </a:r>
            <a:pPr rtl="1" algn="ctr" indent="0" marL="0">
              <a:buNone/>
            </a:pPr>
            <a:r>
              <a:rPr lang="ar-SA" altLang="en-US" sz="1950" b="1" dirty="0">
                <a:solidFill>
                  <a:srgbClr val="1B3B6F"/>
                </a:solidFill>
                <a:latin typeface="Amiri" pitchFamily="2" charset="-78"/>
                <a:ea typeface="Amiri" pitchFamily="2" charset="-78"/>
                <a:cs typeface="Amiri" pitchFamily="2" charset="-78"/>
              </a:rPr>
              <a:t> المَاءِ؟</a:t>
            </a:r>
            <a:endParaRPr lang="ar-SA" sz="1950" dirty="0"/>
          </a:p>
        </p:txBody>
      </p:sp>
      <p:sp>
        <p:nvSpPr>
          <p:cNvPr id="50" name="Text 47"/>
          <p:cNvSpPr txBox="1"/>
          <p:nvPr/>
        </p:nvSpPr>
        <p:spPr>
          <a:xfrm>
            <a:off x="5742432" y="4888017"/>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much is the water?</a:t>
            </a:r>
            <a:endParaRPr lang="en-US" sz="950" dirty="0"/>
          </a:p>
        </p:txBody>
      </p:sp>
      <p:sp>
        <p:nvSpPr>
          <p:cNvPr id="51" name="Text 48"/>
          <p:cNvSpPr txBox="1"/>
          <p:nvPr/>
        </p:nvSpPr>
        <p:spPr>
          <a:xfrm>
            <a:off x="548640" y="4497019"/>
            <a:ext cx="5056632"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ea typeface="Amiri" pitchFamily="2" charset="-78"/>
                <a:cs typeface="Amiri" pitchFamily="2" charset="-78"/>
              </a:rPr>
              <a:t>ثَمَنُهُ</a:t>
            </a:r>
            <a:pPr rtl="1" algn="ctr" indent="0" marL="0">
              <a:buNone/>
            </a:pPr>
            <a:r>
              <a:rPr lang="ar-SA" altLang="en-US" sz="1950" b="1" dirty="0">
                <a:solidFill>
                  <a:srgbClr val="1B3B6F"/>
                </a:solidFill>
                <a:latin typeface="Amiri" pitchFamily="2" charset="-78"/>
                <a:ea typeface="Amiri" pitchFamily="2" charset="-78"/>
                <a:cs typeface="Amiri" pitchFamily="2" charset="-78"/>
              </a:rPr>
              <a:t> دِينَارَانِ.</a:t>
            </a:r>
            <a:endParaRPr lang="ar-SA" sz="1950" dirty="0"/>
          </a:p>
        </p:txBody>
      </p:sp>
      <p:sp>
        <p:nvSpPr>
          <p:cNvPr id="52" name="Text 49"/>
          <p:cNvSpPr txBox="1"/>
          <p:nvPr/>
        </p:nvSpPr>
        <p:spPr>
          <a:xfrm>
            <a:off x="502920" y="4888017"/>
            <a:ext cx="51480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costs two dinars.</a:t>
            </a:r>
            <a:endParaRPr lang="en-US" sz="950" dirty="0"/>
          </a:p>
        </p:txBody>
      </p:sp>
      <p:sp>
        <p:nvSpPr>
          <p:cNvPr id="53" name="Shape 5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4" name="Text 51"/>
          <p:cNvSpPr txBox="1"/>
          <p:nvPr/>
        </p:nvSpPr>
        <p:spPr>
          <a:xfrm>
            <a:off x="9628632" y="5234026"/>
            <a:ext cx="20116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المَجْمُوعُ</a:t>
            </a:r>
            <a:endParaRPr lang="ar-SA" sz="1950" dirty="0"/>
          </a:p>
        </p:txBody>
      </p:sp>
      <p:sp>
        <p:nvSpPr>
          <p:cNvPr id="55" name="Text 52"/>
          <p:cNvSpPr txBox="1"/>
          <p:nvPr/>
        </p:nvSpPr>
        <p:spPr>
          <a:xfrm>
            <a:off x="9582912" y="5625023"/>
            <a:ext cx="21031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total</a:t>
            </a:r>
            <a:endParaRPr lang="en-US" sz="950" dirty="0"/>
          </a:p>
        </p:txBody>
      </p:sp>
      <p:sp>
        <p:nvSpPr>
          <p:cNvPr id="56" name="Text 53"/>
          <p:cNvSpPr txBox="1"/>
          <p:nvPr/>
        </p:nvSpPr>
        <p:spPr>
          <a:xfrm>
            <a:off x="5788152" y="5234026"/>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كَمِ</a:t>
            </a:r>
            <a:pPr rtl="1" algn="ctr" indent="0" marL="0">
              <a:buNone/>
            </a:pPr>
            <a:r>
              <a:rPr lang="ar-SA" altLang="en-US" sz="1950" b="1" dirty="0">
                <a:solidFill>
                  <a:srgbClr val="1B3B6F"/>
                </a:solidFill>
                <a:latin typeface="Amiri" pitchFamily="2" charset="-78"/>
                <a:ea typeface="Amiri" pitchFamily="2" charset="-78"/>
                <a:cs typeface="Amiri" pitchFamily="2" charset="-78"/>
              </a:rPr>
              <a:t> المَجْمُوعُ؟</a:t>
            </a:r>
            <a:endParaRPr lang="ar-SA" sz="1950" dirty="0"/>
          </a:p>
        </p:txBody>
      </p:sp>
      <p:sp>
        <p:nvSpPr>
          <p:cNvPr id="57" name="Text 54"/>
          <p:cNvSpPr txBox="1"/>
          <p:nvPr/>
        </p:nvSpPr>
        <p:spPr>
          <a:xfrm>
            <a:off x="5742432" y="5625023"/>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What is the total?</a:t>
            </a:r>
            <a:endParaRPr lang="en-US" sz="950" dirty="0"/>
          </a:p>
        </p:txBody>
      </p:sp>
      <p:sp>
        <p:nvSpPr>
          <p:cNvPr id="58" name="Text 55"/>
          <p:cNvSpPr txBox="1"/>
          <p:nvPr/>
        </p:nvSpPr>
        <p:spPr>
          <a:xfrm>
            <a:off x="548640" y="5234026"/>
            <a:ext cx="505663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المَجْمُوعُ أَرْبَعَةَ عَشَرَ دِينَارًا.</a:t>
            </a:r>
            <a:endParaRPr lang="ar-SA" sz="1950" dirty="0"/>
          </a:p>
        </p:txBody>
      </p:sp>
      <p:sp>
        <p:nvSpPr>
          <p:cNvPr id="59" name="Text 56"/>
          <p:cNvSpPr txBox="1"/>
          <p:nvPr/>
        </p:nvSpPr>
        <p:spPr>
          <a:xfrm>
            <a:off x="502920" y="5625023"/>
            <a:ext cx="514807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total is fourteen dinars.</a:t>
            </a:r>
            <a:endParaRPr lang="en-US" sz="95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kam thamanu + item (ending -i). Its price: thamanuhu (m.) · thamanuhā (f.) + number + currency.</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DESCRIBE A DISH (WEBSITE RULES 3 AND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It consists of … it is served with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يَتَكَوَّنُ مِنْ · يُقَدَّمُ 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MASCULINE DISH</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يَتَكَوَّنُ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الحُمُّصُ يَتَكَوَّنُ مِنَ الحُمُّصِ وَالطَّحِينَةِ.</a:t>
            </a:r>
            <a:endParaRPr lang="ar-SA" sz="2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Hummus consists of chickpeas and tahini.</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yata-: m. dish.</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FEMININE DISH</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تَتَكَوَّنُ مِنْ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المَقْلُوبَةُ تَتَكَوَّنُ مِنَ الأَرُزِّ وَالخَضْرَوَاتِ.</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Maqluba consists of rice and vegetables.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tata-: f. dish (</a:t>
            </a:r>
            <a:pPr algn="l" indent="0" marL="0">
              <a:buNone/>
            </a:pPr>
            <a:r>
              <a:rPr lang="ar-SA" altLang="en-US" sz="1450" dirty="0">
                <a:solidFill>
                  <a:srgbClr val="1F2A37"/>
                </a:solidFill>
                <a:latin typeface="Amiri" pitchFamily="2" charset="-78"/>
                <a:ea typeface="Amiri" pitchFamily="2" charset="-78"/>
                <a:cs typeface="Amiri" pitchFamily="2" charset="-78"/>
              </a:rPr>
              <a:t>ة</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2870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SERVED WITH</a:t>
            </a:r>
            <a:endParaRPr lang="en-US" sz="850" dirty="0"/>
          </a:p>
        </p:txBody>
      </p:sp>
      <p:sp>
        <p:nvSpPr>
          <p:cNvPr id="34" name="Text 31"/>
          <p:cNvSpPr txBox="1"/>
          <p:nvPr/>
        </p:nvSpPr>
        <p:spPr>
          <a:xfrm>
            <a:off x="1668780"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يُقَدَّمُ / تُقَدَّمُ مَعَ</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الكَبْسَةُ تُقَدَّمُ مَعَ السَّلَطَةِ.</a:t>
            </a:r>
            <a:endParaRPr lang="ar-SA" sz="30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Kabsa is served with salad.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Same m. / f. choice.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 feminine dish takes tatakawwanu.</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المَقْلُوبَةُ تَتَكَوَّنُ مِنَ الأَرُزِّ.</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المَقْلُوبَةُ يَتَكَوَّنُ مِنَ الأَرُزِّ.</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50" b="1" dirty="0">
                <a:solidFill>
                  <a:srgbClr val="8A6D1E"/>
                </a:solidFill>
                <a:latin typeface="Amiri" pitchFamily="2" charset="-78"/>
                <a:ea typeface="Amiri" pitchFamily="2" charset="-78"/>
                <a:cs typeface="Amiri" pitchFamily="2" charset="-78"/>
              </a:rPr>
              <a:t>السُّؤَالُ عَنِ الأَسْعَارِ وَالإِجَابَةُ بِالأَعْدَادِ</a:t>
            </a:r>
            <a:endParaRPr lang="ar-SA" sz="23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Ask the price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كَمْ سِعْرُ / ثَمَنُ + الطَّبَقِ؟</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كَمْ سِعْرُ السَّلَطَةِ؟   ·   كَمْ ثَمَنُ الطَّبَقِ الرَّئِيسِيِّ؟</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State a price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ثَمَنُهُ / ثَمَنُهَا + عَدَدٌ + عُمْلَةٌ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ثَمَنُهُ خَمْسَةُ دَنَانِيرَ.   ·   ثَمَنُهَا ثَلَاثَةُ دَنَانِيرَ.</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Describe ingredients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يَتَكَوَّنُ / تَتَكَوَّنُ مِنْ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الحُمُّصُ يَتَكَوَّنُ مِنَ الحُمُّصِ وَالطَّحِينَةِ.   ·   المَقْلُوبَةُ تَتَكَوَّنُ مِنَ الأَرُزِّ وَالخُضْرَوَاتِ.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Say what accompanies a dish</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يُقَدَّمُ / تُقَدَّمُ مَعَ</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الكُسْكُسُ يُقَدَّمُ مَعَ الخُضْرَوَاتِ.   ·   الكَبْسَةُ تُقَدَّمُ مَعَ السَّلَطَةِ.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“How much is the soup?”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 يَتَكَوَّنُ الحَسَاءُ؟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الحَسَاءُ لَذِيذٌ؟</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 الحَسَاءِ؟</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المَقْلُوبَةُ ___ مِنَ الأَرُزِّ.</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تَتَكَوَّنُ</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يَتَكَوَّنُ</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أَتَكَوَّنُ</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salad contains tomatoes.”</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السَّلَطَةُ يَحْتَوِي عَلَى الطَّمَاطِمِ.</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السَّلَطَةُ تَحْتَوِي عَلَى الطَّمَاطِمِ.</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السَّلَطَةُ تَتَكَوَّنَ الطَّمَاطِمِ.</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“its price” for a feminine dish?</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ثَمَنُهَا</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ثَمَنُهُ</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ثَمَنُكَ</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“How much is the soup?”</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مِمَّ يَتَكَوَّنُ الحَسَاءُ؟</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الحَسَاءُ لَذِيذٌ؟</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ثَمَنُ الحَسَاءِ؟</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كَمْ ثَمَنُ</a:t>
            </a:r>
            <a:pPr algn="l" indent="0" marL="0">
              <a:buNone/>
            </a:pPr>
            <a:r>
              <a:rPr lang="en-US" sz="1050" i="1" dirty="0">
                <a:solidFill>
                  <a:srgbClr val="8A6D1E"/>
                </a:solidFill>
                <a:latin typeface="Calibri" pitchFamily="34" charset="0"/>
                <a:cs typeface="Amiri" pitchFamily="2" charset="-78"/>
              </a:rPr>
              <a:t> asks for the price.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المَقْلُوبَةُ ___ مِنَ الأَرُزِّ.</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تَتَكَوَّنُ</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يَتَكَوَّنُ</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أَتَكَوَّنُ</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المَقْلُوبَةُ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salad contains tomatoes.”</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السَّلَطَةُ يَحْتَوِي عَلَى الطَّمَاطِمِ.</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السَّلَطَةُ تَحْتَوِي عَلَى الطَّمَاطِمِ.</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السَّلَطَةُ تَتَكَوَّنَ الطَّمَاطِمِ.</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feminine </a:t>
            </a:r>
            <a:pPr algn="l" indent="0" marL="0">
              <a:buNone/>
            </a:pPr>
            <a:r>
              <a:rPr lang="ar-SA" altLang="en-US" sz="1350" dirty="0">
                <a:solidFill>
                  <a:srgbClr val="8A6D1E"/>
                </a:solidFill>
                <a:latin typeface="Amiri" pitchFamily="2" charset="-78"/>
                <a:ea typeface="Amiri" pitchFamily="2" charset="-78"/>
                <a:cs typeface="Amiri" pitchFamily="2" charset="-78"/>
              </a:rPr>
              <a:t>تَحْتَوِي</a:t>
            </a:r>
            <a:pPr algn="l" indent="0" marL="0">
              <a:buNone/>
            </a:pPr>
            <a:r>
              <a:rPr lang="en-US" sz="1050" i="1" dirty="0">
                <a:solidFill>
                  <a:srgbClr val="8A6D1E"/>
                </a:solidFill>
                <a:latin typeface="Calibri" pitchFamily="34" charset="0"/>
                <a:cs typeface="Amiri" pitchFamily="2" charset="-78"/>
              </a:rPr>
              <a:t> with </a:t>
            </a:r>
            <a:pPr algn="l" indent="0" marL="0">
              <a:buNone/>
            </a:pPr>
            <a:r>
              <a:rPr lang="ar-SA" altLang="en-US" sz="1350" dirty="0">
                <a:solidFill>
                  <a:srgbClr val="8A6D1E"/>
                </a:solidFill>
                <a:latin typeface="Amiri" pitchFamily="2" charset="-78"/>
                <a:ea typeface="Amiri" pitchFamily="2" charset="-78"/>
                <a:cs typeface="Amiri" pitchFamily="2" charset="-78"/>
              </a:rPr>
              <a:t>السَّلَطَةُ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“its price” for a feminine dish?</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ثَمَنُهَا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ثَمَنُهُ</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ثَمَنُكَ</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refers back to a feminine noun.</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read the menu and order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Find</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المُقَبِّلَاتُ: حُمُّصٌ ٤، تَبُّولَةٌ ٥، فَلَافِلُ ٦.</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Section → item → price.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Ask</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كَمْ ثَمَنُ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الكَبْسَةِ؟ —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ثَمَنُهَا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اثْنَا عَشَرَ دِينَارًا.</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Kabsa is f. → -hā.</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Describe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الكَبْسَةُ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تَتَكَوَّنُ مِنَ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الأَرُزِّ وَالدَّجَاجِ.</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 dish → tata-.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Total</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كَبْسَةٌ ١٢ وَمَاءٌ ٢ · المَجْمُوعُ ١٤</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Items first, then add.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QUESTION</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أُرِيدُ كَبْسَةَ الدَّجَاجِ وَمَاءً، مِنْ فَضْلِكَ.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كَمْ ثَمَنُ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الكَبْسَةِ؟ —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ثَمَنُهَا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اثْنَا عَشَرَ دِينَارًا، وَ</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ثَمَنُ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المَاءِ دِينَارَانِ. الكَبْسَةُ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تَتَكَوَّنُ 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الأَرُزِّ وَالدَّجَاجِ وَالتَّوَابِلِ، وَ</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تُقَدَّمُ مَعَ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السَّلَطَةِ. المَجْمُوعُ أَرْبَعَةَ عَشَرَ دِينَارًا.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would like chicken kabsa and water, please. How much is the kabsa? — It costs twelve dinars, and the water costs two dinars. Kabsa consists of rice, chicken and spices, and it is served with salad. The total is fourteen dinars.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كَمْ ثَمَنُ حَسَاءِ العَدَسِ؟ ثَمَنُهُ خَمْسَةُ دَنَانِيرَ.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much is the lentil soup? It costs five dinars.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كَمْ ثَمَنُ + item.</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الكَبْسَةُ طَبَقٌ تَقْلِيدِيٌّ يَتَكَوَّنُ مِنَ الأَرُزِّ وَاللَّحْمِ أَوِ الدَّجَاجِ.</a:t>
            </a:r>
            <a:endParaRPr lang="ar-SA" sz="255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Kabsa is a traditional dish consisting of rice and meat or chicken.</a:t>
            </a:r>
            <a:endParaRPr lang="en-US" sz="1250" dirty="0"/>
          </a:p>
          <a:p>
            <a:pPr indent="0" marL="0">
              <a:buNone/>
            </a:pPr>
            <a:r>
              <a:rPr lang="en-US" sz="1050" i="1" dirty="0">
                <a:solidFill>
                  <a:srgbClr val="8A6D1E"/>
                </a:solidFill>
                <a:latin typeface="Calibri" pitchFamily="34" charset="0"/>
                <a:cs typeface="Amiri" pitchFamily="2" charset="-78"/>
              </a:rPr>
              <a:t>A grammatically masculine predicate can describe the dish; the verb may follow the actual noun in fuller usage.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المَقْلُوبَةُ تَتَكَوَّنُ مِنَ الأَرُزِّ وَالخَضْرَوَاتِ.</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Maqluba consists of rice and vegetables.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Feminine dish name → تَتَكَوَّنُ.</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الحُمُّصُ رَخِيصٌ، وَلٰكِنَّ الطَّبَقَ الرَّئِيسِيَّ غَالٍ.</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Hummus is cheap, but the main dish is expensive.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Compare value with رَخِيصٌ / غَالٍ.</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2F6FB0"/>
                </a:solidFill>
                <a:latin typeface="Calibri" pitchFamily="34" charset="0"/>
                <a:cs typeface="Amiri" pitchFamily="2" charset="-78"/>
              </a:rPr>
              <a:t>WE DO · PICTURE MATCH · WEBSITE GAME “VISUAL GAME — MENUS, PRICES AND DISHES”</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How much is it? Match the picture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قَائِمَةُ الطَّعَامِ وَالسِّعْرُ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salad · £6</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 £3</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juice · £2</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سِعْرُ العَصِيرِ جُنَيْهَانِ.</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سِعْرُ السَّلَطَةِ سِتَّةُ جُنَيْهَاتٍ.</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سِعْرُ القَهْوَةِ ثَلَاثَةُ جُنَيْهَاتٍ.</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قَائِمَةُ الطَّعَامِ وَالسِّعْرُ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salad · £6</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سِعْرُ السَّلَطَةِ سِتَّةُ جُنَيْهَاتٍ.</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salad costs six pounds.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 £3</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سِعْرُ القَهْوَةِ ثَلَاثَةُ جُنَيْهَاتٍ.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coffee costs three pounds.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juice · £2</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سِعْرُ العَصِيرِ جُنَيْهَانِ.</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juice costs two pounds.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menu section?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حُمُّصٌ</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كَبْسَةٌ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كَعْكٌ</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حَرِيرَةٌ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مَنْسَفٌ</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عَصِيرُ اللَّيْمُونِ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تَبُّولَةٌ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مَقْلُوبَةٌ</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مُقَبِّلَاتٌ · starters</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أَطْبَاقٌ رَئِيسِيَّةٌ · mains</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حَلْوَيَاتٌ / مَشْرُوبَاتٌ</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مُقَبِّلَاتٌ · starters</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حُمُّصٌ</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حَرِيرَةٌ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تَبُّولَةٌ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أَطْبَاقٌ رَئِيسِيَّةٌ · mains</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كَبْسَةٌ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مَنْسَفٌ</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مَقْلُوبَةٌ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حَلْوَيَاتٌ / مَشْرُوبَاتٌ</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كَعْكٌ</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عَصِيرُ اللَّيْمُونِ</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matching adjective for </a:t>
            </a:r>
            <a:pPr algn="l" indent="0" marL="0">
              <a:buNone/>
            </a:pPr>
            <a:r>
              <a:rPr lang="ar-SA" altLang="en-US" sz="1650" b="1" dirty="0">
                <a:solidFill>
                  <a:srgbClr val="1B3B6F"/>
                </a:solidFill>
                <a:latin typeface="Amiri" pitchFamily="2" charset="-78"/>
                <a:ea typeface="Amiri" pitchFamily="2" charset="-78"/>
                <a:cs typeface="Amiri" pitchFamily="2" charset="-78"/>
              </a:rPr>
              <a:t>الكَبْسَةُ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غَالٍ</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غَالِيَانِ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غَالِيَةٌ</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introduces ingredients after </a:t>
            </a:r>
            <a:pPr algn="l" indent="0" marL="0">
              <a:buNone/>
            </a:pPr>
            <a:r>
              <a:rPr lang="ar-SA" altLang="en-US" sz="1650" b="1" dirty="0">
                <a:solidFill>
                  <a:srgbClr val="1B3B6F"/>
                </a:solidFill>
                <a:latin typeface="Amiri" pitchFamily="2" charset="-78"/>
                <a:ea typeface="Amiri" pitchFamily="2" charset="-78"/>
                <a:cs typeface="Amiri" pitchFamily="2" charset="-78"/>
              </a:rPr>
              <a:t>يَحْتَوِي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ثَمَنُهُ خَمْسَةُ ___.</a:t>
            </a:r>
            <a:endParaRPr lang="ar-SA" sz="15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دِينَارٌ</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دَنَانِيرَ</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دِينَارَانِ</a:t>
            </a:r>
            <a:endParaRPr lang="ar-SA" sz="20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matching adjective for </a:t>
            </a:r>
            <a:pPr algn="l" indent="0" marL="0">
              <a:buNone/>
            </a:pPr>
            <a:r>
              <a:rPr lang="ar-SA" altLang="en-US" sz="1650" b="1" dirty="0">
                <a:solidFill>
                  <a:srgbClr val="1B3B6F"/>
                </a:solidFill>
                <a:latin typeface="Amiri" pitchFamily="2" charset="-78"/>
                <a:ea typeface="Amiri" pitchFamily="2" charset="-78"/>
                <a:cs typeface="Amiri" pitchFamily="2" charset="-78"/>
              </a:rPr>
              <a:t>الكَبْسَةُ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غَالٍ</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غَالِيَانِ</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غَالِيَةٌ</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adjective agrees with the feminine dish name.</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introduces ingredients after </a:t>
            </a:r>
            <a:pPr algn="l" indent="0" marL="0">
              <a:buNone/>
            </a:pPr>
            <a:r>
              <a:rPr lang="ar-SA" altLang="en-US" sz="1650" b="1" dirty="0">
                <a:solidFill>
                  <a:srgbClr val="1B3B6F"/>
                </a:solidFill>
                <a:latin typeface="Amiri" pitchFamily="2" charset="-78"/>
                <a:ea typeface="Amiri" pitchFamily="2" charset="-78"/>
                <a:cs typeface="Amiri" pitchFamily="2" charset="-78"/>
              </a:rPr>
              <a:t>يَحْتَوِي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عَلَى</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fixed phrase is </a:t>
            </a:r>
            <a:pPr algn="l" indent="0" marL="0">
              <a:buNone/>
            </a:pPr>
            <a:r>
              <a:rPr lang="ar-SA" altLang="en-US" sz="1350" dirty="0">
                <a:solidFill>
                  <a:srgbClr val="8A6D1E"/>
                </a:solidFill>
                <a:latin typeface="Amiri" pitchFamily="2" charset="-78"/>
                <a:ea typeface="Amiri" pitchFamily="2" charset="-78"/>
                <a:cs typeface="Amiri" pitchFamily="2" charset="-78"/>
              </a:rPr>
              <a:t>يَحْتَوِي 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ثَمَنُهُ خَمْسَةُ ___.</a:t>
            </a:r>
            <a:endParaRPr lang="ar-SA" sz="1500" dirty="0"/>
          </a:p>
        </p:txBody>
      </p:sp>
      <p:sp>
        <p:nvSpPr>
          <p:cNvPr id="52" name="Shape 49"/>
          <p:cNvSpPr/>
          <p:nvPr/>
        </p:nvSpPr>
        <p:spPr>
          <a:xfrm>
            <a:off x="8278368" y="2532888"/>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دِينَارٌ</a:t>
            </a:r>
            <a:endParaRPr lang="ar-SA" sz="2050" dirty="0"/>
          </a:p>
        </p:txBody>
      </p:sp>
      <p:sp>
        <p:nvSpPr>
          <p:cNvPr id="55" name="Shape 52"/>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99008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دَنَانِيرَ</a:t>
            </a:r>
            <a:endParaRPr lang="ar-SA" sz="2050" dirty="0"/>
          </a:p>
        </p:txBody>
      </p:sp>
      <p:sp>
        <p:nvSpPr>
          <p:cNvPr id="59" name="Shape 56"/>
          <p:cNvSpPr/>
          <p:nvPr/>
        </p:nvSpPr>
        <p:spPr>
          <a:xfrm>
            <a:off x="8278368" y="344728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دِينَارَانِ</a:t>
            </a:r>
            <a:endParaRPr lang="ar-SA" sz="2050" dirty="0"/>
          </a:p>
        </p:txBody>
      </p:sp>
      <p:sp>
        <p:nvSpPr>
          <p:cNvPr id="62" name="Text 59"/>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five, use the plural </a:t>
            </a:r>
            <a:pPr algn="l" indent="0" marL="0">
              <a:buNone/>
            </a:pPr>
            <a:r>
              <a:rPr lang="ar-SA" altLang="en-US" sz="1350" dirty="0">
                <a:solidFill>
                  <a:srgbClr val="8A6D1E"/>
                </a:solidFill>
                <a:latin typeface="Amiri" pitchFamily="2" charset="-78"/>
                <a:ea typeface="Amiri" pitchFamily="2" charset="-78"/>
                <a:cs typeface="Amiri" pitchFamily="2" charset="-78"/>
              </a:rPr>
              <a:t>دَنَانِيرَ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كَمْ السِّعْرُ الحَسَاءُ؟</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price of the soup”: which structure?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المَقْلُوبَةُ يَتَكَوَّنُ مِنْ...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Maqluba is feminine: which verb?</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ثَمَنُهُ خَمْسَةُ دِينَار.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five: singular or plural?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كَمْ السِّعْرُ الحَسَاءُ؟</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كَمْ ثَمَنُ الحَسَاءِ؟ / كَمْ سِعْرُ الحَسَاءِ؟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 complete idafa question: price of the soup.</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المَقْلُوبَةُ يَتَكَوَّنُ مِنْ...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المَقْلُوبَةُ تَتَكَوَّنُ مِنْ...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feminine dish name takes </a:t>
            </a:r>
            <a:pPr algn="l" indent="0" marL="0">
              <a:buNone/>
            </a:pPr>
            <a:r>
              <a:rPr lang="ar-SA" altLang="en-US" sz="1500" b="1" dirty="0">
                <a:solidFill>
                  <a:srgbClr val="1B3B6F"/>
                </a:solidFill>
                <a:latin typeface="Amiri" pitchFamily="2" charset="-78"/>
                <a:ea typeface="Amiri" pitchFamily="2" charset="-78"/>
                <a:cs typeface="Amiri" pitchFamily="2" charset="-78"/>
              </a:rPr>
              <a:t>تَتَكَوَّنُ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ثَمَنُهُ خَمْسَةُ دِينَار.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ثَمَنُهُ خَمْسَةُ دَنَانِيرَ.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appropriate plural after five.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family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hummus?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main dish costs 12?</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maqluba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mansaf</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kabsa</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mother’s dish?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juices are ordered?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total for the two juices?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the number BEFORE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دَنَانِيرَ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طَلَبَتِ الأُسْرَةُ حُمُّصًا بِأَرْبَعَةِ دَنَانِيرَ، وَسَلَطَةً بِخَمْسَةِ دَنَانِيرَ.</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family ordered hummus for four dinars and a salad for five dinars.</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طَلَبَ الأَبُ كَبْسَةً بِاثْنَيْ عَشَرَ دِينَارًا،</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father ordered kabsa for twelve dinars,</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وَطَلَبَتِ الأُمُّ مَقْلُوبَةً بِعَشَرَةِ دَنَانِيرَ.</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the mother ordered maqluba for ten dinars.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شَرِبَ الطِّفْلَانِ عَصِيرَيْنِ، ثَمَنُ كُلِّ وَاحِدٍ ثَلَاثَةُ دَنَانِيرَ.</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two children drank two juices; each one cost three dinars.</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hummus?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بِأَرْبَعَةِ دَنَانِيرَ.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main dish costs 12?</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maqluba</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mansaf</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kabsa</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Kabsa costs 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mother’s dish?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Maqluba costs 10.</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juices are ordered?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عَصِيرَيْنِ</a:t>
            </a:r>
            <a:pPr algn="l" indent="0" marL="0">
              <a:buNone/>
            </a:pPr>
            <a:r>
              <a:rPr lang="en-US" sz="1050" i="1" dirty="0">
                <a:solidFill>
                  <a:srgbClr val="8A6D1E"/>
                </a:solidFill>
                <a:latin typeface="Calibri" pitchFamily="34" charset="0"/>
                <a:cs typeface="Amiri" pitchFamily="2" charset="-78"/>
              </a:rPr>
              <a:t> = two juices.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total for the two juices?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at 3 each = 6.</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the number BEFORE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دَنَانِيرَ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Menu decision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ثَمَنُ الحُمُّصِ / الكَبْسَةِ / الشَّايِ؟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طَبَقٍ أَرْخَصُ؟</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مِمَّ يَتَكَوَّنُ هٰذَا الطَّبَقُ؟</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يُوجَدُ طَبَقٌ نَبَاتِيٌّ؟ مَاذَا تَطْلُبُ وَكَمِ المَجْمُوعُ؟</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ثَمَنُهُ / ثَمَنُهَا ___ دَنَانِيرَ.</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أَرْخَصُ مِنْ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يَتَكَوَّنُ / تَتَكَوَّنُ مِنَ ___ وَ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نَعَمْ، ___ طَبَقٌ نَبَاتِيٌّ. أَطْلُبُ … المَجْمُوعُ …</a:t>
            </a:r>
            <a:endParaRPr lang="ar-SA" sz="145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أ</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كَمْ ثَمَنُ الكَبْسَةِ؟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much is the kabsa?</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ب</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ثَمَنُهَا اثْنَا عَشَرَ دِينَارًا.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 costs twelve dinars.</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a menu</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Read a menu and answer price questions with a number and item.</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headings, two items under each with a price (numerals).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menu + 4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Calculate three order totals and describe one dish’s ingredients.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full menu, then describe value and ingredients (yatakawwanu min twice).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050" b="1" dirty="0">
                <a:solidFill>
                  <a:srgbClr val="B83227"/>
                </a:solidFill>
                <a:latin typeface="Cambria" pitchFamily="34" charset="0"/>
                <a:cs typeface="Amiri" pitchFamily="2" charset="-78"/>
              </a:rPr>
              <a:t>menu + 6–8 sentences</a:t>
            </a:r>
            <a:endParaRPr lang="en-US" sz="205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menus for price, variety and dietary options in a short recommendation.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comparison (arkhaṣu / aghlā), a vegetarian option and a recommendation.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الكَبْسَةُ تَتَكَوَّنُ مِنَ الأَرُزِّ وَالدَّجَاجِ.</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Kabsa consists of rice and chicken.</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الحُمُّصُ يَتَكَوَّنُ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Hummus consists of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يُقَدَّمُ / تُقَدَّمُ مَعَ السَّلَطَةِ.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served with salad.</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المَاءُ أَرْخَصُ مِنَ العَصِيرِ.</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Water is cheaper than juice.</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الطَّبَقُ الرَّئِيسِيُّ غَالٍ.</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main dish is expensive.</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المُقَبِّلَاتُ: ______ ٤ ، ______ ٥</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Starters: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الأَطْبَاقُ الرَّئِيسِيَّةُ: ______</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Main dishes: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الحَلْوَيَاتُ: ______</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Desserts: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المَشْرُوبَاتُ: ______</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Drinks: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ثَمَنُهُ ______ دَنَانِيرَ.</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(m.) costs … dinars.</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قَائِمَةُ الطَّعَامِ  ·  مُقَبِّلَاتٌ  ·  طَبَقٌ رَئِيسِيٌّ  ·  حَلْوَيَاتٌ  ·  مَشْرُوبَاتٌ  ·  كَمْ ثَمَنُ  ·  ثَمَنُهُ  ·  ثَمَنُهَا  ·  دَنَانِيرُ  ·  رَخِيصٌ  ·  غَالٍ  ·  المَجْمُوعُ</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Design a concise Arabic menu with at least two starters, three main dishes, two desserts and three drinks. Add prices, then write four sentences describing value and ingredients.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Organise the menu under clear Arabic headings.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numerals consistently and add a currency word.</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يَتَكَوَّنُ / تَتَكَوَّنُ مِنْ</a:t>
            </a:r>
            <a:pPr algn="l" indent="0" marL="0">
              <a:buNone/>
            </a:pPr>
            <a:r>
              <a:rPr lang="en-US" sz="1200" dirty="0">
                <a:solidFill>
                  <a:srgbClr val="1F2A37"/>
                </a:solidFill>
                <a:latin typeface="Calibri" pitchFamily="34" charset="0"/>
                <a:cs typeface="Amiri" pitchFamily="2" charset="-78"/>
              </a:rPr>
              <a:t> twice.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one comparison using </a:t>
            </a:r>
            <a:pPr algn="l" indent="0" marL="0">
              <a:buNone/>
            </a:pPr>
            <a:r>
              <a:rPr lang="ar-SA" altLang="en-US" sz="1550" dirty="0">
                <a:solidFill>
                  <a:srgbClr val="1F2A37"/>
                </a:solidFill>
                <a:latin typeface="Amiri" pitchFamily="2" charset="-78"/>
                <a:ea typeface="Amiri" pitchFamily="2" charset="-78"/>
                <a:cs typeface="Amiri" pitchFamily="2" charset="-78"/>
              </a:rPr>
              <a:t>أَرْخَصُ / أَغْلَى</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رَخِيصٌ / غَالٍ</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المَاءُ أَرْخَصُ مِنَ العَصِيرِ</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water is cheaper than juice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المَنْسَفُ أَغْلَى طَبَقٍ</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mansaf is the most expensive dish</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القَائِمَةِ طَبَقٌ نَبَاتِيٌّ وَاحِدٌ</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one vegetarian dish on the menu</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أَنْصَحُ بِـ … لِأَنَّهُ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recommend … because it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طَبَقٌ تَقْلِيدِيٌّ مِنْ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traditional dish from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المُقَبِّلَاتُ: حُمُّصٌ ٤، سَلَطَةٌ ٥. الأَطْبَاقُ الرَّئِيسِيَّةُ: كَبْسَةٌ ١٢، مَقْلُوبَةٌ ١٠، كُسْكُسٌ ١١. المَشْرُوبَاتُ: مَاءٌ ٢، شَايٌ ٣، عَصِيرٌ ٤. الكَبْسَةُ تَتَكَوَّنُ مِنَ الأَرُزِّ وَالدَّجَاجِ. السَّلَطَةُ تَتَكَوَّنُ مِنْ خَضْرَوَاتٍ طَازَجَةٍ. المَاءُ أَرْخَصُ مِنَ العَصِيرِ.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Starters: hummus 4, salad 5. Main dishes: kabsa 12, maqluba 10, couscous 11. Drinks: water 2, tea 3, juice 4. Kabsa consists of rice and chicken. The salad consists of fresh vegetables. Water is cheaper than juice.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heading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price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consists of</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comparison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menu has headings and prices.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a:t>
            </a:r>
            <a:pPr algn="l" indent="0" marL="0">
              <a:buNone/>
            </a:pPr>
            <a:r>
              <a:rPr lang="ar-SA" altLang="en-US" sz="1700" dirty="0">
                <a:solidFill>
                  <a:srgbClr val="1F2A37"/>
                </a:solidFill>
                <a:latin typeface="Amiri" pitchFamily="2" charset="-78"/>
                <a:ea typeface="Amiri" pitchFamily="2" charset="-78"/>
                <a:cs typeface="Amiri" pitchFamily="2" charset="-78"/>
              </a:rPr>
              <a:t>كَمْ ثَمَنُ</a:t>
            </a:r>
            <a:pPr algn="l" indent="0" marL="0">
              <a:buNone/>
            </a:pPr>
            <a:r>
              <a:rPr lang="en-US" sz="1300" dirty="0">
                <a:solidFill>
                  <a:srgbClr val="1F2A37"/>
                </a:solidFill>
                <a:latin typeface="Calibri" pitchFamily="34" charset="0"/>
                <a:cs typeface="Amiri" pitchFamily="2" charset="-78"/>
              </a:rPr>
              <a:t> + item.</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ea typeface="Amiri" pitchFamily="2" charset="-78"/>
                <a:cs typeface="Amiri" pitchFamily="2" charset="-78"/>
              </a:rPr>
              <a:t>ثَمَنُهُ / ثَمَنُهَا</a:t>
            </a:r>
            <a:pPr algn="l" indent="0" marL="0">
              <a:buNone/>
            </a:pPr>
            <a:r>
              <a:rPr lang="en-US" sz="1300" dirty="0">
                <a:solidFill>
                  <a:srgbClr val="1F2A37"/>
                </a:solidFill>
                <a:latin typeface="Calibri" pitchFamily="34" charset="0"/>
                <a:cs typeface="Amiri" pitchFamily="2" charset="-78"/>
              </a:rPr>
              <a:t> match the item.</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ea typeface="Amiri" pitchFamily="2" charset="-78"/>
                <a:cs typeface="Amiri" pitchFamily="2" charset="-78"/>
              </a:rPr>
              <a:t>يَتَكَوَّنُ / تَتَكَوَّنُ</a:t>
            </a:r>
            <a:pPr algn="l" indent="0" marL="0">
              <a:buNone/>
            </a:pPr>
            <a:r>
              <a:rPr lang="en-US" sz="1300" dirty="0">
                <a:solidFill>
                  <a:srgbClr val="1F2A37"/>
                </a:solidFill>
                <a:latin typeface="Calibri" pitchFamily="34" charset="0"/>
                <a:cs typeface="Amiri" pitchFamily="2" charset="-78"/>
              </a:rPr>
              <a:t> match the dish.</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prices and recommended a dish.</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قَائِمَةُ الطَّعَامِ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menu</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shopping list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recipe</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the price?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 يَتَكَوَّنُ؟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المَطْعَمُ؟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“total”?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المَجْمُوعُ</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السِّعْرُ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الحِسَابُ</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قَائِمَةُ الطَّعَامِ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menu</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shopping list</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recipe</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means menu.</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the price?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مِمَّ يَتَكَوَّنُ؟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كَمْ ثَمَنُهُ؟</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أَيْنَ المَطْعَمُ؟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كَمْ ثَمَنُهُ؟</a:t>
            </a:r>
            <a:pPr algn="l" indent="0" marL="0">
              <a:buNone/>
            </a:pPr>
            <a:r>
              <a:rPr lang="en-US" sz="1050" i="1" dirty="0">
                <a:solidFill>
                  <a:srgbClr val="8A6D1E"/>
                </a:solidFill>
                <a:latin typeface="Calibri" pitchFamily="34" charset="0"/>
                <a:cs typeface="Amiri" pitchFamily="2" charset="-78"/>
              </a:rPr>
              <a:t> means how much is it?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“total”?</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المَجْمُوعُ</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السِّعْرُ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الحِسَابُ</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المَجْمُوعُ</a:t>
            </a:r>
            <a:pPr algn="l" indent="0" marL="0">
              <a:buNone/>
            </a:pPr>
            <a:r>
              <a:rPr lang="en-US" sz="1050" i="1" dirty="0">
                <a:solidFill>
                  <a:srgbClr val="8A6D1E"/>
                </a:solidFill>
                <a:latin typeface="Calibri" pitchFamily="34" charset="0"/>
                <a:cs typeface="Amiri" pitchFamily="2" charset="-78"/>
              </a:rPr>
              <a:t> is the total.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Menu: Bayt al-Diyafa</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قَائِمَةُ بَيْتِ الضِّيَافَةِ</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المُقَبِّلَاتُ: حُمُّصٌ ٤، تَبُّولَةٌ ٥، فَلَافِلُ ٦.</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الأَطْبَاقُ الرَّئِيسِيَّةُ: كُسْكُسٌ بِالخَضْرَوَاتِ ١٠، كَبْسَةُ الدَّجَاجِ ١٢، مَنْسَفٌ ١٤.</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الحَلْوَيَاتُ: كَعْكٌ ٤، فَاكِهَةٌ طَازَجَةٌ ٥.</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المَشْرُوبَاتُ: مَاءٌ ٢، شَايٌ ٣، عَصِيرٌ ٤.</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مُلَاحَظَةٌ: الكُسْكُسُ بِالخَضْرَوَاتِ طَبَقٌ نَبَاتِيٌّ.</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عَلَى كُلِّ طَاوِلَةٍ طَبَقٌ وَشَوْكَةٌ وَسِكِّينٌ وَمِلْعَقَةٌ وَمَنْدِيلٌ. يُقَدَّمُ الحَسَاءُ فِي وِعَاءٍ، وَيُقَدَّمُ الشَّايُ فِي كُوبٍ، وَالعَصِيرُ فِي كَأْسٍ.</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مُلَاحَظَةٌ أُخْرَى: يَحْتَوِي الحُمُّصُ عَلَى الحُمُّصِ المَطْحُونِ وَالزَّيْتِ.</a:t>
            </a:r>
            <a:endParaRPr lang="ar-SA" sz="18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بَيْتِ الضِّيَافَةِ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guest house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بِالخَضْرَوَاتِ</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 vegetables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كَعْكٌ</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cake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مُلَاحَظَةٌ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note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شَوْكَةٌ · سِكِّينٌ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fork · knife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مِلْعَقَةٌ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spoon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مَنْدِيلٌ</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napkin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وِعَاءٍ</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bowl</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كُوبٍ · كَأْسٍ</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cup · a glass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المَطْحُونِ</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ground (crushed)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cheapest starter?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tabbouleh</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hummus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falafel</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main is vegetarian?</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kabsa</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mansaf</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vegetable couscous</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are kabsa and water together?</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14</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16</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dessert costs 5?</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cake</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fresh fruit</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ice cream</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total for falafel, tea and cake?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13</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11</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utensil is used for soup?</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knife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fork only</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spoon</a:t>
            </a:r>
            <a:endParaRPr lang="en-US" sz="1250" dirty="0"/>
          </a:p>
        </p:txBody>
      </p:sp>
      <p:sp>
        <p:nvSpPr>
          <p:cNvPr id="95" name="Shape 92"/>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6313932" y="4288536"/>
            <a:ext cx="310896" cy="310896"/>
          </a:xfrm>
          <a:prstGeom prst="ellipse">
            <a:avLst/>
          </a:prstGeom>
          <a:solidFill>
            <a:srgbClr val="1B3B6F"/>
          </a:solidFill>
          <a:ln w="12700">
            <a:solidFill>
              <a:srgbClr val="1B3B6F"/>
            </a:solidFill>
            <a:prstDash val="solid"/>
          </a:ln>
        </p:spPr>
      </p:sp>
      <p:sp>
        <p:nvSpPr>
          <p:cNvPr id="97" name="Text 9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98" name="Text 95"/>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tea and juice served?</a:t>
            </a:r>
            <a:endParaRPr lang="en-US" sz="1250" dirty="0"/>
          </a:p>
        </p:txBody>
      </p:sp>
      <p:sp>
        <p:nvSpPr>
          <p:cNvPr id="99" name="Shape 96"/>
          <p:cNvSpPr/>
          <p:nvPr/>
        </p:nvSpPr>
        <p:spPr>
          <a:xfrm>
            <a:off x="6368796" y="4873752"/>
            <a:ext cx="256032" cy="256032"/>
          </a:xfrm>
          <a:prstGeom prst="ellipse">
            <a:avLst/>
          </a:prstGeom>
          <a:solidFill>
            <a:srgbClr val="F4F1EA"/>
          </a:solidFill>
          <a:ln w="12700">
            <a:solidFill>
              <a:srgbClr val="F4F1EA"/>
            </a:solidFill>
            <a:prstDash val="solid"/>
          </a:ln>
        </p:spPr>
      </p:sp>
      <p:sp>
        <p:nvSpPr>
          <p:cNvPr id="100" name="Text 9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1" name="Text 98"/>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on a plate</a:t>
            </a:r>
            <a:endParaRPr lang="en-US" sz="1250" dirty="0"/>
          </a:p>
        </p:txBody>
      </p:sp>
      <p:sp>
        <p:nvSpPr>
          <p:cNvPr id="102" name="Shape 99"/>
          <p:cNvSpPr/>
          <p:nvPr/>
        </p:nvSpPr>
        <p:spPr>
          <a:xfrm>
            <a:off x="6368796" y="5330952"/>
            <a:ext cx="256032" cy="256032"/>
          </a:xfrm>
          <a:prstGeom prst="ellipse">
            <a:avLst/>
          </a:prstGeom>
          <a:solidFill>
            <a:srgbClr val="F4F1EA"/>
          </a:solidFill>
          <a:ln w="12700">
            <a:solidFill>
              <a:srgbClr val="F4F1EA"/>
            </a:solidFill>
            <a:prstDash val="solid"/>
          </a:ln>
        </p:spPr>
      </p:sp>
      <p:sp>
        <p:nvSpPr>
          <p:cNvPr id="103" name="Text 10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4" name="Text 101"/>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 in a bowl and juice in a jug</a:t>
            </a:r>
            <a:endParaRPr lang="en-US" sz="1250" dirty="0"/>
          </a:p>
        </p:txBody>
      </p:sp>
      <p:sp>
        <p:nvSpPr>
          <p:cNvPr id="105" name="Shape 102"/>
          <p:cNvSpPr/>
          <p:nvPr/>
        </p:nvSpPr>
        <p:spPr>
          <a:xfrm>
            <a:off x="6368796" y="5788152"/>
            <a:ext cx="256032" cy="256032"/>
          </a:xfrm>
          <a:prstGeom prst="ellipse">
            <a:avLst/>
          </a:prstGeom>
          <a:solidFill>
            <a:srgbClr val="F4F1EA"/>
          </a:solidFill>
          <a:ln w="12700">
            <a:solidFill>
              <a:srgbClr val="F4F1EA"/>
            </a:solidFill>
            <a:prstDash val="solid"/>
          </a:ln>
        </p:spPr>
      </p:sp>
      <p:sp>
        <p:nvSpPr>
          <p:cNvPr id="106" name="Text 10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4"/>
          <p:cNvSpPr txBox="1"/>
          <p:nvPr/>
        </p:nvSpPr>
        <p:spPr>
          <a:xfrm>
            <a:off x="6697980"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 in a cup and juice in a glass</a:t>
            </a:r>
            <a:endParaRPr lang="en-US" sz="1250" dirty="0"/>
          </a:p>
        </p:txBody>
      </p:sp>
      <p:sp>
        <p:nvSpPr>
          <p:cNvPr id="108" name="Shape 105"/>
          <p:cNvSpPr/>
          <p:nvPr/>
        </p:nvSpPr>
        <p:spPr>
          <a:xfrm>
            <a:off x="9050274"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9" name="Text 106"/>
          <p:cNvSpPr txBox="1"/>
          <p:nvPr/>
        </p:nvSpPr>
        <p:spPr>
          <a:xfrm>
            <a:off x="9233154"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10" name="Text 107"/>
          <p:cNvSpPr txBox="1"/>
          <p:nvPr/>
        </p:nvSpPr>
        <p:spPr>
          <a:xfrm>
            <a:off x="9233154"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1" name="Text 10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cheapest starter?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tabbouleh</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hummus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falafel</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Hummus is 4.</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main is vegetarian?</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kabsa</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mansaf</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vegetable couscous</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note identifies it as </a:t>
            </a:r>
            <a:pPr algn="l" indent="0" marL="0">
              <a:buNone/>
            </a:pPr>
            <a:r>
              <a:rPr lang="ar-SA" altLang="en-US" sz="1350" dirty="0">
                <a:solidFill>
                  <a:srgbClr val="8A6D1E"/>
                </a:solidFill>
                <a:latin typeface="Amiri" pitchFamily="2" charset="-78"/>
                <a:ea typeface="Amiri" pitchFamily="2" charset="-78"/>
                <a:cs typeface="Amiri" pitchFamily="2" charset="-78"/>
              </a:rPr>
              <a:t>نَبَاتِيٌّ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are kabsa and water together?</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14</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16</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12 + 2 = 14.</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dessert costs 5?</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cake</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fresh fruit</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ice cream</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فَاكِهَةٌ طَازَجَةٌ ٥.</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total for falafel, tea and cake?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13</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11</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6 + 3 + 4 = 13.</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utensil is used for soup?</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knife</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fork only</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spoon</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table has a </a:t>
            </a:r>
            <a:pPr algn="l" indent="0" marL="0">
              <a:buNone/>
            </a:pPr>
            <a:r>
              <a:rPr lang="ar-SA" altLang="en-US" sz="1350" dirty="0">
                <a:solidFill>
                  <a:srgbClr val="8A6D1E"/>
                </a:solidFill>
                <a:latin typeface="Amiri" pitchFamily="2" charset="-78"/>
                <a:ea typeface="Amiri" pitchFamily="2" charset="-78"/>
                <a:cs typeface="Amiri" pitchFamily="2" charset="-78"/>
              </a:rPr>
              <a:t>مِلْعَقَةٌ</a:t>
            </a:r>
            <a:pPr algn="l" indent="0" marL="0">
              <a:buNone/>
            </a:pPr>
            <a:r>
              <a:rPr lang="en-US" sz="1050" i="1" dirty="0">
                <a:solidFill>
                  <a:srgbClr val="8A6D1E"/>
                </a:solidFill>
                <a:latin typeface="Calibri" pitchFamily="34" charset="0"/>
                <a:cs typeface="Amiri" pitchFamily="2" charset="-78"/>
              </a:rPr>
              <a:t> and soup is served in a bowl.</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8" name="Shape 105"/>
          <p:cNvSpPr/>
          <p:nvPr/>
        </p:nvSpPr>
        <p:spPr>
          <a:xfrm>
            <a:off x="6313932" y="4288536"/>
            <a:ext cx="310896" cy="310896"/>
          </a:xfrm>
          <a:prstGeom prst="ellipse">
            <a:avLst/>
          </a:prstGeom>
          <a:solidFill>
            <a:srgbClr val="1B3B6F"/>
          </a:solidFill>
          <a:ln w="12700">
            <a:solidFill>
              <a:srgbClr val="1B3B6F"/>
            </a:solidFill>
            <a:prstDash val="solid"/>
          </a:ln>
        </p:spPr>
      </p:sp>
      <p:sp>
        <p:nvSpPr>
          <p:cNvPr id="109" name="Text 10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110" name="Text 107"/>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tea and juice served?</a:t>
            </a:r>
            <a:endParaRPr lang="en-US" sz="1250" dirty="0"/>
          </a:p>
        </p:txBody>
      </p:sp>
      <p:sp>
        <p:nvSpPr>
          <p:cNvPr id="111" name="Shape 108"/>
          <p:cNvSpPr/>
          <p:nvPr/>
        </p:nvSpPr>
        <p:spPr>
          <a:xfrm>
            <a:off x="6368796" y="4831080"/>
            <a:ext cx="256032" cy="256032"/>
          </a:xfrm>
          <a:prstGeom prst="ellipse">
            <a:avLst/>
          </a:prstGeom>
          <a:solidFill>
            <a:srgbClr val="C9CED6"/>
          </a:solidFill>
          <a:ln w="12700">
            <a:solidFill>
              <a:srgbClr val="C9CED6"/>
            </a:solidFill>
            <a:prstDash val="solid"/>
          </a:ln>
        </p:spPr>
      </p:sp>
      <p:sp>
        <p:nvSpPr>
          <p:cNvPr id="112" name="Text 109"/>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13" name="Text 110"/>
          <p:cNvSpPr txBox="1"/>
          <p:nvPr/>
        </p:nvSpPr>
        <p:spPr>
          <a:xfrm>
            <a:off x="6697980"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on a plate</a:t>
            </a:r>
            <a:endParaRPr lang="en-US" sz="1250" dirty="0"/>
          </a:p>
        </p:txBody>
      </p:sp>
      <p:sp>
        <p:nvSpPr>
          <p:cNvPr id="114" name="Shape 111"/>
          <p:cNvSpPr/>
          <p:nvPr/>
        </p:nvSpPr>
        <p:spPr>
          <a:xfrm>
            <a:off x="6368796" y="5202936"/>
            <a:ext cx="256032" cy="256032"/>
          </a:xfrm>
          <a:prstGeom prst="ellipse">
            <a:avLst/>
          </a:prstGeom>
          <a:solidFill>
            <a:srgbClr val="C9CED6"/>
          </a:solidFill>
          <a:ln w="12700">
            <a:solidFill>
              <a:srgbClr val="C9CED6"/>
            </a:solidFill>
            <a:prstDash val="solid"/>
          </a:ln>
        </p:spPr>
      </p:sp>
      <p:sp>
        <p:nvSpPr>
          <p:cNvPr id="115" name="Text 112"/>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6" name="Text 113"/>
          <p:cNvSpPr txBox="1"/>
          <p:nvPr/>
        </p:nvSpPr>
        <p:spPr>
          <a:xfrm>
            <a:off x="6697980"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tea in a bowl and juice in a jug</a:t>
            </a:r>
            <a:endParaRPr lang="en-US" sz="1150" dirty="0"/>
          </a:p>
        </p:txBody>
      </p:sp>
      <p:sp>
        <p:nvSpPr>
          <p:cNvPr id="117" name="Shape 114"/>
          <p:cNvSpPr/>
          <p:nvPr/>
        </p:nvSpPr>
        <p:spPr>
          <a:xfrm>
            <a:off x="6277356" y="5538216"/>
            <a:ext cx="2498598" cy="347472"/>
          </a:xfrm>
          <a:prstGeom prst="roundRect">
            <a:avLst>
              <a:gd name="adj" fmla="val 15789"/>
            </a:avLst>
          </a:prstGeom>
          <a:solidFill>
            <a:srgbClr val="E6F4EC"/>
          </a:solidFill>
          <a:ln w="9525">
            <a:solidFill>
              <a:srgbClr val="2E8B57"/>
            </a:solidFill>
            <a:prstDash val="solid"/>
          </a:ln>
        </p:spPr>
      </p:sp>
      <p:sp>
        <p:nvSpPr>
          <p:cNvPr id="118" name="Shape 115"/>
          <p:cNvSpPr/>
          <p:nvPr/>
        </p:nvSpPr>
        <p:spPr>
          <a:xfrm>
            <a:off x="6368796" y="5574792"/>
            <a:ext cx="256032" cy="256032"/>
          </a:xfrm>
          <a:prstGeom prst="ellipse">
            <a:avLst/>
          </a:prstGeom>
          <a:solidFill>
            <a:srgbClr val="2E8B57"/>
          </a:solidFill>
          <a:ln w="12700">
            <a:solidFill>
              <a:srgbClr val="2E8B57"/>
            </a:solidFill>
            <a:prstDash val="solid"/>
          </a:ln>
        </p:spPr>
      </p:sp>
      <p:sp>
        <p:nvSpPr>
          <p:cNvPr id="119" name="Text 116"/>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20" name="Text 117"/>
          <p:cNvSpPr txBox="1"/>
          <p:nvPr/>
        </p:nvSpPr>
        <p:spPr>
          <a:xfrm>
            <a:off x="6697980"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tea in a cup and juice in a glass</a:t>
            </a:r>
            <a:endParaRPr lang="en-US" sz="1150" dirty="0"/>
          </a:p>
        </p:txBody>
      </p:sp>
      <p:sp>
        <p:nvSpPr>
          <p:cNvPr id="121" name="Text 118"/>
          <p:cNvSpPr txBox="1"/>
          <p:nvPr/>
        </p:nvSpPr>
        <p:spPr>
          <a:xfrm>
            <a:off x="6313932"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الشَّايُ فِي كُوبٍ، وَالعَصِيرُ فِي كَأْسٍ.</a:t>
            </a:r>
            <a:endParaRPr lang="ar-SA" sz="1350" dirty="0"/>
          </a:p>
        </p:txBody>
      </p:sp>
      <p:sp>
        <p:nvSpPr>
          <p:cNvPr id="122" name="Shape 119"/>
          <p:cNvSpPr/>
          <p:nvPr/>
        </p:nvSpPr>
        <p:spPr>
          <a:xfrm>
            <a:off x="9050274"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23" name="Text 120"/>
          <p:cNvSpPr txBox="1"/>
          <p:nvPr/>
        </p:nvSpPr>
        <p:spPr>
          <a:xfrm>
            <a:off x="9233154"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24" name="Text 121"/>
          <p:cNvSpPr txBox="1"/>
          <p:nvPr/>
        </p:nvSpPr>
        <p:spPr>
          <a:xfrm>
            <a:off x="9233154"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25" name="Text 12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Menus and Prices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F5-L07: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F5-L07 · The Body and Its Parts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رَأْسٌ</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head</a:t>
            </a:r>
            <a:pPr indent="0" marL="0">
              <a:buNone/>
            </a:pPr>
            <a:r>
              <a:rPr lang="ar-SA" sz="1000" i="1" dirty="0">
                <a:solidFill>
                  <a:srgbClr val="5A6472"/>
                </a:solidFill>
                <a:latin typeface="Calibri" pitchFamily="34" charset="0"/>
                <a:ea typeface="Amiri" pitchFamily="2" charset="-78"/>
                <a:cs typeface="Amiri" pitchFamily="2" charset="-78"/>
              </a:rPr>
              <a:t>  pl. رُؤُوسٌ</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يَدٌ</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hand</a:t>
            </a:r>
            <a:pPr indent="0" marL="0">
              <a:buNone/>
            </a:pPr>
            <a:r>
              <a:rPr lang="ar-SA" sz="1000" i="1" dirty="0">
                <a:solidFill>
                  <a:srgbClr val="5A6472"/>
                </a:solidFill>
                <a:latin typeface="Calibri" pitchFamily="34" charset="0"/>
                <a:ea typeface="Amiri" pitchFamily="2" charset="-78"/>
                <a:cs typeface="Amiri" pitchFamily="2" charset="-78"/>
              </a:rPr>
              <a:t>  pl. أَيْدٍ · f.</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عَيْنٌ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eye</a:t>
            </a:r>
            <a:pPr indent="0" marL="0">
              <a:buNone/>
            </a:pPr>
            <a:r>
              <a:rPr lang="ar-SA" sz="1000" i="1" dirty="0">
                <a:solidFill>
                  <a:srgbClr val="5A6472"/>
                </a:solidFill>
                <a:latin typeface="Calibri" pitchFamily="34" charset="0"/>
                <a:ea typeface="Amiri" pitchFamily="2" charset="-78"/>
                <a:cs typeface="Amiri" pitchFamily="2" charset="-78"/>
              </a:rPr>
              <a:t>  pl. عُيُونٌ · f.</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رِجْلٌ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leg / foot</a:t>
            </a:r>
            <a:pPr indent="0" marL="0">
              <a:buNone/>
            </a:pPr>
            <a:r>
              <a:rPr lang="ar-SA" sz="1000" i="1" dirty="0">
                <a:solidFill>
                  <a:srgbClr val="5A6472"/>
                </a:solidFill>
                <a:latin typeface="Calibri" pitchFamily="34" charset="0"/>
                <a:ea typeface="Amiri" pitchFamily="2" charset="-78"/>
                <a:cs typeface="Amiri" pitchFamily="2" charset="-78"/>
              </a:rPr>
              <a:t>  pl. أَرْجُلٌ · f.</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بَطْنٌ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stomach</a:t>
            </a:r>
            <a:pPr indent="0" marL="0">
              <a:buNone/>
            </a:pPr>
            <a:r>
              <a:rPr lang="ar-SA" sz="1000" i="1" dirty="0">
                <a:solidFill>
                  <a:srgbClr val="5A6472"/>
                </a:solidFill>
                <a:latin typeface="Calibri" pitchFamily="34" charset="0"/>
                <a:ea typeface="Amiri" pitchFamily="2" charset="-78"/>
                <a:cs typeface="Amiri" pitchFamily="2" charset="-78"/>
              </a:rPr>
              <a:t>  pl. بُطُونٌ</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Point to your head, hand and eye and say the Arabic word.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هٰذَا رَأْسِي · هٰذِهِ يَدِي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F5-L06: the vocabulary tab and the “Which menu section?”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design a menu and write four sentences about value and ingredients.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Compare two menus (price, variety, vegetarian options) and recommend one.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F5-L07 · The Body and Its Parts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الجِسْمُ وَأَعْضَاؤُهُ</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كَمْ ثَمَنُ</a:t>
            </a:r>
            <a:pPr algn="l" indent="0" marL="0">
              <a:buNone/>
            </a:pPr>
            <a:r>
              <a:rPr lang="en-US" sz="1300" b="1" dirty="0">
                <a:solidFill>
                  <a:srgbClr val="FFFFFF"/>
                </a:solidFill>
                <a:latin typeface="Calibri" pitchFamily="34" charset="0"/>
                <a:cs typeface="Amiri" pitchFamily="2" charset="-78"/>
              </a:rPr>
              <a:t> + item? · </a:t>
            </a:r>
            <a:pPr algn="l" indent="0" marL="0">
              <a:buNone/>
            </a:pPr>
            <a:r>
              <a:rPr lang="ar-SA" altLang="en-US" sz="1700" b="1" dirty="0">
                <a:solidFill>
                  <a:srgbClr val="FFFFFF"/>
                </a:solidFill>
                <a:latin typeface="Amiri" pitchFamily="2" charset="-78"/>
                <a:ea typeface="Amiri" pitchFamily="2" charset="-78"/>
                <a:cs typeface="Amiri" pitchFamily="2" charset="-78"/>
              </a:rPr>
              <a:t>ثَمَنُهُ / ثَمَنُهَا</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يَتَكَوَّنُ / تَتَكَوَّنُ مِنْ</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F5-L06 · Menus, Prices and Dishes</dc:title>
  <dc:subject>PptxGenJS Presentation</dc:subject>
  <dc:creator>Al Madina Online School · Arabic Department</dc:creator>
  <cp:lastModifiedBy>Al Madina Online School · Arabic Department</cp:lastModifiedBy>
  <cp:revision>1</cp:revision>
  <dcterms:created xsi:type="dcterms:W3CDTF">2026-10-11T06:41:47Z</dcterms:created>
  <dcterms:modified xsi:type="dcterms:W3CDTF">2026-10-11T06:41:47Z</dcterms:modified>
</cp:coreProperties>
</file>