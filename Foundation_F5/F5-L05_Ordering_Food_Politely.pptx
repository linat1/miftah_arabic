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Lst>
  <p:notesMasterIdLst>
    <p:notesMasterId r:id="rId45"/>
  </p:notesMasterIdLst>
  <p:sldSz cx="12192000" cy="6858000"/>
  <p:notesSz cx="6858000" cy="12192000"/>
  <p:embeddedFontLst>
    <p:embeddedFont>
      <p:font typeface="Amiri" pitchFamily="2" charset="-78"/>
      <p:regular r:id="rIdFont1"/>
      <p:bold r:id="rIdFont2"/>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notesMaster" Target="notesMasters/notesMaster1.xml"/><Relationship Id="rId46" Type="http://schemas.openxmlformats.org/officeDocument/2006/relationships/presProps" Target="presProps.xml"/><Relationship Id="rId47" Type="http://schemas.openxmlformats.org/officeDocument/2006/relationships/viewProps" Target="viewProps.xml"/><Relationship Id="rId48" Type="http://schemas.openxmlformats.org/officeDocument/2006/relationships/theme" Target="theme/theme1.xml"/><Relationship Id="rId49" Type="http://schemas.openxmlformats.org/officeDocument/2006/relationships/tableStyles" Target="tableStyles.xml"/><Relationship Id="rIdFont1" Type="http://schemas.openxmlformats.org/officeDocument/2006/relationships/font" Target="fonts/font1.fntdata"/><Relationship Id="rIdFont2" Type="http://schemas.openxmlformats.org/officeDocument/2006/relationships/font" Target="fonts/font2.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cs typeface="Amiri" pitchFamily="2" charset="-78"/>
      </a:defRPr>
    </a:lvl1pPr>
    <a:lvl2pPr marL="457200" algn="l" defTabSz="914400" rtl="0" eaLnBrk="1" latinLnBrk="0" hangingPunct="1">
      <a:defRPr sz="1200" kern="1200">
        <a:solidFill>
          <a:schemeClr val="tx1"/>
        </a:solidFill>
        <a:latin typeface="+mn-lt"/>
        <a:cs typeface="Amiri" pitchFamily="2" charset="-78"/>
      </a:defRPr>
    </a:lvl2pPr>
    <a:lvl3pPr marL="914400" algn="l" defTabSz="914400" rtl="0" eaLnBrk="1" latinLnBrk="0" hangingPunct="1">
      <a:defRPr sz="1200" kern="1200">
        <a:solidFill>
          <a:schemeClr val="tx1"/>
        </a:solidFill>
        <a:latin typeface="+mn-lt"/>
        <a:cs typeface="Amiri" pitchFamily="2" charset="-78"/>
      </a:defRPr>
    </a:lvl3pPr>
    <a:lvl4pPr marL="1371600" algn="l" defTabSz="914400" rtl="0" eaLnBrk="1" latinLnBrk="0" hangingPunct="1">
      <a:defRPr sz="1200" kern="1200">
        <a:solidFill>
          <a:schemeClr val="tx1"/>
        </a:solidFill>
        <a:latin typeface="+mn-lt"/>
        <a:cs typeface="Amiri" pitchFamily="2" charset="-78"/>
      </a:defRPr>
    </a:lvl4pPr>
    <a:lvl5pPr marL="1828800" algn="l" defTabSz="914400" rtl="0" eaLnBrk="1" latinLnBrk="0" hangingPunct="1">
      <a:defRPr sz="1200" kern="1200">
        <a:solidFill>
          <a:schemeClr val="tx1"/>
        </a:solidFill>
        <a:latin typeface="+mn-lt"/>
        <a:cs typeface="Amiri" pitchFamily="2" charset="-78"/>
      </a:defRPr>
    </a:lvl5pPr>
    <a:lvl6pPr marL="2286000" algn="l" defTabSz="914400" rtl="0" eaLnBrk="1" latinLnBrk="0" hangingPunct="1">
      <a:defRPr sz="1200" kern="1200">
        <a:solidFill>
          <a:schemeClr val="tx1"/>
        </a:solidFill>
        <a:latin typeface="+mn-lt"/>
        <a:cs typeface="Amiri" pitchFamily="2" charset="-78"/>
      </a:defRPr>
    </a:lvl6pPr>
    <a:lvl7pPr marL="2743200" algn="l" defTabSz="914400" rtl="0" eaLnBrk="1" latinLnBrk="0" hangingPunct="1">
      <a:defRPr sz="1200" kern="1200">
        <a:solidFill>
          <a:schemeClr val="tx1"/>
        </a:solidFill>
        <a:latin typeface="+mn-lt"/>
        <a:cs typeface="Amiri" pitchFamily="2" charset="-78"/>
      </a:defRPr>
    </a:lvl7pPr>
    <a:lvl8pPr marL="3200400" algn="l" defTabSz="914400" rtl="0" eaLnBrk="1" latinLnBrk="0" hangingPunct="1">
      <a:defRPr sz="1200" kern="1200">
        <a:solidFill>
          <a:schemeClr val="tx1"/>
        </a:solidFill>
        <a:latin typeface="+mn-lt"/>
        <a:cs typeface="Amiri" pitchFamily="2" charset="-78"/>
      </a:defRPr>
    </a:lvl8pPr>
    <a:lvl9pPr marL="3657600" algn="l" defTabSz="914400" rtl="0" eaLnBrk="1" latinLnBrk="0" hangingPunct="1">
      <a:defRPr sz="1200" kern="1200">
        <a:solidFill>
          <a:schemeClr val="tx1"/>
        </a:solidFill>
        <a:latin typeface="+mn-lt"/>
        <a:cs typeface="Amiri" pitchFamily="2" charset="-78"/>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LESSON AT A GLANCE — planned for 56 minutes, leaving about 4 minutes for Teams delays.
0–1 Welcome · 1–2 Lesson map · 2–9 Do Now + answers · 9–10 Objectives · 10–17 Key words · 17–23 Grammar · 23–25 Quick check · 25–28 I Do · 28–37 We Do · 37–49 You Do (speaking 3 + writing 9, with live feedback) · 49–54 Feedback (model, self-check, exit ticket) · 54–56 Preparation for next lesson.
FLEX slides are optional. Use them if the class is moving quickly; otherwise the same activities are on the website for homework.
Content source: Miftah Arabic website, Pathways › Foundation › F5 Food, Health and Body › F5-L05. The website lesson “Ordering Food Politely”: vocabulary, grammar rules and quiz, patterns, common mistakes, sorter, listening, reading, speaking prompts and model, writing task and model, differentiation, final check and the lesson mission. Picture match: website visual game “Ordering Food Politely”.
All vocabulary, grammar rules, quizzes, the listening script, the reading text, speaking prompts and model answers come from those pages, so students meet the same language in class and at home. Anything teacher-made (Core scaffolds, riddles, translations) is labelled in the notes.
SUPPORT FOR THIS CLASS (Arabic not yet secure; mixed levels):
• Core: a four-turn exchange from cards — greet · أُرِيدُ … مِنْ فَضْلِكَ · answer one question · الحِسَابُ، لَوْ سَمَحْتَ.
• Develop: a six-turn role play with one unexpected clarification (صَغِيرٌ أَمْ كَبِيرٌ؟ عَادِيٌّ أَمْ غَازِيٌّ؟).
• Stretch: an unavailable item → ask for an alternative (هَلْ عِنْدَكُمْ … بَدَلًا مِنْ …؟) and query the bill — without the model.
• Website: “Transactional speaking rewards successful communication. Listen to the whole question, answer the detail asked, and add one polite expression.”
• Two genders at once again: مِنْ فَضْلِكَ to a waiter, مِنْ فَضْلِكِ to a waitress; مَاذَا تُرِيدُ / تُرِيدِينَ؟ to a male / female customer.
• Diets and allergies are a real reason to ask questions (نَبَاتِيٌّ، بِدُونِ مُكَسَّرَاتٍ) — model them positively.
• Colour code (same as all Miftah lessons): WHO = blue, MEANING = purple, ENDING = pink, PATTERN = orange, KEY WORD = teal.
• SEND “automatic doors”: lesson map, chunked tasks, read-along scripts with English, cover-the-text reading and “pass” for reading aloud are built in for everyone, so no one is singled out.
ROUTES: Core (green) = students whose Arabic is not yet secure; Develop (amber) = on track; Stretch (red) = confident. Same objective for everyone — the task changes, not the goal (EAL Guide: adapt the task, not the objective).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WELCOME (1 min) — while students join.
• Greet each student by name as they arrive: السَّلَامُ عَلَيْكُمْ. Take the register (Pastoral Tracker: attendance 0/1).
• 2-MINUTE CHECK-IN (SEND training): a private chat to any student who seemed unsettled last lesson — “Are you okay today? 👍 / 👎”.
• Point to the four expectations — brief and positive: this is our class agreement.
• Talk code: “I will always give you thinking and practice time before I ask anyone.” Reading aloud is by invitation — a student may say “pass” and you return to them later.
• Follow-up on preparation: who learnt the five words? Quick private reminder to anyone who did not (Flipped Learning: follow up every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LESSON MAP (30 seconds) — SEND training: “absolute predictability”. Show the whole journey so students know what is coming and when they will be asked to speak or write. Point to the green box: using the Core supports is normal and expected (“automatic doors”).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NOW (5 min independent + 2 min going through answers).
Questions 1–2 test two of the five words prepared at home at the end of F5-L04. Questions 3–5 retrieve F5-L04 (reason agreement, adjective agreement, taste).
• Students work silently. Answers go in the chat as five letters only when the timer ends.
• Core students may answer in English and use their book.
• While they work: register, note late joiners, note anyone not attempting (Self-Management).
• Go THROUGH the answers on the next slide — ask one student (after thinking time) to explain WHY for 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THE ANSWERS (2 min). Reveal and ask “why?” for each (● 10s think → named student, warned in advance).
Key idea for today (bottom-right card): A polite order = what you want + please. Five stages: greet · order · answer · pay · thank.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OBJECTIVES (1 min).
Left: the lesson objectives exactly as they appear on the website.
Right: the same objectives broken into three routes. Everyone starts with Core; most students reach Develop; confident students aim for Stretch. Students decide privately which route they are aiming for (● Think 10s) — revisit in Feedback.
The route statements turn the website objectives into this lesson’s concrete targets.
EAL: read the Core statements aloud, pointing to the Arabic as you say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KEY WORDS — HOW TO TEACH EACH GROUP (EAL pre-teaching routine, 7 min)
1. HEAR IT: say the word twice, clearly, with a gesture where possible.
2. SAY IT: choral repetition — “I say, you say” — then two volunteers.
3. SEE IT: point out the part of the word that carries today’s grammar (colour code).
4. USE IT: quick check — “Type the NUMBER of the word that means …” in the chat.
Transliteration is printed for Core students. Develop/Stretch students should cover it and read the Arabic.
FLEX groups are for fast classes or homework — every word is on the website vocabulary tab.
URDU BRIDGE: حساب (account, calculation) → الحِسَابُ (the bill). طلب (demand, call) → طَلَبٌ (an order), أَطْلُبُ (I order). شکریہ ↔ شُكْرًا. فضل (grace, kindness) → مِنْ فَضْلِكَ literally “from your kindness”. طعام (food) → مَطْعَمٌ “the place of food” — the مَـ pattern makes a place (like مَكْتَبٌ, مَلْعَبٌ).</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KEY WORDS — Polite requests (website vocabulary (1 of 2)). Hear → Say → See → Use. Transliteration is printed for Core students (cover it for Develop/Stretch).
مِنْ فَضْلِكَ / لَوْ سَمَحْتَ to a man, مِنْ فَضْلِكِ / لَوْ سَمَحْتِ to a woman. Website: “أَعْطِنِي ‘give me’ can sound too abrupt” — keep to أُرِيدُ … مِنْ فَضْلِكَ.</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KEY WORDS — Polite requests (website vocabulary (2 of 2)). Hear → Say → See → Use. Transliteration is printed for Core students (cover it for Develop/Stretch).
مِنْ فَضْلِكَ / لَوْ سَمَحْتَ to a man, مِنْ فَضْلِكِ / لَوْ سَمَحْتِ to a woman. Website: “أَعْطِنِي ‘give me’ can sound too abrupt” — keep to أُرِيدُ … مِنْ فَضْلِكَ.</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 Restaurant language (website vocabulary (1 of 2)). Hear → Say → See → Use. Transliteration is printed for Core students (cover it for Develop/Stretch).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 Restaurant language (website vocabulary (2 of 2)). Hear → Say → See → Use. Transliteration is printed for Core students (cover it for Develop/Stretch).
FLEX: teach if time allows; otherwise these are on the website vocabulary tab for homework.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KEY WORDS — Useful questions (website vocabulary). Hear → Say → See → Use. Transliteration is printed for Core students (cover it for Develop/Stretch).
FLEX: teach if time allows; otherwise these are on the website vocabulary tab for homework.
FLEX: the questions are on the grammar slide too. مَاءٌ عَادِيٌّ أَمْ غَازِيٌّ؟ (still or sparkling?) is the waiter’s favourite clarification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GRAMMAR PART 1 — website rules “Order an item politely” (أُرِيدُ + item, مِنْ فَضْلِكَ / مِنْ فَضْلِكِ), “Ask whether something is available” (هَلْ عِنْدَكُمْ …؟ — the polite business form), “Ask the price” (كَمْ سِعْرُ / ثَمَنُ + noun: an idāfa) and “Close the exchange”.
Website mistake: أُرِيدُ مِنْ فَضْلِكَ سَلَطَةٌ ✗ → أُرِيدُ سَلَطَةً، مِنْ فَضْلِكَ ✓ (the item is the object → -an; please at the end).
Website mistake: هَلْ عِنْدَكَ …؟ → هَلْ عِنْدَكُمْ …؟ (ask the business, not one person).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GRAMMAR PART 2 — the waiter’s questions from the website vocabulary and listening: مَاذَا تُرِيدُ / تُرِيدِينَ؟ · هَلْ تُرِيدُ شَيْئًا آخَرَ؟ · مَاءٌ عَادِيٌّ أَمْ غَازِيٌّ؟ · صَغِيرٌ أَمْ كَبِيرٌ؟
Website pattern: “Short transactional replies can still be complete and polite”: مَاءٌ عَادِيٌّ، مِنْ فَضْلِكِ.
Reporting (Stretch, website pattern 5): يَطْلُبُ الزَّبُونُ الحَسَاءَ، وَتَطْلُبُ الزَّبُونَةُ السَّلَطَةَ.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WEBSITE GRAMMAR RULES AND EXAMPLES (FLEX — revision or homework). Website overview: “The lesson-plan grammar focus is a complete transactional frame: make a polite request, distinguish the form addressed to a man or woman, and ask the price accurately.”
• Order an item politely: The requested item follows أُرِيدُ. Use مِنْ فَضْلِكَ to a man and مِنْ فَضْلِكِ to a woman.
• Ask whether something is available: This polite business form asks whether the café or restaurant has an item.
• Ask the price: Use an idāfa phrase: “the price of the item”.
• Close the exchange: A complete transaction includes a polite closing.
Website common error: Do not use a bare command such as أَعْطِنِي when practising a polite restaurant exchange. Use أُرِيدُ... مِنْ فَضْلِكَ/كِ.</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CHECK FOR UNDERSTANDING (2 min) — website grammar quiz questions 1, 2, 3, 6.
● Think 20s silently → everyone types four letters in chat together on “3-2-1-go”. “Show me” alternative: A/B/C fingers to camera (EAL: show, not tell).
Read the chat: if more than a quarter of the class misses a question, re-teach that rule with its grammar slide before moving on (Live feedback: correct misconceptions immediately).
Use the results to confirm routes for the You Do task.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each answer. Ask “Who can build on that?” (+) — a student explains why one wrong option is wrong.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DO (3 min) — the website 8-line model dialogue. Perform it with a confident student (you are the waiter), then swap roles. Students copy it into their books.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SENTENCES (1 min) — website patterns. Students copy TWO that are useful for them.
• Core: copy one and change one word. • Develop: copy two and change the subject. • Stretch: combine two into one longer sentence with a connector.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 DO — the website’s interactive lesson game (“Visual game — Ordering Food Politely”) as a whole-class picture match (2 min). The sentences are the website game sentences; the pictures are icons standing in for the website images.
● 20s: look at each picture and find ONE key word you know in each sentence → type “1_ 2_ 3_” in the chat.
This is the most accessible task in the lesson — use it to build confidence before independent work. Core students read the sentence aloud after the answer is revealed (by invitation).
Website visual game (3 of 6). The clue in items 1 and 2 is the last vowel of مِنْ فَضْلِكَ / مِنْ فَضْلِكِ. Other website items: مَاذَا تُوصِي؟ (what do you recommend?), بِدُونِ مُكَسَّرَاتٍ (without nuts), شُكْرًا، كَانَ الطَّعَامُ لَذِيذًا — great Stretch phrases.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 DO — the website’s interactive lesson game (“Visual game — Ordering Food Politely”) as a whole-class picture match (2 min). The sentences are the website game sentences; the pictures are icons standing in for the website images.
● 20s: look at each picture and find ONE key word you know in each sentence → type “1_ 2_ 3_” in the chat.
This is the most accessible task in the lesson — use it to build confidence before independent work. Core students read the sentence aloud after the answer is revealed (by invitation).
Website visual game (3 of 6). The clue in items 1 and 2 is the last vowel of مِنْ فَضْلِكَ / مِنْ فَضْلِكِ. Other website items: مَاذَا تُوصِي؟ (what do you recommend?), بِدُونِ مُكَسَّرَاتٍ (without nuts), شُكْرًا، كَانَ الطَّعَامُ لَذِيذًا — great Stretch phrases.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sorter (2 min). Website instruction: Sort each line by its place in the restaurant exchange.
After sorting, pairs put the six lines in a logical order and perform them as a mini-dialogue.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sorter (2 min). Website instruction: Sort each line by its place in the restaurant exchange.
After sorting, pairs put the six lines in a logical order and perform them as a mini-dialogue.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quiz questions 4, 5, 8 (FLEX, 2 min). If time is short these are homework on the website.
“Show me” alternative: students hold up A/B/C fingers to camera.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the answers; link each to the grammar rule or vocabulary card it tests.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common mistakes (2 min).
● 20s think: find the mistake → ↔ 30s: agree with a partner (chat DM or whisper) → ◎ share.
Core prompts are printed on each card. Stretch: explain each fix with a grammar word.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common mistakes (2 min).
● 20s think: find the mistake → ↔ 30s: agree with a partner (chat DM or whisper) → ◎ share.
Core prompts are printed on each card. Stretch: explain each fix with a grammar word.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LISTENING (4 min) — website script. Read it aloud yourself, twice, at natural speed with pauses.
Before listening: students read the questions (● 30s). Core: questions 1, 2 and 4. Develop / Stretch: all 4, then act it out.
Listen 1: just listen. Listen 2: note answers. Then chat the letters.
Support: after the second listening, show the read-along slide (Arabic + English, line by line) for Core students.
SCRIPT (read aloud):
النَّادِلُ: مَسَاءُ الخَيْرِ. مَاذَا تُرِيدِينَ؟ الزَّبُونَةُ: أُرِيدُ سَلَطَةً وَسَانْدَوِيتْشَ جُبْنٍ، مِنْ فَضْلِكَ. النَّادِلُ: هَلْ تُرِيدِينَ شَيْئًا لِلشُّرْبِ؟ الزَّبُونَةُ: نَعَمْ، عَصِيرَ بُرْتُقَالٍ. النَّادِلُ: عَصِيرٌ صَغِيرٌ أَمْ كَبِيرٌ؟ الزَّبُونَةُ: صَغِيرٌ، شُكْرًا.</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READ-ALONG (Core support) — show AFTER the second listening. The Arabic is the website script, line by line; the English is a teacher translation.
Read it once more while Core students follow. Annotate the words that gave each answer.
Stretch: cover the English column and translate one line aloud.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answers. For each, ask “Which Arabic words gave you the answer?” — the evidence line is under each card.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SPEAKING REHEARSAL (3 min) — website speaking prompts. No breakout rooms (saves setup time).
Sequence: ● 10s think → ↔ 45s everyone rehearses their answer aloud with mic muted → ◎ pairs on open mic: name two students (warned in advance); A asks, B answers; the rest of the class types one follow-up question in chat (+ / ?) → ↺ one student summarises the answer they heard.
Routes: Core uses the Core prompt and stem; Develop the Develop prompts; Stretch the last prompt.
Model (website) at the bottom — read it with a confident student first. The website model continues:
النَّادِلُ: هَلْ تُرِيدِينَ شَيْئًا لِلشُّرْبِ؟ (Would you like something to drink?)
الزَّبُونَةُ: نَعَمْ، مَاءً عَادِيًّا، ثُمَّ الحِسَابَ مِنْ فَضْلِكَ. (Yes, still water, then the bill please.)
Website “Restaurant role play” — the five website prompts (English on the website) are given in Arabic here: greet and ask for the menu · order a starter and a main · ask about a vegetarian option · choose a drink and answer a size/type question · ask for the bill and close.
Website model: مَسَاءُ الخَيْرِ. مَاذَا تُرِيدِينَ؟ — أُرِيدُ حَسَاءَ العَدَسِ وَسَلَطَةً، مِنْ فَضْلِكَ. — هَلْ تُرِيدِينَ شَيْئًا لِلشُّرْبِ؟ — نَعَمْ، مَاءً عَادِيًّا، ثُمَّ الحِسَابَ مِنْ فَضْلِكَ.
The instructions are in the masculine imperative; say them to girls as سَلِّمِي، اُطْلُبِي، اِسْأَلِي.</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 DO (9 min writing). Steer routes using the Do Now and quick-check results.
Website differentiation tasks: Core — Use a menu and sentence cards to complete a four-turn exchange. · Develop — Perform a six-turn role play with one unexpected clarification question. · Stretch — Handle an unavailable item, request an alternative and query the bill without returning to the model.
Website writing task (Stretch): Write an 8-line café dialogue between a waiter and a customer. The customer must order food, choose a drink, answer one clarification and ask for the bill.
LIVE FEEDBACK: students post their first two sentences in the chat (or OneNote) after 3 minutes. Scan and correct misconceptions immediately — use private chat for individual corrections (Behaviour: quiet, individual).
Work with the less able: stay with Core students for the first 3 minutes; Develop/Stretch continue independently. SEND: chunk the Core task — “two sentences, then show me”.
Extension (fast finishers): the reading on the Extension slides. Pastoral: Self-Management point for students who work without prompting.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on screen during writing — Core students complete the frames on the right; Develop students use the frames on the left.
Frames and word bank use only this lesson’s website language (EAL: sentence frame + word bank scaffold; same objective, adapted task).
EAL Band A–B students: complete three frames, then copy and adapt one model sentence.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Stretch students work from this slide. Checklist = website writing checklist; phrase bank = phrases from the website model, reading text and listening script. Live feedback for Stretch: check the target structures appear and are accurate.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FEEDBACK (1 min) — website model answer, with an English translation for Core students.
Students find in the model (● 20s → ◎) the four items on the chips. Evidence: مَرْحَبًا · أُرِيدُ حَسَاءً … مِنْ فَضْلِكَ · صَغِيرًا أَمْ كَبِيرًا؟ · الحِسَابُ مِنْ فَضْلِكَ. Notice صَغِيرًا (-an): it answers “Do you want a small or a large one?”.
Then each student chooses ONE thing from the model to add to their own writing (specific, actionable feedback on the success criteria).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SELF-CHECK (1 min) against the website success criteria. Students tick privately, then type one WWW and one EBI in the chat (English is fine).
Teacher: one whole-class feedback point from live feedback. Pastoral: Curiosity &amp; Growth for honest reflection and a harder target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EXIT TICKET (2 min) — 3 of the website’s 8 end-of-lesson questions (“Final self-marking check”). The rest are on the website for homework.
Anyone scoring low → Core route next lesson and a check-in during the Do Now. Record Pastoral Tracker points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reveal. Students self-mark and type their score out of 3 in the chat.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EXTENSION — website reading text. For fast finishers during You Do, or Stretch homework. “You don’t need every word; find the words the question asks about.”
The green key-words panel is a teacher-made glossary so Develop students can also attempt it.
SEND reading strategy (Toolkit 1): cover the text with a piece of paper and uncover one sentence at a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Reading questions from the website. The detective steps follow the SEND “modular reading” strategy: read one part at a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from the website, with the evidence for 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PREPARATION — flipped learning (2 min to explain).
Next lesson (F5-L06 · Menus, Prices and Dishes) will spend class time USING this language, so students prepare it tonight — short, simple, easy to access (school guidance: “Simple, Short, Interesting, Relevant, Easy to access”). The five words come from the website F5-L06 lesson (menus, prices and dishes).
Follow-up: the next Do Now tests two of these words (Flipped Learning: keep it short AND follow up).
Homework by route (website tasks). No internet? Students copy the five words from this slide into their book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 thank students, dismiss calmly. After the lesson: complete the Pastoral Tracker (attendance, character, self-management, curiosity; demerits only for the five listed concerns). Note any student below 2/3 on the exit ticket for a Do Now check-in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cs typeface="Amiri" pitchFamily="2" charset="-78"/>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cs typeface="Amiri" pitchFamily="2" charset="-78"/>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cs typeface="Amiri" pitchFamily="2" charset="-78"/>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cs typeface="Amiri" pitchFamily="2" charset="-78"/>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9pPr>
    </p:bodyStyle>
    <p:otherStyle>
      <a:defPPr>
        <a:defRPr lang="en-US"/>
      </a:defPPr>
      <a:lvl1pPr marL="0" algn="l" defTabSz="914400" rtl="0" eaLnBrk="1" latinLnBrk="0" hangingPunct="1">
        <a:defRPr sz="1800" kern="1200">
          <a:solidFill>
            <a:schemeClr val="tx1"/>
          </a:solidFill>
          <a:latin typeface="+mn-lt"/>
          <a:cs typeface="Amiri" pitchFamily="2" charset="-78"/>
        </a:defRPr>
      </a:lvl1pPr>
      <a:lvl2pPr marL="457200" algn="l" defTabSz="914400" rtl="0" eaLnBrk="1" latinLnBrk="0" hangingPunct="1">
        <a:defRPr sz="1800" kern="1200">
          <a:solidFill>
            <a:schemeClr val="tx1"/>
          </a:solidFill>
          <a:latin typeface="+mn-lt"/>
          <a:cs typeface="Amiri" pitchFamily="2" charset="-78"/>
        </a:defRPr>
      </a:lvl2pPr>
      <a:lvl3pPr marL="914400" algn="l" defTabSz="914400" rtl="0" eaLnBrk="1" latinLnBrk="0" hangingPunct="1">
        <a:defRPr sz="1800" kern="1200">
          <a:solidFill>
            <a:schemeClr val="tx1"/>
          </a:solidFill>
          <a:latin typeface="+mn-lt"/>
          <a:cs typeface="Amiri" pitchFamily="2" charset="-78"/>
        </a:defRPr>
      </a:lvl3pPr>
      <a:lvl4pPr marL="1371600" algn="l" defTabSz="914400" rtl="0" eaLnBrk="1" latinLnBrk="0" hangingPunct="1">
        <a:defRPr sz="1800" kern="1200">
          <a:solidFill>
            <a:schemeClr val="tx1"/>
          </a:solidFill>
          <a:latin typeface="+mn-lt"/>
          <a:cs typeface="Amiri" pitchFamily="2" charset="-78"/>
        </a:defRPr>
      </a:lvl4pPr>
      <a:lvl5pPr marL="1828800" algn="l" defTabSz="914400" rtl="0" eaLnBrk="1" latinLnBrk="0" hangingPunct="1">
        <a:defRPr sz="1800" kern="1200">
          <a:solidFill>
            <a:schemeClr val="tx1"/>
          </a:solidFill>
          <a:latin typeface="+mn-lt"/>
          <a:cs typeface="Amiri" pitchFamily="2" charset="-78"/>
        </a:defRPr>
      </a:lvl5pPr>
      <a:lvl6pPr marL="2286000" algn="l" defTabSz="914400" rtl="0" eaLnBrk="1" latinLnBrk="0" hangingPunct="1">
        <a:defRPr sz="1800" kern="1200">
          <a:solidFill>
            <a:schemeClr val="tx1"/>
          </a:solidFill>
          <a:latin typeface="+mn-lt"/>
          <a:cs typeface="Amiri" pitchFamily="2" charset="-78"/>
        </a:defRPr>
      </a:lvl6pPr>
      <a:lvl7pPr marL="2743200" algn="l" defTabSz="914400" rtl="0" eaLnBrk="1" latinLnBrk="0" hangingPunct="1">
        <a:defRPr sz="1800" kern="1200">
          <a:solidFill>
            <a:schemeClr val="tx1"/>
          </a:solidFill>
          <a:latin typeface="+mn-lt"/>
          <a:cs typeface="Amiri" pitchFamily="2" charset="-78"/>
        </a:defRPr>
      </a:lvl7pPr>
      <a:lvl8pPr marL="3200400" algn="l" defTabSz="914400" rtl="0" eaLnBrk="1" latinLnBrk="0" hangingPunct="1">
        <a:defRPr sz="1800" kern="1200">
          <a:solidFill>
            <a:schemeClr val="tx1"/>
          </a:solidFill>
          <a:latin typeface="+mn-lt"/>
          <a:cs typeface="Amiri" pitchFamily="2" charset="-78"/>
        </a:defRPr>
      </a:lvl8pPr>
      <a:lvl9pPr marL="3657600" algn="l" defTabSz="914400" rtl="0" eaLnBrk="1" latinLnBrk="0" hangingPunct="1">
        <a:defRPr sz="1800" kern="1200">
          <a:solidFill>
            <a:schemeClr val="tx1"/>
          </a:solidFill>
          <a:latin typeface="+mn-lt"/>
          <a:cs typeface="Amiri" pitchFamily="2" charset="-78"/>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image" Target="../media/image-20-2.png"/><Relationship Id="rId3" Type="http://schemas.openxmlformats.org/officeDocument/2006/relationships/image" Target="../media/image-20-3.png"/><Relationship Id="rId4" Type="http://schemas.openxmlformats.org/officeDocument/2006/relationships/image" Target="../media/image-20-4.png"/><Relationship Id="rId5" Type="http://schemas.openxmlformats.org/officeDocument/2006/relationships/image" Target="../media/image-20-5.png"/><Relationship Id="rId6" Type="http://schemas.openxmlformats.org/officeDocument/2006/relationships/image" Target="../media/image-20-6.png"/><Relationship Id="rId7" Type="http://schemas.openxmlformats.org/officeDocument/2006/relationships/slideLayout" Target="../slideLayouts/slideLayout1.xml"/><Relationship Id="rId8"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image" Target="../media/image-21-2.png"/><Relationship Id="rId3" Type="http://schemas.openxmlformats.org/officeDocument/2006/relationships/image" Target="../media/image-21-3.png"/><Relationship Id="rId4" Type="http://schemas.openxmlformats.org/officeDocument/2006/relationships/image" Target="../media/image-21-4.png"/><Relationship Id="rId5" Type="http://schemas.openxmlformats.org/officeDocument/2006/relationships/image" Target="../media/image-21-5.png"/><Relationship Id="rId6" Type="http://schemas.openxmlformats.org/officeDocument/2006/relationships/image" Target="../media/image-21-6.png"/><Relationship Id="rId7" Type="http://schemas.openxmlformats.org/officeDocument/2006/relationships/slideLayout" Target="../slideLayouts/slideLayout1.xml"/><Relationship Id="rId8"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slideLayout" Target="../slideLayouts/slideLayout1.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slideLayout" Target="../slideLayouts/slideLayout1.xml"/><Relationship Id="rId3" Type="http://schemas.openxmlformats.org/officeDocument/2006/relationships/notesSlide" Target="../notesSlides/notesSlide4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463040"/>
            <a:ext cx="5852160" cy="5852160"/>
          </a:xfrm>
          <a:prstGeom prst="ellipse">
            <a:avLst/>
          </a:prstGeom>
          <a:solidFill>
            <a:srgbClr val="14315C"/>
          </a:solidFill>
          <a:ln w="12700">
            <a:solidFill>
              <a:srgbClr val="14315C"/>
            </a:solidFill>
            <a:prstDash val="solid"/>
          </a:ln>
        </p:spPr>
      </p:sp>
      <p:sp>
        <p:nvSpPr>
          <p:cNvPr id="3" name="Shape 1"/>
          <p:cNvSpPr/>
          <p:nvPr/>
        </p:nvSpPr>
        <p:spPr>
          <a:xfrm>
            <a:off x="8778240" y="-548640"/>
            <a:ext cx="4023360" cy="4023360"/>
          </a:xfrm>
          <a:prstGeom prst="ellipse">
            <a:avLst/>
          </a:prstGeom>
          <a:solidFill>
            <a:srgbClr val="1B3B6F"/>
          </a:solidFill>
          <a:ln w="12700">
            <a:solidFill>
              <a:srgbClr val="1B3B6F"/>
            </a:solidFill>
            <a:prstDash val="solid"/>
          </a:ln>
        </p:spPr>
      </p:sp>
      <p:pic>
        <p:nvPicPr>
          <p:cNvPr id="4" name="Image 0" descr="preencoded.png">    </p:cNvPr>
          <p:cNvPicPr>
            <a:picLocks noChangeAspect="1"/>
          </p:cNvPicPr>
          <p:nvPr/>
        </p:nvPicPr>
        <p:blipFill>
          <a:blip r:embed="rId1"/>
          <a:stretch>
            <a:fillRect/>
          </a:stretch>
        </p:blipFill>
        <p:spPr>
          <a:xfrm>
            <a:off x="10012680" y="685800"/>
            <a:ext cx="1554480" cy="1554480"/>
          </a:xfrm>
          <a:prstGeom prst="rect">
            <a:avLst/>
          </a:prstGeom>
        </p:spPr>
      </p:pic>
      <p:sp>
        <p:nvSpPr>
          <p:cNvPr id="5" name="Shape 2"/>
          <p:cNvSpPr/>
          <p:nvPr/>
        </p:nvSpPr>
        <p:spPr>
          <a:xfrm>
            <a:off x="457200" y="411480"/>
            <a:ext cx="502920" cy="502920"/>
          </a:xfrm>
          <a:prstGeom prst="ellipse">
            <a:avLst/>
          </a:prstGeom>
          <a:solidFill>
            <a:srgbClr val="1B3B6F"/>
          </a:solidFill>
          <a:ln w="15875">
            <a:solidFill>
              <a:srgbClr val="D4AF37"/>
            </a:solidFill>
            <a:prstDash val="solid"/>
          </a:ln>
        </p:spPr>
      </p:sp>
      <p:sp>
        <p:nvSpPr>
          <p:cNvPr id="6" name="Text 3"/>
          <p:cNvSpPr txBox="1"/>
          <p:nvPr/>
        </p:nvSpPr>
        <p:spPr>
          <a:xfrm>
            <a:off x="457200" y="393192"/>
            <a:ext cx="502920" cy="502920"/>
          </a:xfrm>
          <a:prstGeom prst="rect">
            <a:avLst/>
          </a:prstGeom>
          <a:noFill/>
          <a:ln/>
        </p:spPr>
        <p:txBody>
          <a:bodyPr wrap="square" lIns="0" tIns="0" rIns="0" bIns="0" rtlCol="0" anchor="ctr"/>
          <a:lstStyle/>
          <a:p>
            <a:pPr rtl="1" algn="ctr" indent="0" marL="0">
              <a:buNone/>
            </a:pPr>
            <a:r>
              <a:rPr lang="ar-SA" altLang="en-US" sz="2200" b="1" dirty="0">
                <a:solidFill>
                  <a:srgbClr val="D4AF37"/>
                </a:solidFill>
                <a:latin typeface="Amiri" pitchFamily="2" charset="-78"/>
                <a:ea typeface="Amiri" pitchFamily="2" charset="-78"/>
                <a:cs typeface="Amiri" pitchFamily="2" charset="-78"/>
              </a:rPr>
              <a:t>م</a:t>
            </a:r>
            <a:endParaRPr lang="ar-SA" sz="2200" dirty="0"/>
          </a:p>
        </p:txBody>
      </p:sp>
      <p:sp>
        <p:nvSpPr>
          <p:cNvPr id="7" name="Text 4"/>
          <p:cNvSpPr txBox="1"/>
          <p:nvPr/>
        </p:nvSpPr>
        <p:spPr>
          <a:xfrm>
            <a:off x="1078992" y="384048"/>
            <a:ext cx="5486400" cy="566928"/>
          </a:xfrm>
          <a:prstGeom prst="rect">
            <a:avLst/>
          </a:prstGeom>
          <a:noFill/>
          <a:ln/>
        </p:spPr>
        <p:txBody>
          <a:bodyPr wrap="square" lIns="0" tIns="0" rIns="0" bIns="0" rtlCol="0" anchor="ctr"/>
          <a:lstStyle/>
          <a:p>
            <a:pPr indent="0" marL="0">
              <a:buNone/>
            </a:pPr>
            <a:r>
              <a:rPr lang="en-US" sz="1400" b="1" dirty="0">
                <a:solidFill>
                  <a:srgbClr val="FFFFFF"/>
                </a:solidFill>
                <a:latin typeface="Cambria" pitchFamily="34" charset="0"/>
                <a:cs typeface="Amiri" pitchFamily="2" charset="-78"/>
              </a:rPr>
              <a:t>Al Madina Online School</a:t>
            </a:r>
            <a:endParaRPr lang="en-US" sz="1400" dirty="0"/>
          </a:p>
          <a:p>
            <a:pPr indent="0" marL="0">
              <a:buNone/>
            </a:pPr>
            <a:r>
              <a:rPr lang="en-US" sz="800" b="1" spc="200" kern="0" dirty="0">
                <a:solidFill>
                  <a:srgbClr val="D4AF37"/>
                </a:solidFill>
                <a:latin typeface="Calibri" pitchFamily="34" charset="0"/>
                <a:cs typeface="Amiri" pitchFamily="2" charset="-78"/>
              </a:rPr>
              <a:t>ARABIC DEPARTMENT · MIFTAH ARABIC</a:t>
            </a:r>
            <a:endParaRPr lang="en-US" sz="1400" dirty="0"/>
          </a:p>
        </p:txBody>
      </p:sp>
      <p:sp>
        <p:nvSpPr>
          <p:cNvPr id="8" name="Text 5"/>
          <p:cNvSpPr txBox="1"/>
          <p:nvPr/>
        </p:nvSpPr>
        <p:spPr>
          <a:xfrm>
            <a:off x="457200" y="1600200"/>
            <a:ext cx="8686800" cy="274320"/>
          </a:xfrm>
          <a:prstGeom prst="rect">
            <a:avLst/>
          </a:prstGeom>
          <a:noFill/>
          <a:ln/>
        </p:spPr>
        <p:txBody>
          <a:bodyPr wrap="square" lIns="0" tIns="0" rIns="0" bIns="0" rtlCol="0" anchor="ctr"/>
          <a:lstStyle/>
          <a:p>
            <a:pPr algn="l" indent="0" marL="0">
              <a:buNone/>
            </a:pPr>
            <a:r>
              <a:rPr lang="en-US" sz="1100" b="1" spc="200" kern="0" dirty="0">
                <a:solidFill>
                  <a:srgbClr val="D4AF37"/>
                </a:solidFill>
                <a:latin typeface="Calibri" pitchFamily="34" charset="0"/>
                <a:cs typeface="Amiri" pitchFamily="2" charset="-78"/>
              </a:rPr>
              <a:t>CAMBRIDGE IGCSE ARABIC 0544  ·  YEAR 7  ·  FOUNDATION F5  ·  F5-L05</a:t>
            </a:r>
            <a:endParaRPr lang="en-US" sz="1100" dirty="0"/>
          </a:p>
        </p:txBody>
      </p:sp>
      <p:sp>
        <p:nvSpPr>
          <p:cNvPr id="9" name="Text 6"/>
          <p:cNvSpPr txBox="1"/>
          <p:nvPr/>
        </p:nvSpPr>
        <p:spPr>
          <a:xfrm>
            <a:off x="457200" y="1965960"/>
            <a:ext cx="7315200" cy="548640"/>
          </a:xfrm>
          <a:prstGeom prst="rect">
            <a:avLst/>
          </a:prstGeom>
          <a:noFill/>
          <a:ln/>
        </p:spPr>
        <p:txBody>
          <a:bodyPr wrap="square" lIns="0" tIns="0" rIns="0" bIns="0" rtlCol="0" anchor="ctr"/>
          <a:lstStyle/>
          <a:p>
            <a:pPr algn="l" indent="0" marL="0">
              <a:buNone/>
            </a:pPr>
            <a:r>
              <a:rPr lang="en-US" sz="2600" b="1" dirty="0">
                <a:solidFill>
                  <a:srgbClr val="9FB3D1"/>
                </a:solidFill>
                <a:latin typeface="Cambria" pitchFamily="34" charset="0"/>
                <a:cs typeface="Amiri" pitchFamily="2" charset="-78"/>
              </a:rPr>
              <a:t>F5-L05</a:t>
            </a:r>
            <a:endParaRPr lang="en-US" sz="2600" dirty="0"/>
          </a:p>
        </p:txBody>
      </p:sp>
      <p:sp>
        <p:nvSpPr>
          <p:cNvPr id="10" name="Text 7"/>
          <p:cNvSpPr txBox="1"/>
          <p:nvPr/>
        </p:nvSpPr>
        <p:spPr>
          <a:xfrm>
            <a:off x="457200" y="2487168"/>
            <a:ext cx="8046720" cy="868680"/>
          </a:xfrm>
          <a:prstGeom prst="rect">
            <a:avLst/>
          </a:prstGeom>
          <a:noFill/>
          <a:ln/>
        </p:spPr>
        <p:txBody>
          <a:bodyPr wrap="square" lIns="0" tIns="0" rIns="0" bIns="0" rtlCol="0" anchor="ctr"/>
          <a:lstStyle/>
          <a:p>
            <a:pPr algn="l" indent="0" marL="0">
              <a:buNone/>
            </a:pPr>
            <a:r>
              <a:rPr lang="en-US" sz="4000" b="1" dirty="0">
                <a:solidFill>
                  <a:srgbClr val="FFFFFF"/>
                </a:solidFill>
                <a:latin typeface="Cambria" pitchFamily="34" charset="0"/>
                <a:cs typeface="Amiri" pitchFamily="2" charset="-78"/>
              </a:rPr>
              <a:t>Ordering Food Politely</a:t>
            </a:r>
            <a:endParaRPr lang="en-US" sz="4000" dirty="0"/>
          </a:p>
        </p:txBody>
      </p:sp>
      <p:sp>
        <p:nvSpPr>
          <p:cNvPr id="11" name="Text 8"/>
          <p:cNvSpPr txBox="1"/>
          <p:nvPr/>
        </p:nvSpPr>
        <p:spPr>
          <a:xfrm>
            <a:off x="457200" y="3310128"/>
            <a:ext cx="8046720" cy="868680"/>
          </a:xfrm>
          <a:prstGeom prst="rect">
            <a:avLst/>
          </a:prstGeom>
          <a:noFill/>
          <a:ln/>
        </p:spPr>
        <p:txBody>
          <a:bodyPr wrap="square" lIns="0" tIns="0" rIns="0" bIns="0" rtlCol="0" anchor="ctr"/>
          <a:lstStyle/>
          <a:p>
            <a:pPr rtl="1" algn="l" indent="0" marL="0">
              <a:buNone/>
            </a:pPr>
            <a:r>
              <a:rPr lang="ar-SA" altLang="en-US" sz="3600" b="1" dirty="0">
                <a:solidFill>
                  <a:srgbClr val="D4AF37"/>
                </a:solidFill>
                <a:latin typeface="Amiri" pitchFamily="2" charset="-78"/>
                <a:ea typeface="Amiri" pitchFamily="2" charset="-78"/>
                <a:cs typeface="Amiri" pitchFamily="2" charset="-78"/>
              </a:rPr>
              <a:t>طَلَبُ الطَّعَامِ بِأَدَبٍ</a:t>
            </a:r>
            <a:endParaRPr lang="ar-SA" sz="3600" dirty="0"/>
          </a:p>
        </p:txBody>
      </p:sp>
      <p:sp>
        <p:nvSpPr>
          <p:cNvPr id="12" name="Text 9"/>
          <p:cNvSpPr txBox="1"/>
          <p:nvPr/>
        </p:nvSpPr>
        <p:spPr>
          <a:xfrm>
            <a:off x="457200" y="4224528"/>
            <a:ext cx="7863840" cy="731520"/>
          </a:xfrm>
          <a:prstGeom prst="rect">
            <a:avLst/>
          </a:prstGeom>
          <a:noFill/>
          <a:ln/>
        </p:spPr>
        <p:txBody>
          <a:bodyPr wrap="square" lIns="0" tIns="0" rIns="0" bIns="0" rtlCol="0" anchor="t"/>
          <a:lstStyle/>
          <a:p>
            <a:pPr algn="l" indent="0" marL="0">
              <a:buNone/>
            </a:pPr>
            <a:r>
              <a:rPr lang="en-US" sz="1400" dirty="0">
                <a:solidFill>
                  <a:srgbClr val="C6D2E6"/>
                </a:solidFill>
                <a:latin typeface="Calibri" pitchFamily="34" charset="0"/>
                <a:cs typeface="Amiri" pitchFamily="2" charset="-78"/>
              </a:rPr>
              <a:t>Complete a café transaction: greet, order with </a:t>
            </a:r>
            <a:pPr algn="l" indent="0" marL="0">
              <a:buNone/>
            </a:pPr>
            <a:r>
              <a:rPr lang="ar-SA" altLang="en-US" sz="1800" dirty="0">
                <a:solidFill>
                  <a:srgbClr val="C6D2E6"/>
                </a:solidFill>
                <a:latin typeface="Amiri" pitchFamily="2" charset="-78"/>
                <a:ea typeface="Amiri" pitchFamily="2" charset="-78"/>
                <a:cs typeface="Amiri" pitchFamily="2" charset="-78"/>
              </a:rPr>
              <a:t>أُرِيدُ … مِنْ فَضْلِكَ</a:t>
            </a:r>
            <a:pPr algn="l" indent="0" marL="0">
              <a:buNone/>
            </a:pPr>
            <a:r>
              <a:rPr lang="en-US" sz="1400" dirty="0">
                <a:solidFill>
                  <a:srgbClr val="C6D2E6"/>
                </a:solidFill>
                <a:latin typeface="Calibri" pitchFamily="34" charset="0"/>
                <a:cs typeface="Amiri" pitchFamily="2" charset="-78"/>
              </a:rPr>
              <a:t>, ask </a:t>
            </a:r>
            <a:pPr algn="l" indent="0" marL="0">
              <a:buNone/>
            </a:pPr>
            <a:r>
              <a:rPr lang="ar-SA" altLang="en-US" sz="1800" dirty="0">
                <a:solidFill>
                  <a:srgbClr val="C6D2E6"/>
                </a:solidFill>
                <a:latin typeface="Amiri" pitchFamily="2" charset="-78"/>
                <a:ea typeface="Amiri" pitchFamily="2" charset="-78"/>
                <a:cs typeface="Amiri" pitchFamily="2" charset="-78"/>
              </a:rPr>
              <a:t>هَلْ عِنْدَكُمْ …؟</a:t>
            </a:r>
            <a:pPr algn="l" indent="0" marL="0">
              <a:buNone/>
            </a:pPr>
            <a:r>
              <a:rPr lang="en-US" sz="1400" dirty="0">
                <a:solidFill>
                  <a:srgbClr val="C6D2E6"/>
                </a:solidFill>
                <a:latin typeface="Calibri" pitchFamily="34" charset="0"/>
                <a:cs typeface="Amiri" pitchFamily="2" charset="-78"/>
              </a:rPr>
              <a:t> and </a:t>
            </a:r>
            <a:pPr algn="l" indent="0" marL="0">
              <a:buNone/>
            </a:pPr>
            <a:r>
              <a:rPr lang="ar-SA" altLang="en-US" sz="1800" dirty="0">
                <a:solidFill>
                  <a:srgbClr val="C6D2E6"/>
                </a:solidFill>
                <a:latin typeface="Amiri" pitchFamily="2" charset="-78"/>
                <a:ea typeface="Amiri" pitchFamily="2" charset="-78"/>
                <a:cs typeface="Amiri" pitchFamily="2" charset="-78"/>
              </a:rPr>
              <a:t>كَمْ سِعْرُ …؟</a:t>
            </a:r>
            <a:pPr algn="l" indent="0" marL="0">
              <a:buNone/>
            </a:pPr>
            <a:r>
              <a:rPr lang="en-US" sz="1400" dirty="0">
                <a:solidFill>
                  <a:srgbClr val="C6D2E6"/>
                </a:solidFill>
                <a:latin typeface="Calibri" pitchFamily="34" charset="0"/>
                <a:cs typeface="Amiri" pitchFamily="2" charset="-78"/>
              </a:rPr>
              <a:t>, answer the waiter and ask for the bill.</a:t>
            </a:r>
            <a:endParaRPr lang="en-US" sz="1400" dirty="0"/>
          </a:p>
        </p:txBody>
      </p:sp>
      <p:sp>
        <p:nvSpPr>
          <p:cNvPr id="13" name="Shape 10"/>
          <p:cNvSpPr/>
          <p:nvPr/>
        </p:nvSpPr>
        <p:spPr>
          <a:xfrm>
            <a:off x="457200" y="5166360"/>
            <a:ext cx="2651760" cy="868680"/>
          </a:xfrm>
          <a:prstGeom prst="roundRect">
            <a:avLst>
              <a:gd name="adj" fmla="val 8421"/>
            </a:avLst>
          </a:prstGeom>
          <a:solidFill>
            <a:srgbClr val="16335F"/>
          </a:solidFill>
          <a:ln w="12700">
            <a:solidFill>
              <a:srgbClr val="2A4B7C"/>
            </a:solidFill>
            <a:prstDash val="solid"/>
          </a:ln>
        </p:spPr>
      </p:sp>
      <p:sp>
        <p:nvSpPr>
          <p:cNvPr id="14" name="Text 11"/>
          <p:cNvSpPr txBox="1"/>
          <p:nvPr/>
        </p:nvSpPr>
        <p:spPr>
          <a:xfrm>
            <a:off x="621792"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LESSON</a:t>
            </a:r>
            <a:endParaRPr lang="en-US" sz="850" dirty="0"/>
          </a:p>
          <a:p>
            <a:pPr indent="0" marL="0">
              <a:buNone/>
            </a:pPr>
            <a:r>
              <a:rPr lang="en-US" sz="1200" b="1" dirty="0">
                <a:solidFill>
                  <a:srgbClr val="FFFFFF"/>
                </a:solidFill>
                <a:latin typeface="Calibri" pitchFamily="34" charset="0"/>
                <a:cs typeface="Amiri" pitchFamily="2" charset="-78"/>
              </a:rPr>
              <a:t>F5-L05 · Foundation F5 · Food, Health and Body</a:t>
            </a:r>
            <a:endParaRPr lang="en-US" sz="850" dirty="0"/>
          </a:p>
        </p:txBody>
      </p:sp>
      <p:sp>
        <p:nvSpPr>
          <p:cNvPr id="15" name="Shape 12"/>
          <p:cNvSpPr/>
          <p:nvPr/>
        </p:nvSpPr>
        <p:spPr>
          <a:xfrm>
            <a:off x="3273552" y="5166360"/>
            <a:ext cx="2651760" cy="868680"/>
          </a:xfrm>
          <a:prstGeom prst="roundRect">
            <a:avLst>
              <a:gd name="adj" fmla="val 8421"/>
            </a:avLst>
          </a:prstGeom>
          <a:solidFill>
            <a:srgbClr val="16335F"/>
          </a:solidFill>
          <a:ln w="12700">
            <a:solidFill>
              <a:srgbClr val="2A4B7C"/>
            </a:solidFill>
            <a:prstDash val="solid"/>
          </a:ln>
        </p:spPr>
      </p:sp>
      <p:sp>
        <p:nvSpPr>
          <p:cNvPr id="16" name="Text 13"/>
          <p:cNvSpPr txBox="1"/>
          <p:nvPr/>
        </p:nvSpPr>
        <p:spPr>
          <a:xfrm>
            <a:off x="3438144"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DURATION</a:t>
            </a:r>
            <a:endParaRPr lang="en-US" sz="850" dirty="0"/>
          </a:p>
          <a:p>
            <a:pPr indent="0" marL="0">
              <a:buNone/>
            </a:pPr>
            <a:r>
              <a:rPr lang="en-US" sz="1200" b="1" dirty="0">
                <a:solidFill>
                  <a:srgbClr val="FFFFFF"/>
                </a:solidFill>
                <a:latin typeface="Calibri" pitchFamily="34" charset="0"/>
                <a:cs typeface="Amiri" pitchFamily="2" charset="-78"/>
              </a:rPr>
              <a:t>60 minutes · Teams</a:t>
            </a:r>
            <a:endParaRPr lang="en-US" sz="850" dirty="0"/>
          </a:p>
        </p:txBody>
      </p:sp>
      <p:sp>
        <p:nvSpPr>
          <p:cNvPr id="17" name="Shape 14"/>
          <p:cNvSpPr/>
          <p:nvPr/>
        </p:nvSpPr>
        <p:spPr>
          <a:xfrm>
            <a:off x="6089904" y="5166360"/>
            <a:ext cx="2651760" cy="868680"/>
          </a:xfrm>
          <a:prstGeom prst="roundRect">
            <a:avLst>
              <a:gd name="adj" fmla="val 8421"/>
            </a:avLst>
          </a:prstGeom>
          <a:solidFill>
            <a:srgbClr val="16335F"/>
          </a:solidFill>
          <a:ln w="12700">
            <a:solidFill>
              <a:srgbClr val="2A4B7C"/>
            </a:solidFill>
            <a:prstDash val="solid"/>
          </a:ln>
        </p:spPr>
      </p:sp>
      <p:sp>
        <p:nvSpPr>
          <p:cNvPr id="18" name="Text 15"/>
          <p:cNvSpPr txBox="1"/>
          <p:nvPr/>
        </p:nvSpPr>
        <p:spPr>
          <a:xfrm>
            <a:off x="6254496"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LEVEL</a:t>
            </a:r>
            <a:endParaRPr lang="en-US" sz="850" dirty="0"/>
          </a:p>
          <a:p>
            <a:pPr indent="0" marL="0">
              <a:buNone/>
            </a:pPr>
            <a:r>
              <a:rPr lang="en-US" sz="1200" b="1" dirty="0">
                <a:solidFill>
                  <a:srgbClr val="FFFFFF"/>
                </a:solidFill>
                <a:latin typeface="Calibri" pitchFamily="34" charset="0"/>
                <a:cs typeface="Amiri" pitchFamily="2" charset="-78"/>
              </a:rPr>
              <a:t>Foundation · A1</a:t>
            </a:r>
            <a:endParaRPr lang="en-US" sz="850" dirty="0"/>
          </a:p>
        </p:txBody>
      </p:sp>
      <p:sp>
        <p:nvSpPr>
          <p:cNvPr id="19" name="Shape 16"/>
          <p:cNvSpPr/>
          <p:nvPr/>
        </p:nvSpPr>
        <p:spPr>
          <a:xfrm>
            <a:off x="8906256" y="5166360"/>
            <a:ext cx="2651760" cy="868680"/>
          </a:xfrm>
          <a:prstGeom prst="roundRect">
            <a:avLst>
              <a:gd name="adj" fmla="val 8421"/>
            </a:avLst>
          </a:prstGeom>
          <a:solidFill>
            <a:srgbClr val="16335F"/>
          </a:solidFill>
          <a:ln w="12700">
            <a:solidFill>
              <a:srgbClr val="2A4B7C"/>
            </a:solidFill>
            <a:prstDash val="solid"/>
          </a:ln>
        </p:spPr>
      </p:sp>
      <p:sp>
        <p:nvSpPr>
          <p:cNvPr id="20" name="Text 17"/>
          <p:cNvSpPr txBox="1"/>
          <p:nvPr/>
        </p:nvSpPr>
        <p:spPr>
          <a:xfrm>
            <a:off x="9070848"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ON THE WEBSITE</a:t>
            </a:r>
            <a:endParaRPr lang="en-US" sz="850" dirty="0"/>
          </a:p>
          <a:p>
            <a:pPr indent="0" marL="0">
              <a:buNone/>
            </a:pPr>
            <a:r>
              <a:rPr lang="en-US" sz="1200" b="1" dirty="0">
                <a:solidFill>
                  <a:srgbClr val="FFFFFF"/>
                </a:solidFill>
                <a:latin typeface="Calibri" pitchFamily="34" charset="0"/>
                <a:cs typeface="Amiri" pitchFamily="2" charset="-78"/>
              </a:rPr>
              <a:t>Pathways › Foundation › F5 › F5-L05</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F5-L05 · Ordering Politely</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BEFORE WE BEGIN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online classroom</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آدَابُ الصَّفِّ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F5 · Food, Health and Body · F5-L05</a:t>
            </a:r>
            <a:endParaRPr lang="en-US" sz="850" dirty="0"/>
          </a:p>
        </p:txBody>
      </p:sp>
      <p:sp>
        <p:nvSpPr>
          <p:cNvPr id="15" name="Shape 12"/>
          <p:cNvSpPr/>
          <p:nvPr/>
        </p:nvSpPr>
        <p:spPr>
          <a:xfrm>
            <a:off x="457200" y="1828800"/>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2002536"/>
            <a:ext cx="585216" cy="585216"/>
          </a:xfrm>
          <a:prstGeom prst="ellipse">
            <a:avLst/>
          </a:prstGeom>
          <a:solidFill>
            <a:srgbClr val="EEF3FA"/>
          </a:solidFill>
          <a:ln w="12700">
            <a:solidFill>
              <a:srgbClr val="EEF3FA"/>
            </a:solidFill>
            <a:prstDash val="solid"/>
          </a:ln>
        </p:spPr>
      </p:sp>
      <p:pic>
        <p:nvPicPr>
          <p:cNvPr id="17" name="Image 0" descr="preencoded.png">    </p:cNvPr>
          <p:cNvPicPr>
            <a:picLocks noChangeAspect="1"/>
          </p:cNvPicPr>
          <p:nvPr/>
        </p:nvPicPr>
        <p:blipFill>
          <a:blip r:embed="rId1"/>
          <a:stretch>
            <a:fillRect/>
          </a:stretch>
        </p:blipFill>
        <p:spPr>
          <a:xfrm>
            <a:off x="777240" y="2139696"/>
            <a:ext cx="310896" cy="310896"/>
          </a:xfrm>
          <a:prstGeom prst="rect">
            <a:avLst/>
          </a:prstGeom>
        </p:spPr>
      </p:pic>
      <p:sp>
        <p:nvSpPr>
          <p:cNvPr id="18" name="Text 14"/>
          <p:cNvSpPr txBox="1"/>
          <p:nvPr/>
        </p:nvSpPr>
        <p:spPr>
          <a:xfrm>
            <a:off x="1371600" y="1901952"/>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Camera on</a:t>
            </a:r>
            <a:endParaRPr lang="en-US" sz="1500" dirty="0"/>
          </a:p>
          <a:p>
            <a:pPr indent="0" marL="0">
              <a:buNone/>
            </a:pPr>
            <a:r>
              <a:rPr lang="en-US" sz="1150" dirty="0">
                <a:solidFill>
                  <a:srgbClr val="5A6472"/>
                </a:solidFill>
                <a:latin typeface="Calibri" pitchFamily="34" charset="0"/>
                <a:cs typeface="Amiri" pitchFamily="2" charset="-78"/>
              </a:rPr>
              <a:t>So I can see you learning and help you quickly.</a:t>
            </a:r>
            <a:endParaRPr lang="en-US" sz="1500" dirty="0"/>
          </a:p>
        </p:txBody>
      </p:sp>
      <p:sp>
        <p:nvSpPr>
          <p:cNvPr id="19" name="Shape 15"/>
          <p:cNvSpPr/>
          <p:nvPr/>
        </p:nvSpPr>
        <p:spPr>
          <a:xfrm>
            <a:off x="457200" y="2907792"/>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0" name="Shape 16"/>
          <p:cNvSpPr/>
          <p:nvPr/>
        </p:nvSpPr>
        <p:spPr>
          <a:xfrm>
            <a:off x="640080" y="3081528"/>
            <a:ext cx="585216" cy="585216"/>
          </a:xfrm>
          <a:prstGeom prst="ellipse">
            <a:avLst/>
          </a:prstGeom>
          <a:solidFill>
            <a:srgbClr val="EEF3FA"/>
          </a:solidFill>
          <a:ln w="12700">
            <a:solidFill>
              <a:srgbClr val="EEF3FA"/>
            </a:solidFill>
            <a:prstDash val="solid"/>
          </a:ln>
        </p:spPr>
      </p:sp>
      <p:pic>
        <p:nvPicPr>
          <p:cNvPr id="21" name="Image 1" descr="preencoded.png">    </p:cNvPr>
          <p:cNvPicPr>
            <a:picLocks noChangeAspect="1"/>
          </p:cNvPicPr>
          <p:nvPr/>
        </p:nvPicPr>
        <p:blipFill>
          <a:blip r:embed="rId2"/>
          <a:stretch>
            <a:fillRect/>
          </a:stretch>
        </p:blipFill>
        <p:spPr>
          <a:xfrm>
            <a:off x="777240" y="3218688"/>
            <a:ext cx="310896" cy="310896"/>
          </a:xfrm>
          <a:prstGeom prst="rect">
            <a:avLst/>
          </a:prstGeom>
        </p:spPr>
      </p:pic>
      <p:sp>
        <p:nvSpPr>
          <p:cNvPr id="22" name="Text 17"/>
          <p:cNvSpPr txBox="1"/>
          <p:nvPr/>
        </p:nvSpPr>
        <p:spPr>
          <a:xfrm>
            <a:off x="1371600" y="2980944"/>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Mic muted</a:t>
            </a:r>
            <a:endParaRPr lang="en-US" sz="1500" dirty="0"/>
          </a:p>
          <a:p>
            <a:pPr indent="0" marL="0">
              <a:buNone/>
            </a:pPr>
            <a:r>
              <a:rPr lang="en-US" sz="1150" dirty="0">
                <a:solidFill>
                  <a:srgbClr val="5A6472"/>
                </a:solidFill>
                <a:latin typeface="Calibri" pitchFamily="34" charset="0"/>
                <a:cs typeface="Amiri" pitchFamily="2" charset="-78"/>
              </a:rPr>
              <a:t>Unmute only when invited to speak.</a:t>
            </a:r>
            <a:endParaRPr lang="en-US" sz="1500" dirty="0"/>
          </a:p>
        </p:txBody>
      </p:sp>
      <p:sp>
        <p:nvSpPr>
          <p:cNvPr id="23" name="Shape 18"/>
          <p:cNvSpPr/>
          <p:nvPr/>
        </p:nvSpPr>
        <p:spPr>
          <a:xfrm>
            <a:off x="457200" y="3986784"/>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19"/>
          <p:cNvSpPr/>
          <p:nvPr/>
        </p:nvSpPr>
        <p:spPr>
          <a:xfrm>
            <a:off x="640080" y="4160520"/>
            <a:ext cx="585216" cy="585216"/>
          </a:xfrm>
          <a:prstGeom prst="ellipse">
            <a:avLst/>
          </a:prstGeom>
          <a:solidFill>
            <a:srgbClr val="EEF3FA"/>
          </a:solidFill>
          <a:ln w="12700">
            <a:solidFill>
              <a:srgbClr val="EEF3FA"/>
            </a:solidFill>
            <a:prstDash val="solid"/>
          </a:ln>
        </p:spPr>
      </p:sp>
      <p:pic>
        <p:nvPicPr>
          <p:cNvPr id="25" name="Image 2" descr="preencoded.png">    </p:cNvPr>
          <p:cNvPicPr>
            <a:picLocks noChangeAspect="1"/>
          </p:cNvPicPr>
          <p:nvPr/>
        </p:nvPicPr>
        <p:blipFill>
          <a:blip r:embed="rId3"/>
          <a:stretch>
            <a:fillRect/>
          </a:stretch>
        </p:blipFill>
        <p:spPr>
          <a:xfrm>
            <a:off x="777240" y="4297680"/>
            <a:ext cx="310896" cy="310896"/>
          </a:xfrm>
          <a:prstGeom prst="rect">
            <a:avLst/>
          </a:prstGeom>
        </p:spPr>
      </p:pic>
      <p:sp>
        <p:nvSpPr>
          <p:cNvPr id="26" name="Text 20"/>
          <p:cNvSpPr txBox="1"/>
          <p:nvPr/>
        </p:nvSpPr>
        <p:spPr>
          <a:xfrm>
            <a:off x="1371600" y="4059936"/>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Chat for learning</a:t>
            </a:r>
            <a:endParaRPr lang="en-US" sz="1500" dirty="0"/>
          </a:p>
          <a:p>
            <a:pPr indent="0" marL="0">
              <a:buNone/>
            </a:pPr>
            <a:r>
              <a:rPr lang="en-US" sz="1150" dirty="0">
                <a:solidFill>
                  <a:srgbClr val="5A6472"/>
                </a:solidFill>
                <a:latin typeface="Calibri" pitchFamily="34" charset="0"/>
                <a:cs typeface="Amiri" pitchFamily="2" charset="-78"/>
              </a:rPr>
              <a:t>Answers, questions and Arabic only.</a:t>
            </a:r>
            <a:endParaRPr lang="en-US" sz="1500" dirty="0"/>
          </a:p>
        </p:txBody>
      </p:sp>
      <p:sp>
        <p:nvSpPr>
          <p:cNvPr id="27" name="Shape 21"/>
          <p:cNvSpPr/>
          <p:nvPr/>
        </p:nvSpPr>
        <p:spPr>
          <a:xfrm>
            <a:off x="457200" y="5065776"/>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2"/>
          <p:cNvSpPr/>
          <p:nvPr/>
        </p:nvSpPr>
        <p:spPr>
          <a:xfrm>
            <a:off x="640080" y="5239512"/>
            <a:ext cx="585216" cy="585216"/>
          </a:xfrm>
          <a:prstGeom prst="ellipse">
            <a:avLst/>
          </a:prstGeom>
          <a:solidFill>
            <a:srgbClr val="EEF3FA"/>
          </a:solidFill>
          <a:ln w="12700">
            <a:solidFill>
              <a:srgbClr val="EEF3FA"/>
            </a:solidFill>
            <a:prstDash val="solid"/>
          </a:ln>
        </p:spPr>
      </p:sp>
      <p:pic>
        <p:nvPicPr>
          <p:cNvPr id="29" name="Image 3" descr="preencoded.png">    </p:cNvPr>
          <p:cNvPicPr>
            <a:picLocks noChangeAspect="1"/>
          </p:cNvPicPr>
          <p:nvPr/>
        </p:nvPicPr>
        <p:blipFill>
          <a:blip r:embed="rId4"/>
          <a:stretch>
            <a:fillRect/>
          </a:stretch>
        </p:blipFill>
        <p:spPr>
          <a:xfrm>
            <a:off x="777240" y="5376672"/>
            <a:ext cx="310896" cy="310896"/>
          </a:xfrm>
          <a:prstGeom prst="rect">
            <a:avLst/>
          </a:prstGeom>
        </p:spPr>
      </p:pic>
      <p:sp>
        <p:nvSpPr>
          <p:cNvPr id="30" name="Text 23"/>
          <p:cNvSpPr txBox="1"/>
          <p:nvPr/>
        </p:nvSpPr>
        <p:spPr>
          <a:xfrm>
            <a:off x="1371600" y="5138928"/>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Raise your hand</a:t>
            </a:r>
            <a:endParaRPr lang="en-US" sz="1500" dirty="0"/>
          </a:p>
          <a:p>
            <a:pPr indent="0" marL="0">
              <a:buNone/>
            </a:pPr>
            <a:r>
              <a:rPr lang="en-US" sz="1150" dirty="0">
                <a:solidFill>
                  <a:srgbClr val="5A6472"/>
                </a:solidFill>
                <a:latin typeface="Calibri" pitchFamily="34" charset="0"/>
                <a:cs typeface="Amiri" pitchFamily="2" charset="-78"/>
              </a:rPr>
              <a:t>Use the hand button to ask for help.</a:t>
            </a:r>
            <a:endParaRPr lang="en-US" sz="1500" dirty="0"/>
          </a:p>
        </p:txBody>
      </p:sp>
      <p:sp>
        <p:nvSpPr>
          <p:cNvPr id="31" name="Shape 24"/>
          <p:cNvSpPr/>
          <p:nvPr/>
        </p:nvSpPr>
        <p:spPr>
          <a:xfrm>
            <a:off x="6172200" y="1828800"/>
            <a:ext cx="5559552" cy="4169664"/>
          </a:xfrm>
          <a:prstGeom prst="roundRect">
            <a:avLst>
              <a:gd name="adj" fmla="val 1754"/>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32" name="Text 25"/>
          <p:cNvSpPr txBox="1"/>
          <p:nvPr/>
        </p:nvSpPr>
        <p:spPr>
          <a:xfrm>
            <a:off x="6400800" y="1938528"/>
            <a:ext cx="5102352" cy="310896"/>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HOW WE TALK — THE ORACY CODE</a:t>
            </a:r>
            <a:endParaRPr lang="en-US" sz="1100" dirty="0"/>
          </a:p>
        </p:txBody>
      </p:sp>
      <p:sp>
        <p:nvSpPr>
          <p:cNvPr id="33" name="Shape 26"/>
          <p:cNvSpPr/>
          <p:nvPr/>
        </p:nvSpPr>
        <p:spPr>
          <a:xfrm>
            <a:off x="6400800" y="2450592"/>
            <a:ext cx="548640" cy="548640"/>
          </a:xfrm>
          <a:prstGeom prst="ellipse">
            <a:avLst/>
          </a:prstGeom>
          <a:solidFill>
            <a:srgbClr val="1B3B6F"/>
          </a:solidFill>
          <a:ln w="12700">
            <a:solidFill>
              <a:srgbClr val="1B3B6F"/>
            </a:solidFill>
            <a:prstDash val="solid"/>
          </a:ln>
        </p:spPr>
      </p:sp>
      <p:sp>
        <p:nvSpPr>
          <p:cNvPr id="34" name="Text 27"/>
          <p:cNvSpPr txBox="1"/>
          <p:nvPr/>
        </p:nvSpPr>
        <p:spPr>
          <a:xfrm>
            <a:off x="6400800"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5" name="Text 28"/>
          <p:cNvSpPr txBox="1"/>
          <p:nvPr/>
        </p:nvSpPr>
        <p:spPr>
          <a:xfrm>
            <a:off x="7059168"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Think</a:t>
            </a:r>
            <a:endParaRPr lang="en-US" sz="1400" dirty="0"/>
          </a:p>
          <a:p>
            <a:pPr indent="0" marL="0">
              <a:buNone/>
            </a:pPr>
            <a:r>
              <a:rPr lang="en-US" sz="1100" dirty="0">
                <a:solidFill>
                  <a:srgbClr val="5A6472"/>
                </a:solidFill>
                <a:latin typeface="Calibri" pitchFamily="34" charset="0"/>
                <a:cs typeface="Amiri" pitchFamily="2" charset="-78"/>
              </a:rPr>
              <a:t>silent preparation</a:t>
            </a:r>
            <a:endParaRPr lang="en-US" sz="1400" dirty="0"/>
          </a:p>
        </p:txBody>
      </p:sp>
      <p:sp>
        <p:nvSpPr>
          <p:cNvPr id="36" name="Shape 29"/>
          <p:cNvSpPr/>
          <p:nvPr/>
        </p:nvSpPr>
        <p:spPr>
          <a:xfrm>
            <a:off x="8997696" y="2450592"/>
            <a:ext cx="548640" cy="548640"/>
          </a:xfrm>
          <a:prstGeom prst="ellipse">
            <a:avLst/>
          </a:prstGeom>
          <a:solidFill>
            <a:srgbClr val="1B3B6F"/>
          </a:solidFill>
          <a:ln w="12700">
            <a:solidFill>
              <a:srgbClr val="1B3B6F"/>
            </a:solidFill>
            <a:prstDash val="solid"/>
          </a:ln>
        </p:spPr>
      </p:sp>
      <p:sp>
        <p:nvSpPr>
          <p:cNvPr id="37" name="Text 30"/>
          <p:cNvSpPr txBox="1"/>
          <p:nvPr/>
        </p:nvSpPr>
        <p:spPr>
          <a:xfrm>
            <a:off x="8997696"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8" name="Text 31"/>
          <p:cNvSpPr txBox="1"/>
          <p:nvPr/>
        </p:nvSpPr>
        <p:spPr>
          <a:xfrm>
            <a:off x="9656064"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Rehearse</a:t>
            </a:r>
            <a:endParaRPr lang="en-US" sz="1400" dirty="0"/>
          </a:p>
          <a:p>
            <a:pPr indent="0" marL="0">
              <a:buNone/>
            </a:pPr>
            <a:r>
              <a:rPr lang="en-US" sz="1100" dirty="0">
                <a:solidFill>
                  <a:srgbClr val="5A6472"/>
                </a:solidFill>
                <a:latin typeface="Calibri" pitchFamily="34" charset="0"/>
                <a:cs typeface="Amiri" pitchFamily="2" charset="-78"/>
              </a:rPr>
              <a:t>both partners speak</a:t>
            </a:r>
            <a:endParaRPr lang="en-US" sz="1400" dirty="0"/>
          </a:p>
        </p:txBody>
      </p:sp>
      <p:sp>
        <p:nvSpPr>
          <p:cNvPr id="39" name="Shape 32"/>
          <p:cNvSpPr/>
          <p:nvPr/>
        </p:nvSpPr>
        <p:spPr>
          <a:xfrm>
            <a:off x="6400800" y="3364992"/>
            <a:ext cx="548640" cy="548640"/>
          </a:xfrm>
          <a:prstGeom prst="ellipse">
            <a:avLst/>
          </a:prstGeom>
          <a:solidFill>
            <a:srgbClr val="1B3B6F"/>
          </a:solidFill>
          <a:ln w="12700">
            <a:solidFill>
              <a:srgbClr val="1B3B6F"/>
            </a:solidFill>
            <a:prstDash val="solid"/>
          </a:ln>
        </p:spPr>
      </p:sp>
      <p:sp>
        <p:nvSpPr>
          <p:cNvPr id="40" name="Text 33"/>
          <p:cNvSpPr txBox="1"/>
          <p:nvPr/>
        </p:nvSpPr>
        <p:spPr>
          <a:xfrm>
            <a:off x="6400800"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1" name="Text 34"/>
          <p:cNvSpPr txBox="1"/>
          <p:nvPr/>
        </p:nvSpPr>
        <p:spPr>
          <a:xfrm>
            <a:off x="7059168"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Build</a:t>
            </a:r>
            <a:endParaRPr lang="en-US" sz="1400" dirty="0"/>
          </a:p>
          <a:p>
            <a:pPr indent="0" marL="0">
              <a:buNone/>
            </a:pPr>
            <a:r>
              <a:rPr lang="en-US" sz="1100" dirty="0">
                <a:solidFill>
                  <a:srgbClr val="5A6472"/>
                </a:solidFill>
                <a:latin typeface="Calibri" pitchFamily="34" charset="0"/>
                <a:cs typeface="Amiri" pitchFamily="2" charset="-78"/>
              </a:rPr>
              <a:t>add a reason or detail</a:t>
            </a:r>
            <a:endParaRPr lang="en-US" sz="1400" dirty="0"/>
          </a:p>
        </p:txBody>
      </p:sp>
      <p:sp>
        <p:nvSpPr>
          <p:cNvPr id="42" name="Shape 35"/>
          <p:cNvSpPr/>
          <p:nvPr/>
        </p:nvSpPr>
        <p:spPr>
          <a:xfrm>
            <a:off x="8997696" y="3364992"/>
            <a:ext cx="548640" cy="548640"/>
          </a:xfrm>
          <a:prstGeom prst="ellipse">
            <a:avLst/>
          </a:prstGeom>
          <a:solidFill>
            <a:srgbClr val="1B3B6F"/>
          </a:solidFill>
          <a:ln w="12700">
            <a:solidFill>
              <a:srgbClr val="1B3B6F"/>
            </a:solidFill>
            <a:prstDash val="solid"/>
          </a:ln>
        </p:spPr>
      </p:sp>
      <p:sp>
        <p:nvSpPr>
          <p:cNvPr id="43" name="Text 36"/>
          <p:cNvSpPr txBox="1"/>
          <p:nvPr/>
        </p:nvSpPr>
        <p:spPr>
          <a:xfrm>
            <a:off x="8997696"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4" name="Text 37"/>
          <p:cNvSpPr txBox="1"/>
          <p:nvPr/>
        </p:nvSpPr>
        <p:spPr>
          <a:xfrm>
            <a:off x="9656064"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Challenge</a:t>
            </a:r>
            <a:endParaRPr lang="en-US" sz="1400" dirty="0"/>
          </a:p>
          <a:p>
            <a:pPr indent="0" marL="0">
              <a:buNone/>
            </a:pPr>
            <a:r>
              <a:rPr lang="en-US" sz="1100" dirty="0">
                <a:solidFill>
                  <a:srgbClr val="5A6472"/>
                </a:solidFill>
                <a:latin typeface="Calibri" pitchFamily="34" charset="0"/>
                <a:cs typeface="Amiri" pitchFamily="2" charset="-78"/>
              </a:rPr>
              <a:t>question respectfully</a:t>
            </a:r>
            <a:endParaRPr lang="en-US" sz="1400" dirty="0"/>
          </a:p>
        </p:txBody>
      </p:sp>
      <p:sp>
        <p:nvSpPr>
          <p:cNvPr id="45" name="Shape 38"/>
          <p:cNvSpPr/>
          <p:nvPr/>
        </p:nvSpPr>
        <p:spPr>
          <a:xfrm>
            <a:off x="6400800" y="4279392"/>
            <a:ext cx="548640" cy="548640"/>
          </a:xfrm>
          <a:prstGeom prst="ellipse">
            <a:avLst/>
          </a:prstGeom>
          <a:solidFill>
            <a:srgbClr val="1B3B6F"/>
          </a:solidFill>
          <a:ln w="12700">
            <a:solidFill>
              <a:srgbClr val="1B3B6F"/>
            </a:solidFill>
            <a:prstDash val="solid"/>
          </a:ln>
        </p:spPr>
      </p:sp>
      <p:sp>
        <p:nvSpPr>
          <p:cNvPr id="46" name="Text 39"/>
          <p:cNvSpPr txBox="1"/>
          <p:nvPr/>
        </p:nvSpPr>
        <p:spPr>
          <a:xfrm>
            <a:off x="6400800"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7" name="Text 40"/>
          <p:cNvSpPr txBox="1"/>
          <p:nvPr/>
        </p:nvSpPr>
        <p:spPr>
          <a:xfrm>
            <a:off x="7059168"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Share</a:t>
            </a:r>
            <a:endParaRPr lang="en-US" sz="1400" dirty="0"/>
          </a:p>
          <a:p>
            <a:pPr indent="0" marL="0">
              <a:buNone/>
            </a:pPr>
            <a:r>
              <a:rPr lang="en-US" sz="1100" dirty="0">
                <a:solidFill>
                  <a:srgbClr val="5A6472"/>
                </a:solidFill>
                <a:latin typeface="Calibri" pitchFamily="34" charset="0"/>
                <a:cs typeface="Amiri" pitchFamily="2" charset="-78"/>
              </a:rPr>
              <a:t>anyone may be invited</a:t>
            </a:r>
            <a:endParaRPr lang="en-US" sz="1400" dirty="0"/>
          </a:p>
        </p:txBody>
      </p:sp>
      <p:sp>
        <p:nvSpPr>
          <p:cNvPr id="48" name="Shape 41"/>
          <p:cNvSpPr/>
          <p:nvPr/>
        </p:nvSpPr>
        <p:spPr>
          <a:xfrm>
            <a:off x="8997696" y="4279392"/>
            <a:ext cx="548640" cy="548640"/>
          </a:xfrm>
          <a:prstGeom prst="ellipse">
            <a:avLst/>
          </a:prstGeom>
          <a:solidFill>
            <a:srgbClr val="1B3B6F"/>
          </a:solidFill>
          <a:ln w="12700">
            <a:solidFill>
              <a:srgbClr val="1B3B6F"/>
            </a:solidFill>
            <a:prstDash val="solid"/>
          </a:ln>
        </p:spPr>
      </p:sp>
      <p:sp>
        <p:nvSpPr>
          <p:cNvPr id="49" name="Text 42"/>
          <p:cNvSpPr txBox="1"/>
          <p:nvPr/>
        </p:nvSpPr>
        <p:spPr>
          <a:xfrm>
            <a:off x="8997696"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50" name="Text 43"/>
          <p:cNvSpPr txBox="1"/>
          <p:nvPr/>
        </p:nvSpPr>
        <p:spPr>
          <a:xfrm>
            <a:off x="9656064"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Summarise</a:t>
            </a:r>
            <a:endParaRPr lang="en-US" sz="1400" dirty="0"/>
          </a:p>
          <a:p>
            <a:pPr indent="0" marL="0">
              <a:buNone/>
            </a:pPr>
            <a:r>
              <a:rPr lang="en-US" sz="1100" dirty="0">
                <a:solidFill>
                  <a:srgbClr val="5A6472"/>
                </a:solidFill>
                <a:latin typeface="Calibri" pitchFamily="34" charset="0"/>
                <a:cs typeface="Amiri" pitchFamily="2" charset="-78"/>
              </a:rPr>
              <a:t>say it more precisely</a:t>
            </a:r>
            <a:endParaRPr lang="en-US" sz="1400" dirty="0"/>
          </a:p>
        </p:txBody>
      </p:sp>
      <p:sp>
        <p:nvSpPr>
          <p:cNvPr id="51" name="Text 44"/>
          <p:cNvSpPr txBox="1"/>
          <p:nvPr/>
        </p:nvSpPr>
        <p:spPr>
          <a:xfrm>
            <a:off x="6400800" y="5230368"/>
            <a:ext cx="5102352" cy="694944"/>
          </a:xfrm>
          <a:prstGeom prst="rect">
            <a:avLst/>
          </a:prstGeom>
          <a:noFill/>
          <a:ln/>
        </p:spPr>
        <p:txBody>
          <a:bodyPr wrap="square" lIns="0" tIns="0" rIns="0" bIns="0" rtlCol="0" anchor="ctr"/>
          <a:lstStyle/>
          <a:p>
            <a:pPr algn="l" indent="0" marL="0">
              <a:buNone/>
            </a:pPr>
            <a:r>
              <a:rPr lang="en-US" sz="1150" i="1" dirty="0">
                <a:solidFill>
                  <a:srgbClr val="8A6D1E"/>
                </a:solidFill>
                <a:latin typeface="Calibri" pitchFamily="34" charset="0"/>
                <a:cs typeface="Amiri" pitchFamily="2" charset="-78"/>
              </a:rPr>
              <a:t>I will always give you thinking and practice time before I ask anyone. Reading aloud is by invitation — you can always say “pass, please come back to me”.</a:t>
            </a:r>
            <a:endParaRPr lang="en-US" sz="1150" dirty="0"/>
          </a:p>
        </p:txBody>
      </p:sp>
      <p:sp>
        <p:nvSpPr>
          <p:cNvPr id="52"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 / 43</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F5-L05 · Ordering Politely</a:t>
            </a:r>
            <a:endParaRPr lang="en-US" sz="950" dirty="0"/>
          </a:p>
        </p:txBody>
      </p:sp>
      <p:sp>
        <p:nvSpPr>
          <p:cNvPr id="8" name="Shape 6"/>
          <p:cNvSpPr/>
          <p:nvPr/>
        </p:nvSpPr>
        <p:spPr>
          <a:xfrm>
            <a:off x="7388352" y="274320"/>
            <a:ext cx="1371600"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TODAY’S LESSON MAP</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lesson today, step by step</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خَرِيطَةُ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F5 · Food, Health and Body · F5-L05</a:t>
            </a:r>
            <a:endParaRPr lang="en-US" sz="850" dirty="0"/>
          </a:p>
        </p:txBody>
      </p:sp>
      <p:sp>
        <p:nvSpPr>
          <p:cNvPr id="15" name="Shape 12"/>
          <p:cNvSpPr/>
          <p:nvPr/>
        </p:nvSpPr>
        <p:spPr>
          <a:xfrm>
            <a:off x="457200"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66928" y="1938528"/>
            <a:ext cx="1281466" cy="566928"/>
          </a:xfrm>
          <a:prstGeom prst="roundRect">
            <a:avLst>
              <a:gd name="adj" fmla="val 9677"/>
            </a:avLst>
          </a:prstGeom>
          <a:solidFill>
            <a:srgbClr val="0E7C86"/>
          </a:solidFill>
          <a:ln w="12700">
            <a:solidFill>
              <a:srgbClr val="0E7C86"/>
            </a:solidFill>
            <a:prstDash val="solid"/>
          </a:ln>
        </p:spPr>
      </p:sp>
      <p:sp>
        <p:nvSpPr>
          <p:cNvPr id="17" name="Text 14"/>
          <p:cNvSpPr txBox="1"/>
          <p:nvPr/>
        </p:nvSpPr>
        <p:spPr>
          <a:xfrm>
            <a:off x="603504"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DO NOW</a:t>
            </a:r>
            <a:endParaRPr lang="en-US" sz="1000" dirty="0"/>
          </a:p>
        </p:txBody>
      </p:sp>
      <p:sp>
        <p:nvSpPr>
          <p:cNvPr id="18" name="Text 15"/>
          <p:cNvSpPr txBox="1"/>
          <p:nvPr/>
        </p:nvSpPr>
        <p:spPr>
          <a:xfrm>
            <a:off x="603504"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7 min</a:t>
            </a:r>
            <a:endParaRPr lang="en-US" sz="1000" dirty="0"/>
          </a:p>
        </p:txBody>
      </p:sp>
      <p:sp>
        <p:nvSpPr>
          <p:cNvPr id="19" name="Shape 16"/>
          <p:cNvSpPr/>
          <p:nvPr/>
        </p:nvSpPr>
        <p:spPr>
          <a:xfrm>
            <a:off x="1006493" y="2651760"/>
            <a:ext cx="402336" cy="402336"/>
          </a:xfrm>
          <a:prstGeom prst="ellipse">
            <a:avLst/>
          </a:prstGeom>
          <a:solidFill>
            <a:srgbClr val="F4F1EA"/>
          </a:solidFill>
          <a:ln w="12700">
            <a:solidFill>
              <a:srgbClr val="F4F1EA"/>
            </a:solidFill>
            <a:prstDash val="solid"/>
          </a:ln>
        </p:spPr>
      </p:sp>
      <p:sp>
        <p:nvSpPr>
          <p:cNvPr id="20" name="Text 17"/>
          <p:cNvSpPr txBox="1"/>
          <p:nvPr/>
        </p:nvSpPr>
        <p:spPr>
          <a:xfrm>
            <a:off x="1006493"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1</a:t>
            </a:r>
            <a:endParaRPr lang="en-US" sz="1300" dirty="0"/>
          </a:p>
        </p:txBody>
      </p:sp>
      <p:sp>
        <p:nvSpPr>
          <p:cNvPr id="21" name="Text 18"/>
          <p:cNvSpPr txBox="1"/>
          <p:nvPr/>
        </p:nvSpPr>
        <p:spPr>
          <a:xfrm>
            <a:off x="585216"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Retrieval quiz on your own, then we check together.</a:t>
            </a:r>
            <a:endParaRPr lang="en-US" sz="1200" dirty="0"/>
          </a:p>
        </p:txBody>
      </p:sp>
      <p:sp>
        <p:nvSpPr>
          <p:cNvPr id="22" name="Text 19"/>
          <p:cNvSpPr txBox="1"/>
          <p:nvPr/>
        </p:nvSpPr>
        <p:spPr>
          <a:xfrm>
            <a:off x="548640"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0E7C86"/>
                </a:solidFill>
                <a:latin typeface="Amiri" pitchFamily="2" charset="-78"/>
                <a:ea typeface="Amiri" pitchFamily="2" charset="-78"/>
                <a:cs typeface="Amiri" pitchFamily="2" charset="-78"/>
              </a:rPr>
              <a:t>اِبْدَأِ الآنَ</a:t>
            </a:r>
            <a:endParaRPr lang="ar-SA" sz="1500" dirty="0"/>
          </a:p>
        </p:txBody>
      </p:sp>
      <p:sp>
        <p:nvSpPr>
          <p:cNvPr id="23" name="Shape 20"/>
          <p:cNvSpPr/>
          <p:nvPr/>
        </p:nvSpPr>
        <p:spPr>
          <a:xfrm>
            <a:off x="2086138"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2195866" y="1938528"/>
            <a:ext cx="1281466" cy="566928"/>
          </a:xfrm>
          <a:prstGeom prst="roundRect">
            <a:avLst>
              <a:gd name="adj" fmla="val 9677"/>
            </a:avLst>
          </a:prstGeom>
          <a:solidFill>
            <a:srgbClr val="1B3B6F"/>
          </a:solidFill>
          <a:ln w="12700">
            <a:solidFill>
              <a:srgbClr val="1B3B6F"/>
            </a:solidFill>
            <a:prstDash val="solid"/>
          </a:ln>
        </p:spPr>
      </p:sp>
      <p:sp>
        <p:nvSpPr>
          <p:cNvPr id="25" name="Text 22"/>
          <p:cNvSpPr txBox="1"/>
          <p:nvPr/>
        </p:nvSpPr>
        <p:spPr>
          <a:xfrm>
            <a:off x="2232442"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TEACHER INSTRUCTION</a:t>
            </a:r>
            <a:endParaRPr lang="en-US" sz="1000" dirty="0"/>
          </a:p>
        </p:txBody>
      </p:sp>
      <p:sp>
        <p:nvSpPr>
          <p:cNvPr id="26" name="Text 23"/>
          <p:cNvSpPr txBox="1"/>
          <p:nvPr/>
        </p:nvSpPr>
        <p:spPr>
          <a:xfrm>
            <a:off x="2232442"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14 min</a:t>
            </a:r>
            <a:endParaRPr lang="en-US" sz="1000" dirty="0"/>
          </a:p>
        </p:txBody>
      </p:sp>
      <p:sp>
        <p:nvSpPr>
          <p:cNvPr id="27" name="Shape 24"/>
          <p:cNvSpPr/>
          <p:nvPr/>
        </p:nvSpPr>
        <p:spPr>
          <a:xfrm>
            <a:off x="2635431" y="2651760"/>
            <a:ext cx="402336" cy="402336"/>
          </a:xfrm>
          <a:prstGeom prst="ellipse">
            <a:avLst/>
          </a:prstGeom>
          <a:solidFill>
            <a:srgbClr val="F4F1EA"/>
          </a:solidFill>
          <a:ln w="12700">
            <a:solidFill>
              <a:srgbClr val="F4F1EA"/>
            </a:solidFill>
            <a:prstDash val="solid"/>
          </a:ln>
        </p:spPr>
      </p:sp>
      <p:sp>
        <p:nvSpPr>
          <p:cNvPr id="28" name="Text 25"/>
          <p:cNvSpPr txBox="1"/>
          <p:nvPr/>
        </p:nvSpPr>
        <p:spPr>
          <a:xfrm>
            <a:off x="2635431"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2</a:t>
            </a:r>
            <a:endParaRPr lang="en-US" sz="1300" dirty="0"/>
          </a:p>
        </p:txBody>
      </p:sp>
      <p:sp>
        <p:nvSpPr>
          <p:cNvPr id="29" name="Text 26"/>
          <p:cNvSpPr txBox="1"/>
          <p:nvPr/>
        </p:nvSpPr>
        <p:spPr>
          <a:xfrm>
            <a:off x="2214154"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Polite requests and café words, then order · ask · pay.</a:t>
            </a:r>
            <a:endParaRPr lang="en-US" sz="1200" dirty="0"/>
          </a:p>
        </p:txBody>
      </p:sp>
      <p:sp>
        <p:nvSpPr>
          <p:cNvPr id="30" name="Text 27"/>
          <p:cNvSpPr txBox="1"/>
          <p:nvPr/>
        </p:nvSpPr>
        <p:spPr>
          <a:xfrm>
            <a:off x="2177578"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كَلِمَاتٌ وَقَوَاعِدُ</a:t>
            </a:r>
            <a:endParaRPr lang="ar-SA" sz="1500" dirty="0"/>
          </a:p>
        </p:txBody>
      </p:sp>
      <p:sp>
        <p:nvSpPr>
          <p:cNvPr id="31" name="Shape 28"/>
          <p:cNvSpPr/>
          <p:nvPr/>
        </p:nvSpPr>
        <p:spPr>
          <a:xfrm>
            <a:off x="3715077"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3824805" y="1938528"/>
            <a:ext cx="1281466" cy="566928"/>
          </a:xfrm>
          <a:prstGeom prst="roundRect">
            <a:avLst>
              <a:gd name="adj" fmla="val 9677"/>
            </a:avLst>
          </a:prstGeom>
          <a:solidFill>
            <a:srgbClr val="6B4C9A"/>
          </a:solidFill>
          <a:ln w="12700">
            <a:solidFill>
              <a:srgbClr val="6B4C9A"/>
            </a:solidFill>
            <a:prstDash val="solid"/>
          </a:ln>
        </p:spPr>
      </p:sp>
      <p:sp>
        <p:nvSpPr>
          <p:cNvPr id="33" name="Text 30"/>
          <p:cNvSpPr txBox="1"/>
          <p:nvPr/>
        </p:nvSpPr>
        <p:spPr>
          <a:xfrm>
            <a:off x="3861381"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I DO</a:t>
            </a:r>
            <a:endParaRPr lang="en-US" sz="1000" dirty="0"/>
          </a:p>
        </p:txBody>
      </p:sp>
      <p:sp>
        <p:nvSpPr>
          <p:cNvPr id="34" name="Text 31"/>
          <p:cNvSpPr txBox="1"/>
          <p:nvPr/>
        </p:nvSpPr>
        <p:spPr>
          <a:xfrm>
            <a:off x="3861381"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3 min</a:t>
            </a:r>
            <a:endParaRPr lang="en-US" sz="1000" dirty="0"/>
          </a:p>
        </p:txBody>
      </p:sp>
      <p:sp>
        <p:nvSpPr>
          <p:cNvPr id="35" name="Shape 32"/>
          <p:cNvSpPr/>
          <p:nvPr/>
        </p:nvSpPr>
        <p:spPr>
          <a:xfrm>
            <a:off x="4264370" y="2651760"/>
            <a:ext cx="402336" cy="402336"/>
          </a:xfrm>
          <a:prstGeom prst="ellipse">
            <a:avLst/>
          </a:prstGeom>
          <a:solidFill>
            <a:srgbClr val="F4F1EA"/>
          </a:solidFill>
          <a:ln w="12700">
            <a:solidFill>
              <a:srgbClr val="F4F1EA"/>
            </a:solidFill>
            <a:prstDash val="solid"/>
          </a:ln>
        </p:spPr>
      </p:sp>
      <p:sp>
        <p:nvSpPr>
          <p:cNvPr id="36" name="Text 33"/>
          <p:cNvSpPr txBox="1"/>
          <p:nvPr/>
        </p:nvSpPr>
        <p:spPr>
          <a:xfrm>
            <a:off x="4264370"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3</a:t>
            </a:r>
            <a:endParaRPr lang="en-US" sz="1300" dirty="0"/>
          </a:p>
        </p:txBody>
      </p:sp>
      <p:sp>
        <p:nvSpPr>
          <p:cNvPr id="37" name="Text 34"/>
          <p:cNvSpPr txBox="1"/>
          <p:nvPr/>
        </p:nvSpPr>
        <p:spPr>
          <a:xfrm>
            <a:off x="3843093"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Watch me build one sentence. Copy it into your book.</a:t>
            </a:r>
            <a:endParaRPr lang="en-US" sz="1200" dirty="0"/>
          </a:p>
        </p:txBody>
      </p:sp>
      <p:sp>
        <p:nvSpPr>
          <p:cNvPr id="38" name="Text 35"/>
          <p:cNvSpPr txBox="1"/>
          <p:nvPr/>
        </p:nvSpPr>
        <p:spPr>
          <a:xfrm>
            <a:off x="3806517"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6B4C9A"/>
                </a:solidFill>
                <a:latin typeface="Amiri" pitchFamily="2" charset="-78"/>
                <a:ea typeface="Amiri" pitchFamily="2" charset="-78"/>
                <a:cs typeface="Amiri" pitchFamily="2" charset="-78"/>
              </a:rPr>
              <a:t>شَاهِدْ</a:t>
            </a:r>
            <a:endParaRPr lang="ar-SA" sz="1500" dirty="0"/>
          </a:p>
        </p:txBody>
      </p:sp>
      <p:sp>
        <p:nvSpPr>
          <p:cNvPr id="39" name="Shape 36"/>
          <p:cNvSpPr/>
          <p:nvPr/>
        </p:nvSpPr>
        <p:spPr>
          <a:xfrm>
            <a:off x="5344015"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5453743" y="1938528"/>
            <a:ext cx="1281466" cy="566928"/>
          </a:xfrm>
          <a:prstGeom prst="roundRect">
            <a:avLst>
              <a:gd name="adj" fmla="val 9677"/>
            </a:avLst>
          </a:prstGeom>
          <a:solidFill>
            <a:srgbClr val="2F6FB0"/>
          </a:solidFill>
          <a:ln w="12700">
            <a:solidFill>
              <a:srgbClr val="2F6FB0"/>
            </a:solidFill>
            <a:prstDash val="solid"/>
          </a:ln>
        </p:spPr>
      </p:sp>
      <p:sp>
        <p:nvSpPr>
          <p:cNvPr id="41" name="Text 38"/>
          <p:cNvSpPr txBox="1"/>
          <p:nvPr/>
        </p:nvSpPr>
        <p:spPr>
          <a:xfrm>
            <a:off x="5490319"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WE DO</a:t>
            </a:r>
            <a:endParaRPr lang="en-US" sz="1000" dirty="0"/>
          </a:p>
        </p:txBody>
      </p:sp>
      <p:sp>
        <p:nvSpPr>
          <p:cNvPr id="42" name="Text 39"/>
          <p:cNvSpPr txBox="1"/>
          <p:nvPr/>
        </p:nvSpPr>
        <p:spPr>
          <a:xfrm>
            <a:off x="5490319"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9 min</a:t>
            </a:r>
            <a:endParaRPr lang="en-US" sz="1000" dirty="0"/>
          </a:p>
        </p:txBody>
      </p:sp>
      <p:sp>
        <p:nvSpPr>
          <p:cNvPr id="43" name="Shape 40"/>
          <p:cNvSpPr/>
          <p:nvPr/>
        </p:nvSpPr>
        <p:spPr>
          <a:xfrm>
            <a:off x="5893308" y="2651760"/>
            <a:ext cx="402336" cy="402336"/>
          </a:xfrm>
          <a:prstGeom prst="ellipse">
            <a:avLst/>
          </a:prstGeom>
          <a:solidFill>
            <a:srgbClr val="F4F1EA"/>
          </a:solidFill>
          <a:ln w="12700">
            <a:solidFill>
              <a:srgbClr val="F4F1EA"/>
            </a:solidFill>
            <a:prstDash val="solid"/>
          </a:ln>
        </p:spPr>
      </p:sp>
      <p:sp>
        <p:nvSpPr>
          <p:cNvPr id="44" name="Text 41"/>
          <p:cNvSpPr txBox="1"/>
          <p:nvPr/>
        </p:nvSpPr>
        <p:spPr>
          <a:xfrm>
            <a:off x="5893308"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4</a:t>
            </a:r>
            <a:endParaRPr lang="en-US" sz="1300" dirty="0"/>
          </a:p>
        </p:txBody>
      </p:sp>
      <p:sp>
        <p:nvSpPr>
          <p:cNvPr id="45" name="Text 42"/>
          <p:cNvSpPr txBox="1"/>
          <p:nvPr/>
        </p:nvSpPr>
        <p:spPr>
          <a:xfrm>
            <a:off x="5472031"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Picture match, build the transaction, fix rude or wrong orders and listen at Café Miftah.</a:t>
            </a:r>
            <a:endParaRPr lang="en-US" sz="1200" dirty="0"/>
          </a:p>
        </p:txBody>
      </p:sp>
      <p:sp>
        <p:nvSpPr>
          <p:cNvPr id="46" name="Text 43"/>
          <p:cNvSpPr txBox="1"/>
          <p:nvPr/>
        </p:nvSpPr>
        <p:spPr>
          <a:xfrm>
            <a:off x="5435455"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2F6FB0"/>
                </a:solidFill>
                <a:latin typeface="Amiri" pitchFamily="2" charset="-78"/>
                <a:ea typeface="Amiri" pitchFamily="2" charset="-78"/>
                <a:cs typeface="Amiri" pitchFamily="2" charset="-78"/>
              </a:rPr>
              <a:t>مَعًا</a:t>
            </a:r>
            <a:endParaRPr lang="ar-SA" sz="1500" dirty="0"/>
          </a:p>
        </p:txBody>
      </p:sp>
      <p:sp>
        <p:nvSpPr>
          <p:cNvPr id="47" name="Shape 44"/>
          <p:cNvSpPr/>
          <p:nvPr/>
        </p:nvSpPr>
        <p:spPr>
          <a:xfrm>
            <a:off x="6972953"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7082681" y="1938528"/>
            <a:ext cx="1281466" cy="566928"/>
          </a:xfrm>
          <a:prstGeom prst="roundRect">
            <a:avLst>
              <a:gd name="adj" fmla="val 9677"/>
            </a:avLst>
          </a:prstGeom>
          <a:solidFill>
            <a:srgbClr val="1E6B52"/>
          </a:solidFill>
          <a:ln w="12700">
            <a:solidFill>
              <a:srgbClr val="1E6B52"/>
            </a:solidFill>
            <a:prstDash val="solid"/>
          </a:ln>
        </p:spPr>
      </p:sp>
      <p:sp>
        <p:nvSpPr>
          <p:cNvPr id="49" name="Text 46"/>
          <p:cNvSpPr txBox="1"/>
          <p:nvPr/>
        </p:nvSpPr>
        <p:spPr>
          <a:xfrm>
            <a:off x="7119257"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50" name="Text 47"/>
          <p:cNvSpPr txBox="1"/>
          <p:nvPr/>
        </p:nvSpPr>
        <p:spPr>
          <a:xfrm>
            <a:off x="7119257"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12 min</a:t>
            </a:r>
            <a:endParaRPr lang="en-US" sz="1000" dirty="0"/>
          </a:p>
        </p:txBody>
      </p:sp>
      <p:sp>
        <p:nvSpPr>
          <p:cNvPr id="51" name="Shape 48"/>
          <p:cNvSpPr/>
          <p:nvPr/>
        </p:nvSpPr>
        <p:spPr>
          <a:xfrm>
            <a:off x="7522246" y="2651760"/>
            <a:ext cx="402336" cy="402336"/>
          </a:xfrm>
          <a:prstGeom prst="ellipse">
            <a:avLst/>
          </a:prstGeom>
          <a:solidFill>
            <a:srgbClr val="F4F1EA"/>
          </a:solidFill>
          <a:ln w="12700">
            <a:solidFill>
              <a:srgbClr val="F4F1EA"/>
            </a:solidFill>
            <a:prstDash val="solid"/>
          </a:ln>
        </p:spPr>
      </p:sp>
      <p:sp>
        <p:nvSpPr>
          <p:cNvPr id="52" name="Text 49"/>
          <p:cNvSpPr txBox="1"/>
          <p:nvPr/>
        </p:nvSpPr>
        <p:spPr>
          <a:xfrm>
            <a:off x="7522246"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5</a:t>
            </a:r>
            <a:endParaRPr lang="en-US" sz="1300" dirty="0"/>
          </a:p>
        </p:txBody>
      </p:sp>
      <p:sp>
        <p:nvSpPr>
          <p:cNvPr id="53" name="Text 50"/>
          <p:cNvSpPr txBox="1"/>
          <p:nvPr/>
        </p:nvSpPr>
        <p:spPr>
          <a:xfrm>
            <a:off x="7100969"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Speak first, then write on your route.</a:t>
            </a:r>
            <a:endParaRPr lang="en-US" sz="1200" dirty="0"/>
          </a:p>
        </p:txBody>
      </p:sp>
      <p:sp>
        <p:nvSpPr>
          <p:cNvPr id="54" name="Text 51"/>
          <p:cNvSpPr txBox="1"/>
          <p:nvPr/>
        </p:nvSpPr>
        <p:spPr>
          <a:xfrm>
            <a:off x="7064393"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ea typeface="Amiri" pitchFamily="2" charset="-78"/>
                <a:cs typeface="Amiri" pitchFamily="2" charset="-78"/>
              </a:rPr>
              <a:t>وَحْدَكَ</a:t>
            </a:r>
            <a:endParaRPr lang="ar-SA" sz="1500" dirty="0"/>
          </a:p>
        </p:txBody>
      </p:sp>
      <p:sp>
        <p:nvSpPr>
          <p:cNvPr id="55" name="Shape 52"/>
          <p:cNvSpPr/>
          <p:nvPr/>
        </p:nvSpPr>
        <p:spPr>
          <a:xfrm>
            <a:off x="8601891"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6" name="Shape 53"/>
          <p:cNvSpPr/>
          <p:nvPr/>
        </p:nvSpPr>
        <p:spPr>
          <a:xfrm>
            <a:off x="8711619" y="1938528"/>
            <a:ext cx="1281466" cy="566928"/>
          </a:xfrm>
          <a:prstGeom prst="roundRect">
            <a:avLst>
              <a:gd name="adj" fmla="val 9677"/>
            </a:avLst>
          </a:prstGeom>
          <a:solidFill>
            <a:srgbClr val="8A6D1E"/>
          </a:solidFill>
          <a:ln w="12700">
            <a:solidFill>
              <a:srgbClr val="8A6D1E"/>
            </a:solidFill>
            <a:prstDash val="solid"/>
          </a:ln>
        </p:spPr>
      </p:sp>
      <p:sp>
        <p:nvSpPr>
          <p:cNvPr id="57" name="Text 54"/>
          <p:cNvSpPr txBox="1"/>
          <p:nvPr/>
        </p:nvSpPr>
        <p:spPr>
          <a:xfrm>
            <a:off x="8748195"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FEEDBACK</a:t>
            </a:r>
            <a:endParaRPr lang="en-US" sz="1000" dirty="0"/>
          </a:p>
        </p:txBody>
      </p:sp>
      <p:sp>
        <p:nvSpPr>
          <p:cNvPr id="58" name="Text 55"/>
          <p:cNvSpPr txBox="1"/>
          <p:nvPr/>
        </p:nvSpPr>
        <p:spPr>
          <a:xfrm>
            <a:off x="8748195"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5 min</a:t>
            </a:r>
            <a:endParaRPr lang="en-US" sz="1000" dirty="0"/>
          </a:p>
        </p:txBody>
      </p:sp>
      <p:sp>
        <p:nvSpPr>
          <p:cNvPr id="59" name="Shape 56"/>
          <p:cNvSpPr/>
          <p:nvPr/>
        </p:nvSpPr>
        <p:spPr>
          <a:xfrm>
            <a:off x="9151185" y="2651760"/>
            <a:ext cx="402336" cy="402336"/>
          </a:xfrm>
          <a:prstGeom prst="ellipse">
            <a:avLst/>
          </a:prstGeom>
          <a:solidFill>
            <a:srgbClr val="F4F1EA"/>
          </a:solidFill>
          <a:ln w="12700">
            <a:solidFill>
              <a:srgbClr val="F4F1EA"/>
            </a:solidFill>
            <a:prstDash val="solid"/>
          </a:ln>
        </p:spPr>
      </p:sp>
      <p:sp>
        <p:nvSpPr>
          <p:cNvPr id="60" name="Text 57"/>
          <p:cNvSpPr txBox="1"/>
          <p:nvPr/>
        </p:nvSpPr>
        <p:spPr>
          <a:xfrm>
            <a:off x="9151185"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6</a:t>
            </a:r>
            <a:endParaRPr lang="en-US" sz="1300" dirty="0"/>
          </a:p>
        </p:txBody>
      </p:sp>
      <p:sp>
        <p:nvSpPr>
          <p:cNvPr id="61" name="Text 58"/>
          <p:cNvSpPr txBox="1"/>
          <p:nvPr/>
        </p:nvSpPr>
        <p:spPr>
          <a:xfrm>
            <a:off x="8729907"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Compare with a model and complete the exit ticket.</a:t>
            </a:r>
            <a:endParaRPr lang="en-US" sz="1200" dirty="0"/>
          </a:p>
        </p:txBody>
      </p:sp>
      <p:sp>
        <p:nvSpPr>
          <p:cNvPr id="62" name="Text 59"/>
          <p:cNvSpPr txBox="1"/>
          <p:nvPr/>
        </p:nvSpPr>
        <p:spPr>
          <a:xfrm>
            <a:off x="8693331"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8A6D1E"/>
                </a:solidFill>
                <a:latin typeface="Amiri" pitchFamily="2" charset="-78"/>
                <a:ea typeface="Amiri" pitchFamily="2" charset="-78"/>
                <a:cs typeface="Amiri" pitchFamily="2" charset="-78"/>
              </a:rPr>
              <a:t>قَيِّمْ عَمَلَكَ</a:t>
            </a:r>
            <a:endParaRPr lang="ar-SA" sz="1500" dirty="0"/>
          </a:p>
        </p:txBody>
      </p:sp>
      <p:sp>
        <p:nvSpPr>
          <p:cNvPr id="63" name="Shape 60"/>
          <p:cNvSpPr/>
          <p:nvPr/>
        </p:nvSpPr>
        <p:spPr>
          <a:xfrm>
            <a:off x="10230830"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4" name="Shape 61"/>
          <p:cNvSpPr/>
          <p:nvPr/>
        </p:nvSpPr>
        <p:spPr>
          <a:xfrm>
            <a:off x="10340558" y="1938528"/>
            <a:ext cx="1281466" cy="566928"/>
          </a:xfrm>
          <a:prstGeom prst="roundRect">
            <a:avLst>
              <a:gd name="adj" fmla="val 9677"/>
            </a:avLst>
          </a:prstGeom>
          <a:solidFill>
            <a:srgbClr val="C45A3C"/>
          </a:solidFill>
          <a:ln w="12700">
            <a:solidFill>
              <a:srgbClr val="C45A3C"/>
            </a:solidFill>
            <a:prstDash val="solid"/>
          </a:ln>
        </p:spPr>
      </p:sp>
      <p:sp>
        <p:nvSpPr>
          <p:cNvPr id="65" name="Text 62"/>
          <p:cNvSpPr txBox="1"/>
          <p:nvPr/>
        </p:nvSpPr>
        <p:spPr>
          <a:xfrm>
            <a:off x="10377134"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PREPARATION</a:t>
            </a:r>
            <a:endParaRPr lang="en-US" sz="1000" dirty="0"/>
          </a:p>
        </p:txBody>
      </p:sp>
      <p:sp>
        <p:nvSpPr>
          <p:cNvPr id="66" name="Text 63"/>
          <p:cNvSpPr txBox="1"/>
          <p:nvPr/>
        </p:nvSpPr>
        <p:spPr>
          <a:xfrm>
            <a:off x="10377134"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2 min</a:t>
            </a:r>
            <a:endParaRPr lang="en-US" sz="1000" dirty="0"/>
          </a:p>
        </p:txBody>
      </p:sp>
      <p:sp>
        <p:nvSpPr>
          <p:cNvPr id="67" name="Shape 64"/>
          <p:cNvSpPr/>
          <p:nvPr/>
        </p:nvSpPr>
        <p:spPr>
          <a:xfrm>
            <a:off x="10780123" y="2651760"/>
            <a:ext cx="402336" cy="402336"/>
          </a:xfrm>
          <a:prstGeom prst="ellipse">
            <a:avLst/>
          </a:prstGeom>
          <a:solidFill>
            <a:srgbClr val="F4F1EA"/>
          </a:solidFill>
          <a:ln w="12700">
            <a:solidFill>
              <a:srgbClr val="F4F1EA"/>
            </a:solidFill>
            <a:prstDash val="solid"/>
          </a:ln>
        </p:spPr>
      </p:sp>
      <p:sp>
        <p:nvSpPr>
          <p:cNvPr id="68" name="Text 65"/>
          <p:cNvSpPr txBox="1"/>
          <p:nvPr/>
        </p:nvSpPr>
        <p:spPr>
          <a:xfrm>
            <a:off x="10780123"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7</a:t>
            </a:r>
            <a:endParaRPr lang="en-US" sz="1300" dirty="0"/>
          </a:p>
        </p:txBody>
      </p:sp>
      <p:sp>
        <p:nvSpPr>
          <p:cNvPr id="69" name="Text 66"/>
          <p:cNvSpPr txBox="1"/>
          <p:nvPr/>
        </p:nvSpPr>
        <p:spPr>
          <a:xfrm>
            <a:off x="10358846"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Get ready at home for F5-L06.</a:t>
            </a:r>
            <a:endParaRPr lang="en-US" sz="1200" dirty="0"/>
          </a:p>
        </p:txBody>
      </p:sp>
      <p:sp>
        <p:nvSpPr>
          <p:cNvPr id="70" name="Text 67"/>
          <p:cNvSpPr txBox="1"/>
          <p:nvPr/>
        </p:nvSpPr>
        <p:spPr>
          <a:xfrm>
            <a:off x="10322270"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C45A3C"/>
                </a:solidFill>
                <a:latin typeface="Amiri" pitchFamily="2" charset="-78"/>
                <a:ea typeface="Amiri" pitchFamily="2" charset="-78"/>
                <a:cs typeface="Amiri" pitchFamily="2" charset="-78"/>
              </a:rPr>
              <a:t>اِسْتَعِدَّ</a:t>
            </a:r>
            <a:endParaRPr lang="ar-SA" sz="1500" dirty="0"/>
          </a:p>
        </p:txBody>
      </p:sp>
      <p:sp>
        <p:nvSpPr>
          <p:cNvPr id="71" name="Shape 68"/>
          <p:cNvSpPr/>
          <p:nvPr/>
        </p:nvSpPr>
        <p:spPr>
          <a:xfrm>
            <a:off x="457200" y="5285232"/>
            <a:ext cx="11274552" cy="1024128"/>
          </a:xfrm>
          <a:prstGeom prst="roundRect">
            <a:avLst>
              <a:gd name="adj" fmla="val 7143"/>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72" name="Text 69"/>
          <p:cNvSpPr txBox="1"/>
          <p:nvPr/>
        </p:nvSpPr>
        <p:spPr>
          <a:xfrm>
            <a:off x="685800" y="5358384"/>
            <a:ext cx="4572000"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IF ARABIC FEELS HARD TODAY</a:t>
            </a:r>
            <a:endParaRPr lang="en-US" sz="1000" dirty="0"/>
          </a:p>
        </p:txBody>
      </p:sp>
      <p:sp>
        <p:nvSpPr>
          <p:cNvPr id="73" name="Text 70"/>
          <p:cNvSpPr txBox="1"/>
          <p:nvPr/>
        </p:nvSpPr>
        <p:spPr>
          <a:xfrm>
            <a:off x="685800" y="5632704"/>
            <a:ext cx="10881360" cy="621792"/>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Look for the green CORE boxes: they give you transliteration, English meanings and sentence frames. You never need every word — find the key word first. You can answer in the chat, in English, or by holding up A / B / C to your camera.</a:t>
            </a:r>
            <a:endParaRPr lang="en-US" sz="1250" dirty="0"/>
          </a:p>
        </p:txBody>
      </p:sp>
      <p:sp>
        <p:nvSpPr>
          <p:cNvPr id="74" name="Text 7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 / 43</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F5-L05 · Ordering Politely</a:t>
            </a:r>
            <a:endParaRPr lang="en-US" sz="950" dirty="0"/>
          </a:p>
        </p:txBody>
      </p:sp>
      <p:sp>
        <p:nvSpPr>
          <p:cNvPr id="8" name="Shape 6"/>
          <p:cNvSpPr/>
          <p:nvPr/>
        </p:nvSpPr>
        <p:spPr>
          <a:xfrm>
            <a:off x="7295083" y="274320"/>
            <a:ext cx="1464869" cy="329184"/>
          </a:xfrm>
          <a:prstGeom prst="roundRect">
            <a:avLst>
              <a:gd name="adj" fmla="val 50000"/>
            </a:avLst>
          </a:prstGeom>
          <a:solidFill>
            <a:srgbClr val="0E7C86"/>
          </a:solidFill>
          <a:ln w="12700">
            <a:solidFill>
              <a:srgbClr val="0E7C86"/>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DO NOW · 5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0E7C86"/>
                </a:solidFill>
                <a:latin typeface="Calibri" pitchFamily="34" charset="0"/>
                <a:cs typeface="Amiri" pitchFamily="2" charset="-78"/>
              </a:rPr>
              <a:t>DO NOW · ON YOUR OWN · 5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50" b="1" dirty="0">
                <a:solidFill>
                  <a:srgbClr val="1B3B6F"/>
                </a:solidFill>
                <a:latin typeface="Cambria" pitchFamily="34" charset="0"/>
                <a:cs typeface="Amiri" pitchFamily="2" charset="-78"/>
              </a:rPr>
              <a:t>Retrieval: what do you remember?</a:t>
            </a:r>
            <a:endParaRPr lang="en-US" sz="2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اِبْدَأِ الآنَ</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F5 · Food, Health and Body · F5-L05</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ea typeface="Amiri" pitchFamily="2" charset="-78"/>
                <a:cs typeface="Amiri" pitchFamily="2" charset="-78"/>
              </a:rPr>
              <a:t>أُرِيدُ</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 prefer</a:t>
            </a:r>
            <a:endParaRPr lang="en-US" sz="12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 want / I would like</a:t>
            </a:r>
            <a:endParaRPr lang="en-US" sz="12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 drink</a:t>
            </a:r>
            <a:endParaRPr lang="en-US" sz="1250" dirty="0"/>
          </a:p>
        </p:txBody>
      </p:sp>
      <p:sp>
        <p:nvSpPr>
          <p:cNvPr id="28" name="Shape 25"/>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ea typeface="Amiri" pitchFamily="2" charset="-78"/>
                <a:cs typeface="Amiri" pitchFamily="2" charset="-78"/>
              </a:rPr>
              <a:t>الحِسَابُ</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bill</a:t>
            </a:r>
            <a:endParaRPr lang="en-US" sz="12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menu</a:t>
            </a:r>
            <a:endParaRPr lang="en-US" sz="12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waiter</a:t>
            </a:r>
            <a:endParaRPr lang="en-US" sz="1250" dirty="0"/>
          </a:p>
        </p:txBody>
      </p:sp>
      <p:sp>
        <p:nvSpPr>
          <p:cNvPr id="41" name="Shape 38"/>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Complete: </a:t>
            </a:r>
            <a:pPr algn="l" indent="0" marL="0">
              <a:buNone/>
            </a:pPr>
            <a:r>
              <a:rPr lang="ar-SA" altLang="en-US" sz="1650" b="1" dirty="0">
                <a:solidFill>
                  <a:srgbClr val="1B3B6F"/>
                </a:solidFill>
                <a:latin typeface="Amiri" pitchFamily="2" charset="-78"/>
                <a:ea typeface="Amiri" pitchFamily="2" charset="-78"/>
                <a:cs typeface="Amiri" pitchFamily="2" charset="-78"/>
              </a:rPr>
              <a:t>أُحِبُّ السَّلَطَةَ</a:t>
            </a:r>
            <a:pPr algn="l" indent="0" marL="0">
              <a:buNone/>
            </a:pPr>
            <a:r>
              <a:rPr lang="en-US" sz="1250" b="1" dirty="0">
                <a:solidFill>
                  <a:srgbClr val="1B3B6F"/>
                </a:solidFill>
                <a:latin typeface="Calibri" pitchFamily="34" charset="0"/>
                <a:cs typeface="Amiri" pitchFamily="2" charset="-78"/>
              </a:rPr>
              <a:t> ____ </a:t>
            </a:r>
            <a:pPr algn="l" indent="0" marL="0">
              <a:buNone/>
            </a:pPr>
            <a:r>
              <a:rPr lang="ar-SA" altLang="en-US" sz="1650" b="1" dirty="0">
                <a:solidFill>
                  <a:srgbClr val="1B3B6F"/>
                </a:solidFill>
                <a:latin typeface="Amiri" pitchFamily="2" charset="-78"/>
                <a:ea typeface="Amiri" pitchFamily="2" charset="-78"/>
                <a:cs typeface="Amiri" pitchFamily="2" charset="-78"/>
              </a:rPr>
              <a:t>صِحِّيَّةٌ</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لِأَنَّهُ</a:t>
            </a:r>
            <a:endParaRPr lang="ar-SA" sz="20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لَكِنْ</a:t>
            </a:r>
            <a:endParaRPr lang="ar-SA" sz="20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لِأَنَّهَا</a:t>
            </a:r>
            <a:endParaRPr lang="ar-SA" sz="2050" dirty="0"/>
          </a:p>
        </p:txBody>
      </p:sp>
      <p:sp>
        <p:nvSpPr>
          <p:cNvPr id="54" name="Shape 51"/>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585216"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sentence has correct agreement?</a:t>
            </a:r>
            <a:endParaRPr lang="en-US" sz="1250" dirty="0"/>
          </a:p>
        </p:txBody>
      </p:sp>
      <p:sp>
        <p:nvSpPr>
          <p:cNvPr id="58" name="Shape 55"/>
          <p:cNvSpPr/>
          <p:nvPr/>
        </p:nvSpPr>
        <p:spPr>
          <a:xfrm>
            <a:off x="640080"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0" name="Text 57"/>
          <p:cNvSpPr txBox="1"/>
          <p:nvPr/>
        </p:nvSpPr>
        <p:spPr>
          <a:xfrm>
            <a:off x="969264"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الخُبْزُ طَازَجَةٌ.</a:t>
            </a:r>
            <a:endParaRPr lang="ar-SA" sz="2050" dirty="0"/>
          </a:p>
        </p:txBody>
      </p:sp>
      <p:sp>
        <p:nvSpPr>
          <p:cNvPr id="61" name="Shape 58"/>
          <p:cNvSpPr/>
          <p:nvPr/>
        </p:nvSpPr>
        <p:spPr>
          <a:xfrm>
            <a:off x="640080"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3" name="Text 60"/>
          <p:cNvSpPr txBox="1"/>
          <p:nvPr/>
        </p:nvSpPr>
        <p:spPr>
          <a:xfrm>
            <a:off x="969264"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الخُبْزُ طَازَجُونَ.</a:t>
            </a:r>
            <a:endParaRPr lang="ar-SA" sz="2050" dirty="0"/>
          </a:p>
        </p:txBody>
      </p:sp>
      <p:sp>
        <p:nvSpPr>
          <p:cNvPr id="64" name="Shape 61"/>
          <p:cNvSpPr/>
          <p:nvPr/>
        </p:nvSpPr>
        <p:spPr>
          <a:xfrm>
            <a:off x="640080"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6" name="Text 63"/>
          <p:cNvSpPr txBox="1"/>
          <p:nvPr/>
        </p:nvSpPr>
        <p:spPr>
          <a:xfrm>
            <a:off x="969264"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الخُبْزُ طَازَجٌ.</a:t>
            </a:r>
            <a:endParaRPr lang="ar-SA" sz="2050" dirty="0"/>
          </a:p>
        </p:txBody>
      </p:sp>
      <p:sp>
        <p:nvSpPr>
          <p:cNvPr id="67" name="Shape 64"/>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8" name="Shape 65"/>
          <p:cNvSpPr/>
          <p:nvPr/>
        </p:nvSpPr>
        <p:spPr>
          <a:xfrm>
            <a:off x="4404360" y="4288536"/>
            <a:ext cx="310896" cy="310896"/>
          </a:xfrm>
          <a:prstGeom prst="ellipse">
            <a:avLst/>
          </a:prstGeom>
          <a:solidFill>
            <a:srgbClr val="1B3B6F"/>
          </a:solidFill>
          <a:ln w="12700">
            <a:solidFill>
              <a:srgbClr val="1B3B6F"/>
            </a:solidFill>
            <a:prstDash val="solid"/>
          </a:ln>
        </p:spPr>
      </p:sp>
      <p:sp>
        <p:nvSpPr>
          <p:cNvPr id="69" name="Text 66"/>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0" name="Text 67"/>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word means “bitter”?</a:t>
            </a:r>
            <a:endParaRPr lang="en-US" sz="1250" dirty="0"/>
          </a:p>
        </p:txBody>
      </p:sp>
      <p:sp>
        <p:nvSpPr>
          <p:cNvPr id="71" name="Shape 68"/>
          <p:cNvSpPr/>
          <p:nvPr/>
        </p:nvSpPr>
        <p:spPr>
          <a:xfrm>
            <a:off x="4459224" y="4873752"/>
            <a:ext cx="256032" cy="256032"/>
          </a:xfrm>
          <a:prstGeom prst="ellipse">
            <a:avLst/>
          </a:prstGeom>
          <a:solidFill>
            <a:srgbClr val="F4F1EA"/>
          </a:solidFill>
          <a:ln w="12700">
            <a:solidFill>
              <a:srgbClr val="F4F1EA"/>
            </a:solidFill>
            <a:prstDash val="solid"/>
          </a:ln>
        </p:spPr>
      </p:sp>
      <p:sp>
        <p:nvSpPr>
          <p:cNvPr id="72" name="Text 69"/>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3" name="Text 70"/>
          <p:cNvSpPr txBox="1"/>
          <p:nvPr/>
        </p:nvSpPr>
        <p:spPr>
          <a:xfrm>
            <a:off x="4788408"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مُرٌّ</a:t>
            </a:r>
            <a:endParaRPr lang="ar-SA" sz="2050" dirty="0"/>
          </a:p>
        </p:txBody>
      </p:sp>
      <p:sp>
        <p:nvSpPr>
          <p:cNvPr id="74" name="Shape 71"/>
          <p:cNvSpPr/>
          <p:nvPr/>
        </p:nvSpPr>
        <p:spPr>
          <a:xfrm>
            <a:off x="4459224" y="5330952"/>
            <a:ext cx="256032" cy="256032"/>
          </a:xfrm>
          <a:prstGeom prst="ellipse">
            <a:avLst/>
          </a:prstGeom>
          <a:solidFill>
            <a:srgbClr val="F4F1EA"/>
          </a:solidFill>
          <a:ln w="12700">
            <a:solidFill>
              <a:srgbClr val="F4F1EA"/>
            </a:solidFill>
            <a:prstDash val="solid"/>
          </a:ln>
        </p:spPr>
      </p:sp>
      <p:sp>
        <p:nvSpPr>
          <p:cNvPr id="75" name="Text 72"/>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6" name="Text 73"/>
          <p:cNvSpPr txBox="1"/>
          <p:nvPr/>
        </p:nvSpPr>
        <p:spPr>
          <a:xfrm>
            <a:off x="4788408"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حُلْوٌ</a:t>
            </a:r>
            <a:endParaRPr lang="ar-SA" sz="2050" dirty="0"/>
          </a:p>
        </p:txBody>
      </p:sp>
      <p:sp>
        <p:nvSpPr>
          <p:cNvPr id="77" name="Shape 74"/>
          <p:cNvSpPr/>
          <p:nvPr/>
        </p:nvSpPr>
        <p:spPr>
          <a:xfrm>
            <a:off x="4459224" y="5788152"/>
            <a:ext cx="256032" cy="256032"/>
          </a:xfrm>
          <a:prstGeom prst="ellipse">
            <a:avLst/>
          </a:prstGeom>
          <a:solidFill>
            <a:srgbClr val="F4F1EA"/>
          </a:solidFill>
          <a:ln w="12700">
            <a:solidFill>
              <a:srgbClr val="F4F1EA"/>
            </a:solidFill>
            <a:prstDash val="solid"/>
          </a:ln>
        </p:spPr>
      </p:sp>
      <p:sp>
        <p:nvSpPr>
          <p:cNvPr id="78" name="Text 75"/>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9" name="Text 76"/>
          <p:cNvSpPr txBox="1"/>
          <p:nvPr/>
        </p:nvSpPr>
        <p:spPr>
          <a:xfrm>
            <a:off x="4788408"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مَالِحٌ</a:t>
            </a:r>
            <a:endParaRPr lang="ar-SA" sz="2050" dirty="0"/>
          </a:p>
        </p:txBody>
      </p:sp>
      <p:sp>
        <p:nvSpPr>
          <p:cNvPr id="80" name="Shape 77"/>
          <p:cNvSpPr/>
          <p:nvPr/>
        </p:nvSpPr>
        <p:spPr>
          <a:xfrm>
            <a:off x="8095488" y="4151376"/>
            <a:ext cx="3636264" cy="2157984"/>
          </a:xfrm>
          <a:prstGeom prst="roundRect">
            <a:avLst>
              <a:gd name="adj" fmla="val 3390"/>
            </a:avLst>
          </a:prstGeom>
          <a:solidFill>
            <a:srgbClr val="E8F4F5"/>
          </a:solidFill>
          <a:ln w="9525">
            <a:solidFill>
              <a:srgbClr val="9CCFD4"/>
            </a:solidFill>
            <a:prstDash val="solid"/>
          </a:ln>
          <a:effectLst>
            <a:outerShdw sx="100000" sy="100000" kx="0" ky="0" algn="bl" rotWithShape="0" blurRad="50800" dist="19050" dir="5400000">
              <a:srgbClr val="000000">
                <a:alpha val="10000"/>
              </a:srgbClr>
            </a:outerShdw>
          </a:effectLst>
        </p:spPr>
      </p:sp>
      <p:sp>
        <p:nvSpPr>
          <p:cNvPr id="81" name="Text 78"/>
          <p:cNvSpPr txBox="1"/>
          <p:nvPr/>
        </p:nvSpPr>
        <p:spPr>
          <a:xfrm>
            <a:off x="8296656" y="4471416"/>
            <a:ext cx="3270504" cy="274320"/>
          </a:xfrm>
          <a:prstGeom prst="rect">
            <a:avLst/>
          </a:prstGeom>
          <a:noFill/>
          <a:ln/>
        </p:spPr>
        <p:txBody>
          <a:bodyPr wrap="square" lIns="0" tIns="0" rIns="0" bIns="0" rtlCol="0" anchor="ctr"/>
          <a:lstStyle/>
          <a:p>
            <a:pPr algn="l" indent="0" marL="0">
              <a:buNone/>
            </a:pPr>
            <a:r>
              <a:rPr lang="en-US" sz="1100" b="1" spc="200" kern="0" dirty="0">
                <a:solidFill>
                  <a:srgbClr val="0E7C86"/>
                </a:solidFill>
                <a:latin typeface="Calibri" pitchFamily="34" charset="0"/>
                <a:cs typeface="Amiri" pitchFamily="2" charset="-78"/>
              </a:rPr>
              <a:t>HOW TO ANSWER</a:t>
            </a:r>
            <a:endParaRPr lang="en-US" sz="1100" dirty="0"/>
          </a:p>
        </p:txBody>
      </p:sp>
      <p:sp>
        <p:nvSpPr>
          <p:cNvPr id="82" name="Text 79"/>
          <p:cNvSpPr txBox="1"/>
          <p:nvPr/>
        </p:nvSpPr>
        <p:spPr>
          <a:xfrm>
            <a:off x="8296656" y="4754880"/>
            <a:ext cx="3270504" cy="822960"/>
          </a:xfrm>
          <a:prstGeom prst="rect">
            <a:avLst/>
          </a:prstGeom>
          <a:noFill/>
          <a:ln/>
        </p:spPr>
        <p:txBody>
          <a:bodyPr wrap="square" lIns="0" tIns="0" rIns="0" bIns="0" rtlCol="0" anchor="t"/>
          <a:lstStyle/>
          <a:p>
            <a:pPr algn="l" indent="0" marL="0">
              <a:buNone/>
            </a:pPr>
            <a:r>
              <a:rPr lang="en-US" sz="1350" dirty="0">
                <a:solidFill>
                  <a:srgbClr val="1F2A37"/>
                </a:solidFill>
                <a:latin typeface="Calibri" pitchFamily="34" charset="0"/>
                <a:cs typeface="Amiri" pitchFamily="2" charset="-78"/>
              </a:rPr>
              <a:t>Work on your own in silence.</a:t>
            </a:r>
            <a:endParaRPr lang="en-US" sz="1350" dirty="0"/>
          </a:p>
          <a:p>
            <a:pPr algn="l" indent="0" marL="0">
              <a:buNone/>
            </a:pPr>
            <a:r>
              <a:rPr lang="en-US" sz="1350" dirty="0">
                <a:solidFill>
                  <a:srgbClr val="1F2A37"/>
                </a:solidFill>
                <a:latin typeface="Calibri" pitchFamily="34" charset="0"/>
                <a:cs typeface="Amiri" pitchFamily="2" charset="-78"/>
              </a:rPr>
              <a:t>When the timer ends, type in the chat:</a:t>
            </a:r>
            <a:endParaRPr lang="en-US" sz="1350" dirty="0"/>
          </a:p>
        </p:txBody>
      </p:sp>
      <p:sp>
        <p:nvSpPr>
          <p:cNvPr id="83" name="Text 80"/>
          <p:cNvSpPr txBox="1"/>
          <p:nvPr/>
        </p:nvSpPr>
        <p:spPr>
          <a:xfrm>
            <a:off x="8296656" y="5522976"/>
            <a:ext cx="3270504" cy="310896"/>
          </a:xfrm>
          <a:prstGeom prst="rect">
            <a:avLst/>
          </a:prstGeom>
          <a:noFill/>
          <a:ln/>
        </p:spPr>
        <p:txBody>
          <a:bodyPr wrap="square" lIns="0" tIns="0" rIns="0" bIns="0" rtlCol="0" anchor="ctr"/>
          <a:lstStyle/>
          <a:p>
            <a:pPr algn="l" indent="0" marL="0">
              <a:buNone/>
            </a:pPr>
            <a:r>
              <a:rPr lang="en-US" sz="1400" b="1" dirty="0">
                <a:solidFill>
                  <a:srgbClr val="1B3B6F"/>
                </a:solidFill>
                <a:latin typeface="Consolas" pitchFamily="34" charset="0"/>
                <a:cs typeface="Amiri" pitchFamily="2" charset="-78"/>
              </a:rPr>
              <a:t>1_  2_  3_  4_  5_</a:t>
            </a:r>
            <a:endParaRPr lang="en-US" sz="1400" dirty="0"/>
          </a:p>
        </p:txBody>
      </p:sp>
      <p:sp>
        <p:nvSpPr>
          <p:cNvPr id="84" name="Text 81"/>
          <p:cNvSpPr txBox="1"/>
          <p:nvPr/>
        </p:nvSpPr>
        <p:spPr>
          <a:xfrm>
            <a:off x="8296656" y="5742432"/>
            <a:ext cx="3270504" cy="402336"/>
          </a:xfrm>
          <a:prstGeom prst="rect">
            <a:avLst/>
          </a:prstGeom>
          <a:noFill/>
          <a:ln/>
        </p:spPr>
        <p:txBody>
          <a:bodyPr wrap="square" lIns="0" tIns="0" rIns="0" bIns="0" rtlCol="0" anchor="ctr"/>
          <a:lstStyle/>
          <a:p>
            <a:pPr algn="l" indent="0" marL="0">
              <a:buNone/>
            </a:pPr>
            <a:r>
              <a:rPr lang="en-US" sz="1800" b="1" dirty="0">
                <a:solidFill>
                  <a:srgbClr val="0E7C86"/>
                </a:solidFill>
                <a:latin typeface="Calibri" pitchFamily="34" charset="0"/>
                <a:cs typeface="Amiri" pitchFamily="2" charset="-78"/>
              </a:rPr>
              <a:t>⏱  5 : 00</a:t>
            </a:r>
            <a:endParaRPr lang="en-US" sz="1800" dirty="0"/>
          </a:p>
        </p:txBody>
      </p:sp>
      <p:sp>
        <p:nvSpPr>
          <p:cNvPr id="85" name="Text 8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 / 43</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F5-L05 · Ordering Politely</a:t>
            </a:r>
            <a:endParaRPr lang="en-US" sz="950" dirty="0"/>
          </a:p>
        </p:txBody>
      </p:sp>
      <p:sp>
        <p:nvSpPr>
          <p:cNvPr id="8" name="Shape 6"/>
          <p:cNvSpPr/>
          <p:nvPr/>
        </p:nvSpPr>
        <p:spPr>
          <a:xfrm>
            <a:off x="7295083" y="274320"/>
            <a:ext cx="1464869" cy="329184"/>
          </a:xfrm>
          <a:prstGeom prst="roundRect">
            <a:avLst>
              <a:gd name="adj" fmla="val 50000"/>
            </a:avLst>
          </a:prstGeom>
          <a:solidFill>
            <a:srgbClr val="0E7C86"/>
          </a:solidFill>
          <a:ln w="12700">
            <a:solidFill>
              <a:srgbClr val="0E7C86"/>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DO NOW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0E7C86"/>
                </a:solidFill>
                <a:latin typeface="Calibri" pitchFamily="34" charset="0"/>
                <a:cs typeface="Amiri" pitchFamily="2" charset="-78"/>
              </a:rPr>
              <a:t>DO NOW · ANSWERS AND REASONS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Let’s check — and explain why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 وَالتَّعْلِيلُ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F5 · Food, Health and Body · F5-L05</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ea typeface="Amiri" pitchFamily="2" charset="-78"/>
                <a:cs typeface="Amiri" pitchFamily="2" charset="-78"/>
              </a:rPr>
              <a:t>أُرِيدُ</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19" name="Shape 16"/>
          <p:cNvSpPr/>
          <p:nvPr/>
        </p:nvSpPr>
        <p:spPr>
          <a:xfrm>
            <a:off x="640080" y="2490216"/>
            <a:ext cx="256032" cy="256032"/>
          </a:xfrm>
          <a:prstGeom prst="ellipse">
            <a:avLst/>
          </a:prstGeom>
          <a:solidFill>
            <a:srgbClr val="C9CED6"/>
          </a:solidFill>
          <a:ln w="12700">
            <a:solidFill>
              <a:srgbClr val="C9CED6"/>
            </a:solidFill>
            <a:prstDash val="solid"/>
          </a:ln>
        </p:spPr>
      </p:sp>
      <p:sp>
        <p:nvSpPr>
          <p:cNvPr id="20" name="Text 17"/>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I prefer</a:t>
            </a:r>
            <a:endParaRPr lang="en-US" sz="1250" dirty="0"/>
          </a:p>
        </p:txBody>
      </p:sp>
      <p:sp>
        <p:nvSpPr>
          <p:cNvPr id="22" name="Shape 19"/>
          <p:cNvSpPr/>
          <p:nvPr/>
        </p:nvSpPr>
        <p:spPr>
          <a:xfrm>
            <a:off x="548640" y="2825496"/>
            <a:ext cx="3453384" cy="347472"/>
          </a:xfrm>
          <a:prstGeom prst="roundRect">
            <a:avLst>
              <a:gd name="adj" fmla="val 15789"/>
            </a:avLst>
          </a:prstGeom>
          <a:solidFill>
            <a:srgbClr val="E6F4EC"/>
          </a:solidFill>
          <a:ln w="9525">
            <a:solidFill>
              <a:srgbClr val="2E8B57"/>
            </a:solidFill>
            <a:prstDash val="solid"/>
          </a:ln>
        </p:spPr>
      </p:sp>
      <p:sp>
        <p:nvSpPr>
          <p:cNvPr id="23" name="Shape 20"/>
          <p:cNvSpPr/>
          <p:nvPr/>
        </p:nvSpPr>
        <p:spPr>
          <a:xfrm>
            <a:off x="640080" y="2862072"/>
            <a:ext cx="256032" cy="256032"/>
          </a:xfrm>
          <a:prstGeom prst="ellipse">
            <a:avLst/>
          </a:prstGeom>
          <a:solidFill>
            <a:srgbClr val="2E8B57"/>
          </a:solidFill>
          <a:ln w="12700">
            <a:solidFill>
              <a:srgbClr val="2E8B57"/>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25" name="Text 22"/>
          <p:cNvSpPr txBox="1"/>
          <p:nvPr/>
        </p:nvSpPr>
        <p:spPr>
          <a:xfrm>
            <a:off x="969264" y="2804160"/>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I want / I would like</a:t>
            </a:r>
            <a:endParaRPr lang="en-US" sz="1250" dirty="0"/>
          </a:p>
        </p:txBody>
      </p:sp>
      <p:sp>
        <p:nvSpPr>
          <p:cNvPr id="26" name="Shape 23"/>
          <p:cNvSpPr/>
          <p:nvPr/>
        </p:nvSpPr>
        <p:spPr>
          <a:xfrm>
            <a:off x="640080" y="323392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I drink</a:t>
            </a:r>
            <a:endParaRPr lang="en-US" sz="1250" dirty="0"/>
          </a:p>
        </p:txBody>
      </p:sp>
      <p:sp>
        <p:nvSpPr>
          <p:cNvPr id="29" name="Text 26"/>
          <p:cNvSpPr txBox="1"/>
          <p:nvPr/>
        </p:nvSpPr>
        <p:spPr>
          <a:xfrm>
            <a:off x="585216"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Prepared at home (F5-L04).</a:t>
            </a:r>
            <a:endParaRPr lang="en-US" sz="10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ea typeface="Amiri" pitchFamily="2" charset="-78"/>
                <a:cs typeface="Amiri" pitchFamily="2" charset="-78"/>
              </a:rPr>
              <a:t>الحِسَابُ</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34" name="Shape 31"/>
          <p:cNvSpPr/>
          <p:nvPr/>
        </p:nvSpPr>
        <p:spPr>
          <a:xfrm>
            <a:off x="4367784" y="2453640"/>
            <a:ext cx="3453384" cy="347472"/>
          </a:xfrm>
          <a:prstGeom prst="roundRect">
            <a:avLst>
              <a:gd name="adj" fmla="val 15789"/>
            </a:avLst>
          </a:prstGeom>
          <a:solidFill>
            <a:srgbClr val="E6F4EC"/>
          </a:solidFill>
          <a:ln w="9525">
            <a:solidFill>
              <a:srgbClr val="2E8B57"/>
            </a:solidFill>
            <a:prstDash val="solid"/>
          </a:ln>
        </p:spPr>
      </p:sp>
      <p:sp>
        <p:nvSpPr>
          <p:cNvPr id="35" name="Shape 32"/>
          <p:cNvSpPr/>
          <p:nvPr/>
        </p:nvSpPr>
        <p:spPr>
          <a:xfrm>
            <a:off x="4459224" y="2490216"/>
            <a:ext cx="256032" cy="256032"/>
          </a:xfrm>
          <a:prstGeom prst="ellipse">
            <a:avLst/>
          </a:prstGeom>
          <a:solidFill>
            <a:srgbClr val="2E8B57"/>
          </a:solidFill>
          <a:ln w="12700">
            <a:solidFill>
              <a:srgbClr val="2E8B57"/>
            </a:solidFill>
            <a:prstDash val="solid"/>
          </a:ln>
        </p:spPr>
      </p:sp>
      <p:sp>
        <p:nvSpPr>
          <p:cNvPr id="36" name="Text 33"/>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37" name="Text 34"/>
          <p:cNvSpPr txBox="1"/>
          <p:nvPr/>
        </p:nvSpPr>
        <p:spPr>
          <a:xfrm>
            <a:off x="4788408" y="243230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the bill</a:t>
            </a:r>
            <a:endParaRPr lang="en-US" sz="1250" dirty="0"/>
          </a:p>
        </p:txBody>
      </p:sp>
      <p:sp>
        <p:nvSpPr>
          <p:cNvPr id="38" name="Shape 35"/>
          <p:cNvSpPr/>
          <p:nvPr/>
        </p:nvSpPr>
        <p:spPr>
          <a:xfrm>
            <a:off x="4459224" y="2862072"/>
            <a:ext cx="256032" cy="256032"/>
          </a:xfrm>
          <a:prstGeom prst="ellipse">
            <a:avLst/>
          </a:prstGeom>
          <a:solidFill>
            <a:srgbClr val="C9CED6"/>
          </a:solidFill>
          <a:ln w="12700">
            <a:solidFill>
              <a:srgbClr val="C9CED6"/>
            </a:solidFill>
            <a:prstDash val="solid"/>
          </a:ln>
        </p:spPr>
      </p:sp>
      <p:sp>
        <p:nvSpPr>
          <p:cNvPr id="39" name="Text 36"/>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0" name="Text 37"/>
          <p:cNvSpPr txBox="1"/>
          <p:nvPr/>
        </p:nvSpPr>
        <p:spPr>
          <a:xfrm>
            <a:off x="4788408"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the menu</a:t>
            </a:r>
            <a:endParaRPr lang="en-US" sz="1250" dirty="0"/>
          </a:p>
        </p:txBody>
      </p:sp>
      <p:sp>
        <p:nvSpPr>
          <p:cNvPr id="41" name="Shape 38"/>
          <p:cNvSpPr/>
          <p:nvPr/>
        </p:nvSpPr>
        <p:spPr>
          <a:xfrm>
            <a:off x="4459224" y="323392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4788408"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the waiter</a:t>
            </a:r>
            <a:endParaRPr lang="en-US" sz="1250" dirty="0"/>
          </a:p>
        </p:txBody>
      </p:sp>
      <p:sp>
        <p:nvSpPr>
          <p:cNvPr id="44" name="Text 41"/>
          <p:cNvSpPr txBox="1"/>
          <p:nvPr/>
        </p:nvSpPr>
        <p:spPr>
          <a:xfrm>
            <a:off x="4404360"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Prepared at home (F5-L04).</a:t>
            </a:r>
            <a:endParaRPr lang="en-US" sz="1050" dirty="0"/>
          </a:p>
        </p:txBody>
      </p:sp>
      <p:sp>
        <p:nvSpPr>
          <p:cNvPr id="45" name="Shape 42"/>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Complete: </a:t>
            </a:r>
            <a:pPr algn="l" indent="0" marL="0">
              <a:buNone/>
            </a:pPr>
            <a:r>
              <a:rPr lang="ar-SA" altLang="en-US" sz="1650" b="1" dirty="0">
                <a:solidFill>
                  <a:srgbClr val="1B3B6F"/>
                </a:solidFill>
                <a:latin typeface="Amiri" pitchFamily="2" charset="-78"/>
                <a:ea typeface="Amiri" pitchFamily="2" charset="-78"/>
                <a:cs typeface="Amiri" pitchFamily="2" charset="-78"/>
              </a:rPr>
              <a:t>أُحِبُّ السَّلَطَةَ</a:t>
            </a:r>
            <a:pPr algn="l" indent="0" marL="0">
              <a:buNone/>
            </a:pPr>
            <a:r>
              <a:rPr lang="en-US" sz="1250" b="1" dirty="0">
                <a:solidFill>
                  <a:srgbClr val="1B3B6F"/>
                </a:solidFill>
                <a:latin typeface="Calibri" pitchFamily="34" charset="0"/>
                <a:cs typeface="Amiri" pitchFamily="2" charset="-78"/>
              </a:rPr>
              <a:t> ____ </a:t>
            </a:r>
            <a:pPr algn="l" indent="0" marL="0">
              <a:buNone/>
            </a:pPr>
            <a:r>
              <a:rPr lang="ar-SA" altLang="en-US" sz="1650" b="1" dirty="0">
                <a:solidFill>
                  <a:srgbClr val="1B3B6F"/>
                </a:solidFill>
                <a:latin typeface="Amiri" pitchFamily="2" charset="-78"/>
                <a:ea typeface="Amiri" pitchFamily="2" charset="-78"/>
                <a:cs typeface="Amiri" pitchFamily="2" charset="-78"/>
              </a:rPr>
              <a:t>صِحِّيَّةٌ</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49" name="Shape 46"/>
          <p:cNvSpPr/>
          <p:nvPr/>
        </p:nvSpPr>
        <p:spPr>
          <a:xfrm>
            <a:off x="8278368" y="2490216"/>
            <a:ext cx="256032" cy="256032"/>
          </a:xfrm>
          <a:prstGeom prst="ellipse">
            <a:avLst/>
          </a:prstGeom>
          <a:solidFill>
            <a:srgbClr val="C9CED6"/>
          </a:solidFill>
          <a:ln w="12700">
            <a:solidFill>
              <a:srgbClr val="C9CED6"/>
            </a:solidFill>
            <a:prstDash val="solid"/>
          </a:ln>
        </p:spPr>
      </p:sp>
      <p:sp>
        <p:nvSpPr>
          <p:cNvPr id="50" name="Text 47"/>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1" name="Text 48"/>
          <p:cNvSpPr txBox="1"/>
          <p:nvPr/>
        </p:nvSpPr>
        <p:spPr>
          <a:xfrm>
            <a:off x="8607552" y="243230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لِأَنَّهُ</a:t>
            </a:r>
            <a:endParaRPr lang="ar-SA" sz="1700" dirty="0"/>
          </a:p>
        </p:txBody>
      </p:sp>
      <p:sp>
        <p:nvSpPr>
          <p:cNvPr id="52" name="Shape 49"/>
          <p:cNvSpPr/>
          <p:nvPr/>
        </p:nvSpPr>
        <p:spPr>
          <a:xfrm>
            <a:off x="8278368" y="2862072"/>
            <a:ext cx="256032" cy="256032"/>
          </a:xfrm>
          <a:prstGeom prst="ellipse">
            <a:avLst/>
          </a:prstGeom>
          <a:solidFill>
            <a:srgbClr val="C9CED6"/>
          </a:solidFill>
          <a:ln w="12700">
            <a:solidFill>
              <a:srgbClr val="C9CED6"/>
            </a:solidFill>
            <a:prstDash val="solid"/>
          </a:ln>
        </p:spPr>
      </p:sp>
      <p:sp>
        <p:nvSpPr>
          <p:cNvPr id="53" name="Text 50"/>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4" name="Text 51"/>
          <p:cNvSpPr txBox="1"/>
          <p:nvPr/>
        </p:nvSpPr>
        <p:spPr>
          <a:xfrm>
            <a:off x="8607552" y="280416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لَكِنْ</a:t>
            </a:r>
            <a:endParaRPr lang="ar-SA" sz="1700" dirty="0"/>
          </a:p>
        </p:txBody>
      </p:sp>
      <p:sp>
        <p:nvSpPr>
          <p:cNvPr id="55" name="Shape 52"/>
          <p:cNvSpPr/>
          <p:nvPr/>
        </p:nvSpPr>
        <p:spPr>
          <a:xfrm>
            <a:off x="8186928" y="3197352"/>
            <a:ext cx="3453384" cy="347472"/>
          </a:xfrm>
          <a:prstGeom prst="roundRect">
            <a:avLst>
              <a:gd name="adj" fmla="val 15789"/>
            </a:avLst>
          </a:prstGeom>
          <a:solidFill>
            <a:srgbClr val="E6F4EC"/>
          </a:solidFill>
          <a:ln w="9525">
            <a:solidFill>
              <a:srgbClr val="2E8B57"/>
            </a:solidFill>
            <a:prstDash val="solid"/>
          </a:ln>
        </p:spPr>
      </p:sp>
      <p:sp>
        <p:nvSpPr>
          <p:cNvPr id="56" name="Shape 53"/>
          <p:cNvSpPr/>
          <p:nvPr/>
        </p:nvSpPr>
        <p:spPr>
          <a:xfrm>
            <a:off x="8278368" y="3233928"/>
            <a:ext cx="256032" cy="256032"/>
          </a:xfrm>
          <a:prstGeom prst="ellipse">
            <a:avLst/>
          </a:prstGeom>
          <a:solidFill>
            <a:srgbClr val="2E8B57"/>
          </a:solidFill>
          <a:ln w="12700">
            <a:solidFill>
              <a:srgbClr val="2E8B57"/>
            </a:solidFill>
            <a:prstDash val="solid"/>
          </a:ln>
        </p:spPr>
      </p:sp>
      <p:sp>
        <p:nvSpPr>
          <p:cNvPr id="57" name="Text 54"/>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58" name="Text 55"/>
          <p:cNvSpPr txBox="1"/>
          <p:nvPr/>
        </p:nvSpPr>
        <p:spPr>
          <a:xfrm>
            <a:off x="8607552" y="3176016"/>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لِأَنَّهَا</a:t>
            </a:r>
            <a:endParaRPr lang="ar-SA" sz="1700" dirty="0"/>
          </a:p>
        </p:txBody>
      </p:sp>
      <p:sp>
        <p:nvSpPr>
          <p:cNvPr id="59" name="Text 56"/>
          <p:cNvSpPr txBox="1"/>
          <p:nvPr/>
        </p:nvSpPr>
        <p:spPr>
          <a:xfrm>
            <a:off x="8223504"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F5-L04: salad is feminine.</a:t>
            </a:r>
            <a:endParaRPr lang="en-US" sz="1050" dirty="0"/>
          </a:p>
        </p:txBody>
      </p:sp>
      <p:sp>
        <p:nvSpPr>
          <p:cNvPr id="60" name="Shape 57"/>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585216"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sentence has correct agreement?</a:t>
            </a:r>
            <a:endParaRPr lang="en-US" sz="1250" dirty="0"/>
          </a:p>
        </p:txBody>
      </p:sp>
      <p:sp>
        <p:nvSpPr>
          <p:cNvPr id="64" name="Shape 61"/>
          <p:cNvSpPr/>
          <p:nvPr/>
        </p:nvSpPr>
        <p:spPr>
          <a:xfrm>
            <a:off x="640080" y="4831080"/>
            <a:ext cx="256032" cy="256032"/>
          </a:xfrm>
          <a:prstGeom prst="ellipse">
            <a:avLst/>
          </a:prstGeom>
          <a:solidFill>
            <a:srgbClr val="C9CED6"/>
          </a:solidFill>
          <a:ln w="12700">
            <a:solidFill>
              <a:srgbClr val="C9CED6"/>
            </a:solidFill>
            <a:prstDash val="solid"/>
          </a:ln>
        </p:spPr>
      </p:sp>
      <p:sp>
        <p:nvSpPr>
          <p:cNvPr id="65" name="Text 62"/>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6" name="Text 63"/>
          <p:cNvSpPr txBox="1"/>
          <p:nvPr/>
        </p:nvSpPr>
        <p:spPr>
          <a:xfrm>
            <a:off x="969264" y="4773168"/>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الخُبْزُ طَازَجَةٌ.</a:t>
            </a:r>
            <a:endParaRPr lang="ar-SA" sz="1700" dirty="0"/>
          </a:p>
        </p:txBody>
      </p:sp>
      <p:sp>
        <p:nvSpPr>
          <p:cNvPr id="67" name="Shape 64"/>
          <p:cNvSpPr/>
          <p:nvPr/>
        </p:nvSpPr>
        <p:spPr>
          <a:xfrm>
            <a:off x="640080" y="5202936"/>
            <a:ext cx="256032" cy="256032"/>
          </a:xfrm>
          <a:prstGeom prst="ellipse">
            <a:avLst/>
          </a:prstGeom>
          <a:solidFill>
            <a:srgbClr val="C9CED6"/>
          </a:solidFill>
          <a:ln w="12700">
            <a:solidFill>
              <a:srgbClr val="C9CED6"/>
            </a:solidFill>
            <a:prstDash val="solid"/>
          </a:ln>
        </p:spPr>
      </p:sp>
      <p:sp>
        <p:nvSpPr>
          <p:cNvPr id="68" name="Text 65"/>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9" name="Text 66"/>
          <p:cNvSpPr txBox="1"/>
          <p:nvPr/>
        </p:nvSpPr>
        <p:spPr>
          <a:xfrm>
            <a:off x="969264"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الخُبْزُ طَازَجُونَ.</a:t>
            </a:r>
            <a:endParaRPr lang="ar-SA" sz="1700" dirty="0"/>
          </a:p>
        </p:txBody>
      </p:sp>
      <p:sp>
        <p:nvSpPr>
          <p:cNvPr id="70" name="Shape 67"/>
          <p:cNvSpPr/>
          <p:nvPr/>
        </p:nvSpPr>
        <p:spPr>
          <a:xfrm>
            <a:off x="548640" y="5538216"/>
            <a:ext cx="3453384" cy="347472"/>
          </a:xfrm>
          <a:prstGeom prst="roundRect">
            <a:avLst>
              <a:gd name="adj" fmla="val 15789"/>
            </a:avLst>
          </a:prstGeom>
          <a:solidFill>
            <a:srgbClr val="E6F4EC"/>
          </a:solidFill>
          <a:ln w="9525">
            <a:solidFill>
              <a:srgbClr val="2E8B57"/>
            </a:solidFill>
            <a:prstDash val="solid"/>
          </a:ln>
        </p:spPr>
      </p:sp>
      <p:sp>
        <p:nvSpPr>
          <p:cNvPr id="71" name="Shape 68"/>
          <p:cNvSpPr/>
          <p:nvPr/>
        </p:nvSpPr>
        <p:spPr>
          <a:xfrm>
            <a:off x="640080" y="5574792"/>
            <a:ext cx="256032" cy="256032"/>
          </a:xfrm>
          <a:prstGeom prst="ellipse">
            <a:avLst/>
          </a:prstGeom>
          <a:solidFill>
            <a:srgbClr val="2E8B57"/>
          </a:solidFill>
          <a:ln w="12700">
            <a:solidFill>
              <a:srgbClr val="2E8B57"/>
            </a:solidFill>
            <a:prstDash val="solid"/>
          </a:ln>
        </p:spPr>
      </p:sp>
      <p:sp>
        <p:nvSpPr>
          <p:cNvPr id="72" name="Text 69"/>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73" name="Text 70"/>
          <p:cNvSpPr txBox="1"/>
          <p:nvPr/>
        </p:nvSpPr>
        <p:spPr>
          <a:xfrm>
            <a:off x="969264" y="5516880"/>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الخُبْزُ طَازَجٌ.</a:t>
            </a:r>
            <a:endParaRPr lang="ar-SA" sz="1700" dirty="0"/>
          </a:p>
        </p:txBody>
      </p:sp>
      <p:sp>
        <p:nvSpPr>
          <p:cNvPr id="74" name="Text 71"/>
          <p:cNvSpPr txBox="1"/>
          <p:nvPr/>
        </p:nvSpPr>
        <p:spPr>
          <a:xfrm>
            <a:off x="585216"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F5-L04: bread is masculine.</a:t>
            </a:r>
            <a:endParaRPr lang="en-US" sz="1050" dirty="0"/>
          </a:p>
        </p:txBody>
      </p:sp>
      <p:sp>
        <p:nvSpPr>
          <p:cNvPr id="75" name="Shape 72"/>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6" name="Shape 73"/>
          <p:cNvSpPr/>
          <p:nvPr/>
        </p:nvSpPr>
        <p:spPr>
          <a:xfrm>
            <a:off x="4404360" y="4288536"/>
            <a:ext cx="310896" cy="310896"/>
          </a:xfrm>
          <a:prstGeom prst="ellipse">
            <a:avLst/>
          </a:prstGeom>
          <a:solidFill>
            <a:srgbClr val="1B3B6F"/>
          </a:solidFill>
          <a:ln w="12700">
            <a:solidFill>
              <a:srgbClr val="1B3B6F"/>
            </a:solidFill>
            <a:prstDash val="solid"/>
          </a:ln>
        </p:spPr>
      </p:sp>
      <p:sp>
        <p:nvSpPr>
          <p:cNvPr id="77" name="Text 74"/>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8" name="Text 75"/>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word means “bitter”?</a:t>
            </a:r>
            <a:endParaRPr lang="en-US" sz="1250" dirty="0"/>
          </a:p>
        </p:txBody>
      </p:sp>
      <p:sp>
        <p:nvSpPr>
          <p:cNvPr id="79" name="Shape 76"/>
          <p:cNvSpPr/>
          <p:nvPr/>
        </p:nvSpPr>
        <p:spPr>
          <a:xfrm>
            <a:off x="4367784" y="4794504"/>
            <a:ext cx="3453384" cy="347472"/>
          </a:xfrm>
          <a:prstGeom prst="roundRect">
            <a:avLst>
              <a:gd name="adj" fmla="val 15789"/>
            </a:avLst>
          </a:prstGeom>
          <a:solidFill>
            <a:srgbClr val="E6F4EC"/>
          </a:solidFill>
          <a:ln w="9525">
            <a:solidFill>
              <a:srgbClr val="2E8B57"/>
            </a:solidFill>
            <a:prstDash val="solid"/>
          </a:ln>
        </p:spPr>
      </p:sp>
      <p:sp>
        <p:nvSpPr>
          <p:cNvPr id="80" name="Shape 77"/>
          <p:cNvSpPr/>
          <p:nvPr/>
        </p:nvSpPr>
        <p:spPr>
          <a:xfrm>
            <a:off x="4459224" y="4831080"/>
            <a:ext cx="256032" cy="256032"/>
          </a:xfrm>
          <a:prstGeom prst="ellipse">
            <a:avLst/>
          </a:prstGeom>
          <a:solidFill>
            <a:srgbClr val="2E8B57"/>
          </a:solidFill>
          <a:ln w="12700">
            <a:solidFill>
              <a:srgbClr val="2E8B57"/>
            </a:solidFill>
            <a:prstDash val="solid"/>
          </a:ln>
        </p:spPr>
      </p:sp>
      <p:sp>
        <p:nvSpPr>
          <p:cNvPr id="81" name="Text 78"/>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82" name="Text 79"/>
          <p:cNvSpPr txBox="1"/>
          <p:nvPr/>
        </p:nvSpPr>
        <p:spPr>
          <a:xfrm>
            <a:off x="4788408" y="4773168"/>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مُرٌّ</a:t>
            </a:r>
            <a:endParaRPr lang="ar-SA" sz="1700" dirty="0"/>
          </a:p>
        </p:txBody>
      </p:sp>
      <p:sp>
        <p:nvSpPr>
          <p:cNvPr id="83" name="Shape 80"/>
          <p:cNvSpPr/>
          <p:nvPr/>
        </p:nvSpPr>
        <p:spPr>
          <a:xfrm>
            <a:off x="4459224" y="5202936"/>
            <a:ext cx="256032" cy="256032"/>
          </a:xfrm>
          <a:prstGeom prst="ellipse">
            <a:avLst/>
          </a:prstGeom>
          <a:solidFill>
            <a:srgbClr val="C9CED6"/>
          </a:solidFill>
          <a:ln w="12700">
            <a:solidFill>
              <a:srgbClr val="C9CED6"/>
            </a:solidFill>
            <a:prstDash val="solid"/>
          </a:ln>
        </p:spPr>
      </p:sp>
      <p:sp>
        <p:nvSpPr>
          <p:cNvPr id="84" name="Text 81"/>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85" name="Text 82"/>
          <p:cNvSpPr txBox="1"/>
          <p:nvPr/>
        </p:nvSpPr>
        <p:spPr>
          <a:xfrm>
            <a:off x="4788408"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حُلْوٌ</a:t>
            </a:r>
            <a:endParaRPr lang="ar-SA" sz="1700" dirty="0"/>
          </a:p>
        </p:txBody>
      </p:sp>
      <p:sp>
        <p:nvSpPr>
          <p:cNvPr id="86" name="Shape 83"/>
          <p:cNvSpPr/>
          <p:nvPr/>
        </p:nvSpPr>
        <p:spPr>
          <a:xfrm>
            <a:off x="4459224" y="5574792"/>
            <a:ext cx="256032" cy="256032"/>
          </a:xfrm>
          <a:prstGeom prst="ellipse">
            <a:avLst/>
          </a:prstGeom>
          <a:solidFill>
            <a:srgbClr val="C9CED6"/>
          </a:solidFill>
          <a:ln w="12700">
            <a:solidFill>
              <a:srgbClr val="C9CED6"/>
            </a:solidFill>
            <a:prstDash val="solid"/>
          </a:ln>
        </p:spPr>
      </p:sp>
      <p:sp>
        <p:nvSpPr>
          <p:cNvPr id="87" name="Text 84"/>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8" name="Text 85"/>
          <p:cNvSpPr txBox="1"/>
          <p:nvPr/>
        </p:nvSpPr>
        <p:spPr>
          <a:xfrm>
            <a:off x="4788408" y="551688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مَالِحٌ</a:t>
            </a:r>
            <a:endParaRPr lang="ar-SA" sz="1700" dirty="0"/>
          </a:p>
        </p:txBody>
      </p:sp>
      <p:sp>
        <p:nvSpPr>
          <p:cNvPr id="89" name="Text 86"/>
          <p:cNvSpPr txBox="1"/>
          <p:nvPr/>
        </p:nvSpPr>
        <p:spPr>
          <a:xfrm>
            <a:off x="4404360"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F5-L04 taste words.</a:t>
            </a:r>
            <a:endParaRPr lang="en-US" sz="1050" dirty="0"/>
          </a:p>
        </p:txBody>
      </p:sp>
      <p:sp>
        <p:nvSpPr>
          <p:cNvPr id="90" name="Shape 87"/>
          <p:cNvSpPr/>
          <p:nvPr/>
        </p:nvSpPr>
        <p:spPr>
          <a:xfrm>
            <a:off x="8095488" y="4151376"/>
            <a:ext cx="3636264" cy="2157984"/>
          </a:xfrm>
          <a:prstGeom prst="roundRect">
            <a:avLst>
              <a:gd name="adj" fmla="val 3390"/>
            </a:avLst>
          </a:prstGeom>
          <a:solidFill>
            <a:srgbClr val="FFF7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91" name="Text 88"/>
          <p:cNvSpPr txBox="1"/>
          <p:nvPr/>
        </p:nvSpPr>
        <p:spPr>
          <a:xfrm>
            <a:off x="8278368" y="4279392"/>
            <a:ext cx="3270504" cy="256032"/>
          </a:xfrm>
          <a:prstGeom prst="rect">
            <a:avLst/>
          </a:prstGeom>
          <a:noFill/>
          <a:ln/>
        </p:spPr>
        <p:txBody>
          <a:bodyPr wrap="square" lIns="0" tIns="0" rIns="0" bIns="0" rtlCol="0" anchor="ctr"/>
          <a:lstStyle/>
          <a:p>
            <a:pPr algn="l" indent="0" marL="0">
              <a:buNone/>
            </a:pPr>
            <a:r>
              <a:rPr lang="en-US" sz="1000" b="1" spc="200" kern="0" dirty="0">
                <a:solidFill>
                  <a:srgbClr val="8A6D1E"/>
                </a:solidFill>
                <a:latin typeface="Calibri" pitchFamily="34" charset="0"/>
                <a:cs typeface="Amiri" pitchFamily="2" charset="-78"/>
              </a:rPr>
              <a:t>THE KEY IDEA FOR TODAY</a:t>
            </a:r>
            <a:endParaRPr lang="en-US" sz="1000" dirty="0"/>
          </a:p>
        </p:txBody>
      </p:sp>
      <p:sp>
        <p:nvSpPr>
          <p:cNvPr id="92" name="Text 89"/>
          <p:cNvSpPr txBox="1"/>
          <p:nvPr/>
        </p:nvSpPr>
        <p:spPr>
          <a:xfrm>
            <a:off x="8278368" y="4553712"/>
            <a:ext cx="3270504" cy="640080"/>
          </a:xfrm>
          <a:prstGeom prst="rect">
            <a:avLst/>
          </a:prstGeom>
          <a:noFill/>
          <a:ln/>
        </p:spPr>
        <p:txBody>
          <a:bodyPr wrap="square" lIns="0" tIns="0" rIns="0" bIns="0" rtlCol="0" anchor="t"/>
          <a:lstStyle/>
          <a:p>
            <a:pPr algn="l" indent="0" marL="0">
              <a:buNone/>
            </a:pPr>
            <a:r>
              <a:rPr lang="en-US" sz="1300" b="1" dirty="0">
                <a:solidFill>
                  <a:srgbClr val="1F2A37"/>
                </a:solidFill>
                <a:latin typeface="Calibri" pitchFamily="34" charset="0"/>
                <a:cs typeface="Amiri" pitchFamily="2" charset="-78"/>
              </a:rPr>
              <a:t>A polite order = what you want + please. Five stages: greet · order · answer · pay · thank.</a:t>
            </a:r>
            <a:endParaRPr lang="en-US" sz="1300" dirty="0"/>
          </a:p>
        </p:txBody>
      </p:sp>
      <p:sp>
        <p:nvSpPr>
          <p:cNvPr id="93" name="Text 90"/>
          <p:cNvSpPr txBox="1"/>
          <p:nvPr/>
        </p:nvSpPr>
        <p:spPr>
          <a:xfrm>
            <a:off x="8278368" y="5202936"/>
            <a:ext cx="3270504" cy="1014984"/>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أُرِيدُ شَايًا، </a:t>
            </a:r>
            <a:pPr rtl="1" algn="ctr" indent="0" marL="0">
              <a:buNone/>
            </a:pPr>
            <a:r>
              <a:rPr lang="ar-SA" altLang="en-US" sz="2400" b="1" dirty="0">
                <a:solidFill>
                  <a:srgbClr val="D6336C"/>
                </a:solidFill>
                <a:latin typeface="Amiri" pitchFamily="2" charset="-78"/>
                <a:ea typeface="Amiri" pitchFamily="2" charset="-78"/>
                <a:cs typeface="Amiri" pitchFamily="2" charset="-78"/>
              </a:rPr>
              <a:t>مِنْ فَضْلِكَ</a:t>
            </a:r>
            <a:pPr rtl="1" algn="ctr" indent="0" marL="0">
              <a:buNone/>
            </a:pPr>
            <a:r>
              <a:rPr lang="ar-SA" altLang="en-US" sz="2400" b="1" dirty="0">
                <a:solidFill>
                  <a:srgbClr val="1B3B6F"/>
                </a:solidFill>
                <a:latin typeface="Amiri" pitchFamily="2" charset="-78"/>
                <a:cs typeface="Amiri" pitchFamily="2" charset="-78"/>
              </a:rPr>
              <a:t>.</a:t>
            </a:r>
            <a:endParaRPr lang="ar-SA" sz="2400" dirty="0"/>
          </a:p>
        </p:txBody>
      </p:sp>
      <p:sp>
        <p:nvSpPr>
          <p:cNvPr id="94" name="Text 9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5 / 43</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F5-L05 · Ordering Politely</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LESSON OBJECTIVES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Objectives and success criteria</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الأَهْدَافُ وَمَعَايِيرُ النَّجَاحِ</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F5 · Food, Health and Body · F5-L05</a:t>
            </a:r>
            <a:endParaRPr lang="en-US" sz="850" dirty="0"/>
          </a:p>
        </p:txBody>
      </p:sp>
      <p:sp>
        <p:nvSpPr>
          <p:cNvPr id="15" name="Shape 12"/>
          <p:cNvSpPr/>
          <p:nvPr/>
        </p:nvSpPr>
        <p:spPr>
          <a:xfrm>
            <a:off x="457200" y="1810512"/>
            <a:ext cx="4663440" cy="4315968"/>
          </a:xfrm>
          <a:prstGeom prst="roundRect">
            <a:avLst>
              <a:gd name="adj" fmla="val 1695"/>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20240"/>
            <a:ext cx="2743200" cy="292608"/>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TODAY YOU WILL</a:t>
            </a:r>
            <a:endParaRPr lang="en-US" sz="1100" dirty="0"/>
          </a:p>
        </p:txBody>
      </p:sp>
      <p:sp>
        <p:nvSpPr>
          <p:cNvPr id="17" name="Text 14"/>
          <p:cNvSpPr txBox="1"/>
          <p:nvPr/>
        </p:nvSpPr>
        <p:spPr>
          <a:xfrm>
            <a:off x="2834640" y="1874520"/>
            <a:ext cx="2103120" cy="365760"/>
          </a:xfrm>
          <a:prstGeom prst="rect">
            <a:avLst/>
          </a:prstGeom>
          <a:noFill/>
          <a:ln/>
        </p:spPr>
        <p:txBody>
          <a:bodyPr wrap="square" lIns="0" tIns="0" rIns="0" bIns="0" rtlCol="0" anchor="ctr"/>
          <a:lstStyle/>
          <a:p>
            <a:pPr rtl="1" algn="r" indent="0" marL="0">
              <a:buNone/>
            </a:pPr>
            <a:r>
              <a:rPr lang="ar-SA" altLang="en-US" sz="1600" dirty="0">
                <a:solidFill>
                  <a:srgbClr val="8A6D1E"/>
                </a:solidFill>
                <a:latin typeface="Amiri" pitchFamily="2" charset="-78"/>
                <a:ea typeface="Amiri" pitchFamily="2" charset="-78"/>
                <a:cs typeface="Amiri" pitchFamily="2" charset="-78"/>
              </a:rPr>
              <a:t>سَتَتَعَلَّمُ اليَوْمَ</a:t>
            </a:r>
            <a:endParaRPr lang="ar-SA" sz="1600" dirty="0"/>
          </a:p>
        </p:txBody>
      </p:sp>
      <p:sp>
        <p:nvSpPr>
          <p:cNvPr id="18" name="Shape 15"/>
          <p:cNvSpPr/>
          <p:nvPr/>
        </p:nvSpPr>
        <p:spPr>
          <a:xfrm>
            <a:off x="685800" y="2395728"/>
            <a:ext cx="365760" cy="365760"/>
          </a:xfrm>
          <a:prstGeom prst="ellipse">
            <a:avLst/>
          </a:prstGeom>
          <a:solidFill>
            <a:srgbClr val="1B3B6F"/>
          </a:solidFill>
          <a:ln w="12700">
            <a:solidFill>
              <a:srgbClr val="1B3B6F"/>
            </a:solidFill>
            <a:prstDash val="solid"/>
          </a:ln>
        </p:spPr>
      </p:sp>
      <p:sp>
        <p:nvSpPr>
          <p:cNvPr id="19" name="Text 16"/>
          <p:cNvSpPr txBox="1"/>
          <p:nvPr/>
        </p:nvSpPr>
        <p:spPr>
          <a:xfrm>
            <a:off x="685800" y="2395728"/>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1</a:t>
            </a:r>
            <a:endParaRPr lang="en-US" sz="1200" dirty="0"/>
          </a:p>
        </p:txBody>
      </p:sp>
      <p:sp>
        <p:nvSpPr>
          <p:cNvPr id="20" name="Text 17"/>
          <p:cNvSpPr txBox="1"/>
          <p:nvPr/>
        </p:nvSpPr>
        <p:spPr>
          <a:xfrm>
            <a:off x="1188720" y="2286000"/>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Use polite request language in a food-ordering exchange.</a:t>
            </a:r>
            <a:endParaRPr lang="en-US" sz="1300" dirty="0"/>
          </a:p>
        </p:txBody>
      </p:sp>
      <p:sp>
        <p:nvSpPr>
          <p:cNvPr id="21" name="Shape 18"/>
          <p:cNvSpPr/>
          <p:nvPr/>
        </p:nvSpPr>
        <p:spPr>
          <a:xfrm>
            <a:off x="685800" y="3291840"/>
            <a:ext cx="365760" cy="365760"/>
          </a:xfrm>
          <a:prstGeom prst="ellipse">
            <a:avLst/>
          </a:prstGeom>
          <a:solidFill>
            <a:srgbClr val="1B3B6F"/>
          </a:solidFill>
          <a:ln w="12700">
            <a:solidFill>
              <a:srgbClr val="1B3B6F"/>
            </a:solidFill>
            <a:prstDash val="solid"/>
          </a:ln>
        </p:spPr>
      </p:sp>
      <p:sp>
        <p:nvSpPr>
          <p:cNvPr id="22" name="Text 19"/>
          <p:cNvSpPr txBox="1"/>
          <p:nvPr/>
        </p:nvSpPr>
        <p:spPr>
          <a:xfrm>
            <a:off x="685800" y="3291840"/>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2</a:t>
            </a:r>
            <a:endParaRPr lang="en-US" sz="1200" dirty="0"/>
          </a:p>
        </p:txBody>
      </p:sp>
      <p:sp>
        <p:nvSpPr>
          <p:cNvPr id="23" name="Text 20"/>
          <p:cNvSpPr txBox="1"/>
          <p:nvPr/>
        </p:nvSpPr>
        <p:spPr>
          <a:xfrm>
            <a:off x="1188720" y="3182112"/>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Ask whether an item is available and request alternatives.</a:t>
            </a:r>
            <a:endParaRPr lang="en-US" sz="1300" dirty="0"/>
          </a:p>
        </p:txBody>
      </p:sp>
      <p:sp>
        <p:nvSpPr>
          <p:cNvPr id="24" name="Shape 21"/>
          <p:cNvSpPr/>
          <p:nvPr/>
        </p:nvSpPr>
        <p:spPr>
          <a:xfrm>
            <a:off x="685800" y="4187952"/>
            <a:ext cx="365760" cy="365760"/>
          </a:xfrm>
          <a:prstGeom prst="ellipse">
            <a:avLst/>
          </a:prstGeom>
          <a:solidFill>
            <a:srgbClr val="1B3B6F"/>
          </a:solidFill>
          <a:ln w="12700">
            <a:solidFill>
              <a:srgbClr val="1B3B6F"/>
            </a:solidFill>
            <a:prstDash val="solid"/>
          </a:ln>
        </p:spPr>
      </p:sp>
      <p:sp>
        <p:nvSpPr>
          <p:cNvPr id="25" name="Text 22"/>
          <p:cNvSpPr txBox="1"/>
          <p:nvPr/>
        </p:nvSpPr>
        <p:spPr>
          <a:xfrm>
            <a:off x="685800" y="4187952"/>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3</a:t>
            </a:r>
            <a:endParaRPr lang="en-US" sz="1200" dirty="0"/>
          </a:p>
        </p:txBody>
      </p:sp>
      <p:sp>
        <p:nvSpPr>
          <p:cNvPr id="26" name="Text 23"/>
          <p:cNvSpPr txBox="1"/>
          <p:nvPr/>
        </p:nvSpPr>
        <p:spPr>
          <a:xfrm>
            <a:off x="1188720" y="4078224"/>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Understand common waiter/customer questions.</a:t>
            </a:r>
            <a:endParaRPr lang="en-US" sz="1300" dirty="0"/>
          </a:p>
        </p:txBody>
      </p:sp>
      <p:sp>
        <p:nvSpPr>
          <p:cNvPr id="27" name="Shape 24"/>
          <p:cNvSpPr/>
          <p:nvPr/>
        </p:nvSpPr>
        <p:spPr>
          <a:xfrm>
            <a:off x="685800" y="5084064"/>
            <a:ext cx="365760" cy="365760"/>
          </a:xfrm>
          <a:prstGeom prst="ellipse">
            <a:avLst/>
          </a:prstGeom>
          <a:solidFill>
            <a:srgbClr val="1B3B6F"/>
          </a:solidFill>
          <a:ln w="12700">
            <a:solidFill>
              <a:srgbClr val="1B3B6F"/>
            </a:solidFill>
            <a:prstDash val="solid"/>
          </a:ln>
        </p:spPr>
      </p:sp>
      <p:sp>
        <p:nvSpPr>
          <p:cNvPr id="28" name="Text 25"/>
          <p:cNvSpPr txBox="1"/>
          <p:nvPr/>
        </p:nvSpPr>
        <p:spPr>
          <a:xfrm>
            <a:off x="685800" y="5084064"/>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4</a:t>
            </a:r>
            <a:endParaRPr lang="en-US" sz="1200" dirty="0"/>
          </a:p>
        </p:txBody>
      </p:sp>
      <p:sp>
        <p:nvSpPr>
          <p:cNvPr id="29" name="Text 26"/>
          <p:cNvSpPr txBox="1"/>
          <p:nvPr/>
        </p:nvSpPr>
        <p:spPr>
          <a:xfrm>
            <a:off x="1188720" y="4974336"/>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Write a complete six-line restaurant dialogue.</a:t>
            </a:r>
            <a:endParaRPr lang="en-US" sz="1300" dirty="0"/>
          </a:p>
        </p:txBody>
      </p:sp>
      <p:sp>
        <p:nvSpPr>
          <p:cNvPr id="30" name="Shape 27"/>
          <p:cNvSpPr/>
          <p:nvPr/>
        </p:nvSpPr>
        <p:spPr>
          <a:xfrm>
            <a:off x="5349240" y="1810512"/>
            <a:ext cx="6382512" cy="1353312"/>
          </a:xfrm>
          <a:prstGeom prst="roundRect">
            <a:avLst>
              <a:gd name="adj" fmla="val 5405"/>
            </a:avLst>
          </a:prstGeom>
          <a:solidFill>
            <a:srgbClr val="E9F5EE"/>
          </a:solidFill>
          <a:ln w="9525">
            <a:solidFill>
              <a:srgbClr val="2E8B57"/>
            </a:solidFill>
            <a:prstDash val="solid"/>
          </a:ln>
        </p:spPr>
      </p:sp>
      <p:sp>
        <p:nvSpPr>
          <p:cNvPr id="31" name="Shape 28"/>
          <p:cNvSpPr/>
          <p:nvPr/>
        </p:nvSpPr>
        <p:spPr>
          <a:xfrm>
            <a:off x="5532120" y="1947672"/>
            <a:ext cx="1143000" cy="292608"/>
          </a:xfrm>
          <a:prstGeom prst="roundRect">
            <a:avLst>
              <a:gd name="adj" fmla="val 50000"/>
            </a:avLst>
          </a:prstGeom>
          <a:solidFill>
            <a:srgbClr val="2E8B57"/>
          </a:solidFill>
          <a:ln w="12700">
            <a:solidFill>
              <a:srgbClr val="2E8B57"/>
            </a:solidFill>
            <a:prstDash val="solid"/>
          </a:ln>
        </p:spPr>
      </p:sp>
      <p:sp>
        <p:nvSpPr>
          <p:cNvPr id="32" name="Text 29"/>
          <p:cNvSpPr txBox="1"/>
          <p:nvPr/>
        </p:nvSpPr>
        <p:spPr>
          <a:xfrm>
            <a:off x="5532120" y="194767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CORE</a:t>
            </a:r>
            <a:endParaRPr lang="en-US" sz="950" dirty="0"/>
          </a:p>
        </p:txBody>
      </p:sp>
      <p:sp>
        <p:nvSpPr>
          <p:cNvPr id="33" name="Text 30"/>
          <p:cNvSpPr txBox="1"/>
          <p:nvPr/>
        </p:nvSpPr>
        <p:spPr>
          <a:xfrm>
            <a:off x="6766560" y="1947672"/>
            <a:ext cx="1828800" cy="292608"/>
          </a:xfrm>
          <a:prstGeom prst="rect">
            <a:avLst/>
          </a:prstGeom>
          <a:noFill/>
          <a:ln/>
        </p:spPr>
        <p:txBody>
          <a:bodyPr wrap="square" lIns="0" tIns="0" rIns="0" bIns="0" rtlCol="0" anchor="ctr"/>
          <a:lstStyle/>
          <a:p>
            <a:pPr algn="l" indent="0" marL="0">
              <a:buNone/>
            </a:pPr>
            <a:r>
              <a:rPr lang="en-US" sz="1050" b="1" i="1" dirty="0">
                <a:solidFill>
                  <a:srgbClr val="2E8B57"/>
                </a:solidFill>
                <a:latin typeface="Calibri" pitchFamily="34" charset="0"/>
                <a:cs typeface="Amiri" pitchFamily="2" charset="-78"/>
              </a:rPr>
              <a:t>Everyone</a:t>
            </a:r>
            <a:endParaRPr lang="en-US" sz="1050" dirty="0"/>
          </a:p>
        </p:txBody>
      </p:sp>
      <p:sp>
        <p:nvSpPr>
          <p:cNvPr id="34" name="Text 31"/>
          <p:cNvSpPr txBox="1"/>
          <p:nvPr/>
        </p:nvSpPr>
        <p:spPr>
          <a:xfrm>
            <a:off x="5532120" y="2286000"/>
            <a:ext cx="6016752" cy="393192"/>
          </a:xfrm>
          <a:prstGeom prst="rect">
            <a:avLst/>
          </a:prstGeom>
          <a:noFill/>
          <a:ln/>
        </p:spPr>
        <p:txBody>
          <a:bodyPr wrap="square" lIns="0" tIns="0" rIns="0" bIns="0" rtlCol="0" anchor="ctr"/>
          <a:lstStyle/>
          <a:p>
            <a:pPr algn="l" indent="0" marL="0">
              <a:buNone/>
            </a:pPr>
            <a:r>
              <a:rPr lang="en-US" sz="1300" b="1" dirty="0">
                <a:solidFill>
                  <a:srgbClr val="2E8B57"/>
                </a:solidFill>
                <a:latin typeface="Calibri" pitchFamily="34" charset="0"/>
                <a:cs typeface="Amiri" pitchFamily="2" charset="-78"/>
              </a:rPr>
              <a:t>☐  I can order three items politely.</a:t>
            </a:r>
            <a:endParaRPr lang="en-US" sz="1300" dirty="0"/>
          </a:p>
        </p:txBody>
      </p:sp>
      <p:sp>
        <p:nvSpPr>
          <p:cNvPr id="35" name="Text 32"/>
          <p:cNvSpPr txBox="1"/>
          <p:nvPr/>
        </p:nvSpPr>
        <p:spPr>
          <a:xfrm>
            <a:off x="5532120" y="2697480"/>
            <a:ext cx="6016752" cy="393192"/>
          </a:xfrm>
          <a:prstGeom prst="rect">
            <a:avLst/>
          </a:prstGeom>
          <a:noFill/>
          <a:ln/>
        </p:spPr>
        <p:txBody>
          <a:bodyPr wrap="square" lIns="0" tIns="0" rIns="0" bIns="0" rtlCol="0" anchor="ctr"/>
          <a:lstStyle/>
          <a:p>
            <a:pPr algn="l" indent="0" marL="0">
              <a:buNone/>
            </a:pPr>
            <a:r>
              <a:rPr lang="en-US" sz="1300" b="1" dirty="0">
                <a:solidFill>
                  <a:srgbClr val="2E8B57"/>
                </a:solidFill>
                <a:latin typeface="Calibri" pitchFamily="34" charset="0"/>
                <a:cs typeface="Amiri" pitchFamily="2" charset="-78"/>
              </a:rPr>
              <a:t>☐  I can ask for the bill.</a:t>
            </a:r>
            <a:endParaRPr lang="en-US" sz="1300" dirty="0"/>
          </a:p>
        </p:txBody>
      </p:sp>
      <p:sp>
        <p:nvSpPr>
          <p:cNvPr id="36" name="Shape 33"/>
          <p:cNvSpPr/>
          <p:nvPr/>
        </p:nvSpPr>
        <p:spPr>
          <a:xfrm>
            <a:off x="5349240" y="3273552"/>
            <a:ext cx="6382512" cy="1353312"/>
          </a:xfrm>
          <a:prstGeom prst="roundRect">
            <a:avLst>
              <a:gd name="adj" fmla="val 5405"/>
            </a:avLst>
          </a:prstGeom>
          <a:solidFill>
            <a:srgbClr val="FCF1E0"/>
          </a:solidFill>
          <a:ln w="9525">
            <a:solidFill>
              <a:srgbClr val="C9780A"/>
            </a:solidFill>
            <a:prstDash val="solid"/>
          </a:ln>
        </p:spPr>
      </p:sp>
      <p:sp>
        <p:nvSpPr>
          <p:cNvPr id="37" name="Shape 34"/>
          <p:cNvSpPr/>
          <p:nvPr/>
        </p:nvSpPr>
        <p:spPr>
          <a:xfrm>
            <a:off x="5532120" y="3410712"/>
            <a:ext cx="1143000" cy="292608"/>
          </a:xfrm>
          <a:prstGeom prst="roundRect">
            <a:avLst>
              <a:gd name="adj" fmla="val 50000"/>
            </a:avLst>
          </a:prstGeom>
          <a:solidFill>
            <a:srgbClr val="C9780A"/>
          </a:solidFill>
          <a:ln w="12700">
            <a:solidFill>
              <a:srgbClr val="C9780A"/>
            </a:solidFill>
            <a:prstDash val="solid"/>
          </a:ln>
        </p:spPr>
      </p:sp>
      <p:sp>
        <p:nvSpPr>
          <p:cNvPr id="38" name="Text 35"/>
          <p:cNvSpPr txBox="1"/>
          <p:nvPr/>
        </p:nvSpPr>
        <p:spPr>
          <a:xfrm>
            <a:off x="5532120" y="341071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DEVELOP</a:t>
            </a:r>
            <a:endParaRPr lang="en-US" sz="950" dirty="0"/>
          </a:p>
        </p:txBody>
      </p:sp>
      <p:sp>
        <p:nvSpPr>
          <p:cNvPr id="39" name="Text 36"/>
          <p:cNvSpPr txBox="1"/>
          <p:nvPr/>
        </p:nvSpPr>
        <p:spPr>
          <a:xfrm>
            <a:off x="6766560" y="3410712"/>
            <a:ext cx="1828800" cy="292608"/>
          </a:xfrm>
          <a:prstGeom prst="rect">
            <a:avLst/>
          </a:prstGeom>
          <a:noFill/>
          <a:ln/>
        </p:spPr>
        <p:txBody>
          <a:bodyPr wrap="square" lIns="0" tIns="0" rIns="0" bIns="0" rtlCol="0" anchor="ctr"/>
          <a:lstStyle/>
          <a:p>
            <a:pPr algn="l" indent="0" marL="0">
              <a:buNone/>
            </a:pPr>
            <a:r>
              <a:rPr lang="en-US" sz="1050" b="1" i="1" dirty="0">
                <a:solidFill>
                  <a:srgbClr val="C9780A"/>
                </a:solidFill>
                <a:latin typeface="Calibri" pitchFamily="34" charset="0"/>
                <a:cs typeface="Amiri" pitchFamily="2" charset="-78"/>
              </a:rPr>
              <a:t>Most of us</a:t>
            </a:r>
            <a:endParaRPr lang="en-US" sz="1050" dirty="0"/>
          </a:p>
        </p:txBody>
      </p:sp>
      <p:sp>
        <p:nvSpPr>
          <p:cNvPr id="40" name="Text 37"/>
          <p:cNvSpPr txBox="1"/>
          <p:nvPr/>
        </p:nvSpPr>
        <p:spPr>
          <a:xfrm>
            <a:off x="5532120" y="3749040"/>
            <a:ext cx="6016752" cy="393192"/>
          </a:xfrm>
          <a:prstGeom prst="rect">
            <a:avLst/>
          </a:prstGeom>
          <a:noFill/>
          <a:ln/>
        </p:spPr>
        <p:txBody>
          <a:bodyPr wrap="square" lIns="0" tIns="0" rIns="0" bIns="0" rtlCol="0" anchor="ctr"/>
          <a:lstStyle/>
          <a:p>
            <a:pPr algn="l" indent="0" marL="0">
              <a:buNone/>
            </a:pPr>
            <a:r>
              <a:rPr lang="en-US" sz="1300" b="1" dirty="0">
                <a:solidFill>
                  <a:srgbClr val="C9780A"/>
                </a:solidFill>
                <a:latin typeface="Calibri" pitchFamily="34" charset="0"/>
                <a:cs typeface="Amiri" pitchFamily="2" charset="-78"/>
              </a:rPr>
              <a:t>☐  I can ask </a:t>
            </a:r>
            <a:pPr algn="l" indent="0" marL="0">
              <a:buNone/>
            </a:pPr>
            <a:r>
              <a:rPr lang="ar-SA" altLang="en-US" sz="1700" b="1" dirty="0">
                <a:solidFill>
                  <a:srgbClr val="C9780A"/>
                </a:solidFill>
                <a:latin typeface="Amiri" pitchFamily="2" charset="-78"/>
                <a:ea typeface="Amiri" pitchFamily="2" charset="-78"/>
                <a:cs typeface="Amiri" pitchFamily="2" charset="-78"/>
              </a:rPr>
              <a:t>هَلْ عِنْدَكُمْ …؟</a:t>
            </a:r>
            <a:pPr algn="l" indent="0" marL="0">
              <a:buNone/>
            </a:pPr>
            <a:r>
              <a:rPr lang="en-US" sz="1300" b="1" dirty="0">
                <a:solidFill>
                  <a:srgbClr val="C9780A"/>
                </a:solidFill>
                <a:latin typeface="Calibri" pitchFamily="34" charset="0"/>
                <a:cs typeface="Amiri" pitchFamily="2" charset="-78"/>
              </a:rPr>
              <a:t> and the price.</a:t>
            </a:r>
            <a:endParaRPr lang="en-US" sz="1300" dirty="0"/>
          </a:p>
        </p:txBody>
      </p:sp>
      <p:sp>
        <p:nvSpPr>
          <p:cNvPr id="41" name="Text 38"/>
          <p:cNvSpPr txBox="1"/>
          <p:nvPr/>
        </p:nvSpPr>
        <p:spPr>
          <a:xfrm>
            <a:off x="5532120" y="4160520"/>
            <a:ext cx="6016752" cy="393192"/>
          </a:xfrm>
          <a:prstGeom prst="rect">
            <a:avLst/>
          </a:prstGeom>
          <a:noFill/>
          <a:ln/>
        </p:spPr>
        <p:txBody>
          <a:bodyPr wrap="square" lIns="0" tIns="0" rIns="0" bIns="0" rtlCol="0" anchor="ctr"/>
          <a:lstStyle/>
          <a:p>
            <a:pPr algn="l" indent="0" marL="0">
              <a:buNone/>
            </a:pPr>
            <a:r>
              <a:rPr lang="en-US" sz="1300" b="1" dirty="0">
                <a:solidFill>
                  <a:srgbClr val="C9780A"/>
                </a:solidFill>
                <a:latin typeface="Calibri" pitchFamily="34" charset="0"/>
                <a:cs typeface="Amiri" pitchFamily="2" charset="-78"/>
              </a:rPr>
              <a:t>☐  I can answer a waiter’s question.</a:t>
            </a:r>
            <a:endParaRPr lang="en-US" sz="1300" dirty="0"/>
          </a:p>
        </p:txBody>
      </p:sp>
      <p:sp>
        <p:nvSpPr>
          <p:cNvPr id="42" name="Shape 39"/>
          <p:cNvSpPr/>
          <p:nvPr/>
        </p:nvSpPr>
        <p:spPr>
          <a:xfrm>
            <a:off x="5349240" y="4736592"/>
            <a:ext cx="6382512" cy="1353312"/>
          </a:xfrm>
          <a:prstGeom prst="roundRect">
            <a:avLst>
              <a:gd name="adj" fmla="val 5405"/>
            </a:avLst>
          </a:prstGeom>
          <a:solidFill>
            <a:srgbClr val="FBEAEA"/>
          </a:solidFill>
          <a:ln w="9525">
            <a:solidFill>
              <a:srgbClr val="B83227"/>
            </a:solidFill>
            <a:prstDash val="solid"/>
          </a:ln>
        </p:spPr>
      </p:sp>
      <p:sp>
        <p:nvSpPr>
          <p:cNvPr id="43" name="Shape 40"/>
          <p:cNvSpPr/>
          <p:nvPr/>
        </p:nvSpPr>
        <p:spPr>
          <a:xfrm>
            <a:off x="5532120" y="4873752"/>
            <a:ext cx="1143000" cy="292608"/>
          </a:xfrm>
          <a:prstGeom prst="roundRect">
            <a:avLst>
              <a:gd name="adj" fmla="val 50000"/>
            </a:avLst>
          </a:prstGeom>
          <a:solidFill>
            <a:srgbClr val="B83227"/>
          </a:solidFill>
          <a:ln w="12700">
            <a:solidFill>
              <a:srgbClr val="B83227"/>
            </a:solidFill>
            <a:prstDash val="solid"/>
          </a:ln>
        </p:spPr>
      </p:sp>
      <p:sp>
        <p:nvSpPr>
          <p:cNvPr id="44" name="Text 41"/>
          <p:cNvSpPr txBox="1"/>
          <p:nvPr/>
        </p:nvSpPr>
        <p:spPr>
          <a:xfrm>
            <a:off x="5532120" y="487375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STRETCH</a:t>
            </a:r>
            <a:endParaRPr lang="en-US" sz="950" dirty="0"/>
          </a:p>
        </p:txBody>
      </p:sp>
      <p:sp>
        <p:nvSpPr>
          <p:cNvPr id="45" name="Text 42"/>
          <p:cNvSpPr txBox="1"/>
          <p:nvPr/>
        </p:nvSpPr>
        <p:spPr>
          <a:xfrm>
            <a:off x="6766560" y="4873752"/>
            <a:ext cx="1828800" cy="292608"/>
          </a:xfrm>
          <a:prstGeom prst="rect">
            <a:avLst/>
          </a:prstGeom>
          <a:noFill/>
          <a:ln/>
        </p:spPr>
        <p:txBody>
          <a:bodyPr wrap="square" lIns="0" tIns="0" rIns="0" bIns="0" rtlCol="0" anchor="ctr"/>
          <a:lstStyle/>
          <a:p>
            <a:pPr algn="l" indent="0" marL="0">
              <a:buNone/>
            </a:pPr>
            <a:r>
              <a:rPr lang="en-US" sz="1050" b="1" i="1" dirty="0">
                <a:solidFill>
                  <a:srgbClr val="B83227"/>
                </a:solidFill>
                <a:latin typeface="Calibri" pitchFamily="34" charset="0"/>
                <a:cs typeface="Amiri" pitchFamily="2" charset="-78"/>
              </a:rPr>
              <a:t>Aim high</a:t>
            </a:r>
            <a:endParaRPr lang="en-US" sz="1050" dirty="0"/>
          </a:p>
        </p:txBody>
      </p:sp>
      <p:sp>
        <p:nvSpPr>
          <p:cNvPr id="46" name="Text 43"/>
          <p:cNvSpPr txBox="1"/>
          <p:nvPr/>
        </p:nvSpPr>
        <p:spPr>
          <a:xfrm>
            <a:off x="5532120" y="5212080"/>
            <a:ext cx="6016752" cy="393192"/>
          </a:xfrm>
          <a:prstGeom prst="rect">
            <a:avLst/>
          </a:prstGeom>
          <a:noFill/>
          <a:ln/>
        </p:spPr>
        <p:txBody>
          <a:bodyPr wrap="square" lIns="0" tIns="0" rIns="0" bIns="0" rtlCol="0" anchor="ctr"/>
          <a:lstStyle/>
          <a:p>
            <a:pPr algn="l" indent="0" marL="0">
              <a:buNone/>
            </a:pPr>
            <a:r>
              <a:rPr lang="en-US" sz="1300" b="1" dirty="0">
                <a:solidFill>
                  <a:srgbClr val="B83227"/>
                </a:solidFill>
                <a:latin typeface="Calibri" pitchFamily="34" charset="0"/>
                <a:cs typeface="Amiri" pitchFamily="2" charset="-78"/>
              </a:rPr>
              <a:t>☐  I can deal with an item that is not available.</a:t>
            </a:r>
            <a:endParaRPr lang="en-US" sz="1300" dirty="0"/>
          </a:p>
        </p:txBody>
      </p:sp>
      <p:sp>
        <p:nvSpPr>
          <p:cNvPr id="47" name="Text 44"/>
          <p:cNvSpPr txBox="1"/>
          <p:nvPr/>
        </p:nvSpPr>
        <p:spPr>
          <a:xfrm>
            <a:off x="5532120" y="5623560"/>
            <a:ext cx="6016752" cy="393192"/>
          </a:xfrm>
          <a:prstGeom prst="rect">
            <a:avLst/>
          </a:prstGeom>
          <a:noFill/>
          <a:ln/>
        </p:spPr>
        <p:txBody>
          <a:bodyPr wrap="square" lIns="0" tIns="0" rIns="0" bIns="0" rtlCol="0" anchor="ctr"/>
          <a:lstStyle/>
          <a:p>
            <a:pPr algn="l" indent="0" marL="0">
              <a:buNone/>
            </a:pPr>
            <a:r>
              <a:rPr lang="en-US" sz="1300" b="1" dirty="0">
                <a:solidFill>
                  <a:srgbClr val="B83227"/>
                </a:solidFill>
                <a:latin typeface="Calibri" pitchFamily="34" charset="0"/>
                <a:cs typeface="Amiri" pitchFamily="2" charset="-78"/>
              </a:rPr>
              <a:t>☐  I can perform the role play without the model.</a:t>
            </a:r>
            <a:endParaRPr lang="en-US" sz="1300" dirty="0"/>
          </a:p>
        </p:txBody>
      </p:sp>
      <p:sp>
        <p:nvSpPr>
          <p:cNvPr id="48"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6 / 43</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8412480" y="1005840"/>
            <a:ext cx="4754880" cy="4754880"/>
          </a:xfrm>
          <a:prstGeom prst="ellipse">
            <a:avLst/>
          </a:prstGeom>
          <a:solidFill>
            <a:srgbClr val="22477F"/>
          </a:solidFill>
          <a:ln w="12700">
            <a:solidFill>
              <a:srgbClr val="22477F"/>
            </a:solidFill>
            <a:prstDash val="solid"/>
          </a:ln>
        </p:spPr>
      </p:sp>
      <p:sp>
        <p:nvSpPr>
          <p:cNvPr id="3" name="Shape 1"/>
          <p:cNvSpPr/>
          <p:nvPr/>
        </p:nvSpPr>
        <p:spPr>
          <a:xfrm>
            <a:off x="457200" y="1097280"/>
            <a:ext cx="3108960" cy="365760"/>
          </a:xfrm>
          <a:prstGeom prst="roundRect">
            <a:avLst>
              <a:gd name="adj" fmla="val 50000"/>
            </a:avLst>
          </a:prstGeom>
          <a:solidFill>
            <a:srgbClr val="D4AF37"/>
          </a:solidFill>
          <a:ln w="12700">
            <a:solidFill>
              <a:srgbClr val="D4AF37"/>
            </a:solidFill>
            <a:prstDash val="solid"/>
          </a:ln>
        </p:spPr>
      </p:sp>
      <p:sp>
        <p:nvSpPr>
          <p:cNvPr id="4" name="Text 2"/>
          <p:cNvSpPr txBox="1"/>
          <p:nvPr/>
        </p:nvSpPr>
        <p:spPr>
          <a:xfrm>
            <a:off x="457200" y="1097280"/>
            <a:ext cx="3108960" cy="365760"/>
          </a:xfrm>
          <a:prstGeom prst="rect">
            <a:avLst/>
          </a:prstGeom>
          <a:noFill/>
          <a:ln/>
        </p:spPr>
        <p:txBody>
          <a:bodyPr wrap="square" lIns="0" tIns="0" rIns="0" bIns="0" rtlCol="0" anchor="ctr"/>
          <a:lstStyle/>
          <a:p>
            <a:pPr algn="ctr" indent="0" marL="0">
              <a:buNone/>
            </a:pPr>
            <a:r>
              <a:rPr lang="en-US" sz="1000" b="1" spc="100" kern="0" dirty="0">
                <a:solidFill>
                  <a:srgbClr val="0D1F3C"/>
                </a:solidFill>
                <a:latin typeface="Calibri" pitchFamily="34" charset="0"/>
                <a:cs typeface="Amiri" pitchFamily="2" charset="-78"/>
              </a:rPr>
              <a:t>TEACHER INSTRUCTION · 7 MIN</a:t>
            </a:r>
            <a:endParaRPr lang="en-US" sz="1000" dirty="0"/>
          </a:p>
        </p:txBody>
      </p:sp>
      <p:sp>
        <p:nvSpPr>
          <p:cNvPr id="5" name="Text 3"/>
          <p:cNvSpPr txBox="1"/>
          <p:nvPr/>
        </p:nvSpPr>
        <p:spPr>
          <a:xfrm>
            <a:off x="457200" y="1783080"/>
            <a:ext cx="7863840" cy="822960"/>
          </a:xfrm>
          <a:prstGeom prst="rect">
            <a:avLst/>
          </a:prstGeom>
          <a:noFill/>
          <a:ln/>
        </p:spPr>
        <p:txBody>
          <a:bodyPr wrap="square" lIns="0" tIns="0" rIns="0" bIns="0" rtlCol="0" anchor="ctr"/>
          <a:lstStyle/>
          <a:p>
            <a:pPr algn="l" indent="0" marL="0">
              <a:buNone/>
            </a:pPr>
            <a:r>
              <a:rPr lang="en-US" sz="4000" b="1" dirty="0">
                <a:solidFill>
                  <a:srgbClr val="FFFFFF"/>
                </a:solidFill>
                <a:latin typeface="Cambria" pitchFamily="34" charset="0"/>
                <a:cs typeface="Amiri" pitchFamily="2" charset="-78"/>
              </a:rPr>
              <a:t>Key words for today</a:t>
            </a:r>
            <a:endParaRPr lang="en-US" sz="4000" dirty="0"/>
          </a:p>
        </p:txBody>
      </p:sp>
      <p:sp>
        <p:nvSpPr>
          <p:cNvPr id="6" name="Text 4"/>
          <p:cNvSpPr txBox="1"/>
          <p:nvPr/>
        </p:nvSpPr>
        <p:spPr>
          <a:xfrm>
            <a:off x="457200" y="2606040"/>
            <a:ext cx="7863840" cy="822960"/>
          </a:xfrm>
          <a:prstGeom prst="rect">
            <a:avLst/>
          </a:prstGeom>
          <a:noFill/>
          <a:ln/>
        </p:spPr>
        <p:txBody>
          <a:bodyPr wrap="square" lIns="0" tIns="0" rIns="0" bIns="0" rtlCol="0" anchor="ctr"/>
          <a:lstStyle/>
          <a:p>
            <a:pPr rtl="1" algn="l" indent="0" marL="0">
              <a:buNone/>
            </a:pPr>
            <a:r>
              <a:rPr lang="ar-SA" altLang="en-US" sz="3800" b="1" dirty="0">
                <a:solidFill>
                  <a:srgbClr val="D4AF37"/>
                </a:solidFill>
                <a:latin typeface="Amiri" pitchFamily="2" charset="-78"/>
                <a:ea typeface="Amiri" pitchFamily="2" charset="-78"/>
                <a:cs typeface="Amiri" pitchFamily="2" charset="-78"/>
              </a:rPr>
              <a:t>كَلِمَاتُ الدَّرْسِ</a:t>
            </a:r>
            <a:endParaRPr lang="ar-SA" sz="3800" dirty="0"/>
          </a:p>
        </p:txBody>
      </p:sp>
      <p:sp>
        <p:nvSpPr>
          <p:cNvPr id="7" name="Text 5"/>
          <p:cNvSpPr txBox="1"/>
          <p:nvPr/>
        </p:nvSpPr>
        <p:spPr>
          <a:xfrm>
            <a:off x="457200" y="3566160"/>
            <a:ext cx="7680960" cy="822960"/>
          </a:xfrm>
          <a:prstGeom prst="rect">
            <a:avLst/>
          </a:prstGeom>
          <a:noFill/>
          <a:ln/>
        </p:spPr>
        <p:txBody>
          <a:bodyPr wrap="square" lIns="0" tIns="0" rIns="0" bIns="0" rtlCol="0" anchor="t"/>
          <a:lstStyle/>
          <a:p>
            <a:pPr algn="l" indent="0" marL="0">
              <a:buNone/>
            </a:pPr>
            <a:r>
              <a:rPr lang="en-US" sz="1600" dirty="0">
                <a:solidFill>
                  <a:srgbClr val="C6D2E6"/>
                </a:solidFill>
                <a:latin typeface="Calibri" pitchFamily="34" charset="0"/>
                <a:cs typeface="Amiri" pitchFamily="2" charset="-78"/>
              </a:rPr>
              <a:t>21 words from the website in 3 groups. Learn the CORE words first. Hear it → say it → see it → use it.</a:t>
            </a:r>
            <a:endParaRPr lang="en-US" sz="1600" dirty="0"/>
          </a:p>
        </p:txBody>
      </p:sp>
      <p:sp>
        <p:nvSpPr>
          <p:cNvPr id="8" name="Shape 6"/>
          <p:cNvSpPr/>
          <p:nvPr/>
        </p:nvSpPr>
        <p:spPr>
          <a:xfrm>
            <a:off x="457200" y="4572000"/>
            <a:ext cx="2529840" cy="960120"/>
          </a:xfrm>
          <a:prstGeom prst="roundRect">
            <a:avLst>
              <a:gd name="adj" fmla="val 7619"/>
            </a:avLst>
          </a:prstGeom>
          <a:solidFill>
            <a:srgbClr val="16335F"/>
          </a:solidFill>
          <a:ln w="12700">
            <a:solidFill>
              <a:srgbClr val="2A4B7C"/>
            </a:solidFill>
            <a:prstDash val="solid"/>
          </a:ln>
        </p:spPr>
      </p:sp>
      <p:sp>
        <p:nvSpPr>
          <p:cNvPr id="9" name="Text 7"/>
          <p:cNvSpPr txBox="1"/>
          <p:nvPr/>
        </p:nvSpPr>
        <p:spPr>
          <a:xfrm>
            <a:off x="594360" y="4617720"/>
            <a:ext cx="2255520" cy="868680"/>
          </a:xfrm>
          <a:prstGeom prst="rect">
            <a:avLst/>
          </a:prstGeom>
          <a:noFill/>
          <a:ln/>
        </p:spPr>
        <p:txBody>
          <a:bodyPr wrap="square" lIns="0" tIns="0" rIns="0" bIns="0" rtlCol="0" anchor="ctr"/>
          <a:lstStyle/>
          <a:p>
            <a:pPr indent="0" marL="0">
              <a:buNone/>
            </a:pPr>
            <a:r>
              <a:rPr lang="en-US" sz="900" b="1" spc="200" kern="0" dirty="0">
                <a:solidFill>
                  <a:srgbClr val="D4AF37"/>
                </a:solidFill>
                <a:latin typeface="Calibri" pitchFamily="34" charset="0"/>
                <a:cs typeface="Amiri" pitchFamily="2" charset="-78"/>
              </a:rPr>
              <a:t>GROUP 1</a:t>
            </a:r>
            <a:endParaRPr lang="en-US" sz="900" dirty="0"/>
          </a:p>
          <a:p>
            <a:pPr indent="0" marL="0">
              <a:buNone/>
            </a:pPr>
            <a:r>
              <a:rPr lang="en-US" sz="1200" b="1" dirty="0">
                <a:solidFill>
                  <a:srgbClr val="FFFFFF"/>
                </a:solidFill>
                <a:latin typeface="Calibri" pitchFamily="34" charset="0"/>
                <a:cs typeface="Amiri" pitchFamily="2" charset="-78"/>
              </a:rPr>
              <a:t>Polite requests · 7</a:t>
            </a:r>
            <a:endParaRPr lang="en-US" sz="900" dirty="0"/>
          </a:p>
        </p:txBody>
      </p:sp>
      <p:sp>
        <p:nvSpPr>
          <p:cNvPr id="10" name="Shape 8"/>
          <p:cNvSpPr/>
          <p:nvPr/>
        </p:nvSpPr>
        <p:spPr>
          <a:xfrm>
            <a:off x="3124200" y="4572000"/>
            <a:ext cx="2529840" cy="960120"/>
          </a:xfrm>
          <a:prstGeom prst="roundRect">
            <a:avLst>
              <a:gd name="adj" fmla="val 7619"/>
            </a:avLst>
          </a:prstGeom>
          <a:solidFill>
            <a:srgbClr val="16335F"/>
          </a:solidFill>
          <a:ln w="12700">
            <a:solidFill>
              <a:srgbClr val="2A4B7C"/>
            </a:solidFill>
            <a:prstDash val="solid"/>
          </a:ln>
        </p:spPr>
      </p:sp>
      <p:sp>
        <p:nvSpPr>
          <p:cNvPr id="11" name="Text 9"/>
          <p:cNvSpPr txBox="1"/>
          <p:nvPr/>
        </p:nvSpPr>
        <p:spPr>
          <a:xfrm>
            <a:off x="3261360" y="4617720"/>
            <a:ext cx="2255520" cy="868680"/>
          </a:xfrm>
          <a:prstGeom prst="rect">
            <a:avLst/>
          </a:prstGeom>
          <a:noFill/>
          <a:ln/>
        </p:spPr>
        <p:txBody>
          <a:bodyPr wrap="square" lIns="0" tIns="0" rIns="0" bIns="0" rtlCol="0" anchor="ctr"/>
          <a:lstStyle/>
          <a:p>
            <a:pPr indent="0" marL="0">
              <a:buNone/>
            </a:pPr>
            <a:r>
              <a:rPr lang="en-US" sz="900" b="1" spc="200" kern="0" dirty="0">
                <a:solidFill>
                  <a:srgbClr val="D4AF37"/>
                </a:solidFill>
                <a:latin typeface="Calibri" pitchFamily="34" charset="0"/>
                <a:cs typeface="Amiri" pitchFamily="2" charset="-78"/>
              </a:rPr>
              <a:t>GROUP 2</a:t>
            </a:r>
            <a:endParaRPr lang="en-US" sz="900" dirty="0"/>
          </a:p>
          <a:p>
            <a:pPr indent="0" marL="0">
              <a:buNone/>
            </a:pPr>
            <a:r>
              <a:rPr lang="en-US" sz="1200" b="1" dirty="0">
                <a:solidFill>
                  <a:srgbClr val="FFFFFF"/>
                </a:solidFill>
                <a:latin typeface="Calibri" pitchFamily="34" charset="0"/>
                <a:cs typeface="Amiri" pitchFamily="2" charset="-78"/>
              </a:rPr>
              <a:t>Restaurant language · 8</a:t>
            </a:r>
            <a:endParaRPr lang="en-US" sz="900" dirty="0"/>
          </a:p>
        </p:txBody>
      </p:sp>
      <p:sp>
        <p:nvSpPr>
          <p:cNvPr id="12" name="Shape 10"/>
          <p:cNvSpPr/>
          <p:nvPr/>
        </p:nvSpPr>
        <p:spPr>
          <a:xfrm>
            <a:off x="5791200" y="4572000"/>
            <a:ext cx="2529840" cy="960120"/>
          </a:xfrm>
          <a:prstGeom prst="roundRect">
            <a:avLst>
              <a:gd name="adj" fmla="val 7619"/>
            </a:avLst>
          </a:prstGeom>
          <a:solidFill>
            <a:srgbClr val="16335F"/>
          </a:solidFill>
          <a:ln w="12700">
            <a:solidFill>
              <a:srgbClr val="2A4B7C"/>
            </a:solidFill>
            <a:prstDash val="solid"/>
          </a:ln>
        </p:spPr>
      </p:sp>
      <p:sp>
        <p:nvSpPr>
          <p:cNvPr id="13" name="Text 11"/>
          <p:cNvSpPr txBox="1"/>
          <p:nvPr/>
        </p:nvSpPr>
        <p:spPr>
          <a:xfrm>
            <a:off x="5928360" y="4617720"/>
            <a:ext cx="2255520" cy="868680"/>
          </a:xfrm>
          <a:prstGeom prst="rect">
            <a:avLst/>
          </a:prstGeom>
          <a:noFill/>
          <a:ln/>
        </p:spPr>
        <p:txBody>
          <a:bodyPr wrap="square" lIns="0" tIns="0" rIns="0" bIns="0" rtlCol="0" anchor="ctr"/>
          <a:lstStyle/>
          <a:p>
            <a:pPr indent="0" marL="0">
              <a:buNone/>
            </a:pPr>
            <a:r>
              <a:rPr lang="en-US" sz="900" b="1" spc="200" kern="0" dirty="0">
                <a:solidFill>
                  <a:srgbClr val="D4AF37"/>
                </a:solidFill>
                <a:latin typeface="Calibri" pitchFamily="34" charset="0"/>
                <a:cs typeface="Amiri" pitchFamily="2" charset="-78"/>
              </a:rPr>
              <a:t>GROUP 3</a:t>
            </a:r>
            <a:endParaRPr lang="en-US" sz="900" dirty="0"/>
          </a:p>
          <a:p>
            <a:pPr indent="0" marL="0">
              <a:buNone/>
            </a:pPr>
            <a:r>
              <a:rPr lang="en-US" sz="1200" b="1" dirty="0">
                <a:solidFill>
                  <a:srgbClr val="FFFFFF"/>
                </a:solidFill>
                <a:latin typeface="Calibri" pitchFamily="34" charset="0"/>
                <a:cs typeface="Amiri" pitchFamily="2" charset="-78"/>
              </a:rPr>
              <a:t>Useful questions · 6</a:t>
            </a:r>
            <a:endParaRPr lang="en-US" sz="900" dirty="0"/>
          </a:p>
        </p:txBody>
      </p:sp>
      <p:sp>
        <p:nvSpPr>
          <p:cNvPr id="14" name="Shape 12"/>
          <p:cNvSpPr/>
          <p:nvPr/>
        </p:nvSpPr>
        <p:spPr>
          <a:xfrm>
            <a:off x="8732520" y="1371600"/>
            <a:ext cx="3017520" cy="3291840"/>
          </a:xfrm>
          <a:prstGeom prst="roundRect">
            <a:avLst>
              <a:gd name="adj" fmla="val 2424"/>
            </a:avLst>
          </a:prstGeom>
          <a:solidFill>
            <a:srgbClr val="EAF6EF"/>
          </a:solidFill>
          <a:ln w="12700">
            <a:solidFill>
              <a:srgbClr val="9CCFB0"/>
            </a:solidFill>
            <a:prstDash val="solid"/>
          </a:ln>
        </p:spPr>
      </p:sp>
      <p:sp>
        <p:nvSpPr>
          <p:cNvPr id="15" name="Text 13"/>
          <p:cNvSpPr txBox="1"/>
          <p:nvPr/>
        </p:nvSpPr>
        <p:spPr>
          <a:xfrm>
            <a:off x="8915400" y="1426464"/>
            <a:ext cx="2651760" cy="310896"/>
          </a:xfrm>
          <a:prstGeom prst="rect">
            <a:avLst/>
          </a:prstGeom>
          <a:noFill/>
          <a:ln/>
        </p:spPr>
        <p:txBody>
          <a:bodyPr wrap="square" lIns="0" tIns="0" rIns="0" bIns="0" rtlCol="0" anchor="ctr"/>
          <a:lstStyle/>
          <a:p>
            <a:pPr algn="l" indent="0" marL="0">
              <a:buNone/>
            </a:pPr>
            <a:r>
              <a:rPr lang="en-US" sz="1000" b="1" spc="200" kern="0" dirty="0">
                <a:solidFill>
                  <a:srgbClr val="2E8B57"/>
                </a:solidFill>
                <a:latin typeface="Calibri" pitchFamily="34" charset="0"/>
                <a:cs typeface="Amiri" pitchFamily="2" charset="-78"/>
              </a:rPr>
              <a:t>BRIDGE FROM URDU</a:t>
            </a:r>
            <a:endParaRPr lang="en-US" sz="1000" dirty="0"/>
          </a:p>
        </p:txBody>
      </p:sp>
      <p:sp>
        <p:nvSpPr>
          <p:cNvPr id="16" name="Text 14"/>
          <p:cNvSpPr txBox="1"/>
          <p:nvPr/>
        </p:nvSpPr>
        <p:spPr>
          <a:xfrm>
            <a:off x="10241280" y="1810512"/>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ea typeface="Amiri" pitchFamily="2" charset="-78"/>
                <a:cs typeface="Amiri" pitchFamily="2" charset="-78"/>
              </a:rPr>
              <a:t>حِسَابٌ</a:t>
            </a:r>
            <a:endParaRPr lang="ar-SA" sz="1900" dirty="0"/>
          </a:p>
        </p:txBody>
      </p:sp>
      <p:sp>
        <p:nvSpPr>
          <p:cNvPr id="17" name="Text 15"/>
          <p:cNvSpPr txBox="1"/>
          <p:nvPr/>
        </p:nvSpPr>
        <p:spPr>
          <a:xfrm>
            <a:off x="8842248" y="1810512"/>
            <a:ext cx="1463040" cy="475488"/>
          </a:xfrm>
          <a:prstGeom prst="rect">
            <a:avLst/>
          </a:prstGeom>
          <a:noFill/>
          <a:ln/>
        </p:spPr>
        <p:txBody>
          <a:bodyPr wrap="square" lIns="0" tIns="0" rIns="0" bIns="0" rtlCol="0" anchor="ctr"/>
          <a:lstStyle/>
          <a:p>
            <a:pPr indent="0" marL="0">
              <a:buNone/>
            </a:pPr>
            <a:r>
              <a:rPr lang="ar-SA" altLang="en-US" sz="1400" b="1" dirty="0">
                <a:solidFill>
                  <a:srgbClr val="2E8B57"/>
                </a:solidFill>
                <a:latin typeface="Amiri" pitchFamily="2" charset="-78"/>
                <a:ea typeface="Amiri" pitchFamily="2" charset="-78"/>
                <a:cs typeface="Amiri" pitchFamily="2" charset="-78"/>
              </a:rPr>
              <a:t>‎حساب‎ </a:t>
            </a:r>
            <a:pPr indent="0" marL="0">
              <a:buNone/>
            </a:pPr>
            <a:r>
              <a:rPr lang="en-US" sz="950" b="1" dirty="0">
                <a:solidFill>
                  <a:srgbClr val="2E8B57"/>
                </a:solidFill>
                <a:latin typeface="Calibri" pitchFamily="34" charset="0"/>
                <a:cs typeface="Amiri" pitchFamily="2" charset="-78"/>
              </a:rPr>
              <a:t> hisāb · account → the bill</a:t>
            </a:r>
            <a:endParaRPr lang="en-US" sz="1400" dirty="0"/>
          </a:p>
        </p:txBody>
      </p:sp>
      <p:sp>
        <p:nvSpPr>
          <p:cNvPr id="18" name="Text 16"/>
          <p:cNvSpPr txBox="1"/>
          <p:nvPr/>
        </p:nvSpPr>
        <p:spPr>
          <a:xfrm>
            <a:off x="10241280" y="2377440"/>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ea typeface="Amiri" pitchFamily="2" charset="-78"/>
                <a:cs typeface="Amiri" pitchFamily="2" charset="-78"/>
              </a:rPr>
              <a:t>طَلَبٌ</a:t>
            </a:r>
            <a:endParaRPr lang="ar-SA" sz="1900" dirty="0"/>
          </a:p>
        </p:txBody>
      </p:sp>
      <p:sp>
        <p:nvSpPr>
          <p:cNvPr id="19" name="Text 17"/>
          <p:cNvSpPr txBox="1"/>
          <p:nvPr/>
        </p:nvSpPr>
        <p:spPr>
          <a:xfrm>
            <a:off x="8842248" y="2377440"/>
            <a:ext cx="1463040" cy="475488"/>
          </a:xfrm>
          <a:prstGeom prst="rect">
            <a:avLst/>
          </a:prstGeom>
          <a:noFill/>
          <a:ln/>
        </p:spPr>
        <p:txBody>
          <a:bodyPr wrap="square" lIns="0" tIns="0" rIns="0" bIns="0" rtlCol="0" anchor="ctr"/>
          <a:lstStyle/>
          <a:p>
            <a:pPr indent="0" marL="0">
              <a:buNone/>
            </a:pPr>
            <a:r>
              <a:rPr lang="ar-SA" altLang="en-US" sz="1400" b="1" dirty="0">
                <a:solidFill>
                  <a:srgbClr val="2E8B57"/>
                </a:solidFill>
                <a:latin typeface="Amiri" pitchFamily="2" charset="-78"/>
                <a:ea typeface="Amiri" pitchFamily="2" charset="-78"/>
                <a:cs typeface="Amiri" pitchFamily="2" charset="-78"/>
              </a:rPr>
              <a:t>‎طلب‎ </a:t>
            </a:r>
            <a:pPr indent="0" marL="0">
              <a:buNone/>
            </a:pPr>
            <a:r>
              <a:rPr lang="en-US" sz="950" b="1" dirty="0">
                <a:solidFill>
                  <a:srgbClr val="2E8B57"/>
                </a:solidFill>
                <a:latin typeface="Calibri" pitchFamily="34" charset="0"/>
                <a:cs typeface="Amiri" pitchFamily="2" charset="-78"/>
              </a:rPr>
              <a:t> talab · demand → an order</a:t>
            </a:r>
            <a:endParaRPr lang="en-US" sz="1400" dirty="0"/>
          </a:p>
        </p:txBody>
      </p:sp>
      <p:sp>
        <p:nvSpPr>
          <p:cNvPr id="20" name="Text 18"/>
          <p:cNvSpPr txBox="1"/>
          <p:nvPr/>
        </p:nvSpPr>
        <p:spPr>
          <a:xfrm>
            <a:off x="10241280" y="2944368"/>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ea typeface="Amiri" pitchFamily="2" charset="-78"/>
                <a:cs typeface="Amiri" pitchFamily="2" charset="-78"/>
              </a:rPr>
              <a:t>شُكْرًا</a:t>
            </a:r>
            <a:endParaRPr lang="ar-SA" sz="1900" dirty="0"/>
          </a:p>
        </p:txBody>
      </p:sp>
      <p:sp>
        <p:nvSpPr>
          <p:cNvPr id="21" name="Text 19"/>
          <p:cNvSpPr txBox="1"/>
          <p:nvPr/>
        </p:nvSpPr>
        <p:spPr>
          <a:xfrm>
            <a:off x="8842248" y="2944368"/>
            <a:ext cx="1463040" cy="475488"/>
          </a:xfrm>
          <a:prstGeom prst="rect">
            <a:avLst/>
          </a:prstGeom>
          <a:noFill/>
          <a:ln/>
        </p:spPr>
        <p:txBody>
          <a:bodyPr wrap="square" lIns="0" tIns="0" rIns="0" bIns="0" rtlCol="0" anchor="ctr"/>
          <a:lstStyle/>
          <a:p>
            <a:pPr indent="0" marL="0">
              <a:buNone/>
            </a:pPr>
            <a:r>
              <a:rPr lang="ar-SA" altLang="en-US" sz="1400" b="1" dirty="0">
                <a:solidFill>
                  <a:srgbClr val="2E8B57"/>
                </a:solidFill>
                <a:latin typeface="Amiri" pitchFamily="2" charset="-78"/>
                <a:ea typeface="Amiri" pitchFamily="2" charset="-78"/>
                <a:cs typeface="Amiri" pitchFamily="2" charset="-78"/>
              </a:rPr>
              <a:t>‎شکریہ‎ </a:t>
            </a:r>
            <a:pPr indent="0" marL="0">
              <a:buNone/>
            </a:pPr>
            <a:r>
              <a:rPr lang="en-US" sz="950" b="1" dirty="0">
                <a:solidFill>
                  <a:srgbClr val="2E8B57"/>
                </a:solidFill>
                <a:latin typeface="Calibri" pitchFamily="34" charset="0"/>
                <a:cs typeface="Amiri" pitchFamily="2" charset="-78"/>
              </a:rPr>
              <a:t> shukriya · thank you</a:t>
            </a:r>
            <a:endParaRPr lang="en-US" sz="1400" dirty="0"/>
          </a:p>
        </p:txBody>
      </p:sp>
      <p:sp>
        <p:nvSpPr>
          <p:cNvPr id="22" name="Text 20"/>
          <p:cNvSpPr txBox="1"/>
          <p:nvPr/>
        </p:nvSpPr>
        <p:spPr>
          <a:xfrm>
            <a:off x="10241280" y="3511296"/>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ea typeface="Amiri" pitchFamily="2" charset="-78"/>
                <a:cs typeface="Amiri" pitchFamily="2" charset="-78"/>
              </a:rPr>
              <a:t>فَضْلٌ</a:t>
            </a:r>
            <a:endParaRPr lang="ar-SA" sz="1900" dirty="0"/>
          </a:p>
        </p:txBody>
      </p:sp>
      <p:sp>
        <p:nvSpPr>
          <p:cNvPr id="23" name="Text 21"/>
          <p:cNvSpPr txBox="1"/>
          <p:nvPr/>
        </p:nvSpPr>
        <p:spPr>
          <a:xfrm>
            <a:off x="8842248" y="3511296"/>
            <a:ext cx="1463040" cy="475488"/>
          </a:xfrm>
          <a:prstGeom prst="rect">
            <a:avLst/>
          </a:prstGeom>
          <a:noFill/>
          <a:ln/>
        </p:spPr>
        <p:txBody>
          <a:bodyPr wrap="square" lIns="0" tIns="0" rIns="0" bIns="0" rtlCol="0" anchor="ctr"/>
          <a:lstStyle/>
          <a:p>
            <a:pPr indent="0" marL="0">
              <a:buNone/>
            </a:pPr>
            <a:r>
              <a:rPr lang="ar-SA" altLang="en-US" sz="1400" b="1" dirty="0">
                <a:solidFill>
                  <a:srgbClr val="2E8B57"/>
                </a:solidFill>
                <a:latin typeface="Amiri" pitchFamily="2" charset="-78"/>
                <a:ea typeface="Amiri" pitchFamily="2" charset="-78"/>
                <a:cs typeface="Amiri" pitchFamily="2" charset="-78"/>
              </a:rPr>
              <a:t>‎فضل‎ </a:t>
            </a:r>
            <a:pPr indent="0" marL="0">
              <a:buNone/>
            </a:pPr>
            <a:r>
              <a:rPr lang="en-US" sz="950" b="1" dirty="0">
                <a:solidFill>
                  <a:srgbClr val="2E8B57"/>
                </a:solidFill>
                <a:latin typeface="Calibri" pitchFamily="34" charset="0"/>
                <a:cs typeface="Amiri" pitchFamily="2" charset="-78"/>
              </a:rPr>
              <a:t> fazl · grace → min faḍlika, please</a:t>
            </a:r>
            <a:endParaRPr lang="en-US" sz="1400" dirty="0"/>
          </a:p>
        </p:txBody>
      </p:sp>
      <p:sp>
        <p:nvSpPr>
          <p:cNvPr id="24" name="Text 22"/>
          <p:cNvSpPr txBox="1"/>
          <p:nvPr/>
        </p:nvSpPr>
        <p:spPr>
          <a:xfrm>
            <a:off x="10241280" y="4078224"/>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ea typeface="Amiri" pitchFamily="2" charset="-78"/>
                <a:cs typeface="Amiri" pitchFamily="2" charset="-78"/>
              </a:rPr>
              <a:t>مَطْعَمٌ</a:t>
            </a:r>
            <a:endParaRPr lang="ar-SA" sz="1900" dirty="0"/>
          </a:p>
        </p:txBody>
      </p:sp>
      <p:sp>
        <p:nvSpPr>
          <p:cNvPr id="25" name="Text 23"/>
          <p:cNvSpPr txBox="1"/>
          <p:nvPr/>
        </p:nvSpPr>
        <p:spPr>
          <a:xfrm>
            <a:off x="8842248" y="4078224"/>
            <a:ext cx="1463040" cy="475488"/>
          </a:xfrm>
          <a:prstGeom prst="rect">
            <a:avLst/>
          </a:prstGeom>
          <a:noFill/>
          <a:ln/>
        </p:spPr>
        <p:txBody>
          <a:bodyPr wrap="square" lIns="0" tIns="0" rIns="0" bIns="0" rtlCol="0" anchor="ctr"/>
          <a:lstStyle/>
          <a:p>
            <a:pPr indent="0" marL="0">
              <a:buNone/>
            </a:pPr>
            <a:r>
              <a:rPr lang="ar-SA" altLang="en-US" sz="1400" b="1" dirty="0">
                <a:solidFill>
                  <a:srgbClr val="2E8B57"/>
                </a:solidFill>
                <a:latin typeface="Amiri" pitchFamily="2" charset="-78"/>
                <a:ea typeface="Amiri" pitchFamily="2" charset="-78"/>
                <a:cs typeface="Amiri" pitchFamily="2" charset="-78"/>
              </a:rPr>
              <a:t>‎طعام‎ </a:t>
            </a:r>
            <a:pPr indent="0" marL="0">
              <a:buNone/>
            </a:pPr>
            <a:r>
              <a:rPr lang="en-US" sz="950" b="1" dirty="0">
                <a:solidFill>
                  <a:srgbClr val="2E8B57"/>
                </a:solidFill>
                <a:latin typeface="Calibri" pitchFamily="34" charset="0"/>
                <a:cs typeface="Amiri" pitchFamily="2" charset="-78"/>
              </a:rPr>
              <a:t> taʿām · food → restaurant (place of food)</a:t>
            </a:r>
            <a:endParaRPr lang="en-US" sz="1400" dirty="0"/>
          </a:p>
        </p:txBody>
      </p:sp>
      <p:sp>
        <p:nvSpPr>
          <p:cNvPr id="27" name="Text 2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7 / 43</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F5-L05 · Ordering Politely</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1</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Polite requests (1 of 2)</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F5 · Food, Health and Body · F5-L05</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a:t>
            </a:r>
            <a:endParaRPr lang="en-US" sz="1000" dirty="0"/>
          </a:p>
        </p:txBody>
      </p:sp>
      <p:sp>
        <p:nvSpPr>
          <p:cNvPr id="18" name="Shape 15"/>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Text 17"/>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مِنْ فَضْلِكَ / مِنْ فَضْلِكِ</a:t>
            </a:r>
            <a:endParaRPr lang="ar-SA" sz="3000" dirty="0"/>
          </a:p>
        </p:txBody>
      </p:sp>
      <p:sp>
        <p:nvSpPr>
          <p:cNvPr id="21" name="Text 18"/>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please (m/f)</a:t>
            </a:r>
            <a:endParaRPr lang="en-US" sz="1350" dirty="0"/>
          </a:p>
          <a:p>
            <a:pPr indent="0" marL="0">
              <a:buNone/>
            </a:pPr>
            <a:r>
              <a:rPr lang="en-US" sz="1100" i="1" dirty="0">
                <a:solidFill>
                  <a:srgbClr val="5A6472"/>
                </a:solidFill>
                <a:latin typeface="Calibri" pitchFamily="34" charset="0"/>
                <a:cs typeface="Amiri" pitchFamily="2" charset="-78"/>
              </a:rPr>
              <a:t>min faḍ-li-ka / min faḍ-li-ki</a:t>
            </a:r>
            <a:endParaRPr lang="en-US" sz="1350" dirty="0"/>
          </a:p>
        </p:txBody>
      </p:sp>
      <p:sp>
        <p:nvSpPr>
          <p:cNvPr id="22" name="Shape 19"/>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4389120" y="1920240"/>
            <a:ext cx="310896" cy="310896"/>
          </a:xfrm>
          <a:prstGeom prst="ellipse">
            <a:avLst/>
          </a:prstGeom>
          <a:solidFill>
            <a:srgbClr val="F4F1EA"/>
          </a:solidFill>
          <a:ln w="12700">
            <a:solidFill>
              <a:srgbClr val="F4F1EA"/>
            </a:solidFill>
            <a:prstDash val="solid"/>
          </a:ln>
        </p:spPr>
      </p:sp>
      <p:sp>
        <p:nvSpPr>
          <p:cNvPr id="24" name="Text 21"/>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a:t>
            </a:r>
            <a:endParaRPr lang="en-US" sz="1000" dirty="0"/>
          </a:p>
        </p:txBody>
      </p:sp>
      <p:sp>
        <p:nvSpPr>
          <p:cNvPr id="25" name="Shape 22"/>
          <p:cNvSpPr/>
          <p:nvPr/>
        </p:nvSpPr>
        <p:spPr>
          <a:xfrm>
            <a:off x="4782312" y="1938528"/>
            <a:ext cx="1020470" cy="256032"/>
          </a:xfrm>
          <a:prstGeom prst="roundRect">
            <a:avLst>
              <a:gd name="adj" fmla="val 50000"/>
            </a:avLst>
          </a:prstGeom>
          <a:solidFill>
            <a:srgbClr val="EFE7D2"/>
          </a:solidFill>
          <a:ln w="12700">
            <a:solidFill>
              <a:srgbClr val="EFE7D2"/>
            </a:solidFill>
            <a:prstDash val="solid"/>
          </a:ln>
        </p:spPr>
      </p:sp>
      <p:sp>
        <p:nvSpPr>
          <p:cNvPr id="26" name="Text 23"/>
          <p:cNvSpPr txBox="1"/>
          <p:nvPr/>
        </p:nvSpPr>
        <p:spPr>
          <a:xfrm>
            <a:off x="4782312" y="1938528"/>
            <a:ext cx="1020470"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I · he · she</a:t>
            </a:r>
            <a:endParaRPr lang="en-US" sz="800" dirty="0"/>
          </a:p>
        </p:txBody>
      </p:sp>
      <p:sp>
        <p:nvSpPr>
          <p:cNvPr id="27" name="Shape 24"/>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28" name="Text 25"/>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9" name="Text 26"/>
          <p:cNvSpPr txBox="1"/>
          <p:nvPr/>
        </p:nvSpPr>
        <p:spPr>
          <a:xfrm>
            <a:off x="4389120"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أُرِيدُ ...</a:t>
            </a:r>
            <a:endParaRPr lang="ar-SA" sz="3000" dirty="0"/>
          </a:p>
        </p:txBody>
      </p:sp>
      <p:sp>
        <p:nvSpPr>
          <p:cNvPr id="30" name="Text 27"/>
          <p:cNvSpPr txBox="1"/>
          <p:nvPr/>
        </p:nvSpPr>
        <p:spPr>
          <a:xfrm>
            <a:off x="4416552"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I would like ...</a:t>
            </a:r>
            <a:endParaRPr lang="en-US" sz="1350" dirty="0"/>
          </a:p>
          <a:p>
            <a:pPr indent="0" marL="0">
              <a:buNone/>
            </a:pPr>
            <a:r>
              <a:rPr lang="en-US" sz="1100" i="1" dirty="0">
                <a:solidFill>
                  <a:srgbClr val="5A6472"/>
                </a:solidFill>
                <a:latin typeface="Calibri" pitchFamily="34" charset="0"/>
                <a:cs typeface="Amiri" pitchFamily="2" charset="-78"/>
              </a:rPr>
              <a:t>u-rī-du ...</a:t>
            </a:r>
            <a:endParaRPr lang="en-US" sz="1350" dirty="0"/>
          </a:p>
        </p:txBody>
      </p:sp>
      <p:sp>
        <p:nvSpPr>
          <p:cNvPr id="31" name="Shape 28"/>
          <p:cNvSpPr/>
          <p:nvPr/>
        </p:nvSpPr>
        <p:spPr>
          <a:xfrm>
            <a:off x="6720840" y="3438144"/>
            <a:ext cx="1060704" cy="438912"/>
          </a:xfrm>
          <a:prstGeom prst="roundRect">
            <a:avLst>
              <a:gd name="adj" fmla="val 10417"/>
            </a:avLst>
          </a:prstGeom>
          <a:solidFill>
            <a:srgbClr val="F4F1EA"/>
          </a:solidFill>
          <a:ln w="9525">
            <a:solidFill>
              <a:srgbClr val="F4F1EA"/>
            </a:solidFill>
            <a:prstDash val="solid"/>
          </a:ln>
        </p:spPr>
      </p:sp>
      <p:sp>
        <p:nvSpPr>
          <p:cNvPr id="32" name="Text 29"/>
          <p:cNvSpPr txBox="1"/>
          <p:nvPr/>
        </p:nvSpPr>
        <p:spPr>
          <a:xfrm>
            <a:off x="6775704"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he</a:t>
            </a:r>
            <a:endParaRPr lang="en-US" sz="750" dirty="0"/>
          </a:p>
        </p:txBody>
      </p:sp>
      <p:sp>
        <p:nvSpPr>
          <p:cNvPr id="33" name="Text 30"/>
          <p:cNvSpPr txBox="1"/>
          <p:nvPr/>
        </p:nvSpPr>
        <p:spPr>
          <a:xfrm>
            <a:off x="6766560"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يُرِيدُ</a:t>
            </a:r>
            <a:endParaRPr lang="ar-SA" sz="1500" dirty="0"/>
          </a:p>
        </p:txBody>
      </p:sp>
      <p:sp>
        <p:nvSpPr>
          <p:cNvPr id="34" name="Shape 31"/>
          <p:cNvSpPr/>
          <p:nvPr/>
        </p:nvSpPr>
        <p:spPr>
          <a:xfrm>
            <a:off x="5568696" y="3438144"/>
            <a:ext cx="1060704" cy="438912"/>
          </a:xfrm>
          <a:prstGeom prst="roundRect">
            <a:avLst>
              <a:gd name="adj" fmla="val 10417"/>
            </a:avLst>
          </a:prstGeom>
          <a:solidFill>
            <a:srgbClr val="F4F1EA"/>
          </a:solidFill>
          <a:ln w="9525">
            <a:solidFill>
              <a:srgbClr val="F4F1EA"/>
            </a:solidFill>
            <a:prstDash val="solid"/>
          </a:ln>
        </p:spPr>
      </p:sp>
      <p:sp>
        <p:nvSpPr>
          <p:cNvPr id="35" name="Text 32"/>
          <p:cNvSpPr txBox="1"/>
          <p:nvPr/>
        </p:nvSpPr>
        <p:spPr>
          <a:xfrm>
            <a:off x="5623560"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she</a:t>
            </a:r>
            <a:endParaRPr lang="en-US" sz="750" dirty="0"/>
          </a:p>
        </p:txBody>
      </p:sp>
      <p:sp>
        <p:nvSpPr>
          <p:cNvPr id="36" name="Text 33"/>
          <p:cNvSpPr txBox="1"/>
          <p:nvPr/>
        </p:nvSpPr>
        <p:spPr>
          <a:xfrm>
            <a:off x="5614416"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تُرِيدُ</a:t>
            </a:r>
            <a:endParaRPr lang="ar-SA" sz="1500" dirty="0"/>
          </a:p>
        </p:txBody>
      </p:sp>
      <p:sp>
        <p:nvSpPr>
          <p:cNvPr id="37" name="Shape 34"/>
          <p:cNvSpPr/>
          <p:nvPr/>
        </p:nvSpPr>
        <p:spPr>
          <a:xfrm>
            <a:off x="4416552" y="3438144"/>
            <a:ext cx="1060704" cy="438912"/>
          </a:xfrm>
          <a:prstGeom prst="roundRect">
            <a:avLst>
              <a:gd name="adj" fmla="val 10417"/>
            </a:avLst>
          </a:prstGeom>
          <a:solidFill>
            <a:srgbClr val="F4F1EA"/>
          </a:solidFill>
          <a:ln w="9525">
            <a:solidFill>
              <a:srgbClr val="F4F1EA"/>
            </a:solidFill>
            <a:prstDash val="solid"/>
          </a:ln>
        </p:spPr>
      </p:sp>
      <p:sp>
        <p:nvSpPr>
          <p:cNvPr id="38" name="Text 35"/>
          <p:cNvSpPr txBox="1"/>
          <p:nvPr/>
        </p:nvSpPr>
        <p:spPr>
          <a:xfrm>
            <a:off x="4471416" y="3447288"/>
            <a:ext cx="950976"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you f.</a:t>
            </a:r>
            <a:endParaRPr lang="en-US" sz="700" dirty="0"/>
          </a:p>
        </p:txBody>
      </p:sp>
      <p:sp>
        <p:nvSpPr>
          <p:cNvPr id="39" name="Text 36"/>
          <p:cNvSpPr txBox="1"/>
          <p:nvPr/>
        </p:nvSpPr>
        <p:spPr>
          <a:xfrm>
            <a:off x="4462272" y="3575304"/>
            <a:ext cx="969264"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ea typeface="Amiri" pitchFamily="2" charset="-78"/>
                <a:cs typeface="Amiri" pitchFamily="2" charset="-78"/>
              </a:rPr>
              <a:t>تُرِيدِينَ</a:t>
            </a:r>
            <a:endParaRPr lang="ar-SA" sz="1350" dirty="0"/>
          </a:p>
        </p:txBody>
      </p:sp>
      <p:sp>
        <p:nvSpPr>
          <p:cNvPr id="40" name="Shape 37"/>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1" name="Shape 38"/>
          <p:cNvSpPr/>
          <p:nvPr/>
        </p:nvSpPr>
        <p:spPr>
          <a:xfrm>
            <a:off x="566928" y="1920240"/>
            <a:ext cx="310896" cy="310896"/>
          </a:xfrm>
          <a:prstGeom prst="ellipse">
            <a:avLst/>
          </a:prstGeom>
          <a:solidFill>
            <a:srgbClr val="F4F1EA"/>
          </a:solidFill>
          <a:ln w="12700">
            <a:solidFill>
              <a:srgbClr val="F4F1EA"/>
            </a:solidFill>
            <a:prstDash val="solid"/>
          </a:ln>
        </p:spPr>
      </p:sp>
      <p:sp>
        <p:nvSpPr>
          <p:cNvPr id="42" name="Text 39"/>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3</a:t>
            </a:r>
            <a:endParaRPr lang="en-US" sz="1000" dirty="0"/>
          </a:p>
        </p:txBody>
      </p:sp>
      <p:sp>
        <p:nvSpPr>
          <p:cNvPr id="43" name="Text 40"/>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أَطْلُبُ ...</a:t>
            </a:r>
            <a:endParaRPr lang="ar-SA" sz="3000" dirty="0"/>
          </a:p>
        </p:txBody>
      </p:sp>
      <p:sp>
        <p:nvSpPr>
          <p:cNvPr id="44" name="Text 41"/>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I order / request ...</a:t>
            </a:r>
            <a:endParaRPr lang="en-US" sz="1350" dirty="0"/>
          </a:p>
          <a:p>
            <a:pPr indent="0" marL="0">
              <a:buNone/>
            </a:pPr>
            <a:r>
              <a:rPr lang="en-US" sz="1100" i="1" dirty="0">
                <a:solidFill>
                  <a:srgbClr val="5A6472"/>
                </a:solidFill>
                <a:latin typeface="Calibri" pitchFamily="34" charset="0"/>
                <a:cs typeface="Amiri" pitchFamily="2" charset="-78"/>
              </a:rPr>
              <a:t>aṭ-lu-bu ...</a:t>
            </a:r>
            <a:endParaRPr lang="en-US" sz="1350" dirty="0"/>
          </a:p>
        </p:txBody>
      </p:sp>
      <p:sp>
        <p:nvSpPr>
          <p:cNvPr id="45" name="Shape 42"/>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11312" y="4261104"/>
            <a:ext cx="310896" cy="310896"/>
          </a:xfrm>
          <a:prstGeom prst="ellipse">
            <a:avLst/>
          </a:prstGeom>
          <a:solidFill>
            <a:srgbClr val="F4F1EA"/>
          </a:solidFill>
          <a:ln w="12700">
            <a:solidFill>
              <a:srgbClr val="F4F1EA"/>
            </a:solidFill>
            <a:prstDash val="solid"/>
          </a:ln>
        </p:spPr>
      </p:sp>
      <p:sp>
        <p:nvSpPr>
          <p:cNvPr id="47" name="Text 44"/>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4</a:t>
            </a:r>
            <a:endParaRPr lang="en-US" sz="1000" dirty="0"/>
          </a:p>
        </p:txBody>
      </p:sp>
      <p:sp>
        <p:nvSpPr>
          <p:cNvPr id="48" name="Text 45"/>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يَطْلُبُ / تَطْلُبُ</a:t>
            </a:r>
            <a:endParaRPr lang="ar-SA" sz="3000" dirty="0"/>
          </a:p>
        </p:txBody>
      </p:sp>
      <p:sp>
        <p:nvSpPr>
          <p:cNvPr id="49" name="Text 46"/>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he/she orders or requests</a:t>
            </a:r>
            <a:endParaRPr lang="en-US" sz="1350" dirty="0"/>
          </a:p>
          <a:p>
            <a:pPr indent="0" marL="0">
              <a:buNone/>
            </a:pPr>
            <a:r>
              <a:rPr lang="en-US" sz="1100" i="1" dirty="0">
                <a:solidFill>
                  <a:srgbClr val="5A6472"/>
                </a:solidFill>
                <a:latin typeface="Calibri" pitchFamily="34" charset="0"/>
                <a:cs typeface="Amiri" pitchFamily="2" charset="-78"/>
              </a:rPr>
              <a:t>yaṭ-lu-bu / taṭ-lu-bu</a:t>
            </a:r>
            <a:endParaRPr lang="en-US" sz="1350" dirty="0"/>
          </a:p>
        </p:txBody>
      </p:sp>
      <p:sp>
        <p:nvSpPr>
          <p:cNvPr id="50" name="Text 4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8 / 43</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F5-L05 · Ordering Politely</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1</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Polite requests (2 of 2)</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F5 · Food, Health and Body · F5-L05</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5</a:t>
            </a:r>
            <a:endParaRPr lang="en-US" sz="1000" dirty="0"/>
          </a:p>
        </p:txBody>
      </p:sp>
      <p:sp>
        <p:nvSpPr>
          <p:cNvPr id="18" name="Text 15"/>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هَلْ يُمْكِنُنِي أَنْ أَطْلُبَ ...؟</a:t>
            </a:r>
            <a:endParaRPr lang="ar-SA" sz="3000" dirty="0"/>
          </a:p>
        </p:txBody>
      </p:sp>
      <p:sp>
        <p:nvSpPr>
          <p:cNvPr id="19" name="Text 16"/>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may I order ...?</a:t>
            </a:r>
            <a:endParaRPr lang="en-US" sz="1350" dirty="0"/>
          </a:p>
          <a:p>
            <a:pPr indent="0" marL="0">
              <a:buNone/>
            </a:pPr>
            <a:r>
              <a:rPr lang="en-US" sz="1100" i="1" dirty="0">
                <a:solidFill>
                  <a:srgbClr val="5A6472"/>
                </a:solidFill>
                <a:latin typeface="Calibri" pitchFamily="34" charset="0"/>
                <a:cs typeface="Amiri" pitchFamily="2" charset="-78"/>
              </a:rPr>
              <a:t>hal yum-ki-nu-nī an aṭ-lu-ba ...?</a:t>
            </a:r>
            <a:endParaRPr lang="en-US" sz="1350" dirty="0"/>
          </a:p>
        </p:txBody>
      </p:sp>
      <p:sp>
        <p:nvSpPr>
          <p:cNvPr id="20" name="Shape 17"/>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4389120" y="1920240"/>
            <a:ext cx="310896" cy="310896"/>
          </a:xfrm>
          <a:prstGeom prst="ellipse">
            <a:avLst/>
          </a:prstGeom>
          <a:solidFill>
            <a:srgbClr val="F4F1EA"/>
          </a:solidFill>
          <a:ln w="12700">
            <a:solidFill>
              <a:srgbClr val="F4F1EA"/>
            </a:solidFill>
            <a:prstDash val="solid"/>
          </a:ln>
        </p:spPr>
      </p:sp>
      <p:sp>
        <p:nvSpPr>
          <p:cNvPr id="22" name="Text 19"/>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6</a:t>
            </a:r>
            <a:endParaRPr lang="en-US" sz="1000" dirty="0"/>
          </a:p>
        </p:txBody>
      </p:sp>
      <p:sp>
        <p:nvSpPr>
          <p:cNvPr id="23" name="Shape 20"/>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5" name="Text 22"/>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لَوْ سَمَحْتَ / لَوْ سَمَحْتِ</a:t>
            </a:r>
            <a:endParaRPr lang="ar-SA" sz="3000" dirty="0"/>
          </a:p>
        </p:txBody>
      </p:sp>
      <p:sp>
        <p:nvSpPr>
          <p:cNvPr id="26" name="Text 23"/>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excuse me / if you please</a:t>
            </a:r>
            <a:endParaRPr lang="en-US" sz="1350" dirty="0"/>
          </a:p>
          <a:p>
            <a:pPr indent="0" marL="0">
              <a:buNone/>
            </a:pPr>
            <a:r>
              <a:rPr lang="en-US" sz="1100" i="1" dirty="0">
                <a:solidFill>
                  <a:srgbClr val="5A6472"/>
                </a:solidFill>
                <a:latin typeface="Calibri" pitchFamily="34" charset="0"/>
                <a:cs typeface="Amiri" pitchFamily="2" charset="-78"/>
              </a:rPr>
              <a:t>law sa-maḥ-ta / law sa-maḥ-ti</a:t>
            </a:r>
            <a:endParaRPr lang="en-US" sz="1350" dirty="0"/>
          </a:p>
        </p:txBody>
      </p:sp>
      <p:sp>
        <p:nvSpPr>
          <p:cNvPr id="27" name="Shape 24"/>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5"/>
          <p:cNvSpPr/>
          <p:nvPr/>
        </p:nvSpPr>
        <p:spPr>
          <a:xfrm>
            <a:off x="566928" y="1920240"/>
            <a:ext cx="310896" cy="310896"/>
          </a:xfrm>
          <a:prstGeom prst="ellipse">
            <a:avLst/>
          </a:prstGeom>
          <a:solidFill>
            <a:srgbClr val="F4F1EA"/>
          </a:solidFill>
          <a:ln w="12700">
            <a:solidFill>
              <a:srgbClr val="F4F1EA"/>
            </a:solidFill>
            <a:prstDash val="solid"/>
          </a:ln>
        </p:spPr>
      </p:sp>
      <p:sp>
        <p:nvSpPr>
          <p:cNvPr id="29" name="Text 26"/>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7</a:t>
            </a:r>
            <a:endParaRPr lang="en-US" sz="1000" dirty="0"/>
          </a:p>
        </p:txBody>
      </p:sp>
      <p:sp>
        <p:nvSpPr>
          <p:cNvPr id="30" name="Shape 27"/>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31" name="Text 28"/>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2" name="Text 29"/>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شُكْرًا</a:t>
            </a:r>
            <a:endParaRPr lang="ar-SA" sz="3000" dirty="0"/>
          </a:p>
        </p:txBody>
      </p:sp>
      <p:sp>
        <p:nvSpPr>
          <p:cNvPr id="33" name="Text 30"/>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thank you</a:t>
            </a:r>
            <a:endParaRPr lang="en-US" sz="1350" dirty="0"/>
          </a:p>
          <a:p>
            <a:pPr indent="0" marL="0">
              <a:buNone/>
            </a:pPr>
            <a:r>
              <a:rPr lang="en-US" sz="1100" i="1" dirty="0">
                <a:solidFill>
                  <a:srgbClr val="5A6472"/>
                </a:solidFill>
                <a:latin typeface="Calibri" pitchFamily="34" charset="0"/>
                <a:cs typeface="Amiri" pitchFamily="2" charset="-78"/>
              </a:rPr>
              <a:t>shuk-ran</a:t>
            </a:r>
            <a:endParaRPr lang="en-US" sz="1350" dirty="0"/>
          </a:p>
        </p:txBody>
      </p:sp>
      <p:sp>
        <p:nvSpPr>
          <p:cNvPr id="34" name="Text 3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9 / 43</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F5-L05 · Ordering Politely</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2</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Restaurant language (1 of 2)</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F5 · Food, Health and Body · F5-L05</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8</a:t>
            </a:r>
            <a:endParaRPr lang="en-US" sz="1000" dirty="0"/>
          </a:p>
        </p:txBody>
      </p:sp>
      <p:sp>
        <p:nvSpPr>
          <p:cNvPr id="18" name="Shape 15"/>
          <p:cNvSpPr/>
          <p:nvPr/>
        </p:nvSpPr>
        <p:spPr>
          <a:xfrm>
            <a:off x="8604504" y="1938528"/>
            <a:ext cx="709574" cy="256032"/>
          </a:xfrm>
          <a:prstGeom prst="roundRect">
            <a:avLst>
              <a:gd name="adj" fmla="val 50000"/>
            </a:avLst>
          </a:prstGeom>
          <a:solidFill>
            <a:srgbClr val="EFE7D2"/>
          </a:solidFill>
          <a:ln w="12700">
            <a:solidFill>
              <a:srgbClr val="EFE7D2"/>
            </a:solidFill>
            <a:prstDash val="solid"/>
          </a:ln>
        </p:spPr>
      </p:sp>
      <p:sp>
        <p:nvSpPr>
          <p:cNvPr id="19" name="Text 16"/>
          <p:cNvSpPr txBox="1"/>
          <p:nvPr/>
        </p:nvSpPr>
        <p:spPr>
          <a:xfrm>
            <a:off x="8604504" y="1938528"/>
            <a:ext cx="709574"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sg · pl</a:t>
            </a:r>
            <a:endParaRPr lang="en-US" sz="800" dirty="0"/>
          </a:p>
        </p:txBody>
      </p:sp>
      <p:sp>
        <p:nvSpPr>
          <p:cNvPr id="20" name="Shape 17"/>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21" name="Text 18"/>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2" name="Text 19"/>
          <p:cNvSpPr txBox="1"/>
          <p:nvPr/>
        </p:nvSpPr>
        <p:spPr>
          <a:xfrm>
            <a:off x="8211312"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مَطْعَمٌ</a:t>
            </a:r>
            <a:endParaRPr lang="ar-SA" sz="3000" dirty="0"/>
          </a:p>
        </p:txBody>
      </p:sp>
      <p:sp>
        <p:nvSpPr>
          <p:cNvPr id="23" name="Text 20"/>
          <p:cNvSpPr txBox="1"/>
          <p:nvPr/>
        </p:nvSpPr>
        <p:spPr>
          <a:xfrm>
            <a:off x="8238744"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restaurant</a:t>
            </a:r>
            <a:endParaRPr lang="en-US" sz="1350" dirty="0"/>
          </a:p>
          <a:p>
            <a:pPr indent="0" marL="0">
              <a:buNone/>
            </a:pPr>
            <a:r>
              <a:rPr lang="en-US" sz="1100" i="1" dirty="0">
                <a:solidFill>
                  <a:srgbClr val="5A6472"/>
                </a:solidFill>
                <a:latin typeface="Calibri" pitchFamily="34" charset="0"/>
                <a:cs typeface="Amiri" pitchFamily="2" charset="-78"/>
              </a:rPr>
              <a:t>maṭ-ʿa-mun</a:t>
            </a:r>
            <a:endParaRPr lang="en-US" sz="1350" dirty="0"/>
          </a:p>
        </p:txBody>
      </p:sp>
      <p:sp>
        <p:nvSpPr>
          <p:cNvPr id="24" name="Shape 21"/>
          <p:cNvSpPr/>
          <p:nvPr/>
        </p:nvSpPr>
        <p:spPr>
          <a:xfrm>
            <a:off x="9966960" y="3438144"/>
            <a:ext cx="1636776" cy="438912"/>
          </a:xfrm>
          <a:prstGeom prst="roundRect">
            <a:avLst>
              <a:gd name="adj" fmla="val 10417"/>
            </a:avLst>
          </a:prstGeom>
          <a:solidFill>
            <a:srgbClr val="F4F1EA"/>
          </a:solidFill>
          <a:ln w="9525">
            <a:solidFill>
              <a:srgbClr val="F4F1EA"/>
            </a:solidFill>
            <a:prstDash val="solid"/>
          </a:ln>
        </p:spPr>
      </p:sp>
      <p:sp>
        <p:nvSpPr>
          <p:cNvPr id="25" name="Text 22"/>
          <p:cNvSpPr txBox="1"/>
          <p:nvPr/>
        </p:nvSpPr>
        <p:spPr>
          <a:xfrm>
            <a:off x="10021824"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one</a:t>
            </a:r>
            <a:endParaRPr lang="en-US" sz="750" dirty="0"/>
          </a:p>
        </p:txBody>
      </p:sp>
      <p:sp>
        <p:nvSpPr>
          <p:cNvPr id="26" name="Text 23"/>
          <p:cNvSpPr txBox="1"/>
          <p:nvPr/>
        </p:nvSpPr>
        <p:spPr>
          <a:xfrm>
            <a:off x="10012680"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مَطْعَمٌ</a:t>
            </a:r>
            <a:endParaRPr lang="ar-SA" sz="1500" dirty="0"/>
          </a:p>
        </p:txBody>
      </p:sp>
      <p:sp>
        <p:nvSpPr>
          <p:cNvPr id="27" name="Shape 24"/>
          <p:cNvSpPr/>
          <p:nvPr/>
        </p:nvSpPr>
        <p:spPr>
          <a:xfrm>
            <a:off x="8238744" y="3438144"/>
            <a:ext cx="1636776" cy="438912"/>
          </a:xfrm>
          <a:prstGeom prst="roundRect">
            <a:avLst>
              <a:gd name="adj" fmla="val 10417"/>
            </a:avLst>
          </a:prstGeom>
          <a:solidFill>
            <a:srgbClr val="F4F1EA"/>
          </a:solidFill>
          <a:ln w="9525">
            <a:solidFill>
              <a:srgbClr val="F4F1EA"/>
            </a:solidFill>
            <a:prstDash val="solid"/>
          </a:ln>
        </p:spPr>
      </p:sp>
      <p:sp>
        <p:nvSpPr>
          <p:cNvPr id="28" name="Text 25"/>
          <p:cNvSpPr txBox="1"/>
          <p:nvPr/>
        </p:nvSpPr>
        <p:spPr>
          <a:xfrm>
            <a:off x="8293608"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29" name="Text 26"/>
          <p:cNvSpPr txBox="1"/>
          <p:nvPr/>
        </p:nvSpPr>
        <p:spPr>
          <a:xfrm>
            <a:off x="8284464"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مَطَاعِمُ</a:t>
            </a:r>
            <a:endParaRPr lang="ar-SA" sz="1500" dirty="0"/>
          </a:p>
        </p:txBody>
      </p:sp>
      <p:sp>
        <p:nvSpPr>
          <p:cNvPr id="30" name="Shape 27"/>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389120" y="1920240"/>
            <a:ext cx="310896" cy="310896"/>
          </a:xfrm>
          <a:prstGeom prst="ellipse">
            <a:avLst/>
          </a:prstGeom>
          <a:solidFill>
            <a:srgbClr val="F4F1EA"/>
          </a:solidFill>
          <a:ln w="12700">
            <a:solidFill>
              <a:srgbClr val="F4F1EA"/>
            </a:solidFill>
            <a:prstDash val="solid"/>
          </a:ln>
        </p:spPr>
      </p:sp>
      <p:sp>
        <p:nvSpPr>
          <p:cNvPr id="32" name="Text 29"/>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9</a:t>
            </a:r>
            <a:endParaRPr lang="en-US" sz="1000" dirty="0"/>
          </a:p>
        </p:txBody>
      </p:sp>
      <p:sp>
        <p:nvSpPr>
          <p:cNvPr id="33" name="Shape 30"/>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34" name="Text 31"/>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5" name="Text 32"/>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مَقْهًى</a:t>
            </a:r>
            <a:endParaRPr lang="ar-SA" sz="3000" dirty="0"/>
          </a:p>
        </p:txBody>
      </p:sp>
      <p:sp>
        <p:nvSpPr>
          <p:cNvPr id="36" name="Text 33"/>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café</a:t>
            </a:r>
            <a:endParaRPr lang="en-US" sz="1350" dirty="0"/>
          </a:p>
          <a:p>
            <a:pPr indent="0" marL="0">
              <a:buNone/>
            </a:pPr>
            <a:r>
              <a:rPr lang="en-US" sz="1100" i="1" dirty="0">
                <a:solidFill>
                  <a:srgbClr val="5A6472"/>
                </a:solidFill>
                <a:latin typeface="Calibri" pitchFamily="34" charset="0"/>
                <a:cs typeface="Amiri" pitchFamily="2" charset="-78"/>
              </a:rPr>
              <a:t>maq-han</a:t>
            </a:r>
            <a:endParaRPr lang="en-US" sz="1350" dirty="0"/>
          </a:p>
        </p:txBody>
      </p:sp>
      <p:sp>
        <p:nvSpPr>
          <p:cNvPr id="37" name="Shape 34"/>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8" name="Shape 35"/>
          <p:cNvSpPr/>
          <p:nvPr/>
        </p:nvSpPr>
        <p:spPr>
          <a:xfrm>
            <a:off x="566928" y="1920240"/>
            <a:ext cx="310896" cy="310896"/>
          </a:xfrm>
          <a:prstGeom prst="ellipse">
            <a:avLst/>
          </a:prstGeom>
          <a:solidFill>
            <a:srgbClr val="F4F1EA"/>
          </a:solidFill>
          <a:ln w="12700">
            <a:solidFill>
              <a:srgbClr val="F4F1EA"/>
            </a:solidFill>
            <a:prstDash val="solid"/>
          </a:ln>
        </p:spPr>
      </p:sp>
      <p:sp>
        <p:nvSpPr>
          <p:cNvPr id="39" name="Text 36"/>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10</a:t>
            </a:r>
            <a:endParaRPr lang="en-US" sz="1000" dirty="0"/>
          </a:p>
        </p:txBody>
      </p:sp>
      <p:sp>
        <p:nvSpPr>
          <p:cNvPr id="40" name="Shape 37"/>
          <p:cNvSpPr/>
          <p:nvPr/>
        </p:nvSpPr>
        <p:spPr>
          <a:xfrm>
            <a:off x="960120" y="1938528"/>
            <a:ext cx="896112" cy="256032"/>
          </a:xfrm>
          <a:prstGeom prst="roundRect">
            <a:avLst>
              <a:gd name="adj" fmla="val 50000"/>
            </a:avLst>
          </a:prstGeom>
          <a:solidFill>
            <a:srgbClr val="EFE7D2"/>
          </a:solidFill>
          <a:ln w="12700">
            <a:solidFill>
              <a:srgbClr val="EFE7D2"/>
            </a:solidFill>
            <a:prstDash val="solid"/>
          </a:ln>
        </p:spPr>
      </p:sp>
      <p:sp>
        <p:nvSpPr>
          <p:cNvPr id="41" name="Text 38"/>
          <p:cNvSpPr txBox="1"/>
          <p:nvPr/>
        </p:nvSpPr>
        <p:spPr>
          <a:xfrm>
            <a:off x="960120" y="1938528"/>
            <a:ext cx="896112"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 · f · pl</a:t>
            </a:r>
            <a:endParaRPr lang="en-US" sz="800" dirty="0"/>
          </a:p>
        </p:txBody>
      </p:sp>
      <p:sp>
        <p:nvSpPr>
          <p:cNvPr id="42" name="Shape 39"/>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43" name="Text 40"/>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4" name="Text 41"/>
          <p:cNvSpPr txBox="1"/>
          <p:nvPr/>
        </p:nvSpPr>
        <p:spPr>
          <a:xfrm>
            <a:off x="566928"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نَادِلٌ / نَادِلَةٌ</a:t>
            </a:r>
            <a:endParaRPr lang="ar-SA" sz="3000" dirty="0"/>
          </a:p>
        </p:txBody>
      </p:sp>
      <p:sp>
        <p:nvSpPr>
          <p:cNvPr id="45" name="Text 42"/>
          <p:cNvSpPr txBox="1"/>
          <p:nvPr/>
        </p:nvSpPr>
        <p:spPr>
          <a:xfrm>
            <a:off x="594360"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waiter / waitress</a:t>
            </a:r>
            <a:endParaRPr lang="en-US" sz="1350" dirty="0"/>
          </a:p>
          <a:p>
            <a:pPr indent="0" marL="0">
              <a:buNone/>
            </a:pPr>
            <a:r>
              <a:rPr lang="en-US" sz="1100" i="1" dirty="0">
                <a:solidFill>
                  <a:srgbClr val="5A6472"/>
                </a:solidFill>
                <a:latin typeface="Calibri" pitchFamily="34" charset="0"/>
                <a:cs typeface="Amiri" pitchFamily="2" charset="-78"/>
              </a:rPr>
              <a:t>nā-di-lun / nā-di-la-tun</a:t>
            </a:r>
            <a:endParaRPr lang="en-US" sz="1350" dirty="0"/>
          </a:p>
        </p:txBody>
      </p:sp>
      <p:sp>
        <p:nvSpPr>
          <p:cNvPr id="46" name="Shape 43"/>
          <p:cNvSpPr/>
          <p:nvPr/>
        </p:nvSpPr>
        <p:spPr>
          <a:xfrm>
            <a:off x="2898648" y="3438144"/>
            <a:ext cx="1060704" cy="438912"/>
          </a:xfrm>
          <a:prstGeom prst="roundRect">
            <a:avLst>
              <a:gd name="adj" fmla="val 10417"/>
            </a:avLst>
          </a:prstGeom>
          <a:solidFill>
            <a:srgbClr val="F4F1EA"/>
          </a:solidFill>
          <a:ln w="9525">
            <a:solidFill>
              <a:srgbClr val="F4F1EA"/>
            </a:solidFill>
            <a:prstDash val="solid"/>
          </a:ln>
        </p:spPr>
      </p:sp>
      <p:sp>
        <p:nvSpPr>
          <p:cNvPr id="47" name="Text 44"/>
          <p:cNvSpPr txBox="1"/>
          <p:nvPr/>
        </p:nvSpPr>
        <p:spPr>
          <a:xfrm>
            <a:off x="2953512"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m.</a:t>
            </a:r>
            <a:endParaRPr lang="en-US" sz="750" dirty="0"/>
          </a:p>
        </p:txBody>
      </p:sp>
      <p:sp>
        <p:nvSpPr>
          <p:cNvPr id="48" name="Text 45"/>
          <p:cNvSpPr txBox="1"/>
          <p:nvPr/>
        </p:nvSpPr>
        <p:spPr>
          <a:xfrm>
            <a:off x="2944368"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نَادِلٌ</a:t>
            </a:r>
            <a:endParaRPr lang="ar-SA" sz="1500" dirty="0"/>
          </a:p>
        </p:txBody>
      </p:sp>
      <p:sp>
        <p:nvSpPr>
          <p:cNvPr id="49" name="Shape 46"/>
          <p:cNvSpPr/>
          <p:nvPr/>
        </p:nvSpPr>
        <p:spPr>
          <a:xfrm>
            <a:off x="1746504" y="3438144"/>
            <a:ext cx="1060704" cy="438912"/>
          </a:xfrm>
          <a:prstGeom prst="roundRect">
            <a:avLst>
              <a:gd name="adj" fmla="val 10417"/>
            </a:avLst>
          </a:prstGeom>
          <a:solidFill>
            <a:srgbClr val="F4F1EA"/>
          </a:solidFill>
          <a:ln w="9525">
            <a:solidFill>
              <a:srgbClr val="F4F1EA"/>
            </a:solidFill>
            <a:prstDash val="solid"/>
          </a:ln>
        </p:spPr>
      </p:sp>
      <p:sp>
        <p:nvSpPr>
          <p:cNvPr id="50" name="Text 47"/>
          <p:cNvSpPr txBox="1"/>
          <p:nvPr/>
        </p:nvSpPr>
        <p:spPr>
          <a:xfrm>
            <a:off x="1801368"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f.</a:t>
            </a:r>
            <a:endParaRPr lang="en-US" sz="750" dirty="0"/>
          </a:p>
        </p:txBody>
      </p:sp>
      <p:sp>
        <p:nvSpPr>
          <p:cNvPr id="51" name="Text 48"/>
          <p:cNvSpPr txBox="1"/>
          <p:nvPr/>
        </p:nvSpPr>
        <p:spPr>
          <a:xfrm>
            <a:off x="1792224"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نَادِلَةٌ</a:t>
            </a:r>
            <a:endParaRPr lang="ar-SA" sz="1500" dirty="0"/>
          </a:p>
        </p:txBody>
      </p:sp>
      <p:sp>
        <p:nvSpPr>
          <p:cNvPr id="52" name="Shape 49"/>
          <p:cNvSpPr/>
          <p:nvPr/>
        </p:nvSpPr>
        <p:spPr>
          <a:xfrm>
            <a:off x="594360" y="3438144"/>
            <a:ext cx="1060704" cy="438912"/>
          </a:xfrm>
          <a:prstGeom prst="roundRect">
            <a:avLst>
              <a:gd name="adj" fmla="val 10417"/>
            </a:avLst>
          </a:prstGeom>
          <a:solidFill>
            <a:srgbClr val="F4F1EA"/>
          </a:solidFill>
          <a:ln w="9525">
            <a:solidFill>
              <a:srgbClr val="F4F1EA"/>
            </a:solidFill>
            <a:prstDash val="solid"/>
          </a:ln>
        </p:spPr>
      </p:sp>
      <p:sp>
        <p:nvSpPr>
          <p:cNvPr id="53" name="Text 50"/>
          <p:cNvSpPr txBox="1"/>
          <p:nvPr/>
        </p:nvSpPr>
        <p:spPr>
          <a:xfrm>
            <a:off x="649224"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54" name="Text 51"/>
          <p:cNvSpPr txBox="1"/>
          <p:nvPr/>
        </p:nvSpPr>
        <p:spPr>
          <a:xfrm>
            <a:off x="640080"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نُدُلٌ</a:t>
            </a:r>
            <a:endParaRPr lang="ar-SA" sz="1500" dirty="0"/>
          </a:p>
        </p:txBody>
      </p:sp>
      <p:sp>
        <p:nvSpPr>
          <p:cNvPr id="55" name="Shape 52"/>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6" name="Shape 53"/>
          <p:cNvSpPr/>
          <p:nvPr/>
        </p:nvSpPr>
        <p:spPr>
          <a:xfrm>
            <a:off x="8211312" y="4261104"/>
            <a:ext cx="310896" cy="310896"/>
          </a:xfrm>
          <a:prstGeom prst="ellipse">
            <a:avLst/>
          </a:prstGeom>
          <a:solidFill>
            <a:srgbClr val="F4F1EA"/>
          </a:solidFill>
          <a:ln w="12700">
            <a:solidFill>
              <a:srgbClr val="F4F1EA"/>
            </a:solidFill>
            <a:prstDash val="solid"/>
          </a:ln>
        </p:spPr>
      </p:sp>
      <p:sp>
        <p:nvSpPr>
          <p:cNvPr id="57" name="Text 54"/>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11</a:t>
            </a:r>
            <a:endParaRPr lang="en-US" sz="1000" dirty="0"/>
          </a:p>
        </p:txBody>
      </p:sp>
      <p:sp>
        <p:nvSpPr>
          <p:cNvPr id="58" name="Shape 55"/>
          <p:cNvSpPr/>
          <p:nvPr/>
        </p:nvSpPr>
        <p:spPr>
          <a:xfrm>
            <a:off x="8604504" y="4279392"/>
            <a:ext cx="896112" cy="256032"/>
          </a:xfrm>
          <a:prstGeom prst="roundRect">
            <a:avLst>
              <a:gd name="adj" fmla="val 50000"/>
            </a:avLst>
          </a:prstGeom>
          <a:solidFill>
            <a:srgbClr val="EFE7D2"/>
          </a:solidFill>
          <a:ln w="12700">
            <a:solidFill>
              <a:srgbClr val="EFE7D2"/>
            </a:solidFill>
            <a:prstDash val="solid"/>
          </a:ln>
        </p:spPr>
      </p:sp>
      <p:sp>
        <p:nvSpPr>
          <p:cNvPr id="59" name="Text 56"/>
          <p:cNvSpPr txBox="1"/>
          <p:nvPr/>
        </p:nvSpPr>
        <p:spPr>
          <a:xfrm>
            <a:off x="8604504" y="4279392"/>
            <a:ext cx="896112"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 · f · pl</a:t>
            </a:r>
            <a:endParaRPr lang="en-US" sz="800" dirty="0"/>
          </a:p>
        </p:txBody>
      </p:sp>
      <p:sp>
        <p:nvSpPr>
          <p:cNvPr id="60" name="Text 57"/>
          <p:cNvSpPr txBox="1"/>
          <p:nvPr/>
        </p:nvSpPr>
        <p:spPr>
          <a:xfrm>
            <a:off x="8211312"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زَبُونٌ / زَبُونَةٌ</a:t>
            </a:r>
            <a:endParaRPr lang="ar-SA" sz="3000" dirty="0"/>
          </a:p>
        </p:txBody>
      </p:sp>
      <p:sp>
        <p:nvSpPr>
          <p:cNvPr id="61" name="Text 58"/>
          <p:cNvSpPr txBox="1"/>
          <p:nvPr/>
        </p:nvSpPr>
        <p:spPr>
          <a:xfrm>
            <a:off x="8238744"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customer</a:t>
            </a:r>
            <a:endParaRPr lang="en-US" sz="1350" dirty="0"/>
          </a:p>
          <a:p>
            <a:pPr indent="0" marL="0">
              <a:buNone/>
            </a:pPr>
            <a:r>
              <a:rPr lang="en-US" sz="1100" i="1" dirty="0">
                <a:solidFill>
                  <a:srgbClr val="5A6472"/>
                </a:solidFill>
                <a:latin typeface="Calibri" pitchFamily="34" charset="0"/>
                <a:cs typeface="Amiri" pitchFamily="2" charset="-78"/>
              </a:rPr>
              <a:t>za-bū-nun / za-bū-na-tun</a:t>
            </a:r>
            <a:endParaRPr lang="en-US" sz="1350" dirty="0"/>
          </a:p>
        </p:txBody>
      </p:sp>
      <p:sp>
        <p:nvSpPr>
          <p:cNvPr id="62" name="Shape 59"/>
          <p:cNvSpPr/>
          <p:nvPr/>
        </p:nvSpPr>
        <p:spPr>
          <a:xfrm>
            <a:off x="10543032" y="5779008"/>
            <a:ext cx="1060704" cy="438912"/>
          </a:xfrm>
          <a:prstGeom prst="roundRect">
            <a:avLst>
              <a:gd name="adj" fmla="val 10417"/>
            </a:avLst>
          </a:prstGeom>
          <a:solidFill>
            <a:srgbClr val="F4F1EA"/>
          </a:solidFill>
          <a:ln w="9525">
            <a:solidFill>
              <a:srgbClr val="F4F1EA"/>
            </a:solidFill>
            <a:prstDash val="solid"/>
          </a:ln>
        </p:spPr>
      </p:sp>
      <p:sp>
        <p:nvSpPr>
          <p:cNvPr id="63" name="Text 60"/>
          <p:cNvSpPr txBox="1"/>
          <p:nvPr/>
        </p:nvSpPr>
        <p:spPr>
          <a:xfrm>
            <a:off x="10597896"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m.</a:t>
            </a:r>
            <a:endParaRPr lang="en-US" sz="750" dirty="0"/>
          </a:p>
        </p:txBody>
      </p:sp>
      <p:sp>
        <p:nvSpPr>
          <p:cNvPr id="64" name="Text 61"/>
          <p:cNvSpPr txBox="1"/>
          <p:nvPr/>
        </p:nvSpPr>
        <p:spPr>
          <a:xfrm>
            <a:off x="10588752"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زَبُونٌ</a:t>
            </a:r>
            <a:endParaRPr lang="ar-SA" sz="1500" dirty="0"/>
          </a:p>
        </p:txBody>
      </p:sp>
      <p:sp>
        <p:nvSpPr>
          <p:cNvPr id="65" name="Shape 62"/>
          <p:cNvSpPr/>
          <p:nvPr/>
        </p:nvSpPr>
        <p:spPr>
          <a:xfrm>
            <a:off x="9390888" y="5779008"/>
            <a:ext cx="1060704" cy="438912"/>
          </a:xfrm>
          <a:prstGeom prst="roundRect">
            <a:avLst>
              <a:gd name="adj" fmla="val 10417"/>
            </a:avLst>
          </a:prstGeom>
          <a:solidFill>
            <a:srgbClr val="F4F1EA"/>
          </a:solidFill>
          <a:ln w="9525">
            <a:solidFill>
              <a:srgbClr val="F4F1EA"/>
            </a:solidFill>
            <a:prstDash val="solid"/>
          </a:ln>
        </p:spPr>
      </p:sp>
      <p:sp>
        <p:nvSpPr>
          <p:cNvPr id="66" name="Text 63"/>
          <p:cNvSpPr txBox="1"/>
          <p:nvPr/>
        </p:nvSpPr>
        <p:spPr>
          <a:xfrm>
            <a:off x="9445752"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f.</a:t>
            </a:r>
            <a:endParaRPr lang="en-US" sz="750" dirty="0"/>
          </a:p>
        </p:txBody>
      </p:sp>
      <p:sp>
        <p:nvSpPr>
          <p:cNvPr id="67" name="Text 64"/>
          <p:cNvSpPr txBox="1"/>
          <p:nvPr/>
        </p:nvSpPr>
        <p:spPr>
          <a:xfrm>
            <a:off x="9436608"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زَبُونَةٌ</a:t>
            </a:r>
            <a:endParaRPr lang="ar-SA" sz="1500" dirty="0"/>
          </a:p>
        </p:txBody>
      </p:sp>
      <p:sp>
        <p:nvSpPr>
          <p:cNvPr id="68" name="Shape 65"/>
          <p:cNvSpPr/>
          <p:nvPr/>
        </p:nvSpPr>
        <p:spPr>
          <a:xfrm>
            <a:off x="8238744" y="5779008"/>
            <a:ext cx="1060704" cy="438912"/>
          </a:xfrm>
          <a:prstGeom prst="roundRect">
            <a:avLst>
              <a:gd name="adj" fmla="val 10417"/>
            </a:avLst>
          </a:prstGeom>
          <a:solidFill>
            <a:srgbClr val="F4F1EA"/>
          </a:solidFill>
          <a:ln w="9525">
            <a:solidFill>
              <a:srgbClr val="F4F1EA"/>
            </a:solidFill>
            <a:prstDash val="solid"/>
          </a:ln>
        </p:spPr>
      </p:sp>
      <p:sp>
        <p:nvSpPr>
          <p:cNvPr id="69" name="Text 66"/>
          <p:cNvSpPr txBox="1"/>
          <p:nvPr/>
        </p:nvSpPr>
        <p:spPr>
          <a:xfrm>
            <a:off x="8293608"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70" name="Text 67"/>
          <p:cNvSpPr txBox="1"/>
          <p:nvPr/>
        </p:nvSpPr>
        <p:spPr>
          <a:xfrm>
            <a:off x="8284464"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زَبَائِنُ</a:t>
            </a:r>
            <a:endParaRPr lang="ar-SA" sz="1500" dirty="0"/>
          </a:p>
        </p:txBody>
      </p:sp>
      <p:sp>
        <p:nvSpPr>
          <p:cNvPr id="71" name="Text 68"/>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10 / 43</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F5-L05 · Ordering Politely</a:t>
            </a:r>
            <a:endParaRPr lang="en-US" sz="950" dirty="0"/>
          </a:p>
        </p:txBody>
      </p:sp>
      <p:sp>
        <p:nvSpPr>
          <p:cNvPr id="8" name="Shape 6"/>
          <p:cNvSpPr/>
          <p:nvPr/>
        </p:nvSpPr>
        <p:spPr>
          <a:xfrm>
            <a:off x="6915607" y="274320"/>
            <a:ext cx="1844345"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a:t>
            </a:r>
            <a:endParaRPr lang="en-US" sz="900" dirty="0"/>
          </a:p>
        </p:txBody>
      </p:sp>
      <p:sp>
        <p:nvSpPr>
          <p:cNvPr id="10" name="Shape 8"/>
          <p:cNvSpPr/>
          <p:nvPr/>
        </p:nvSpPr>
        <p:spPr>
          <a:xfrm>
            <a:off x="5818327"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5818327"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2 · FLEX</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Restaurant language (2 of 2)</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F5 · Food, Health and Body · F5-L05</a:t>
            </a:r>
            <a:endParaRPr lang="en-US" sz="850" dirty="0"/>
          </a:p>
        </p:txBody>
      </p:sp>
      <p:sp>
        <p:nvSpPr>
          <p:cNvPr id="17" name="Shape 14"/>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8211312" y="1920240"/>
            <a:ext cx="310896" cy="310896"/>
          </a:xfrm>
          <a:prstGeom prst="ellipse">
            <a:avLst/>
          </a:prstGeom>
          <a:solidFill>
            <a:srgbClr val="F4F1EA"/>
          </a:solidFill>
          <a:ln w="12700">
            <a:solidFill>
              <a:srgbClr val="F4F1EA"/>
            </a:solidFill>
            <a:prstDash val="solid"/>
          </a:ln>
        </p:spPr>
      </p:sp>
      <p:sp>
        <p:nvSpPr>
          <p:cNvPr id="19" name="Text 16"/>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12</a:t>
            </a:r>
            <a:endParaRPr lang="en-US" sz="1000" dirty="0"/>
          </a:p>
        </p:txBody>
      </p:sp>
      <p:sp>
        <p:nvSpPr>
          <p:cNvPr id="20" name="Shape 17"/>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21" name="Text 18"/>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2" name="Text 19"/>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قَائِمَةُ الطَّعَامِ</a:t>
            </a:r>
            <a:endParaRPr lang="ar-SA" sz="3000" dirty="0"/>
          </a:p>
        </p:txBody>
      </p:sp>
      <p:sp>
        <p:nvSpPr>
          <p:cNvPr id="23" name="Text 20"/>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menu</a:t>
            </a:r>
            <a:endParaRPr lang="en-US" sz="1350" dirty="0"/>
          </a:p>
          <a:p>
            <a:pPr indent="0" marL="0">
              <a:buNone/>
            </a:pPr>
            <a:r>
              <a:rPr lang="en-US" sz="1100" i="1" dirty="0">
                <a:solidFill>
                  <a:srgbClr val="5A6472"/>
                </a:solidFill>
                <a:latin typeface="Calibri" pitchFamily="34" charset="0"/>
                <a:cs typeface="Amiri" pitchFamily="2" charset="-78"/>
              </a:rPr>
              <a:t>qā-ʾi-ma-tu aṭ-ṭa-ʿā-mi</a:t>
            </a:r>
            <a:endParaRPr lang="en-US" sz="1350" dirty="0"/>
          </a:p>
        </p:txBody>
      </p:sp>
      <p:sp>
        <p:nvSpPr>
          <p:cNvPr id="24" name="Shape 21"/>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5" name="Shape 22"/>
          <p:cNvSpPr/>
          <p:nvPr/>
        </p:nvSpPr>
        <p:spPr>
          <a:xfrm>
            <a:off x="4389120" y="1920240"/>
            <a:ext cx="310896" cy="310896"/>
          </a:xfrm>
          <a:prstGeom prst="ellipse">
            <a:avLst/>
          </a:prstGeom>
          <a:solidFill>
            <a:srgbClr val="F4F1EA"/>
          </a:solidFill>
          <a:ln w="12700">
            <a:solidFill>
              <a:srgbClr val="F4F1EA"/>
            </a:solidFill>
            <a:prstDash val="solid"/>
          </a:ln>
        </p:spPr>
      </p:sp>
      <p:sp>
        <p:nvSpPr>
          <p:cNvPr id="26" name="Text 23"/>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13</a:t>
            </a:r>
            <a:endParaRPr lang="en-US" sz="1000" dirty="0"/>
          </a:p>
        </p:txBody>
      </p:sp>
      <p:sp>
        <p:nvSpPr>
          <p:cNvPr id="27" name="Shape 24"/>
          <p:cNvSpPr/>
          <p:nvPr/>
        </p:nvSpPr>
        <p:spPr>
          <a:xfrm>
            <a:off x="4782312" y="1938528"/>
            <a:ext cx="709574" cy="256032"/>
          </a:xfrm>
          <a:prstGeom prst="roundRect">
            <a:avLst>
              <a:gd name="adj" fmla="val 50000"/>
            </a:avLst>
          </a:prstGeom>
          <a:solidFill>
            <a:srgbClr val="EFE7D2"/>
          </a:solidFill>
          <a:ln w="12700">
            <a:solidFill>
              <a:srgbClr val="EFE7D2"/>
            </a:solidFill>
            <a:prstDash val="solid"/>
          </a:ln>
        </p:spPr>
      </p:sp>
      <p:sp>
        <p:nvSpPr>
          <p:cNvPr id="28" name="Text 25"/>
          <p:cNvSpPr txBox="1"/>
          <p:nvPr/>
        </p:nvSpPr>
        <p:spPr>
          <a:xfrm>
            <a:off x="4782312" y="1938528"/>
            <a:ext cx="709574"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sg · pl</a:t>
            </a:r>
            <a:endParaRPr lang="en-US" sz="800" dirty="0"/>
          </a:p>
        </p:txBody>
      </p:sp>
      <p:sp>
        <p:nvSpPr>
          <p:cNvPr id="29" name="Text 26"/>
          <p:cNvSpPr txBox="1"/>
          <p:nvPr/>
        </p:nvSpPr>
        <p:spPr>
          <a:xfrm>
            <a:off x="4389120"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طَاوِلَةٌ</a:t>
            </a:r>
            <a:endParaRPr lang="ar-SA" sz="3000" dirty="0"/>
          </a:p>
        </p:txBody>
      </p:sp>
      <p:sp>
        <p:nvSpPr>
          <p:cNvPr id="30" name="Text 27"/>
          <p:cNvSpPr txBox="1"/>
          <p:nvPr/>
        </p:nvSpPr>
        <p:spPr>
          <a:xfrm>
            <a:off x="4416552"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table</a:t>
            </a:r>
            <a:endParaRPr lang="en-US" sz="1350" dirty="0"/>
          </a:p>
          <a:p>
            <a:pPr indent="0" marL="0">
              <a:buNone/>
            </a:pPr>
            <a:r>
              <a:rPr lang="en-US" sz="1100" i="1" dirty="0">
                <a:solidFill>
                  <a:srgbClr val="5A6472"/>
                </a:solidFill>
                <a:latin typeface="Calibri" pitchFamily="34" charset="0"/>
                <a:cs typeface="Amiri" pitchFamily="2" charset="-78"/>
              </a:rPr>
              <a:t>ṭā-wi-la-tun</a:t>
            </a:r>
            <a:endParaRPr lang="en-US" sz="1350" dirty="0"/>
          </a:p>
        </p:txBody>
      </p:sp>
      <p:sp>
        <p:nvSpPr>
          <p:cNvPr id="31" name="Shape 28"/>
          <p:cNvSpPr/>
          <p:nvPr/>
        </p:nvSpPr>
        <p:spPr>
          <a:xfrm>
            <a:off x="6144768" y="3438144"/>
            <a:ext cx="1636776" cy="438912"/>
          </a:xfrm>
          <a:prstGeom prst="roundRect">
            <a:avLst>
              <a:gd name="adj" fmla="val 10417"/>
            </a:avLst>
          </a:prstGeom>
          <a:solidFill>
            <a:srgbClr val="F4F1EA"/>
          </a:solidFill>
          <a:ln w="9525">
            <a:solidFill>
              <a:srgbClr val="F4F1EA"/>
            </a:solidFill>
            <a:prstDash val="solid"/>
          </a:ln>
        </p:spPr>
      </p:sp>
      <p:sp>
        <p:nvSpPr>
          <p:cNvPr id="32" name="Text 29"/>
          <p:cNvSpPr txBox="1"/>
          <p:nvPr/>
        </p:nvSpPr>
        <p:spPr>
          <a:xfrm>
            <a:off x="6199632"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one</a:t>
            </a:r>
            <a:endParaRPr lang="en-US" sz="750" dirty="0"/>
          </a:p>
        </p:txBody>
      </p:sp>
      <p:sp>
        <p:nvSpPr>
          <p:cNvPr id="33" name="Text 30"/>
          <p:cNvSpPr txBox="1"/>
          <p:nvPr/>
        </p:nvSpPr>
        <p:spPr>
          <a:xfrm>
            <a:off x="6190488"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طَاوِلَةٌ</a:t>
            </a:r>
            <a:endParaRPr lang="ar-SA" sz="1500" dirty="0"/>
          </a:p>
        </p:txBody>
      </p:sp>
      <p:sp>
        <p:nvSpPr>
          <p:cNvPr id="34" name="Shape 31"/>
          <p:cNvSpPr/>
          <p:nvPr/>
        </p:nvSpPr>
        <p:spPr>
          <a:xfrm>
            <a:off x="4416552" y="3438144"/>
            <a:ext cx="1636776" cy="438912"/>
          </a:xfrm>
          <a:prstGeom prst="roundRect">
            <a:avLst>
              <a:gd name="adj" fmla="val 10417"/>
            </a:avLst>
          </a:prstGeom>
          <a:solidFill>
            <a:srgbClr val="F4F1EA"/>
          </a:solidFill>
          <a:ln w="9525">
            <a:solidFill>
              <a:srgbClr val="F4F1EA"/>
            </a:solidFill>
            <a:prstDash val="solid"/>
          </a:ln>
        </p:spPr>
      </p:sp>
      <p:sp>
        <p:nvSpPr>
          <p:cNvPr id="35" name="Text 32"/>
          <p:cNvSpPr txBox="1"/>
          <p:nvPr/>
        </p:nvSpPr>
        <p:spPr>
          <a:xfrm>
            <a:off x="4471416"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36" name="Text 33"/>
          <p:cNvSpPr txBox="1"/>
          <p:nvPr/>
        </p:nvSpPr>
        <p:spPr>
          <a:xfrm>
            <a:off x="4462272"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طَاوِلَاتٌ</a:t>
            </a:r>
            <a:endParaRPr lang="ar-SA" sz="1500" dirty="0"/>
          </a:p>
        </p:txBody>
      </p:sp>
      <p:sp>
        <p:nvSpPr>
          <p:cNvPr id="37" name="Shape 34"/>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8" name="Shape 35"/>
          <p:cNvSpPr/>
          <p:nvPr/>
        </p:nvSpPr>
        <p:spPr>
          <a:xfrm>
            <a:off x="566928" y="1920240"/>
            <a:ext cx="310896" cy="310896"/>
          </a:xfrm>
          <a:prstGeom prst="ellipse">
            <a:avLst/>
          </a:prstGeom>
          <a:solidFill>
            <a:srgbClr val="F4F1EA"/>
          </a:solidFill>
          <a:ln w="12700">
            <a:solidFill>
              <a:srgbClr val="F4F1EA"/>
            </a:solidFill>
            <a:prstDash val="solid"/>
          </a:ln>
        </p:spPr>
      </p:sp>
      <p:sp>
        <p:nvSpPr>
          <p:cNvPr id="39" name="Text 36"/>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14</a:t>
            </a:r>
            <a:endParaRPr lang="en-US" sz="1000" dirty="0"/>
          </a:p>
        </p:txBody>
      </p:sp>
      <p:sp>
        <p:nvSpPr>
          <p:cNvPr id="40" name="Text 37"/>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طَلَبٌ</a:t>
            </a:r>
            <a:endParaRPr lang="ar-SA" sz="3000" dirty="0"/>
          </a:p>
        </p:txBody>
      </p:sp>
      <p:sp>
        <p:nvSpPr>
          <p:cNvPr id="41" name="Text 38"/>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order</a:t>
            </a:r>
            <a:endParaRPr lang="en-US" sz="1350" dirty="0"/>
          </a:p>
          <a:p>
            <a:pPr indent="0" marL="0">
              <a:buNone/>
            </a:pPr>
            <a:r>
              <a:rPr lang="en-US" sz="1100" i="1" dirty="0">
                <a:solidFill>
                  <a:srgbClr val="5A6472"/>
                </a:solidFill>
                <a:latin typeface="Calibri" pitchFamily="34" charset="0"/>
                <a:cs typeface="Amiri" pitchFamily="2" charset="-78"/>
              </a:rPr>
              <a:t>ṭa-la-bun</a:t>
            </a:r>
            <a:endParaRPr lang="en-US" sz="1350" dirty="0"/>
          </a:p>
        </p:txBody>
      </p:sp>
      <p:sp>
        <p:nvSpPr>
          <p:cNvPr id="42" name="Shape 39"/>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3" name="Shape 40"/>
          <p:cNvSpPr/>
          <p:nvPr/>
        </p:nvSpPr>
        <p:spPr>
          <a:xfrm>
            <a:off x="8211312" y="4261104"/>
            <a:ext cx="310896" cy="310896"/>
          </a:xfrm>
          <a:prstGeom prst="ellipse">
            <a:avLst/>
          </a:prstGeom>
          <a:solidFill>
            <a:srgbClr val="F4F1EA"/>
          </a:solidFill>
          <a:ln w="12700">
            <a:solidFill>
              <a:srgbClr val="F4F1EA"/>
            </a:solidFill>
            <a:prstDash val="solid"/>
          </a:ln>
        </p:spPr>
      </p:sp>
      <p:sp>
        <p:nvSpPr>
          <p:cNvPr id="44" name="Text 41"/>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15</a:t>
            </a:r>
            <a:endParaRPr lang="en-US" sz="1000" dirty="0"/>
          </a:p>
        </p:txBody>
      </p:sp>
      <p:sp>
        <p:nvSpPr>
          <p:cNvPr id="45" name="Shape 42"/>
          <p:cNvSpPr/>
          <p:nvPr/>
        </p:nvSpPr>
        <p:spPr>
          <a:xfrm>
            <a:off x="10872216" y="4279392"/>
            <a:ext cx="731520" cy="256032"/>
          </a:xfrm>
          <a:prstGeom prst="roundRect">
            <a:avLst>
              <a:gd name="adj" fmla="val 50000"/>
            </a:avLst>
          </a:prstGeom>
          <a:solidFill>
            <a:srgbClr val="2E8B57"/>
          </a:solidFill>
          <a:ln w="12700">
            <a:solidFill>
              <a:srgbClr val="2E8B57"/>
            </a:solidFill>
            <a:prstDash val="solid"/>
          </a:ln>
        </p:spPr>
      </p:sp>
      <p:sp>
        <p:nvSpPr>
          <p:cNvPr id="46" name="Text 43"/>
          <p:cNvSpPr txBox="1"/>
          <p:nvPr/>
        </p:nvSpPr>
        <p:spPr>
          <a:xfrm>
            <a:off x="10872216"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7" name="Text 44"/>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الحِسَابُ</a:t>
            </a:r>
            <a:endParaRPr lang="ar-SA" sz="3000" dirty="0"/>
          </a:p>
        </p:txBody>
      </p:sp>
      <p:sp>
        <p:nvSpPr>
          <p:cNvPr id="48" name="Text 45"/>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bill</a:t>
            </a:r>
            <a:endParaRPr lang="en-US" sz="1350" dirty="0"/>
          </a:p>
          <a:p>
            <a:pPr indent="0" marL="0">
              <a:buNone/>
            </a:pPr>
            <a:r>
              <a:rPr lang="en-US" sz="1100" i="1" dirty="0">
                <a:solidFill>
                  <a:srgbClr val="5A6472"/>
                </a:solidFill>
                <a:latin typeface="Calibri" pitchFamily="34" charset="0"/>
                <a:cs typeface="Amiri" pitchFamily="2" charset="-78"/>
              </a:rPr>
              <a:t>al-ḥi-sā-bu</a:t>
            </a:r>
            <a:endParaRPr lang="en-US" sz="1350" dirty="0"/>
          </a:p>
        </p:txBody>
      </p:sp>
      <p:sp>
        <p:nvSpPr>
          <p:cNvPr id="49" name="Text 4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11 / 43</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F5-L05 · Ordering Politely</a:t>
            </a:r>
            <a:endParaRPr lang="en-US" sz="950" dirty="0"/>
          </a:p>
        </p:txBody>
      </p:sp>
      <p:sp>
        <p:nvSpPr>
          <p:cNvPr id="8" name="Shape 6"/>
          <p:cNvSpPr/>
          <p:nvPr/>
        </p:nvSpPr>
        <p:spPr>
          <a:xfrm>
            <a:off x="6915607" y="274320"/>
            <a:ext cx="1844345"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a:t>
            </a:r>
            <a:endParaRPr lang="en-US" sz="900" dirty="0"/>
          </a:p>
        </p:txBody>
      </p:sp>
      <p:sp>
        <p:nvSpPr>
          <p:cNvPr id="10" name="Shape 8"/>
          <p:cNvSpPr/>
          <p:nvPr/>
        </p:nvSpPr>
        <p:spPr>
          <a:xfrm>
            <a:off x="5818327"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5818327"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3 · FLEX</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Useful questions</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F5 · Food, Health and Body · F5-L05</a:t>
            </a:r>
            <a:endParaRPr lang="en-US" sz="850" dirty="0"/>
          </a:p>
        </p:txBody>
      </p:sp>
      <p:sp>
        <p:nvSpPr>
          <p:cNvPr id="17" name="Shape 14"/>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8211312" y="1920240"/>
            <a:ext cx="310896" cy="310896"/>
          </a:xfrm>
          <a:prstGeom prst="ellipse">
            <a:avLst/>
          </a:prstGeom>
          <a:solidFill>
            <a:srgbClr val="F4F1EA"/>
          </a:solidFill>
          <a:ln w="12700">
            <a:solidFill>
              <a:srgbClr val="F4F1EA"/>
            </a:solidFill>
            <a:prstDash val="solid"/>
          </a:ln>
        </p:spPr>
      </p:sp>
      <p:sp>
        <p:nvSpPr>
          <p:cNvPr id="19" name="Text 16"/>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16</a:t>
            </a:r>
            <a:endParaRPr lang="en-US" sz="1000" dirty="0"/>
          </a:p>
        </p:txBody>
      </p:sp>
      <p:sp>
        <p:nvSpPr>
          <p:cNvPr id="20" name="Shape 17"/>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21" name="Text 18"/>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2" name="Text 19"/>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هَلْ عِنْدَكُمْ ...؟</a:t>
            </a:r>
            <a:endParaRPr lang="ar-SA" sz="3000" dirty="0"/>
          </a:p>
        </p:txBody>
      </p:sp>
      <p:sp>
        <p:nvSpPr>
          <p:cNvPr id="23" name="Text 20"/>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do you have ...?</a:t>
            </a:r>
            <a:endParaRPr lang="en-US" sz="1350" dirty="0"/>
          </a:p>
          <a:p>
            <a:pPr indent="0" marL="0">
              <a:buNone/>
            </a:pPr>
            <a:r>
              <a:rPr lang="en-US" sz="1100" i="1" dirty="0">
                <a:solidFill>
                  <a:srgbClr val="5A6472"/>
                </a:solidFill>
                <a:latin typeface="Calibri" pitchFamily="34" charset="0"/>
                <a:cs typeface="Amiri" pitchFamily="2" charset="-78"/>
              </a:rPr>
              <a:t>hal ʿin-da-kum ...?</a:t>
            </a:r>
            <a:endParaRPr lang="en-US" sz="1350" dirty="0"/>
          </a:p>
        </p:txBody>
      </p:sp>
      <p:sp>
        <p:nvSpPr>
          <p:cNvPr id="24" name="Shape 21"/>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5" name="Shape 22"/>
          <p:cNvSpPr/>
          <p:nvPr/>
        </p:nvSpPr>
        <p:spPr>
          <a:xfrm>
            <a:off x="4389120" y="1920240"/>
            <a:ext cx="310896" cy="310896"/>
          </a:xfrm>
          <a:prstGeom prst="ellipse">
            <a:avLst/>
          </a:prstGeom>
          <a:solidFill>
            <a:srgbClr val="F4F1EA"/>
          </a:solidFill>
          <a:ln w="12700">
            <a:solidFill>
              <a:srgbClr val="F4F1EA"/>
            </a:solidFill>
            <a:prstDash val="solid"/>
          </a:ln>
        </p:spPr>
      </p:sp>
      <p:sp>
        <p:nvSpPr>
          <p:cNvPr id="26" name="Text 23"/>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17</a:t>
            </a:r>
            <a:endParaRPr lang="en-US" sz="1000" dirty="0"/>
          </a:p>
        </p:txBody>
      </p:sp>
      <p:sp>
        <p:nvSpPr>
          <p:cNvPr id="27" name="Text 24"/>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مَاذَا تُرِيدُ؟ / تُرِيدِينَ؟</a:t>
            </a:r>
            <a:endParaRPr lang="ar-SA" sz="3000" dirty="0"/>
          </a:p>
        </p:txBody>
      </p:sp>
      <p:sp>
        <p:nvSpPr>
          <p:cNvPr id="28" name="Text 25"/>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what would you like?</a:t>
            </a:r>
            <a:endParaRPr lang="en-US" sz="1350" dirty="0"/>
          </a:p>
          <a:p>
            <a:pPr indent="0" marL="0">
              <a:buNone/>
            </a:pPr>
            <a:r>
              <a:rPr lang="en-US" sz="1100" i="1" dirty="0">
                <a:solidFill>
                  <a:srgbClr val="5A6472"/>
                </a:solidFill>
                <a:latin typeface="Calibri" pitchFamily="34" charset="0"/>
                <a:cs typeface="Amiri" pitchFamily="2" charset="-78"/>
              </a:rPr>
              <a:t>mā-dhā tu-rī-du? / tu-rī-dī-na?</a:t>
            </a:r>
            <a:endParaRPr lang="en-US" sz="1350" dirty="0"/>
          </a:p>
        </p:txBody>
      </p:sp>
      <p:sp>
        <p:nvSpPr>
          <p:cNvPr id="29" name="Shape 26"/>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566928" y="1920240"/>
            <a:ext cx="310896" cy="310896"/>
          </a:xfrm>
          <a:prstGeom prst="ellipse">
            <a:avLst/>
          </a:prstGeom>
          <a:solidFill>
            <a:srgbClr val="F4F1EA"/>
          </a:solidFill>
          <a:ln w="12700">
            <a:solidFill>
              <a:srgbClr val="F4F1EA"/>
            </a:solidFill>
            <a:prstDash val="solid"/>
          </a:ln>
        </p:spPr>
      </p:sp>
      <p:sp>
        <p:nvSpPr>
          <p:cNvPr id="31" name="Text 28"/>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18</a:t>
            </a:r>
            <a:endParaRPr lang="en-US" sz="1000" dirty="0"/>
          </a:p>
        </p:txBody>
      </p:sp>
      <p:sp>
        <p:nvSpPr>
          <p:cNvPr id="32" name="Text 29"/>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هَلْ تُرِيدُ شَيْئًا آخَرَ؟</a:t>
            </a:r>
            <a:endParaRPr lang="ar-SA" sz="3000" dirty="0"/>
          </a:p>
        </p:txBody>
      </p:sp>
      <p:sp>
        <p:nvSpPr>
          <p:cNvPr id="33" name="Text 30"/>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would you like anything else?</a:t>
            </a:r>
            <a:endParaRPr lang="en-US" sz="1350" dirty="0"/>
          </a:p>
          <a:p>
            <a:pPr indent="0" marL="0">
              <a:buNone/>
            </a:pPr>
            <a:r>
              <a:rPr lang="en-US" sz="1100" i="1" dirty="0">
                <a:solidFill>
                  <a:srgbClr val="5A6472"/>
                </a:solidFill>
                <a:latin typeface="Calibri" pitchFamily="34" charset="0"/>
                <a:cs typeface="Amiri" pitchFamily="2" charset="-78"/>
              </a:rPr>
              <a:t>hal tu-rī-du shay-ʾan ā-kha-ra?</a:t>
            </a:r>
            <a:endParaRPr lang="en-US" sz="1350" dirty="0"/>
          </a:p>
        </p:txBody>
      </p:sp>
      <p:sp>
        <p:nvSpPr>
          <p:cNvPr id="34" name="Shape 31"/>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5" name="Shape 32"/>
          <p:cNvSpPr/>
          <p:nvPr/>
        </p:nvSpPr>
        <p:spPr>
          <a:xfrm>
            <a:off x="8211312" y="4261104"/>
            <a:ext cx="310896" cy="310896"/>
          </a:xfrm>
          <a:prstGeom prst="ellipse">
            <a:avLst/>
          </a:prstGeom>
          <a:solidFill>
            <a:srgbClr val="F4F1EA"/>
          </a:solidFill>
          <a:ln w="12700">
            <a:solidFill>
              <a:srgbClr val="F4F1EA"/>
            </a:solidFill>
            <a:prstDash val="solid"/>
          </a:ln>
        </p:spPr>
      </p:sp>
      <p:sp>
        <p:nvSpPr>
          <p:cNvPr id="36" name="Text 33"/>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19</a:t>
            </a:r>
            <a:endParaRPr lang="en-US" sz="1000" dirty="0"/>
          </a:p>
        </p:txBody>
      </p:sp>
      <p:sp>
        <p:nvSpPr>
          <p:cNvPr id="37" name="Shape 34"/>
          <p:cNvSpPr/>
          <p:nvPr/>
        </p:nvSpPr>
        <p:spPr>
          <a:xfrm>
            <a:off x="10872216" y="4279392"/>
            <a:ext cx="731520" cy="256032"/>
          </a:xfrm>
          <a:prstGeom prst="roundRect">
            <a:avLst>
              <a:gd name="adj" fmla="val 50000"/>
            </a:avLst>
          </a:prstGeom>
          <a:solidFill>
            <a:srgbClr val="2E8B57"/>
          </a:solidFill>
          <a:ln w="12700">
            <a:solidFill>
              <a:srgbClr val="2E8B57"/>
            </a:solidFill>
            <a:prstDash val="solid"/>
          </a:ln>
        </p:spPr>
      </p:sp>
      <p:sp>
        <p:nvSpPr>
          <p:cNvPr id="38" name="Text 35"/>
          <p:cNvSpPr txBox="1"/>
          <p:nvPr/>
        </p:nvSpPr>
        <p:spPr>
          <a:xfrm>
            <a:off x="10872216"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9" name="Text 36"/>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كَمِ السِّعْرُ؟</a:t>
            </a:r>
            <a:endParaRPr lang="ar-SA" sz="3000" dirty="0"/>
          </a:p>
        </p:txBody>
      </p:sp>
      <p:sp>
        <p:nvSpPr>
          <p:cNvPr id="40" name="Text 37"/>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how much is it?</a:t>
            </a:r>
            <a:endParaRPr lang="en-US" sz="1350" dirty="0"/>
          </a:p>
          <a:p>
            <a:pPr indent="0" marL="0">
              <a:buNone/>
            </a:pPr>
            <a:r>
              <a:rPr lang="en-US" sz="1100" i="1" dirty="0">
                <a:solidFill>
                  <a:srgbClr val="5A6472"/>
                </a:solidFill>
                <a:latin typeface="Calibri" pitchFamily="34" charset="0"/>
                <a:cs typeface="Amiri" pitchFamily="2" charset="-78"/>
              </a:rPr>
              <a:t>ka-mi as-siʿ-ru?</a:t>
            </a:r>
            <a:endParaRPr lang="en-US" sz="1350" dirty="0"/>
          </a:p>
        </p:txBody>
      </p:sp>
      <p:sp>
        <p:nvSpPr>
          <p:cNvPr id="41" name="Shape 38"/>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4389120" y="4261104"/>
            <a:ext cx="310896" cy="310896"/>
          </a:xfrm>
          <a:prstGeom prst="ellipse">
            <a:avLst/>
          </a:prstGeom>
          <a:solidFill>
            <a:srgbClr val="F4F1EA"/>
          </a:solidFill>
          <a:ln w="12700">
            <a:solidFill>
              <a:srgbClr val="F4F1EA"/>
            </a:solidFill>
            <a:prstDash val="solid"/>
          </a:ln>
        </p:spPr>
      </p:sp>
      <p:sp>
        <p:nvSpPr>
          <p:cNvPr id="43" name="Text 40"/>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20</a:t>
            </a:r>
            <a:endParaRPr lang="en-US" sz="1000" dirty="0"/>
          </a:p>
        </p:txBody>
      </p:sp>
      <p:sp>
        <p:nvSpPr>
          <p:cNvPr id="44" name="Text 41"/>
          <p:cNvSpPr txBox="1"/>
          <p:nvPr/>
        </p:nvSpPr>
        <p:spPr>
          <a:xfrm>
            <a:off x="4389120"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مَاءٌ عَادِيٌّ أَمْ غَازِيٌّ؟</a:t>
            </a:r>
            <a:endParaRPr lang="ar-SA" sz="3000" dirty="0"/>
          </a:p>
        </p:txBody>
      </p:sp>
      <p:sp>
        <p:nvSpPr>
          <p:cNvPr id="45" name="Text 42"/>
          <p:cNvSpPr txBox="1"/>
          <p:nvPr/>
        </p:nvSpPr>
        <p:spPr>
          <a:xfrm>
            <a:off x="4416552"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still or sparkling water?</a:t>
            </a:r>
            <a:endParaRPr lang="en-US" sz="1350" dirty="0"/>
          </a:p>
          <a:p>
            <a:pPr indent="0" marL="0">
              <a:buNone/>
            </a:pPr>
            <a:r>
              <a:rPr lang="en-US" sz="1100" i="1" dirty="0">
                <a:solidFill>
                  <a:srgbClr val="5A6472"/>
                </a:solidFill>
                <a:latin typeface="Calibri" pitchFamily="34" charset="0"/>
                <a:cs typeface="Amiri" pitchFamily="2" charset="-78"/>
              </a:rPr>
              <a:t>mā-ʾun ʿā-diy-yun am ghā-ziy-yun?</a:t>
            </a:r>
            <a:endParaRPr lang="en-US" sz="1350" dirty="0"/>
          </a:p>
        </p:txBody>
      </p:sp>
      <p:sp>
        <p:nvSpPr>
          <p:cNvPr id="46" name="Shape 43"/>
          <p:cNvSpPr/>
          <p:nvPr/>
        </p:nvSpPr>
        <p:spPr>
          <a:xfrm>
            <a:off x="457200"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7" name="Shape 44"/>
          <p:cNvSpPr/>
          <p:nvPr/>
        </p:nvSpPr>
        <p:spPr>
          <a:xfrm>
            <a:off x="566928" y="4261104"/>
            <a:ext cx="310896" cy="310896"/>
          </a:xfrm>
          <a:prstGeom prst="ellipse">
            <a:avLst/>
          </a:prstGeom>
          <a:solidFill>
            <a:srgbClr val="F4F1EA"/>
          </a:solidFill>
          <a:ln w="12700">
            <a:solidFill>
              <a:srgbClr val="F4F1EA"/>
            </a:solidFill>
            <a:prstDash val="solid"/>
          </a:ln>
        </p:spPr>
      </p:sp>
      <p:sp>
        <p:nvSpPr>
          <p:cNvPr id="48" name="Text 45"/>
          <p:cNvSpPr txBox="1"/>
          <p:nvPr/>
        </p:nvSpPr>
        <p:spPr>
          <a:xfrm>
            <a:off x="566928"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21</a:t>
            </a:r>
            <a:endParaRPr lang="en-US" sz="1000" dirty="0"/>
          </a:p>
        </p:txBody>
      </p:sp>
      <p:sp>
        <p:nvSpPr>
          <p:cNvPr id="49" name="Shape 46"/>
          <p:cNvSpPr/>
          <p:nvPr/>
        </p:nvSpPr>
        <p:spPr>
          <a:xfrm>
            <a:off x="3227832" y="4279392"/>
            <a:ext cx="731520" cy="256032"/>
          </a:xfrm>
          <a:prstGeom prst="roundRect">
            <a:avLst>
              <a:gd name="adj" fmla="val 50000"/>
            </a:avLst>
          </a:prstGeom>
          <a:solidFill>
            <a:srgbClr val="2E8B57"/>
          </a:solidFill>
          <a:ln w="12700">
            <a:solidFill>
              <a:srgbClr val="2E8B57"/>
            </a:solidFill>
            <a:prstDash val="solid"/>
          </a:ln>
        </p:spPr>
      </p:sp>
      <p:sp>
        <p:nvSpPr>
          <p:cNvPr id="50" name="Text 47"/>
          <p:cNvSpPr txBox="1"/>
          <p:nvPr/>
        </p:nvSpPr>
        <p:spPr>
          <a:xfrm>
            <a:off x="3227832"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51" name="Text 48"/>
          <p:cNvSpPr txBox="1"/>
          <p:nvPr/>
        </p:nvSpPr>
        <p:spPr>
          <a:xfrm>
            <a:off x="566928"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الحِسَابُ مِنْ فَضْلِكَ</a:t>
            </a:r>
            <a:endParaRPr lang="ar-SA" sz="3000" dirty="0"/>
          </a:p>
        </p:txBody>
      </p:sp>
      <p:sp>
        <p:nvSpPr>
          <p:cNvPr id="52" name="Text 49"/>
          <p:cNvSpPr txBox="1"/>
          <p:nvPr/>
        </p:nvSpPr>
        <p:spPr>
          <a:xfrm>
            <a:off x="594360"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the bill, please</a:t>
            </a:r>
            <a:endParaRPr lang="en-US" sz="1350" dirty="0"/>
          </a:p>
          <a:p>
            <a:pPr indent="0" marL="0">
              <a:buNone/>
            </a:pPr>
            <a:r>
              <a:rPr lang="en-US" sz="1100" i="1" dirty="0">
                <a:solidFill>
                  <a:srgbClr val="5A6472"/>
                </a:solidFill>
                <a:latin typeface="Calibri" pitchFamily="34" charset="0"/>
                <a:cs typeface="Amiri" pitchFamily="2" charset="-78"/>
              </a:rPr>
              <a:t>al-ḥi-sā-bu min faḍ-li-ka</a:t>
            </a:r>
            <a:endParaRPr lang="en-US" sz="1350" dirty="0"/>
          </a:p>
        </p:txBody>
      </p:sp>
      <p:sp>
        <p:nvSpPr>
          <p:cNvPr id="53" name="Text 5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12 / 43</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F5-L05 · Ordering Politely</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1B3B6F"/>
                </a:solidFill>
                <a:latin typeface="Calibri" pitchFamily="34" charset="0"/>
                <a:cs typeface="Amiri" pitchFamily="2" charset="-78"/>
              </a:rPr>
              <a:t>GRAMMAR FOCUS · PART 1 · THE CAFÉ TRANSACTION (WEBSITE RULES 1–4)</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Greet · order · ask · pay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الطَّلَبُ المُهَذَّبُ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F5 · Food, Health and Body · F5-L05</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119872" y="1810512"/>
            <a:ext cx="353872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English</a:t>
            </a:r>
            <a:endParaRPr lang="en-US" sz="1100" dirty="0"/>
          </a:p>
        </p:txBody>
      </p:sp>
      <p:sp>
        <p:nvSpPr>
          <p:cNvPr id="17" name="Text 14"/>
          <p:cNvSpPr txBox="1"/>
          <p:nvPr/>
        </p:nvSpPr>
        <p:spPr>
          <a:xfrm>
            <a:off x="2633472" y="1810512"/>
            <a:ext cx="53400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Customer says</a:t>
            </a:r>
            <a:endParaRPr lang="en-US" sz="1100" dirty="0"/>
          </a:p>
        </p:txBody>
      </p:sp>
      <p:sp>
        <p:nvSpPr>
          <p:cNvPr id="18" name="Text 15"/>
          <p:cNvSpPr txBox="1"/>
          <p:nvPr/>
        </p:nvSpPr>
        <p:spPr>
          <a:xfrm>
            <a:off x="530352" y="1810512"/>
            <a:ext cx="19568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Stage</a:t>
            </a:r>
            <a:endParaRPr lang="en-US" sz="1100" dirty="0"/>
          </a:p>
        </p:txBody>
      </p:sp>
      <p:sp>
        <p:nvSpPr>
          <p:cNvPr id="19" name="Shape 16"/>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0" name="Text 17"/>
          <p:cNvSpPr txBox="1"/>
          <p:nvPr/>
        </p:nvSpPr>
        <p:spPr>
          <a:xfrm>
            <a:off x="8156448" y="2267712"/>
            <a:ext cx="350215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Good evening. The menu, please.</a:t>
            </a:r>
            <a:endParaRPr lang="en-US" sz="1100" dirty="0"/>
          </a:p>
        </p:txBody>
      </p:sp>
      <p:sp>
        <p:nvSpPr>
          <p:cNvPr id="21" name="Text 18"/>
          <p:cNvSpPr txBox="1"/>
          <p:nvPr/>
        </p:nvSpPr>
        <p:spPr>
          <a:xfrm>
            <a:off x="2651760" y="2267712"/>
            <a:ext cx="530352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مَسَاءُ الخَيْرِ. قَائِمَةُ الطَّعَامِ، </a:t>
            </a:r>
            <a:pPr rtl="1" algn="ctr" indent="0" marL="0">
              <a:buNone/>
            </a:pPr>
            <a:r>
              <a:rPr lang="ar-SA" altLang="en-US" sz="2400" b="1" dirty="0">
                <a:solidFill>
                  <a:srgbClr val="D6336C"/>
                </a:solidFill>
                <a:latin typeface="Amiri" pitchFamily="2" charset="-78"/>
                <a:ea typeface="Amiri" pitchFamily="2" charset="-78"/>
                <a:cs typeface="Amiri" pitchFamily="2" charset="-78"/>
              </a:rPr>
              <a:t>لَوْ سَمَحْتَ</a:t>
            </a:r>
            <a:pPr rtl="1" algn="ctr" indent="0" marL="0">
              <a:buNone/>
            </a:pPr>
            <a:r>
              <a:rPr lang="ar-SA" altLang="en-US" sz="2400" b="1" dirty="0">
                <a:solidFill>
                  <a:srgbClr val="1B3B6F"/>
                </a:solidFill>
                <a:latin typeface="Amiri" pitchFamily="2" charset="-78"/>
                <a:cs typeface="Amiri" pitchFamily="2" charset="-78"/>
              </a:rPr>
              <a:t>.</a:t>
            </a:r>
            <a:endParaRPr lang="ar-SA" sz="2400" dirty="0"/>
          </a:p>
        </p:txBody>
      </p:sp>
      <p:sp>
        <p:nvSpPr>
          <p:cNvPr id="22" name="Text 19"/>
          <p:cNvSpPr txBox="1"/>
          <p:nvPr/>
        </p:nvSpPr>
        <p:spPr>
          <a:xfrm>
            <a:off x="566928" y="2267712"/>
            <a:ext cx="19202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 · greet</a:t>
            </a:r>
            <a:endParaRPr lang="en-US" sz="1100" dirty="0"/>
          </a:p>
        </p:txBody>
      </p:sp>
      <p:sp>
        <p:nvSpPr>
          <p:cNvPr id="23" name="Shape 20"/>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5" name="Shape 22"/>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26" name="Text 23"/>
          <p:cNvSpPr txBox="1"/>
          <p:nvPr/>
        </p:nvSpPr>
        <p:spPr>
          <a:xfrm>
            <a:off x="8156448" y="3004718"/>
            <a:ext cx="350215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I would like soup and a salad, please.</a:t>
            </a:r>
            <a:endParaRPr lang="en-US" sz="1100" dirty="0"/>
          </a:p>
        </p:txBody>
      </p:sp>
      <p:sp>
        <p:nvSpPr>
          <p:cNvPr id="27" name="Text 24"/>
          <p:cNvSpPr txBox="1"/>
          <p:nvPr/>
        </p:nvSpPr>
        <p:spPr>
          <a:xfrm>
            <a:off x="2651760" y="3004718"/>
            <a:ext cx="5303520" cy="682142"/>
          </a:xfrm>
          <a:prstGeom prst="rect">
            <a:avLst/>
          </a:prstGeom>
          <a:noFill/>
          <a:ln/>
        </p:spPr>
        <p:txBody>
          <a:bodyPr wrap="square" lIns="0" tIns="0" rIns="0" bIns="0" rtlCol="0" anchor="ctr"/>
          <a:lstStyle/>
          <a:p>
            <a:pPr rtl="1" algn="ctr" indent="0" marL="0">
              <a:buNone/>
            </a:pPr>
            <a:r>
              <a:rPr lang="ar-SA" altLang="en-US" sz="2400" b="1" dirty="0">
                <a:solidFill>
                  <a:srgbClr val="1D5FBF"/>
                </a:solidFill>
                <a:latin typeface="Amiri" pitchFamily="2" charset="-78"/>
                <a:ea typeface="Amiri" pitchFamily="2" charset="-78"/>
                <a:cs typeface="Amiri" pitchFamily="2" charset="-78"/>
              </a:rPr>
              <a:t>أُرِيدُ</a:t>
            </a:r>
            <a:pPr rtl="1" algn="ctr" indent="0" marL="0">
              <a:buNone/>
            </a:pPr>
            <a:r>
              <a:rPr lang="ar-SA" altLang="en-US" sz="2400" b="1" dirty="0">
                <a:solidFill>
                  <a:srgbClr val="1B3B6F"/>
                </a:solidFill>
                <a:latin typeface="Amiri" pitchFamily="2" charset="-78"/>
                <a:ea typeface="Amiri" pitchFamily="2" charset="-78"/>
                <a:cs typeface="Amiri" pitchFamily="2" charset="-78"/>
              </a:rPr>
              <a:t> حَسَاءً وَسَلَطَةً، </a:t>
            </a:r>
            <a:pPr rtl="1" algn="ctr" indent="0" marL="0">
              <a:buNone/>
            </a:pPr>
            <a:r>
              <a:rPr lang="ar-SA" altLang="en-US" sz="2400" b="1" dirty="0">
                <a:solidFill>
                  <a:srgbClr val="D6336C"/>
                </a:solidFill>
                <a:latin typeface="Amiri" pitchFamily="2" charset="-78"/>
                <a:ea typeface="Amiri" pitchFamily="2" charset="-78"/>
                <a:cs typeface="Amiri" pitchFamily="2" charset="-78"/>
              </a:rPr>
              <a:t>مِنْ فَضْلِكَ</a:t>
            </a:r>
            <a:pPr rtl="1" algn="ctr" indent="0" marL="0">
              <a:buNone/>
            </a:pPr>
            <a:r>
              <a:rPr lang="ar-SA" altLang="en-US" sz="2400" b="1" dirty="0">
                <a:solidFill>
                  <a:srgbClr val="1B3B6F"/>
                </a:solidFill>
                <a:latin typeface="Amiri" pitchFamily="2" charset="-78"/>
                <a:cs typeface="Amiri" pitchFamily="2" charset="-78"/>
              </a:rPr>
              <a:t>.</a:t>
            </a:r>
            <a:endParaRPr lang="ar-SA" sz="2400" dirty="0"/>
          </a:p>
        </p:txBody>
      </p:sp>
      <p:sp>
        <p:nvSpPr>
          <p:cNvPr id="28" name="Text 25"/>
          <p:cNvSpPr txBox="1"/>
          <p:nvPr/>
        </p:nvSpPr>
        <p:spPr>
          <a:xfrm>
            <a:off x="566928" y="3004718"/>
            <a:ext cx="19202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 · order</a:t>
            </a:r>
            <a:endParaRPr lang="en-US" sz="1100" dirty="0"/>
          </a:p>
        </p:txBody>
      </p:sp>
      <p:sp>
        <p:nvSpPr>
          <p:cNvPr id="29" name="Shape 26"/>
          <p:cNvSpPr/>
          <p:nvPr/>
        </p:nvSpPr>
        <p:spPr>
          <a:xfrm>
            <a:off x="11091672" y="3050438"/>
            <a:ext cx="548640" cy="182880"/>
          </a:xfrm>
          <a:prstGeom prst="roundRect">
            <a:avLst>
              <a:gd name="adj" fmla="val 50000"/>
            </a:avLst>
          </a:prstGeom>
          <a:solidFill>
            <a:srgbClr val="2E8B57"/>
          </a:solidFill>
          <a:ln w="12700">
            <a:solidFill>
              <a:srgbClr val="2E8B57"/>
            </a:solidFill>
            <a:prstDash val="solid"/>
          </a:ln>
        </p:spPr>
      </p:sp>
      <p:sp>
        <p:nvSpPr>
          <p:cNvPr id="30" name="Text 27"/>
          <p:cNvSpPr txBox="1"/>
          <p:nvPr/>
        </p:nvSpPr>
        <p:spPr>
          <a:xfrm>
            <a:off x="11091672" y="305043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1" name="Shape 28"/>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32" name="Text 29"/>
          <p:cNvSpPr txBox="1"/>
          <p:nvPr/>
        </p:nvSpPr>
        <p:spPr>
          <a:xfrm>
            <a:off x="8156448" y="3741725"/>
            <a:ext cx="350215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Do you have vegetarian food?</a:t>
            </a:r>
            <a:endParaRPr lang="en-US" sz="1100" dirty="0"/>
          </a:p>
        </p:txBody>
      </p:sp>
      <p:sp>
        <p:nvSpPr>
          <p:cNvPr id="33" name="Text 30"/>
          <p:cNvSpPr txBox="1"/>
          <p:nvPr/>
        </p:nvSpPr>
        <p:spPr>
          <a:xfrm>
            <a:off x="2651760" y="3741725"/>
            <a:ext cx="5303520" cy="682142"/>
          </a:xfrm>
          <a:prstGeom prst="rect">
            <a:avLst/>
          </a:prstGeom>
          <a:noFill/>
          <a:ln/>
        </p:spPr>
        <p:txBody>
          <a:bodyPr wrap="square" lIns="0" tIns="0" rIns="0" bIns="0" rtlCol="0" anchor="ctr"/>
          <a:lstStyle/>
          <a:p>
            <a:pPr rtl="1" algn="ctr" indent="0" marL="0">
              <a:buNone/>
            </a:pPr>
            <a:r>
              <a:rPr lang="ar-SA" altLang="en-US" sz="2400" b="1" dirty="0">
                <a:solidFill>
                  <a:srgbClr val="0E7C86"/>
                </a:solidFill>
                <a:latin typeface="Amiri" pitchFamily="2" charset="-78"/>
                <a:ea typeface="Amiri" pitchFamily="2" charset="-78"/>
                <a:cs typeface="Amiri" pitchFamily="2" charset="-78"/>
              </a:rPr>
              <a:t>هَلْ عِنْدَكُمْ</a:t>
            </a:r>
            <a:pPr rtl="1" algn="ctr" indent="0" marL="0">
              <a:buNone/>
            </a:pPr>
            <a:r>
              <a:rPr lang="ar-SA" altLang="en-US" sz="2400" b="1" dirty="0">
                <a:solidFill>
                  <a:srgbClr val="1B3B6F"/>
                </a:solidFill>
                <a:latin typeface="Amiri" pitchFamily="2" charset="-78"/>
                <a:ea typeface="Amiri" pitchFamily="2" charset="-78"/>
                <a:cs typeface="Amiri" pitchFamily="2" charset="-78"/>
              </a:rPr>
              <a:t> طَعَامٌ نَبَاتِيٌّ؟</a:t>
            </a:r>
            <a:endParaRPr lang="ar-SA" sz="2400" dirty="0"/>
          </a:p>
        </p:txBody>
      </p:sp>
      <p:sp>
        <p:nvSpPr>
          <p:cNvPr id="34" name="Text 31"/>
          <p:cNvSpPr txBox="1"/>
          <p:nvPr/>
        </p:nvSpPr>
        <p:spPr>
          <a:xfrm>
            <a:off x="566928" y="3741725"/>
            <a:ext cx="19202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 · available?</a:t>
            </a:r>
            <a:endParaRPr lang="en-US" sz="1100" dirty="0"/>
          </a:p>
        </p:txBody>
      </p:sp>
      <p:sp>
        <p:nvSpPr>
          <p:cNvPr id="35" name="Shape 32"/>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36" name="Text 33"/>
          <p:cNvSpPr txBox="1"/>
          <p:nvPr/>
        </p:nvSpPr>
        <p:spPr>
          <a:xfrm>
            <a:off x="8156448" y="4478731"/>
            <a:ext cx="350215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How much is the soup?</a:t>
            </a:r>
            <a:endParaRPr lang="en-US" sz="1100" dirty="0"/>
          </a:p>
        </p:txBody>
      </p:sp>
      <p:sp>
        <p:nvSpPr>
          <p:cNvPr id="37" name="Text 34"/>
          <p:cNvSpPr txBox="1"/>
          <p:nvPr/>
        </p:nvSpPr>
        <p:spPr>
          <a:xfrm>
            <a:off x="2651760" y="4478731"/>
            <a:ext cx="5303520" cy="682142"/>
          </a:xfrm>
          <a:prstGeom prst="rect">
            <a:avLst/>
          </a:prstGeom>
          <a:noFill/>
          <a:ln/>
        </p:spPr>
        <p:txBody>
          <a:bodyPr wrap="square" lIns="0" tIns="0" rIns="0" bIns="0" rtlCol="0" anchor="ctr"/>
          <a:lstStyle/>
          <a:p>
            <a:pPr rtl="1" algn="ctr" indent="0" marL="0">
              <a:buNone/>
            </a:pPr>
            <a:r>
              <a:rPr lang="ar-SA" altLang="en-US" sz="2400" b="1" dirty="0">
                <a:solidFill>
                  <a:srgbClr val="0E7C86"/>
                </a:solidFill>
                <a:latin typeface="Amiri" pitchFamily="2" charset="-78"/>
                <a:ea typeface="Amiri" pitchFamily="2" charset="-78"/>
                <a:cs typeface="Amiri" pitchFamily="2" charset="-78"/>
              </a:rPr>
              <a:t>كَمْ سِعْرُ</a:t>
            </a:r>
            <a:pPr rtl="1" algn="ctr" indent="0" marL="0">
              <a:buNone/>
            </a:pPr>
            <a:r>
              <a:rPr lang="ar-SA" altLang="en-US" sz="2400" b="1" dirty="0">
                <a:solidFill>
                  <a:srgbClr val="1B3B6F"/>
                </a:solidFill>
                <a:latin typeface="Amiri" pitchFamily="2" charset="-78"/>
                <a:ea typeface="Amiri" pitchFamily="2" charset="-78"/>
                <a:cs typeface="Amiri" pitchFamily="2" charset="-78"/>
              </a:rPr>
              <a:t> الحَسَاءِ؟</a:t>
            </a:r>
            <a:endParaRPr lang="ar-SA" sz="2400" dirty="0"/>
          </a:p>
        </p:txBody>
      </p:sp>
      <p:sp>
        <p:nvSpPr>
          <p:cNvPr id="38" name="Text 35"/>
          <p:cNvSpPr txBox="1"/>
          <p:nvPr/>
        </p:nvSpPr>
        <p:spPr>
          <a:xfrm>
            <a:off x="566928" y="4478731"/>
            <a:ext cx="19202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 · price</a:t>
            </a:r>
            <a:endParaRPr lang="en-US" sz="1100" dirty="0"/>
          </a:p>
        </p:txBody>
      </p:sp>
      <p:sp>
        <p:nvSpPr>
          <p:cNvPr id="39" name="Shape 36"/>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40" name="Text 37"/>
          <p:cNvSpPr txBox="1"/>
          <p:nvPr/>
        </p:nvSpPr>
        <p:spPr>
          <a:xfrm>
            <a:off x="8156448" y="5215738"/>
            <a:ext cx="350215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The bill, please. Thank you very much.</a:t>
            </a:r>
            <a:endParaRPr lang="en-US" sz="1100" dirty="0"/>
          </a:p>
        </p:txBody>
      </p:sp>
      <p:sp>
        <p:nvSpPr>
          <p:cNvPr id="41" name="Text 38"/>
          <p:cNvSpPr txBox="1"/>
          <p:nvPr/>
        </p:nvSpPr>
        <p:spPr>
          <a:xfrm>
            <a:off x="2651760" y="5215738"/>
            <a:ext cx="530352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الحِسَابُ، </a:t>
            </a:r>
            <a:pPr rtl="1" algn="ctr" indent="0" marL="0">
              <a:buNone/>
            </a:pPr>
            <a:r>
              <a:rPr lang="ar-SA" altLang="en-US" sz="2400" b="1" dirty="0">
                <a:solidFill>
                  <a:srgbClr val="D6336C"/>
                </a:solidFill>
                <a:latin typeface="Amiri" pitchFamily="2" charset="-78"/>
                <a:ea typeface="Amiri" pitchFamily="2" charset="-78"/>
                <a:cs typeface="Amiri" pitchFamily="2" charset="-78"/>
              </a:rPr>
              <a:t>مِنْ فَضْلِكَ</a:t>
            </a:r>
            <a:pPr rtl="1" algn="ctr" indent="0" marL="0">
              <a:buNone/>
            </a:pPr>
            <a:r>
              <a:rPr lang="ar-SA" altLang="en-US" sz="2400" b="1" dirty="0">
                <a:solidFill>
                  <a:srgbClr val="1B3B6F"/>
                </a:solidFill>
                <a:latin typeface="Amiri" pitchFamily="2" charset="-78"/>
                <a:ea typeface="Amiri" pitchFamily="2" charset="-78"/>
                <a:cs typeface="Amiri" pitchFamily="2" charset="-78"/>
              </a:rPr>
              <a:t>. شُكْرًا جَزِيلًا.</a:t>
            </a:r>
            <a:endParaRPr lang="ar-SA" sz="2400" dirty="0"/>
          </a:p>
        </p:txBody>
      </p:sp>
      <p:sp>
        <p:nvSpPr>
          <p:cNvPr id="42" name="Text 39"/>
          <p:cNvSpPr txBox="1"/>
          <p:nvPr/>
        </p:nvSpPr>
        <p:spPr>
          <a:xfrm>
            <a:off x="566928" y="5215738"/>
            <a:ext cx="19202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5 · pay</a:t>
            </a:r>
            <a:endParaRPr lang="en-US" sz="1100" dirty="0"/>
          </a:p>
        </p:txBody>
      </p:sp>
      <p:sp>
        <p:nvSpPr>
          <p:cNvPr id="43" name="Shape 40"/>
          <p:cNvSpPr/>
          <p:nvPr/>
        </p:nvSpPr>
        <p:spPr>
          <a:xfrm>
            <a:off x="11091672" y="5261458"/>
            <a:ext cx="548640" cy="182880"/>
          </a:xfrm>
          <a:prstGeom prst="roundRect">
            <a:avLst>
              <a:gd name="adj" fmla="val 50000"/>
            </a:avLst>
          </a:prstGeom>
          <a:solidFill>
            <a:srgbClr val="2E8B57"/>
          </a:solidFill>
          <a:ln w="12700">
            <a:solidFill>
              <a:srgbClr val="2E8B57"/>
            </a:solidFill>
            <a:prstDash val="solid"/>
          </a:ln>
        </p:spPr>
      </p:sp>
      <p:sp>
        <p:nvSpPr>
          <p:cNvPr id="44" name="Text 41"/>
          <p:cNvSpPr txBox="1"/>
          <p:nvPr/>
        </p:nvSpPr>
        <p:spPr>
          <a:xfrm>
            <a:off x="11091672" y="526145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5" name="Text 42"/>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After urīdu the item takes -an: urīdu shāyan, salaṭatan, ḥasāʼan. To a waitress: min faḍliki, law samaḥti.</a:t>
            </a:r>
            <a:endParaRPr lang="en-US" sz="1150" dirty="0"/>
          </a:p>
        </p:txBody>
      </p:sp>
      <p:sp>
        <p:nvSpPr>
          <p:cNvPr id="46" name="Text 4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13 / 43</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F5-L05 · Ordering Politely</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1B3B6F"/>
                </a:solidFill>
                <a:latin typeface="Calibri" pitchFamily="34" charset="0"/>
                <a:cs typeface="Amiri" pitchFamily="2" charset="-78"/>
              </a:rPr>
              <a:t>GRAMMAR FOCUS · PART 2 · THE WAITER’S QUESTIONS (LISTEN FOR THEM!)</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What would you like?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أَسْئِلَةُ النَّادِلِ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F5 · Food, Health and Body · F5-L05</a:t>
            </a:r>
            <a:endParaRPr lang="en-US" sz="850" dirty="0"/>
          </a:p>
        </p:txBody>
      </p:sp>
      <p:sp>
        <p:nvSpPr>
          <p:cNvPr id="15" name="Shape 12"/>
          <p:cNvSpPr/>
          <p:nvPr/>
        </p:nvSpPr>
        <p:spPr>
          <a:xfrm>
            <a:off x="8095488" y="1810512"/>
            <a:ext cx="3636264" cy="3017520"/>
          </a:xfrm>
          <a:prstGeom prst="roundRect">
            <a:avLst>
              <a:gd name="adj" fmla="val 242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32648" y="1920240"/>
            <a:ext cx="822960" cy="274320"/>
          </a:xfrm>
          <a:prstGeom prst="roundRect">
            <a:avLst>
              <a:gd name="adj" fmla="val 50000"/>
            </a:avLst>
          </a:prstGeom>
          <a:solidFill>
            <a:srgbClr val="1D5FBF"/>
          </a:solidFill>
          <a:ln w="12700">
            <a:solidFill>
              <a:srgbClr val="1D5FBF"/>
            </a:solidFill>
            <a:prstDash val="solid"/>
          </a:ln>
        </p:spPr>
      </p:sp>
      <p:sp>
        <p:nvSpPr>
          <p:cNvPr id="17" name="Text 14"/>
          <p:cNvSpPr txBox="1"/>
          <p:nvPr/>
        </p:nvSpPr>
        <p:spPr>
          <a:xfrm>
            <a:off x="8232648" y="1920240"/>
            <a:ext cx="8229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TO A MAN</a:t>
            </a:r>
            <a:endParaRPr lang="en-US" sz="850" dirty="0"/>
          </a:p>
        </p:txBody>
      </p:sp>
      <p:sp>
        <p:nvSpPr>
          <p:cNvPr id="18" name="Text 15"/>
          <p:cNvSpPr txBox="1"/>
          <p:nvPr/>
        </p:nvSpPr>
        <p:spPr>
          <a:xfrm>
            <a:off x="9101328" y="1874520"/>
            <a:ext cx="2493264" cy="365760"/>
          </a:xfrm>
          <a:prstGeom prst="rect">
            <a:avLst/>
          </a:prstGeom>
          <a:noFill/>
          <a:ln/>
        </p:spPr>
        <p:txBody>
          <a:bodyPr wrap="square" lIns="0" tIns="0" rIns="0" bIns="0" rtlCol="0" anchor="ctr"/>
          <a:lstStyle/>
          <a:p>
            <a:pPr rtl="1" algn="r" indent="0" marL="0">
              <a:buNone/>
            </a:pPr>
            <a:r>
              <a:rPr lang="ar-SA" altLang="en-US" sz="1600" b="1" dirty="0">
                <a:solidFill>
                  <a:srgbClr val="8A6D1E"/>
                </a:solidFill>
                <a:latin typeface="Amiri" pitchFamily="2" charset="-78"/>
                <a:ea typeface="Amiri" pitchFamily="2" charset="-78"/>
                <a:cs typeface="Amiri" pitchFamily="2" charset="-78"/>
              </a:rPr>
              <a:t>مَاذَا تُرِيدُ؟</a:t>
            </a:r>
            <a:endParaRPr lang="ar-SA" sz="1600" dirty="0"/>
          </a:p>
        </p:txBody>
      </p:sp>
      <p:sp>
        <p:nvSpPr>
          <p:cNvPr id="19" name="Text 16"/>
          <p:cNvSpPr txBox="1"/>
          <p:nvPr/>
        </p:nvSpPr>
        <p:spPr>
          <a:xfrm>
            <a:off x="8232648" y="2286000"/>
            <a:ext cx="3361944" cy="1097280"/>
          </a:xfrm>
          <a:prstGeom prst="rect">
            <a:avLst/>
          </a:prstGeom>
          <a:noFill/>
          <a:ln/>
        </p:spPr>
        <p:txBody>
          <a:bodyPr wrap="square" lIns="0" tIns="0" rIns="0" bIns="0" rtlCol="0" anchor="ctr"/>
          <a:lstStyle/>
          <a:p>
            <a:pPr rtl="1" algn="ctr" indent="0" marL="0">
              <a:buNone/>
            </a:pPr>
            <a:r>
              <a:rPr lang="ar-SA" altLang="en-US" sz="3000" b="1" dirty="0">
                <a:solidFill>
                  <a:srgbClr val="1B3B6F"/>
                </a:solidFill>
                <a:latin typeface="Amiri" pitchFamily="2" charset="-78"/>
                <a:ea typeface="Amiri" pitchFamily="2" charset="-78"/>
                <a:cs typeface="Amiri" pitchFamily="2" charset="-78"/>
              </a:rPr>
              <a:t>مَسَاءُ الخَيْرِ. مَاذَا تُرِيدُ؟</a:t>
            </a:r>
            <a:endParaRPr lang="ar-SA" sz="3000" dirty="0"/>
          </a:p>
        </p:txBody>
      </p:sp>
      <p:sp>
        <p:nvSpPr>
          <p:cNvPr id="20" name="Text 17"/>
          <p:cNvSpPr txBox="1"/>
          <p:nvPr/>
        </p:nvSpPr>
        <p:spPr>
          <a:xfrm>
            <a:off x="8232648" y="3364992"/>
            <a:ext cx="3361944" cy="411480"/>
          </a:xfrm>
          <a:prstGeom prst="rect">
            <a:avLst/>
          </a:prstGeom>
          <a:noFill/>
          <a:ln/>
        </p:spPr>
        <p:txBody>
          <a:bodyPr wrap="square" lIns="0" tIns="0" rIns="0" bIns="0" rtlCol="0" anchor="ctr"/>
          <a:lstStyle/>
          <a:p>
            <a:pPr algn="ctr" indent="0" marL="0">
              <a:buNone/>
            </a:pPr>
            <a:r>
              <a:rPr lang="en-US" sz="1200" i="1" dirty="0">
                <a:solidFill>
                  <a:srgbClr val="5A6472"/>
                </a:solidFill>
                <a:latin typeface="Calibri" pitchFamily="34" charset="0"/>
                <a:cs typeface="Amiri" pitchFamily="2" charset="-78"/>
              </a:rPr>
              <a:t>Good evening. What would you like?</a:t>
            </a:r>
            <a:endParaRPr lang="en-US" sz="1200" dirty="0"/>
          </a:p>
        </p:txBody>
      </p:sp>
      <p:sp>
        <p:nvSpPr>
          <p:cNvPr id="21" name="Shape 18"/>
          <p:cNvSpPr/>
          <p:nvPr/>
        </p:nvSpPr>
        <p:spPr>
          <a:xfrm>
            <a:off x="8205216" y="3913632"/>
            <a:ext cx="3416808" cy="804672"/>
          </a:xfrm>
          <a:prstGeom prst="roundRect">
            <a:avLst>
              <a:gd name="adj" fmla="val 5682"/>
            </a:avLst>
          </a:prstGeom>
          <a:solidFill>
            <a:srgbClr val="FFF4E0"/>
          </a:solidFill>
          <a:ln w="9525">
            <a:solidFill>
              <a:srgbClr val="FFF4E0"/>
            </a:solidFill>
            <a:prstDash val="solid"/>
          </a:ln>
        </p:spPr>
      </p:sp>
      <p:sp>
        <p:nvSpPr>
          <p:cNvPr id="22" name="Text 19"/>
          <p:cNvSpPr txBox="1"/>
          <p:nvPr/>
        </p:nvSpPr>
        <p:spPr>
          <a:xfrm>
            <a:off x="8296656" y="3950208"/>
            <a:ext cx="3233928" cy="731520"/>
          </a:xfrm>
          <a:prstGeom prst="rect">
            <a:avLst/>
          </a:prstGeom>
          <a:noFill/>
          <a:ln/>
        </p:spPr>
        <p:txBody>
          <a:bodyPr wrap="square" lIns="0" tIns="0" rIns="0" bIns="0" rtlCol="0" anchor="ctr"/>
          <a:lstStyle/>
          <a:p>
            <a:pPr algn="l" indent="0" marL="0">
              <a:buNone/>
            </a:pPr>
            <a:r>
              <a:rPr lang="en-US" sz="1100" dirty="0">
                <a:solidFill>
                  <a:srgbClr val="1F2A37"/>
                </a:solidFill>
                <a:latin typeface="Calibri" pitchFamily="34" charset="0"/>
                <a:cs typeface="Amiri" pitchFamily="2" charset="-78"/>
              </a:rPr>
              <a:t>tu-rī-du</a:t>
            </a:r>
            <a:endParaRPr lang="en-US" sz="1100" dirty="0"/>
          </a:p>
        </p:txBody>
      </p:sp>
      <p:sp>
        <p:nvSpPr>
          <p:cNvPr id="23" name="Shape 20"/>
          <p:cNvSpPr/>
          <p:nvPr/>
        </p:nvSpPr>
        <p:spPr>
          <a:xfrm>
            <a:off x="4276344" y="1810512"/>
            <a:ext cx="3636264" cy="3017520"/>
          </a:xfrm>
          <a:prstGeom prst="roundRect">
            <a:avLst>
              <a:gd name="adj" fmla="val 242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4413504" y="1920240"/>
            <a:ext cx="960120" cy="274320"/>
          </a:xfrm>
          <a:prstGeom prst="roundRect">
            <a:avLst>
              <a:gd name="adj" fmla="val 50000"/>
            </a:avLst>
          </a:prstGeom>
          <a:solidFill>
            <a:srgbClr val="C0386B"/>
          </a:solidFill>
          <a:ln w="12700">
            <a:solidFill>
              <a:srgbClr val="C0386B"/>
            </a:solidFill>
            <a:prstDash val="solid"/>
          </a:ln>
        </p:spPr>
      </p:sp>
      <p:sp>
        <p:nvSpPr>
          <p:cNvPr id="25" name="Text 22"/>
          <p:cNvSpPr txBox="1"/>
          <p:nvPr/>
        </p:nvSpPr>
        <p:spPr>
          <a:xfrm>
            <a:off x="4413504" y="1920240"/>
            <a:ext cx="96012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TO A WOMAN</a:t>
            </a:r>
            <a:endParaRPr lang="en-US" sz="850" dirty="0"/>
          </a:p>
        </p:txBody>
      </p:sp>
      <p:sp>
        <p:nvSpPr>
          <p:cNvPr id="26" name="Text 23"/>
          <p:cNvSpPr txBox="1"/>
          <p:nvPr/>
        </p:nvSpPr>
        <p:spPr>
          <a:xfrm>
            <a:off x="5419344" y="1874520"/>
            <a:ext cx="2356104" cy="365760"/>
          </a:xfrm>
          <a:prstGeom prst="rect">
            <a:avLst/>
          </a:prstGeom>
          <a:noFill/>
          <a:ln/>
        </p:spPr>
        <p:txBody>
          <a:bodyPr wrap="square" lIns="0" tIns="0" rIns="0" bIns="0" rtlCol="0" anchor="ctr"/>
          <a:lstStyle/>
          <a:p>
            <a:pPr rtl="1" algn="r" indent="0" marL="0">
              <a:buNone/>
            </a:pPr>
            <a:r>
              <a:rPr lang="ar-SA" altLang="en-US" sz="1600" b="1" dirty="0">
                <a:solidFill>
                  <a:srgbClr val="8A6D1E"/>
                </a:solidFill>
                <a:latin typeface="Amiri" pitchFamily="2" charset="-78"/>
                <a:ea typeface="Amiri" pitchFamily="2" charset="-78"/>
                <a:cs typeface="Amiri" pitchFamily="2" charset="-78"/>
              </a:rPr>
              <a:t>مَاذَا تُرِيدِينَ؟</a:t>
            </a:r>
            <a:endParaRPr lang="ar-SA" sz="1600" dirty="0"/>
          </a:p>
        </p:txBody>
      </p:sp>
      <p:sp>
        <p:nvSpPr>
          <p:cNvPr id="27" name="Text 24"/>
          <p:cNvSpPr txBox="1"/>
          <p:nvPr/>
        </p:nvSpPr>
        <p:spPr>
          <a:xfrm>
            <a:off x="4413504" y="2286000"/>
            <a:ext cx="3361944" cy="1097280"/>
          </a:xfrm>
          <a:prstGeom prst="rect">
            <a:avLst/>
          </a:prstGeom>
          <a:noFill/>
          <a:ln/>
        </p:spPr>
        <p:txBody>
          <a:bodyPr wrap="square" lIns="0" tIns="0" rIns="0" bIns="0" rtlCol="0" anchor="ctr"/>
          <a:lstStyle/>
          <a:p>
            <a:pPr rtl="1" algn="ctr" indent="0" marL="0">
              <a:buNone/>
            </a:pPr>
            <a:r>
              <a:rPr lang="ar-SA" altLang="en-US" sz="3150" b="1" dirty="0">
                <a:solidFill>
                  <a:srgbClr val="1B3B6F"/>
                </a:solidFill>
                <a:latin typeface="Amiri" pitchFamily="2" charset="-78"/>
                <a:ea typeface="Amiri" pitchFamily="2" charset="-78"/>
                <a:cs typeface="Amiri" pitchFamily="2" charset="-78"/>
              </a:rPr>
              <a:t>هَلْ تُرِيدِينَ شَيْئًا لِلشُّرْبِ؟</a:t>
            </a:r>
            <a:endParaRPr lang="ar-SA" sz="3150" dirty="0"/>
          </a:p>
        </p:txBody>
      </p:sp>
      <p:sp>
        <p:nvSpPr>
          <p:cNvPr id="28" name="Text 25"/>
          <p:cNvSpPr txBox="1"/>
          <p:nvPr/>
        </p:nvSpPr>
        <p:spPr>
          <a:xfrm>
            <a:off x="4413504" y="3364992"/>
            <a:ext cx="3361944" cy="411480"/>
          </a:xfrm>
          <a:prstGeom prst="rect">
            <a:avLst/>
          </a:prstGeom>
          <a:noFill/>
          <a:ln/>
        </p:spPr>
        <p:txBody>
          <a:bodyPr wrap="square" lIns="0" tIns="0" rIns="0" bIns="0" rtlCol="0" anchor="ctr"/>
          <a:lstStyle/>
          <a:p>
            <a:pPr algn="ctr" indent="0" marL="0">
              <a:buNone/>
            </a:pPr>
            <a:r>
              <a:rPr lang="en-US" sz="1200" i="1" dirty="0">
                <a:solidFill>
                  <a:srgbClr val="5A6472"/>
                </a:solidFill>
                <a:latin typeface="Calibri" pitchFamily="34" charset="0"/>
                <a:cs typeface="Amiri" pitchFamily="2" charset="-78"/>
              </a:rPr>
              <a:t>Would you like something to drink?</a:t>
            </a:r>
            <a:endParaRPr lang="en-US" sz="1200" dirty="0"/>
          </a:p>
        </p:txBody>
      </p:sp>
      <p:sp>
        <p:nvSpPr>
          <p:cNvPr id="29" name="Shape 26"/>
          <p:cNvSpPr/>
          <p:nvPr/>
        </p:nvSpPr>
        <p:spPr>
          <a:xfrm>
            <a:off x="4386072" y="3913632"/>
            <a:ext cx="3416808" cy="804672"/>
          </a:xfrm>
          <a:prstGeom prst="roundRect">
            <a:avLst>
              <a:gd name="adj" fmla="val 5682"/>
            </a:avLst>
          </a:prstGeom>
          <a:solidFill>
            <a:srgbClr val="FFF4E0"/>
          </a:solidFill>
          <a:ln w="9525">
            <a:solidFill>
              <a:srgbClr val="FFF4E0"/>
            </a:solidFill>
            <a:prstDash val="solid"/>
          </a:ln>
        </p:spPr>
      </p:sp>
      <p:sp>
        <p:nvSpPr>
          <p:cNvPr id="30" name="Text 27"/>
          <p:cNvSpPr txBox="1"/>
          <p:nvPr/>
        </p:nvSpPr>
        <p:spPr>
          <a:xfrm>
            <a:off x="4477512" y="3950208"/>
            <a:ext cx="3233928" cy="731520"/>
          </a:xfrm>
          <a:prstGeom prst="rect">
            <a:avLst/>
          </a:prstGeom>
          <a:noFill/>
          <a:ln/>
        </p:spPr>
        <p:txBody>
          <a:bodyPr wrap="square" lIns="0" tIns="0" rIns="0" bIns="0" rtlCol="0" anchor="ctr"/>
          <a:lstStyle/>
          <a:p>
            <a:pPr algn="l" indent="0" marL="0">
              <a:buNone/>
            </a:pPr>
            <a:r>
              <a:rPr lang="en-US" sz="1100" dirty="0">
                <a:solidFill>
                  <a:srgbClr val="1F2A37"/>
                </a:solidFill>
                <a:latin typeface="Calibri" pitchFamily="34" charset="0"/>
                <a:cs typeface="Amiri" pitchFamily="2" charset="-78"/>
              </a:rPr>
              <a:t>tu-rī-dī-na: add -īna.</a:t>
            </a:r>
            <a:endParaRPr lang="en-US" sz="1100" dirty="0"/>
          </a:p>
        </p:txBody>
      </p:sp>
      <p:sp>
        <p:nvSpPr>
          <p:cNvPr id="31" name="Shape 28"/>
          <p:cNvSpPr/>
          <p:nvPr/>
        </p:nvSpPr>
        <p:spPr>
          <a:xfrm>
            <a:off x="457200" y="1810512"/>
            <a:ext cx="3636264" cy="3017520"/>
          </a:xfrm>
          <a:prstGeom prst="roundRect">
            <a:avLst>
              <a:gd name="adj" fmla="val 242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594360" y="1920240"/>
            <a:ext cx="754380" cy="274320"/>
          </a:xfrm>
          <a:prstGeom prst="roundRect">
            <a:avLst>
              <a:gd name="adj" fmla="val 50000"/>
            </a:avLst>
          </a:prstGeom>
          <a:solidFill>
            <a:srgbClr val="6B4C9A"/>
          </a:solidFill>
          <a:ln w="12700">
            <a:solidFill>
              <a:srgbClr val="6B4C9A"/>
            </a:solidFill>
            <a:prstDash val="solid"/>
          </a:ln>
        </p:spPr>
      </p:sp>
      <p:sp>
        <p:nvSpPr>
          <p:cNvPr id="33" name="Text 30"/>
          <p:cNvSpPr txBox="1"/>
          <p:nvPr/>
        </p:nvSpPr>
        <p:spPr>
          <a:xfrm>
            <a:off x="594360" y="1920240"/>
            <a:ext cx="75438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A OR B?</a:t>
            </a:r>
            <a:endParaRPr lang="en-US" sz="850" dirty="0"/>
          </a:p>
        </p:txBody>
      </p:sp>
      <p:sp>
        <p:nvSpPr>
          <p:cNvPr id="34" name="Text 31"/>
          <p:cNvSpPr txBox="1"/>
          <p:nvPr/>
        </p:nvSpPr>
        <p:spPr>
          <a:xfrm>
            <a:off x="1394460" y="1874520"/>
            <a:ext cx="2561844" cy="365760"/>
          </a:xfrm>
          <a:prstGeom prst="rect">
            <a:avLst/>
          </a:prstGeom>
          <a:noFill/>
          <a:ln/>
        </p:spPr>
        <p:txBody>
          <a:bodyPr wrap="square" lIns="0" tIns="0" rIns="0" bIns="0" rtlCol="0" anchor="ctr"/>
          <a:lstStyle/>
          <a:p>
            <a:pPr rtl="1" algn="r" indent="0" marL="0">
              <a:buNone/>
            </a:pPr>
            <a:r>
              <a:rPr lang="ar-SA" altLang="en-US" sz="1600" b="1" dirty="0">
                <a:solidFill>
                  <a:srgbClr val="8A6D1E"/>
                </a:solidFill>
                <a:latin typeface="Amiri" pitchFamily="2" charset="-78"/>
                <a:ea typeface="Amiri" pitchFamily="2" charset="-78"/>
                <a:cs typeface="Amiri" pitchFamily="2" charset="-78"/>
              </a:rPr>
              <a:t>… أَمْ …؟</a:t>
            </a:r>
            <a:endParaRPr lang="ar-SA" sz="1600" dirty="0"/>
          </a:p>
        </p:txBody>
      </p:sp>
      <p:sp>
        <p:nvSpPr>
          <p:cNvPr id="35" name="Text 32"/>
          <p:cNvSpPr txBox="1"/>
          <p:nvPr/>
        </p:nvSpPr>
        <p:spPr>
          <a:xfrm>
            <a:off x="594360" y="2286000"/>
            <a:ext cx="3361944" cy="1097280"/>
          </a:xfrm>
          <a:prstGeom prst="rect">
            <a:avLst/>
          </a:prstGeom>
          <a:noFill/>
          <a:ln/>
        </p:spPr>
        <p:txBody>
          <a:bodyPr wrap="square" lIns="0" tIns="0" rIns="0" bIns="0" rtlCol="0" anchor="ctr"/>
          <a:lstStyle/>
          <a:p>
            <a:pPr rtl="1" algn="ctr" indent="0" marL="0">
              <a:buNone/>
            </a:pPr>
            <a:r>
              <a:rPr lang="ar-SA" altLang="en-US" sz="3200" b="1" dirty="0">
                <a:solidFill>
                  <a:srgbClr val="1B3B6F"/>
                </a:solidFill>
                <a:latin typeface="Amiri" pitchFamily="2" charset="-78"/>
                <a:ea typeface="Amiri" pitchFamily="2" charset="-78"/>
                <a:cs typeface="Amiri" pitchFamily="2" charset="-78"/>
              </a:rPr>
              <a:t>عَصِيرٌ صَغِيرٌ أَمْ كَبِيرٌ؟</a:t>
            </a:r>
            <a:endParaRPr lang="ar-SA" sz="3200" dirty="0"/>
          </a:p>
        </p:txBody>
      </p:sp>
      <p:sp>
        <p:nvSpPr>
          <p:cNvPr id="36" name="Text 33"/>
          <p:cNvSpPr txBox="1"/>
          <p:nvPr/>
        </p:nvSpPr>
        <p:spPr>
          <a:xfrm>
            <a:off x="594360" y="3364992"/>
            <a:ext cx="3361944" cy="411480"/>
          </a:xfrm>
          <a:prstGeom prst="rect">
            <a:avLst/>
          </a:prstGeom>
          <a:noFill/>
          <a:ln/>
        </p:spPr>
        <p:txBody>
          <a:bodyPr wrap="square" lIns="0" tIns="0" rIns="0" bIns="0" rtlCol="0" anchor="ctr"/>
          <a:lstStyle/>
          <a:p>
            <a:pPr algn="ctr" indent="0" marL="0">
              <a:buNone/>
            </a:pPr>
            <a:r>
              <a:rPr lang="en-US" sz="1200" i="1" dirty="0">
                <a:solidFill>
                  <a:srgbClr val="5A6472"/>
                </a:solidFill>
                <a:latin typeface="Calibri" pitchFamily="34" charset="0"/>
                <a:cs typeface="Amiri" pitchFamily="2" charset="-78"/>
              </a:rPr>
              <a:t>A small or a large juice?</a:t>
            </a:r>
            <a:endParaRPr lang="en-US" sz="1200" dirty="0"/>
          </a:p>
        </p:txBody>
      </p:sp>
      <p:sp>
        <p:nvSpPr>
          <p:cNvPr id="37" name="Shape 34"/>
          <p:cNvSpPr/>
          <p:nvPr/>
        </p:nvSpPr>
        <p:spPr>
          <a:xfrm>
            <a:off x="566928" y="3913632"/>
            <a:ext cx="3416808" cy="804672"/>
          </a:xfrm>
          <a:prstGeom prst="roundRect">
            <a:avLst>
              <a:gd name="adj" fmla="val 5682"/>
            </a:avLst>
          </a:prstGeom>
          <a:solidFill>
            <a:srgbClr val="FFF4E0"/>
          </a:solidFill>
          <a:ln w="9525">
            <a:solidFill>
              <a:srgbClr val="FFF4E0"/>
            </a:solidFill>
            <a:prstDash val="solid"/>
          </a:ln>
        </p:spPr>
      </p:sp>
      <p:sp>
        <p:nvSpPr>
          <p:cNvPr id="38" name="Text 35"/>
          <p:cNvSpPr txBox="1"/>
          <p:nvPr/>
        </p:nvSpPr>
        <p:spPr>
          <a:xfrm>
            <a:off x="658368" y="3950208"/>
            <a:ext cx="3233928" cy="731520"/>
          </a:xfrm>
          <a:prstGeom prst="rect">
            <a:avLst/>
          </a:prstGeom>
          <a:noFill/>
          <a:ln/>
        </p:spPr>
        <p:txBody>
          <a:bodyPr wrap="square" lIns="0" tIns="0" rIns="0" bIns="0" rtlCol="0" anchor="ctr"/>
          <a:lstStyle/>
          <a:p>
            <a:pPr algn="l" indent="0" marL="0">
              <a:buNone/>
            </a:pPr>
            <a:r>
              <a:rPr lang="en-US" sz="1100" dirty="0">
                <a:solidFill>
                  <a:srgbClr val="1F2A37"/>
                </a:solidFill>
                <a:latin typeface="Calibri" pitchFamily="34" charset="0"/>
                <a:cs typeface="Amiri" pitchFamily="2" charset="-78"/>
              </a:rPr>
              <a:t>Answer with one word + thanks.</a:t>
            </a:r>
            <a:endParaRPr lang="en-US" sz="1100" dirty="0"/>
          </a:p>
        </p:txBody>
      </p:sp>
      <p:sp>
        <p:nvSpPr>
          <p:cNvPr id="39" name="Shape 36"/>
          <p:cNvSpPr/>
          <p:nvPr/>
        </p:nvSpPr>
        <p:spPr>
          <a:xfrm>
            <a:off x="457200" y="5010912"/>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40" name="Text 37"/>
          <p:cNvSpPr txBox="1"/>
          <p:nvPr/>
        </p:nvSpPr>
        <p:spPr>
          <a:xfrm>
            <a:off x="685800" y="5102352"/>
            <a:ext cx="2743200" cy="274320"/>
          </a:xfrm>
          <a:prstGeom prst="rect">
            <a:avLst/>
          </a:prstGeom>
          <a:noFill/>
          <a:ln/>
        </p:spPr>
        <p:txBody>
          <a:bodyPr wrap="square" lIns="0" tIns="0" rIns="0" bIns="0" rtlCol="0" anchor="ctr"/>
          <a:lstStyle/>
          <a:p>
            <a:pPr algn="l" indent="0" marL="0">
              <a:buNone/>
            </a:pPr>
            <a:r>
              <a:rPr lang="en-US" sz="1000" b="1" spc="200" kern="0" dirty="0">
                <a:solidFill>
                  <a:srgbClr val="B83227"/>
                </a:solidFill>
                <a:latin typeface="Calibri" pitchFamily="34" charset="0"/>
                <a:cs typeface="Amiri" pitchFamily="2" charset="-78"/>
              </a:rPr>
              <a:t>COMMON ERROR</a:t>
            </a:r>
            <a:endParaRPr lang="en-US" sz="1000" dirty="0"/>
          </a:p>
        </p:txBody>
      </p:sp>
      <p:sp>
        <p:nvSpPr>
          <p:cNvPr id="41" name="Text 38"/>
          <p:cNvSpPr txBox="1"/>
          <p:nvPr/>
        </p:nvSpPr>
        <p:spPr>
          <a:xfrm>
            <a:off x="685800" y="5394960"/>
            <a:ext cx="3291840" cy="822960"/>
          </a:xfrm>
          <a:prstGeom prst="rect">
            <a:avLst/>
          </a:prstGeom>
          <a:noFill/>
          <a:ln/>
        </p:spPr>
        <p:txBody>
          <a:bodyPr wrap="square" lIns="0" tIns="0" rIns="0" bIns="0" rtlCol="0" anchor="t"/>
          <a:lstStyle/>
          <a:p>
            <a:pPr algn="l" indent="0" marL="0">
              <a:buNone/>
            </a:pPr>
            <a:r>
              <a:rPr lang="en-US" sz="1150" dirty="0">
                <a:solidFill>
                  <a:srgbClr val="1F2A37"/>
                </a:solidFill>
                <a:latin typeface="Calibri" pitchFamily="34" charset="0"/>
                <a:cs typeface="Amiri" pitchFamily="2" charset="-78"/>
              </a:rPr>
              <a:t>Website: a bare command sounds rude in a café.</a:t>
            </a:r>
            <a:endParaRPr lang="en-US" sz="1150" dirty="0"/>
          </a:p>
        </p:txBody>
      </p:sp>
      <p:sp>
        <p:nvSpPr>
          <p:cNvPr id="42" name="Text 39"/>
          <p:cNvSpPr txBox="1"/>
          <p:nvPr/>
        </p:nvSpPr>
        <p:spPr>
          <a:xfrm>
            <a:off x="9966960" y="5230368"/>
            <a:ext cx="1645920" cy="868680"/>
          </a:xfrm>
          <a:prstGeom prst="rect">
            <a:avLst/>
          </a:prstGeom>
          <a:noFill/>
          <a:ln/>
        </p:spPr>
        <p:txBody>
          <a:bodyPr wrap="square" lIns="0" tIns="0" rIns="0" bIns="0" rtlCol="0" anchor="ctr"/>
          <a:lstStyle/>
          <a:p>
            <a:pPr rtl="1" algn="ctr" indent="0" marL="0">
              <a:lnSpc>
                <a:spcPct val="120000"/>
              </a:lnSpc>
              <a:buNone/>
            </a:pPr>
            <a:r>
              <a:rPr lang="ar-SA" altLang="en-US" sz="1700" b="1" dirty="0">
                <a:solidFill>
                  <a:srgbClr val="1B3B6F"/>
                </a:solidFill>
                <a:latin typeface="Amiri" pitchFamily="2" charset="-78"/>
                <a:ea typeface="Amiri" pitchFamily="2" charset="-78"/>
                <a:cs typeface="Amiri" pitchFamily="2" charset="-78"/>
              </a:rPr>
              <a:t>أُرِيدُ شَايًا، مِنْ فَضْلِكَ.</a:t>
            </a:r>
            <a:endParaRPr lang="ar-SA" sz="1700" dirty="0"/>
          </a:p>
        </p:txBody>
      </p:sp>
      <p:sp>
        <p:nvSpPr>
          <p:cNvPr id="43" name="Text 40"/>
          <p:cNvSpPr txBox="1"/>
          <p:nvPr/>
        </p:nvSpPr>
        <p:spPr>
          <a:xfrm>
            <a:off x="9601200" y="5230368"/>
            <a:ext cx="365760" cy="8686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44" name="Text 41"/>
          <p:cNvSpPr txBox="1"/>
          <p:nvPr/>
        </p:nvSpPr>
        <p:spPr>
          <a:xfrm>
            <a:off x="8001000" y="5230368"/>
            <a:ext cx="1645920" cy="868680"/>
          </a:xfrm>
          <a:prstGeom prst="rect">
            <a:avLst/>
          </a:prstGeom>
          <a:noFill/>
          <a:ln/>
        </p:spPr>
        <p:txBody>
          <a:bodyPr wrap="square" lIns="0" tIns="0" rIns="0" bIns="0" rtlCol="0" anchor="ctr"/>
          <a:lstStyle/>
          <a:p>
            <a:pPr rtl="1" algn="ctr" indent="0" marL="0">
              <a:buNone/>
            </a:pPr>
            <a:r>
              <a:rPr lang="ar-SA" altLang="en-US" sz="2600" b="1" dirty="0">
                <a:solidFill>
                  <a:srgbClr val="B83227"/>
                </a:solidFill>
                <a:latin typeface="Amiri" pitchFamily="2" charset="-78"/>
                <a:ea typeface="Amiri" pitchFamily="2" charset="-78"/>
                <a:cs typeface="Amiri" pitchFamily="2" charset="-78"/>
              </a:rPr>
              <a:t>أَعْطِنِي شَايًا.</a:t>
            </a:r>
            <a:endParaRPr lang="ar-SA" sz="2600" dirty="0"/>
          </a:p>
        </p:txBody>
      </p:sp>
      <p:sp>
        <p:nvSpPr>
          <p:cNvPr id="45" name="Shape 42"/>
          <p:cNvSpPr/>
          <p:nvPr/>
        </p:nvSpPr>
        <p:spPr>
          <a:xfrm>
            <a:off x="8138160" y="5669280"/>
            <a:ext cx="1371600" cy="0"/>
          </a:xfrm>
          <a:prstGeom prst="line">
            <a:avLst/>
          </a:prstGeom>
          <a:noFill/>
          <a:ln w="25400">
            <a:solidFill>
              <a:srgbClr val="B83227"/>
            </a:solidFill>
            <a:prstDash val="solid"/>
          </a:ln>
        </p:spPr>
      </p:sp>
      <p:sp>
        <p:nvSpPr>
          <p:cNvPr id="46" name="Text 4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14 / 43</a:t>
            </a:r>
            <a:endParaRPr lang="en-US" sz="8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F5-L05 · Ordering Politely</a:t>
            </a:r>
            <a:endParaRPr lang="en-US" sz="950" dirty="0"/>
          </a:p>
        </p:txBody>
      </p:sp>
      <p:sp>
        <p:nvSpPr>
          <p:cNvPr id="8" name="Shape 6"/>
          <p:cNvSpPr/>
          <p:nvPr/>
        </p:nvSpPr>
        <p:spPr>
          <a:xfrm>
            <a:off x="6915607" y="274320"/>
            <a:ext cx="1844345"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a:t>
            </a:r>
            <a:endParaRPr lang="en-US" sz="900" dirty="0"/>
          </a:p>
        </p:txBody>
      </p:sp>
      <p:sp>
        <p:nvSpPr>
          <p:cNvPr id="10" name="Shape 8"/>
          <p:cNvSpPr/>
          <p:nvPr/>
        </p:nvSpPr>
        <p:spPr>
          <a:xfrm>
            <a:off x="5818327"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5818327"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GRAMMAR FOCUS · THE WEBSITE RULES WITH EXAMPLES · FLEX</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The website grammar rules</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الطَّلَبُ المُهَذَّبُ وَالسُّؤَالُ عَنِ السِّعْرِ</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F5 · Food, Health and Body · F5-L05</a:t>
            </a:r>
            <a:endParaRPr lang="en-US" sz="850" dirty="0"/>
          </a:p>
        </p:txBody>
      </p:sp>
      <p:sp>
        <p:nvSpPr>
          <p:cNvPr id="17" name="Shape 14"/>
          <p:cNvSpPr/>
          <p:nvPr/>
        </p:nvSpPr>
        <p:spPr>
          <a:xfrm>
            <a:off x="457200" y="1810512"/>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Text 15"/>
          <p:cNvSpPr txBox="1"/>
          <p:nvPr/>
        </p:nvSpPr>
        <p:spPr>
          <a:xfrm>
            <a:off x="640080" y="1883664"/>
            <a:ext cx="3566160" cy="514350"/>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1. Order an item politely</a:t>
            </a:r>
            <a:endParaRPr lang="en-US" sz="1250" dirty="0"/>
          </a:p>
        </p:txBody>
      </p:sp>
      <p:sp>
        <p:nvSpPr>
          <p:cNvPr id="19" name="Text 16"/>
          <p:cNvSpPr txBox="1"/>
          <p:nvPr/>
        </p:nvSpPr>
        <p:spPr>
          <a:xfrm>
            <a:off x="640080" y="2345436"/>
            <a:ext cx="3566160" cy="432054"/>
          </a:xfrm>
          <a:prstGeom prst="rect">
            <a:avLst/>
          </a:prstGeom>
          <a:noFill/>
          <a:ln/>
        </p:spPr>
        <p:txBody>
          <a:bodyPr wrap="square" lIns="0" tIns="0" rIns="0" bIns="0" rtlCol="0" anchor="ctr"/>
          <a:lstStyle/>
          <a:p>
            <a:pPr rtl="1" algn="r" indent="0" marL="0">
              <a:buNone/>
            </a:pPr>
            <a:r>
              <a:rPr lang="ar-SA" altLang="en-US" sz="1350" dirty="0">
                <a:solidFill>
                  <a:srgbClr val="5A6472"/>
                </a:solidFill>
                <a:latin typeface="Amiri" pitchFamily="2" charset="-78"/>
                <a:ea typeface="Amiri" pitchFamily="2" charset="-78"/>
                <a:cs typeface="Amiri" pitchFamily="2" charset="-78"/>
              </a:rPr>
              <a:t>أُرِيدُ + شَيْئًا، مِنْ فَضْلِكَ / مِنْ فَضْلِكِ</a:t>
            </a:r>
            <a:endParaRPr lang="ar-SA" sz="1350" dirty="0"/>
          </a:p>
        </p:txBody>
      </p:sp>
      <p:sp>
        <p:nvSpPr>
          <p:cNvPr id="20" name="Text 17"/>
          <p:cNvSpPr txBox="1"/>
          <p:nvPr/>
        </p:nvSpPr>
        <p:spPr>
          <a:xfrm>
            <a:off x="4297680" y="1847088"/>
            <a:ext cx="7269480" cy="955548"/>
          </a:xfrm>
          <a:prstGeom prst="rect">
            <a:avLst/>
          </a:prstGeom>
          <a:noFill/>
          <a:ln/>
        </p:spPr>
        <p:txBody>
          <a:bodyPr wrap="square" lIns="0" tIns="0" rIns="0" bIns="0" rtlCol="0" anchor="ctr"/>
          <a:lstStyle/>
          <a:p>
            <a:pPr rtl="1" algn="r" indent="0" marL="0">
              <a:buNone/>
            </a:pPr>
            <a:r>
              <a:rPr lang="ar-SA" altLang="en-US" sz="2000" b="1" dirty="0">
                <a:solidFill>
                  <a:srgbClr val="1F2A37"/>
                </a:solidFill>
                <a:latin typeface="Amiri" pitchFamily="2" charset="-78"/>
                <a:ea typeface="Amiri" pitchFamily="2" charset="-78"/>
                <a:cs typeface="Amiri" pitchFamily="2" charset="-78"/>
              </a:rPr>
              <a:t>أُرِيدُ شَايًا، مِنْ فَضْلِكَ.   ·   أُرِيدُ سَلَطَةً، مِنْ فَضْلِكِ.</a:t>
            </a:r>
            <a:endParaRPr lang="ar-SA" sz="2000" dirty="0"/>
          </a:p>
        </p:txBody>
      </p:sp>
      <p:sp>
        <p:nvSpPr>
          <p:cNvPr id="21" name="Shape 18"/>
          <p:cNvSpPr/>
          <p:nvPr/>
        </p:nvSpPr>
        <p:spPr>
          <a:xfrm>
            <a:off x="457200" y="2967228"/>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640080" y="3040380"/>
            <a:ext cx="3566160" cy="514350"/>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2. Ask whether something is available</a:t>
            </a:r>
            <a:endParaRPr lang="en-US" sz="1250" dirty="0"/>
          </a:p>
        </p:txBody>
      </p:sp>
      <p:sp>
        <p:nvSpPr>
          <p:cNvPr id="23" name="Text 20"/>
          <p:cNvSpPr txBox="1"/>
          <p:nvPr/>
        </p:nvSpPr>
        <p:spPr>
          <a:xfrm>
            <a:off x="640080" y="3502152"/>
            <a:ext cx="3566160" cy="432054"/>
          </a:xfrm>
          <a:prstGeom prst="rect">
            <a:avLst/>
          </a:prstGeom>
          <a:noFill/>
          <a:ln/>
        </p:spPr>
        <p:txBody>
          <a:bodyPr wrap="square" lIns="0" tIns="0" rIns="0" bIns="0" rtlCol="0" anchor="ctr"/>
          <a:lstStyle/>
          <a:p>
            <a:pPr rtl="1" algn="r" indent="0" marL="0">
              <a:buNone/>
            </a:pPr>
            <a:r>
              <a:rPr lang="ar-SA" altLang="en-US" sz="1350" dirty="0">
                <a:solidFill>
                  <a:srgbClr val="5A6472"/>
                </a:solidFill>
                <a:latin typeface="Amiri" pitchFamily="2" charset="-78"/>
                <a:ea typeface="Amiri" pitchFamily="2" charset="-78"/>
                <a:cs typeface="Amiri" pitchFamily="2" charset="-78"/>
              </a:rPr>
              <a:t>هَلْ عِنْدَكُمْ...؟</a:t>
            </a:r>
            <a:endParaRPr lang="ar-SA" sz="1350" dirty="0"/>
          </a:p>
        </p:txBody>
      </p:sp>
      <p:sp>
        <p:nvSpPr>
          <p:cNvPr id="24" name="Text 21"/>
          <p:cNvSpPr txBox="1"/>
          <p:nvPr/>
        </p:nvSpPr>
        <p:spPr>
          <a:xfrm>
            <a:off x="4297680" y="3003804"/>
            <a:ext cx="7269480" cy="955548"/>
          </a:xfrm>
          <a:prstGeom prst="rect">
            <a:avLst/>
          </a:prstGeom>
          <a:noFill/>
          <a:ln/>
        </p:spPr>
        <p:txBody>
          <a:bodyPr wrap="square" lIns="0" tIns="0" rIns="0" bIns="0" rtlCol="0" anchor="ctr"/>
          <a:lstStyle/>
          <a:p>
            <a:pPr rtl="1" algn="r" indent="0" marL="0">
              <a:buNone/>
            </a:pPr>
            <a:r>
              <a:rPr lang="ar-SA" altLang="en-US" sz="2000" b="1" dirty="0">
                <a:solidFill>
                  <a:srgbClr val="1F2A37"/>
                </a:solidFill>
                <a:latin typeface="Amiri" pitchFamily="2" charset="-78"/>
                <a:ea typeface="Amiri" pitchFamily="2" charset="-78"/>
                <a:cs typeface="Amiri" pitchFamily="2" charset="-78"/>
              </a:rPr>
              <a:t>هَلْ عِنْدَكُمْ طَعَامٌ نَبَاتِيٌّ؟   ·   هَلْ عِنْدَكُمْ عَصِيرُ البُرْتُقَالِ؟</a:t>
            </a:r>
            <a:endParaRPr lang="ar-SA" sz="2000" dirty="0"/>
          </a:p>
        </p:txBody>
      </p:sp>
      <p:sp>
        <p:nvSpPr>
          <p:cNvPr id="25" name="Shape 22"/>
          <p:cNvSpPr/>
          <p:nvPr/>
        </p:nvSpPr>
        <p:spPr>
          <a:xfrm>
            <a:off x="457200" y="4123944"/>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Text 23"/>
          <p:cNvSpPr txBox="1"/>
          <p:nvPr/>
        </p:nvSpPr>
        <p:spPr>
          <a:xfrm>
            <a:off x="640080" y="4197096"/>
            <a:ext cx="3566160" cy="514350"/>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3. Ask the price</a:t>
            </a:r>
            <a:endParaRPr lang="en-US" sz="1250" dirty="0"/>
          </a:p>
        </p:txBody>
      </p:sp>
      <p:sp>
        <p:nvSpPr>
          <p:cNvPr id="27" name="Text 24"/>
          <p:cNvSpPr txBox="1"/>
          <p:nvPr/>
        </p:nvSpPr>
        <p:spPr>
          <a:xfrm>
            <a:off x="640080" y="4658868"/>
            <a:ext cx="3566160" cy="432054"/>
          </a:xfrm>
          <a:prstGeom prst="rect">
            <a:avLst/>
          </a:prstGeom>
          <a:noFill/>
          <a:ln/>
        </p:spPr>
        <p:txBody>
          <a:bodyPr wrap="square" lIns="0" tIns="0" rIns="0" bIns="0" rtlCol="0" anchor="ctr"/>
          <a:lstStyle/>
          <a:p>
            <a:pPr rtl="1" algn="r" indent="0" marL="0">
              <a:buNone/>
            </a:pPr>
            <a:r>
              <a:rPr lang="ar-SA" altLang="en-US" sz="1350" dirty="0">
                <a:solidFill>
                  <a:srgbClr val="5A6472"/>
                </a:solidFill>
                <a:latin typeface="Amiri" pitchFamily="2" charset="-78"/>
                <a:ea typeface="Amiri" pitchFamily="2" charset="-78"/>
                <a:cs typeface="Amiri" pitchFamily="2" charset="-78"/>
              </a:rPr>
              <a:t>كَمْ سِعْرُ...؟ / كَمْ ثَمَنُ...؟</a:t>
            </a:r>
            <a:endParaRPr lang="ar-SA" sz="1350" dirty="0"/>
          </a:p>
        </p:txBody>
      </p:sp>
      <p:sp>
        <p:nvSpPr>
          <p:cNvPr id="28" name="Text 25"/>
          <p:cNvSpPr txBox="1"/>
          <p:nvPr/>
        </p:nvSpPr>
        <p:spPr>
          <a:xfrm>
            <a:off x="4297680" y="4160520"/>
            <a:ext cx="7269480" cy="955548"/>
          </a:xfrm>
          <a:prstGeom prst="rect">
            <a:avLst/>
          </a:prstGeom>
          <a:noFill/>
          <a:ln/>
        </p:spPr>
        <p:txBody>
          <a:bodyPr wrap="square" lIns="0" tIns="0" rIns="0" bIns="0" rtlCol="0" anchor="ctr"/>
          <a:lstStyle/>
          <a:p>
            <a:pPr rtl="1" algn="r" indent="0" marL="0">
              <a:buNone/>
            </a:pPr>
            <a:r>
              <a:rPr lang="ar-SA" altLang="en-US" sz="2000" b="1" dirty="0">
                <a:solidFill>
                  <a:srgbClr val="1F2A37"/>
                </a:solidFill>
                <a:latin typeface="Amiri" pitchFamily="2" charset="-78"/>
                <a:ea typeface="Amiri" pitchFamily="2" charset="-78"/>
                <a:cs typeface="Amiri" pitchFamily="2" charset="-78"/>
              </a:rPr>
              <a:t>كَمْ سِعْرُ الحَسَاءِ؟   ·   كَمْ ثَمَنُ الوَجْبَةِ؟</a:t>
            </a:r>
            <a:endParaRPr lang="ar-SA" sz="2000" dirty="0"/>
          </a:p>
        </p:txBody>
      </p:sp>
      <p:sp>
        <p:nvSpPr>
          <p:cNvPr id="29" name="Shape 26"/>
          <p:cNvSpPr/>
          <p:nvPr/>
        </p:nvSpPr>
        <p:spPr>
          <a:xfrm>
            <a:off x="457200" y="5280660"/>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640080" y="5353812"/>
            <a:ext cx="3566160" cy="514350"/>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4. Close the exchange</a:t>
            </a:r>
            <a:endParaRPr lang="en-US" sz="1250" dirty="0"/>
          </a:p>
        </p:txBody>
      </p:sp>
      <p:sp>
        <p:nvSpPr>
          <p:cNvPr id="31" name="Text 28"/>
          <p:cNvSpPr txBox="1"/>
          <p:nvPr/>
        </p:nvSpPr>
        <p:spPr>
          <a:xfrm>
            <a:off x="640080" y="5815584"/>
            <a:ext cx="3566160" cy="432054"/>
          </a:xfrm>
          <a:prstGeom prst="rect">
            <a:avLst/>
          </a:prstGeom>
          <a:noFill/>
          <a:ln/>
        </p:spPr>
        <p:txBody>
          <a:bodyPr wrap="square" lIns="0" tIns="0" rIns="0" bIns="0" rtlCol="0" anchor="ctr"/>
          <a:lstStyle/>
          <a:p>
            <a:pPr rtl="1" algn="r" indent="0" marL="0">
              <a:buNone/>
            </a:pPr>
            <a:r>
              <a:rPr lang="ar-SA" altLang="en-US" sz="1350" dirty="0">
                <a:solidFill>
                  <a:srgbClr val="5A6472"/>
                </a:solidFill>
                <a:latin typeface="Amiri" pitchFamily="2" charset="-78"/>
                <a:ea typeface="Amiri" pitchFamily="2" charset="-78"/>
                <a:cs typeface="Amiri" pitchFamily="2" charset="-78"/>
              </a:rPr>
              <a:t>الحِسَابُ، مِنْ فَضْلِكَ. · شُكْرًا.</a:t>
            </a:r>
            <a:endParaRPr lang="ar-SA" sz="1350" dirty="0"/>
          </a:p>
        </p:txBody>
      </p:sp>
      <p:sp>
        <p:nvSpPr>
          <p:cNvPr id="32" name="Text 29"/>
          <p:cNvSpPr txBox="1"/>
          <p:nvPr/>
        </p:nvSpPr>
        <p:spPr>
          <a:xfrm>
            <a:off x="4297680" y="5317236"/>
            <a:ext cx="7269480" cy="955548"/>
          </a:xfrm>
          <a:prstGeom prst="rect">
            <a:avLst/>
          </a:prstGeom>
          <a:noFill/>
          <a:ln/>
        </p:spPr>
        <p:txBody>
          <a:bodyPr wrap="square" lIns="0" tIns="0" rIns="0" bIns="0" rtlCol="0" anchor="ctr"/>
          <a:lstStyle/>
          <a:p>
            <a:pPr rtl="1" algn="r" indent="0" marL="0">
              <a:buNone/>
            </a:pPr>
            <a:r>
              <a:rPr lang="ar-SA" altLang="en-US" sz="2000" b="1" dirty="0">
                <a:solidFill>
                  <a:srgbClr val="1F2A37"/>
                </a:solidFill>
                <a:latin typeface="Amiri" pitchFamily="2" charset="-78"/>
                <a:ea typeface="Amiri" pitchFamily="2" charset="-78"/>
                <a:cs typeface="Amiri" pitchFamily="2" charset="-78"/>
              </a:rPr>
              <a:t>الحِسَابُ، مِنْ فَضْلِكَ.   ·   شُكْرًا جَزِيلًا.</a:t>
            </a:r>
            <a:endParaRPr lang="ar-SA" sz="2000" dirty="0"/>
          </a:p>
        </p:txBody>
      </p:sp>
      <p:sp>
        <p:nvSpPr>
          <p:cNvPr id="33" name="Text 3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15 / 43</a:t>
            </a:r>
            <a:endParaRPr lang="en-US" sz="8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F5-L05 · Ordering Politely</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CHECK FOR UNDERSTANDING · HINGE QUESTIONS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Quick check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فَحْصٌ سَرِيعٌ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F5 · Food, Health and Body · F5-L05</a:t>
            </a:r>
            <a:endParaRPr lang="en-US" sz="850" dirty="0"/>
          </a:p>
        </p:txBody>
      </p:sp>
      <p:sp>
        <p:nvSpPr>
          <p:cNvPr id="15" name="Shape 12"/>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complete polite order.</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حَسَاءٌ.</a:t>
            </a:r>
            <a:endParaRPr lang="ar-SA" sz="20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أَعْطِنِي حَسَاءً.</a:t>
            </a:r>
            <a:endParaRPr lang="ar-SA" sz="20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أُرِيدُ حَسَاءً، مِنْ فَضْلِكَ.</a:t>
            </a:r>
            <a:endParaRPr lang="ar-SA" sz="2050" dirty="0"/>
          </a:p>
        </p:txBody>
      </p:sp>
      <p:sp>
        <p:nvSpPr>
          <p:cNvPr id="28" name="Shape 25"/>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6313932"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Ask whether vegetarian food is available.</a:t>
            </a:r>
            <a:endParaRPr lang="en-US" sz="1250" dirty="0"/>
          </a:p>
        </p:txBody>
      </p:sp>
      <p:sp>
        <p:nvSpPr>
          <p:cNvPr id="32" name="Shape 29"/>
          <p:cNvSpPr/>
          <p:nvPr/>
        </p:nvSpPr>
        <p:spPr>
          <a:xfrm>
            <a:off x="6368796"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6368796"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6697980"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هَلْ عِنْدَكُمْ طَعَامٌ نَبَاتِيٌّ؟</a:t>
            </a:r>
            <a:endParaRPr lang="ar-SA" sz="2050" dirty="0"/>
          </a:p>
        </p:txBody>
      </p:sp>
      <p:sp>
        <p:nvSpPr>
          <p:cNvPr id="35" name="Shape 32"/>
          <p:cNvSpPr/>
          <p:nvPr/>
        </p:nvSpPr>
        <p:spPr>
          <a:xfrm>
            <a:off x="6368796"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6368796"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6697980"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مَاذَا الطَّعَامُ النَّبَاتِيُّ؟</a:t>
            </a:r>
            <a:endParaRPr lang="ar-SA" sz="2050" dirty="0"/>
          </a:p>
        </p:txBody>
      </p:sp>
      <p:sp>
        <p:nvSpPr>
          <p:cNvPr id="38" name="Shape 35"/>
          <p:cNvSpPr/>
          <p:nvPr/>
        </p:nvSpPr>
        <p:spPr>
          <a:xfrm>
            <a:off x="6368796"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6368796"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6697980"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أُرِيدُ النَّبَاتِيَّ؟</a:t>
            </a:r>
            <a:endParaRPr lang="ar-SA" sz="2050" dirty="0"/>
          </a:p>
        </p:txBody>
      </p:sp>
      <p:sp>
        <p:nvSpPr>
          <p:cNvPr id="41" name="Shape 38"/>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585216" y="4288536"/>
            <a:ext cx="310896" cy="310896"/>
          </a:xfrm>
          <a:prstGeom prst="ellipse">
            <a:avLst/>
          </a:prstGeom>
          <a:solidFill>
            <a:srgbClr val="1B3B6F"/>
          </a:solidFill>
          <a:ln w="12700">
            <a:solidFill>
              <a:srgbClr val="1B3B6F"/>
            </a:solidFill>
            <a:prstDash val="solid"/>
          </a:ln>
        </p:spPr>
      </p:sp>
      <p:sp>
        <p:nvSpPr>
          <p:cNvPr id="43" name="Text 40"/>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form of “please” addresses a female?</a:t>
            </a:r>
            <a:endParaRPr lang="en-US" sz="1250" dirty="0"/>
          </a:p>
        </p:txBody>
      </p:sp>
      <p:sp>
        <p:nvSpPr>
          <p:cNvPr id="45" name="Shape 42"/>
          <p:cNvSpPr/>
          <p:nvPr/>
        </p:nvSpPr>
        <p:spPr>
          <a:xfrm>
            <a:off x="640080" y="4873752"/>
            <a:ext cx="256032" cy="256032"/>
          </a:xfrm>
          <a:prstGeom prst="ellipse">
            <a:avLst/>
          </a:prstGeom>
          <a:solidFill>
            <a:srgbClr val="F4F1EA"/>
          </a:solidFill>
          <a:ln w="12700">
            <a:solidFill>
              <a:srgbClr val="F4F1EA"/>
            </a:solidFill>
            <a:prstDash val="solid"/>
          </a:ln>
        </p:spPr>
      </p:sp>
      <p:sp>
        <p:nvSpPr>
          <p:cNvPr id="46" name="Text 43"/>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969264"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مِنْ فَضْلِكَ</a:t>
            </a:r>
            <a:endParaRPr lang="ar-SA" sz="2050" dirty="0"/>
          </a:p>
        </p:txBody>
      </p:sp>
      <p:sp>
        <p:nvSpPr>
          <p:cNvPr id="48" name="Shape 45"/>
          <p:cNvSpPr/>
          <p:nvPr/>
        </p:nvSpPr>
        <p:spPr>
          <a:xfrm>
            <a:off x="640080" y="5330952"/>
            <a:ext cx="256032" cy="256032"/>
          </a:xfrm>
          <a:prstGeom prst="ellipse">
            <a:avLst/>
          </a:prstGeom>
          <a:solidFill>
            <a:srgbClr val="F4F1EA"/>
          </a:solidFill>
          <a:ln w="12700">
            <a:solidFill>
              <a:srgbClr val="F4F1EA"/>
            </a:solidFill>
            <a:prstDash val="solid"/>
          </a:ln>
        </p:spPr>
      </p:sp>
      <p:sp>
        <p:nvSpPr>
          <p:cNvPr id="49" name="Text 46"/>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969264"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مِنْ فَضْلِكِ</a:t>
            </a:r>
            <a:endParaRPr lang="ar-SA" sz="2050" dirty="0"/>
          </a:p>
        </p:txBody>
      </p:sp>
      <p:sp>
        <p:nvSpPr>
          <p:cNvPr id="51" name="Shape 48"/>
          <p:cNvSpPr/>
          <p:nvPr/>
        </p:nvSpPr>
        <p:spPr>
          <a:xfrm>
            <a:off x="640080" y="5788152"/>
            <a:ext cx="256032" cy="256032"/>
          </a:xfrm>
          <a:prstGeom prst="ellipse">
            <a:avLst/>
          </a:prstGeom>
          <a:solidFill>
            <a:srgbClr val="F4F1EA"/>
          </a:solidFill>
          <a:ln w="12700">
            <a:solidFill>
              <a:srgbClr val="F4F1EA"/>
            </a:solidFill>
            <a:prstDash val="solid"/>
          </a:ln>
        </p:spPr>
      </p:sp>
      <p:sp>
        <p:nvSpPr>
          <p:cNvPr id="52" name="Text 49"/>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969264"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مِنْ فَضْلِهِ</a:t>
            </a:r>
            <a:endParaRPr lang="ar-SA" sz="2050" dirty="0"/>
          </a:p>
        </p:txBody>
      </p:sp>
      <p:sp>
        <p:nvSpPr>
          <p:cNvPr id="54" name="Shape 51"/>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6313932"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Ask a girl “What would you like?”</a:t>
            </a:r>
            <a:endParaRPr lang="en-US" sz="1250" dirty="0"/>
          </a:p>
        </p:txBody>
      </p:sp>
      <p:sp>
        <p:nvSpPr>
          <p:cNvPr id="58" name="Shape 55"/>
          <p:cNvSpPr/>
          <p:nvPr/>
        </p:nvSpPr>
        <p:spPr>
          <a:xfrm>
            <a:off x="6368796"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368796"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0" name="Text 57"/>
          <p:cNvSpPr txBox="1"/>
          <p:nvPr/>
        </p:nvSpPr>
        <p:spPr>
          <a:xfrm>
            <a:off x="6697980"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مَاذَا تُرِيدِينَ؟</a:t>
            </a:r>
            <a:endParaRPr lang="ar-SA" sz="2050" dirty="0"/>
          </a:p>
        </p:txBody>
      </p:sp>
      <p:sp>
        <p:nvSpPr>
          <p:cNvPr id="61" name="Shape 58"/>
          <p:cNvSpPr/>
          <p:nvPr/>
        </p:nvSpPr>
        <p:spPr>
          <a:xfrm>
            <a:off x="6368796"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368796"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3" name="Text 60"/>
          <p:cNvSpPr txBox="1"/>
          <p:nvPr/>
        </p:nvSpPr>
        <p:spPr>
          <a:xfrm>
            <a:off x="6697980"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مَاذَا تُرِيدُ؟</a:t>
            </a:r>
            <a:endParaRPr lang="ar-SA" sz="2050" dirty="0"/>
          </a:p>
        </p:txBody>
      </p:sp>
      <p:sp>
        <p:nvSpPr>
          <p:cNvPr id="64" name="Shape 61"/>
          <p:cNvSpPr/>
          <p:nvPr/>
        </p:nvSpPr>
        <p:spPr>
          <a:xfrm>
            <a:off x="6368796"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368796"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6" name="Text 63"/>
          <p:cNvSpPr txBox="1"/>
          <p:nvPr/>
        </p:nvSpPr>
        <p:spPr>
          <a:xfrm>
            <a:off x="6697980"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مَاذَا أُرِيدُ؟</a:t>
            </a:r>
            <a:endParaRPr lang="ar-SA" sz="2050" dirty="0"/>
          </a:p>
        </p:txBody>
      </p:sp>
      <p:sp>
        <p:nvSpPr>
          <p:cNvPr id="67" name="Text 6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16 / 43</a:t>
            </a:r>
            <a:endParaRPr lang="en-US" sz="8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F5-L05 · Ordering Politely</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CHECK FOR UNDERSTANDING ·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Answers and reasons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 وَالتَّعْلِيلُ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F5 · Food, Health and Body · F5-L05</a:t>
            </a:r>
            <a:endParaRPr lang="en-US" sz="850" dirty="0"/>
          </a:p>
        </p:txBody>
      </p:sp>
      <p:sp>
        <p:nvSpPr>
          <p:cNvPr id="15" name="Shape 12"/>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complete polite order.</a:t>
            </a:r>
            <a:endParaRPr lang="en-US" sz="1250" dirty="0"/>
          </a:p>
        </p:txBody>
      </p:sp>
      <p:sp>
        <p:nvSpPr>
          <p:cNvPr id="19" name="Shape 16"/>
          <p:cNvSpPr/>
          <p:nvPr/>
        </p:nvSpPr>
        <p:spPr>
          <a:xfrm>
            <a:off x="640080" y="2490216"/>
            <a:ext cx="256032" cy="256032"/>
          </a:xfrm>
          <a:prstGeom prst="ellipse">
            <a:avLst/>
          </a:prstGeom>
          <a:solidFill>
            <a:srgbClr val="C9CED6"/>
          </a:solidFill>
          <a:ln w="12700">
            <a:solidFill>
              <a:srgbClr val="C9CED6"/>
            </a:solidFill>
            <a:prstDash val="solid"/>
          </a:ln>
        </p:spPr>
      </p:sp>
      <p:sp>
        <p:nvSpPr>
          <p:cNvPr id="20" name="Text 17"/>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حَسَاءٌ.</a:t>
            </a:r>
            <a:endParaRPr lang="ar-SA" sz="1700" dirty="0"/>
          </a:p>
        </p:txBody>
      </p:sp>
      <p:sp>
        <p:nvSpPr>
          <p:cNvPr id="22" name="Shape 19"/>
          <p:cNvSpPr/>
          <p:nvPr/>
        </p:nvSpPr>
        <p:spPr>
          <a:xfrm>
            <a:off x="640080" y="2862072"/>
            <a:ext cx="256032" cy="256032"/>
          </a:xfrm>
          <a:prstGeom prst="ellipse">
            <a:avLst/>
          </a:prstGeom>
          <a:solidFill>
            <a:srgbClr val="C9CED6"/>
          </a:solidFill>
          <a:ln w="12700">
            <a:solidFill>
              <a:srgbClr val="C9CED6"/>
            </a:solidFill>
            <a:prstDash val="solid"/>
          </a:ln>
        </p:spPr>
      </p:sp>
      <p:sp>
        <p:nvSpPr>
          <p:cNvPr id="23" name="Text 20"/>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0416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أَعْطِنِي حَسَاءً.</a:t>
            </a:r>
            <a:endParaRPr lang="ar-SA" sz="1700" dirty="0"/>
          </a:p>
        </p:txBody>
      </p:sp>
      <p:sp>
        <p:nvSpPr>
          <p:cNvPr id="25" name="Shape 22"/>
          <p:cNvSpPr/>
          <p:nvPr/>
        </p:nvSpPr>
        <p:spPr>
          <a:xfrm>
            <a:off x="548640" y="3197352"/>
            <a:ext cx="5362956" cy="347472"/>
          </a:xfrm>
          <a:prstGeom prst="roundRect">
            <a:avLst>
              <a:gd name="adj" fmla="val 15789"/>
            </a:avLst>
          </a:prstGeom>
          <a:solidFill>
            <a:srgbClr val="E6F4EC"/>
          </a:solidFill>
          <a:ln w="9525">
            <a:solidFill>
              <a:srgbClr val="2E8B57"/>
            </a:solidFill>
            <a:prstDash val="solid"/>
          </a:ln>
        </p:spPr>
      </p:sp>
      <p:sp>
        <p:nvSpPr>
          <p:cNvPr id="26" name="Shape 23"/>
          <p:cNvSpPr/>
          <p:nvPr/>
        </p:nvSpPr>
        <p:spPr>
          <a:xfrm>
            <a:off x="640080" y="3233928"/>
            <a:ext cx="256032" cy="256032"/>
          </a:xfrm>
          <a:prstGeom prst="ellipse">
            <a:avLst/>
          </a:prstGeom>
          <a:solidFill>
            <a:srgbClr val="2E8B57"/>
          </a:solidFill>
          <a:ln w="12700">
            <a:solidFill>
              <a:srgbClr val="2E8B57"/>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28" name="Text 25"/>
          <p:cNvSpPr txBox="1"/>
          <p:nvPr/>
        </p:nvSpPr>
        <p:spPr>
          <a:xfrm>
            <a:off x="969264" y="3176016"/>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أُرِيدُ حَسَاءً، مِنْ فَضْلِكَ.</a:t>
            </a:r>
            <a:endParaRPr lang="ar-SA" sz="1700" dirty="0"/>
          </a:p>
        </p:txBody>
      </p:sp>
      <p:sp>
        <p:nvSpPr>
          <p:cNvPr id="29" name="Text 26"/>
          <p:cNvSpPr txBox="1"/>
          <p:nvPr/>
        </p:nvSpPr>
        <p:spPr>
          <a:xfrm>
            <a:off x="585216" y="3566160"/>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request is complete and includes politeness.</a:t>
            </a:r>
            <a:endParaRPr lang="en-US" sz="1050" dirty="0"/>
          </a:p>
        </p:txBody>
      </p:sp>
      <p:sp>
        <p:nvSpPr>
          <p:cNvPr id="30" name="Shape 27"/>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313932"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Ask whether vegetarian food is available.</a:t>
            </a:r>
            <a:endParaRPr lang="en-US" sz="1250" dirty="0"/>
          </a:p>
        </p:txBody>
      </p:sp>
      <p:sp>
        <p:nvSpPr>
          <p:cNvPr id="34" name="Shape 31"/>
          <p:cNvSpPr/>
          <p:nvPr/>
        </p:nvSpPr>
        <p:spPr>
          <a:xfrm>
            <a:off x="6277356" y="2453640"/>
            <a:ext cx="5362956" cy="347472"/>
          </a:xfrm>
          <a:prstGeom prst="roundRect">
            <a:avLst>
              <a:gd name="adj" fmla="val 15789"/>
            </a:avLst>
          </a:prstGeom>
          <a:solidFill>
            <a:srgbClr val="E6F4EC"/>
          </a:solidFill>
          <a:ln w="9525">
            <a:solidFill>
              <a:srgbClr val="2E8B57"/>
            </a:solidFill>
            <a:prstDash val="solid"/>
          </a:ln>
        </p:spPr>
      </p:sp>
      <p:sp>
        <p:nvSpPr>
          <p:cNvPr id="35" name="Shape 32"/>
          <p:cNvSpPr/>
          <p:nvPr/>
        </p:nvSpPr>
        <p:spPr>
          <a:xfrm>
            <a:off x="6368796" y="2490216"/>
            <a:ext cx="256032" cy="256032"/>
          </a:xfrm>
          <a:prstGeom prst="ellipse">
            <a:avLst/>
          </a:prstGeom>
          <a:solidFill>
            <a:srgbClr val="2E8B57"/>
          </a:solidFill>
          <a:ln w="12700">
            <a:solidFill>
              <a:srgbClr val="2E8B57"/>
            </a:solidFill>
            <a:prstDash val="solid"/>
          </a:ln>
        </p:spPr>
      </p:sp>
      <p:sp>
        <p:nvSpPr>
          <p:cNvPr id="36" name="Text 33"/>
          <p:cNvSpPr txBox="1"/>
          <p:nvPr/>
        </p:nvSpPr>
        <p:spPr>
          <a:xfrm>
            <a:off x="6368796"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37" name="Text 34"/>
          <p:cNvSpPr txBox="1"/>
          <p:nvPr/>
        </p:nvSpPr>
        <p:spPr>
          <a:xfrm>
            <a:off x="6697980" y="2432304"/>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هَلْ عِنْدَكُمْ طَعَامٌ نَبَاتِيٌّ؟</a:t>
            </a:r>
            <a:endParaRPr lang="ar-SA" sz="1700" dirty="0"/>
          </a:p>
        </p:txBody>
      </p:sp>
      <p:sp>
        <p:nvSpPr>
          <p:cNvPr id="38" name="Shape 35"/>
          <p:cNvSpPr/>
          <p:nvPr/>
        </p:nvSpPr>
        <p:spPr>
          <a:xfrm>
            <a:off x="6368796" y="2862072"/>
            <a:ext cx="256032" cy="256032"/>
          </a:xfrm>
          <a:prstGeom prst="ellipse">
            <a:avLst/>
          </a:prstGeom>
          <a:solidFill>
            <a:srgbClr val="C9CED6"/>
          </a:solidFill>
          <a:ln w="12700">
            <a:solidFill>
              <a:srgbClr val="C9CED6"/>
            </a:solidFill>
            <a:prstDash val="solid"/>
          </a:ln>
        </p:spPr>
      </p:sp>
      <p:sp>
        <p:nvSpPr>
          <p:cNvPr id="39" name="Text 36"/>
          <p:cNvSpPr txBox="1"/>
          <p:nvPr/>
        </p:nvSpPr>
        <p:spPr>
          <a:xfrm>
            <a:off x="6368796"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0" name="Text 37"/>
          <p:cNvSpPr txBox="1"/>
          <p:nvPr/>
        </p:nvSpPr>
        <p:spPr>
          <a:xfrm>
            <a:off x="6697980" y="280416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مَاذَا الطَّعَامُ النَّبَاتِيُّ؟</a:t>
            </a:r>
            <a:endParaRPr lang="ar-SA" sz="1700" dirty="0"/>
          </a:p>
        </p:txBody>
      </p:sp>
      <p:sp>
        <p:nvSpPr>
          <p:cNvPr id="41" name="Shape 38"/>
          <p:cNvSpPr/>
          <p:nvPr/>
        </p:nvSpPr>
        <p:spPr>
          <a:xfrm>
            <a:off x="6368796" y="323392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6368796"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6697980" y="3176016"/>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أُرِيدُ النَّبَاتِيَّ؟</a:t>
            </a:r>
            <a:endParaRPr lang="ar-SA" sz="1700" dirty="0"/>
          </a:p>
        </p:txBody>
      </p:sp>
      <p:sp>
        <p:nvSpPr>
          <p:cNvPr id="44" name="Text 41"/>
          <p:cNvSpPr txBox="1"/>
          <p:nvPr/>
        </p:nvSpPr>
        <p:spPr>
          <a:xfrm>
            <a:off x="6313932" y="3566160"/>
            <a:ext cx="5289804"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هَلْ عِنْدَكُمْ</a:t>
            </a:r>
            <a:pPr algn="l" indent="0" marL="0">
              <a:buNone/>
            </a:pPr>
            <a:r>
              <a:rPr lang="en-US" sz="1050" i="1" dirty="0">
                <a:solidFill>
                  <a:srgbClr val="8A6D1E"/>
                </a:solidFill>
                <a:latin typeface="Calibri" pitchFamily="34" charset="0"/>
                <a:cs typeface="Amiri" pitchFamily="2" charset="-78"/>
              </a:rPr>
              <a:t> asks about availability.</a:t>
            </a:r>
            <a:endParaRPr lang="en-US" sz="1050" dirty="0"/>
          </a:p>
        </p:txBody>
      </p:sp>
      <p:sp>
        <p:nvSpPr>
          <p:cNvPr id="45" name="Shape 42"/>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585216" y="4288536"/>
            <a:ext cx="310896" cy="310896"/>
          </a:xfrm>
          <a:prstGeom prst="ellipse">
            <a:avLst/>
          </a:prstGeom>
          <a:solidFill>
            <a:srgbClr val="1B3B6F"/>
          </a:solidFill>
          <a:ln w="12700">
            <a:solidFill>
              <a:srgbClr val="1B3B6F"/>
            </a:solidFill>
            <a:prstDash val="solid"/>
          </a:ln>
        </p:spPr>
      </p:sp>
      <p:sp>
        <p:nvSpPr>
          <p:cNvPr id="47" name="Text 44"/>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form of “please” addresses a female?</a:t>
            </a:r>
            <a:endParaRPr lang="en-US" sz="1250" dirty="0"/>
          </a:p>
        </p:txBody>
      </p:sp>
      <p:sp>
        <p:nvSpPr>
          <p:cNvPr id="49" name="Shape 46"/>
          <p:cNvSpPr/>
          <p:nvPr/>
        </p:nvSpPr>
        <p:spPr>
          <a:xfrm>
            <a:off x="640080" y="4831080"/>
            <a:ext cx="256032" cy="256032"/>
          </a:xfrm>
          <a:prstGeom prst="ellipse">
            <a:avLst/>
          </a:prstGeom>
          <a:solidFill>
            <a:srgbClr val="C9CED6"/>
          </a:solidFill>
          <a:ln w="12700">
            <a:solidFill>
              <a:srgbClr val="C9CED6"/>
            </a:solidFill>
            <a:prstDash val="solid"/>
          </a:ln>
        </p:spPr>
      </p:sp>
      <p:sp>
        <p:nvSpPr>
          <p:cNvPr id="50" name="Text 47"/>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1" name="Text 48"/>
          <p:cNvSpPr txBox="1"/>
          <p:nvPr/>
        </p:nvSpPr>
        <p:spPr>
          <a:xfrm>
            <a:off x="969264" y="4773168"/>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مِنْ فَضْلِكَ</a:t>
            </a:r>
            <a:endParaRPr lang="ar-SA" sz="1700" dirty="0"/>
          </a:p>
        </p:txBody>
      </p:sp>
      <p:sp>
        <p:nvSpPr>
          <p:cNvPr id="52" name="Shape 49"/>
          <p:cNvSpPr/>
          <p:nvPr/>
        </p:nvSpPr>
        <p:spPr>
          <a:xfrm>
            <a:off x="548640" y="5166360"/>
            <a:ext cx="5362956" cy="347472"/>
          </a:xfrm>
          <a:prstGeom prst="roundRect">
            <a:avLst>
              <a:gd name="adj" fmla="val 15789"/>
            </a:avLst>
          </a:prstGeom>
          <a:solidFill>
            <a:srgbClr val="E6F4EC"/>
          </a:solidFill>
          <a:ln w="9525">
            <a:solidFill>
              <a:srgbClr val="2E8B57"/>
            </a:solidFill>
            <a:prstDash val="solid"/>
          </a:ln>
        </p:spPr>
      </p:sp>
      <p:sp>
        <p:nvSpPr>
          <p:cNvPr id="53" name="Shape 50"/>
          <p:cNvSpPr/>
          <p:nvPr/>
        </p:nvSpPr>
        <p:spPr>
          <a:xfrm>
            <a:off x="640080" y="5202936"/>
            <a:ext cx="256032" cy="256032"/>
          </a:xfrm>
          <a:prstGeom prst="ellipse">
            <a:avLst/>
          </a:prstGeom>
          <a:solidFill>
            <a:srgbClr val="2E8B57"/>
          </a:solidFill>
          <a:ln w="12700">
            <a:solidFill>
              <a:srgbClr val="2E8B57"/>
            </a:solidFill>
            <a:prstDash val="solid"/>
          </a:ln>
        </p:spPr>
      </p:sp>
      <p:sp>
        <p:nvSpPr>
          <p:cNvPr id="54" name="Text 51"/>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55" name="Text 52"/>
          <p:cNvSpPr txBox="1"/>
          <p:nvPr/>
        </p:nvSpPr>
        <p:spPr>
          <a:xfrm>
            <a:off x="969264" y="5145024"/>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مِنْ فَضْلِكِ</a:t>
            </a:r>
            <a:endParaRPr lang="ar-SA" sz="1700" dirty="0"/>
          </a:p>
        </p:txBody>
      </p:sp>
      <p:sp>
        <p:nvSpPr>
          <p:cNvPr id="56" name="Shape 53"/>
          <p:cNvSpPr/>
          <p:nvPr/>
        </p:nvSpPr>
        <p:spPr>
          <a:xfrm>
            <a:off x="640080" y="5574792"/>
            <a:ext cx="256032" cy="256032"/>
          </a:xfrm>
          <a:prstGeom prst="ellipse">
            <a:avLst/>
          </a:prstGeom>
          <a:solidFill>
            <a:srgbClr val="C9CED6"/>
          </a:solidFill>
          <a:ln w="12700">
            <a:solidFill>
              <a:srgbClr val="C9CED6"/>
            </a:solidFill>
            <a:prstDash val="solid"/>
          </a:ln>
        </p:spPr>
      </p:sp>
      <p:sp>
        <p:nvSpPr>
          <p:cNvPr id="57" name="Text 54"/>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8" name="Text 55"/>
          <p:cNvSpPr txBox="1"/>
          <p:nvPr/>
        </p:nvSpPr>
        <p:spPr>
          <a:xfrm>
            <a:off x="969264" y="551688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مِنْ فَضْلِهِ</a:t>
            </a:r>
            <a:endParaRPr lang="ar-SA" sz="1700" dirty="0"/>
          </a:p>
        </p:txBody>
      </p:sp>
      <p:sp>
        <p:nvSpPr>
          <p:cNvPr id="59" name="Text 56"/>
          <p:cNvSpPr txBox="1"/>
          <p:nvPr/>
        </p:nvSpPr>
        <p:spPr>
          <a:xfrm>
            <a:off x="585216" y="5907024"/>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final kasrah marks the female addressee form.</a:t>
            </a:r>
            <a:endParaRPr lang="en-US" sz="1050" dirty="0"/>
          </a:p>
        </p:txBody>
      </p:sp>
      <p:sp>
        <p:nvSpPr>
          <p:cNvPr id="60" name="Shape 57"/>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6313932"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Ask a girl “What would you like?”</a:t>
            </a:r>
            <a:endParaRPr lang="en-US" sz="1250" dirty="0"/>
          </a:p>
        </p:txBody>
      </p:sp>
      <p:sp>
        <p:nvSpPr>
          <p:cNvPr id="64" name="Shape 61"/>
          <p:cNvSpPr/>
          <p:nvPr/>
        </p:nvSpPr>
        <p:spPr>
          <a:xfrm>
            <a:off x="6277356" y="4794504"/>
            <a:ext cx="5362956" cy="347472"/>
          </a:xfrm>
          <a:prstGeom prst="roundRect">
            <a:avLst>
              <a:gd name="adj" fmla="val 15789"/>
            </a:avLst>
          </a:prstGeom>
          <a:solidFill>
            <a:srgbClr val="E6F4EC"/>
          </a:solidFill>
          <a:ln w="9525">
            <a:solidFill>
              <a:srgbClr val="2E8B57"/>
            </a:solidFill>
            <a:prstDash val="solid"/>
          </a:ln>
        </p:spPr>
      </p:sp>
      <p:sp>
        <p:nvSpPr>
          <p:cNvPr id="65" name="Shape 62"/>
          <p:cNvSpPr/>
          <p:nvPr/>
        </p:nvSpPr>
        <p:spPr>
          <a:xfrm>
            <a:off x="6368796" y="4831080"/>
            <a:ext cx="256032" cy="256032"/>
          </a:xfrm>
          <a:prstGeom prst="ellipse">
            <a:avLst/>
          </a:prstGeom>
          <a:solidFill>
            <a:srgbClr val="2E8B57"/>
          </a:solidFill>
          <a:ln w="12700">
            <a:solidFill>
              <a:srgbClr val="2E8B57"/>
            </a:solidFill>
            <a:prstDash val="solid"/>
          </a:ln>
        </p:spPr>
      </p:sp>
      <p:sp>
        <p:nvSpPr>
          <p:cNvPr id="66" name="Text 63"/>
          <p:cNvSpPr txBox="1"/>
          <p:nvPr/>
        </p:nvSpPr>
        <p:spPr>
          <a:xfrm>
            <a:off x="6368796"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67" name="Text 64"/>
          <p:cNvSpPr txBox="1"/>
          <p:nvPr/>
        </p:nvSpPr>
        <p:spPr>
          <a:xfrm>
            <a:off x="6697980" y="4773168"/>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مَاذَا تُرِيدِينَ؟</a:t>
            </a:r>
            <a:endParaRPr lang="ar-SA" sz="1700" dirty="0"/>
          </a:p>
        </p:txBody>
      </p:sp>
      <p:sp>
        <p:nvSpPr>
          <p:cNvPr id="68" name="Shape 65"/>
          <p:cNvSpPr/>
          <p:nvPr/>
        </p:nvSpPr>
        <p:spPr>
          <a:xfrm>
            <a:off x="6368796" y="5202936"/>
            <a:ext cx="256032" cy="256032"/>
          </a:xfrm>
          <a:prstGeom prst="ellipse">
            <a:avLst/>
          </a:prstGeom>
          <a:solidFill>
            <a:srgbClr val="C9CED6"/>
          </a:solidFill>
          <a:ln w="12700">
            <a:solidFill>
              <a:srgbClr val="C9CED6"/>
            </a:solidFill>
            <a:prstDash val="solid"/>
          </a:ln>
        </p:spPr>
      </p:sp>
      <p:sp>
        <p:nvSpPr>
          <p:cNvPr id="69" name="Text 66"/>
          <p:cNvSpPr txBox="1"/>
          <p:nvPr/>
        </p:nvSpPr>
        <p:spPr>
          <a:xfrm>
            <a:off x="6368796"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0" name="Text 67"/>
          <p:cNvSpPr txBox="1"/>
          <p:nvPr/>
        </p:nvSpPr>
        <p:spPr>
          <a:xfrm>
            <a:off x="6697980" y="514502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مَاذَا تُرِيدُ؟</a:t>
            </a:r>
            <a:endParaRPr lang="ar-SA" sz="1700" dirty="0"/>
          </a:p>
        </p:txBody>
      </p:sp>
      <p:sp>
        <p:nvSpPr>
          <p:cNvPr id="71" name="Shape 68"/>
          <p:cNvSpPr/>
          <p:nvPr/>
        </p:nvSpPr>
        <p:spPr>
          <a:xfrm>
            <a:off x="6368796" y="5574792"/>
            <a:ext cx="256032" cy="256032"/>
          </a:xfrm>
          <a:prstGeom prst="ellipse">
            <a:avLst/>
          </a:prstGeom>
          <a:solidFill>
            <a:srgbClr val="C9CED6"/>
          </a:solidFill>
          <a:ln w="12700">
            <a:solidFill>
              <a:srgbClr val="C9CED6"/>
            </a:solidFill>
            <a:prstDash val="solid"/>
          </a:ln>
        </p:spPr>
      </p:sp>
      <p:sp>
        <p:nvSpPr>
          <p:cNvPr id="72" name="Text 69"/>
          <p:cNvSpPr txBox="1"/>
          <p:nvPr/>
        </p:nvSpPr>
        <p:spPr>
          <a:xfrm>
            <a:off x="6368796"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3" name="Text 70"/>
          <p:cNvSpPr txBox="1"/>
          <p:nvPr/>
        </p:nvSpPr>
        <p:spPr>
          <a:xfrm>
            <a:off x="6697980" y="551688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مَاذَا أُرِيدُ؟</a:t>
            </a:r>
            <a:endParaRPr lang="ar-SA" sz="1700" dirty="0"/>
          </a:p>
        </p:txBody>
      </p:sp>
      <p:sp>
        <p:nvSpPr>
          <p:cNvPr id="74" name="Text 71"/>
          <p:cNvSpPr txBox="1"/>
          <p:nvPr/>
        </p:nvSpPr>
        <p:spPr>
          <a:xfrm>
            <a:off x="6313932" y="5907024"/>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female listener form ends in </a:t>
            </a:r>
            <a:pPr algn="l" indent="0" marL="0">
              <a:buNone/>
            </a:pPr>
            <a:r>
              <a:rPr lang="ar-SA" altLang="en-US" sz="1350" dirty="0">
                <a:solidFill>
                  <a:srgbClr val="8A6D1E"/>
                </a:solidFill>
                <a:latin typeface="Amiri" pitchFamily="2" charset="-78"/>
                <a:ea typeface="Amiri" pitchFamily="2" charset="-78"/>
                <a:cs typeface="Amiri" pitchFamily="2" charset="-78"/>
              </a:rPr>
              <a:t>ـِينَ</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75" name="Text 7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17 / 43</a:t>
            </a:r>
            <a:endParaRPr lang="en-US" sz="8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F5-L05 · Ordering Politely</a:t>
            </a:r>
            <a:endParaRPr lang="en-US" sz="950" dirty="0"/>
          </a:p>
        </p:txBody>
      </p:sp>
      <p:sp>
        <p:nvSpPr>
          <p:cNvPr id="8" name="Shape 6"/>
          <p:cNvSpPr/>
          <p:nvPr/>
        </p:nvSpPr>
        <p:spPr>
          <a:xfrm>
            <a:off x="7388352" y="274320"/>
            <a:ext cx="1371600" cy="329184"/>
          </a:xfrm>
          <a:prstGeom prst="roundRect">
            <a:avLst>
              <a:gd name="adj" fmla="val 50000"/>
            </a:avLst>
          </a:prstGeom>
          <a:solidFill>
            <a:srgbClr val="6B4C9A"/>
          </a:solidFill>
          <a:ln w="12700">
            <a:solidFill>
              <a:srgbClr val="6B4C9A"/>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I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6B4C9A"/>
                </a:solidFill>
                <a:latin typeface="Calibri" pitchFamily="34" charset="0"/>
                <a:cs typeface="Amiri" pitchFamily="2" charset="-78"/>
              </a:rPr>
              <a:t>I DO · WATCH, THEN COPY</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Watch me order at the café</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شَاهِدْ ثُمَّ اُكْتُبْ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F5 · Food, Health and Body · F5-L05</a:t>
            </a:r>
            <a:endParaRPr lang="en-US" sz="850" dirty="0"/>
          </a:p>
        </p:txBody>
      </p:sp>
      <p:sp>
        <p:nvSpPr>
          <p:cNvPr id="15" name="Shape 12"/>
          <p:cNvSpPr/>
          <p:nvPr/>
        </p:nvSpPr>
        <p:spPr>
          <a:xfrm>
            <a:off x="9050274"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219688" y="1938528"/>
            <a:ext cx="384048" cy="384048"/>
          </a:xfrm>
          <a:prstGeom prst="ellipse">
            <a:avLst/>
          </a:prstGeom>
          <a:solidFill>
            <a:srgbClr val="6B4C9A"/>
          </a:solidFill>
          <a:ln w="12700">
            <a:solidFill>
              <a:srgbClr val="6B4C9A"/>
            </a:solidFill>
            <a:prstDash val="solid"/>
          </a:ln>
        </p:spPr>
      </p:sp>
      <p:sp>
        <p:nvSpPr>
          <p:cNvPr id="17" name="Text 14"/>
          <p:cNvSpPr txBox="1"/>
          <p:nvPr/>
        </p:nvSpPr>
        <p:spPr>
          <a:xfrm>
            <a:off x="11219688"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1</a:t>
            </a:r>
            <a:endParaRPr lang="en-US" sz="1400" dirty="0"/>
          </a:p>
        </p:txBody>
      </p:sp>
      <p:sp>
        <p:nvSpPr>
          <p:cNvPr id="18" name="Text 15"/>
          <p:cNvSpPr txBox="1"/>
          <p:nvPr/>
        </p:nvSpPr>
        <p:spPr>
          <a:xfrm>
            <a:off x="9187434"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1 · Waiter asks</a:t>
            </a:r>
            <a:endParaRPr lang="en-US" sz="1250" dirty="0"/>
          </a:p>
        </p:txBody>
      </p:sp>
      <p:sp>
        <p:nvSpPr>
          <p:cNvPr id="19" name="Text 16"/>
          <p:cNvSpPr txBox="1"/>
          <p:nvPr/>
        </p:nvSpPr>
        <p:spPr>
          <a:xfrm>
            <a:off x="9160002" y="2450592"/>
            <a:ext cx="2462022" cy="914400"/>
          </a:xfrm>
          <a:prstGeom prst="rect">
            <a:avLst/>
          </a:prstGeom>
          <a:noFill/>
          <a:ln/>
        </p:spPr>
        <p:txBody>
          <a:bodyPr wrap="square" lIns="0" tIns="0" rIns="0" bIns="0" rtlCol="0" anchor="ctr"/>
          <a:lstStyle/>
          <a:p>
            <a:pPr rtl="1" algn="ctr" indent="0" marL="0">
              <a:lnSpc>
                <a:spcPct val="120000"/>
              </a:lnSpc>
              <a:buNone/>
            </a:pPr>
            <a:r>
              <a:rPr lang="ar-SA" altLang="en-US" sz="1900" b="1" dirty="0">
                <a:solidFill>
                  <a:srgbClr val="1B3B6F"/>
                </a:solidFill>
                <a:latin typeface="Amiri" pitchFamily="2" charset="-78"/>
                <a:ea typeface="Amiri" pitchFamily="2" charset="-78"/>
                <a:cs typeface="Amiri" pitchFamily="2" charset="-78"/>
              </a:rPr>
              <a:t>النَّادِلُ: مَرْحَبًا. مَاذَا تُرِيدُ؟</a:t>
            </a:r>
            <a:endParaRPr lang="ar-SA" sz="1900" dirty="0"/>
          </a:p>
        </p:txBody>
      </p:sp>
      <p:sp>
        <p:nvSpPr>
          <p:cNvPr id="20" name="Text 17"/>
          <p:cNvSpPr txBox="1"/>
          <p:nvPr/>
        </p:nvSpPr>
        <p:spPr>
          <a:xfrm>
            <a:off x="9187434"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Listen for the question word.</a:t>
            </a:r>
            <a:endParaRPr lang="en-US" sz="1150" dirty="0"/>
          </a:p>
        </p:txBody>
      </p:sp>
      <p:sp>
        <p:nvSpPr>
          <p:cNvPr id="21" name="Text 18"/>
          <p:cNvSpPr txBox="1"/>
          <p:nvPr/>
        </p:nvSpPr>
        <p:spPr>
          <a:xfrm>
            <a:off x="8867394"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cs typeface="Amiri" pitchFamily="2" charset="-78"/>
              </a:rPr>
              <a:t>←</a:t>
            </a:r>
            <a:endParaRPr lang="en-US" sz="1400" dirty="0"/>
          </a:p>
        </p:txBody>
      </p:sp>
      <p:sp>
        <p:nvSpPr>
          <p:cNvPr id="22" name="Shape 19"/>
          <p:cNvSpPr/>
          <p:nvPr/>
        </p:nvSpPr>
        <p:spPr>
          <a:xfrm>
            <a:off x="6185916"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8355330" y="1938528"/>
            <a:ext cx="384048" cy="384048"/>
          </a:xfrm>
          <a:prstGeom prst="ellipse">
            <a:avLst/>
          </a:prstGeom>
          <a:solidFill>
            <a:srgbClr val="6B4C9A"/>
          </a:solidFill>
          <a:ln w="12700">
            <a:solidFill>
              <a:srgbClr val="6B4C9A"/>
            </a:solidFill>
            <a:prstDash val="solid"/>
          </a:ln>
        </p:spPr>
      </p:sp>
      <p:sp>
        <p:nvSpPr>
          <p:cNvPr id="24" name="Text 21"/>
          <p:cNvSpPr txBox="1"/>
          <p:nvPr/>
        </p:nvSpPr>
        <p:spPr>
          <a:xfrm>
            <a:off x="8355330"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2</a:t>
            </a:r>
            <a:endParaRPr lang="en-US" sz="1400" dirty="0"/>
          </a:p>
        </p:txBody>
      </p:sp>
      <p:sp>
        <p:nvSpPr>
          <p:cNvPr id="25" name="Text 22"/>
          <p:cNvSpPr txBox="1"/>
          <p:nvPr/>
        </p:nvSpPr>
        <p:spPr>
          <a:xfrm>
            <a:off x="6323076"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2 · Order</a:t>
            </a:r>
            <a:endParaRPr lang="en-US" sz="1250" dirty="0"/>
          </a:p>
        </p:txBody>
      </p:sp>
      <p:sp>
        <p:nvSpPr>
          <p:cNvPr id="26" name="Text 23"/>
          <p:cNvSpPr txBox="1"/>
          <p:nvPr/>
        </p:nvSpPr>
        <p:spPr>
          <a:xfrm>
            <a:off x="6295644" y="2450592"/>
            <a:ext cx="2462022" cy="914400"/>
          </a:xfrm>
          <a:prstGeom prst="rect">
            <a:avLst/>
          </a:prstGeom>
          <a:noFill/>
          <a:ln/>
        </p:spPr>
        <p:txBody>
          <a:bodyPr wrap="square" lIns="0" tIns="0" rIns="0" bIns="0" rtlCol="0" anchor="ctr"/>
          <a:lstStyle/>
          <a:p>
            <a:pPr rtl="1" algn="ctr" indent="0" marL="0">
              <a:lnSpc>
                <a:spcPct val="120000"/>
              </a:lnSpc>
              <a:buNone/>
            </a:pPr>
            <a:r>
              <a:rPr lang="ar-SA" altLang="en-US" sz="1750" b="1" dirty="0">
                <a:solidFill>
                  <a:srgbClr val="1B3B6F"/>
                </a:solidFill>
                <a:latin typeface="Amiri" pitchFamily="2" charset="-78"/>
                <a:ea typeface="Amiri" pitchFamily="2" charset="-78"/>
                <a:cs typeface="Amiri" pitchFamily="2" charset="-78"/>
              </a:rPr>
              <a:t>الزَّبُونُ: </a:t>
            </a:r>
            <a:pPr rtl="1" algn="ctr" indent="0" marL="0">
              <a:lnSpc>
                <a:spcPct val="120000"/>
              </a:lnSpc>
              <a:buNone/>
            </a:pPr>
            <a:r>
              <a:rPr lang="ar-SA" altLang="en-US" sz="1750" b="1" dirty="0">
                <a:solidFill>
                  <a:srgbClr val="1D5FBF"/>
                </a:solidFill>
                <a:latin typeface="Amiri" pitchFamily="2" charset="-78"/>
                <a:ea typeface="Amiri" pitchFamily="2" charset="-78"/>
                <a:cs typeface="Amiri" pitchFamily="2" charset="-78"/>
              </a:rPr>
              <a:t>أُرِيدُ</a:t>
            </a:r>
            <a:pPr rtl="1" algn="ctr" indent="0" marL="0">
              <a:lnSpc>
                <a:spcPct val="120000"/>
              </a:lnSpc>
              <a:buNone/>
            </a:pPr>
            <a:r>
              <a:rPr lang="ar-SA" altLang="en-US" sz="1750" b="1" dirty="0">
                <a:solidFill>
                  <a:srgbClr val="1B3B6F"/>
                </a:solidFill>
                <a:latin typeface="Amiri" pitchFamily="2" charset="-78"/>
                <a:ea typeface="Amiri" pitchFamily="2" charset="-78"/>
                <a:cs typeface="Amiri" pitchFamily="2" charset="-78"/>
              </a:rPr>
              <a:t> حَسَاءً وَسَانْدَوِيتْشًا، </a:t>
            </a:r>
            <a:pPr rtl="1" algn="ctr" indent="0" marL="0">
              <a:lnSpc>
                <a:spcPct val="120000"/>
              </a:lnSpc>
              <a:buNone/>
            </a:pPr>
            <a:r>
              <a:rPr lang="ar-SA" altLang="en-US" sz="1750" b="1" dirty="0">
                <a:solidFill>
                  <a:srgbClr val="D6336C"/>
                </a:solidFill>
                <a:latin typeface="Amiri" pitchFamily="2" charset="-78"/>
                <a:ea typeface="Amiri" pitchFamily="2" charset="-78"/>
                <a:cs typeface="Amiri" pitchFamily="2" charset="-78"/>
              </a:rPr>
              <a:t>مِنْ فَضْلِكَ</a:t>
            </a:r>
            <a:pPr rtl="1" algn="ctr" indent="0" marL="0">
              <a:lnSpc>
                <a:spcPct val="120000"/>
              </a:lnSpc>
              <a:buNone/>
            </a:pPr>
            <a:r>
              <a:rPr lang="ar-SA" altLang="en-US" sz="1750" b="1" dirty="0">
                <a:solidFill>
                  <a:srgbClr val="1B3B6F"/>
                </a:solidFill>
                <a:latin typeface="Amiri" pitchFamily="2" charset="-78"/>
                <a:cs typeface="Amiri" pitchFamily="2" charset="-78"/>
              </a:rPr>
              <a:t>.</a:t>
            </a:r>
            <a:endParaRPr lang="ar-SA" sz="1750" dirty="0"/>
          </a:p>
        </p:txBody>
      </p:sp>
      <p:sp>
        <p:nvSpPr>
          <p:cNvPr id="27" name="Text 24"/>
          <p:cNvSpPr txBox="1"/>
          <p:nvPr/>
        </p:nvSpPr>
        <p:spPr>
          <a:xfrm>
            <a:off x="6323076"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Item + -an, then please.</a:t>
            </a:r>
            <a:endParaRPr lang="en-US" sz="1150" dirty="0"/>
          </a:p>
        </p:txBody>
      </p:sp>
      <p:sp>
        <p:nvSpPr>
          <p:cNvPr id="28" name="Text 25"/>
          <p:cNvSpPr txBox="1"/>
          <p:nvPr/>
        </p:nvSpPr>
        <p:spPr>
          <a:xfrm>
            <a:off x="6003036"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cs typeface="Amiri" pitchFamily="2" charset="-78"/>
              </a:rPr>
              <a:t>←</a:t>
            </a:r>
            <a:endParaRPr lang="en-US" sz="1400" dirty="0"/>
          </a:p>
        </p:txBody>
      </p:sp>
      <p:sp>
        <p:nvSpPr>
          <p:cNvPr id="29" name="Shape 26"/>
          <p:cNvSpPr/>
          <p:nvPr/>
        </p:nvSpPr>
        <p:spPr>
          <a:xfrm>
            <a:off x="3321558"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5490972" y="1938528"/>
            <a:ext cx="384048" cy="384048"/>
          </a:xfrm>
          <a:prstGeom prst="ellipse">
            <a:avLst/>
          </a:prstGeom>
          <a:solidFill>
            <a:srgbClr val="6B4C9A"/>
          </a:solidFill>
          <a:ln w="12700">
            <a:solidFill>
              <a:srgbClr val="6B4C9A"/>
            </a:solidFill>
            <a:prstDash val="solid"/>
          </a:ln>
        </p:spPr>
      </p:sp>
      <p:sp>
        <p:nvSpPr>
          <p:cNvPr id="31" name="Text 28"/>
          <p:cNvSpPr txBox="1"/>
          <p:nvPr/>
        </p:nvSpPr>
        <p:spPr>
          <a:xfrm>
            <a:off x="5490972"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3</a:t>
            </a:r>
            <a:endParaRPr lang="en-US" sz="1400" dirty="0"/>
          </a:p>
        </p:txBody>
      </p:sp>
      <p:sp>
        <p:nvSpPr>
          <p:cNvPr id="32" name="Text 29"/>
          <p:cNvSpPr txBox="1"/>
          <p:nvPr/>
        </p:nvSpPr>
        <p:spPr>
          <a:xfrm>
            <a:off x="3458718"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3 · Clarify</a:t>
            </a:r>
            <a:endParaRPr lang="en-US" sz="1250" dirty="0"/>
          </a:p>
        </p:txBody>
      </p:sp>
      <p:sp>
        <p:nvSpPr>
          <p:cNvPr id="33" name="Text 30"/>
          <p:cNvSpPr txBox="1"/>
          <p:nvPr/>
        </p:nvSpPr>
        <p:spPr>
          <a:xfrm>
            <a:off x="3431286" y="2450592"/>
            <a:ext cx="2462022" cy="914400"/>
          </a:xfrm>
          <a:prstGeom prst="rect">
            <a:avLst/>
          </a:prstGeom>
          <a:noFill/>
          <a:ln/>
        </p:spPr>
        <p:txBody>
          <a:bodyPr wrap="square" lIns="0" tIns="0" rIns="0" bIns="0" rtlCol="0" anchor="ctr"/>
          <a:lstStyle/>
          <a:p>
            <a:pPr rtl="1" algn="ctr" indent="0" marL="0">
              <a:lnSpc>
                <a:spcPct val="120000"/>
              </a:lnSpc>
              <a:buNone/>
            </a:pPr>
            <a:r>
              <a:rPr lang="ar-SA" altLang="en-US" sz="1750" b="1" dirty="0">
                <a:solidFill>
                  <a:srgbClr val="1B3B6F"/>
                </a:solidFill>
                <a:latin typeface="Amiri" pitchFamily="2" charset="-78"/>
                <a:ea typeface="Amiri" pitchFamily="2" charset="-78"/>
                <a:cs typeface="Amiri" pitchFamily="2" charset="-78"/>
              </a:rPr>
              <a:t>النَّادِلُ: عَصِيرٌ صَغِيرٌ </a:t>
            </a:r>
            <a:pPr rtl="1" algn="ctr" indent="0" marL="0">
              <a:lnSpc>
                <a:spcPct val="120000"/>
              </a:lnSpc>
              <a:buNone/>
            </a:pPr>
            <a:r>
              <a:rPr lang="ar-SA" altLang="en-US" sz="1750" b="1" dirty="0">
                <a:solidFill>
                  <a:srgbClr val="0E7C86"/>
                </a:solidFill>
                <a:latin typeface="Amiri" pitchFamily="2" charset="-78"/>
                <a:ea typeface="Amiri" pitchFamily="2" charset="-78"/>
                <a:cs typeface="Amiri" pitchFamily="2" charset="-78"/>
              </a:rPr>
              <a:t>أَمْ</a:t>
            </a:r>
            <a:pPr rtl="1" algn="ctr" indent="0" marL="0">
              <a:lnSpc>
                <a:spcPct val="120000"/>
              </a:lnSpc>
              <a:buNone/>
            </a:pPr>
            <a:r>
              <a:rPr lang="ar-SA" altLang="en-US" sz="1750" b="1" dirty="0">
                <a:solidFill>
                  <a:srgbClr val="1B3B6F"/>
                </a:solidFill>
                <a:latin typeface="Amiri" pitchFamily="2" charset="-78"/>
                <a:ea typeface="Amiri" pitchFamily="2" charset="-78"/>
                <a:cs typeface="Amiri" pitchFamily="2" charset="-78"/>
              </a:rPr>
              <a:t> كَبِيرٌ؟ — الزَّبُونُ: صَغِيرٌ، شُكْرًا.</a:t>
            </a:r>
            <a:endParaRPr lang="ar-SA" sz="1750" dirty="0"/>
          </a:p>
        </p:txBody>
      </p:sp>
      <p:sp>
        <p:nvSpPr>
          <p:cNvPr id="34" name="Text 31"/>
          <p:cNvSpPr txBox="1"/>
          <p:nvPr/>
        </p:nvSpPr>
        <p:spPr>
          <a:xfrm>
            <a:off x="3458718"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Answer the detail asked.</a:t>
            </a:r>
            <a:endParaRPr lang="en-US" sz="1150" dirty="0"/>
          </a:p>
        </p:txBody>
      </p:sp>
      <p:sp>
        <p:nvSpPr>
          <p:cNvPr id="35" name="Text 32"/>
          <p:cNvSpPr txBox="1"/>
          <p:nvPr/>
        </p:nvSpPr>
        <p:spPr>
          <a:xfrm>
            <a:off x="3138678"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cs typeface="Amiri" pitchFamily="2" charset="-78"/>
              </a:rPr>
              <a:t>←</a:t>
            </a:r>
            <a:endParaRPr lang="en-US" sz="1400" dirty="0"/>
          </a:p>
        </p:txBody>
      </p:sp>
      <p:sp>
        <p:nvSpPr>
          <p:cNvPr id="36" name="Shape 33"/>
          <p:cNvSpPr/>
          <p:nvPr/>
        </p:nvSpPr>
        <p:spPr>
          <a:xfrm>
            <a:off x="457200"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7" name="Shape 34"/>
          <p:cNvSpPr/>
          <p:nvPr/>
        </p:nvSpPr>
        <p:spPr>
          <a:xfrm>
            <a:off x="2626614" y="1938528"/>
            <a:ext cx="384048" cy="384048"/>
          </a:xfrm>
          <a:prstGeom prst="ellipse">
            <a:avLst/>
          </a:prstGeom>
          <a:solidFill>
            <a:srgbClr val="6B4C9A"/>
          </a:solidFill>
          <a:ln w="12700">
            <a:solidFill>
              <a:srgbClr val="6B4C9A"/>
            </a:solidFill>
            <a:prstDash val="solid"/>
          </a:ln>
        </p:spPr>
      </p:sp>
      <p:sp>
        <p:nvSpPr>
          <p:cNvPr id="38" name="Text 35"/>
          <p:cNvSpPr txBox="1"/>
          <p:nvPr/>
        </p:nvSpPr>
        <p:spPr>
          <a:xfrm>
            <a:off x="2626614"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4</a:t>
            </a:r>
            <a:endParaRPr lang="en-US" sz="1400" dirty="0"/>
          </a:p>
        </p:txBody>
      </p:sp>
      <p:sp>
        <p:nvSpPr>
          <p:cNvPr id="39" name="Text 36"/>
          <p:cNvSpPr txBox="1"/>
          <p:nvPr/>
        </p:nvSpPr>
        <p:spPr>
          <a:xfrm>
            <a:off x="594360"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4 · Close</a:t>
            </a:r>
            <a:endParaRPr lang="en-US" sz="1250" dirty="0"/>
          </a:p>
        </p:txBody>
      </p:sp>
      <p:sp>
        <p:nvSpPr>
          <p:cNvPr id="40" name="Text 37"/>
          <p:cNvSpPr txBox="1"/>
          <p:nvPr/>
        </p:nvSpPr>
        <p:spPr>
          <a:xfrm>
            <a:off x="566928" y="2450592"/>
            <a:ext cx="2462022" cy="914400"/>
          </a:xfrm>
          <a:prstGeom prst="rect">
            <a:avLst/>
          </a:prstGeom>
          <a:noFill/>
          <a:ln/>
        </p:spPr>
        <p:txBody>
          <a:bodyPr wrap="square" lIns="0" tIns="0" rIns="0" bIns="0" rtlCol="0" anchor="ctr"/>
          <a:lstStyle/>
          <a:p>
            <a:pPr rtl="1" algn="ctr" indent="0" marL="0">
              <a:lnSpc>
                <a:spcPct val="120000"/>
              </a:lnSpc>
              <a:buNone/>
            </a:pPr>
            <a:r>
              <a:rPr lang="ar-SA" altLang="en-US" sz="1750" b="1" dirty="0">
                <a:solidFill>
                  <a:srgbClr val="1B3B6F"/>
                </a:solidFill>
                <a:latin typeface="Amiri" pitchFamily="2" charset="-78"/>
                <a:ea typeface="Amiri" pitchFamily="2" charset="-78"/>
                <a:cs typeface="Amiri" pitchFamily="2" charset="-78"/>
              </a:rPr>
              <a:t>الزَّبُونُ: لَا، شُكْرًا. الحِسَابُ، </a:t>
            </a:r>
            <a:pPr rtl="1" algn="ctr" indent="0" marL="0">
              <a:lnSpc>
                <a:spcPct val="120000"/>
              </a:lnSpc>
              <a:buNone/>
            </a:pPr>
            <a:r>
              <a:rPr lang="ar-SA" altLang="en-US" sz="1750" b="1" dirty="0">
                <a:solidFill>
                  <a:srgbClr val="D6336C"/>
                </a:solidFill>
                <a:latin typeface="Amiri" pitchFamily="2" charset="-78"/>
                <a:ea typeface="Amiri" pitchFamily="2" charset="-78"/>
                <a:cs typeface="Amiri" pitchFamily="2" charset="-78"/>
              </a:rPr>
              <a:t>مِنْ فَضْلِكَ</a:t>
            </a:r>
            <a:pPr rtl="1" algn="ctr" indent="0" marL="0">
              <a:lnSpc>
                <a:spcPct val="120000"/>
              </a:lnSpc>
              <a:buNone/>
            </a:pPr>
            <a:r>
              <a:rPr lang="ar-SA" altLang="en-US" sz="1750" b="1" dirty="0">
                <a:solidFill>
                  <a:srgbClr val="1B3B6F"/>
                </a:solidFill>
                <a:latin typeface="Amiri" pitchFamily="2" charset="-78"/>
                <a:cs typeface="Amiri" pitchFamily="2" charset="-78"/>
              </a:rPr>
              <a:t>.</a:t>
            </a:r>
            <a:endParaRPr lang="ar-SA" sz="1750" dirty="0"/>
          </a:p>
        </p:txBody>
      </p:sp>
      <p:sp>
        <p:nvSpPr>
          <p:cNvPr id="41" name="Text 38"/>
          <p:cNvSpPr txBox="1"/>
          <p:nvPr/>
        </p:nvSpPr>
        <p:spPr>
          <a:xfrm>
            <a:off x="594360"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Bill + please.</a:t>
            </a:r>
            <a:endParaRPr lang="en-US" sz="1150" dirty="0"/>
          </a:p>
        </p:txBody>
      </p:sp>
      <p:sp>
        <p:nvSpPr>
          <p:cNvPr id="42" name="Shape 39"/>
          <p:cNvSpPr/>
          <p:nvPr/>
        </p:nvSpPr>
        <p:spPr>
          <a:xfrm>
            <a:off x="457200" y="4480560"/>
            <a:ext cx="11274552" cy="1828800"/>
          </a:xfrm>
          <a:prstGeom prst="roundRect">
            <a:avLst>
              <a:gd name="adj" fmla="val 4000"/>
            </a:avLst>
          </a:prstGeom>
          <a:solidFill>
            <a:srgbClr val="F1ECF8"/>
          </a:solidFill>
          <a:ln w="9525">
            <a:solidFill>
              <a:srgbClr val="CFC2E3"/>
            </a:solidFill>
            <a:prstDash val="solid"/>
          </a:ln>
          <a:effectLst>
            <a:outerShdw sx="100000" sy="100000" kx="0" ky="0" algn="bl" rotWithShape="0" blurRad="50800" dist="19050" dir="5400000">
              <a:srgbClr val="000000">
                <a:alpha val="10000"/>
              </a:srgbClr>
            </a:outerShdw>
          </a:effectLst>
        </p:spPr>
      </p:sp>
      <p:pic>
        <p:nvPicPr>
          <p:cNvPr id="43" name="Image 0" descr="preencoded.png">    </p:cNvPr>
          <p:cNvPicPr>
            <a:picLocks noChangeAspect="1"/>
          </p:cNvPicPr>
          <p:nvPr/>
        </p:nvPicPr>
        <p:blipFill>
          <a:blip r:embed="rId1"/>
          <a:stretch>
            <a:fillRect/>
          </a:stretch>
        </p:blipFill>
        <p:spPr>
          <a:xfrm>
            <a:off x="685800" y="4663440"/>
            <a:ext cx="457200" cy="457200"/>
          </a:xfrm>
          <a:prstGeom prst="rect">
            <a:avLst/>
          </a:prstGeom>
        </p:spPr>
      </p:pic>
      <p:sp>
        <p:nvSpPr>
          <p:cNvPr id="44" name="Text 40"/>
          <p:cNvSpPr txBox="1"/>
          <p:nvPr/>
        </p:nvSpPr>
        <p:spPr>
          <a:xfrm>
            <a:off x="1280160" y="4736592"/>
            <a:ext cx="3657600" cy="310896"/>
          </a:xfrm>
          <a:prstGeom prst="rect">
            <a:avLst/>
          </a:prstGeom>
          <a:noFill/>
          <a:ln/>
        </p:spPr>
        <p:txBody>
          <a:bodyPr wrap="square" lIns="0" tIns="0" rIns="0" bIns="0" rtlCol="0" anchor="ctr"/>
          <a:lstStyle/>
          <a:p>
            <a:pPr algn="l" indent="0" marL="0">
              <a:buNone/>
            </a:pPr>
            <a:r>
              <a:rPr lang="en-US" sz="1200" b="1" spc="200" kern="0" dirty="0">
                <a:solidFill>
                  <a:srgbClr val="6B4C9A"/>
                </a:solidFill>
                <a:latin typeface="Calibri" pitchFamily="34" charset="0"/>
                <a:cs typeface="Amiri" pitchFamily="2" charset="-78"/>
              </a:rPr>
              <a:t>COPY THIS INTO YOUR BOOK</a:t>
            </a:r>
            <a:endParaRPr lang="en-US" sz="1200" dirty="0"/>
          </a:p>
        </p:txBody>
      </p:sp>
      <p:sp>
        <p:nvSpPr>
          <p:cNvPr id="45" name="Shape 41"/>
          <p:cNvSpPr/>
          <p:nvPr/>
        </p:nvSpPr>
        <p:spPr>
          <a:xfrm>
            <a:off x="8540496" y="4736592"/>
            <a:ext cx="914400" cy="237744"/>
          </a:xfrm>
          <a:prstGeom prst="roundRect">
            <a:avLst>
              <a:gd name="adj" fmla="val 50000"/>
            </a:avLst>
          </a:prstGeom>
          <a:solidFill>
            <a:srgbClr val="1D5FBF"/>
          </a:solidFill>
          <a:ln w="12700">
            <a:solidFill>
              <a:srgbClr val="1D5FBF"/>
            </a:solidFill>
            <a:prstDash val="solid"/>
          </a:ln>
        </p:spPr>
      </p:sp>
      <p:sp>
        <p:nvSpPr>
          <p:cNvPr id="46" name="Text 42"/>
          <p:cNvSpPr txBox="1"/>
          <p:nvPr/>
        </p:nvSpPr>
        <p:spPr>
          <a:xfrm>
            <a:off x="8540496" y="4736592"/>
            <a:ext cx="914400" cy="237744"/>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REQUEST</a:t>
            </a:r>
            <a:endParaRPr lang="en-US" sz="800" dirty="0"/>
          </a:p>
        </p:txBody>
      </p:sp>
      <p:sp>
        <p:nvSpPr>
          <p:cNvPr id="47" name="Shape 43"/>
          <p:cNvSpPr/>
          <p:nvPr/>
        </p:nvSpPr>
        <p:spPr>
          <a:xfrm>
            <a:off x="9528048" y="4736592"/>
            <a:ext cx="914400" cy="237744"/>
          </a:xfrm>
          <a:prstGeom prst="roundRect">
            <a:avLst>
              <a:gd name="adj" fmla="val 50000"/>
            </a:avLst>
          </a:prstGeom>
          <a:solidFill>
            <a:srgbClr val="D6336C"/>
          </a:solidFill>
          <a:ln w="12700">
            <a:solidFill>
              <a:srgbClr val="D6336C"/>
            </a:solidFill>
            <a:prstDash val="solid"/>
          </a:ln>
        </p:spPr>
      </p:sp>
      <p:sp>
        <p:nvSpPr>
          <p:cNvPr id="48" name="Text 44"/>
          <p:cNvSpPr txBox="1"/>
          <p:nvPr/>
        </p:nvSpPr>
        <p:spPr>
          <a:xfrm>
            <a:off x="9528048" y="4736592"/>
            <a:ext cx="914400" cy="237744"/>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POLITE</a:t>
            </a:r>
            <a:endParaRPr lang="en-US" sz="800" dirty="0"/>
          </a:p>
        </p:txBody>
      </p:sp>
      <p:sp>
        <p:nvSpPr>
          <p:cNvPr id="49" name="Shape 45"/>
          <p:cNvSpPr/>
          <p:nvPr/>
        </p:nvSpPr>
        <p:spPr>
          <a:xfrm>
            <a:off x="10515600" y="4736592"/>
            <a:ext cx="914400" cy="237744"/>
          </a:xfrm>
          <a:prstGeom prst="roundRect">
            <a:avLst>
              <a:gd name="adj" fmla="val 50000"/>
            </a:avLst>
          </a:prstGeom>
          <a:solidFill>
            <a:srgbClr val="0E7C86"/>
          </a:solidFill>
          <a:ln w="12700">
            <a:solidFill>
              <a:srgbClr val="0E7C86"/>
            </a:solidFill>
            <a:prstDash val="solid"/>
          </a:ln>
        </p:spPr>
      </p:sp>
      <p:sp>
        <p:nvSpPr>
          <p:cNvPr id="50" name="Text 46"/>
          <p:cNvSpPr txBox="1"/>
          <p:nvPr/>
        </p:nvSpPr>
        <p:spPr>
          <a:xfrm>
            <a:off x="10515600" y="4736592"/>
            <a:ext cx="914400" cy="237744"/>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CHOICE</a:t>
            </a:r>
            <a:endParaRPr lang="en-US" sz="800" dirty="0"/>
          </a:p>
        </p:txBody>
      </p:sp>
      <p:sp>
        <p:nvSpPr>
          <p:cNvPr id="51" name="Text 47"/>
          <p:cNvSpPr txBox="1"/>
          <p:nvPr/>
        </p:nvSpPr>
        <p:spPr>
          <a:xfrm>
            <a:off x="685800" y="5029200"/>
            <a:ext cx="10817352" cy="731520"/>
          </a:xfrm>
          <a:prstGeom prst="rect">
            <a:avLst/>
          </a:prstGeom>
          <a:noFill/>
          <a:ln/>
        </p:spPr>
        <p:txBody>
          <a:bodyPr wrap="square" lIns="0" tIns="0" rIns="0" bIns="0" rtlCol="0" anchor="ctr"/>
          <a:lstStyle/>
          <a:p>
            <a:pPr rtl="1" algn="r" indent="0" marL="0">
              <a:lnSpc>
                <a:spcPct val="120000"/>
              </a:lnSpc>
              <a:buNone/>
            </a:pPr>
            <a:r>
              <a:rPr lang="ar-SA" altLang="en-US" sz="1400" b="1" dirty="0">
                <a:solidFill>
                  <a:srgbClr val="1B3B6F"/>
                </a:solidFill>
                <a:latin typeface="Amiri" pitchFamily="2" charset="-78"/>
                <a:ea typeface="Amiri" pitchFamily="2" charset="-78"/>
                <a:cs typeface="Amiri" pitchFamily="2" charset="-78"/>
              </a:rPr>
              <a:t>النَّادِلُ: مَرْحَبًا. مَاذَا تُرِيدُ؟ — الزَّبُونُ: </a:t>
            </a:r>
            <a:pPr rtl="1" algn="r" indent="0" marL="0">
              <a:lnSpc>
                <a:spcPct val="120000"/>
              </a:lnSpc>
              <a:buNone/>
            </a:pPr>
            <a:r>
              <a:rPr lang="ar-SA" altLang="en-US" sz="1400" b="1" dirty="0">
                <a:solidFill>
                  <a:srgbClr val="1D5FBF"/>
                </a:solidFill>
                <a:latin typeface="Amiri" pitchFamily="2" charset="-78"/>
                <a:ea typeface="Amiri" pitchFamily="2" charset="-78"/>
                <a:cs typeface="Amiri" pitchFamily="2" charset="-78"/>
              </a:rPr>
              <a:t>أُرِيدُ</a:t>
            </a:r>
            <a:pPr rtl="1" algn="r" indent="0" marL="0">
              <a:lnSpc>
                <a:spcPct val="120000"/>
              </a:lnSpc>
              <a:buNone/>
            </a:pPr>
            <a:r>
              <a:rPr lang="ar-SA" altLang="en-US" sz="1400" b="1" dirty="0">
                <a:solidFill>
                  <a:srgbClr val="1B3B6F"/>
                </a:solidFill>
                <a:latin typeface="Amiri" pitchFamily="2" charset="-78"/>
                <a:ea typeface="Amiri" pitchFamily="2" charset="-78"/>
                <a:cs typeface="Amiri" pitchFamily="2" charset="-78"/>
              </a:rPr>
              <a:t> حَسَاءً وَسَانْدَوِيتْشًا، </a:t>
            </a:r>
            <a:pPr rtl="1" algn="r" indent="0" marL="0">
              <a:lnSpc>
                <a:spcPct val="120000"/>
              </a:lnSpc>
              <a:buNone/>
            </a:pPr>
            <a:r>
              <a:rPr lang="ar-SA" altLang="en-US" sz="1400" b="1" dirty="0">
                <a:solidFill>
                  <a:srgbClr val="D6336C"/>
                </a:solidFill>
                <a:latin typeface="Amiri" pitchFamily="2" charset="-78"/>
                <a:ea typeface="Amiri" pitchFamily="2" charset="-78"/>
                <a:cs typeface="Amiri" pitchFamily="2" charset="-78"/>
              </a:rPr>
              <a:t>مِنْ فَضْلِكَ</a:t>
            </a:r>
            <a:pPr rtl="1" algn="r" indent="0" marL="0">
              <a:lnSpc>
                <a:spcPct val="120000"/>
              </a:lnSpc>
              <a:buNone/>
            </a:pPr>
            <a:r>
              <a:rPr lang="ar-SA" altLang="en-US" sz="1400" b="1" dirty="0">
                <a:solidFill>
                  <a:srgbClr val="1B3B6F"/>
                </a:solidFill>
                <a:latin typeface="Amiri" pitchFamily="2" charset="-78"/>
                <a:ea typeface="Amiri" pitchFamily="2" charset="-78"/>
                <a:cs typeface="Amiri" pitchFamily="2" charset="-78"/>
              </a:rPr>
              <a:t>. — النَّادِلُ: هَلْ تُرِيدُ شَيْئًا لِلشُّرْبِ؟ — الزَّبُونُ: نَعَمْ، عَصِيرَ تُفَّاحٍ. — النَّادِلُ: صَغِيرًا </a:t>
            </a:r>
            <a:pPr rtl="1" algn="r" indent="0" marL="0">
              <a:lnSpc>
                <a:spcPct val="120000"/>
              </a:lnSpc>
              <a:buNone/>
            </a:pPr>
            <a:r>
              <a:rPr lang="ar-SA" altLang="en-US" sz="1400" b="1" dirty="0">
                <a:solidFill>
                  <a:srgbClr val="0E7C86"/>
                </a:solidFill>
                <a:latin typeface="Amiri" pitchFamily="2" charset="-78"/>
                <a:ea typeface="Amiri" pitchFamily="2" charset="-78"/>
                <a:cs typeface="Amiri" pitchFamily="2" charset="-78"/>
              </a:rPr>
              <a:t>أَمْ</a:t>
            </a:r>
            <a:pPr rtl="1" algn="r" indent="0" marL="0">
              <a:lnSpc>
                <a:spcPct val="120000"/>
              </a:lnSpc>
              <a:buNone/>
            </a:pPr>
            <a:r>
              <a:rPr lang="ar-SA" altLang="en-US" sz="1400" b="1" dirty="0">
                <a:solidFill>
                  <a:srgbClr val="1B3B6F"/>
                </a:solidFill>
                <a:latin typeface="Amiri" pitchFamily="2" charset="-78"/>
                <a:ea typeface="Amiri" pitchFamily="2" charset="-78"/>
                <a:cs typeface="Amiri" pitchFamily="2" charset="-78"/>
              </a:rPr>
              <a:t> كَبِيرًا؟ — الزَّبُونُ: صَغِيرًا، شُكْرًا. — النَّادِلُ: شَيْءٌ آخَرُ؟ — الزَّبُونُ: لَا، الحِسَابُ </a:t>
            </a:r>
            <a:pPr rtl="1" algn="r" indent="0" marL="0">
              <a:lnSpc>
                <a:spcPct val="120000"/>
              </a:lnSpc>
              <a:buNone/>
            </a:pPr>
            <a:r>
              <a:rPr lang="ar-SA" altLang="en-US" sz="1400" b="1" dirty="0">
                <a:solidFill>
                  <a:srgbClr val="D6336C"/>
                </a:solidFill>
                <a:latin typeface="Amiri" pitchFamily="2" charset="-78"/>
                <a:ea typeface="Amiri" pitchFamily="2" charset="-78"/>
                <a:cs typeface="Amiri" pitchFamily="2" charset="-78"/>
              </a:rPr>
              <a:t>مِنْ فَضْلِكَ</a:t>
            </a:r>
            <a:pPr rtl="1" algn="r" indent="0" marL="0">
              <a:lnSpc>
                <a:spcPct val="120000"/>
              </a:lnSpc>
              <a:buNone/>
            </a:pPr>
            <a:r>
              <a:rPr lang="ar-SA" altLang="en-US" sz="1400" b="1" dirty="0">
                <a:solidFill>
                  <a:srgbClr val="1B3B6F"/>
                </a:solidFill>
                <a:latin typeface="Amiri" pitchFamily="2" charset="-78"/>
                <a:cs typeface="Amiri" pitchFamily="2" charset="-78"/>
              </a:rPr>
              <a:t>.</a:t>
            </a:r>
            <a:endParaRPr lang="ar-SA" sz="1400" dirty="0"/>
          </a:p>
        </p:txBody>
      </p:sp>
      <p:sp>
        <p:nvSpPr>
          <p:cNvPr id="52" name="Text 48"/>
          <p:cNvSpPr txBox="1"/>
          <p:nvPr/>
        </p:nvSpPr>
        <p:spPr>
          <a:xfrm>
            <a:off x="685800" y="5760720"/>
            <a:ext cx="10817352" cy="365760"/>
          </a:xfrm>
          <a:prstGeom prst="rect">
            <a:avLst/>
          </a:prstGeom>
          <a:noFill/>
          <a:ln/>
        </p:spPr>
        <p:txBody>
          <a:bodyPr wrap="square" lIns="0" tIns="0" rIns="0" bIns="0" rtlCol="0" anchor="ctr"/>
          <a:lstStyle/>
          <a:p>
            <a:pPr algn="r" indent="0" marL="0">
              <a:buNone/>
            </a:pPr>
            <a:r>
              <a:rPr lang="en-US" sz="1100" i="1" dirty="0">
                <a:solidFill>
                  <a:srgbClr val="5A6472"/>
                </a:solidFill>
                <a:latin typeface="Calibri" pitchFamily="34" charset="0"/>
                <a:cs typeface="Amiri" pitchFamily="2" charset="-78"/>
              </a:rPr>
              <a:t>Waiter: Hello. What would you like? — Customer: I would like soup and a sandwich, please. — Would you like something to drink? — Yes, apple juice. — Small or large? — Small, thank you. — Anything else? — No, the bill please.</a:t>
            </a:r>
            <a:endParaRPr lang="en-US" sz="1100" dirty="0"/>
          </a:p>
        </p:txBody>
      </p:sp>
      <p:sp>
        <p:nvSpPr>
          <p:cNvPr id="53" name="Text 49"/>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18 / 43</a:t>
            </a:r>
            <a:endParaRPr lang="en-US" sz="8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F5-L05 · Ordering Politely</a:t>
            </a:r>
            <a:endParaRPr lang="en-US" sz="950" dirty="0"/>
          </a:p>
        </p:txBody>
      </p:sp>
      <p:sp>
        <p:nvSpPr>
          <p:cNvPr id="8" name="Shape 6"/>
          <p:cNvSpPr/>
          <p:nvPr/>
        </p:nvSpPr>
        <p:spPr>
          <a:xfrm>
            <a:off x="7388352" y="274320"/>
            <a:ext cx="1371600" cy="329184"/>
          </a:xfrm>
          <a:prstGeom prst="roundRect">
            <a:avLst>
              <a:gd name="adj" fmla="val 50000"/>
            </a:avLst>
          </a:prstGeom>
          <a:solidFill>
            <a:srgbClr val="6B4C9A"/>
          </a:solidFill>
          <a:ln w="12700">
            <a:solidFill>
              <a:srgbClr val="6B4C9A"/>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I DO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6B4C9A"/>
                </a:solidFill>
                <a:latin typeface="Calibri" pitchFamily="34" charset="0"/>
                <a:cs typeface="Amiri" pitchFamily="2" charset="-78"/>
              </a:rPr>
              <a:t>I DO · MODEL SENTENCES FROM THE WEBSITE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Sentences to borrow</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جُمَلٌ نَمُوذَجِيَّةٌ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F5 · Food, Health and Body · F5-L05</a:t>
            </a:r>
            <a:endParaRPr lang="en-US" sz="850" dirty="0"/>
          </a:p>
        </p:txBody>
      </p:sp>
      <p:sp>
        <p:nvSpPr>
          <p:cNvPr id="15" name="Shape 12"/>
          <p:cNvSpPr/>
          <p:nvPr/>
        </p:nvSpPr>
        <p:spPr>
          <a:xfrm>
            <a:off x="457200" y="1810512"/>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201400" y="2123694"/>
            <a:ext cx="402336" cy="402336"/>
          </a:xfrm>
          <a:prstGeom prst="ellipse">
            <a:avLst/>
          </a:prstGeom>
          <a:solidFill>
            <a:srgbClr val="1B3B6F"/>
          </a:solidFill>
          <a:ln w="12700">
            <a:solidFill>
              <a:srgbClr val="1B3B6F"/>
            </a:solidFill>
            <a:prstDash val="solid"/>
          </a:ln>
        </p:spPr>
      </p:sp>
      <p:sp>
        <p:nvSpPr>
          <p:cNvPr id="17" name="Text 14"/>
          <p:cNvSpPr txBox="1"/>
          <p:nvPr/>
        </p:nvSpPr>
        <p:spPr>
          <a:xfrm>
            <a:off x="11201400" y="2123694"/>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1</a:t>
            </a:r>
            <a:endParaRPr lang="en-US" sz="1300" dirty="0"/>
          </a:p>
        </p:txBody>
      </p:sp>
      <p:sp>
        <p:nvSpPr>
          <p:cNvPr id="18" name="Text 15"/>
          <p:cNvSpPr txBox="1"/>
          <p:nvPr/>
        </p:nvSpPr>
        <p:spPr>
          <a:xfrm>
            <a:off x="4572000" y="1847088"/>
            <a:ext cx="6492240" cy="955548"/>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ea typeface="Amiri" pitchFamily="2" charset="-78"/>
                <a:cs typeface="Amiri" pitchFamily="2" charset="-78"/>
              </a:rPr>
              <a:t>أُرِيدُ حَسَاءَ العَدَسِ وَسَلَطَةً، مِنْ فَضْلِكَ.</a:t>
            </a:r>
            <a:endParaRPr lang="ar-SA" sz="2600" dirty="0"/>
          </a:p>
        </p:txBody>
      </p:sp>
      <p:sp>
        <p:nvSpPr>
          <p:cNvPr id="19" name="Text 16"/>
          <p:cNvSpPr txBox="1"/>
          <p:nvPr/>
        </p:nvSpPr>
        <p:spPr>
          <a:xfrm>
            <a:off x="685800" y="1856232"/>
            <a:ext cx="3749040" cy="937260"/>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I would like lentil soup and a salad, please.</a:t>
            </a:r>
            <a:endParaRPr lang="en-US" sz="1250" dirty="0"/>
          </a:p>
          <a:p>
            <a:pPr indent="0" marL="0">
              <a:buNone/>
            </a:pPr>
            <a:r>
              <a:rPr lang="ar-SA" sz="1050" i="1" dirty="0">
                <a:solidFill>
                  <a:srgbClr val="8A6D1E"/>
                </a:solidFill>
                <a:latin typeface="Calibri" pitchFamily="34" charset="0"/>
                <a:ea typeface="Amiri" pitchFamily="2" charset="-78"/>
                <a:cs typeface="Amiri" pitchFamily="2" charset="-78"/>
              </a:rPr>
              <a:t>Use أُرِيدُ + item and finish with politeness.</a:t>
            </a:r>
            <a:endParaRPr lang="en-US" sz="1250" dirty="0"/>
          </a:p>
        </p:txBody>
      </p:sp>
      <p:sp>
        <p:nvSpPr>
          <p:cNvPr id="20" name="Shape 17"/>
          <p:cNvSpPr/>
          <p:nvPr/>
        </p:nvSpPr>
        <p:spPr>
          <a:xfrm>
            <a:off x="457200" y="2967228"/>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11201400" y="3280410"/>
            <a:ext cx="402336" cy="402336"/>
          </a:xfrm>
          <a:prstGeom prst="ellipse">
            <a:avLst/>
          </a:prstGeom>
          <a:solidFill>
            <a:srgbClr val="1B3B6F"/>
          </a:solidFill>
          <a:ln w="12700">
            <a:solidFill>
              <a:srgbClr val="1B3B6F"/>
            </a:solidFill>
            <a:prstDash val="solid"/>
          </a:ln>
        </p:spPr>
      </p:sp>
      <p:sp>
        <p:nvSpPr>
          <p:cNvPr id="22" name="Text 19"/>
          <p:cNvSpPr txBox="1"/>
          <p:nvPr/>
        </p:nvSpPr>
        <p:spPr>
          <a:xfrm>
            <a:off x="11201400" y="3280410"/>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2</a:t>
            </a:r>
            <a:endParaRPr lang="en-US" sz="1300" dirty="0"/>
          </a:p>
        </p:txBody>
      </p:sp>
      <p:sp>
        <p:nvSpPr>
          <p:cNvPr id="23" name="Text 20"/>
          <p:cNvSpPr txBox="1"/>
          <p:nvPr/>
        </p:nvSpPr>
        <p:spPr>
          <a:xfrm>
            <a:off x="4572000" y="3003804"/>
            <a:ext cx="6492240" cy="955548"/>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ea typeface="Amiri" pitchFamily="2" charset="-78"/>
                <a:cs typeface="Amiri" pitchFamily="2" charset="-78"/>
              </a:rPr>
              <a:t>هَلْ عِنْدَكُمْ طَعَامٌ نَبَاتِيٌّ؟</a:t>
            </a:r>
            <a:endParaRPr lang="ar-SA" sz="2600" dirty="0"/>
          </a:p>
        </p:txBody>
      </p:sp>
      <p:sp>
        <p:nvSpPr>
          <p:cNvPr id="24" name="Text 21"/>
          <p:cNvSpPr txBox="1"/>
          <p:nvPr/>
        </p:nvSpPr>
        <p:spPr>
          <a:xfrm>
            <a:off x="685800" y="3012948"/>
            <a:ext cx="3749040" cy="937260"/>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Do you have vegetarian food?</a:t>
            </a:r>
            <a:endParaRPr lang="en-US" sz="1250" dirty="0"/>
          </a:p>
          <a:p>
            <a:pPr indent="0" marL="0">
              <a:buNone/>
            </a:pPr>
            <a:r>
              <a:rPr lang="ar-SA" sz="1050" i="1" dirty="0">
                <a:solidFill>
                  <a:srgbClr val="8A6D1E"/>
                </a:solidFill>
                <a:latin typeface="Calibri" pitchFamily="34" charset="0"/>
                <a:ea typeface="Amiri" pitchFamily="2" charset="-78"/>
                <a:cs typeface="Amiri" pitchFamily="2" charset="-78"/>
              </a:rPr>
              <a:t>هَلْ عِنْدَكُمْ checks availability.</a:t>
            </a:r>
            <a:endParaRPr lang="en-US" sz="1250" dirty="0"/>
          </a:p>
        </p:txBody>
      </p:sp>
      <p:sp>
        <p:nvSpPr>
          <p:cNvPr id="25" name="Shape 22"/>
          <p:cNvSpPr/>
          <p:nvPr/>
        </p:nvSpPr>
        <p:spPr>
          <a:xfrm>
            <a:off x="457200" y="4123944"/>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11201400" y="4437126"/>
            <a:ext cx="402336" cy="402336"/>
          </a:xfrm>
          <a:prstGeom prst="ellipse">
            <a:avLst/>
          </a:prstGeom>
          <a:solidFill>
            <a:srgbClr val="1B3B6F"/>
          </a:solidFill>
          <a:ln w="12700">
            <a:solidFill>
              <a:srgbClr val="1B3B6F"/>
            </a:solidFill>
            <a:prstDash val="solid"/>
          </a:ln>
        </p:spPr>
      </p:sp>
      <p:sp>
        <p:nvSpPr>
          <p:cNvPr id="27" name="Text 24"/>
          <p:cNvSpPr txBox="1"/>
          <p:nvPr/>
        </p:nvSpPr>
        <p:spPr>
          <a:xfrm>
            <a:off x="11201400" y="443712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3</a:t>
            </a:r>
            <a:endParaRPr lang="en-US" sz="1300" dirty="0"/>
          </a:p>
        </p:txBody>
      </p:sp>
      <p:sp>
        <p:nvSpPr>
          <p:cNvPr id="28" name="Text 25"/>
          <p:cNvSpPr txBox="1"/>
          <p:nvPr/>
        </p:nvSpPr>
        <p:spPr>
          <a:xfrm>
            <a:off x="4572000" y="4160520"/>
            <a:ext cx="6492240" cy="955548"/>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ea typeface="Amiri" pitchFamily="2" charset="-78"/>
                <a:cs typeface="Amiri" pitchFamily="2" charset="-78"/>
              </a:rPr>
              <a:t>مَاءٌ عَادِيٌّ، مِنْ فَضْلِكِ.</a:t>
            </a:r>
            <a:endParaRPr lang="ar-SA" sz="2600" dirty="0"/>
          </a:p>
        </p:txBody>
      </p:sp>
      <p:sp>
        <p:nvSpPr>
          <p:cNvPr id="29" name="Text 26"/>
          <p:cNvSpPr txBox="1"/>
          <p:nvPr/>
        </p:nvSpPr>
        <p:spPr>
          <a:xfrm>
            <a:off x="685800" y="4169664"/>
            <a:ext cx="3749040" cy="937260"/>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Still water, please.</a:t>
            </a:r>
            <a:endParaRPr lang="en-US" sz="1250" dirty="0"/>
          </a:p>
          <a:p>
            <a:pPr indent="0" marL="0">
              <a:buNone/>
            </a:pPr>
            <a:r>
              <a:rPr lang="en-US" sz="1050" i="1" dirty="0">
                <a:solidFill>
                  <a:srgbClr val="8A6D1E"/>
                </a:solidFill>
                <a:latin typeface="Calibri" pitchFamily="34" charset="0"/>
                <a:cs typeface="Amiri" pitchFamily="2" charset="-78"/>
              </a:rPr>
              <a:t>Short transactional replies can still be complete and polite.</a:t>
            </a:r>
            <a:endParaRPr lang="en-US" sz="1250" dirty="0"/>
          </a:p>
        </p:txBody>
      </p:sp>
      <p:sp>
        <p:nvSpPr>
          <p:cNvPr id="30" name="Shape 27"/>
          <p:cNvSpPr/>
          <p:nvPr/>
        </p:nvSpPr>
        <p:spPr>
          <a:xfrm>
            <a:off x="457200" y="5280660"/>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11201400" y="5593842"/>
            <a:ext cx="402336" cy="402336"/>
          </a:xfrm>
          <a:prstGeom prst="ellipse">
            <a:avLst/>
          </a:prstGeom>
          <a:solidFill>
            <a:srgbClr val="1B3B6F"/>
          </a:solidFill>
          <a:ln w="12700">
            <a:solidFill>
              <a:srgbClr val="1B3B6F"/>
            </a:solidFill>
            <a:prstDash val="solid"/>
          </a:ln>
        </p:spPr>
      </p:sp>
      <p:sp>
        <p:nvSpPr>
          <p:cNvPr id="32" name="Text 29"/>
          <p:cNvSpPr txBox="1"/>
          <p:nvPr/>
        </p:nvSpPr>
        <p:spPr>
          <a:xfrm>
            <a:off x="11201400" y="5593842"/>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4</a:t>
            </a:r>
            <a:endParaRPr lang="en-US" sz="1300" dirty="0"/>
          </a:p>
        </p:txBody>
      </p:sp>
      <p:sp>
        <p:nvSpPr>
          <p:cNvPr id="33" name="Text 30"/>
          <p:cNvSpPr txBox="1"/>
          <p:nvPr/>
        </p:nvSpPr>
        <p:spPr>
          <a:xfrm>
            <a:off x="4572000" y="5317236"/>
            <a:ext cx="6492240" cy="955548"/>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ea typeface="Amiri" pitchFamily="2" charset="-78"/>
                <a:cs typeface="Amiri" pitchFamily="2" charset="-78"/>
              </a:rPr>
              <a:t>الحِسَابُ، لَوْ سَمَحْتَ.</a:t>
            </a:r>
            <a:endParaRPr lang="ar-SA" sz="2600" dirty="0"/>
          </a:p>
        </p:txBody>
      </p:sp>
      <p:sp>
        <p:nvSpPr>
          <p:cNvPr id="34" name="Text 31"/>
          <p:cNvSpPr txBox="1"/>
          <p:nvPr/>
        </p:nvSpPr>
        <p:spPr>
          <a:xfrm>
            <a:off x="685800" y="5326380"/>
            <a:ext cx="3749040" cy="937260"/>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The bill, please.</a:t>
            </a:r>
            <a:endParaRPr lang="en-US" sz="1250" dirty="0"/>
          </a:p>
          <a:p>
            <a:pPr indent="0" marL="0">
              <a:buNone/>
            </a:pPr>
            <a:r>
              <a:rPr lang="en-US" sz="1050" i="1" dirty="0">
                <a:solidFill>
                  <a:srgbClr val="8A6D1E"/>
                </a:solidFill>
                <a:latin typeface="Calibri" pitchFamily="34" charset="0"/>
                <a:cs typeface="Amiri" pitchFamily="2" charset="-78"/>
              </a:rPr>
              <a:t>Use a polite attention phrase to close the transaction.</a:t>
            </a:r>
            <a:endParaRPr lang="en-US" sz="1250" dirty="0"/>
          </a:p>
        </p:txBody>
      </p:sp>
      <p:sp>
        <p:nvSpPr>
          <p:cNvPr id="35" name="Text 3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19 / 43</a:t>
            </a:r>
            <a:endParaRPr lang="en-US" sz="8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F5-L05 · Ordering Politely</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934" b="1" spc="150" kern="0" dirty="0">
                <a:solidFill>
                  <a:srgbClr val="2F6FB0"/>
                </a:solidFill>
                <a:latin typeface="Calibri" pitchFamily="34" charset="0"/>
                <a:cs typeface="Amiri" pitchFamily="2" charset="-78"/>
              </a:rPr>
              <a:t>WE DO · PICTURE MATCH · WEBSITE GAME “VISUAL GAME — ORDERING FOOD POLITELY”</a:t>
            </a:r>
            <a:endParaRPr lang="en-US" sz="934"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At the café: match the picture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طَلَبٌ فِي المَقْهَى</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F5 · Food, Health and Body · F5-L05</a:t>
            </a:r>
            <a:endParaRPr lang="en-US" sz="850" dirty="0"/>
          </a:p>
        </p:txBody>
      </p:sp>
      <p:sp>
        <p:nvSpPr>
          <p:cNvPr id="15" name="Shape 12"/>
          <p:cNvSpPr/>
          <p:nvPr/>
        </p:nvSpPr>
        <p:spPr>
          <a:xfrm>
            <a:off x="8095488"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23504" y="1938528"/>
            <a:ext cx="365760" cy="365760"/>
          </a:xfrm>
          <a:prstGeom prst="ellipse">
            <a:avLst/>
          </a:prstGeom>
          <a:solidFill>
            <a:srgbClr val="1B3B6F"/>
          </a:solidFill>
          <a:ln w="12700">
            <a:solidFill>
              <a:srgbClr val="1B3B6F"/>
            </a:solidFill>
            <a:prstDash val="solid"/>
          </a:ln>
        </p:spPr>
      </p:sp>
      <p:sp>
        <p:nvSpPr>
          <p:cNvPr id="17" name="Text 14"/>
          <p:cNvSpPr txBox="1"/>
          <p:nvPr/>
        </p:nvSpPr>
        <p:spPr>
          <a:xfrm>
            <a:off x="8223504"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1</a:t>
            </a:r>
            <a:endParaRPr lang="en-US" sz="1200" dirty="0"/>
          </a:p>
        </p:txBody>
      </p:sp>
      <p:sp>
        <p:nvSpPr>
          <p:cNvPr id="18" name="Shape 15"/>
          <p:cNvSpPr/>
          <p:nvPr/>
        </p:nvSpPr>
        <p:spPr>
          <a:xfrm>
            <a:off x="8811768" y="2066544"/>
            <a:ext cx="1014984" cy="1014984"/>
          </a:xfrm>
          <a:prstGeom prst="ellipse">
            <a:avLst/>
          </a:prstGeom>
          <a:solidFill>
            <a:srgbClr val="F4F1EA"/>
          </a:solidFill>
          <a:ln w="12700">
            <a:solidFill>
              <a:srgbClr val="F4F1EA"/>
            </a:solidFill>
            <a:prstDash val="solid"/>
          </a:ln>
        </p:spPr>
      </p:sp>
      <p:pic>
        <p:nvPicPr>
          <p:cNvPr id="19" name="Image 0" descr="preencoded.png">    </p:cNvPr>
          <p:cNvPicPr>
            <a:picLocks noChangeAspect="1"/>
          </p:cNvPicPr>
          <p:nvPr/>
        </p:nvPicPr>
        <p:blipFill>
          <a:blip r:embed="rId1"/>
          <a:stretch>
            <a:fillRect/>
          </a:stretch>
        </p:blipFill>
        <p:spPr>
          <a:xfrm>
            <a:off x="8994648" y="2249424"/>
            <a:ext cx="649224" cy="649224"/>
          </a:xfrm>
          <a:prstGeom prst="rect">
            <a:avLst/>
          </a:prstGeom>
        </p:spPr>
      </p:pic>
      <p:sp>
        <p:nvSpPr>
          <p:cNvPr id="20" name="Shape 16"/>
          <p:cNvSpPr/>
          <p:nvPr/>
        </p:nvSpPr>
        <p:spPr>
          <a:xfrm>
            <a:off x="10000488" y="2066544"/>
            <a:ext cx="1014984" cy="1014984"/>
          </a:xfrm>
          <a:prstGeom prst="ellipse">
            <a:avLst/>
          </a:prstGeom>
          <a:solidFill>
            <a:srgbClr val="F4F1EA"/>
          </a:solidFill>
          <a:ln w="12700">
            <a:solidFill>
              <a:srgbClr val="F4F1EA"/>
            </a:solidFill>
            <a:prstDash val="solid"/>
          </a:ln>
        </p:spPr>
      </p:sp>
      <p:pic>
        <p:nvPicPr>
          <p:cNvPr id="21" name="Image 1" descr="preencoded.png">    </p:cNvPr>
          <p:cNvPicPr>
            <a:picLocks noChangeAspect="1"/>
          </p:cNvPicPr>
          <p:nvPr/>
        </p:nvPicPr>
        <p:blipFill>
          <a:blip r:embed="rId2"/>
          <a:stretch>
            <a:fillRect/>
          </a:stretch>
        </p:blipFill>
        <p:spPr>
          <a:xfrm>
            <a:off x="10183368" y="2249424"/>
            <a:ext cx="649224" cy="649224"/>
          </a:xfrm>
          <a:prstGeom prst="rect">
            <a:avLst/>
          </a:prstGeom>
        </p:spPr>
      </p:pic>
      <p:sp>
        <p:nvSpPr>
          <p:cNvPr id="22" name="Text 17"/>
          <p:cNvSpPr txBox="1"/>
          <p:nvPr/>
        </p:nvSpPr>
        <p:spPr>
          <a:xfrm>
            <a:off x="8232648"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coffee · waiter</a:t>
            </a:r>
            <a:endParaRPr lang="en-US" sz="1100" dirty="0"/>
          </a:p>
        </p:txBody>
      </p:sp>
      <p:sp>
        <p:nvSpPr>
          <p:cNvPr id="23" name="Shape 18"/>
          <p:cNvSpPr/>
          <p:nvPr/>
        </p:nvSpPr>
        <p:spPr>
          <a:xfrm>
            <a:off x="4276344"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19"/>
          <p:cNvSpPr/>
          <p:nvPr/>
        </p:nvSpPr>
        <p:spPr>
          <a:xfrm>
            <a:off x="4404360" y="1938528"/>
            <a:ext cx="365760" cy="365760"/>
          </a:xfrm>
          <a:prstGeom prst="ellipse">
            <a:avLst/>
          </a:prstGeom>
          <a:solidFill>
            <a:srgbClr val="1B3B6F"/>
          </a:solidFill>
          <a:ln w="12700">
            <a:solidFill>
              <a:srgbClr val="1B3B6F"/>
            </a:solidFill>
            <a:prstDash val="solid"/>
          </a:ln>
        </p:spPr>
      </p:sp>
      <p:sp>
        <p:nvSpPr>
          <p:cNvPr id="25" name="Text 20"/>
          <p:cNvSpPr txBox="1"/>
          <p:nvPr/>
        </p:nvSpPr>
        <p:spPr>
          <a:xfrm>
            <a:off x="4404360"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2</a:t>
            </a:r>
            <a:endParaRPr lang="en-US" sz="1200" dirty="0"/>
          </a:p>
        </p:txBody>
      </p:sp>
      <p:sp>
        <p:nvSpPr>
          <p:cNvPr id="26" name="Shape 21"/>
          <p:cNvSpPr/>
          <p:nvPr/>
        </p:nvSpPr>
        <p:spPr>
          <a:xfrm>
            <a:off x="4992624" y="2066544"/>
            <a:ext cx="1014984" cy="1014984"/>
          </a:xfrm>
          <a:prstGeom prst="ellipse">
            <a:avLst/>
          </a:prstGeom>
          <a:solidFill>
            <a:srgbClr val="F4F1EA"/>
          </a:solidFill>
          <a:ln w="12700">
            <a:solidFill>
              <a:srgbClr val="F4F1EA"/>
            </a:solidFill>
            <a:prstDash val="solid"/>
          </a:ln>
        </p:spPr>
      </p:sp>
      <p:pic>
        <p:nvPicPr>
          <p:cNvPr id="27" name="Image 2" descr="preencoded.png">    </p:cNvPr>
          <p:cNvPicPr>
            <a:picLocks noChangeAspect="1"/>
          </p:cNvPicPr>
          <p:nvPr/>
        </p:nvPicPr>
        <p:blipFill>
          <a:blip r:embed="rId3"/>
          <a:stretch>
            <a:fillRect/>
          </a:stretch>
        </p:blipFill>
        <p:spPr>
          <a:xfrm>
            <a:off x="5175504" y="2249424"/>
            <a:ext cx="649224" cy="649224"/>
          </a:xfrm>
          <a:prstGeom prst="rect">
            <a:avLst/>
          </a:prstGeom>
        </p:spPr>
      </p:pic>
      <p:sp>
        <p:nvSpPr>
          <p:cNvPr id="28" name="Shape 22"/>
          <p:cNvSpPr/>
          <p:nvPr/>
        </p:nvSpPr>
        <p:spPr>
          <a:xfrm>
            <a:off x="6181344" y="2066544"/>
            <a:ext cx="1014984" cy="1014984"/>
          </a:xfrm>
          <a:prstGeom prst="ellipse">
            <a:avLst/>
          </a:prstGeom>
          <a:solidFill>
            <a:srgbClr val="F4F1EA"/>
          </a:solidFill>
          <a:ln w="12700">
            <a:solidFill>
              <a:srgbClr val="F4F1EA"/>
            </a:solidFill>
            <a:prstDash val="solid"/>
          </a:ln>
        </p:spPr>
      </p:sp>
      <p:pic>
        <p:nvPicPr>
          <p:cNvPr id="29" name="Image 3" descr="preencoded.png">    </p:cNvPr>
          <p:cNvPicPr>
            <a:picLocks noChangeAspect="1"/>
          </p:cNvPicPr>
          <p:nvPr/>
        </p:nvPicPr>
        <p:blipFill>
          <a:blip r:embed="rId4"/>
          <a:stretch>
            <a:fillRect/>
          </a:stretch>
        </p:blipFill>
        <p:spPr>
          <a:xfrm>
            <a:off x="6364224" y="2249424"/>
            <a:ext cx="649224" cy="649224"/>
          </a:xfrm>
          <a:prstGeom prst="rect">
            <a:avLst/>
          </a:prstGeom>
        </p:spPr>
      </p:pic>
      <p:sp>
        <p:nvSpPr>
          <p:cNvPr id="30" name="Text 23"/>
          <p:cNvSpPr txBox="1"/>
          <p:nvPr/>
        </p:nvSpPr>
        <p:spPr>
          <a:xfrm>
            <a:off x="4413504"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juice · waitress</a:t>
            </a:r>
            <a:endParaRPr lang="en-US" sz="1100" dirty="0"/>
          </a:p>
        </p:txBody>
      </p:sp>
      <p:sp>
        <p:nvSpPr>
          <p:cNvPr id="31" name="Shape 24"/>
          <p:cNvSpPr/>
          <p:nvPr/>
        </p:nvSpPr>
        <p:spPr>
          <a:xfrm>
            <a:off x="457200"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5"/>
          <p:cNvSpPr/>
          <p:nvPr/>
        </p:nvSpPr>
        <p:spPr>
          <a:xfrm>
            <a:off x="585216" y="1938528"/>
            <a:ext cx="365760" cy="365760"/>
          </a:xfrm>
          <a:prstGeom prst="ellipse">
            <a:avLst/>
          </a:prstGeom>
          <a:solidFill>
            <a:srgbClr val="1B3B6F"/>
          </a:solidFill>
          <a:ln w="12700">
            <a:solidFill>
              <a:srgbClr val="1B3B6F"/>
            </a:solidFill>
            <a:prstDash val="solid"/>
          </a:ln>
        </p:spPr>
      </p:sp>
      <p:sp>
        <p:nvSpPr>
          <p:cNvPr id="33" name="Text 26"/>
          <p:cNvSpPr txBox="1"/>
          <p:nvPr/>
        </p:nvSpPr>
        <p:spPr>
          <a:xfrm>
            <a:off x="585216"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3</a:t>
            </a:r>
            <a:endParaRPr lang="en-US" sz="1200" dirty="0"/>
          </a:p>
        </p:txBody>
      </p:sp>
      <p:sp>
        <p:nvSpPr>
          <p:cNvPr id="34" name="Shape 27"/>
          <p:cNvSpPr/>
          <p:nvPr/>
        </p:nvSpPr>
        <p:spPr>
          <a:xfrm>
            <a:off x="1173480" y="2066544"/>
            <a:ext cx="1014984" cy="1014984"/>
          </a:xfrm>
          <a:prstGeom prst="ellipse">
            <a:avLst/>
          </a:prstGeom>
          <a:solidFill>
            <a:srgbClr val="F4F1EA"/>
          </a:solidFill>
          <a:ln w="12700">
            <a:solidFill>
              <a:srgbClr val="F4F1EA"/>
            </a:solidFill>
            <a:prstDash val="solid"/>
          </a:ln>
        </p:spPr>
      </p:sp>
      <p:pic>
        <p:nvPicPr>
          <p:cNvPr id="35" name="Image 4" descr="preencoded.png">    </p:cNvPr>
          <p:cNvPicPr>
            <a:picLocks noChangeAspect="1"/>
          </p:cNvPicPr>
          <p:nvPr/>
        </p:nvPicPr>
        <p:blipFill>
          <a:blip r:embed="rId5"/>
          <a:stretch>
            <a:fillRect/>
          </a:stretch>
        </p:blipFill>
        <p:spPr>
          <a:xfrm>
            <a:off x="1356360" y="2249424"/>
            <a:ext cx="649224" cy="649224"/>
          </a:xfrm>
          <a:prstGeom prst="rect">
            <a:avLst/>
          </a:prstGeom>
        </p:spPr>
      </p:pic>
      <p:sp>
        <p:nvSpPr>
          <p:cNvPr id="36" name="Shape 28"/>
          <p:cNvSpPr/>
          <p:nvPr/>
        </p:nvSpPr>
        <p:spPr>
          <a:xfrm>
            <a:off x="2362200" y="2066544"/>
            <a:ext cx="1014984" cy="1014984"/>
          </a:xfrm>
          <a:prstGeom prst="ellipse">
            <a:avLst/>
          </a:prstGeom>
          <a:solidFill>
            <a:srgbClr val="F4F1EA"/>
          </a:solidFill>
          <a:ln w="12700">
            <a:solidFill>
              <a:srgbClr val="F4F1EA"/>
            </a:solidFill>
            <a:prstDash val="solid"/>
          </a:ln>
        </p:spPr>
      </p:sp>
      <p:pic>
        <p:nvPicPr>
          <p:cNvPr id="37" name="Image 5" descr="preencoded.png">    </p:cNvPr>
          <p:cNvPicPr>
            <a:picLocks noChangeAspect="1"/>
          </p:cNvPicPr>
          <p:nvPr/>
        </p:nvPicPr>
        <p:blipFill>
          <a:blip r:embed="rId6"/>
          <a:stretch>
            <a:fillRect/>
          </a:stretch>
        </p:blipFill>
        <p:spPr>
          <a:xfrm>
            <a:off x="2545080" y="2249424"/>
            <a:ext cx="649224" cy="649224"/>
          </a:xfrm>
          <a:prstGeom prst="rect">
            <a:avLst/>
          </a:prstGeom>
        </p:spPr>
      </p:pic>
      <p:sp>
        <p:nvSpPr>
          <p:cNvPr id="38" name="Text 29"/>
          <p:cNvSpPr txBox="1"/>
          <p:nvPr/>
        </p:nvSpPr>
        <p:spPr>
          <a:xfrm>
            <a:off x="594360"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the bill?</a:t>
            </a:r>
            <a:endParaRPr lang="en-US" sz="1100" dirty="0"/>
          </a:p>
        </p:txBody>
      </p:sp>
      <p:sp>
        <p:nvSpPr>
          <p:cNvPr id="39" name="Shape 30"/>
          <p:cNvSpPr/>
          <p:nvPr/>
        </p:nvSpPr>
        <p:spPr>
          <a:xfrm>
            <a:off x="457200" y="3730752"/>
            <a:ext cx="11274552" cy="493776"/>
          </a:xfrm>
          <a:prstGeom prst="roundRect">
            <a:avLst>
              <a:gd name="adj" fmla="val 11111"/>
            </a:avLst>
          </a:prstGeom>
          <a:solidFill>
            <a:srgbClr val="EEF3FA"/>
          </a:solidFill>
          <a:ln w="9525">
            <a:solidFill>
              <a:srgbClr val="C9D6EA"/>
            </a:solidFill>
            <a:prstDash val="solid"/>
          </a:ln>
        </p:spPr>
      </p:sp>
      <p:sp>
        <p:nvSpPr>
          <p:cNvPr id="40" name="Shape 31"/>
          <p:cNvSpPr/>
          <p:nvPr/>
        </p:nvSpPr>
        <p:spPr>
          <a:xfrm>
            <a:off x="11247120" y="3831336"/>
            <a:ext cx="292608" cy="292608"/>
          </a:xfrm>
          <a:prstGeom prst="ellipse">
            <a:avLst/>
          </a:prstGeom>
          <a:solidFill>
            <a:srgbClr val="2F6FB0"/>
          </a:solidFill>
          <a:ln w="12700">
            <a:solidFill>
              <a:srgbClr val="2F6FB0"/>
            </a:solidFill>
            <a:prstDash val="solid"/>
          </a:ln>
        </p:spPr>
      </p:sp>
      <p:sp>
        <p:nvSpPr>
          <p:cNvPr id="41" name="Text 32"/>
          <p:cNvSpPr txBox="1"/>
          <p:nvPr/>
        </p:nvSpPr>
        <p:spPr>
          <a:xfrm>
            <a:off x="11247120" y="3831336"/>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A</a:t>
            </a:r>
            <a:endParaRPr lang="en-US" sz="1000" dirty="0"/>
          </a:p>
        </p:txBody>
      </p:sp>
      <p:sp>
        <p:nvSpPr>
          <p:cNvPr id="42" name="Text 33"/>
          <p:cNvSpPr txBox="1"/>
          <p:nvPr/>
        </p:nvSpPr>
        <p:spPr>
          <a:xfrm>
            <a:off x="731520" y="3730752"/>
            <a:ext cx="10378440" cy="493776"/>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أُرِيدُ عَصِيرًا، مِنْ فَضْلِكِ.</a:t>
            </a:r>
            <a:endParaRPr lang="ar-SA" sz="2000" dirty="0"/>
          </a:p>
        </p:txBody>
      </p:sp>
      <p:sp>
        <p:nvSpPr>
          <p:cNvPr id="43" name="Shape 34"/>
          <p:cNvSpPr/>
          <p:nvPr/>
        </p:nvSpPr>
        <p:spPr>
          <a:xfrm>
            <a:off x="457200" y="4297680"/>
            <a:ext cx="11274552" cy="493776"/>
          </a:xfrm>
          <a:prstGeom prst="roundRect">
            <a:avLst>
              <a:gd name="adj" fmla="val 11111"/>
            </a:avLst>
          </a:prstGeom>
          <a:solidFill>
            <a:srgbClr val="EEF3FA"/>
          </a:solidFill>
          <a:ln w="9525">
            <a:solidFill>
              <a:srgbClr val="C9D6EA"/>
            </a:solidFill>
            <a:prstDash val="solid"/>
          </a:ln>
        </p:spPr>
      </p:sp>
      <p:sp>
        <p:nvSpPr>
          <p:cNvPr id="44" name="Shape 35"/>
          <p:cNvSpPr/>
          <p:nvPr/>
        </p:nvSpPr>
        <p:spPr>
          <a:xfrm>
            <a:off x="11247120" y="4398264"/>
            <a:ext cx="292608" cy="292608"/>
          </a:xfrm>
          <a:prstGeom prst="ellipse">
            <a:avLst/>
          </a:prstGeom>
          <a:solidFill>
            <a:srgbClr val="2F6FB0"/>
          </a:solidFill>
          <a:ln w="12700">
            <a:solidFill>
              <a:srgbClr val="2F6FB0"/>
            </a:solidFill>
            <a:prstDash val="solid"/>
          </a:ln>
        </p:spPr>
      </p:sp>
      <p:sp>
        <p:nvSpPr>
          <p:cNvPr id="45" name="Text 36"/>
          <p:cNvSpPr txBox="1"/>
          <p:nvPr/>
        </p:nvSpPr>
        <p:spPr>
          <a:xfrm>
            <a:off x="11247120" y="4398264"/>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B</a:t>
            </a:r>
            <a:endParaRPr lang="en-US" sz="1000" dirty="0"/>
          </a:p>
        </p:txBody>
      </p:sp>
      <p:sp>
        <p:nvSpPr>
          <p:cNvPr id="46" name="Text 37"/>
          <p:cNvSpPr txBox="1"/>
          <p:nvPr/>
        </p:nvSpPr>
        <p:spPr>
          <a:xfrm>
            <a:off x="731520" y="4297680"/>
            <a:ext cx="10378440" cy="493776"/>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كَمِ الحِسَابُ؟</a:t>
            </a:r>
            <a:endParaRPr lang="ar-SA" sz="2000" dirty="0"/>
          </a:p>
        </p:txBody>
      </p:sp>
      <p:sp>
        <p:nvSpPr>
          <p:cNvPr id="47" name="Shape 38"/>
          <p:cNvSpPr/>
          <p:nvPr/>
        </p:nvSpPr>
        <p:spPr>
          <a:xfrm>
            <a:off x="457200" y="4864608"/>
            <a:ext cx="11274552" cy="493776"/>
          </a:xfrm>
          <a:prstGeom prst="roundRect">
            <a:avLst>
              <a:gd name="adj" fmla="val 11111"/>
            </a:avLst>
          </a:prstGeom>
          <a:solidFill>
            <a:srgbClr val="EEF3FA"/>
          </a:solidFill>
          <a:ln w="9525">
            <a:solidFill>
              <a:srgbClr val="C9D6EA"/>
            </a:solidFill>
            <a:prstDash val="solid"/>
          </a:ln>
        </p:spPr>
      </p:sp>
      <p:sp>
        <p:nvSpPr>
          <p:cNvPr id="48" name="Shape 39"/>
          <p:cNvSpPr/>
          <p:nvPr/>
        </p:nvSpPr>
        <p:spPr>
          <a:xfrm>
            <a:off x="11247120" y="4965192"/>
            <a:ext cx="292608" cy="292608"/>
          </a:xfrm>
          <a:prstGeom prst="ellipse">
            <a:avLst/>
          </a:prstGeom>
          <a:solidFill>
            <a:srgbClr val="2F6FB0"/>
          </a:solidFill>
          <a:ln w="12700">
            <a:solidFill>
              <a:srgbClr val="2F6FB0"/>
            </a:solidFill>
            <a:prstDash val="solid"/>
          </a:ln>
        </p:spPr>
      </p:sp>
      <p:sp>
        <p:nvSpPr>
          <p:cNvPr id="49" name="Text 40"/>
          <p:cNvSpPr txBox="1"/>
          <p:nvPr/>
        </p:nvSpPr>
        <p:spPr>
          <a:xfrm>
            <a:off x="11247120" y="4965192"/>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C</a:t>
            </a:r>
            <a:endParaRPr lang="en-US" sz="1000" dirty="0"/>
          </a:p>
        </p:txBody>
      </p:sp>
      <p:sp>
        <p:nvSpPr>
          <p:cNvPr id="50" name="Text 41"/>
          <p:cNvSpPr txBox="1"/>
          <p:nvPr/>
        </p:nvSpPr>
        <p:spPr>
          <a:xfrm>
            <a:off x="731520" y="4864608"/>
            <a:ext cx="10378440" cy="493776"/>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أُرِيدُ قَهْوَةً، مِنْ فَضْلِكَ.</a:t>
            </a:r>
            <a:endParaRPr lang="ar-SA" sz="2000" dirty="0"/>
          </a:p>
        </p:txBody>
      </p:sp>
      <p:sp>
        <p:nvSpPr>
          <p:cNvPr id="51" name="Text 42"/>
          <p:cNvSpPr txBox="1"/>
          <p:nvPr/>
        </p:nvSpPr>
        <p:spPr>
          <a:xfrm>
            <a:off x="457200" y="5468112"/>
            <a:ext cx="11274552" cy="365760"/>
          </a:xfrm>
          <a:prstGeom prst="rect">
            <a:avLst/>
          </a:prstGeom>
          <a:noFill/>
          <a:ln/>
        </p:spPr>
        <p:txBody>
          <a:bodyPr wrap="square" lIns="0" tIns="0" rIns="0" bIns="0" rtlCol="0" anchor="ctr"/>
          <a:lstStyle/>
          <a:p>
            <a:pPr algn="l" indent="0" marL="0">
              <a:buNone/>
            </a:pPr>
            <a:r>
              <a:rPr lang="en-US" sz="1250" b="1" dirty="0">
                <a:solidFill>
                  <a:srgbClr val="2F6FB0"/>
                </a:solidFill>
                <a:latin typeface="Calibri" pitchFamily="34" charset="0"/>
                <a:cs typeface="Amiri" pitchFamily="2" charset="-78"/>
              </a:rPr>
              <a:t>Match each picture to a sentence. Type in the chat: 1_  2_  3_</a:t>
            </a:r>
            <a:endParaRPr lang="en-US" sz="1250" dirty="0"/>
          </a:p>
        </p:txBody>
      </p:sp>
      <p:sp>
        <p:nvSpPr>
          <p:cNvPr id="52" name="Text 43"/>
          <p:cNvSpPr txBox="1"/>
          <p:nvPr/>
        </p:nvSpPr>
        <p:spPr>
          <a:xfrm>
            <a:off x="457200" y="5852160"/>
            <a:ext cx="11274552" cy="365760"/>
          </a:xfrm>
          <a:prstGeom prst="rect">
            <a:avLst/>
          </a:prstGeom>
          <a:noFill/>
          <a:ln/>
        </p:spPr>
        <p:txBody>
          <a:bodyPr wrap="square" lIns="0" tIns="0" rIns="0" bIns="0" rtlCol="0" anchor="ctr"/>
          <a:lstStyle/>
          <a:p>
            <a:pPr algn="l" indent="0" marL="0">
              <a:buNone/>
            </a:pPr>
            <a:r>
              <a:rPr lang="en-US" sz="1150" i="1" dirty="0">
                <a:solidFill>
                  <a:srgbClr val="5A6472"/>
                </a:solidFill>
                <a:latin typeface="Calibri" pitchFamily="34" charset="0"/>
                <a:cs typeface="Amiri" pitchFamily="2" charset="-78"/>
              </a:rPr>
              <a:t>Core: find ONE key word you know in each sentence first.</a:t>
            </a:r>
            <a:endParaRPr lang="en-US" sz="1150" dirty="0"/>
          </a:p>
        </p:txBody>
      </p:sp>
      <p:sp>
        <p:nvSpPr>
          <p:cNvPr id="53" name="Text 4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20 / 43</a:t>
            </a:r>
            <a:endParaRPr lang="en-US" sz="8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F5-L05 · Ordering Politely</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PICTURE MATCH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Picture match: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طَلَبٌ فِي المَقْهَى</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F5 · Food, Health and Body · F5-L05</a:t>
            </a:r>
            <a:endParaRPr lang="en-US" sz="850" dirty="0"/>
          </a:p>
        </p:txBody>
      </p:sp>
      <p:sp>
        <p:nvSpPr>
          <p:cNvPr id="15" name="Shape 12"/>
          <p:cNvSpPr/>
          <p:nvPr/>
        </p:nvSpPr>
        <p:spPr>
          <a:xfrm>
            <a:off x="8095488"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23504" y="1938528"/>
            <a:ext cx="365760" cy="365760"/>
          </a:xfrm>
          <a:prstGeom prst="ellipse">
            <a:avLst/>
          </a:prstGeom>
          <a:solidFill>
            <a:srgbClr val="1B3B6F"/>
          </a:solidFill>
          <a:ln w="12700">
            <a:solidFill>
              <a:srgbClr val="1B3B6F"/>
            </a:solidFill>
            <a:prstDash val="solid"/>
          </a:ln>
        </p:spPr>
      </p:sp>
      <p:sp>
        <p:nvSpPr>
          <p:cNvPr id="17" name="Text 14"/>
          <p:cNvSpPr txBox="1"/>
          <p:nvPr/>
        </p:nvSpPr>
        <p:spPr>
          <a:xfrm>
            <a:off x="8223504"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1</a:t>
            </a:r>
            <a:endParaRPr lang="en-US" sz="1200" dirty="0"/>
          </a:p>
        </p:txBody>
      </p:sp>
      <p:sp>
        <p:nvSpPr>
          <p:cNvPr id="18" name="Shape 15"/>
          <p:cNvSpPr/>
          <p:nvPr/>
        </p:nvSpPr>
        <p:spPr>
          <a:xfrm>
            <a:off x="8811768" y="2066544"/>
            <a:ext cx="1014984" cy="1014984"/>
          </a:xfrm>
          <a:prstGeom prst="ellipse">
            <a:avLst/>
          </a:prstGeom>
          <a:solidFill>
            <a:srgbClr val="F4F1EA"/>
          </a:solidFill>
          <a:ln w="12700">
            <a:solidFill>
              <a:srgbClr val="F4F1EA"/>
            </a:solidFill>
            <a:prstDash val="solid"/>
          </a:ln>
        </p:spPr>
      </p:sp>
      <p:pic>
        <p:nvPicPr>
          <p:cNvPr id="19" name="Image 0" descr="preencoded.png">    </p:cNvPr>
          <p:cNvPicPr>
            <a:picLocks noChangeAspect="1"/>
          </p:cNvPicPr>
          <p:nvPr/>
        </p:nvPicPr>
        <p:blipFill>
          <a:blip r:embed="rId1"/>
          <a:stretch>
            <a:fillRect/>
          </a:stretch>
        </p:blipFill>
        <p:spPr>
          <a:xfrm>
            <a:off x="8994648" y="2249424"/>
            <a:ext cx="649224" cy="649224"/>
          </a:xfrm>
          <a:prstGeom prst="rect">
            <a:avLst/>
          </a:prstGeom>
        </p:spPr>
      </p:pic>
      <p:sp>
        <p:nvSpPr>
          <p:cNvPr id="20" name="Shape 16"/>
          <p:cNvSpPr/>
          <p:nvPr/>
        </p:nvSpPr>
        <p:spPr>
          <a:xfrm>
            <a:off x="10000488" y="2066544"/>
            <a:ext cx="1014984" cy="1014984"/>
          </a:xfrm>
          <a:prstGeom prst="ellipse">
            <a:avLst/>
          </a:prstGeom>
          <a:solidFill>
            <a:srgbClr val="F4F1EA"/>
          </a:solidFill>
          <a:ln w="12700">
            <a:solidFill>
              <a:srgbClr val="F4F1EA"/>
            </a:solidFill>
            <a:prstDash val="solid"/>
          </a:ln>
        </p:spPr>
      </p:sp>
      <p:pic>
        <p:nvPicPr>
          <p:cNvPr id="21" name="Image 1" descr="preencoded.png">    </p:cNvPr>
          <p:cNvPicPr>
            <a:picLocks noChangeAspect="1"/>
          </p:cNvPicPr>
          <p:nvPr/>
        </p:nvPicPr>
        <p:blipFill>
          <a:blip r:embed="rId2"/>
          <a:stretch>
            <a:fillRect/>
          </a:stretch>
        </p:blipFill>
        <p:spPr>
          <a:xfrm>
            <a:off x="10183368" y="2249424"/>
            <a:ext cx="649224" cy="649224"/>
          </a:xfrm>
          <a:prstGeom prst="rect">
            <a:avLst/>
          </a:prstGeom>
        </p:spPr>
      </p:pic>
      <p:sp>
        <p:nvSpPr>
          <p:cNvPr id="22" name="Text 17"/>
          <p:cNvSpPr txBox="1"/>
          <p:nvPr/>
        </p:nvSpPr>
        <p:spPr>
          <a:xfrm>
            <a:off x="8232648"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coffee · waiter</a:t>
            </a:r>
            <a:endParaRPr lang="en-US" sz="1100" dirty="0"/>
          </a:p>
        </p:txBody>
      </p:sp>
      <p:sp>
        <p:nvSpPr>
          <p:cNvPr id="23" name="Shape 18"/>
          <p:cNvSpPr/>
          <p:nvPr/>
        </p:nvSpPr>
        <p:spPr>
          <a:xfrm>
            <a:off x="8095488" y="3675888"/>
            <a:ext cx="3636264" cy="2633472"/>
          </a:xfrm>
          <a:prstGeom prst="roundRect">
            <a:avLst>
              <a:gd name="adj" fmla="val 2778"/>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4" name="Shape 19"/>
          <p:cNvSpPr/>
          <p:nvPr/>
        </p:nvSpPr>
        <p:spPr>
          <a:xfrm>
            <a:off x="11256264" y="3785616"/>
            <a:ext cx="329184" cy="329184"/>
          </a:xfrm>
          <a:prstGeom prst="ellipse">
            <a:avLst/>
          </a:prstGeom>
          <a:solidFill>
            <a:srgbClr val="2E8B57"/>
          </a:solidFill>
          <a:ln w="12700">
            <a:solidFill>
              <a:srgbClr val="2E8B57"/>
            </a:solidFill>
            <a:prstDash val="solid"/>
          </a:ln>
        </p:spPr>
      </p:sp>
      <p:sp>
        <p:nvSpPr>
          <p:cNvPr id="25" name="Text 20"/>
          <p:cNvSpPr txBox="1"/>
          <p:nvPr/>
        </p:nvSpPr>
        <p:spPr>
          <a:xfrm>
            <a:off x="11256264" y="3785616"/>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C</a:t>
            </a:r>
            <a:endParaRPr lang="en-US" sz="1100" dirty="0"/>
          </a:p>
        </p:txBody>
      </p:sp>
      <p:sp>
        <p:nvSpPr>
          <p:cNvPr id="26" name="Text 21"/>
          <p:cNvSpPr txBox="1"/>
          <p:nvPr/>
        </p:nvSpPr>
        <p:spPr>
          <a:xfrm>
            <a:off x="8232648" y="4160520"/>
            <a:ext cx="3361944" cy="1143000"/>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أُرِيدُ قَهْوَةً، مِنْ فَضْلِكَ.</a:t>
            </a:r>
            <a:endParaRPr lang="ar-SA" sz="2200" dirty="0"/>
          </a:p>
        </p:txBody>
      </p:sp>
      <p:sp>
        <p:nvSpPr>
          <p:cNvPr id="27" name="Text 22"/>
          <p:cNvSpPr txBox="1"/>
          <p:nvPr/>
        </p:nvSpPr>
        <p:spPr>
          <a:xfrm>
            <a:off x="8232648" y="5349240"/>
            <a:ext cx="3361944" cy="822960"/>
          </a:xfrm>
          <a:prstGeom prst="rect">
            <a:avLst/>
          </a:prstGeom>
          <a:noFill/>
          <a:ln/>
        </p:spPr>
        <p:txBody>
          <a:bodyPr wrap="square" lIns="0" tIns="0" rIns="0" bIns="0" rtlCol="0" anchor="t"/>
          <a:lstStyle/>
          <a:p>
            <a:pPr algn="ctr" indent="0" marL="0">
              <a:buNone/>
            </a:pPr>
            <a:r>
              <a:rPr lang="en-US" sz="1200" i="1" dirty="0">
                <a:solidFill>
                  <a:srgbClr val="5A6472"/>
                </a:solidFill>
                <a:latin typeface="Calibri" pitchFamily="34" charset="0"/>
                <a:cs typeface="Amiri" pitchFamily="2" charset="-78"/>
              </a:rPr>
              <a:t>I would like coffee, please (to a man).</a:t>
            </a:r>
            <a:endParaRPr lang="en-US" sz="1200" dirty="0"/>
          </a:p>
        </p:txBody>
      </p:sp>
      <p:sp>
        <p:nvSpPr>
          <p:cNvPr id="28" name="Shape 23"/>
          <p:cNvSpPr/>
          <p:nvPr/>
        </p:nvSpPr>
        <p:spPr>
          <a:xfrm>
            <a:off x="4276344"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4"/>
          <p:cNvSpPr/>
          <p:nvPr/>
        </p:nvSpPr>
        <p:spPr>
          <a:xfrm>
            <a:off x="4404360" y="1938528"/>
            <a:ext cx="365760" cy="365760"/>
          </a:xfrm>
          <a:prstGeom prst="ellipse">
            <a:avLst/>
          </a:prstGeom>
          <a:solidFill>
            <a:srgbClr val="1B3B6F"/>
          </a:solidFill>
          <a:ln w="12700">
            <a:solidFill>
              <a:srgbClr val="1B3B6F"/>
            </a:solidFill>
            <a:prstDash val="solid"/>
          </a:ln>
        </p:spPr>
      </p:sp>
      <p:sp>
        <p:nvSpPr>
          <p:cNvPr id="30" name="Text 25"/>
          <p:cNvSpPr txBox="1"/>
          <p:nvPr/>
        </p:nvSpPr>
        <p:spPr>
          <a:xfrm>
            <a:off x="4404360"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2</a:t>
            </a:r>
            <a:endParaRPr lang="en-US" sz="1200" dirty="0"/>
          </a:p>
        </p:txBody>
      </p:sp>
      <p:sp>
        <p:nvSpPr>
          <p:cNvPr id="31" name="Shape 26"/>
          <p:cNvSpPr/>
          <p:nvPr/>
        </p:nvSpPr>
        <p:spPr>
          <a:xfrm>
            <a:off x="4992624" y="2066544"/>
            <a:ext cx="1014984" cy="1014984"/>
          </a:xfrm>
          <a:prstGeom prst="ellipse">
            <a:avLst/>
          </a:prstGeom>
          <a:solidFill>
            <a:srgbClr val="F4F1EA"/>
          </a:solidFill>
          <a:ln w="12700">
            <a:solidFill>
              <a:srgbClr val="F4F1EA"/>
            </a:solidFill>
            <a:prstDash val="solid"/>
          </a:ln>
        </p:spPr>
      </p:sp>
      <p:pic>
        <p:nvPicPr>
          <p:cNvPr id="32" name="Image 2" descr="preencoded.png">    </p:cNvPr>
          <p:cNvPicPr>
            <a:picLocks noChangeAspect="1"/>
          </p:cNvPicPr>
          <p:nvPr/>
        </p:nvPicPr>
        <p:blipFill>
          <a:blip r:embed="rId3"/>
          <a:stretch>
            <a:fillRect/>
          </a:stretch>
        </p:blipFill>
        <p:spPr>
          <a:xfrm>
            <a:off x="5175504" y="2249424"/>
            <a:ext cx="649224" cy="649224"/>
          </a:xfrm>
          <a:prstGeom prst="rect">
            <a:avLst/>
          </a:prstGeom>
        </p:spPr>
      </p:pic>
      <p:sp>
        <p:nvSpPr>
          <p:cNvPr id="33" name="Shape 27"/>
          <p:cNvSpPr/>
          <p:nvPr/>
        </p:nvSpPr>
        <p:spPr>
          <a:xfrm>
            <a:off x="6181344" y="2066544"/>
            <a:ext cx="1014984" cy="1014984"/>
          </a:xfrm>
          <a:prstGeom prst="ellipse">
            <a:avLst/>
          </a:prstGeom>
          <a:solidFill>
            <a:srgbClr val="F4F1EA"/>
          </a:solidFill>
          <a:ln w="12700">
            <a:solidFill>
              <a:srgbClr val="F4F1EA"/>
            </a:solidFill>
            <a:prstDash val="solid"/>
          </a:ln>
        </p:spPr>
      </p:sp>
      <p:pic>
        <p:nvPicPr>
          <p:cNvPr id="34" name="Image 3" descr="preencoded.png">    </p:cNvPr>
          <p:cNvPicPr>
            <a:picLocks noChangeAspect="1"/>
          </p:cNvPicPr>
          <p:nvPr/>
        </p:nvPicPr>
        <p:blipFill>
          <a:blip r:embed="rId4"/>
          <a:stretch>
            <a:fillRect/>
          </a:stretch>
        </p:blipFill>
        <p:spPr>
          <a:xfrm>
            <a:off x="6364224" y="2249424"/>
            <a:ext cx="649224" cy="649224"/>
          </a:xfrm>
          <a:prstGeom prst="rect">
            <a:avLst/>
          </a:prstGeom>
        </p:spPr>
      </p:pic>
      <p:sp>
        <p:nvSpPr>
          <p:cNvPr id="35" name="Text 28"/>
          <p:cNvSpPr txBox="1"/>
          <p:nvPr/>
        </p:nvSpPr>
        <p:spPr>
          <a:xfrm>
            <a:off x="4413504"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juice · waitress</a:t>
            </a:r>
            <a:endParaRPr lang="en-US" sz="1100" dirty="0"/>
          </a:p>
        </p:txBody>
      </p:sp>
      <p:sp>
        <p:nvSpPr>
          <p:cNvPr id="36" name="Shape 29"/>
          <p:cNvSpPr/>
          <p:nvPr/>
        </p:nvSpPr>
        <p:spPr>
          <a:xfrm>
            <a:off x="4276344" y="3675888"/>
            <a:ext cx="3636264" cy="2633472"/>
          </a:xfrm>
          <a:prstGeom prst="roundRect">
            <a:avLst>
              <a:gd name="adj" fmla="val 2778"/>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37" name="Shape 30"/>
          <p:cNvSpPr/>
          <p:nvPr/>
        </p:nvSpPr>
        <p:spPr>
          <a:xfrm>
            <a:off x="7437120" y="3785616"/>
            <a:ext cx="329184" cy="329184"/>
          </a:xfrm>
          <a:prstGeom prst="ellipse">
            <a:avLst/>
          </a:prstGeom>
          <a:solidFill>
            <a:srgbClr val="2E8B57"/>
          </a:solidFill>
          <a:ln w="12700">
            <a:solidFill>
              <a:srgbClr val="2E8B57"/>
            </a:solidFill>
            <a:prstDash val="solid"/>
          </a:ln>
        </p:spPr>
      </p:sp>
      <p:sp>
        <p:nvSpPr>
          <p:cNvPr id="38" name="Text 31"/>
          <p:cNvSpPr txBox="1"/>
          <p:nvPr/>
        </p:nvSpPr>
        <p:spPr>
          <a:xfrm>
            <a:off x="7437120" y="3785616"/>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a:t>
            </a:r>
            <a:endParaRPr lang="en-US" sz="1100" dirty="0"/>
          </a:p>
        </p:txBody>
      </p:sp>
      <p:sp>
        <p:nvSpPr>
          <p:cNvPr id="39" name="Text 32"/>
          <p:cNvSpPr txBox="1"/>
          <p:nvPr/>
        </p:nvSpPr>
        <p:spPr>
          <a:xfrm>
            <a:off x="4413504" y="4160520"/>
            <a:ext cx="3361944" cy="1143000"/>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أُرِيدُ عَصِيرًا، مِنْ فَضْلِكِ.</a:t>
            </a:r>
            <a:endParaRPr lang="ar-SA" sz="2200" dirty="0"/>
          </a:p>
        </p:txBody>
      </p:sp>
      <p:sp>
        <p:nvSpPr>
          <p:cNvPr id="40" name="Text 33"/>
          <p:cNvSpPr txBox="1"/>
          <p:nvPr/>
        </p:nvSpPr>
        <p:spPr>
          <a:xfrm>
            <a:off x="4413504" y="5349240"/>
            <a:ext cx="3361944" cy="822960"/>
          </a:xfrm>
          <a:prstGeom prst="rect">
            <a:avLst/>
          </a:prstGeom>
          <a:noFill/>
          <a:ln/>
        </p:spPr>
        <p:txBody>
          <a:bodyPr wrap="square" lIns="0" tIns="0" rIns="0" bIns="0" rtlCol="0" anchor="t"/>
          <a:lstStyle/>
          <a:p>
            <a:pPr algn="ctr" indent="0" marL="0">
              <a:buNone/>
            </a:pPr>
            <a:r>
              <a:rPr lang="en-US" sz="1200" i="1" dirty="0">
                <a:solidFill>
                  <a:srgbClr val="5A6472"/>
                </a:solidFill>
                <a:latin typeface="Calibri" pitchFamily="34" charset="0"/>
                <a:cs typeface="Amiri" pitchFamily="2" charset="-78"/>
              </a:rPr>
              <a:t>I would like juice, please (to a woman).</a:t>
            </a:r>
            <a:endParaRPr lang="en-US" sz="1200" dirty="0"/>
          </a:p>
        </p:txBody>
      </p:sp>
      <p:sp>
        <p:nvSpPr>
          <p:cNvPr id="41" name="Shape 34"/>
          <p:cNvSpPr/>
          <p:nvPr/>
        </p:nvSpPr>
        <p:spPr>
          <a:xfrm>
            <a:off x="457200"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5"/>
          <p:cNvSpPr/>
          <p:nvPr/>
        </p:nvSpPr>
        <p:spPr>
          <a:xfrm>
            <a:off x="585216" y="1938528"/>
            <a:ext cx="365760" cy="365760"/>
          </a:xfrm>
          <a:prstGeom prst="ellipse">
            <a:avLst/>
          </a:prstGeom>
          <a:solidFill>
            <a:srgbClr val="1B3B6F"/>
          </a:solidFill>
          <a:ln w="12700">
            <a:solidFill>
              <a:srgbClr val="1B3B6F"/>
            </a:solidFill>
            <a:prstDash val="solid"/>
          </a:ln>
        </p:spPr>
      </p:sp>
      <p:sp>
        <p:nvSpPr>
          <p:cNvPr id="43" name="Text 36"/>
          <p:cNvSpPr txBox="1"/>
          <p:nvPr/>
        </p:nvSpPr>
        <p:spPr>
          <a:xfrm>
            <a:off x="585216"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3</a:t>
            </a:r>
            <a:endParaRPr lang="en-US" sz="1200" dirty="0"/>
          </a:p>
        </p:txBody>
      </p:sp>
      <p:sp>
        <p:nvSpPr>
          <p:cNvPr id="44" name="Shape 37"/>
          <p:cNvSpPr/>
          <p:nvPr/>
        </p:nvSpPr>
        <p:spPr>
          <a:xfrm>
            <a:off x="1173480" y="2066544"/>
            <a:ext cx="1014984" cy="1014984"/>
          </a:xfrm>
          <a:prstGeom prst="ellipse">
            <a:avLst/>
          </a:prstGeom>
          <a:solidFill>
            <a:srgbClr val="F4F1EA"/>
          </a:solidFill>
          <a:ln w="12700">
            <a:solidFill>
              <a:srgbClr val="F4F1EA"/>
            </a:solidFill>
            <a:prstDash val="solid"/>
          </a:ln>
        </p:spPr>
      </p:sp>
      <p:pic>
        <p:nvPicPr>
          <p:cNvPr id="45" name="Image 4" descr="preencoded.png">    </p:cNvPr>
          <p:cNvPicPr>
            <a:picLocks noChangeAspect="1"/>
          </p:cNvPicPr>
          <p:nvPr/>
        </p:nvPicPr>
        <p:blipFill>
          <a:blip r:embed="rId5"/>
          <a:stretch>
            <a:fillRect/>
          </a:stretch>
        </p:blipFill>
        <p:spPr>
          <a:xfrm>
            <a:off x="1356360" y="2249424"/>
            <a:ext cx="649224" cy="649224"/>
          </a:xfrm>
          <a:prstGeom prst="rect">
            <a:avLst/>
          </a:prstGeom>
        </p:spPr>
      </p:pic>
      <p:sp>
        <p:nvSpPr>
          <p:cNvPr id="46" name="Shape 38"/>
          <p:cNvSpPr/>
          <p:nvPr/>
        </p:nvSpPr>
        <p:spPr>
          <a:xfrm>
            <a:off x="2362200" y="2066544"/>
            <a:ext cx="1014984" cy="1014984"/>
          </a:xfrm>
          <a:prstGeom prst="ellipse">
            <a:avLst/>
          </a:prstGeom>
          <a:solidFill>
            <a:srgbClr val="F4F1EA"/>
          </a:solidFill>
          <a:ln w="12700">
            <a:solidFill>
              <a:srgbClr val="F4F1EA"/>
            </a:solidFill>
            <a:prstDash val="solid"/>
          </a:ln>
        </p:spPr>
      </p:sp>
      <p:pic>
        <p:nvPicPr>
          <p:cNvPr id="47" name="Image 5" descr="preencoded.png">    </p:cNvPr>
          <p:cNvPicPr>
            <a:picLocks noChangeAspect="1"/>
          </p:cNvPicPr>
          <p:nvPr/>
        </p:nvPicPr>
        <p:blipFill>
          <a:blip r:embed="rId6"/>
          <a:stretch>
            <a:fillRect/>
          </a:stretch>
        </p:blipFill>
        <p:spPr>
          <a:xfrm>
            <a:off x="2545080" y="2249424"/>
            <a:ext cx="649224" cy="649224"/>
          </a:xfrm>
          <a:prstGeom prst="rect">
            <a:avLst/>
          </a:prstGeom>
        </p:spPr>
      </p:pic>
      <p:sp>
        <p:nvSpPr>
          <p:cNvPr id="48" name="Text 39"/>
          <p:cNvSpPr txBox="1"/>
          <p:nvPr/>
        </p:nvSpPr>
        <p:spPr>
          <a:xfrm>
            <a:off x="594360"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the bill?</a:t>
            </a:r>
            <a:endParaRPr lang="en-US" sz="1100" dirty="0"/>
          </a:p>
        </p:txBody>
      </p:sp>
      <p:sp>
        <p:nvSpPr>
          <p:cNvPr id="49" name="Shape 40"/>
          <p:cNvSpPr/>
          <p:nvPr/>
        </p:nvSpPr>
        <p:spPr>
          <a:xfrm>
            <a:off x="457200" y="3675888"/>
            <a:ext cx="3636264" cy="2633472"/>
          </a:xfrm>
          <a:prstGeom prst="roundRect">
            <a:avLst>
              <a:gd name="adj" fmla="val 2778"/>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50" name="Shape 41"/>
          <p:cNvSpPr/>
          <p:nvPr/>
        </p:nvSpPr>
        <p:spPr>
          <a:xfrm>
            <a:off x="3617976" y="3785616"/>
            <a:ext cx="329184" cy="329184"/>
          </a:xfrm>
          <a:prstGeom prst="ellipse">
            <a:avLst/>
          </a:prstGeom>
          <a:solidFill>
            <a:srgbClr val="2E8B57"/>
          </a:solidFill>
          <a:ln w="12700">
            <a:solidFill>
              <a:srgbClr val="2E8B57"/>
            </a:solidFill>
            <a:prstDash val="solid"/>
          </a:ln>
        </p:spPr>
      </p:sp>
      <p:sp>
        <p:nvSpPr>
          <p:cNvPr id="51" name="Text 42"/>
          <p:cNvSpPr txBox="1"/>
          <p:nvPr/>
        </p:nvSpPr>
        <p:spPr>
          <a:xfrm>
            <a:off x="3617976" y="3785616"/>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B</a:t>
            </a:r>
            <a:endParaRPr lang="en-US" sz="1100" dirty="0"/>
          </a:p>
        </p:txBody>
      </p:sp>
      <p:sp>
        <p:nvSpPr>
          <p:cNvPr id="52" name="Text 43"/>
          <p:cNvSpPr txBox="1"/>
          <p:nvPr/>
        </p:nvSpPr>
        <p:spPr>
          <a:xfrm>
            <a:off x="594360" y="4160520"/>
            <a:ext cx="3361944" cy="1143000"/>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كَمِ الحِسَابُ؟</a:t>
            </a:r>
            <a:endParaRPr lang="ar-SA" sz="2200" dirty="0"/>
          </a:p>
        </p:txBody>
      </p:sp>
      <p:sp>
        <p:nvSpPr>
          <p:cNvPr id="53" name="Text 44"/>
          <p:cNvSpPr txBox="1"/>
          <p:nvPr/>
        </p:nvSpPr>
        <p:spPr>
          <a:xfrm>
            <a:off x="594360" y="5349240"/>
            <a:ext cx="3361944" cy="822960"/>
          </a:xfrm>
          <a:prstGeom prst="rect">
            <a:avLst/>
          </a:prstGeom>
          <a:noFill/>
          <a:ln/>
        </p:spPr>
        <p:txBody>
          <a:bodyPr wrap="square" lIns="0" tIns="0" rIns="0" bIns="0" rtlCol="0" anchor="t"/>
          <a:lstStyle/>
          <a:p>
            <a:pPr algn="ctr" indent="0" marL="0">
              <a:buNone/>
            </a:pPr>
            <a:r>
              <a:rPr lang="en-US" sz="1200" i="1" dirty="0">
                <a:solidFill>
                  <a:srgbClr val="5A6472"/>
                </a:solidFill>
                <a:latin typeface="Calibri" pitchFamily="34" charset="0"/>
                <a:cs typeface="Amiri" pitchFamily="2" charset="-78"/>
              </a:rPr>
              <a:t>How much is the bill?</a:t>
            </a:r>
            <a:endParaRPr lang="en-US" sz="1200" dirty="0"/>
          </a:p>
        </p:txBody>
      </p:sp>
      <p:sp>
        <p:nvSpPr>
          <p:cNvPr id="54"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21 / 43</a:t>
            </a:r>
            <a:endParaRPr lang="en-US" sz="8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F5-L05 · Ordering Politely</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WEBSITE SORTER</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Build the transaction</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صَنِّفْ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F5 · Food, Health and Body · F5-L05</a:t>
            </a:r>
            <a:endParaRPr lang="en-US" sz="850" dirty="0"/>
          </a:p>
        </p:txBody>
      </p:sp>
      <p:sp>
        <p:nvSpPr>
          <p:cNvPr id="15" name="Shape 12"/>
          <p:cNvSpPr/>
          <p:nvPr/>
        </p:nvSpPr>
        <p:spPr>
          <a:xfrm>
            <a:off x="9015984"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9107424" y="1810512"/>
            <a:ext cx="2532888" cy="438912"/>
          </a:xfrm>
          <a:prstGeom prst="rect">
            <a:avLst/>
          </a:prstGeom>
          <a:noFill/>
          <a:ln/>
        </p:spPr>
        <p:txBody>
          <a:bodyPr wrap="square" lIns="0" tIns="0" rIns="0" bIns="0" rtlCol="0" anchor="ctr"/>
          <a:lstStyle/>
          <a:p>
            <a:pPr rtl="1" algn="ctr" indent="0" marL="0">
              <a:buNone/>
            </a:pPr>
            <a:r>
              <a:rPr lang="ar-SA" altLang="en-US" sz="1400" b="1" dirty="0">
                <a:solidFill>
                  <a:srgbClr val="1B3B6F"/>
                </a:solidFill>
                <a:latin typeface="Amiri" pitchFamily="2" charset="-78"/>
                <a:ea typeface="Amiri" pitchFamily="2" charset="-78"/>
                <a:cs typeface="Amiri" pitchFamily="2" charset="-78"/>
              </a:rPr>
              <a:t>السَّلَامُ عَلَيْكُمْ. هَلْ هٰذِهِ الطَّاوِلَةُ شَاغِرَةٌ؟</a:t>
            </a:r>
            <a:endParaRPr lang="ar-SA" sz="1400" dirty="0"/>
          </a:p>
        </p:txBody>
      </p:sp>
      <p:sp>
        <p:nvSpPr>
          <p:cNvPr id="17" name="Shape 14"/>
          <p:cNvSpPr/>
          <p:nvPr/>
        </p:nvSpPr>
        <p:spPr>
          <a:xfrm>
            <a:off x="6163056"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18" name="Text 15"/>
          <p:cNvSpPr txBox="1"/>
          <p:nvPr/>
        </p:nvSpPr>
        <p:spPr>
          <a:xfrm>
            <a:off x="6254496"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أُرِيدُ حَسَاءً وَخُبْزًا، مِنْ فَضْلِكَ.</a:t>
            </a:r>
            <a:endParaRPr lang="ar-SA" sz="1800" dirty="0"/>
          </a:p>
        </p:txBody>
      </p:sp>
      <p:sp>
        <p:nvSpPr>
          <p:cNvPr id="19" name="Shape 16"/>
          <p:cNvSpPr/>
          <p:nvPr/>
        </p:nvSpPr>
        <p:spPr>
          <a:xfrm>
            <a:off x="3310128"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0" name="Text 17"/>
          <p:cNvSpPr txBox="1"/>
          <p:nvPr/>
        </p:nvSpPr>
        <p:spPr>
          <a:xfrm>
            <a:off x="3401568"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هَلْ عِنْدَكُمْ عَصِيرُ تُفَّاحٍ؟</a:t>
            </a:r>
            <a:endParaRPr lang="ar-SA" sz="1800" dirty="0"/>
          </a:p>
        </p:txBody>
      </p:sp>
      <p:sp>
        <p:nvSpPr>
          <p:cNvPr id="21" name="Shape 18"/>
          <p:cNvSpPr/>
          <p:nvPr/>
        </p:nvSpPr>
        <p:spPr>
          <a:xfrm>
            <a:off x="457200"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548640"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شُكْرًا جَزِيلًا.</a:t>
            </a:r>
            <a:endParaRPr lang="ar-SA" sz="1800" dirty="0"/>
          </a:p>
        </p:txBody>
      </p:sp>
      <p:sp>
        <p:nvSpPr>
          <p:cNvPr id="23" name="Shape 20"/>
          <p:cNvSpPr/>
          <p:nvPr/>
        </p:nvSpPr>
        <p:spPr>
          <a:xfrm>
            <a:off x="9015984"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4" name="Text 21"/>
          <p:cNvSpPr txBox="1"/>
          <p:nvPr/>
        </p:nvSpPr>
        <p:spPr>
          <a:xfrm>
            <a:off x="9107424"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الحِسَابُ، لَوْ سَمَحْتِ.</a:t>
            </a:r>
            <a:endParaRPr lang="ar-SA" sz="1800" dirty="0"/>
          </a:p>
        </p:txBody>
      </p:sp>
      <p:sp>
        <p:nvSpPr>
          <p:cNvPr id="25" name="Shape 22"/>
          <p:cNvSpPr/>
          <p:nvPr/>
        </p:nvSpPr>
        <p:spPr>
          <a:xfrm>
            <a:off x="6163056"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6" name="Text 23"/>
          <p:cNvSpPr txBox="1"/>
          <p:nvPr/>
        </p:nvSpPr>
        <p:spPr>
          <a:xfrm>
            <a:off x="6254496"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مَسَاءُ الخَيْرِ.</a:t>
            </a:r>
            <a:endParaRPr lang="ar-SA" sz="1800" dirty="0"/>
          </a:p>
        </p:txBody>
      </p:sp>
      <p:sp>
        <p:nvSpPr>
          <p:cNvPr id="27" name="Shape 24"/>
          <p:cNvSpPr/>
          <p:nvPr/>
        </p:nvSpPr>
        <p:spPr>
          <a:xfrm>
            <a:off x="8095488" y="3017520"/>
            <a:ext cx="3636264" cy="3291840"/>
          </a:xfrm>
          <a:prstGeom prst="roundRect">
            <a:avLst>
              <a:gd name="adj" fmla="val 2222"/>
            </a:avLst>
          </a:prstGeom>
          <a:solidFill>
            <a:srgbClr val="EEF3FA"/>
          </a:solidFill>
          <a:ln w="9525">
            <a:solidFill>
              <a:srgbClr val="C9D6EA"/>
            </a:solidFill>
            <a:prstDash val="solid"/>
          </a:ln>
        </p:spPr>
      </p:sp>
      <p:sp>
        <p:nvSpPr>
          <p:cNvPr id="28" name="Shape 25"/>
          <p:cNvSpPr/>
          <p:nvPr/>
        </p:nvSpPr>
        <p:spPr>
          <a:xfrm>
            <a:off x="8232648" y="3127248"/>
            <a:ext cx="3361944" cy="310896"/>
          </a:xfrm>
          <a:prstGeom prst="roundRect">
            <a:avLst>
              <a:gd name="adj" fmla="val 50000"/>
            </a:avLst>
          </a:prstGeom>
          <a:solidFill>
            <a:srgbClr val="2F6FB0"/>
          </a:solidFill>
          <a:ln w="12700">
            <a:solidFill>
              <a:srgbClr val="2F6FB0"/>
            </a:solidFill>
            <a:prstDash val="solid"/>
          </a:ln>
        </p:spPr>
      </p:sp>
      <p:sp>
        <p:nvSpPr>
          <p:cNvPr id="29" name="Text 26"/>
          <p:cNvSpPr txBox="1"/>
          <p:nvPr/>
        </p:nvSpPr>
        <p:spPr>
          <a:xfrm>
            <a:off x="8232648" y="3127248"/>
            <a:ext cx="3361944" cy="310896"/>
          </a:xfrm>
          <a:prstGeom prst="rect">
            <a:avLst/>
          </a:prstGeom>
          <a:noFill/>
          <a:ln/>
        </p:spPr>
        <p:txBody>
          <a:bodyPr wrap="square" lIns="0" tIns="0" rIns="0" bIns="0" rtlCol="0" anchor="ctr"/>
          <a:lstStyle/>
          <a:p>
            <a:pPr algn="ctr" indent="0" marL="0">
              <a:buNone/>
            </a:pPr>
            <a:r>
              <a:rPr lang="ar-SA" sz="950" b="1" dirty="0">
                <a:solidFill>
                  <a:srgbClr val="FFFFFF"/>
                </a:solidFill>
                <a:latin typeface="Calibri" pitchFamily="34" charset="0"/>
                <a:ea typeface="Amiri" pitchFamily="2" charset="-78"/>
                <a:cs typeface="Amiri" pitchFamily="2" charset="-78"/>
              </a:rPr>
              <a:t>1 · بِدَايَةٌ · opening</a:t>
            </a:r>
            <a:endParaRPr lang="en-US" sz="950" dirty="0"/>
          </a:p>
        </p:txBody>
      </p:sp>
      <p:sp>
        <p:nvSpPr>
          <p:cNvPr id="30" name="Shape 27"/>
          <p:cNvSpPr/>
          <p:nvPr/>
        </p:nvSpPr>
        <p:spPr>
          <a:xfrm>
            <a:off x="4276344" y="3017520"/>
            <a:ext cx="3636264" cy="3291840"/>
          </a:xfrm>
          <a:prstGeom prst="roundRect">
            <a:avLst>
              <a:gd name="adj" fmla="val 2222"/>
            </a:avLst>
          </a:prstGeom>
          <a:solidFill>
            <a:srgbClr val="EEF3FA"/>
          </a:solidFill>
          <a:ln w="9525">
            <a:solidFill>
              <a:srgbClr val="C9D6EA"/>
            </a:solidFill>
            <a:prstDash val="solid"/>
          </a:ln>
        </p:spPr>
      </p:sp>
      <p:sp>
        <p:nvSpPr>
          <p:cNvPr id="31" name="Shape 28"/>
          <p:cNvSpPr/>
          <p:nvPr/>
        </p:nvSpPr>
        <p:spPr>
          <a:xfrm>
            <a:off x="4413504" y="3127248"/>
            <a:ext cx="3361944" cy="310896"/>
          </a:xfrm>
          <a:prstGeom prst="roundRect">
            <a:avLst>
              <a:gd name="adj" fmla="val 50000"/>
            </a:avLst>
          </a:prstGeom>
          <a:solidFill>
            <a:srgbClr val="2F6FB0"/>
          </a:solidFill>
          <a:ln w="12700">
            <a:solidFill>
              <a:srgbClr val="2F6FB0"/>
            </a:solidFill>
            <a:prstDash val="solid"/>
          </a:ln>
        </p:spPr>
      </p:sp>
      <p:sp>
        <p:nvSpPr>
          <p:cNvPr id="32" name="Text 29"/>
          <p:cNvSpPr txBox="1"/>
          <p:nvPr/>
        </p:nvSpPr>
        <p:spPr>
          <a:xfrm>
            <a:off x="4413504" y="3127248"/>
            <a:ext cx="3361944" cy="310896"/>
          </a:xfrm>
          <a:prstGeom prst="rect">
            <a:avLst/>
          </a:prstGeom>
          <a:noFill/>
          <a:ln/>
        </p:spPr>
        <p:txBody>
          <a:bodyPr wrap="square" lIns="0" tIns="0" rIns="0" bIns="0" rtlCol="0" anchor="ctr"/>
          <a:lstStyle/>
          <a:p>
            <a:pPr algn="ctr" indent="0" marL="0">
              <a:buNone/>
            </a:pPr>
            <a:r>
              <a:rPr lang="ar-SA" sz="950" b="1" dirty="0">
                <a:solidFill>
                  <a:srgbClr val="FFFFFF"/>
                </a:solidFill>
                <a:latin typeface="Calibri" pitchFamily="34" charset="0"/>
                <a:ea typeface="Amiri" pitchFamily="2" charset="-78"/>
                <a:cs typeface="Amiri" pitchFamily="2" charset="-78"/>
              </a:rPr>
              <a:t>2 · طَلَبٌ · ordering</a:t>
            </a:r>
            <a:endParaRPr lang="en-US" sz="950" dirty="0"/>
          </a:p>
        </p:txBody>
      </p:sp>
      <p:sp>
        <p:nvSpPr>
          <p:cNvPr id="33" name="Shape 30"/>
          <p:cNvSpPr/>
          <p:nvPr/>
        </p:nvSpPr>
        <p:spPr>
          <a:xfrm>
            <a:off x="457200" y="3017520"/>
            <a:ext cx="3636264" cy="3291840"/>
          </a:xfrm>
          <a:prstGeom prst="roundRect">
            <a:avLst>
              <a:gd name="adj" fmla="val 2222"/>
            </a:avLst>
          </a:prstGeom>
          <a:solidFill>
            <a:srgbClr val="EEF3FA"/>
          </a:solidFill>
          <a:ln w="9525">
            <a:solidFill>
              <a:srgbClr val="C9D6EA"/>
            </a:solidFill>
            <a:prstDash val="solid"/>
          </a:ln>
        </p:spPr>
      </p:sp>
      <p:sp>
        <p:nvSpPr>
          <p:cNvPr id="34" name="Shape 31"/>
          <p:cNvSpPr/>
          <p:nvPr/>
        </p:nvSpPr>
        <p:spPr>
          <a:xfrm>
            <a:off x="594360" y="3127248"/>
            <a:ext cx="3361944" cy="310896"/>
          </a:xfrm>
          <a:prstGeom prst="roundRect">
            <a:avLst>
              <a:gd name="adj" fmla="val 50000"/>
            </a:avLst>
          </a:prstGeom>
          <a:solidFill>
            <a:srgbClr val="2F6FB0"/>
          </a:solidFill>
          <a:ln w="12700">
            <a:solidFill>
              <a:srgbClr val="2F6FB0"/>
            </a:solidFill>
            <a:prstDash val="solid"/>
          </a:ln>
        </p:spPr>
      </p:sp>
      <p:sp>
        <p:nvSpPr>
          <p:cNvPr id="35" name="Text 32"/>
          <p:cNvSpPr txBox="1"/>
          <p:nvPr/>
        </p:nvSpPr>
        <p:spPr>
          <a:xfrm>
            <a:off x="594360" y="3127248"/>
            <a:ext cx="3361944" cy="310896"/>
          </a:xfrm>
          <a:prstGeom prst="rect">
            <a:avLst/>
          </a:prstGeom>
          <a:noFill/>
          <a:ln/>
        </p:spPr>
        <p:txBody>
          <a:bodyPr wrap="square" lIns="0" tIns="0" rIns="0" bIns="0" rtlCol="0" anchor="ctr"/>
          <a:lstStyle/>
          <a:p>
            <a:pPr algn="ctr" indent="0" marL="0">
              <a:buNone/>
            </a:pPr>
            <a:r>
              <a:rPr lang="ar-SA" sz="950" b="1" dirty="0">
                <a:solidFill>
                  <a:srgbClr val="FFFFFF"/>
                </a:solidFill>
                <a:latin typeface="Calibri" pitchFamily="34" charset="0"/>
                <a:ea typeface="Amiri" pitchFamily="2" charset="-78"/>
                <a:cs typeface="Amiri" pitchFamily="2" charset="-78"/>
              </a:rPr>
              <a:t>3 · خِتَامٌ · closing</a:t>
            </a:r>
            <a:endParaRPr lang="en-US" sz="950" dirty="0"/>
          </a:p>
        </p:txBody>
      </p:sp>
      <p:sp>
        <p:nvSpPr>
          <p:cNvPr id="36" name="Text 3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22 / 43</a:t>
            </a:r>
            <a:endParaRPr lang="en-US" sz="8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F5-L05 · Ordering Politely</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SORTER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Sorted</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F5 · Food, Health and Body · F5-L05</a:t>
            </a:r>
            <a:endParaRPr lang="en-US" sz="850" dirty="0"/>
          </a:p>
        </p:txBody>
      </p:sp>
      <p:sp>
        <p:nvSpPr>
          <p:cNvPr id="15" name="Shape 12"/>
          <p:cNvSpPr/>
          <p:nvPr/>
        </p:nvSpPr>
        <p:spPr>
          <a:xfrm>
            <a:off x="8095488" y="1810512"/>
            <a:ext cx="3636264" cy="4498848"/>
          </a:xfrm>
          <a:prstGeom prst="roundRect">
            <a:avLst>
              <a:gd name="adj" fmla="val 2012"/>
            </a:avLst>
          </a:prstGeom>
          <a:solidFill>
            <a:srgbClr val="EEF3FA"/>
          </a:solidFill>
          <a:ln w="9525">
            <a:solidFill>
              <a:srgbClr val="C9D6EA"/>
            </a:solidFill>
            <a:prstDash val="solid"/>
          </a:ln>
        </p:spPr>
      </p:sp>
      <p:sp>
        <p:nvSpPr>
          <p:cNvPr id="16" name="Shape 13"/>
          <p:cNvSpPr/>
          <p:nvPr/>
        </p:nvSpPr>
        <p:spPr>
          <a:xfrm>
            <a:off x="8232648" y="1920240"/>
            <a:ext cx="3361944" cy="310896"/>
          </a:xfrm>
          <a:prstGeom prst="roundRect">
            <a:avLst>
              <a:gd name="adj" fmla="val 50000"/>
            </a:avLst>
          </a:prstGeom>
          <a:solidFill>
            <a:srgbClr val="2F6FB0"/>
          </a:solidFill>
          <a:ln w="12700">
            <a:solidFill>
              <a:srgbClr val="2F6FB0"/>
            </a:solidFill>
            <a:prstDash val="solid"/>
          </a:ln>
        </p:spPr>
      </p:sp>
      <p:sp>
        <p:nvSpPr>
          <p:cNvPr id="17" name="Text 14"/>
          <p:cNvSpPr txBox="1"/>
          <p:nvPr/>
        </p:nvSpPr>
        <p:spPr>
          <a:xfrm>
            <a:off x="8232648" y="1920240"/>
            <a:ext cx="3361944" cy="310896"/>
          </a:xfrm>
          <a:prstGeom prst="rect">
            <a:avLst/>
          </a:prstGeom>
          <a:noFill/>
          <a:ln/>
        </p:spPr>
        <p:txBody>
          <a:bodyPr wrap="square" lIns="0" tIns="0" rIns="0" bIns="0" rtlCol="0" anchor="ctr"/>
          <a:lstStyle/>
          <a:p>
            <a:pPr algn="ctr" indent="0" marL="0">
              <a:buNone/>
            </a:pPr>
            <a:r>
              <a:rPr lang="ar-SA" sz="950" b="1" dirty="0">
                <a:solidFill>
                  <a:srgbClr val="FFFFFF"/>
                </a:solidFill>
                <a:latin typeface="Calibri" pitchFamily="34" charset="0"/>
                <a:ea typeface="Amiri" pitchFamily="2" charset="-78"/>
                <a:cs typeface="Amiri" pitchFamily="2" charset="-78"/>
              </a:rPr>
              <a:t>1 · بِدَايَةٌ · opening</a:t>
            </a:r>
            <a:endParaRPr lang="en-US" sz="950" dirty="0"/>
          </a:p>
        </p:txBody>
      </p:sp>
      <p:sp>
        <p:nvSpPr>
          <p:cNvPr id="18" name="Shape 15"/>
          <p:cNvSpPr/>
          <p:nvPr/>
        </p:nvSpPr>
        <p:spPr>
          <a:xfrm>
            <a:off x="8232648" y="2377440"/>
            <a:ext cx="3361944" cy="438912"/>
          </a:xfrm>
          <a:prstGeom prst="roundRect">
            <a:avLst>
              <a:gd name="adj" fmla="val 12500"/>
            </a:avLst>
          </a:prstGeom>
          <a:solidFill>
            <a:srgbClr val="FFF4DC"/>
          </a:solidFill>
          <a:ln w="9525">
            <a:solidFill>
              <a:srgbClr val="E6C98A"/>
            </a:solidFill>
            <a:prstDash val="solid"/>
          </a:ln>
        </p:spPr>
      </p:sp>
      <p:sp>
        <p:nvSpPr>
          <p:cNvPr id="19" name="Text 16"/>
          <p:cNvSpPr txBox="1"/>
          <p:nvPr/>
        </p:nvSpPr>
        <p:spPr>
          <a:xfrm>
            <a:off x="8324088" y="2377440"/>
            <a:ext cx="3179064" cy="438912"/>
          </a:xfrm>
          <a:prstGeom prst="rect">
            <a:avLst/>
          </a:prstGeom>
          <a:noFill/>
          <a:ln/>
        </p:spPr>
        <p:txBody>
          <a:bodyPr wrap="square" lIns="0" tIns="0" rIns="0" bIns="0" rtlCol="0" anchor="ctr"/>
          <a:lstStyle/>
          <a:p>
            <a:pPr rtl="1" algn="ctr" indent="0" marL="0">
              <a:buNone/>
            </a:pPr>
            <a:r>
              <a:rPr lang="ar-SA" altLang="en-US" sz="1750" b="1" dirty="0">
                <a:solidFill>
                  <a:srgbClr val="1B3B6F"/>
                </a:solidFill>
                <a:latin typeface="Amiri" pitchFamily="2" charset="-78"/>
                <a:ea typeface="Amiri" pitchFamily="2" charset="-78"/>
                <a:cs typeface="Amiri" pitchFamily="2" charset="-78"/>
              </a:rPr>
              <a:t>السَّلَامُ عَلَيْكُمْ. هَلْ هٰذِهِ الطَّاوِلَةُ شَاغِرَةٌ؟</a:t>
            </a:r>
            <a:endParaRPr lang="ar-SA" sz="1750" dirty="0"/>
          </a:p>
        </p:txBody>
      </p:sp>
      <p:sp>
        <p:nvSpPr>
          <p:cNvPr id="20" name="Shape 17"/>
          <p:cNvSpPr/>
          <p:nvPr/>
        </p:nvSpPr>
        <p:spPr>
          <a:xfrm>
            <a:off x="8232648" y="2889504"/>
            <a:ext cx="3361944" cy="438912"/>
          </a:xfrm>
          <a:prstGeom prst="roundRect">
            <a:avLst>
              <a:gd name="adj" fmla="val 12500"/>
            </a:avLst>
          </a:prstGeom>
          <a:solidFill>
            <a:srgbClr val="FFF4DC"/>
          </a:solidFill>
          <a:ln w="9525">
            <a:solidFill>
              <a:srgbClr val="E6C98A"/>
            </a:solidFill>
            <a:prstDash val="solid"/>
          </a:ln>
        </p:spPr>
      </p:sp>
      <p:sp>
        <p:nvSpPr>
          <p:cNvPr id="21" name="Text 18"/>
          <p:cNvSpPr txBox="1"/>
          <p:nvPr/>
        </p:nvSpPr>
        <p:spPr>
          <a:xfrm>
            <a:off x="8324088" y="2889504"/>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مَسَاءُ الخَيْرِ.</a:t>
            </a:r>
            <a:endParaRPr lang="ar-SA" sz="1800" dirty="0"/>
          </a:p>
        </p:txBody>
      </p:sp>
      <p:sp>
        <p:nvSpPr>
          <p:cNvPr id="22" name="Shape 19"/>
          <p:cNvSpPr/>
          <p:nvPr/>
        </p:nvSpPr>
        <p:spPr>
          <a:xfrm>
            <a:off x="4276344" y="1810512"/>
            <a:ext cx="3636264" cy="4498848"/>
          </a:xfrm>
          <a:prstGeom prst="roundRect">
            <a:avLst>
              <a:gd name="adj" fmla="val 2012"/>
            </a:avLst>
          </a:prstGeom>
          <a:solidFill>
            <a:srgbClr val="EEF3FA"/>
          </a:solidFill>
          <a:ln w="9525">
            <a:solidFill>
              <a:srgbClr val="C9D6EA"/>
            </a:solidFill>
            <a:prstDash val="solid"/>
          </a:ln>
        </p:spPr>
      </p:sp>
      <p:sp>
        <p:nvSpPr>
          <p:cNvPr id="23" name="Shape 20"/>
          <p:cNvSpPr/>
          <p:nvPr/>
        </p:nvSpPr>
        <p:spPr>
          <a:xfrm>
            <a:off x="4413504" y="1920240"/>
            <a:ext cx="3361944" cy="310896"/>
          </a:xfrm>
          <a:prstGeom prst="roundRect">
            <a:avLst>
              <a:gd name="adj" fmla="val 50000"/>
            </a:avLst>
          </a:prstGeom>
          <a:solidFill>
            <a:srgbClr val="2F6FB0"/>
          </a:solidFill>
          <a:ln w="12700">
            <a:solidFill>
              <a:srgbClr val="2F6FB0"/>
            </a:solidFill>
            <a:prstDash val="solid"/>
          </a:ln>
        </p:spPr>
      </p:sp>
      <p:sp>
        <p:nvSpPr>
          <p:cNvPr id="24" name="Text 21"/>
          <p:cNvSpPr txBox="1"/>
          <p:nvPr/>
        </p:nvSpPr>
        <p:spPr>
          <a:xfrm>
            <a:off x="4413504" y="1920240"/>
            <a:ext cx="3361944" cy="310896"/>
          </a:xfrm>
          <a:prstGeom prst="rect">
            <a:avLst/>
          </a:prstGeom>
          <a:noFill/>
          <a:ln/>
        </p:spPr>
        <p:txBody>
          <a:bodyPr wrap="square" lIns="0" tIns="0" rIns="0" bIns="0" rtlCol="0" anchor="ctr"/>
          <a:lstStyle/>
          <a:p>
            <a:pPr algn="ctr" indent="0" marL="0">
              <a:buNone/>
            </a:pPr>
            <a:r>
              <a:rPr lang="ar-SA" sz="950" b="1" dirty="0">
                <a:solidFill>
                  <a:srgbClr val="FFFFFF"/>
                </a:solidFill>
                <a:latin typeface="Calibri" pitchFamily="34" charset="0"/>
                <a:ea typeface="Amiri" pitchFamily="2" charset="-78"/>
                <a:cs typeface="Amiri" pitchFamily="2" charset="-78"/>
              </a:rPr>
              <a:t>2 · طَلَبٌ · ordering</a:t>
            </a:r>
            <a:endParaRPr lang="en-US" sz="950" dirty="0"/>
          </a:p>
        </p:txBody>
      </p:sp>
      <p:sp>
        <p:nvSpPr>
          <p:cNvPr id="25" name="Shape 22"/>
          <p:cNvSpPr/>
          <p:nvPr/>
        </p:nvSpPr>
        <p:spPr>
          <a:xfrm>
            <a:off x="4413504" y="2377440"/>
            <a:ext cx="3361944" cy="438912"/>
          </a:xfrm>
          <a:prstGeom prst="roundRect">
            <a:avLst>
              <a:gd name="adj" fmla="val 12500"/>
            </a:avLst>
          </a:prstGeom>
          <a:solidFill>
            <a:srgbClr val="FFF4DC"/>
          </a:solidFill>
          <a:ln w="9525">
            <a:solidFill>
              <a:srgbClr val="E6C98A"/>
            </a:solidFill>
            <a:prstDash val="solid"/>
          </a:ln>
        </p:spPr>
      </p:sp>
      <p:sp>
        <p:nvSpPr>
          <p:cNvPr id="26" name="Text 23"/>
          <p:cNvSpPr txBox="1"/>
          <p:nvPr/>
        </p:nvSpPr>
        <p:spPr>
          <a:xfrm>
            <a:off x="4504944" y="2377440"/>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أُرِيدُ حَسَاءً وَخُبْزًا، مِنْ فَضْلِكَ.</a:t>
            </a:r>
            <a:endParaRPr lang="ar-SA" sz="1800" dirty="0"/>
          </a:p>
        </p:txBody>
      </p:sp>
      <p:sp>
        <p:nvSpPr>
          <p:cNvPr id="27" name="Shape 24"/>
          <p:cNvSpPr/>
          <p:nvPr/>
        </p:nvSpPr>
        <p:spPr>
          <a:xfrm>
            <a:off x="4413504" y="2889504"/>
            <a:ext cx="3361944" cy="438912"/>
          </a:xfrm>
          <a:prstGeom prst="roundRect">
            <a:avLst>
              <a:gd name="adj" fmla="val 12500"/>
            </a:avLst>
          </a:prstGeom>
          <a:solidFill>
            <a:srgbClr val="FFF4DC"/>
          </a:solidFill>
          <a:ln w="9525">
            <a:solidFill>
              <a:srgbClr val="E6C98A"/>
            </a:solidFill>
            <a:prstDash val="solid"/>
          </a:ln>
        </p:spPr>
      </p:sp>
      <p:sp>
        <p:nvSpPr>
          <p:cNvPr id="28" name="Text 25"/>
          <p:cNvSpPr txBox="1"/>
          <p:nvPr/>
        </p:nvSpPr>
        <p:spPr>
          <a:xfrm>
            <a:off x="4504944" y="2889504"/>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هَلْ عِنْدَكُمْ عَصِيرُ تُفَّاحٍ؟</a:t>
            </a:r>
            <a:endParaRPr lang="ar-SA" sz="1800" dirty="0"/>
          </a:p>
        </p:txBody>
      </p:sp>
      <p:sp>
        <p:nvSpPr>
          <p:cNvPr id="29" name="Shape 26"/>
          <p:cNvSpPr/>
          <p:nvPr/>
        </p:nvSpPr>
        <p:spPr>
          <a:xfrm>
            <a:off x="457200" y="1810512"/>
            <a:ext cx="3636264" cy="4498848"/>
          </a:xfrm>
          <a:prstGeom prst="roundRect">
            <a:avLst>
              <a:gd name="adj" fmla="val 2012"/>
            </a:avLst>
          </a:prstGeom>
          <a:solidFill>
            <a:srgbClr val="EEF3FA"/>
          </a:solidFill>
          <a:ln w="9525">
            <a:solidFill>
              <a:srgbClr val="C9D6EA"/>
            </a:solidFill>
            <a:prstDash val="solid"/>
          </a:ln>
        </p:spPr>
      </p:sp>
      <p:sp>
        <p:nvSpPr>
          <p:cNvPr id="30" name="Shape 27"/>
          <p:cNvSpPr/>
          <p:nvPr/>
        </p:nvSpPr>
        <p:spPr>
          <a:xfrm>
            <a:off x="594360" y="1920240"/>
            <a:ext cx="3361944" cy="310896"/>
          </a:xfrm>
          <a:prstGeom prst="roundRect">
            <a:avLst>
              <a:gd name="adj" fmla="val 50000"/>
            </a:avLst>
          </a:prstGeom>
          <a:solidFill>
            <a:srgbClr val="2F6FB0"/>
          </a:solidFill>
          <a:ln w="12700">
            <a:solidFill>
              <a:srgbClr val="2F6FB0"/>
            </a:solidFill>
            <a:prstDash val="solid"/>
          </a:ln>
        </p:spPr>
      </p:sp>
      <p:sp>
        <p:nvSpPr>
          <p:cNvPr id="31" name="Text 28"/>
          <p:cNvSpPr txBox="1"/>
          <p:nvPr/>
        </p:nvSpPr>
        <p:spPr>
          <a:xfrm>
            <a:off x="594360" y="1920240"/>
            <a:ext cx="3361944" cy="310896"/>
          </a:xfrm>
          <a:prstGeom prst="rect">
            <a:avLst/>
          </a:prstGeom>
          <a:noFill/>
          <a:ln/>
        </p:spPr>
        <p:txBody>
          <a:bodyPr wrap="square" lIns="0" tIns="0" rIns="0" bIns="0" rtlCol="0" anchor="ctr"/>
          <a:lstStyle/>
          <a:p>
            <a:pPr algn="ctr" indent="0" marL="0">
              <a:buNone/>
            </a:pPr>
            <a:r>
              <a:rPr lang="ar-SA" sz="950" b="1" dirty="0">
                <a:solidFill>
                  <a:srgbClr val="FFFFFF"/>
                </a:solidFill>
                <a:latin typeface="Calibri" pitchFamily="34" charset="0"/>
                <a:ea typeface="Amiri" pitchFamily="2" charset="-78"/>
                <a:cs typeface="Amiri" pitchFamily="2" charset="-78"/>
              </a:rPr>
              <a:t>3 · خِتَامٌ · closing</a:t>
            </a:r>
            <a:endParaRPr lang="en-US" sz="950" dirty="0"/>
          </a:p>
        </p:txBody>
      </p:sp>
      <p:sp>
        <p:nvSpPr>
          <p:cNvPr id="32" name="Shape 29"/>
          <p:cNvSpPr/>
          <p:nvPr/>
        </p:nvSpPr>
        <p:spPr>
          <a:xfrm>
            <a:off x="594360" y="2377440"/>
            <a:ext cx="3361944" cy="438912"/>
          </a:xfrm>
          <a:prstGeom prst="roundRect">
            <a:avLst>
              <a:gd name="adj" fmla="val 12500"/>
            </a:avLst>
          </a:prstGeom>
          <a:solidFill>
            <a:srgbClr val="FFF4DC"/>
          </a:solidFill>
          <a:ln w="9525">
            <a:solidFill>
              <a:srgbClr val="E6C98A"/>
            </a:solidFill>
            <a:prstDash val="solid"/>
          </a:ln>
        </p:spPr>
      </p:sp>
      <p:sp>
        <p:nvSpPr>
          <p:cNvPr id="33" name="Text 30"/>
          <p:cNvSpPr txBox="1"/>
          <p:nvPr/>
        </p:nvSpPr>
        <p:spPr>
          <a:xfrm>
            <a:off x="685800" y="2377440"/>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شُكْرًا جَزِيلًا.</a:t>
            </a:r>
            <a:endParaRPr lang="ar-SA" sz="1800" dirty="0"/>
          </a:p>
        </p:txBody>
      </p:sp>
      <p:sp>
        <p:nvSpPr>
          <p:cNvPr id="34" name="Shape 31"/>
          <p:cNvSpPr/>
          <p:nvPr/>
        </p:nvSpPr>
        <p:spPr>
          <a:xfrm>
            <a:off x="594360" y="2889504"/>
            <a:ext cx="3361944" cy="438912"/>
          </a:xfrm>
          <a:prstGeom prst="roundRect">
            <a:avLst>
              <a:gd name="adj" fmla="val 12500"/>
            </a:avLst>
          </a:prstGeom>
          <a:solidFill>
            <a:srgbClr val="FFF4DC"/>
          </a:solidFill>
          <a:ln w="9525">
            <a:solidFill>
              <a:srgbClr val="E6C98A"/>
            </a:solidFill>
            <a:prstDash val="solid"/>
          </a:ln>
        </p:spPr>
      </p:sp>
      <p:sp>
        <p:nvSpPr>
          <p:cNvPr id="35" name="Text 32"/>
          <p:cNvSpPr txBox="1"/>
          <p:nvPr/>
        </p:nvSpPr>
        <p:spPr>
          <a:xfrm>
            <a:off x="685800" y="2889504"/>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الحِسَابُ، لَوْ سَمَحْتِ.</a:t>
            </a:r>
            <a:endParaRPr lang="ar-SA" sz="1800" dirty="0"/>
          </a:p>
        </p:txBody>
      </p:sp>
      <p:sp>
        <p:nvSpPr>
          <p:cNvPr id="36" name="Text 3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23 / 43</a:t>
            </a:r>
            <a:endParaRPr lang="en-US" sz="8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F5-L05 · Ordering Politely</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GUIDED PRACTICE · WEBSITE QUIZ QUESTIONS 4, 5, 8</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More practice</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تَدْرِيبٌ إِضَافِيٌّ</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F5 · Food, Health and Body · F5-L05</a:t>
            </a:r>
            <a:endParaRPr lang="en-US" sz="850" dirty="0"/>
          </a:p>
        </p:txBody>
      </p:sp>
      <p:sp>
        <p:nvSpPr>
          <p:cNvPr id="17" name="Shape 14"/>
          <p:cNvSpPr/>
          <p:nvPr/>
        </p:nvSpPr>
        <p:spPr>
          <a:xfrm>
            <a:off x="457200" y="1810512"/>
            <a:ext cx="3636264" cy="4498848"/>
          </a:xfrm>
          <a:prstGeom prst="roundRect">
            <a:avLst>
              <a:gd name="adj" fmla="val 2012"/>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20" name="Text 17"/>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ea typeface="Amiri" pitchFamily="2" charset="-78"/>
                <a:cs typeface="Amiri" pitchFamily="2" charset="-78"/>
              </a:rPr>
              <a:t>أَمْ</a:t>
            </a:r>
            <a:pPr algn="l" indent="0" marL="0">
              <a:buNone/>
            </a:pPr>
            <a:r>
              <a:rPr lang="en-US" sz="1250" b="1" dirty="0">
                <a:solidFill>
                  <a:srgbClr val="1B3B6F"/>
                </a:solidFill>
                <a:latin typeface="Calibri" pitchFamily="34" charset="0"/>
                <a:cs typeface="Amiri" pitchFamily="2" charset="-78"/>
              </a:rPr>
              <a:t> do in a question?</a:t>
            </a:r>
            <a:endParaRPr lang="en-US" sz="1250" dirty="0"/>
          </a:p>
        </p:txBody>
      </p:sp>
      <p:sp>
        <p:nvSpPr>
          <p:cNvPr id="21" name="Shape 18"/>
          <p:cNvSpPr/>
          <p:nvPr/>
        </p:nvSpPr>
        <p:spPr>
          <a:xfrm>
            <a:off x="640080" y="2532888"/>
            <a:ext cx="256032" cy="256032"/>
          </a:xfrm>
          <a:prstGeom prst="ellipse">
            <a:avLst/>
          </a:prstGeom>
          <a:solidFill>
            <a:srgbClr val="F4F1EA"/>
          </a:solidFill>
          <a:ln w="12700">
            <a:solidFill>
              <a:srgbClr val="F4F1EA"/>
            </a:solidFill>
            <a:prstDash val="solid"/>
          </a:ln>
        </p:spPr>
      </p:sp>
      <p:sp>
        <p:nvSpPr>
          <p:cNvPr id="22" name="Text 19"/>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3" name="Text 20"/>
          <p:cNvSpPr txBox="1"/>
          <p:nvPr/>
        </p:nvSpPr>
        <p:spPr>
          <a:xfrm>
            <a:off x="969264"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gives a reason</a:t>
            </a:r>
            <a:endParaRPr lang="en-US" sz="1250" dirty="0"/>
          </a:p>
        </p:txBody>
      </p:sp>
      <p:sp>
        <p:nvSpPr>
          <p:cNvPr id="24" name="Shape 21"/>
          <p:cNvSpPr/>
          <p:nvPr/>
        </p:nvSpPr>
        <p:spPr>
          <a:xfrm>
            <a:off x="640080" y="2990088"/>
            <a:ext cx="256032" cy="256032"/>
          </a:xfrm>
          <a:prstGeom prst="ellipse">
            <a:avLst/>
          </a:prstGeom>
          <a:solidFill>
            <a:srgbClr val="F4F1EA"/>
          </a:solidFill>
          <a:ln w="12700">
            <a:solidFill>
              <a:srgbClr val="F4F1EA"/>
            </a:solidFill>
            <a:prstDash val="solid"/>
          </a:ln>
        </p:spPr>
      </p:sp>
      <p:sp>
        <p:nvSpPr>
          <p:cNvPr id="25" name="Text 22"/>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6" name="Text 23"/>
          <p:cNvSpPr txBox="1"/>
          <p:nvPr/>
        </p:nvSpPr>
        <p:spPr>
          <a:xfrm>
            <a:off x="969264"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makes a negative</a:t>
            </a:r>
            <a:endParaRPr lang="en-US" sz="1250" dirty="0"/>
          </a:p>
        </p:txBody>
      </p:sp>
      <p:sp>
        <p:nvSpPr>
          <p:cNvPr id="27" name="Shape 24"/>
          <p:cNvSpPr/>
          <p:nvPr/>
        </p:nvSpPr>
        <p:spPr>
          <a:xfrm>
            <a:off x="640080" y="3447288"/>
            <a:ext cx="256032" cy="256032"/>
          </a:xfrm>
          <a:prstGeom prst="ellipse">
            <a:avLst/>
          </a:prstGeom>
          <a:solidFill>
            <a:srgbClr val="F4F1EA"/>
          </a:solidFill>
          <a:ln w="12700">
            <a:solidFill>
              <a:srgbClr val="F4F1EA"/>
            </a:solidFill>
            <a:prstDash val="solid"/>
          </a:ln>
        </p:spPr>
      </p:sp>
      <p:sp>
        <p:nvSpPr>
          <p:cNvPr id="28" name="Text 25"/>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9" name="Text 26"/>
          <p:cNvSpPr txBox="1"/>
          <p:nvPr/>
        </p:nvSpPr>
        <p:spPr>
          <a:xfrm>
            <a:off x="969264"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joins alternatives</a:t>
            </a:r>
            <a:endParaRPr lang="en-US" sz="1250" dirty="0"/>
          </a:p>
        </p:txBody>
      </p:sp>
      <p:sp>
        <p:nvSpPr>
          <p:cNvPr id="30" name="Shape 27"/>
          <p:cNvSpPr/>
          <p:nvPr/>
        </p:nvSpPr>
        <p:spPr>
          <a:xfrm>
            <a:off x="4276344" y="1810512"/>
            <a:ext cx="3636264" cy="4498848"/>
          </a:xfrm>
          <a:prstGeom prst="roundRect">
            <a:avLst>
              <a:gd name="adj" fmla="val 2012"/>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6</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polite request for the bill.</a:t>
            </a:r>
            <a:endParaRPr lang="en-US" sz="1250" dirty="0"/>
          </a:p>
        </p:txBody>
      </p:sp>
      <p:sp>
        <p:nvSpPr>
          <p:cNvPr id="34" name="Shape 31"/>
          <p:cNvSpPr/>
          <p:nvPr/>
        </p:nvSpPr>
        <p:spPr>
          <a:xfrm>
            <a:off x="4459224" y="2532888"/>
            <a:ext cx="256032" cy="256032"/>
          </a:xfrm>
          <a:prstGeom prst="ellipse">
            <a:avLst/>
          </a:prstGeom>
          <a:solidFill>
            <a:srgbClr val="F4F1EA"/>
          </a:solidFill>
          <a:ln w="12700">
            <a:solidFill>
              <a:srgbClr val="F4F1EA"/>
            </a:solidFill>
            <a:prstDash val="solid"/>
          </a:ln>
        </p:spPr>
      </p:sp>
      <p:sp>
        <p:nvSpPr>
          <p:cNvPr id="35" name="Text 32"/>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مَا الحِسَابُ؟</a:t>
            </a:r>
            <a:endParaRPr lang="ar-SA" sz="2050" dirty="0"/>
          </a:p>
        </p:txBody>
      </p:sp>
      <p:sp>
        <p:nvSpPr>
          <p:cNvPr id="37" name="Shape 34"/>
          <p:cNvSpPr/>
          <p:nvPr/>
        </p:nvSpPr>
        <p:spPr>
          <a:xfrm>
            <a:off x="4459224" y="2990088"/>
            <a:ext cx="256032" cy="256032"/>
          </a:xfrm>
          <a:prstGeom prst="ellipse">
            <a:avLst/>
          </a:prstGeom>
          <a:solidFill>
            <a:srgbClr val="F4F1EA"/>
          </a:solidFill>
          <a:ln w="12700">
            <a:solidFill>
              <a:srgbClr val="F4F1EA"/>
            </a:solidFill>
            <a:prstDash val="solid"/>
          </a:ln>
        </p:spPr>
      </p:sp>
      <p:sp>
        <p:nvSpPr>
          <p:cNvPr id="38" name="Text 35"/>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9" name="Text 36"/>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الحِسَابُ، لَوْ سَمَحْتَ.</a:t>
            </a:r>
            <a:endParaRPr lang="ar-SA" sz="2050" dirty="0"/>
          </a:p>
        </p:txBody>
      </p:sp>
      <p:sp>
        <p:nvSpPr>
          <p:cNvPr id="40" name="Shape 37"/>
          <p:cNvSpPr/>
          <p:nvPr/>
        </p:nvSpPr>
        <p:spPr>
          <a:xfrm>
            <a:off x="4459224" y="3447288"/>
            <a:ext cx="256032" cy="256032"/>
          </a:xfrm>
          <a:prstGeom prst="ellipse">
            <a:avLst/>
          </a:prstGeom>
          <a:solidFill>
            <a:srgbClr val="F4F1EA"/>
          </a:solidFill>
          <a:ln w="12700">
            <a:solidFill>
              <a:srgbClr val="F4F1EA"/>
            </a:solidFill>
            <a:prstDash val="solid"/>
          </a:ln>
        </p:spPr>
      </p:sp>
      <p:sp>
        <p:nvSpPr>
          <p:cNvPr id="41" name="Text 38"/>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2" name="Text 39"/>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أَيْنَ مَاءٌ؟</a:t>
            </a:r>
            <a:endParaRPr lang="ar-SA" sz="2050" dirty="0"/>
          </a:p>
        </p:txBody>
      </p:sp>
      <p:sp>
        <p:nvSpPr>
          <p:cNvPr id="43" name="Shape 40"/>
          <p:cNvSpPr/>
          <p:nvPr/>
        </p:nvSpPr>
        <p:spPr>
          <a:xfrm>
            <a:off x="8095488" y="1810512"/>
            <a:ext cx="3636264" cy="4498848"/>
          </a:xfrm>
          <a:prstGeom prst="roundRect">
            <a:avLst>
              <a:gd name="adj" fmla="val 2012"/>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4" name="Shape 41"/>
          <p:cNvSpPr/>
          <p:nvPr/>
        </p:nvSpPr>
        <p:spPr>
          <a:xfrm>
            <a:off x="8223504" y="1947672"/>
            <a:ext cx="310896" cy="310896"/>
          </a:xfrm>
          <a:prstGeom prst="ellipse">
            <a:avLst/>
          </a:prstGeom>
          <a:solidFill>
            <a:srgbClr val="1B3B6F"/>
          </a:solidFill>
          <a:ln w="12700">
            <a:solidFill>
              <a:srgbClr val="1B3B6F"/>
            </a:solidFill>
            <a:prstDash val="solid"/>
          </a:ln>
        </p:spPr>
      </p:sp>
      <p:sp>
        <p:nvSpPr>
          <p:cNvPr id="45" name="Text 42"/>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7</a:t>
            </a:r>
            <a:endParaRPr lang="en-US" sz="1100" dirty="0"/>
          </a:p>
        </p:txBody>
      </p:sp>
      <p:sp>
        <p:nvSpPr>
          <p:cNvPr id="46" name="Text 43"/>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accurate price question.</a:t>
            </a:r>
            <a:endParaRPr lang="en-US" sz="1250" dirty="0"/>
          </a:p>
        </p:txBody>
      </p:sp>
      <p:sp>
        <p:nvSpPr>
          <p:cNvPr id="47" name="Shape 44"/>
          <p:cNvSpPr/>
          <p:nvPr/>
        </p:nvSpPr>
        <p:spPr>
          <a:xfrm>
            <a:off x="8278368" y="2532888"/>
            <a:ext cx="256032" cy="256032"/>
          </a:xfrm>
          <a:prstGeom prst="ellipse">
            <a:avLst/>
          </a:prstGeom>
          <a:solidFill>
            <a:srgbClr val="F4F1EA"/>
          </a:solidFill>
          <a:ln w="12700">
            <a:solidFill>
              <a:srgbClr val="F4F1EA"/>
            </a:solidFill>
            <a:prstDash val="solid"/>
          </a:ln>
        </p:spPr>
      </p:sp>
      <p:sp>
        <p:nvSpPr>
          <p:cNvPr id="48" name="Text 45"/>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9" name="Text 46"/>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كَمْ الوَجْبَةُ سِعْرٌ؟</a:t>
            </a:r>
            <a:endParaRPr lang="ar-SA" sz="2050" dirty="0"/>
          </a:p>
        </p:txBody>
      </p:sp>
      <p:sp>
        <p:nvSpPr>
          <p:cNvPr id="50" name="Shape 47"/>
          <p:cNvSpPr/>
          <p:nvPr/>
        </p:nvSpPr>
        <p:spPr>
          <a:xfrm>
            <a:off x="8278368" y="2990088"/>
            <a:ext cx="256032" cy="256032"/>
          </a:xfrm>
          <a:prstGeom prst="ellipse">
            <a:avLst/>
          </a:prstGeom>
          <a:solidFill>
            <a:srgbClr val="F4F1EA"/>
          </a:solidFill>
          <a:ln w="12700">
            <a:solidFill>
              <a:srgbClr val="F4F1EA"/>
            </a:solidFill>
            <a:prstDash val="solid"/>
          </a:ln>
        </p:spPr>
      </p:sp>
      <p:sp>
        <p:nvSpPr>
          <p:cNvPr id="51" name="Text 48"/>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2" name="Text 49"/>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كَمْ سِعْرُ الوَجْبَةِ؟</a:t>
            </a:r>
            <a:endParaRPr lang="ar-SA" sz="2050" dirty="0"/>
          </a:p>
        </p:txBody>
      </p:sp>
      <p:sp>
        <p:nvSpPr>
          <p:cNvPr id="53" name="Shape 50"/>
          <p:cNvSpPr/>
          <p:nvPr/>
        </p:nvSpPr>
        <p:spPr>
          <a:xfrm>
            <a:off x="8278368" y="3447288"/>
            <a:ext cx="256032" cy="256032"/>
          </a:xfrm>
          <a:prstGeom prst="ellipse">
            <a:avLst/>
          </a:prstGeom>
          <a:solidFill>
            <a:srgbClr val="F4F1EA"/>
          </a:solidFill>
          <a:ln w="12700">
            <a:solidFill>
              <a:srgbClr val="F4F1EA"/>
            </a:solidFill>
            <a:prstDash val="solid"/>
          </a:ln>
        </p:spPr>
      </p:sp>
      <p:sp>
        <p:nvSpPr>
          <p:cNvPr id="54" name="Text 51"/>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5" name="Text 52"/>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أَيْنَ سِعْرُ الوَجْبَةِ؟</a:t>
            </a:r>
            <a:endParaRPr lang="ar-SA" sz="2050" dirty="0"/>
          </a:p>
        </p:txBody>
      </p:sp>
      <p:sp>
        <p:nvSpPr>
          <p:cNvPr id="56" name="Text 5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24 / 43</a:t>
            </a:r>
            <a:endParaRPr lang="en-US" sz="8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F5-L05 · Ordering Politely</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ANSWERS</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Answers and reasons</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 وَالتَّعْلِيلُ</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F5 · Food, Health and Body · F5-L05</a:t>
            </a:r>
            <a:endParaRPr lang="en-US" sz="850" dirty="0"/>
          </a:p>
        </p:txBody>
      </p:sp>
      <p:sp>
        <p:nvSpPr>
          <p:cNvPr id="17" name="Shape 14"/>
          <p:cNvSpPr/>
          <p:nvPr/>
        </p:nvSpPr>
        <p:spPr>
          <a:xfrm>
            <a:off x="457200" y="1810512"/>
            <a:ext cx="3636264" cy="4498848"/>
          </a:xfrm>
          <a:prstGeom prst="roundRect">
            <a:avLst>
              <a:gd name="adj" fmla="val 2012"/>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20" name="Text 17"/>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ea typeface="Amiri" pitchFamily="2" charset="-78"/>
                <a:cs typeface="Amiri" pitchFamily="2" charset="-78"/>
              </a:rPr>
              <a:t>أَمْ</a:t>
            </a:r>
            <a:pPr algn="l" indent="0" marL="0">
              <a:buNone/>
            </a:pPr>
            <a:r>
              <a:rPr lang="en-US" sz="1250" b="1" dirty="0">
                <a:solidFill>
                  <a:srgbClr val="1B3B6F"/>
                </a:solidFill>
                <a:latin typeface="Calibri" pitchFamily="34" charset="0"/>
                <a:cs typeface="Amiri" pitchFamily="2" charset="-78"/>
              </a:rPr>
              <a:t> do in a question?</a:t>
            </a:r>
            <a:endParaRPr lang="en-US" sz="1250" dirty="0"/>
          </a:p>
        </p:txBody>
      </p:sp>
      <p:sp>
        <p:nvSpPr>
          <p:cNvPr id="21" name="Shape 18"/>
          <p:cNvSpPr/>
          <p:nvPr/>
        </p:nvSpPr>
        <p:spPr>
          <a:xfrm>
            <a:off x="640080" y="2532888"/>
            <a:ext cx="256032" cy="256032"/>
          </a:xfrm>
          <a:prstGeom prst="ellipse">
            <a:avLst/>
          </a:prstGeom>
          <a:solidFill>
            <a:srgbClr val="C9CED6"/>
          </a:solidFill>
          <a:ln w="12700">
            <a:solidFill>
              <a:srgbClr val="C9CED6"/>
            </a:solidFill>
            <a:prstDash val="solid"/>
          </a:ln>
        </p:spPr>
      </p:sp>
      <p:sp>
        <p:nvSpPr>
          <p:cNvPr id="22" name="Text 19"/>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3" name="Text 20"/>
          <p:cNvSpPr txBox="1"/>
          <p:nvPr/>
        </p:nvSpPr>
        <p:spPr>
          <a:xfrm>
            <a:off x="969264" y="2432304"/>
            <a:ext cx="2977896" cy="457200"/>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gives a reason</a:t>
            </a:r>
            <a:endParaRPr lang="en-US" sz="1250" dirty="0"/>
          </a:p>
        </p:txBody>
      </p:sp>
      <p:sp>
        <p:nvSpPr>
          <p:cNvPr id="24" name="Shape 21"/>
          <p:cNvSpPr/>
          <p:nvPr/>
        </p:nvSpPr>
        <p:spPr>
          <a:xfrm>
            <a:off x="640080" y="2990088"/>
            <a:ext cx="256032" cy="256032"/>
          </a:xfrm>
          <a:prstGeom prst="ellipse">
            <a:avLst/>
          </a:prstGeom>
          <a:solidFill>
            <a:srgbClr val="C9CED6"/>
          </a:solidFill>
          <a:ln w="12700">
            <a:solidFill>
              <a:srgbClr val="C9CED6"/>
            </a:solidFill>
            <a:prstDash val="solid"/>
          </a:ln>
        </p:spPr>
      </p:sp>
      <p:sp>
        <p:nvSpPr>
          <p:cNvPr id="25" name="Text 22"/>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6" name="Text 23"/>
          <p:cNvSpPr txBox="1"/>
          <p:nvPr/>
        </p:nvSpPr>
        <p:spPr>
          <a:xfrm>
            <a:off x="969264" y="2889504"/>
            <a:ext cx="2977896" cy="457200"/>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makes a negative</a:t>
            </a:r>
            <a:endParaRPr lang="en-US" sz="1250" dirty="0"/>
          </a:p>
        </p:txBody>
      </p:sp>
      <p:sp>
        <p:nvSpPr>
          <p:cNvPr id="27" name="Shape 24"/>
          <p:cNvSpPr/>
          <p:nvPr/>
        </p:nvSpPr>
        <p:spPr>
          <a:xfrm>
            <a:off x="548640" y="3410712"/>
            <a:ext cx="3453384" cy="347472"/>
          </a:xfrm>
          <a:prstGeom prst="roundRect">
            <a:avLst>
              <a:gd name="adj" fmla="val 15789"/>
            </a:avLst>
          </a:prstGeom>
          <a:solidFill>
            <a:srgbClr val="E6F4EC"/>
          </a:solidFill>
          <a:ln w="9525">
            <a:solidFill>
              <a:srgbClr val="2E8B57"/>
            </a:solidFill>
            <a:prstDash val="solid"/>
          </a:ln>
        </p:spPr>
      </p:sp>
      <p:sp>
        <p:nvSpPr>
          <p:cNvPr id="28" name="Shape 25"/>
          <p:cNvSpPr/>
          <p:nvPr/>
        </p:nvSpPr>
        <p:spPr>
          <a:xfrm>
            <a:off x="640080" y="3447288"/>
            <a:ext cx="256032" cy="256032"/>
          </a:xfrm>
          <a:prstGeom prst="ellipse">
            <a:avLst/>
          </a:prstGeom>
          <a:solidFill>
            <a:srgbClr val="2E8B57"/>
          </a:solidFill>
          <a:ln w="12700">
            <a:solidFill>
              <a:srgbClr val="2E8B57"/>
            </a:solidFill>
            <a:prstDash val="solid"/>
          </a:ln>
        </p:spPr>
      </p:sp>
      <p:sp>
        <p:nvSpPr>
          <p:cNvPr id="29" name="Text 26"/>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30" name="Text 27"/>
          <p:cNvSpPr txBox="1"/>
          <p:nvPr/>
        </p:nvSpPr>
        <p:spPr>
          <a:xfrm>
            <a:off x="969264" y="3346704"/>
            <a:ext cx="2977896" cy="457200"/>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joins alternatives</a:t>
            </a:r>
            <a:endParaRPr lang="en-US" sz="1250" dirty="0"/>
          </a:p>
        </p:txBody>
      </p:sp>
      <p:sp>
        <p:nvSpPr>
          <p:cNvPr id="31" name="Text 28"/>
          <p:cNvSpPr txBox="1"/>
          <p:nvPr/>
        </p:nvSpPr>
        <p:spPr>
          <a:xfrm>
            <a:off x="585216" y="5907024"/>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أَمْ</a:t>
            </a:r>
            <a:pPr algn="l" indent="0" marL="0">
              <a:buNone/>
            </a:pPr>
            <a:r>
              <a:rPr lang="en-US" sz="1050" i="1" dirty="0">
                <a:solidFill>
                  <a:srgbClr val="8A6D1E"/>
                </a:solidFill>
                <a:latin typeface="Calibri" pitchFamily="34" charset="0"/>
                <a:cs typeface="Amiri" pitchFamily="2" charset="-78"/>
              </a:rPr>
              <a:t> means “or” between alternatives.</a:t>
            </a:r>
            <a:endParaRPr lang="en-US" sz="1050" dirty="0"/>
          </a:p>
        </p:txBody>
      </p:sp>
      <p:sp>
        <p:nvSpPr>
          <p:cNvPr id="32" name="Shape 29"/>
          <p:cNvSpPr/>
          <p:nvPr/>
        </p:nvSpPr>
        <p:spPr>
          <a:xfrm>
            <a:off x="4276344" y="1810512"/>
            <a:ext cx="3636264" cy="4498848"/>
          </a:xfrm>
          <a:prstGeom prst="roundRect">
            <a:avLst>
              <a:gd name="adj" fmla="val 2012"/>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3" name="Shape 30"/>
          <p:cNvSpPr/>
          <p:nvPr/>
        </p:nvSpPr>
        <p:spPr>
          <a:xfrm>
            <a:off x="4404360" y="1947672"/>
            <a:ext cx="310896" cy="310896"/>
          </a:xfrm>
          <a:prstGeom prst="ellipse">
            <a:avLst/>
          </a:prstGeom>
          <a:solidFill>
            <a:srgbClr val="1B3B6F"/>
          </a:solidFill>
          <a:ln w="12700">
            <a:solidFill>
              <a:srgbClr val="1B3B6F"/>
            </a:solidFill>
            <a:prstDash val="solid"/>
          </a:ln>
        </p:spPr>
      </p:sp>
      <p:sp>
        <p:nvSpPr>
          <p:cNvPr id="34" name="Text 31"/>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6</a:t>
            </a:r>
            <a:endParaRPr lang="en-US" sz="1100" dirty="0"/>
          </a:p>
        </p:txBody>
      </p:sp>
      <p:sp>
        <p:nvSpPr>
          <p:cNvPr id="35" name="Text 32"/>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polite request for the bill.</a:t>
            </a:r>
            <a:endParaRPr lang="en-US" sz="1250" dirty="0"/>
          </a:p>
        </p:txBody>
      </p:sp>
      <p:sp>
        <p:nvSpPr>
          <p:cNvPr id="36" name="Shape 33"/>
          <p:cNvSpPr/>
          <p:nvPr/>
        </p:nvSpPr>
        <p:spPr>
          <a:xfrm>
            <a:off x="4459224" y="2532888"/>
            <a:ext cx="256032" cy="256032"/>
          </a:xfrm>
          <a:prstGeom prst="ellipse">
            <a:avLst/>
          </a:prstGeom>
          <a:solidFill>
            <a:srgbClr val="C9CED6"/>
          </a:solidFill>
          <a:ln w="12700">
            <a:solidFill>
              <a:srgbClr val="C9CED6"/>
            </a:solidFill>
            <a:prstDash val="solid"/>
          </a:ln>
        </p:spPr>
      </p:sp>
      <p:sp>
        <p:nvSpPr>
          <p:cNvPr id="37" name="Text 34"/>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8" name="Text 35"/>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مَا الحِسَابُ؟</a:t>
            </a:r>
            <a:endParaRPr lang="ar-SA" sz="2050" dirty="0"/>
          </a:p>
        </p:txBody>
      </p:sp>
      <p:sp>
        <p:nvSpPr>
          <p:cNvPr id="39" name="Shape 36"/>
          <p:cNvSpPr/>
          <p:nvPr/>
        </p:nvSpPr>
        <p:spPr>
          <a:xfrm>
            <a:off x="4367784" y="2953512"/>
            <a:ext cx="3453384" cy="347472"/>
          </a:xfrm>
          <a:prstGeom prst="roundRect">
            <a:avLst>
              <a:gd name="adj" fmla="val 15789"/>
            </a:avLst>
          </a:prstGeom>
          <a:solidFill>
            <a:srgbClr val="E6F4EC"/>
          </a:solidFill>
          <a:ln w="9525">
            <a:solidFill>
              <a:srgbClr val="2E8B57"/>
            </a:solidFill>
            <a:prstDash val="solid"/>
          </a:ln>
        </p:spPr>
      </p:sp>
      <p:sp>
        <p:nvSpPr>
          <p:cNvPr id="40" name="Shape 37"/>
          <p:cNvSpPr/>
          <p:nvPr/>
        </p:nvSpPr>
        <p:spPr>
          <a:xfrm>
            <a:off x="4459224" y="2990088"/>
            <a:ext cx="256032" cy="256032"/>
          </a:xfrm>
          <a:prstGeom prst="ellipse">
            <a:avLst/>
          </a:prstGeom>
          <a:solidFill>
            <a:srgbClr val="2E8B57"/>
          </a:solidFill>
          <a:ln w="12700">
            <a:solidFill>
              <a:srgbClr val="2E8B57"/>
            </a:solidFill>
            <a:prstDash val="solid"/>
          </a:ln>
        </p:spPr>
      </p:sp>
      <p:sp>
        <p:nvSpPr>
          <p:cNvPr id="41" name="Text 38"/>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42" name="Text 39"/>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b="1" dirty="0">
                <a:solidFill>
                  <a:srgbClr val="1F2A37"/>
                </a:solidFill>
                <a:latin typeface="Amiri" pitchFamily="2" charset="-78"/>
                <a:ea typeface="Amiri" pitchFamily="2" charset="-78"/>
                <a:cs typeface="Amiri" pitchFamily="2" charset="-78"/>
              </a:rPr>
              <a:t>الحِسَابُ، لَوْ سَمَحْتَ.</a:t>
            </a:r>
            <a:endParaRPr lang="ar-SA" sz="2050" dirty="0"/>
          </a:p>
        </p:txBody>
      </p:sp>
      <p:sp>
        <p:nvSpPr>
          <p:cNvPr id="43" name="Shape 40"/>
          <p:cNvSpPr/>
          <p:nvPr/>
        </p:nvSpPr>
        <p:spPr>
          <a:xfrm>
            <a:off x="4459224" y="3447288"/>
            <a:ext cx="256032" cy="256032"/>
          </a:xfrm>
          <a:prstGeom prst="ellipse">
            <a:avLst/>
          </a:prstGeom>
          <a:solidFill>
            <a:srgbClr val="C9CED6"/>
          </a:solidFill>
          <a:ln w="12700">
            <a:solidFill>
              <a:srgbClr val="C9CED6"/>
            </a:solidFill>
            <a:prstDash val="solid"/>
          </a:ln>
        </p:spPr>
      </p:sp>
      <p:sp>
        <p:nvSpPr>
          <p:cNvPr id="44" name="Text 41"/>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5" name="Text 42"/>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أَيْنَ مَاءٌ؟</a:t>
            </a:r>
            <a:endParaRPr lang="ar-SA" sz="2050" dirty="0"/>
          </a:p>
        </p:txBody>
      </p:sp>
      <p:sp>
        <p:nvSpPr>
          <p:cNvPr id="46" name="Text 43"/>
          <p:cNvSpPr txBox="1"/>
          <p:nvPr/>
        </p:nvSpPr>
        <p:spPr>
          <a:xfrm>
            <a:off x="4404360"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This is the conventional polite request.</a:t>
            </a:r>
            <a:endParaRPr lang="en-US" sz="1050" dirty="0"/>
          </a:p>
        </p:txBody>
      </p:sp>
      <p:sp>
        <p:nvSpPr>
          <p:cNvPr id="47" name="Shape 44"/>
          <p:cNvSpPr/>
          <p:nvPr/>
        </p:nvSpPr>
        <p:spPr>
          <a:xfrm>
            <a:off x="8095488" y="1810512"/>
            <a:ext cx="3636264" cy="4498848"/>
          </a:xfrm>
          <a:prstGeom prst="roundRect">
            <a:avLst>
              <a:gd name="adj" fmla="val 2012"/>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8223504" y="1947672"/>
            <a:ext cx="310896" cy="310896"/>
          </a:xfrm>
          <a:prstGeom prst="ellipse">
            <a:avLst/>
          </a:prstGeom>
          <a:solidFill>
            <a:srgbClr val="1B3B6F"/>
          </a:solidFill>
          <a:ln w="12700">
            <a:solidFill>
              <a:srgbClr val="1B3B6F"/>
            </a:solidFill>
            <a:prstDash val="solid"/>
          </a:ln>
        </p:spPr>
      </p:sp>
      <p:sp>
        <p:nvSpPr>
          <p:cNvPr id="49" name="Text 46"/>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7</a:t>
            </a:r>
            <a:endParaRPr lang="en-US" sz="1100" dirty="0"/>
          </a:p>
        </p:txBody>
      </p:sp>
      <p:sp>
        <p:nvSpPr>
          <p:cNvPr id="50" name="Text 47"/>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accurate price question.</a:t>
            </a:r>
            <a:endParaRPr lang="en-US" sz="1250" dirty="0"/>
          </a:p>
        </p:txBody>
      </p:sp>
      <p:sp>
        <p:nvSpPr>
          <p:cNvPr id="51" name="Shape 48"/>
          <p:cNvSpPr/>
          <p:nvPr/>
        </p:nvSpPr>
        <p:spPr>
          <a:xfrm>
            <a:off x="8278368" y="2532888"/>
            <a:ext cx="256032" cy="256032"/>
          </a:xfrm>
          <a:prstGeom prst="ellipse">
            <a:avLst/>
          </a:prstGeom>
          <a:solidFill>
            <a:srgbClr val="C9CED6"/>
          </a:solidFill>
          <a:ln w="12700">
            <a:solidFill>
              <a:srgbClr val="C9CED6"/>
            </a:solidFill>
            <a:prstDash val="solid"/>
          </a:ln>
        </p:spPr>
      </p:sp>
      <p:sp>
        <p:nvSpPr>
          <p:cNvPr id="52" name="Text 49"/>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3" name="Text 50"/>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كَمْ الوَجْبَةُ سِعْرٌ؟</a:t>
            </a:r>
            <a:endParaRPr lang="ar-SA" sz="2050" dirty="0"/>
          </a:p>
        </p:txBody>
      </p:sp>
      <p:sp>
        <p:nvSpPr>
          <p:cNvPr id="54" name="Shape 51"/>
          <p:cNvSpPr/>
          <p:nvPr/>
        </p:nvSpPr>
        <p:spPr>
          <a:xfrm>
            <a:off x="8186928" y="2953512"/>
            <a:ext cx="3453384" cy="347472"/>
          </a:xfrm>
          <a:prstGeom prst="roundRect">
            <a:avLst>
              <a:gd name="adj" fmla="val 15789"/>
            </a:avLst>
          </a:prstGeom>
          <a:solidFill>
            <a:srgbClr val="E6F4EC"/>
          </a:solidFill>
          <a:ln w="9525">
            <a:solidFill>
              <a:srgbClr val="2E8B57"/>
            </a:solidFill>
            <a:prstDash val="solid"/>
          </a:ln>
        </p:spPr>
      </p:sp>
      <p:sp>
        <p:nvSpPr>
          <p:cNvPr id="55" name="Shape 52"/>
          <p:cNvSpPr/>
          <p:nvPr/>
        </p:nvSpPr>
        <p:spPr>
          <a:xfrm>
            <a:off x="8278368" y="2990088"/>
            <a:ext cx="256032" cy="256032"/>
          </a:xfrm>
          <a:prstGeom prst="ellipse">
            <a:avLst/>
          </a:prstGeom>
          <a:solidFill>
            <a:srgbClr val="2E8B57"/>
          </a:solidFill>
          <a:ln w="12700">
            <a:solidFill>
              <a:srgbClr val="2E8B57"/>
            </a:solidFill>
            <a:prstDash val="solid"/>
          </a:ln>
        </p:spPr>
      </p:sp>
      <p:sp>
        <p:nvSpPr>
          <p:cNvPr id="56" name="Text 53"/>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57" name="Text 54"/>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b="1" dirty="0">
                <a:solidFill>
                  <a:srgbClr val="1F2A37"/>
                </a:solidFill>
                <a:latin typeface="Amiri" pitchFamily="2" charset="-78"/>
                <a:ea typeface="Amiri" pitchFamily="2" charset="-78"/>
                <a:cs typeface="Amiri" pitchFamily="2" charset="-78"/>
              </a:rPr>
              <a:t>كَمْ سِعْرُ الوَجْبَةِ؟</a:t>
            </a:r>
            <a:endParaRPr lang="ar-SA" sz="2050" dirty="0"/>
          </a:p>
        </p:txBody>
      </p:sp>
      <p:sp>
        <p:nvSpPr>
          <p:cNvPr id="58" name="Shape 55"/>
          <p:cNvSpPr/>
          <p:nvPr/>
        </p:nvSpPr>
        <p:spPr>
          <a:xfrm>
            <a:off x="8278368" y="3447288"/>
            <a:ext cx="256032" cy="256032"/>
          </a:xfrm>
          <a:prstGeom prst="ellipse">
            <a:avLst/>
          </a:prstGeom>
          <a:solidFill>
            <a:srgbClr val="C9CED6"/>
          </a:solidFill>
          <a:ln w="12700">
            <a:solidFill>
              <a:srgbClr val="C9CED6"/>
            </a:solidFill>
            <a:prstDash val="solid"/>
          </a:ln>
        </p:spPr>
      </p:sp>
      <p:sp>
        <p:nvSpPr>
          <p:cNvPr id="59" name="Text 56"/>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0" name="Text 57"/>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أَيْنَ سِعْرُ الوَجْبَةِ؟</a:t>
            </a:r>
            <a:endParaRPr lang="ar-SA" sz="2050" dirty="0"/>
          </a:p>
        </p:txBody>
      </p:sp>
      <p:sp>
        <p:nvSpPr>
          <p:cNvPr id="61" name="Text 58"/>
          <p:cNvSpPr txBox="1"/>
          <p:nvPr/>
        </p:nvSpPr>
        <p:spPr>
          <a:xfrm>
            <a:off x="8223504"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Use </a:t>
            </a:r>
            <a:pPr algn="l" indent="0" marL="0">
              <a:buNone/>
            </a:pPr>
            <a:r>
              <a:rPr lang="ar-SA" altLang="en-US" sz="1350" dirty="0">
                <a:solidFill>
                  <a:srgbClr val="8A6D1E"/>
                </a:solidFill>
                <a:latin typeface="Amiri" pitchFamily="2" charset="-78"/>
                <a:ea typeface="Amiri" pitchFamily="2" charset="-78"/>
                <a:cs typeface="Amiri" pitchFamily="2" charset="-78"/>
              </a:rPr>
              <a:t>كَمْ سِعْرُ</a:t>
            </a:r>
            <a:pPr algn="l" indent="0" marL="0">
              <a:buNone/>
            </a:pPr>
            <a:r>
              <a:rPr lang="en-US" sz="1050" i="1" dirty="0">
                <a:solidFill>
                  <a:srgbClr val="8A6D1E"/>
                </a:solidFill>
                <a:latin typeface="Calibri" pitchFamily="34" charset="0"/>
                <a:cs typeface="Amiri" pitchFamily="2" charset="-78"/>
              </a:rPr>
              <a:t> + the item in an idāfa phrase.</a:t>
            </a:r>
            <a:endParaRPr lang="en-US" sz="1050" dirty="0"/>
          </a:p>
        </p:txBody>
      </p:sp>
      <p:sp>
        <p:nvSpPr>
          <p:cNvPr id="62" name="Text 59"/>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25 / 43</a:t>
            </a:r>
            <a:endParaRPr lang="en-US" sz="8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F5-L05 · Ordering Politely</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SPOT AND FIX</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Repair the mistake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صَحِّحِ الخَطَأَ</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F5 · Food, Health and Body · F5-L05</a:t>
            </a:r>
            <a:endParaRPr lang="en-US" sz="850" dirty="0"/>
          </a:p>
        </p:txBody>
      </p:sp>
      <p:sp>
        <p:nvSpPr>
          <p:cNvPr id="15" name="Shape 12"/>
          <p:cNvSpPr/>
          <p:nvPr/>
        </p:nvSpPr>
        <p:spPr>
          <a:xfrm>
            <a:off x="457200" y="1810512"/>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183112" y="2249424"/>
            <a:ext cx="402336" cy="402336"/>
          </a:xfrm>
          <a:prstGeom prst="ellipse">
            <a:avLst/>
          </a:prstGeom>
          <a:solidFill>
            <a:srgbClr val="B83227"/>
          </a:solidFill>
          <a:ln w="12700">
            <a:solidFill>
              <a:srgbClr val="B83227"/>
            </a:solidFill>
            <a:prstDash val="solid"/>
          </a:ln>
        </p:spPr>
      </p:sp>
      <p:sp>
        <p:nvSpPr>
          <p:cNvPr id="17" name="Text 14"/>
          <p:cNvSpPr txBox="1"/>
          <p:nvPr/>
        </p:nvSpPr>
        <p:spPr>
          <a:xfrm>
            <a:off x="11183112" y="2249424"/>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1</a:t>
            </a:r>
            <a:endParaRPr lang="en-US" sz="1300" dirty="0"/>
          </a:p>
        </p:txBody>
      </p:sp>
      <p:sp>
        <p:nvSpPr>
          <p:cNvPr id="18" name="Text 15"/>
          <p:cNvSpPr txBox="1"/>
          <p:nvPr/>
        </p:nvSpPr>
        <p:spPr>
          <a:xfrm>
            <a:off x="4023360" y="1901952"/>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أَعْطِنِي شَايًا.</a:t>
            </a:r>
            <a:endParaRPr lang="ar-SA" sz="3000" dirty="0"/>
          </a:p>
        </p:txBody>
      </p:sp>
      <p:sp>
        <p:nvSpPr>
          <p:cNvPr id="19" name="Text 16"/>
          <p:cNvSpPr txBox="1"/>
          <p:nvPr/>
        </p:nvSpPr>
        <p:spPr>
          <a:xfrm>
            <a:off x="731520" y="1901952"/>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Is a bare command polite?</a:t>
            </a:r>
            <a:endParaRPr lang="en-US" sz="1300" dirty="0"/>
          </a:p>
        </p:txBody>
      </p:sp>
      <p:sp>
        <p:nvSpPr>
          <p:cNvPr id="20" name="Shape 17"/>
          <p:cNvSpPr/>
          <p:nvPr/>
        </p:nvSpPr>
        <p:spPr>
          <a:xfrm>
            <a:off x="457200" y="3255264"/>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11183112" y="3694176"/>
            <a:ext cx="402336" cy="402336"/>
          </a:xfrm>
          <a:prstGeom prst="ellipse">
            <a:avLst/>
          </a:prstGeom>
          <a:solidFill>
            <a:srgbClr val="B83227"/>
          </a:solidFill>
          <a:ln w="12700">
            <a:solidFill>
              <a:srgbClr val="B83227"/>
            </a:solidFill>
            <a:prstDash val="solid"/>
          </a:ln>
        </p:spPr>
      </p:sp>
      <p:sp>
        <p:nvSpPr>
          <p:cNvPr id="22" name="Text 19"/>
          <p:cNvSpPr txBox="1"/>
          <p:nvPr/>
        </p:nvSpPr>
        <p:spPr>
          <a:xfrm>
            <a:off x="11183112" y="369417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2</a:t>
            </a:r>
            <a:endParaRPr lang="en-US" sz="1300" dirty="0"/>
          </a:p>
        </p:txBody>
      </p:sp>
      <p:sp>
        <p:nvSpPr>
          <p:cNvPr id="23" name="Text 20"/>
          <p:cNvSpPr txBox="1"/>
          <p:nvPr/>
        </p:nvSpPr>
        <p:spPr>
          <a:xfrm>
            <a:off x="4023360" y="3346704"/>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أُرِيدُ مِنْ فَضْلِكَ سَلَطَةٌ.</a:t>
            </a:r>
            <a:endParaRPr lang="ar-SA" sz="3000" dirty="0"/>
          </a:p>
        </p:txBody>
      </p:sp>
      <p:sp>
        <p:nvSpPr>
          <p:cNvPr id="24" name="Text 21"/>
          <p:cNvSpPr txBox="1"/>
          <p:nvPr/>
        </p:nvSpPr>
        <p:spPr>
          <a:xfrm>
            <a:off x="731520" y="3346704"/>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Where does “please” go? Which ending on the item?</a:t>
            </a:r>
            <a:endParaRPr lang="en-US" sz="1300" dirty="0"/>
          </a:p>
        </p:txBody>
      </p:sp>
      <p:sp>
        <p:nvSpPr>
          <p:cNvPr id="25" name="Shape 22"/>
          <p:cNvSpPr/>
          <p:nvPr/>
        </p:nvSpPr>
        <p:spPr>
          <a:xfrm>
            <a:off x="457200" y="4700016"/>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11183112" y="5138928"/>
            <a:ext cx="402336" cy="402336"/>
          </a:xfrm>
          <a:prstGeom prst="ellipse">
            <a:avLst/>
          </a:prstGeom>
          <a:solidFill>
            <a:srgbClr val="B83227"/>
          </a:solidFill>
          <a:ln w="12700">
            <a:solidFill>
              <a:srgbClr val="B83227"/>
            </a:solidFill>
            <a:prstDash val="solid"/>
          </a:ln>
        </p:spPr>
      </p:sp>
      <p:sp>
        <p:nvSpPr>
          <p:cNvPr id="27" name="Text 24"/>
          <p:cNvSpPr txBox="1"/>
          <p:nvPr/>
        </p:nvSpPr>
        <p:spPr>
          <a:xfrm>
            <a:off x="11183112" y="513892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3</a:t>
            </a:r>
            <a:endParaRPr lang="en-US" sz="1300" dirty="0"/>
          </a:p>
        </p:txBody>
      </p:sp>
      <p:sp>
        <p:nvSpPr>
          <p:cNvPr id="28" name="Text 25"/>
          <p:cNvSpPr txBox="1"/>
          <p:nvPr/>
        </p:nvSpPr>
        <p:spPr>
          <a:xfrm>
            <a:off x="4023360" y="4791456"/>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هَلْ عِنْدَكَ طَعَامٌ نَبَاتِيٌّ؟</a:t>
            </a:r>
            <a:endParaRPr lang="ar-SA" sz="3000" dirty="0"/>
          </a:p>
        </p:txBody>
      </p:sp>
      <p:sp>
        <p:nvSpPr>
          <p:cNvPr id="29" name="Text 26"/>
          <p:cNvSpPr txBox="1"/>
          <p:nvPr/>
        </p:nvSpPr>
        <p:spPr>
          <a:xfrm>
            <a:off x="731520" y="4791456"/>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Asking a business: one person or “you all”?</a:t>
            </a:r>
            <a:endParaRPr lang="en-US" sz="1300" dirty="0"/>
          </a:p>
        </p:txBody>
      </p:sp>
      <p:sp>
        <p:nvSpPr>
          <p:cNvPr id="30" name="Text 2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26 / 43</a:t>
            </a:r>
            <a:endParaRPr lang="en-US" sz="8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F5-L05 · Ordering Politely</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CORRECTIONS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Fixed — and why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التَّصْحِيحُ وَالسَّبَبُ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F5 · Food, Health and Body · F5-L05</a:t>
            </a:r>
            <a:endParaRPr lang="en-US" sz="850" dirty="0"/>
          </a:p>
        </p:txBody>
      </p:sp>
      <p:sp>
        <p:nvSpPr>
          <p:cNvPr id="15" name="Shape 12"/>
          <p:cNvSpPr/>
          <p:nvPr/>
        </p:nvSpPr>
        <p:spPr>
          <a:xfrm>
            <a:off x="457200" y="1810512"/>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8503920" y="1901952"/>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أَعْطِنِي شَايًا.</a:t>
            </a:r>
            <a:endParaRPr lang="ar-SA" sz="1800" dirty="0"/>
          </a:p>
        </p:txBody>
      </p:sp>
      <p:sp>
        <p:nvSpPr>
          <p:cNvPr id="17" name="Shape 14"/>
          <p:cNvSpPr/>
          <p:nvPr/>
        </p:nvSpPr>
        <p:spPr>
          <a:xfrm>
            <a:off x="8641080" y="2459736"/>
            <a:ext cx="2834640" cy="0"/>
          </a:xfrm>
          <a:prstGeom prst="line">
            <a:avLst/>
          </a:prstGeom>
          <a:noFill/>
          <a:ln w="15875">
            <a:solidFill>
              <a:srgbClr val="B83227"/>
            </a:solidFill>
            <a:prstDash val="solid"/>
          </a:ln>
        </p:spPr>
      </p:sp>
      <p:sp>
        <p:nvSpPr>
          <p:cNvPr id="18" name="Text 15"/>
          <p:cNvSpPr txBox="1"/>
          <p:nvPr/>
        </p:nvSpPr>
        <p:spPr>
          <a:xfrm>
            <a:off x="8138160" y="1901952"/>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19" name="Text 16"/>
          <p:cNvSpPr txBox="1"/>
          <p:nvPr/>
        </p:nvSpPr>
        <p:spPr>
          <a:xfrm>
            <a:off x="3566160" y="1901952"/>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أُرِيدُ شَايًا، مِنْ فَضْلِكَ.</a:t>
            </a:r>
            <a:endParaRPr lang="ar-SA" sz="2400" dirty="0"/>
          </a:p>
        </p:txBody>
      </p:sp>
      <p:sp>
        <p:nvSpPr>
          <p:cNvPr id="20" name="Text 17"/>
          <p:cNvSpPr txBox="1"/>
          <p:nvPr/>
        </p:nvSpPr>
        <p:spPr>
          <a:xfrm>
            <a:off x="685800" y="1901952"/>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The corrected form is more suitable for a polite restaurant exchange.</a:t>
            </a:r>
            <a:endParaRPr lang="en-US" sz="1150" dirty="0"/>
          </a:p>
        </p:txBody>
      </p:sp>
      <p:sp>
        <p:nvSpPr>
          <p:cNvPr id="21" name="Shape 18"/>
          <p:cNvSpPr/>
          <p:nvPr/>
        </p:nvSpPr>
        <p:spPr>
          <a:xfrm>
            <a:off x="457200" y="3255264"/>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8503920" y="3346704"/>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أُرِيدُ مِنْ فَضْلِكَ سَلَطَةٌ.</a:t>
            </a:r>
            <a:endParaRPr lang="ar-SA" sz="1800" dirty="0"/>
          </a:p>
        </p:txBody>
      </p:sp>
      <p:sp>
        <p:nvSpPr>
          <p:cNvPr id="23" name="Shape 20"/>
          <p:cNvSpPr/>
          <p:nvPr/>
        </p:nvSpPr>
        <p:spPr>
          <a:xfrm>
            <a:off x="8641080" y="3904488"/>
            <a:ext cx="2834640" cy="0"/>
          </a:xfrm>
          <a:prstGeom prst="line">
            <a:avLst/>
          </a:prstGeom>
          <a:noFill/>
          <a:ln w="15875">
            <a:solidFill>
              <a:srgbClr val="B83227"/>
            </a:solidFill>
            <a:prstDash val="solid"/>
          </a:ln>
        </p:spPr>
      </p:sp>
      <p:sp>
        <p:nvSpPr>
          <p:cNvPr id="24" name="Text 21"/>
          <p:cNvSpPr txBox="1"/>
          <p:nvPr/>
        </p:nvSpPr>
        <p:spPr>
          <a:xfrm>
            <a:off x="8138160" y="3346704"/>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25" name="Text 22"/>
          <p:cNvSpPr txBox="1"/>
          <p:nvPr/>
        </p:nvSpPr>
        <p:spPr>
          <a:xfrm>
            <a:off x="3566160" y="3346704"/>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أُرِيدُ سَلَطَةً، مِنْ فَضْلِكَ.</a:t>
            </a:r>
            <a:endParaRPr lang="ar-SA" sz="2400" dirty="0"/>
          </a:p>
        </p:txBody>
      </p:sp>
      <p:sp>
        <p:nvSpPr>
          <p:cNvPr id="26" name="Text 23"/>
          <p:cNvSpPr txBox="1"/>
          <p:nvPr/>
        </p:nvSpPr>
        <p:spPr>
          <a:xfrm>
            <a:off x="685800" y="3346704"/>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The requested item is the direct object and should be accusative.</a:t>
            </a:r>
            <a:endParaRPr lang="en-US" sz="1150" dirty="0"/>
          </a:p>
        </p:txBody>
      </p:sp>
      <p:sp>
        <p:nvSpPr>
          <p:cNvPr id="27" name="Shape 24"/>
          <p:cNvSpPr/>
          <p:nvPr/>
        </p:nvSpPr>
        <p:spPr>
          <a:xfrm>
            <a:off x="457200" y="4700016"/>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8" name="Text 25"/>
          <p:cNvSpPr txBox="1"/>
          <p:nvPr/>
        </p:nvSpPr>
        <p:spPr>
          <a:xfrm>
            <a:off x="8503920" y="4791456"/>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هَلْ عِنْدَكَ طَعَامٌ نَبَاتِيٌّ؟</a:t>
            </a:r>
            <a:endParaRPr lang="ar-SA" sz="1800" dirty="0"/>
          </a:p>
        </p:txBody>
      </p:sp>
      <p:sp>
        <p:nvSpPr>
          <p:cNvPr id="29" name="Shape 26"/>
          <p:cNvSpPr/>
          <p:nvPr/>
        </p:nvSpPr>
        <p:spPr>
          <a:xfrm>
            <a:off x="8641080" y="5349240"/>
            <a:ext cx="2834640" cy="0"/>
          </a:xfrm>
          <a:prstGeom prst="line">
            <a:avLst/>
          </a:prstGeom>
          <a:noFill/>
          <a:ln w="15875">
            <a:solidFill>
              <a:srgbClr val="B83227"/>
            </a:solidFill>
            <a:prstDash val="solid"/>
          </a:ln>
        </p:spPr>
      </p:sp>
      <p:sp>
        <p:nvSpPr>
          <p:cNvPr id="30" name="Text 27"/>
          <p:cNvSpPr txBox="1"/>
          <p:nvPr/>
        </p:nvSpPr>
        <p:spPr>
          <a:xfrm>
            <a:off x="8138160" y="4791456"/>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31" name="Text 28"/>
          <p:cNvSpPr txBox="1"/>
          <p:nvPr/>
        </p:nvSpPr>
        <p:spPr>
          <a:xfrm>
            <a:off x="3566160" y="4791456"/>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هَلْ عِنْدَكُمْ طَعَامٌ نَبَاتِيٌّ؟</a:t>
            </a:r>
            <a:endParaRPr lang="ar-SA" sz="2400" dirty="0"/>
          </a:p>
        </p:txBody>
      </p:sp>
      <p:sp>
        <p:nvSpPr>
          <p:cNvPr id="32" name="Text 29"/>
          <p:cNvSpPr txBox="1"/>
          <p:nvPr/>
        </p:nvSpPr>
        <p:spPr>
          <a:xfrm>
            <a:off x="685800" y="4791456"/>
            <a:ext cx="2788920" cy="1097280"/>
          </a:xfrm>
          <a:prstGeom prst="rect">
            <a:avLst/>
          </a:prstGeom>
          <a:noFill/>
          <a:ln/>
        </p:spPr>
        <p:txBody>
          <a:bodyPr wrap="square" lIns="0" tIns="0" rIns="0" bIns="0" rtlCol="0" anchor="ctr"/>
          <a:lstStyle/>
          <a:p>
            <a:pPr algn="l" indent="0" marL="0">
              <a:buNone/>
            </a:pPr>
            <a:r>
              <a:rPr lang="ar-SA" altLang="en-US" sz="1500" b="1" dirty="0">
                <a:solidFill>
                  <a:srgbClr val="1B3B6F"/>
                </a:solidFill>
                <a:latin typeface="Amiri" pitchFamily="2" charset="-78"/>
                <a:ea typeface="Amiri" pitchFamily="2" charset="-78"/>
                <a:cs typeface="Amiri" pitchFamily="2" charset="-78"/>
              </a:rPr>
              <a:t>عِنْدَكُمْ</a:t>
            </a:r>
            <a:pPr algn="l" indent="0" marL="0">
              <a:buNone/>
            </a:pPr>
            <a:r>
              <a:rPr lang="en-US" sz="1150" b="1" dirty="0">
                <a:solidFill>
                  <a:srgbClr val="1B3B6F"/>
                </a:solidFill>
                <a:latin typeface="Calibri" pitchFamily="34" charset="0"/>
                <a:cs typeface="Amiri" pitchFamily="2" charset="-78"/>
              </a:rPr>
              <a:t> is a conventional way to ask a business whether it has something.</a:t>
            </a:r>
            <a:endParaRPr lang="en-US" sz="1150" dirty="0"/>
          </a:p>
        </p:txBody>
      </p:sp>
      <p:sp>
        <p:nvSpPr>
          <p:cNvPr id="33" name="Text 3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27 / 43</a:t>
            </a:r>
            <a:endParaRPr lang="en-US" sz="85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F5-L05 · Ordering Politely</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LISTENING · TEACHER READS ALOUD TWICE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At Café Miftah</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الاِسْتِمَاعُ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F5 · Food, Health and Body · F5-L05</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food is ordered?</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salad and a cheese sandwich</a:t>
            </a:r>
            <a:endParaRPr lang="en-US" sz="12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soup and bread</a:t>
            </a:r>
            <a:endParaRPr lang="en-US" sz="12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rice and chicken</a:t>
            </a:r>
            <a:endParaRPr lang="en-US" sz="1250" dirty="0"/>
          </a:p>
        </p:txBody>
      </p:sp>
      <p:sp>
        <p:nvSpPr>
          <p:cNvPr id="28" name="Shape 25"/>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drink is requested?</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apple juice</a:t>
            </a:r>
            <a:endParaRPr lang="en-US" sz="12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water</a:t>
            </a:r>
            <a:endParaRPr lang="en-US" sz="12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orange juice</a:t>
            </a:r>
            <a:endParaRPr lang="en-US" sz="1250" dirty="0"/>
          </a:p>
        </p:txBody>
      </p:sp>
      <p:sp>
        <p:nvSpPr>
          <p:cNvPr id="41" name="Shape 38"/>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clarification does the waiter ask?</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hot or cold</a:t>
            </a:r>
            <a:endParaRPr lang="en-US" sz="12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still or sparkling</a:t>
            </a:r>
            <a:endParaRPr lang="en-US" sz="12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small or large</a:t>
            </a:r>
            <a:endParaRPr lang="en-US" sz="1250" dirty="0"/>
          </a:p>
        </p:txBody>
      </p:sp>
      <p:sp>
        <p:nvSpPr>
          <p:cNvPr id="54" name="Shape 51"/>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585216"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size is chosen?</a:t>
            </a:r>
            <a:endParaRPr lang="en-US" sz="1250" dirty="0"/>
          </a:p>
        </p:txBody>
      </p:sp>
      <p:sp>
        <p:nvSpPr>
          <p:cNvPr id="58" name="Shape 55"/>
          <p:cNvSpPr/>
          <p:nvPr/>
        </p:nvSpPr>
        <p:spPr>
          <a:xfrm>
            <a:off x="640080"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0" name="Text 57"/>
          <p:cNvSpPr txBox="1"/>
          <p:nvPr/>
        </p:nvSpPr>
        <p:spPr>
          <a:xfrm>
            <a:off x="969264"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small</a:t>
            </a:r>
            <a:endParaRPr lang="en-US" sz="1250" dirty="0"/>
          </a:p>
        </p:txBody>
      </p:sp>
      <p:sp>
        <p:nvSpPr>
          <p:cNvPr id="61" name="Shape 58"/>
          <p:cNvSpPr/>
          <p:nvPr/>
        </p:nvSpPr>
        <p:spPr>
          <a:xfrm>
            <a:off x="640080"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3" name="Text 60"/>
          <p:cNvSpPr txBox="1"/>
          <p:nvPr/>
        </p:nvSpPr>
        <p:spPr>
          <a:xfrm>
            <a:off x="969264"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large</a:t>
            </a:r>
            <a:endParaRPr lang="en-US" sz="1250" dirty="0"/>
          </a:p>
        </p:txBody>
      </p:sp>
      <p:sp>
        <p:nvSpPr>
          <p:cNvPr id="64" name="Shape 61"/>
          <p:cNvSpPr/>
          <p:nvPr/>
        </p:nvSpPr>
        <p:spPr>
          <a:xfrm>
            <a:off x="640080"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6" name="Text 63"/>
          <p:cNvSpPr txBox="1"/>
          <p:nvPr/>
        </p:nvSpPr>
        <p:spPr>
          <a:xfrm>
            <a:off x="969264"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medium</a:t>
            </a:r>
            <a:endParaRPr lang="en-US" sz="1250" dirty="0"/>
          </a:p>
        </p:txBody>
      </p:sp>
      <p:sp>
        <p:nvSpPr>
          <p:cNvPr id="67" name="Shape 64"/>
          <p:cNvSpPr/>
          <p:nvPr/>
        </p:nvSpPr>
        <p:spPr>
          <a:xfrm>
            <a:off x="4276344"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68" name="Shape 65"/>
          <p:cNvSpPr/>
          <p:nvPr/>
        </p:nvSpPr>
        <p:spPr>
          <a:xfrm>
            <a:off x="4898136" y="4361688"/>
            <a:ext cx="914400" cy="274320"/>
          </a:xfrm>
          <a:prstGeom prst="roundRect">
            <a:avLst>
              <a:gd name="adj" fmla="val 50000"/>
            </a:avLst>
          </a:prstGeom>
          <a:solidFill>
            <a:srgbClr val="2E8B57"/>
          </a:solidFill>
          <a:ln w="12700">
            <a:solidFill>
              <a:srgbClr val="2E8B57"/>
            </a:solidFill>
            <a:prstDash val="solid"/>
          </a:ln>
        </p:spPr>
      </p:sp>
      <p:sp>
        <p:nvSpPr>
          <p:cNvPr id="69" name="Text 66"/>
          <p:cNvSpPr txBox="1"/>
          <p:nvPr/>
        </p:nvSpPr>
        <p:spPr>
          <a:xfrm>
            <a:off x="4898136" y="4361688"/>
            <a:ext cx="91440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70" name="Text 67"/>
          <p:cNvSpPr txBox="1"/>
          <p:nvPr/>
        </p:nvSpPr>
        <p:spPr>
          <a:xfrm>
            <a:off x="4477512" y="4791456"/>
            <a:ext cx="3270504" cy="1380744"/>
          </a:xfrm>
          <a:prstGeom prst="rect">
            <a:avLst/>
          </a:prstGeom>
          <a:noFill/>
          <a:ln/>
        </p:spPr>
        <p:txBody>
          <a:bodyPr wrap="square" lIns="0" tIns="0" rIns="0" bIns="0" rtlCol="0" anchor="t"/>
          <a:lstStyle/>
          <a:p>
            <a:pPr algn="l" indent="0" marL="0">
              <a:lnSpc>
                <a:spcPct val="115000"/>
              </a:lnSpc>
              <a:buNone/>
            </a:pPr>
            <a:r>
              <a:rPr lang="en-US" sz="1250" dirty="0">
                <a:solidFill>
                  <a:srgbClr val="1E6B52"/>
                </a:solidFill>
                <a:latin typeface="Calibri" pitchFamily="34" charset="0"/>
                <a:cs typeface="Amiri" pitchFamily="2" charset="-78"/>
              </a:rPr>
              <a:t>Listen twice. Core: questions 1, 2 and 4.</a:t>
            </a:r>
            <a:endParaRPr lang="en-US" sz="1250" dirty="0"/>
          </a:p>
          <a:p>
            <a:pPr algn="l" indent="0" marL="0">
              <a:lnSpc>
                <a:spcPct val="115000"/>
              </a:lnSpc>
              <a:buNone/>
            </a:pPr>
            <a:r>
              <a:rPr lang="en-US" sz="1250" dirty="0">
                <a:solidFill>
                  <a:srgbClr val="1E6B52"/>
                </a:solidFill>
                <a:latin typeface="Calibri" pitchFamily="34" charset="0"/>
                <a:cs typeface="Amiri" pitchFamily="2" charset="-78"/>
              </a:rPr>
              <a:t>Listen for: </a:t>
            </a:r>
            <a:pPr algn="l" indent="0" marL="0">
              <a:lnSpc>
                <a:spcPct val="115000"/>
              </a:lnSpc>
              <a:buNone/>
            </a:pPr>
            <a:r>
              <a:rPr lang="ar-SA" altLang="en-US" sz="1650" dirty="0">
                <a:solidFill>
                  <a:srgbClr val="1E6B52"/>
                </a:solidFill>
                <a:latin typeface="Amiri" pitchFamily="2" charset="-78"/>
                <a:ea typeface="Amiri" pitchFamily="2" charset="-78"/>
                <a:cs typeface="Amiri" pitchFamily="2" charset="-78"/>
              </a:rPr>
              <a:t>أُرِيدُ</a:t>
            </a:r>
            <a:pPr algn="l" indent="0" marL="0">
              <a:lnSpc>
                <a:spcPct val="115000"/>
              </a:lnSpc>
              <a:buNone/>
            </a:pPr>
            <a:r>
              <a:rPr lang="en-US" sz="1250" dirty="0">
                <a:solidFill>
                  <a:srgbClr val="1E6B52"/>
                </a:solidFill>
                <a:latin typeface="Calibri" pitchFamily="34" charset="0"/>
                <a:cs typeface="Amiri" pitchFamily="2" charset="-78"/>
              </a:rPr>
              <a:t> · </a:t>
            </a:r>
            <a:pPr algn="l" indent="0" marL="0">
              <a:lnSpc>
                <a:spcPct val="115000"/>
              </a:lnSpc>
              <a:buNone/>
            </a:pPr>
            <a:r>
              <a:rPr lang="ar-SA" altLang="en-US" sz="1650" dirty="0">
                <a:solidFill>
                  <a:srgbClr val="1E6B52"/>
                </a:solidFill>
                <a:latin typeface="Amiri" pitchFamily="2" charset="-78"/>
                <a:ea typeface="Amiri" pitchFamily="2" charset="-78"/>
                <a:cs typeface="Amiri" pitchFamily="2" charset="-78"/>
              </a:rPr>
              <a:t>عَصِيرَ</a:t>
            </a:r>
            <a:pPr algn="l" indent="0" marL="0">
              <a:lnSpc>
                <a:spcPct val="115000"/>
              </a:lnSpc>
              <a:buNone/>
            </a:pPr>
            <a:r>
              <a:rPr lang="en-US" sz="1250" dirty="0">
                <a:solidFill>
                  <a:srgbClr val="1E6B52"/>
                </a:solidFill>
                <a:latin typeface="Calibri" pitchFamily="34" charset="0"/>
                <a:cs typeface="Amiri" pitchFamily="2" charset="-78"/>
              </a:rPr>
              <a:t> · </a:t>
            </a:r>
            <a:pPr algn="l" indent="0" marL="0">
              <a:lnSpc>
                <a:spcPct val="115000"/>
              </a:lnSpc>
              <a:buNone/>
            </a:pPr>
            <a:r>
              <a:rPr lang="ar-SA" altLang="en-US" sz="1650" dirty="0">
                <a:solidFill>
                  <a:srgbClr val="1E6B52"/>
                </a:solidFill>
                <a:latin typeface="Amiri" pitchFamily="2" charset="-78"/>
                <a:ea typeface="Amiri" pitchFamily="2" charset="-78"/>
                <a:cs typeface="Amiri" pitchFamily="2" charset="-78"/>
              </a:rPr>
              <a:t>صَغِيرٌ أَمْ كَبِيرٌ</a:t>
            </a:r>
            <a:pPr algn="l" indent="0" marL="0">
              <a:lnSpc>
                <a:spcPct val="115000"/>
              </a:lnSpc>
              <a:buNone/>
            </a:pPr>
            <a:r>
              <a:rPr lang="en-US" sz="1250" dirty="0">
                <a:solidFill>
                  <a:srgbClr val="1E6B52"/>
                </a:solidFill>
                <a:latin typeface="Calibri" pitchFamily="34" charset="0"/>
                <a:cs typeface="Amiri" pitchFamily="2" charset="-78"/>
              </a:rPr>
              <a:t>.</a:t>
            </a:r>
            <a:endParaRPr lang="en-US" sz="1250" dirty="0"/>
          </a:p>
        </p:txBody>
      </p:sp>
      <p:sp>
        <p:nvSpPr>
          <p:cNvPr id="71" name="Text 68"/>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28 / 43</a:t>
            </a:r>
            <a:endParaRPr lang="en-US" sz="85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F5-L05 · Ordering Politely</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LISTENING SUPPORT · READ ALONG (CORE)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650" b="1" dirty="0">
                <a:solidFill>
                  <a:srgbClr val="1B3B6F"/>
                </a:solidFill>
                <a:latin typeface="Cambria" pitchFamily="34" charset="0"/>
                <a:cs typeface="Amiri" pitchFamily="2" charset="-78"/>
              </a:rPr>
              <a:t>The script — read along with English</a:t>
            </a:r>
            <a:endParaRPr lang="en-US" sz="26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نَصُّ الاِسْتِمَاعِ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F5 · Food, Health and Body · F5-L05</a:t>
            </a:r>
            <a:endParaRPr lang="en-US" sz="850" dirty="0"/>
          </a:p>
        </p:txBody>
      </p:sp>
      <p:sp>
        <p:nvSpPr>
          <p:cNvPr id="15" name="Shape 12"/>
          <p:cNvSpPr/>
          <p:nvPr/>
        </p:nvSpPr>
        <p:spPr>
          <a:xfrm>
            <a:off x="457200" y="1810512"/>
            <a:ext cx="11274552" cy="1069848"/>
          </a:xfrm>
          <a:prstGeom prst="roundRect">
            <a:avLst>
              <a:gd name="adj" fmla="val 4274"/>
            </a:avLst>
          </a:prstGeom>
          <a:solidFill>
            <a:srgbClr val="FFFFFF"/>
          </a:solidFill>
          <a:ln w="9525">
            <a:solidFill>
              <a:srgbClr val="D8D0BF"/>
            </a:solidFill>
            <a:prstDash val="solid"/>
          </a:ln>
        </p:spPr>
      </p:sp>
      <p:sp>
        <p:nvSpPr>
          <p:cNvPr id="16" name="Text 13"/>
          <p:cNvSpPr txBox="1"/>
          <p:nvPr/>
        </p:nvSpPr>
        <p:spPr>
          <a:xfrm>
            <a:off x="4937760" y="1828800"/>
            <a:ext cx="6675120" cy="10332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النَّادِلُ: مَسَاءُ الخَيْرِ. مَاذَا تُرِيدِينَ؟</a:t>
            </a:r>
            <a:endParaRPr lang="ar-SA" sz="2000" dirty="0"/>
          </a:p>
        </p:txBody>
      </p:sp>
      <p:sp>
        <p:nvSpPr>
          <p:cNvPr id="17" name="Text 14"/>
          <p:cNvSpPr txBox="1"/>
          <p:nvPr/>
        </p:nvSpPr>
        <p:spPr>
          <a:xfrm>
            <a:off x="640080" y="1828800"/>
            <a:ext cx="4160520" cy="10332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Waiter: Good evening. What would you (f.) like?</a:t>
            </a:r>
            <a:endParaRPr lang="en-US" sz="1250" dirty="0"/>
          </a:p>
        </p:txBody>
      </p:sp>
      <p:sp>
        <p:nvSpPr>
          <p:cNvPr id="18" name="Shape 15"/>
          <p:cNvSpPr/>
          <p:nvPr/>
        </p:nvSpPr>
        <p:spPr>
          <a:xfrm>
            <a:off x="457200" y="2953512"/>
            <a:ext cx="11274552" cy="1069848"/>
          </a:xfrm>
          <a:prstGeom prst="roundRect">
            <a:avLst>
              <a:gd name="adj" fmla="val 4274"/>
            </a:avLst>
          </a:prstGeom>
          <a:solidFill>
            <a:srgbClr val="F4F1EA"/>
          </a:solidFill>
          <a:ln w="9525">
            <a:solidFill>
              <a:srgbClr val="D8D0BF"/>
            </a:solidFill>
            <a:prstDash val="solid"/>
          </a:ln>
        </p:spPr>
      </p:sp>
      <p:sp>
        <p:nvSpPr>
          <p:cNvPr id="19" name="Text 16"/>
          <p:cNvSpPr txBox="1"/>
          <p:nvPr/>
        </p:nvSpPr>
        <p:spPr>
          <a:xfrm>
            <a:off x="4937760" y="2971800"/>
            <a:ext cx="6675120" cy="10332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الزَّبُونَةُ: أُرِيدُ سَلَطَةً وَسَانْدَوِيتْشَ جُبْنٍ، مِنْ فَضْلِكَ.</a:t>
            </a:r>
            <a:endParaRPr lang="ar-SA" sz="2000" dirty="0"/>
          </a:p>
        </p:txBody>
      </p:sp>
      <p:sp>
        <p:nvSpPr>
          <p:cNvPr id="20" name="Text 17"/>
          <p:cNvSpPr txBox="1"/>
          <p:nvPr/>
        </p:nvSpPr>
        <p:spPr>
          <a:xfrm>
            <a:off x="640080" y="2971800"/>
            <a:ext cx="4160520" cy="10332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Customer: I would like a salad and a cheese sandwich, please.</a:t>
            </a:r>
            <a:endParaRPr lang="en-US" sz="1250" dirty="0"/>
          </a:p>
        </p:txBody>
      </p:sp>
      <p:sp>
        <p:nvSpPr>
          <p:cNvPr id="21" name="Shape 18"/>
          <p:cNvSpPr/>
          <p:nvPr/>
        </p:nvSpPr>
        <p:spPr>
          <a:xfrm>
            <a:off x="457200" y="4096512"/>
            <a:ext cx="11274552" cy="1069848"/>
          </a:xfrm>
          <a:prstGeom prst="roundRect">
            <a:avLst>
              <a:gd name="adj" fmla="val 4274"/>
            </a:avLst>
          </a:prstGeom>
          <a:solidFill>
            <a:srgbClr val="FFFFFF"/>
          </a:solidFill>
          <a:ln w="9525">
            <a:solidFill>
              <a:srgbClr val="D8D0BF"/>
            </a:solidFill>
            <a:prstDash val="solid"/>
          </a:ln>
        </p:spPr>
      </p:sp>
      <p:sp>
        <p:nvSpPr>
          <p:cNvPr id="22" name="Text 19"/>
          <p:cNvSpPr txBox="1"/>
          <p:nvPr/>
        </p:nvSpPr>
        <p:spPr>
          <a:xfrm>
            <a:off x="4937760" y="4114800"/>
            <a:ext cx="6675120" cy="10332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النَّادِلُ: هَلْ تُرِيدِينَ شَيْئًا لِلشُّرْبِ؟ الزَّبُونَةُ: نَعَمْ، عَصِيرَ بُرْتُقَالٍ.</a:t>
            </a:r>
            <a:endParaRPr lang="ar-SA" sz="2000" dirty="0"/>
          </a:p>
        </p:txBody>
      </p:sp>
      <p:sp>
        <p:nvSpPr>
          <p:cNvPr id="23" name="Text 20"/>
          <p:cNvSpPr txBox="1"/>
          <p:nvPr/>
        </p:nvSpPr>
        <p:spPr>
          <a:xfrm>
            <a:off x="640080" y="4114800"/>
            <a:ext cx="4160520" cy="10332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Would you like something to drink? — Yes, orange juice.</a:t>
            </a:r>
            <a:endParaRPr lang="en-US" sz="1250" dirty="0"/>
          </a:p>
        </p:txBody>
      </p:sp>
      <p:sp>
        <p:nvSpPr>
          <p:cNvPr id="24" name="Shape 21"/>
          <p:cNvSpPr/>
          <p:nvPr/>
        </p:nvSpPr>
        <p:spPr>
          <a:xfrm>
            <a:off x="457200" y="5239512"/>
            <a:ext cx="11274552" cy="1069848"/>
          </a:xfrm>
          <a:prstGeom prst="roundRect">
            <a:avLst>
              <a:gd name="adj" fmla="val 4274"/>
            </a:avLst>
          </a:prstGeom>
          <a:solidFill>
            <a:srgbClr val="F4F1EA"/>
          </a:solidFill>
          <a:ln w="9525">
            <a:solidFill>
              <a:srgbClr val="D8D0BF"/>
            </a:solidFill>
            <a:prstDash val="solid"/>
          </a:ln>
        </p:spPr>
      </p:sp>
      <p:sp>
        <p:nvSpPr>
          <p:cNvPr id="25" name="Text 22"/>
          <p:cNvSpPr txBox="1"/>
          <p:nvPr/>
        </p:nvSpPr>
        <p:spPr>
          <a:xfrm>
            <a:off x="4937760" y="5257800"/>
            <a:ext cx="6675120" cy="10332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النَّادِلُ: عَصِيرٌ صَغِيرٌ أَمْ كَبِيرٌ؟ الزَّبُونَةُ: صَغِيرٌ، شُكْرًا.</a:t>
            </a:r>
            <a:endParaRPr lang="ar-SA" sz="2000" dirty="0"/>
          </a:p>
        </p:txBody>
      </p:sp>
      <p:sp>
        <p:nvSpPr>
          <p:cNvPr id="26" name="Text 23"/>
          <p:cNvSpPr txBox="1"/>
          <p:nvPr/>
        </p:nvSpPr>
        <p:spPr>
          <a:xfrm>
            <a:off x="640080" y="5257800"/>
            <a:ext cx="4160520" cy="10332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small or large juice? — Small, thank you.</a:t>
            </a:r>
            <a:endParaRPr lang="en-US" sz="1250" dirty="0"/>
          </a:p>
        </p:txBody>
      </p:sp>
      <p:sp>
        <p:nvSpPr>
          <p:cNvPr id="27" name="Text 2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29 / 43</a:t>
            </a:r>
            <a:endParaRPr lang="en-US" sz="85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F5-L05 · Ordering Politely</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LISTENING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Listening: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إِجَابَاتُ الاِسْتِمَاعِ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F5 · Food, Health and Body · F5-L05</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food is ordered?</a:t>
            </a:r>
            <a:endParaRPr lang="en-US" sz="1250" dirty="0"/>
          </a:p>
        </p:txBody>
      </p:sp>
      <p:sp>
        <p:nvSpPr>
          <p:cNvPr id="19" name="Shape 16"/>
          <p:cNvSpPr/>
          <p:nvPr/>
        </p:nvSpPr>
        <p:spPr>
          <a:xfrm>
            <a:off x="548640" y="2453640"/>
            <a:ext cx="3453384" cy="347472"/>
          </a:xfrm>
          <a:prstGeom prst="roundRect">
            <a:avLst>
              <a:gd name="adj" fmla="val 15789"/>
            </a:avLst>
          </a:prstGeom>
          <a:solidFill>
            <a:srgbClr val="E6F4EC"/>
          </a:solidFill>
          <a:ln w="9525">
            <a:solidFill>
              <a:srgbClr val="2E8B57"/>
            </a:solidFill>
            <a:prstDash val="solid"/>
          </a:ln>
        </p:spPr>
      </p:sp>
      <p:sp>
        <p:nvSpPr>
          <p:cNvPr id="20" name="Shape 17"/>
          <p:cNvSpPr/>
          <p:nvPr/>
        </p:nvSpPr>
        <p:spPr>
          <a:xfrm>
            <a:off x="640080" y="2490216"/>
            <a:ext cx="256032" cy="256032"/>
          </a:xfrm>
          <a:prstGeom prst="ellipse">
            <a:avLst/>
          </a:prstGeom>
          <a:solidFill>
            <a:srgbClr val="2E8B57"/>
          </a:solidFill>
          <a:ln w="12700">
            <a:solidFill>
              <a:srgbClr val="2E8B57"/>
            </a:solidFill>
            <a:prstDash val="solid"/>
          </a:ln>
        </p:spPr>
      </p:sp>
      <p:sp>
        <p:nvSpPr>
          <p:cNvPr id="21" name="Text 18"/>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22" name="Text 19"/>
          <p:cNvSpPr txBox="1"/>
          <p:nvPr/>
        </p:nvSpPr>
        <p:spPr>
          <a:xfrm>
            <a:off x="969264" y="243230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salad and a cheese sandwich</a:t>
            </a:r>
            <a:endParaRPr lang="en-US" sz="1250" dirty="0"/>
          </a:p>
        </p:txBody>
      </p:sp>
      <p:sp>
        <p:nvSpPr>
          <p:cNvPr id="23" name="Shape 20"/>
          <p:cNvSpPr/>
          <p:nvPr/>
        </p:nvSpPr>
        <p:spPr>
          <a:xfrm>
            <a:off x="640080" y="2862072"/>
            <a:ext cx="256032" cy="256032"/>
          </a:xfrm>
          <a:prstGeom prst="ellipse">
            <a:avLst/>
          </a:prstGeom>
          <a:solidFill>
            <a:srgbClr val="C9CED6"/>
          </a:solidFill>
          <a:ln w="12700">
            <a:solidFill>
              <a:srgbClr val="C9CED6"/>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5" name="Text 22"/>
          <p:cNvSpPr txBox="1"/>
          <p:nvPr/>
        </p:nvSpPr>
        <p:spPr>
          <a:xfrm>
            <a:off x="969264"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soup and bread</a:t>
            </a:r>
            <a:endParaRPr lang="en-US" sz="1250" dirty="0"/>
          </a:p>
        </p:txBody>
      </p:sp>
      <p:sp>
        <p:nvSpPr>
          <p:cNvPr id="26" name="Shape 23"/>
          <p:cNvSpPr/>
          <p:nvPr/>
        </p:nvSpPr>
        <p:spPr>
          <a:xfrm>
            <a:off x="640080" y="323392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rice and chicken</a:t>
            </a:r>
            <a:endParaRPr lang="en-US" sz="1250" dirty="0"/>
          </a:p>
        </p:txBody>
      </p:sp>
      <p:sp>
        <p:nvSpPr>
          <p:cNvPr id="29" name="Text 26"/>
          <p:cNvSpPr txBox="1"/>
          <p:nvPr/>
        </p:nvSpPr>
        <p:spPr>
          <a:xfrm>
            <a:off x="585216" y="3566160"/>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سَلَطَةً وَسَانْدَوِيتْشَ جُبْنٍ.</a:t>
            </a:r>
            <a:endParaRPr lang="ar-SA" sz="13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drink is requested?</a:t>
            </a:r>
            <a:endParaRPr lang="en-US" sz="1250" dirty="0"/>
          </a:p>
        </p:txBody>
      </p:sp>
      <p:sp>
        <p:nvSpPr>
          <p:cNvPr id="34" name="Shape 31"/>
          <p:cNvSpPr/>
          <p:nvPr/>
        </p:nvSpPr>
        <p:spPr>
          <a:xfrm>
            <a:off x="4459224" y="2490216"/>
            <a:ext cx="256032" cy="256032"/>
          </a:xfrm>
          <a:prstGeom prst="ellipse">
            <a:avLst/>
          </a:prstGeom>
          <a:solidFill>
            <a:srgbClr val="C9CED6"/>
          </a:solidFill>
          <a:ln w="12700">
            <a:solidFill>
              <a:srgbClr val="C9CED6"/>
            </a:solidFill>
            <a:prstDash val="solid"/>
          </a:ln>
        </p:spPr>
      </p:sp>
      <p:sp>
        <p:nvSpPr>
          <p:cNvPr id="35" name="Text 32"/>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4788408"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apple juice</a:t>
            </a:r>
            <a:endParaRPr lang="en-US" sz="1250" dirty="0"/>
          </a:p>
        </p:txBody>
      </p:sp>
      <p:sp>
        <p:nvSpPr>
          <p:cNvPr id="37" name="Shape 34"/>
          <p:cNvSpPr/>
          <p:nvPr/>
        </p:nvSpPr>
        <p:spPr>
          <a:xfrm>
            <a:off x="4459224" y="2862072"/>
            <a:ext cx="256032" cy="256032"/>
          </a:xfrm>
          <a:prstGeom prst="ellipse">
            <a:avLst/>
          </a:prstGeom>
          <a:solidFill>
            <a:srgbClr val="C9CED6"/>
          </a:solidFill>
          <a:ln w="12700">
            <a:solidFill>
              <a:srgbClr val="C9CED6"/>
            </a:solidFill>
            <a:prstDash val="solid"/>
          </a:ln>
        </p:spPr>
      </p:sp>
      <p:sp>
        <p:nvSpPr>
          <p:cNvPr id="38" name="Text 35"/>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9" name="Text 36"/>
          <p:cNvSpPr txBox="1"/>
          <p:nvPr/>
        </p:nvSpPr>
        <p:spPr>
          <a:xfrm>
            <a:off x="4788408"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water</a:t>
            </a:r>
            <a:endParaRPr lang="en-US" sz="1250" dirty="0"/>
          </a:p>
        </p:txBody>
      </p:sp>
      <p:sp>
        <p:nvSpPr>
          <p:cNvPr id="40" name="Shape 37"/>
          <p:cNvSpPr/>
          <p:nvPr/>
        </p:nvSpPr>
        <p:spPr>
          <a:xfrm>
            <a:off x="4367784" y="3197352"/>
            <a:ext cx="3453384" cy="347472"/>
          </a:xfrm>
          <a:prstGeom prst="roundRect">
            <a:avLst>
              <a:gd name="adj" fmla="val 15789"/>
            </a:avLst>
          </a:prstGeom>
          <a:solidFill>
            <a:srgbClr val="E6F4EC"/>
          </a:solidFill>
          <a:ln w="9525">
            <a:solidFill>
              <a:srgbClr val="2E8B57"/>
            </a:solidFill>
            <a:prstDash val="solid"/>
          </a:ln>
        </p:spPr>
      </p:sp>
      <p:sp>
        <p:nvSpPr>
          <p:cNvPr id="41" name="Shape 38"/>
          <p:cNvSpPr/>
          <p:nvPr/>
        </p:nvSpPr>
        <p:spPr>
          <a:xfrm>
            <a:off x="4459224" y="3233928"/>
            <a:ext cx="256032" cy="256032"/>
          </a:xfrm>
          <a:prstGeom prst="ellipse">
            <a:avLst/>
          </a:prstGeom>
          <a:solidFill>
            <a:srgbClr val="2E8B57"/>
          </a:solidFill>
          <a:ln w="12700">
            <a:solidFill>
              <a:srgbClr val="2E8B57"/>
            </a:solidFill>
            <a:prstDash val="solid"/>
          </a:ln>
        </p:spPr>
      </p:sp>
      <p:sp>
        <p:nvSpPr>
          <p:cNvPr id="42" name="Text 39"/>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43" name="Text 40"/>
          <p:cNvSpPr txBox="1"/>
          <p:nvPr/>
        </p:nvSpPr>
        <p:spPr>
          <a:xfrm>
            <a:off x="4788408" y="3176016"/>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orange juice</a:t>
            </a:r>
            <a:endParaRPr lang="en-US" sz="1250" dirty="0"/>
          </a:p>
        </p:txBody>
      </p:sp>
      <p:sp>
        <p:nvSpPr>
          <p:cNvPr id="44" name="Text 41"/>
          <p:cNvSpPr txBox="1"/>
          <p:nvPr/>
        </p:nvSpPr>
        <p:spPr>
          <a:xfrm>
            <a:off x="4404360" y="3566160"/>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عَصِيرَ بُرْتُقَالٍ.</a:t>
            </a:r>
            <a:endParaRPr lang="ar-SA" sz="1350" dirty="0"/>
          </a:p>
        </p:txBody>
      </p:sp>
      <p:sp>
        <p:nvSpPr>
          <p:cNvPr id="45" name="Shape 42"/>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clarification does the waiter ask?</a:t>
            </a:r>
            <a:endParaRPr lang="en-US" sz="1250" dirty="0"/>
          </a:p>
        </p:txBody>
      </p:sp>
      <p:sp>
        <p:nvSpPr>
          <p:cNvPr id="49" name="Shape 46"/>
          <p:cNvSpPr/>
          <p:nvPr/>
        </p:nvSpPr>
        <p:spPr>
          <a:xfrm>
            <a:off x="8278368" y="2490216"/>
            <a:ext cx="256032" cy="256032"/>
          </a:xfrm>
          <a:prstGeom prst="ellipse">
            <a:avLst/>
          </a:prstGeom>
          <a:solidFill>
            <a:srgbClr val="C9CED6"/>
          </a:solidFill>
          <a:ln w="12700">
            <a:solidFill>
              <a:srgbClr val="C9CED6"/>
            </a:solidFill>
            <a:prstDash val="solid"/>
          </a:ln>
        </p:spPr>
      </p:sp>
      <p:sp>
        <p:nvSpPr>
          <p:cNvPr id="50" name="Text 47"/>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1" name="Text 48"/>
          <p:cNvSpPr txBox="1"/>
          <p:nvPr/>
        </p:nvSpPr>
        <p:spPr>
          <a:xfrm>
            <a:off x="8607552"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hot or cold</a:t>
            </a:r>
            <a:endParaRPr lang="en-US" sz="1250" dirty="0"/>
          </a:p>
        </p:txBody>
      </p:sp>
      <p:sp>
        <p:nvSpPr>
          <p:cNvPr id="52" name="Shape 49"/>
          <p:cNvSpPr/>
          <p:nvPr/>
        </p:nvSpPr>
        <p:spPr>
          <a:xfrm>
            <a:off x="8278368" y="2862072"/>
            <a:ext cx="256032" cy="256032"/>
          </a:xfrm>
          <a:prstGeom prst="ellipse">
            <a:avLst/>
          </a:prstGeom>
          <a:solidFill>
            <a:srgbClr val="C9CED6"/>
          </a:solidFill>
          <a:ln w="12700">
            <a:solidFill>
              <a:srgbClr val="C9CED6"/>
            </a:solidFill>
            <a:prstDash val="solid"/>
          </a:ln>
        </p:spPr>
      </p:sp>
      <p:sp>
        <p:nvSpPr>
          <p:cNvPr id="53" name="Text 50"/>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4" name="Text 51"/>
          <p:cNvSpPr txBox="1"/>
          <p:nvPr/>
        </p:nvSpPr>
        <p:spPr>
          <a:xfrm>
            <a:off x="8607552"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still or sparkling</a:t>
            </a:r>
            <a:endParaRPr lang="en-US" sz="1250" dirty="0"/>
          </a:p>
        </p:txBody>
      </p:sp>
      <p:sp>
        <p:nvSpPr>
          <p:cNvPr id="55" name="Shape 52"/>
          <p:cNvSpPr/>
          <p:nvPr/>
        </p:nvSpPr>
        <p:spPr>
          <a:xfrm>
            <a:off x="8186928" y="3197352"/>
            <a:ext cx="3453384" cy="347472"/>
          </a:xfrm>
          <a:prstGeom prst="roundRect">
            <a:avLst>
              <a:gd name="adj" fmla="val 15789"/>
            </a:avLst>
          </a:prstGeom>
          <a:solidFill>
            <a:srgbClr val="E6F4EC"/>
          </a:solidFill>
          <a:ln w="9525">
            <a:solidFill>
              <a:srgbClr val="2E8B57"/>
            </a:solidFill>
            <a:prstDash val="solid"/>
          </a:ln>
        </p:spPr>
      </p:sp>
      <p:sp>
        <p:nvSpPr>
          <p:cNvPr id="56" name="Shape 53"/>
          <p:cNvSpPr/>
          <p:nvPr/>
        </p:nvSpPr>
        <p:spPr>
          <a:xfrm>
            <a:off x="8278368" y="3233928"/>
            <a:ext cx="256032" cy="256032"/>
          </a:xfrm>
          <a:prstGeom prst="ellipse">
            <a:avLst/>
          </a:prstGeom>
          <a:solidFill>
            <a:srgbClr val="2E8B57"/>
          </a:solidFill>
          <a:ln w="12700">
            <a:solidFill>
              <a:srgbClr val="2E8B57"/>
            </a:solidFill>
            <a:prstDash val="solid"/>
          </a:ln>
        </p:spPr>
      </p:sp>
      <p:sp>
        <p:nvSpPr>
          <p:cNvPr id="57" name="Text 54"/>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58" name="Text 55"/>
          <p:cNvSpPr txBox="1"/>
          <p:nvPr/>
        </p:nvSpPr>
        <p:spPr>
          <a:xfrm>
            <a:off x="8607552" y="3176016"/>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small or large</a:t>
            </a:r>
            <a:endParaRPr lang="en-US" sz="1250" dirty="0"/>
          </a:p>
        </p:txBody>
      </p:sp>
      <p:sp>
        <p:nvSpPr>
          <p:cNvPr id="59" name="Text 56"/>
          <p:cNvSpPr txBox="1"/>
          <p:nvPr/>
        </p:nvSpPr>
        <p:spPr>
          <a:xfrm>
            <a:off x="8223504" y="3566160"/>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صَغِيرٌ أَمْ كَبِيرٌ؟</a:t>
            </a:r>
            <a:endParaRPr lang="ar-SA" sz="1350" dirty="0"/>
          </a:p>
        </p:txBody>
      </p:sp>
      <p:sp>
        <p:nvSpPr>
          <p:cNvPr id="60" name="Shape 57"/>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585216"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size is chosen?</a:t>
            </a:r>
            <a:endParaRPr lang="en-US" sz="1250" dirty="0"/>
          </a:p>
        </p:txBody>
      </p:sp>
      <p:sp>
        <p:nvSpPr>
          <p:cNvPr id="64" name="Shape 61"/>
          <p:cNvSpPr/>
          <p:nvPr/>
        </p:nvSpPr>
        <p:spPr>
          <a:xfrm>
            <a:off x="548640" y="4794504"/>
            <a:ext cx="3453384" cy="347472"/>
          </a:xfrm>
          <a:prstGeom prst="roundRect">
            <a:avLst>
              <a:gd name="adj" fmla="val 15789"/>
            </a:avLst>
          </a:prstGeom>
          <a:solidFill>
            <a:srgbClr val="E6F4EC"/>
          </a:solidFill>
          <a:ln w="9525">
            <a:solidFill>
              <a:srgbClr val="2E8B57"/>
            </a:solidFill>
            <a:prstDash val="solid"/>
          </a:ln>
        </p:spPr>
      </p:sp>
      <p:sp>
        <p:nvSpPr>
          <p:cNvPr id="65" name="Shape 62"/>
          <p:cNvSpPr/>
          <p:nvPr/>
        </p:nvSpPr>
        <p:spPr>
          <a:xfrm>
            <a:off x="640080" y="4831080"/>
            <a:ext cx="256032" cy="256032"/>
          </a:xfrm>
          <a:prstGeom prst="ellipse">
            <a:avLst/>
          </a:prstGeom>
          <a:solidFill>
            <a:srgbClr val="2E8B57"/>
          </a:solidFill>
          <a:ln w="12700">
            <a:solidFill>
              <a:srgbClr val="2E8B57"/>
            </a:solidFill>
            <a:prstDash val="solid"/>
          </a:ln>
        </p:spPr>
      </p:sp>
      <p:sp>
        <p:nvSpPr>
          <p:cNvPr id="66" name="Text 63"/>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67" name="Text 64"/>
          <p:cNvSpPr txBox="1"/>
          <p:nvPr/>
        </p:nvSpPr>
        <p:spPr>
          <a:xfrm>
            <a:off x="969264" y="4773168"/>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small</a:t>
            </a:r>
            <a:endParaRPr lang="en-US" sz="1250" dirty="0"/>
          </a:p>
        </p:txBody>
      </p:sp>
      <p:sp>
        <p:nvSpPr>
          <p:cNvPr id="68" name="Shape 65"/>
          <p:cNvSpPr/>
          <p:nvPr/>
        </p:nvSpPr>
        <p:spPr>
          <a:xfrm>
            <a:off x="640080" y="5202936"/>
            <a:ext cx="256032" cy="256032"/>
          </a:xfrm>
          <a:prstGeom prst="ellipse">
            <a:avLst/>
          </a:prstGeom>
          <a:solidFill>
            <a:srgbClr val="C9CED6"/>
          </a:solidFill>
          <a:ln w="12700">
            <a:solidFill>
              <a:srgbClr val="C9CED6"/>
            </a:solidFill>
            <a:prstDash val="solid"/>
          </a:ln>
        </p:spPr>
      </p:sp>
      <p:sp>
        <p:nvSpPr>
          <p:cNvPr id="69" name="Text 66"/>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0" name="Text 67"/>
          <p:cNvSpPr txBox="1"/>
          <p:nvPr/>
        </p:nvSpPr>
        <p:spPr>
          <a:xfrm>
            <a:off x="969264" y="514502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large</a:t>
            </a:r>
            <a:endParaRPr lang="en-US" sz="1250" dirty="0"/>
          </a:p>
        </p:txBody>
      </p:sp>
      <p:sp>
        <p:nvSpPr>
          <p:cNvPr id="71" name="Shape 68"/>
          <p:cNvSpPr/>
          <p:nvPr/>
        </p:nvSpPr>
        <p:spPr>
          <a:xfrm>
            <a:off x="640080" y="5574792"/>
            <a:ext cx="256032" cy="256032"/>
          </a:xfrm>
          <a:prstGeom prst="ellipse">
            <a:avLst/>
          </a:prstGeom>
          <a:solidFill>
            <a:srgbClr val="C9CED6"/>
          </a:solidFill>
          <a:ln w="12700">
            <a:solidFill>
              <a:srgbClr val="C9CED6"/>
            </a:solidFill>
            <a:prstDash val="solid"/>
          </a:ln>
        </p:spPr>
      </p:sp>
      <p:sp>
        <p:nvSpPr>
          <p:cNvPr id="72" name="Text 69"/>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3" name="Text 70"/>
          <p:cNvSpPr txBox="1"/>
          <p:nvPr/>
        </p:nvSpPr>
        <p:spPr>
          <a:xfrm>
            <a:off x="969264" y="551688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medium</a:t>
            </a:r>
            <a:endParaRPr lang="en-US" sz="1250" dirty="0"/>
          </a:p>
        </p:txBody>
      </p:sp>
      <p:sp>
        <p:nvSpPr>
          <p:cNvPr id="74" name="Text 71"/>
          <p:cNvSpPr txBox="1"/>
          <p:nvPr/>
        </p:nvSpPr>
        <p:spPr>
          <a:xfrm>
            <a:off x="585216" y="5907024"/>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صَغِيرٌ.</a:t>
            </a:r>
            <a:endParaRPr lang="ar-SA" sz="1350" dirty="0"/>
          </a:p>
        </p:txBody>
      </p:sp>
      <p:sp>
        <p:nvSpPr>
          <p:cNvPr id="75" name="Shape 72"/>
          <p:cNvSpPr/>
          <p:nvPr/>
        </p:nvSpPr>
        <p:spPr>
          <a:xfrm>
            <a:off x="4276344"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76" name="Shape 73"/>
          <p:cNvSpPr/>
          <p:nvPr/>
        </p:nvSpPr>
        <p:spPr>
          <a:xfrm>
            <a:off x="4898136" y="4361688"/>
            <a:ext cx="914400" cy="274320"/>
          </a:xfrm>
          <a:prstGeom prst="roundRect">
            <a:avLst>
              <a:gd name="adj" fmla="val 50000"/>
            </a:avLst>
          </a:prstGeom>
          <a:solidFill>
            <a:srgbClr val="2E8B57"/>
          </a:solidFill>
          <a:ln w="12700">
            <a:solidFill>
              <a:srgbClr val="2E8B57"/>
            </a:solidFill>
            <a:prstDash val="solid"/>
          </a:ln>
        </p:spPr>
      </p:sp>
      <p:sp>
        <p:nvSpPr>
          <p:cNvPr id="77" name="Text 74"/>
          <p:cNvSpPr txBox="1"/>
          <p:nvPr/>
        </p:nvSpPr>
        <p:spPr>
          <a:xfrm>
            <a:off x="4898136" y="4361688"/>
            <a:ext cx="91440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78" name="Text 75"/>
          <p:cNvSpPr txBox="1"/>
          <p:nvPr/>
        </p:nvSpPr>
        <p:spPr>
          <a:xfrm>
            <a:off x="4477512" y="4791456"/>
            <a:ext cx="3270504" cy="1380744"/>
          </a:xfrm>
          <a:prstGeom prst="rect">
            <a:avLst/>
          </a:prstGeom>
          <a:noFill/>
          <a:ln/>
        </p:spPr>
        <p:txBody>
          <a:bodyPr wrap="square" lIns="0" tIns="0" rIns="0" bIns="0" rtlCol="0" anchor="t"/>
          <a:lstStyle/>
          <a:p>
            <a:pPr algn="l" indent="0" marL="0">
              <a:lnSpc>
                <a:spcPct val="115000"/>
              </a:lnSpc>
              <a:buNone/>
            </a:pPr>
            <a:r>
              <a:rPr lang="en-US" sz="1250" dirty="0">
                <a:solidFill>
                  <a:srgbClr val="1E6B52"/>
                </a:solidFill>
                <a:latin typeface="Calibri" pitchFamily="34" charset="0"/>
                <a:cs typeface="Amiri" pitchFamily="2" charset="-78"/>
              </a:rPr>
              <a:t>Listen twice. Core: questions 1, 2 and 4.</a:t>
            </a:r>
            <a:endParaRPr lang="en-US" sz="1250" dirty="0"/>
          </a:p>
          <a:p>
            <a:pPr algn="l" indent="0" marL="0">
              <a:lnSpc>
                <a:spcPct val="115000"/>
              </a:lnSpc>
              <a:buNone/>
            </a:pPr>
            <a:r>
              <a:rPr lang="en-US" sz="1250" dirty="0">
                <a:solidFill>
                  <a:srgbClr val="1E6B52"/>
                </a:solidFill>
                <a:latin typeface="Calibri" pitchFamily="34" charset="0"/>
                <a:cs typeface="Amiri" pitchFamily="2" charset="-78"/>
              </a:rPr>
              <a:t>Listen for: </a:t>
            </a:r>
            <a:pPr algn="l" indent="0" marL="0">
              <a:lnSpc>
                <a:spcPct val="115000"/>
              </a:lnSpc>
              <a:buNone/>
            </a:pPr>
            <a:r>
              <a:rPr lang="ar-SA" altLang="en-US" sz="1650" dirty="0">
                <a:solidFill>
                  <a:srgbClr val="1E6B52"/>
                </a:solidFill>
                <a:latin typeface="Amiri" pitchFamily="2" charset="-78"/>
                <a:ea typeface="Amiri" pitchFamily="2" charset="-78"/>
                <a:cs typeface="Amiri" pitchFamily="2" charset="-78"/>
              </a:rPr>
              <a:t>أُرِيدُ</a:t>
            </a:r>
            <a:pPr algn="l" indent="0" marL="0">
              <a:lnSpc>
                <a:spcPct val="115000"/>
              </a:lnSpc>
              <a:buNone/>
            </a:pPr>
            <a:r>
              <a:rPr lang="en-US" sz="1250" dirty="0">
                <a:solidFill>
                  <a:srgbClr val="1E6B52"/>
                </a:solidFill>
                <a:latin typeface="Calibri" pitchFamily="34" charset="0"/>
                <a:cs typeface="Amiri" pitchFamily="2" charset="-78"/>
              </a:rPr>
              <a:t> · </a:t>
            </a:r>
            <a:pPr algn="l" indent="0" marL="0">
              <a:lnSpc>
                <a:spcPct val="115000"/>
              </a:lnSpc>
              <a:buNone/>
            </a:pPr>
            <a:r>
              <a:rPr lang="ar-SA" altLang="en-US" sz="1650" dirty="0">
                <a:solidFill>
                  <a:srgbClr val="1E6B52"/>
                </a:solidFill>
                <a:latin typeface="Amiri" pitchFamily="2" charset="-78"/>
                <a:ea typeface="Amiri" pitchFamily="2" charset="-78"/>
                <a:cs typeface="Amiri" pitchFamily="2" charset="-78"/>
              </a:rPr>
              <a:t>عَصِيرَ</a:t>
            </a:r>
            <a:pPr algn="l" indent="0" marL="0">
              <a:lnSpc>
                <a:spcPct val="115000"/>
              </a:lnSpc>
              <a:buNone/>
            </a:pPr>
            <a:r>
              <a:rPr lang="en-US" sz="1250" dirty="0">
                <a:solidFill>
                  <a:srgbClr val="1E6B52"/>
                </a:solidFill>
                <a:latin typeface="Calibri" pitchFamily="34" charset="0"/>
                <a:cs typeface="Amiri" pitchFamily="2" charset="-78"/>
              </a:rPr>
              <a:t> · </a:t>
            </a:r>
            <a:pPr algn="l" indent="0" marL="0">
              <a:lnSpc>
                <a:spcPct val="115000"/>
              </a:lnSpc>
              <a:buNone/>
            </a:pPr>
            <a:r>
              <a:rPr lang="ar-SA" altLang="en-US" sz="1650" dirty="0">
                <a:solidFill>
                  <a:srgbClr val="1E6B52"/>
                </a:solidFill>
                <a:latin typeface="Amiri" pitchFamily="2" charset="-78"/>
                <a:ea typeface="Amiri" pitchFamily="2" charset="-78"/>
                <a:cs typeface="Amiri" pitchFamily="2" charset="-78"/>
              </a:rPr>
              <a:t>صَغِيرٌ أَمْ كَبِيرٌ</a:t>
            </a:r>
            <a:pPr algn="l" indent="0" marL="0">
              <a:lnSpc>
                <a:spcPct val="115000"/>
              </a:lnSpc>
              <a:buNone/>
            </a:pPr>
            <a:r>
              <a:rPr lang="en-US" sz="1250" dirty="0">
                <a:solidFill>
                  <a:srgbClr val="1E6B52"/>
                </a:solidFill>
                <a:latin typeface="Calibri" pitchFamily="34" charset="0"/>
                <a:cs typeface="Amiri" pitchFamily="2" charset="-78"/>
              </a:rPr>
              <a:t>.</a:t>
            </a:r>
            <a:endParaRPr lang="en-US" sz="1250" dirty="0"/>
          </a:p>
        </p:txBody>
      </p:sp>
      <p:sp>
        <p:nvSpPr>
          <p:cNvPr id="79" name="Text 7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30 / 43</a:t>
            </a:r>
            <a:endParaRPr lang="en-US" sz="85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F5-L05 · Ordering Politely</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SAY IT BEFORE YOU WRITE IT</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Restaurant role play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التَّحَدُّثُ</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F5 · Food, Health and Body · F5-L05</a:t>
            </a:r>
            <a:endParaRPr lang="en-US" sz="850" dirty="0"/>
          </a:p>
        </p:txBody>
      </p:sp>
      <p:sp>
        <p:nvSpPr>
          <p:cNvPr id="15" name="Shape 12"/>
          <p:cNvSpPr/>
          <p:nvPr/>
        </p:nvSpPr>
        <p:spPr>
          <a:xfrm>
            <a:off x="457200" y="1810512"/>
            <a:ext cx="2185416" cy="566928"/>
          </a:xfrm>
          <a:prstGeom prst="roundRect">
            <a:avLst>
              <a:gd name="adj" fmla="val 12903"/>
            </a:avLst>
          </a:prstGeom>
          <a:solidFill>
            <a:srgbClr val="EEF3FA"/>
          </a:solidFill>
          <a:ln w="9525">
            <a:solidFill>
              <a:srgbClr val="C9D6EA"/>
            </a:solidFill>
            <a:prstDash val="solid"/>
          </a:ln>
        </p:spPr>
      </p:sp>
      <p:sp>
        <p:nvSpPr>
          <p:cNvPr id="16" name="Text 13"/>
          <p:cNvSpPr txBox="1"/>
          <p:nvPr/>
        </p:nvSpPr>
        <p:spPr>
          <a:xfrm>
            <a:off x="512064"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17" name="Text 14"/>
          <p:cNvSpPr txBox="1"/>
          <p:nvPr/>
        </p:nvSpPr>
        <p:spPr>
          <a:xfrm>
            <a:off x="914400"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Think</a:t>
            </a:r>
            <a:endParaRPr lang="en-US" sz="1050" dirty="0"/>
          </a:p>
          <a:p>
            <a:pPr indent="0" marL="0">
              <a:buNone/>
            </a:pPr>
            <a:r>
              <a:rPr lang="en-US" sz="950" dirty="0">
                <a:solidFill>
                  <a:srgbClr val="5A6472"/>
                </a:solidFill>
                <a:latin typeface="Calibri" pitchFamily="34" charset="0"/>
                <a:cs typeface="Amiri" pitchFamily="2" charset="-78"/>
              </a:rPr>
              <a:t>10 seconds</a:t>
            </a:r>
            <a:endParaRPr lang="en-US" sz="1050" dirty="0"/>
          </a:p>
        </p:txBody>
      </p:sp>
      <p:sp>
        <p:nvSpPr>
          <p:cNvPr id="18" name="Shape 15"/>
          <p:cNvSpPr/>
          <p:nvPr/>
        </p:nvSpPr>
        <p:spPr>
          <a:xfrm>
            <a:off x="2729484" y="1810512"/>
            <a:ext cx="2185416" cy="566928"/>
          </a:xfrm>
          <a:prstGeom prst="roundRect">
            <a:avLst>
              <a:gd name="adj" fmla="val 12903"/>
            </a:avLst>
          </a:prstGeom>
          <a:solidFill>
            <a:srgbClr val="EEF3FA"/>
          </a:solidFill>
          <a:ln w="9525">
            <a:solidFill>
              <a:srgbClr val="C9D6EA"/>
            </a:solidFill>
            <a:prstDash val="solid"/>
          </a:ln>
        </p:spPr>
      </p:sp>
      <p:sp>
        <p:nvSpPr>
          <p:cNvPr id="19" name="Text 16"/>
          <p:cNvSpPr txBox="1"/>
          <p:nvPr/>
        </p:nvSpPr>
        <p:spPr>
          <a:xfrm>
            <a:off x="2784348"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20" name="Text 17"/>
          <p:cNvSpPr txBox="1"/>
          <p:nvPr/>
        </p:nvSpPr>
        <p:spPr>
          <a:xfrm>
            <a:off x="3186684"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Rehearse</a:t>
            </a:r>
            <a:endParaRPr lang="en-US" sz="1050" dirty="0"/>
          </a:p>
          <a:p>
            <a:pPr indent="0" marL="0">
              <a:buNone/>
            </a:pPr>
            <a:r>
              <a:rPr lang="en-US" sz="950" dirty="0">
                <a:solidFill>
                  <a:srgbClr val="5A6472"/>
                </a:solidFill>
                <a:latin typeface="Calibri" pitchFamily="34" charset="0"/>
                <a:cs typeface="Amiri" pitchFamily="2" charset="-78"/>
              </a:rPr>
              <a:t>muted · 45 s</a:t>
            </a:r>
            <a:endParaRPr lang="en-US" sz="1050" dirty="0"/>
          </a:p>
        </p:txBody>
      </p:sp>
      <p:sp>
        <p:nvSpPr>
          <p:cNvPr id="21" name="Shape 18"/>
          <p:cNvSpPr/>
          <p:nvPr/>
        </p:nvSpPr>
        <p:spPr>
          <a:xfrm>
            <a:off x="5001768" y="1810512"/>
            <a:ext cx="2185416" cy="566928"/>
          </a:xfrm>
          <a:prstGeom prst="roundRect">
            <a:avLst>
              <a:gd name="adj" fmla="val 12903"/>
            </a:avLst>
          </a:prstGeom>
          <a:solidFill>
            <a:srgbClr val="EEF3FA"/>
          </a:solidFill>
          <a:ln w="9525">
            <a:solidFill>
              <a:srgbClr val="C9D6EA"/>
            </a:solidFill>
            <a:prstDash val="solid"/>
          </a:ln>
        </p:spPr>
      </p:sp>
      <p:sp>
        <p:nvSpPr>
          <p:cNvPr id="22" name="Text 19"/>
          <p:cNvSpPr txBox="1"/>
          <p:nvPr/>
        </p:nvSpPr>
        <p:spPr>
          <a:xfrm>
            <a:off x="5056632"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23" name="Text 20"/>
          <p:cNvSpPr txBox="1"/>
          <p:nvPr/>
        </p:nvSpPr>
        <p:spPr>
          <a:xfrm>
            <a:off x="5458968"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Pairs share</a:t>
            </a:r>
            <a:endParaRPr lang="en-US" sz="1050" dirty="0"/>
          </a:p>
          <a:p>
            <a:pPr indent="0" marL="0">
              <a:buNone/>
            </a:pPr>
            <a:r>
              <a:rPr lang="en-US" sz="950" dirty="0">
                <a:solidFill>
                  <a:srgbClr val="5A6472"/>
                </a:solidFill>
                <a:latin typeface="Calibri" pitchFamily="34" charset="0"/>
                <a:cs typeface="Amiri" pitchFamily="2" charset="-78"/>
              </a:rPr>
              <a:t>open mic</a:t>
            </a:r>
            <a:endParaRPr lang="en-US" sz="1050" dirty="0"/>
          </a:p>
        </p:txBody>
      </p:sp>
      <p:sp>
        <p:nvSpPr>
          <p:cNvPr id="24" name="Shape 21"/>
          <p:cNvSpPr/>
          <p:nvPr/>
        </p:nvSpPr>
        <p:spPr>
          <a:xfrm>
            <a:off x="7274052" y="1810512"/>
            <a:ext cx="2185416" cy="566928"/>
          </a:xfrm>
          <a:prstGeom prst="roundRect">
            <a:avLst>
              <a:gd name="adj" fmla="val 12903"/>
            </a:avLst>
          </a:prstGeom>
          <a:solidFill>
            <a:srgbClr val="EEF3FA"/>
          </a:solidFill>
          <a:ln w="9525">
            <a:solidFill>
              <a:srgbClr val="C9D6EA"/>
            </a:solidFill>
            <a:prstDash val="solid"/>
          </a:ln>
        </p:spPr>
      </p:sp>
      <p:sp>
        <p:nvSpPr>
          <p:cNvPr id="25" name="Text 22"/>
          <p:cNvSpPr txBox="1"/>
          <p:nvPr/>
        </p:nvSpPr>
        <p:spPr>
          <a:xfrm>
            <a:off x="7328916"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 ?</a:t>
            </a:r>
            <a:endParaRPr lang="en-US" sz="1800" dirty="0"/>
          </a:p>
        </p:txBody>
      </p:sp>
      <p:sp>
        <p:nvSpPr>
          <p:cNvPr id="26" name="Text 23"/>
          <p:cNvSpPr txBox="1"/>
          <p:nvPr/>
        </p:nvSpPr>
        <p:spPr>
          <a:xfrm>
            <a:off x="7731252"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Build / ask</a:t>
            </a:r>
            <a:endParaRPr lang="en-US" sz="1050" dirty="0"/>
          </a:p>
          <a:p>
            <a:pPr indent="0" marL="0">
              <a:buNone/>
            </a:pPr>
            <a:r>
              <a:rPr lang="en-US" sz="950" dirty="0">
                <a:solidFill>
                  <a:srgbClr val="5A6472"/>
                </a:solidFill>
                <a:latin typeface="Calibri" pitchFamily="34" charset="0"/>
                <a:cs typeface="Amiri" pitchFamily="2" charset="-78"/>
              </a:rPr>
              <a:t>in the chat</a:t>
            </a:r>
            <a:endParaRPr lang="en-US" sz="1050" dirty="0"/>
          </a:p>
        </p:txBody>
      </p:sp>
      <p:sp>
        <p:nvSpPr>
          <p:cNvPr id="27" name="Shape 24"/>
          <p:cNvSpPr/>
          <p:nvPr/>
        </p:nvSpPr>
        <p:spPr>
          <a:xfrm>
            <a:off x="9546336" y="1810512"/>
            <a:ext cx="2185416" cy="566928"/>
          </a:xfrm>
          <a:prstGeom prst="roundRect">
            <a:avLst>
              <a:gd name="adj" fmla="val 12903"/>
            </a:avLst>
          </a:prstGeom>
          <a:solidFill>
            <a:srgbClr val="EEF3FA"/>
          </a:solidFill>
          <a:ln w="9525">
            <a:solidFill>
              <a:srgbClr val="C9D6EA"/>
            </a:solidFill>
            <a:prstDash val="solid"/>
          </a:ln>
        </p:spPr>
      </p:sp>
      <p:sp>
        <p:nvSpPr>
          <p:cNvPr id="28" name="Text 25"/>
          <p:cNvSpPr txBox="1"/>
          <p:nvPr/>
        </p:nvSpPr>
        <p:spPr>
          <a:xfrm>
            <a:off x="9601200"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29" name="Text 26"/>
          <p:cNvSpPr txBox="1"/>
          <p:nvPr/>
        </p:nvSpPr>
        <p:spPr>
          <a:xfrm>
            <a:off x="10003536"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Summarise</a:t>
            </a:r>
            <a:endParaRPr lang="en-US" sz="1050" dirty="0"/>
          </a:p>
          <a:p>
            <a:pPr indent="0" marL="0">
              <a:buNone/>
            </a:pPr>
            <a:r>
              <a:rPr lang="en-US" sz="950" dirty="0">
                <a:solidFill>
                  <a:srgbClr val="5A6472"/>
                </a:solidFill>
                <a:latin typeface="Calibri" pitchFamily="34" charset="0"/>
                <a:cs typeface="Amiri" pitchFamily="2" charset="-78"/>
              </a:rPr>
              <a:t>he / she …</a:t>
            </a:r>
            <a:endParaRPr lang="en-US" sz="1050" dirty="0"/>
          </a:p>
        </p:txBody>
      </p:sp>
      <p:sp>
        <p:nvSpPr>
          <p:cNvPr id="30" name="Shape 27"/>
          <p:cNvSpPr/>
          <p:nvPr/>
        </p:nvSpPr>
        <p:spPr>
          <a:xfrm>
            <a:off x="4754880" y="2487168"/>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846320" y="2642616"/>
            <a:ext cx="960120" cy="256032"/>
          </a:xfrm>
          <a:prstGeom prst="roundRect">
            <a:avLst>
              <a:gd name="adj" fmla="val 50000"/>
            </a:avLst>
          </a:prstGeom>
          <a:solidFill>
            <a:srgbClr val="2E8B57"/>
          </a:solidFill>
          <a:ln w="12700">
            <a:solidFill>
              <a:srgbClr val="2E8B57"/>
            </a:solidFill>
            <a:prstDash val="solid"/>
          </a:ln>
        </p:spPr>
      </p:sp>
      <p:sp>
        <p:nvSpPr>
          <p:cNvPr id="32" name="Text 29"/>
          <p:cNvSpPr txBox="1"/>
          <p:nvPr/>
        </p:nvSpPr>
        <p:spPr>
          <a:xfrm>
            <a:off x="4846320" y="2642616"/>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3" name="Text 30"/>
          <p:cNvSpPr txBox="1"/>
          <p:nvPr/>
        </p:nvSpPr>
        <p:spPr>
          <a:xfrm>
            <a:off x="5897880" y="2487168"/>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سَلِّمْ عَلَى النَّادِلِ وَاطْلُبْ قَائِمَةَ الطَّعَامِ.</a:t>
            </a:r>
            <a:endParaRPr lang="ar-SA" sz="1800" dirty="0"/>
          </a:p>
        </p:txBody>
      </p:sp>
      <p:sp>
        <p:nvSpPr>
          <p:cNvPr id="34" name="Shape 31"/>
          <p:cNvSpPr/>
          <p:nvPr/>
        </p:nvSpPr>
        <p:spPr>
          <a:xfrm>
            <a:off x="4754880" y="3108960"/>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5" name="Shape 32"/>
          <p:cNvSpPr/>
          <p:nvPr/>
        </p:nvSpPr>
        <p:spPr>
          <a:xfrm>
            <a:off x="4846320" y="3264408"/>
            <a:ext cx="960120" cy="256032"/>
          </a:xfrm>
          <a:prstGeom prst="roundRect">
            <a:avLst>
              <a:gd name="adj" fmla="val 50000"/>
            </a:avLst>
          </a:prstGeom>
          <a:solidFill>
            <a:srgbClr val="2E8B57"/>
          </a:solidFill>
          <a:ln w="12700">
            <a:solidFill>
              <a:srgbClr val="2E8B57"/>
            </a:solidFill>
            <a:prstDash val="solid"/>
          </a:ln>
        </p:spPr>
      </p:sp>
      <p:sp>
        <p:nvSpPr>
          <p:cNvPr id="36" name="Text 33"/>
          <p:cNvSpPr txBox="1"/>
          <p:nvPr/>
        </p:nvSpPr>
        <p:spPr>
          <a:xfrm>
            <a:off x="4846320" y="3264408"/>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7" name="Text 34"/>
          <p:cNvSpPr txBox="1"/>
          <p:nvPr/>
        </p:nvSpPr>
        <p:spPr>
          <a:xfrm>
            <a:off x="5897880" y="3108960"/>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اُطْلُبْ طَبَقًا وَمَشْرُوبًا.</a:t>
            </a:r>
            <a:endParaRPr lang="ar-SA" sz="1800" dirty="0"/>
          </a:p>
        </p:txBody>
      </p:sp>
      <p:sp>
        <p:nvSpPr>
          <p:cNvPr id="38" name="Shape 35"/>
          <p:cNvSpPr/>
          <p:nvPr/>
        </p:nvSpPr>
        <p:spPr>
          <a:xfrm>
            <a:off x="4754880" y="3730752"/>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9" name="Shape 36"/>
          <p:cNvSpPr/>
          <p:nvPr/>
        </p:nvSpPr>
        <p:spPr>
          <a:xfrm>
            <a:off x="4846320" y="3886200"/>
            <a:ext cx="960120" cy="256032"/>
          </a:xfrm>
          <a:prstGeom prst="roundRect">
            <a:avLst>
              <a:gd name="adj" fmla="val 50000"/>
            </a:avLst>
          </a:prstGeom>
          <a:solidFill>
            <a:srgbClr val="C9780A"/>
          </a:solidFill>
          <a:ln w="12700">
            <a:solidFill>
              <a:srgbClr val="C9780A"/>
            </a:solidFill>
            <a:prstDash val="solid"/>
          </a:ln>
        </p:spPr>
      </p:sp>
      <p:sp>
        <p:nvSpPr>
          <p:cNvPr id="40" name="Text 37"/>
          <p:cNvSpPr txBox="1"/>
          <p:nvPr/>
        </p:nvSpPr>
        <p:spPr>
          <a:xfrm>
            <a:off x="4846320" y="3886200"/>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41" name="Text 38"/>
          <p:cNvSpPr txBox="1"/>
          <p:nvPr/>
        </p:nvSpPr>
        <p:spPr>
          <a:xfrm>
            <a:off x="5897880" y="3730752"/>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اِسْأَلْ: هَلْ عِنْدَهُمْ طَعَامٌ نَبَاتِيٌّ؟ وَأَجِبْ عَنْ سُؤَالِ النَّادِلِ.</a:t>
            </a:r>
            <a:endParaRPr lang="ar-SA" sz="1800" dirty="0"/>
          </a:p>
        </p:txBody>
      </p:sp>
      <p:sp>
        <p:nvSpPr>
          <p:cNvPr id="42" name="Shape 39"/>
          <p:cNvSpPr/>
          <p:nvPr/>
        </p:nvSpPr>
        <p:spPr>
          <a:xfrm>
            <a:off x="4754880" y="4352544"/>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3" name="Shape 40"/>
          <p:cNvSpPr/>
          <p:nvPr/>
        </p:nvSpPr>
        <p:spPr>
          <a:xfrm>
            <a:off x="4846320" y="4507992"/>
            <a:ext cx="960120" cy="256032"/>
          </a:xfrm>
          <a:prstGeom prst="roundRect">
            <a:avLst>
              <a:gd name="adj" fmla="val 50000"/>
            </a:avLst>
          </a:prstGeom>
          <a:solidFill>
            <a:srgbClr val="B83227"/>
          </a:solidFill>
          <a:ln w="12700">
            <a:solidFill>
              <a:srgbClr val="B83227"/>
            </a:solidFill>
            <a:prstDash val="solid"/>
          </a:ln>
        </p:spPr>
      </p:sp>
      <p:sp>
        <p:nvSpPr>
          <p:cNvPr id="44" name="Text 41"/>
          <p:cNvSpPr txBox="1"/>
          <p:nvPr/>
        </p:nvSpPr>
        <p:spPr>
          <a:xfrm>
            <a:off x="4846320" y="4507992"/>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45" name="Text 42"/>
          <p:cNvSpPr txBox="1"/>
          <p:nvPr/>
        </p:nvSpPr>
        <p:spPr>
          <a:xfrm>
            <a:off x="5897880" y="4352544"/>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الطَّبَقُ غَيْرُ مَوْجُودٍ: اُطْلُبْ بَدِيلًا، ثُمَّ اُطْلُبِ الحِسَابَ.</a:t>
            </a:r>
            <a:endParaRPr lang="ar-SA" sz="1800" dirty="0"/>
          </a:p>
        </p:txBody>
      </p:sp>
      <p:sp>
        <p:nvSpPr>
          <p:cNvPr id="46" name="Shape 43"/>
          <p:cNvSpPr/>
          <p:nvPr/>
        </p:nvSpPr>
        <p:spPr>
          <a:xfrm>
            <a:off x="457200" y="2487168"/>
            <a:ext cx="4114800" cy="2651760"/>
          </a:xfrm>
          <a:prstGeom prst="roundRect">
            <a:avLst>
              <a:gd name="adj" fmla="val 2759"/>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47" name="Text 44"/>
          <p:cNvSpPr txBox="1"/>
          <p:nvPr/>
        </p:nvSpPr>
        <p:spPr>
          <a:xfrm>
            <a:off x="640080" y="2542032"/>
            <a:ext cx="274320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SENTENCE STEMS</a:t>
            </a:r>
            <a:endParaRPr lang="en-US" sz="1000" dirty="0"/>
          </a:p>
        </p:txBody>
      </p:sp>
      <p:sp>
        <p:nvSpPr>
          <p:cNvPr id="48" name="Shape 45"/>
          <p:cNvSpPr/>
          <p:nvPr/>
        </p:nvSpPr>
        <p:spPr>
          <a:xfrm>
            <a:off x="640080" y="3008376"/>
            <a:ext cx="1051560" cy="256032"/>
          </a:xfrm>
          <a:prstGeom prst="roundRect">
            <a:avLst>
              <a:gd name="adj" fmla="val 50000"/>
            </a:avLst>
          </a:prstGeom>
          <a:solidFill>
            <a:srgbClr val="2E8B57"/>
          </a:solidFill>
          <a:ln w="12700">
            <a:solidFill>
              <a:srgbClr val="2E8B57"/>
            </a:solidFill>
            <a:prstDash val="solid"/>
          </a:ln>
        </p:spPr>
      </p:sp>
      <p:sp>
        <p:nvSpPr>
          <p:cNvPr id="49" name="Text 46"/>
          <p:cNvSpPr txBox="1"/>
          <p:nvPr/>
        </p:nvSpPr>
        <p:spPr>
          <a:xfrm>
            <a:off x="640080" y="3008376"/>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50" name="Text 47"/>
          <p:cNvSpPr txBox="1"/>
          <p:nvPr/>
        </p:nvSpPr>
        <p:spPr>
          <a:xfrm>
            <a:off x="1783080" y="2852928"/>
            <a:ext cx="2697480" cy="557784"/>
          </a:xfrm>
          <a:prstGeom prst="rect">
            <a:avLst/>
          </a:prstGeom>
          <a:noFill/>
          <a:ln/>
        </p:spPr>
        <p:txBody>
          <a:bodyPr wrap="square" lIns="0" tIns="0" rIns="0" bIns="0" rtlCol="0" anchor="ctr"/>
          <a:lstStyle/>
          <a:p>
            <a:pPr rtl="1" algn="r" indent="0" marL="0">
              <a:buNone/>
            </a:pPr>
            <a:r>
              <a:rPr lang="ar-SA" altLang="en-US" sz="1550" b="1" dirty="0">
                <a:solidFill>
                  <a:srgbClr val="1D5FBF"/>
                </a:solidFill>
                <a:latin typeface="Amiri" pitchFamily="2" charset="-78"/>
                <a:ea typeface="Amiri" pitchFamily="2" charset="-78"/>
                <a:cs typeface="Amiri" pitchFamily="2" charset="-78"/>
              </a:rPr>
              <a:t>مَسَاءُ الخَيْرِ. قَائِمَةُ الطَّعَامِ، لَوْ سَمَحْتَ.</a:t>
            </a:r>
            <a:endParaRPr lang="ar-SA" sz="1550" dirty="0"/>
          </a:p>
        </p:txBody>
      </p:sp>
      <p:sp>
        <p:nvSpPr>
          <p:cNvPr id="51" name="Shape 48"/>
          <p:cNvSpPr/>
          <p:nvPr/>
        </p:nvSpPr>
        <p:spPr>
          <a:xfrm>
            <a:off x="640080" y="3566160"/>
            <a:ext cx="1051560" cy="256032"/>
          </a:xfrm>
          <a:prstGeom prst="roundRect">
            <a:avLst>
              <a:gd name="adj" fmla="val 50000"/>
            </a:avLst>
          </a:prstGeom>
          <a:solidFill>
            <a:srgbClr val="2E8B57"/>
          </a:solidFill>
          <a:ln w="12700">
            <a:solidFill>
              <a:srgbClr val="2E8B57"/>
            </a:solidFill>
            <a:prstDash val="solid"/>
          </a:ln>
        </p:spPr>
      </p:sp>
      <p:sp>
        <p:nvSpPr>
          <p:cNvPr id="52" name="Text 49"/>
          <p:cNvSpPr txBox="1"/>
          <p:nvPr/>
        </p:nvSpPr>
        <p:spPr>
          <a:xfrm>
            <a:off x="640080" y="3566160"/>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53" name="Text 50"/>
          <p:cNvSpPr txBox="1"/>
          <p:nvPr/>
        </p:nvSpPr>
        <p:spPr>
          <a:xfrm>
            <a:off x="1783080" y="3410712"/>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D5FBF"/>
                </a:solidFill>
                <a:latin typeface="Amiri" pitchFamily="2" charset="-78"/>
                <a:ea typeface="Amiri" pitchFamily="2" charset="-78"/>
                <a:cs typeface="Amiri" pitchFamily="2" charset="-78"/>
              </a:rPr>
              <a:t>أُرِيدُ ___ وَ ___ ، مِنْ فَضْلِكَ.</a:t>
            </a:r>
            <a:endParaRPr lang="ar-SA" sz="1600" dirty="0"/>
          </a:p>
        </p:txBody>
      </p:sp>
      <p:sp>
        <p:nvSpPr>
          <p:cNvPr id="54" name="Shape 51"/>
          <p:cNvSpPr/>
          <p:nvPr/>
        </p:nvSpPr>
        <p:spPr>
          <a:xfrm>
            <a:off x="640080" y="4123944"/>
            <a:ext cx="1051560" cy="256032"/>
          </a:xfrm>
          <a:prstGeom prst="roundRect">
            <a:avLst>
              <a:gd name="adj" fmla="val 50000"/>
            </a:avLst>
          </a:prstGeom>
          <a:solidFill>
            <a:srgbClr val="C9780A"/>
          </a:solidFill>
          <a:ln w="12700">
            <a:solidFill>
              <a:srgbClr val="C9780A"/>
            </a:solidFill>
            <a:prstDash val="solid"/>
          </a:ln>
        </p:spPr>
      </p:sp>
      <p:sp>
        <p:nvSpPr>
          <p:cNvPr id="55" name="Text 52"/>
          <p:cNvSpPr txBox="1"/>
          <p:nvPr/>
        </p:nvSpPr>
        <p:spPr>
          <a:xfrm>
            <a:off x="640080" y="4123944"/>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56" name="Text 53"/>
          <p:cNvSpPr txBox="1"/>
          <p:nvPr/>
        </p:nvSpPr>
        <p:spPr>
          <a:xfrm>
            <a:off x="1783080" y="3968496"/>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F2A37"/>
                </a:solidFill>
                <a:latin typeface="Amiri" pitchFamily="2" charset="-78"/>
                <a:ea typeface="Amiri" pitchFamily="2" charset="-78"/>
                <a:cs typeface="Amiri" pitchFamily="2" charset="-78"/>
              </a:rPr>
              <a:t>هَلْ عِنْدَكُمْ ___ ؟ · صَغِيرًا، شُكْرًا.</a:t>
            </a:r>
            <a:endParaRPr lang="ar-SA" sz="1600" dirty="0"/>
          </a:p>
        </p:txBody>
      </p:sp>
      <p:sp>
        <p:nvSpPr>
          <p:cNvPr id="57" name="Shape 54"/>
          <p:cNvSpPr/>
          <p:nvPr/>
        </p:nvSpPr>
        <p:spPr>
          <a:xfrm>
            <a:off x="640080" y="4681728"/>
            <a:ext cx="1051560" cy="256032"/>
          </a:xfrm>
          <a:prstGeom prst="roundRect">
            <a:avLst>
              <a:gd name="adj" fmla="val 50000"/>
            </a:avLst>
          </a:prstGeom>
          <a:solidFill>
            <a:srgbClr val="B83227"/>
          </a:solidFill>
          <a:ln w="12700">
            <a:solidFill>
              <a:srgbClr val="B83227"/>
            </a:solidFill>
            <a:prstDash val="solid"/>
          </a:ln>
        </p:spPr>
      </p:sp>
      <p:sp>
        <p:nvSpPr>
          <p:cNvPr id="58" name="Text 55"/>
          <p:cNvSpPr txBox="1"/>
          <p:nvPr/>
        </p:nvSpPr>
        <p:spPr>
          <a:xfrm>
            <a:off x="640080" y="4681728"/>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59" name="Text 56"/>
          <p:cNvSpPr txBox="1"/>
          <p:nvPr/>
        </p:nvSpPr>
        <p:spPr>
          <a:xfrm>
            <a:off x="1783080" y="4526280"/>
            <a:ext cx="2697480" cy="557784"/>
          </a:xfrm>
          <a:prstGeom prst="rect">
            <a:avLst/>
          </a:prstGeom>
          <a:noFill/>
          <a:ln/>
        </p:spPr>
        <p:txBody>
          <a:bodyPr wrap="square" lIns="0" tIns="0" rIns="0" bIns="0" rtlCol="0" anchor="ctr"/>
          <a:lstStyle/>
          <a:p>
            <a:pPr rtl="1" algn="r" indent="0" marL="0">
              <a:buNone/>
            </a:pPr>
            <a:r>
              <a:rPr lang="ar-SA" altLang="en-US" sz="1300" b="1" dirty="0">
                <a:solidFill>
                  <a:srgbClr val="1F2A37"/>
                </a:solidFill>
                <a:latin typeface="Amiri" pitchFamily="2" charset="-78"/>
                <a:ea typeface="Amiri" pitchFamily="2" charset="-78"/>
                <a:cs typeface="Amiri" pitchFamily="2" charset="-78"/>
              </a:rPr>
              <a:t>إِذَنْ، أُرِيدُ ___ بَدَلًا مِنْهُ. الحِسَابُ، مِنْ فَضْلِكَ.</a:t>
            </a:r>
            <a:endParaRPr lang="ar-SA" sz="1300" dirty="0"/>
          </a:p>
        </p:txBody>
      </p:sp>
      <p:sp>
        <p:nvSpPr>
          <p:cNvPr id="60" name="Shape 57"/>
          <p:cNvSpPr/>
          <p:nvPr/>
        </p:nvSpPr>
        <p:spPr>
          <a:xfrm>
            <a:off x="457200" y="5248656"/>
            <a:ext cx="11274552" cy="1060704"/>
          </a:xfrm>
          <a:prstGeom prst="roundRect">
            <a:avLst>
              <a:gd name="adj" fmla="val 6897"/>
            </a:avLst>
          </a:prstGeom>
          <a:solidFill>
            <a:srgbClr val="EAF3EF"/>
          </a:solidFill>
          <a:ln w="9525">
            <a:solidFill>
              <a:srgbClr val="A8CDB9"/>
            </a:solidFill>
            <a:prstDash val="solid"/>
          </a:ln>
          <a:effectLst>
            <a:outerShdw sx="100000" sy="100000" kx="0" ky="0" algn="bl" rotWithShape="0" blurRad="50800" dist="19050" dir="5400000">
              <a:srgbClr val="000000">
                <a:alpha val="10000"/>
              </a:srgbClr>
            </a:outerShdw>
          </a:effectLst>
        </p:spPr>
      </p:sp>
      <p:sp>
        <p:nvSpPr>
          <p:cNvPr id="61" name="Text 58"/>
          <p:cNvSpPr txBox="1"/>
          <p:nvPr/>
        </p:nvSpPr>
        <p:spPr>
          <a:xfrm>
            <a:off x="640080" y="5285232"/>
            <a:ext cx="2011680" cy="256032"/>
          </a:xfrm>
          <a:prstGeom prst="rect">
            <a:avLst/>
          </a:prstGeom>
          <a:noFill/>
          <a:ln/>
        </p:spPr>
        <p:txBody>
          <a:bodyPr wrap="square" lIns="0" tIns="0" rIns="0" bIns="0" rtlCol="0" anchor="ctr"/>
          <a:lstStyle/>
          <a:p>
            <a:pPr algn="l" indent="0" marL="0">
              <a:buNone/>
            </a:pPr>
            <a:r>
              <a:rPr lang="en-US" sz="950" b="1" spc="100" kern="0" dirty="0">
                <a:solidFill>
                  <a:srgbClr val="1E6B52"/>
                </a:solidFill>
                <a:latin typeface="Calibri" pitchFamily="34" charset="0"/>
                <a:cs typeface="Amiri" pitchFamily="2" charset="-78"/>
              </a:rPr>
              <a:t>MODEL (WEBSITE)</a:t>
            </a:r>
            <a:endParaRPr lang="en-US" sz="950" dirty="0"/>
          </a:p>
        </p:txBody>
      </p:sp>
      <p:sp>
        <p:nvSpPr>
          <p:cNvPr id="62" name="Shape 59"/>
          <p:cNvSpPr/>
          <p:nvPr/>
        </p:nvSpPr>
        <p:spPr>
          <a:xfrm>
            <a:off x="11274552" y="5559552"/>
            <a:ext cx="292608" cy="292608"/>
          </a:xfrm>
          <a:prstGeom prst="ellipse">
            <a:avLst/>
          </a:prstGeom>
          <a:solidFill>
            <a:srgbClr val="1E6B52"/>
          </a:solidFill>
          <a:ln w="12700">
            <a:solidFill>
              <a:srgbClr val="1E6B52"/>
            </a:solidFill>
            <a:prstDash val="solid"/>
          </a:ln>
        </p:spPr>
      </p:sp>
      <p:sp>
        <p:nvSpPr>
          <p:cNvPr id="63" name="Text 60"/>
          <p:cNvSpPr txBox="1"/>
          <p:nvPr/>
        </p:nvSpPr>
        <p:spPr>
          <a:xfrm>
            <a:off x="11274552" y="5559552"/>
            <a:ext cx="292608" cy="292608"/>
          </a:xfrm>
          <a:prstGeom prst="rect">
            <a:avLst/>
          </a:prstGeom>
          <a:noFill/>
          <a:ln/>
        </p:spPr>
        <p:txBody>
          <a:bodyPr wrap="square" lIns="0" tIns="0" rIns="0" bIns="0" rtlCol="0" anchor="ctr"/>
          <a:lstStyle/>
          <a:p>
            <a:pPr rtl="1" algn="ctr" indent="0" marL="0">
              <a:buNone/>
            </a:pPr>
            <a:r>
              <a:rPr lang="ar-SA" altLang="en-US" sz="1000" b="1" dirty="0">
                <a:solidFill>
                  <a:srgbClr val="FFFFFF"/>
                </a:solidFill>
                <a:latin typeface="Calibri" pitchFamily="34" charset="0"/>
                <a:ea typeface="Amiri" pitchFamily="2" charset="-78"/>
                <a:cs typeface="Amiri" pitchFamily="2" charset="-78"/>
              </a:rPr>
              <a:t>النَّادِلُ</a:t>
            </a:r>
            <a:endParaRPr lang="ar-SA" sz="1000" dirty="0"/>
          </a:p>
        </p:txBody>
      </p:sp>
      <p:sp>
        <p:nvSpPr>
          <p:cNvPr id="64" name="Text 61"/>
          <p:cNvSpPr txBox="1"/>
          <p:nvPr/>
        </p:nvSpPr>
        <p:spPr>
          <a:xfrm>
            <a:off x="2834640" y="5522976"/>
            <a:ext cx="8348472" cy="365760"/>
          </a:xfrm>
          <a:prstGeom prst="rect">
            <a:avLst/>
          </a:prstGeom>
          <a:noFill/>
          <a:ln/>
        </p:spPr>
        <p:txBody>
          <a:bodyPr wrap="square" lIns="0" tIns="0" rIns="0" bIns="0" rtlCol="0" anchor="ctr"/>
          <a:lstStyle/>
          <a:p>
            <a:pPr rtl="1" algn="r" indent="0" marL="0">
              <a:buNone/>
            </a:pPr>
            <a:r>
              <a:rPr lang="ar-SA" altLang="en-US" sz="1550" dirty="0">
                <a:solidFill>
                  <a:srgbClr val="1F2A37"/>
                </a:solidFill>
                <a:latin typeface="Amiri" pitchFamily="2" charset="-78"/>
                <a:ea typeface="Amiri" pitchFamily="2" charset="-78"/>
                <a:cs typeface="Amiri" pitchFamily="2" charset="-78"/>
              </a:rPr>
              <a:t>مَسَاءُ الخَيْرِ. مَاذَا تُرِيدِينَ؟</a:t>
            </a:r>
            <a:endParaRPr lang="ar-SA" sz="1550" dirty="0"/>
          </a:p>
        </p:txBody>
      </p:sp>
      <p:sp>
        <p:nvSpPr>
          <p:cNvPr id="65" name="Text 62"/>
          <p:cNvSpPr txBox="1"/>
          <p:nvPr/>
        </p:nvSpPr>
        <p:spPr>
          <a:xfrm>
            <a:off x="640080" y="5522976"/>
            <a:ext cx="2148840" cy="365760"/>
          </a:xfrm>
          <a:prstGeom prst="rect">
            <a:avLst/>
          </a:prstGeom>
          <a:noFill/>
          <a:ln/>
        </p:spPr>
        <p:txBody>
          <a:bodyPr wrap="square" lIns="0" tIns="0" rIns="0" bIns="0" rtlCol="0" anchor="ctr"/>
          <a:lstStyle/>
          <a:p>
            <a:pPr algn="l" indent="0" marL="0">
              <a:buNone/>
            </a:pPr>
            <a:r>
              <a:rPr lang="en-US" sz="950" i="1" dirty="0">
                <a:solidFill>
                  <a:srgbClr val="5A6472"/>
                </a:solidFill>
                <a:latin typeface="Calibri" pitchFamily="34" charset="0"/>
                <a:cs typeface="Amiri" pitchFamily="2" charset="-78"/>
              </a:rPr>
              <a:t>Good evening. What would you (f.) like?</a:t>
            </a:r>
            <a:endParaRPr lang="en-US" sz="950" dirty="0"/>
          </a:p>
        </p:txBody>
      </p:sp>
      <p:sp>
        <p:nvSpPr>
          <p:cNvPr id="66" name="Shape 63"/>
          <p:cNvSpPr/>
          <p:nvPr/>
        </p:nvSpPr>
        <p:spPr>
          <a:xfrm>
            <a:off x="11274552" y="5925312"/>
            <a:ext cx="292608" cy="292608"/>
          </a:xfrm>
          <a:prstGeom prst="ellipse">
            <a:avLst/>
          </a:prstGeom>
          <a:solidFill>
            <a:srgbClr val="1E6B52"/>
          </a:solidFill>
          <a:ln w="12700">
            <a:solidFill>
              <a:srgbClr val="1E6B52"/>
            </a:solidFill>
            <a:prstDash val="solid"/>
          </a:ln>
        </p:spPr>
      </p:sp>
      <p:sp>
        <p:nvSpPr>
          <p:cNvPr id="67" name="Text 64"/>
          <p:cNvSpPr txBox="1"/>
          <p:nvPr/>
        </p:nvSpPr>
        <p:spPr>
          <a:xfrm>
            <a:off x="11274552" y="5925312"/>
            <a:ext cx="292608" cy="292608"/>
          </a:xfrm>
          <a:prstGeom prst="rect">
            <a:avLst/>
          </a:prstGeom>
          <a:noFill/>
          <a:ln/>
        </p:spPr>
        <p:txBody>
          <a:bodyPr wrap="square" lIns="0" tIns="0" rIns="0" bIns="0" rtlCol="0" anchor="ctr"/>
          <a:lstStyle/>
          <a:p>
            <a:pPr rtl="1" algn="ctr" indent="0" marL="0">
              <a:buNone/>
            </a:pPr>
            <a:r>
              <a:rPr lang="ar-SA" altLang="en-US" sz="1000" b="1" dirty="0">
                <a:solidFill>
                  <a:srgbClr val="FFFFFF"/>
                </a:solidFill>
                <a:latin typeface="Calibri" pitchFamily="34" charset="0"/>
                <a:ea typeface="Amiri" pitchFamily="2" charset="-78"/>
                <a:cs typeface="Amiri" pitchFamily="2" charset="-78"/>
              </a:rPr>
              <a:t>الزَّبُونَةُ</a:t>
            </a:r>
            <a:endParaRPr lang="ar-SA" sz="1000" dirty="0"/>
          </a:p>
        </p:txBody>
      </p:sp>
      <p:sp>
        <p:nvSpPr>
          <p:cNvPr id="68" name="Text 65"/>
          <p:cNvSpPr txBox="1"/>
          <p:nvPr/>
        </p:nvSpPr>
        <p:spPr>
          <a:xfrm>
            <a:off x="2834640" y="5888736"/>
            <a:ext cx="8348472" cy="365760"/>
          </a:xfrm>
          <a:prstGeom prst="rect">
            <a:avLst/>
          </a:prstGeom>
          <a:noFill/>
          <a:ln/>
        </p:spPr>
        <p:txBody>
          <a:bodyPr wrap="square" lIns="0" tIns="0" rIns="0" bIns="0" rtlCol="0" anchor="ctr"/>
          <a:lstStyle/>
          <a:p>
            <a:pPr rtl="1" algn="r" indent="0" marL="0">
              <a:buNone/>
            </a:pPr>
            <a:r>
              <a:rPr lang="ar-SA" altLang="en-US" sz="1550" dirty="0">
                <a:solidFill>
                  <a:srgbClr val="1F2A37"/>
                </a:solidFill>
                <a:latin typeface="Amiri" pitchFamily="2" charset="-78"/>
                <a:ea typeface="Amiri" pitchFamily="2" charset="-78"/>
                <a:cs typeface="Amiri" pitchFamily="2" charset="-78"/>
              </a:rPr>
              <a:t>أُرِيدُ حَسَاءَ العَدَسِ وَسَلَطَةً، مِنْ فَضْلِكَ.</a:t>
            </a:r>
            <a:endParaRPr lang="ar-SA" sz="1550" dirty="0"/>
          </a:p>
        </p:txBody>
      </p:sp>
      <p:sp>
        <p:nvSpPr>
          <p:cNvPr id="69" name="Text 66"/>
          <p:cNvSpPr txBox="1"/>
          <p:nvPr/>
        </p:nvSpPr>
        <p:spPr>
          <a:xfrm>
            <a:off x="640080" y="5888736"/>
            <a:ext cx="2148840" cy="365760"/>
          </a:xfrm>
          <a:prstGeom prst="rect">
            <a:avLst/>
          </a:prstGeom>
          <a:noFill/>
          <a:ln/>
        </p:spPr>
        <p:txBody>
          <a:bodyPr wrap="square" lIns="0" tIns="0" rIns="0" bIns="0" rtlCol="0" anchor="ctr"/>
          <a:lstStyle/>
          <a:p>
            <a:pPr algn="l" indent="0" marL="0">
              <a:buNone/>
            </a:pPr>
            <a:r>
              <a:rPr lang="en-US" sz="950" i="1" dirty="0">
                <a:solidFill>
                  <a:srgbClr val="5A6472"/>
                </a:solidFill>
                <a:latin typeface="Calibri" pitchFamily="34" charset="0"/>
                <a:cs typeface="Amiri" pitchFamily="2" charset="-78"/>
              </a:rPr>
              <a:t>I would like lentil soup and a salad, please.</a:t>
            </a:r>
            <a:endParaRPr lang="en-US" sz="950" dirty="0"/>
          </a:p>
        </p:txBody>
      </p:sp>
      <p:sp>
        <p:nvSpPr>
          <p:cNvPr id="70" name="Text 6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31 / 43</a:t>
            </a:r>
            <a:endParaRPr lang="en-US" sz="85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F5-L05 · Ordering Politely</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9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INDEPENDENT PRACTICE · 9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Write: choose your route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اُكْتُبْ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F5 · Food, Health and Body · F5-L05</a:t>
            </a:r>
            <a:endParaRPr lang="en-US" sz="850" dirty="0"/>
          </a:p>
        </p:txBody>
      </p:sp>
      <p:sp>
        <p:nvSpPr>
          <p:cNvPr id="15" name="Shape 12"/>
          <p:cNvSpPr/>
          <p:nvPr/>
        </p:nvSpPr>
        <p:spPr>
          <a:xfrm>
            <a:off x="457200" y="1810512"/>
            <a:ext cx="3639312" cy="4315968"/>
          </a:xfrm>
          <a:prstGeom prst="roundRect">
            <a:avLst>
              <a:gd name="adj" fmla="val 2010"/>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1188720" cy="310896"/>
          </a:xfrm>
          <a:prstGeom prst="roundRect">
            <a:avLst>
              <a:gd name="adj" fmla="val 50000"/>
            </a:avLst>
          </a:prstGeom>
          <a:solidFill>
            <a:srgbClr val="2E8B57"/>
          </a:solidFill>
          <a:ln w="12700">
            <a:solidFill>
              <a:srgbClr val="2E8B57"/>
            </a:solidFill>
            <a:prstDash val="solid"/>
          </a:ln>
        </p:spPr>
      </p:sp>
      <p:sp>
        <p:nvSpPr>
          <p:cNvPr id="17" name="Text 14"/>
          <p:cNvSpPr txBox="1"/>
          <p:nvPr/>
        </p:nvSpPr>
        <p:spPr>
          <a:xfrm>
            <a:off x="640080"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CORE</a:t>
            </a:r>
            <a:endParaRPr lang="en-US" sz="1000" dirty="0"/>
          </a:p>
        </p:txBody>
      </p:sp>
      <p:sp>
        <p:nvSpPr>
          <p:cNvPr id="18" name="Text 15"/>
          <p:cNvSpPr txBox="1"/>
          <p:nvPr/>
        </p:nvSpPr>
        <p:spPr>
          <a:xfrm>
            <a:off x="2450592"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2E8B57"/>
                </a:solidFill>
                <a:latin typeface="Amiri" pitchFamily="2" charset="-78"/>
                <a:ea typeface="Amiri" pitchFamily="2" charset="-78"/>
                <a:cs typeface="Amiri" pitchFamily="2" charset="-78"/>
              </a:rPr>
              <a:t>الأَسَاسُ</a:t>
            </a:r>
            <a:endParaRPr lang="ar-SA" sz="1800" dirty="0"/>
          </a:p>
        </p:txBody>
      </p:sp>
      <p:sp>
        <p:nvSpPr>
          <p:cNvPr id="19" name="Text 16"/>
          <p:cNvSpPr txBox="1"/>
          <p:nvPr/>
        </p:nvSpPr>
        <p:spPr>
          <a:xfrm>
            <a:off x="640080" y="2377440"/>
            <a:ext cx="3273552" cy="457200"/>
          </a:xfrm>
          <a:prstGeom prst="rect">
            <a:avLst/>
          </a:prstGeom>
          <a:noFill/>
          <a:ln/>
        </p:spPr>
        <p:txBody>
          <a:bodyPr wrap="square" lIns="0" tIns="0" rIns="0" bIns="0" rtlCol="0" anchor="ctr"/>
          <a:lstStyle/>
          <a:p>
            <a:pPr algn="l" indent="0" marL="0">
              <a:buNone/>
            </a:pPr>
            <a:r>
              <a:rPr lang="en-US" sz="2200" b="1" dirty="0">
                <a:solidFill>
                  <a:srgbClr val="2E8B57"/>
                </a:solidFill>
                <a:latin typeface="Cambria" pitchFamily="34" charset="0"/>
                <a:cs typeface="Amiri" pitchFamily="2" charset="-78"/>
              </a:rPr>
              <a:t>4 lines</a:t>
            </a:r>
            <a:endParaRPr lang="en-US" sz="2200" dirty="0"/>
          </a:p>
        </p:txBody>
      </p:sp>
      <p:sp>
        <p:nvSpPr>
          <p:cNvPr id="20" name="Text 17"/>
          <p:cNvSpPr txBox="1"/>
          <p:nvPr/>
        </p:nvSpPr>
        <p:spPr>
          <a:xfrm>
            <a:off x="640080"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cs typeface="Amiri" pitchFamily="2" charset="-78"/>
              </a:rPr>
              <a:t>Use a menu and sentence cards to complete a four-turn exchange.</a:t>
            </a:r>
            <a:endParaRPr lang="en-US" sz="1400" dirty="0"/>
          </a:p>
        </p:txBody>
      </p:sp>
      <p:sp>
        <p:nvSpPr>
          <p:cNvPr id="21" name="Shape 18"/>
          <p:cNvSpPr/>
          <p:nvPr/>
        </p:nvSpPr>
        <p:spPr>
          <a:xfrm>
            <a:off x="640080" y="4160520"/>
            <a:ext cx="3273552" cy="1783080"/>
          </a:xfrm>
          <a:prstGeom prst="roundRect">
            <a:avLst>
              <a:gd name="adj" fmla="val 4103"/>
            </a:avLst>
          </a:prstGeom>
          <a:solidFill>
            <a:srgbClr val="FFFFFF"/>
          </a:solidFill>
          <a:ln w="9525">
            <a:solidFill>
              <a:srgbClr val="FFFFFF"/>
            </a:solidFill>
            <a:prstDash val="solid"/>
          </a:ln>
        </p:spPr>
      </p:sp>
      <p:sp>
        <p:nvSpPr>
          <p:cNvPr id="22" name="Text 19"/>
          <p:cNvSpPr txBox="1"/>
          <p:nvPr/>
        </p:nvSpPr>
        <p:spPr>
          <a:xfrm>
            <a:off x="731520" y="4224528"/>
            <a:ext cx="3090672" cy="1645920"/>
          </a:xfrm>
          <a:prstGeom prst="rect">
            <a:avLst/>
          </a:prstGeom>
          <a:noFill/>
          <a:ln/>
        </p:spPr>
        <p:txBody>
          <a:bodyPr wrap="square" lIns="0" tIns="0" rIns="0" bIns="0" rtlCol="0" anchor="t"/>
          <a:lstStyle/>
          <a:p>
            <a:pPr indent="0" marL="0">
              <a:buNone/>
            </a:pPr>
            <a:r>
              <a:rPr lang="en-US" sz="900" b="1" spc="200" kern="0" dirty="0">
                <a:solidFill>
                  <a:srgbClr val="2E8B57"/>
                </a:solidFill>
                <a:latin typeface="Calibri" pitchFamily="34" charset="0"/>
                <a:cs typeface="Amiri" pitchFamily="2" charset="-78"/>
              </a:rPr>
              <a:t>HOW</a:t>
            </a:r>
            <a:endParaRPr lang="en-US" sz="900" dirty="0"/>
          </a:p>
          <a:p>
            <a:pPr indent="0" marL="0">
              <a:buNone/>
            </a:pPr>
            <a:r>
              <a:rPr lang="en-US" sz="1150" dirty="0">
                <a:solidFill>
                  <a:srgbClr val="1F2A37"/>
                </a:solidFill>
                <a:latin typeface="Calibri" pitchFamily="34" charset="0"/>
                <a:cs typeface="Amiri" pitchFamily="2" charset="-78"/>
              </a:rPr>
              <a:t>Greet, order with please, answer one question, ask for the bill.</a:t>
            </a:r>
            <a:endParaRPr lang="en-US" sz="900" dirty="0"/>
          </a:p>
        </p:txBody>
      </p:sp>
      <p:sp>
        <p:nvSpPr>
          <p:cNvPr id="23" name="Shape 20"/>
          <p:cNvSpPr/>
          <p:nvPr/>
        </p:nvSpPr>
        <p:spPr>
          <a:xfrm>
            <a:off x="4279392" y="1810512"/>
            <a:ext cx="3639312" cy="4315968"/>
          </a:xfrm>
          <a:prstGeom prst="roundRect">
            <a:avLst>
              <a:gd name="adj" fmla="val 2010"/>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4462272" y="1938528"/>
            <a:ext cx="1188720" cy="310896"/>
          </a:xfrm>
          <a:prstGeom prst="roundRect">
            <a:avLst>
              <a:gd name="adj" fmla="val 50000"/>
            </a:avLst>
          </a:prstGeom>
          <a:solidFill>
            <a:srgbClr val="C9780A"/>
          </a:solidFill>
          <a:ln w="12700">
            <a:solidFill>
              <a:srgbClr val="C9780A"/>
            </a:solidFill>
            <a:prstDash val="solid"/>
          </a:ln>
        </p:spPr>
      </p:sp>
      <p:sp>
        <p:nvSpPr>
          <p:cNvPr id="25" name="Text 22"/>
          <p:cNvSpPr txBox="1"/>
          <p:nvPr/>
        </p:nvSpPr>
        <p:spPr>
          <a:xfrm>
            <a:off x="4462272"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DEVELOP</a:t>
            </a:r>
            <a:endParaRPr lang="en-US" sz="1000" dirty="0"/>
          </a:p>
        </p:txBody>
      </p:sp>
      <p:sp>
        <p:nvSpPr>
          <p:cNvPr id="26" name="Text 23"/>
          <p:cNvSpPr txBox="1"/>
          <p:nvPr/>
        </p:nvSpPr>
        <p:spPr>
          <a:xfrm>
            <a:off x="6272784"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C9780A"/>
                </a:solidFill>
                <a:latin typeface="Amiri" pitchFamily="2" charset="-78"/>
                <a:ea typeface="Amiri" pitchFamily="2" charset="-78"/>
                <a:cs typeface="Amiri" pitchFamily="2" charset="-78"/>
              </a:rPr>
              <a:t>التَّطْوِيرُ</a:t>
            </a:r>
            <a:endParaRPr lang="ar-SA" sz="1800" dirty="0"/>
          </a:p>
        </p:txBody>
      </p:sp>
      <p:sp>
        <p:nvSpPr>
          <p:cNvPr id="27" name="Text 24"/>
          <p:cNvSpPr txBox="1"/>
          <p:nvPr/>
        </p:nvSpPr>
        <p:spPr>
          <a:xfrm>
            <a:off x="4462272" y="2377440"/>
            <a:ext cx="3273552" cy="457200"/>
          </a:xfrm>
          <a:prstGeom prst="rect">
            <a:avLst/>
          </a:prstGeom>
          <a:noFill/>
          <a:ln/>
        </p:spPr>
        <p:txBody>
          <a:bodyPr wrap="square" lIns="0" tIns="0" rIns="0" bIns="0" rtlCol="0" anchor="ctr"/>
          <a:lstStyle/>
          <a:p>
            <a:pPr algn="l" indent="0" marL="0">
              <a:buNone/>
            </a:pPr>
            <a:r>
              <a:rPr lang="en-US" sz="2200" b="1" dirty="0">
                <a:solidFill>
                  <a:srgbClr val="C9780A"/>
                </a:solidFill>
                <a:latin typeface="Cambria" pitchFamily="34" charset="0"/>
                <a:cs typeface="Amiri" pitchFamily="2" charset="-78"/>
              </a:rPr>
              <a:t>8 lines</a:t>
            </a:r>
            <a:endParaRPr lang="en-US" sz="2200" dirty="0"/>
          </a:p>
        </p:txBody>
      </p:sp>
      <p:sp>
        <p:nvSpPr>
          <p:cNvPr id="28" name="Text 25"/>
          <p:cNvSpPr txBox="1"/>
          <p:nvPr/>
        </p:nvSpPr>
        <p:spPr>
          <a:xfrm>
            <a:off x="4462272"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cs typeface="Amiri" pitchFamily="2" charset="-78"/>
              </a:rPr>
              <a:t>Perform a six-turn role play with one unexpected clarification question.</a:t>
            </a:r>
            <a:endParaRPr lang="en-US" sz="1400" dirty="0"/>
          </a:p>
        </p:txBody>
      </p:sp>
      <p:sp>
        <p:nvSpPr>
          <p:cNvPr id="29" name="Shape 26"/>
          <p:cNvSpPr/>
          <p:nvPr/>
        </p:nvSpPr>
        <p:spPr>
          <a:xfrm>
            <a:off x="4462272" y="4160520"/>
            <a:ext cx="3273552" cy="1783080"/>
          </a:xfrm>
          <a:prstGeom prst="roundRect">
            <a:avLst>
              <a:gd name="adj" fmla="val 4103"/>
            </a:avLst>
          </a:prstGeom>
          <a:solidFill>
            <a:srgbClr val="FFFFFF"/>
          </a:solidFill>
          <a:ln w="9525">
            <a:solidFill>
              <a:srgbClr val="FFFFFF"/>
            </a:solidFill>
            <a:prstDash val="solid"/>
          </a:ln>
        </p:spPr>
      </p:sp>
      <p:sp>
        <p:nvSpPr>
          <p:cNvPr id="30" name="Text 27"/>
          <p:cNvSpPr txBox="1"/>
          <p:nvPr/>
        </p:nvSpPr>
        <p:spPr>
          <a:xfrm>
            <a:off x="4553712" y="4224528"/>
            <a:ext cx="3090672" cy="1645920"/>
          </a:xfrm>
          <a:prstGeom prst="rect">
            <a:avLst/>
          </a:prstGeom>
          <a:noFill/>
          <a:ln/>
        </p:spPr>
        <p:txBody>
          <a:bodyPr wrap="square" lIns="0" tIns="0" rIns="0" bIns="0" rtlCol="0" anchor="t"/>
          <a:lstStyle/>
          <a:p>
            <a:pPr indent="0" marL="0">
              <a:buNone/>
            </a:pPr>
            <a:r>
              <a:rPr lang="en-US" sz="900" b="1" spc="200" kern="0" dirty="0">
                <a:solidFill>
                  <a:srgbClr val="C9780A"/>
                </a:solidFill>
                <a:latin typeface="Calibri" pitchFamily="34" charset="0"/>
                <a:cs typeface="Amiri" pitchFamily="2" charset="-78"/>
              </a:rPr>
              <a:t>HOW</a:t>
            </a:r>
            <a:endParaRPr lang="en-US" sz="900" dirty="0"/>
          </a:p>
          <a:p>
            <a:pPr indent="0" marL="0">
              <a:buNone/>
            </a:pPr>
            <a:r>
              <a:rPr lang="en-US" sz="1150" dirty="0">
                <a:solidFill>
                  <a:srgbClr val="1F2A37"/>
                </a:solidFill>
                <a:latin typeface="Calibri" pitchFamily="34" charset="0"/>
                <a:cs typeface="Amiri" pitchFamily="2" charset="-78"/>
              </a:rPr>
              <a:t>Website task: waiter and customer; food, a drink, one clarification and the bill.</a:t>
            </a:r>
            <a:endParaRPr lang="en-US" sz="900" dirty="0"/>
          </a:p>
        </p:txBody>
      </p:sp>
      <p:sp>
        <p:nvSpPr>
          <p:cNvPr id="31" name="Shape 28"/>
          <p:cNvSpPr/>
          <p:nvPr/>
        </p:nvSpPr>
        <p:spPr>
          <a:xfrm>
            <a:off x="8101584" y="1810512"/>
            <a:ext cx="3639312" cy="4315968"/>
          </a:xfrm>
          <a:prstGeom prst="roundRect">
            <a:avLst>
              <a:gd name="adj" fmla="val 2010"/>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8284464" y="1938528"/>
            <a:ext cx="1188720" cy="310896"/>
          </a:xfrm>
          <a:prstGeom prst="roundRect">
            <a:avLst>
              <a:gd name="adj" fmla="val 50000"/>
            </a:avLst>
          </a:prstGeom>
          <a:solidFill>
            <a:srgbClr val="B83227"/>
          </a:solidFill>
          <a:ln w="12700">
            <a:solidFill>
              <a:srgbClr val="B83227"/>
            </a:solidFill>
            <a:prstDash val="solid"/>
          </a:ln>
        </p:spPr>
      </p:sp>
      <p:sp>
        <p:nvSpPr>
          <p:cNvPr id="33" name="Text 30"/>
          <p:cNvSpPr txBox="1"/>
          <p:nvPr/>
        </p:nvSpPr>
        <p:spPr>
          <a:xfrm>
            <a:off x="8284464"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STRETCH</a:t>
            </a:r>
            <a:endParaRPr lang="en-US" sz="1000" dirty="0"/>
          </a:p>
        </p:txBody>
      </p:sp>
      <p:sp>
        <p:nvSpPr>
          <p:cNvPr id="34" name="Text 31"/>
          <p:cNvSpPr txBox="1"/>
          <p:nvPr/>
        </p:nvSpPr>
        <p:spPr>
          <a:xfrm>
            <a:off x="10094976"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التَّحَدِّي</a:t>
            </a:r>
            <a:endParaRPr lang="ar-SA" sz="1800" dirty="0"/>
          </a:p>
        </p:txBody>
      </p:sp>
      <p:sp>
        <p:nvSpPr>
          <p:cNvPr id="35" name="Text 32"/>
          <p:cNvSpPr txBox="1"/>
          <p:nvPr/>
        </p:nvSpPr>
        <p:spPr>
          <a:xfrm>
            <a:off x="8284464" y="2377440"/>
            <a:ext cx="3273552" cy="457200"/>
          </a:xfrm>
          <a:prstGeom prst="rect">
            <a:avLst/>
          </a:prstGeom>
          <a:noFill/>
          <a:ln/>
        </p:spPr>
        <p:txBody>
          <a:bodyPr wrap="square" lIns="0" tIns="0" rIns="0" bIns="0" rtlCol="0" anchor="ctr"/>
          <a:lstStyle/>
          <a:p>
            <a:pPr algn="l" indent="0" marL="0">
              <a:buNone/>
            </a:pPr>
            <a:r>
              <a:rPr lang="en-US" sz="2200" b="1" dirty="0">
                <a:solidFill>
                  <a:srgbClr val="B83227"/>
                </a:solidFill>
                <a:latin typeface="Cambria" pitchFamily="34" charset="0"/>
                <a:cs typeface="Amiri" pitchFamily="2" charset="-78"/>
              </a:rPr>
              <a:t>10–12 lines</a:t>
            </a:r>
            <a:endParaRPr lang="en-US" sz="2200" dirty="0"/>
          </a:p>
        </p:txBody>
      </p:sp>
      <p:sp>
        <p:nvSpPr>
          <p:cNvPr id="36" name="Text 33"/>
          <p:cNvSpPr txBox="1"/>
          <p:nvPr/>
        </p:nvSpPr>
        <p:spPr>
          <a:xfrm>
            <a:off x="8284464"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cs typeface="Amiri" pitchFamily="2" charset="-78"/>
              </a:rPr>
              <a:t>Handle an unavailable item, request an alternative and query the bill without returning to the model.</a:t>
            </a:r>
            <a:endParaRPr lang="en-US" sz="1400" dirty="0"/>
          </a:p>
        </p:txBody>
      </p:sp>
      <p:sp>
        <p:nvSpPr>
          <p:cNvPr id="37" name="Shape 34"/>
          <p:cNvSpPr/>
          <p:nvPr/>
        </p:nvSpPr>
        <p:spPr>
          <a:xfrm>
            <a:off x="8284464" y="4160520"/>
            <a:ext cx="3273552" cy="1783080"/>
          </a:xfrm>
          <a:prstGeom prst="roundRect">
            <a:avLst>
              <a:gd name="adj" fmla="val 4103"/>
            </a:avLst>
          </a:prstGeom>
          <a:solidFill>
            <a:srgbClr val="FFFFFF"/>
          </a:solidFill>
          <a:ln w="9525">
            <a:solidFill>
              <a:srgbClr val="FFFFFF"/>
            </a:solidFill>
            <a:prstDash val="solid"/>
          </a:ln>
        </p:spPr>
      </p:sp>
      <p:sp>
        <p:nvSpPr>
          <p:cNvPr id="38" name="Text 35"/>
          <p:cNvSpPr txBox="1"/>
          <p:nvPr/>
        </p:nvSpPr>
        <p:spPr>
          <a:xfrm>
            <a:off x="8375904" y="4224528"/>
            <a:ext cx="3090672" cy="1645920"/>
          </a:xfrm>
          <a:prstGeom prst="rect">
            <a:avLst/>
          </a:prstGeom>
          <a:noFill/>
          <a:ln/>
        </p:spPr>
        <p:txBody>
          <a:bodyPr wrap="square" lIns="0" tIns="0" rIns="0" bIns="0" rtlCol="0" anchor="t"/>
          <a:lstStyle/>
          <a:p>
            <a:pPr indent="0" marL="0">
              <a:buNone/>
            </a:pPr>
            <a:r>
              <a:rPr lang="en-US" sz="900" b="1" spc="200" kern="0" dirty="0">
                <a:solidFill>
                  <a:srgbClr val="B83227"/>
                </a:solidFill>
                <a:latin typeface="Calibri" pitchFamily="34" charset="0"/>
                <a:cs typeface="Amiri" pitchFamily="2" charset="-78"/>
              </a:rPr>
              <a:t>HOW</a:t>
            </a:r>
            <a:endParaRPr lang="en-US" sz="900" dirty="0"/>
          </a:p>
          <a:p>
            <a:pPr indent="0" marL="0">
              <a:buNone/>
            </a:pPr>
            <a:r>
              <a:rPr lang="en-US" sz="1150" dirty="0">
                <a:solidFill>
                  <a:srgbClr val="1F2A37"/>
                </a:solidFill>
                <a:latin typeface="Calibri" pitchFamily="34" charset="0"/>
                <a:cs typeface="Amiri" pitchFamily="2" charset="-78"/>
              </a:rPr>
              <a:t>Add an unavailable dish, an alternative and a question about the price.</a:t>
            </a:r>
            <a:endParaRPr lang="en-US" sz="900" dirty="0"/>
          </a:p>
        </p:txBody>
      </p:sp>
      <p:sp>
        <p:nvSpPr>
          <p:cNvPr id="39" name="Text 3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32 / 43</a:t>
            </a:r>
            <a:endParaRPr lang="en-US" sz="85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F5-L05 · Ordering Politely</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SUPPORT · CORE AND DEVELOP FRAMES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Sentence frames and word bank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قَوَالِبُ الجُمَلِ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F5 · Food, Health and Body · F5-L05</a:t>
            </a:r>
            <a:endParaRPr lang="en-US" sz="850" dirty="0"/>
          </a:p>
        </p:txBody>
      </p:sp>
      <p:sp>
        <p:nvSpPr>
          <p:cNvPr id="15" name="Shape 12"/>
          <p:cNvSpPr/>
          <p:nvPr/>
        </p:nvSpPr>
        <p:spPr>
          <a:xfrm>
            <a:off x="457200" y="1810512"/>
            <a:ext cx="5541264" cy="3566160"/>
          </a:xfrm>
          <a:prstGeom prst="roundRect">
            <a:avLst>
              <a:gd name="adj" fmla="val 2051"/>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94360" y="1901952"/>
            <a:ext cx="1051560" cy="274320"/>
          </a:xfrm>
          <a:prstGeom prst="roundRect">
            <a:avLst>
              <a:gd name="adj" fmla="val 50000"/>
            </a:avLst>
          </a:prstGeom>
          <a:solidFill>
            <a:srgbClr val="C9780A"/>
          </a:solidFill>
          <a:ln w="12700">
            <a:solidFill>
              <a:srgbClr val="C9780A"/>
            </a:solidFill>
            <a:prstDash val="solid"/>
          </a:ln>
        </p:spPr>
      </p:sp>
      <p:sp>
        <p:nvSpPr>
          <p:cNvPr id="17" name="Text 14"/>
          <p:cNvSpPr txBox="1"/>
          <p:nvPr/>
        </p:nvSpPr>
        <p:spPr>
          <a:xfrm>
            <a:off x="594360"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18" name="Text 15"/>
          <p:cNvSpPr txBox="1"/>
          <p:nvPr/>
        </p:nvSpPr>
        <p:spPr>
          <a:xfrm>
            <a:off x="2468880"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هَلْ عِنْدَكُمْ ______ ؟</a:t>
            </a:r>
            <a:endParaRPr lang="ar-SA" sz="1800" dirty="0"/>
          </a:p>
        </p:txBody>
      </p:sp>
      <p:sp>
        <p:nvSpPr>
          <p:cNvPr id="19" name="Text 16"/>
          <p:cNvSpPr txBox="1"/>
          <p:nvPr/>
        </p:nvSpPr>
        <p:spPr>
          <a:xfrm>
            <a:off x="594360"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Do you have …?</a:t>
            </a:r>
            <a:endParaRPr lang="en-US" sz="1050" dirty="0"/>
          </a:p>
        </p:txBody>
      </p:sp>
      <p:sp>
        <p:nvSpPr>
          <p:cNvPr id="20" name="Text 17"/>
          <p:cNvSpPr txBox="1"/>
          <p:nvPr/>
        </p:nvSpPr>
        <p:spPr>
          <a:xfrm>
            <a:off x="2468880" y="2816352"/>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كَمْ سِعْرُ ______ ؟</a:t>
            </a:r>
            <a:endParaRPr lang="ar-SA" sz="1800" dirty="0"/>
          </a:p>
        </p:txBody>
      </p:sp>
      <p:sp>
        <p:nvSpPr>
          <p:cNvPr id="21" name="Text 18"/>
          <p:cNvSpPr txBox="1"/>
          <p:nvPr/>
        </p:nvSpPr>
        <p:spPr>
          <a:xfrm>
            <a:off x="594360"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How much is the …?</a:t>
            </a:r>
            <a:endParaRPr lang="en-US" sz="1050" dirty="0"/>
          </a:p>
        </p:txBody>
      </p:sp>
      <p:sp>
        <p:nvSpPr>
          <p:cNvPr id="22" name="Text 19"/>
          <p:cNvSpPr txBox="1"/>
          <p:nvPr/>
        </p:nvSpPr>
        <p:spPr>
          <a:xfrm>
            <a:off x="2468880" y="3383280"/>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هَلْ يُمْكِنُنِي أَنْ أَطْلُبَ ______ ؟</a:t>
            </a:r>
            <a:endParaRPr lang="ar-SA" sz="1800" dirty="0"/>
          </a:p>
        </p:txBody>
      </p:sp>
      <p:sp>
        <p:nvSpPr>
          <p:cNvPr id="23" name="Text 20"/>
          <p:cNvSpPr txBox="1"/>
          <p:nvPr/>
        </p:nvSpPr>
        <p:spPr>
          <a:xfrm>
            <a:off x="594360"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May I order …?</a:t>
            </a:r>
            <a:endParaRPr lang="en-US" sz="1050" dirty="0"/>
          </a:p>
        </p:txBody>
      </p:sp>
      <p:sp>
        <p:nvSpPr>
          <p:cNvPr id="24" name="Text 21"/>
          <p:cNvSpPr txBox="1"/>
          <p:nvPr/>
        </p:nvSpPr>
        <p:spPr>
          <a:xfrm>
            <a:off x="2468880" y="3950208"/>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صَغِيرًا / كَبِيرًا، شُكْرًا.</a:t>
            </a:r>
            <a:endParaRPr lang="ar-SA" sz="1800" dirty="0"/>
          </a:p>
        </p:txBody>
      </p:sp>
      <p:sp>
        <p:nvSpPr>
          <p:cNvPr id="25" name="Text 22"/>
          <p:cNvSpPr txBox="1"/>
          <p:nvPr/>
        </p:nvSpPr>
        <p:spPr>
          <a:xfrm>
            <a:off x="594360" y="3950208"/>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Small / large, thank you.</a:t>
            </a:r>
            <a:endParaRPr lang="en-US" sz="1050" dirty="0"/>
          </a:p>
        </p:txBody>
      </p:sp>
      <p:sp>
        <p:nvSpPr>
          <p:cNvPr id="26" name="Text 23"/>
          <p:cNvSpPr txBox="1"/>
          <p:nvPr/>
        </p:nvSpPr>
        <p:spPr>
          <a:xfrm>
            <a:off x="2468880" y="4517136"/>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مَاءً عَادِيًّا، مِنْ فَضْلِكِ.</a:t>
            </a:r>
            <a:endParaRPr lang="ar-SA" sz="1800" dirty="0"/>
          </a:p>
        </p:txBody>
      </p:sp>
      <p:sp>
        <p:nvSpPr>
          <p:cNvPr id="27" name="Text 24"/>
          <p:cNvSpPr txBox="1"/>
          <p:nvPr/>
        </p:nvSpPr>
        <p:spPr>
          <a:xfrm>
            <a:off x="594360" y="4517136"/>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Still water, please (to a woman).</a:t>
            </a:r>
            <a:endParaRPr lang="en-US" sz="1050" dirty="0"/>
          </a:p>
        </p:txBody>
      </p:sp>
      <p:sp>
        <p:nvSpPr>
          <p:cNvPr id="28" name="Shape 25"/>
          <p:cNvSpPr/>
          <p:nvPr/>
        </p:nvSpPr>
        <p:spPr>
          <a:xfrm>
            <a:off x="6190488" y="1810512"/>
            <a:ext cx="5541264" cy="3566160"/>
          </a:xfrm>
          <a:prstGeom prst="roundRect">
            <a:avLst>
              <a:gd name="adj" fmla="val 2051"/>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10543032" y="1901952"/>
            <a:ext cx="1051560" cy="274320"/>
          </a:xfrm>
          <a:prstGeom prst="roundRect">
            <a:avLst>
              <a:gd name="adj" fmla="val 50000"/>
            </a:avLst>
          </a:prstGeom>
          <a:solidFill>
            <a:srgbClr val="2E8B57"/>
          </a:solidFill>
          <a:ln w="12700">
            <a:solidFill>
              <a:srgbClr val="2E8B57"/>
            </a:solidFill>
            <a:prstDash val="solid"/>
          </a:ln>
        </p:spPr>
      </p:sp>
      <p:sp>
        <p:nvSpPr>
          <p:cNvPr id="30" name="Text 27"/>
          <p:cNvSpPr txBox="1"/>
          <p:nvPr/>
        </p:nvSpPr>
        <p:spPr>
          <a:xfrm>
            <a:off x="10543032"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31" name="Text 28"/>
          <p:cNvSpPr txBox="1"/>
          <p:nvPr/>
        </p:nvSpPr>
        <p:spPr>
          <a:xfrm>
            <a:off x="8202168"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مَسَاءُ الخَيْرِ.</a:t>
            </a:r>
            <a:endParaRPr lang="ar-SA" sz="1800" dirty="0"/>
          </a:p>
        </p:txBody>
      </p:sp>
      <p:sp>
        <p:nvSpPr>
          <p:cNvPr id="32" name="Text 29"/>
          <p:cNvSpPr txBox="1"/>
          <p:nvPr/>
        </p:nvSpPr>
        <p:spPr>
          <a:xfrm>
            <a:off x="6327648"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Good evening.</a:t>
            </a:r>
            <a:endParaRPr lang="en-US" sz="1050" dirty="0"/>
          </a:p>
        </p:txBody>
      </p:sp>
      <p:sp>
        <p:nvSpPr>
          <p:cNvPr id="33" name="Text 30"/>
          <p:cNvSpPr txBox="1"/>
          <p:nvPr/>
        </p:nvSpPr>
        <p:spPr>
          <a:xfrm>
            <a:off x="8202168" y="2816352"/>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أُرِيدُ ______ ، مِنْ فَضْلِكَ.</a:t>
            </a:r>
            <a:endParaRPr lang="ar-SA" sz="1800" dirty="0"/>
          </a:p>
        </p:txBody>
      </p:sp>
      <p:sp>
        <p:nvSpPr>
          <p:cNvPr id="34" name="Text 31"/>
          <p:cNvSpPr txBox="1"/>
          <p:nvPr/>
        </p:nvSpPr>
        <p:spPr>
          <a:xfrm>
            <a:off x="6327648"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 would like …, please.</a:t>
            </a:r>
            <a:endParaRPr lang="en-US" sz="1050" dirty="0"/>
          </a:p>
        </p:txBody>
      </p:sp>
      <p:sp>
        <p:nvSpPr>
          <p:cNvPr id="35" name="Text 32"/>
          <p:cNvSpPr txBox="1"/>
          <p:nvPr/>
        </p:nvSpPr>
        <p:spPr>
          <a:xfrm>
            <a:off x="8202168" y="3383280"/>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نَعَمْ، ______ مِنْ فَضْلِكَ. / لَا، شُكْرًا.</a:t>
            </a:r>
            <a:endParaRPr lang="ar-SA" sz="1800" dirty="0"/>
          </a:p>
        </p:txBody>
      </p:sp>
      <p:sp>
        <p:nvSpPr>
          <p:cNvPr id="36" name="Text 33"/>
          <p:cNvSpPr txBox="1"/>
          <p:nvPr/>
        </p:nvSpPr>
        <p:spPr>
          <a:xfrm>
            <a:off x="6327648"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Yes, … please. / No, thank you.</a:t>
            </a:r>
            <a:endParaRPr lang="en-US" sz="1050" dirty="0"/>
          </a:p>
        </p:txBody>
      </p:sp>
      <p:sp>
        <p:nvSpPr>
          <p:cNvPr id="37" name="Text 34"/>
          <p:cNvSpPr txBox="1"/>
          <p:nvPr/>
        </p:nvSpPr>
        <p:spPr>
          <a:xfrm>
            <a:off x="8202168" y="3950208"/>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الحِسَابُ، مِنْ فَضْلِكَ.</a:t>
            </a:r>
            <a:endParaRPr lang="ar-SA" sz="1800" dirty="0"/>
          </a:p>
        </p:txBody>
      </p:sp>
      <p:sp>
        <p:nvSpPr>
          <p:cNvPr id="38" name="Text 35"/>
          <p:cNvSpPr txBox="1"/>
          <p:nvPr/>
        </p:nvSpPr>
        <p:spPr>
          <a:xfrm>
            <a:off x="6327648" y="3950208"/>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The bill, please.</a:t>
            </a:r>
            <a:endParaRPr lang="en-US" sz="1050" dirty="0"/>
          </a:p>
        </p:txBody>
      </p:sp>
      <p:sp>
        <p:nvSpPr>
          <p:cNvPr id="39" name="Text 36"/>
          <p:cNvSpPr txBox="1"/>
          <p:nvPr/>
        </p:nvSpPr>
        <p:spPr>
          <a:xfrm>
            <a:off x="8202168" y="4517136"/>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شُكْرًا جَزِيلًا.</a:t>
            </a:r>
            <a:endParaRPr lang="ar-SA" sz="1800" dirty="0"/>
          </a:p>
        </p:txBody>
      </p:sp>
      <p:sp>
        <p:nvSpPr>
          <p:cNvPr id="40" name="Text 37"/>
          <p:cNvSpPr txBox="1"/>
          <p:nvPr/>
        </p:nvSpPr>
        <p:spPr>
          <a:xfrm>
            <a:off x="6327648" y="4517136"/>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Thank you very much.</a:t>
            </a:r>
            <a:endParaRPr lang="en-US" sz="1050" dirty="0"/>
          </a:p>
        </p:txBody>
      </p:sp>
      <p:sp>
        <p:nvSpPr>
          <p:cNvPr id="41" name="Shape 38"/>
          <p:cNvSpPr/>
          <p:nvPr/>
        </p:nvSpPr>
        <p:spPr>
          <a:xfrm>
            <a:off x="457200" y="5504688"/>
            <a:ext cx="11274552" cy="804672"/>
          </a:xfrm>
          <a:prstGeom prst="roundRect">
            <a:avLst>
              <a:gd name="adj" fmla="val 909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Text 39"/>
          <p:cNvSpPr txBox="1"/>
          <p:nvPr/>
        </p:nvSpPr>
        <p:spPr>
          <a:xfrm>
            <a:off x="640080" y="5541264"/>
            <a:ext cx="18288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WORD BANK</a:t>
            </a:r>
            <a:endParaRPr lang="en-US" sz="950" dirty="0"/>
          </a:p>
        </p:txBody>
      </p:sp>
      <p:sp>
        <p:nvSpPr>
          <p:cNvPr id="43" name="Text 40"/>
          <p:cNvSpPr txBox="1"/>
          <p:nvPr/>
        </p:nvSpPr>
        <p:spPr>
          <a:xfrm>
            <a:off x="640080" y="5760720"/>
            <a:ext cx="10908792" cy="512064"/>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أُرِيدُ  ·  مِنْ فَضْلِكَ  ·  مِنْ فَضْلِكِ  ·  لَوْ سَمَحْتَ  ·  هَلْ عِنْدَكُمْ  ·  كَمْ سِعْرُ  ·  الحِسَابُ  ·  قَائِمَةُ الطَّعَامِ  ·  نَادِلٌ  ·  صَغِيرٌ  ·  كَبِيرٌ  ·  شُكْرًا جَزِيلًا</a:t>
            </a:r>
            <a:endParaRPr lang="ar-SA" sz="160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33 / 43</a:t>
            </a:r>
            <a:endParaRPr lang="en-US" sz="85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F5-L05 · Ordering Politely</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STRETCH · THE WEBSITE WRITING TASK</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Stretch: the full writing task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مُهِمَّةُ التَّحَدِّي</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F5 · Food, Health and Body · F5-L05</a:t>
            </a:r>
            <a:endParaRPr lang="en-US" sz="850" dirty="0"/>
          </a:p>
        </p:txBody>
      </p:sp>
      <p:sp>
        <p:nvSpPr>
          <p:cNvPr id="15" name="Shape 12"/>
          <p:cNvSpPr/>
          <p:nvPr/>
        </p:nvSpPr>
        <p:spPr>
          <a:xfrm>
            <a:off x="457200" y="1810512"/>
            <a:ext cx="5577840" cy="4498848"/>
          </a:xfrm>
          <a:prstGeom prst="roundRect">
            <a:avLst>
              <a:gd name="adj" fmla="val 1626"/>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1188720" cy="292608"/>
          </a:xfrm>
          <a:prstGeom prst="roundRect">
            <a:avLst>
              <a:gd name="adj" fmla="val 50000"/>
            </a:avLst>
          </a:prstGeom>
          <a:solidFill>
            <a:srgbClr val="B83227"/>
          </a:solidFill>
          <a:ln w="12700">
            <a:solidFill>
              <a:srgbClr val="B83227"/>
            </a:solidFill>
            <a:prstDash val="solid"/>
          </a:ln>
        </p:spPr>
      </p:sp>
      <p:sp>
        <p:nvSpPr>
          <p:cNvPr id="17" name="Text 14"/>
          <p:cNvSpPr txBox="1"/>
          <p:nvPr/>
        </p:nvSpPr>
        <p:spPr>
          <a:xfrm>
            <a:off x="640080" y="1938528"/>
            <a:ext cx="118872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STRETCH</a:t>
            </a:r>
            <a:endParaRPr lang="en-US" sz="950" dirty="0"/>
          </a:p>
        </p:txBody>
      </p:sp>
      <p:sp>
        <p:nvSpPr>
          <p:cNvPr id="18" name="Text 15"/>
          <p:cNvSpPr txBox="1"/>
          <p:nvPr/>
        </p:nvSpPr>
        <p:spPr>
          <a:xfrm>
            <a:off x="640080" y="2331720"/>
            <a:ext cx="5212080" cy="914400"/>
          </a:xfrm>
          <a:prstGeom prst="rect">
            <a:avLst/>
          </a:prstGeom>
          <a:noFill/>
          <a:ln/>
        </p:spPr>
        <p:txBody>
          <a:bodyPr wrap="square" lIns="0" tIns="0" rIns="0" bIns="0" rtlCol="0" anchor="ctr"/>
          <a:lstStyle/>
          <a:p>
            <a:pPr algn="l" indent="0" marL="0">
              <a:buNone/>
            </a:pPr>
            <a:r>
              <a:rPr lang="en-US" sz="1350" b="1" dirty="0">
                <a:solidFill>
                  <a:srgbClr val="1F2A37"/>
                </a:solidFill>
                <a:latin typeface="Calibri" pitchFamily="34" charset="0"/>
                <a:cs typeface="Amiri" pitchFamily="2" charset="-78"/>
              </a:rPr>
              <a:t>Write an 8-line café dialogue between a waiter and a customer. The customer must order food, choose a drink, answer one clarification and ask for the bill.</a:t>
            </a:r>
            <a:endParaRPr lang="en-US" sz="1350" dirty="0"/>
          </a:p>
        </p:txBody>
      </p:sp>
      <p:sp>
        <p:nvSpPr>
          <p:cNvPr id="19" name="Text 16"/>
          <p:cNvSpPr txBox="1"/>
          <p:nvPr/>
        </p:nvSpPr>
        <p:spPr>
          <a:xfrm>
            <a:off x="685800" y="3310128"/>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Use a greeting and a polite closing.</a:t>
            </a:r>
            <a:endParaRPr lang="en-US" sz="1200" dirty="0"/>
          </a:p>
        </p:txBody>
      </p:sp>
      <p:sp>
        <p:nvSpPr>
          <p:cNvPr id="20" name="Text 17"/>
          <p:cNvSpPr txBox="1"/>
          <p:nvPr/>
        </p:nvSpPr>
        <p:spPr>
          <a:xfrm>
            <a:off x="685800" y="3840480"/>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Include </a:t>
            </a:r>
            <a:pPr algn="l" indent="0" marL="0">
              <a:buNone/>
            </a:pPr>
            <a:r>
              <a:rPr lang="ar-SA" altLang="en-US" sz="1550" dirty="0">
                <a:solidFill>
                  <a:srgbClr val="1F2A37"/>
                </a:solidFill>
                <a:latin typeface="Amiri" pitchFamily="2" charset="-78"/>
                <a:ea typeface="Amiri" pitchFamily="2" charset="-78"/>
                <a:cs typeface="Amiri" pitchFamily="2" charset="-78"/>
              </a:rPr>
              <a:t>أُرِيدُ</a:t>
            </a:r>
            <a:pPr algn="l" indent="0" marL="0">
              <a:buNone/>
            </a:pPr>
            <a:r>
              <a:rPr lang="en-US" sz="1200" dirty="0">
                <a:solidFill>
                  <a:srgbClr val="1F2A37"/>
                </a:solidFill>
                <a:latin typeface="Calibri" pitchFamily="34" charset="0"/>
                <a:cs typeface="Amiri" pitchFamily="2" charset="-78"/>
              </a:rPr>
              <a:t> or </a:t>
            </a:r>
            <a:pPr algn="l" indent="0" marL="0">
              <a:buNone/>
            </a:pPr>
            <a:r>
              <a:rPr lang="ar-SA" altLang="en-US" sz="1550" dirty="0">
                <a:solidFill>
                  <a:srgbClr val="1F2A37"/>
                </a:solidFill>
                <a:latin typeface="Amiri" pitchFamily="2" charset="-78"/>
                <a:ea typeface="Amiri" pitchFamily="2" charset="-78"/>
                <a:cs typeface="Amiri" pitchFamily="2" charset="-78"/>
              </a:rPr>
              <a:t>هَلْ يُمْكِنُنِي أَنْ أَطْلُبَ</a:t>
            </a:r>
            <a:pPr algn="l" indent="0" marL="0">
              <a:buNone/>
            </a:pPr>
            <a:r>
              <a:rPr lang="en-US" sz="1200" dirty="0">
                <a:solidFill>
                  <a:srgbClr val="1F2A37"/>
                </a:solidFill>
                <a:latin typeface="Calibri" pitchFamily="34" charset="0"/>
                <a:cs typeface="Amiri" pitchFamily="2" charset="-78"/>
              </a:rPr>
              <a:t>.</a:t>
            </a:r>
            <a:endParaRPr lang="en-US" sz="1200" dirty="0"/>
          </a:p>
        </p:txBody>
      </p:sp>
      <p:sp>
        <p:nvSpPr>
          <p:cNvPr id="21" name="Text 18"/>
          <p:cNvSpPr txBox="1"/>
          <p:nvPr/>
        </p:nvSpPr>
        <p:spPr>
          <a:xfrm>
            <a:off x="685800" y="4370832"/>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Include at least one question from the waiter.</a:t>
            </a:r>
            <a:endParaRPr lang="en-US" sz="1200" dirty="0"/>
          </a:p>
        </p:txBody>
      </p:sp>
      <p:sp>
        <p:nvSpPr>
          <p:cNvPr id="22" name="Text 19"/>
          <p:cNvSpPr txBox="1"/>
          <p:nvPr/>
        </p:nvSpPr>
        <p:spPr>
          <a:xfrm>
            <a:off x="685800" y="4901184"/>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Use </a:t>
            </a:r>
            <a:pPr algn="l" indent="0" marL="0">
              <a:buNone/>
            </a:pPr>
            <a:r>
              <a:rPr lang="ar-SA" altLang="en-US" sz="1550" dirty="0">
                <a:solidFill>
                  <a:srgbClr val="1F2A37"/>
                </a:solidFill>
                <a:latin typeface="Amiri" pitchFamily="2" charset="-78"/>
                <a:ea typeface="Amiri" pitchFamily="2" charset="-78"/>
                <a:cs typeface="Amiri" pitchFamily="2" charset="-78"/>
              </a:rPr>
              <a:t>مِنْ فَضْلِكَ / مِنْ فَضْلِكِ</a:t>
            </a:r>
            <a:pPr algn="l" indent="0" marL="0">
              <a:buNone/>
            </a:pPr>
            <a:r>
              <a:rPr lang="en-US" sz="1200" dirty="0">
                <a:solidFill>
                  <a:srgbClr val="1F2A37"/>
                </a:solidFill>
                <a:latin typeface="Calibri" pitchFamily="34" charset="0"/>
                <a:cs typeface="Amiri" pitchFamily="2" charset="-78"/>
              </a:rPr>
              <a:t> accurately.</a:t>
            </a:r>
            <a:endParaRPr lang="en-US" sz="1200" dirty="0"/>
          </a:p>
        </p:txBody>
      </p:sp>
      <p:sp>
        <p:nvSpPr>
          <p:cNvPr id="23" name="Shape 20"/>
          <p:cNvSpPr/>
          <p:nvPr/>
        </p:nvSpPr>
        <p:spPr>
          <a:xfrm>
            <a:off x="6217920" y="1810512"/>
            <a:ext cx="551383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Text 21"/>
          <p:cNvSpPr txBox="1"/>
          <p:nvPr/>
        </p:nvSpPr>
        <p:spPr>
          <a:xfrm>
            <a:off x="6400800" y="1901952"/>
            <a:ext cx="5120640" cy="274320"/>
          </a:xfrm>
          <a:prstGeom prst="rect">
            <a:avLst/>
          </a:prstGeom>
          <a:noFill/>
          <a:ln/>
        </p:spPr>
        <p:txBody>
          <a:bodyPr wrap="square" lIns="0" tIns="0" rIns="0" bIns="0" rtlCol="0" anchor="ctr"/>
          <a:lstStyle/>
          <a:p>
            <a:pPr algn="l" indent="0" marL="0">
              <a:buNone/>
            </a:pPr>
            <a:r>
              <a:rPr lang="en-US" sz="950" b="1" spc="100" kern="0" dirty="0">
                <a:solidFill>
                  <a:srgbClr val="8A6D1E"/>
                </a:solidFill>
                <a:latin typeface="Calibri" pitchFamily="34" charset="0"/>
                <a:cs typeface="Amiri" pitchFamily="2" charset="-78"/>
              </a:rPr>
              <a:t>PHRASE BANK — FROM THE WEBSITE TEXTS</a:t>
            </a:r>
            <a:endParaRPr lang="en-US" sz="950" dirty="0"/>
          </a:p>
        </p:txBody>
      </p:sp>
      <p:sp>
        <p:nvSpPr>
          <p:cNvPr id="25" name="Text 22"/>
          <p:cNvSpPr txBox="1"/>
          <p:nvPr/>
        </p:nvSpPr>
        <p:spPr>
          <a:xfrm>
            <a:off x="8412480" y="2231136"/>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آسِفٌ، لَا يُوجَدُ سَمَكٌ اليَوْمَ</a:t>
            </a:r>
            <a:endParaRPr lang="ar-SA" sz="1800" dirty="0"/>
          </a:p>
        </p:txBody>
      </p:sp>
      <p:sp>
        <p:nvSpPr>
          <p:cNvPr id="26" name="Text 23"/>
          <p:cNvSpPr txBox="1"/>
          <p:nvPr/>
        </p:nvSpPr>
        <p:spPr>
          <a:xfrm>
            <a:off x="6400800" y="2560320"/>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sorry, there is no fish today</a:t>
            </a:r>
            <a:endParaRPr lang="en-US" sz="1050" dirty="0"/>
          </a:p>
        </p:txBody>
      </p:sp>
      <p:sp>
        <p:nvSpPr>
          <p:cNvPr id="27" name="Text 24"/>
          <p:cNvSpPr txBox="1"/>
          <p:nvPr/>
        </p:nvSpPr>
        <p:spPr>
          <a:xfrm>
            <a:off x="8412480" y="2889504"/>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إِذَنْ، أُرِيدُ … بَدَلًا مِنْهُ</a:t>
            </a:r>
            <a:endParaRPr lang="ar-SA" sz="1800" dirty="0"/>
          </a:p>
        </p:txBody>
      </p:sp>
      <p:sp>
        <p:nvSpPr>
          <p:cNvPr id="28" name="Text 25"/>
          <p:cNvSpPr txBox="1"/>
          <p:nvPr/>
        </p:nvSpPr>
        <p:spPr>
          <a:xfrm>
            <a:off x="6400800" y="3218688"/>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then I would like … instead</a:t>
            </a:r>
            <a:endParaRPr lang="en-US" sz="1050" dirty="0"/>
          </a:p>
        </p:txBody>
      </p:sp>
      <p:sp>
        <p:nvSpPr>
          <p:cNvPr id="29" name="Text 26"/>
          <p:cNvSpPr txBox="1"/>
          <p:nvPr/>
        </p:nvSpPr>
        <p:spPr>
          <a:xfrm>
            <a:off x="8412480" y="3547872"/>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مَاذَا تُوصِي؟</a:t>
            </a:r>
            <a:endParaRPr lang="ar-SA" sz="1800" dirty="0"/>
          </a:p>
        </p:txBody>
      </p:sp>
      <p:sp>
        <p:nvSpPr>
          <p:cNvPr id="30" name="Text 27"/>
          <p:cNvSpPr txBox="1"/>
          <p:nvPr/>
        </p:nvSpPr>
        <p:spPr>
          <a:xfrm>
            <a:off x="6400800" y="3877056"/>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what do you recommend?</a:t>
            </a:r>
            <a:endParaRPr lang="en-US" sz="1050" dirty="0"/>
          </a:p>
        </p:txBody>
      </p:sp>
      <p:sp>
        <p:nvSpPr>
          <p:cNvPr id="31" name="Text 28"/>
          <p:cNvSpPr txBox="1"/>
          <p:nvPr/>
        </p:nvSpPr>
        <p:spPr>
          <a:xfrm>
            <a:off x="8412480" y="4206240"/>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بِدُونِ مُكَسَّرَاتٍ، مِنْ فَضْلِكَ</a:t>
            </a:r>
            <a:endParaRPr lang="ar-SA" sz="1800" dirty="0"/>
          </a:p>
        </p:txBody>
      </p:sp>
      <p:sp>
        <p:nvSpPr>
          <p:cNvPr id="32" name="Text 29"/>
          <p:cNvSpPr txBox="1"/>
          <p:nvPr/>
        </p:nvSpPr>
        <p:spPr>
          <a:xfrm>
            <a:off x="6400800" y="4535424"/>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without nuts, please</a:t>
            </a:r>
            <a:endParaRPr lang="en-US" sz="1050" dirty="0"/>
          </a:p>
        </p:txBody>
      </p:sp>
      <p:sp>
        <p:nvSpPr>
          <p:cNvPr id="33" name="Text 30"/>
          <p:cNvSpPr txBox="1"/>
          <p:nvPr/>
        </p:nvSpPr>
        <p:spPr>
          <a:xfrm>
            <a:off x="8412480" y="4864608"/>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كَانَ الطَّعَامُ لَذِيذًا</a:t>
            </a:r>
            <a:endParaRPr lang="ar-SA" sz="1800" dirty="0"/>
          </a:p>
        </p:txBody>
      </p:sp>
      <p:sp>
        <p:nvSpPr>
          <p:cNvPr id="34" name="Text 31"/>
          <p:cNvSpPr txBox="1"/>
          <p:nvPr/>
        </p:nvSpPr>
        <p:spPr>
          <a:xfrm>
            <a:off x="6400800" y="5193792"/>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the food was delicious</a:t>
            </a:r>
            <a:endParaRPr lang="en-US" sz="1050" dirty="0"/>
          </a:p>
        </p:txBody>
      </p:sp>
      <p:sp>
        <p:nvSpPr>
          <p:cNvPr id="35" name="Text 3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34 / 43</a:t>
            </a:r>
            <a:endParaRPr lang="en-US" sz="85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F5-L05 · Ordering Politely</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COMPARE WITH THE MODEL</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What a strong answer looks like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نَمُوذَجُ الإِجَابَةِ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F5 · Food, Health and Body · F5-L05</a:t>
            </a:r>
            <a:endParaRPr lang="en-US" sz="850" dirty="0"/>
          </a:p>
        </p:txBody>
      </p:sp>
      <p:sp>
        <p:nvSpPr>
          <p:cNvPr id="15" name="Shape 12"/>
          <p:cNvSpPr/>
          <p:nvPr/>
        </p:nvSpPr>
        <p:spPr>
          <a:xfrm>
            <a:off x="457200" y="1810512"/>
            <a:ext cx="11274552" cy="3246120"/>
          </a:xfrm>
          <a:prstGeom prst="roundRect">
            <a:avLst>
              <a:gd name="adj" fmla="val 225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38528"/>
            <a:ext cx="10817352" cy="2990088"/>
          </a:xfrm>
          <a:prstGeom prst="rect">
            <a:avLst/>
          </a:prstGeom>
          <a:noFill/>
          <a:ln/>
        </p:spPr>
        <p:txBody>
          <a:bodyPr wrap="square" lIns="0" tIns="0" rIns="0" bIns="0" rtlCol="0" anchor="ctr"/>
          <a:lstStyle/>
          <a:p>
            <a:pPr rtl="1" algn="r" indent="0" marL="0">
              <a:lnSpc>
                <a:spcPct val="120000"/>
              </a:lnSpc>
              <a:buNone/>
            </a:pPr>
            <a:r>
              <a:rPr lang="ar-SA" altLang="en-US" sz="1450" dirty="0">
                <a:solidFill>
                  <a:srgbClr val="1F2A37"/>
                </a:solidFill>
                <a:latin typeface="Amiri" pitchFamily="2" charset="-78"/>
                <a:ea typeface="Amiri" pitchFamily="2" charset="-78"/>
                <a:cs typeface="Amiri" pitchFamily="2" charset="-78"/>
              </a:rPr>
              <a:t>النَّادِلُ: مَرْحَبًا. مَاذَا تُرِيدُ؟</a:t>
            </a:r>
            <a:endParaRPr lang="ar-SA" sz="1450" dirty="0"/>
          </a:p>
          <a:p>
            <a:pPr rtl="1" algn="r" indent="0" marL="0">
              <a:lnSpc>
                <a:spcPct val="120000"/>
              </a:lnSpc>
              <a:buNone/>
            </a:pPr>
            <a:r>
              <a:rPr lang="ar-SA" altLang="en-US" sz="1450" dirty="0">
                <a:solidFill>
                  <a:srgbClr val="1F2A37"/>
                </a:solidFill>
                <a:latin typeface="Amiri" pitchFamily="2" charset="-78"/>
                <a:ea typeface="Amiri" pitchFamily="2" charset="-78"/>
                <a:cs typeface="Amiri" pitchFamily="2" charset="-78"/>
              </a:rPr>
              <a:t>الزَّبُونُ: أُرِيدُ حَسَاءً وَسَانْدَوِيتْشًا، مِنْ فَضْلِكَ.</a:t>
            </a:r>
            <a:endParaRPr lang="ar-SA" sz="1450" dirty="0"/>
          </a:p>
          <a:p>
            <a:pPr rtl="1" algn="r" indent="0" marL="0">
              <a:lnSpc>
                <a:spcPct val="120000"/>
              </a:lnSpc>
              <a:buNone/>
            </a:pPr>
            <a:r>
              <a:rPr lang="ar-SA" altLang="en-US" sz="1450" dirty="0">
                <a:solidFill>
                  <a:srgbClr val="1F2A37"/>
                </a:solidFill>
                <a:latin typeface="Amiri" pitchFamily="2" charset="-78"/>
                <a:ea typeface="Amiri" pitchFamily="2" charset="-78"/>
                <a:cs typeface="Amiri" pitchFamily="2" charset="-78"/>
              </a:rPr>
              <a:t>النَّادِلُ: هَلْ تُرِيدُ شَيْئًا لِلشُّرْبِ؟</a:t>
            </a:r>
            <a:endParaRPr lang="ar-SA" sz="1450" dirty="0"/>
          </a:p>
          <a:p>
            <a:pPr rtl="1" algn="r" indent="0" marL="0">
              <a:lnSpc>
                <a:spcPct val="120000"/>
              </a:lnSpc>
              <a:buNone/>
            </a:pPr>
            <a:r>
              <a:rPr lang="ar-SA" altLang="en-US" sz="1450" dirty="0">
                <a:solidFill>
                  <a:srgbClr val="1F2A37"/>
                </a:solidFill>
                <a:latin typeface="Amiri" pitchFamily="2" charset="-78"/>
                <a:ea typeface="Amiri" pitchFamily="2" charset="-78"/>
                <a:cs typeface="Amiri" pitchFamily="2" charset="-78"/>
              </a:rPr>
              <a:t>الزَّبُونُ: نَعَمْ، عَصِيرَ تُفَّاحٍ.</a:t>
            </a:r>
            <a:endParaRPr lang="ar-SA" sz="1450" dirty="0"/>
          </a:p>
          <a:p>
            <a:pPr rtl="1" algn="r" indent="0" marL="0">
              <a:lnSpc>
                <a:spcPct val="120000"/>
              </a:lnSpc>
              <a:buNone/>
            </a:pPr>
            <a:r>
              <a:rPr lang="ar-SA" altLang="en-US" sz="1450" dirty="0">
                <a:solidFill>
                  <a:srgbClr val="1F2A37"/>
                </a:solidFill>
                <a:latin typeface="Amiri" pitchFamily="2" charset="-78"/>
                <a:ea typeface="Amiri" pitchFamily="2" charset="-78"/>
                <a:cs typeface="Amiri" pitchFamily="2" charset="-78"/>
              </a:rPr>
              <a:t>النَّادِلُ: صَغِيرًا أَمْ كَبِيرًا؟</a:t>
            </a:r>
            <a:endParaRPr lang="ar-SA" sz="1450" dirty="0"/>
          </a:p>
          <a:p>
            <a:pPr rtl="1" algn="r" indent="0" marL="0">
              <a:lnSpc>
                <a:spcPct val="120000"/>
              </a:lnSpc>
              <a:buNone/>
            </a:pPr>
            <a:r>
              <a:rPr lang="ar-SA" altLang="en-US" sz="1450" dirty="0">
                <a:solidFill>
                  <a:srgbClr val="1F2A37"/>
                </a:solidFill>
                <a:latin typeface="Amiri" pitchFamily="2" charset="-78"/>
                <a:ea typeface="Amiri" pitchFamily="2" charset="-78"/>
                <a:cs typeface="Amiri" pitchFamily="2" charset="-78"/>
              </a:rPr>
              <a:t>الزَّبُونُ: صَغِيرًا، شُكْرًا.</a:t>
            </a:r>
            <a:endParaRPr lang="ar-SA" sz="1450" dirty="0"/>
          </a:p>
          <a:p>
            <a:pPr rtl="1" algn="r" indent="0" marL="0">
              <a:lnSpc>
                <a:spcPct val="120000"/>
              </a:lnSpc>
              <a:buNone/>
            </a:pPr>
            <a:r>
              <a:rPr lang="ar-SA" altLang="en-US" sz="1450" dirty="0">
                <a:solidFill>
                  <a:srgbClr val="1F2A37"/>
                </a:solidFill>
                <a:latin typeface="Amiri" pitchFamily="2" charset="-78"/>
                <a:ea typeface="Amiri" pitchFamily="2" charset="-78"/>
                <a:cs typeface="Amiri" pitchFamily="2" charset="-78"/>
              </a:rPr>
              <a:t>النَّادِلُ: شَيْءٌ آخَرُ؟</a:t>
            </a:r>
            <a:endParaRPr lang="ar-SA" sz="1450" dirty="0"/>
          </a:p>
          <a:p>
            <a:pPr rtl="1" algn="r" indent="0" marL="0">
              <a:lnSpc>
                <a:spcPct val="120000"/>
              </a:lnSpc>
              <a:buNone/>
            </a:pPr>
            <a:r>
              <a:rPr lang="ar-SA" altLang="en-US" sz="1450" dirty="0">
                <a:solidFill>
                  <a:srgbClr val="1F2A37"/>
                </a:solidFill>
                <a:latin typeface="Amiri" pitchFamily="2" charset="-78"/>
                <a:ea typeface="Amiri" pitchFamily="2" charset="-78"/>
                <a:cs typeface="Amiri" pitchFamily="2" charset="-78"/>
              </a:rPr>
              <a:t>الزَّبُونُ: لَا، الحِسَابُ مِنْ فَضْلِكَ.</a:t>
            </a:r>
            <a:endParaRPr lang="ar-SA" sz="1450" dirty="0"/>
          </a:p>
        </p:txBody>
      </p:sp>
      <p:sp>
        <p:nvSpPr>
          <p:cNvPr id="17" name="Shape 14"/>
          <p:cNvSpPr/>
          <p:nvPr/>
        </p:nvSpPr>
        <p:spPr>
          <a:xfrm>
            <a:off x="457200" y="5166360"/>
            <a:ext cx="11274552" cy="1024128"/>
          </a:xfrm>
          <a:prstGeom prst="roundRect">
            <a:avLst>
              <a:gd name="adj" fmla="val 7143"/>
            </a:avLst>
          </a:prstGeom>
          <a:solidFill>
            <a:srgbClr val="F4F1EA"/>
          </a:solidFill>
          <a:ln w="9525">
            <a:solidFill>
              <a:srgbClr val="F4F1EA"/>
            </a:solidFill>
            <a:prstDash val="solid"/>
          </a:ln>
        </p:spPr>
      </p:sp>
      <p:sp>
        <p:nvSpPr>
          <p:cNvPr id="18" name="Text 15"/>
          <p:cNvSpPr txBox="1"/>
          <p:nvPr/>
        </p:nvSpPr>
        <p:spPr>
          <a:xfrm>
            <a:off x="640080" y="5202936"/>
            <a:ext cx="10908792" cy="950976"/>
          </a:xfrm>
          <a:prstGeom prst="rect">
            <a:avLst/>
          </a:prstGeom>
          <a:noFill/>
          <a:ln/>
        </p:spPr>
        <p:txBody>
          <a:bodyPr wrap="square" lIns="0" tIns="0" rIns="0" bIns="0" rtlCol="0" anchor="t"/>
          <a:lstStyle/>
          <a:p>
            <a:pPr algn="l" indent="0" marL="0">
              <a:buNone/>
            </a:pPr>
            <a:r>
              <a:rPr lang="en-US" sz="1150" i="1" dirty="0">
                <a:solidFill>
                  <a:srgbClr val="5A6472"/>
                </a:solidFill>
                <a:latin typeface="Calibri" pitchFamily="34" charset="0"/>
                <a:cs typeface="Amiri" pitchFamily="2" charset="-78"/>
              </a:rPr>
              <a:t>Waiter: Hello. What would you like? Customer: I would like soup and a sandwich, please. Waiter: Would you like something to drink? Customer: Yes, apple juice. Waiter: Small or large? Customer: Small, thank you. Waiter: Anything else? Customer: No, the bill please.</a:t>
            </a:r>
            <a:endParaRPr lang="en-US" sz="1150" dirty="0"/>
          </a:p>
        </p:txBody>
      </p:sp>
      <p:sp>
        <p:nvSpPr>
          <p:cNvPr id="19" name="Text 16"/>
          <p:cNvSpPr txBox="1"/>
          <p:nvPr/>
        </p:nvSpPr>
        <p:spPr>
          <a:xfrm>
            <a:off x="457200" y="6053328"/>
            <a:ext cx="219456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FIND IN THE MODEL:</a:t>
            </a:r>
            <a:endParaRPr lang="en-US" sz="950" dirty="0"/>
          </a:p>
        </p:txBody>
      </p:sp>
      <p:sp>
        <p:nvSpPr>
          <p:cNvPr id="20" name="Shape 17"/>
          <p:cNvSpPr/>
          <p:nvPr/>
        </p:nvSpPr>
        <p:spPr>
          <a:xfrm>
            <a:off x="2697480" y="6035040"/>
            <a:ext cx="2148840" cy="274320"/>
          </a:xfrm>
          <a:prstGeom prst="roundRect">
            <a:avLst>
              <a:gd name="adj" fmla="val 50000"/>
            </a:avLst>
          </a:prstGeom>
          <a:solidFill>
            <a:srgbClr val="1D5FBF"/>
          </a:solidFill>
          <a:ln w="12700">
            <a:solidFill>
              <a:srgbClr val="1D5FBF"/>
            </a:solidFill>
            <a:prstDash val="solid"/>
          </a:ln>
        </p:spPr>
      </p:sp>
      <p:sp>
        <p:nvSpPr>
          <p:cNvPr id="21" name="Text 18"/>
          <p:cNvSpPr txBox="1"/>
          <p:nvPr/>
        </p:nvSpPr>
        <p:spPr>
          <a:xfrm>
            <a:off x="2697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a greeting</a:t>
            </a:r>
            <a:endParaRPr lang="en-US" sz="950" dirty="0"/>
          </a:p>
        </p:txBody>
      </p:sp>
      <p:sp>
        <p:nvSpPr>
          <p:cNvPr id="22" name="Shape 19"/>
          <p:cNvSpPr/>
          <p:nvPr/>
        </p:nvSpPr>
        <p:spPr>
          <a:xfrm>
            <a:off x="4983480" y="6035040"/>
            <a:ext cx="2148840" cy="274320"/>
          </a:xfrm>
          <a:prstGeom prst="roundRect">
            <a:avLst>
              <a:gd name="adj" fmla="val 50000"/>
            </a:avLst>
          </a:prstGeom>
          <a:solidFill>
            <a:srgbClr val="1B3B6F"/>
          </a:solidFill>
          <a:ln w="12700">
            <a:solidFill>
              <a:srgbClr val="1B3B6F"/>
            </a:solidFill>
            <a:prstDash val="solid"/>
          </a:ln>
        </p:spPr>
      </p:sp>
      <p:sp>
        <p:nvSpPr>
          <p:cNvPr id="23" name="Text 20"/>
          <p:cNvSpPr txBox="1"/>
          <p:nvPr/>
        </p:nvSpPr>
        <p:spPr>
          <a:xfrm>
            <a:off x="4983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an order</a:t>
            </a:r>
            <a:endParaRPr lang="en-US" sz="950" dirty="0"/>
          </a:p>
        </p:txBody>
      </p:sp>
      <p:sp>
        <p:nvSpPr>
          <p:cNvPr id="24" name="Shape 21"/>
          <p:cNvSpPr/>
          <p:nvPr/>
        </p:nvSpPr>
        <p:spPr>
          <a:xfrm>
            <a:off x="7269480" y="6035040"/>
            <a:ext cx="2148840" cy="274320"/>
          </a:xfrm>
          <a:prstGeom prst="roundRect">
            <a:avLst>
              <a:gd name="adj" fmla="val 50000"/>
            </a:avLst>
          </a:prstGeom>
          <a:solidFill>
            <a:srgbClr val="C77700"/>
          </a:solidFill>
          <a:ln w="12700">
            <a:solidFill>
              <a:srgbClr val="C77700"/>
            </a:solidFill>
            <a:prstDash val="solid"/>
          </a:ln>
        </p:spPr>
      </p:sp>
      <p:sp>
        <p:nvSpPr>
          <p:cNvPr id="25" name="Text 22"/>
          <p:cNvSpPr txBox="1"/>
          <p:nvPr/>
        </p:nvSpPr>
        <p:spPr>
          <a:xfrm>
            <a:off x="7269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a clarification</a:t>
            </a:r>
            <a:endParaRPr lang="en-US" sz="950" dirty="0"/>
          </a:p>
        </p:txBody>
      </p:sp>
      <p:sp>
        <p:nvSpPr>
          <p:cNvPr id="26" name="Shape 23"/>
          <p:cNvSpPr/>
          <p:nvPr/>
        </p:nvSpPr>
        <p:spPr>
          <a:xfrm>
            <a:off x="9555480" y="6035040"/>
            <a:ext cx="2148840" cy="274320"/>
          </a:xfrm>
          <a:prstGeom prst="roundRect">
            <a:avLst>
              <a:gd name="adj" fmla="val 50000"/>
            </a:avLst>
          </a:prstGeom>
          <a:solidFill>
            <a:srgbClr val="7B3FA0"/>
          </a:solidFill>
          <a:ln w="12700">
            <a:solidFill>
              <a:srgbClr val="7B3FA0"/>
            </a:solidFill>
            <a:prstDash val="solid"/>
          </a:ln>
        </p:spPr>
      </p:sp>
      <p:sp>
        <p:nvSpPr>
          <p:cNvPr id="27" name="Text 24"/>
          <p:cNvSpPr txBox="1"/>
          <p:nvPr/>
        </p:nvSpPr>
        <p:spPr>
          <a:xfrm>
            <a:off x="9555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the bill</a:t>
            </a:r>
            <a:endParaRPr lang="en-US" sz="950" dirty="0"/>
          </a:p>
        </p:txBody>
      </p:sp>
      <p:sp>
        <p:nvSpPr>
          <p:cNvPr id="28" name="Text 2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35 / 43</a:t>
            </a:r>
            <a:endParaRPr lang="en-US" sz="85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F5-L05 · Ordering Politely</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SUCCESS CRITERIA</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Check your work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قَيِّمْ عَمَلَكَ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F5 · Food, Health and Body · F5-L05</a:t>
            </a:r>
            <a:endParaRPr lang="en-US" sz="850" dirty="0"/>
          </a:p>
        </p:txBody>
      </p:sp>
      <p:sp>
        <p:nvSpPr>
          <p:cNvPr id="15" name="Shape 12"/>
          <p:cNvSpPr/>
          <p:nvPr/>
        </p:nvSpPr>
        <p:spPr>
          <a:xfrm>
            <a:off x="457200" y="181051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85800" y="2086661"/>
            <a:ext cx="219456" cy="219456"/>
          </a:xfrm>
          <a:prstGeom prst="rect">
            <a:avLst/>
          </a:prstGeom>
          <a:solidFill>
            <a:srgbClr val="FFFFFF"/>
          </a:solidFill>
          <a:ln w="19050">
            <a:solidFill>
              <a:srgbClr val="2E8B57"/>
            </a:solidFill>
            <a:prstDash val="solid"/>
          </a:ln>
        </p:spPr>
      </p:sp>
      <p:sp>
        <p:nvSpPr>
          <p:cNvPr id="17" name="Text 14"/>
          <p:cNvSpPr txBox="1"/>
          <p:nvPr/>
        </p:nvSpPr>
        <p:spPr>
          <a:xfrm>
            <a:off x="1097280" y="181051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greeted and closed politely.</a:t>
            </a:r>
            <a:endParaRPr lang="en-US" sz="1300" dirty="0"/>
          </a:p>
        </p:txBody>
      </p:sp>
      <p:sp>
        <p:nvSpPr>
          <p:cNvPr id="18" name="Shape 15"/>
          <p:cNvSpPr/>
          <p:nvPr/>
        </p:nvSpPr>
        <p:spPr>
          <a:xfrm>
            <a:off x="6583680" y="2068373"/>
            <a:ext cx="109728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6583680" y="2068373"/>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Shape 17"/>
          <p:cNvSpPr/>
          <p:nvPr/>
        </p:nvSpPr>
        <p:spPr>
          <a:xfrm>
            <a:off x="457200" y="271028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685800" y="2986430"/>
            <a:ext cx="219456" cy="219456"/>
          </a:xfrm>
          <a:prstGeom prst="rect">
            <a:avLst/>
          </a:prstGeom>
          <a:solidFill>
            <a:srgbClr val="FFFFFF"/>
          </a:solidFill>
          <a:ln w="19050">
            <a:solidFill>
              <a:srgbClr val="2E8B57"/>
            </a:solidFill>
            <a:prstDash val="solid"/>
          </a:ln>
        </p:spPr>
      </p:sp>
      <p:sp>
        <p:nvSpPr>
          <p:cNvPr id="22" name="Text 19"/>
          <p:cNvSpPr txBox="1"/>
          <p:nvPr/>
        </p:nvSpPr>
        <p:spPr>
          <a:xfrm>
            <a:off x="1097280" y="271028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Every request has </a:t>
            </a:r>
            <a:pPr algn="l" indent="0" marL="0">
              <a:buNone/>
            </a:pPr>
            <a:r>
              <a:rPr lang="ar-SA" altLang="en-US" sz="1700" dirty="0">
                <a:solidFill>
                  <a:srgbClr val="1F2A37"/>
                </a:solidFill>
                <a:latin typeface="Amiri" pitchFamily="2" charset="-78"/>
                <a:ea typeface="Amiri" pitchFamily="2" charset="-78"/>
                <a:cs typeface="Amiri" pitchFamily="2" charset="-78"/>
              </a:rPr>
              <a:t>مِنْ فَضْلِكَ / مِنْ فَضْلِكِ</a:t>
            </a:r>
            <a:pPr algn="l" indent="0" marL="0">
              <a:buNone/>
            </a:pPr>
            <a:r>
              <a:rPr lang="en-US" sz="1300" dirty="0">
                <a:solidFill>
                  <a:srgbClr val="1F2A37"/>
                </a:solidFill>
                <a:latin typeface="Calibri" pitchFamily="34" charset="0"/>
                <a:cs typeface="Amiri" pitchFamily="2" charset="-78"/>
              </a:rPr>
              <a:t>.</a:t>
            </a:r>
            <a:endParaRPr lang="en-US" sz="1300" dirty="0"/>
          </a:p>
        </p:txBody>
      </p:sp>
      <p:sp>
        <p:nvSpPr>
          <p:cNvPr id="23" name="Shape 20"/>
          <p:cNvSpPr/>
          <p:nvPr/>
        </p:nvSpPr>
        <p:spPr>
          <a:xfrm>
            <a:off x="6583680" y="2968142"/>
            <a:ext cx="1097280" cy="256032"/>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6583680" y="296814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5" name="Shape 22"/>
          <p:cNvSpPr/>
          <p:nvPr/>
        </p:nvSpPr>
        <p:spPr>
          <a:xfrm>
            <a:off x="457200" y="361005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685800" y="3886200"/>
            <a:ext cx="219456" cy="219456"/>
          </a:xfrm>
          <a:prstGeom prst="rect">
            <a:avLst/>
          </a:prstGeom>
          <a:solidFill>
            <a:srgbClr val="FFFFFF"/>
          </a:solidFill>
          <a:ln w="19050">
            <a:solidFill>
              <a:srgbClr val="C9780A"/>
            </a:solidFill>
            <a:prstDash val="solid"/>
          </a:ln>
        </p:spPr>
      </p:sp>
      <p:sp>
        <p:nvSpPr>
          <p:cNvPr id="27" name="Text 24"/>
          <p:cNvSpPr txBox="1"/>
          <p:nvPr/>
        </p:nvSpPr>
        <p:spPr>
          <a:xfrm>
            <a:off x="1097280" y="361005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The item after </a:t>
            </a:r>
            <a:pPr algn="l" indent="0" marL="0">
              <a:buNone/>
            </a:pPr>
            <a:r>
              <a:rPr lang="ar-SA" altLang="en-US" sz="1700" dirty="0">
                <a:solidFill>
                  <a:srgbClr val="1F2A37"/>
                </a:solidFill>
                <a:latin typeface="Amiri" pitchFamily="2" charset="-78"/>
                <a:ea typeface="Amiri" pitchFamily="2" charset="-78"/>
                <a:cs typeface="Amiri" pitchFamily="2" charset="-78"/>
              </a:rPr>
              <a:t>أُرِيدُ</a:t>
            </a:r>
            <a:pPr algn="l" indent="0" marL="0">
              <a:buNone/>
            </a:pPr>
            <a:r>
              <a:rPr lang="en-US" sz="1300" dirty="0">
                <a:solidFill>
                  <a:srgbClr val="1F2A37"/>
                </a:solidFill>
                <a:latin typeface="Calibri" pitchFamily="34" charset="0"/>
                <a:cs typeface="Amiri" pitchFamily="2" charset="-78"/>
              </a:rPr>
              <a:t> ends in -an.</a:t>
            </a:r>
            <a:endParaRPr lang="en-US" sz="1300" dirty="0"/>
          </a:p>
        </p:txBody>
      </p:sp>
      <p:sp>
        <p:nvSpPr>
          <p:cNvPr id="28" name="Shape 25"/>
          <p:cNvSpPr/>
          <p:nvPr/>
        </p:nvSpPr>
        <p:spPr>
          <a:xfrm>
            <a:off x="6583680" y="3867912"/>
            <a:ext cx="1097280" cy="256032"/>
          </a:xfrm>
          <a:prstGeom prst="roundRect">
            <a:avLst>
              <a:gd name="adj" fmla="val 50000"/>
            </a:avLst>
          </a:prstGeom>
          <a:solidFill>
            <a:srgbClr val="C9780A"/>
          </a:solidFill>
          <a:ln w="12700">
            <a:solidFill>
              <a:srgbClr val="C9780A"/>
            </a:solidFill>
            <a:prstDash val="solid"/>
          </a:ln>
        </p:spPr>
      </p:sp>
      <p:sp>
        <p:nvSpPr>
          <p:cNvPr id="29" name="Text 26"/>
          <p:cNvSpPr txBox="1"/>
          <p:nvPr/>
        </p:nvSpPr>
        <p:spPr>
          <a:xfrm>
            <a:off x="6583680" y="386791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0" name="Shape 27"/>
          <p:cNvSpPr/>
          <p:nvPr/>
        </p:nvSpPr>
        <p:spPr>
          <a:xfrm>
            <a:off x="457200" y="450982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85800" y="4785970"/>
            <a:ext cx="219456" cy="219456"/>
          </a:xfrm>
          <a:prstGeom prst="rect">
            <a:avLst/>
          </a:prstGeom>
          <a:solidFill>
            <a:srgbClr val="FFFFFF"/>
          </a:solidFill>
          <a:ln w="19050">
            <a:solidFill>
              <a:srgbClr val="C9780A"/>
            </a:solidFill>
            <a:prstDash val="solid"/>
          </a:ln>
        </p:spPr>
      </p:sp>
      <p:sp>
        <p:nvSpPr>
          <p:cNvPr id="32" name="Text 29"/>
          <p:cNvSpPr txBox="1"/>
          <p:nvPr/>
        </p:nvSpPr>
        <p:spPr>
          <a:xfrm>
            <a:off x="1097280" y="450982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answered the waiter’s question.</a:t>
            </a:r>
            <a:endParaRPr lang="en-US" sz="1300" dirty="0"/>
          </a:p>
        </p:txBody>
      </p:sp>
      <p:sp>
        <p:nvSpPr>
          <p:cNvPr id="33" name="Shape 30"/>
          <p:cNvSpPr/>
          <p:nvPr/>
        </p:nvSpPr>
        <p:spPr>
          <a:xfrm>
            <a:off x="6583680" y="4767682"/>
            <a:ext cx="1097280" cy="256032"/>
          </a:xfrm>
          <a:prstGeom prst="roundRect">
            <a:avLst>
              <a:gd name="adj" fmla="val 50000"/>
            </a:avLst>
          </a:prstGeom>
          <a:solidFill>
            <a:srgbClr val="C9780A"/>
          </a:solidFill>
          <a:ln w="12700">
            <a:solidFill>
              <a:srgbClr val="C9780A"/>
            </a:solidFill>
            <a:prstDash val="solid"/>
          </a:ln>
        </p:spPr>
      </p:sp>
      <p:sp>
        <p:nvSpPr>
          <p:cNvPr id="34" name="Text 31"/>
          <p:cNvSpPr txBox="1"/>
          <p:nvPr/>
        </p:nvSpPr>
        <p:spPr>
          <a:xfrm>
            <a:off x="6583680" y="476768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5" name="Shape 32"/>
          <p:cNvSpPr/>
          <p:nvPr/>
        </p:nvSpPr>
        <p:spPr>
          <a:xfrm>
            <a:off x="457200" y="5409590"/>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6" name="Shape 33"/>
          <p:cNvSpPr/>
          <p:nvPr/>
        </p:nvSpPr>
        <p:spPr>
          <a:xfrm>
            <a:off x="685800" y="5685739"/>
            <a:ext cx="219456" cy="219456"/>
          </a:xfrm>
          <a:prstGeom prst="rect">
            <a:avLst/>
          </a:prstGeom>
          <a:solidFill>
            <a:srgbClr val="FFFFFF"/>
          </a:solidFill>
          <a:ln w="19050">
            <a:solidFill>
              <a:srgbClr val="B83227"/>
            </a:solidFill>
            <a:prstDash val="solid"/>
          </a:ln>
        </p:spPr>
      </p:sp>
      <p:sp>
        <p:nvSpPr>
          <p:cNvPr id="37" name="Text 34"/>
          <p:cNvSpPr txBox="1"/>
          <p:nvPr/>
        </p:nvSpPr>
        <p:spPr>
          <a:xfrm>
            <a:off x="1097280" y="5409590"/>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handled a missing item without the model.</a:t>
            </a:r>
            <a:endParaRPr lang="en-US" sz="1300" dirty="0"/>
          </a:p>
        </p:txBody>
      </p:sp>
      <p:sp>
        <p:nvSpPr>
          <p:cNvPr id="38" name="Shape 35"/>
          <p:cNvSpPr/>
          <p:nvPr/>
        </p:nvSpPr>
        <p:spPr>
          <a:xfrm>
            <a:off x="6583680" y="5667451"/>
            <a:ext cx="1097280" cy="256032"/>
          </a:xfrm>
          <a:prstGeom prst="roundRect">
            <a:avLst>
              <a:gd name="adj" fmla="val 50000"/>
            </a:avLst>
          </a:prstGeom>
          <a:solidFill>
            <a:srgbClr val="B83227"/>
          </a:solidFill>
          <a:ln w="12700">
            <a:solidFill>
              <a:srgbClr val="B83227"/>
            </a:solidFill>
            <a:prstDash val="solid"/>
          </a:ln>
        </p:spPr>
      </p:sp>
      <p:sp>
        <p:nvSpPr>
          <p:cNvPr id="39" name="Text 36"/>
          <p:cNvSpPr txBox="1"/>
          <p:nvPr/>
        </p:nvSpPr>
        <p:spPr>
          <a:xfrm>
            <a:off x="6583680" y="5667451"/>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40" name="Shape 37"/>
          <p:cNvSpPr/>
          <p:nvPr/>
        </p:nvSpPr>
        <p:spPr>
          <a:xfrm>
            <a:off x="8092440" y="1810512"/>
            <a:ext cx="3639312" cy="2084832"/>
          </a:xfrm>
          <a:prstGeom prst="roundRect">
            <a:avLst>
              <a:gd name="adj" fmla="val 3509"/>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41" name="Text 38"/>
          <p:cNvSpPr txBox="1"/>
          <p:nvPr/>
        </p:nvSpPr>
        <p:spPr>
          <a:xfrm>
            <a:off x="8275320" y="1920240"/>
            <a:ext cx="3273552" cy="1828800"/>
          </a:xfrm>
          <a:prstGeom prst="rect">
            <a:avLst/>
          </a:prstGeom>
          <a:noFill/>
          <a:ln/>
        </p:spPr>
        <p:txBody>
          <a:bodyPr wrap="square" lIns="0" tIns="0" rIns="0" bIns="0" rtlCol="0" anchor="ctr"/>
          <a:lstStyle/>
          <a:p>
            <a:pPr indent="0" marL="0">
              <a:buNone/>
            </a:pPr>
            <a:r>
              <a:rPr lang="en-US" sz="1800" b="1" dirty="0">
                <a:solidFill>
                  <a:srgbClr val="2E8B57"/>
                </a:solidFill>
                <a:latin typeface="Calibri" pitchFamily="34" charset="0"/>
                <a:cs typeface="Amiri" pitchFamily="2" charset="-78"/>
              </a:rPr>
              <a:t>WWW</a:t>
            </a:r>
            <a:endParaRPr lang="en-US" sz="1800" dirty="0"/>
          </a:p>
          <a:p>
            <a:pPr indent="0" marL="0">
              <a:buNone/>
            </a:pPr>
            <a:r>
              <a:rPr lang="en-US" sz="1200" dirty="0">
                <a:solidFill>
                  <a:srgbClr val="1F2A37"/>
                </a:solidFill>
                <a:latin typeface="Calibri" pitchFamily="34" charset="0"/>
                <a:cs typeface="Amiri" pitchFamily="2" charset="-78"/>
              </a:rPr>
              <a:t>What went well? One thing you did accurately.</a:t>
            </a:r>
            <a:endParaRPr lang="en-US" sz="1800" dirty="0"/>
          </a:p>
        </p:txBody>
      </p:sp>
      <p:sp>
        <p:nvSpPr>
          <p:cNvPr id="42" name="Shape 39"/>
          <p:cNvSpPr/>
          <p:nvPr/>
        </p:nvSpPr>
        <p:spPr>
          <a:xfrm>
            <a:off x="8092440" y="4041648"/>
            <a:ext cx="3639312" cy="2084832"/>
          </a:xfrm>
          <a:prstGeom prst="roundRect">
            <a:avLst>
              <a:gd name="adj" fmla="val 3509"/>
            </a:avLst>
          </a:prstGeom>
          <a:solidFill>
            <a:srgbClr val="FFF4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43" name="Text 40"/>
          <p:cNvSpPr txBox="1"/>
          <p:nvPr/>
        </p:nvSpPr>
        <p:spPr>
          <a:xfrm>
            <a:off x="8275320" y="4151376"/>
            <a:ext cx="3273552" cy="1828800"/>
          </a:xfrm>
          <a:prstGeom prst="rect">
            <a:avLst/>
          </a:prstGeom>
          <a:noFill/>
          <a:ln/>
        </p:spPr>
        <p:txBody>
          <a:bodyPr wrap="square" lIns="0" tIns="0" rIns="0" bIns="0" rtlCol="0" anchor="ctr"/>
          <a:lstStyle/>
          <a:p>
            <a:pPr indent="0" marL="0">
              <a:buNone/>
            </a:pPr>
            <a:r>
              <a:rPr lang="en-US" sz="1800" b="1" dirty="0">
                <a:solidFill>
                  <a:srgbClr val="C9780A"/>
                </a:solidFill>
                <a:latin typeface="Calibri" pitchFamily="34" charset="0"/>
                <a:cs typeface="Amiri" pitchFamily="2" charset="-78"/>
              </a:rPr>
              <a:t>EBI</a:t>
            </a:r>
            <a:endParaRPr lang="en-US" sz="1800" dirty="0"/>
          </a:p>
          <a:p>
            <a:pPr indent="0" marL="0">
              <a:buNone/>
            </a:pPr>
            <a:r>
              <a:rPr lang="en-US" sz="1200" dirty="0">
                <a:solidFill>
                  <a:srgbClr val="1F2A37"/>
                </a:solidFill>
                <a:latin typeface="Calibri" pitchFamily="34" charset="0"/>
                <a:cs typeface="Amiri" pitchFamily="2" charset="-78"/>
              </a:rPr>
              <a:t>Even better if… One thing you will fix or add.</a:t>
            </a:r>
            <a:endParaRPr lang="en-US" sz="180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36 / 43</a:t>
            </a:r>
            <a:endParaRPr lang="en-US" sz="85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F5-L05 · Ordering Politely</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EXIT TICKET · ON YOUR OWN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Exit ticket: three questions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تَذْكِرَةُ الخُرُوجِ</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F5 · Food, Health and Body · F5-L05</a:t>
            </a:r>
            <a:endParaRPr lang="en-US" sz="850" dirty="0"/>
          </a:p>
        </p:txBody>
      </p:sp>
      <p:sp>
        <p:nvSpPr>
          <p:cNvPr id="15" name="Shape 12"/>
          <p:cNvSpPr/>
          <p:nvPr/>
        </p:nvSpPr>
        <p:spPr>
          <a:xfrm>
            <a:off x="457200"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ea typeface="Amiri" pitchFamily="2" charset="-78"/>
                <a:cs typeface="Amiri" pitchFamily="2" charset="-78"/>
              </a:rPr>
              <a:t>الحِسَابُ</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bill</a:t>
            </a:r>
            <a:endParaRPr lang="en-US" sz="12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menu</a:t>
            </a:r>
            <a:endParaRPr lang="en-US" sz="12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table</a:t>
            </a:r>
            <a:endParaRPr lang="en-US" sz="1250" dirty="0"/>
          </a:p>
        </p:txBody>
      </p:sp>
      <p:sp>
        <p:nvSpPr>
          <p:cNvPr id="28" name="Shape 25"/>
          <p:cNvSpPr/>
          <p:nvPr/>
        </p:nvSpPr>
        <p:spPr>
          <a:xfrm>
            <a:off x="4276344"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Complete: </a:t>
            </a:r>
            <a:pPr algn="l" indent="0" marL="0">
              <a:buNone/>
            </a:pPr>
            <a:r>
              <a:rPr lang="ar-SA" altLang="en-US" sz="1650" b="1" dirty="0">
                <a:solidFill>
                  <a:srgbClr val="1B3B6F"/>
                </a:solidFill>
                <a:latin typeface="Amiri" pitchFamily="2" charset="-78"/>
                <a:ea typeface="Amiri" pitchFamily="2" charset="-78"/>
                <a:cs typeface="Amiri" pitchFamily="2" charset="-78"/>
              </a:rPr>
              <a:t>هَلْ</a:t>
            </a:r>
            <a:pPr algn="l" indent="0" marL="0">
              <a:buNone/>
            </a:pPr>
            <a:r>
              <a:rPr lang="en-US" sz="1250" b="1" dirty="0">
                <a:solidFill>
                  <a:srgbClr val="1B3B6F"/>
                </a:solidFill>
                <a:latin typeface="Calibri" pitchFamily="34" charset="0"/>
                <a:cs typeface="Amiri" pitchFamily="2" charset="-78"/>
              </a:rPr>
              <a:t> ___ </a:t>
            </a:r>
            <a:pPr algn="l" indent="0" marL="0">
              <a:buNone/>
            </a:pPr>
            <a:r>
              <a:rPr lang="ar-SA" altLang="en-US" sz="1650" b="1" dirty="0">
                <a:solidFill>
                  <a:srgbClr val="1B3B6F"/>
                </a:solidFill>
                <a:latin typeface="Amiri" pitchFamily="2" charset="-78"/>
                <a:ea typeface="Amiri" pitchFamily="2" charset="-78"/>
                <a:cs typeface="Amiri" pitchFamily="2" charset="-78"/>
              </a:rPr>
              <a:t>طَعَامٌ نَبَاتِيٌّ؟</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مَعَكُمْ</a:t>
            </a:r>
            <a:endParaRPr lang="ar-SA" sz="20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عِنْدَكُمْ</a:t>
            </a:r>
            <a:endParaRPr lang="ar-SA" sz="20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فِيكُمْ</a:t>
            </a:r>
            <a:endParaRPr lang="ar-SA" sz="2050" dirty="0"/>
          </a:p>
        </p:txBody>
      </p:sp>
      <p:sp>
        <p:nvSpPr>
          <p:cNvPr id="41" name="Shape 38"/>
          <p:cNvSpPr/>
          <p:nvPr/>
        </p:nvSpPr>
        <p:spPr>
          <a:xfrm>
            <a:off x="8095488"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asks what a female wants?</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مَاذَا تُرِيدِينَ؟</a:t>
            </a:r>
            <a:endParaRPr lang="ar-SA" sz="20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مَاذَا تُرِيدُ؟</a:t>
            </a:r>
            <a:endParaRPr lang="ar-SA" sz="20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مَاذَا يُرِيدُ؟</a:t>
            </a:r>
            <a:endParaRPr lang="ar-SA" sz="2050" dirty="0"/>
          </a:p>
        </p:txBody>
      </p:sp>
      <p:sp>
        <p:nvSpPr>
          <p:cNvPr id="54" name="Shape 51"/>
          <p:cNvSpPr/>
          <p:nvPr/>
        </p:nvSpPr>
        <p:spPr>
          <a:xfrm>
            <a:off x="457200" y="5532120"/>
            <a:ext cx="11274552" cy="777240"/>
          </a:xfrm>
          <a:prstGeom prst="roundRect">
            <a:avLst>
              <a:gd name="adj" fmla="val 9412"/>
            </a:avLst>
          </a:prstGeom>
          <a:solidFill>
            <a:srgbClr val="FFF7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55" name="Text 52"/>
          <p:cNvSpPr txBox="1"/>
          <p:nvPr/>
        </p:nvSpPr>
        <p:spPr>
          <a:xfrm>
            <a:off x="685800" y="5577840"/>
            <a:ext cx="2830068" cy="685800"/>
          </a:xfrm>
          <a:prstGeom prst="rect">
            <a:avLst/>
          </a:prstGeom>
          <a:noFill/>
          <a:ln/>
        </p:spPr>
        <p:txBody>
          <a:bodyPr wrap="square" lIns="0" tIns="0" rIns="0" bIns="0" rtlCol="0" anchor="ctr"/>
          <a:lstStyle/>
          <a:p>
            <a:pPr algn="l" indent="0" marL="0">
              <a:buNone/>
            </a:pPr>
            <a:r>
              <a:rPr lang="en-US" sz="1200" b="1" spc="100" kern="0" dirty="0">
                <a:solidFill>
                  <a:srgbClr val="8A6D1E"/>
                </a:solidFill>
                <a:latin typeface="Calibri" pitchFamily="34" charset="0"/>
                <a:cs typeface="Amiri" pitchFamily="2" charset="-78"/>
              </a:rPr>
              <a:t>ON YOUR OWN · 2 MINUTES</a:t>
            </a:r>
            <a:endParaRPr lang="en-US" sz="1200" dirty="0"/>
          </a:p>
        </p:txBody>
      </p:sp>
      <p:sp>
        <p:nvSpPr>
          <p:cNvPr id="56" name="Text 53"/>
          <p:cNvSpPr txBox="1"/>
          <p:nvPr/>
        </p:nvSpPr>
        <p:spPr>
          <a:xfrm>
            <a:off x="3515868" y="5577840"/>
            <a:ext cx="8051292" cy="6858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Answer silently. When the timer ends, type your three letters in the chat: 1_ 2_ 3_. The other end-of-lesson questions are on the website.</a:t>
            </a:r>
            <a:endParaRPr lang="en-US" sz="1250" dirty="0"/>
          </a:p>
        </p:txBody>
      </p:sp>
      <p:sp>
        <p:nvSpPr>
          <p:cNvPr id="57" name="Text 5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37 / 43</a:t>
            </a:r>
            <a:endParaRPr lang="en-US" sz="85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F5-L05 · Ordering Politely</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EXIT TICKET ·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Exit ticket: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إِجَابَاتُ تَذْكِرَةِ الخُرُوجِ</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F5 · Food, Health and Body · F5-L05</a:t>
            </a:r>
            <a:endParaRPr lang="en-US" sz="850" dirty="0"/>
          </a:p>
        </p:txBody>
      </p:sp>
      <p:sp>
        <p:nvSpPr>
          <p:cNvPr id="15" name="Shape 12"/>
          <p:cNvSpPr/>
          <p:nvPr/>
        </p:nvSpPr>
        <p:spPr>
          <a:xfrm>
            <a:off x="457200"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ea typeface="Amiri" pitchFamily="2" charset="-78"/>
                <a:cs typeface="Amiri" pitchFamily="2" charset="-78"/>
              </a:rPr>
              <a:t>الحِسَابُ</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19" name="Shape 16"/>
          <p:cNvSpPr/>
          <p:nvPr/>
        </p:nvSpPr>
        <p:spPr>
          <a:xfrm>
            <a:off x="548640" y="2496312"/>
            <a:ext cx="3453384" cy="347472"/>
          </a:xfrm>
          <a:prstGeom prst="roundRect">
            <a:avLst>
              <a:gd name="adj" fmla="val 15789"/>
            </a:avLst>
          </a:prstGeom>
          <a:solidFill>
            <a:srgbClr val="E6F4EC"/>
          </a:solidFill>
          <a:ln w="9525">
            <a:solidFill>
              <a:srgbClr val="2E8B57"/>
            </a:solidFill>
            <a:prstDash val="solid"/>
          </a:ln>
        </p:spPr>
      </p:sp>
      <p:sp>
        <p:nvSpPr>
          <p:cNvPr id="20" name="Shape 17"/>
          <p:cNvSpPr/>
          <p:nvPr/>
        </p:nvSpPr>
        <p:spPr>
          <a:xfrm>
            <a:off x="640080" y="2532888"/>
            <a:ext cx="256032" cy="256032"/>
          </a:xfrm>
          <a:prstGeom prst="ellipse">
            <a:avLst/>
          </a:prstGeom>
          <a:solidFill>
            <a:srgbClr val="2E8B57"/>
          </a:solidFill>
          <a:ln w="12700">
            <a:solidFill>
              <a:srgbClr val="2E8B57"/>
            </a:solidFill>
            <a:prstDash val="solid"/>
          </a:ln>
        </p:spPr>
      </p:sp>
      <p:sp>
        <p:nvSpPr>
          <p:cNvPr id="21" name="Text 18"/>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22" name="Text 19"/>
          <p:cNvSpPr txBox="1"/>
          <p:nvPr/>
        </p:nvSpPr>
        <p:spPr>
          <a:xfrm>
            <a:off x="969264" y="2432304"/>
            <a:ext cx="2977896" cy="457200"/>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bill</a:t>
            </a:r>
            <a:endParaRPr lang="en-US" sz="1250" dirty="0"/>
          </a:p>
        </p:txBody>
      </p:sp>
      <p:sp>
        <p:nvSpPr>
          <p:cNvPr id="23" name="Shape 20"/>
          <p:cNvSpPr/>
          <p:nvPr/>
        </p:nvSpPr>
        <p:spPr>
          <a:xfrm>
            <a:off x="640080" y="2990088"/>
            <a:ext cx="256032" cy="256032"/>
          </a:xfrm>
          <a:prstGeom prst="ellipse">
            <a:avLst/>
          </a:prstGeom>
          <a:solidFill>
            <a:srgbClr val="C9CED6"/>
          </a:solidFill>
          <a:ln w="12700">
            <a:solidFill>
              <a:srgbClr val="C9CED6"/>
            </a:solidFill>
            <a:prstDash val="solid"/>
          </a:ln>
        </p:spPr>
      </p:sp>
      <p:sp>
        <p:nvSpPr>
          <p:cNvPr id="24" name="Text 21"/>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5" name="Text 22"/>
          <p:cNvSpPr txBox="1"/>
          <p:nvPr/>
        </p:nvSpPr>
        <p:spPr>
          <a:xfrm>
            <a:off x="969264" y="2889504"/>
            <a:ext cx="2977896" cy="457200"/>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menu</a:t>
            </a:r>
            <a:endParaRPr lang="en-US" sz="1250" dirty="0"/>
          </a:p>
        </p:txBody>
      </p:sp>
      <p:sp>
        <p:nvSpPr>
          <p:cNvPr id="26" name="Shape 23"/>
          <p:cNvSpPr/>
          <p:nvPr/>
        </p:nvSpPr>
        <p:spPr>
          <a:xfrm>
            <a:off x="640080" y="344728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346704"/>
            <a:ext cx="2977896" cy="457200"/>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table</a:t>
            </a:r>
            <a:endParaRPr lang="en-US" sz="1250" dirty="0"/>
          </a:p>
        </p:txBody>
      </p:sp>
      <p:sp>
        <p:nvSpPr>
          <p:cNvPr id="29" name="Text 26"/>
          <p:cNvSpPr txBox="1"/>
          <p:nvPr/>
        </p:nvSpPr>
        <p:spPr>
          <a:xfrm>
            <a:off x="585216" y="4946904"/>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الحِسَابُ</a:t>
            </a:r>
            <a:pPr algn="l" indent="0" marL="0">
              <a:buNone/>
            </a:pPr>
            <a:r>
              <a:rPr lang="en-US" sz="1050" i="1" dirty="0">
                <a:solidFill>
                  <a:srgbClr val="8A6D1E"/>
                </a:solidFill>
                <a:latin typeface="Calibri" pitchFamily="34" charset="0"/>
                <a:cs typeface="Amiri" pitchFamily="2" charset="-78"/>
              </a:rPr>
              <a:t> is the bill.</a:t>
            </a:r>
            <a:endParaRPr lang="en-US" sz="1050" dirty="0"/>
          </a:p>
        </p:txBody>
      </p:sp>
      <p:sp>
        <p:nvSpPr>
          <p:cNvPr id="30" name="Shape 27"/>
          <p:cNvSpPr/>
          <p:nvPr/>
        </p:nvSpPr>
        <p:spPr>
          <a:xfrm>
            <a:off x="4276344"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Complete: </a:t>
            </a:r>
            <a:pPr algn="l" indent="0" marL="0">
              <a:buNone/>
            </a:pPr>
            <a:r>
              <a:rPr lang="ar-SA" altLang="en-US" sz="1650" b="1" dirty="0">
                <a:solidFill>
                  <a:srgbClr val="1B3B6F"/>
                </a:solidFill>
                <a:latin typeface="Amiri" pitchFamily="2" charset="-78"/>
                <a:ea typeface="Amiri" pitchFamily="2" charset="-78"/>
                <a:cs typeface="Amiri" pitchFamily="2" charset="-78"/>
              </a:rPr>
              <a:t>هَلْ</a:t>
            </a:r>
            <a:pPr algn="l" indent="0" marL="0">
              <a:buNone/>
            </a:pPr>
            <a:r>
              <a:rPr lang="en-US" sz="1250" b="1" dirty="0">
                <a:solidFill>
                  <a:srgbClr val="1B3B6F"/>
                </a:solidFill>
                <a:latin typeface="Calibri" pitchFamily="34" charset="0"/>
                <a:cs typeface="Amiri" pitchFamily="2" charset="-78"/>
              </a:rPr>
              <a:t> ___ </a:t>
            </a:r>
            <a:pPr algn="l" indent="0" marL="0">
              <a:buNone/>
            </a:pPr>
            <a:r>
              <a:rPr lang="ar-SA" altLang="en-US" sz="1650" b="1" dirty="0">
                <a:solidFill>
                  <a:srgbClr val="1B3B6F"/>
                </a:solidFill>
                <a:latin typeface="Amiri" pitchFamily="2" charset="-78"/>
                <a:ea typeface="Amiri" pitchFamily="2" charset="-78"/>
                <a:cs typeface="Amiri" pitchFamily="2" charset="-78"/>
              </a:rPr>
              <a:t>طَعَامٌ نَبَاتِيٌّ؟</a:t>
            </a:r>
            <a:endParaRPr lang="en-US" sz="1250" dirty="0"/>
          </a:p>
        </p:txBody>
      </p:sp>
      <p:sp>
        <p:nvSpPr>
          <p:cNvPr id="34" name="Shape 31"/>
          <p:cNvSpPr/>
          <p:nvPr/>
        </p:nvSpPr>
        <p:spPr>
          <a:xfrm>
            <a:off x="4459224" y="2532888"/>
            <a:ext cx="256032" cy="256032"/>
          </a:xfrm>
          <a:prstGeom prst="ellipse">
            <a:avLst/>
          </a:prstGeom>
          <a:solidFill>
            <a:srgbClr val="C9CED6"/>
          </a:solidFill>
          <a:ln w="12700">
            <a:solidFill>
              <a:srgbClr val="C9CED6"/>
            </a:solidFill>
            <a:prstDash val="solid"/>
          </a:ln>
        </p:spPr>
      </p:sp>
      <p:sp>
        <p:nvSpPr>
          <p:cNvPr id="35" name="Text 32"/>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مَعَكُمْ</a:t>
            </a:r>
            <a:endParaRPr lang="ar-SA" sz="2050" dirty="0"/>
          </a:p>
        </p:txBody>
      </p:sp>
      <p:sp>
        <p:nvSpPr>
          <p:cNvPr id="37" name="Shape 34"/>
          <p:cNvSpPr/>
          <p:nvPr/>
        </p:nvSpPr>
        <p:spPr>
          <a:xfrm>
            <a:off x="4367784" y="2953512"/>
            <a:ext cx="3453384" cy="347472"/>
          </a:xfrm>
          <a:prstGeom prst="roundRect">
            <a:avLst>
              <a:gd name="adj" fmla="val 15789"/>
            </a:avLst>
          </a:prstGeom>
          <a:solidFill>
            <a:srgbClr val="E6F4EC"/>
          </a:solidFill>
          <a:ln w="9525">
            <a:solidFill>
              <a:srgbClr val="2E8B57"/>
            </a:solidFill>
            <a:prstDash val="solid"/>
          </a:ln>
        </p:spPr>
      </p:sp>
      <p:sp>
        <p:nvSpPr>
          <p:cNvPr id="38" name="Shape 35"/>
          <p:cNvSpPr/>
          <p:nvPr/>
        </p:nvSpPr>
        <p:spPr>
          <a:xfrm>
            <a:off x="4459224" y="2990088"/>
            <a:ext cx="256032" cy="256032"/>
          </a:xfrm>
          <a:prstGeom prst="ellipse">
            <a:avLst/>
          </a:prstGeom>
          <a:solidFill>
            <a:srgbClr val="2E8B57"/>
          </a:solidFill>
          <a:ln w="12700">
            <a:solidFill>
              <a:srgbClr val="2E8B57"/>
            </a:solidFill>
            <a:prstDash val="solid"/>
          </a:ln>
        </p:spPr>
      </p:sp>
      <p:sp>
        <p:nvSpPr>
          <p:cNvPr id="39" name="Text 36"/>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40" name="Text 37"/>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b="1" dirty="0">
                <a:solidFill>
                  <a:srgbClr val="1F2A37"/>
                </a:solidFill>
                <a:latin typeface="Amiri" pitchFamily="2" charset="-78"/>
                <a:ea typeface="Amiri" pitchFamily="2" charset="-78"/>
                <a:cs typeface="Amiri" pitchFamily="2" charset="-78"/>
              </a:rPr>
              <a:t>عِنْدَكُمْ</a:t>
            </a:r>
            <a:endParaRPr lang="ar-SA" sz="2050" dirty="0"/>
          </a:p>
        </p:txBody>
      </p:sp>
      <p:sp>
        <p:nvSpPr>
          <p:cNvPr id="41" name="Shape 38"/>
          <p:cNvSpPr/>
          <p:nvPr/>
        </p:nvSpPr>
        <p:spPr>
          <a:xfrm>
            <a:off x="4459224" y="344728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فِيكُمْ</a:t>
            </a:r>
            <a:endParaRPr lang="ar-SA" sz="2050" dirty="0"/>
          </a:p>
        </p:txBody>
      </p:sp>
      <p:sp>
        <p:nvSpPr>
          <p:cNvPr id="44" name="Text 41"/>
          <p:cNvSpPr txBox="1"/>
          <p:nvPr/>
        </p:nvSpPr>
        <p:spPr>
          <a:xfrm>
            <a:off x="4404360" y="4946904"/>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هَلْ عِنْدَكُمْ</a:t>
            </a:r>
            <a:pPr algn="l" indent="0" marL="0">
              <a:buNone/>
            </a:pPr>
            <a:r>
              <a:rPr lang="en-US" sz="1050" i="1" dirty="0">
                <a:solidFill>
                  <a:srgbClr val="8A6D1E"/>
                </a:solidFill>
                <a:latin typeface="Calibri" pitchFamily="34" charset="0"/>
                <a:cs typeface="Amiri" pitchFamily="2" charset="-78"/>
              </a:rPr>
              <a:t> asks whether the restaurant has it.</a:t>
            </a:r>
            <a:endParaRPr lang="en-US" sz="1050" dirty="0"/>
          </a:p>
        </p:txBody>
      </p:sp>
      <p:sp>
        <p:nvSpPr>
          <p:cNvPr id="45" name="Shape 42"/>
          <p:cNvSpPr/>
          <p:nvPr/>
        </p:nvSpPr>
        <p:spPr>
          <a:xfrm>
            <a:off x="8095488"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asks what a female wants?</a:t>
            </a:r>
            <a:endParaRPr lang="en-US" sz="1250" dirty="0"/>
          </a:p>
        </p:txBody>
      </p:sp>
      <p:sp>
        <p:nvSpPr>
          <p:cNvPr id="49" name="Shape 46"/>
          <p:cNvSpPr/>
          <p:nvPr/>
        </p:nvSpPr>
        <p:spPr>
          <a:xfrm>
            <a:off x="8186928" y="2496312"/>
            <a:ext cx="3453384" cy="347472"/>
          </a:xfrm>
          <a:prstGeom prst="roundRect">
            <a:avLst>
              <a:gd name="adj" fmla="val 15789"/>
            </a:avLst>
          </a:prstGeom>
          <a:solidFill>
            <a:srgbClr val="E6F4EC"/>
          </a:solidFill>
          <a:ln w="9525">
            <a:solidFill>
              <a:srgbClr val="2E8B57"/>
            </a:solidFill>
            <a:prstDash val="solid"/>
          </a:ln>
        </p:spPr>
      </p:sp>
      <p:sp>
        <p:nvSpPr>
          <p:cNvPr id="50" name="Shape 47"/>
          <p:cNvSpPr/>
          <p:nvPr/>
        </p:nvSpPr>
        <p:spPr>
          <a:xfrm>
            <a:off x="8278368" y="2532888"/>
            <a:ext cx="256032" cy="256032"/>
          </a:xfrm>
          <a:prstGeom prst="ellipse">
            <a:avLst/>
          </a:prstGeom>
          <a:solidFill>
            <a:srgbClr val="2E8B57"/>
          </a:solidFill>
          <a:ln w="12700">
            <a:solidFill>
              <a:srgbClr val="2E8B57"/>
            </a:solidFill>
            <a:prstDash val="solid"/>
          </a:ln>
        </p:spPr>
      </p:sp>
      <p:sp>
        <p:nvSpPr>
          <p:cNvPr id="51" name="Text 48"/>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52" name="Text 49"/>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b="1" dirty="0">
                <a:solidFill>
                  <a:srgbClr val="1F2A37"/>
                </a:solidFill>
                <a:latin typeface="Amiri" pitchFamily="2" charset="-78"/>
                <a:ea typeface="Amiri" pitchFamily="2" charset="-78"/>
                <a:cs typeface="Amiri" pitchFamily="2" charset="-78"/>
              </a:rPr>
              <a:t>مَاذَا تُرِيدِينَ؟</a:t>
            </a:r>
            <a:endParaRPr lang="ar-SA" sz="2050" dirty="0"/>
          </a:p>
        </p:txBody>
      </p:sp>
      <p:sp>
        <p:nvSpPr>
          <p:cNvPr id="53" name="Shape 50"/>
          <p:cNvSpPr/>
          <p:nvPr/>
        </p:nvSpPr>
        <p:spPr>
          <a:xfrm>
            <a:off x="8278368" y="2990088"/>
            <a:ext cx="256032" cy="256032"/>
          </a:xfrm>
          <a:prstGeom prst="ellipse">
            <a:avLst/>
          </a:prstGeom>
          <a:solidFill>
            <a:srgbClr val="C9CED6"/>
          </a:solidFill>
          <a:ln w="12700">
            <a:solidFill>
              <a:srgbClr val="C9CED6"/>
            </a:solidFill>
            <a:prstDash val="solid"/>
          </a:ln>
        </p:spPr>
      </p:sp>
      <p:sp>
        <p:nvSpPr>
          <p:cNvPr id="54" name="Text 51"/>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5" name="Text 52"/>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مَاذَا تُرِيدُ؟</a:t>
            </a:r>
            <a:endParaRPr lang="ar-SA" sz="2050" dirty="0"/>
          </a:p>
        </p:txBody>
      </p:sp>
      <p:sp>
        <p:nvSpPr>
          <p:cNvPr id="56" name="Shape 53"/>
          <p:cNvSpPr/>
          <p:nvPr/>
        </p:nvSpPr>
        <p:spPr>
          <a:xfrm>
            <a:off x="8278368" y="3447288"/>
            <a:ext cx="256032" cy="256032"/>
          </a:xfrm>
          <a:prstGeom prst="ellipse">
            <a:avLst/>
          </a:prstGeom>
          <a:solidFill>
            <a:srgbClr val="C9CED6"/>
          </a:solidFill>
          <a:ln w="12700">
            <a:solidFill>
              <a:srgbClr val="C9CED6"/>
            </a:solidFill>
            <a:prstDash val="solid"/>
          </a:ln>
        </p:spPr>
      </p:sp>
      <p:sp>
        <p:nvSpPr>
          <p:cNvPr id="57" name="Text 54"/>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8" name="Text 55"/>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مَاذَا يُرِيدُ؟</a:t>
            </a:r>
            <a:endParaRPr lang="ar-SA" sz="2050" dirty="0"/>
          </a:p>
        </p:txBody>
      </p:sp>
      <p:sp>
        <p:nvSpPr>
          <p:cNvPr id="59" name="Text 56"/>
          <p:cNvSpPr txBox="1"/>
          <p:nvPr/>
        </p:nvSpPr>
        <p:spPr>
          <a:xfrm>
            <a:off x="8223504" y="494690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Female addressee: </a:t>
            </a:r>
            <a:pPr algn="l" indent="0" marL="0">
              <a:buNone/>
            </a:pPr>
            <a:r>
              <a:rPr lang="ar-SA" altLang="en-US" sz="1350" dirty="0">
                <a:solidFill>
                  <a:srgbClr val="8A6D1E"/>
                </a:solidFill>
                <a:latin typeface="Amiri" pitchFamily="2" charset="-78"/>
                <a:ea typeface="Amiri" pitchFamily="2" charset="-78"/>
                <a:cs typeface="Amiri" pitchFamily="2" charset="-78"/>
              </a:rPr>
              <a:t>تُرِيدِينَ</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60" name="Shape 57"/>
          <p:cNvSpPr/>
          <p:nvPr/>
        </p:nvSpPr>
        <p:spPr>
          <a:xfrm>
            <a:off x="457200" y="5532120"/>
            <a:ext cx="11274552" cy="777240"/>
          </a:xfrm>
          <a:prstGeom prst="roundRect">
            <a:avLst>
              <a:gd name="adj" fmla="val 9412"/>
            </a:avLst>
          </a:prstGeom>
          <a:solidFill>
            <a:srgbClr val="EEF3FA"/>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61" name="Text 58"/>
          <p:cNvSpPr txBox="1"/>
          <p:nvPr/>
        </p:nvSpPr>
        <p:spPr>
          <a:xfrm>
            <a:off x="685800" y="5577840"/>
            <a:ext cx="937260" cy="685800"/>
          </a:xfrm>
          <a:prstGeom prst="rect">
            <a:avLst/>
          </a:prstGeom>
          <a:noFill/>
          <a:ln/>
        </p:spPr>
        <p:txBody>
          <a:bodyPr wrap="square" lIns="0" tIns="0" rIns="0" bIns="0" rtlCol="0" anchor="ctr"/>
          <a:lstStyle/>
          <a:p>
            <a:pPr algn="l" indent="0" marL="0">
              <a:buNone/>
            </a:pPr>
            <a:r>
              <a:rPr lang="en-US" sz="1200" b="1" spc="100" kern="0" dirty="0">
                <a:solidFill>
                  <a:srgbClr val="1B3B6F"/>
                </a:solidFill>
                <a:latin typeface="Calibri" pitchFamily="34" charset="0"/>
                <a:cs typeface="Amiri" pitchFamily="2" charset="-78"/>
              </a:rPr>
              <a:t>SCORE</a:t>
            </a:r>
            <a:endParaRPr lang="en-US" sz="1200" dirty="0"/>
          </a:p>
        </p:txBody>
      </p:sp>
      <p:sp>
        <p:nvSpPr>
          <p:cNvPr id="62" name="Text 59"/>
          <p:cNvSpPr txBox="1"/>
          <p:nvPr/>
        </p:nvSpPr>
        <p:spPr>
          <a:xfrm>
            <a:off x="1623060" y="5577840"/>
            <a:ext cx="9944100" cy="6858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3/3 → aim for Stretch next lesson  ·  2/3 → Develop  ·  0–1 → Core route and a quick check-in during the next Do Now.</a:t>
            </a:r>
            <a:endParaRPr lang="en-US" sz="1250" dirty="0"/>
          </a:p>
        </p:txBody>
      </p:sp>
      <p:sp>
        <p:nvSpPr>
          <p:cNvPr id="63" name="Text 6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38 / 43</a:t>
            </a:r>
            <a:endParaRPr lang="en-US" sz="85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F5-L05 · Ordering Politely</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EXTENSION · FAST FINISHERS OR HOMEWORK (STRETCH)</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Menu notice</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القِرَاءَةُ</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F5 · Food, Health and Body · F5-L05</a:t>
            </a:r>
            <a:endParaRPr lang="en-US" sz="850" dirty="0"/>
          </a:p>
        </p:txBody>
      </p:sp>
      <p:sp>
        <p:nvSpPr>
          <p:cNvPr id="17" name="Shape 14"/>
          <p:cNvSpPr/>
          <p:nvPr/>
        </p:nvSpPr>
        <p:spPr>
          <a:xfrm>
            <a:off x="457200" y="1810512"/>
            <a:ext cx="807415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Text 15"/>
          <p:cNvSpPr txBox="1"/>
          <p:nvPr/>
        </p:nvSpPr>
        <p:spPr>
          <a:xfrm>
            <a:off x="685800" y="1965960"/>
            <a:ext cx="7616952" cy="4206240"/>
          </a:xfrm>
          <a:prstGeom prst="rect">
            <a:avLst/>
          </a:prstGeom>
          <a:noFill/>
          <a:ln/>
        </p:spPr>
        <p:txBody>
          <a:bodyPr wrap="square" lIns="0" tIns="0" rIns="0" bIns="0" rtlCol="0" anchor="t"/>
          <a:lstStyle/>
          <a:p>
            <a:pPr rtl="1" algn="r" indent="0" marL="0">
              <a:lnSpc>
                <a:spcPct val="120000"/>
              </a:lnSpc>
              <a:buNone/>
            </a:pPr>
            <a:r>
              <a:rPr lang="ar-SA" altLang="en-US" sz="2600" dirty="0">
                <a:solidFill>
                  <a:srgbClr val="1F2A37"/>
                </a:solidFill>
                <a:latin typeface="Amiri" pitchFamily="2" charset="-78"/>
                <a:ea typeface="Amiri" pitchFamily="2" charset="-78"/>
                <a:cs typeface="Amiri" pitchFamily="2" charset="-78"/>
              </a:rPr>
              <a:t>مَرْحَبًا بِكُمْ فِي مَقْهَى الزَّهْرَاءِ. نُقَدِّمُ الفُطُورَ مِنَ السَّاعَةِ السَّابِعَةِ إِلَى الحَادِيَةَ عَشْرَةَ. عِنْدَنَا خُبْزٌ وَجُبْنٌ وَبَيْضٌ، وَنُقَدِّمُ أَيْضًا حَسَاءَ العَدَسِ وَسَلَطَةً نَبَاتِيَّةً. لَا يُوجَدُ سَمَكٌ اليَوْمَ. المَشْرُوبَاتُ: شَايٌ، قَهْوَةٌ، حَلِيبٌ، مَاءٌ وَعَصِيرٌ. اُطْلُبُوا عِنْدَ الطَّاوِلَةِ، وَادْفَعُوا عِنْدَ البَابِ.</a:t>
            </a:r>
            <a:endParaRPr lang="ar-SA" sz="2600" dirty="0"/>
          </a:p>
        </p:txBody>
      </p:sp>
      <p:sp>
        <p:nvSpPr>
          <p:cNvPr id="19" name="Shape 16"/>
          <p:cNvSpPr/>
          <p:nvPr/>
        </p:nvSpPr>
        <p:spPr>
          <a:xfrm>
            <a:off x="8714232" y="1810512"/>
            <a:ext cx="3017520" cy="4498848"/>
          </a:xfrm>
          <a:prstGeom prst="roundRect">
            <a:avLst>
              <a:gd name="adj" fmla="val 2424"/>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0" name="Text 17"/>
          <p:cNvSpPr txBox="1"/>
          <p:nvPr/>
        </p:nvSpPr>
        <p:spPr>
          <a:xfrm>
            <a:off x="8897112" y="1883664"/>
            <a:ext cx="2651760" cy="292608"/>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KEY WORDS</a:t>
            </a:r>
            <a:endParaRPr lang="en-US" sz="1000" dirty="0"/>
          </a:p>
        </p:txBody>
      </p:sp>
      <p:sp>
        <p:nvSpPr>
          <p:cNvPr id="21" name="Text 18"/>
          <p:cNvSpPr txBox="1"/>
          <p:nvPr/>
        </p:nvSpPr>
        <p:spPr>
          <a:xfrm>
            <a:off x="10102291" y="2212848"/>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مَرْحَبًا بِكُمْ</a:t>
            </a:r>
            <a:endParaRPr lang="ar-SA" sz="1600" dirty="0"/>
          </a:p>
        </p:txBody>
      </p:sp>
      <p:sp>
        <p:nvSpPr>
          <p:cNvPr id="22" name="Text 19"/>
          <p:cNvSpPr txBox="1"/>
          <p:nvPr/>
        </p:nvSpPr>
        <p:spPr>
          <a:xfrm>
            <a:off x="8851392" y="2212848"/>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welcome</a:t>
            </a:r>
            <a:endParaRPr lang="en-US" sz="1050" dirty="0"/>
          </a:p>
        </p:txBody>
      </p:sp>
      <p:sp>
        <p:nvSpPr>
          <p:cNvPr id="23" name="Text 20"/>
          <p:cNvSpPr txBox="1"/>
          <p:nvPr/>
        </p:nvSpPr>
        <p:spPr>
          <a:xfrm>
            <a:off x="10102291" y="2615184"/>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نُقَدِّمُ</a:t>
            </a:r>
            <a:endParaRPr lang="ar-SA" sz="1600" dirty="0"/>
          </a:p>
        </p:txBody>
      </p:sp>
      <p:sp>
        <p:nvSpPr>
          <p:cNvPr id="24" name="Text 21"/>
          <p:cNvSpPr txBox="1"/>
          <p:nvPr/>
        </p:nvSpPr>
        <p:spPr>
          <a:xfrm>
            <a:off x="8851392" y="2615184"/>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we serve</a:t>
            </a:r>
            <a:endParaRPr lang="en-US" sz="1050" dirty="0"/>
          </a:p>
        </p:txBody>
      </p:sp>
      <p:sp>
        <p:nvSpPr>
          <p:cNvPr id="25" name="Text 22"/>
          <p:cNvSpPr txBox="1"/>
          <p:nvPr/>
        </p:nvSpPr>
        <p:spPr>
          <a:xfrm>
            <a:off x="10102291" y="3017520"/>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مِنَ … إِلَى …</a:t>
            </a:r>
            <a:endParaRPr lang="ar-SA" sz="1600" dirty="0"/>
          </a:p>
        </p:txBody>
      </p:sp>
      <p:sp>
        <p:nvSpPr>
          <p:cNvPr id="26" name="Text 23"/>
          <p:cNvSpPr txBox="1"/>
          <p:nvPr/>
        </p:nvSpPr>
        <p:spPr>
          <a:xfrm>
            <a:off x="8851392" y="3017520"/>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from … to …</a:t>
            </a:r>
            <a:endParaRPr lang="en-US" sz="1050" dirty="0"/>
          </a:p>
        </p:txBody>
      </p:sp>
      <p:sp>
        <p:nvSpPr>
          <p:cNvPr id="27" name="Text 24"/>
          <p:cNvSpPr txBox="1"/>
          <p:nvPr/>
        </p:nvSpPr>
        <p:spPr>
          <a:xfrm>
            <a:off x="10102291" y="3419856"/>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الحَادِيَةَ عَشْرَةَ</a:t>
            </a:r>
            <a:endParaRPr lang="ar-SA" sz="1600" dirty="0"/>
          </a:p>
        </p:txBody>
      </p:sp>
      <p:sp>
        <p:nvSpPr>
          <p:cNvPr id="28" name="Text 25"/>
          <p:cNvSpPr txBox="1"/>
          <p:nvPr/>
        </p:nvSpPr>
        <p:spPr>
          <a:xfrm>
            <a:off x="8851392" y="3419856"/>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eleven</a:t>
            </a:r>
            <a:endParaRPr lang="en-US" sz="1050" dirty="0"/>
          </a:p>
        </p:txBody>
      </p:sp>
      <p:sp>
        <p:nvSpPr>
          <p:cNvPr id="29" name="Text 26"/>
          <p:cNvSpPr txBox="1"/>
          <p:nvPr/>
        </p:nvSpPr>
        <p:spPr>
          <a:xfrm>
            <a:off x="10102291" y="3822192"/>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حَسَاءَ العَدَسِ</a:t>
            </a:r>
            <a:endParaRPr lang="ar-SA" sz="1600" dirty="0"/>
          </a:p>
        </p:txBody>
      </p:sp>
      <p:sp>
        <p:nvSpPr>
          <p:cNvPr id="30" name="Text 27"/>
          <p:cNvSpPr txBox="1"/>
          <p:nvPr/>
        </p:nvSpPr>
        <p:spPr>
          <a:xfrm>
            <a:off x="8851392" y="3822192"/>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lentil soup</a:t>
            </a:r>
            <a:endParaRPr lang="en-US" sz="1050" dirty="0"/>
          </a:p>
        </p:txBody>
      </p:sp>
      <p:sp>
        <p:nvSpPr>
          <p:cNvPr id="31" name="Text 28"/>
          <p:cNvSpPr txBox="1"/>
          <p:nvPr/>
        </p:nvSpPr>
        <p:spPr>
          <a:xfrm>
            <a:off x="10102291" y="4224528"/>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نَبَاتِيَّةً</a:t>
            </a:r>
            <a:endParaRPr lang="ar-SA" sz="1600" dirty="0"/>
          </a:p>
        </p:txBody>
      </p:sp>
      <p:sp>
        <p:nvSpPr>
          <p:cNvPr id="32" name="Text 29"/>
          <p:cNvSpPr txBox="1"/>
          <p:nvPr/>
        </p:nvSpPr>
        <p:spPr>
          <a:xfrm>
            <a:off x="8851392" y="4224528"/>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vegetarian</a:t>
            </a:r>
            <a:endParaRPr lang="en-US" sz="1050" dirty="0"/>
          </a:p>
        </p:txBody>
      </p:sp>
      <p:sp>
        <p:nvSpPr>
          <p:cNvPr id="33" name="Text 30"/>
          <p:cNvSpPr txBox="1"/>
          <p:nvPr/>
        </p:nvSpPr>
        <p:spPr>
          <a:xfrm>
            <a:off x="10102291" y="4626864"/>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لَا يُوجَدُ</a:t>
            </a:r>
            <a:endParaRPr lang="ar-SA" sz="1600" dirty="0"/>
          </a:p>
        </p:txBody>
      </p:sp>
      <p:sp>
        <p:nvSpPr>
          <p:cNvPr id="34" name="Text 31"/>
          <p:cNvSpPr txBox="1"/>
          <p:nvPr/>
        </p:nvSpPr>
        <p:spPr>
          <a:xfrm>
            <a:off x="8851392" y="4626864"/>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there is no</a:t>
            </a:r>
            <a:endParaRPr lang="en-US" sz="1050" dirty="0"/>
          </a:p>
        </p:txBody>
      </p:sp>
      <p:sp>
        <p:nvSpPr>
          <p:cNvPr id="35" name="Text 32"/>
          <p:cNvSpPr txBox="1"/>
          <p:nvPr/>
        </p:nvSpPr>
        <p:spPr>
          <a:xfrm>
            <a:off x="10102291" y="5029200"/>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المَشْرُوبَاتُ</a:t>
            </a:r>
            <a:endParaRPr lang="ar-SA" sz="1600" dirty="0"/>
          </a:p>
        </p:txBody>
      </p:sp>
      <p:sp>
        <p:nvSpPr>
          <p:cNvPr id="36" name="Text 33"/>
          <p:cNvSpPr txBox="1"/>
          <p:nvPr/>
        </p:nvSpPr>
        <p:spPr>
          <a:xfrm>
            <a:off x="8851392" y="5029200"/>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drinks</a:t>
            </a:r>
            <a:endParaRPr lang="en-US" sz="1050" dirty="0"/>
          </a:p>
        </p:txBody>
      </p:sp>
      <p:sp>
        <p:nvSpPr>
          <p:cNvPr id="37" name="Text 34"/>
          <p:cNvSpPr txBox="1"/>
          <p:nvPr/>
        </p:nvSpPr>
        <p:spPr>
          <a:xfrm>
            <a:off x="10102291" y="5431536"/>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اُطْلُبُوا</a:t>
            </a:r>
            <a:endParaRPr lang="ar-SA" sz="1600" dirty="0"/>
          </a:p>
        </p:txBody>
      </p:sp>
      <p:sp>
        <p:nvSpPr>
          <p:cNvPr id="38" name="Text 35"/>
          <p:cNvSpPr txBox="1"/>
          <p:nvPr/>
        </p:nvSpPr>
        <p:spPr>
          <a:xfrm>
            <a:off x="8851392" y="5431536"/>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order (you all)</a:t>
            </a:r>
            <a:endParaRPr lang="en-US" sz="1050" dirty="0"/>
          </a:p>
        </p:txBody>
      </p:sp>
      <p:sp>
        <p:nvSpPr>
          <p:cNvPr id="39" name="Text 36"/>
          <p:cNvSpPr txBox="1"/>
          <p:nvPr/>
        </p:nvSpPr>
        <p:spPr>
          <a:xfrm>
            <a:off x="10102291" y="5833872"/>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ادْفَعُوا</a:t>
            </a:r>
            <a:endParaRPr lang="ar-SA" sz="1600" dirty="0"/>
          </a:p>
        </p:txBody>
      </p:sp>
      <p:sp>
        <p:nvSpPr>
          <p:cNvPr id="40" name="Text 37"/>
          <p:cNvSpPr txBox="1"/>
          <p:nvPr/>
        </p:nvSpPr>
        <p:spPr>
          <a:xfrm>
            <a:off x="8851392" y="5833872"/>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pay (you all)</a:t>
            </a:r>
            <a:endParaRPr lang="en-US" sz="1050" dirty="0"/>
          </a:p>
        </p:txBody>
      </p:sp>
      <p:sp>
        <p:nvSpPr>
          <p:cNvPr id="41" name="Text 38"/>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39 / 43</a:t>
            </a:r>
            <a:endParaRPr lang="en-US" sz="85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F5-L05 · Ordering Politely</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EXTENSION · READING QUESTIONS</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Reading: questions</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أَسْئِلَةُ القِرَاءَةِ</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F5 · Food, Health and Body · F5-L05</a:t>
            </a:r>
            <a:endParaRPr lang="en-US" sz="850" dirty="0"/>
          </a:p>
        </p:txBody>
      </p:sp>
      <p:sp>
        <p:nvSpPr>
          <p:cNvPr id="17" name="Shape 14"/>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20" name="Text 17"/>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When is breakfast served?</a:t>
            </a:r>
            <a:endParaRPr lang="en-US" sz="1250" dirty="0"/>
          </a:p>
        </p:txBody>
      </p:sp>
      <p:sp>
        <p:nvSpPr>
          <p:cNvPr id="21" name="Shape 18"/>
          <p:cNvSpPr/>
          <p:nvPr/>
        </p:nvSpPr>
        <p:spPr>
          <a:xfrm>
            <a:off x="640080" y="2532888"/>
            <a:ext cx="256032" cy="256032"/>
          </a:xfrm>
          <a:prstGeom prst="ellipse">
            <a:avLst/>
          </a:prstGeom>
          <a:solidFill>
            <a:srgbClr val="F4F1EA"/>
          </a:solidFill>
          <a:ln w="12700">
            <a:solidFill>
              <a:srgbClr val="F4F1EA"/>
            </a:solidFill>
            <a:prstDash val="solid"/>
          </a:ln>
        </p:spPr>
      </p:sp>
      <p:sp>
        <p:nvSpPr>
          <p:cNvPr id="22" name="Text 19"/>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3" name="Text 20"/>
          <p:cNvSpPr txBox="1"/>
          <p:nvPr/>
        </p:nvSpPr>
        <p:spPr>
          <a:xfrm>
            <a:off x="969264"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8–12</a:t>
            </a:r>
            <a:endParaRPr lang="en-US" sz="1250" dirty="0"/>
          </a:p>
        </p:txBody>
      </p:sp>
      <p:sp>
        <p:nvSpPr>
          <p:cNvPr id="24" name="Shape 21"/>
          <p:cNvSpPr/>
          <p:nvPr/>
        </p:nvSpPr>
        <p:spPr>
          <a:xfrm>
            <a:off x="640080" y="2990088"/>
            <a:ext cx="256032" cy="256032"/>
          </a:xfrm>
          <a:prstGeom prst="ellipse">
            <a:avLst/>
          </a:prstGeom>
          <a:solidFill>
            <a:srgbClr val="F4F1EA"/>
          </a:solidFill>
          <a:ln w="12700">
            <a:solidFill>
              <a:srgbClr val="F4F1EA"/>
            </a:solidFill>
            <a:prstDash val="solid"/>
          </a:ln>
        </p:spPr>
      </p:sp>
      <p:sp>
        <p:nvSpPr>
          <p:cNvPr id="25" name="Text 22"/>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6" name="Text 23"/>
          <p:cNvSpPr txBox="1"/>
          <p:nvPr/>
        </p:nvSpPr>
        <p:spPr>
          <a:xfrm>
            <a:off x="969264"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7–11</a:t>
            </a:r>
            <a:endParaRPr lang="en-US" sz="1250" dirty="0"/>
          </a:p>
        </p:txBody>
      </p:sp>
      <p:sp>
        <p:nvSpPr>
          <p:cNvPr id="27" name="Shape 24"/>
          <p:cNvSpPr/>
          <p:nvPr/>
        </p:nvSpPr>
        <p:spPr>
          <a:xfrm>
            <a:off x="640080" y="3447288"/>
            <a:ext cx="256032" cy="256032"/>
          </a:xfrm>
          <a:prstGeom prst="ellipse">
            <a:avLst/>
          </a:prstGeom>
          <a:solidFill>
            <a:srgbClr val="F4F1EA"/>
          </a:solidFill>
          <a:ln w="12700">
            <a:solidFill>
              <a:srgbClr val="F4F1EA"/>
            </a:solidFill>
            <a:prstDash val="solid"/>
          </a:ln>
        </p:spPr>
      </p:sp>
      <p:sp>
        <p:nvSpPr>
          <p:cNvPr id="28" name="Text 25"/>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9" name="Text 26"/>
          <p:cNvSpPr txBox="1"/>
          <p:nvPr/>
        </p:nvSpPr>
        <p:spPr>
          <a:xfrm>
            <a:off x="969264"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7–10</a:t>
            </a:r>
            <a:endParaRPr lang="en-US" sz="12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vegetarian dish is mentioned?</a:t>
            </a:r>
            <a:endParaRPr lang="en-US" sz="1250" dirty="0"/>
          </a:p>
        </p:txBody>
      </p:sp>
      <p:sp>
        <p:nvSpPr>
          <p:cNvPr id="34" name="Shape 31"/>
          <p:cNvSpPr/>
          <p:nvPr/>
        </p:nvSpPr>
        <p:spPr>
          <a:xfrm>
            <a:off x="4459224" y="2532888"/>
            <a:ext cx="256032" cy="256032"/>
          </a:xfrm>
          <a:prstGeom prst="ellipse">
            <a:avLst/>
          </a:prstGeom>
          <a:solidFill>
            <a:srgbClr val="F4F1EA"/>
          </a:solidFill>
          <a:ln w="12700">
            <a:solidFill>
              <a:srgbClr val="F4F1EA"/>
            </a:solidFill>
            <a:prstDash val="solid"/>
          </a:ln>
        </p:spPr>
      </p:sp>
      <p:sp>
        <p:nvSpPr>
          <p:cNvPr id="35" name="Text 32"/>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4788408"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fish soup</a:t>
            </a:r>
            <a:endParaRPr lang="en-US" sz="1250" dirty="0"/>
          </a:p>
        </p:txBody>
      </p:sp>
      <p:sp>
        <p:nvSpPr>
          <p:cNvPr id="37" name="Shape 34"/>
          <p:cNvSpPr/>
          <p:nvPr/>
        </p:nvSpPr>
        <p:spPr>
          <a:xfrm>
            <a:off x="4459224" y="2990088"/>
            <a:ext cx="256032" cy="256032"/>
          </a:xfrm>
          <a:prstGeom prst="ellipse">
            <a:avLst/>
          </a:prstGeom>
          <a:solidFill>
            <a:srgbClr val="F4F1EA"/>
          </a:solidFill>
          <a:ln w="12700">
            <a:solidFill>
              <a:srgbClr val="F4F1EA"/>
            </a:solidFill>
            <a:prstDash val="solid"/>
          </a:ln>
        </p:spPr>
      </p:sp>
      <p:sp>
        <p:nvSpPr>
          <p:cNvPr id="38" name="Text 35"/>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9" name="Text 36"/>
          <p:cNvSpPr txBox="1"/>
          <p:nvPr/>
        </p:nvSpPr>
        <p:spPr>
          <a:xfrm>
            <a:off x="4788408"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chicken sandwich</a:t>
            </a:r>
            <a:endParaRPr lang="en-US" sz="1250" dirty="0"/>
          </a:p>
        </p:txBody>
      </p:sp>
      <p:sp>
        <p:nvSpPr>
          <p:cNvPr id="40" name="Shape 37"/>
          <p:cNvSpPr/>
          <p:nvPr/>
        </p:nvSpPr>
        <p:spPr>
          <a:xfrm>
            <a:off x="4459224" y="3447288"/>
            <a:ext cx="256032" cy="256032"/>
          </a:xfrm>
          <a:prstGeom prst="ellipse">
            <a:avLst/>
          </a:prstGeom>
          <a:solidFill>
            <a:srgbClr val="F4F1EA"/>
          </a:solidFill>
          <a:ln w="12700">
            <a:solidFill>
              <a:srgbClr val="F4F1EA"/>
            </a:solidFill>
            <a:prstDash val="solid"/>
          </a:ln>
        </p:spPr>
      </p:sp>
      <p:sp>
        <p:nvSpPr>
          <p:cNvPr id="41" name="Text 38"/>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2" name="Text 39"/>
          <p:cNvSpPr txBox="1"/>
          <p:nvPr/>
        </p:nvSpPr>
        <p:spPr>
          <a:xfrm>
            <a:off x="4788408"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vegetarian salad</a:t>
            </a:r>
            <a:endParaRPr lang="en-US" sz="1250" dirty="0"/>
          </a:p>
        </p:txBody>
      </p:sp>
      <p:sp>
        <p:nvSpPr>
          <p:cNvPr id="43" name="Shape 40"/>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4" name="Shape 41"/>
          <p:cNvSpPr/>
          <p:nvPr/>
        </p:nvSpPr>
        <p:spPr>
          <a:xfrm>
            <a:off x="8223504" y="1947672"/>
            <a:ext cx="310896" cy="310896"/>
          </a:xfrm>
          <a:prstGeom prst="ellipse">
            <a:avLst/>
          </a:prstGeom>
          <a:solidFill>
            <a:srgbClr val="1B3B6F"/>
          </a:solidFill>
          <a:ln w="12700">
            <a:solidFill>
              <a:srgbClr val="1B3B6F"/>
            </a:solidFill>
            <a:prstDash val="solid"/>
          </a:ln>
        </p:spPr>
      </p:sp>
      <p:sp>
        <p:nvSpPr>
          <p:cNvPr id="45" name="Text 42"/>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6" name="Text 43"/>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unavailable today?</a:t>
            </a:r>
            <a:endParaRPr lang="en-US" sz="1250" dirty="0"/>
          </a:p>
        </p:txBody>
      </p:sp>
      <p:sp>
        <p:nvSpPr>
          <p:cNvPr id="47" name="Shape 44"/>
          <p:cNvSpPr/>
          <p:nvPr/>
        </p:nvSpPr>
        <p:spPr>
          <a:xfrm>
            <a:off x="8278368" y="2532888"/>
            <a:ext cx="256032" cy="256032"/>
          </a:xfrm>
          <a:prstGeom prst="ellipse">
            <a:avLst/>
          </a:prstGeom>
          <a:solidFill>
            <a:srgbClr val="F4F1EA"/>
          </a:solidFill>
          <a:ln w="12700">
            <a:solidFill>
              <a:srgbClr val="F4F1EA"/>
            </a:solidFill>
            <a:prstDash val="solid"/>
          </a:ln>
        </p:spPr>
      </p:sp>
      <p:sp>
        <p:nvSpPr>
          <p:cNvPr id="48" name="Text 45"/>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9" name="Text 46"/>
          <p:cNvSpPr txBox="1"/>
          <p:nvPr/>
        </p:nvSpPr>
        <p:spPr>
          <a:xfrm>
            <a:off x="8607552"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fish</a:t>
            </a:r>
            <a:endParaRPr lang="en-US" sz="1250" dirty="0"/>
          </a:p>
        </p:txBody>
      </p:sp>
      <p:sp>
        <p:nvSpPr>
          <p:cNvPr id="50" name="Shape 47"/>
          <p:cNvSpPr/>
          <p:nvPr/>
        </p:nvSpPr>
        <p:spPr>
          <a:xfrm>
            <a:off x="8278368" y="2990088"/>
            <a:ext cx="256032" cy="256032"/>
          </a:xfrm>
          <a:prstGeom prst="ellipse">
            <a:avLst/>
          </a:prstGeom>
          <a:solidFill>
            <a:srgbClr val="F4F1EA"/>
          </a:solidFill>
          <a:ln w="12700">
            <a:solidFill>
              <a:srgbClr val="F4F1EA"/>
            </a:solidFill>
            <a:prstDash val="solid"/>
          </a:ln>
        </p:spPr>
      </p:sp>
      <p:sp>
        <p:nvSpPr>
          <p:cNvPr id="51" name="Text 48"/>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2" name="Text 49"/>
          <p:cNvSpPr txBox="1"/>
          <p:nvPr/>
        </p:nvSpPr>
        <p:spPr>
          <a:xfrm>
            <a:off x="8607552"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coffee</a:t>
            </a:r>
            <a:endParaRPr lang="en-US" sz="1250" dirty="0"/>
          </a:p>
        </p:txBody>
      </p:sp>
      <p:sp>
        <p:nvSpPr>
          <p:cNvPr id="53" name="Shape 50"/>
          <p:cNvSpPr/>
          <p:nvPr/>
        </p:nvSpPr>
        <p:spPr>
          <a:xfrm>
            <a:off x="8278368" y="3447288"/>
            <a:ext cx="256032" cy="256032"/>
          </a:xfrm>
          <a:prstGeom prst="ellipse">
            <a:avLst/>
          </a:prstGeom>
          <a:solidFill>
            <a:srgbClr val="F4F1EA"/>
          </a:solidFill>
          <a:ln w="12700">
            <a:solidFill>
              <a:srgbClr val="F4F1EA"/>
            </a:solidFill>
            <a:prstDash val="solid"/>
          </a:ln>
        </p:spPr>
      </p:sp>
      <p:sp>
        <p:nvSpPr>
          <p:cNvPr id="54" name="Text 51"/>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5" name="Text 52"/>
          <p:cNvSpPr txBox="1"/>
          <p:nvPr/>
        </p:nvSpPr>
        <p:spPr>
          <a:xfrm>
            <a:off x="8607552"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eggs</a:t>
            </a:r>
            <a:endParaRPr lang="en-US" sz="1250" dirty="0"/>
          </a:p>
        </p:txBody>
      </p:sp>
      <p:sp>
        <p:nvSpPr>
          <p:cNvPr id="56" name="Shape 53"/>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7" name="Shape 54"/>
          <p:cNvSpPr/>
          <p:nvPr/>
        </p:nvSpPr>
        <p:spPr>
          <a:xfrm>
            <a:off x="585216" y="4288536"/>
            <a:ext cx="310896" cy="310896"/>
          </a:xfrm>
          <a:prstGeom prst="ellipse">
            <a:avLst/>
          </a:prstGeom>
          <a:solidFill>
            <a:srgbClr val="1B3B6F"/>
          </a:solidFill>
          <a:ln w="12700">
            <a:solidFill>
              <a:srgbClr val="1B3B6F"/>
            </a:solidFill>
            <a:prstDash val="solid"/>
          </a:ln>
        </p:spPr>
      </p:sp>
      <p:sp>
        <p:nvSpPr>
          <p:cNvPr id="58" name="Text 55"/>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9" name="Text 56"/>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Where do customers order?</a:t>
            </a:r>
            <a:endParaRPr lang="en-US" sz="1250" dirty="0"/>
          </a:p>
        </p:txBody>
      </p:sp>
      <p:sp>
        <p:nvSpPr>
          <p:cNvPr id="60" name="Shape 57"/>
          <p:cNvSpPr/>
          <p:nvPr/>
        </p:nvSpPr>
        <p:spPr>
          <a:xfrm>
            <a:off x="640080" y="4873752"/>
            <a:ext cx="256032" cy="256032"/>
          </a:xfrm>
          <a:prstGeom prst="ellipse">
            <a:avLst/>
          </a:prstGeom>
          <a:solidFill>
            <a:srgbClr val="F4F1EA"/>
          </a:solidFill>
          <a:ln w="12700">
            <a:solidFill>
              <a:srgbClr val="F4F1EA"/>
            </a:solidFill>
            <a:prstDash val="solid"/>
          </a:ln>
        </p:spPr>
      </p:sp>
      <p:sp>
        <p:nvSpPr>
          <p:cNvPr id="61" name="Text 58"/>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2" name="Text 59"/>
          <p:cNvSpPr txBox="1"/>
          <p:nvPr/>
        </p:nvSpPr>
        <p:spPr>
          <a:xfrm>
            <a:off x="969264"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at the door</a:t>
            </a:r>
            <a:endParaRPr lang="en-US" sz="1250" dirty="0"/>
          </a:p>
        </p:txBody>
      </p:sp>
      <p:sp>
        <p:nvSpPr>
          <p:cNvPr id="63" name="Shape 60"/>
          <p:cNvSpPr/>
          <p:nvPr/>
        </p:nvSpPr>
        <p:spPr>
          <a:xfrm>
            <a:off x="640080" y="5330952"/>
            <a:ext cx="256032" cy="256032"/>
          </a:xfrm>
          <a:prstGeom prst="ellipse">
            <a:avLst/>
          </a:prstGeom>
          <a:solidFill>
            <a:srgbClr val="F4F1EA"/>
          </a:solidFill>
          <a:ln w="12700">
            <a:solidFill>
              <a:srgbClr val="F4F1EA"/>
            </a:solidFill>
            <a:prstDash val="solid"/>
          </a:ln>
        </p:spPr>
      </p:sp>
      <p:sp>
        <p:nvSpPr>
          <p:cNvPr id="64" name="Text 61"/>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5" name="Text 62"/>
          <p:cNvSpPr txBox="1"/>
          <p:nvPr/>
        </p:nvSpPr>
        <p:spPr>
          <a:xfrm>
            <a:off x="969264"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at the table</a:t>
            </a:r>
            <a:endParaRPr lang="en-US" sz="1250" dirty="0"/>
          </a:p>
        </p:txBody>
      </p:sp>
      <p:sp>
        <p:nvSpPr>
          <p:cNvPr id="66" name="Shape 63"/>
          <p:cNvSpPr/>
          <p:nvPr/>
        </p:nvSpPr>
        <p:spPr>
          <a:xfrm>
            <a:off x="640080" y="5788152"/>
            <a:ext cx="256032" cy="256032"/>
          </a:xfrm>
          <a:prstGeom prst="ellipse">
            <a:avLst/>
          </a:prstGeom>
          <a:solidFill>
            <a:srgbClr val="F4F1EA"/>
          </a:solidFill>
          <a:ln w="12700">
            <a:solidFill>
              <a:srgbClr val="F4F1EA"/>
            </a:solidFill>
            <a:prstDash val="solid"/>
          </a:ln>
        </p:spPr>
      </p:sp>
      <p:sp>
        <p:nvSpPr>
          <p:cNvPr id="67" name="Text 64"/>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8" name="Text 65"/>
          <p:cNvSpPr txBox="1"/>
          <p:nvPr/>
        </p:nvSpPr>
        <p:spPr>
          <a:xfrm>
            <a:off x="969264"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online</a:t>
            </a:r>
            <a:endParaRPr lang="en-US" sz="1250" dirty="0"/>
          </a:p>
        </p:txBody>
      </p:sp>
      <p:sp>
        <p:nvSpPr>
          <p:cNvPr id="69" name="Shape 66"/>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0" name="Shape 67"/>
          <p:cNvSpPr/>
          <p:nvPr/>
        </p:nvSpPr>
        <p:spPr>
          <a:xfrm>
            <a:off x="4404360" y="4288536"/>
            <a:ext cx="310896" cy="310896"/>
          </a:xfrm>
          <a:prstGeom prst="ellipse">
            <a:avLst/>
          </a:prstGeom>
          <a:solidFill>
            <a:srgbClr val="1B3B6F"/>
          </a:solidFill>
          <a:ln w="12700">
            <a:solidFill>
              <a:srgbClr val="1B3B6F"/>
            </a:solidFill>
            <a:prstDash val="solid"/>
          </a:ln>
        </p:spPr>
      </p:sp>
      <p:sp>
        <p:nvSpPr>
          <p:cNvPr id="71" name="Text 68"/>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2" name="Text 69"/>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Where do customers pay?</a:t>
            </a:r>
            <a:endParaRPr lang="en-US" sz="1250" dirty="0"/>
          </a:p>
        </p:txBody>
      </p:sp>
      <p:sp>
        <p:nvSpPr>
          <p:cNvPr id="73" name="Shape 70"/>
          <p:cNvSpPr/>
          <p:nvPr/>
        </p:nvSpPr>
        <p:spPr>
          <a:xfrm>
            <a:off x="4459224" y="4873752"/>
            <a:ext cx="256032" cy="256032"/>
          </a:xfrm>
          <a:prstGeom prst="ellipse">
            <a:avLst/>
          </a:prstGeom>
          <a:solidFill>
            <a:srgbClr val="F4F1EA"/>
          </a:solidFill>
          <a:ln w="12700">
            <a:solidFill>
              <a:srgbClr val="F4F1EA"/>
            </a:solidFill>
            <a:prstDash val="solid"/>
          </a:ln>
        </p:spPr>
      </p:sp>
      <p:sp>
        <p:nvSpPr>
          <p:cNvPr id="74" name="Text 71"/>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5" name="Text 72"/>
          <p:cNvSpPr txBox="1"/>
          <p:nvPr/>
        </p:nvSpPr>
        <p:spPr>
          <a:xfrm>
            <a:off x="4788408"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at the door</a:t>
            </a:r>
            <a:endParaRPr lang="en-US" sz="1250" dirty="0"/>
          </a:p>
        </p:txBody>
      </p:sp>
      <p:sp>
        <p:nvSpPr>
          <p:cNvPr id="76" name="Shape 73"/>
          <p:cNvSpPr/>
          <p:nvPr/>
        </p:nvSpPr>
        <p:spPr>
          <a:xfrm>
            <a:off x="4459224" y="5330952"/>
            <a:ext cx="256032" cy="256032"/>
          </a:xfrm>
          <a:prstGeom prst="ellipse">
            <a:avLst/>
          </a:prstGeom>
          <a:solidFill>
            <a:srgbClr val="F4F1EA"/>
          </a:solidFill>
          <a:ln w="12700">
            <a:solidFill>
              <a:srgbClr val="F4F1EA"/>
            </a:solidFill>
            <a:prstDash val="solid"/>
          </a:ln>
        </p:spPr>
      </p:sp>
      <p:sp>
        <p:nvSpPr>
          <p:cNvPr id="77" name="Text 74"/>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8" name="Text 75"/>
          <p:cNvSpPr txBox="1"/>
          <p:nvPr/>
        </p:nvSpPr>
        <p:spPr>
          <a:xfrm>
            <a:off x="4788408"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at the table</a:t>
            </a:r>
            <a:endParaRPr lang="en-US" sz="1250" dirty="0"/>
          </a:p>
        </p:txBody>
      </p:sp>
      <p:sp>
        <p:nvSpPr>
          <p:cNvPr id="79" name="Shape 76"/>
          <p:cNvSpPr/>
          <p:nvPr/>
        </p:nvSpPr>
        <p:spPr>
          <a:xfrm>
            <a:off x="4459224" y="5788152"/>
            <a:ext cx="256032" cy="256032"/>
          </a:xfrm>
          <a:prstGeom prst="ellipse">
            <a:avLst/>
          </a:prstGeom>
          <a:solidFill>
            <a:srgbClr val="F4F1EA"/>
          </a:solidFill>
          <a:ln w="12700">
            <a:solidFill>
              <a:srgbClr val="F4F1EA"/>
            </a:solidFill>
            <a:prstDash val="solid"/>
          </a:ln>
        </p:spPr>
      </p:sp>
      <p:sp>
        <p:nvSpPr>
          <p:cNvPr id="80" name="Text 77"/>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1" name="Text 78"/>
          <p:cNvSpPr txBox="1"/>
          <p:nvPr/>
        </p:nvSpPr>
        <p:spPr>
          <a:xfrm>
            <a:off x="4788408"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in the kitchen</a:t>
            </a:r>
            <a:endParaRPr lang="en-US" sz="1250" dirty="0"/>
          </a:p>
        </p:txBody>
      </p:sp>
      <p:sp>
        <p:nvSpPr>
          <p:cNvPr id="82" name="Shape 79"/>
          <p:cNvSpPr/>
          <p:nvPr/>
        </p:nvSpPr>
        <p:spPr>
          <a:xfrm>
            <a:off x="8095488"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83" name="Text 80"/>
          <p:cNvSpPr txBox="1"/>
          <p:nvPr/>
        </p:nvSpPr>
        <p:spPr>
          <a:xfrm>
            <a:off x="8278368" y="4279392"/>
            <a:ext cx="3270504"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READ LIKE A DETECTIVE</a:t>
            </a:r>
            <a:endParaRPr lang="en-US" sz="1000" dirty="0"/>
          </a:p>
        </p:txBody>
      </p:sp>
      <p:sp>
        <p:nvSpPr>
          <p:cNvPr id="84" name="Text 81"/>
          <p:cNvSpPr txBox="1"/>
          <p:nvPr/>
        </p:nvSpPr>
        <p:spPr>
          <a:xfrm>
            <a:off x="8278368" y="4590288"/>
            <a:ext cx="3270504" cy="1609344"/>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1. Read the question first.</a:t>
            </a:r>
            <a:endParaRPr lang="en-US" sz="1250" dirty="0"/>
          </a:p>
          <a:p>
            <a:pPr algn="l" indent="0" marL="0">
              <a:buNone/>
            </a:pPr>
            <a:r>
              <a:rPr lang="en-US" sz="1250" dirty="0">
                <a:solidFill>
                  <a:srgbClr val="1F2A37"/>
                </a:solidFill>
                <a:latin typeface="Calibri" pitchFamily="34" charset="0"/>
                <a:cs typeface="Amiri" pitchFamily="2" charset="-78"/>
              </a:rPr>
              <a:t>2. Find ONE key word from the question in the text.</a:t>
            </a:r>
            <a:endParaRPr lang="en-US" sz="1250" dirty="0"/>
          </a:p>
          <a:p>
            <a:pPr algn="l" indent="0" marL="0">
              <a:buNone/>
            </a:pPr>
            <a:r>
              <a:rPr lang="en-US" sz="1250" dirty="0">
                <a:solidFill>
                  <a:srgbClr val="1F2A37"/>
                </a:solidFill>
                <a:latin typeface="Calibri" pitchFamily="34" charset="0"/>
                <a:cs typeface="Amiri" pitchFamily="2" charset="-78"/>
              </a:rPr>
              <a:t>3. Read only that sentence again, then choose.</a:t>
            </a:r>
            <a:endParaRPr lang="en-US" sz="1250" dirty="0"/>
          </a:p>
        </p:txBody>
      </p:sp>
      <p:sp>
        <p:nvSpPr>
          <p:cNvPr id="85" name="Text 8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40 / 43</a:t>
            </a:r>
            <a:endParaRPr lang="en-US" sz="85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F5-L05 · Ordering Politely</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EXTENSION · READING ANSWERS</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Reading: answers</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إِجَابَاتُ القِرَاءَةِ</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F5 · Food, Health and Body · F5-L05</a:t>
            </a:r>
            <a:endParaRPr lang="en-US" sz="850" dirty="0"/>
          </a:p>
        </p:txBody>
      </p:sp>
      <p:sp>
        <p:nvSpPr>
          <p:cNvPr id="17" name="Shape 14"/>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20" name="Text 17"/>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When is breakfast served?</a:t>
            </a:r>
            <a:endParaRPr lang="en-US" sz="1250" dirty="0"/>
          </a:p>
        </p:txBody>
      </p:sp>
      <p:sp>
        <p:nvSpPr>
          <p:cNvPr id="21" name="Shape 18"/>
          <p:cNvSpPr/>
          <p:nvPr/>
        </p:nvSpPr>
        <p:spPr>
          <a:xfrm>
            <a:off x="640080" y="2490216"/>
            <a:ext cx="256032" cy="256032"/>
          </a:xfrm>
          <a:prstGeom prst="ellipse">
            <a:avLst/>
          </a:prstGeom>
          <a:solidFill>
            <a:srgbClr val="C9CED6"/>
          </a:solidFill>
          <a:ln w="12700">
            <a:solidFill>
              <a:srgbClr val="C9CED6"/>
            </a:solidFill>
            <a:prstDash val="solid"/>
          </a:ln>
        </p:spPr>
      </p:sp>
      <p:sp>
        <p:nvSpPr>
          <p:cNvPr id="22" name="Text 19"/>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3" name="Text 20"/>
          <p:cNvSpPr txBox="1"/>
          <p:nvPr/>
        </p:nvSpPr>
        <p:spPr>
          <a:xfrm>
            <a:off x="969264"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8–12</a:t>
            </a:r>
            <a:endParaRPr lang="en-US" sz="1250" dirty="0"/>
          </a:p>
        </p:txBody>
      </p:sp>
      <p:sp>
        <p:nvSpPr>
          <p:cNvPr id="24" name="Shape 21"/>
          <p:cNvSpPr/>
          <p:nvPr/>
        </p:nvSpPr>
        <p:spPr>
          <a:xfrm>
            <a:off x="548640" y="2825496"/>
            <a:ext cx="3453384" cy="347472"/>
          </a:xfrm>
          <a:prstGeom prst="roundRect">
            <a:avLst>
              <a:gd name="adj" fmla="val 15789"/>
            </a:avLst>
          </a:prstGeom>
          <a:solidFill>
            <a:srgbClr val="E6F4EC"/>
          </a:solidFill>
          <a:ln w="9525">
            <a:solidFill>
              <a:srgbClr val="2E8B57"/>
            </a:solidFill>
            <a:prstDash val="solid"/>
          </a:ln>
        </p:spPr>
      </p:sp>
      <p:sp>
        <p:nvSpPr>
          <p:cNvPr id="25" name="Shape 22"/>
          <p:cNvSpPr/>
          <p:nvPr/>
        </p:nvSpPr>
        <p:spPr>
          <a:xfrm>
            <a:off x="640080" y="2862072"/>
            <a:ext cx="256032" cy="256032"/>
          </a:xfrm>
          <a:prstGeom prst="ellipse">
            <a:avLst/>
          </a:prstGeom>
          <a:solidFill>
            <a:srgbClr val="2E8B57"/>
          </a:solidFill>
          <a:ln w="12700">
            <a:solidFill>
              <a:srgbClr val="2E8B57"/>
            </a:solidFill>
            <a:prstDash val="solid"/>
          </a:ln>
        </p:spPr>
      </p:sp>
      <p:sp>
        <p:nvSpPr>
          <p:cNvPr id="26" name="Text 23"/>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27" name="Text 24"/>
          <p:cNvSpPr txBox="1"/>
          <p:nvPr/>
        </p:nvSpPr>
        <p:spPr>
          <a:xfrm>
            <a:off x="969264" y="2804160"/>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7–11</a:t>
            </a:r>
            <a:endParaRPr lang="en-US" sz="1250" dirty="0"/>
          </a:p>
        </p:txBody>
      </p:sp>
      <p:sp>
        <p:nvSpPr>
          <p:cNvPr id="28" name="Shape 25"/>
          <p:cNvSpPr/>
          <p:nvPr/>
        </p:nvSpPr>
        <p:spPr>
          <a:xfrm>
            <a:off x="640080" y="3233928"/>
            <a:ext cx="256032" cy="256032"/>
          </a:xfrm>
          <a:prstGeom prst="ellipse">
            <a:avLst/>
          </a:prstGeom>
          <a:solidFill>
            <a:srgbClr val="C9CED6"/>
          </a:solidFill>
          <a:ln w="12700">
            <a:solidFill>
              <a:srgbClr val="C9CED6"/>
            </a:solidFill>
            <a:prstDash val="solid"/>
          </a:ln>
        </p:spPr>
      </p:sp>
      <p:sp>
        <p:nvSpPr>
          <p:cNvPr id="29" name="Text 26"/>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30" name="Text 27"/>
          <p:cNvSpPr txBox="1"/>
          <p:nvPr/>
        </p:nvSpPr>
        <p:spPr>
          <a:xfrm>
            <a:off x="969264"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7–10</a:t>
            </a:r>
            <a:endParaRPr lang="en-US" sz="1250" dirty="0"/>
          </a:p>
        </p:txBody>
      </p:sp>
      <p:sp>
        <p:nvSpPr>
          <p:cNvPr id="31" name="Text 28"/>
          <p:cNvSpPr txBox="1"/>
          <p:nvPr/>
        </p:nvSpPr>
        <p:spPr>
          <a:xfrm>
            <a:off x="585216" y="3566160"/>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مِنَ السَّاعَةِ السَّابِعَةِ إِلَى الحَادِيَةَ عَشْرَةَ.</a:t>
            </a:r>
            <a:endParaRPr lang="ar-SA" sz="1350" dirty="0"/>
          </a:p>
        </p:txBody>
      </p:sp>
      <p:sp>
        <p:nvSpPr>
          <p:cNvPr id="32" name="Shape 29"/>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3" name="Shape 30"/>
          <p:cNvSpPr/>
          <p:nvPr/>
        </p:nvSpPr>
        <p:spPr>
          <a:xfrm>
            <a:off x="4404360" y="1947672"/>
            <a:ext cx="310896" cy="310896"/>
          </a:xfrm>
          <a:prstGeom prst="ellipse">
            <a:avLst/>
          </a:prstGeom>
          <a:solidFill>
            <a:srgbClr val="1B3B6F"/>
          </a:solidFill>
          <a:ln w="12700">
            <a:solidFill>
              <a:srgbClr val="1B3B6F"/>
            </a:solidFill>
            <a:prstDash val="solid"/>
          </a:ln>
        </p:spPr>
      </p:sp>
      <p:sp>
        <p:nvSpPr>
          <p:cNvPr id="34" name="Text 31"/>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5" name="Text 32"/>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vegetarian dish is mentioned?</a:t>
            </a:r>
            <a:endParaRPr lang="en-US" sz="1250" dirty="0"/>
          </a:p>
        </p:txBody>
      </p:sp>
      <p:sp>
        <p:nvSpPr>
          <p:cNvPr id="36" name="Shape 33"/>
          <p:cNvSpPr/>
          <p:nvPr/>
        </p:nvSpPr>
        <p:spPr>
          <a:xfrm>
            <a:off x="4459224" y="2490216"/>
            <a:ext cx="256032" cy="256032"/>
          </a:xfrm>
          <a:prstGeom prst="ellipse">
            <a:avLst/>
          </a:prstGeom>
          <a:solidFill>
            <a:srgbClr val="C9CED6"/>
          </a:solidFill>
          <a:ln w="12700">
            <a:solidFill>
              <a:srgbClr val="C9CED6"/>
            </a:solidFill>
            <a:prstDash val="solid"/>
          </a:ln>
        </p:spPr>
      </p:sp>
      <p:sp>
        <p:nvSpPr>
          <p:cNvPr id="37" name="Text 34"/>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8" name="Text 35"/>
          <p:cNvSpPr txBox="1"/>
          <p:nvPr/>
        </p:nvSpPr>
        <p:spPr>
          <a:xfrm>
            <a:off x="4788408"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fish soup</a:t>
            </a:r>
            <a:endParaRPr lang="en-US" sz="1250" dirty="0"/>
          </a:p>
        </p:txBody>
      </p:sp>
      <p:sp>
        <p:nvSpPr>
          <p:cNvPr id="39" name="Shape 36"/>
          <p:cNvSpPr/>
          <p:nvPr/>
        </p:nvSpPr>
        <p:spPr>
          <a:xfrm>
            <a:off x="4459224" y="2862072"/>
            <a:ext cx="256032" cy="256032"/>
          </a:xfrm>
          <a:prstGeom prst="ellipse">
            <a:avLst/>
          </a:prstGeom>
          <a:solidFill>
            <a:srgbClr val="C9CED6"/>
          </a:solidFill>
          <a:ln w="12700">
            <a:solidFill>
              <a:srgbClr val="C9CED6"/>
            </a:solidFill>
            <a:prstDash val="solid"/>
          </a:ln>
        </p:spPr>
      </p:sp>
      <p:sp>
        <p:nvSpPr>
          <p:cNvPr id="40" name="Text 37"/>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1" name="Text 38"/>
          <p:cNvSpPr txBox="1"/>
          <p:nvPr/>
        </p:nvSpPr>
        <p:spPr>
          <a:xfrm>
            <a:off x="4788408"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chicken sandwich</a:t>
            </a:r>
            <a:endParaRPr lang="en-US" sz="1250" dirty="0"/>
          </a:p>
        </p:txBody>
      </p:sp>
      <p:sp>
        <p:nvSpPr>
          <p:cNvPr id="42" name="Shape 39"/>
          <p:cNvSpPr/>
          <p:nvPr/>
        </p:nvSpPr>
        <p:spPr>
          <a:xfrm>
            <a:off x="4367784" y="3197352"/>
            <a:ext cx="3453384" cy="347472"/>
          </a:xfrm>
          <a:prstGeom prst="roundRect">
            <a:avLst>
              <a:gd name="adj" fmla="val 15789"/>
            </a:avLst>
          </a:prstGeom>
          <a:solidFill>
            <a:srgbClr val="E6F4EC"/>
          </a:solidFill>
          <a:ln w="9525">
            <a:solidFill>
              <a:srgbClr val="2E8B57"/>
            </a:solidFill>
            <a:prstDash val="solid"/>
          </a:ln>
        </p:spPr>
      </p:sp>
      <p:sp>
        <p:nvSpPr>
          <p:cNvPr id="43" name="Shape 40"/>
          <p:cNvSpPr/>
          <p:nvPr/>
        </p:nvSpPr>
        <p:spPr>
          <a:xfrm>
            <a:off x="4459224" y="3233928"/>
            <a:ext cx="256032" cy="256032"/>
          </a:xfrm>
          <a:prstGeom prst="ellipse">
            <a:avLst/>
          </a:prstGeom>
          <a:solidFill>
            <a:srgbClr val="2E8B57"/>
          </a:solidFill>
          <a:ln w="12700">
            <a:solidFill>
              <a:srgbClr val="2E8B57"/>
            </a:solidFill>
            <a:prstDash val="solid"/>
          </a:ln>
        </p:spPr>
      </p:sp>
      <p:sp>
        <p:nvSpPr>
          <p:cNvPr id="44" name="Text 41"/>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45" name="Text 42"/>
          <p:cNvSpPr txBox="1"/>
          <p:nvPr/>
        </p:nvSpPr>
        <p:spPr>
          <a:xfrm>
            <a:off x="4788408" y="3176016"/>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vegetarian salad</a:t>
            </a:r>
            <a:endParaRPr lang="en-US" sz="1250" dirty="0"/>
          </a:p>
        </p:txBody>
      </p:sp>
      <p:sp>
        <p:nvSpPr>
          <p:cNvPr id="46" name="Text 43"/>
          <p:cNvSpPr txBox="1"/>
          <p:nvPr/>
        </p:nvSpPr>
        <p:spPr>
          <a:xfrm>
            <a:off x="4404360" y="3566160"/>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سَلَطَةً نَبَاتِيَّةً.</a:t>
            </a:r>
            <a:endParaRPr lang="ar-SA" sz="1350" dirty="0"/>
          </a:p>
        </p:txBody>
      </p:sp>
      <p:sp>
        <p:nvSpPr>
          <p:cNvPr id="47" name="Shape 44"/>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8223504" y="1947672"/>
            <a:ext cx="310896" cy="310896"/>
          </a:xfrm>
          <a:prstGeom prst="ellipse">
            <a:avLst/>
          </a:prstGeom>
          <a:solidFill>
            <a:srgbClr val="1B3B6F"/>
          </a:solidFill>
          <a:ln w="12700">
            <a:solidFill>
              <a:srgbClr val="1B3B6F"/>
            </a:solidFill>
            <a:prstDash val="solid"/>
          </a:ln>
        </p:spPr>
      </p:sp>
      <p:sp>
        <p:nvSpPr>
          <p:cNvPr id="49" name="Text 46"/>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50" name="Text 47"/>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unavailable today?</a:t>
            </a:r>
            <a:endParaRPr lang="en-US" sz="1250" dirty="0"/>
          </a:p>
        </p:txBody>
      </p:sp>
      <p:sp>
        <p:nvSpPr>
          <p:cNvPr id="51" name="Shape 48"/>
          <p:cNvSpPr/>
          <p:nvPr/>
        </p:nvSpPr>
        <p:spPr>
          <a:xfrm>
            <a:off x="8186928" y="2453640"/>
            <a:ext cx="3453384" cy="347472"/>
          </a:xfrm>
          <a:prstGeom prst="roundRect">
            <a:avLst>
              <a:gd name="adj" fmla="val 15789"/>
            </a:avLst>
          </a:prstGeom>
          <a:solidFill>
            <a:srgbClr val="E6F4EC"/>
          </a:solidFill>
          <a:ln w="9525">
            <a:solidFill>
              <a:srgbClr val="2E8B57"/>
            </a:solidFill>
            <a:prstDash val="solid"/>
          </a:ln>
        </p:spPr>
      </p:sp>
      <p:sp>
        <p:nvSpPr>
          <p:cNvPr id="52" name="Shape 49"/>
          <p:cNvSpPr/>
          <p:nvPr/>
        </p:nvSpPr>
        <p:spPr>
          <a:xfrm>
            <a:off x="8278368" y="2490216"/>
            <a:ext cx="256032" cy="256032"/>
          </a:xfrm>
          <a:prstGeom prst="ellipse">
            <a:avLst/>
          </a:prstGeom>
          <a:solidFill>
            <a:srgbClr val="2E8B57"/>
          </a:solidFill>
          <a:ln w="12700">
            <a:solidFill>
              <a:srgbClr val="2E8B57"/>
            </a:solidFill>
            <a:prstDash val="solid"/>
          </a:ln>
        </p:spPr>
      </p:sp>
      <p:sp>
        <p:nvSpPr>
          <p:cNvPr id="53" name="Text 50"/>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54" name="Text 51"/>
          <p:cNvSpPr txBox="1"/>
          <p:nvPr/>
        </p:nvSpPr>
        <p:spPr>
          <a:xfrm>
            <a:off x="8607552" y="243230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fish</a:t>
            </a:r>
            <a:endParaRPr lang="en-US" sz="1250" dirty="0"/>
          </a:p>
        </p:txBody>
      </p:sp>
      <p:sp>
        <p:nvSpPr>
          <p:cNvPr id="55" name="Shape 52"/>
          <p:cNvSpPr/>
          <p:nvPr/>
        </p:nvSpPr>
        <p:spPr>
          <a:xfrm>
            <a:off x="8278368" y="2862072"/>
            <a:ext cx="256032" cy="256032"/>
          </a:xfrm>
          <a:prstGeom prst="ellipse">
            <a:avLst/>
          </a:prstGeom>
          <a:solidFill>
            <a:srgbClr val="C9CED6"/>
          </a:solidFill>
          <a:ln w="12700">
            <a:solidFill>
              <a:srgbClr val="C9CED6"/>
            </a:solidFill>
            <a:prstDash val="solid"/>
          </a:ln>
        </p:spPr>
      </p:sp>
      <p:sp>
        <p:nvSpPr>
          <p:cNvPr id="56" name="Text 53"/>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7" name="Text 54"/>
          <p:cNvSpPr txBox="1"/>
          <p:nvPr/>
        </p:nvSpPr>
        <p:spPr>
          <a:xfrm>
            <a:off x="8607552"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coffee</a:t>
            </a:r>
            <a:endParaRPr lang="en-US" sz="1250" dirty="0"/>
          </a:p>
        </p:txBody>
      </p:sp>
      <p:sp>
        <p:nvSpPr>
          <p:cNvPr id="58" name="Shape 55"/>
          <p:cNvSpPr/>
          <p:nvPr/>
        </p:nvSpPr>
        <p:spPr>
          <a:xfrm>
            <a:off x="8278368" y="3233928"/>
            <a:ext cx="256032" cy="256032"/>
          </a:xfrm>
          <a:prstGeom prst="ellipse">
            <a:avLst/>
          </a:prstGeom>
          <a:solidFill>
            <a:srgbClr val="C9CED6"/>
          </a:solidFill>
          <a:ln w="12700">
            <a:solidFill>
              <a:srgbClr val="C9CED6"/>
            </a:solidFill>
            <a:prstDash val="solid"/>
          </a:ln>
        </p:spPr>
      </p:sp>
      <p:sp>
        <p:nvSpPr>
          <p:cNvPr id="59" name="Text 56"/>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0" name="Text 57"/>
          <p:cNvSpPr txBox="1"/>
          <p:nvPr/>
        </p:nvSpPr>
        <p:spPr>
          <a:xfrm>
            <a:off x="8607552"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eggs</a:t>
            </a:r>
            <a:endParaRPr lang="en-US" sz="1250" dirty="0"/>
          </a:p>
        </p:txBody>
      </p:sp>
      <p:sp>
        <p:nvSpPr>
          <p:cNvPr id="61" name="Text 58"/>
          <p:cNvSpPr txBox="1"/>
          <p:nvPr/>
        </p:nvSpPr>
        <p:spPr>
          <a:xfrm>
            <a:off x="8223504" y="3566160"/>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لَا يُوجَدُ سَمَكٌ اليَوْمَ.</a:t>
            </a:r>
            <a:endParaRPr lang="ar-SA" sz="1350" dirty="0"/>
          </a:p>
        </p:txBody>
      </p:sp>
      <p:sp>
        <p:nvSpPr>
          <p:cNvPr id="62" name="Shape 59"/>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3" name="Shape 60"/>
          <p:cNvSpPr/>
          <p:nvPr/>
        </p:nvSpPr>
        <p:spPr>
          <a:xfrm>
            <a:off x="585216" y="4288536"/>
            <a:ext cx="310896" cy="310896"/>
          </a:xfrm>
          <a:prstGeom prst="ellipse">
            <a:avLst/>
          </a:prstGeom>
          <a:solidFill>
            <a:srgbClr val="1B3B6F"/>
          </a:solidFill>
          <a:ln w="12700">
            <a:solidFill>
              <a:srgbClr val="1B3B6F"/>
            </a:solidFill>
            <a:prstDash val="solid"/>
          </a:ln>
        </p:spPr>
      </p:sp>
      <p:sp>
        <p:nvSpPr>
          <p:cNvPr id="64" name="Text 61"/>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5" name="Text 62"/>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Where do customers order?</a:t>
            </a:r>
            <a:endParaRPr lang="en-US" sz="1250" dirty="0"/>
          </a:p>
        </p:txBody>
      </p:sp>
      <p:sp>
        <p:nvSpPr>
          <p:cNvPr id="66" name="Shape 63"/>
          <p:cNvSpPr/>
          <p:nvPr/>
        </p:nvSpPr>
        <p:spPr>
          <a:xfrm>
            <a:off x="640080" y="4831080"/>
            <a:ext cx="256032" cy="256032"/>
          </a:xfrm>
          <a:prstGeom prst="ellipse">
            <a:avLst/>
          </a:prstGeom>
          <a:solidFill>
            <a:srgbClr val="C9CED6"/>
          </a:solidFill>
          <a:ln w="12700">
            <a:solidFill>
              <a:srgbClr val="C9CED6"/>
            </a:solidFill>
            <a:prstDash val="solid"/>
          </a:ln>
        </p:spPr>
      </p:sp>
      <p:sp>
        <p:nvSpPr>
          <p:cNvPr id="67" name="Text 64"/>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8" name="Text 65"/>
          <p:cNvSpPr txBox="1"/>
          <p:nvPr/>
        </p:nvSpPr>
        <p:spPr>
          <a:xfrm>
            <a:off x="969264" y="4773168"/>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at the door</a:t>
            </a:r>
            <a:endParaRPr lang="en-US" sz="1250" dirty="0"/>
          </a:p>
        </p:txBody>
      </p:sp>
      <p:sp>
        <p:nvSpPr>
          <p:cNvPr id="69" name="Shape 66"/>
          <p:cNvSpPr/>
          <p:nvPr/>
        </p:nvSpPr>
        <p:spPr>
          <a:xfrm>
            <a:off x="548640" y="5166360"/>
            <a:ext cx="3453384" cy="347472"/>
          </a:xfrm>
          <a:prstGeom prst="roundRect">
            <a:avLst>
              <a:gd name="adj" fmla="val 15789"/>
            </a:avLst>
          </a:prstGeom>
          <a:solidFill>
            <a:srgbClr val="E6F4EC"/>
          </a:solidFill>
          <a:ln w="9525">
            <a:solidFill>
              <a:srgbClr val="2E8B57"/>
            </a:solidFill>
            <a:prstDash val="solid"/>
          </a:ln>
        </p:spPr>
      </p:sp>
      <p:sp>
        <p:nvSpPr>
          <p:cNvPr id="70" name="Shape 67"/>
          <p:cNvSpPr/>
          <p:nvPr/>
        </p:nvSpPr>
        <p:spPr>
          <a:xfrm>
            <a:off x="640080" y="5202936"/>
            <a:ext cx="256032" cy="256032"/>
          </a:xfrm>
          <a:prstGeom prst="ellipse">
            <a:avLst/>
          </a:prstGeom>
          <a:solidFill>
            <a:srgbClr val="2E8B57"/>
          </a:solidFill>
          <a:ln w="12700">
            <a:solidFill>
              <a:srgbClr val="2E8B57"/>
            </a:solidFill>
            <a:prstDash val="solid"/>
          </a:ln>
        </p:spPr>
      </p:sp>
      <p:sp>
        <p:nvSpPr>
          <p:cNvPr id="71" name="Text 68"/>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72" name="Text 69"/>
          <p:cNvSpPr txBox="1"/>
          <p:nvPr/>
        </p:nvSpPr>
        <p:spPr>
          <a:xfrm>
            <a:off x="969264" y="514502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at the table</a:t>
            </a:r>
            <a:endParaRPr lang="en-US" sz="1250" dirty="0"/>
          </a:p>
        </p:txBody>
      </p:sp>
      <p:sp>
        <p:nvSpPr>
          <p:cNvPr id="73" name="Shape 70"/>
          <p:cNvSpPr/>
          <p:nvPr/>
        </p:nvSpPr>
        <p:spPr>
          <a:xfrm>
            <a:off x="640080" y="5574792"/>
            <a:ext cx="256032" cy="256032"/>
          </a:xfrm>
          <a:prstGeom prst="ellipse">
            <a:avLst/>
          </a:prstGeom>
          <a:solidFill>
            <a:srgbClr val="C9CED6"/>
          </a:solidFill>
          <a:ln w="12700">
            <a:solidFill>
              <a:srgbClr val="C9CED6"/>
            </a:solidFill>
            <a:prstDash val="solid"/>
          </a:ln>
        </p:spPr>
      </p:sp>
      <p:sp>
        <p:nvSpPr>
          <p:cNvPr id="74" name="Text 71"/>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5" name="Text 72"/>
          <p:cNvSpPr txBox="1"/>
          <p:nvPr/>
        </p:nvSpPr>
        <p:spPr>
          <a:xfrm>
            <a:off x="969264" y="551688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online</a:t>
            </a:r>
            <a:endParaRPr lang="en-US" sz="1250" dirty="0"/>
          </a:p>
        </p:txBody>
      </p:sp>
      <p:sp>
        <p:nvSpPr>
          <p:cNvPr id="76" name="Text 73"/>
          <p:cNvSpPr txBox="1"/>
          <p:nvPr/>
        </p:nvSpPr>
        <p:spPr>
          <a:xfrm>
            <a:off x="585216" y="5907024"/>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اُطْلُبُوا عِنْدَ الطَّاوِلَةِ.</a:t>
            </a:r>
            <a:endParaRPr lang="ar-SA" sz="1350" dirty="0"/>
          </a:p>
        </p:txBody>
      </p:sp>
      <p:sp>
        <p:nvSpPr>
          <p:cNvPr id="77" name="Shape 74"/>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8" name="Shape 75"/>
          <p:cNvSpPr/>
          <p:nvPr/>
        </p:nvSpPr>
        <p:spPr>
          <a:xfrm>
            <a:off x="4404360" y="4288536"/>
            <a:ext cx="310896" cy="310896"/>
          </a:xfrm>
          <a:prstGeom prst="ellipse">
            <a:avLst/>
          </a:prstGeom>
          <a:solidFill>
            <a:srgbClr val="1B3B6F"/>
          </a:solidFill>
          <a:ln w="12700">
            <a:solidFill>
              <a:srgbClr val="1B3B6F"/>
            </a:solidFill>
            <a:prstDash val="solid"/>
          </a:ln>
        </p:spPr>
      </p:sp>
      <p:sp>
        <p:nvSpPr>
          <p:cNvPr id="79" name="Text 76"/>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80" name="Text 77"/>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Where do customers pay?</a:t>
            </a:r>
            <a:endParaRPr lang="en-US" sz="1250" dirty="0"/>
          </a:p>
        </p:txBody>
      </p:sp>
      <p:sp>
        <p:nvSpPr>
          <p:cNvPr id="81" name="Shape 78"/>
          <p:cNvSpPr/>
          <p:nvPr/>
        </p:nvSpPr>
        <p:spPr>
          <a:xfrm>
            <a:off x="4367784" y="4794504"/>
            <a:ext cx="3453384" cy="347472"/>
          </a:xfrm>
          <a:prstGeom prst="roundRect">
            <a:avLst>
              <a:gd name="adj" fmla="val 15789"/>
            </a:avLst>
          </a:prstGeom>
          <a:solidFill>
            <a:srgbClr val="E6F4EC"/>
          </a:solidFill>
          <a:ln w="9525">
            <a:solidFill>
              <a:srgbClr val="2E8B57"/>
            </a:solidFill>
            <a:prstDash val="solid"/>
          </a:ln>
        </p:spPr>
      </p:sp>
      <p:sp>
        <p:nvSpPr>
          <p:cNvPr id="82" name="Shape 79"/>
          <p:cNvSpPr/>
          <p:nvPr/>
        </p:nvSpPr>
        <p:spPr>
          <a:xfrm>
            <a:off x="4459224" y="4831080"/>
            <a:ext cx="256032" cy="256032"/>
          </a:xfrm>
          <a:prstGeom prst="ellipse">
            <a:avLst/>
          </a:prstGeom>
          <a:solidFill>
            <a:srgbClr val="2E8B57"/>
          </a:solidFill>
          <a:ln w="12700">
            <a:solidFill>
              <a:srgbClr val="2E8B57"/>
            </a:solidFill>
            <a:prstDash val="solid"/>
          </a:ln>
        </p:spPr>
      </p:sp>
      <p:sp>
        <p:nvSpPr>
          <p:cNvPr id="83" name="Text 80"/>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84" name="Text 81"/>
          <p:cNvSpPr txBox="1"/>
          <p:nvPr/>
        </p:nvSpPr>
        <p:spPr>
          <a:xfrm>
            <a:off x="4788408" y="4773168"/>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at the door</a:t>
            </a:r>
            <a:endParaRPr lang="en-US" sz="1250" dirty="0"/>
          </a:p>
        </p:txBody>
      </p:sp>
      <p:sp>
        <p:nvSpPr>
          <p:cNvPr id="85" name="Shape 82"/>
          <p:cNvSpPr/>
          <p:nvPr/>
        </p:nvSpPr>
        <p:spPr>
          <a:xfrm>
            <a:off x="4459224" y="5202936"/>
            <a:ext cx="256032" cy="256032"/>
          </a:xfrm>
          <a:prstGeom prst="ellipse">
            <a:avLst/>
          </a:prstGeom>
          <a:solidFill>
            <a:srgbClr val="C9CED6"/>
          </a:solidFill>
          <a:ln w="12700">
            <a:solidFill>
              <a:srgbClr val="C9CED6"/>
            </a:solidFill>
            <a:prstDash val="solid"/>
          </a:ln>
        </p:spPr>
      </p:sp>
      <p:sp>
        <p:nvSpPr>
          <p:cNvPr id="86" name="Text 83"/>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87" name="Text 84"/>
          <p:cNvSpPr txBox="1"/>
          <p:nvPr/>
        </p:nvSpPr>
        <p:spPr>
          <a:xfrm>
            <a:off x="4788408" y="514502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at the table</a:t>
            </a:r>
            <a:endParaRPr lang="en-US" sz="1250" dirty="0"/>
          </a:p>
        </p:txBody>
      </p:sp>
      <p:sp>
        <p:nvSpPr>
          <p:cNvPr id="88" name="Shape 85"/>
          <p:cNvSpPr/>
          <p:nvPr/>
        </p:nvSpPr>
        <p:spPr>
          <a:xfrm>
            <a:off x="4459224" y="5574792"/>
            <a:ext cx="256032" cy="256032"/>
          </a:xfrm>
          <a:prstGeom prst="ellipse">
            <a:avLst/>
          </a:prstGeom>
          <a:solidFill>
            <a:srgbClr val="C9CED6"/>
          </a:solidFill>
          <a:ln w="12700">
            <a:solidFill>
              <a:srgbClr val="C9CED6"/>
            </a:solidFill>
            <a:prstDash val="solid"/>
          </a:ln>
        </p:spPr>
      </p:sp>
      <p:sp>
        <p:nvSpPr>
          <p:cNvPr id="89" name="Text 86"/>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90" name="Text 87"/>
          <p:cNvSpPr txBox="1"/>
          <p:nvPr/>
        </p:nvSpPr>
        <p:spPr>
          <a:xfrm>
            <a:off x="4788408" y="551688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in the kitchen</a:t>
            </a:r>
            <a:endParaRPr lang="en-US" sz="1250" dirty="0"/>
          </a:p>
        </p:txBody>
      </p:sp>
      <p:sp>
        <p:nvSpPr>
          <p:cNvPr id="91" name="Text 88"/>
          <p:cNvSpPr txBox="1"/>
          <p:nvPr/>
        </p:nvSpPr>
        <p:spPr>
          <a:xfrm>
            <a:off x="4404360" y="5907024"/>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وَادْفَعُوا عِنْدَ البَابِ.</a:t>
            </a:r>
            <a:endParaRPr lang="ar-SA" sz="1350" dirty="0"/>
          </a:p>
        </p:txBody>
      </p:sp>
      <p:sp>
        <p:nvSpPr>
          <p:cNvPr id="92" name="Shape 89"/>
          <p:cNvSpPr/>
          <p:nvPr/>
        </p:nvSpPr>
        <p:spPr>
          <a:xfrm>
            <a:off x="8095488"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93" name="Text 90"/>
          <p:cNvSpPr txBox="1"/>
          <p:nvPr/>
        </p:nvSpPr>
        <p:spPr>
          <a:xfrm>
            <a:off x="8278368" y="4279392"/>
            <a:ext cx="3270504"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READ LIKE A DETECTIVE</a:t>
            </a:r>
            <a:endParaRPr lang="en-US" sz="1000" dirty="0"/>
          </a:p>
        </p:txBody>
      </p:sp>
      <p:sp>
        <p:nvSpPr>
          <p:cNvPr id="94" name="Text 91"/>
          <p:cNvSpPr txBox="1"/>
          <p:nvPr/>
        </p:nvSpPr>
        <p:spPr>
          <a:xfrm>
            <a:off x="8278368" y="4590288"/>
            <a:ext cx="3270504" cy="1609344"/>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1. Read the question first.</a:t>
            </a:r>
            <a:endParaRPr lang="en-US" sz="1250" dirty="0"/>
          </a:p>
          <a:p>
            <a:pPr algn="l" indent="0" marL="0">
              <a:buNone/>
            </a:pPr>
            <a:r>
              <a:rPr lang="en-US" sz="1250" dirty="0">
                <a:solidFill>
                  <a:srgbClr val="1F2A37"/>
                </a:solidFill>
                <a:latin typeface="Calibri" pitchFamily="34" charset="0"/>
                <a:cs typeface="Amiri" pitchFamily="2" charset="-78"/>
              </a:rPr>
              <a:t>2. Find ONE key word from the question in the text.</a:t>
            </a:r>
            <a:endParaRPr lang="en-US" sz="1250" dirty="0"/>
          </a:p>
          <a:p>
            <a:pPr algn="l" indent="0" marL="0">
              <a:buNone/>
            </a:pPr>
            <a:r>
              <a:rPr lang="en-US" sz="1250" dirty="0">
                <a:solidFill>
                  <a:srgbClr val="1F2A37"/>
                </a:solidFill>
                <a:latin typeface="Calibri" pitchFamily="34" charset="0"/>
                <a:cs typeface="Amiri" pitchFamily="2" charset="-78"/>
              </a:rPr>
              <a:t>3. Read only that sentence again, then choose.</a:t>
            </a:r>
            <a:endParaRPr lang="en-US" sz="1250" dirty="0"/>
          </a:p>
        </p:txBody>
      </p:sp>
      <p:sp>
        <p:nvSpPr>
          <p:cNvPr id="95" name="Text 9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41 / 43</a:t>
            </a:r>
            <a:endParaRPr lang="en-US" sz="85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F5-L05 · Ordering Politely</a:t>
            </a:r>
            <a:endParaRPr lang="en-US" sz="950" dirty="0"/>
          </a:p>
        </p:txBody>
      </p:sp>
      <p:sp>
        <p:nvSpPr>
          <p:cNvPr id="8" name="Shape 6"/>
          <p:cNvSpPr/>
          <p:nvPr/>
        </p:nvSpPr>
        <p:spPr>
          <a:xfrm>
            <a:off x="6915607" y="274320"/>
            <a:ext cx="1844345" cy="329184"/>
          </a:xfrm>
          <a:prstGeom prst="roundRect">
            <a:avLst>
              <a:gd name="adj" fmla="val 50000"/>
            </a:avLst>
          </a:prstGeom>
          <a:solidFill>
            <a:srgbClr val="C45A3C"/>
          </a:solidFill>
          <a:ln w="12700">
            <a:solidFill>
              <a:srgbClr val="C45A3C"/>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PREPARATION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C45A3C"/>
                </a:solidFill>
                <a:latin typeface="Calibri" pitchFamily="34" charset="0"/>
                <a:cs typeface="Amiri" pitchFamily="2" charset="-78"/>
              </a:rPr>
              <a:t>PREPARATION FOR NEXT LESSON · ABOUT 10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50" b="1" dirty="0">
                <a:solidFill>
                  <a:srgbClr val="1B3B6F"/>
                </a:solidFill>
                <a:latin typeface="Cambria" pitchFamily="34" charset="0"/>
                <a:cs typeface="Amiri" pitchFamily="2" charset="-78"/>
              </a:rPr>
              <a:t>Before F5-L06: get ready at home</a:t>
            </a:r>
            <a:endParaRPr lang="en-US" sz="2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التَّحْضِيرُ لِلدَّرْسِ القَادِمِ</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F5 · Food, Health and Body · F5-L05</a:t>
            </a:r>
            <a:endParaRPr lang="en-US" sz="850" dirty="0"/>
          </a:p>
        </p:txBody>
      </p:sp>
      <p:sp>
        <p:nvSpPr>
          <p:cNvPr id="15" name="Shape 12"/>
          <p:cNvSpPr/>
          <p:nvPr/>
        </p:nvSpPr>
        <p:spPr>
          <a:xfrm>
            <a:off x="457200" y="1810512"/>
            <a:ext cx="5394960" cy="4498848"/>
          </a:xfrm>
          <a:prstGeom prst="roundRect">
            <a:avLst>
              <a:gd name="adj" fmla="val 1626"/>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475488" cy="475488"/>
          </a:xfrm>
          <a:prstGeom prst="ellipse">
            <a:avLst/>
          </a:prstGeom>
          <a:solidFill>
            <a:srgbClr val="C45A3C"/>
          </a:solidFill>
          <a:ln w="12700">
            <a:solidFill>
              <a:srgbClr val="C45A3C"/>
            </a:solidFill>
            <a:prstDash val="solid"/>
          </a:ln>
        </p:spPr>
      </p:sp>
      <p:pic>
        <p:nvPicPr>
          <p:cNvPr id="17" name="Image 0" descr="preencoded.png">    </p:cNvPr>
          <p:cNvPicPr>
            <a:picLocks noChangeAspect="1"/>
          </p:cNvPicPr>
          <p:nvPr/>
        </p:nvPicPr>
        <p:blipFill>
          <a:blip r:embed="rId1"/>
          <a:stretch>
            <a:fillRect/>
          </a:stretch>
        </p:blipFill>
        <p:spPr>
          <a:xfrm>
            <a:off x="731520" y="2029968"/>
            <a:ext cx="292608" cy="292608"/>
          </a:xfrm>
          <a:prstGeom prst="rect">
            <a:avLst/>
          </a:prstGeom>
        </p:spPr>
      </p:pic>
      <p:sp>
        <p:nvSpPr>
          <p:cNvPr id="18" name="Text 14"/>
          <p:cNvSpPr txBox="1"/>
          <p:nvPr/>
        </p:nvSpPr>
        <p:spPr>
          <a:xfrm>
            <a:off x="1207008" y="1920240"/>
            <a:ext cx="4480560" cy="512064"/>
          </a:xfrm>
          <a:prstGeom prst="rect">
            <a:avLst/>
          </a:prstGeom>
          <a:noFill/>
          <a:ln/>
        </p:spPr>
        <p:txBody>
          <a:bodyPr wrap="square" lIns="0" tIns="0" rIns="0" bIns="0" rtlCol="0" anchor="ctr"/>
          <a:lstStyle/>
          <a:p>
            <a:pPr indent="0" marL="0">
              <a:buNone/>
            </a:pPr>
            <a:r>
              <a:rPr lang="en-US" sz="1100" b="1" spc="200" kern="0" dirty="0">
                <a:solidFill>
                  <a:srgbClr val="C45A3C"/>
                </a:solidFill>
                <a:latin typeface="Calibri" pitchFamily="34" charset="0"/>
                <a:cs typeface="Amiri" pitchFamily="2" charset="-78"/>
              </a:rPr>
              <a:t>LEARN THESE 5 WORDS</a:t>
            </a:r>
            <a:endParaRPr lang="en-US" sz="1100" dirty="0"/>
          </a:p>
          <a:p>
            <a:pPr indent="0" marL="0">
              <a:buNone/>
            </a:pPr>
            <a:r>
              <a:rPr lang="en-US" sz="1000" dirty="0">
                <a:solidFill>
                  <a:srgbClr val="5A6472"/>
                </a:solidFill>
                <a:latin typeface="Calibri" pitchFamily="34" charset="0"/>
                <a:cs typeface="Amiri" pitchFamily="2" charset="-78"/>
              </a:rPr>
              <a:t>for F5-L06 · Menus, Prices and Dishes</a:t>
            </a:r>
            <a:endParaRPr lang="en-US" sz="1100" dirty="0"/>
          </a:p>
        </p:txBody>
      </p:sp>
      <p:sp>
        <p:nvSpPr>
          <p:cNvPr id="19" name="Text 15"/>
          <p:cNvSpPr txBox="1"/>
          <p:nvPr/>
        </p:nvSpPr>
        <p:spPr>
          <a:xfrm>
            <a:off x="3017520" y="25603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سِعْرٌ</a:t>
            </a:r>
            <a:endParaRPr lang="ar-SA" sz="2000" dirty="0"/>
          </a:p>
        </p:txBody>
      </p:sp>
      <p:sp>
        <p:nvSpPr>
          <p:cNvPr id="20" name="Text 16"/>
          <p:cNvSpPr txBox="1"/>
          <p:nvPr/>
        </p:nvSpPr>
        <p:spPr>
          <a:xfrm>
            <a:off x="685800" y="25603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a price</a:t>
            </a:r>
            <a:pPr indent="0" marL="0">
              <a:buNone/>
            </a:pPr>
            <a:r>
              <a:rPr lang="ar-SA" sz="1000" i="1" dirty="0">
                <a:solidFill>
                  <a:srgbClr val="5A6472"/>
                </a:solidFill>
                <a:latin typeface="Calibri" pitchFamily="34" charset="0"/>
                <a:ea typeface="Amiri" pitchFamily="2" charset="-78"/>
                <a:cs typeface="Amiri" pitchFamily="2" charset="-78"/>
              </a:rPr>
              <a:t>  pl. أَسْعَارٌ</a:t>
            </a:r>
            <a:endParaRPr lang="en-US" sz="1200" dirty="0"/>
          </a:p>
        </p:txBody>
      </p:sp>
      <p:sp>
        <p:nvSpPr>
          <p:cNvPr id="21" name="Text 17"/>
          <p:cNvSpPr txBox="1"/>
          <p:nvPr/>
        </p:nvSpPr>
        <p:spPr>
          <a:xfrm>
            <a:off x="3017520" y="30175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طَبَقٌ</a:t>
            </a:r>
            <a:endParaRPr lang="ar-SA" sz="2000" dirty="0"/>
          </a:p>
        </p:txBody>
      </p:sp>
      <p:sp>
        <p:nvSpPr>
          <p:cNvPr id="22" name="Text 18"/>
          <p:cNvSpPr txBox="1"/>
          <p:nvPr/>
        </p:nvSpPr>
        <p:spPr>
          <a:xfrm>
            <a:off x="685800" y="30175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a dish / plate</a:t>
            </a:r>
            <a:pPr indent="0" marL="0">
              <a:buNone/>
            </a:pPr>
            <a:r>
              <a:rPr lang="ar-SA" sz="1000" i="1" dirty="0">
                <a:solidFill>
                  <a:srgbClr val="5A6472"/>
                </a:solidFill>
                <a:latin typeface="Calibri" pitchFamily="34" charset="0"/>
                <a:ea typeface="Amiri" pitchFamily="2" charset="-78"/>
                <a:cs typeface="Amiri" pitchFamily="2" charset="-78"/>
              </a:rPr>
              <a:t>  pl. أَطْبَاقٌ</a:t>
            </a:r>
            <a:endParaRPr lang="en-US" sz="1200" dirty="0"/>
          </a:p>
        </p:txBody>
      </p:sp>
      <p:sp>
        <p:nvSpPr>
          <p:cNvPr id="23" name="Text 19"/>
          <p:cNvSpPr txBox="1"/>
          <p:nvPr/>
        </p:nvSpPr>
        <p:spPr>
          <a:xfrm>
            <a:off x="3017520" y="34747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رِيَالٌ / جُنَيْهٌ</a:t>
            </a:r>
            <a:endParaRPr lang="ar-SA" sz="2000" dirty="0"/>
          </a:p>
        </p:txBody>
      </p:sp>
      <p:sp>
        <p:nvSpPr>
          <p:cNvPr id="24" name="Text 20"/>
          <p:cNvSpPr txBox="1"/>
          <p:nvPr/>
        </p:nvSpPr>
        <p:spPr>
          <a:xfrm>
            <a:off x="685800" y="34747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a riyal / a pound</a:t>
            </a:r>
            <a:pPr indent="0" marL="0">
              <a:buNone/>
            </a:pPr>
            <a:r>
              <a:rPr lang="en-US" sz="1000" i="1" dirty="0">
                <a:solidFill>
                  <a:srgbClr val="5A6472"/>
                </a:solidFill>
                <a:latin typeface="Calibri" pitchFamily="34" charset="0"/>
                <a:cs typeface="Amiri" pitchFamily="2" charset="-78"/>
              </a:rPr>
              <a:t>  —</a:t>
            </a:r>
            <a:endParaRPr lang="en-US" sz="1200" dirty="0"/>
          </a:p>
        </p:txBody>
      </p:sp>
      <p:sp>
        <p:nvSpPr>
          <p:cNvPr id="25" name="Text 21"/>
          <p:cNvSpPr txBox="1"/>
          <p:nvPr/>
        </p:nvSpPr>
        <p:spPr>
          <a:xfrm>
            <a:off x="3017520" y="39319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مُقَبِّلَاتٌ</a:t>
            </a:r>
            <a:endParaRPr lang="ar-SA" sz="2000" dirty="0"/>
          </a:p>
        </p:txBody>
      </p:sp>
      <p:sp>
        <p:nvSpPr>
          <p:cNvPr id="26" name="Text 22"/>
          <p:cNvSpPr txBox="1"/>
          <p:nvPr/>
        </p:nvSpPr>
        <p:spPr>
          <a:xfrm>
            <a:off x="685800" y="39319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starters</a:t>
            </a:r>
            <a:pPr indent="0" marL="0">
              <a:buNone/>
            </a:pPr>
            <a:r>
              <a:rPr lang="en-US" sz="1000" i="1" dirty="0">
                <a:solidFill>
                  <a:srgbClr val="5A6472"/>
                </a:solidFill>
                <a:latin typeface="Calibri" pitchFamily="34" charset="0"/>
                <a:cs typeface="Amiri" pitchFamily="2" charset="-78"/>
              </a:rPr>
              <a:t>  —</a:t>
            </a:r>
            <a:endParaRPr lang="en-US" sz="1200" dirty="0"/>
          </a:p>
        </p:txBody>
      </p:sp>
      <p:sp>
        <p:nvSpPr>
          <p:cNvPr id="27" name="Text 23"/>
          <p:cNvSpPr txBox="1"/>
          <p:nvPr/>
        </p:nvSpPr>
        <p:spPr>
          <a:xfrm>
            <a:off x="3017520" y="43891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حَلْوَى</a:t>
            </a:r>
            <a:endParaRPr lang="ar-SA" sz="2000" dirty="0"/>
          </a:p>
        </p:txBody>
      </p:sp>
      <p:sp>
        <p:nvSpPr>
          <p:cNvPr id="28" name="Text 24"/>
          <p:cNvSpPr txBox="1"/>
          <p:nvPr/>
        </p:nvSpPr>
        <p:spPr>
          <a:xfrm>
            <a:off x="685800" y="43891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dessert / sweets</a:t>
            </a:r>
            <a:pPr indent="0" marL="0">
              <a:buNone/>
            </a:pPr>
            <a:r>
              <a:rPr lang="en-US" sz="1000" i="1" dirty="0">
                <a:solidFill>
                  <a:srgbClr val="5A6472"/>
                </a:solidFill>
                <a:latin typeface="Calibri" pitchFamily="34" charset="0"/>
                <a:cs typeface="Amiri" pitchFamily="2" charset="-78"/>
              </a:rPr>
              <a:t>  —</a:t>
            </a:r>
            <a:endParaRPr lang="en-US" sz="1200" dirty="0"/>
          </a:p>
        </p:txBody>
      </p:sp>
      <p:sp>
        <p:nvSpPr>
          <p:cNvPr id="29" name="Text 25"/>
          <p:cNvSpPr txBox="1"/>
          <p:nvPr/>
        </p:nvSpPr>
        <p:spPr>
          <a:xfrm>
            <a:off x="685800" y="4892040"/>
            <a:ext cx="2743200" cy="237744"/>
          </a:xfrm>
          <a:prstGeom prst="rect">
            <a:avLst/>
          </a:prstGeom>
          <a:noFill/>
          <a:ln/>
        </p:spPr>
        <p:txBody>
          <a:bodyPr wrap="square" lIns="0" tIns="0" rIns="0" bIns="0" rtlCol="0" anchor="ctr"/>
          <a:lstStyle/>
          <a:p>
            <a:pPr algn="l" indent="0" marL="0">
              <a:buNone/>
            </a:pPr>
            <a:r>
              <a:rPr lang="en-US" sz="900" b="1" spc="200" kern="0" dirty="0">
                <a:solidFill>
                  <a:srgbClr val="C45A3C"/>
                </a:solidFill>
                <a:latin typeface="Calibri" pitchFamily="34" charset="0"/>
                <a:cs typeface="Amiri" pitchFamily="2" charset="-78"/>
              </a:rPr>
              <a:t>AND ANSWER ONE QUESTION</a:t>
            </a:r>
            <a:endParaRPr lang="en-US" sz="900" dirty="0"/>
          </a:p>
        </p:txBody>
      </p:sp>
      <p:sp>
        <p:nvSpPr>
          <p:cNvPr id="30" name="Text 26"/>
          <p:cNvSpPr txBox="1"/>
          <p:nvPr/>
        </p:nvSpPr>
        <p:spPr>
          <a:xfrm>
            <a:off x="685800" y="5129784"/>
            <a:ext cx="2194560" cy="1005840"/>
          </a:xfrm>
          <a:prstGeom prst="rect">
            <a:avLst/>
          </a:prstGeom>
          <a:noFill/>
          <a:ln/>
        </p:spPr>
        <p:txBody>
          <a:bodyPr wrap="square" lIns="0" tIns="0" rIns="0" bIns="0" rtlCol="0" anchor="t"/>
          <a:lstStyle/>
          <a:p>
            <a:pPr algn="l" indent="0" marL="0">
              <a:buNone/>
            </a:pPr>
            <a:r>
              <a:rPr lang="en-US" sz="1050" dirty="0">
                <a:solidFill>
                  <a:srgbClr val="1F2A37"/>
                </a:solidFill>
                <a:latin typeface="Calibri" pitchFamily="34" charset="0"/>
                <a:cs typeface="Amiri" pitchFamily="2" charset="-78"/>
              </a:rPr>
              <a:t>What is your favourite dish from any country? Write its name.</a:t>
            </a:r>
            <a:endParaRPr lang="en-US" sz="1050" dirty="0"/>
          </a:p>
        </p:txBody>
      </p:sp>
      <p:sp>
        <p:nvSpPr>
          <p:cNvPr id="31" name="Text 27"/>
          <p:cNvSpPr txBox="1"/>
          <p:nvPr/>
        </p:nvSpPr>
        <p:spPr>
          <a:xfrm>
            <a:off x="2926080" y="5074920"/>
            <a:ext cx="2743200" cy="1051560"/>
          </a:xfrm>
          <a:prstGeom prst="rect">
            <a:avLst/>
          </a:prstGeom>
          <a:noFill/>
          <a:ln/>
        </p:spPr>
        <p:txBody>
          <a:bodyPr wrap="square" lIns="0" tIns="0" rIns="0" bIns="0" rtlCol="0" anchor="ctr"/>
          <a:lstStyle/>
          <a:p>
            <a:pPr rtl="1" algn="r" indent="0" marL="0">
              <a:buNone/>
            </a:pPr>
            <a:r>
              <a:rPr lang="ar-SA" altLang="en-US" sz="1700" b="1" dirty="0">
                <a:solidFill>
                  <a:srgbClr val="1B3B6F"/>
                </a:solidFill>
                <a:latin typeface="Amiri" pitchFamily="2" charset="-78"/>
                <a:ea typeface="Amiri" pitchFamily="2" charset="-78"/>
                <a:cs typeface="Amiri" pitchFamily="2" charset="-78"/>
              </a:rPr>
              <a:t>طَبَقِي المُفَضَّلُ هُوَ …</a:t>
            </a:r>
            <a:endParaRPr lang="ar-SA" sz="1700" dirty="0"/>
          </a:p>
        </p:txBody>
      </p:sp>
      <p:sp>
        <p:nvSpPr>
          <p:cNvPr id="32" name="Text 28"/>
          <p:cNvSpPr txBox="1"/>
          <p:nvPr/>
        </p:nvSpPr>
        <p:spPr>
          <a:xfrm>
            <a:off x="6126480" y="1828800"/>
            <a:ext cx="548640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HOMEWORK — CHOOSE YOUR ROUTE</a:t>
            </a:r>
            <a:endParaRPr lang="en-US" sz="1000" dirty="0"/>
          </a:p>
        </p:txBody>
      </p:sp>
      <p:sp>
        <p:nvSpPr>
          <p:cNvPr id="33" name="Shape 29"/>
          <p:cNvSpPr/>
          <p:nvPr/>
        </p:nvSpPr>
        <p:spPr>
          <a:xfrm>
            <a:off x="6126480" y="2194560"/>
            <a:ext cx="5605272" cy="1243584"/>
          </a:xfrm>
          <a:prstGeom prst="roundRect">
            <a:avLst>
              <a:gd name="adj" fmla="val 5882"/>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34" name="Shape 30"/>
          <p:cNvSpPr/>
          <p:nvPr/>
        </p:nvSpPr>
        <p:spPr>
          <a:xfrm>
            <a:off x="6309360" y="2322576"/>
            <a:ext cx="1051560" cy="274320"/>
          </a:xfrm>
          <a:prstGeom prst="roundRect">
            <a:avLst>
              <a:gd name="adj" fmla="val 50000"/>
            </a:avLst>
          </a:prstGeom>
          <a:solidFill>
            <a:srgbClr val="2E8B57"/>
          </a:solidFill>
          <a:ln w="12700">
            <a:solidFill>
              <a:srgbClr val="2E8B57"/>
            </a:solidFill>
            <a:prstDash val="solid"/>
          </a:ln>
        </p:spPr>
      </p:sp>
      <p:sp>
        <p:nvSpPr>
          <p:cNvPr id="35" name="Text 31"/>
          <p:cNvSpPr txBox="1"/>
          <p:nvPr/>
        </p:nvSpPr>
        <p:spPr>
          <a:xfrm>
            <a:off x="6309360" y="23225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36" name="Text 32"/>
          <p:cNvSpPr txBox="1"/>
          <p:nvPr/>
        </p:nvSpPr>
        <p:spPr>
          <a:xfrm>
            <a:off x="6309360" y="26517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Website F5-L05: the vocabulary tab and the “Build the transaction” sorter.</a:t>
            </a:r>
            <a:endParaRPr lang="en-US" sz="1200" dirty="0"/>
          </a:p>
        </p:txBody>
      </p:sp>
      <p:sp>
        <p:nvSpPr>
          <p:cNvPr id="37" name="Shape 33"/>
          <p:cNvSpPr/>
          <p:nvPr/>
        </p:nvSpPr>
        <p:spPr>
          <a:xfrm>
            <a:off x="6126480" y="3566160"/>
            <a:ext cx="5605272" cy="1243584"/>
          </a:xfrm>
          <a:prstGeom prst="roundRect">
            <a:avLst>
              <a:gd name="adj" fmla="val 5882"/>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38" name="Shape 34"/>
          <p:cNvSpPr/>
          <p:nvPr/>
        </p:nvSpPr>
        <p:spPr>
          <a:xfrm>
            <a:off x="6309360" y="3694176"/>
            <a:ext cx="1051560" cy="274320"/>
          </a:xfrm>
          <a:prstGeom prst="roundRect">
            <a:avLst>
              <a:gd name="adj" fmla="val 50000"/>
            </a:avLst>
          </a:prstGeom>
          <a:solidFill>
            <a:srgbClr val="C9780A"/>
          </a:solidFill>
          <a:ln w="12700">
            <a:solidFill>
              <a:srgbClr val="C9780A"/>
            </a:solidFill>
            <a:prstDash val="solid"/>
          </a:ln>
        </p:spPr>
      </p:sp>
      <p:sp>
        <p:nvSpPr>
          <p:cNvPr id="39" name="Text 35"/>
          <p:cNvSpPr txBox="1"/>
          <p:nvPr/>
        </p:nvSpPr>
        <p:spPr>
          <a:xfrm>
            <a:off x="6309360" y="36941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40" name="Text 36"/>
          <p:cNvSpPr txBox="1"/>
          <p:nvPr/>
        </p:nvSpPr>
        <p:spPr>
          <a:xfrm>
            <a:off x="6309360" y="40233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Website writing task: an 8-line café dialogue with one clarification.</a:t>
            </a:r>
            <a:endParaRPr lang="en-US" sz="1200" dirty="0"/>
          </a:p>
        </p:txBody>
      </p:sp>
      <p:sp>
        <p:nvSpPr>
          <p:cNvPr id="41" name="Shape 37"/>
          <p:cNvSpPr/>
          <p:nvPr/>
        </p:nvSpPr>
        <p:spPr>
          <a:xfrm>
            <a:off x="6126480" y="4937760"/>
            <a:ext cx="5605272" cy="1243584"/>
          </a:xfrm>
          <a:prstGeom prst="roundRect">
            <a:avLst>
              <a:gd name="adj" fmla="val 5882"/>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42" name="Shape 38"/>
          <p:cNvSpPr/>
          <p:nvPr/>
        </p:nvSpPr>
        <p:spPr>
          <a:xfrm>
            <a:off x="6309360" y="5065776"/>
            <a:ext cx="1051560" cy="274320"/>
          </a:xfrm>
          <a:prstGeom prst="roundRect">
            <a:avLst>
              <a:gd name="adj" fmla="val 50000"/>
            </a:avLst>
          </a:prstGeom>
          <a:solidFill>
            <a:srgbClr val="B83227"/>
          </a:solidFill>
          <a:ln w="12700">
            <a:solidFill>
              <a:srgbClr val="B83227"/>
            </a:solidFill>
            <a:prstDash val="solid"/>
          </a:ln>
        </p:spPr>
      </p:sp>
      <p:sp>
        <p:nvSpPr>
          <p:cNvPr id="43" name="Text 39"/>
          <p:cNvSpPr txBox="1"/>
          <p:nvPr/>
        </p:nvSpPr>
        <p:spPr>
          <a:xfrm>
            <a:off x="6309360" y="50657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STRETCH</a:t>
            </a:r>
            <a:endParaRPr lang="en-US" sz="850" dirty="0"/>
          </a:p>
        </p:txBody>
      </p:sp>
      <p:sp>
        <p:nvSpPr>
          <p:cNvPr id="44" name="Text 40"/>
          <p:cNvSpPr txBox="1"/>
          <p:nvPr/>
        </p:nvSpPr>
        <p:spPr>
          <a:xfrm>
            <a:off x="6309360" y="53949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Write a 10–12-line dialogue with an unavailable dish and an alternative.</a:t>
            </a:r>
            <a:endParaRPr lang="en-US" sz="1200" dirty="0"/>
          </a:p>
        </p:txBody>
      </p:sp>
      <p:sp>
        <p:nvSpPr>
          <p:cNvPr id="45"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42 / 43</a:t>
            </a:r>
            <a:endParaRPr lang="en-US" sz="85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097280"/>
            <a:ext cx="5852160" cy="5852160"/>
          </a:xfrm>
          <a:prstGeom prst="ellipse">
            <a:avLst/>
          </a:prstGeom>
          <a:solidFill>
            <a:srgbClr val="14315C"/>
          </a:solidFill>
          <a:ln w="12700">
            <a:solidFill>
              <a:srgbClr val="14315C"/>
            </a:solidFill>
            <a:prstDash val="solid"/>
          </a:ln>
        </p:spPr>
      </p:sp>
      <p:sp>
        <p:nvSpPr>
          <p:cNvPr id="3" name="Shape 1"/>
          <p:cNvSpPr/>
          <p:nvPr/>
        </p:nvSpPr>
        <p:spPr>
          <a:xfrm>
            <a:off x="9372600" y="2606040"/>
            <a:ext cx="1737360" cy="1737360"/>
          </a:xfrm>
          <a:prstGeom prst="ellipse">
            <a:avLst/>
          </a:prstGeom>
          <a:solidFill>
            <a:srgbClr val="D4AF37"/>
          </a:solidFill>
          <a:ln w="12700">
            <a:solidFill>
              <a:srgbClr val="D4AF37"/>
            </a:solidFill>
            <a:prstDash val="solid"/>
          </a:ln>
        </p:spPr>
      </p:sp>
      <p:pic>
        <p:nvPicPr>
          <p:cNvPr id="4" name="Image 0" descr="preencoded.png">    </p:cNvPr>
          <p:cNvPicPr>
            <a:picLocks noChangeAspect="1"/>
          </p:cNvPicPr>
          <p:nvPr/>
        </p:nvPicPr>
        <p:blipFill>
          <a:blip r:embed="rId1"/>
          <a:stretch>
            <a:fillRect/>
          </a:stretch>
        </p:blipFill>
        <p:spPr>
          <a:xfrm>
            <a:off x="9710928" y="2944368"/>
            <a:ext cx="1060704" cy="1060704"/>
          </a:xfrm>
          <a:prstGeom prst="rect">
            <a:avLst/>
          </a:prstGeom>
        </p:spPr>
      </p:pic>
      <p:sp>
        <p:nvSpPr>
          <p:cNvPr id="5" name="Text 2"/>
          <p:cNvSpPr txBox="1"/>
          <p:nvPr/>
        </p:nvSpPr>
        <p:spPr>
          <a:xfrm>
            <a:off x="457200" y="1280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F5-L05 COMPLETE</a:t>
            </a:r>
            <a:endParaRPr lang="en-US" sz="1100" dirty="0"/>
          </a:p>
        </p:txBody>
      </p:sp>
      <p:sp>
        <p:nvSpPr>
          <p:cNvPr id="6" name="Text 3"/>
          <p:cNvSpPr txBox="1"/>
          <p:nvPr/>
        </p:nvSpPr>
        <p:spPr>
          <a:xfrm>
            <a:off x="457200" y="1691640"/>
            <a:ext cx="7315200" cy="914400"/>
          </a:xfrm>
          <a:prstGeom prst="rect">
            <a:avLst/>
          </a:prstGeom>
          <a:noFill/>
          <a:ln/>
        </p:spPr>
        <p:txBody>
          <a:bodyPr wrap="square" lIns="0" tIns="0" rIns="0" bIns="0" rtlCol="0" anchor="ctr"/>
          <a:lstStyle/>
          <a:p>
            <a:pPr rtl="1" algn="l" indent="0" marL="0">
              <a:buNone/>
            </a:pPr>
            <a:r>
              <a:rPr lang="ar-SA" altLang="en-US" sz="4000" b="1" dirty="0">
                <a:solidFill>
                  <a:srgbClr val="FFFFFF"/>
                </a:solidFill>
                <a:latin typeface="Amiri" pitchFamily="2" charset="-78"/>
                <a:ea typeface="Amiri" pitchFamily="2" charset="-78"/>
                <a:cs typeface="Amiri" pitchFamily="2" charset="-78"/>
              </a:rPr>
              <a:t>أَحْسَنْتُمْ! إِلَى اللِّقَاءِ</a:t>
            </a:r>
            <a:endParaRPr lang="ar-SA" sz="4000" dirty="0"/>
          </a:p>
        </p:txBody>
      </p:sp>
      <p:sp>
        <p:nvSpPr>
          <p:cNvPr id="7" name="Text 4"/>
          <p:cNvSpPr txBox="1"/>
          <p:nvPr/>
        </p:nvSpPr>
        <p:spPr>
          <a:xfrm>
            <a:off x="457200" y="2606040"/>
            <a:ext cx="7315200" cy="411480"/>
          </a:xfrm>
          <a:prstGeom prst="rect">
            <a:avLst/>
          </a:prstGeom>
          <a:noFill/>
          <a:ln/>
        </p:spPr>
        <p:txBody>
          <a:bodyPr wrap="square" lIns="0" tIns="0" rIns="0" bIns="0" rtlCol="0" anchor="ctr"/>
          <a:lstStyle/>
          <a:p>
            <a:pPr algn="l" indent="0" marL="0">
              <a:buNone/>
            </a:pPr>
            <a:r>
              <a:rPr lang="en-US" sz="1600" i="1" dirty="0">
                <a:solidFill>
                  <a:srgbClr val="C6D2E6"/>
                </a:solidFill>
                <a:latin typeface="Calibri" pitchFamily="34" charset="0"/>
                <a:cs typeface="Amiri" pitchFamily="2" charset="-78"/>
              </a:rPr>
              <a:t>Well done — see you next lesson.</a:t>
            </a:r>
            <a:endParaRPr lang="en-US" sz="1600" dirty="0"/>
          </a:p>
        </p:txBody>
      </p:sp>
      <p:sp>
        <p:nvSpPr>
          <p:cNvPr id="8" name="Text 5"/>
          <p:cNvSpPr txBox="1"/>
          <p:nvPr/>
        </p:nvSpPr>
        <p:spPr>
          <a:xfrm>
            <a:off x="457200" y="3566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NEXT LESSON</a:t>
            </a:r>
            <a:endParaRPr lang="en-US" sz="1100" dirty="0"/>
          </a:p>
        </p:txBody>
      </p:sp>
      <p:sp>
        <p:nvSpPr>
          <p:cNvPr id="9" name="Text 6"/>
          <p:cNvSpPr txBox="1"/>
          <p:nvPr/>
        </p:nvSpPr>
        <p:spPr>
          <a:xfrm>
            <a:off x="457200" y="3886200"/>
            <a:ext cx="7315200" cy="548640"/>
          </a:xfrm>
          <a:prstGeom prst="rect">
            <a:avLst/>
          </a:prstGeom>
          <a:noFill/>
          <a:ln/>
        </p:spPr>
        <p:txBody>
          <a:bodyPr wrap="square" lIns="0" tIns="0" rIns="0" bIns="0" rtlCol="0" anchor="ctr"/>
          <a:lstStyle/>
          <a:p>
            <a:pPr algn="l" indent="0" marL="0">
              <a:buNone/>
            </a:pPr>
            <a:r>
              <a:rPr lang="en-US" sz="2800" b="1" dirty="0">
                <a:solidFill>
                  <a:srgbClr val="FFFFFF"/>
                </a:solidFill>
                <a:latin typeface="Cambria" pitchFamily="34" charset="0"/>
                <a:cs typeface="Amiri" pitchFamily="2" charset="-78"/>
              </a:rPr>
              <a:t>F5-L06 · Menus, Prices and Dishes</a:t>
            </a:r>
            <a:endParaRPr lang="en-US" sz="2800" dirty="0"/>
          </a:p>
        </p:txBody>
      </p:sp>
      <p:sp>
        <p:nvSpPr>
          <p:cNvPr id="10" name="Text 7"/>
          <p:cNvSpPr txBox="1"/>
          <p:nvPr/>
        </p:nvSpPr>
        <p:spPr>
          <a:xfrm>
            <a:off x="457200" y="4434840"/>
            <a:ext cx="7315200" cy="548640"/>
          </a:xfrm>
          <a:prstGeom prst="rect">
            <a:avLst/>
          </a:prstGeom>
          <a:noFill/>
          <a:ln/>
        </p:spPr>
        <p:txBody>
          <a:bodyPr wrap="square" lIns="0" tIns="0" rIns="0" bIns="0" rtlCol="0" anchor="ctr"/>
          <a:lstStyle/>
          <a:p>
            <a:pPr rtl="1" algn="l" indent="0" marL="0">
              <a:buNone/>
            </a:pPr>
            <a:r>
              <a:rPr lang="ar-SA" altLang="en-US" sz="2400" b="1" dirty="0">
                <a:solidFill>
                  <a:srgbClr val="D4AF37"/>
                </a:solidFill>
                <a:latin typeface="Amiri" pitchFamily="2" charset="-78"/>
                <a:ea typeface="Amiri" pitchFamily="2" charset="-78"/>
                <a:cs typeface="Amiri" pitchFamily="2" charset="-78"/>
              </a:rPr>
              <a:t>قَوَائِمُ الطَّعَامِ وَالأَسْعَارُ وَالأَطْبَاقُ</a:t>
            </a:r>
            <a:endParaRPr lang="ar-SA" sz="2400" dirty="0"/>
          </a:p>
        </p:txBody>
      </p:sp>
      <p:sp>
        <p:nvSpPr>
          <p:cNvPr id="11" name="Text 8"/>
          <p:cNvSpPr txBox="1"/>
          <p:nvPr/>
        </p:nvSpPr>
        <p:spPr>
          <a:xfrm>
            <a:off x="457200" y="5303520"/>
            <a:ext cx="7315200" cy="365760"/>
          </a:xfrm>
          <a:prstGeom prst="rect">
            <a:avLst/>
          </a:prstGeom>
          <a:noFill/>
          <a:ln/>
        </p:spPr>
        <p:txBody>
          <a:bodyPr wrap="square" lIns="0" tIns="0" rIns="0" bIns="0" rtlCol="0" anchor="ctr"/>
          <a:lstStyle/>
          <a:p>
            <a:pPr algn="l" indent="0" marL="0">
              <a:buNone/>
            </a:pPr>
            <a:r>
              <a:rPr lang="en-US" sz="1300" b="1" dirty="0">
                <a:solidFill>
                  <a:srgbClr val="FFFFFF"/>
                </a:solidFill>
                <a:latin typeface="Calibri" pitchFamily="34" charset="0"/>
                <a:cs typeface="Amiri" pitchFamily="2" charset="-78"/>
              </a:rPr>
              <a:t>Remember: </a:t>
            </a:r>
            <a:pPr algn="l" indent="0" marL="0">
              <a:buNone/>
            </a:pPr>
            <a:r>
              <a:rPr lang="ar-SA" altLang="en-US" sz="1700" b="1" dirty="0">
                <a:solidFill>
                  <a:srgbClr val="FFFFFF"/>
                </a:solidFill>
                <a:latin typeface="Amiri" pitchFamily="2" charset="-78"/>
                <a:ea typeface="Amiri" pitchFamily="2" charset="-78"/>
                <a:cs typeface="Amiri" pitchFamily="2" charset="-78"/>
              </a:rPr>
              <a:t>أُرِيدُ</a:t>
            </a:r>
            <a:pPr algn="l" indent="0" marL="0">
              <a:buNone/>
            </a:pPr>
            <a:r>
              <a:rPr lang="en-US" sz="1300" b="1" dirty="0">
                <a:solidFill>
                  <a:srgbClr val="FFFFFF"/>
                </a:solidFill>
                <a:latin typeface="Calibri" pitchFamily="34" charset="0"/>
                <a:cs typeface="Amiri" pitchFamily="2" charset="-78"/>
              </a:rPr>
              <a:t> + item (-an) + </a:t>
            </a:r>
            <a:pPr algn="l" indent="0" marL="0">
              <a:buNone/>
            </a:pPr>
            <a:r>
              <a:rPr lang="ar-SA" altLang="en-US" sz="1700" b="1" dirty="0">
                <a:solidFill>
                  <a:srgbClr val="FFFFFF"/>
                </a:solidFill>
                <a:latin typeface="Amiri" pitchFamily="2" charset="-78"/>
                <a:ea typeface="Amiri" pitchFamily="2" charset="-78"/>
                <a:cs typeface="Amiri" pitchFamily="2" charset="-78"/>
              </a:rPr>
              <a:t>مِنْ فَضْلِكَ / مِنْ فَضْلِكِ</a:t>
            </a:r>
            <a:pPr algn="l" indent="0" marL="0">
              <a:buNone/>
            </a:pPr>
            <a:r>
              <a:rPr lang="en-US" sz="1300" b="1" dirty="0">
                <a:solidFill>
                  <a:srgbClr val="FFFFFF"/>
                </a:solidFill>
                <a:latin typeface="Calibri" pitchFamily="34" charset="0"/>
                <a:cs typeface="Amiri" pitchFamily="2" charset="-78"/>
              </a:rPr>
              <a:t> · </a:t>
            </a:r>
            <a:pPr algn="l" indent="0" marL="0">
              <a:buNone/>
            </a:pPr>
            <a:r>
              <a:rPr lang="ar-SA" altLang="en-US" sz="1700" b="1" dirty="0">
                <a:solidFill>
                  <a:srgbClr val="FFFFFF"/>
                </a:solidFill>
                <a:latin typeface="Amiri" pitchFamily="2" charset="-78"/>
                <a:ea typeface="Amiri" pitchFamily="2" charset="-78"/>
                <a:cs typeface="Amiri" pitchFamily="2" charset="-78"/>
              </a:rPr>
              <a:t>هَلْ عِنْدَكُمْ …؟</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Amiri" pitchFamily="2" charset="-78"/>
        <a:cs typeface="Amiri" pitchFamily="2" charset="-78"/>
        <a:font script="Arab" typeface="Amiri"/>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Amiri" pitchFamily="2" charset="-78"/>
        <a:cs typeface="Amiri" pitchFamily="2" charset="-78"/>
        <a:font script="Arab" typeface="Amir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43</Slides>
  <Notes>43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43</vt:i4>
      </vt:variant>
    </vt:vector>
  </HeadingPairs>
  <TitlesOfParts>
    <vt:vector size="4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vector>
  </TitlesOfParts>
  <Company>Al Madina Online School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F5-L05 · Ordering Food Politely</dc:title>
  <dc:subject>PptxGenJS Presentation</dc:subject>
  <dc:creator>Al Madina Online School · Arabic Department</dc:creator>
  <cp:lastModifiedBy>Al Madina Online School · Arabic Department</cp:lastModifiedBy>
  <cp:revision>1</cp:revision>
  <dcterms:created xsi:type="dcterms:W3CDTF">2026-10-11T06:41:46Z</dcterms:created>
  <dcterms:modified xsi:type="dcterms:W3CDTF">2026-10-11T06:41:46Z</dcterms:modified>
</cp:coreProperties>
</file>