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F5 Food, Health and Body › F5-L05. The website lesson “Ordering Food Politely”: vocabulary, grammar rules and quiz, patterns, common mistakes, sorter, listening, reading, speaking prompts and model, writing task and model, differentiation, final check and the lesson mission. Picture match: website visual game “Ordering Food Politely”.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a four-turn exchange from cards — greet · أُرِيدُ … مِنْ فَضْلِكَ · answer one question · الحِسَابُ، لَوْ سَمَحْتَ.
• Develop: a six-turn role play with one unexpected clarification (صَغِيرٌ أَمْ كَبِيرٌ؟ عَادِيٌّ أَمْ غَازِيٌّ؟).
• Stretch: an unavailable item → ask for an alternative (هَلْ عِنْدَكُمْ … بَدَلًا مِنْ …؟) and query the bill — without the model.
• Website: “Transactional speaking rewards successful communication. Listen to the whole question, answer the detail asked, and add one polite expression.”
• Two genders at once again: مِنْ فَضْلِكَ to a waiter, مِنْ فَضْلِكِ to a waitress; مَاذَا تُرِيدُ / تُرِيدِينَ؟ to a male / female customer.
• Diets and allergies are a real reason to ask questions (نَبَاتِيٌّ، بِدُونِ مُكَسَّرَاتٍ) — model them positively.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F5-L04. Questions 3–5 retrieve F5-L04 (reason agreement, adjective agreement, taste).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polite order = what you want + please. Five stages: greet · order · answer · pay · thank.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حساب (account, calculation) → الحِسَابُ (the bill). طلب (demand, call) → طَلَبٌ (an order), أَطْلُبُ (I order). شکریہ ↔ شُكْرًا. فضل (grace, kindness) → مِنْ فَضْلِكَ literally “from your kindness”. طعام (food) → مَطْعَمٌ “the place of food” — the مَـ pattern makes a place (like مَكْتَبٌ, مَلْعَبٌ).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Polite requests (website vocabulary (1 of 2)). Hear → Say → See → Use. Transliteration is printed for Core students (cover it for Develop/Stretch).
مِنْ فَضْلِكَ / لَوْ سَمَحْتَ to a man, مِنْ فَضْلِكِ / لَوْ سَمَحْتِ to a woman. Website: “أَعْطِنِي ‘give me’ can sound too abrupt” — keep to أُرِيدُ … مِنْ فَضْلِكَ.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Polite requests (website vocabulary (2 of 2)). Hear → Say → See → Use. Transliteration is printed for Core students (cover it for Develop/Stretch).
مِنْ فَضْلِكَ / لَوْ سَمَحْتَ to a man, مِنْ فَضْلِكِ / لَوْ سَمَحْتِ to a woman. Website: “أَعْطِنِي ‘give me’ can sound too abrupt” — keep to أُرِيدُ … مِنْ فَضْلِكَ.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Restaurant language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Restaurant language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Useful questions (website vocabulary). Hear → Say → See → Use. Transliteration is printed for Core students (cover it for Develop/Stretch).
FLEX: teach if time allows; otherwise these are on the website vocabulary tab for homework.
FLEX: the questions are on the grammar slide too. مَاءٌ عَادِيٌّ أَمْ غَازِيٌّ؟ (still or sparkling?) is the waiter’s favourite clarification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“Order an item politely” (أُرِيدُ + item, مِنْ فَضْلِكَ / مِنْ فَضْلِكِ), “Ask whether something is available” (هَلْ عِنْدَكُمْ …؟ — the polite business form), “Ask the price” (كَمْ سِعْرُ / ثَمَنُ + noun: an idāfa) and “Close the exchange”.
Website mistake: أُرِيدُ مِنْ فَضْلِكَ سَلَطَةٌ ✗ → أُرِيدُ سَلَطَةً، مِنْ فَضْلِكَ ✓ (the item is the object → -an; please at the end).
Website mistake: هَلْ عِنْدَكَ …؟ → هَلْ عِنْدَكُمْ …؟ (ask the business, not one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the waiter’s questions from the website vocabulary and listening: مَاذَا تُرِيدُ / تُرِيدِينَ؟ · هَلْ تُرِيدُ شَيْئًا آخَرَ؟ · مَاءٌ عَادِيٌّ أَمْ غَازِيٌّ؟ · صَغِيرٌ أَمْ كَبِيرٌ؟
Website pattern: “Short transactional replies can still be complete and polite”: مَاءٌ عَادِيٌّ، مِنْ فَضْلِكِ.
Reporting (Stretch, website pattern 5): يَطْلُبُ الزَّبُونُ الحَسَاءَ، وَتَطْلُبُ الزَّبُونَةُ السَّلَطَةَ.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“The lesson-plan grammar focus is a complete transactional frame: make a polite request, distinguish the form addressed to a man or woman, and ask the price accurately.”
• Order an item politely: The requested item follows أُرِيدُ. Use مِنْ فَضْلِكَ to a man and مِنْ فَضْلِكِ to a woman.
• Ask whether something is available: This polite business form asks whether the café or restaurant has an item.
• Ask the price: Use an idāfa phrase: “the price of the item”.
• Close the exchange: A complete transaction includes a polite closing.
Website common error: Do not use a bare command such as أَعْطِنِي when practising a polite restaurant exchange. Use أُرِيدُ... مِنْ فَضْلِكَ/كِ.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8-line model dialogue. Perform it with a confident student (you are the waiter), then swap roles. Students copy it into their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Ordering Food Politely”)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clue in items 1 and 2 is the last vowel of مِنْ فَضْلِكَ / مِنْ فَضْلِكِ. Other website items: مَاذَا تُوصِي؟ (what do you recommend?), بِدُونِ مُكَسَّرَاتٍ (without nuts), شُكْرًا، كَانَ الطَّعَامُ لَذِيذًا — great Stretch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Ordering Food Politely”)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clue in items 1 and 2 is the last vowel of مِنْ فَضْلِكَ / مِنْ فَضْلِكِ. Other website items: مَاذَا تُوصِي؟ (what do you recommend?), بِدُونِ مُكَسَّرَاتٍ (without nuts), شُكْرًا، كَانَ الطَّعَامُ لَذِيذًا — great Stretch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line by its place in the restaurant exchange.
After sorting, pairs put the six lines in a logical order and perform them as a mini-dialogue.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line by its place in the restaurant exchange.
After sorting, pairs put the six lines in a logical order and perform them as a mini-dialogue.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5,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4. Develop / Stretch: all 4, then act it out.
Listen 1: just listen. Listen 2: note answers. Then chat the letters.
Support: after the second listening, show the read-along slide (Arabic + English, line by line) for Core students.
SCRIPT (read aloud):
النَّادِلُ: مَسَاءُ الخَيْرِ. مَاذَا تُرِيدِينَ؟ الزَّبُونَةُ: أُرِيدُ سَلَطَةً وَسَانْدَوِيتْشَ جُبْنٍ، مِنْ فَضْلِكَ. النَّادِلُ: هَلْ تُرِيدِينَ شَيْئًا لِلشُّرْبِ؟ الزَّبُونَةُ: نَعَمْ، عَصِيرَ بُرْتُقَالٍ. النَّادِلُ: عَصِيرٌ صَغِيرٌ أَمْ كَبِيرٌ؟ الزَّبُونَةُ: صَغِيرٌ، شُكْرًا.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النَّادِلُ: هَلْ تُرِيدِينَ شَيْئًا لِلشُّرْبِ؟ (Would you like something to drink?)
الزَّبُونَةُ: نَعَمْ، مَاءً عَادِيًّا، ثُمَّ الحِسَابَ مِنْ فَضْلِكَ. (Yes, still water, then the bill please.)
Website “Restaurant role play” — the five website prompts (English on the website) are given in Arabic here: greet and ask for the menu · order a starter and a main · ask about a vegetarian option · choose a drink and answer a size/type question · ask for the bill and close.
Website model: مَسَاءُ الخَيْرِ. مَاذَا تُرِيدِينَ؟ — أُرِيدُ حَسَاءَ العَدَسِ وَسَلَطَةً، مِنْ فَضْلِكَ. — هَلْ تُرِيدِينَ شَيْئًا لِلشُّرْبِ؟ — نَعَمْ، مَاءً عَادِيًّا، ثُمَّ الحِسَابَ مِنْ فَضْلِكَ.
The instructions are in the masculine imperative; say them to girls as سَلِّمِي، اُطْلُبِي، اِسْأَلِي.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a menu and sentence cards to complete a four-turn exchange. · Develop — Perform a six-turn role play with one unexpected clarification question. · Stretch — Handle an unavailable item, request an alternative and query the bill without returning to the model.
Website writing task (Stretch): Write an 8-line café dialogue between a waiter and a customer. The customer must order food, choose a drink, answer one clarification and ask for the bill.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مَرْحَبًا · أُرِيدُ حَسَاءً … مِنْ فَضْلِكَ · صَغِيرًا أَمْ كَبِيرًا؟ · الحِسَابُ مِنْ فَضْلِكَ. Notice صَغِيرًا (-an): it answers “Do you want a small or a large one?”.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(F5-L06 · Menus, Prices and Dishes) will spend class time USING this language, so students prepare it tonight — short, simple, easy to access (school guidance: “Simple, Short, Interesting, Relevant, Easy to access”). The five words come from the website F5-L06 lesson (menus, prices and dishes).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F5  ·  F5-L05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F5-L05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Ordering Food Politely</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طَلَبُ الطَّعَامِ بِأَدَبٍ</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Complete a café transaction: greet, order with </a:t>
            </a:r>
            <a:pPr algn="l" indent="0" marL="0">
              <a:buNone/>
            </a:pPr>
            <a:r>
              <a:rPr lang="ar-SA" altLang="en-US" sz="1800" dirty="0">
                <a:solidFill>
                  <a:srgbClr val="C6D2E6"/>
                </a:solidFill>
                <a:latin typeface="Amiri" pitchFamily="2" charset="-78"/>
                <a:ea typeface="Amiri" pitchFamily="2" charset="-78"/>
                <a:cs typeface="Amiri" pitchFamily="2" charset="-78"/>
              </a:rPr>
              <a:t>أُرِيدُ … مِنْ فَضْلِكَ</a:t>
            </a:r>
            <a:pPr algn="l" indent="0" marL="0">
              <a:buNone/>
            </a:pPr>
            <a:r>
              <a:rPr lang="en-US" sz="1400" dirty="0">
                <a:solidFill>
                  <a:srgbClr val="C6D2E6"/>
                </a:solidFill>
                <a:latin typeface="Calibri" pitchFamily="34" charset="0"/>
                <a:cs typeface="Amiri" pitchFamily="2" charset="-78"/>
              </a:rPr>
              <a:t>, ask </a:t>
            </a:r>
            <a:pPr algn="l" indent="0" marL="0">
              <a:buNone/>
            </a:pPr>
            <a:r>
              <a:rPr lang="ar-SA" altLang="en-US" sz="1800" dirty="0">
                <a:solidFill>
                  <a:srgbClr val="C6D2E6"/>
                </a:solidFill>
                <a:latin typeface="Amiri" pitchFamily="2" charset="-78"/>
                <a:ea typeface="Amiri" pitchFamily="2" charset="-78"/>
                <a:cs typeface="Amiri" pitchFamily="2" charset="-78"/>
              </a:rPr>
              <a:t>هَلْ عِنْدَكُمْ …؟</a:t>
            </a:r>
            <a:pPr algn="l" indent="0" marL="0">
              <a:buNone/>
            </a:pPr>
            <a:r>
              <a:rPr lang="en-US" sz="1400" dirty="0">
                <a:solidFill>
                  <a:srgbClr val="C6D2E6"/>
                </a:solidFill>
                <a:latin typeface="Calibri" pitchFamily="34" charset="0"/>
                <a:cs typeface="Amiri" pitchFamily="2" charset="-78"/>
              </a:rPr>
              <a:t> and </a:t>
            </a:r>
            <a:pPr algn="l" indent="0" marL="0">
              <a:buNone/>
            </a:pPr>
            <a:r>
              <a:rPr lang="ar-SA" altLang="en-US" sz="1800" dirty="0">
                <a:solidFill>
                  <a:srgbClr val="C6D2E6"/>
                </a:solidFill>
                <a:latin typeface="Amiri" pitchFamily="2" charset="-78"/>
                <a:ea typeface="Amiri" pitchFamily="2" charset="-78"/>
                <a:cs typeface="Amiri" pitchFamily="2" charset="-78"/>
              </a:rPr>
              <a:t>كَمْ سِعْرُ …؟</a:t>
            </a:r>
            <a:pPr algn="l" indent="0" marL="0">
              <a:buNone/>
            </a:pPr>
            <a:r>
              <a:rPr lang="en-US" sz="1400" dirty="0">
                <a:solidFill>
                  <a:srgbClr val="C6D2E6"/>
                </a:solidFill>
                <a:latin typeface="Calibri" pitchFamily="34" charset="0"/>
                <a:cs typeface="Amiri" pitchFamily="2" charset="-78"/>
              </a:rPr>
              <a:t>, answer the waiter and ask for the bill.</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F5-L05 · Foundation F5 · Food, Health and Body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F5 › F5-L05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Polite requests and café words, then order · ask · pay.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build the transaction, fix rude or wrong orders and listen at Café Miftah.</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F5-L06.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أُرِيدُ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prefer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want / I would like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drink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الحِسَابُ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bill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menu</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waiter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أُحِبُّ السَّلَطَةَ</a:t>
            </a:r>
            <a:pPr algn="l" indent="0" marL="0">
              <a:buNone/>
            </a:pPr>
            <a:r>
              <a:rPr lang="en-US" sz="1250" b="1" dirty="0">
                <a:solidFill>
                  <a:srgbClr val="1B3B6F"/>
                </a:solidFill>
                <a:latin typeface="Calibri" pitchFamily="34" charset="0"/>
                <a:cs typeface="Amiri" pitchFamily="2" charset="-78"/>
              </a:rPr>
              <a:t> ____ </a:t>
            </a:r>
            <a:pPr algn="l" indent="0" marL="0">
              <a:buNone/>
            </a:pPr>
            <a:r>
              <a:rPr lang="ar-SA" altLang="en-US" sz="1650" b="1" dirty="0">
                <a:solidFill>
                  <a:srgbClr val="1B3B6F"/>
                </a:solidFill>
                <a:latin typeface="Amiri" pitchFamily="2" charset="-78"/>
                <a:ea typeface="Amiri" pitchFamily="2" charset="-78"/>
                <a:cs typeface="Amiri" pitchFamily="2" charset="-78"/>
              </a:rPr>
              <a:t>صِحِّيَّةٌ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has correct agreement?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الخُبْزُ طَازَجَةٌ.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الخُبْزُ طَازَجُونَ.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الخُبْزُ طَازَجٌ.</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“bitter”?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حُلْوٌ</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مَالِحٌ</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أُرِيدُ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prefer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want / I would like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drink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(F5-L04).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الحِسَابُ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bill</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menu</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waiter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(F5-L04).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أُحِبُّ السَّلَطَةَ</a:t>
            </a:r>
            <a:pPr algn="l" indent="0" marL="0">
              <a:buNone/>
            </a:pPr>
            <a:r>
              <a:rPr lang="en-US" sz="1250" b="1" dirty="0">
                <a:solidFill>
                  <a:srgbClr val="1B3B6F"/>
                </a:solidFill>
                <a:latin typeface="Calibri" pitchFamily="34" charset="0"/>
                <a:cs typeface="Amiri" pitchFamily="2" charset="-78"/>
              </a:rPr>
              <a:t> ____ </a:t>
            </a:r>
            <a:pPr algn="l" indent="0" marL="0">
              <a:buNone/>
            </a:pPr>
            <a:r>
              <a:rPr lang="ar-SA" altLang="en-US" sz="1650" b="1" dirty="0">
                <a:solidFill>
                  <a:srgbClr val="1B3B6F"/>
                </a:solidFill>
                <a:latin typeface="Amiri" pitchFamily="2" charset="-78"/>
                <a:ea typeface="Amiri" pitchFamily="2" charset="-78"/>
                <a:cs typeface="Amiri" pitchFamily="2" charset="-78"/>
              </a:rPr>
              <a:t>صِحِّيَّةٌ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لِأَنَّهَا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F5-L04: salad is feminine.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has correct agreement?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الخُبْزُ طَازَجَةٌ.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الخُبْزُ طَازَجُونَ.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الخُبْزُ طَازَجٌ.</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F5-L04: bread is masculine.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“bitter”?</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مُرٌّ</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حُلْوٌ</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مَالِحٌ</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F5-L04 taste words.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polite order = what you want + please. Five stages: greet · order · answer · pay · thank.</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أُرِيدُ شَايًا، </a:t>
            </a:r>
            <a:pPr rtl="1" algn="ctr" indent="0" marL="0">
              <a:buNone/>
            </a:pPr>
            <a:r>
              <a:rPr lang="ar-SA" altLang="en-US" sz="2400" b="1" dirty="0">
                <a:solidFill>
                  <a:srgbClr val="D6336C"/>
                </a:solidFill>
                <a:latin typeface="Amiri" pitchFamily="2" charset="-78"/>
                <a:ea typeface="Amiri" pitchFamily="2" charset="-78"/>
                <a:cs typeface="Amiri" pitchFamily="2" charset="-78"/>
              </a:rPr>
              <a:t>مِنْ فَضْلِكَ</a:t>
            </a:r>
            <a:pPr rtl="1" algn="ctr" indent="0" marL="0">
              <a:buNone/>
            </a:pPr>
            <a:r>
              <a:rPr lang="ar-SA" altLang="en-US" sz="2400" b="1" dirty="0">
                <a:solidFill>
                  <a:srgbClr val="1B3B6F"/>
                </a:solidFill>
                <a:latin typeface="Amiri" pitchFamily="2" charset="-78"/>
                <a:cs typeface="Amiri" pitchFamily="2" charset="-78"/>
              </a:rPr>
              <a:t>.</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polite request language in a food-ordering exchange.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Ask whether an item is available and request alternatives.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common waiter/customer questions.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complete six-line restaurant dialogue.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order three items politely.</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ask for the bill.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ask </a:t>
            </a:r>
            <a:pPr algn="l" indent="0" marL="0">
              <a:buNone/>
            </a:pPr>
            <a:r>
              <a:rPr lang="ar-SA" altLang="en-US" sz="1700" b="1" dirty="0">
                <a:solidFill>
                  <a:srgbClr val="C9780A"/>
                </a:solidFill>
                <a:latin typeface="Amiri" pitchFamily="2" charset="-78"/>
                <a:ea typeface="Amiri" pitchFamily="2" charset="-78"/>
                <a:cs typeface="Amiri" pitchFamily="2" charset="-78"/>
              </a:rPr>
              <a:t>هَلْ عِنْدَكُمْ …؟</a:t>
            </a:r>
            <a:pPr algn="l" indent="0" marL="0">
              <a:buNone/>
            </a:pPr>
            <a:r>
              <a:rPr lang="en-US" sz="1300" b="1" dirty="0">
                <a:solidFill>
                  <a:srgbClr val="C9780A"/>
                </a:solidFill>
                <a:latin typeface="Calibri" pitchFamily="34" charset="0"/>
                <a:cs typeface="Amiri" pitchFamily="2" charset="-78"/>
              </a:rPr>
              <a:t> and the price.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answer a waiter’s question.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deal with an item that is not available.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perform the role play without the model.</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21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Polite requests · 7</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Restaurant language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Useful questions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حِسَابٌ</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‎حساب‎ </a:t>
            </a:r>
            <a:pPr indent="0" marL="0">
              <a:buNone/>
            </a:pPr>
            <a:r>
              <a:rPr lang="en-US" sz="950" b="1" dirty="0">
                <a:solidFill>
                  <a:srgbClr val="2E8B57"/>
                </a:solidFill>
                <a:latin typeface="Calibri" pitchFamily="34" charset="0"/>
                <a:cs typeface="Amiri" pitchFamily="2" charset="-78"/>
              </a:rPr>
              <a:t> hisāb · account → the bill</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طَلَبٌ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‎طلب‎ </a:t>
            </a:r>
            <a:pPr indent="0" marL="0">
              <a:buNone/>
            </a:pPr>
            <a:r>
              <a:rPr lang="en-US" sz="950" b="1" dirty="0">
                <a:solidFill>
                  <a:srgbClr val="2E8B57"/>
                </a:solidFill>
                <a:latin typeface="Calibri" pitchFamily="34" charset="0"/>
                <a:cs typeface="Amiri" pitchFamily="2" charset="-78"/>
              </a:rPr>
              <a:t> talab · demand → an order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شُكْرًا</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‎شکریہ‎ </a:t>
            </a:r>
            <a:pPr indent="0" marL="0">
              <a:buNone/>
            </a:pPr>
            <a:r>
              <a:rPr lang="en-US" sz="950" b="1" dirty="0">
                <a:solidFill>
                  <a:srgbClr val="2E8B57"/>
                </a:solidFill>
                <a:latin typeface="Calibri" pitchFamily="34" charset="0"/>
                <a:cs typeface="Amiri" pitchFamily="2" charset="-78"/>
              </a:rPr>
              <a:t> shukriya · thank you</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فَضْلٌ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‎فضل‎ </a:t>
            </a:r>
            <a:pPr indent="0" marL="0">
              <a:buNone/>
            </a:pPr>
            <a:r>
              <a:rPr lang="en-US" sz="950" b="1" dirty="0">
                <a:solidFill>
                  <a:srgbClr val="2E8B57"/>
                </a:solidFill>
                <a:latin typeface="Calibri" pitchFamily="34" charset="0"/>
                <a:cs typeface="Amiri" pitchFamily="2" charset="-78"/>
              </a:rPr>
              <a:t> fazl · grace → min faḍlika, please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مَطْعَمٌ</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‎طعام‎ </a:t>
            </a:r>
            <a:pPr indent="0" marL="0">
              <a:buNone/>
            </a:pPr>
            <a:r>
              <a:rPr lang="en-US" sz="950" b="1" dirty="0">
                <a:solidFill>
                  <a:srgbClr val="2E8B57"/>
                </a:solidFill>
                <a:latin typeface="Calibri" pitchFamily="34" charset="0"/>
                <a:cs typeface="Amiri" pitchFamily="2" charset="-78"/>
              </a:rPr>
              <a:t> taʿām · food → restaurant (place of food)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Polite requests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فَضْلِكَ / مِنْ فَضْلِكِ</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please (m/f)</a:t>
            </a:r>
            <a:endParaRPr lang="en-US" sz="1350" dirty="0"/>
          </a:p>
          <a:p>
            <a:pPr indent="0" marL="0">
              <a:buNone/>
            </a:pPr>
            <a:r>
              <a:rPr lang="en-US" sz="1100" i="1" dirty="0">
                <a:solidFill>
                  <a:srgbClr val="5A6472"/>
                </a:solidFill>
                <a:latin typeface="Calibri" pitchFamily="34" charset="0"/>
                <a:cs typeface="Amiri" pitchFamily="2" charset="-78"/>
              </a:rPr>
              <a:t>min faḍ-li-ka / min faḍ-li-ki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أُرِيدُ ...</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would like ...</a:t>
            </a:r>
            <a:endParaRPr lang="en-US" sz="1350" dirty="0"/>
          </a:p>
          <a:p>
            <a:pPr indent="0" marL="0">
              <a:buNone/>
            </a:pPr>
            <a:r>
              <a:rPr lang="en-US" sz="1100" i="1" dirty="0">
                <a:solidFill>
                  <a:srgbClr val="5A6472"/>
                </a:solidFill>
                <a:latin typeface="Calibri" pitchFamily="34" charset="0"/>
                <a:cs typeface="Amiri" pitchFamily="2" charset="-78"/>
              </a:rPr>
              <a:t>u-rī-du ...</a:t>
            </a:r>
            <a:endParaRPr lang="en-US" sz="1350" dirty="0"/>
          </a:p>
        </p:txBody>
      </p:sp>
      <p:sp>
        <p:nvSpPr>
          <p:cNvPr id="31" name="Shape 28"/>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33" name="Text 30"/>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يُرِيدُ</a:t>
            </a:r>
            <a:endParaRPr lang="ar-SA" sz="1500" dirty="0"/>
          </a:p>
        </p:txBody>
      </p:sp>
      <p:sp>
        <p:nvSpPr>
          <p:cNvPr id="34" name="Shape 31"/>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6" name="Text 33"/>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تُرِيدُ</a:t>
            </a:r>
            <a:endParaRPr lang="ar-SA" sz="1500" dirty="0"/>
          </a:p>
        </p:txBody>
      </p:sp>
      <p:sp>
        <p:nvSpPr>
          <p:cNvPr id="37" name="Shape 34"/>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f.</a:t>
            </a:r>
            <a:endParaRPr lang="en-US" sz="700" dirty="0"/>
          </a:p>
        </p:txBody>
      </p:sp>
      <p:sp>
        <p:nvSpPr>
          <p:cNvPr id="39" name="Text 36"/>
          <p:cNvSpPr txBox="1"/>
          <p:nvPr/>
        </p:nvSpPr>
        <p:spPr>
          <a:xfrm>
            <a:off x="446227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تُرِيدِينَ</a:t>
            </a:r>
            <a:endParaRPr lang="ar-SA"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أَطْلُبُ ...</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order / request ...</a:t>
            </a:r>
            <a:endParaRPr lang="en-US" sz="1350" dirty="0"/>
          </a:p>
          <a:p>
            <a:pPr indent="0" marL="0">
              <a:buNone/>
            </a:pPr>
            <a:r>
              <a:rPr lang="en-US" sz="1100" i="1" dirty="0">
                <a:solidFill>
                  <a:srgbClr val="5A6472"/>
                </a:solidFill>
                <a:latin typeface="Calibri" pitchFamily="34" charset="0"/>
                <a:cs typeface="Amiri" pitchFamily="2" charset="-78"/>
              </a:rPr>
              <a:t>aṭ-lu-bu ...</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يَطْلُبُ / تَطْلُبُ</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he/she orders or requests</a:t>
            </a:r>
            <a:endParaRPr lang="en-US" sz="1350" dirty="0"/>
          </a:p>
          <a:p>
            <a:pPr indent="0" marL="0">
              <a:buNone/>
            </a:pPr>
            <a:r>
              <a:rPr lang="en-US" sz="1100" i="1" dirty="0">
                <a:solidFill>
                  <a:srgbClr val="5A6472"/>
                </a:solidFill>
                <a:latin typeface="Calibri" pitchFamily="34" charset="0"/>
                <a:cs typeface="Amiri" pitchFamily="2" charset="-78"/>
              </a:rPr>
              <a:t>yaṭ-lu-bu / taṭ-lu-bu</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Polite requests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هَلْ يُمْكِنُنِي أَنْ أَطْلُبَ ...؟</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may I order ...?</a:t>
            </a:r>
            <a:endParaRPr lang="en-US" sz="1350" dirty="0"/>
          </a:p>
          <a:p>
            <a:pPr indent="0" marL="0">
              <a:buNone/>
            </a:pPr>
            <a:r>
              <a:rPr lang="en-US" sz="1100" i="1" dirty="0">
                <a:solidFill>
                  <a:srgbClr val="5A6472"/>
                </a:solidFill>
                <a:latin typeface="Calibri" pitchFamily="34" charset="0"/>
                <a:cs typeface="Amiri" pitchFamily="2" charset="-78"/>
              </a:rPr>
              <a:t>hal yum-ki-nu-nī an aṭ-lu-ba ...?</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لَوْ سَمَحْتَ / لَوْ سَمَحْتِ</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excuse me / if you please</a:t>
            </a:r>
            <a:endParaRPr lang="en-US" sz="1350" dirty="0"/>
          </a:p>
          <a:p>
            <a:pPr indent="0" marL="0">
              <a:buNone/>
            </a:pPr>
            <a:r>
              <a:rPr lang="en-US" sz="1100" i="1" dirty="0">
                <a:solidFill>
                  <a:srgbClr val="5A6472"/>
                </a:solidFill>
                <a:latin typeface="Calibri" pitchFamily="34" charset="0"/>
                <a:cs typeface="Amiri" pitchFamily="2" charset="-78"/>
              </a:rPr>
              <a:t>law sa-maḥ-ta / law sa-maḥ-ti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شُكْرًا</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thank you</a:t>
            </a:r>
            <a:endParaRPr lang="en-US" sz="1350" dirty="0"/>
          </a:p>
          <a:p>
            <a:pPr indent="0" marL="0">
              <a:buNone/>
            </a:pPr>
            <a:r>
              <a:rPr lang="en-US" sz="1100" i="1" dirty="0">
                <a:solidFill>
                  <a:srgbClr val="5A6472"/>
                </a:solidFill>
                <a:latin typeface="Calibri" pitchFamily="34" charset="0"/>
                <a:cs typeface="Amiri" pitchFamily="2" charset="-78"/>
              </a:rPr>
              <a:t>shuk-ran</a:t>
            </a:r>
            <a:endParaRPr lang="en-US" sz="13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Restaurant language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مَطْعَمٌ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restaurant</a:t>
            </a:r>
            <a:endParaRPr lang="en-US" sz="1350" dirty="0"/>
          </a:p>
          <a:p>
            <a:pPr indent="0" marL="0">
              <a:buNone/>
            </a:pPr>
            <a:r>
              <a:rPr lang="en-US" sz="1100" i="1" dirty="0">
                <a:solidFill>
                  <a:srgbClr val="5A6472"/>
                </a:solidFill>
                <a:latin typeface="Calibri" pitchFamily="34" charset="0"/>
                <a:cs typeface="Amiri" pitchFamily="2" charset="-78"/>
              </a:rPr>
              <a:t>maṭ-ʿa-mun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مَطْعَمٌ</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مَطَاعِمُ</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3" name="Shape 3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مَقْهًى</a:t>
            </a:r>
            <a:endParaRPr lang="ar-SA" sz="3000" dirty="0"/>
          </a:p>
        </p:txBody>
      </p:sp>
      <p:sp>
        <p:nvSpPr>
          <p:cNvPr id="36" name="Text 3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café</a:t>
            </a:r>
            <a:endParaRPr lang="en-US" sz="1350" dirty="0"/>
          </a:p>
          <a:p>
            <a:pPr indent="0" marL="0">
              <a:buNone/>
            </a:pPr>
            <a:r>
              <a:rPr lang="en-US" sz="1100" i="1" dirty="0">
                <a:solidFill>
                  <a:srgbClr val="5A6472"/>
                </a:solidFill>
                <a:latin typeface="Calibri" pitchFamily="34" charset="0"/>
                <a:cs typeface="Amiri" pitchFamily="2" charset="-78"/>
              </a:rPr>
              <a:t>maq-han</a:t>
            </a:r>
            <a:endParaRPr lang="en-US"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0" name="Shape 37"/>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نَادِلٌ / نَادِلَةٌ</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waiter / waitress</a:t>
            </a:r>
            <a:endParaRPr lang="en-US" sz="1350" dirty="0"/>
          </a:p>
          <a:p>
            <a:pPr indent="0" marL="0">
              <a:buNone/>
            </a:pPr>
            <a:r>
              <a:rPr lang="en-US" sz="1100" i="1" dirty="0">
                <a:solidFill>
                  <a:srgbClr val="5A6472"/>
                </a:solidFill>
                <a:latin typeface="Calibri" pitchFamily="34" charset="0"/>
                <a:cs typeface="Amiri" pitchFamily="2" charset="-78"/>
              </a:rPr>
              <a:t>nā-di-lun / nā-di-la-tun</a:t>
            </a:r>
            <a:endParaRPr lang="en-US" sz="1350" dirty="0"/>
          </a:p>
        </p:txBody>
      </p:sp>
      <p:sp>
        <p:nvSpPr>
          <p:cNvPr id="46" name="Shape 4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نَادِلٌ</a:t>
            </a:r>
            <a:endParaRPr lang="ar-SA" sz="1500" dirty="0"/>
          </a:p>
        </p:txBody>
      </p:sp>
      <p:sp>
        <p:nvSpPr>
          <p:cNvPr id="49" name="Shape 4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1" name="Text 4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نَادِلَةٌ</a:t>
            </a:r>
            <a:endParaRPr lang="ar-SA" sz="1500" dirty="0"/>
          </a:p>
        </p:txBody>
      </p:sp>
      <p:sp>
        <p:nvSpPr>
          <p:cNvPr id="52" name="Shape 4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4" name="Text 5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نُدُلٌ</a:t>
            </a:r>
            <a:endParaRPr lang="ar-SA" sz="1500" dirty="0"/>
          </a:p>
        </p:txBody>
      </p:sp>
      <p:sp>
        <p:nvSpPr>
          <p:cNvPr id="55" name="Shape 5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211312"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58" name="Shape 5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9" name="Text 5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60" name="Text 5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زَبُونٌ / زَبُونَةٌ</a:t>
            </a:r>
            <a:endParaRPr lang="ar-SA" sz="3000" dirty="0"/>
          </a:p>
        </p:txBody>
      </p:sp>
      <p:sp>
        <p:nvSpPr>
          <p:cNvPr id="61" name="Text 5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customer</a:t>
            </a:r>
            <a:endParaRPr lang="en-US" sz="1350" dirty="0"/>
          </a:p>
          <a:p>
            <a:pPr indent="0" marL="0">
              <a:buNone/>
            </a:pPr>
            <a:r>
              <a:rPr lang="en-US" sz="1100" i="1" dirty="0">
                <a:solidFill>
                  <a:srgbClr val="5A6472"/>
                </a:solidFill>
                <a:latin typeface="Calibri" pitchFamily="34" charset="0"/>
                <a:cs typeface="Amiri" pitchFamily="2" charset="-78"/>
              </a:rPr>
              <a:t>za-bū-nun / za-bū-na-tun</a:t>
            </a:r>
            <a:endParaRPr lang="en-US" sz="1350" dirty="0"/>
          </a:p>
        </p:txBody>
      </p:sp>
      <p:sp>
        <p:nvSpPr>
          <p:cNvPr id="62" name="Shape 5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زَبُونٌ</a:t>
            </a:r>
            <a:endParaRPr lang="ar-SA" sz="1500" dirty="0"/>
          </a:p>
        </p:txBody>
      </p:sp>
      <p:sp>
        <p:nvSpPr>
          <p:cNvPr id="65" name="Shape 6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7" name="Text 6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زَبُونَةٌ</a:t>
            </a:r>
            <a:endParaRPr lang="ar-SA" sz="1500" dirty="0"/>
          </a:p>
        </p:txBody>
      </p:sp>
      <p:sp>
        <p:nvSpPr>
          <p:cNvPr id="68" name="Shape 6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0" name="Text 6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زَبَائِنُ</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Restaurant language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قَائِمَةُ الطَّعَامِ</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menu</a:t>
            </a:r>
            <a:endParaRPr lang="en-US" sz="1350" dirty="0"/>
          </a:p>
          <a:p>
            <a:pPr indent="0" marL="0">
              <a:buNone/>
            </a:pPr>
            <a:r>
              <a:rPr lang="en-US" sz="1100" i="1" dirty="0">
                <a:solidFill>
                  <a:srgbClr val="5A6472"/>
                </a:solidFill>
                <a:latin typeface="Calibri" pitchFamily="34" charset="0"/>
                <a:cs typeface="Amiri" pitchFamily="2" charset="-78"/>
              </a:rPr>
              <a:t>qā-ʾi-ma-tu aṭ-ṭa-ʿā-mi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7" name="Shape 24"/>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طَاوِلَةٌ</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table</a:t>
            </a:r>
            <a:endParaRPr lang="en-US" sz="1350" dirty="0"/>
          </a:p>
          <a:p>
            <a:pPr indent="0" marL="0">
              <a:buNone/>
            </a:pPr>
            <a:r>
              <a:rPr lang="en-US" sz="1100" i="1" dirty="0">
                <a:solidFill>
                  <a:srgbClr val="5A6472"/>
                </a:solidFill>
                <a:latin typeface="Calibri" pitchFamily="34" charset="0"/>
                <a:cs typeface="Amiri" pitchFamily="2" charset="-78"/>
              </a:rPr>
              <a:t>ṭā-wi-la-tun</a:t>
            </a:r>
            <a:endParaRPr lang="en-US" sz="1350" dirty="0"/>
          </a:p>
        </p:txBody>
      </p:sp>
      <p:sp>
        <p:nvSpPr>
          <p:cNvPr id="31" name="Shape 2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33" name="Text 3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طَاوِلَةٌ</a:t>
            </a:r>
            <a:endParaRPr lang="ar-SA" sz="1500" dirty="0"/>
          </a:p>
        </p:txBody>
      </p:sp>
      <p:sp>
        <p:nvSpPr>
          <p:cNvPr id="34" name="Shape 3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6" name="Text 3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طَاوِلَاتٌ</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طَلَبٌ</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order</a:t>
            </a:r>
            <a:endParaRPr lang="en-US" sz="1350" dirty="0"/>
          </a:p>
          <a:p>
            <a:pPr indent="0" marL="0">
              <a:buNone/>
            </a:pPr>
            <a:r>
              <a:rPr lang="en-US" sz="1100" i="1" dirty="0">
                <a:solidFill>
                  <a:srgbClr val="5A6472"/>
                </a:solidFill>
                <a:latin typeface="Calibri" pitchFamily="34" charset="0"/>
                <a:cs typeface="Amiri" pitchFamily="2" charset="-78"/>
              </a:rPr>
              <a:t>ṭa-la-bun</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5" name="Shape 4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الحِسَابُ</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bill</a:t>
            </a:r>
            <a:endParaRPr lang="en-US" sz="1350" dirty="0"/>
          </a:p>
          <a:p>
            <a:pPr indent="0" marL="0">
              <a:buNone/>
            </a:pPr>
            <a:r>
              <a:rPr lang="en-US" sz="1100" i="1" dirty="0">
                <a:solidFill>
                  <a:srgbClr val="5A6472"/>
                </a:solidFill>
                <a:latin typeface="Calibri" pitchFamily="34" charset="0"/>
                <a:cs typeface="Amiri" pitchFamily="2" charset="-78"/>
              </a:rPr>
              <a:t>al-ḥi-sā-bu</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Useful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هَلْ عِنْدَكُمْ ...؟</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 you have ...?</a:t>
            </a:r>
            <a:endParaRPr lang="en-US" sz="1350" dirty="0"/>
          </a:p>
          <a:p>
            <a:pPr indent="0" marL="0">
              <a:buNone/>
            </a:pPr>
            <a:r>
              <a:rPr lang="en-US" sz="1100" i="1" dirty="0">
                <a:solidFill>
                  <a:srgbClr val="5A6472"/>
                </a:solidFill>
                <a:latin typeface="Calibri" pitchFamily="34" charset="0"/>
                <a:cs typeface="Amiri" pitchFamily="2" charset="-78"/>
              </a:rPr>
              <a:t>hal ʿin-da-kum ...?</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مَاذَا تُرِيدُ؟ / تُرِيدِينَ؟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 would you like?</a:t>
            </a:r>
            <a:endParaRPr lang="en-US" sz="1350" dirty="0"/>
          </a:p>
          <a:p>
            <a:pPr indent="0" marL="0">
              <a:buNone/>
            </a:pPr>
            <a:r>
              <a:rPr lang="en-US" sz="1100" i="1" dirty="0">
                <a:solidFill>
                  <a:srgbClr val="5A6472"/>
                </a:solidFill>
                <a:latin typeface="Calibri" pitchFamily="34" charset="0"/>
                <a:cs typeface="Amiri" pitchFamily="2" charset="-78"/>
              </a:rPr>
              <a:t>mā-dhā tu-rī-du? / tu-rī-dī-na?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هَلْ تُرِيدُ شَيْئًا آخَرَ؟</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would you like anything else?</a:t>
            </a:r>
            <a:endParaRPr lang="en-US" sz="1350" dirty="0"/>
          </a:p>
          <a:p>
            <a:pPr indent="0" marL="0">
              <a:buNone/>
            </a:pPr>
            <a:r>
              <a:rPr lang="en-US" sz="1100" i="1" dirty="0">
                <a:solidFill>
                  <a:srgbClr val="5A6472"/>
                </a:solidFill>
                <a:latin typeface="Calibri" pitchFamily="34" charset="0"/>
                <a:cs typeface="Amiri" pitchFamily="2" charset="-78"/>
              </a:rPr>
              <a:t>hal tu-rī-du shay-ʾan ā-kha-ra?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كَمِ السِّعْرُ؟</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much is it?</a:t>
            </a:r>
            <a:endParaRPr lang="en-US" sz="1350" dirty="0"/>
          </a:p>
          <a:p>
            <a:pPr indent="0" marL="0">
              <a:buNone/>
            </a:pPr>
            <a:r>
              <a:rPr lang="en-US" sz="1100" i="1" dirty="0">
                <a:solidFill>
                  <a:srgbClr val="5A6472"/>
                </a:solidFill>
                <a:latin typeface="Calibri" pitchFamily="34" charset="0"/>
                <a:cs typeface="Amiri" pitchFamily="2" charset="-78"/>
              </a:rPr>
              <a:t>ka-mi as-siʿ-ru?</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مَاءٌ عَادِيٌّ أَمْ غَازِيٌّ؟</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still or sparkling water?</a:t>
            </a:r>
            <a:endParaRPr lang="en-US" sz="1350" dirty="0"/>
          </a:p>
          <a:p>
            <a:pPr indent="0" marL="0">
              <a:buNone/>
            </a:pPr>
            <a:r>
              <a:rPr lang="en-US" sz="1100" i="1" dirty="0">
                <a:solidFill>
                  <a:srgbClr val="5A6472"/>
                </a:solidFill>
                <a:latin typeface="Calibri" pitchFamily="34" charset="0"/>
                <a:cs typeface="Amiri" pitchFamily="2" charset="-78"/>
              </a:rPr>
              <a:t>mā-ʾun ʿā-diy-yun am ghā-ziy-yun?</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49" name="Shape 4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الحِسَابُ مِنْ فَضْلِكَ</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bill, please</a:t>
            </a:r>
            <a:endParaRPr lang="en-US" sz="1350" dirty="0"/>
          </a:p>
          <a:p>
            <a:pPr indent="0" marL="0">
              <a:buNone/>
            </a:pPr>
            <a:r>
              <a:rPr lang="en-US" sz="1100" i="1" dirty="0">
                <a:solidFill>
                  <a:srgbClr val="5A6472"/>
                </a:solidFill>
                <a:latin typeface="Calibri" pitchFamily="34" charset="0"/>
                <a:cs typeface="Amiri" pitchFamily="2" charset="-78"/>
              </a:rPr>
              <a:t>al-ḥi-sā-bu min faḍ-li-ka</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THE CAFÉ TRANSACTION (WEBSITE RULES 1–4)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Greet · order · ask · pay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الطَّلَبُ المُهَذَّبُ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19872" y="1810512"/>
            <a:ext cx="3538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263347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Customer says</a:t>
            </a:r>
            <a:endParaRPr lang="en-US" sz="1100" dirty="0"/>
          </a:p>
        </p:txBody>
      </p:sp>
      <p:sp>
        <p:nvSpPr>
          <p:cNvPr id="18" name="Text 15"/>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Stage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156448" y="2267712"/>
            <a:ext cx="3502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 evening. The menu, please.</a:t>
            </a:r>
            <a:endParaRPr lang="en-US" sz="1100" dirty="0"/>
          </a:p>
        </p:txBody>
      </p:sp>
      <p:sp>
        <p:nvSpPr>
          <p:cNvPr id="21" name="Text 18"/>
          <p:cNvSpPr txBox="1"/>
          <p:nvPr/>
        </p:nvSpPr>
        <p:spPr>
          <a:xfrm>
            <a:off x="2651760" y="2267712"/>
            <a:ext cx="53035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مَسَاءُ الخَيْرِ. قَائِمَةُ الطَّعَامِ، </a:t>
            </a:r>
            <a:pPr rtl="1" algn="ctr" indent="0" marL="0">
              <a:buNone/>
            </a:pPr>
            <a:r>
              <a:rPr lang="ar-SA" altLang="en-US" sz="2400" b="1" dirty="0">
                <a:solidFill>
                  <a:srgbClr val="D6336C"/>
                </a:solidFill>
                <a:latin typeface="Amiri" pitchFamily="2" charset="-78"/>
                <a:ea typeface="Amiri" pitchFamily="2" charset="-78"/>
                <a:cs typeface="Amiri" pitchFamily="2" charset="-78"/>
              </a:rPr>
              <a:t>لَوْ سَمَحْتَ</a:t>
            </a:r>
            <a:pPr rtl="1" algn="ctr" indent="0" marL="0">
              <a:buNone/>
            </a:pPr>
            <a:r>
              <a:rPr lang="ar-SA" altLang="en-US" sz="2400" b="1" dirty="0">
                <a:solidFill>
                  <a:srgbClr val="1B3B6F"/>
                </a:solidFill>
                <a:latin typeface="Amiri" pitchFamily="2" charset="-78"/>
                <a:cs typeface="Amiri" pitchFamily="2" charset="-78"/>
              </a:rPr>
              <a:t>.</a:t>
            </a:r>
            <a:endParaRPr lang="ar-SA" sz="2400" dirty="0"/>
          </a:p>
        </p:txBody>
      </p:sp>
      <p:sp>
        <p:nvSpPr>
          <p:cNvPr id="22" name="Text 19"/>
          <p:cNvSpPr txBox="1"/>
          <p:nvPr/>
        </p:nvSpPr>
        <p:spPr>
          <a:xfrm>
            <a:off x="56692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greet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156448" y="3004718"/>
            <a:ext cx="3502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would like soup and a salad, please.</a:t>
            </a:r>
            <a:endParaRPr lang="en-US" sz="1100" dirty="0"/>
          </a:p>
        </p:txBody>
      </p:sp>
      <p:sp>
        <p:nvSpPr>
          <p:cNvPr id="27" name="Text 24"/>
          <p:cNvSpPr txBox="1"/>
          <p:nvPr/>
        </p:nvSpPr>
        <p:spPr>
          <a:xfrm>
            <a:off x="2651760" y="3004718"/>
            <a:ext cx="530352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أُرِيدُ</a:t>
            </a:r>
            <a:pPr rtl="1" algn="ctr" indent="0" marL="0">
              <a:buNone/>
            </a:pPr>
            <a:r>
              <a:rPr lang="ar-SA" altLang="en-US" sz="2400" b="1" dirty="0">
                <a:solidFill>
                  <a:srgbClr val="1B3B6F"/>
                </a:solidFill>
                <a:latin typeface="Amiri" pitchFamily="2" charset="-78"/>
                <a:ea typeface="Amiri" pitchFamily="2" charset="-78"/>
                <a:cs typeface="Amiri" pitchFamily="2" charset="-78"/>
              </a:rPr>
              <a:t> حَسَاءً وَسَلَطَةً، </a:t>
            </a:r>
            <a:pPr rtl="1" algn="ctr" indent="0" marL="0">
              <a:buNone/>
            </a:pPr>
            <a:r>
              <a:rPr lang="ar-SA" altLang="en-US" sz="2400" b="1" dirty="0">
                <a:solidFill>
                  <a:srgbClr val="D6336C"/>
                </a:solidFill>
                <a:latin typeface="Amiri" pitchFamily="2" charset="-78"/>
                <a:ea typeface="Amiri" pitchFamily="2" charset="-78"/>
                <a:cs typeface="Amiri" pitchFamily="2" charset="-78"/>
              </a:rPr>
              <a:t>مِنْ فَضْلِكَ</a:t>
            </a:r>
            <a:pPr rtl="1" algn="ctr" indent="0" marL="0">
              <a:buNone/>
            </a:pPr>
            <a:r>
              <a:rPr lang="ar-SA" altLang="en-US" sz="2400" b="1" dirty="0">
                <a:solidFill>
                  <a:srgbClr val="1B3B6F"/>
                </a:solidFill>
                <a:latin typeface="Amiri" pitchFamily="2" charset="-78"/>
                <a:cs typeface="Amiri" pitchFamily="2" charset="-78"/>
              </a:rPr>
              <a:t>.</a:t>
            </a:r>
            <a:endParaRPr lang="ar-SA" sz="2400" dirty="0"/>
          </a:p>
        </p:txBody>
      </p:sp>
      <p:sp>
        <p:nvSpPr>
          <p:cNvPr id="28" name="Text 25"/>
          <p:cNvSpPr txBox="1"/>
          <p:nvPr/>
        </p:nvSpPr>
        <p:spPr>
          <a:xfrm>
            <a:off x="56692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order</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156448" y="3741725"/>
            <a:ext cx="3502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have vegetarian food?</a:t>
            </a:r>
            <a:endParaRPr lang="en-US" sz="1100" dirty="0"/>
          </a:p>
        </p:txBody>
      </p:sp>
      <p:sp>
        <p:nvSpPr>
          <p:cNvPr id="33" name="Text 30"/>
          <p:cNvSpPr txBox="1"/>
          <p:nvPr/>
        </p:nvSpPr>
        <p:spPr>
          <a:xfrm>
            <a:off x="2651760" y="3741725"/>
            <a:ext cx="530352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هَلْ عِنْدَكُمْ</a:t>
            </a:r>
            <a:pPr rtl="1" algn="ctr" indent="0" marL="0">
              <a:buNone/>
            </a:pPr>
            <a:r>
              <a:rPr lang="ar-SA" altLang="en-US" sz="2400" b="1" dirty="0">
                <a:solidFill>
                  <a:srgbClr val="1B3B6F"/>
                </a:solidFill>
                <a:latin typeface="Amiri" pitchFamily="2" charset="-78"/>
                <a:ea typeface="Amiri" pitchFamily="2" charset="-78"/>
                <a:cs typeface="Amiri" pitchFamily="2" charset="-78"/>
              </a:rPr>
              <a:t> طَعَامٌ نَبَاتِيٌّ؟</a:t>
            </a:r>
            <a:endParaRPr lang="ar-SA" sz="2400" dirty="0"/>
          </a:p>
        </p:txBody>
      </p:sp>
      <p:sp>
        <p:nvSpPr>
          <p:cNvPr id="34" name="Text 31"/>
          <p:cNvSpPr txBox="1"/>
          <p:nvPr/>
        </p:nvSpPr>
        <p:spPr>
          <a:xfrm>
            <a:off x="56692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available?</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156448" y="4478731"/>
            <a:ext cx="3502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much is the soup?</a:t>
            </a:r>
            <a:endParaRPr lang="en-US" sz="1100" dirty="0"/>
          </a:p>
        </p:txBody>
      </p:sp>
      <p:sp>
        <p:nvSpPr>
          <p:cNvPr id="37" name="Text 34"/>
          <p:cNvSpPr txBox="1"/>
          <p:nvPr/>
        </p:nvSpPr>
        <p:spPr>
          <a:xfrm>
            <a:off x="2651760" y="4478731"/>
            <a:ext cx="530352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كَمْ سِعْرُ</a:t>
            </a:r>
            <a:pPr rtl="1" algn="ctr" indent="0" marL="0">
              <a:buNone/>
            </a:pPr>
            <a:r>
              <a:rPr lang="ar-SA" altLang="en-US" sz="2400" b="1" dirty="0">
                <a:solidFill>
                  <a:srgbClr val="1B3B6F"/>
                </a:solidFill>
                <a:latin typeface="Amiri" pitchFamily="2" charset="-78"/>
                <a:ea typeface="Amiri" pitchFamily="2" charset="-78"/>
                <a:cs typeface="Amiri" pitchFamily="2" charset="-78"/>
              </a:rPr>
              <a:t> الحَسَاءِ؟</a:t>
            </a:r>
            <a:endParaRPr lang="ar-SA" sz="2400" dirty="0"/>
          </a:p>
        </p:txBody>
      </p:sp>
      <p:sp>
        <p:nvSpPr>
          <p:cNvPr id="38" name="Text 35"/>
          <p:cNvSpPr txBox="1"/>
          <p:nvPr/>
        </p:nvSpPr>
        <p:spPr>
          <a:xfrm>
            <a:off x="56692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price</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156448" y="5215738"/>
            <a:ext cx="3502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bill, please. Thank you very much.</a:t>
            </a:r>
            <a:endParaRPr lang="en-US" sz="1100" dirty="0"/>
          </a:p>
        </p:txBody>
      </p:sp>
      <p:sp>
        <p:nvSpPr>
          <p:cNvPr id="41" name="Text 38"/>
          <p:cNvSpPr txBox="1"/>
          <p:nvPr/>
        </p:nvSpPr>
        <p:spPr>
          <a:xfrm>
            <a:off x="2651760" y="5215738"/>
            <a:ext cx="53035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الحِسَابُ، </a:t>
            </a:r>
            <a:pPr rtl="1" algn="ctr" indent="0" marL="0">
              <a:buNone/>
            </a:pPr>
            <a:r>
              <a:rPr lang="ar-SA" altLang="en-US" sz="2400" b="1" dirty="0">
                <a:solidFill>
                  <a:srgbClr val="D6336C"/>
                </a:solidFill>
                <a:latin typeface="Amiri" pitchFamily="2" charset="-78"/>
                <a:ea typeface="Amiri" pitchFamily="2" charset="-78"/>
                <a:cs typeface="Amiri" pitchFamily="2" charset="-78"/>
              </a:rPr>
              <a:t>مِنْ فَضْلِكَ</a:t>
            </a:r>
            <a:pPr rtl="1" algn="ctr" indent="0" marL="0">
              <a:buNone/>
            </a:pPr>
            <a:r>
              <a:rPr lang="ar-SA" altLang="en-US" sz="2400" b="1" dirty="0">
                <a:solidFill>
                  <a:srgbClr val="1B3B6F"/>
                </a:solidFill>
                <a:latin typeface="Amiri" pitchFamily="2" charset="-78"/>
                <a:ea typeface="Amiri" pitchFamily="2" charset="-78"/>
                <a:cs typeface="Amiri" pitchFamily="2" charset="-78"/>
              </a:rPr>
              <a:t>. شُكْرًا جَزِيلًا.</a:t>
            </a:r>
            <a:endParaRPr lang="ar-SA" sz="2400" dirty="0"/>
          </a:p>
        </p:txBody>
      </p:sp>
      <p:sp>
        <p:nvSpPr>
          <p:cNvPr id="42" name="Text 39"/>
          <p:cNvSpPr txBox="1"/>
          <p:nvPr/>
        </p:nvSpPr>
        <p:spPr>
          <a:xfrm>
            <a:off x="56692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pay</a:t>
            </a:r>
            <a:endParaRPr lang="en-US" sz="1100" dirty="0"/>
          </a:p>
        </p:txBody>
      </p:sp>
      <p:sp>
        <p:nvSpPr>
          <p:cNvPr id="43" name="Shape 4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urīdu the item takes -an: urīdu shāyan, salaṭatan, ḥasāʼan. To a waitress: min faḍliki, law samaḥti.</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THE WAITER’S QUESTIONS (LISTEN FOR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would you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النَّادِلِ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229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TO A MAN</a:t>
            </a:r>
            <a:endParaRPr lang="en-US" sz="850" dirty="0"/>
          </a:p>
        </p:txBody>
      </p:sp>
      <p:sp>
        <p:nvSpPr>
          <p:cNvPr id="18" name="Text 15"/>
          <p:cNvSpPr txBox="1"/>
          <p:nvPr/>
        </p:nvSpPr>
        <p:spPr>
          <a:xfrm>
            <a:off x="9101328" y="1874520"/>
            <a:ext cx="24932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مَاذَا تُرِيدُ؟</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مَسَاءُ الخَيْرِ. مَاذَا تُرِيدُ؟</a:t>
            </a:r>
            <a:endParaRPr lang="ar-SA" sz="30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Good evening. What would you like?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tu-rī-du</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96012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TO A WOMAN</a:t>
            </a:r>
            <a:endParaRPr lang="en-US" sz="850" dirty="0"/>
          </a:p>
        </p:txBody>
      </p:sp>
      <p:sp>
        <p:nvSpPr>
          <p:cNvPr id="26" name="Text 23"/>
          <p:cNvSpPr txBox="1"/>
          <p:nvPr/>
        </p:nvSpPr>
        <p:spPr>
          <a:xfrm>
            <a:off x="5419344"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مَاذَا تُرِيدِينَ؟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هَلْ تُرِيدِينَ شَيْئًا لِلشُّرْبِ؟</a:t>
            </a:r>
            <a:endParaRPr lang="ar-SA" sz="31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Would you like something to drink?</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tu-rī-dī-na: add -īna.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7543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 OR B?</a:t>
            </a:r>
            <a:endParaRPr lang="en-US" sz="850" dirty="0"/>
          </a:p>
        </p:txBody>
      </p:sp>
      <p:sp>
        <p:nvSpPr>
          <p:cNvPr id="34" name="Text 31"/>
          <p:cNvSpPr txBox="1"/>
          <p:nvPr/>
        </p:nvSpPr>
        <p:spPr>
          <a:xfrm>
            <a:off x="1394460" y="1874520"/>
            <a:ext cx="25618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 أَمْ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عَصِيرٌ صَغِيرٌ أَمْ كَبِيرٌ؟</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 small or a large juice?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Answer with one word + thanks.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a bare command sounds rude in a café.</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أُرِيدُ شَايًا، مِنْ فَضْلِكَ.</a:t>
            </a:r>
            <a:endParaRPr lang="ar-SA" sz="17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أَعْطِنِي شَايًا.</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الطَّلَبُ المُهَذَّبُ وَالسُّؤَالُ عَنِ السِّعْرِ</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Order an item politely</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أُرِيدُ + شَيْئًا، مِنْ فَضْلِكَ / مِنْ فَضْلِكِ</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أُرِيدُ شَايًا، مِنْ فَضْلِكَ.   ·   أُرِيدُ سَلَطَةً، مِنْ فَضْلِكِ.</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Ask whether something is available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هَلْ عِنْدَكُمْ...؟</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هَلْ عِنْدَكُمْ طَعَامٌ نَبَاتِيٌّ؟   ·   هَلْ عِنْدَكُمْ عَصِيرُ البُرْتُقَالِ؟</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Ask the price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كَمْ سِعْرُ...؟ / كَمْ ثَمَنُ...؟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كَمْ سِعْرُ الحَسَاءِ؟   ·   كَمْ ثَمَنُ الوَجْبَةِ؟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Close the exchange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الحِسَابُ، مِنْ فَضْلِكَ. · شُكْرًا.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الحِسَابُ، مِنْ فَضْلِكَ.   ·   شُكْرًا جَزِيلًا.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complete polite order.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حَسَاءٌ.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أَعْطِنِي حَسَاءً.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حَسَاءً، مِنْ فَضْلِكَ.</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whether vegetarian food is available.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عِنْدَكُمْ طَعَامٌ نَبَاتِيٌّ؟</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الطَّعَامُ النَّبَاتِيُّ؟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النَّبَاتِيَّ؟</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of “please” addresses a female?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فَضْلِكَ</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فَضْلِكِ</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فَضْلِهِ</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“What would you like?”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تُرِيدِينَ؟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تُرِيدُ؟</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أُرِيدُ؟</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complete polite order.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حَسَاءٌ.</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أَعْطِنِي حَسَاءً.</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أُرِيدُ حَسَاءً، مِنْ فَضْلِكَ.</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request is complete and includes politeness.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whether vegetarian food is available.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هَلْ عِنْدَكُمْ طَعَامٌ نَبَاتِيٌّ؟</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مَاذَا الطَّعَامُ النَّبَاتِيُّ؟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أُرِيدُ النَّبَاتِيَّ؟</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هَلْ عِنْدَكُمْ</a:t>
            </a:r>
            <a:pPr algn="l" indent="0" marL="0">
              <a:buNone/>
            </a:pPr>
            <a:r>
              <a:rPr lang="en-US" sz="1050" i="1" dirty="0">
                <a:solidFill>
                  <a:srgbClr val="8A6D1E"/>
                </a:solidFill>
                <a:latin typeface="Calibri" pitchFamily="34" charset="0"/>
                <a:cs typeface="Amiri" pitchFamily="2" charset="-78"/>
              </a:rPr>
              <a:t> asks about availability.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of “please” addresses a female?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فَضْلِكَ</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 فَضْلِكِ</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فَضْلِهِ</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kasrah marks the female addressee form.</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“What would you like?”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مَاذَا تُرِيدِينَ؟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مَاذَا تُرِيدُ؟</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مَاذَا أُرِيدُ؟</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female listener form ends in </a:t>
            </a:r>
            <a:pPr algn="l" indent="0" marL="0">
              <a:buNone/>
            </a:pPr>
            <a:r>
              <a:rPr lang="ar-SA" altLang="en-US" sz="1350" dirty="0">
                <a:solidFill>
                  <a:srgbClr val="8A6D1E"/>
                </a:solidFill>
                <a:latin typeface="Amiri" pitchFamily="2" charset="-78"/>
                <a:ea typeface="Amiri" pitchFamily="2" charset="-78"/>
                <a:cs typeface="Amiri" pitchFamily="2" charset="-78"/>
              </a:rPr>
              <a:t>ـِينَ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order at the café</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Waiter asks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النَّادِلُ: مَرْحَبًا. مَاذَا تُرِيدُ؟</a:t>
            </a:r>
            <a:endParaRPr lang="ar-SA" sz="19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Listen for the question word.</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Order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الزَّبُونُ: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أُرِيدُ</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حَسَاءً وَسَانْدَوِيتْشًا،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مِنْ فَضْلِكَ</a:t>
            </a:r>
            <a:pPr rtl="1" algn="ctr" indent="0" marL="0">
              <a:lnSpc>
                <a:spcPct val="120000"/>
              </a:lnSpc>
              <a:buNone/>
            </a:pPr>
            <a:r>
              <a:rPr lang="ar-SA" altLang="en-US" sz="1750" b="1" dirty="0">
                <a:solidFill>
                  <a:srgbClr val="1B3B6F"/>
                </a:solidFill>
                <a:latin typeface="Amiri" pitchFamily="2" charset="-78"/>
                <a:cs typeface="Amiri" pitchFamily="2" charset="-78"/>
              </a:rPr>
              <a:t>.</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Item + -an, then please.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Clarify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النَّادِلُ: عَصِيرٌ صَغِيرٌ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أَمْ</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كَبِيرٌ؟ — الزَّبُونُ: صَغِيرٌ، شُكْرًا.</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Answer the detail asked.</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Close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الزَّبُونُ: لَا، شُكْرًا. الحِسَابُ،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مِنْ فَضْلِكَ</a:t>
            </a:r>
            <a:pPr rtl="1" algn="ctr" indent="0" marL="0">
              <a:lnSpc>
                <a:spcPct val="120000"/>
              </a:lnSpc>
              <a:buNone/>
            </a:pPr>
            <a:r>
              <a:rPr lang="ar-SA" altLang="en-US" sz="1750" b="1" dirty="0">
                <a:solidFill>
                  <a:srgbClr val="1B3B6F"/>
                </a:solidFill>
                <a:latin typeface="Amiri" pitchFamily="2" charset="-78"/>
                <a:cs typeface="Amiri" pitchFamily="2" charset="-78"/>
              </a:rPr>
              <a:t>.</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Bill + please.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REQUEST</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POLITE</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CHOICE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النَّادِلُ: مَرْحَبًا. مَاذَا تُرِيدُ؟ — الزَّبُونُ: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أُرِيدُ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حَسَاءً وَسَانْدَوِيتْشًا،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مِنْ فَضْلِكَ</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 النَّادِلُ: هَلْ تُرِيدُ شَيْئًا لِلشُّرْبِ؟ — الزَّبُونُ: نَعَمْ، عَصِيرَ تُفَّاحٍ. — النَّادِلُ: صَغِيرًا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أَمْ</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كَبِيرًا؟ — الزَّبُونُ: صَغِيرًا، شُكْرًا. — النَّادِلُ: شَيْءٌ آخَرُ؟ — الزَّبُونُ: لَا، الحِسَابُ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مِنْ فَضْلِكَ</a:t>
            </a:r>
            <a:pPr rtl="1" algn="r" indent="0" marL="0">
              <a:lnSpc>
                <a:spcPct val="120000"/>
              </a:lnSpc>
              <a:buNone/>
            </a:pPr>
            <a:r>
              <a:rPr lang="ar-SA" altLang="en-US" sz="1400" b="1" dirty="0">
                <a:solidFill>
                  <a:srgbClr val="1B3B6F"/>
                </a:solidFill>
                <a:latin typeface="Amiri" pitchFamily="2" charset="-78"/>
                <a:cs typeface="Amiri" pitchFamily="2" charset="-78"/>
              </a:rPr>
              <a:t>.</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Waiter: Hello. What would you like? — Customer: I would like soup and a sandwich, please. — Would you like something to drink? — Yes, apple juice. — Small or large? — Small, thank you. — Anything else? — No, the bill please.</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أُرِيدُ حَسَاءَ العَدَسِ وَسَلَطَةً، مِنْ فَضْلِكَ.</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would like lentil soup and a salad, please.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Use أُرِيدُ + item and finish with politeness.</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هَلْ عِنْدَكُمْ طَعَامٌ نَبَاتِيٌّ؟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Do you have vegetarian food?</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هَلْ عِنْدَكُمْ checks availability.</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مَاءٌ عَادِيٌّ، مِنْ فَضْلِكِ.</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Still water, please.</a:t>
            </a:r>
            <a:endParaRPr lang="en-US" sz="1250" dirty="0"/>
          </a:p>
          <a:p>
            <a:pPr indent="0" marL="0">
              <a:buNone/>
            </a:pPr>
            <a:r>
              <a:rPr lang="en-US" sz="1050" i="1" dirty="0">
                <a:solidFill>
                  <a:srgbClr val="8A6D1E"/>
                </a:solidFill>
                <a:latin typeface="Calibri" pitchFamily="34" charset="0"/>
                <a:cs typeface="Amiri" pitchFamily="2" charset="-78"/>
              </a:rPr>
              <a:t>Short transactional replies can still be complete and polite.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الحِسَابُ، لَوْ سَمَحْتَ.</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bill, please.</a:t>
            </a:r>
            <a:endParaRPr lang="en-US" sz="1250" dirty="0"/>
          </a:p>
          <a:p>
            <a:pPr indent="0" marL="0">
              <a:buNone/>
            </a:pPr>
            <a:r>
              <a:rPr lang="en-US" sz="1050" i="1" dirty="0">
                <a:solidFill>
                  <a:srgbClr val="8A6D1E"/>
                </a:solidFill>
                <a:latin typeface="Calibri" pitchFamily="34" charset="0"/>
                <a:cs typeface="Amiri" pitchFamily="2" charset="-78"/>
              </a:rPr>
              <a:t>Use a polite attention phrase to close the transaction.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WE DO · PICTURE MATCH · WEBSITE GAME “VISUAL GAME — ORDERING FOOD POLITELY”</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At the café: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طَلَبٌ فِي المَقْهَى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coffee · waiter</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juice · waitress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bill?</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أُرِيدُ عَصِيرًا، مِنْ فَضْلِكِ.</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كَمِ الحِسَابُ؟</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أُرِيدُ قَهْوَةً، مِنْ فَضْلِكَ.</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طَلَبٌ فِي المَقْهَى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coffee · waiter</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أُرِيدُ قَهْوَةً، مِنْ فَضْلِكَ.</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would like coffee, please (to a man).</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juice · waitress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أُرِيدُ عَصِيرًا، مِنْ فَضْلِكِ.</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would like juice, please (to a woman).</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bill?</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كَمِ الحِسَابُ؟</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How much is the bill?</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the transaction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2" charset="-78"/>
                <a:ea typeface="Amiri" pitchFamily="2" charset="-78"/>
                <a:cs typeface="Amiri" pitchFamily="2" charset="-78"/>
              </a:rPr>
              <a:t>السَّلَامُ عَلَيْكُمْ. هَلْ هٰذِهِ الطَّاوِلَةُ شَاغِرَةٌ؟</a:t>
            </a:r>
            <a:endParaRPr lang="ar-SA" sz="14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حَسَاءً وَخُبْزًا، مِنْ فَضْلِكَ.</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هَلْ عِنْدَكُمْ عَصِيرُ تُفَّاحٍ؟</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شُكْرًا جَزِيلًا.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الحِسَابُ، لَوْ سَمَحْتِ.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مَسَاءُ الخَيْرِ.</a:t>
            </a:r>
            <a:endParaRPr lang="ar-SA" sz="1800" dirty="0"/>
          </a:p>
        </p:txBody>
      </p:sp>
      <p:sp>
        <p:nvSpPr>
          <p:cNvPr id="27" name="Shape 24"/>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28" name="Shape 25"/>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29" name="Text 26"/>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بِدَايَةٌ · opening</a:t>
            </a:r>
            <a:endParaRPr lang="en-US" sz="950" dirty="0"/>
          </a:p>
        </p:txBody>
      </p:sp>
      <p:sp>
        <p:nvSpPr>
          <p:cNvPr id="30" name="Shape 27"/>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1" name="Shape 28"/>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2" name="Text 29"/>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طَلَبٌ · ordering</a:t>
            </a:r>
            <a:endParaRPr lang="en-US" sz="950" dirty="0"/>
          </a:p>
        </p:txBody>
      </p:sp>
      <p:sp>
        <p:nvSpPr>
          <p:cNvPr id="33" name="Shape 30"/>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4" name="Shape 31"/>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خِتَامٌ · closing</a:t>
            </a:r>
            <a:endParaRPr lang="en-US" sz="9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بِدَايَةٌ · opening</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السَّلَامُ عَلَيْكُمْ. هَلْ هٰذِهِ الطَّاوِلَةُ شَاغِرَةٌ؟</a:t>
            </a:r>
            <a:endParaRPr lang="ar-SA" sz="175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مَسَاءُ الخَيْرِ.</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طَلَبٌ · ordering</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حَسَاءً وَخُبْزًا، مِنْ فَضْلِكَ.</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هَلْ عِنْدَكُمْ عَصِيرُ تُفَّاحٍ؟</a:t>
            </a:r>
            <a:endParaRPr lang="ar-SA" sz="1800" dirty="0"/>
          </a:p>
        </p:txBody>
      </p:sp>
      <p:sp>
        <p:nvSpPr>
          <p:cNvPr id="29" name="Shape 26"/>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0" name="Shape 27"/>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خِتَامٌ · closing</a:t>
            </a:r>
            <a:endParaRPr lang="en-US" sz="950" dirty="0"/>
          </a:p>
        </p:txBody>
      </p:sp>
      <p:sp>
        <p:nvSpPr>
          <p:cNvPr id="32" name="Shape 29"/>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شُكْرًا جَزِيلًا.</a:t>
            </a:r>
            <a:endParaRPr lang="ar-SA" sz="1800" dirty="0"/>
          </a:p>
        </p:txBody>
      </p:sp>
      <p:sp>
        <p:nvSpPr>
          <p:cNvPr id="34" name="Shape 31"/>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الحِسَابُ، لَوْ سَمَحْتِ.</a:t>
            </a:r>
            <a:endParaRPr lang="ar-SA" sz="1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5,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أَمْ</a:t>
            </a:r>
            <a:pPr algn="l" indent="0" marL="0">
              <a:buNone/>
            </a:pPr>
            <a:r>
              <a:rPr lang="en-US" sz="1250" b="1" dirty="0">
                <a:solidFill>
                  <a:srgbClr val="1B3B6F"/>
                </a:solidFill>
                <a:latin typeface="Calibri" pitchFamily="34" charset="0"/>
                <a:cs typeface="Amiri" pitchFamily="2" charset="-78"/>
              </a:rPr>
              <a:t> do in a question?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gives a reason</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makes a negative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joins alternatives</a:t>
            </a:r>
            <a:endParaRPr lang="en-US" sz="12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polite request for the bill.</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الحِسَابُ؟</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الحِسَابُ، لَوْ سَمَحْتَ.</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مَاءٌ؟</a:t>
            </a:r>
            <a:endParaRPr lang="ar-SA" sz="20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price question.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الوَجْبَةُ سِعْرٌ؟</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سِعْرُ الوَجْبَةِ؟</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سِعْرُ الوَجْبَةِ؟</a:t>
            </a:r>
            <a:endParaRPr lang="ar-SA" sz="20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أَمْ</a:t>
            </a:r>
            <a:pPr algn="l" indent="0" marL="0">
              <a:buNone/>
            </a:pPr>
            <a:r>
              <a:rPr lang="en-US" sz="1250" b="1" dirty="0">
                <a:solidFill>
                  <a:srgbClr val="1B3B6F"/>
                </a:solidFill>
                <a:latin typeface="Calibri" pitchFamily="34" charset="0"/>
                <a:cs typeface="Amiri" pitchFamily="2" charset="-78"/>
              </a:rPr>
              <a:t> do in a question?</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gives a reason</a:t>
            </a:r>
            <a:endParaRPr lang="en-US" sz="12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makes a negative</a:t>
            </a:r>
            <a:endParaRPr lang="en-US" sz="12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joins alternatives</a:t>
            </a:r>
            <a:endParaRPr lang="en-US" sz="12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أَمْ</a:t>
            </a:r>
            <a:pPr algn="l" indent="0" marL="0">
              <a:buNone/>
            </a:pPr>
            <a:r>
              <a:rPr lang="en-US" sz="1050" i="1" dirty="0">
                <a:solidFill>
                  <a:srgbClr val="8A6D1E"/>
                </a:solidFill>
                <a:latin typeface="Calibri" pitchFamily="34" charset="0"/>
                <a:cs typeface="Amiri" pitchFamily="2" charset="-78"/>
              </a:rPr>
              <a:t> means “or” between alternatives.</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polite request for the bill.</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مَا الحِسَابُ؟</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الحِسَابُ، لَوْ سَمَحْتَ.</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أَيْنَ مَاءٌ؟</a:t>
            </a:r>
            <a:endParaRPr lang="ar-SA" sz="20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This is the conventional polite request.</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price question.</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كَمْ الوَجْبَةُ سِعْرٌ؟</a:t>
            </a:r>
            <a:endParaRPr lang="ar-SA" sz="20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كَمْ سِعْرُ الوَجْبَةِ؟</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أَيْنَ سِعْرُ الوَجْبَةِ؟</a:t>
            </a:r>
            <a:endParaRPr lang="ar-SA" sz="20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كَمْ سِعْرُ</a:t>
            </a:r>
            <a:pPr algn="l" indent="0" marL="0">
              <a:buNone/>
            </a:pPr>
            <a:r>
              <a:rPr lang="en-US" sz="1050" i="1" dirty="0">
                <a:solidFill>
                  <a:srgbClr val="8A6D1E"/>
                </a:solidFill>
                <a:latin typeface="Calibri" pitchFamily="34" charset="0"/>
                <a:cs typeface="Amiri" pitchFamily="2" charset="-78"/>
              </a:rPr>
              <a:t> + the item in an idāfa phrase.</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43</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أَعْطِنِي شَايًا.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a bare command polite?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أُرِيدُ مِنْ فَضْلِكَ سَلَطَةٌ.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Where does “please” go? Which ending on the item?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هَلْ عِنْدَكَ طَعَامٌ نَبَاتِيٌّ؟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Asking a business: one person or “you all”?</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أَعْطِنِي شَايًا.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أُرِيدُ شَايًا، مِنْ فَضْلِكَ.</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corrected form is more suitable for a polite restaurant exchange.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أُرِيدُ مِنْ فَضْلِكَ سَلَطَةٌ.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أُرِيدُ سَلَطَةً، مِنْ فَضْلِكَ.</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requested item is the direct object and should be accusative.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هَلْ عِنْدَكَ طَعَامٌ نَبَاتِيٌّ؟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هَلْ عِنْدَكُمْ طَعَامٌ نَبَاتِيٌّ؟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عِنْدَكُمْ</a:t>
            </a:r>
            <a:pPr algn="l" indent="0" marL="0">
              <a:buNone/>
            </a:pPr>
            <a:r>
              <a:rPr lang="en-US" sz="1150" b="1" dirty="0">
                <a:solidFill>
                  <a:srgbClr val="1B3B6F"/>
                </a:solidFill>
                <a:latin typeface="Calibri" pitchFamily="34" charset="0"/>
                <a:cs typeface="Amiri" pitchFamily="2" charset="-78"/>
              </a:rPr>
              <a:t> is a conventional way to ask a business whether it has something.</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At Café Miftah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food is ordered?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salad and a cheese sandwich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soup and bread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rice and chicken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drink is requested?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apple juice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orange juice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clarification does the waiter ask?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hot or cold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still or sparkling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small or large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size is chosen?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small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large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medium</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أُرِيدُ</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عَصِيرَ</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صَغِيرٌ أَمْ كَبِيرٌ</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43</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النَّادِلُ: مَسَاءُ الخَيْرِ. مَاذَا تُرِيدِينَ؟</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Waiter: Good evening. What would you (f.) like?</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الزَّبُونَةُ: أُرِيدُ سَلَطَةً وَسَانْدَوِيتْشَ جُبْنٍ، مِنْ فَضْلِكَ.</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Customer: I would like a salad and a cheese sandwich, please.</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النَّادِلُ: هَلْ تُرِيدِينَ شَيْئًا لِلشُّرْبِ؟ الزَّبُونَةُ: نَعَمْ، عَصِيرَ بُرْتُقَالٍ.</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Would you like something to drink? — Yes, orange juice.</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النَّادِلُ: عَصِيرٌ صَغِيرٌ أَمْ كَبِيرٌ؟ الزَّبُونَةُ: صَغِيرٌ، شُكْرًا.</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small or large juice? — Small, thank you.</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43</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food is ordered?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salad and a cheese sandwich</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soup and bread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rice and chicken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سَلَطَةً وَسَانْدَوِيتْشَ جُبْنٍ.</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drink is requested?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apple juice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water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orange juice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عَصِيرَ بُرْتُقَالٍ.</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clarification does the waiter ask?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hot or cold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still or sparkling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small or large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صَغِيرٌ أَمْ كَبِيرٌ؟</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size is chosen?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small</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large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medium</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صَغِيرٌ.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أُرِيدُ</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عَصِيرَ</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صَغِيرٌ أَمْ كَبِيرٌ</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43</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Restaurant role play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سَلِّمْ عَلَى النَّادِلِ وَاطْلُبْ قَائِمَةَ الطَّعَامِ.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اُطْلُبْ طَبَقًا وَمَشْرُوبًا.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اِسْأَلْ: هَلْ عِنْدَهُمْ طَعَامٌ نَبَاتِيٌّ؟ وَأَجِبْ عَنْ سُؤَالِ النَّادِلِ.</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الطَّبَقُ غَيْرُ مَوْجُودٍ: اُطْلُبْ بَدِيلًا، ثُمَّ اُطْلُبِ الحِسَابَ.</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D5FBF"/>
                </a:solidFill>
                <a:latin typeface="Amiri" pitchFamily="2" charset="-78"/>
                <a:ea typeface="Amiri" pitchFamily="2" charset="-78"/>
                <a:cs typeface="Amiri" pitchFamily="2" charset="-78"/>
              </a:rPr>
              <a:t>مَسَاءُ الخَيْرِ. قَائِمَةُ الطَّعَامِ، لَوْ سَمَحْتَ.</a:t>
            </a:r>
            <a:endParaRPr lang="ar-SA" sz="1550" dirty="0"/>
          </a:p>
        </p:txBody>
      </p:sp>
      <p:sp>
        <p:nvSpPr>
          <p:cNvPr id="51" name="Shape 48"/>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أُرِيدُ ___ وَ ___ ، مِنْ فَضْلِكَ.</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هَلْ عِنْدَكُمْ ___ ؟ · صَغِيرًا، شُكْرًا.</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إِذَنْ، أُرِيدُ ___ بَدَلًا مِنْهُ. الحِسَابُ، مِنْ فَضْلِكَ.</a:t>
            </a:r>
            <a:endParaRPr lang="ar-SA" sz="13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Amiri" pitchFamily="2" charset="-78"/>
                <a:ea typeface="Amiri" pitchFamily="2" charset="-78"/>
                <a:cs typeface="Amiri" pitchFamily="2" charset="-78"/>
              </a:rPr>
              <a:t>النَّادِلُ</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مَسَاءُ الخَيْرِ. مَاذَا تُرِيدِينَ؟</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Good evening. What would you (f.) like?</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Amiri" pitchFamily="2" charset="-78"/>
                <a:ea typeface="Amiri" pitchFamily="2" charset="-78"/>
                <a:cs typeface="Amiri" pitchFamily="2" charset="-78"/>
              </a:rPr>
              <a:t>الزَّبُونَةُ</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أُرِيدُ حَسَاءَ العَدَسِ وَسَلَطَةً، مِنْ فَضْلِكَ.</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would like lentil soup and a salad, please.</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43</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lines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a menu and sentence cards to complete a four-turn exchange.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Greet, order with please, answer one question, ask for the bill.</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lines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Perform a six-turn role play with one unexpected clarification question.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waiter and customer; food, a drink, one clarification and the bill.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10–12 lines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Handle an unavailable item, request an alternative and query the bill without returning to the model.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an unavailable dish, an alternative and a question about the price.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43</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عِنْدَكُمْ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Do you have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سِعْرُ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much is the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يُمْكِنُنِي أَنْ أَطْلُبَ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May I order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صَغِيرًا / كَبِيرًا، شُكْرًا.</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Small / large, thank you.</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مَاءً عَادِيًّا، مِنْ فَضْلِكِ.</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Still water, please (to a woman).</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مَسَاءُ الخَيْرِ.</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Good evening.</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أُرِيدُ ______ ، مِنْ فَضْلِكَ.</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would like …, please.</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نَعَمْ، ______ مِنْ فَضْلِكَ. / لَا، شُكْرًا.</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Yes, … please. / No, thank you.</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الحِسَابُ، مِنْ فَضْلِكَ.</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bill, please.</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شُكْرًا جَزِيلًا.</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Thank you very much.</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أُرِيدُ  ·  مِنْ فَضْلِكَ  ·  مِنْ فَضْلِكِ  ·  لَوْ سَمَحْتَ  ·  هَلْ عِنْدَكُمْ  ·  كَمْ سِعْرُ  ·  الحِسَابُ  ·  قَائِمَةُ الطَّعَامِ  ·  نَادِلٌ  ·  صَغِيرٌ  ·  كَبِيرٌ  ·  شُكْرًا جَزِيلًا</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an 8-line café dialogue between a waiter and a customer. The customer must order food, choose a drink, answer one clarification and ask for the bill.</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 greeting and a polite closing.</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a:t>
            </a:r>
            <a:pPr algn="l" indent="0" marL="0">
              <a:buNone/>
            </a:pPr>
            <a:r>
              <a:rPr lang="ar-SA" altLang="en-US" sz="1550" dirty="0">
                <a:solidFill>
                  <a:srgbClr val="1F2A37"/>
                </a:solidFill>
                <a:latin typeface="Amiri" pitchFamily="2" charset="-78"/>
                <a:ea typeface="Amiri" pitchFamily="2" charset="-78"/>
                <a:cs typeface="Amiri" pitchFamily="2" charset="-78"/>
              </a:rPr>
              <a:t>أُرِيدُ</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هَلْ يُمْكِنُنِي أَنْ أَطْلُبَ</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at least one question from the waiter.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ea typeface="Amiri" pitchFamily="2" charset="-78"/>
                <a:cs typeface="Amiri" pitchFamily="2" charset="-78"/>
              </a:rPr>
              <a:t>مِنْ فَضْلِكَ / مِنْ فَضْلِكِ</a:t>
            </a:r>
            <a:pPr algn="l" indent="0" marL="0">
              <a:buNone/>
            </a:pPr>
            <a:r>
              <a:rPr lang="en-US" sz="1200" dirty="0">
                <a:solidFill>
                  <a:srgbClr val="1F2A37"/>
                </a:solidFill>
                <a:latin typeface="Calibri" pitchFamily="34" charset="0"/>
                <a:cs typeface="Amiri" pitchFamily="2" charset="-78"/>
              </a:rPr>
              <a:t> accurately.</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آسِفٌ، لَا يُوجَدُ سَمَكٌ اليَوْمَ</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sorry, there is no fish today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إِذَنْ، أُرِيدُ … بَدَلًا مِنْهُ</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then I would like … instead</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تُوصِي؟</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what do you recommend?</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بِدُونِ مُكَسَّرَاتٍ، مِنْ فَضْلِكَ</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without nuts, please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 الطَّعَامُ لَذِيذًا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food was delicious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43</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450" dirty="0">
                <a:solidFill>
                  <a:srgbClr val="1F2A37"/>
                </a:solidFill>
                <a:latin typeface="Amiri" pitchFamily="2" charset="-78"/>
                <a:ea typeface="Amiri" pitchFamily="2" charset="-78"/>
                <a:cs typeface="Amiri" pitchFamily="2" charset="-78"/>
              </a:rPr>
              <a:t>النَّادِلُ: مَرْحَبًا. مَاذَا تُرِيدُ؟</a:t>
            </a:r>
            <a:endParaRPr lang="ar-SA" sz="1450" dirty="0"/>
          </a:p>
          <a:p>
            <a:pPr rtl="1" algn="r" indent="0" marL="0">
              <a:lnSpc>
                <a:spcPct val="120000"/>
              </a:lnSpc>
              <a:buNone/>
            </a:pPr>
            <a:r>
              <a:rPr lang="ar-SA" altLang="en-US" sz="1450" dirty="0">
                <a:solidFill>
                  <a:srgbClr val="1F2A37"/>
                </a:solidFill>
                <a:latin typeface="Amiri" pitchFamily="2" charset="-78"/>
                <a:ea typeface="Amiri" pitchFamily="2" charset="-78"/>
                <a:cs typeface="Amiri" pitchFamily="2" charset="-78"/>
              </a:rPr>
              <a:t>الزَّبُونُ: أُرِيدُ حَسَاءً وَسَانْدَوِيتْشًا، مِنْ فَضْلِكَ.</a:t>
            </a:r>
            <a:endParaRPr lang="ar-SA" sz="1450" dirty="0"/>
          </a:p>
          <a:p>
            <a:pPr rtl="1" algn="r" indent="0" marL="0">
              <a:lnSpc>
                <a:spcPct val="120000"/>
              </a:lnSpc>
              <a:buNone/>
            </a:pPr>
            <a:r>
              <a:rPr lang="ar-SA" altLang="en-US" sz="1450" dirty="0">
                <a:solidFill>
                  <a:srgbClr val="1F2A37"/>
                </a:solidFill>
                <a:latin typeface="Amiri" pitchFamily="2" charset="-78"/>
                <a:ea typeface="Amiri" pitchFamily="2" charset="-78"/>
                <a:cs typeface="Amiri" pitchFamily="2" charset="-78"/>
              </a:rPr>
              <a:t>النَّادِلُ: هَلْ تُرِيدُ شَيْئًا لِلشُّرْبِ؟</a:t>
            </a:r>
            <a:endParaRPr lang="ar-SA" sz="1450" dirty="0"/>
          </a:p>
          <a:p>
            <a:pPr rtl="1" algn="r" indent="0" marL="0">
              <a:lnSpc>
                <a:spcPct val="120000"/>
              </a:lnSpc>
              <a:buNone/>
            </a:pPr>
            <a:r>
              <a:rPr lang="ar-SA" altLang="en-US" sz="1450" dirty="0">
                <a:solidFill>
                  <a:srgbClr val="1F2A37"/>
                </a:solidFill>
                <a:latin typeface="Amiri" pitchFamily="2" charset="-78"/>
                <a:ea typeface="Amiri" pitchFamily="2" charset="-78"/>
                <a:cs typeface="Amiri" pitchFamily="2" charset="-78"/>
              </a:rPr>
              <a:t>الزَّبُونُ: نَعَمْ، عَصِيرَ تُفَّاحٍ.</a:t>
            </a:r>
            <a:endParaRPr lang="ar-SA" sz="1450" dirty="0"/>
          </a:p>
          <a:p>
            <a:pPr rtl="1" algn="r" indent="0" marL="0">
              <a:lnSpc>
                <a:spcPct val="120000"/>
              </a:lnSpc>
              <a:buNone/>
            </a:pPr>
            <a:r>
              <a:rPr lang="ar-SA" altLang="en-US" sz="1450" dirty="0">
                <a:solidFill>
                  <a:srgbClr val="1F2A37"/>
                </a:solidFill>
                <a:latin typeface="Amiri" pitchFamily="2" charset="-78"/>
                <a:ea typeface="Amiri" pitchFamily="2" charset="-78"/>
                <a:cs typeface="Amiri" pitchFamily="2" charset="-78"/>
              </a:rPr>
              <a:t>النَّادِلُ: صَغِيرًا أَمْ كَبِيرًا؟</a:t>
            </a:r>
            <a:endParaRPr lang="ar-SA" sz="1450" dirty="0"/>
          </a:p>
          <a:p>
            <a:pPr rtl="1" algn="r" indent="0" marL="0">
              <a:lnSpc>
                <a:spcPct val="120000"/>
              </a:lnSpc>
              <a:buNone/>
            </a:pPr>
            <a:r>
              <a:rPr lang="ar-SA" altLang="en-US" sz="1450" dirty="0">
                <a:solidFill>
                  <a:srgbClr val="1F2A37"/>
                </a:solidFill>
                <a:latin typeface="Amiri" pitchFamily="2" charset="-78"/>
                <a:ea typeface="Amiri" pitchFamily="2" charset="-78"/>
                <a:cs typeface="Amiri" pitchFamily="2" charset="-78"/>
              </a:rPr>
              <a:t>الزَّبُونُ: صَغِيرًا، شُكْرًا.</a:t>
            </a:r>
            <a:endParaRPr lang="ar-SA" sz="1450" dirty="0"/>
          </a:p>
          <a:p>
            <a:pPr rtl="1" algn="r" indent="0" marL="0">
              <a:lnSpc>
                <a:spcPct val="120000"/>
              </a:lnSpc>
              <a:buNone/>
            </a:pPr>
            <a:r>
              <a:rPr lang="ar-SA" altLang="en-US" sz="1450" dirty="0">
                <a:solidFill>
                  <a:srgbClr val="1F2A37"/>
                </a:solidFill>
                <a:latin typeface="Amiri" pitchFamily="2" charset="-78"/>
                <a:ea typeface="Amiri" pitchFamily="2" charset="-78"/>
                <a:cs typeface="Amiri" pitchFamily="2" charset="-78"/>
              </a:rPr>
              <a:t>النَّادِلُ: شَيْءٌ آخَرُ؟</a:t>
            </a:r>
            <a:endParaRPr lang="ar-SA" sz="1450" dirty="0"/>
          </a:p>
          <a:p>
            <a:pPr rtl="1" algn="r" indent="0" marL="0">
              <a:lnSpc>
                <a:spcPct val="120000"/>
              </a:lnSpc>
              <a:buNone/>
            </a:pPr>
            <a:r>
              <a:rPr lang="ar-SA" altLang="en-US" sz="1450" dirty="0">
                <a:solidFill>
                  <a:srgbClr val="1F2A37"/>
                </a:solidFill>
                <a:latin typeface="Amiri" pitchFamily="2" charset="-78"/>
                <a:ea typeface="Amiri" pitchFamily="2" charset="-78"/>
                <a:cs typeface="Amiri" pitchFamily="2" charset="-78"/>
              </a:rPr>
              <a:t>الزَّبُونُ: لَا، الحِسَابُ مِنْ فَضْلِكَ.</a:t>
            </a:r>
            <a:endParaRPr lang="ar-SA" sz="1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Waiter: Hello. What would you like? Customer: I would like soup and a sandwich, please. Waiter: Would you like something to drink? Customer: Yes, apple juice. Waiter: Small or large? Customer: Small, thank you. Waiter: Anything else? Customer: No, the bill please.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greeting</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order</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clarification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bill</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43</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greeted and closed politely.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request has </a:t>
            </a:r>
            <a:pPr algn="l" indent="0" marL="0">
              <a:buNone/>
            </a:pPr>
            <a:r>
              <a:rPr lang="ar-SA" altLang="en-US" sz="1700" dirty="0">
                <a:solidFill>
                  <a:srgbClr val="1F2A37"/>
                </a:solidFill>
                <a:latin typeface="Amiri" pitchFamily="2" charset="-78"/>
                <a:ea typeface="Amiri" pitchFamily="2" charset="-78"/>
                <a:cs typeface="Amiri" pitchFamily="2" charset="-78"/>
              </a:rPr>
              <a:t>مِنْ فَضْلِكَ / مِنْ فَضْلِكِ</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item after </a:t>
            </a:r>
            <a:pPr algn="l" indent="0" marL="0">
              <a:buNone/>
            </a:pPr>
            <a:r>
              <a:rPr lang="ar-SA" altLang="en-US" sz="1700" dirty="0">
                <a:solidFill>
                  <a:srgbClr val="1F2A37"/>
                </a:solidFill>
                <a:latin typeface="Amiri" pitchFamily="2" charset="-78"/>
                <a:ea typeface="Amiri" pitchFamily="2" charset="-78"/>
                <a:cs typeface="Amiri" pitchFamily="2" charset="-78"/>
              </a:rPr>
              <a:t>أُرِيدُ</a:t>
            </a:r>
            <a:pPr algn="l" indent="0" marL="0">
              <a:buNone/>
            </a:pPr>
            <a:r>
              <a:rPr lang="en-US" sz="1300" dirty="0">
                <a:solidFill>
                  <a:srgbClr val="1F2A37"/>
                </a:solidFill>
                <a:latin typeface="Calibri" pitchFamily="34" charset="0"/>
                <a:cs typeface="Amiri" pitchFamily="2" charset="-78"/>
              </a:rPr>
              <a:t> ends in -an.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the waiter’s question.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handled a missing item without the model.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43</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الحِسَابُ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bill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menu</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table</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هَلْ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طَعَامٌ نَبَاتِيٌّ؟</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مَعَكُمْ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عِنْدَكُمْ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فِيكُمْ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what a female wants?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تُرِيدِينَ؟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تُرِيدُ؟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يُرِيدُ؟</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43</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الحِسَابُ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bill</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menu</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table</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الحِسَابُ</a:t>
            </a:r>
            <a:pPr algn="l" indent="0" marL="0">
              <a:buNone/>
            </a:pPr>
            <a:r>
              <a:rPr lang="en-US" sz="1050" i="1" dirty="0">
                <a:solidFill>
                  <a:srgbClr val="8A6D1E"/>
                </a:solidFill>
                <a:latin typeface="Calibri" pitchFamily="34" charset="0"/>
                <a:cs typeface="Amiri" pitchFamily="2" charset="-78"/>
              </a:rPr>
              <a:t> is the bill.</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هَلْ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طَعَامٌ نَبَاتِيٌّ؟</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مَعَكُمْ</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عِنْدَكُمْ</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فِيكُمْ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هَلْ عِنْدَكُمْ</a:t>
            </a:r>
            <a:pPr algn="l" indent="0" marL="0">
              <a:buNone/>
            </a:pPr>
            <a:r>
              <a:rPr lang="en-US" sz="1050" i="1" dirty="0">
                <a:solidFill>
                  <a:srgbClr val="8A6D1E"/>
                </a:solidFill>
                <a:latin typeface="Calibri" pitchFamily="34" charset="0"/>
                <a:cs typeface="Amiri" pitchFamily="2" charset="-78"/>
              </a:rPr>
              <a:t> asks whether the restaurant has it.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what a female wants?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مَاذَا تُرِيدِينَ؟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مَاذَا تُرِيدُ؟</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مَاذَا يُرِيدُ؟</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Female addressee: </a:t>
            </a:r>
            <a:pPr algn="l" indent="0" marL="0">
              <a:buNone/>
            </a:pPr>
            <a:r>
              <a:rPr lang="ar-SA" altLang="en-US" sz="1350" dirty="0">
                <a:solidFill>
                  <a:srgbClr val="8A6D1E"/>
                </a:solidFill>
                <a:latin typeface="Amiri" pitchFamily="2" charset="-78"/>
                <a:ea typeface="Amiri" pitchFamily="2" charset="-78"/>
                <a:cs typeface="Amiri" pitchFamily="2" charset="-78"/>
              </a:rPr>
              <a:t>تُرِيدِينَ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43</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Menu notice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مَرْحَبًا بِكُمْ فِي مَقْهَى الزَّهْرَاءِ. نُقَدِّمُ الفُطُورَ مِنَ السَّاعَةِ السَّابِعَةِ إِلَى الحَادِيَةَ عَشْرَةَ. عِنْدَنَا خُبْزٌ وَجُبْنٌ وَبَيْضٌ، وَنُقَدِّمُ أَيْضًا حَسَاءَ العَدَسِ وَسَلَطَةً نَبَاتِيَّةً. لَا يُوجَدُ سَمَكٌ اليَوْمَ. المَشْرُوبَاتُ: شَايٌ، قَهْوَةٌ، حَلِيبٌ، مَاءٌ وَعَصِيرٌ. اُطْلُبُوا عِنْدَ الطَّاوِلَةِ، وَادْفَعُوا عِنْدَ البَابِ.</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مَرْحَبًا بِكُمْ</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welcome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نُقَدِّمُ</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serve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مِنَ … إِلَى …</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from … to …</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الحَادِيَةَ عَشْرَةَ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eleven</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حَسَاءَ العَدَسِ</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lentil soup</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نَبَاتِيَّةً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vegetarian</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 يُوجَدُ</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there is no</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المَشْرُوبَاتُ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drinks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اُطْلُبُوا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order (you all)</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ادْفَعُوا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pay (you all)</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43</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breakfast served?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8–12</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7–11</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7–10</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vegetarian dish is mentioned?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fish soup</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chicken sandwich</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vegetarian salad</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unavailable today?</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fish</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coffee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eggs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customers order?</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door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table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online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customers pay?</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door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table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kitchen</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43</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breakfast served?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8–12</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7–11</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7–10</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مِنَ السَّاعَةِ السَّابِعَةِ إِلَى الحَادِيَةَ عَشْرَةَ.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vegetarian dish is mentioned?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fish soup</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chicken sandwich</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vegetarian salad</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سَلَطَةً نَبَاتِيَّةً.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unavailable today?</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fish</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coffee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eggs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يُوجَدُ سَمَكٌ اليَوْمَ.</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customers order?</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the door</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at the table</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online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اُطْلُبُوا عِنْدَ الطَّاوِلَةِ.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customers pay?</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at the door</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the table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kitchen</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وَادْفَعُوا عِنْدَ البَابِ.</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43</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F5-L06: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F5-L06 · Menus, Prices and Dishes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سِعْرٌ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price</a:t>
            </a:r>
            <a:pPr indent="0" marL="0">
              <a:buNone/>
            </a:pPr>
            <a:r>
              <a:rPr lang="ar-SA" sz="1000" i="1" dirty="0">
                <a:solidFill>
                  <a:srgbClr val="5A6472"/>
                </a:solidFill>
                <a:latin typeface="Calibri" pitchFamily="34" charset="0"/>
                <a:ea typeface="Amiri" pitchFamily="2" charset="-78"/>
                <a:cs typeface="Amiri" pitchFamily="2" charset="-78"/>
              </a:rPr>
              <a:t>  pl. أَسْعَارٌ</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طَبَقٌ</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dish / plate</a:t>
            </a:r>
            <a:pPr indent="0" marL="0">
              <a:buNone/>
            </a:pPr>
            <a:r>
              <a:rPr lang="ar-SA" sz="1000" i="1" dirty="0">
                <a:solidFill>
                  <a:srgbClr val="5A6472"/>
                </a:solidFill>
                <a:latin typeface="Calibri" pitchFamily="34" charset="0"/>
                <a:ea typeface="Amiri" pitchFamily="2" charset="-78"/>
                <a:cs typeface="Amiri" pitchFamily="2" charset="-78"/>
              </a:rPr>
              <a:t>  pl. أَطْبَاقٌ</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رِيَالٌ / جُنَيْهٌ</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riyal / a pound</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مُقَبِّلَاتٌ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starters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حَلْوَى</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dessert / sweets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is your favourite dish from any country? Write its name.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طَبَقِي المُفَضَّلُ هُوَ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F5-L05: the vocabulary tab and the “Build the transaction”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an 8-line café dialogue with one clarification.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10–12-line dialogue with an unavailable dish and an alternative.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43</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F5-L05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F5-L06 · Menus, Prices and Dishes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قَوَائِمُ الطَّعَامِ وَالأَسْعَارُ وَالأَطْبَاقُ</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t>
            </a:r>
            <a:pPr algn="l" indent="0" marL="0">
              <a:buNone/>
            </a:pPr>
            <a:r>
              <a:rPr lang="ar-SA" altLang="en-US" sz="1700" b="1" dirty="0">
                <a:solidFill>
                  <a:srgbClr val="FFFFFF"/>
                </a:solidFill>
                <a:latin typeface="Amiri" pitchFamily="2" charset="-78"/>
                <a:ea typeface="Amiri" pitchFamily="2" charset="-78"/>
                <a:cs typeface="Amiri" pitchFamily="2" charset="-78"/>
              </a:rPr>
              <a:t>أُرِيدُ</a:t>
            </a:r>
            <a:pPr algn="l" indent="0" marL="0">
              <a:buNone/>
            </a:pPr>
            <a:r>
              <a:rPr lang="en-US" sz="1300" b="1" dirty="0">
                <a:solidFill>
                  <a:srgbClr val="FFFFFF"/>
                </a:solidFill>
                <a:latin typeface="Calibri" pitchFamily="34" charset="0"/>
                <a:cs typeface="Amiri" pitchFamily="2" charset="-78"/>
              </a:rPr>
              <a:t> + item (-an) + </a:t>
            </a:r>
            <a:pPr algn="l" indent="0" marL="0">
              <a:buNone/>
            </a:pPr>
            <a:r>
              <a:rPr lang="ar-SA" altLang="en-US" sz="1700" b="1" dirty="0">
                <a:solidFill>
                  <a:srgbClr val="FFFFFF"/>
                </a:solidFill>
                <a:latin typeface="Amiri" pitchFamily="2" charset="-78"/>
                <a:ea typeface="Amiri" pitchFamily="2" charset="-78"/>
                <a:cs typeface="Amiri" pitchFamily="2" charset="-78"/>
              </a:rPr>
              <a:t>مِنْ فَضْلِكَ / مِنْ فَضْلِكِ</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ea typeface="Amiri" pitchFamily="2" charset="-78"/>
                <a:cs typeface="Amiri" pitchFamily="2" charset="-78"/>
              </a:rPr>
              <a:t>هَلْ عِنْدَكُمْ …؟</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F5-L05 · Ordering Food Politely</dc:title>
  <dc:subject>PptxGenJS Presentation</dc:subject>
  <dc:creator>Al Madina Online School · Arabic Department</dc:creator>
  <cp:lastModifiedBy>Al Madina Online School · Arabic Department</cp:lastModifiedBy>
  <cp:revision>1</cp:revision>
  <dcterms:created xsi:type="dcterms:W3CDTF">2026-10-11T06:41:46Z</dcterms:created>
  <dcterms:modified xsi:type="dcterms:W3CDTF">2026-10-11T06:41:46Z</dcterms:modified>
</cp:coreProperties>
</file>