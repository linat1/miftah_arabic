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D3-L11. The website lesson “D3 Consolidation — Error Analysis and Assessment Preparation”: vocabulary, grammar rules and quiz, patterns, common mistakes, sorter, listening, reading, speaking prompts and model, writing task and model, differentiation, final check and the lesson mission. Picture match: website visual game “D3 Consolidation — Error Analysis and Assessment Preparation”.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No new grammar today: this is the D3 review before the D3-L12 assessment.
• Core: the agreement and future audits on the website error-analysis text (four errors to find). Develop: all four audits + explain each correction in one line. Stretch: a complete D3 response, then a self-audit with the checklist and a measurable target.
• Use the Do Now and quick-check results to choose each student’s route for the final You Do.
• The website listening is an ASSESSMENT REHEARSAL (an internship advert): treat it like the real test — two listenings, no script until after.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D3-L10. Questions 3–5 retrieve D3-L10, D3-L01 and D3-L03. Note which of 3–5 each student gets wrong: it points to their audit priority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Before you fix a word, ask: which audit? — agreement, preposition, future 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every key word of the error-analysis routine is shared: تحلیل، خطا، صحیح، تصحیح، دلیل. Students can say the routine in Urdu first, then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Complete D3 review (website vocabulary (1 of 4)). Hear → Say → See → Use. Transliteration is printed for Core students (cover it for Develop/Stretch).
Jobs review (D3-L01): every card shows m. · f. · pl. Quick-fire: say أَخِي / أُخْتِي + a job; the class gives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Complete D3 review (website vocabulary (2 of 4)). Hear → Say → See → Use. Transliteration is printed for Core students (cover it for Develop/Stretch).
Jobs review (D3-L01): every card shows m. · f. · pl. Quick-fire: say أَخِي / أُخْتِي + a job; the class gives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Complete D3 review (website vocabulary (3 of 4)). Hear → Say → See → Use. Transliteration is printed for Core students (cover it for Develop/Stretch).
Jobs review (D3-L01): every card shows m. · f. · pl. Quick-fire: say أَخِي / أُخْتِي + a job; the class gives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Complete D3 review (website vocabulary (4 of 4)). Hear → Say → See → Use. Transliteration is printed for Core students (cover it for Develop/Stretch).
Jobs review (D3-L01): every card shows m. · f. · pl. Quick-fire: say أَخِي / أُخْتِي + a job; the class gives the right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Cohesion and evaluation (website vocabulary (1 of 2)). Hear → Say → See → Use. Transliteration is printed for Core students (cover it for Develop/Stretch).
FLEX: teach if time allows; otherwise these are on the website vocabulary tab for homework.
Cohesion (FLEX): D3-L09 review — every connector must have a job in your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Cohesion and evaluation (website vocabulary (2 of 2)). Hear → Say → See → Use. Transliteration is printed for Core students (cover it for Develop/Stretch).
FLEX: teach if time allows; otherwise these are on the website vocabulary tab for homework.
Cohesion (FLEX): D3-L09 review — every connector must have a job in your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“Agreement audit” (الشَّخْصُ ↔ الفِعْلُ ↔ الصِّفَةُ: check gender and person across the whole sentence), “Verb-preposition audit” (learn the complete phrase, not an isolated verb), “Future audit” (do not combine سوف with a past verb) and “Evidence audit” (a developed answer proves or explains the claim). Website examples in the ✓ column; the ✗ column is from the website error-analysis text.
Row 2: لِـ + الوَظِيفَة is written لِلوَظِيفَةِ (the alif of al-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website reading text is a student’s faulty paragraph with its correction: «أُخْتِي مُهَنْدِسٌ وَهِيَ يَعْمَلُ فِي شَرِكَةٍ. سَوْفَ دَرَسَتْ فِي الجَامِعَةِ لِكَيْ تُصْبِحُ مُدِيرٌ» → «أُخْتِي مُهَنْدِسَةٌ وَهِيَ تَعْمَلُ فِي شَرِكَةٍ. سَوْفَ تَدْرُسُ فِي الجَامِعَةِ لِكَيْ تُصْبِحَ مُدِيرَةً». The four systems: gender, verb person, future, case ending.
Routine (as in F6-L11): diagnose (which audit?) → explain (which rule?) →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“تَحْلِيلُ الأَخْطَاءِ فِي اللُّغَةِ المِهَنِيَّةِ”
• Agreement audit: Check gender and person across the whole sentence.
• Verb-preposition audit: Learn the complete phrase, not an isolated verb.
• Future audit: Do not combine سوف with a past verb.
• Evidence audit: A developed answer proves or explains the claim.
Website common error: Do not correct only the visible ending: name the audit (agreement, preposition, future, evidence) and the rule, then repair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error-analysis text, corrected one audit at a time, then extended with a reason (D3-L03 needs + ilā) and evidence (D3-L06) so all four audits appear in the copy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Each item has one problem: is it agreement, a missing preposition, a wrong future, or missing evidence?
Then repair each item aloud. Stretch: explain the rule in one English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Each item has one problem: is it agreement, a missing preposition, a wrong future, or missing evidence?
Then repair each item aloud. Stretch: explain the rule in one English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4 and 6. Develop / Stretch: all 6 — question 3 has a corrected date (2nd, not 12th).
Listen 1: just listen. Listen 2: note answers. Then chat the letters.
Support: after the second listening, show the read-along slide (Arabic + English, line by line) for Core students.
SCRIPT (read aloud):
تُعْلِنُ شَرِكَةٌ تِقْنِيَّةٌ عَنْ فُرْصَةِ تَدْرِيبٍ لِلطُّلَّابِ. يُشْتَرَطُ إِجَادَةُ الحَاسُوبِ وَالقُدْرَةُ عَلَى العَمَلِ ضِمْنَ فَرِيقٍ. سَتَبْدَأُ الفُرْصَةُ فِي الثَّانِي مِنْ أَغُسْطُسَ، لَا فِي الثَّانِي عَشَرَ مِنْهُ، وَسَتَسْتَمِرُّ أَرْبَعَةَ أَسَابِيعَ. تُقَدِّمُ الشَّرِكَةُ تَدْرِيبًا وَشَهَادَةً، وَلٰكِنَّهَا لَا تُقَدِّمُ رَاتِبًا.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مَهَارَاتُكَ؟ (And your skills?)
B: أَنَا مُنَظَّمٌ، وَالدَّلِيلُ أَنَّنِي أُسَلِّمُ عَمَلِي فِي المَوْعِدِ. (I am organised; the proof is that I hand in my work on time.)
Teacher-written D3 topic conversation (the website prompts are generic) — the same five questions the D3-L12 speaking assessment will use. Pairs: A asks, B answers for one minute; swap. To a girl: مَا المِهْنَةُ الَّتِي تُرِيدِينَهَا؟ · مَا مَهَارَاتُكِ؟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Produce a complete D3 response, then use an error-analysis checklist to improve agreement, prepositions, future forms and evidence.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Teacher-written model (the website model for this lesson is a placeholder). Evidence: مُمَرِّضَةٌ وَتَعْمَلُ · تَحْتَاجُ إِلَى · سَوْفَ أَدْرُسُ، سَأَتَدَرَّبُ لِكَيْ أَكْتَسِبَ · وَالدَّلِيلُ أَنَّنِي … · هَدَفِي … لِأَنَّنِي أَخْطَأْتُ … مَرَّتَيْنِ (an evidence-based target).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(D3-L12 · D3 Review and Unit Assessment) will spend class time USING this language, so students prepare it tonight — short, simple, easy to access (school guidance: “Simple, Short, Interesting, Relevant, Easy to access”). The five words are the instruction words of the D3-L12 assessment (skills, marks, instructions).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D3 Consolidation — Error Analysis and Assessment Preparation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850" b="1" dirty="0">
                <a:solidFill>
                  <a:srgbClr val="D4AF37"/>
                </a:solidFill>
                <a:latin typeface="Amiri" pitchFamily="2" charset="-78"/>
                <a:ea typeface="Amiri" pitchFamily="2" charset="-78"/>
                <a:cs typeface="Amiri" pitchFamily="2" charset="-78"/>
              </a:rPr>
              <a:t>تَرْسِيخُ الوَحْدَةِ الثَّالِثَةِ — تَحْلِيلُ الأَخْطَاءِ وَالاِسْتِعْدَادُ لِلتَّقْيِيمِ</a:t>
            </a:r>
            <a:endParaRPr lang="ar-SA" sz="28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Pull the whole of D3 together: four audits (agreement · verb + preposition · future · evidence), a diagnose → explain → repair routine on a real student text, and one precise target before the D3 assessment.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D3-L11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audits and a three-step repair routine.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errors by audit, repair them, then an assessment-style listening.</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تَحْلِيلُ الأَخْطَاءِ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complete review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error analysis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priority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أُحَسِّنُ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improve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review</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eliminate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سَتَدْرُسُ الطِّبَّ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مُحَاسِبٌ وَيَعْمَلُ فِي شَرِكَةٍ.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تَكُونُ مُحَاسِبَةٌ.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أُمِّي مُحَاسِبَةٌ وَتَعْمَلُ فِي شَرِكَةٍ.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يَحْتَاجُ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تَحْلِيلُ الأَخْطَاءِ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complete review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error analysis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priority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أُحَسِّنُ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improve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review</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eliminate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سَتَدْرُسُ الطِّبَّ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D3-L10: reporting a girl.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أُمِّي مُحَاسِبٌ وَيَعْمَلُ فِي شَرِكَةٍ.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أُمِّي تَكُونُ مُحَاسِبَةٌ.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أُمِّي مُحَاسِبَةٌ وَتَعْمَلُ فِي شَرِكَةٍ.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D3-L01: agreement, no “is”.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يَحْتَاجُ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D3-L03.</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Before you fix a word, ask: which audit? — agreement, preposition, future or evidence.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هِيَ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مُهَنْدِسَةٌ</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وَ</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تَعْمَلُ</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يَحْتَاجُ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إِلَى</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سَوْفَ أَدْرُسُ</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Retrieve the core D3 vocabulary (jobs, plans, connectors).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Audit a text for agreement, prepositions, future forms and evidence.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why each correction is needed.</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Set one precise, evidence-based target before the assessment.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agreement and future errors.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a job and a plan accurately.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why each correction is needed.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audit prepositions and evidence too.</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complete D3 response and self-audit it.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set a precise, evidence-based target.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60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Complete D3 review · 24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Plans and applications · 24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Cohesion and evaluation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تَحْلِيلٌ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‎تحلیل‎ </a:t>
            </a:r>
            <a:pPr indent="0" marL="0">
              <a:buNone/>
            </a:pPr>
            <a:r>
              <a:rPr lang="en-US" sz="950" b="1" dirty="0">
                <a:solidFill>
                  <a:srgbClr val="2E8B57"/>
                </a:solidFill>
                <a:latin typeface="Calibri" pitchFamily="34" charset="0"/>
                <a:cs typeface="Amiri" pitchFamily="2" charset="-78"/>
              </a:rPr>
              <a:t> tahlīl · analysis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خَطَأٌ</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‎خطا‎ </a:t>
            </a:r>
            <a:pPr indent="0" marL="0">
              <a:buNone/>
            </a:pPr>
            <a:r>
              <a:rPr lang="en-US" sz="950" b="1" dirty="0">
                <a:solidFill>
                  <a:srgbClr val="2E8B57"/>
                </a:solidFill>
                <a:latin typeface="Calibri" pitchFamily="34" charset="0"/>
                <a:cs typeface="Amiri" pitchFamily="2" charset="-78"/>
              </a:rPr>
              <a:t> khatā · mistake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صَحِيحٌ</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‎صحیح‎ </a:t>
            </a:r>
            <a:pPr indent="0" marL="0">
              <a:buNone/>
            </a:pPr>
            <a:r>
              <a:rPr lang="en-US" sz="950" b="1" dirty="0">
                <a:solidFill>
                  <a:srgbClr val="2E8B57"/>
                </a:solidFill>
                <a:latin typeface="Calibri" pitchFamily="34" charset="0"/>
                <a:cs typeface="Amiri" pitchFamily="2" charset="-78"/>
              </a:rPr>
              <a:t> sahīh · correct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تَصْحِيحٌ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‎تصحیح‎ </a:t>
            </a:r>
            <a:pPr indent="0" marL="0">
              <a:buNone/>
            </a:pPr>
            <a:r>
              <a:rPr lang="en-US" sz="950" b="1" dirty="0">
                <a:solidFill>
                  <a:srgbClr val="2E8B57"/>
                </a:solidFill>
                <a:latin typeface="Calibri" pitchFamily="34" charset="0"/>
                <a:cs typeface="Amiri" pitchFamily="2" charset="-78"/>
              </a:rPr>
              <a:t> tashīh · correction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دَلِيلٌ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proof</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D3 review (1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مُهَنْدِسٌ / مُهَنْدِسَةٌ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engineer</a:t>
            </a:r>
            <a:endParaRPr lang="en-US" sz="1350" dirty="0"/>
          </a:p>
          <a:p>
            <a:pPr indent="0" marL="0">
              <a:buNone/>
            </a:pPr>
            <a:r>
              <a:rPr lang="en-US" sz="1100" i="1" dirty="0">
                <a:solidFill>
                  <a:srgbClr val="5A6472"/>
                </a:solidFill>
                <a:latin typeface="Calibri" pitchFamily="34" charset="0"/>
                <a:cs typeface="Amiri" pitchFamily="2" charset="-78"/>
              </a:rPr>
              <a:t>mu-han-di-sun / mu-han-di-sa-tun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 / مُدَرِّسَةٌ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mu-dar-ri-sun / mu-dar-ri-sa-tun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مُمَرِّضٌ / مُمَرِّضَةٌ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nurse</a:t>
            </a:r>
            <a:endParaRPr lang="en-US" sz="1350" dirty="0"/>
          </a:p>
          <a:p>
            <a:pPr indent="0" marL="0">
              <a:buNone/>
            </a:pPr>
            <a:r>
              <a:rPr lang="en-US" sz="1100" i="1" dirty="0">
                <a:solidFill>
                  <a:srgbClr val="5A6472"/>
                </a:solidFill>
                <a:latin typeface="Calibri" pitchFamily="34" charset="0"/>
                <a:cs typeface="Amiri" pitchFamily="2" charset="-78"/>
              </a:rPr>
              <a:t>mu-mar-ri-ḍun / mu-mar-ri-ḍa-tun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مُحَامٍ / مُحَامِيَةٌ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lawyer</a:t>
            </a:r>
            <a:endParaRPr lang="en-US" sz="1350" dirty="0"/>
          </a:p>
          <a:p>
            <a:pPr indent="0" marL="0">
              <a:buNone/>
            </a:pPr>
            <a:r>
              <a:rPr lang="en-US" sz="1100" i="1" dirty="0">
                <a:solidFill>
                  <a:srgbClr val="5A6472"/>
                </a:solidFill>
                <a:latin typeface="Calibri" pitchFamily="34" charset="0"/>
                <a:cs typeface="Amiri" pitchFamily="2" charset="-78"/>
              </a:rPr>
              <a:t>mu-ḥā-min / mu-ḥā-mi-ya-tun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مُحَامِيَةٌ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مُحَامٍ</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صَحَفِيٌّ / صَحَفِيَّةٌ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journalist</a:t>
            </a:r>
            <a:endParaRPr lang="en-US" sz="1350" dirty="0"/>
          </a:p>
          <a:p>
            <a:pPr indent="0" marL="0">
              <a:buNone/>
            </a:pPr>
            <a:r>
              <a:rPr lang="en-US" sz="1100" i="1" dirty="0">
                <a:solidFill>
                  <a:srgbClr val="5A6472"/>
                </a:solidFill>
                <a:latin typeface="Calibri" pitchFamily="34" charset="0"/>
                <a:cs typeface="Amiri" pitchFamily="2" charset="-78"/>
              </a:rPr>
              <a:t>ṣa-ḥa-fiy-yun / ṣa-ḥa-fiy-ya-tun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صَحَفِيُّونَ</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D3 review (2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مُبَرْمِجٌ / مُبَرْمِجَةٌ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programmer</a:t>
            </a:r>
            <a:endParaRPr lang="en-US" sz="1350" dirty="0"/>
          </a:p>
          <a:p>
            <a:pPr indent="0" marL="0">
              <a:buNone/>
            </a:pPr>
            <a:r>
              <a:rPr lang="en-US" sz="1100" i="1" dirty="0">
                <a:solidFill>
                  <a:srgbClr val="5A6472"/>
                </a:solidFill>
                <a:latin typeface="Calibri" pitchFamily="34" charset="0"/>
                <a:cs typeface="Amiri" pitchFamily="2" charset="-78"/>
              </a:rPr>
              <a:t>mu-bar-mi-jun / mu-bar-mi-ja-tun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مُبَرْمِجٌ</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مُحَاسِبٌ / مُحَاسِبَةٌ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accountant</a:t>
            </a:r>
            <a:endParaRPr lang="en-US" sz="1350" dirty="0"/>
          </a:p>
          <a:p>
            <a:pPr indent="0" marL="0">
              <a:buNone/>
            </a:pPr>
            <a:r>
              <a:rPr lang="en-US" sz="1100" i="1" dirty="0">
                <a:solidFill>
                  <a:srgbClr val="5A6472"/>
                </a:solidFill>
                <a:latin typeface="Calibri" pitchFamily="34" charset="0"/>
                <a:cs typeface="Amiri" pitchFamily="2" charset="-78"/>
              </a:rPr>
              <a:t>mu-ḥā-si-bun / mu-ḥā-si-ba-tun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مُصَمِّمٌ / مُصَمِّمَةٌ</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designer</a:t>
            </a:r>
            <a:endParaRPr lang="en-US" sz="1350" dirty="0"/>
          </a:p>
          <a:p>
            <a:pPr indent="0" marL="0">
              <a:buNone/>
            </a:pPr>
            <a:r>
              <a:rPr lang="en-US" sz="1100" i="1" dirty="0">
                <a:solidFill>
                  <a:srgbClr val="5A6472"/>
                </a:solidFill>
                <a:latin typeface="Calibri" pitchFamily="34" charset="0"/>
                <a:cs typeface="Amiri" pitchFamily="2" charset="-78"/>
              </a:rPr>
              <a:t>mu-ṣam-mi-mun / mu-ṣam-mi-ma-tun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مُصَمِّمُونَ</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مُصَمِّمٌ</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0" name="Shape 6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طَيَّارٌ / طَيَّارَةٌ</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pilot</a:t>
            </a:r>
            <a:endParaRPr lang="en-US" sz="1350" dirty="0"/>
          </a:p>
          <a:p>
            <a:pPr indent="0" marL="0">
              <a:buNone/>
            </a:pPr>
            <a:r>
              <a:rPr lang="en-US" sz="1100" i="1" dirty="0">
                <a:solidFill>
                  <a:srgbClr val="5A6472"/>
                </a:solidFill>
                <a:latin typeface="Calibri" pitchFamily="34" charset="0"/>
                <a:cs typeface="Amiri" pitchFamily="2" charset="-78"/>
              </a:rPr>
              <a:t>ṭay-yā-run / ṭay-yā-ra-tun</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طَيَّارُونَ</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طَيَّارَةٌ</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طَيَّارٌ</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6" name="Shape 8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شُرْطِيٌّ / شُرْطِيَّةٌ</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police officer</a:t>
            </a:r>
            <a:endParaRPr lang="en-US" sz="1350" dirty="0"/>
          </a:p>
          <a:p>
            <a:pPr indent="0" marL="0">
              <a:buNone/>
            </a:pPr>
            <a:r>
              <a:rPr lang="en-US" sz="1100" i="1" dirty="0">
                <a:solidFill>
                  <a:srgbClr val="5A6472"/>
                </a:solidFill>
                <a:latin typeface="Calibri" pitchFamily="34" charset="0"/>
                <a:cs typeface="Amiri" pitchFamily="2" charset="-78"/>
              </a:rPr>
              <a:t>shur-ṭiy-yun / shur-ṭiy-ya-tun</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شُرْطِيُّونَ</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شُرْطِيٌّ</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2" name="Shape 99"/>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4" name="Text 10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طَبَّاخٌ / طَبَّاخَةٌ</a:t>
            </a:r>
            <a:endParaRPr lang="ar-SA" sz="3000" dirty="0"/>
          </a:p>
        </p:txBody>
      </p:sp>
      <p:sp>
        <p:nvSpPr>
          <p:cNvPr id="105" name="Text 10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chef</a:t>
            </a:r>
            <a:endParaRPr lang="en-US" sz="1350" dirty="0"/>
          </a:p>
          <a:p>
            <a:pPr indent="0" marL="0">
              <a:buNone/>
            </a:pPr>
            <a:r>
              <a:rPr lang="en-US" sz="1100" i="1" dirty="0">
                <a:solidFill>
                  <a:srgbClr val="5A6472"/>
                </a:solidFill>
                <a:latin typeface="Calibri" pitchFamily="34" charset="0"/>
                <a:cs typeface="Amiri" pitchFamily="2" charset="-78"/>
              </a:rPr>
              <a:t>ṭab-bā-khun / ṭab-bā-kha-tun</a:t>
            </a:r>
            <a:endParaRPr lang="en-US" sz="1350" dirty="0"/>
          </a:p>
        </p:txBody>
      </p:sp>
      <p:sp>
        <p:nvSpPr>
          <p:cNvPr id="106" name="Shape 103"/>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7" name="Text 104"/>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8" name="Text 105"/>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طَبَّاخُونَ</a:t>
            </a:r>
            <a:endParaRPr lang="ar-SA" sz="1500" dirty="0"/>
          </a:p>
        </p:txBody>
      </p:sp>
      <p:sp>
        <p:nvSpPr>
          <p:cNvPr id="109" name="Shape 106"/>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0" name="Text 107"/>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1" name="Text 108"/>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طَبَّاخَةٌ</a:t>
            </a:r>
            <a:endParaRPr lang="ar-SA" sz="1500" dirty="0"/>
          </a:p>
        </p:txBody>
      </p:sp>
      <p:sp>
        <p:nvSpPr>
          <p:cNvPr id="112" name="Shape 109"/>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4" name="Text 111"/>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طَبَّاخٌ</a:t>
            </a:r>
            <a:endParaRPr lang="ar-SA" sz="1500" dirty="0"/>
          </a:p>
        </p:txBody>
      </p:sp>
      <p:sp>
        <p:nvSpPr>
          <p:cNvPr id="115" name="Text 11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D3 review (3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التَّوَاصُلِ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 المُشْكِلَاتِ</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العَمَلُ الجَمَاعِيُّ</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إِدَارَةُ الوَقْتِ</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الإِبْدَاعُ</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D3 review (4 of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المَرُونَةُ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al-ma-rū-na-tu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القِيَادَةُ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leadership</a:t>
            </a:r>
            <a:endParaRPr lang="en-US" sz="1350" dirty="0"/>
          </a:p>
          <a:p>
            <a:pPr indent="0" marL="0">
              <a:buNone/>
            </a:pPr>
            <a:r>
              <a:rPr lang="en-US" sz="1100" i="1" dirty="0">
                <a:solidFill>
                  <a:srgbClr val="5A6472"/>
                </a:solidFill>
                <a:latin typeface="Calibri" pitchFamily="34" charset="0"/>
                <a:cs typeface="Amiri" pitchFamily="2" charset="-78"/>
              </a:rPr>
              <a:t>al-qi-yā-da-tu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الخِبْرَةُ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المُؤَهِّلَاتُ</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إِجَادَةُ اللُّغَاتِ</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مَهَارَاتُ الحَاسُوبِ</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Cohesion and evaluation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Cohesion and evaluation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FOUR D3 AUDITS (WEBSITE RULES 1–4)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audits, four checks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أَرْبَعُ مُرَاجَعَاتٍ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 …</a:t>
            </a:r>
            <a:endParaRPr lang="en-US" sz="1100" dirty="0"/>
          </a:p>
        </p:txBody>
      </p:sp>
      <p:sp>
        <p:nvSpPr>
          <p:cNvPr id="17" name="Text 14"/>
          <p:cNvSpPr txBox="1"/>
          <p:nvPr/>
        </p:nvSpPr>
        <p:spPr>
          <a:xfrm>
            <a:off x="592531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8" name="Text 15"/>
          <p:cNvSpPr txBox="1"/>
          <p:nvPr/>
        </p:nvSpPr>
        <p:spPr>
          <a:xfrm>
            <a:off x="2816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Audit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52804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 ↔ verb ↔ adjective</a:t>
            </a:r>
            <a:endParaRPr lang="en-US" sz="1100" dirty="0"/>
          </a:p>
        </p:txBody>
      </p:sp>
      <p:sp>
        <p:nvSpPr>
          <p:cNvPr id="22" name="Text 19"/>
          <p:cNvSpPr txBox="1"/>
          <p:nvPr/>
        </p:nvSpPr>
        <p:spPr>
          <a:xfrm>
            <a:off x="5943600" y="2267712"/>
            <a:ext cx="33832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أُخْتِي </a:t>
            </a:r>
            <a:pPr rtl="1" algn="ctr" indent="0" marL="0">
              <a:buNone/>
            </a:pPr>
            <a:r>
              <a:rPr lang="ar-SA" altLang="en-US" sz="2000" b="1" dirty="0">
                <a:solidFill>
                  <a:srgbClr val="D6336C"/>
                </a:solidFill>
                <a:latin typeface="Amiri" pitchFamily="2" charset="-78"/>
                <a:ea typeface="Amiri" pitchFamily="2" charset="-78"/>
                <a:cs typeface="Amiri" pitchFamily="2" charset="-78"/>
              </a:rPr>
              <a:t>مُهَنْدِسَةٌ</a:t>
            </a:r>
            <a:pPr rtl="1" algn="ctr" indent="0" marL="0">
              <a:buNone/>
            </a:pPr>
            <a:r>
              <a:rPr lang="ar-SA" altLang="en-US" sz="2000" b="1" dirty="0">
                <a:solidFill>
                  <a:srgbClr val="1B3B6F"/>
                </a:solidFill>
                <a:latin typeface="Amiri" pitchFamily="2" charset="-78"/>
                <a:ea typeface="Amiri" pitchFamily="2" charset="-78"/>
                <a:cs typeface="Amiri" pitchFamily="2" charset="-78"/>
              </a:rPr>
              <a:t> وَهِيَ </a:t>
            </a:r>
            <a:pPr rtl="1" algn="ctr" indent="0" marL="0">
              <a:buNone/>
            </a:pPr>
            <a:r>
              <a:rPr lang="ar-SA" altLang="en-US" sz="2000" b="1" dirty="0">
                <a:solidFill>
                  <a:srgbClr val="D6336C"/>
                </a:solidFill>
                <a:latin typeface="Amiri" pitchFamily="2" charset="-78"/>
                <a:ea typeface="Amiri" pitchFamily="2" charset="-78"/>
                <a:cs typeface="Amiri" pitchFamily="2" charset="-78"/>
              </a:rPr>
              <a:t>تَعْمَلُ</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3" name="Text 20"/>
          <p:cNvSpPr txBox="1"/>
          <p:nvPr/>
        </p:nvSpPr>
        <p:spPr>
          <a:xfrm>
            <a:off x="2834640" y="2267712"/>
            <a:ext cx="29260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أُخْتِي مُهَنْدِسٌ وَهِيَ يَعْمَلُ.</a:t>
            </a:r>
            <a:endParaRPr lang="ar-SA" sz="2000" dirty="0"/>
          </a:p>
        </p:txBody>
      </p:sp>
      <p:sp>
        <p:nvSpPr>
          <p:cNvPr id="24" name="Text 21"/>
          <p:cNvSpPr txBox="1"/>
          <p:nvPr/>
        </p:nvSpPr>
        <p:spPr>
          <a:xfrm>
            <a:off x="566928" y="2267712"/>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 (L01, L03)</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52804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whole phrase</a:t>
            </a:r>
            <a:endParaRPr lang="en-US" sz="1100" dirty="0"/>
          </a:p>
        </p:txBody>
      </p:sp>
      <p:sp>
        <p:nvSpPr>
          <p:cNvPr id="29" name="Text 26"/>
          <p:cNvSpPr txBox="1"/>
          <p:nvPr/>
        </p:nvSpPr>
        <p:spPr>
          <a:xfrm>
            <a:off x="5943600" y="3054096"/>
            <a:ext cx="33832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يَحْتَاجُ </a:t>
            </a:r>
            <a:pPr rtl="1" algn="ctr" indent="0" marL="0">
              <a:buNone/>
            </a:pPr>
            <a:r>
              <a:rPr lang="ar-SA" altLang="en-US" sz="2000" b="1" dirty="0">
                <a:solidFill>
                  <a:srgbClr val="0E7C86"/>
                </a:solidFill>
                <a:latin typeface="Amiri" pitchFamily="2" charset="-78"/>
                <a:ea typeface="Amiri" pitchFamily="2" charset="-78"/>
                <a:cs typeface="Amiri" pitchFamily="2" charset="-78"/>
              </a:rPr>
              <a:t>إِلَى</a:t>
            </a:r>
            <a:pPr rtl="1" algn="ctr" indent="0" marL="0">
              <a:buNone/>
            </a:pPr>
            <a:r>
              <a:rPr lang="ar-SA" altLang="en-US" sz="2000" b="1" dirty="0">
                <a:solidFill>
                  <a:srgbClr val="1B3B6F"/>
                </a:solidFill>
                <a:latin typeface="Amiri" pitchFamily="2" charset="-78"/>
                <a:ea typeface="Amiri" pitchFamily="2" charset="-78"/>
                <a:cs typeface="Amiri" pitchFamily="2" charset="-78"/>
              </a:rPr>
              <a:t> خِبْرَةٍ. · يَتَقَدَّمُ </a:t>
            </a:r>
            <a:pPr rtl="1" algn="ctr" indent="0" marL="0">
              <a:buNone/>
            </a:pPr>
            <a:r>
              <a:rPr lang="ar-SA" altLang="en-US" sz="2000" b="1" dirty="0">
                <a:solidFill>
                  <a:srgbClr val="0E7C86"/>
                </a:solidFill>
                <a:latin typeface="Amiri" pitchFamily="2" charset="-78"/>
                <a:ea typeface="Amiri" pitchFamily="2" charset="-78"/>
                <a:cs typeface="Amiri" pitchFamily="2" charset="-78"/>
              </a:rPr>
              <a:t>لِلوَظِيفَةِ</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0" name="Text 27"/>
          <p:cNvSpPr txBox="1"/>
          <p:nvPr/>
        </p:nvSpPr>
        <p:spPr>
          <a:xfrm>
            <a:off x="2834640" y="3054096"/>
            <a:ext cx="29260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يَحْتَاجُ خِبْرَةً. · يَتَقَدَّمُ الوَظِيفَةَ.</a:t>
            </a:r>
            <a:endParaRPr lang="ar-SA" sz="2000" dirty="0"/>
          </a:p>
        </p:txBody>
      </p:sp>
      <p:sp>
        <p:nvSpPr>
          <p:cNvPr id="31" name="Text 28"/>
          <p:cNvSpPr txBox="1"/>
          <p:nvPr/>
        </p:nvSpPr>
        <p:spPr>
          <a:xfrm>
            <a:off x="566928" y="3054096"/>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preposition (L03, L06)</a:t>
            </a:r>
            <a:endParaRPr lang="en-US" sz="11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952804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sawfa + PRESENT</a:t>
            </a:r>
            <a:endParaRPr lang="en-US" sz="1100" dirty="0"/>
          </a:p>
        </p:txBody>
      </p:sp>
      <p:sp>
        <p:nvSpPr>
          <p:cNvPr id="34" name="Text 31"/>
          <p:cNvSpPr txBox="1"/>
          <p:nvPr/>
        </p:nvSpPr>
        <p:spPr>
          <a:xfrm>
            <a:off x="5943600" y="3840480"/>
            <a:ext cx="3383280" cy="731520"/>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سَوْفَ تَدْرُسُ</a:t>
            </a:r>
            <a:pPr rtl="1" algn="ctr" indent="0" marL="0">
              <a:buNone/>
            </a:pPr>
            <a:r>
              <a:rPr lang="ar-SA" altLang="en-US" sz="2000" b="1" dirty="0">
                <a:solidFill>
                  <a:srgbClr val="1B3B6F"/>
                </a:solidFill>
                <a:latin typeface="Amiri" pitchFamily="2" charset="-78"/>
                <a:ea typeface="Amiri" pitchFamily="2" charset="-78"/>
                <a:cs typeface="Amiri" pitchFamily="2" charset="-78"/>
              </a:rPr>
              <a:t> فِي الجَامِعَةِ.</a:t>
            </a:r>
            <a:endParaRPr lang="ar-SA" sz="2000" dirty="0"/>
          </a:p>
        </p:txBody>
      </p:sp>
      <p:sp>
        <p:nvSpPr>
          <p:cNvPr id="35" name="Text 32"/>
          <p:cNvSpPr txBox="1"/>
          <p:nvPr/>
        </p:nvSpPr>
        <p:spPr>
          <a:xfrm>
            <a:off x="2834640" y="3840480"/>
            <a:ext cx="29260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سَوْفَ دَرَسَتْ فِي الجَامِعَةِ.</a:t>
            </a:r>
            <a:endParaRPr lang="ar-SA" sz="2000" dirty="0"/>
          </a:p>
        </p:txBody>
      </p:sp>
      <p:sp>
        <p:nvSpPr>
          <p:cNvPr id="36" name="Text 33"/>
          <p:cNvSpPr txBox="1"/>
          <p:nvPr/>
        </p:nvSpPr>
        <p:spPr>
          <a:xfrm>
            <a:off x="566928" y="3840480"/>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(L04)</a:t>
            </a:r>
            <a:endParaRPr lang="en-US" sz="1100" dirty="0"/>
          </a:p>
        </p:txBody>
      </p:sp>
      <p:sp>
        <p:nvSpPr>
          <p:cNvPr id="37" name="Shape 34"/>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52804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claim + proof</a:t>
            </a:r>
            <a:endParaRPr lang="en-US" sz="1100" dirty="0"/>
          </a:p>
        </p:txBody>
      </p:sp>
      <p:sp>
        <p:nvSpPr>
          <p:cNvPr id="41" name="Text 38"/>
          <p:cNvSpPr txBox="1"/>
          <p:nvPr/>
        </p:nvSpPr>
        <p:spPr>
          <a:xfrm>
            <a:off x="5943600" y="4626864"/>
            <a:ext cx="338328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أَنَا مُنَظَّمٌ، </a:t>
            </a:r>
            <a:pPr rtl="1" algn="ct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وَالدَّلِيلُ</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أَنَّنِي أُسَلِّمُ عَمَلِي فِي المَوْعِدِ.</a:t>
            </a:r>
            <a:endParaRPr lang="ar-SA" sz="1550" dirty="0"/>
          </a:p>
        </p:txBody>
      </p:sp>
      <p:sp>
        <p:nvSpPr>
          <p:cNvPr id="42" name="Text 39"/>
          <p:cNvSpPr txBox="1"/>
          <p:nvPr/>
        </p:nvSpPr>
        <p:spPr>
          <a:xfrm>
            <a:off x="2834640" y="4626864"/>
            <a:ext cx="292608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مُنَظَّمٌ.</a:t>
            </a:r>
            <a:endParaRPr lang="ar-SA" sz="2000" dirty="0"/>
          </a:p>
        </p:txBody>
      </p:sp>
      <p:sp>
        <p:nvSpPr>
          <p:cNvPr id="43" name="Text 40"/>
          <p:cNvSpPr txBox="1"/>
          <p:nvPr/>
        </p:nvSpPr>
        <p:spPr>
          <a:xfrm>
            <a:off x="566928" y="4626864"/>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 (L03, L06)</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Traffic-light each audit for yourself: green · amber · red. Your reddest audit is your priority before D3-L12.</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2 · DIAGNOSE, EXPLAIN, REPAIR (THE WEBSITE ERROR-ANALYSIS TEXT)</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 one sentence the right way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 · اِشْرَحْ · صَحِّحْ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DIAGNOSE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مَا الخَطَأُ؟</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لِكَيْ تُصْبِحُ مُدِيرٌ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Two errors: the verb after li-kay, and the job after tuṣbiḥa.</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Name the audit.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EXPLAIN</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لِمَاذَا؟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بَعْدَ لِكَيْ يَأْتِي فِعْلٌ مَنْصُوبٌ.</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After li-kay: -a. After tuṣbiḥa: the job in -atan (she).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line per rule.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1F7A4D"/>
          </a:solidFill>
          <a:ln w="12700">
            <a:solidFill>
              <a:srgbClr val="1F7A4D"/>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REPAIR</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الصِّيَاغَةُ الصَّحِيحَةُ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لِكَيْ تُصْبِحَ مُدِيرَةً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order to become a manager (f.)</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Now the rule is reusable.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error-analysis text: the future needs a present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سَوْفَ تَدْرُسُ فِي الجَامِعَةِ.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سَوْفَ دَرَسَتْ فِي الجَامِعَةِ.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Integrated accuracy and error diagnosis</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تَحْلِيلُ الأَخْطَاءِ فِي اللُّغَةِ المِهَنِيَّةِ</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Agreement audit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الشَّخْصُ ↔ الفِعْلُ ↔ الصِّفَةُ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هِيَ مُهَنْدِسَةٌ وَتَعْمَلُ فِي شَرِكَةٍ كَبِيرَةٍ.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Verb-preposition audit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يَحْتَاجُ إِلَى / يَتَقَدَّمُ لِـ / يَعْمَلُ فِي</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يَحْتَاجُ إِلَى خِبْرَةٍ.   ·   يَتَقَدَّمُ لِلوَظِيفَةِ.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Future audit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سَـ / سَوْفَ + مُضَارِع</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سَوْفَ أَدْرُسُ.   ·   سَأَتَدَرَّبُ.</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Evidence audit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ادِّعَاءٌ + دَلِيلٌ / سَبَبٌ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أَنَا مُنَظَّمٌ، وَالدَّلِيلُ أَنَّنِي أُسَلِّمُ عَمَلِي فِي المَوْعِدِ.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أُخْتِي ___ وَتَعْمَلُ فِي شَرِكَةٍ.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مُهَنْدِسٌ</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مُهَنْدِسُونَ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مُهَنْدِسَةٌ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يَتَقَدَّمُ ___ الوَظِيفَةِ.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future is correct?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دَرَسْتُ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أَدْرُسُ</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سَأَدْرُسُ</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has evidence?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مُنَظَّمٌ، وَالدَّلِيلُ أَنَّنِي أُسَلِّمُ عَمَلِي فِي المَوْعِدِ.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مُنَظَّمٌ جِدًّا.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مُنَظَّمٌ وَمَسْؤُولٌ.</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أُخْتِي ___ وَتَعْمَلُ فِي شَرِكَةٍ.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مُهَنْدِسٌ</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مُهَنْدِسُونَ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مُهَنْدِسَةٌ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Agreement: she.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يَتَقَدَّمُ ___ الوَظِيفَةِ.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yataqaddamu li-.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future is correct?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دَرَسْتُ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سَوْفَ أَدْرُسُ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سَأَدْرُسُ</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sawfa + present only.</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has evidence?</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 مُنَظَّمٌ، وَالدَّلِيلُ أَنَّنِي أُسَلِّمُ عَمَلِي فِي المَوْعِدِ.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مُنَظَّمٌ جِدًّا.</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مُنَظَّمٌ وَمَسْؤُولٌ.</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Claim + proof.</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audit a student’s paragraph</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Agreement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أُخْتِي </a:t>
            </a:r>
            <a:pPr rtl="1" algn="ctr" indent="0" marL="0">
              <a:buNone/>
            </a:pPr>
            <a:r>
              <a:rPr lang="ar-SA" altLang="en-US" sz="2400" b="1" dirty="0">
                <a:solidFill>
                  <a:srgbClr val="D6336C"/>
                </a:solidFill>
                <a:latin typeface="Amiri" pitchFamily="2" charset="-78"/>
                <a:ea typeface="Amiri" pitchFamily="2" charset="-78"/>
                <a:cs typeface="Amiri" pitchFamily="2" charset="-78"/>
              </a:rPr>
              <a:t>مُهَنْدِسَةٌ</a:t>
            </a:r>
            <a:pPr rtl="1" algn="ctr" indent="0" marL="0">
              <a:buNone/>
            </a:pPr>
            <a:r>
              <a:rPr lang="ar-SA" altLang="en-US" sz="2400" b="1" dirty="0">
                <a:solidFill>
                  <a:srgbClr val="1B3B6F"/>
                </a:solidFill>
                <a:latin typeface="Amiri" pitchFamily="2" charset="-78"/>
                <a:ea typeface="Amiri" pitchFamily="2" charset="-78"/>
                <a:cs typeface="Amiri" pitchFamily="2" charset="-78"/>
              </a:rPr>
              <a:t> وَهِيَ </a:t>
            </a:r>
            <a:pPr rtl="1" algn="ctr" indent="0" marL="0">
              <a:buNone/>
            </a:pPr>
            <a:r>
              <a:rPr lang="ar-SA" altLang="en-US" sz="2400" b="1" dirty="0">
                <a:solidFill>
                  <a:srgbClr val="D6336C"/>
                </a:solidFill>
                <a:latin typeface="Amiri" pitchFamily="2" charset="-78"/>
                <a:ea typeface="Amiri" pitchFamily="2" charset="-78"/>
                <a:cs typeface="Amiri" pitchFamily="2" charset="-78"/>
              </a:rPr>
              <a:t>تَعْمَلُ</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 -atun and ta-.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Future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D5FBF"/>
                </a:solidFill>
                <a:latin typeface="Amiri" pitchFamily="2" charset="-78"/>
                <a:ea typeface="Amiri" pitchFamily="2" charset="-78"/>
                <a:cs typeface="Amiri" pitchFamily="2" charset="-78"/>
              </a:rPr>
              <a:t>سَوْفَ تَدْرُسُ</a:t>
            </a:r>
            <a:pPr rtl="1" algn="ctr" indent="0" marL="0">
              <a:buNone/>
            </a:pPr>
            <a:r>
              <a:rPr lang="ar-SA" altLang="en-US" sz="2550" b="1" dirty="0">
                <a:solidFill>
                  <a:srgbClr val="1B3B6F"/>
                </a:solidFill>
                <a:latin typeface="Amiri" pitchFamily="2" charset="-78"/>
                <a:ea typeface="Amiri" pitchFamily="2" charset="-78"/>
                <a:cs typeface="Amiri" pitchFamily="2" charset="-78"/>
              </a:rPr>
              <a:t> فِي الجَامِعَةِ</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sawfa + present, she.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After li-kay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لِكَيْ </a:t>
            </a:r>
            <a:pPr rtl="1" algn="ctr" indent="0" marL="0">
              <a:buNone/>
            </a:pPr>
            <a:r>
              <a:rPr lang="ar-SA" altLang="en-US" sz="2800" b="1" dirty="0">
                <a:solidFill>
                  <a:srgbClr val="0E7C86"/>
                </a:solidFill>
                <a:latin typeface="Amiri" pitchFamily="2" charset="-78"/>
                <a:ea typeface="Amiri" pitchFamily="2" charset="-78"/>
                <a:cs typeface="Amiri" pitchFamily="2" charset="-78"/>
              </a:rPr>
              <a:t>تُصْبِحَ</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in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Job after uṣbiḥa</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تُصْبِحَ </a:t>
            </a:r>
            <a:pPr rtl="1" algn="ctr" indent="0" marL="0">
              <a:buNone/>
            </a:pPr>
            <a:r>
              <a:rPr lang="ar-SA" altLang="en-US" sz="2800" b="1" dirty="0">
                <a:solidFill>
                  <a:srgbClr val="0E7C86"/>
                </a:solidFill>
                <a:latin typeface="Amiri" pitchFamily="2" charset="-78"/>
                <a:ea typeface="Amiri" pitchFamily="2" charset="-78"/>
                <a:cs typeface="Amiri" pitchFamily="2" charset="-78"/>
              </a:rPr>
              <a:t>مُدِيرَةً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 + -an = -atan.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AGREEMENT</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CASE / MOOD</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أُخْتِي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مُهَنْدِسَةٌ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وَهِيَ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تَعْمَلُ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شَرِكَةٍ كَبِيرَةٍ.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سَوْفَ تَدْرُسُ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الإِدَارَةَ فِي الجَامِعَةِ لِكَيْ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تُصْبِحَ مُدِيرَةً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لِأَنَّهَا تَحْتَاجُ إِلَى مُؤَهِّلَاتٍ أَعْلَى. هِيَ مُنَظَّمَةٌ، وَالدَّلِيلُ أَنَّهَا تُسَلِّمُ عَمَلَهَا دَائِمًا فِي المَوْعِدِ.</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My sister is an engineer and she works in a big company. She will study management at university in order to become a manager, because she needs higher qualifications. She is organised: the proof is that she always hands in her work on time.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هِيَ مُهَنْدِسَةٌ وَتَعْمَلُ فِي شَرِكَةٍ كَبِيرَةٍ.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an engineer and works in a big company.</a:t>
            </a:r>
            <a:endParaRPr lang="en-US" sz="1250" dirty="0"/>
          </a:p>
          <a:p>
            <a:pPr indent="0" marL="0">
              <a:buNone/>
            </a:pPr>
            <a:r>
              <a:rPr lang="en-US" sz="1050" i="1" dirty="0">
                <a:solidFill>
                  <a:srgbClr val="8A6D1E"/>
                </a:solidFill>
                <a:latin typeface="Calibri" pitchFamily="34" charset="0"/>
                <a:cs typeface="Amiri" pitchFamily="2" charset="-78"/>
              </a:rPr>
              <a:t>Agreement audit.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يَحْتَاجُ إِلَى خِبْرَةٍ. · يَتَقَدَّمُ لِلوَظِيفَةِ.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needs experience. · He applies for the job.</a:t>
            </a:r>
            <a:endParaRPr lang="en-US" sz="1250" dirty="0"/>
          </a:p>
          <a:p>
            <a:pPr indent="0" marL="0">
              <a:buNone/>
            </a:pPr>
            <a:r>
              <a:rPr lang="en-US" sz="1050" i="1" dirty="0">
                <a:solidFill>
                  <a:srgbClr val="8A6D1E"/>
                </a:solidFill>
                <a:latin typeface="Calibri" pitchFamily="34" charset="0"/>
                <a:cs typeface="Amiri" pitchFamily="2" charset="-78"/>
              </a:rPr>
              <a:t>Verb + preposition.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سَوْفَ أَدْرُسُ لِكَيْ أُصْبِحَ مُحَامِيًا.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study to become a lawyer.</a:t>
            </a:r>
            <a:endParaRPr lang="en-US" sz="1250" dirty="0"/>
          </a:p>
          <a:p>
            <a:pPr indent="0" marL="0">
              <a:buNone/>
            </a:pPr>
            <a:r>
              <a:rPr lang="en-US" sz="1050" i="1" dirty="0">
                <a:solidFill>
                  <a:srgbClr val="8A6D1E"/>
                </a:solidFill>
                <a:latin typeface="Calibri" pitchFamily="34" charset="0"/>
                <a:cs typeface="Amiri" pitchFamily="2" charset="-78"/>
              </a:rPr>
              <a:t>Future + purpose.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أَنَا مُنَظَّمٌ، وَالدَّلِيلُ أَنَّنِي أُسَلِّمُ عَمَلِي فِي المَوْعِدِ.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organised; the proof is that I hand in my work on time.</a:t>
            </a:r>
            <a:endParaRPr lang="en-US" sz="1250" dirty="0"/>
          </a:p>
          <a:p>
            <a:pPr indent="0" marL="0">
              <a:buNone/>
            </a:pPr>
            <a:r>
              <a:rPr lang="en-US" sz="1050" i="1" dirty="0">
                <a:solidFill>
                  <a:srgbClr val="8A6D1E"/>
                </a:solidFill>
                <a:latin typeface="Calibri" pitchFamily="34" charset="0"/>
                <a:cs typeface="Amiri" pitchFamily="2" charset="-78"/>
              </a:rPr>
              <a:t>Claim + evidence.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audit finds the error?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مُهَنْدِسٌ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يَعْمَلُ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 الصَّبْرَ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يَتَقَدَّمُ الوَظِيفَةَ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دَرَسْتُ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سَأَعْمَلُ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مُنَظَّمٌ.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الطِّبَّ.</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Agreement</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Preposition</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Evidence</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Agreement</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مُهَنْدِسٌ</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يَعْمَلُ</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Preposition</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يَحْتَاجُ الصَّبْرَ</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يَتَقَدَّمُ الوَظِيفَةَ</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دَرَسْتُ</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سَأَعْمَلُ</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Evidence</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مُنَظَّمٌ.</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الطِّبَّ.</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سَأَدْرُسُ لِكَيْ ___ مُحَامِيًا.</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أَصْبَحْتُ</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سَأُصْبِحُ</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أُصْبِحَ</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تَكُونَ المُمَرِّضَةُ ___ .</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صَبُورٌ</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صَبُورَةً</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صَبُورًا</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الشَّرِكَةُ ___ أَعْمَلُ فِيهَا كَبِيرَةٌ.</a:t>
            </a:r>
            <a:endParaRPr lang="ar-SA" sz="1500" dirty="0"/>
          </a:p>
        </p:txBody>
      </p:sp>
      <p:sp>
        <p:nvSpPr>
          <p:cNvPr id="50" name="Shape 47"/>
          <p:cNvSpPr/>
          <p:nvPr/>
        </p:nvSpPr>
        <p:spPr>
          <a:xfrm>
            <a:off x="640080" y="48737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الَّذِي</a:t>
            </a:r>
            <a:endParaRPr lang="ar-SA" sz="2050" dirty="0"/>
          </a:p>
        </p:txBody>
      </p:sp>
      <p:sp>
        <p:nvSpPr>
          <p:cNvPr id="53" name="Shape 50"/>
          <p:cNvSpPr/>
          <p:nvPr/>
        </p:nvSpPr>
        <p:spPr>
          <a:xfrm>
            <a:off x="640080" y="53309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الَّتِي</a:t>
            </a:r>
            <a:endParaRPr lang="ar-SA" sz="2050" dirty="0"/>
          </a:p>
        </p:txBody>
      </p:sp>
      <p:sp>
        <p:nvSpPr>
          <p:cNvPr id="56" name="Shape 53"/>
          <p:cNvSpPr/>
          <p:nvPr/>
        </p:nvSpPr>
        <p:spPr>
          <a:xfrm>
            <a:off x="640080" y="57881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الَّذِينَ</a:t>
            </a:r>
            <a:endParaRPr lang="ar-SA" sz="2050" dirty="0"/>
          </a:p>
        </p:txBody>
      </p:sp>
      <p:sp>
        <p:nvSpPr>
          <p:cNvPr id="59" name="Shape 56"/>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6313932"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2" name="Text 59"/>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 of an application?</a:t>
            </a:r>
            <a:endParaRPr lang="en-US" sz="1250" dirty="0"/>
          </a:p>
        </p:txBody>
      </p:sp>
      <p:sp>
        <p:nvSpPr>
          <p:cNvPr id="63" name="Shape 60"/>
          <p:cNvSpPr/>
          <p:nvPr/>
        </p:nvSpPr>
        <p:spPr>
          <a:xfrm>
            <a:off x="6368796"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الوَظِيفَةَ.</a:t>
            </a:r>
            <a:endParaRPr lang="ar-SA" sz="2050" dirty="0"/>
          </a:p>
        </p:txBody>
      </p:sp>
      <p:sp>
        <p:nvSpPr>
          <p:cNvPr id="66" name="Shape 63"/>
          <p:cNvSpPr/>
          <p:nvPr/>
        </p:nvSpPr>
        <p:spPr>
          <a:xfrm>
            <a:off x="6368796"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مَرْحَبًا!</a:t>
            </a:r>
            <a:endParaRPr lang="ar-SA" sz="2050" dirty="0"/>
          </a:p>
        </p:txBody>
      </p:sp>
      <p:sp>
        <p:nvSpPr>
          <p:cNvPr id="69" name="Shape 66"/>
          <p:cNvSpPr/>
          <p:nvPr/>
        </p:nvSpPr>
        <p:spPr>
          <a:xfrm>
            <a:off x="6368796"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يَسُرُّنِي أَنْ أَتَقَدَّمَ لِلوَظِيفَةِ.</a:t>
            </a:r>
            <a:endParaRPr lang="ar-SA" sz="2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سَأَدْرُسُ لِكَيْ ___ مُحَامِيًا.</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أَصْبَحْتُ</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سَأُصْبِحُ</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أُصْبِحَ</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li-kay: present verb in -a.</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تَكُونَ المُمَرِّضَةُ ___ .</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صَبُورٌ</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صَبُورَةً</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صَبُورًا</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 -atan.</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3" name="Text 50"/>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الشَّرِكَةُ ___ أَعْمَلُ فِيهَا كَبِيرَةٌ.</a:t>
            </a:r>
            <a:endParaRPr lang="ar-SA" sz="1500" dirty="0"/>
          </a:p>
        </p:txBody>
      </p:sp>
      <p:sp>
        <p:nvSpPr>
          <p:cNvPr id="54" name="Shape 51"/>
          <p:cNvSpPr/>
          <p:nvPr/>
        </p:nvSpPr>
        <p:spPr>
          <a:xfrm>
            <a:off x="640080" y="4831080"/>
            <a:ext cx="256032" cy="256032"/>
          </a:xfrm>
          <a:prstGeom prst="ellipse">
            <a:avLst/>
          </a:prstGeom>
          <a:solidFill>
            <a:srgbClr val="C9CED6"/>
          </a:solidFill>
          <a:ln w="12700">
            <a:solidFill>
              <a:srgbClr val="C9CED6"/>
            </a:solidFill>
            <a:prstDash val="solid"/>
          </a:ln>
        </p:spPr>
      </p:sp>
      <p:sp>
        <p:nvSpPr>
          <p:cNvPr id="55" name="Text 5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6" name="Text 53"/>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الَّذِي</a:t>
            </a:r>
            <a:endParaRPr lang="ar-SA" sz="1700" dirty="0"/>
          </a:p>
        </p:txBody>
      </p:sp>
      <p:sp>
        <p:nvSpPr>
          <p:cNvPr id="57" name="Shape 54"/>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640080" y="5202936"/>
            <a:ext cx="256032" cy="256032"/>
          </a:xfrm>
          <a:prstGeom prst="ellipse">
            <a:avLst/>
          </a:prstGeom>
          <a:solidFill>
            <a:srgbClr val="2E8B57"/>
          </a:solidFill>
          <a:ln w="12700">
            <a:solidFill>
              <a:srgbClr val="2E8B57"/>
            </a:solidFill>
            <a:prstDash val="solid"/>
          </a:ln>
        </p:spPr>
      </p:sp>
      <p:sp>
        <p:nvSpPr>
          <p:cNvPr id="59" name="Text 5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0" name="Text 57"/>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الَّتِي</a:t>
            </a:r>
            <a:endParaRPr lang="ar-SA" sz="1700" dirty="0"/>
          </a:p>
        </p:txBody>
      </p:sp>
      <p:sp>
        <p:nvSpPr>
          <p:cNvPr id="61" name="Shape 58"/>
          <p:cNvSpPr/>
          <p:nvPr/>
        </p:nvSpPr>
        <p:spPr>
          <a:xfrm>
            <a:off x="640080" y="557479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3" name="Text 60"/>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الَّذِينَ</a:t>
            </a:r>
            <a:endParaRPr lang="ar-SA" sz="1700" dirty="0"/>
          </a:p>
        </p:txBody>
      </p:sp>
      <p:sp>
        <p:nvSpPr>
          <p:cNvPr id="64" name="Text 61"/>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D3-L02.</a:t>
            </a:r>
            <a:endParaRPr lang="en-US" sz="1050" dirty="0"/>
          </a:p>
        </p:txBody>
      </p:sp>
      <p:sp>
        <p:nvSpPr>
          <p:cNvPr id="65" name="Shape 6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6313932"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8" name="Text 6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 of an application?</a:t>
            </a:r>
            <a:endParaRPr lang="en-US" sz="1250" dirty="0"/>
          </a:p>
        </p:txBody>
      </p:sp>
      <p:sp>
        <p:nvSpPr>
          <p:cNvPr id="69" name="Shape 66"/>
          <p:cNvSpPr/>
          <p:nvPr/>
        </p:nvSpPr>
        <p:spPr>
          <a:xfrm>
            <a:off x="6368796" y="4831080"/>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الوَظِيفَةَ.</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مَرْحَبًا!</a:t>
            </a:r>
            <a:endParaRPr lang="ar-SA" sz="1700" dirty="0"/>
          </a:p>
        </p:txBody>
      </p:sp>
      <p:sp>
        <p:nvSpPr>
          <p:cNvPr id="75" name="Shape 72"/>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6" name="Shape 73"/>
          <p:cNvSpPr/>
          <p:nvPr/>
        </p:nvSpPr>
        <p:spPr>
          <a:xfrm>
            <a:off x="6368796" y="5574792"/>
            <a:ext cx="256032" cy="256032"/>
          </a:xfrm>
          <a:prstGeom prst="ellipse">
            <a:avLst/>
          </a:prstGeom>
          <a:solidFill>
            <a:srgbClr val="2E8B57"/>
          </a:solidFill>
          <a:ln w="12700">
            <a:solidFill>
              <a:srgbClr val="2E8B57"/>
            </a:solidFill>
            <a:prstDash val="solid"/>
          </a:ln>
        </p:spPr>
      </p:sp>
      <p:sp>
        <p:nvSpPr>
          <p:cNvPr id="77" name="Text 7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يَسُرُّنِي أَنْ أَتَقَدَّمَ لِلوَظِيفَةِ.</a:t>
            </a:r>
            <a:endParaRPr lang="ar-SA" sz="1700" dirty="0"/>
          </a:p>
        </p:txBody>
      </p:sp>
      <p:sp>
        <p:nvSpPr>
          <p:cNvPr id="79" name="Text 7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D3-L06.</a:t>
            </a:r>
            <a:endParaRPr lang="en-US"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مُهَنْدِسٌ وَهِيَ يَعْمَلُ فِي شَرِكَةٍ.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which job ending and verb prefix?</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سَوْفَ دَرَسَتْ فِي الجَامِعَةِ.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sawfa + past or present?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لِكَيْ تُصْبِحُ مُدِيرٌ.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li-kay and tuṣbiḥa?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مُهَنْدِسٌ وَهِيَ يَعْمَلُ فِي شَرِكَةٍ.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مُهَنْدِسَةٌ وَهِيَ تَعْمَلُ فِي شَرِكَةٍ.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Agreement: she → -atun and ta-.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سَوْفَ دَرَسَتْ فِي الجَامِعَةِ.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سَوْفَ تَدْرُسُ فِي الجَامِعَةِ.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Future: sawfa + present.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لِكَيْ تُصْبِحُ مُدِيرٌ.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لِكَيْ تُصْبِحَ مُدِيرَةً.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li-kay: -a; the job: -atan.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Assessment rehearsal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opportunity is advertised?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training placement for students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full-time job</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requirements are named?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degree and experience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languages and driving</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skills and teamwork</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exact start date?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August</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April</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August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it last?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weeks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weeks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twelve weeks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benefits are provided?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 and a laptop</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and a certificate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transport and lunch</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provided?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certificate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Assessment rehearsal: listen twice.</a:t>
            </a:r>
            <a:endParaRPr lang="en-US" sz="1250" dirty="0"/>
          </a:p>
          <a:p>
            <a:pPr algn="l" indent="0" marL="0">
              <a:buNone/>
            </a:pPr>
            <a:r>
              <a:rPr lang="en-US" sz="1250" dirty="0">
                <a:solidFill>
                  <a:srgbClr val="1E6B52"/>
                </a:solidFill>
                <a:latin typeface="Calibri" pitchFamily="34" charset="0"/>
                <a:cs typeface="Amiri" pitchFamily="2" charset="-78"/>
              </a:rPr>
              <a:t>Core: questions 1, 4 and 6. Two dates are heard!</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تُعْلِنُ شَرِكَةٌ تِقْنِيَّةٌ عَنْ فُرْصَةِ تَدْرِيبٍ لِلطُّلَّابِ.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tech company announces a training placement for students.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يُشْتَرَطُ إِجَادَةُ الحَاسُوبِ وَالقُدْرَةُ عَلَى العَمَلِ ضِمْنَ فَرِيقٍ.</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computer skills and the ability to work in a team are required.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سَتَبْدَأُ الفُرْصَةُ فِي الثَّانِي مِنْ أَغُسْطُسَ، لَا فِي الثَّانِي عَشَرَ مِنْهُ،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placement will start on the 2nd of August, not the 12th,</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وَسَتَسْتَمِرُّ أَرْبَعَةَ أَسَابِيعَ.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it will last four weeks.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تُقَدِّمُ الشَّرِكَةُ تَدْرِيبًا وَشَهَادَةً، وَلٰكِنَّهَا لَا تُقَدِّمُ رَاتِبًا.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company provides training and a certificate, but it does not pay a salary.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opportunity is advertised?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training placement for students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full-time job</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scholarship</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فُرْصَةِ تَدْرِيبٍ لِلطُّلَّابِ</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requirements are named?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degree and experience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languages and driving</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computer skills and teamwork</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إِجَادَةُ الحَاسُوبِ وَالقُدْرَةُ عَلَى العَمَلِ ضِمْنَ فَرِيقٍ</a:t>
            </a:r>
            <a:endParaRPr lang="ar-SA" sz="11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exact start date?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 August</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 April</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 August</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فِي الثَّانِي مِنْ أَغُسْطُسَ، لَا فِي الثَّانِي عَشَرَ</a:t>
            </a:r>
            <a:endParaRPr lang="ar-SA" sz="130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it last?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 weeks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weeks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twelve weeks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أَرْبَعَةَ أَسَابِيعَ</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benefits are provided?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salary and a laptop</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training and a certificate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transport and lunch</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تَدْرِيبًا وَشَهَادَةً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provided?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salary</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training</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certificate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تُقَدِّمُ رَاتِبًا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Assessment rehearsal: listen twice.</a:t>
            </a:r>
            <a:endParaRPr lang="en-US" sz="1250" dirty="0"/>
          </a:p>
          <a:p>
            <a:pPr algn="l" indent="0" marL="0">
              <a:buNone/>
            </a:pPr>
            <a:r>
              <a:rPr lang="en-US" sz="1250" dirty="0">
                <a:solidFill>
                  <a:srgbClr val="1E6B52"/>
                </a:solidFill>
                <a:latin typeface="Calibri" pitchFamily="34" charset="0"/>
                <a:cs typeface="Amiri" pitchFamily="2" charset="-78"/>
              </a:rPr>
              <a:t>Core: questions 1, 4 and 6. Two dates are heard!</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Full D3 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مِهْنَةُ أَحَدِ أَفْرَادِ عَائِلَتِكَ؟ وَأَيْنَ يَعْمَلُ؟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المِهْنَةُ الَّتِي تُرِيدُهَا؟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مَهَارَاتُكَ؟ وَمَا الدَّلِيلُ؟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C9780A"/>
          </a:solidFill>
          <a:ln w="12700">
            <a:solidFill>
              <a:srgbClr val="C9780A"/>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خُطَّتُكَ بَعْدَ المَدْرَسَةِ؟</a:t>
            </a:r>
            <a:endParaRPr lang="ar-SA" sz="1800" dirty="0"/>
          </a:p>
        </p:txBody>
      </p:sp>
      <p:sp>
        <p:nvSpPr>
          <p:cNvPr id="46" name="Shape 43"/>
          <p:cNvSpPr/>
          <p:nvPr/>
        </p:nvSpPr>
        <p:spPr>
          <a:xfrm>
            <a:off x="4754880" y="4974336"/>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846320" y="5129784"/>
            <a:ext cx="960120" cy="256032"/>
          </a:xfrm>
          <a:prstGeom prst="roundRect">
            <a:avLst>
              <a:gd name="adj" fmla="val 50000"/>
            </a:avLst>
          </a:prstGeom>
          <a:solidFill>
            <a:srgbClr val="B83227"/>
          </a:solidFill>
          <a:ln w="12700">
            <a:solidFill>
              <a:srgbClr val="B83227"/>
            </a:solidFill>
            <a:prstDash val="solid"/>
          </a:ln>
        </p:spPr>
      </p:sp>
      <p:sp>
        <p:nvSpPr>
          <p:cNvPr id="48" name="Text 45"/>
          <p:cNvSpPr txBox="1"/>
          <p:nvPr/>
        </p:nvSpPr>
        <p:spPr>
          <a:xfrm>
            <a:off x="4846320" y="5129784"/>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9" name="Text 46"/>
          <p:cNvSpPr txBox="1"/>
          <p:nvPr/>
        </p:nvSpPr>
        <p:spPr>
          <a:xfrm>
            <a:off x="5897880" y="4974336"/>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الصُّعُوبَةُ المُحْتَمَلَةُ؟ وَكَيْفَ سَتَتَغَلَّبُ عَلَيْهَا؟</a:t>
            </a:r>
            <a:endParaRPr lang="ar-SA" sz="1800" dirty="0"/>
          </a:p>
        </p:txBody>
      </p:sp>
      <p:sp>
        <p:nvSpPr>
          <p:cNvPr id="50" name="Shape 47"/>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1" name="Text 48"/>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2" name="Shape 49"/>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2" charset="-78"/>
                <a:ea typeface="Amiri" pitchFamily="2" charset="-78"/>
                <a:cs typeface="Amiri" pitchFamily="2" charset="-78"/>
              </a:rPr>
              <a:t>___ مُحَاسِبٌ / مُمَرِّضَةٌ وَيَعْمَلُ / تَعْمَلُ فِي ___ .</a:t>
            </a:r>
            <a:endParaRPr lang="ar-SA" sz="1350" dirty="0"/>
          </a:p>
        </p:txBody>
      </p:sp>
      <p:sp>
        <p:nvSpPr>
          <p:cNvPr id="55" name="Shape 52"/>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أَطْمَحُ إِلَى أَنْ أُصْبِحَ ___ لِأَنَّنِي ___ .</a:t>
            </a:r>
            <a:endParaRPr lang="ar-SA" sz="1600" dirty="0"/>
          </a:p>
        </p:txBody>
      </p:sp>
      <p:sp>
        <p:nvSpPr>
          <p:cNvPr id="58" name="Shape 55"/>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9" name="Text 56"/>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60" name="Text 57"/>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أَنَا ___ ، وَالدَّلِيلُ أَنَّنِي ___ .</a:t>
            </a:r>
            <a:endParaRPr lang="ar-SA" sz="1600" dirty="0"/>
          </a:p>
        </p:txBody>
      </p:sp>
      <p:sp>
        <p:nvSpPr>
          <p:cNvPr id="61" name="Shape 58"/>
          <p:cNvSpPr/>
          <p:nvPr/>
        </p:nvSpPr>
        <p:spPr>
          <a:xfrm>
            <a:off x="640080" y="4681728"/>
            <a:ext cx="1051560" cy="256032"/>
          </a:xfrm>
          <a:prstGeom prst="roundRect">
            <a:avLst>
              <a:gd name="adj" fmla="val 50000"/>
            </a:avLst>
          </a:prstGeom>
          <a:solidFill>
            <a:srgbClr val="C9780A"/>
          </a:solidFill>
          <a:ln w="12700">
            <a:solidFill>
              <a:srgbClr val="C9780A"/>
            </a:solidFill>
            <a:prstDash val="solid"/>
          </a:ln>
        </p:spPr>
      </p:sp>
      <p:sp>
        <p:nvSpPr>
          <p:cNvPr id="62" name="Text 59"/>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63" name="Text 60"/>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أَوَّلًا سَوْفَ ___ ، ثُمَّ سَـ ___ لِكَيْ ___ .</a:t>
            </a:r>
            <a:endParaRPr lang="ar-SA" sz="1600" dirty="0"/>
          </a:p>
        </p:txBody>
      </p:sp>
      <p:sp>
        <p:nvSpPr>
          <p:cNvPr id="64" name="Shape 61"/>
          <p:cNvSpPr/>
          <p:nvPr/>
        </p:nvSpPr>
        <p:spPr>
          <a:xfrm>
            <a:off x="640080" y="5239512"/>
            <a:ext cx="1051560" cy="256032"/>
          </a:xfrm>
          <a:prstGeom prst="roundRect">
            <a:avLst>
              <a:gd name="adj" fmla="val 50000"/>
            </a:avLst>
          </a:prstGeom>
          <a:solidFill>
            <a:srgbClr val="B83227"/>
          </a:solidFill>
          <a:ln w="12700">
            <a:solidFill>
              <a:srgbClr val="B83227"/>
            </a:solidFill>
            <a:prstDash val="solid"/>
          </a:ln>
        </p:spPr>
      </p:sp>
      <p:sp>
        <p:nvSpPr>
          <p:cNvPr id="65" name="Text 62"/>
          <p:cNvSpPr txBox="1"/>
          <p:nvPr/>
        </p:nvSpPr>
        <p:spPr>
          <a:xfrm>
            <a:off x="640080" y="5239512"/>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6" name="Text 63"/>
          <p:cNvSpPr txBox="1"/>
          <p:nvPr/>
        </p:nvSpPr>
        <p:spPr>
          <a:xfrm>
            <a:off x="1783080" y="5084064"/>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عَلَى الرَّغْمِ مِنْ أَنَّ ___ ، فَإِنَّنِي ___ .</a:t>
            </a:r>
            <a:endParaRPr lang="ar-SA" sz="1600" dirty="0"/>
          </a:p>
        </p:txBody>
      </p:sp>
      <p:sp>
        <p:nvSpPr>
          <p:cNvPr id="67" name="Shape 64"/>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9" name="Shape 66"/>
          <p:cNvSpPr/>
          <p:nvPr/>
        </p:nvSpPr>
        <p:spPr>
          <a:xfrm>
            <a:off x="11274552" y="5559552"/>
            <a:ext cx="292608" cy="292608"/>
          </a:xfrm>
          <a:prstGeom prst="ellipse">
            <a:avLst/>
          </a:prstGeom>
          <a:solidFill>
            <a:srgbClr val="1E6B52"/>
          </a:solidFill>
          <a:ln w="12700">
            <a:solidFill>
              <a:srgbClr val="1E6B52"/>
            </a:solidFill>
            <a:prstDash val="solid"/>
          </a:ln>
        </p:spPr>
      </p:sp>
      <p:sp>
        <p:nvSpPr>
          <p:cNvPr id="70" name="Text 67"/>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71" name="Text 68"/>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المِهْنَةُ الَّتِي تُرِيدُهَا؟ وَلِمَاذَا؟</a:t>
            </a:r>
            <a:endParaRPr lang="ar-SA" sz="1550" dirty="0"/>
          </a:p>
        </p:txBody>
      </p:sp>
      <p:sp>
        <p:nvSpPr>
          <p:cNvPr id="72" name="Text 69"/>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job do you want? Why?</a:t>
            </a:r>
            <a:endParaRPr lang="en-US" sz="950" dirty="0"/>
          </a:p>
        </p:txBody>
      </p:sp>
      <p:sp>
        <p:nvSpPr>
          <p:cNvPr id="73" name="Shape 70"/>
          <p:cNvSpPr/>
          <p:nvPr/>
        </p:nvSpPr>
        <p:spPr>
          <a:xfrm>
            <a:off x="11274552" y="5925312"/>
            <a:ext cx="292608" cy="292608"/>
          </a:xfrm>
          <a:prstGeom prst="ellipse">
            <a:avLst/>
          </a:prstGeom>
          <a:solidFill>
            <a:srgbClr val="1E6B52"/>
          </a:solidFill>
          <a:ln w="12700">
            <a:solidFill>
              <a:srgbClr val="1E6B52"/>
            </a:solidFill>
            <a:prstDash val="solid"/>
          </a:ln>
        </p:spPr>
      </p:sp>
      <p:sp>
        <p:nvSpPr>
          <p:cNvPr id="74" name="Text 71"/>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5" name="Text 72"/>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أَطْمَحُ إِلَى أَنْ أُصْبِحَ مُحَامِيًا لِأَنَّنِي أُحِبُّ العَدَالَةَ.</a:t>
            </a:r>
            <a:endParaRPr lang="ar-SA" sz="1550" dirty="0"/>
          </a:p>
        </p:txBody>
      </p:sp>
      <p:sp>
        <p:nvSpPr>
          <p:cNvPr id="76" name="Text 73"/>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aspire to become a lawyer because I love justice.</a:t>
            </a:r>
            <a:endParaRPr lang="en-US" sz="9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Repair the website student text, then write one accurate sentence for each audit.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complete D3 response (job, plan, skills + evidence), audited with the four checks.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complete D3 response + self-audit + an evidence-based target.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بَيْنَمَا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whereas my … is a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______ ، ثُمَّ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 then … in order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فَإِنَّنِي مُسْتَعِدٌّ.</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I am ready.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هَدَفِي ______ لِأَنَّنِي أَخْطَأْتُ فِي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target is … because I made mistakes in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أُمِّي / أَبِي ______ وَتَعْمَلُ / وَيَعْمَلُ فِي ______ .</a:t>
            </a:r>
            <a:endParaRPr lang="ar-SA" sz="15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 father is a … and works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سَوْفَ أَدْرُسُ ______ لِكَيْ أُصْبِحَ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study … in order to become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المِهْنَةُ تَحْتَاجُ إِلَى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job needs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وَالدَّلِيلُ أَنَّنِي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the proof is that I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أَوْلَوِيَّتِي هِيَ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priority is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مُهَنْدِسَةٌ  ·  تَعْمَلُ فِي  ·  يَحْتَاجُ إِلَى  ·  يَتَقَدَّمُ لِـ  ·  سَوْفَ أَدْرُسُ  ·  سَأَتَدَرَّبُ  ·  لِكَيْ أُصْبِحَ  ·  وَالدَّلِيلُ أَنَّنِي  ·  أَوَّلًا  ·  ثُمَّ  ·  عَلَى الرَّغْمِ مِنْ أَنَّ  ·  أَوْلَوِيَّةٌ</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Produce a complete D3 response, then use an error-analysis checklist to improve agreement, prepositions, future forms and evidence.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أَخْطَأْتُ فِي … مَرَّتَيْنِ</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made mistakes in … twice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غَيَّرْتُ … إِلَى … لِأَنَّ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changed … to … because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المِهْنَةُ تَحْتَاجُ إِلَى</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job needs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أَكْتَسِبَ خِبْرَةً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gain experience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أَصْبَحَ نَصِّي أَدَقَّ</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text became more accurate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عَائِلَتِي مِهَنٌ مُخْتَلِفَةٌ: أُمِّي مُمَرِّضَةٌ وَتَعْمَلُ فِي مُسْتَشْفًى كَبِيرٍ، بَيْنَمَا أَبِي مُحَاسِبٌ فِي شَرِكَةٍ دَوْلِيَّةٍ. أَمَّا أَنَا فَأَطْمَحُ إِلَى أَنْ أُصْبِحَ مُحَامِيًا لِأَنَّنِي أُحِبُّ العَدَالَةَ. هٰذِهِ المِهْنَةُ تَحْتَاجُ إِلَى الدِّقَّةِ وَمَهَارَةِ التَّوَاصُلِ. أَنَا مُنَظَّمٌ، وَالدَّلِيلُ أَنَّنِي أُسَلِّمُ عَمَلِي دَائِمًا فِي المَوْعِدِ. أَوَّلًا سَوْفَ أَدْرُسُ القَانُونَ فِي الجَامِعَةِ، ثُمَّ سَأَتَدَرَّبُ فِي مَكْتَبِ مُحَامَاةٍ لِكَيْ أَكْتَسِبَ خِبْرَةً. عَلَى الرَّغْمِ مِنْ أَنَّ الطَّرِيقَ طَوِيلٌ، فَإِنَّنِي مُسْتَعِدٌّ. هَدَفِي قَبْلَ التَّقْيِيمِ هُوَ مُرَاجَعَةُ الأَفْعَالِ بَعْدَ لِكَيْ، لِأَنَّنِي أَخْطَأْتُ فِيهَا مَرَّتَيْنِ.</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are different jobs in my family: my mother is a nurse and works in a big hospital, whereas my father is an accountant in an international company. As for me, I aspire to become a lawyer because I love justice. This job needs precision and communication skills. I am organised; the proof is that I always hand in my work on time. First I will study law at university, then I will train in a law office to gain experience. Although the road is long, I am ready. My target before the assessment is to revise verbs after li-kay, because I made mistakes with them twice.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agreement (she → -atun / ta-)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verb + preposition phrase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future with sawfa / sa-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claim with evidence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Agreement: person, verb and job match.</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Future: sa- / sawfa + present.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Verbs keep their prepositions.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claim has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target names a rule and my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audit checks </a:t>
            </a:r>
            <a:pPr algn="l" indent="0" marL="0">
              <a:buNone/>
            </a:pPr>
            <a:r>
              <a:rPr lang="ar-SA" altLang="en-US" sz="1650" b="1" dirty="0">
                <a:solidFill>
                  <a:srgbClr val="1B3B6F"/>
                </a:solidFill>
                <a:latin typeface="Amiri" pitchFamily="2" charset="-78"/>
                <a:ea typeface="Amiri" pitchFamily="2" charset="-78"/>
                <a:cs typeface="Amiri" pitchFamily="2" charset="-78"/>
              </a:rPr>
              <a:t>سَوْفَ</a:t>
            </a:r>
            <a:pPr algn="l" indent="0" marL="0">
              <a:buNone/>
            </a:pPr>
            <a:r>
              <a:rPr lang="en-US" sz="1250" b="1" dirty="0">
                <a:solidFill>
                  <a:srgbClr val="1B3B6F"/>
                </a:solidFill>
                <a:latin typeface="Calibri" pitchFamily="34" charset="0"/>
                <a:cs typeface="Amiri" pitchFamily="2" charset="-78"/>
              </a:rPr>
              <a:t> + verb?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agreement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يَحْتَاجُ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repair of: </a:t>
            </a:r>
            <a:pPr algn="l" indent="0" marL="0">
              <a:buNone/>
            </a:pPr>
            <a:r>
              <a:rPr lang="ar-SA" altLang="en-US" sz="1650" b="1" dirty="0">
                <a:solidFill>
                  <a:srgbClr val="1B3B6F"/>
                </a:solidFill>
                <a:latin typeface="Amiri" pitchFamily="2" charset="-78"/>
                <a:ea typeface="Amiri" pitchFamily="2" charset="-78"/>
                <a:cs typeface="Amiri" pitchFamily="2" charset="-78"/>
              </a:rPr>
              <a:t>هِيَ مُحَامٍ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مُحَامِيَةٌ.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مُحَامُونَ.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مُحَامِيَةٌ.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audit checks </a:t>
            </a:r>
            <a:pPr algn="l" indent="0" marL="0">
              <a:buNone/>
            </a:pPr>
            <a:r>
              <a:rPr lang="ar-SA" altLang="en-US" sz="1650" b="1" dirty="0">
                <a:solidFill>
                  <a:srgbClr val="1B3B6F"/>
                </a:solidFill>
                <a:latin typeface="Amiri" pitchFamily="2" charset="-78"/>
                <a:ea typeface="Amiri" pitchFamily="2" charset="-78"/>
                <a:cs typeface="Amiri" pitchFamily="2" charset="-78"/>
              </a:rPr>
              <a:t>سَوْفَ</a:t>
            </a:r>
            <a:pPr algn="l" indent="0" marL="0">
              <a:buNone/>
            </a:pPr>
            <a:r>
              <a:rPr lang="en-US" sz="1250" b="1" dirty="0">
                <a:solidFill>
                  <a:srgbClr val="1B3B6F"/>
                </a:solidFill>
                <a:latin typeface="Calibri" pitchFamily="34" charset="0"/>
                <a:cs typeface="Amiri" pitchFamily="2" charset="-78"/>
              </a:rPr>
              <a:t> + verb?</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future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agreement</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evidence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Future audit.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يَحْتَاجُ الطَّبِيبُ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 preposition.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repair of: </a:t>
            </a:r>
            <a:pPr algn="l" indent="0" marL="0">
              <a:buNone/>
            </a:pPr>
            <a:r>
              <a:rPr lang="ar-SA" altLang="en-US" sz="1650" b="1" dirty="0">
                <a:solidFill>
                  <a:srgbClr val="1B3B6F"/>
                </a:solidFill>
                <a:latin typeface="Amiri" pitchFamily="2" charset="-78"/>
                <a:ea typeface="Amiri" pitchFamily="2" charset="-78"/>
                <a:cs typeface="Amiri" pitchFamily="2" charset="-78"/>
              </a:rPr>
              <a:t>هِيَ مُحَامٍ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هِيَ مُحَامِيَةٌ.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هِيَ مُحَامُونَ.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هُوَ مُحَامِيَةٌ.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Agreement.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Error-analysis profile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كَتَبَ طَالِبٌ: «أُخْتِي مُهَنْدِسٌ وَهِيَ يَعْمَلُ فِي شَرِكَةٍ. سَوْفَ دَرَسَتْ فِي الجَامِعَةِ لِكَيْ تُصْبِحُ مُدِيرٌ». يَحْتَوِي النَّصُّ عَلَى أَخْطَاءٍ فِي الجِنْسِ وَالفِعْلِ وَالمُسْتَقْبَلِ وَالحَالَةِ الإِعْرَابِيَّةِ. الصِّيَاغَةُ الصَّحِيحَةُ هِيَ: «أُخْتِي مُهَنْدِسَةٌ وَهِيَ تَعْمَلُ فِي شَرِكَةٍ. سَوْفَ تَدْرُسُ فِي الجَامِعَةِ لِكَيْ تُصْبِحَ مُدِيرَةً».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كَتَبَ طَالِبٌ</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student wrote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يَحْتَوِي عَلَى</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contains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أَخْطَاءٍ</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mistakes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الجِنْسِ</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gender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الفِعْلِ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verb</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المُسْتَقْبَلِ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future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الحَالَةِ الإِعْرَابِيَّةِ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case ending</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الصِّيَاغَةُ الصَّحِيحَةُ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correct wording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مُدِيرَةً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manager (f.)</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تُصْبِحَ</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becomes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gender error appears first?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وَهِيَ يَعْمَلُ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مُهَنْدِسٌ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شَرِكَةٍ</a:t>
            </a:r>
            <a:endParaRPr lang="ar-SA" sz="2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verb-person error appears?</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دَرَسَتْ</a:t>
            </a:r>
            <a:endParaRPr lang="ar-SA" sz="20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تُصْبِحُ</a:t>
            </a:r>
            <a:endParaRPr lang="ar-SA" sz="20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يَعْمَلُ</a:t>
            </a:r>
            <a:endParaRPr lang="ar-SA" sz="20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wrong after </a:t>
            </a:r>
            <a:pPr algn="l" indent="0" marL="0">
              <a:buNone/>
            </a:pPr>
            <a:r>
              <a:rPr lang="ar-SA" altLang="en-US" sz="1650" b="1" dirty="0">
                <a:solidFill>
                  <a:srgbClr val="1B3B6F"/>
                </a:solidFill>
                <a:latin typeface="Amiri" pitchFamily="2" charset="-78"/>
                <a:ea typeface="Amiri" pitchFamily="2" charset="-78"/>
                <a:cs typeface="Amiri" pitchFamily="2" charset="-78"/>
              </a:rPr>
              <a:t>سَوْفَ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past verb is used</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should be sa-</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 future verb?</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دَرَسَتْ</a:t>
            </a:r>
            <a:endParaRPr lang="ar-SA" sz="20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تَدْرُسُ</a:t>
            </a:r>
            <a:endParaRPr lang="ar-SA" sz="20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يَدْرُسُ</a:t>
            </a:r>
            <a:endParaRPr lang="ar-SA" sz="20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 job after </a:t>
            </a:r>
            <a:pPr algn="l" indent="0" marL="0">
              <a:buNone/>
            </a:pPr>
            <a:r>
              <a:rPr lang="ar-SA" altLang="en-US" sz="1650" b="1" dirty="0">
                <a:solidFill>
                  <a:srgbClr val="1B3B6F"/>
                </a:solidFill>
                <a:latin typeface="Amiri" pitchFamily="2" charset="-78"/>
                <a:ea typeface="Amiri" pitchFamily="2" charset="-78"/>
                <a:cs typeface="Amiri" pitchFamily="2" charset="-78"/>
              </a:rPr>
              <a:t>تُصْبِحَ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مُدِيرَةً</a:t>
            </a:r>
            <a:endParaRPr lang="ar-SA" sz="20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مُدِيرٌ</a:t>
            </a:r>
            <a:endParaRPr lang="ar-SA" sz="20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مُدِيرَةٌ</a:t>
            </a:r>
            <a:endParaRPr lang="ar-SA" sz="20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four systems are reviewed?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spelling, style, length and title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vocabulary only</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gender, verb, future and case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gender error appears first?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وَهِيَ يَعْمَلُ</a:t>
            </a:r>
            <a:endParaRPr lang="ar-SA" sz="170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أُخْتِي مُهَنْدِسٌ</a:t>
            </a:r>
            <a:endParaRPr lang="ar-SA" sz="17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شَرِكَةٍ</a:t>
            </a:r>
            <a:endParaRPr lang="ar-SA" sz="170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Sister (f.) + masculine job.</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verb-person error appears?</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دَرَسَتْ</a:t>
            </a:r>
            <a:endParaRPr lang="ar-SA" sz="170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 تُصْبِحُ</a:t>
            </a:r>
            <a:endParaRPr lang="ar-SA" sz="170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يَعْمَلُ</a:t>
            </a:r>
            <a:endParaRPr lang="ar-SA" sz="170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 ya- verb.</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wrong after </a:t>
            </a:r>
            <a:pPr algn="l" indent="0" marL="0">
              <a:buNone/>
            </a:pPr>
            <a:r>
              <a:rPr lang="ar-SA" altLang="en-US" sz="1650" b="1" dirty="0">
                <a:solidFill>
                  <a:srgbClr val="1B3B6F"/>
                </a:solidFill>
                <a:latin typeface="Amiri" pitchFamily="2" charset="-78"/>
                <a:ea typeface="Amiri" pitchFamily="2" charset="-78"/>
                <a:cs typeface="Amiri" pitchFamily="2" charset="-78"/>
              </a:rPr>
              <a:t>سَوْفَ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past verb is used</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should be sa-</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sawfa + darasat (past).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 future verb?</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دَرَسَتْ</a:t>
            </a:r>
            <a:endParaRPr lang="ar-SA" sz="170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سَوْفَ تَدْرُسُ</a:t>
            </a:r>
            <a:endParaRPr lang="ar-SA" sz="17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يَدْرُسُ</a:t>
            </a:r>
            <a:endParaRPr lang="ar-SA" sz="170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 tadrusu.</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 job after </a:t>
            </a:r>
            <a:pPr algn="l" indent="0" marL="0">
              <a:buNone/>
            </a:pPr>
            <a:r>
              <a:rPr lang="ar-SA" altLang="en-US" sz="1650" b="1" dirty="0">
                <a:solidFill>
                  <a:srgbClr val="1B3B6F"/>
                </a:solidFill>
                <a:latin typeface="Amiri" pitchFamily="2" charset="-78"/>
                <a:ea typeface="Amiri" pitchFamily="2" charset="-78"/>
                <a:cs typeface="Amiri" pitchFamily="2" charset="-78"/>
              </a:rPr>
              <a:t>تُصْبِحَ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مُدِيرَةً</a:t>
            </a:r>
            <a:endParaRPr lang="ar-SA" sz="170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مُدِيرٌ</a:t>
            </a:r>
            <a:endParaRPr lang="ar-SA" sz="170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مُدِيرَةٌ</a:t>
            </a:r>
            <a:endParaRPr lang="ar-SA" sz="170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 + -an.</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four systems are reviewed?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spelling, style, length and title</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vocabulary only</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gender, verb, future and case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الجِنْسِ وَالفِعْلِ وَالمُسْتَقْبَلِ وَالحَالَةِ الإِعْرَابِيَّةِ</a:t>
            </a:r>
            <a:endParaRPr lang="ar-SA" sz="11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D3-L12 · D3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ar-SA" sz="1000" i="1" dirty="0">
                <a:solidFill>
                  <a:srgbClr val="5A6472"/>
                </a:solidFill>
                <a:latin typeface="Calibri" pitchFamily="34" charset="0"/>
                <a:ea typeface="Amiri" pitchFamily="2" charset="-78"/>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مَهَارَةٌ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skill</a:t>
            </a:r>
            <a:pPr indent="0" marL="0">
              <a:buNone/>
            </a:pPr>
            <a:r>
              <a:rPr lang="ar-SA" sz="1000" i="1" dirty="0">
                <a:solidFill>
                  <a:srgbClr val="5A6472"/>
                </a:solidFill>
                <a:latin typeface="Calibri" pitchFamily="34" charset="0"/>
                <a:ea typeface="Amiri" pitchFamily="2" charset="-78"/>
                <a:cs typeface="Amiri" pitchFamily="2" charset="-78"/>
              </a:rPr>
              <a:t>  pl. مَهَارَاتٌ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دَرَجَةٌ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mark / score</a:t>
            </a:r>
            <a:pPr indent="0" marL="0">
              <a:buNone/>
            </a:pPr>
            <a:r>
              <a:rPr lang="ar-SA" sz="1000" i="1" dirty="0">
                <a:solidFill>
                  <a:srgbClr val="5A6472"/>
                </a:solidFill>
                <a:latin typeface="Calibri" pitchFamily="34" charset="0"/>
                <a:ea typeface="Amiri" pitchFamily="2" charset="-78"/>
                <a:cs typeface="Amiri" pitchFamily="2" charset="-78"/>
              </a:rPr>
              <a:t>  pl. دَرَجَاتٌ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تَعْلِيمَاتٌ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instructions</a:t>
            </a:r>
            <a:pPr indent="0" marL="0">
              <a:buNone/>
            </a:pPr>
            <a:r>
              <a:rPr lang="ar-SA" sz="1000" i="1" dirty="0">
                <a:solidFill>
                  <a:srgbClr val="5A6472"/>
                </a:solidFill>
                <a:latin typeface="Calibri" pitchFamily="34" charset="0"/>
                <a:ea typeface="Amiri" pitchFamily="2" charset="-78"/>
                <a:cs typeface="Amiri" pitchFamily="2" charset="-78"/>
              </a:rPr>
              <a:t>  sing. تَعْلِيمَةٌ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أُرَاجِعُ</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revise / check</a:t>
            </a:r>
            <a:pPr indent="0" marL="0">
              <a:buNone/>
            </a:pPr>
            <a:r>
              <a:rPr lang="ar-SA" sz="1000" i="1" dirty="0">
                <a:solidFill>
                  <a:srgbClr val="5A6472"/>
                </a:solidFill>
                <a:latin typeface="Calibri" pitchFamily="34" charset="0"/>
                <a:ea typeface="Amiri" pitchFamily="2" charset="-78"/>
                <a:cs typeface="Amiri" pitchFamily="2" charset="-78"/>
              </a:rPr>
              <a:t>  تُرَاجِعُ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Revise your reddest audit: write three correct sentences that use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أَوْلَوِيَّتِي: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error-analysis repair; learn the five assessment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Complete D3 response (100–120 words), audited with the four checks.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 self-audit; practise the five conversation questions for one minute each.</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D3-L12 · D3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name the audit — agreement · preposition · future · evidence — then explain, then repair.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D3-L11 · D3 Consolidation — Error Analysis and Assessment Preparation</dc:title>
  <dc:subject>PptxGenJS Presentation</dc:subject>
  <dc:creator>Al Madina Online School · Arabic Department</dc:creator>
  <cp:lastModifiedBy>Al Madina Online School · Arabic Department</cp:lastModifiedBy>
  <cp:revision>1</cp:revision>
  <dcterms:created xsi:type="dcterms:W3CDTF">2026-10-11T06:40:48Z</dcterms:created>
  <dcterms:modified xsi:type="dcterms:W3CDTF">2026-10-11T06:40:48Z</dcterms:modified>
</cp:coreProperties>
</file>