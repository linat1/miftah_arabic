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D3-L11. The website lesson “D3 Consolidation — Error Analysis and Assessment Preparation”: vocabulary, grammar rules and quiz, patterns, common mistakes, sorter, listening, reading, speaking prompts and model, writing task and model, differentiation, final check and the lesson mission. Picture match: website visual game “D3 Consolidation — Error Analysis and Assessment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D3 review before the D3-L12 assessment.
• Core: the agreement and future audits on the website error-analysis text (four errors to find). Develop: all four audits + explain each correction in one line. Stretch: a complete D3 response, then a self-audit with the checklist and a measurable target.
• Use the Do Now and quick-check results to choose each student’s route for the final You Do.
• The website listening is an ASSESSMENT REHEARSAL (an internship advert): treat it like the real test — two listenings, no script until after.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D3-L10. Questions 3–5 retrieve D3-L10, D3-L01 and D3-L03. Note which of 3–5 each student gets wrong: it points to their audit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 word, ask: which audit? — agreement, preposition, future 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every key word of the error-analysis routine is shared: تحلیل، خطا، صحیح، تصحیح، دلیل. Students can say the routine in Urdu first, then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D3 review (website vocabulary (1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D3 review (website vocabulary (2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D3 review (website vocabulary (3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Complete D3 review (website vocabulary (4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(1 of 2)). Hear → Say → See → Use. Transliteration is printed for Core students (cover it for Develop/Stretch).
FLEX: teach if time allows; otherwise these are on the website vocabulary tab for homework.
Cohesion (FLEX): D3-L09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(2 of 2)). Hear → Say → See → Use. Transliteration is printed for Core students (cover it for Develop/Stretch).
FLEX: teach if time allows; otherwise these are on the website vocabulary tab for homework.
Cohesion (FLEX): D3-L09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“Agreement audit” (الشَّخْصُ ↔ الفِعْلُ ↔ الصِّفَةُ: check gender and person across the whole sentence), “Verb-preposition audit” (learn the complete phrase, not an isolated verb), “Future audit” (do not combine سوف with a past verb) and “Evidence audit” (a developed answer proves or explains the claim). Website examples in the ✓ column; the ✗ column is from the website error-analysis text.
Row 2: لِـ + الوَظِيفَة is written لِلوَظِيفَةِ (the alif of al-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reading text is a student’s faulty paragraph with its correction: «أُخْتِي مُهَنْدِسٌ وَهِيَ يَعْمَلُ فِي شَرِكَةٍ. سَوْفَ دَرَسَتْ فِي الجَامِعَةِ لِكَيْ تُصْبِحُ مُدِيرٌ» → «أُخْتِي مُهَنْدِسَةٌ وَهِيَ تَعْمَلُ فِي شَرِكَةٍ. سَوْفَ تَدْرُسُ فِي الجَامِعَةِ لِكَيْ تُصْبِحَ مُدِيرَةً». The four systems: gender, verb person, future, case ending.
Routine (as in F6-L11): diagnose (which audit?) → explain (which rule?) →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“تَحْلِيلُ الأَخْطَاءِ فِي اللُّغَةِ المِهَنِيَّةِ”
• Agreement audit: Check gender and person across the whole sentence.
• Verb-preposition audit: Learn the complete phrase, not an isolated verb.
• Future audit: Do not combine سوف with a past verb.
• Evidence audit: A developed answer proves or explains the claim.
Website common error: Do not correct only the visible ending: name the audit (agreement, preposition, future, evidence) and the rule, then repair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error-analysis text, corrected one audit at a time, then extended with a reason (D3-L03 needs + ilā) and evidence (D3-L06) so all four audits appear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4 and 6. Develop / Stretch: all 6 — question 3 has a corrected date (2nd, not 12th).
Listen 1: just listen. Listen 2: note answers. Then chat the letters.
Support: after the second listening, show the read-along slide (Arabic + English, line by line) for Core students.
SCRIPT (read aloud):
تُعْلِنُ شَرِكَةٌ تِقْنِيَّةٌ عَنْ فُرْصَةِ تَدْرِيبٍ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مَهَارَاتُكَ؟ (And your skills?)
B: أَنَا مُنَظَّمٌ، وَالدَّلِيلُ أَنَّنِي أُسَلِّمُ عَمَلِي فِي المَوْعِدِ. (I am organised; the proof is that I hand in my work on time.)
Teacher-written D3 topic conversation (the website prompts are generic) — the same five questions the D3-L12 speaking assessment will use. Pairs: A asks, B answers for one minute; swap. To a girl: مَا المِهْنَةُ الَّتِي تُرِيدِينَهَا؟ · مَا مَهَارَاتُكِ؟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Produce a complete D3 response, then use an error-analysis checklist to improve agreement, prepositions, future forms and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مُمَرِّضَةٌ وَتَعْمَلُ · تَحْتَاجُ إِلَى · سَوْفَ أَدْرُسُ، سَأَتَدَرَّبُ لِكَيْ أَكْتَسِبَ · وَالدَّلِيلُ أَنَّنِي … · هَدَفِي … لِأَنَّنِي أَخْطَأْتُ … مَرَّتَيْنِ (an evidence-based target).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(D3-L12 · D3 Review and Unit Assessment) will spend class time USING this language, so students prepare it tonight — short, simple, easy to access (school guidance: “Simple, Short, Interesting, Relevant, Easy to access”). The five words are the instruction words of the D3-L12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D3 Consolidation — Error Analysis and Assessment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50" b="1" dirty="0">
                <a:solidFill>
                  <a:srgbClr val="D4AF37"/>
                </a:solidFill>
                <a:latin typeface="Amiri" pitchFamily="2" charset="-78"/>
                <a:ea typeface="Amiri" pitchFamily="2" charset="-78"/>
                <a:cs typeface="Amiri" pitchFamily="2" charset="-78"/>
              </a:rPr>
              <a:t>تَرْسِيخُ الوَحْدَةِ الثَّالِثَةِ — تَحْلِيلُ الأَخْطَاءِ وَالاِسْتِعْدَادُ لِلتَّقْيِيمِ</a:t>
            </a:r>
            <a:endParaRPr lang="ar-SA" sz="28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Pull the whole of D3 together: four audits (agreement · verb + preposition · future · evidence), a diagnose → explain → repair routine on a real student text, and one precise target before the D3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audits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errors by audit, repair them, then an assessment-style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error analysis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eliminate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 وَيَعْمَلُ فِي شَرِكَةٍ.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تَكُونُ مُحَاسِبَةٌ.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مُحَاسِبَةٌ وَتَعْمَلُ فِي شَرِكَةٍ.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complete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error analysis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eliminate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D3-L10: reporting a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مُحَاسِبٌ وَيَعْمَلُ فِي شَرِكَةٍ.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تَكُونُ مُحَاسِبَةٌ.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 مُحَاسِبَةٌ وَتَعْمَلُ فِي شَرِكَةٍ.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D3-L01: agreement, no “is”.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fix a word, ask: which audit? — agreement, preposition, future or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هِيَ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وَ</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تَعْمَلُ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يَحْتَاجُ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سَوْفَ أَدْرُسُ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core D3 vocabulary (jobs, plans, connectors).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Audit a text for agreement, prepositions, future forms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each correction is needed.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Set one precise, evidence-based target before the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agreement and future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job and a plan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audit prepositions and evidence too.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complete D3 response and self-audit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Complete D3 review · 24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Plans and applications · 24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Cohesion and 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‎تحلیل‎ </a:t>
            </a:r>
            <a:pPr indent="0" marL="0">
              <a:buNone/>
            </a:pPr>
            <a:r>
              <a:rPr lang="en-US" sz="950" b="1" dirty="0">
                <a:solidFill>
                  <a:srgbClr val="2E8B57"/>
                </a:solidFill>
                <a:latin typeface="Calibri" pitchFamily="34" charset="0"/>
                <a:cs typeface="Amiri" pitchFamily="2" charset="-78"/>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‎خطا‎ </a:t>
            </a:r>
            <a:pPr indent="0" marL="0">
              <a:buNone/>
            </a:pPr>
            <a:r>
              <a:rPr lang="en-US" sz="950" b="1" dirty="0">
                <a:solidFill>
                  <a:srgbClr val="2E8B57"/>
                </a:solidFill>
                <a:latin typeface="Calibri" pitchFamily="34" charset="0"/>
                <a:cs typeface="Amiri" pitchFamily="2" charset="-78"/>
              </a:rPr>
              <a:t> khatā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‎صحیح‎ </a:t>
            </a:r>
            <a:pPr indent="0" marL="0">
              <a:buNone/>
            </a:pPr>
            <a:r>
              <a:rPr lang="en-US" sz="950" b="1" dirty="0">
                <a:solidFill>
                  <a:srgbClr val="2E8B57"/>
                </a:solidFill>
                <a:latin typeface="Calibri" pitchFamily="34" charset="0"/>
                <a:cs typeface="Amiri" pitchFamily="2" charset="-78"/>
              </a:rPr>
              <a:t> sahīh · correct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تَصْحِيحٌ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tashīh ·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مُحَامٍ / مُحَامِيَةٌ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صَحَفِيٌّ / صَحَفِيَّةٌ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مُبَرْمِجٌ / مُبَرْمِجَةٌ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مُحَاسِبٌ / مُحَاسِبَةٌ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مُصَمِّمٌ / مُصَمِّمَةٌ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طَيَّارٌ / طَيَّارَةٌ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شُرْطِيٌّ / شُرْطِيَّةٌ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طَبَّاخٌ / طَبَّاخَةٌ</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طَبَّاخُونَ</a:t>
            </a:r>
            <a:endParaRPr lang="ar-SA" sz="150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D3 review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D3 AUDITS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أَرْبَعُ مُرَاجَعَاتٍ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 …</a:t>
            </a:r>
            <a:endParaRPr lang="en-US" sz="1100" dirty="0"/>
          </a:p>
        </p:txBody>
      </p:sp>
      <p:sp>
        <p:nvSpPr>
          <p:cNvPr id="17" name="Text 14"/>
          <p:cNvSpPr txBox="1"/>
          <p:nvPr/>
        </p:nvSpPr>
        <p:spPr>
          <a:xfrm>
            <a:off x="592531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2816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Audit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 ↔ verb ↔ adjective</a:t>
            </a:r>
            <a:endParaRPr lang="en-US" sz="1100" dirty="0"/>
          </a:p>
        </p:txBody>
      </p:sp>
      <p:sp>
        <p:nvSpPr>
          <p:cNvPr id="22" name="Text 19"/>
          <p:cNvSpPr txBox="1"/>
          <p:nvPr/>
        </p:nvSpPr>
        <p:spPr>
          <a:xfrm>
            <a:off x="5943600" y="2267712"/>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أُخْتِي </a:t>
            </a:r>
            <a:pPr rtl="1" algn="ctr" indent="0" marL="0">
              <a:buNone/>
            </a:pPr>
            <a:r>
              <a:rPr lang="ar-SA" altLang="en-US" sz="2000" b="1" dirty="0">
                <a:solidFill>
                  <a:srgbClr val="D6336C"/>
                </a:solidFill>
                <a:latin typeface="Amiri" pitchFamily="2" charset="-78"/>
                <a:ea typeface="Amiri" pitchFamily="2" charset="-78"/>
                <a:cs typeface="Amiri" pitchFamily="2" charset="-78"/>
              </a:rPr>
              <a:t>مُهَنْدِسَةٌ</a:t>
            </a:r>
            <a:pPr rtl="1" algn="ctr" indent="0" marL="0">
              <a:buNone/>
            </a:pPr>
            <a:r>
              <a:rPr lang="ar-SA" altLang="en-US" sz="2000" b="1" dirty="0">
                <a:solidFill>
                  <a:srgbClr val="1B3B6F"/>
                </a:solidFill>
                <a:latin typeface="Amiri" pitchFamily="2" charset="-78"/>
                <a:ea typeface="Amiri" pitchFamily="2" charset="-78"/>
                <a:cs typeface="Amiri" pitchFamily="2" charset="-78"/>
              </a:rPr>
              <a:t> وَهِيَ </a:t>
            </a:r>
            <a:pPr rtl="1" algn="ctr" indent="0" marL="0">
              <a:buNone/>
            </a:pPr>
            <a:r>
              <a:rPr lang="ar-SA" altLang="en-US" sz="2000" b="1" dirty="0">
                <a:solidFill>
                  <a:srgbClr val="D6336C"/>
                </a:solidFill>
                <a:latin typeface="Amiri" pitchFamily="2" charset="-78"/>
                <a:ea typeface="Amiri" pitchFamily="2" charset="-78"/>
                <a:cs typeface="Amiri" pitchFamily="2" charset="-78"/>
              </a:rPr>
              <a:t>تَعْمَلُ</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834640" y="2267712"/>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أُخْتِي مُهَنْدِسٌ وَهِيَ يَعْمَلُ.</a:t>
            </a:r>
            <a:endParaRPr lang="ar-SA" sz="2000" dirty="0"/>
          </a:p>
        </p:txBody>
      </p:sp>
      <p:sp>
        <p:nvSpPr>
          <p:cNvPr id="24" name="Text 21"/>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(L01, L03)</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phrase</a:t>
            </a:r>
            <a:endParaRPr lang="en-US" sz="1100" dirty="0"/>
          </a:p>
        </p:txBody>
      </p:sp>
      <p:sp>
        <p:nvSpPr>
          <p:cNvPr id="29" name="Text 26"/>
          <p:cNvSpPr txBox="1"/>
          <p:nvPr/>
        </p:nvSpPr>
        <p:spPr>
          <a:xfrm>
            <a:off x="5943600" y="3054096"/>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يَحْتَاجُ </a:t>
            </a:r>
            <a:pPr rtl="1" algn="ctr" indent="0" marL="0">
              <a:buNone/>
            </a:pPr>
            <a:r>
              <a:rPr lang="ar-SA" altLang="en-US" sz="2000" b="1" dirty="0">
                <a:solidFill>
                  <a:srgbClr val="0E7C86"/>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خِبْرَةٍ. · يَتَقَدَّمُ </a:t>
            </a:r>
            <a:pPr rtl="1" algn="ctr" indent="0" marL="0">
              <a:buNone/>
            </a:pPr>
            <a:r>
              <a:rPr lang="ar-SA" altLang="en-US" sz="2000" b="1" dirty="0">
                <a:solidFill>
                  <a:srgbClr val="0E7C86"/>
                </a:solidFill>
                <a:latin typeface="Amiri" pitchFamily="2" charset="-78"/>
                <a:ea typeface="Amiri" pitchFamily="2" charset="-78"/>
                <a:cs typeface="Amiri" pitchFamily="2" charset="-78"/>
              </a:rPr>
              <a:t>لِلوَظِيفَةِ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834640" y="3054096"/>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يَحْتَاجُ خِبْرَةً. · يَتَقَدَّمُ الوَظِيفَةَ.</a:t>
            </a:r>
            <a:endParaRPr lang="ar-SA" sz="2000" dirty="0"/>
          </a:p>
        </p:txBody>
      </p:sp>
      <p:sp>
        <p:nvSpPr>
          <p:cNvPr id="31" name="Text 28"/>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 (L03, L06)</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sawfa + PRESENT</a:t>
            </a:r>
            <a:endParaRPr lang="en-US" sz="1100" dirty="0"/>
          </a:p>
        </p:txBody>
      </p:sp>
      <p:sp>
        <p:nvSpPr>
          <p:cNvPr id="34" name="Text 31"/>
          <p:cNvSpPr txBox="1"/>
          <p:nvPr/>
        </p:nvSpPr>
        <p:spPr>
          <a:xfrm>
            <a:off x="5943600" y="3840480"/>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سَوْفَ تَدْرُسُ</a:t>
            </a:r>
            <a:pPr rtl="1" algn="ctr" indent="0" marL="0">
              <a:buNone/>
            </a:pPr>
            <a:r>
              <a:rPr lang="ar-SA" altLang="en-US" sz="2000" b="1" dirty="0">
                <a:solidFill>
                  <a:srgbClr val="1B3B6F"/>
                </a:solidFill>
                <a:latin typeface="Amiri" pitchFamily="2" charset="-78"/>
                <a:ea typeface="Amiri" pitchFamily="2" charset="-78"/>
                <a:cs typeface="Amiri" pitchFamily="2" charset="-78"/>
              </a:rPr>
              <a:t> فِي الجَامِعَةِ.</a:t>
            </a:r>
            <a:endParaRPr lang="ar-SA" sz="2000" dirty="0"/>
          </a:p>
        </p:txBody>
      </p:sp>
      <p:sp>
        <p:nvSpPr>
          <p:cNvPr id="35" name="Text 32"/>
          <p:cNvSpPr txBox="1"/>
          <p:nvPr/>
        </p:nvSpPr>
        <p:spPr>
          <a:xfrm>
            <a:off x="2834640" y="3840480"/>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سَوْفَ دَرَسَتْ فِي الجَامِعَةِ.</a:t>
            </a:r>
            <a:endParaRPr lang="ar-SA" sz="2000" dirty="0"/>
          </a:p>
        </p:txBody>
      </p:sp>
      <p:sp>
        <p:nvSpPr>
          <p:cNvPr id="36" name="Text 33"/>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(L04)</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claim + proof</a:t>
            </a:r>
            <a:endParaRPr lang="en-US" sz="1100" dirty="0"/>
          </a:p>
        </p:txBody>
      </p:sp>
      <p:sp>
        <p:nvSpPr>
          <p:cNvPr id="41" name="Text 38"/>
          <p:cNvSpPr txBox="1"/>
          <p:nvPr/>
        </p:nvSpPr>
        <p:spPr>
          <a:xfrm>
            <a:off x="5943600" y="4626864"/>
            <a:ext cx="338328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أَنَا مُنَظَّمٌ، </a:t>
            </a:r>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وَالدَّلِيلُ</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أَنَّنِي أُسَلِّمُ عَمَلِي فِي المَوْعِدِ.</a:t>
            </a:r>
            <a:endParaRPr lang="ar-SA" sz="1550" dirty="0"/>
          </a:p>
        </p:txBody>
      </p:sp>
      <p:sp>
        <p:nvSpPr>
          <p:cNvPr id="42" name="Text 39"/>
          <p:cNvSpPr txBox="1"/>
          <p:nvPr/>
        </p:nvSpPr>
        <p:spPr>
          <a:xfrm>
            <a:off x="2834640" y="4626864"/>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مُنَظَّمٌ.</a:t>
            </a:r>
            <a:endParaRPr lang="ar-SA" sz="2000" dirty="0"/>
          </a:p>
        </p:txBody>
      </p:sp>
      <p:sp>
        <p:nvSpPr>
          <p:cNvPr id="43" name="Text 40"/>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 (L03, L06)</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Traffic-light each audit for yourself: green · amber · red. Your reddest audit is your priority before D3-L12.</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DIAGNOSE, EXPLAIN, REPAIR (THE WEBSITE ERROR-ANALYSIS TEXT)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one sentence the right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 الخَطَأُ؟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لِكَيْ تُصْبِحُ مُدِيرٌ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Two errors: the verb after li-kay, and the job after tuṣbiḥa.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audit.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بَعْدَ لِكَيْ يَأْتِي فِعْلٌ مَنْصُوبٌ.</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After li-kay: -a. After tuṣbiḥa: the job in -atan (she).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line per rule.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الصِّيَاغَةُ الصَّحِيحَةُ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لِكَيْ تُصْبِحَ مُدِيرَةً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order to become a manager (f.)</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Now the rule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error-analysis text: the future needs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سَوْفَ تَدْرُسُ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سَوْفَ دَرَسَتْ فِي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Integrated accuracy and error diagnosis</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تَحْلِيلُ الأَخْطَاءِ فِي اللُّغَةِ المِهَنِيَّةِ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Agreement audit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الشَّخْصُ ↔ الفِعْلُ ↔ الصِّفَةُ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مُهَنْدِسَةٌ وَتَعْمَلُ فِي شَرِكَةٍ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Verb-preposition audit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يَحْتَاجُ إِلَى / يَتَقَدَّمُ لِـ / يَعْمَلُ فِي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يَحْتَاجُ إِلَى خِبْرَةٍ.   ·   يَتَقَدَّمُ لِلوَظِيفَةِ.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Future audit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سَـ / سَوْفَ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سَوْفَ أَدْرُسُ.   ·   سَأَتَدَرَّبُ.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 audit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ادِّعَاءٌ + دَلِيلٌ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أَنَا مُنَظَّمٌ، وَالدَّلِيلُ أَنَّنِي أُسَلِّمُ عَمَلِي فِي المَوْعِدِ.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وَتَعْمَلُ فِي شَرِكَةٍ.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يَتَقَدَّمُ ___ الوَظِيفَةِ.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دَرَسْتُ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أَدْرُسُ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سَأَدْرُسُ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وَالدَّلِيلُ أَنَّنِي أُسَلِّمُ عَمَلِي فِي المَوْعِدِ.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جِدًّا.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مُنَظَّمٌ وَمَسْؤُولٌ.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وَتَعْمَلُ فِي شَرِكَةٍ.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مُهَنْدِسَةٌ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 she.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يَتَقَدَّمُ ___ الوَظِيفَةِ.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yataqaddamu li-.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دَرَسْتُ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 أَدْرُسُ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سَأَدْرُسُ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present only.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مُنَظَّمٌ، وَالدَّلِيلُ أَنَّنِي أُسَلِّمُ عَمَلِي فِي المَوْعِدِ.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مُنَظَّمٌ جِدًّا.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مُنَظَّمٌ وَمَسْؤُولٌ.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Claim + proof.</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audit a student’s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Agreement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أُخْتِي </a:t>
            </a:r>
            <a:pPr rtl="1" algn="ctr" indent="0" marL="0">
              <a:buNone/>
            </a:pPr>
            <a:r>
              <a:rPr lang="ar-SA" altLang="en-US" sz="2400" b="1" dirty="0">
                <a:solidFill>
                  <a:srgbClr val="D6336C"/>
                </a:solidFill>
                <a:latin typeface="Amiri" pitchFamily="2" charset="-78"/>
                <a:ea typeface="Amiri" pitchFamily="2" charset="-78"/>
                <a:cs typeface="Amiri" pitchFamily="2" charset="-78"/>
              </a:rPr>
              <a:t>مُهَنْدِسَةٌ</a:t>
            </a:r>
            <a:pPr rtl="1" algn="ctr" indent="0" marL="0">
              <a:buNone/>
            </a:pPr>
            <a:r>
              <a:rPr lang="ar-SA" altLang="en-US" sz="2400" b="1" dirty="0">
                <a:solidFill>
                  <a:srgbClr val="1B3B6F"/>
                </a:solidFill>
                <a:latin typeface="Amiri" pitchFamily="2" charset="-78"/>
                <a:ea typeface="Amiri" pitchFamily="2" charset="-78"/>
                <a:cs typeface="Amiri" pitchFamily="2" charset="-78"/>
              </a:rPr>
              <a:t> وَهِيَ </a:t>
            </a:r>
            <a:pPr rtl="1" algn="ctr" indent="0" marL="0">
              <a:buNone/>
            </a:pPr>
            <a:r>
              <a:rPr lang="ar-SA" altLang="en-US" sz="2400" b="1" dirty="0">
                <a:solidFill>
                  <a:srgbClr val="D6336C"/>
                </a:solidFill>
                <a:latin typeface="Amiri" pitchFamily="2" charset="-78"/>
                <a:ea typeface="Amiri" pitchFamily="2" charset="-78"/>
                <a:cs typeface="Amiri" pitchFamily="2" charset="-78"/>
              </a:rPr>
              <a:t>تَعْمَلُ</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-atun and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ea typeface="Amiri" pitchFamily="2" charset="-78"/>
                <a:cs typeface="Amiri" pitchFamily="2" charset="-78"/>
              </a:rPr>
              <a:t>سَوْفَ تَدْرُسُ</a:t>
            </a:r>
            <a:pPr rtl="1" algn="ctr" indent="0" marL="0">
              <a:buNone/>
            </a:pPr>
            <a:r>
              <a:rPr lang="ar-SA" altLang="en-US" sz="2550" b="1" dirty="0">
                <a:solidFill>
                  <a:srgbClr val="1B3B6F"/>
                </a:solidFill>
                <a:latin typeface="Amiri" pitchFamily="2" charset="-78"/>
                <a:ea typeface="Amiri" pitchFamily="2" charset="-78"/>
                <a:cs typeface="Amiri" pitchFamily="2" charset="-78"/>
              </a:rPr>
              <a:t> فِي الجَامِعَةِ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sawfa + present,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li-kay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 </a:t>
            </a:r>
            <a:pPr rtl="1" algn="ctr" indent="0" marL="0">
              <a:buNone/>
            </a:pPr>
            <a:r>
              <a:rPr lang="ar-SA" altLang="en-US" sz="2800" b="1" dirty="0">
                <a:solidFill>
                  <a:srgbClr val="0E7C86"/>
                </a:solidFill>
                <a:latin typeface="Amiri" pitchFamily="2" charset="-78"/>
                <a:ea typeface="Amiri" pitchFamily="2" charset="-78"/>
                <a:cs typeface="Amiri" pitchFamily="2" charset="-78"/>
              </a:rPr>
              <a:t>تُصْبِحَ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Job after uṣbiḥa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تُصْبِحَ </a:t>
            </a:r>
            <a:pPr rtl="1" algn="ctr" indent="0" marL="0">
              <a:buNone/>
            </a:pPr>
            <a:r>
              <a:rPr lang="ar-SA" altLang="en-US" sz="2800" b="1" dirty="0">
                <a:solidFill>
                  <a:srgbClr val="0E7C86"/>
                </a:solidFill>
                <a:latin typeface="Amiri" pitchFamily="2" charset="-78"/>
                <a:ea typeface="Amiri" pitchFamily="2" charset="-78"/>
                <a:cs typeface="Amiri" pitchFamily="2" charset="-78"/>
              </a:rPr>
              <a:t>مُدِيرَةً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 + -an = -atan.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AGREEMENT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CASE / MOOD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أُخْتِي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مُهَنْدِسَةٌ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تَعْمَلُ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شَرِكَةٍ كَبِيرَةٍ.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سَوْفَ تَدْرُسُ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الإِدَارَةَ فِي الجَامِعَةِ لِكَيْ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تُصْبِحَ مُدِيرَةً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لِأَنَّهَا تَحْتَاجُ إِلَى مُؤَهِّلَاتٍ أَعْلَى. هِيَ مُنَظَّمَةٌ، وَالدَّلِيلُ أَنَّهَا تُسَلِّمُ عَمَلَهَا دَائِمًا فِي المَوْعِدِ.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sister is an engineer and she works in a big company. She will study management at university in order to become a manager, because she needs higher qualifications. She is organised: the proof is that she always hands in her work on time.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مُهَنْدِسَةٌ وَتَعْمَلُ فِي شَرِكَةٍ كَبِيرَةٍ.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an engineer and works in a big company.</a:t>
            </a:r>
            <a:endParaRPr lang="en-US" sz="1250" dirty="0"/>
          </a:p>
          <a:p>
            <a:pPr indent="0" marL="0">
              <a:buNone/>
            </a:pPr>
            <a:r>
              <a:rPr lang="en-US" sz="1050" i="1" dirty="0">
                <a:solidFill>
                  <a:srgbClr val="8A6D1E"/>
                </a:solidFill>
                <a:latin typeface="Calibri" pitchFamily="34" charset="0"/>
                <a:cs typeface="Amiri" pitchFamily="2" charset="-78"/>
              </a:rPr>
              <a:t>Agreement audit.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يَحْتَاجُ إِلَى خِبْرَةٍ. · يَتَقَدَّمُ لِلوَظِيفَةِ.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needs experience. · He applies for the job.</a:t>
            </a:r>
            <a:endParaRPr lang="en-US" sz="1250" dirty="0"/>
          </a:p>
          <a:p>
            <a:pPr indent="0" marL="0">
              <a:buNone/>
            </a:pPr>
            <a:r>
              <a:rPr lang="en-US" sz="1050" i="1" dirty="0">
                <a:solidFill>
                  <a:srgbClr val="8A6D1E"/>
                </a:solidFill>
                <a:latin typeface="Calibri" pitchFamily="34" charset="0"/>
                <a:cs typeface="Amiri" pitchFamily="2" charset="-78"/>
              </a:rPr>
              <a:t>Verb +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سَوْفَ أَدْرُسُ لِكَيْ أُصْبِحَ مُحَامِيًا.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to become a lawyer.</a:t>
            </a:r>
            <a:endParaRPr lang="en-US" sz="1250" dirty="0"/>
          </a:p>
          <a:p>
            <a:pPr indent="0" marL="0">
              <a:buNone/>
            </a:pPr>
            <a:r>
              <a:rPr lang="en-US" sz="1050" i="1" dirty="0">
                <a:solidFill>
                  <a:srgbClr val="8A6D1E"/>
                </a:solidFill>
                <a:latin typeface="Calibri" pitchFamily="34" charset="0"/>
                <a:cs typeface="Amiri" pitchFamily="2" charset="-78"/>
              </a:rPr>
              <a:t>Future + 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 مُنَظَّمٌ، وَالدَّلِيلُ أَنَّنِي أُسَلِّمُ عَمَلِي فِي المَوْعِدِ.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organised; the proof is that I hand in my work on time.</a:t>
            </a:r>
            <a:endParaRPr lang="en-US" sz="1250" dirty="0"/>
          </a:p>
          <a:p>
            <a:pPr indent="0" marL="0">
              <a:buNone/>
            </a:pPr>
            <a:r>
              <a:rPr lang="en-US" sz="1050" i="1" dirty="0">
                <a:solidFill>
                  <a:srgbClr val="8A6D1E"/>
                </a:solidFill>
                <a:latin typeface="Calibri" pitchFamily="34" charset="0"/>
                <a:cs typeface="Amiri" pitchFamily="2" charset="-78"/>
              </a:rPr>
              <a:t>Claim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audit finds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الصَّبْرَ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يَتَقَدَّمُ الوَظِيفَةَ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دَرَسْتُ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سَأَعْمَلُ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مُنَظَّمٌ.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الطِّبَّ.</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مُهَنْدِسٌ</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يَعْمَلُ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يَحْتَاجُ الصَّبْرَ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يَتَقَدَّمُ الوَظِيفَةَ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دَرَسْتُ</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سَأَعْمَلُ</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مُنَظَّمٌ.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الطِّبَّ.</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لِكَيْ ___ مُحَامِيًا.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سَأُصْبِحُ</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أُصْبِحَ</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تَكُونَ المُمَرِّضَةُ ___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صَبُورَةً</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صَبُورًا</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الوَظِيفَةَ.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يَسُرُّنِي أَنْ أَتَقَدَّمَ لِلوَظِيفَةِ.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لِكَيْ ___ مُحَامِيًا.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أَصْبَحْتُ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سَأُصْبِحُ</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أُصْبِحَ</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تَكُونَ المُمَرِّضَةُ ___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صَبُورَةً</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صَبُورًا</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-atan.</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الشَّرِكَةُ ___ أَعْمَلُ فِيهَا كَبِيرَةٌ.</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D3-L02.</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الوَظِيفَةَ.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يَسُرُّنِي أَنْ أَتَقَدَّمَ لِلوَظِيفَةِ.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D3-L06.</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مُهَنْدِسٌ وَهِيَ يَعْمَلُ فِي شَرِكَةٍ.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which job ending and verb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 دَرَسَتْ فِي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sawfa + past or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لِكَيْ تُصْبِحُ مُدِيرٌ.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and tuṣbiḥa?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مُهَنْدِسٌ وَهِيَ يَعْمَلُ فِي شَرِكَةٍ.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مُهَنْدِسَةٌ وَهِيَ تَعْمَلُ فِي شَرِكَةٍ.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she → -atun and ta-.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سَوْفَ دَرَسَتْ فِي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سَوْفَ تَدْرُسُ فِي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Future: sawfa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لِكَيْ تُصْبِحُ مُدِيرٌ.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لِكَيْ تُصْبِحَ مُدِيرَةً.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li-kay: -a; the job: -atan.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placement for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full-time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degree and experience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driving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 and teamwork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April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weeks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 weeks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 and a laptop</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and lunch</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certificate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تُعْلِنُ شَرِكَةٌ تِقْنِيَّةٌ عَنْ فُرْصَةِ تَدْرِيبٍ لِلطُّلَّابِ.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tech company announces a training placement for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يُشْتَرَطُ إِجَادَةُ الحَاسُوبِ وَالقُدْرَةُ عَلَى العَمَلِ ضِمْنَ فَرِيقٍ.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computer skills and the ability to work in a team are required.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سَتَبْدَأُ الفُرْصَةُ فِي الثَّانِي مِنْ أَغُسْطُسَ، لَا فِي الثَّانِي عَشَرَ مِنْهُ،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placement will start on the 2nd of August, not the 12th,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وَسَتَسْتَمِرُّ أَرْبَعَةَ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 will last four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تُقَدِّمُ الشَّرِكَةُ تَدْرِيبًا وَشَهَادَةً، وَلٰكِنَّهَا لَا تُقَدِّمُ رَاتِبًا.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 and a certificate, but it does not pay a salary.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training placement for students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full-time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فُرْصَةِ تَدْرِيبٍ لِلطُّلَّابِ</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degree and experience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driving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computer skills and teamwork</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إِجَادَةُ الحَاسُوبِ وَالقُدْرَةُ عَلَى العَمَلِ ضِمْنَ فَرِيقٍ</a:t>
            </a:r>
            <a:endParaRPr lang="ar-SA" sz="11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 April</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الثَّانِي مِنْ أَغُسْطُسَ، لَا فِي الثَّانِي عَشَرَ</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weeks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 weeks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أَسَابِيعَ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 and a laptop</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and lunch</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تَدْرِيبًا وَشَهَادَةً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certificate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تُقَدِّمُ رَاتِبًا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D3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مِهْنَةُ أَحَدِ أَفْرَادِ عَائِلَتِكَ؟ وَأَيْنَ يَعْمَلُ؟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المِهْنَةُ الَّتِي تُرِيدُهَا؟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مَهَارَاتُكَ؟ وَمَا الدَّلِيلُ؟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بَعْدَ المَدْرَسَةِ؟</a:t>
            </a:r>
            <a:endParaRPr lang="ar-SA" sz="1800" dirty="0"/>
          </a:p>
        </p:txBody>
      </p:sp>
      <p:sp>
        <p:nvSpPr>
          <p:cNvPr id="46" name="Shape 43"/>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48" name="Text 45"/>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9" name="Text 46"/>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الصُّعُوبَةُ المُحْتَمَلَةُ؟ وَكَيْفَ سَتَتَغَلَّبُ عَلَيْهَا؟</a:t>
            </a:r>
            <a:endParaRPr lang="ar-SA" sz="1800" dirty="0"/>
          </a:p>
        </p:txBody>
      </p:sp>
      <p:sp>
        <p:nvSpPr>
          <p:cNvPr id="50" name="Shape 47"/>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1" name="Text 48"/>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2" name="Shape 49"/>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___ مُحَاسِبٌ / مُمَرِّضَةٌ وَيَعْمَلُ / تَعْمَلُ فِي ___ .</a:t>
            </a:r>
            <a:endParaRPr lang="ar-SA" sz="1350" dirty="0"/>
          </a:p>
        </p:txBody>
      </p:sp>
      <p:sp>
        <p:nvSpPr>
          <p:cNvPr id="55" name="Shape 52"/>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أَطْمَحُ إِلَى أَنْ أُصْبِحَ ___ لِأَنَّنِي ___ .</a:t>
            </a:r>
            <a:endParaRPr lang="ar-SA" sz="1600" dirty="0"/>
          </a:p>
        </p:txBody>
      </p:sp>
      <p:sp>
        <p:nvSpPr>
          <p:cNvPr id="58" name="Shape 55"/>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9" name="Text 56"/>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0" name="Text 57"/>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 وَالدَّلِيلُ أَنَّنِي ___ .</a:t>
            </a:r>
            <a:endParaRPr lang="ar-SA" sz="1600" dirty="0"/>
          </a:p>
        </p:txBody>
      </p:sp>
      <p:sp>
        <p:nvSpPr>
          <p:cNvPr id="61" name="Shape 58"/>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2" name="Text 59"/>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3" name="Text 60"/>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أَوَّلًا سَوْفَ ___ ، ثُمَّ سَـ ___ لِكَيْ ___ .</a:t>
            </a:r>
            <a:endParaRPr lang="ar-SA" sz="1600" dirty="0"/>
          </a:p>
        </p:txBody>
      </p:sp>
      <p:sp>
        <p:nvSpPr>
          <p:cNvPr id="64" name="Shape 61"/>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5" name="Text 62"/>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6" name="Text 63"/>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الرَّغْمِ مِنْ أَنَّ ___ ، فَإِنَّنِي ___ .</a:t>
            </a:r>
            <a:endParaRPr lang="ar-SA" sz="1600" dirty="0"/>
          </a:p>
        </p:txBody>
      </p:sp>
      <p:sp>
        <p:nvSpPr>
          <p:cNvPr id="67" name="Shape 64"/>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9" name="Shape 66"/>
          <p:cNvSpPr/>
          <p:nvPr/>
        </p:nvSpPr>
        <p:spPr>
          <a:xfrm>
            <a:off x="11274552" y="5559552"/>
            <a:ext cx="292608" cy="292608"/>
          </a:xfrm>
          <a:prstGeom prst="ellipse">
            <a:avLst/>
          </a:prstGeom>
          <a:solidFill>
            <a:srgbClr val="1E6B52"/>
          </a:solidFill>
          <a:ln w="12700">
            <a:solidFill>
              <a:srgbClr val="1E6B52"/>
            </a:solidFill>
            <a:prstDash val="solid"/>
          </a:ln>
        </p:spPr>
      </p:sp>
      <p:sp>
        <p:nvSpPr>
          <p:cNvPr id="70" name="Text 67"/>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71" name="Text 68"/>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المِهْنَةُ الَّتِي تُرِيدُهَا؟ وَلِمَاذَا؟</a:t>
            </a:r>
            <a:endParaRPr lang="ar-SA" sz="1550" dirty="0"/>
          </a:p>
        </p:txBody>
      </p:sp>
      <p:sp>
        <p:nvSpPr>
          <p:cNvPr id="72" name="Text 69"/>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job do you want? Why?</a:t>
            </a:r>
            <a:endParaRPr lang="en-US" sz="950" dirty="0"/>
          </a:p>
        </p:txBody>
      </p:sp>
      <p:sp>
        <p:nvSpPr>
          <p:cNvPr id="73" name="Shape 70"/>
          <p:cNvSpPr/>
          <p:nvPr/>
        </p:nvSpPr>
        <p:spPr>
          <a:xfrm>
            <a:off x="11274552" y="5925312"/>
            <a:ext cx="292608" cy="292608"/>
          </a:xfrm>
          <a:prstGeom prst="ellipse">
            <a:avLst/>
          </a:prstGeom>
          <a:solidFill>
            <a:srgbClr val="1E6B52"/>
          </a:solidFill>
          <a:ln w="12700">
            <a:solidFill>
              <a:srgbClr val="1E6B52"/>
            </a:solidFill>
            <a:prstDash val="solid"/>
          </a:ln>
        </p:spPr>
      </p:sp>
      <p:sp>
        <p:nvSpPr>
          <p:cNvPr id="74" name="Text 71"/>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5" name="Text 72"/>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أَطْمَحُ إِلَى أَنْ أُصْبِحَ مُحَامِيًا لِأَنَّنِي أُحِبُّ العَدَالَةَ.</a:t>
            </a:r>
            <a:endParaRPr lang="ar-SA" sz="1550" dirty="0"/>
          </a:p>
        </p:txBody>
      </p:sp>
      <p:sp>
        <p:nvSpPr>
          <p:cNvPr id="76" name="Text 73"/>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aspire to become a lawyer because I love justice.</a:t>
            </a:r>
            <a:endParaRPr lang="en-US" sz="9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Repair the website student text, then write one accurate sentence for each audit.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complete D3 response (job, plan, skills + evidence), audited with the four checks.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complete D3 response + self-audit + an evidence-based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 is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______ ، ثُمَّ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فَإِنَّنِي مُسْتَعِدٌّ.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I am ready.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______ لِأَنَّنِي أَخْطَأْتُ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 because I made mistakes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أُمِّي / أَبِي ______ وَتَعْمَلُ / وَيَعْمَلُ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 father is a … and works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أَدْرُسُ ______ لِكَيْ أُصْبِحَ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in order to become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المِهْنَةُ تَحْتَاجُ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job needs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وَالدَّلِيلُ 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the proof is that I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أَوْلَوِيَّتِي هِيَ ______ .</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priority is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مُهَنْدِسَةٌ  ·  تَعْمَلُ فِي  ·  يَحْتَاجُ إِلَى  ·  يَتَقَدَّمُ لِـ  ·  سَوْفَ أَدْرُسُ  ·  سَأَتَدَرَّبُ  ·  لِكَيْ أُصْبِحَ  ·  وَالدَّلِيلُ أَنَّنِي  ·  أَوَّلًا  ·  ثُمَّ  ·  عَلَى الرَّغْمِ مِنْ أَنَّ  ·  أَوْلَوِيَّةٌ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Produce a complete D3 response, then use an error-analysis checklist to improve agreement, prepositions, future forms and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أَخْطَأْتُ فِي … مَرَّتَيْنِ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made mistakes in … twice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غَيَّرْتُ … إِلَى … لِأَنَّ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changed … to … because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المِهْنَةُ تَحْتَاجُ إِلَى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job needs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أَكْتَسِبَ خِبْرَةً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gain experience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أَصْبَحَ نَصِّي أَدَقَّ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text became more accurate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عَائِلَتِي مِهَنٌ مُخْتَلِفَةٌ: أُمِّي مُمَرِّضَةٌ وَتَعْمَلُ فِي مُسْتَشْفًى كَبِيرٍ، بَيْنَمَا أَبِي مُحَاسِبٌ فِي شَرِكَةٍ دَوْلِيَّةٍ. أَمَّا أَنَا فَأَطْمَحُ إِلَى أَنْ أُصْبِحَ مُحَامِيًا لِأَنَّنِي أُحِبُّ العَدَالَةَ. هٰذِهِ المِهْنَةُ تَحْتَاجُ إِلَى الدِّقَّةِ وَمَهَارَةِ التَّوَاصُلِ. أَنَا مُنَظَّمٌ، وَالدَّلِيلُ أَنَّنِي أُسَلِّمُ عَمَلِي دَائِمًا فِي المَوْعِدِ. أَوَّلًا سَوْفَ أَدْرُسُ القَانُونَ فِي الجَامِعَةِ، ثُمَّ سَأَتَدَرَّبُ فِي مَكْتَبِ مُحَامَاةٍ لِكَيْ أَكْتَسِبَ خِبْرَةً. عَلَى الرَّغْمِ مِنْ أَنَّ الطَّرِيقَ طَوِيلٌ، فَإِنَّنِي مُسْتَعِدٌّ. هَدَفِي قَبْلَ التَّقْيِيمِ هُوَ مُرَاجَعَةُ الأَفْعَالِ بَعْدَ لِكَيْ، لِأَنَّنِي أَخْطَأْتُ فِيهَا مَرَّتَيْنِ.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different jobs in my family: my mother is a nurse and works in a big hospital, whereas my father is an accountant in an international company. As for me, I aspire to become a lawyer because I love justice. This job needs precision and communication skills. I am organised; the proof is that I always hand in my work on time. First I will study law at university, then I will train in a law office to gain experience. Although the road is long, I am ready. My target before the assessment is to revise verbs after li-kay, because I made mistakes with them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agreement (she → -atun / ta-)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verb + preposition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with sawfa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claim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Agreement: person, verb and job match.</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Future: sa- / sawfa + present.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keep their prepositions.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claim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ea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مُحَامِيَةٌ.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مُحَامُونَ.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مُحَامِيَةٌ.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agreement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audit.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ea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هِيَ مُحَامِيَةٌ.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مُحَامُونَ.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مُحَامِيَةٌ.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Error-analysis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كَتَبَ طَالِبٌ: «أُخْتِي مُهَنْدِسٌ وَهِيَ يَعْمَلُ فِي شَرِكَةٍ. سَوْفَ دَرَسَتْ فِي الجَامِعَةِ لِكَيْ تُصْبِحُ مُدِيرٌ». يَحْتَوِي النَّصُّ عَلَى أَخْطَاءٍ فِي الجِنْسِ وَالفِعْلِ وَالمُسْتَقْبَلِ وَالحَالَةِ الإِعْرَابِيَّةِ. الصِّيَاغَةُ الصَّحِيحَةُ هِيَ: «أُخْتِي مُهَنْدِسَةٌ وَهِيَ تَعْمَلُ فِي شَرِكَةٍ. سَوْفَ تَدْرُسُ فِي الجَامِعَةِ لِكَيْ تُصْبِحَ مُدِيرَةً».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 طَالِبٌ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student wrote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يَحْتَوِي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contains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mistakes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الجِنْسِ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gender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verb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المُسْتَقْبَلِ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future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الحَالَةِ الإِعْرَابِيَّةِ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case ending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الصِّيَاغَةُ الصَّحِيحَةُ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correct wording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مُدِيرَةً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manager (f.)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تُصْبِحَ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becomes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وَهِيَ يَعْمَلُ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شَرِكَةٍ</a:t>
            </a:r>
            <a:endParaRPr lang="ar-SA" sz="2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دَرَسَتْ</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تُصْبِحُ</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يَعْمَلُ</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 is used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should be sa-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دَرَسَتْ</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تَدْرُسُ</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يَدْرُسُ</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ea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مُدِيرَةً</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مُدِيرَةٌ</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style, length and title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 verb, future and case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وَهِيَ يَعْمَلُ</a:t>
            </a:r>
            <a:endParaRPr lang="ar-SA" sz="170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مُهَنْدِسٌ</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شَرِكَةٍ</a:t>
            </a:r>
            <a:endParaRPr lang="ar-SA" sz="17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Sister (f.) + masculine job.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دَرَسَتْ</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تُصْبِحُ</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يَعْمَلُ</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ya- verb.</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past verb is used</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should be sa-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darasat (past).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دَرَسَتْ</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 تَدْرُسُ</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يَدْرُسُ</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tadrusu.</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ea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مُدِيرَةً</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مُدِيرٌ</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مُدِيرَةٌ</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 + -an.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spelling, style, length and title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gender, verb, future and case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الجِنْسِ وَالفِعْلِ وَالمُسْتَقْبَلِ وَالحَالَةِ الإِعْرَابِيَّةِ</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D3-L12 · D3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ar-SA" sz="1000" i="1" dirty="0">
                <a:solidFill>
                  <a:srgbClr val="5A6472"/>
                </a:solidFill>
                <a:latin typeface="Calibri" pitchFamily="34" charset="0"/>
                <a:ea typeface="Amiri" pitchFamily="2" charset="-78"/>
                <a:cs typeface="Amiri" pitchFamily="2" charset="-78"/>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 / score</a:t>
            </a:r>
            <a:pPr indent="0" marL="0">
              <a:buNone/>
            </a:pPr>
            <a:r>
              <a:rPr lang="ar-SA" sz="1000" i="1" dirty="0">
                <a:solidFill>
                  <a:srgbClr val="5A6472"/>
                </a:solidFill>
                <a:latin typeface="Calibri" pitchFamily="34" charset="0"/>
                <a:ea typeface="Amiri" pitchFamily="2" charset="-78"/>
                <a:cs typeface="Amiri" pitchFamily="2" charset="-78"/>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instructions</a:t>
            </a:r>
            <a:pPr indent="0" marL="0">
              <a:buNone/>
            </a:pPr>
            <a:r>
              <a:rPr lang="ar-SA" sz="1000" i="1" dirty="0">
                <a:solidFill>
                  <a:srgbClr val="5A6472"/>
                </a:solidFill>
                <a:latin typeface="Calibri" pitchFamily="34" charset="0"/>
                <a:ea typeface="Amiri" pitchFamily="2" charset="-78"/>
                <a:cs typeface="Amiri" pitchFamily="2" charset="-78"/>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revise / check</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your reddest audit: write three correct sentences that use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error-analysis repair;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D3 response (100–120 words), audited with the four checks.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self-audit;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D3-L12 · D3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name the audit — agreement · preposition · future · evidence — then explain, then repair.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D3-L11 · D3 Consolidation — Error Analysis and Assessment Preparation</dc:title>
  <dc:subject>PptxGenJS Presentation</dc:subject>
  <dc:creator>Al Madina Online School · Arabic Department</dc:creator>
  <cp:lastModifiedBy>Al Madina Online School · Arabic Department</cp:lastModifiedBy>
  <cp:revision>1</cp:revision>
  <dcterms:created xsi:type="dcterms:W3CDTF">2026-10-11T06:40:48Z</dcterms:created>
  <dcterms:modified xsi:type="dcterms:W3CDTF">2026-10-11T06:40:48Z</dcterms:modified>
</cp:coreProperties>
</file>