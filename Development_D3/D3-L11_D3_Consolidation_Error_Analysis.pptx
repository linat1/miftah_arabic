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D3 Work and Careers › D3-L11. The website lesson “D3 Consolidation — Error Analysis and Assessment Preparation”: vocabulary, grammar rules and quiz, patterns, common mistakes, sorter, listening, reading, speaking prompts and model, writing task and model, differentiation, final check and the lesson mission. Picture match: website visual game “D3 Consolidation — Error Analysis and Assessment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D3 review before the D3-L12 assessment.
• Core: the agreement and future audits on the website error-analysis text (four errors to find). Develop: all four audits + explain each correction in one line. Stretch: a complete D3 response, then a self-audit with the checklist and a measurable target.
• Use the Do Now and quick-check results to choose each student’s route for the final You Do.
• The website listening is an ASSESSMENT REHEARSAL (an internship advert): treat it like the real test — two listenings, no script until after.
• TEACHER-WRITTEN ITEMS: on the website this lesson’s mission, sorter, mistakes, grammar, final, listening, reading, speaking, writing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D3-L10. Questions 3–5 retrieve D3-L10, D3-L01 and D3-L03. Note which of 3–5 each student gets wrong: it points to their audit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Before you fix a word, ask: which audit? — agreement, preposition, future or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every key word of the error-analysis routine is shared: تحلیل، خطا، صحیح، تصحیح، دلیل. Students can say the routine in Urdu first, then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D3 review (website vocabulary (1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D3 review (website vocabulary (2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D3 review (website vocabulary (3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Complete D3 review (website vocabulary (4 of 4)). Hear → Say → See → Use. Transliteration is printed for Core students (cover it for Develop/Stretch).
Jobs review (D3-L01): every card shows m. · f. · pl. Quick-fire: say أَخِي / أُخْتِي + a job; the class gives the right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(1 of 2)). Hear → Say → See → Use. Transliteration is printed for Core students (cover it for Develop/Stretch).
FLEX: teach if time allows; otherwise these are on the website vocabulary tab for homework.
Cohesion (FLEX): D3-L09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Cohesion and evaluation (website vocabulary (2 of 2)). Hear → Say → See → Use. Transliteration is printed for Core students (cover it for Develop/Stretch).
FLEX: teach if time allows; otherwise these are on the website vocabulary tab for homework.
Cohesion (FLEX): D3-L09 review — every connector must have a job in your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“Agreement audit” (الشَّخْصُ ↔ الفِعْلُ ↔ الصِّفَةُ: check gender and person across the whole sentence), “Verb-preposition audit” (learn the complete phrase, not an isolated verb), “Future audit” (do not combine سوف with a past verb) and “Evidence audit” (a developed answer proves or explains the claim). Website examples in the ✓ column; the ✗ column is from the website error-analysis text.
Row 2: لِـ + الوَظِيفَة is written لِلوَظِيفَةِ (the alif of al- drops).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reading text is a student’s faulty paragraph with its correction: «أُخْتِي مُهَنْدِسٌ وَهِيَ يَعْمَلُ فِي شَرِكَةٍ. سَوْفَ دَرَسَتْ فِي الجَامِعَةِ لِكَيْ تُصْبِحُ مُدِيرٌ» → «أُخْتِي مُهَنْدِسَةٌ وَهِيَ تَعْمَلُ فِي شَرِكَةٍ. سَوْفَ تَدْرُسُ فِي الجَامِعَةِ لِكَيْ تُصْبِحَ مُدِيرَةً». The four systems: gender, verb person, future, case ending.
Routine (as in F6-L11): diagnose (which audit?) → explain (which rule?) → repair.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“تَحْلِيلُ الأَخْطَاءِ فِي اللُّغَةِ المِهَنِيَّةِ”
• Agreement audit: Check gender and person across the whole sentence.
• Verb-preposition audit: Learn the complete phrase, not an isolated verb.
• Future audit: Do not combine سوف with a past verb.
• Evidence audit: A developed answer proves or explains the claim.
Website common error: Do not correct only the visible ending: name the audit (agreement, preposition, future, evidence) and the rule, then repair (teacher wording: the website common error for this lesson is generic).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error-analysis text, corrected one audit at a time, then extended with a reason (D3-L03 needs + ilā) and evidence (D3-L06) so all four audits appear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Each item has one problem: is it agreement, a missing preposition, a wrong future, or missing evidence?
Then repair each item aloud. Stretch: explain the rule in one English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4 and 6. Develop / Stretch: all 6 — question 3 has a corrected date (2nd, not 12th).
Listen 1: just listen. Listen 2: note answers. Then chat the letters.
Support: after the second listening, show the read-along slide (Arabic + English, line by line) for Core students.
SCRIPT (read aloud):
تُعْلِنُ شَرِكَةٌ تِقْنِيَّةٌ عَنْ فُرْصَةِ تَدْرِيبٍ لِلطُّلَّابِ. يُشْتَرَطُ إِجَادَةُ الحَاسُوبِ وَالقُدْرَةُ عَلَى العَمَلِ ضِمْنَ فَرِيقٍ. سَتَبْدَأُ الفُرْصَةُ فِي الثَّانِي مِنْ أَغُسْطُسَ، لَا فِي الثَّانِي عَشَرَ مِنْهُ، وَسَتَسْتَمِرُّ أَرْبَعَةَ أَسَابِيعَ. تُقَدِّمُ الشَّرِكَةُ تَدْرِيبًا وَشَهَادَةً، وَلٰكِنَّهَا لَا تُقَدِّمُ رَاتِبًا.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مَهَارَاتُكَ؟ (And your skills?)
B: أَنَا مُنَظَّمٌ، وَالدَّلِيلُ أَنَّنِي أُسَلِّمُ عَمَلِي فِي المَوْعِدِ. (I am organised; the proof is that I hand in my work on time.)
Teacher-written D3 topic conversation (the website prompts are generic) — the same five questions the D3-L12 speaking assessment will use. Pairs: A asks, B answers for one minute; swap. To a girl: مَا المِهْنَةُ الَّتِي تُرِيدِينَهَا؟ · مَا مَهَارَاتُكِ؟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independently controlled complex structures.
Website writing task (Stretch): Produce a complete D3 response, then use an error-analysis checklist to improve agreement, prepositions, future forms and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Teacher-written model (the website model for this lesson is a placeholder). Evidence: مُمَرِّضَةٌ وَتَعْمَلُ · تَحْتَاجُ إِلَى · سَوْفَ أَدْرُسُ، سَأَتَدَرَّبُ لِكَيْ أَكْتَسِبَ · وَالدَّلِيلُ أَنَّنِي … · هَدَفِي … لِأَنَّنِي أَخْطَأْتُ … مَرَّتَيْنِ (an evidence-based target).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(D3-L12 · D3 Review and Unit Assessment) will spend class time USING this language, so students prepare it tonight — short, simple, easy to access (school guidance: “Simple, Short, Interesting, Relevant, Easy to access”). The five words are the instruction words of the D3-L12 assessment (skills, marks, instructions).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D3  ·  D3-L11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D3-L11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D3 Consolidation — Error Analysis and Assessment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2850" b="1" dirty="0">
                <a:solidFill>
                  <a:srgbClr val="D4AF37"/>
                </a:solidFill>
                <a:latin typeface="Amiri" pitchFamily="34" charset="0"/>
                <a:ea typeface="Amiri" pitchFamily="34" charset="-122"/>
                <a:cs typeface="Amiri" pitchFamily="34" charset="-120"/>
              </a:rPr>
              <a:t>تَرْسِيخُ الوَحْدَةِ الثَّالِثَةِ — تَحْلِيلُ الأَخْطَاءِ وَالاِسْتِعْدَادُ لِلتَّقْيِيمِ</a:t>
            </a:r>
            <a:endParaRPr lang="ar-SA" sz="28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Pull the whole of D3 together: four audits (agreement · verb + preposition · future · evidence), a diagnose → explain → repair routine on a real student text, and one precise target before the D3 assessment.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D3-L11 · Development D3 · Work and Careers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D3 › D3-L11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audits and a three-step repair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errors by audit, repair them, then an assessment-style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D3-L12.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تَحْلِيلُ الأَخْطَاءِ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complete review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error analysis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أُحَسِّنُ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improve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review</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eliminate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سَتَدْرُسُ الطِّبَّ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 وَيَعْمَلُ فِي شَرِكَةٍ.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تَكُونُ مُحَاسِبَةٌ.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أُمِّي مُحَاسِبَةٌ وَتَعْمَلُ فِي شَرِكَةٍ.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تَحْلِيلُ الأَخْطَاءِ</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complete review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error analysis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أُحَسِّنُ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improve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review</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eliminate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(D3-L10).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قَالَتْ</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سَتَدْرُسُ الطِّبَّ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إِنَّهَا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D3-L10: reporting a girl.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مُحَاسِبٌ وَيَعْمَلُ فِي شَرِكَةٍ.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أُمِّي تَكُونُ مُحَاسِبَةٌ.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أُمِّي مُحَاسِبَةٌ وَتَعْمَلُ فِي شَرِكَةٍ.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D3-L01: agreement, no “is”.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الصَّبْرِ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Before you fix a word, ask: which audit? — agreement, preposition, future or evidence.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هِيَ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مُهَنْدِسَةٌ</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وَ</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تَعْمَلُ</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يَحْتَاجُ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سَوْفَ أَدْرُسُ</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Retrieve the core D3 vocabulary (jobs, plans, connectors).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Audit a text for agreement, prepositions, future forms and evidence.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why each correction is needed.</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Set one precise, evidence-based target before the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agreement and future errors.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describe a job and a plan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why each correction is needed.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audit prepositions and evidence too.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complete D3 response and self-audit 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set a precise, evidence-based target.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60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Complete D3 review · 24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Plans and applications · 24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Cohesion and evaluation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تَحْلِيلٌ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‎تحلیل‎ </a:t>
            </a:r>
            <a:pPr indent="0" marL="0">
              <a:buNone/>
            </a:pPr>
            <a:r>
              <a:rPr lang="en-US" sz="950" b="1" dirty="0">
                <a:solidFill>
                  <a:srgbClr val="2E8B57"/>
                </a:solidFill>
                <a:latin typeface="Calibri" pitchFamily="34" charset="0"/>
                <a:ea typeface="Calibri" pitchFamily="34" charset="-122"/>
                <a:cs typeface="Calibri" pitchFamily="34" charset="-120"/>
              </a:rPr>
              <a:t> tahlīl · analysis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خَطَأٌ</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‎خطا‎ </a:t>
            </a:r>
            <a:pPr indent="0" marL="0">
              <a:buNone/>
            </a:pPr>
            <a:r>
              <a:rPr lang="en-US" sz="950" b="1" dirty="0">
                <a:solidFill>
                  <a:srgbClr val="2E8B57"/>
                </a:solidFill>
                <a:latin typeface="Calibri" pitchFamily="34" charset="0"/>
                <a:ea typeface="Calibri" pitchFamily="34" charset="-122"/>
                <a:cs typeface="Calibri" pitchFamily="34" charset="-120"/>
              </a:rPr>
              <a:t> khatā · mistake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‎صحیح‎ </a:t>
            </a:r>
            <a:pPr indent="0" marL="0">
              <a:buNone/>
            </a:pPr>
            <a:r>
              <a:rPr lang="en-US" sz="950" b="1" dirty="0">
                <a:solidFill>
                  <a:srgbClr val="2E8B57"/>
                </a:solidFill>
                <a:latin typeface="Calibri" pitchFamily="34" charset="0"/>
                <a:ea typeface="Calibri" pitchFamily="34" charset="-122"/>
                <a:cs typeface="Calibri" pitchFamily="34" charset="-120"/>
              </a:rPr>
              <a:t> sahīh · correct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تَصْحِيحٌ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‎تصحیح‎ </a:t>
            </a:r>
            <a:pPr indent="0" marL="0">
              <a:buNone/>
            </a:pPr>
            <a:r>
              <a:rPr lang="en-US" sz="950" b="1" dirty="0">
                <a:solidFill>
                  <a:srgbClr val="2E8B57"/>
                </a:solidFill>
                <a:latin typeface="Calibri" pitchFamily="34" charset="0"/>
                <a:ea typeface="Calibri" pitchFamily="34" charset="-122"/>
                <a:cs typeface="Calibri" pitchFamily="34" charset="-120"/>
              </a:rPr>
              <a:t> tashīh · correction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دَلِيلٌ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‎دلیل‎ </a:t>
            </a:r>
            <a:pPr indent="0" marL="0">
              <a:buNone/>
            </a:pPr>
            <a:r>
              <a:rPr lang="en-US" sz="950" b="1" dirty="0">
                <a:solidFill>
                  <a:srgbClr val="2E8B57"/>
                </a:solidFill>
                <a:latin typeface="Calibri" pitchFamily="34" charset="0"/>
                <a:ea typeface="Calibri" pitchFamily="34" charset="-122"/>
                <a:cs typeface="Calibri" pitchFamily="34" charset="-120"/>
              </a:rPr>
              <a:t> dalīl · evidence, proof</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D3 review (1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طَبِيبٌ / طَبِيبَةٌ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doctor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ṭa-bī-bun / ṭa-bī-ba-tun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أَطِبَّاءُ</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طَبِيبٌ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مُهَنْدِسٌ / مُهَنْدِسَةٌ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engineer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mu-han-di-sun / mu-han-di-sa-tun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مُهَنْدِسٌ</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مُدَرِّسٌ / مُدَرِّسَةٌ</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teacher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mu-dar-ri-sun / mu-dar-ri-sa-tun</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مُدَرِّسُونَ</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مُدَرِّسَةٌ</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مُدَرِّسٌ</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2" name="Shape 69"/>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4" name="Shape 7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مُمَرِّضٌ / مُمَرِّضَةٌ</a:t>
            </a:r>
            <a:endParaRPr lang="ar-SA" sz="3000" dirty="0"/>
          </a:p>
        </p:txBody>
      </p:sp>
      <p:sp>
        <p:nvSpPr>
          <p:cNvPr id="77" name="Text 7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mu-mar-ri-ḍun / mu-mar-ri-ḍa-tun</a:t>
            </a:r>
            <a:endParaRPr lang="en-US" sz="1350" dirty="0"/>
          </a:p>
        </p:txBody>
      </p:sp>
      <p:sp>
        <p:nvSpPr>
          <p:cNvPr id="78" name="Shape 75"/>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مُمَرِّضُونَ</a:t>
            </a:r>
            <a:endParaRPr lang="ar-SA" sz="1500" dirty="0"/>
          </a:p>
        </p:txBody>
      </p:sp>
      <p:sp>
        <p:nvSpPr>
          <p:cNvPr id="81" name="Shape 78"/>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3" name="Text 80"/>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مُمَرِّضَةٌ</a:t>
            </a:r>
            <a:endParaRPr lang="ar-SA" sz="1500" dirty="0"/>
          </a:p>
        </p:txBody>
      </p:sp>
      <p:sp>
        <p:nvSpPr>
          <p:cNvPr id="84" name="Shape 81"/>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6" name="Text 83"/>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مُمَرِّضٌ</a:t>
            </a:r>
            <a:endParaRPr lang="ar-SA" sz="1500" dirty="0"/>
          </a:p>
        </p:txBody>
      </p:sp>
      <p:sp>
        <p:nvSpPr>
          <p:cNvPr id="87" name="Shape 8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8" name="Shape 85"/>
          <p:cNvSpPr/>
          <p:nvPr/>
        </p:nvSpPr>
        <p:spPr>
          <a:xfrm>
            <a:off x="4389120" y="4261104"/>
            <a:ext cx="310896" cy="310896"/>
          </a:xfrm>
          <a:prstGeom prst="ellipse">
            <a:avLst/>
          </a:prstGeom>
          <a:solidFill>
            <a:srgbClr val="F4F1EA"/>
          </a:solidFill>
          <a:ln w="12700">
            <a:solidFill>
              <a:srgbClr val="F4F1EA"/>
            </a:solidFill>
            <a:prstDash val="solid"/>
          </a:ln>
        </p:spPr>
      </p:sp>
      <p:sp>
        <p:nvSpPr>
          <p:cNvPr id="89" name="Text 8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90" name="Shape 87"/>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91" name="Text 88"/>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92" name="Shape 8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4" name="Text 9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مُحَامٍ / مُحَامِيَةٌ</a:t>
            </a:r>
            <a:endParaRPr lang="ar-SA" sz="3000" dirty="0"/>
          </a:p>
        </p:txBody>
      </p:sp>
      <p:sp>
        <p:nvSpPr>
          <p:cNvPr id="95" name="Text 9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lawyer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mu-ḥā-min / mu-ḥā-mi-ya-tun</a:t>
            </a:r>
            <a:endParaRPr lang="en-US" sz="1350" dirty="0"/>
          </a:p>
        </p:txBody>
      </p:sp>
      <p:sp>
        <p:nvSpPr>
          <p:cNvPr id="96" name="Shape 93"/>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8" name="Text 95"/>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مُحَامُونَ</a:t>
            </a:r>
            <a:endParaRPr lang="ar-SA" sz="1500" dirty="0"/>
          </a:p>
        </p:txBody>
      </p:sp>
      <p:sp>
        <p:nvSpPr>
          <p:cNvPr id="99" name="Shape 96"/>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01" name="Text 98"/>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مُحَامِيَةٌ</a:t>
            </a:r>
            <a:endParaRPr lang="ar-SA" sz="1500" dirty="0"/>
          </a:p>
        </p:txBody>
      </p:sp>
      <p:sp>
        <p:nvSpPr>
          <p:cNvPr id="102" name="Shape 99"/>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4" name="Text 101"/>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مُحَامٍ</a:t>
            </a:r>
            <a:endParaRPr lang="ar-SA" sz="1500" dirty="0"/>
          </a:p>
        </p:txBody>
      </p:sp>
      <p:sp>
        <p:nvSpPr>
          <p:cNvPr id="105" name="Shape 10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566928" y="4261104"/>
            <a:ext cx="310896" cy="310896"/>
          </a:xfrm>
          <a:prstGeom prst="ellipse">
            <a:avLst/>
          </a:prstGeom>
          <a:solidFill>
            <a:srgbClr val="F4F1EA"/>
          </a:solidFill>
          <a:ln w="12700">
            <a:solidFill>
              <a:srgbClr val="F4F1EA"/>
            </a:solidFill>
            <a:prstDash val="solid"/>
          </a:ln>
        </p:spPr>
      </p:sp>
      <p:sp>
        <p:nvSpPr>
          <p:cNvPr id="107" name="Text 10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08" name="Shape 10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9" name="Text 10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10" name="Shape 10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111" name="Text 10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112" name="Text 10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صَحَفِيٌّ / صَحَفِيَّةٌ</a:t>
            </a:r>
            <a:endParaRPr lang="ar-SA" sz="3000" dirty="0"/>
          </a:p>
        </p:txBody>
      </p:sp>
      <p:sp>
        <p:nvSpPr>
          <p:cNvPr id="113" name="Text 11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journalist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ṣa-ḥa-fiy-yun / ṣa-ḥa-fiy-ya-tun</a:t>
            </a:r>
            <a:endParaRPr lang="en-US" sz="1350" dirty="0"/>
          </a:p>
        </p:txBody>
      </p:sp>
      <p:sp>
        <p:nvSpPr>
          <p:cNvPr id="114" name="Shape 11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16" name="Text 11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صَحَفِيُّونَ</a:t>
            </a:r>
            <a:endParaRPr lang="ar-SA" sz="1500" dirty="0"/>
          </a:p>
        </p:txBody>
      </p:sp>
      <p:sp>
        <p:nvSpPr>
          <p:cNvPr id="117" name="Shape 11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8" name="Text 11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9" name="Text 11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صَحَفِيَّةٌ</a:t>
            </a:r>
            <a:endParaRPr lang="ar-SA" sz="1500" dirty="0"/>
          </a:p>
        </p:txBody>
      </p:sp>
      <p:sp>
        <p:nvSpPr>
          <p:cNvPr id="120" name="Shape 11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21" name="Text 11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22" name="Text 11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صَحَفِيٌّ</a:t>
            </a:r>
            <a:endParaRPr lang="ar-SA" sz="1500" dirty="0"/>
          </a:p>
        </p:txBody>
      </p:sp>
      <p:sp>
        <p:nvSpPr>
          <p:cNvPr id="123" name="Text 12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D3 review (2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مُبَرْمِجٌ / مُبَرْمِجَةٌ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programmer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mu-bar-mi-jun / mu-bar-mi-ja-tun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مُبَرْمِجٌ</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مُحَاسِبٌ / مُحَاسِبَةٌ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accountant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mu-ḥā-si-bun / mu-ḥā-si-ba-tun</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مُحَاسِبُونَ</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مُحَاسِبَةٌ</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مُحَاسِبٌ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مُصَمِّمٌ / مُصَمِّمَةٌ</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designer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mu-ṣam-mi-mun / mu-ṣam-mi-ma-tun</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مُصَمِّمُونَ</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مُصَمِّمٌ</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70" name="Shape 67"/>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طَيَّارٌ / طَيَّارَةٌ</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pilot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ṭay-yā-run / ṭay-yā-ra-tun</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طَيَّارُونَ</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9" name="Text 7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طَيَّارَةٌ</a:t>
            </a:r>
            <a:endParaRPr lang="ar-SA" sz="150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2" name="Text 7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طَيَّارٌ</a:t>
            </a:r>
            <a:endParaRPr lang="ar-SA" sz="150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86" name="Shape 83"/>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88" name="Text 8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شُرْطِيٌّ / شُرْطِيَّةٌ</a:t>
            </a:r>
            <a:endParaRPr lang="ar-SA" sz="3000" dirty="0"/>
          </a:p>
        </p:txBody>
      </p:sp>
      <p:sp>
        <p:nvSpPr>
          <p:cNvPr id="89" name="Text 8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police officer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shur-ṭiy-yun / shur-ṭiy-ya-tun</a:t>
            </a:r>
            <a:endParaRPr lang="en-US" sz="1350" dirty="0"/>
          </a:p>
        </p:txBody>
      </p:sp>
      <p:sp>
        <p:nvSpPr>
          <p:cNvPr id="90" name="Shape 87"/>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شُرْطِيُّونَ</a:t>
            </a:r>
            <a:endParaRPr lang="ar-SA" sz="1500" dirty="0"/>
          </a:p>
        </p:txBody>
      </p:sp>
      <p:sp>
        <p:nvSpPr>
          <p:cNvPr id="93" name="Shape 90"/>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4" name="Text 91"/>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5" name="Text 92"/>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شُرْطِيَّةٌ</a:t>
            </a:r>
            <a:endParaRPr lang="ar-SA" sz="1500" dirty="0"/>
          </a:p>
        </p:txBody>
      </p:sp>
      <p:sp>
        <p:nvSpPr>
          <p:cNvPr id="96" name="Shape 93"/>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7" name="Text 94"/>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98" name="Text 95"/>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شُرْطِيٌّ</a:t>
            </a:r>
            <a:endParaRPr lang="ar-SA" sz="1500" dirty="0"/>
          </a:p>
        </p:txBody>
      </p:sp>
      <p:sp>
        <p:nvSpPr>
          <p:cNvPr id="99" name="Shape 9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0" name="Shape 97"/>
          <p:cNvSpPr/>
          <p:nvPr/>
        </p:nvSpPr>
        <p:spPr>
          <a:xfrm>
            <a:off x="566928" y="4261104"/>
            <a:ext cx="310896" cy="310896"/>
          </a:xfrm>
          <a:prstGeom prst="ellipse">
            <a:avLst/>
          </a:prstGeom>
          <a:solidFill>
            <a:srgbClr val="F4F1EA"/>
          </a:solidFill>
          <a:ln w="12700">
            <a:solidFill>
              <a:srgbClr val="F4F1EA"/>
            </a:solidFill>
            <a:prstDash val="solid"/>
          </a:ln>
        </p:spPr>
      </p:sp>
      <p:sp>
        <p:nvSpPr>
          <p:cNvPr id="101" name="Text 9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02" name="Shape 99"/>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3" name="Text 100"/>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104" name="Text 101"/>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طَبَّاخٌ / طَبَّاخَةٌ</a:t>
            </a:r>
            <a:endParaRPr lang="ar-SA" sz="3000" dirty="0"/>
          </a:p>
        </p:txBody>
      </p:sp>
      <p:sp>
        <p:nvSpPr>
          <p:cNvPr id="105" name="Text 102"/>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chef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ṭab-bā-khun / ṭab-bā-kha-tun</a:t>
            </a:r>
            <a:endParaRPr lang="en-US" sz="1350" dirty="0"/>
          </a:p>
        </p:txBody>
      </p:sp>
      <p:sp>
        <p:nvSpPr>
          <p:cNvPr id="106" name="Shape 103"/>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7" name="Text 104"/>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8" name="Text 105"/>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طَبَّاخُونَ</a:t>
            </a:r>
            <a:endParaRPr lang="ar-SA" sz="1500" dirty="0"/>
          </a:p>
        </p:txBody>
      </p:sp>
      <p:sp>
        <p:nvSpPr>
          <p:cNvPr id="109" name="Shape 106"/>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0" name="Text 107"/>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111" name="Text 108"/>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طَبَّاخَةٌ</a:t>
            </a:r>
            <a:endParaRPr lang="ar-SA" sz="1500" dirty="0"/>
          </a:p>
        </p:txBody>
      </p:sp>
      <p:sp>
        <p:nvSpPr>
          <p:cNvPr id="112" name="Shape 109"/>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3" name="Text 110"/>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14" name="Text 111"/>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طَبَّاخٌ</a:t>
            </a:r>
            <a:endParaRPr lang="ar-SA" sz="1500" dirty="0"/>
          </a:p>
        </p:txBody>
      </p:sp>
      <p:sp>
        <p:nvSpPr>
          <p:cNvPr id="115" name="Text 11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D3 review (3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مَهَارَةُ التَّوَاصُلِ</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communication skill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ma-hā-ra-tu at-ta-wā-ṣu-li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حَلُّ المُشْكِلَاتِ</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problem solving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ḥal-lu al-mush-ki-lā-ti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العَمَلُ الجَمَاعِيُّ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teamwork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al-ʿa-ma-lu al-ja-mā-ʿiy-yu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إِدَارَةُ الوَقْتِ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time management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i-dā-ra-tu al-waq-ti</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الإِبْدَاعُ</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creativity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al-ib-dā-ʿu</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الدِّقَّةُ</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accuracy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ad-diq-qa-tu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D3 review (4 of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المَرُونَةُ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adaptability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al-ma-rū-na-tu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القِيَادَةُ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leadership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al-qi-yā-da-tu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الخِبْرَةُ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al-khib-ra-tu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المُؤَهِّلَاتُ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qualifications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al-mu-ʾah-hi-lā-tu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إِجَادَةُ اللُّغَاتِ</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 proficiency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i-jā-da-tu all-lu-ghā-ti</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مَهَارَاتُ الحَاسُوبِ</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skills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ma-hā-rā-tu al-ḥā-sū-bi</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Cohesion and evaluation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لِذٰلِكَ</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therefore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li-dhā-li-ka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وَلٰكِنَّ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wa-lā-kin-na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بَيْنَمَا</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bay-na-mā</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29</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الرَّغْمِ مِنْ أَنَّ</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although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ar-ragh-mi min an-na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30</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إِضَافَةً إِلَى ذٰلِكَ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addition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i-ḍā-fa-tan i-lā dhā-li-ka</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Cohesion and evaluation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one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جِهَةٍ أُخْرَى</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on the other hand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ji-ha-tin ukh-rā</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رَأْيِي</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my opinion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raʾ-yī</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عَلَى سَبِيلِ المِثَالِ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 example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ʿa-lā sa-bī-li al-mi-thā-li</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35</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نَتِيجَةً لِذٰلِكَ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as a 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na-tī-ja-tan li-dhā-li-ka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36</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بِهَدَفِ</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the aim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bi-ha-da-fi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THE FOUR D3 AUDITS (WEBSITE RULES 1–4)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audits, four checks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أَرْبَعُ مُرَاجَعَاتٍ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 …</a:t>
            </a:r>
            <a:endParaRPr lang="en-US" sz="1100" dirty="0"/>
          </a:p>
        </p:txBody>
      </p:sp>
      <p:sp>
        <p:nvSpPr>
          <p:cNvPr id="17" name="Text 14"/>
          <p:cNvSpPr txBox="1"/>
          <p:nvPr/>
        </p:nvSpPr>
        <p:spPr>
          <a:xfrm>
            <a:off x="592531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8" name="Text 15"/>
          <p:cNvSpPr txBox="1"/>
          <p:nvPr/>
        </p:nvSpPr>
        <p:spPr>
          <a:xfrm>
            <a:off x="2816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9" name="Text 16"/>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Audit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528048" y="2267712"/>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person ↔ verb ↔ adjective</a:t>
            </a:r>
            <a:endParaRPr lang="en-US" sz="1100" dirty="0"/>
          </a:p>
        </p:txBody>
      </p:sp>
      <p:sp>
        <p:nvSpPr>
          <p:cNvPr id="22" name="Text 19"/>
          <p:cNvSpPr txBox="1"/>
          <p:nvPr/>
        </p:nvSpPr>
        <p:spPr>
          <a:xfrm>
            <a:off x="5943600" y="2267712"/>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أُخْتِي </a:t>
            </a:r>
            <a:pPr rtl="1" algn="ctr" indent="0" marL="0">
              <a:buNone/>
            </a:pPr>
            <a:r>
              <a:rPr lang="ar-SA" altLang="en-US" sz="2000" b="1" dirty="0">
                <a:solidFill>
                  <a:srgbClr val="D6336C"/>
                </a:solidFill>
                <a:latin typeface="Amiri" pitchFamily="34" charset="0"/>
                <a:ea typeface="Amiri" pitchFamily="34" charset="-122"/>
                <a:cs typeface="Amiri" pitchFamily="34" charset="-120"/>
              </a:rPr>
              <a:t>مُهَنْدِسَةٌ</a:t>
            </a:r>
            <a:pPr rtl="1" algn="ctr" indent="0" marL="0">
              <a:buNone/>
            </a:pPr>
            <a:r>
              <a:rPr lang="ar-SA" altLang="en-US" sz="2000" b="1" dirty="0">
                <a:solidFill>
                  <a:srgbClr val="1B3B6F"/>
                </a:solidFill>
                <a:latin typeface="Amiri" pitchFamily="34" charset="0"/>
                <a:ea typeface="Amiri" pitchFamily="34" charset="-122"/>
                <a:cs typeface="Amiri" pitchFamily="34" charset="-120"/>
              </a:rPr>
              <a:t> وَهِيَ </a:t>
            </a:r>
            <a:pPr rtl="1" algn="ctr" indent="0" marL="0">
              <a:buNone/>
            </a:pPr>
            <a:r>
              <a:rPr lang="ar-SA" altLang="en-US" sz="2000" b="1" dirty="0">
                <a:solidFill>
                  <a:srgbClr val="D6336C"/>
                </a:solidFill>
                <a:latin typeface="Amiri" pitchFamily="34" charset="0"/>
                <a:ea typeface="Amiri" pitchFamily="34" charset="-122"/>
                <a:cs typeface="Amiri" pitchFamily="34" charset="-120"/>
              </a:rPr>
              <a:t>تَعْمَلُ</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834640" y="2267712"/>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أُخْتِي مُهَنْدِسٌ وَهِيَ يَعْمَلُ.</a:t>
            </a:r>
            <a:endParaRPr lang="ar-SA" sz="2000" dirty="0"/>
          </a:p>
        </p:txBody>
      </p:sp>
      <p:sp>
        <p:nvSpPr>
          <p:cNvPr id="24" name="Text 21"/>
          <p:cNvSpPr txBox="1"/>
          <p:nvPr/>
        </p:nvSpPr>
        <p:spPr>
          <a:xfrm>
            <a:off x="566928" y="2267712"/>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Agreement (L01, L03)</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528048" y="3054096"/>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whole phrase</a:t>
            </a:r>
            <a:endParaRPr lang="en-US" sz="1100" dirty="0"/>
          </a:p>
        </p:txBody>
      </p:sp>
      <p:sp>
        <p:nvSpPr>
          <p:cNvPr id="29" name="Text 26"/>
          <p:cNvSpPr txBox="1"/>
          <p:nvPr/>
        </p:nvSpPr>
        <p:spPr>
          <a:xfrm>
            <a:off x="5943600" y="3054096"/>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يَحْتَاجُ </a:t>
            </a:r>
            <a:pPr rtl="1" algn="ctr" indent="0" marL="0">
              <a:buNone/>
            </a:pPr>
            <a:r>
              <a:rPr lang="ar-SA" altLang="en-US" sz="20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خِبْرَةٍ. · يَتَقَدَّمُ </a:t>
            </a:r>
            <a:pPr rtl="1" algn="ctr" indent="0" marL="0">
              <a:buNone/>
            </a:pPr>
            <a:r>
              <a:rPr lang="ar-SA" altLang="en-US" sz="2000" b="1" dirty="0">
                <a:solidFill>
                  <a:srgbClr val="0E7C86"/>
                </a:solidFill>
                <a:latin typeface="Amiri" pitchFamily="34" charset="0"/>
                <a:ea typeface="Amiri" pitchFamily="34" charset="-122"/>
                <a:cs typeface="Amiri" pitchFamily="34" charset="-120"/>
              </a:rPr>
              <a:t>لِلوَظِيفَةِ</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30" name="Text 27"/>
          <p:cNvSpPr txBox="1"/>
          <p:nvPr/>
        </p:nvSpPr>
        <p:spPr>
          <a:xfrm>
            <a:off x="2834640" y="3054096"/>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يَحْتَاجُ خِبْرَةً. · يَتَقَدَّمُ الوَظِيفَةَ.</a:t>
            </a:r>
            <a:endParaRPr lang="ar-SA" sz="2000" dirty="0"/>
          </a:p>
        </p:txBody>
      </p:sp>
      <p:sp>
        <p:nvSpPr>
          <p:cNvPr id="31" name="Text 28"/>
          <p:cNvSpPr txBox="1"/>
          <p:nvPr/>
        </p:nvSpPr>
        <p:spPr>
          <a:xfrm>
            <a:off x="566928" y="3054096"/>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 preposition (L03, L06)</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9528048" y="3840480"/>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sawfa + PRESENT</a:t>
            </a:r>
            <a:endParaRPr lang="en-US" sz="1100" dirty="0"/>
          </a:p>
        </p:txBody>
      </p:sp>
      <p:sp>
        <p:nvSpPr>
          <p:cNvPr id="34" name="Text 31"/>
          <p:cNvSpPr txBox="1"/>
          <p:nvPr/>
        </p:nvSpPr>
        <p:spPr>
          <a:xfrm>
            <a:off x="5943600" y="3840480"/>
            <a:ext cx="3383280" cy="731520"/>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سَوْفَ تَدْرُسُ</a:t>
            </a:r>
            <a:pPr rtl="1" algn="ctr" indent="0" marL="0">
              <a:buNone/>
            </a:pPr>
            <a:r>
              <a:rPr lang="ar-SA" altLang="en-US" sz="2000" b="1" dirty="0">
                <a:solidFill>
                  <a:srgbClr val="1B3B6F"/>
                </a:solidFill>
                <a:latin typeface="Amiri" pitchFamily="34" charset="0"/>
                <a:ea typeface="Amiri" pitchFamily="34" charset="-122"/>
                <a:cs typeface="Amiri" pitchFamily="34" charset="-120"/>
              </a:rPr>
              <a:t> فِي الجَامِعَةِ.</a:t>
            </a:r>
            <a:endParaRPr lang="ar-SA" sz="2000" dirty="0"/>
          </a:p>
        </p:txBody>
      </p:sp>
      <p:sp>
        <p:nvSpPr>
          <p:cNvPr id="35" name="Text 32"/>
          <p:cNvSpPr txBox="1"/>
          <p:nvPr/>
        </p:nvSpPr>
        <p:spPr>
          <a:xfrm>
            <a:off x="2834640" y="3840480"/>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سَوْفَ دَرَسَتْ فِي الجَامِعَةِ.</a:t>
            </a:r>
            <a:endParaRPr lang="ar-SA" sz="2000" dirty="0"/>
          </a:p>
        </p:txBody>
      </p:sp>
      <p:sp>
        <p:nvSpPr>
          <p:cNvPr id="36" name="Text 33"/>
          <p:cNvSpPr txBox="1"/>
          <p:nvPr/>
        </p:nvSpPr>
        <p:spPr>
          <a:xfrm>
            <a:off x="566928" y="3840480"/>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Future (L04)</a:t>
            </a:r>
            <a:endParaRPr lang="en-US" sz="1100" dirty="0"/>
          </a:p>
        </p:txBody>
      </p:sp>
      <p:sp>
        <p:nvSpPr>
          <p:cNvPr id="37" name="Shape 34"/>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9528048" y="4626864"/>
            <a:ext cx="21305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claim + proof</a:t>
            </a:r>
            <a:endParaRPr lang="en-US" sz="1100" dirty="0"/>
          </a:p>
        </p:txBody>
      </p:sp>
      <p:sp>
        <p:nvSpPr>
          <p:cNvPr id="41" name="Text 38"/>
          <p:cNvSpPr txBox="1"/>
          <p:nvPr/>
        </p:nvSpPr>
        <p:spPr>
          <a:xfrm>
            <a:off x="5943600" y="4626864"/>
            <a:ext cx="338328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أَنَا مُنَظَّمٌ، </a:t>
            </a:r>
            <a:pPr rtl="1" algn="ct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وَالدَّلِيلُ</a:t>
            </a:r>
            <a:pPr rtl="1" algn="ct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أَنَّنِي أُسَلِّمُ عَمَلِي فِي المَوْعِدِ.</a:t>
            </a:r>
            <a:endParaRPr lang="ar-SA" sz="1550" dirty="0"/>
          </a:p>
        </p:txBody>
      </p:sp>
      <p:sp>
        <p:nvSpPr>
          <p:cNvPr id="42" name="Text 39"/>
          <p:cNvSpPr txBox="1"/>
          <p:nvPr/>
        </p:nvSpPr>
        <p:spPr>
          <a:xfrm>
            <a:off x="2834640" y="4626864"/>
            <a:ext cx="292608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أَنَا مُنَظَّمٌ.</a:t>
            </a:r>
            <a:endParaRPr lang="ar-SA" sz="2000" dirty="0"/>
          </a:p>
        </p:txBody>
      </p:sp>
      <p:sp>
        <p:nvSpPr>
          <p:cNvPr id="43" name="Text 40"/>
          <p:cNvSpPr txBox="1"/>
          <p:nvPr/>
        </p:nvSpPr>
        <p:spPr>
          <a:xfrm>
            <a:off x="566928" y="4626864"/>
            <a:ext cx="21031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Evidence (L03, L06)</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Traffic-light each audit for yourself: green · amber · red. Your reddest audit is your priority before D3-L12.</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FOCUS · PART 2 · DIAGNOSE, EXPLAIN, REPAIR (THE WEBSITE ERROR-ANALYSIS TEXT)</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 one sentence the right way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شَخِّصْ · اِشْرَحْ ·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DIAGNOSE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 الخَطَأُ؟</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لِكَيْ تُصْبِحُ مُدِيرٌ</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Two errors: the verb after li-kay, and the job after tuṣbiḥa.</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Name the audit.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02870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EXPLAIN</a:t>
            </a:r>
            <a:endParaRPr lang="en-US" sz="850" dirty="0"/>
          </a:p>
        </p:txBody>
      </p:sp>
      <p:sp>
        <p:nvSpPr>
          <p:cNvPr id="26" name="Text 23"/>
          <p:cNvSpPr txBox="1"/>
          <p:nvPr/>
        </p:nvSpPr>
        <p:spPr>
          <a:xfrm>
            <a:off x="5487924"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بَعْدَ لِكَيْ يَأْتِي فِعْلٌ مَنْصُوبٌ.</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After li-kay: -a. After tuṣbiḥa: the job in -atan (she).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One line per rule.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F7A4D"/>
          </a:solidFill>
          <a:ln w="12700">
            <a:solidFill>
              <a:srgbClr val="1F7A4D"/>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REPAIR</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الصِّيَاغَةُ الصَّحِيحَةُ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لِكَيْ تُصْبِحَ مُدِيرَةً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order to become a manager (f.)</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Now the rule is reusable.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error-analysis text: the future needs a present verb.</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سَوْفَ تَدْرُسُ فِي الجَامِعَةِ.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سَوْفَ دَرَسَتْ فِي الجَامِعَةِ.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Integrated accuracy and error diagnosis</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34" charset="0"/>
                <a:ea typeface="Amiri" pitchFamily="34" charset="-122"/>
                <a:cs typeface="Amiri" pitchFamily="34" charset="-120"/>
              </a:rPr>
              <a:t>تَحْلِيلُ الأَخْطَاءِ فِي اللُّغَةِ المِهَنِيَّةِ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Agreement audit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الشَّخْصُ ↔ الفِعْلُ ↔ الصِّفَةُ</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هِيَ مُهَنْدِسَةٌ وَتَعْمَلُ فِي شَرِكَةٍ كَبِيرَةٍ.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Verb-preposition audit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يَحْتَاجُ إِلَى / يَتَقَدَّمُ لِـ / يَعْمَلُ فِي</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يَحْتَاجُ إِلَى خِبْرَةٍ.   ·   يَتَقَدَّمُ لِلوَظِيفَةِ.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Future audit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سَـ / سَوْفَ + مُضَارِع</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سَوْفَ أَدْرُسُ.   ·   سَأَتَدَرَّبُ.</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Evidence audit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ادِّعَاءٌ + دَلِيلٌ / سَبَبٌ</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أَنَا مُنَظَّمٌ، وَالدَّلِيلُ أَنَّنِي أُسَلِّمُ عَمَلِي فِي المَوْعِدِ.</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وَتَعْمَلُ فِي شَرِكَةٍ.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مُهَنْدِسَةٌ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يَتَقَدَّمُ ___ الوَظِيفَةِ.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future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دَرَسْتُ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أَدْرُسُ</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سَأَدْرُسُ</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has evidence?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وَالدَّلِيلُ أَنَّنِي أُسَلِّمُ عَمَلِي فِي المَوْعِدِ.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جِدًّا.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مُنَظَّمٌ وَمَسْؤُولٌ.</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أُخْتِي ___ وَتَعْمَلُ فِي شَرِكَةٍ.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مُهَنْدِسُونَ</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مُهَنْدِسَةٌ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Agreement: she.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يَتَقَدَّمُ ___ الوَظِيفَةِ.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yataqaddamu li-.</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future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دَرَسْتُ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 أَدْرُسُ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سَأَدْرُسُ</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 present only.</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has evidence?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مُنَظَّمٌ، وَالدَّلِيلُ أَنَّنِي أُسَلِّمُ عَمَلِي فِي المَوْعِدِ.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مُنَظَّمٌ جِدًّا.</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مُنَظَّمٌ وَمَسْؤُولٌ.</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Claim + proof.</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Watch me audit a student’s paragraph</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Agreement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أُخْتِي </a:t>
            </a:r>
            <a:pPr rtl="1" algn="ctr" indent="0" marL="0">
              <a:buNone/>
            </a:pPr>
            <a:r>
              <a:rPr lang="ar-SA" altLang="en-US" sz="2400" b="1" dirty="0">
                <a:solidFill>
                  <a:srgbClr val="D6336C"/>
                </a:solidFill>
                <a:latin typeface="Amiri" pitchFamily="34" charset="0"/>
                <a:ea typeface="Amiri" pitchFamily="34" charset="-122"/>
                <a:cs typeface="Amiri" pitchFamily="34" charset="-120"/>
              </a:rPr>
              <a:t>مُهَنْدِسَةٌ</a:t>
            </a:r>
            <a:pPr rtl="1" algn="ctr" indent="0" marL="0">
              <a:buNone/>
            </a:pPr>
            <a:r>
              <a:rPr lang="ar-SA" altLang="en-US" sz="2400" b="1" dirty="0">
                <a:solidFill>
                  <a:srgbClr val="1B3B6F"/>
                </a:solidFill>
                <a:latin typeface="Amiri" pitchFamily="34" charset="0"/>
                <a:ea typeface="Amiri" pitchFamily="34" charset="-122"/>
                <a:cs typeface="Amiri" pitchFamily="34" charset="-120"/>
              </a:rPr>
              <a:t> وَهِيَ </a:t>
            </a:r>
            <a:pPr rtl="1" algn="ctr" indent="0" marL="0">
              <a:buNone/>
            </a:pPr>
            <a:r>
              <a:rPr lang="ar-SA" altLang="en-US" sz="2400" b="1" dirty="0">
                <a:solidFill>
                  <a:srgbClr val="D6336C"/>
                </a:solidFill>
                <a:latin typeface="Amiri" pitchFamily="34" charset="0"/>
                <a:ea typeface="Amiri" pitchFamily="34" charset="-122"/>
                <a:cs typeface="Amiri" pitchFamily="34" charset="-120"/>
              </a:rPr>
              <a:t>تَعْمَلُ</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 -atun and ta-.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Future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D5FBF"/>
                </a:solidFill>
                <a:latin typeface="Amiri" pitchFamily="34" charset="0"/>
                <a:ea typeface="Amiri" pitchFamily="34" charset="-122"/>
                <a:cs typeface="Amiri" pitchFamily="34" charset="-120"/>
              </a:rPr>
              <a:t>سَوْفَ تَدْرُسُ</a:t>
            </a:r>
            <a:pPr rtl="1" algn="ctr" indent="0" marL="0">
              <a:buNone/>
            </a:pPr>
            <a:r>
              <a:rPr lang="ar-SA" altLang="en-US" sz="2550" b="1" dirty="0">
                <a:solidFill>
                  <a:srgbClr val="1B3B6F"/>
                </a:solidFill>
                <a:latin typeface="Amiri" pitchFamily="34" charset="0"/>
                <a:ea typeface="Amiri" pitchFamily="34" charset="-122"/>
                <a:cs typeface="Amiri" pitchFamily="34" charset="-120"/>
              </a:rPr>
              <a:t> فِي الجَامِعَةِ</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sawfa + present, she.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After li-kay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لِكَيْ </a:t>
            </a:r>
            <a:pPr rtl="1" algn="ctr" indent="0" marL="0">
              <a:buNone/>
            </a:pPr>
            <a:r>
              <a:rPr lang="ar-SA" altLang="en-US" sz="2800" b="1" dirty="0">
                <a:solidFill>
                  <a:srgbClr val="0E7C86"/>
                </a:solidFill>
                <a:latin typeface="Amiri" pitchFamily="34" charset="0"/>
                <a:ea typeface="Amiri" pitchFamily="34" charset="-122"/>
                <a:cs typeface="Amiri" pitchFamily="34" charset="-120"/>
              </a:rPr>
              <a:t>تُصْبِحَ</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Verb in -a.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Job after uṣbiḥa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تُصْبِحَ </a:t>
            </a:r>
            <a:pPr rtl="1" algn="ctr" indent="0" marL="0">
              <a:buNone/>
            </a:pPr>
            <a:r>
              <a:rPr lang="ar-SA" altLang="en-US" sz="2800" b="1" dirty="0">
                <a:solidFill>
                  <a:srgbClr val="0E7C86"/>
                </a:solidFill>
                <a:latin typeface="Amiri" pitchFamily="34" charset="0"/>
                <a:ea typeface="Amiri" pitchFamily="34" charset="-122"/>
                <a:cs typeface="Amiri" pitchFamily="34" charset="-120"/>
              </a:rPr>
              <a:t>مُدِيرَةً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 + -an = -atan.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AGREEMENT</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FUTURE</a:t>
            </a:r>
            <a:endParaRPr lang="en-US" sz="800" dirty="0"/>
          </a:p>
        </p:txBody>
      </p:sp>
      <p:sp>
        <p:nvSpPr>
          <p:cNvPr id="49" name="Shape 45"/>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CASE / MOOD</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أُخْتِي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مُهَنْدِسَةٌ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وَهِيَ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تَعْمَلُ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شَرِكَةٍ كَبِيرَةٍ.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سَوْفَ تَدْرُسُ</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الإِدَارَةَ فِي الجَامِعَةِ لِكَيْ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تُصْبِحَ مُدِيرَةً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لِأَنَّهَا تَحْتَاجُ إِلَى مُؤَهِّلَاتٍ أَعْلَى. هِيَ مُنَظَّمَةٌ، وَالدَّلِيلُ أَنَّهَا تُسَلِّمُ عَمَلَهَا دَائِمًا فِي المَوْعِدِ.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My sister is an engineer and she works in a big company. She will study management at university in order to become a manager, because she needs higher qualifications. She is organised: the proof is that she always hands in her work on time.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ea typeface="Calibri" pitchFamily="34" charset="-122"/>
                <a:cs typeface="Calibri" pitchFamily="34" charset="-120"/>
              </a:rPr>
              <a:t>I DO · MODEL SENTENCES (TEACHER-WRITTEN ON THE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هِيَ مُهَنْدِسَةٌ وَتَعْمَلُ فِي شَرِكَةٍ كَبِيرَةٍ.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She is an engineer and works in a big company.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Agreement audit.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يَحْتَاجُ إِلَى خِبْرَةٍ. · يَتَقَدَّمُ لِلوَظِيفَةِ.</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needs experience. · He applies for the job.</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Verb + preposition.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سَوْفَ أَدْرُسُ لِكَيْ أُصْبِحَ مُحَامِيًا.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study to become a lawyer.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Future + purpose.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أَنَا مُنَظَّمٌ، وَالدَّلِيلُ أَنَّنِي أُسَلِّمُ عَمَلِي فِي المَوْعِدِ.</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am organised; the proof is that I hand in my work on time.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Claim +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audit finds the error?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مُهَنْدِسٌ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أُمِّي يَعْمَلُ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 الصَّبْرَ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يَتَقَدَّمُ الوَظِيفَةَ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دَرَسْتُ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سَأَعْمَلُ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مُنَظَّمٌ.</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الطِّبَّ.</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Agreement</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Preposition</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Evidence</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Agreement</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هِيَ مُهَنْدِسٌ</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أُمِّي يَعْمَلُ</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Preposition</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يَحْتَاجُ الصَّبْرَ</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يَتَقَدَّمُ الوَظِيفَةَ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Future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دَرَسْتُ</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سَأَعْمَلُ</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Evidence</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أَنَا مُنَظَّمٌ.</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أُحِبُّ الطِّبَّ.</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لِكَيْ ___ مُحَامِيًا.</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أَصْبَحْتُ</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سَأُصْبِحُ</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أُصْبِحَ</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تَكُونَ المُمَرِّضَةُ ___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صَبُورَةً</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صَبُورًا</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الَّتِي</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الَّذِينَ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 of an application?</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الوَظِيفَةَ.</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يَسُرُّنِي أَنْ أَتَقَدَّمَ لِلوَظِيفَةِ.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سَأَدْرُسُ لِكَيْ ___ مُحَامِيًا.</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أَصْبَحْتُ</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سَأُصْبِحُ</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أُصْبِحَ</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li-kay: present verb in -a.</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يَجِبُ أَنْ تَكُونَ المُمَرِّضَةُ ___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صَبُورَةً</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صَبُورًا</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-atan.</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الشَّرِكَةُ ___ أَعْمَلُ فِيهَا كَبِيرَةٌ.</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الَّتِي</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الَّذِينَ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D3-L02.</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formal opening of an application?</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الوَظِيفَةَ.</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يَسُرُّنِي أَنْ أَتَقَدَّمَ لِلوَظِيفَةِ.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D3-L06.</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أُخْتِي مُهَنْدِسٌ وَهِيَ يَعْمَلُ فِي شَرِكَةٍ.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She: which job ending and verb prefix?</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سَوْفَ دَرَسَتْ فِي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sawfa + past or present?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لِكَيْ تُصْبِحُ مُدِيرٌ.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li-kay and tuṣbiḥa?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أُخْتِي مُهَنْدِسٌ وَهِيَ يَعْمَلُ فِي شَرِكَةٍ.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أُخْتِي مُهَنْدِسَةٌ وَهِيَ تَعْمَلُ فِي شَرِكَةٍ.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Agreement: she → -atun and ta-.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سَوْفَ دَرَسَتْ فِي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سَوْفَ تَدْرُسُ فِي 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Future: sawfa + present.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لِكَيْ تُصْبِحُ مُدِيرٌ.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لِكَيْ تُصْبِحَ مُدِيرَةً.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li-kay: -a; the job: -atan.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Assessment rehearsal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opportunity is advertised?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training placement for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full-time job</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requirements are named?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degree and experience</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languages and driving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skills and teamwork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exact start date?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August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April</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August</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weeks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weeks</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twelve weeks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benefits are provided?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 and a laptop</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transport and lunch</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salary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training</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certificate</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Assessment rehearsal: 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4 and 6. Two dates are heard!</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تُعْلِنُ شَرِكَةٌ تِقْنِيَّةٌ عَنْ فُرْصَةِ تَدْرِيبٍ لِلطُّلَّابِ.</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tech company announces a training placement for students.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يُشْتَرَطُ إِجَادَةُ الحَاسُوبِ وَالقُدْرَةُ عَلَى العَمَلِ ضِمْنَ فَرِيقٍ.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Good computer skills and the ability to work in a team are required.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سَتَبْدَأُ الفُرْصَةُ فِي الثَّانِي مِنْ أَغُسْطُسَ، لَا فِي الثَّانِي عَشَرَ مِنْهُ،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placement will start on the 2nd of August, not the 12th,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وَسَتَسْتَمِرُّ أَرْبَعَةَ أَسَابِيعَ.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it will last four weeks.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تُقَدِّمُ الشَّرِكَةُ تَدْرِيبًا وَشَهَادَةً، وَلٰكِنَّهَا لَا تُقَدِّمُ رَاتِبًا.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 provides training and a certificate, but it does not pay a salary.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kind of opportunity is advertised?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 training placement for students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full-time job</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فُرْصَةِ تَدْرِيبٍ لِلطُّلَّابِ</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requirements are named?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degree and experience</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languages and driving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computer skills and teamwork</a:t>
            </a:r>
            <a:endParaRPr lang="en-US" sz="11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إِجَادَةُ الحَاسُوبِ وَالقُدْرَةُ عَلَى العَمَلِ ضِمْنَ فَرِيقٍ</a:t>
            </a:r>
            <a:endParaRPr lang="ar-SA" sz="11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exact start date?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12 August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 April</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 August</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فِي الثَّانِي مِنْ أَغُسْطُسَ، لَا فِي الثَّانِي عَشَرَ</a:t>
            </a:r>
            <a:endParaRPr lang="ar-SA" sz="130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it last?</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weeks</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weeks</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twelve weeks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أَسَابِيعَ</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two benefits are provided?</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salary and a laptop</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training and a certificate</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transport and lunch</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تَدْرِيبًا وَشَهَادَةً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provided?</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salary</a:t>
            </a:r>
            <a:endParaRPr lang="en-US" sz="12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training</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certificate</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تُقَدِّمُ رَاتِبًا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Assessment rehearsal: 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Core: questions 1, 4 and 6. Two dates are heard!</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Full D3 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مِهْنَةُ أَحَدِ أَفْرَادِ عَائِلَتِكَ؟ وَأَيْنَ يَعْمَلُ؟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المِهْنَةُ الَّتِي تُرِيدُهَا؟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مَهَارَاتُكَ؟ وَمَا الدَّلِيلُ؟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C9780A"/>
          </a:solidFill>
          <a:ln w="12700">
            <a:solidFill>
              <a:srgbClr val="C9780A"/>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خُطَّتُكَ بَعْدَ المَدْرَسَةِ؟</a:t>
            </a:r>
            <a:endParaRPr lang="ar-SA" sz="1800" dirty="0"/>
          </a:p>
        </p:txBody>
      </p:sp>
      <p:sp>
        <p:nvSpPr>
          <p:cNvPr id="46" name="Shape 43"/>
          <p:cNvSpPr/>
          <p:nvPr/>
        </p:nvSpPr>
        <p:spPr>
          <a:xfrm>
            <a:off x="4754880" y="4974336"/>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846320" y="5129784"/>
            <a:ext cx="960120" cy="256032"/>
          </a:xfrm>
          <a:prstGeom prst="roundRect">
            <a:avLst>
              <a:gd name="adj" fmla="val 50000"/>
            </a:avLst>
          </a:prstGeom>
          <a:solidFill>
            <a:srgbClr val="B83227"/>
          </a:solidFill>
          <a:ln w="12700">
            <a:solidFill>
              <a:srgbClr val="B83227"/>
            </a:solidFill>
            <a:prstDash val="solid"/>
          </a:ln>
        </p:spPr>
      </p:sp>
      <p:sp>
        <p:nvSpPr>
          <p:cNvPr id="48" name="Text 45"/>
          <p:cNvSpPr txBox="1"/>
          <p:nvPr/>
        </p:nvSpPr>
        <p:spPr>
          <a:xfrm>
            <a:off x="4846320" y="5129784"/>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9" name="Text 46"/>
          <p:cNvSpPr txBox="1"/>
          <p:nvPr/>
        </p:nvSpPr>
        <p:spPr>
          <a:xfrm>
            <a:off x="5897880" y="4974336"/>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الصُّعُوبَةُ المُحْتَمَلَةُ؟ وَكَيْفَ سَتَتَغَلَّبُ عَلَيْهَا؟</a:t>
            </a:r>
            <a:endParaRPr lang="ar-SA" sz="1800" dirty="0"/>
          </a:p>
        </p:txBody>
      </p:sp>
      <p:sp>
        <p:nvSpPr>
          <p:cNvPr id="50" name="Shape 47"/>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1" name="Text 48"/>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2" name="Shape 49"/>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34" charset="0"/>
                <a:ea typeface="Amiri" pitchFamily="34" charset="-122"/>
                <a:cs typeface="Amiri" pitchFamily="34" charset="-120"/>
              </a:rPr>
              <a:t>___ مُحَاسِبٌ / مُمَرِّضَةٌ وَيَعْمَلُ / تَعْمَلُ فِي ___ .</a:t>
            </a:r>
            <a:endParaRPr lang="ar-SA" sz="1350" dirty="0"/>
          </a:p>
        </p:txBody>
      </p:sp>
      <p:sp>
        <p:nvSpPr>
          <p:cNvPr id="55" name="Shape 52"/>
          <p:cNvSpPr/>
          <p:nvPr/>
        </p:nvSpPr>
        <p:spPr>
          <a:xfrm>
            <a:off x="640080" y="3566160"/>
            <a:ext cx="1051560" cy="256032"/>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7" name="Text 54"/>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أَطْمَحُ إِلَى أَنْ أُصْبِحَ ___ لِأَنَّنِي ___ .</a:t>
            </a:r>
            <a:endParaRPr lang="ar-SA" sz="1600" dirty="0"/>
          </a:p>
        </p:txBody>
      </p:sp>
      <p:sp>
        <p:nvSpPr>
          <p:cNvPr id="58" name="Shape 55"/>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9" name="Text 56"/>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60" name="Text 57"/>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أَنَا ___ ، وَالدَّلِيلُ أَنَّنِي ___ .</a:t>
            </a:r>
            <a:endParaRPr lang="ar-SA" sz="1600" dirty="0"/>
          </a:p>
        </p:txBody>
      </p:sp>
      <p:sp>
        <p:nvSpPr>
          <p:cNvPr id="61" name="Shape 58"/>
          <p:cNvSpPr/>
          <p:nvPr/>
        </p:nvSpPr>
        <p:spPr>
          <a:xfrm>
            <a:off x="640080" y="4681728"/>
            <a:ext cx="1051560" cy="256032"/>
          </a:xfrm>
          <a:prstGeom prst="roundRect">
            <a:avLst>
              <a:gd name="adj" fmla="val 50000"/>
            </a:avLst>
          </a:prstGeom>
          <a:solidFill>
            <a:srgbClr val="C9780A"/>
          </a:solidFill>
          <a:ln w="12700">
            <a:solidFill>
              <a:srgbClr val="C9780A"/>
            </a:solidFill>
            <a:prstDash val="solid"/>
          </a:ln>
        </p:spPr>
      </p:sp>
      <p:sp>
        <p:nvSpPr>
          <p:cNvPr id="62" name="Text 59"/>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63" name="Text 60"/>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أَوَّلًا سَوْفَ ___ ، ثُمَّ سَـ ___ لِكَيْ ___ .</a:t>
            </a:r>
            <a:endParaRPr lang="ar-SA" sz="1600" dirty="0"/>
          </a:p>
        </p:txBody>
      </p:sp>
      <p:sp>
        <p:nvSpPr>
          <p:cNvPr id="64" name="Shape 61"/>
          <p:cNvSpPr/>
          <p:nvPr/>
        </p:nvSpPr>
        <p:spPr>
          <a:xfrm>
            <a:off x="640080" y="5239512"/>
            <a:ext cx="1051560" cy="256032"/>
          </a:xfrm>
          <a:prstGeom prst="roundRect">
            <a:avLst>
              <a:gd name="adj" fmla="val 50000"/>
            </a:avLst>
          </a:prstGeom>
          <a:solidFill>
            <a:srgbClr val="B83227"/>
          </a:solidFill>
          <a:ln w="12700">
            <a:solidFill>
              <a:srgbClr val="B83227"/>
            </a:solidFill>
            <a:prstDash val="solid"/>
          </a:ln>
        </p:spPr>
      </p:sp>
      <p:sp>
        <p:nvSpPr>
          <p:cNvPr id="65" name="Text 62"/>
          <p:cNvSpPr txBox="1"/>
          <p:nvPr/>
        </p:nvSpPr>
        <p:spPr>
          <a:xfrm>
            <a:off x="640080" y="5239512"/>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6" name="Text 63"/>
          <p:cNvSpPr txBox="1"/>
          <p:nvPr/>
        </p:nvSpPr>
        <p:spPr>
          <a:xfrm>
            <a:off x="1783080" y="5084064"/>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الرَّغْمِ مِنْ أَنَّ ___ ، فَإِنَّنِي ___ .</a:t>
            </a:r>
            <a:endParaRPr lang="ar-SA" sz="1600" dirty="0"/>
          </a:p>
        </p:txBody>
      </p:sp>
      <p:sp>
        <p:nvSpPr>
          <p:cNvPr id="67" name="Shape 64"/>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9" name="Shape 66"/>
          <p:cNvSpPr/>
          <p:nvPr/>
        </p:nvSpPr>
        <p:spPr>
          <a:xfrm>
            <a:off x="11274552" y="5559552"/>
            <a:ext cx="292608" cy="292608"/>
          </a:xfrm>
          <a:prstGeom prst="ellipse">
            <a:avLst/>
          </a:prstGeom>
          <a:solidFill>
            <a:srgbClr val="1E6B52"/>
          </a:solidFill>
          <a:ln w="12700">
            <a:solidFill>
              <a:srgbClr val="1E6B52"/>
            </a:solidFill>
            <a:prstDash val="solid"/>
          </a:ln>
        </p:spPr>
      </p:sp>
      <p:sp>
        <p:nvSpPr>
          <p:cNvPr id="70" name="Text 67"/>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71" name="Text 68"/>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المِهْنَةُ الَّتِي تُرِيدُهَا؟ وَلِمَاذَا؟</a:t>
            </a:r>
            <a:endParaRPr lang="ar-SA" sz="1550" dirty="0"/>
          </a:p>
        </p:txBody>
      </p:sp>
      <p:sp>
        <p:nvSpPr>
          <p:cNvPr id="72" name="Text 69"/>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Which job do you want? Why?</a:t>
            </a:r>
            <a:endParaRPr lang="en-US" sz="950" dirty="0"/>
          </a:p>
        </p:txBody>
      </p:sp>
      <p:sp>
        <p:nvSpPr>
          <p:cNvPr id="73" name="Shape 70"/>
          <p:cNvSpPr/>
          <p:nvPr/>
        </p:nvSpPr>
        <p:spPr>
          <a:xfrm>
            <a:off x="11274552" y="5925312"/>
            <a:ext cx="292608" cy="292608"/>
          </a:xfrm>
          <a:prstGeom prst="ellipse">
            <a:avLst/>
          </a:prstGeom>
          <a:solidFill>
            <a:srgbClr val="1E6B52"/>
          </a:solidFill>
          <a:ln w="12700">
            <a:solidFill>
              <a:srgbClr val="1E6B52"/>
            </a:solidFill>
            <a:prstDash val="solid"/>
          </a:ln>
        </p:spPr>
      </p:sp>
      <p:sp>
        <p:nvSpPr>
          <p:cNvPr id="74" name="Text 71"/>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5" name="Text 72"/>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أَطْمَحُ إِلَى أَنْ أُصْبِحَ مُحَامِيًا لِأَنَّنِي أُحِبُّ العَدَالَةَ.</a:t>
            </a:r>
            <a:endParaRPr lang="ar-SA" sz="1550" dirty="0"/>
          </a:p>
        </p:txBody>
      </p:sp>
      <p:sp>
        <p:nvSpPr>
          <p:cNvPr id="76" name="Text 73"/>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aspire to become a lawyer because I love justice.</a:t>
            </a:r>
            <a:endParaRPr lang="en-US" sz="9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Repair the website student text, then write one accurate sentence for each audit.</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complete D3 response (job, plan, skills + evidence), audited with the four checks.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comparison, contrast, precise evidence and independently controlled complex structures.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complete D3 response + self-audit + an evidence-based target.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بَيْنَمَا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whereas my … is a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أَوَّلًا ______ ، ثُمَّ ______ لِكَيْ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First … then … in order to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الرَّغْمِ مِنْ أَنَّ ______ ، فَإِنَّنِي مُسْتَعِدٌّ.</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Although …, I am ready.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هَدَفِي ______ لِأَنَّنِي أَخْطَأْتُ فِي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target is … because I made mistakes in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أُمِّي / أَبِي ______ وَتَعْمَلُ / وَيَعْمَلُ فِي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mother / father is a … and works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أَدْرُسُ ______ لِكَيْ أُصْبِحَ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will study … in order to become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المِهْنَةُ تَحْتَاجُ إِلَى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job needs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 وَالدَّلِيلُ أَنَّنِي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the proof is that I …</a:t>
            </a:r>
            <a:endParaRPr lang="en-US" sz="1050" dirty="0"/>
          </a:p>
        </p:txBody>
      </p:sp>
      <p:sp>
        <p:nvSpPr>
          <p:cNvPr id="37" name="Text 34"/>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أَوْلَوِيَّتِي هِيَ ______ .</a:t>
            </a:r>
            <a:endParaRPr lang="ar-SA" sz="1800" dirty="0"/>
          </a:p>
        </p:txBody>
      </p:sp>
      <p:sp>
        <p:nvSpPr>
          <p:cNvPr id="38" name="Text 35"/>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priority is …</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مُهَنْدِسَةٌ  ·  تَعْمَلُ فِي  ·  يَحْتَاجُ إِلَى  ·  يَتَقَدَّمُ لِـ  ·  سَوْفَ أَدْرُسُ  ·  سَأَتَدَرَّبُ  ·  لِكَيْ أُصْبِحَ  ·  وَالدَّلِيلُ أَنَّنِي  ·  أَوَّلًا  ·  ثُمَّ  ·  عَلَى الرَّغْمِ مِنْ أَنَّ  ·  أَوْلَوِيَّةٌ</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Produce a complete D3 response, then use an error-analysis checklist to improve agreement, prepositions, future forms and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Address every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at least two target structures from the grammar lesson.</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Add evidence, reason or comparison.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Check agreement, verb patterns and spelling.</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أَخْطَأْتُ فِي … مَرَّتَيْنِ</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made mistakes in … twice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غَيَّرْتُ … إِلَى … لِأَنَّ …</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changed … to … because …</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المِهْنَةُ تَحْتَاجُ إِلَى</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this job needs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أَكْتَسِبَ خِبْرَةً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gain experience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أَصْبَحَ نَصِّي أَدَقَّ</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text became more accurate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عَائِلَتِي مِهَنٌ مُخْتَلِفَةٌ: أُمِّي مُمَرِّضَةٌ وَتَعْمَلُ فِي مُسْتَشْفًى كَبِيرٍ، بَيْنَمَا أَبِي مُحَاسِبٌ فِي شَرِكَةٍ دَوْلِيَّةٍ. أَمَّا أَنَا فَأَطْمَحُ إِلَى أَنْ أُصْبِحَ مُحَامِيًا لِأَنَّنِي أُحِبُّ العَدَالَةَ. هٰذِهِ المِهْنَةُ تَحْتَاجُ إِلَى الدِّقَّةِ وَمَهَارَةِ التَّوَاصُلِ. أَنَا مُنَظَّمٌ، وَالدَّلِيلُ أَنَّنِي أُسَلِّمُ عَمَلِي دَائِمًا فِي المَوْعِدِ. أَوَّلًا سَوْفَ أَدْرُسُ القَانُونَ فِي الجَامِعَةِ، ثُمَّ سَأَتَدَرَّبُ فِي مَكْتَبِ مُحَامَاةٍ لِكَيْ أَكْتَسِبَ خِبْرَةً. عَلَى الرَّغْمِ مِنْ أَنَّ الطَّرِيقَ طَوِيلٌ، فَإِنَّنِي مُسْتَعِدٌّ. هَدَفِي قَبْلَ التَّقْيِيمِ هُوَ مُرَاجَعَةُ الأَفْعَالِ بَعْدَ لِكَيْ، لِأَنَّنِي أَخْطَأْتُ فِيهَا مَرَّتَيْنِ.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There are different jobs in my family: my mother is a nurse and works in a big hospital, whereas my father is an accountant in an international company. As for me, I aspire to become a lawyer because I love justice. This job needs precision and communication skills. I am organised; the proof is that I always hand in my work on time. First I will study law at university, then I will train in a law office to gain experience. Although the road is long, I am ready. My target before the assessment is to revise verbs after li-kay, because I made mistakes with them twice.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agreement (she → -atun / ta-)</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verb + preposition phrase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with sawfa / sa-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claim with evidence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Agreement: person, verb and job match.</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Future: sa- / sawfa + present.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Verbs keep their prepositions.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claim has evidence.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target names a rule and my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audit checks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 + verb?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future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agreement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evidence</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repair of: </a:t>
            </a:r>
            <a:pPr algn="l" indent="0" marL="0">
              <a:buNone/>
            </a:pPr>
            <a:r>
              <a:rPr lang="ar-SA" altLang="en-US" sz="1650" b="1" dirty="0">
                <a:solidFill>
                  <a:srgbClr val="1B3B6F"/>
                </a:solidFill>
                <a:latin typeface="Amiri" pitchFamily="34" charset="0"/>
                <a:ea typeface="Amiri" pitchFamily="34" charset="-122"/>
                <a:cs typeface="Amiri" pitchFamily="34" charset="-120"/>
              </a:rPr>
              <a:t>هِيَ مُحَامٍ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مُحَامِيَةٌ.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مُحَامُونَ.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 مُحَامِيَةٌ.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audit checks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 + verb?</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future</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agreement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evidence</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Future audit.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يَحْتَاجُ الطَّبِيبُ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الدِّقَّةِ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 preposition.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repair of: </a:t>
            </a:r>
            <a:pPr algn="l" indent="0" marL="0">
              <a:buNone/>
            </a:pPr>
            <a:r>
              <a:rPr lang="ar-SA" altLang="en-US" sz="1650" b="1" dirty="0">
                <a:solidFill>
                  <a:srgbClr val="1B3B6F"/>
                </a:solidFill>
                <a:latin typeface="Amiri" pitchFamily="34" charset="0"/>
                <a:ea typeface="Amiri" pitchFamily="34" charset="-122"/>
                <a:cs typeface="Amiri" pitchFamily="34" charset="-120"/>
              </a:rPr>
              <a:t>هِيَ مُحَامٍ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هِيَ مُحَامِيَةٌ.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هِيَ مُحَامُونَ.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هُوَ مُحَامِيَةٌ.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Error-analysis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كَتَبَ طَالِبٌ: «أُخْتِي مُهَنْدِسٌ وَهِيَ يَعْمَلُ فِي شَرِكَةٍ. سَوْفَ دَرَسَتْ فِي الجَامِعَةِ لِكَيْ تُصْبِحُ مُدِيرٌ». يَحْتَوِي النَّصُّ عَلَى أَخْطَاءٍ فِي الجِنْسِ وَالفِعْلِ وَالمُسْتَقْبَلِ وَالحَالَةِ الإِعْرَابِيَّةِ. الصِّيَاغَةُ الصَّحِيحَةُ هِيَ: «أُخْتِي مُهَنْدِسَةٌ وَهِيَ تَعْمَلُ فِي شَرِكَةٍ. سَوْفَ تَدْرُسُ فِي الجَامِعَةِ لِكَيْ تُصْبِحَ مُدِيرَةً».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كَتَبَ طَالِبٌ</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student wrote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يَحْتَوِي عَلَى</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contains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أَخْطَاءٍ</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mistakes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الجِنْسِ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gender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الفِعْلِ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verb</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المُسْتَقْبَلِ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future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الحَالَةِ الإِعْرَابِيَّةِ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case ending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الصِّيَاغَةُ الصَّحِيحَةُ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correct wording</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مُدِيرَةً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manager (f.)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تُصْبِحَ</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becomes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gender error appears first?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وَهِيَ يَعْمَلُ</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أُخْتِي مُهَنْدِسٌ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شَرِكَةٍ</a:t>
            </a:r>
            <a:endParaRPr lang="ar-SA" sz="2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verb-person error appears?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دَرَسَتْ</a:t>
            </a:r>
            <a:endParaRPr lang="ar-SA" sz="20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 تُصْبِحُ</a:t>
            </a:r>
            <a:endParaRPr lang="ar-SA" sz="20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هِيَ يَعْمَلُ</a:t>
            </a:r>
            <a:endParaRPr lang="ar-SA" sz="20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wrong after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past verb is used</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should be sa-</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future verb?</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دَرَسَتْ</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تَدْرُسُ</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يَدْرُسُ</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job after </a:t>
            </a:r>
            <a:pPr algn="l" indent="0" marL="0">
              <a:buNone/>
            </a:pPr>
            <a:r>
              <a:rPr lang="ar-SA" altLang="en-US" sz="1650" b="1" dirty="0">
                <a:solidFill>
                  <a:srgbClr val="1B3B6F"/>
                </a:solidFill>
                <a:latin typeface="Amiri" pitchFamily="34" charset="0"/>
                <a:ea typeface="Amiri" pitchFamily="34" charset="-122"/>
                <a:cs typeface="Amiri" pitchFamily="34" charset="-120"/>
              </a:rPr>
              <a:t>تُصْبِحَ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مُدِيرَةً</a:t>
            </a:r>
            <a:endParaRPr lang="ar-SA" sz="20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مُدِيرٌ</a:t>
            </a:r>
            <a:endParaRPr lang="ar-SA" sz="20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مُدِيرَةٌ</a:t>
            </a:r>
            <a:endParaRPr lang="ar-SA" sz="20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four systems are reviewed?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spelling, style, length and title</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vocabulary only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gender, verb, future and case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gender error appears first?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وَهِيَ يَعْمَلُ</a:t>
            </a:r>
            <a:endParaRPr lang="ar-SA" sz="170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أُخْتِي مُهَنْدِسٌ</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شَرِكَةٍ</a:t>
            </a:r>
            <a:endParaRPr lang="ar-SA" sz="170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Sister (f.) + masculine job.</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verb-person error appears?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دَرَسَتْ</a:t>
            </a:r>
            <a:endParaRPr lang="ar-SA" sz="170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 تُصْبِحُ</a:t>
            </a:r>
            <a:endParaRPr lang="ar-SA" sz="170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هِيَ يَعْمَلُ</a:t>
            </a:r>
            <a:endParaRPr lang="ar-SA" sz="170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ya- verb.</a:t>
            </a:r>
            <a:endParaRPr lang="en-US" sz="10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wrong after </a:t>
            </a:r>
            <a:pPr algn="l" indent="0" marL="0">
              <a:buNone/>
            </a:pPr>
            <a:r>
              <a:rPr lang="ar-SA" altLang="en-US" sz="1650" b="1" dirty="0">
                <a:solidFill>
                  <a:srgbClr val="1B3B6F"/>
                </a:solidFill>
                <a:latin typeface="Amiri" pitchFamily="34" charset="0"/>
                <a:ea typeface="Amiri" pitchFamily="34" charset="-122"/>
                <a:cs typeface="Amiri" pitchFamily="34" charset="-120"/>
              </a:rPr>
              <a:t>سَوْفَ</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past verb is used</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should be sa-</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sawfa + darasat (past).</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future verb?</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دَرَسَتْ</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سَوْفَ تَدْرُسُ</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يَدْرُسُ</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 tadrusu.</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correct job after </a:t>
            </a:r>
            <a:pPr algn="l" indent="0" marL="0">
              <a:buNone/>
            </a:pPr>
            <a:r>
              <a:rPr lang="ar-SA" altLang="en-US" sz="1650" b="1" dirty="0">
                <a:solidFill>
                  <a:srgbClr val="1B3B6F"/>
                </a:solidFill>
                <a:latin typeface="Amiri" pitchFamily="34" charset="0"/>
                <a:ea typeface="Amiri" pitchFamily="34" charset="-122"/>
                <a:cs typeface="Amiri" pitchFamily="34" charset="-120"/>
              </a:rPr>
              <a:t>تُصْبِحَ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مُدِيرَةً</a:t>
            </a:r>
            <a:endParaRPr lang="ar-SA" sz="170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مُدِيرٌ</a:t>
            </a:r>
            <a:endParaRPr lang="ar-SA" sz="170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مُدِيرَةٌ</a:t>
            </a:r>
            <a:endParaRPr lang="ar-SA" sz="170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 + -an.</a:t>
            </a:r>
            <a:endParaRPr lang="en-US" sz="10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four systems are reviewed?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spelling, style, length and title</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vocabulary only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gender, verb, future and case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الجِنْسِ وَالفِعْلِ وَالمُسْتَقْبَلِ وَالحَالَةِ الإِعْرَابِيَّةِ</a:t>
            </a:r>
            <a:endParaRPr lang="ar-SA" sz="11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D3-L11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D3-L12: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D3 · Work and Careers · D3-L11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D3-L12 · D3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assessment</a:t>
            </a:r>
            <a:pPr indent="0" marL="0">
              <a:buNone/>
            </a:pPr>
            <a:r>
              <a:rPr lang="en-US" sz="1000" i="1" dirty="0">
                <a:solidFill>
                  <a:srgbClr val="5A6472"/>
                </a:solidFill>
                <a:latin typeface="Calibri" pitchFamily="34" charset="0"/>
                <a:ea typeface="Calibri" pitchFamily="34" charset="-122"/>
                <a:cs typeface="Calibri" pitchFamily="34" charset="-120"/>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مَهَارَةٌ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skill</a:t>
            </a:r>
            <a:pPr indent="0" marL="0">
              <a:buNone/>
            </a:pPr>
            <a:r>
              <a:rPr lang="en-US" sz="1000" i="1" dirty="0">
                <a:solidFill>
                  <a:srgbClr val="5A6472"/>
                </a:solidFill>
                <a:latin typeface="Calibri" pitchFamily="34" charset="0"/>
                <a:ea typeface="Calibri" pitchFamily="34" charset="-122"/>
                <a:cs typeface="Calibri" pitchFamily="34" charset="-120"/>
              </a:rPr>
              <a:t>  pl. مَهَارَاتٌ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دَرَجَةٌ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mark / score</a:t>
            </a:r>
            <a:pPr indent="0" marL="0">
              <a:buNone/>
            </a:pPr>
            <a:r>
              <a:rPr lang="en-US" sz="1000" i="1" dirty="0">
                <a:solidFill>
                  <a:srgbClr val="5A6472"/>
                </a:solidFill>
                <a:latin typeface="Calibri" pitchFamily="34" charset="0"/>
                <a:ea typeface="Calibri" pitchFamily="34" charset="-122"/>
                <a:cs typeface="Calibri" pitchFamily="34" charset="-120"/>
              </a:rPr>
              <a:t>  pl. دَرَجَاتٌ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تَعْلِيمَاتٌ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instructions</a:t>
            </a:r>
            <a:pPr indent="0" marL="0">
              <a:buNone/>
            </a:pPr>
            <a:r>
              <a:rPr lang="en-US" sz="1000" i="1" dirty="0">
                <a:solidFill>
                  <a:srgbClr val="5A6472"/>
                </a:solidFill>
                <a:latin typeface="Calibri" pitchFamily="34" charset="0"/>
                <a:ea typeface="Calibri" pitchFamily="34" charset="-122"/>
                <a:cs typeface="Calibri" pitchFamily="34" charset="-120"/>
              </a:rPr>
              <a:t>  sing. تَعْلِيمَةٌ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أُرَاجِعُ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revise / check</a:t>
            </a:r>
            <a:pPr indent="0" marL="0">
              <a:buNone/>
            </a:pPr>
            <a:r>
              <a:rPr lang="en-US" sz="1000" i="1" dirty="0">
                <a:solidFill>
                  <a:srgbClr val="5A6472"/>
                </a:solidFill>
                <a:latin typeface="Calibri" pitchFamily="34" charset="0"/>
                <a:ea typeface="Calibri" pitchFamily="34" charset="-122"/>
                <a:cs typeface="Calibri" pitchFamily="34" charset="-120"/>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Revise your reddest audit: write three correct sentences that use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أَوْلَوِيَّتِي: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error-analysis repair;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Complete D3 response (100–120 words), audited with the four checks.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 self-audit; practise the five conversation questions for one minute each.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D3-L11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ea typeface="Cambria" pitchFamily="34" charset="-122"/>
                <a:cs typeface="Cambria" pitchFamily="34" charset="-120"/>
              </a:rPr>
              <a:t>D3-L12 · D3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name the audit — agreement · preposition · future · evidence — then explain, then repair.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D3-L11 · D3 Consolidation — Error Analysis and Assessment Preparation</dc:title>
  <dc:subject>PptxGenJS Presentation</dc:subject>
  <dc:creator>Al Madina Online School · Arabic Department</dc:creator>
  <cp:lastModifiedBy>Al Madina Online School · Arabic Department</cp:lastModifiedBy>
  <cp:revision>1</cp:revision>
  <dcterms:created xsi:type="dcterms:W3CDTF">2026-10-03T05:34:23Z</dcterms:created>
  <dcterms:modified xsi:type="dcterms:W3CDTF">2026-10-03T05:34:23Z</dcterms:modified>
</cp:coreProperties>
</file>