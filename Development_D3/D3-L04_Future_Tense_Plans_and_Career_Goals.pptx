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D3-L04. The website lesson “The Future Tense — Plans, Ambitions and Career Goals”: vocabulary, grammar rules and quiz, patterns, common mistakes, sorter, listening, reading, speaking prompts and model, writing task and model, differentiation, final check and the lesson mission. Picture match: website visual game “The Future Tense — Plans, Ambitions and Career Goals”.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سَـ + the present verb for I / he / she (سَأَدْرُسُ · سَيَدْرُسُ · سَتَدْرُسُ) and أُرِيدُ أَنْ أُصْبِحَ … (job in -an, D3-L01). Develop: سَوْفَ, أَطْمَحُ إِلَى أَنْ and one purpose (لِكَيْ). Stretch: a three-step route with a purpose for each step and a condition (إِذَا نَجَحْتُ …).
• The future is EASY: no new verb forms — just add سَـ (attached) or سَوْفَ (separate) to the present tense students know from D1.
• After لِكَيْ / حَتَّى / أَنْ the verb ends in -a (أَنْجَحَ), the same as after يَجِبُ أَنْ (F4, D3-L03).
• Vocabulary group 2 (education routes) prepares D3-L05 — FLEX today.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D3-L03. Questions 3–4 retrieve D3-L03; question 5 retrieves the D1 present tense (the base of the future).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future = sa- or sawfa + the present verb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ہدف، نیت are shared (niyya → أَنْوِي, I intend). CAREFUL: Urdu طمع means greed; Arabic طُمُوحٌ / أَطْمَحُ means ambition / I aspire — a positive word! خُطَّةٌ has no Urdu cognate: link it to منصوبہ.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plans (website vocabulary (1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plans (website vocabulary (2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(1 of 2)). Hear → Say → See → Use. Transliteration is printed for Core students (cover it for Develop/Stretch).
FLEX: teach if time allows; otherwise these are on the website vocabulary tab for homework.
Education routes (FLEX today — taught in D3-L05):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(2 of 2)). Hear → Say → See → Use. Transliteration is printed for Core students (cover it for Develop/Stretch).
FLEX: teach if time allows; otherwise these are on the website vocabulary tab for homework.
Education routes (FLEX today — taught in D3-L05):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(1 of 2)). Hear → Say → See → Use. Transliteration is printed for Core students (cover it for Develop/Stretch).
FLEX: teach if time allows; otherwise these are on the website vocabulary tab for homework.
Career language (FLEX): review from D3-L03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(2 of 2)). Hear → Say → See → Use. Transliteration is printed for Core students (cover it for Develop/Stretch).
FLEX: teach if time allows; otherwise these are on the website vocabulary tab for homework.
Career language (FLEX): review from D3-L03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“Near or planned future” (سَـ + المُضَارِعُ: attach سـ directly to the present verb) and “Future with سوف” (a separate word; may sound more deliberate or formal). Website examples: سَأَدْرُسُ الطِّبَّ · سَأَعْمَلُ فِي الخَارِجِ · سَوْفَ أَتَدَرَّبُ فِي شَرِكَةٍ · سَوْفَ أَكْتَسِبُ خِبْرَةً.
Here sa- is coloured as a separate prefix ON PURPOSE: it is a whole prefix, so colouring it does not split a letter. Negative future (Stretch, teacher addition): لَنْ + verb (-a): لَنْ أَعْمَلَ فِي مَكْتَبٍ (I will not work in an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“Ambition” (أَطْمَحُ إِلَى أَنْ + مُضَارِعٌ) and “Purpose” (لِكَيْ / حَتَّى + مُضَارِعٌ مَنْصُوبٌ: a purpose connector followed by a subjunctive verb). Website examples: أَطْمَحُ إِلَى أَنْ أُصْبِحَ مُهَنْدِسًا · أَطْمَحُ إِلَى أَنْ أُدِيرَ شَرِكَةً · سَأَدْرُسُ بِجِدٍّ لِكَيْ أَنْجَحَ · سَأَتَدَرَّبُ حَتَّى أَكْتَسِبَ خِبْرَةً.
The error pair is teacher-chosen (the website common error is generic). CAREFUL: حَتَّى also means “until” (D1: حَتَّى السَّابِعَةِ) — here it means “so that”, followed by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“السِّينُ وَسَوْفَ وَالتَّعْبِيرُ عَنِ الغَرَضِ”
• Near or planned future: Attach سـ directly to the present verb.
• Future with سوف: سوف is a separate word and may sound more deliberate or formal.
• Ambition: Use إلى أن before the intended action.
• Purpose: Use a purpose connector followed by a subjunctive verb.
Website common error: Do not use سَـ and سَوْفَ together, and do not forget the -a ending after أَنْ / لِكَيْ / حَتَّى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(Omar wants to become an engineer). Think aloud: “When? (sa- / sawfa) Why? (li-kay / ḥattā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يُرِيدُ عُمَرُ أَنْ يُصْبِحَ مُهَنْدِسًا، لِذٰلِكَ سَيَدْرُسُ الرِّيَاضِيَّاتِ وَالفِيزِيَاءَ فِي الجَامِعَةِ. أَمَّا هِنْدٌ فَسَوْفَ تَلْتَحِقُ بِدَوْرَةٍ فِي التَّصْمِيمِ لِكَيْ تَبْنِيَ مَلَفَّ أَعْمَالٍ. وَيُخَطِّطُ يُوسُفُ لِلتَّدَرُّبِ فِي مُسْتَشْفًى حَتَّى يَتَأَكَّدَ مِنْ أَنَّ التَّمْرِيضَ يُنَاسِبُهُ.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(And why?)
B: لِأَنَّنِي أَطْمَحُ إِلَى أَنْ أُصْبِحَ مُبَرْمِجًا، وَسَأَتَدَرَّبُ فِي شَرِكَةٍ لِكَيْ أَكْتَسِبَ خِبْرَةً. (Because I aspire to become a programmer, and I will train in a company to gain experience.)
Teacher-written prompts and model (the website prompts are generic). Model continues: A: وَلِمَاذَا؟ B: لِأَنَّنِي أَطْمَحُ إِلَى أَنْ أُصْبِحَ مُبَرْمِجًا، وَسَأَتَدَرَّبُ فِي شَرِكَةٍ لِكَيْ أَكْتَسِبَ خِبْرَةً. To a girl: مَاذَا سَتَدْرُسِينَ؟ · مَاذَا تُرِيدِينَ أَنْ تُصْبِحِي؟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about your future career plan, the route you will follow and the purpose of each step.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أَطْمَحُ إِلَى أَنْ أُصْبِحَ · سَأَدْرُسُ، سَوْفَ أَبْحَثُ، سَأَتَعَلَّمُ · لِكَيْ أَكْتَسِبَ، حَتَّى أَسْتَطِيعَ · إِذَا نَجَحْتُ … فَسَأَعْمَلُ.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(D3-L05 · Education and Training — Routes to a Career) will spend class time USING this language, so students prepare it tonight — short, simple, easy to access (school guidance: “Simple, Short, Interesting, Relevant, Easy to access”). The five words come from the website D3-L05 vocabulary (education and training routes).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The Future Tense — Plans, Ambitions and Career Goals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المُسْتَقْبَلُ — الخُطَطُ وَالطُّمُوحَاتُ وَالأَهْدَافُ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Talk about the future with </a:t>
            </a:r>
            <a:pPr algn="l" indent="0" marL="0">
              <a:buNone/>
            </a:pPr>
            <a:r>
              <a:rPr lang="ar-SA" altLang="en-US" sz="1800" dirty="0">
                <a:solidFill>
                  <a:srgbClr val="C6D2E6"/>
                </a:solidFill>
                <a:latin typeface="Amiri" pitchFamily="34" charset="0"/>
                <a:ea typeface="Amiri" pitchFamily="34" charset="-122"/>
                <a:cs typeface="Amiri" pitchFamily="34" charset="-120"/>
              </a:rPr>
              <a:t>سَـ</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سَوْفَ</a:t>
            </a:r>
            <a:pPr algn="l" indent="0" marL="0">
              <a:buNone/>
            </a:pPr>
            <a:r>
              <a:rPr lang="en-US" sz="1400" dirty="0">
                <a:solidFill>
                  <a:srgbClr val="C6D2E6"/>
                </a:solidFill>
                <a:latin typeface="Calibri" pitchFamily="34" charset="0"/>
                <a:ea typeface="Calibri" pitchFamily="34" charset="-122"/>
                <a:cs typeface="Calibri" pitchFamily="34" charset="-120"/>
              </a:rPr>
              <a:t>, state an ambition (</a:t>
            </a:r>
            <a:pPr algn="l" indent="0" marL="0">
              <a:buNone/>
            </a:pPr>
            <a:r>
              <a:rPr lang="ar-SA" altLang="en-US" sz="1800" dirty="0">
                <a:solidFill>
                  <a:srgbClr val="C6D2E6"/>
                </a:solidFill>
                <a:latin typeface="Amiri" pitchFamily="34" charset="0"/>
                <a:ea typeface="Amiri" pitchFamily="34" charset="-122"/>
                <a:cs typeface="Amiri" pitchFamily="34" charset="-120"/>
              </a:rPr>
              <a:t>أَطْمَحُ إِلَى أَنْ</a:t>
            </a:r>
            <a:pPr algn="l" indent="0" marL="0">
              <a:buNone/>
            </a:pPr>
            <a:r>
              <a:rPr lang="en-US" sz="1400" dirty="0">
                <a:solidFill>
                  <a:srgbClr val="C6D2E6"/>
                </a:solidFill>
                <a:latin typeface="Calibri" pitchFamily="34" charset="0"/>
                <a:ea typeface="Calibri" pitchFamily="34" charset="-122"/>
                <a:cs typeface="Calibri" pitchFamily="34" charset="-120"/>
              </a:rPr>
              <a:t> …) and give the purpose of each step (</a:t>
            </a:r>
            <a:pPr algn="l" indent="0" marL="0">
              <a:buNone/>
            </a:pPr>
            <a:r>
              <a:rPr lang="ar-SA" altLang="en-US" sz="1800" dirty="0">
                <a:solidFill>
                  <a:srgbClr val="C6D2E6"/>
                </a:solidFill>
                <a:latin typeface="Amiri" pitchFamily="34" charset="0"/>
                <a:ea typeface="Amiri" pitchFamily="34" charset="-122"/>
                <a:cs typeface="Amiri" pitchFamily="34" charset="-120"/>
              </a:rPr>
              <a:t>لِكَيْ / حَتَّى</a:t>
            </a:r>
            <a:pPr algn="l" indent="0" marL="0">
              <a:buNone/>
            </a:pPr>
            <a:r>
              <a:rPr lang="en-US" sz="1400" dirty="0">
                <a:solidFill>
                  <a:srgbClr val="C6D2E6"/>
                </a:solidFill>
                <a:latin typeface="Calibri" pitchFamily="34" charset="0"/>
                <a:ea typeface="Calibri" pitchFamily="34" charset="-122"/>
                <a:cs typeface="Calibri" pitchFamily="34" charset="-120"/>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D3-L04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ar-SA" altLang="en-US" sz="1550" dirty="0">
                <a:solidFill>
                  <a:srgbClr val="1F2A37"/>
                </a:solidFill>
                <a:latin typeface="Amiri" pitchFamily="34" charset="0"/>
                <a:ea typeface="Amiri" pitchFamily="34" charset="-122"/>
                <a:cs typeface="Amiri" pitchFamily="34" charset="-120"/>
              </a:rPr>
              <a:t>سَـ / سَوْفَ</a:t>
            </a:r>
            <a:pPr algn="ctr" indent="0" marL="0">
              <a:buNone/>
            </a:pPr>
            <a:r>
              <a:rPr lang="en-US" sz="1200" dirty="0">
                <a:solidFill>
                  <a:srgbClr val="1F2A37"/>
                </a:solidFill>
                <a:latin typeface="Calibri" pitchFamily="34" charset="0"/>
                <a:ea typeface="Calibri" pitchFamily="34" charset="-122"/>
                <a:cs typeface="Calibri" pitchFamily="34" charset="-120"/>
              </a:rPr>
              <a:t>, ambition,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future / not future, fix and listen to three career plans.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بَعْدَ التَّخَرُّجِ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graduation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plan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want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need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 يَكُونَ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بَعْدَ التَّخَرُّجِ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future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graduation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plan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want to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need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D3-L03: yaḥtāju ilā.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 يَكُونَ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صَبُورًا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D3-L03: -an after yakūna.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 a-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future = sa- or sawfa + the present verb you already know.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سَأَدْرُسُ</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سَوْفَ</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أَتَدَرَّبُ · لِكَيْ </a:t>
            </a:r>
            <a:pPr rtl="1" algn="ctr" indent="0" marL="0">
              <a:lnSpc>
                <a:spcPct val="120000"/>
              </a:lnSpc>
              <a:buNone/>
            </a:pPr>
            <a:r>
              <a:rPr lang="ar-SA" altLang="en-US" sz="2300" b="1" dirty="0">
                <a:solidFill>
                  <a:srgbClr val="1D5FBF"/>
                </a:solidFill>
                <a:latin typeface="Amiri" pitchFamily="34" charset="0"/>
                <a:ea typeface="Amiri" pitchFamily="34" charset="-122"/>
                <a:cs typeface="Amiri" pitchFamily="34" charset="-120"/>
              </a:rPr>
              <a:t>أَنْجَحَ</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future with </a:t>
            </a:r>
            <a:pPr algn="l" indent="0" marL="0">
              <a:buNone/>
            </a:pPr>
            <a:r>
              <a:rPr lang="ar-SA" altLang="en-US" sz="1700" dirty="0">
                <a:solidFill>
                  <a:srgbClr val="1F2A37"/>
                </a:solidFill>
                <a:latin typeface="Amiri" pitchFamily="34" charset="0"/>
                <a:ea typeface="Amiri" pitchFamily="34" charset="-122"/>
                <a:cs typeface="Amiri" pitchFamily="34" charset="-120"/>
              </a:rPr>
              <a:t>سَـ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سَوْفَ</a:t>
            </a:r>
            <a:pPr algn="l" indent="0" marL="0">
              <a:buNone/>
            </a:pPr>
            <a:r>
              <a:rPr lang="en-US" sz="1300" dirty="0">
                <a:solidFill>
                  <a:srgbClr val="1F2A37"/>
                </a:solidFill>
                <a:latin typeface="Calibri" pitchFamily="34" charset="0"/>
                <a:ea typeface="Calibri" pitchFamily="34" charset="-122"/>
                <a:cs typeface="Calibri" pitchFamily="34" charset="-120"/>
              </a:rPr>
              <a:t> for I, he and she.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an ambition with </a:t>
            </a:r>
            <a:pPr algn="l" indent="0" marL="0">
              <a:buNone/>
            </a:pPr>
            <a:r>
              <a:rPr lang="ar-SA" altLang="en-US" sz="1700" dirty="0">
                <a:solidFill>
                  <a:srgbClr val="1F2A37"/>
                </a:solidFill>
                <a:latin typeface="Amiri" pitchFamily="34" charset="0"/>
                <a:ea typeface="Amiri" pitchFamily="34" charset="-122"/>
                <a:cs typeface="Amiri" pitchFamily="34" charset="-120"/>
              </a:rPr>
              <a:t>أُرِيدُ أَنْ / أَطْمَحُ إِلَى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the purpose of a step with </a:t>
            </a:r>
            <a:pPr algn="l" indent="0" marL="0">
              <a:buNone/>
            </a:pPr>
            <a:r>
              <a:rPr lang="ar-SA" altLang="en-US" sz="1700" dirty="0">
                <a:solidFill>
                  <a:srgbClr val="1F2A37"/>
                </a:solidFill>
                <a:latin typeface="Amiri" pitchFamily="34" charset="0"/>
                <a:ea typeface="Amiri" pitchFamily="34" charset="-122"/>
                <a:cs typeface="Amiri" pitchFamily="34" charset="-120"/>
              </a:rPr>
              <a:t>لِكَيْ / حَتَّى</a:t>
            </a:r>
            <a:pPr algn="l" indent="0" marL="0">
              <a:buNone/>
            </a:pPr>
            <a:r>
              <a:rPr lang="en-US" sz="1300" dirty="0">
                <a:solidFill>
                  <a:srgbClr val="1F2A37"/>
                </a:solidFill>
                <a:latin typeface="Calibri" pitchFamily="34" charset="0"/>
                <a:ea typeface="Calibri" pitchFamily="34" charset="-122"/>
                <a:cs typeface="Calibri" pitchFamily="34" charset="-120"/>
              </a:rPr>
              <a:t> + verb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career plan in connected steps.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will study and do.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want to become.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sawfa and state an ambition.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the purpose of a step.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 three-step career route.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condition (if I succeed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Future plans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routes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Career language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‎مستقبل‎ </a:t>
            </a:r>
            <a:pPr indent="0" marL="0">
              <a:buNone/>
            </a:pPr>
            <a:r>
              <a:rPr lang="en-US" sz="950" b="1" dirty="0">
                <a:solidFill>
                  <a:srgbClr val="2E8B57"/>
                </a:solidFill>
                <a:latin typeface="Calibri" pitchFamily="34" charset="0"/>
                <a:ea typeface="Calibri" pitchFamily="34" charset="-122"/>
                <a:cs typeface="Calibri" pitchFamily="34" charset="-120"/>
              </a:rPr>
              <a:t> mustaqbil ·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‎خاکہ / منصوبہ‎ </a:t>
            </a:r>
            <a:pPr indent="0" marL="0">
              <a:buNone/>
            </a:pPr>
            <a:r>
              <a:rPr lang="en-US" sz="950" b="1" dirty="0">
                <a:solidFill>
                  <a:srgbClr val="2E8B57"/>
                </a:solidFill>
                <a:latin typeface="Calibri" pitchFamily="34" charset="0"/>
                <a:ea typeface="Calibri" pitchFamily="34" charset="-122"/>
                <a:cs typeface="Calibri" pitchFamily="34" charset="-120"/>
              </a:rPr>
              <a:t> mansūba · plan (meaning only)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‎ہدف‎ </a:t>
            </a:r>
            <a:pPr indent="0" marL="0">
              <a:buNone/>
            </a:pPr>
            <a:r>
              <a:rPr lang="en-US" sz="950" b="1" dirty="0">
                <a:solidFill>
                  <a:srgbClr val="2E8B57"/>
                </a:solidFill>
                <a:latin typeface="Calibri" pitchFamily="34" charset="0"/>
                <a:ea typeface="Calibri" pitchFamily="34" charset="-122"/>
                <a:cs typeface="Calibri" pitchFamily="34" charset="-120"/>
              </a:rPr>
              <a:t> hadaf · target, goal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أَطْمَحُ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‎طمع‎ </a:t>
            </a:r>
            <a:pPr indent="0" marL="0">
              <a:buNone/>
            </a:pPr>
            <a:r>
              <a:rPr lang="en-US" sz="950" b="1" dirty="0">
                <a:solidFill>
                  <a:srgbClr val="2E8B57"/>
                </a:solidFill>
                <a:latin typeface="Calibri" pitchFamily="34" charset="0"/>
                <a:ea typeface="Calibri" pitchFamily="34" charset="-122"/>
                <a:cs typeface="Calibri" pitchFamily="34" charset="-120"/>
              </a:rPr>
              <a:t> tamaʿ · Urdu: greed · Arabic: ambition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نِيَّةٌ / أَنْوِي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‎نیت‎ </a:t>
            </a:r>
            <a:pPr indent="0" marL="0">
              <a:buNone/>
            </a:pPr>
            <a:r>
              <a:rPr lang="en-US" sz="950" b="1" dirty="0">
                <a:solidFill>
                  <a:srgbClr val="2E8B57"/>
                </a:solidFill>
                <a:latin typeface="Calibri" pitchFamily="34" charset="0"/>
                <a:ea typeface="Calibri" pitchFamily="34" charset="-122"/>
                <a:cs typeface="Calibri" pitchFamily="34" charset="-120"/>
              </a:rPr>
              <a:t> niyyat · intention → I intend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سَأَدْرُسُ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sa-ʾad-ru-su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سَتَدْرُسُ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سَيَدْرُسُ</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سَأَدْرُسُ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 أَتَدَرَّبُ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 a-ta-dar-ra-bu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تَتَدَرَّبُ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يَتَدَرَّبُ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أَتَدَرَّبُ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أُصْبِحَ</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become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uṣ-bi-ḥa</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تُرِيدُ أَنْ تُصْبِحَ</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يُرِيدُ أَنْ يُصْبِحَ</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أُرِيدُ أَنْ أُصْبِحَ</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 أَنْ</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 an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تَطْمَحُ</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يَطْمَحُ</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أَطْمَحُ</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تَنْوِي</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يَنْوِي</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أَنْوِي</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8" name="Shape 10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لِـ</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تُخَطِّطُ</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يُخَطِّطُ</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أُخَطِّطُ</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graduation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المُحْتَمَلِ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likely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al-muḥ-ta-ma-li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نَجَحْتُ</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succeed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na-jaḥ-tu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routes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جَامِعَةٌ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jā-mi-ʿa-tun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مَعْهَدٌ مِهَنِيٌّ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institute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maʿ-ha-dun mi-ha-niy-yun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مِهَنِيٌّ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mi-ha-niy-yun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عَمَلِيٌّ</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ʿa-ma-liy-yun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تَلْمَذَةٌ مِهَنِيَّةٌ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apprenticeship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tal-ma-dha-tun mi-ha-niy-ya-tun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routes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certificate/degree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دَوْرَةٌ تَدْرِيبِيَّةٌ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training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daw-ra-tun tad-rī-biy-ya-tun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مِنْحَةٌ دِرَاسِيَّةٌ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scholarship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min-ḥa-tun di-rā-siy-ya-tun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القَبُولِ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entry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al-qa-bū-li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عَمَلِيَّةٌ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ʿa-ma-liy-ya-tun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مَسَارٌ أَكَادِيمِيٌّ</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ma-sā-run a-kā-dī-miy-yun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THE FUTURE WITH SA- AND SAWFA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Present + sa- =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سَـ · 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7" name="Text 14"/>
          <p:cNvSpPr txBox="1"/>
          <p:nvPr/>
        </p:nvSpPr>
        <p:spPr>
          <a:xfrm>
            <a:off x="59527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Future with sa-</a:t>
            </a:r>
            <a:endParaRPr lang="en-US" sz="1100" dirty="0"/>
          </a:p>
        </p:txBody>
      </p:sp>
      <p:sp>
        <p:nvSpPr>
          <p:cNvPr id="18" name="Text 15"/>
          <p:cNvSpPr txBox="1"/>
          <p:nvPr/>
        </p:nvSpPr>
        <p:spPr>
          <a:xfrm>
            <a:off x="266090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Future with sawfa</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79992"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أَدْرُسُ</a:t>
            </a:r>
            <a:endParaRPr lang="ar-SA" sz="2400" dirty="0"/>
          </a:p>
        </p:txBody>
      </p:sp>
      <p:sp>
        <p:nvSpPr>
          <p:cNvPr id="22" name="Text 19"/>
          <p:cNvSpPr txBox="1"/>
          <p:nvPr/>
        </p:nvSpPr>
        <p:spPr>
          <a:xfrm>
            <a:off x="597103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أَدْرُسُ</a:t>
            </a:r>
            <a:endParaRPr lang="ar-SA" sz="2400" dirty="0"/>
          </a:p>
        </p:txBody>
      </p:sp>
      <p:sp>
        <p:nvSpPr>
          <p:cNvPr id="23" name="Text 20"/>
          <p:cNvSpPr txBox="1"/>
          <p:nvPr/>
        </p:nvSpPr>
        <p:spPr>
          <a:xfrm>
            <a:off x="2679192" y="2267712"/>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أَدْرُسُ</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079992"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يَعْمَلُ</a:t>
            </a:r>
            <a:endParaRPr lang="ar-SA" sz="2400" dirty="0"/>
          </a:p>
        </p:txBody>
      </p:sp>
      <p:sp>
        <p:nvSpPr>
          <p:cNvPr id="29" name="Text 26"/>
          <p:cNvSpPr txBox="1"/>
          <p:nvPr/>
        </p:nvSpPr>
        <p:spPr>
          <a:xfrm>
            <a:off x="597103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يَعْمَلُ</a:t>
            </a:r>
            <a:endParaRPr lang="ar-SA" sz="2400" dirty="0"/>
          </a:p>
        </p:txBody>
      </p:sp>
      <p:sp>
        <p:nvSpPr>
          <p:cNvPr id="30" name="Text 27"/>
          <p:cNvSpPr txBox="1"/>
          <p:nvPr/>
        </p:nvSpPr>
        <p:spPr>
          <a:xfrm>
            <a:off x="2679192" y="3054096"/>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يَعْمَلُ</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079992"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تَتَدَرَّبُ</a:t>
            </a:r>
            <a:endParaRPr lang="ar-SA" sz="2400" dirty="0"/>
          </a:p>
        </p:txBody>
      </p:sp>
      <p:sp>
        <p:nvSpPr>
          <p:cNvPr id="36" name="Text 33"/>
          <p:cNvSpPr txBox="1"/>
          <p:nvPr/>
        </p:nvSpPr>
        <p:spPr>
          <a:xfrm>
            <a:off x="597103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تَتَدَرَّبُ</a:t>
            </a:r>
            <a:endParaRPr lang="ar-SA" sz="2400" dirty="0"/>
          </a:p>
        </p:txBody>
      </p:sp>
      <p:sp>
        <p:nvSpPr>
          <p:cNvPr id="37" name="Text 34"/>
          <p:cNvSpPr txBox="1"/>
          <p:nvPr/>
        </p:nvSpPr>
        <p:spPr>
          <a:xfrm>
            <a:off x="2679192" y="3840480"/>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تَتَدَرَّبُ</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079992"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نُسَافِرُ</a:t>
            </a:r>
            <a:endParaRPr lang="ar-SA" sz="2400" dirty="0"/>
          </a:p>
        </p:txBody>
      </p:sp>
      <p:sp>
        <p:nvSpPr>
          <p:cNvPr id="43" name="Text 40"/>
          <p:cNvSpPr txBox="1"/>
          <p:nvPr/>
        </p:nvSpPr>
        <p:spPr>
          <a:xfrm>
            <a:off x="597103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نُسَافِرُ</a:t>
            </a:r>
            <a:endParaRPr lang="ar-SA" sz="2400" dirty="0"/>
          </a:p>
        </p:txBody>
      </p:sp>
      <p:sp>
        <p:nvSpPr>
          <p:cNvPr id="44" name="Text 41"/>
          <p:cNvSpPr txBox="1"/>
          <p:nvPr/>
        </p:nvSpPr>
        <p:spPr>
          <a:xfrm>
            <a:off x="2679192" y="4626864"/>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نُسَافِرُ</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 is joined to the verb; sawfa is a separate word (more deliberate / formal). Same meaning: will.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AMBITION AND PURPOSE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 aim for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أَطْمَحُ إِلَى أَنْ · 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WANT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أُرِيدُ أَنْ أُصْبِحَ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أُرِيدُ أَنْ أُصْبِحَ مُهَنْدِسًا.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want to become an engineer.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Job after uṣbiḥa: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AMBITION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أَطْمَحُ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أَطْمَحُ إِلَى أَنْ أُدِيرَ شَرِكَةً.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aspire to run a company.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ilā an + verb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PURPOSE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سَأَدْرُسُ بِجِدٍّ لِكَيْ أَنْجَحَ.</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will study hard in order to succeed.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Verb after li-kay ends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sa- is joined to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سَأَدْرُسُ الطِّبَّ.</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سَ أَدْرُسُ الطِّبَّ.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tense and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السِّينُ وَسَوْفَ وَالتَّعْبِيرُ عَنِ الغَرَضِ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Near or planned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سَـ + المُضَارِع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سَأَدْرُسُ الطِّبَّ.   ·   سَأَعْمَلُ فِي الخَارِجِ.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Future with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سَوْفَ + المُضَارِع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سَوْفَ أَتَدَرَّبُ فِي شَرِكَةٍ.   ·   سَوْفَ أَكْتَسِبُ خِبْرَةً.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Ambition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أَطْمَحُ إِلَى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أَطْمَحُ إِلَى أَنْ أُصْبِحَ مُهَنْدِسًا.   ·   أَطْمَحُ إِلَى أَنْ أُدِيرَ شَرِكَةً.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Purpose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لِكَيْ / حَتَّى + مُضَارِعٌ مَنْصُوبٌ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سَأَدْرُسُ بِجِدٍّ لِكَيْ أَنْجَحَ.   ·   سَأَتَدَرَّبُ حَتَّى أَكْتَسِبَ خِبْرَةً.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تَتَدَرَّبُ هِنْدٌ فِي 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“he works”.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سَتَعْمَلُ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سَيَعْمَلُ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سَأَعْمَلُ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بِجِدٍّ لِكَيْ ___ .</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أَنْجَحَ</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 + adrusu.</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تَتَدَرَّبُ هِنْدٌ فِي 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 will.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“he works”.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سَتَعْمَلُ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سَيَعْمَلُ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سَأَعْمَلُ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 sa-ya-.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بِجِدٍّ لِكَيْ ___ .</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أَنْجَحَ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li-kay: present verb in -a.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a career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Ambition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أَطْمَحُ إِلَى أَنْ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مُهَنْدِسًا.</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ilā an + verb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Step 1</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أَدْرُسُ الرِّيَاضِيَّاتِ فِي الجَامِعَةِ.</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 + present.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Step 2 + why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سَوْفَ</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أَتَدَرَّبُ فِي شَرِكَةٍ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لِكَيْ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أَكْتَسِبَ خِبْرَةً.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 li-kay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إِذَا نَجَحْتُ،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أَعْمَلُ فِي الخَارِجِ.</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If I succeed → 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AMBITION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المُسْتَقْبَلِ أَطْمَحُ إِلَى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أُصْبِحَ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مُهَنْدِسًا. بَعْدَ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أَدْرُسُ الرِّيَاضِيَّاتِ وَالفِيزِيَاءَ فِي الجَامِعَةِ، ثُمَّ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سَوْفَ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أَتَدَرَّبُ فِي شَرِكَةِ بِنَاءٍ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لِكَيْ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أَكْتَسِبَ خِبْرَةً عَمَلِيَّةً. إِذَا نَجَحْتُ،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أَعْمَلُ فِي الخَارِجِ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حَتَّى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أَتَعَلَّمَ مِنْ مُهَنْدِسِينَ مِنْ ثَقَافَاتٍ مُخْتَلِفَةٍ.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the future I aspire to become an engineer. After school I will study mathematics and physics at university, then I will train in a building company in order to gain practical experience. If I succeed, I will work abroad so that I learn from engineers from different cultures.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سَأَدْرُسُ الطِّبَّ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study medicine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 joined to the verb.</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سَوْفَ تَتَدَرَّبُ هِنْدٌ فِي شَرِكَةٍ.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Hind will train in a company.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sawfa + she-verb (ta-).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أَطْمَحُ إِلَى أَنْ أُصْبِحَ مُهَنْدِسًا.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aspire to become an engineer.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ilā an + verb; job in -an.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سَأَتَدَرَّبُ حَتَّى أَكْتَسِبَ خِبْرَةً.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train so that I gain experience.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 verb (-a).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FUTURE TENSE — PLANS, AMBITIONS AND CAREER GOALS”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will I do?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abroad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 skills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سَأُطَوِّرُ مَهَارَاتِي.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سَأَعْمَلُ مُبَرْمِجًا.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سَأُسَافِرُ إِلَى الخَارِجِ.</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سَأَعْمَلُ مُبَرْمِجًا.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work as a programmer.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abroad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سَأُسَافِرُ إِلَى الخَارِجِ.</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travel abroad.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 skills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سَأُطَوِّرُ مَهَارَاتِي.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develop my skills.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or present?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سَأَدْرُسُ الطِّبَّ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يَتَدَرَّبُ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سَتَعْمَلُ فِي الخَارِجِ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سَنُسَافِرُ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أَدْرُسُ العُلُومَ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يَعْمَلُ فِي مَكْتَبٍ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تَتَدَرَّبُ الآنَ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نَسْكُنُ فِي لَنْدَنَ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Future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Future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سَأَدْرُسُ الطِّبَّ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يَتَدَرَّبُ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سَتَعْمَلُ فِي الخَارِجِ</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سَنُسَافِرُ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أَدْرُسُ العُلُومَ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يَعْمَلُ فِي مَكْتَبٍ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تَتَدَرَّبُ الآنَ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نَسْكُنُ فِي لَنْدَنَ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أُصْبِحَ طَبِيبًا.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gives a purpose?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succeed in</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intend to</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need to</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أُرِيدُ أَنْ أُصْبِحَ ___ .</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مُهَنْدِسِينَ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أُصْبِحَ طَبِيبًا.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aṭmaḥu ilā an …</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gives a purpose?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li-kay = in order to.</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succeed in</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intend to</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need to</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niyya = intention.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أُرِيدُ أَنْ أُصْبِحَ ___ .</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مُهَنْدِسًا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Job after uṣbiḥa: -an.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سَوْفَ سَأَدْرُسُ الطِّبَّ.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 or sawfa: both?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أَطْمَحُ إِلَى أَنْ أُصْبِحُ مُهَنْدِسًا.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-u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سَتَدْرُسُ عُمَرُ الهَنْدَسَةَ.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Omar = he: which prefix?</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سَوْفَ سَأَدْرُسُ الطِّبَّ.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سَوْفَ أَدْرُسُ الطِّبَّ.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sa- OR sawfa, not both.</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أَطْمَحُ إِلَى أَنْ أُصْبِحُ مُهَنْدِسًا.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أَطْمَحُ إِلَى أَنْ أُصْبِحَ مُهَنْدِسًا.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an the verb ends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سَتَدْرُسُ عُمَرُ الهَنْدَسَةَ.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سَيَدْرُسُ عُمَرُ الهَنْدَسَةَ.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Omar is “he” → sa-ya-.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career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want to become?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Omar study at university?</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maths and physics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Hind join?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nursing course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course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 course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she join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build a portfolio</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find a job abroad</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meet friends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Yusuf plan to train?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school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bank</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want to check?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nursing suits him</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salary is high</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التَّصْمِيمِ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مُسْتَشْفًى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يُرِيدُ عُمَرُ أَنْ يُصْبِحَ مُهَنْدِسًا،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wants to become an engineer,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سَيَدْرُسُ الرِّيَاضِيَّاتِ وَالفِيزِيَاءَ فِي الجَامِعَةِ.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he will study maths and physics at university.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هِنْدٌ فَسَوْفَ تَلْتَحِقُ بِدَوْرَةٍ فِي التَّصْمِيمِ لِكَيْ تَبْنِيَ مَلَفَّ أَعْمَالٍ.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Hind, she will join a design course in order to build a portfolio.</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وَيُخَطِّطُ يُوسُفُ لِلتَّدَرُّبِ فِي مُسْتَشْفًى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Yusuf plans to train in a hospital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حَتَّى يَتَأَكَّدَ مِنْ أَنَّ التَّمْرِيضَ يُنَاسِبُهُ.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he can make sure nursing suits him.</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want to become?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designer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يُرِيدُ عُمَرُ أَنْ يُصْبِحَ مُهَنْدِسًا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Omar study at university?</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maths and physics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سَيَدْرُسُ الرِّيَاضِيَّاتِ وَالفِيزِيَاءَ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Hind join?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nursing course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course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design course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سَوْفَ تَلْتَحِقُ بِدَوْرَةٍ فِي التَّصْمِيمِ</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she join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build a portfolio</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find a job abroad</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meet friends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تَبْنِيَ مَلَفَّ أَعْمَالٍ</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Yusuf plan to train?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school</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bank</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لِلتَّدَرُّبِ فِي مُسْتَشْفًى</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want to check?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nursing suits him</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salary is high</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حَتَّى يَتَأَكَّدَ مِنْ أَنَّ التَّمْرِيضَ يُنَاسِبُهُ</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التَّصْمِيمِ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مُسْتَشْفًى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career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سَتَدْرُسُ بَعْدَ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تُرِيدُ أَنْ تُصْبِحَ فِي المُسْتَقْبَلِ؟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تُرِيدُ هٰذِهِ المِهْنَةَ؟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إِذَا لَمْ تَنْجَحْ فِي الخُطَّةِ الأُولَى؟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سَأَدْرُسُ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أَنْ أُصْبِحَ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أَطْمَحُ إِلَى ذٰلِكَ لِأَنَّ ___ ، وَسَوْفَ ___ لِكَيْ ___ .</a:t>
            </a:r>
            <a:endParaRPr lang="ar-SA" sz="13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لَمْ أَنْجَحْ، سَوْفَ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سَتَفْعَلُ بَعْدَ المَدْرَسَةِ؟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will you do after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سَأَدْرُسُ عُلُومَ الحَاسُوبِ فِي الجَامِعَةِ.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will study computer science at university.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What you want to become, two things you will do (sa-), and one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Ambition + route (sa- / sawfa) + a purpose (li-kay / ḥattā) for two steps.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plan, the route and the purpose of EACH step, plus “if I succeed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سَوْفَ أَتَدَرَّبُ فِي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train in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سَأَتَعَلَّمُ ______ حَتَّى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learn … so that I can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نَجَحْتُ، 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succeed,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أُرِيدُ أَنْ أُصْبِحَ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want to become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سَأَدْرُسُ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will study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سَأَعْمَلُ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will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لِأَنَّنِي أُحِبُّ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because I love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سَأَدْرُسُ  ·  سَأَعْمَلُ  ·  سَوْفَ أَتَدَرَّبُ  ·  أُرِيدُ أَنْ أُصْبِحَ  ·  أَطْمَحُ إِلَى أَنْ  ·  أَنْوِي أَنْ  ·  لِكَيْ  ·  حَتَّى  ·  أَكْتَسِبَ خِبْرَةً  ·  بَعْدَ التَّخَرُّجِ  ·  فِي المُسْتَقْبَلِ  ·  إِذَا نَجَحْتُ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your future career plan, the route you will follow and the purpose of each step.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مَجَالِ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field of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تَدْرِيبٍ عَمَلِيٍّ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look for a work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أُطَوِّرُ مَهَارَاتِي فِي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develop my skills in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أُؤَسِّسُ شَرِكَتِي الخَاصَّةَ يَوْمًا مَا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may found my own company one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الطَّرِيقَ 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the road is long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المُسْتَقْبَلِ أَطْمَحُ إِلَى أَنْ أُصْبِحَ مُهَنْدِسًا لِأَنَّنِي أُحِبُّ الرِّيَاضِيَّاتِ وَحَلَّ المُشْكِلَاتِ. بَعْدَ المَدْرَسَةِ سَأَدْرُسُ الهَنْدَسَةَ فِي الجَامِعَةِ، وَسَوْفَ أَبْحَثُ عَنْ تَدْرِيبٍ عَمَلِيٍّ فِي شَرِكَةِ بِنَاءٍ لِكَيْ أَكْتَسِبَ خِبْرَةً. كَمَا سَأَتَعَلَّمُ لُغَةً أَجْنَبِيَّةً حَتَّى أَسْتَطِيعَ العَمَلَ مَعَ فَرِيقٍ دَوْلِيٍّ. إِذَا نَجَحْتُ فِي هٰذِهِ الخُطَّةِ، فَسَأَعْمَلُ فِي الخَارِجِ لِمُدَّةِ سَنَتَيْنِ. عَلَى الرَّغْمِ مِنْ أَنَّ الطَّرِيقَ طَوِيلٌ، فَإِنَّنِي مُسْتَعِدٌّ لِلْعَمَلِ بِجِدٍّ.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future I aspire to become an engineer because I love maths and solving problems. After school I will study engineering at university, and I will look for a work placement in a building company in order to gain experience. I will also learn a foreign language so that I can work with an international team. If I succeed in this plan, I will work abroad for two years. Although the road is long, I am ready to work hard.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ambition (aṭmaḥu ilā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 and sawfa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 ḥattā + verb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 (if I succeed)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future verbs start with sa- or sawfa.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job after uṣbiḥa ends in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 li-kay / ḥattā: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step has a purpose.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condition (if I succeed).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 فِي شَرِكَةٍ.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 حَتَّى أَكْتَسِبَ خِبْرَةً.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تَدَرَّبْتُ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سَأُدِيرُ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“she studies”.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سَتَدْرُسُ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سَيَدْرُسُ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سَأَدْرُسُ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sa-ta-.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سَأَتَدَرَّبُ فِي شَرِكَةٍ.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سَأَتَدَرَّبُ حَتَّى أَكْتَسِبَ خِبْرَةً.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تَدَرَّبْتُ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ḥattā + verb (-a) = so that.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أُدِيرَ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أَدَرْتُ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سَأُدِيرُ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an: present verb in -a.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five-year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المُسْتَقْبَلِ أَطْمَحُ إِلَى أَنْ أَعْمَلَ فِي مَجَالِ الأَمْنِ السِّيبْرَانِيِّ. بَعْدَ إِنْهَاءِ المَدْرَسَةِ سَأَدْرُسُ عُلُومَ الحَاسُوبِ، وَسَوْفَ أَبْحَثُ أَيْضًا عَنْ تَدْرِيبٍ عَمَلِيٍّ فِي شَرِكَةٍ تِقْنِيَّةٍ. أُرِيدُ أَنْ أَطَوِّرَ مَهَارَاتِي فِي البَرْمَجَةِ وَحَلِّ المُشْكِلَاتِ لِكَيْ أَحْمِيَ البَيَانَاتِ. إِذَا نَجَحْتُ فِي هٰذِهِ الخُطَّةِ، فَسَأَعْمَلُ فِي فَرِيقٍ دَوْلِيٍّ وَقَدْ أُؤَسِّسُ شَرِكَتِي الخَاصَّةَ يَوْمًا 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field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الأَمْنِ السِّيبْرَانِيِّ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cyber security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إِنْهَاءِ المَدْرَسَةِ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finishing school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عُلُومَ الحَاسُوبِ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computer science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تَدْرِيبٍ عَمَلِيٍّ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work placement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شَرِكَةٍ تِقْنِيَّةٍ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tech company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develop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أَحْمِيَ البَيَانَاتِ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protect data</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فَرِيقٍ دَوْلِيٍّ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international team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أُؤَسِّسُ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found / set up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field interests the writer?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cyber security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journalism</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writer study?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is planned?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 in a tech company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year abroad</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part-time job 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will be developed?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 and design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programming and problem solving</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 and teamwork</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these skills?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protect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earn more money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long-term possibility is mentioned?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becoming a teacher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retiring early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founding a company one day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field interests the writer?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cyber security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journalism</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الأَمْنِ السِّيبْرَانِيِّ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writer study?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engineering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عُلُومَ الحَاسُوبِ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is planned?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work placement in a tech company</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year abroad</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part-time job 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 عَمَلِيٍّ فِي شَرِكَةٍ تِقْنِيَّةٍ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will be developed?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 and design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programming and problem solving</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 and teamwork</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البَرْمَجَةِ وَحَلِّ المُشْكِلَاتِ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these skills?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protect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earn more money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أَحْمِيَ البَيَانَاتِ</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long-term possibility is mentioned?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becoming a teacher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retiring early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founding a company one day</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 أُؤَسِّسُ شَرِكَتِي الخَاصَّةَ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D3-L05 · Education and Training — Routes to a Career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جَامِعَةٌ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university</a:t>
            </a:r>
            <a:pPr indent="0" marL="0">
              <a:buNone/>
            </a:pPr>
            <a:r>
              <a:rPr lang="en-US" sz="1000" i="1" dirty="0">
                <a:solidFill>
                  <a:srgbClr val="5A6472"/>
                </a:solidFill>
                <a:latin typeface="Calibri" pitchFamily="34" charset="0"/>
                <a:ea typeface="Calibri" pitchFamily="34" charset="-122"/>
                <a:cs typeface="Calibri" pitchFamily="34" charset="-120"/>
              </a:rPr>
              <a:t>  pl. جَامِعَاتٌ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شَهَادَةٌ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certificate / degree</a:t>
            </a:r>
            <a:pPr indent="0" marL="0">
              <a:buNone/>
            </a:pPr>
            <a:r>
              <a:rPr lang="en-US" sz="1000" i="1" dirty="0">
                <a:solidFill>
                  <a:srgbClr val="5A6472"/>
                </a:solidFill>
                <a:latin typeface="Calibri" pitchFamily="34" charset="0"/>
                <a:ea typeface="Calibri" pitchFamily="34" charset="-122"/>
                <a:cs typeface="Calibri" pitchFamily="34" charset="-120"/>
              </a:rPr>
              <a:t>  pl. شَهَادَاتٌ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تَدْرِيبٌ عَمَلِيٌّ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work placement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دَوْرَةٌ تَدْرِيبِيَّةٌ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training course</a:t>
            </a:r>
            <a:pPr indent="0" marL="0">
              <a:buNone/>
            </a:pPr>
            <a:r>
              <a:rPr lang="en-US" sz="1000" i="1" dirty="0">
                <a:solidFill>
                  <a:srgbClr val="5A6472"/>
                </a:solidFill>
                <a:latin typeface="Calibri" pitchFamily="34" charset="0"/>
                <a:ea typeface="Calibri" pitchFamily="34" charset="-122"/>
                <a:cs typeface="Calibri" pitchFamily="34" charset="-120"/>
              </a:rPr>
              <a:t>  pl. دَوْرَاتٌ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مِنْحَةٌ دِرَاسِيَّةٌ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scholarship</a:t>
            </a:r>
            <a:pPr indent="0" marL="0">
              <a:buNone/>
            </a:pPr>
            <a:r>
              <a:rPr lang="en-US" sz="1000" i="1" dirty="0">
                <a:solidFill>
                  <a:srgbClr val="5A6472"/>
                </a:solidFill>
                <a:latin typeface="Calibri" pitchFamily="34" charset="0"/>
                <a:ea typeface="Calibri" pitchFamily="34" charset="-122"/>
                <a:cs typeface="Calibri" pitchFamily="34" charset="-120"/>
              </a:rPr>
              <a:t>  pl. مِنَحٌ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route interests you more: university or a vocational course?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أُفَضِّلُ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Change 6 present sentences into the future (sa- / sawfa);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plan in 80–100 words with li-kay / ḥattā.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your career route with the purpose of each step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D3-L05 · Education and Training — Routes to a Career</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التَّعْلِيمُ وَالتَّدْرِيبُ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future = sa- / sawfa + present — after an, li-kay and ḥattā the verb ends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D3-L04 · The Future Tense — Plans, Ambitions and Career Goals</dc:title>
  <dc:subject>PptxGenJS Presentation</dc:subject>
  <dc:creator>Al Madina Online School · Arabic Department</dc:creator>
  <cp:lastModifiedBy>Al Madina Online School · Arabic Department</cp:lastModifiedBy>
  <cp:revision>1</cp:revision>
  <dcterms:created xsi:type="dcterms:W3CDTF">2026-10-03T10:11:10Z</dcterms:created>
  <dcterms:modified xsi:type="dcterms:W3CDTF">2026-10-03T10:11:10Z</dcterms:modified>
</cp:coreProperties>
</file>