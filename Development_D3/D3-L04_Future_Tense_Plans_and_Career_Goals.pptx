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D3 Work and Careers › D3-L04. The website lesson “The Future Tense — Plans, Ambitions and Career Goals”: vocabulary, grammar rules and quiz, patterns, common mistakes, sorter, listening, reading, speaking prompts and model, writing task and model, differentiation, final check and the lesson mission. Picture match: website visual game “The Future Tense — Plans, Ambitions and Career Goals”.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سَـ + the present verb for I / he / she (سَأَدْرُسُ · سَيَدْرُسُ · سَتَدْرُسُ) and أُرِيدُ أَنْ أُصْبِحَ … (job in -an, D3-L01). Develop: سَوْفَ, أَطْمَحُ إِلَى أَنْ and one purpose (لِكَيْ). Stretch: a three-step route with a purpose for each step and a condition (إِذَا نَجَحْتُ …).
• The future is EASY: no new verb forms — just add سَـ (attached) or سَوْفَ (separate) to the present tense students know from D1.
• After لِكَيْ / حَتَّى / أَنْ the verb ends in -a (أَنْجَحَ), the same as after يَجِبُ أَنْ (F4, D3-L03).
• Vocabulary group 2 (education routes) prepares D3-L05 — FLEX today.
• TEACHER-WRITTEN ITEMS: on the website this lesson’s mission, sorter, mistakes, grammar, final, listening, reading, speaking, writing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D3-L03. Questions 3–4 retrieve D3-L03; question 5 retrieves the D1 present tense (the base of the future).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future = sa- or sawfa + the present verb you already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مستقبل، ہدف، نیت are shared (niyya → أَنْوِي, I intend). CAREFUL: Urdu طمع means greed; Arabic طُمُوحٌ / أَطْمَحُ means ambition / I aspire — a positive word! خُطَّةٌ has no Urdu cognate: link it to منصوبہ.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Future plans (website vocabulary (1 of 2)). Hear → Say → See → Use. Transliteration is printed for Core students (cover it for Develop/Stretch).
Every verb card shows I · he · she: only the first letter changes (a- / ya- / ta-), and sa- stays in front. لِكَيْ / حَتَّى (in order to / so that) are followed by a verb ending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Future plans (website vocabulary (2 of 2)). Hear → Say → See → Use. Transliteration is printed for Core students (cover it for Develop/Stretch).
Every verb card shows I · he · she: only the first letter changes (a- / ya- / ta-), and sa- stays in front. لِكَيْ / حَتَّى (in order to / so that) are followed by a verb ending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Education routes (website vocabulary (1 of 2)). Hear → Say → See → Use. Transliteration is printed for Core students (cover it for Develop/Stretch).
FLEX: teach if time allows; otherwise these are on the website vocabulary tab for homework.
Education routes (FLEX today — taught in D3-L05): useful for the “route” part of a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Education routes (website vocabulary (2 of 2)). Hear → Say → See → Use. Transliteration is printed for Core students (cover it for Develop/Stretch).
FLEX: teach if time allows; otherwise these are on the website vocabulary tab for homework.
Education routes (FLEX today — taught in D3-L05): useful for the “route” part of a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Career language (website vocabulary (1 of 2)). Hear → Say → See → Use. Transliteration is printed for Core students (cover it for Develop/Stretch).
FLEX: teach if time allows; otherwise these are on the website vocabulary tab for homework.
Career language (FLEX): review from D3-L03 — the skills you will develop.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Career language (website vocabulary (2 of 2)). Hear → Say → See → Use. Transliteration is printed for Core students (cover it for Develop/Stretch).
FLEX: teach if time allows; otherwise these are on the website vocabulary tab for homework.
Career language (FLEX): review from D3-L03 — the skills you will develop.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“Near or planned future” (سَـ + المُضَارِعُ: attach سـ directly to the present verb) and “Future with سوف” (a separate word; may sound more deliberate or formal). Website examples: سَأَدْرُسُ الطِّبَّ · سَأَعْمَلُ فِي الخَارِجِ · سَوْفَ أَتَدَرَّبُ فِي شَرِكَةٍ · سَوْفَ أَكْتَسِبُ خِبْرَةً.
Here sa- is coloured as a separate prefix ON PURPOSE: it is a whole prefix, so colouring it does not split a letter. Negative future (Stretch, teacher addition): لَنْ + verb (-a): لَنْ أَعْمَلَ فِي مَكْتَبٍ (I will not work in an office).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“Ambition” (أَطْمَحُ إِلَى أَنْ + مُضَارِعٌ) and “Purpose” (لِكَيْ / حَتَّى + مُضَارِعٌ مَنْصُوبٌ: a purpose connector followed by a subjunctive verb). Website examples: أَطْمَحُ إِلَى أَنْ أُصْبِحَ مُهَنْدِسًا · أَطْمَحُ إِلَى أَنْ أُدِيرَ شَرِكَةً · سَأَدْرُسُ بِجِدٍّ لِكَيْ أَنْجَحَ · سَأَتَدَرَّبُ حَتَّى أَكْتَسِبَ خِبْرَةً.
The error pair is teacher-chosen (the website common error is generic). CAREFUL: حَتَّى also means “until” (D1: حَتَّى السَّابِعَةِ) — here it means “so that”, followed by a verb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“السِّينُ وَسَوْفَ وَالتَّعْبِيرُ عَنِ الغَرَضِ”
• Near or planned future: Attach سـ directly to the present verb.
• Future with سوف: سوف is a separate word and may sound more deliberate or formal.
• Ambition: Use إلى أن before the intended action.
• Purpose: Use a purpose connector followed by a subjunctive verb.
Website common error: Do not use سَـ and سَوْفَ together, and do not forget the -a ending after أَنْ / لِكَيْ / حَتَّى (teacher wording: the website common error for this lesson is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teacher-written model built on the website rules and listening (Omar wants to become an engineer). Think aloud: “When? (sa- / sawfa) Why? (li-kay / ḥattā +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The Future Tense — Plans, Ambitions and Career Goals”)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letter shows the FUTURE? (sa-). Other website cards: سَأَدْرُسُ الطِّبَّ فِي المُسْتَقْبَلِ · سَأَدْرُسُ فِي الجَامِعَةِ · أَطْمَحُ إِلَى وَظِيفَةٍ نَاجِحَةٍ (note: ilā + a NOUN here, no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The Future Tense — Plans, Ambitions and Career Goals”)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letter shows the FUTURE? (sa-). Other website cards: سَأَدْرُسُ الطِّبَّ فِي المُسْتَقْبَلِ · سَأَدْرُسُ فِي الجَامِعَةِ · أَطْمَحُ إِلَى وَظِيفَةٍ نَاجِحَةٍ (note: ilā + a NOUN here, no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Is the verb about the future or the present?
Then change every present verb into the future (add sa-) and say it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Is the verb about the future or the present?
Then change every present verb into the future (add sa-) and say it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5. Develop / Stretch: all 6.
Listen 1: just listen. Listen 2: note answers. Then chat the letters.
Support: after the second listening, show the read-along slide (Arabic + English, line by line) for Core students.
SCRIPT (read aloud):
يُرِيدُ عُمَرُ أَنْ يُصْبِحَ مُهَنْدِسًا، لِذٰلِكَ سَيَدْرُسُ الرِّيَاضِيَّاتِ وَالفِيزِيَاءَ فِي الجَامِعَةِ. أَمَّا هِنْدٌ فَسَوْفَ تَلْتَحِقُ بِدَوْرَةٍ فِي التَّصْمِيمِ لِكَيْ تَبْنِيَ مَلَفَّ أَعْمَالٍ. وَيُخَطِّطُ يُوسُفُ لِلتَّدَرُّبِ فِي مُسْتَشْفًى حَتَّى يَتَأَكَّدَ مِنْ أَنَّ التَّمْرِيضَ يُنَاسِبُهُ.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وَلِمَاذَا؟ (And why?)
B: لِأَنَّنِي أَطْمَحُ إِلَى أَنْ أُصْبِحَ مُبَرْمِجًا، وَسَأَتَدَرَّبُ فِي شَرِكَةٍ لِكَيْ أَكْتَسِبَ خِبْرَةً. (Because I aspire to become a programmer, and I will train in a company to gain experience.)
Teacher-written prompts and model (the website prompts are generic). Model continues: A: وَلِمَاذَا؟ B: لِأَنَّنِي أَطْمَحُ إِلَى أَنْ أُصْبِحَ مُبَرْمِجًا، وَسَأَتَدَرَّبُ فِي شَرِكَةٍ لِكَيْ أَكْتَسِبَ خِبْرَةً. To a girl: مَاذَا سَتَدْرُسِينَ؟ · مَاذَا تُرِيدِينَ أَنْ تُصْبِحِي؟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independently controlled complex structures.
Website writing task (Stretch): Write about your future career plan, the route you will follow and the purpose of each step.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Teacher-written model (the website model for this lesson is a placeholder). Evidence: أَطْمَحُ إِلَى أَنْ أُصْبِحَ · سَأَدْرُسُ، سَوْفَ أَبْحَثُ، سَأَتَعَلَّمُ · لِكَيْ أَكْتَسِبَ، حَتَّى أَسْتَطِيعَ · إِذَا نَجَحْتُ … فَسَأَعْمَلُ.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(D3-L05 · Education and Training — Routes to a Career) will spend class time USING this language, so students prepare it tonight — short, simple, easy to access (school guidance: “Simple, Short, Interesting, Relevant, Easy to access”). The five words come from the website D3-L05 vocabulary (education and training routes).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D3  ·  D3-L04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D3-L04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The Future Tense — Plans, Ambitions and Career Goals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المُسْتَقْبَلُ — الخُطَطُ وَالطُّمُوحَاتُ وَالأَهْدَافُ المِهْنِيَّةُ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Talk about the future with </a:t>
            </a:r>
            <a:pPr algn="l" indent="0" marL="0">
              <a:buNone/>
            </a:pPr>
            <a:r>
              <a:rPr lang="ar-SA" altLang="en-US" sz="1800" dirty="0">
                <a:solidFill>
                  <a:srgbClr val="C6D2E6"/>
                </a:solidFill>
                <a:latin typeface="Amiri" pitchFamily="34" charset="0"/>
                <a:ea typeface="Amiri" pitchFamily="34" charset="-122"/>
                <a:cs typeface="Amiri" pitchFamily="34" charset="-120"/>
              </a:rPr>
              <a:t>سَـ</a:t>
            </a:r>
            <a:pPr algn="l" indent="0" marL="0">
              <a:buNone/>
            </a:pPr>
            <a:r>
              <a:rPr lang="en-US" sz="1400" dirty="0">
                <a:solidFill>
                  <a:srgbClr val="C6D2E6"/>
                </a:solidFill>
                <a:latin typeface="Calibri" pitchFamily="34" charset="0"/>
                <a:ea typeface="Calibri" pitchFamily="34" charset="-122"/>
                <a:cs typeface="Calibri" pitchFamily="34" charset="-120"/>
              </a:rPr>
              <a:t> and </a:t>
            </a:r>
            <a:pPr algn="l" indent="0" marL="0">
              <a:buNone/>
            </a:pPr>
            <a:r>
              <a:rPr lang="ar-SA" altLang="en-US" sz="1800" dirty="0">
                <a:solidFill>
                  <a:srgbClr val="C6D2E6"/>
                </a:solidFill>
                <a:latin typeface="Amiri" pitchFamily="34" charset="0"/>
                <a:ea typeface="Amiri" pitchFamily="34" charset="-122"/>
                <a:cs typeface="Amiri" pitchFamily="34" charset="-120"/>
              </a:rPr>
              <a:t>سَوْفَ</a:t>
            </a:r>
            <a:pPr algn="l" indent="0" marL="0">
              <a:buNone/>
            </a:pPr>
            <a:r>
              <a:rPr lang="en-US" sz="1400" dirty="0">
                <a:solidFill>
                  <a:srgbClr val="C6D2E6"/>
                </a:solidFill>
                <a:latin typeface="Calibri" pitchFamily="34" charset="0"/>
                <a:ea typeface="Calibri" pitchFamily="34" charset="-122"/>
                <a:cs typeface="Calibri" pitchFamily="34" charset="-120"/>
              </a:rPr>
              <a:t>, state an ambition (</a:t>
            </a:r>
            <a:pPr algn="l" indent="0" marL="0">
              <a:buNone/>
            </a:pPr>
            <a:r>
              <a:rPr lang="ar-SA" altLang="en-US" sz="1800" dirty="0">
                <a:solidFill>
                  <a:srgbClr val="C6D2E6"/>
                </a:solidFill>
                <a:latin typeface="Amiri" pitchFamily="34" charset="0"/>
                <a:ea typeface="Amiri" pitchFamily="34" charset="-122"/>
                <a:cs typeface="Amiri" pitchFamily="34" charset="-120"/>
              </a:rPr>
              <a:t>أَطْمَحُ إِلَى أَنْ</a:t>
            </a:r>
            <a:pPr algn="l" indent="0" marL="0">
              <a:buNone/>
            </a:pPr>
            <a:r>
              <a:rPr lang="en-US" sz="1400" dirty="0">
                <a:solidFill>
                  <a:srgbClr val="C6D2E6"/>
                </a:solidFill>
                <a:latin typeface="Calibri" pitchFamily="34" charset="0"/>
                <a:ea typeface="Calibri" pitchFamily="34" charset="-122"/>
                <a:cs typeface="Calibri" pitchFamily="34" charset="-120"/>
              </a:rPr>
              <a:t> …) and give the purpose of each step (</a:t>
            </a:r>
            <a:pPr algn="l" indent="0" marL="0">
              <a:buNone/>
            </a:pPr>
            <a:r>
              <a:rPr lang="ar-SA" altLang="en-US" sz="1800" dirty="0">
                <a:solidFill>
                  <a:srgbClr val="C6D2E6"/>
                </a:solidFill>
                <a:latin typeface="Amiri" pitchFamily="34" charset="0"/>
                <a:ea typeface="Amiri" pitchFamily="34" charset="-122"/>
                <a:cs typeface="Amiri" pitchFamily="34" charset="-120"/>
              </a:rPr>
              <a:t>لِكَيْ / حَتَّى</a:t>
            </a:r>
            <a:pPr algn="l" indent="0" marL="0">
              <a:buNone/>
            </a:pPr>
            <a:r>
              <a:rPr lang="en-US" sz="1400" dirty="0">
                <a:solidFill>
                  <a:srgbClr val="C6D2E6"/>
                </a:solidFill>
                <a:latin typeface="Calibri" pitchFamily="34" charset="0"/>
                <a:ea typeface="Calibri" pitchFamily="34" charset="-122"/>
                <a:cs typeface="Calibri" pitchFamily="34" charset="-120"/>
              </a:rPr>
              <a:t> …).</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D3-L04 · Development D3 · Work and Careers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D3 › D3-L04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ar-SA" altLang="en-US" sz="1550" dirty="0">
                <a:solidFill>
                  <a:srgbClr val="1F2A37"/>
                </a:solidFill>
                <a:latin typeface="Amiri" pitchFamily="34" charset="0"/>
                <a:ea typeface="Amiri" pitchFamily="34" charset="-122"/>
                <a:cs typeface="Amiri" pitchFamily="34" charset="-120"/>
              </a:rPr>
              <a:t>سَـ / سَوْفَ</a:t>
            </a:r>
            <a:pPr algn="ctr" indent="0" marL="0">
              <a:buNone/>
            </a:pPr>
            <a:r>
              <a:rPr lang="en-US" sz="1200" dirty="0">
                <a:solidFill>
                  <a:srgbClr val="1F2A37"/>
                </a:solidFill>
                <a:latin typeface="Calibri" pitchFamily="34" charset="0"/>
                <a:ea typeface="Calibri" pitchFamily="34" charset="-122"/>
                <a:cs typeface="Calibri" pitchFamily="34" charset="-120"/>
              </a:rPr>
              <a:t>, ambition, and purpose.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future / not future, fix and listen to three career plans.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D3-L05.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بَعْدَ التَّخَرُّجِ</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future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graduation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before school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أُخَطِّطُ لِـ</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plan to</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want to</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need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يَحْتَاجُ الطَّبِيبُ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الصَّبْرِ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يَجِبُ أَنْ يَكُونَ المُدَرِّسُ</a:t>
            </a:r>
            <a:pPr algn="l" indent="0" marL="0">
              <a:buNone/>
            </a:pPr>
            <a:r>
              <a:rPr lang="en-US" sz="1250" b="1" dirty="0">
                <a:solidFill>
                  <a:srgbClr val="1B3B6F"/>
                </a:solidFill>
                <a:latin typeface="Calibri" pitchFamily="34" charset="0"/>
                <a:ea typeface="Calibri" pitchFamily="34" charset="-122"/>
                <a:cs typeface="Calibri" pitchFamily="34" charset="-120"/>
              </a:rPr>
              <a:t> ___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صَبُورٌ</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صَبُورَةً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صَبُورًا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“I study”?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أَدْرُسُ</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يَدْرُسُ</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تَدْرُسُ</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بَعْدَ التَّخَرُّجِ</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future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after graduation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before school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(D3-L03).</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أُخَطِّطُ لِـ</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plan to</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want to</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need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(D3-L03).</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يَحْتَاجُ الطَّبِيبُ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الصَّبْرِ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D3-L03: yaḥtāju ilā.</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يَجِبُ أَنْ يَكُونَ المُدَرِّسُ</a:t>
            </a:r>
            <a:pPr algn="l" indent="0" marL="0">
              <a:buNone/>
            </a:pPr>
            <a:r>
              <a:rPr lang="en-US" sz="1250" b="1" dirty="0">
                <a:solidFill>
                  <a:srgbClr val="1B3B6F"/>
                </a:solidFill>
                <a:latin typeface="Calibri" pitchFamily="34" charset="0"/>
                <a:ea typeface="Calibri" pitchFamily="34" charset="-122"/>
                <a:cs typeface="Calibri" pitchFamily="34" charset="-120"/>
              </a:rPr>
              <a:t> ___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صَبُورٌ</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صَبُورَةً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صَبُورًا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D3-L03: -an after yakūna.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“I study”?</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أَدْرُسُ</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يَدْرُسُ</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تَدْرُسُ</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 a- = I.</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The future = sa- or sawfa + the present verb you already know.</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300" b="1" dirty="0">
                <a:solidFill>
                  <a:srgbClr val="0E7C86"/>
                </a:solidFill>
                <a:latin typeface="Amiri" pitchFamily="34" charset="0"/>
                <a:ea typeface="Amiri" pitchFamily="34" charset="-122"/>
                <a:cs typeface="Amiri" pitchFamily="34" charset="-120"/>
              </a:rPr>
              <a:t>سَـ</a:t>
            </a:r>
            <a:pPr rtl="1" algn="ctr" indent="0" marL="0">
              <a:lnSpc>
                <a:spcPct val="120000"/>
              </a:lnSpc>
              <a:buNone/>
            </a:pPr>
            <a:r>
              <a:rPr lang="ar-SA" altLang="en-US" sz="2300" b="1" dirty="0">
                <a:solidFill>
                  <a:srgbClr val="1B3B6F"/>
                </a:solidFill>
                <a:latin typeface="Amiri" pitchFamily="34" charset="0"/>
                <a:ea typeface="Amiri" pitchFamily="34" charset="-122"/>
                <a:cs typeface="Amiri" pitchFamily="34" charset="-120"/>
              </a:rPr>
              <a:t>أَدْرُسُ · </a:t>
            </a:r>
            <a:pPr rtl="1" algn="ctr" indent="0" marL="0">
              <a:lnSpc>
                <a:spcPct val="120000"/>
              </a:lnSpc>
              <a:buNone/>
            </a:pPr>
            <a:r>
              <a:rPr lang="ar-SA" altLang="en-US" sz="2300" b="1" dirty="0">
                <a:solidFill>
                  <a:srgbClr val="0E7C86"/>
                </a:solidFill>
                <a:latin typeface="Amiri" pitchFamily="34" charset="0"/>
                <a:ea typeface="Amiri" pitchFamily="34" charset="-122"/>
                <a:cs typeface="Amiri" pitchFamily="34" charset="-120"/>
              </a:rPr>
              <a:t>سَوْفَ</a:t>
            </a:r>
            <a:pPr rtl="1" algn="ctr" indent="0" marL="0">
              <a:lnSpc>
                <a:spcPct val="120000"/>
              </a:lnSpc>
              <a:buNone/>
            </a:pPr>
            <a:r>
              <a:rPr lang="ar-SA" altLang="en-US" sz="2300" b="1" dirty="0">
                <a:solidFill>
                  <a:srgbClr val="1B3B6F"/>
                </a:solidFill>
                <a:latin typeface="Amiri" pitchFamily="34" charset="0"/>
                <a:ea typeface="Amiri" pitchFamily="34" charset="-122"/>
                <a:cs typeface="Amiri" pitchFamily="34" charset="-120"/>
              </a:rPr>
              <a:t> أَتَدَرَّبُ · لِكَيْ </a:t>
            </a:r>
            <a:pPr rtl="1" algn="ctr" indent="0" marL="0">
              <a:lnSpc>
                <a:spcPct val="120000"/>
              </a:lnSpc>
              <a:buNone/>
            </a:pPr>
            <a:r>
              <a:rPr lang="ar-SA" altLang="en-US" sz="2300" b="1" dirty="0">
                <a:solidFill>
                  <a:srgbClr val="1D5FBF"/>
                </a:solidFill>
                <a:latin typeface="Amiri" pitchFamily="34" charset="0"/>
                <a:ea typeface="Amiri" pitchFamily="34" charset="-122"/>
                <a:cs typeface="Amiri" pitchFamily="34" charset="-120"/>
              </a:rPr>
              <a:t>أَنْجَحَ</a:t>
            </a:r>
            <a:endParaRPr lang="ar-SA" sz="23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Form the future with </a:t>
            </a:r>
            <a:pPr algn="l" indent="0" marL="0">
              <a:buNone/>
            </a:pPr>
            <a:r>
              <a:rPr lang="ar-SA" altLang="en-US" sz="1700" dirty="0">
                <a:solidFill>
                  <a:srgbClr val="1F2A37"/>
                </a:solidFill>
                <a:latin typeface="Amiri" pitchFamily="34" charset="0"/>
                <a:ea typeface="Amiri" pitchFamily="34" charset="-122"/>
                <a:cs typeface="Amiri" pitchFamily="34" charset="-120"/>
              </a:rPr>
              <a:t>سَـ</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سَوْفَ</a:t>
            </a:r>
            <a:pPr algn="l" indent="0" marL="0">
              <a:buNone/>
            </a:pPr>
            <a:r>
              <a:rPr lang="en-US" sz="1300" dirty="0">
                <a:solidFill>
                  <a:srgbClr val="1F2A37"/>
                </a:solidFill>
                <a:latin typeface="Calibri" pitchFamily="34" charset="0"/>
                <a:ea typeface="Calibri" pitchFamily="34" charset="-122"/>
                <a:cs typeface="Calibri" pitchFamily="34" charset="-120"/>
              </a:rPr>
              <a:t> for I, he and she.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State an ambition with </a:t>
            </a:r>
            <a:pPr algn="l" indent="0" marL="0">
              <a:buNone/>
            </a:pPr>
            <a:r>
              <a:rPr lang="ar-SA" altLang="en-US" sz="1700" dirty="0">
                <a:solidFill>
                  <a:srgbClr val="1F2A37"/>
                </a:solidFill>
                <a:latin typeface="Amiri" pitchFamily="34" charset="0"/>
                <a:ea typeface="Amiri" pitchFamily="34" charset="-122"/>
                <a:cs typeface="Amiri" pitchFamily="34" charset="-120"/>
              </a:rPr>
              <a:t>أُرِيدُ أَنْ / أَطْمَحُ إِلَى أَنْ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Give the purpose of a step with </a:t>
            </a:r>
            <a:pPr algn="l" indent="0" marL="0">
              <a:buNone/>
            </a:pPr>
            <a:r>
              <a:rPr lang="ar-SA" altLang="en-US" sz="1700" dirty="0">
                <a:solidFill>
                  <a:srgbClr val="1F2A37"/>
                </a:solidFill>
                <a:latin typeface="Amiri" pitchFamily="34" charset="0"/>
                <a:ea typeface="Amiri" pitchFamily="34" charset="-122"/>
                <a:cs typeface="Amiri" pitchFamily="34" charset="-120"/>
              </a:rPr>
              <a:t>لِكَيْ / حَتَّى</a:t>
            </a:r>
            <a:pPr algn="l" indent="0" marL="0">
              <a:buNone/>
            </a:pPr>
            <a:r>
              <a:rPr lang="en-US" sz="1300" dirty="0">
                <a:solidFill>
                  <a:srgbClr val="1F2A37"/>
                </a:solidFill>
                <a:latin typeface="Calibri" pitchFamily="34" charset="0"/>
                <a:ea typeface="Calibri" pitchFamily="34" charset="-122"/>
                <a:cs typeface="Calibri" pitchFamily="34" charset="-120"/>
              </a:rPr>
              <a:t> + verb (-a).</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a career plan in connected steps.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what I will study and do.</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what I want to become.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sawfa and state an ambition.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give the purpose of a step.</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describe a three-step career route.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add a condition (if I succeed …).</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Future plans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Education routes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Career language · 12</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مُسْتَقْبَلٌ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‎مستقبل‎ </a:t>
            </a:r>
            <a:pPr indent="0" marL="0">
              <a:buNone/>
            </a:pPr>
            <a:r>
              <a:rPr lang="en-US" sz="950" b="1" dirty="0">
                <a:solidFill>
                  <a:srgbClr val="2E8B57"/>
                </a:solidFill>
                <a:latin typeface="Calibri" pitchFamily="34" charset="0"/>
                <a:ea typeface="Calibri" pitchFamily="34" charset="-122"/>
                <a:cs typeface="Calibri" pitchFamily="34" charset="-120"/>
              </a:rPr>
              <a:t> mustaqbil · future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خُطَّةٌ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‎خاکہ / منصوبہ‎ </a:t>
            </a:r>
            <a:pPr indent="0" marL="0">
              <a:buNone/>
            </a:pPr>
            <a:r>
              <a:rPr lang="en-US" sz="950" b="1" dirty="0">
                <a:solidFill>
                  <a:srgbClr val="2E8B57"/>
                </a:solidFill>
                <a:latin typeface="Calibri" pitchFamily="34" charset="0"/>
                <a:ea typeface="Calibri" pitchFamily="34" charset="-122"/>
                <a:cs typeface="Calibri" pitchFamily="34" charset="-120"/>
              </a:rPr>
              <a:t> mansūba · plan (meaning only)</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هَدَفٌ</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‎ہدف‎ </a:t>
            </a:r>
            <a:pPr indent="0" marL="0">
              <a:buNone/>
            </a:pPr>
            <a:r>
              <a:rPr lang="en-US" sz="950" b="1" dirty="0">
                <a:solidFill>
                  <a:srgbClr val="2E8B57"/>
                </a:solidFill>
                <a:latin typeface="Calibri" pitchFamily="34" charset="0"/>
                <a:ea typeface="Calibri" pitchFamily="34" charset="-122"/>
                <a:cs typeface="Calibri" pitchFamily="34" charset="-120"/>
              </a:rPr>
              <a:t> hadaf · target, goal</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أَطْمَحُ</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‎طمع‎ </a:t>
            </a:r>
            <a:pPr indent="0" marL="0">
              <a:buNone/>
            </a:pPr>
            <a:r>
              <a:rPr lang="en-US" sz="950" b="1" dirty="0">
                <a:solidFill>
                  <a:srgbClr val="2E8B57"/>
                </a:solidFill>
                <a:latin typeface="Calibri" pitchFamily="34" charset="0"/>
                <a:ea typeface="Calibri" pitchFamily="34" charset="-122"/>
                <a:cs typeface="Calibri" pitchFamily="34" charset="-120"/>
              </a:rPr>
              <a:t> tamaʿ · Urdu: greed · Arabic: ambition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نِيَّةٌ / أَنْوِي</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‎نیت‎ </a:t>
            </a:r>
            <a:pPr indent="0" marL="0">
              <a:buNone/>
            </a:pPr>
            <a:r>
              <a:rPr lang="en-US" sz="950" b="1" dirty="0">
                <a:solidFill>
                  <a:srgbClr val="2E8B57"/>
                </a:solidFill>
                <a:latin typeface="Calibri" pitchFamily="34" charset="0"/>
                <a:ea typeface="Calibri" pitchFamily="34" charset="-122"/>
                <a:cs typeface="Calibri" pitchFamily="34" charset="-120"/>
              </a:rPr>
              <a:t> niyyat · intention → I intend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Future plans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سَأَدْرُسُ</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will study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sa-ʾad-ru-su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سَتَدْرُسُ</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سَيَدْرُسُ</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سَأَدْرُسُ</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6" name="Shape 33"/>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سَوْفَ أَتَدَرَّبُ</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will train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saw-fa a-ta-dar-ra-bu</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سَوْفَ تَتَدَرَّبُ</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سَوْفَ يَتَدَرَّبُ</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سَوْفَ أَتَدَرَّبُ</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54" name="Shape 51"/>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أُرِيدُ أَنْ أُصْبِحَ</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want to become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u-rī-du an uṣ-bi-ḥa</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تُرِيدُ أَنْ تُصْبِحَ</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يُرِيدُ أَنْ يُصْبِحَ</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أُرِيدُ أَنْ أُصْبِحَ</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72" name="Shape 69"/>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74" name="Shape 7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6" name="Text 7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أَطْمَحُ إِلَى أَنْ</a:t>
            </a:r>
            <a:endParaRPr lang="ar-SA" sz="3000" dirty="0"/>
          </a:p>
        </p:txBody>
      </p:sp>
      <p:sp>
        <p:nvSpPr>
          <p:cNvPr id="77" name="Text 7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aspire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aṭ-ma-ḥu i-lā an</a:t>
            </a:r>
            <a:endParaRPr lang="en-US" sz="1350" dirty="0"/>
          </a:p>
        </p:txBody>
      </p:sp>
      <p:sp>
        <p:nvSpPr>
          <p:cNvPr id="78" name="Shape 75"/>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80" name="Text 77"/>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تَطْمَحُ</a:t>
            </a:r>
            <a:endParaRPr lang="ar-SA" sz="1500" dirty="0"/>
          </a:p>
        </p:txBody>
      </p:sp>
      <p:sp>
        <p:nvSpPr>
          <p:cNvPr id="81" name="Shape 78"/>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83" name="Text 80"/>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يَطْمَحُ</a:t>
            </a:r>
            <a:endParaRPr lang="ar-SA" sz="1500" dirty="0"/>
          </a:p>
        </p:txBody>
      </p:sp>
      <p:sp>
        <p:nvSpPr>
          <p:cNvPr id="84" name="Shape 81"/>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86" name="Text 83"/>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أَطْمَحُ</a:t>
            </a:r>
            <a:endParaRPr lang="ar-SA" sz="1500" dirty="0"/>
          </a:p>
        </p:txBody>
      </p:sp>
      <p:sp>
        <p:nvSpPr>
          <p:cNvPr id="87" name="Shape 8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4389120" y="4261104"/>
            <a:ext cx="310896" cy="310896"/>
          </a:xfrm>
          <a:prstGeom prst="ellipse">
            <a:avLst/>
          </a:prstGeom>
          <a:solidFill>
            <a:srgbClr val="F4F1EA"/>
          </a:solidFill>
          <a:ln w="12700">
            <a:solidFill>
              <a:srgbClr val="F4F1EA"/>
            </a:solidFill>
            <a:prstDash val="solid"/>
          </a:ln>
        </p:spPr>
      </p:sp>
      <p:sp>
        <p:nvSpPr>
          <p:cNvPr id="89" name="Text 8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90" name="Shape 87"/>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91" name="Text 88"/>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92" name="Shape 8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93" name="Text 9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94" name="Text 9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أَنْوِي أَنْ</a:t>
            </a:r>
            <a:endParaRPr lang="ar-SA" sz="3000" dirty="0"/>
          </a:p>
        </p:txBody>
      </p:sp>
      <p:sp>
        <p:nvSpPr>
          <p:cNvPr id="95" name="Text 9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intend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an-wī an</a:t>
            </a:r>
            <a:endParaRPr lang="en-US" sz="1350" dirty="0"/>
          </a:p>
        </p:txBody>
      </p:sp>
      <p:sp>
        <p:nvSpPr>
          <p:cNvPr id="96" name="Shape 93"/>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98" name="Text 95"/>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تَنْوِي</a:t>
            </a:r>
            <a:endParaRPr lang="ar-SA" sz="1500" dirty="0"/>
          </a:p>
        </p:txBody>
      </p:sp>
      <p:sp>
        <p:nvSpPr>
          <p:cNvPr id="99" name="Shape 96"/>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101" name="Text 98"/>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يَنْوِي</a:t>
            </a:r>
            <a:endParaRPr lang="ar-SA" sz="1500" dirty="0"/>
          </a:p>
        </p:txBody>
      </p:sp>
      <p:sp>
        <p:nvSpPr>
          <p:cNvPr id="102" name="Shape 99"/>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104" name="Text 101"/>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أَنْوِي</a:t>
            </a:r>
            <a:endParaRPr lang="ar-SA" sz="1500" dirty="0"/>
          </a:p>
        </p:txBody>
      </p:sp>
      <p:sp>
        <p:nvSpPr>
          <p:cNvPr id="105" name="Shape 10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566928" y="4261104"/>
            <a:ext cx="310896" cy="310896"/>
          </a:xfrm>
          <a:prstGeom prst="ellipse">
            <a:avLst/>
          </a:prstGeom>
          <a:solidFill>
            <a:srgbClr val="F4F1EA"/>
          </a:solidFill>
          <a:ln w="12700">
            <a:solidFill>
              <a:srgbClr val="F4F1EA"/>
            </a:solidFill>
            <a:prstDash val="solid"/>
          </a:ln>
        </p:spPr>
      </p:sp>
      <p:sp>
        <p:nvSpPr>
          <p:cNvPr id="107" name="Text 10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08" name="Shape 105"/>
          <p:cNvSpPr/>
          <p:nvPr/>
        </p:nvSpPr>
        <p:spPr>
          <a:xfrm>
            <a:off x="960120" y="4279392"/>
            <a:ext cx="1020470" cy="256032"/>
          </a:xfrm>
          <a:prstGeom prst="roundRect">
            <a:avLst>
              <a:gd name="adj" fmla="val 50000"/>
            </a:avLst>
          </a:prstGeom>
          <a:solidFill>
            <a:srgbClr val="EFE7D2"/>
          </a:solidFill>
          <a:ln w="12700">
            <a:solidFill>
              <a:srgbClr val="EFE7D2"/>
            </a:solidFill>
            <a:prstDash val="solid"/>
          </a:ln>
        </p:spPr>
      </p:sp>
      <p:sp>
        <p:nvSpPr>
          <p:cNvPr id="109" name="Text 106"/>
          <p:cNvSpPr txBox="1"/>
          <p:nvPr/>
        </p:nvSpPr>
        <p:spPr>
          <a:xfrm>
            <a:off x="960120"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110" name="Shape 10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111" name="Text 10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112" name="Text 109"/>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أُخَطِّطُ لِـ</a:t>
            </a:r>
            <a:endParaRPr lang="ar-SA" sz="3000" dirty="0"/>
          </a:p>
        </p:txBody>
      </p:sp>
      <p:sp>
        <p:nvSpPr>
          <p:cNvPr id="113" name="Text 110"/>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plan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u-khaṭ-ṭi-ṭu li</a:t>
            </a:r>
            <a:endParaRPr lang="en-US" sz="1350" dirty="0"/>
          </a:p>
        </p:txBody>
      </p:sp>
      <p:sp>
        <p:nvSpPr>
          <p:cNvPr id="114" name="Shape 111"/>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15" name="Text 112"/>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116" name="Text 113"/>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تُخَطِّطُ</a:t>
            </a:r>
            <a:endParaRPr lang="ar-SA" sz="1500" dirty="0"/>
          </a:p>
        </p:txBody>
      </p:sp>
      <p:sp>
        <p:nvSpPr>
          <p:cNvPr id="117" name="Shape 114"/>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8" name="Text 115"/>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119" name="Text 116"/>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يُخَطِّطُ</a:t>
            </a:r>
            <a:endParaRPr lang="ar-SA" sz="1500" dirty="0"/>
          </a:p>
        </p:txBody>
      </p:sp>
      <p:sp>
        <p:nvSpPr>
          <p:cNvPr id="120" name="Shape 117"/>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21" name="Text 118"/>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122" name="Text 119"/>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أُخَطِّطُ</a:t>
            </a:r>
            <a:endParaRPr lang="ar-SA" sz="1500" dirty="0"/>
          </a:p>
        </p:txBody>
      </p:sp>
      <p:sp>
        <p:nvSpPr>
          <p:cNvPr id="123" name="Text 12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Future plans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بَعْدَ التَّخَرُّجِ</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after graduation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baʿ-da at-ta-khar-ru-ji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المُسْتَقْبَلِ</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the future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al-mus-taq-ba-li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لِكَيْ</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order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li-kay</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حَتَّى</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ḥat-tā</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المُحْتَمَلِ أَنْ</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likely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mi-na al-muḥ-ta-ma-li an</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9" name="Shape 46"/>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1" name="Text 4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إِذَا نَجَحْتُ</a:t>
            </a:r>
            <a:endParaRPr lang="ar-SA" sz="3000" dirty="0"/>
          </a:p>
        </p:txBody>
      </p:sp>
      <p:sp>
        <p:nvSpPr>
          <p:cNvPr id="52" name="Text 4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if I succeed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i-dhā na-jaḥ-tu</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Education routes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جَامِعَةٌ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university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jā-mi-ʿa-tun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كُلِّيَّةٌ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college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kul-liy-ya-tun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مَعْهَدٌ مِهَنِيٌّ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vocational institute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maʿ-ha-dun mi-ha-niy-yun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تَدْرِيبٌ مِهَنِيٌّ</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vocational training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tad-rī-bun mi-ha-niy-yun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تَدْرِيبٌ عَمَلِيٌّ</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work placement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tad-rī-bun ʿa-ma-liy-yun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تَلْمَذَةٌ مِهَنِيَّةٌ</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apprenticeship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tal-ma-dha-tun mi-ha-niy-ya-tun</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Education routes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شَهَادَةٌ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certificate/degree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sha-hā-da-tun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دَوْرَةٌ تَدْرِيبِيَّةٌ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training course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daw-ra-tun tad-rī-biy-ya-tun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مِنْحَةٌ دِرَاسِيَّةٌ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scholarship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min-ḥa-tun di-rā-siy-ya-tun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مُتَطَلَّبَاتُ القَبُولِ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entry requirements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mu-ta-ṭal-la-bā-tu al-qa-bū-li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خِبْرَةٌ عَمَلِيَّةٌ</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work experience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khib-ra-tun ʿa-ma-liy-ya-tun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مَسَارٌ أَكَادِيمِيٌّ</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academic route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ma-sā-run a-kā-dī-miy-yun</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Career language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مَهَارَةُ التَّوَاصُلِ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communication skill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ma-hā-ra-tu at-ta-wā-ṣu-li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حَلُّ المُشْكِلَاتِ</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problem solving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ḥal-lu al-mush-ki-lā-ti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العَمَلُ الجَمَاعِيُّ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teamwork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al-ʿa-ma-lu al-ja-mā-ʿiy-yu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إِدَارَةُ الوَقْتِ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time management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i-dā-ra-tu al-waq-ti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الإِبْدَاعُ</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creativity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al-ib-dā-ʿu</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30</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الدِّقَّةُ</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accuracy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ad-diq-qa-tu</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Career language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المَرُونَةُ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adaptability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al-ma-rū-na-tu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القِيَادَةُ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leadership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al-qi-yā-da-tu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الخِبْرَةُ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experience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al-khib-ra-tu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المُؤَهِّلَاتُ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qualifications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al-mu-ʾah-hi-lā-tu</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إِجَادَةُ اللُّغَاتِ</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language proficiency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i-jā-da-tu all-lu-ghā-ti</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36</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مَهَارَاتُ الحَاسُوبِ</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computer skills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ma-hā-rā-tu al-ḥā-sū-bi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ea typeface="Calibri" pitchFamily="34" charset="-122"/>
                <a:cs typeface="Calibri" pitchFamily="34" charset="-120"/>
              </a:rPr>
              <a:t>GRAMMAR FOCUS · PART 1 · THE FUTURE WITH SA- AND SAWFA (WEBSITE RULES 1–2)</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Present + sa- = future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سَـ · سَوْفَ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06170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Present</a:t>
            </a:r>
            <a:endParaRPr lang="en-US" sz="1100" dirty="0"/>
          </a:p>
        </p:txBody>
      </p:sp>
      <p:sp>
        <p:nvSpPr>
          <p:cNvPr id="17" name="Text 14"/>
          <p:cNvSpPr txBox="1"/>
          <p:nvPr/>
        </p:nvSpPr>
        <p:spPr>
          <a:xfrm>
            <a:off x="595274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Future with sa-</a:t>
            </a:r>
            <a:endParaRPr lang="en-US" sz="1100" dirty="0"/>
          </a:p>
        </p:txBody>
      </p:sp>
      <p:sp>
        <p:nvSpPr>
          <p:cNvPr id="18" name="Text 15"/>
          <p:cNvSpPr txBox="1"/>
          <p:nvPr/>
        </p:nvSpPr>
        <p:spPr>
          <a:xfrm>
            <a:off x="2660904"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Future with sawfa</a:t>
            </a:r>
            <a:endParaRPr lang="en-US" sz="1100" dirty="0"/>
          </a:p>
        </p:txBody>
      </p:sp>
      <p:sp>
        <p:nvSpPr>
          <p:cNvPr id="19" name="Text 16"/>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Who</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079992" y="2267712"/>
            <a:ext cx="25603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أَدْرُسُ</a:t>
            </a:r>
            <a:endParaRPr lang="ar-SA" sz="2400" dirty="0"/>
          </a:p>
        </p:txBody>
      </p:sp>
      <p:sp>
        <p:nvSpPr>
          <p:cNvPr id="22" name="Text 19"/>
          <p:cNvSpPr txBox="1"/>
          <p:nvPr/>
        </p:nvSpPr>
        <p:spPr>
          <a:xfrm>
            <a:off x="5971032" y="2267712"/>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سَ</a:t>
            </a:r>
            <a:pPr rtl="1" algn="ctr" indent="0" marL="0">
              <a:buNone/>
            </a:pPr>
            <a:r>
              <a:rPr lang="ar-SA" altLang="en-US" sz="2400" b="1" dirty="0">
                <a:solidFill>
                  <a:srgbClr val="1B3B6F"/>
                </a:solidFill>
                <a:latin typeface="Amiri" pitchFamily="34" charset="0"/>
                <a:ea typeface="Amiri" pitchFamily="34" charset="-122"/>
                <a:cs typeface="Amiri" pitchFamily="34" charset="-120"/>
              </a:rPr>
              <a:t>أَدْرُسُ</a:t>
            </a:r>
            <a:endParaRPr lang="ar-SA" sz="2400" dirty="0"/>
          </a:p>
        </p:txBody>
      </p:sp>
      <p:sp>
        <p:nvSpPr>
          <p:cNvPr id="23" name="Text 20"/>
          <p:cNvSpPr txBox="1"/>
          <p:nvPr/>
        </p:nvSpPr>
        <p:spPr>
          <a:xfrm>
            <a:off x="2679192" y="2267712"/>
            <a:ext cx="310896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سَوْفَ</a:t>
            </a:r>
            <a:pPr rtl="1" algn="ctr" indent="0" marL="0">
              <a:buNone/>
            </a:pPr>
            <a:r>
              <a:rPr lang="ar-SA" altLang="en-US" sz="2400" b="1" dirty="0">
                <a:solidFill>
                  <a:srgbClr val="1B3B6F"/>
                </a:solidFill>
                <a:latin typeface="Amiri" pitchFamily="34" charset="0"/>
                <a:ea typeface="Amiri" pitchFamily="34" charset="-122"/>
                <a:cs typeface="Amiri" pitchFamily="34" charset="-120"/>
              </a:rPr>
              <a:t> أَدْرُسُ</a:t>
            </a:r>
            <a:endParaRPr lang="ar-SA" sz="2400" dirty="0"/>
          </a:p>
        </p:txBody>
      </p:sp>
      <p:sp>
        <p:nvSpPr>
          <p:cNvPr id="24" name="Text 21"/>
          <p:cNvSpPr txBox="1"/>
          <p:nvPr/>
        </p:nvSpPr>
        <p:spPr>
          <a:xfrm>
            <a:off x="566928" y="2267712"/>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079992" y="3054096"/>
            <a:ext cx="25603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يَعْمَلُ</a:t>
            </a:r>
            <a:endParaRPr lang="ar-SA" sz="2400" dirty="0"/>
          </a:p>
        </p:txBody>
      </p:sp>
      <p:sp>
        <p:nvSpPr>
          <p:cNvPr id="29" name="Text 26"/>
          <p:cNvSpPr txBox="1"/>
          <p:nvPr/>
        </p:nvSpPr>
        <p:spPr>
          <a:xfrm>
            <a:off x="5971032" y="3054096"/>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سَ</a:t>
            </a:r>
            <a:pPr rtl="1" algn="ctr" indent="0" marL="0">
              <a:buNone/>
            </a:pPr>
            <a:r>
              <a:rPr lang="ar-SA" altLang="en-US" sz="2400" b="1" dirty="0">
                <a:solidFill>
                  <a:srgbClr val="1B3B6F"/>
                </a:solidFill>
                <a:latin typeface="Amiri" pitchFamily="34" charset="0"/>
                <a:ea typeface="Amiri" pitchFamily="34" charset="-122"/>
                <a:cs typeface="Amiri" pitchFamily="34" charset="-120"/>
              </a:rPr>
              <a:t>يَعْمَلُ</a:t>
            </a:r>
            <a:endParaRPr lang="ar-SA" sz="2400" dirty="0"/>
          </a:p>
        </p:txBody>
      </p:sp>
      <p:sp>
        <p:nvSpPr>
          <p:cNvPr id="30" name="Text 27"/>
          <p:cNvSpPr txBox="1"/>
          <p:nvPr/>
        </p:nvSpPr>
        <p:spPr>
          <a:xfrm>
            <a:off x="2679192" y="3054096"/>
            <a:ext cx="310896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سَوْفَ</a:t>
            </a:r>
            <a:pPr rtl="1" algn="ctr" indent="0" marL="0">
              <a:buNone/>
            </a:pPr>
            <a:r>
              <a:rPr lang="ar-SA" altLang="en-US" sz="2400" b="1" dirty="0">
                <a:solidFill>
                  <a:srgbClr val="1B3B6F"/>
                </a:solidFill>
                <a:latin typeface="Amiri" pitchFamily="34" charset="0"/>
                <a:ea typeface="Amiri" pitchFamily="34" charset="-122"/>
                <a:cs typeface="Amiri" pitchFamily="34" charset="-120"/>
              </a:rPr>
              <a:t> يَعْمَلُ</a:t>
            </a:r>
            <a:endParaRPr lang="ar-SA" sz="2400" dirty="0"/>
          </a:p>
        </p:txBody>
      </p:sp>
      <p:sp>
        <p:nvSpPr>
          <p:cNvPr id="31" name="Text 28"/>
          <p:cNvSpPr txBox="1"/>
          <p:nvPr/>
        </p:nvSpPr>
        <p:spPr>
          <a:xfrm>
            <a:off x="566928" y="3054096"/>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he</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079992" y="3840480"/>
            <a:ext cx="25603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تَتَدَرَّبُ</a:t>
            </a:r>
            <a:endParaRPr lang="ar-SA" sz="2400" dirty="0"/>
          </a:p>
        </p:txBody>
      </p:sp>
      <p:sp>
        <p:nvSpPr>
          <p:cNvPr id="36" name="Text 33"/>
          <p:cNvSpPr txBox="1"/>
          <p:nvPr/>
        </p:nvSpPr>
        <p:spPr>
          <a:xfrm>
            <a:off x="5971032" y="3840480"/>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سَ</a:t>
            </a:r>
            <a:pPr rtl="1" algn="ctr" indent="0" marL="0">
              <a:buNone/>
            </a:pPr>
            <a:r>
              <a:rPr lang="ar-SA" altLang="en-US" sz="2400" b="1" dirty="0">
                <a:solidFill>
                  <a:srgbClr val="1B3B6F"/>
                </a:solidFill>
                <a:latin typeface="Amiri" pitchFamily="34" charset="0"/>
                <a:ea typeface="Amiri" pitchFamily="34" charset="-122"/>
                <a:cs typeface="Amiri" pitchFamily="34" charset="-120"/>
              </a:rPr>
              <a:t>تَتَدَرَّبُ</a:t>
            </a:r>
            <a:endParaRPr lang="ar-SA" sz="2400" dirty="0"/>
          </a:p>
        </p:txBody>
      </p:sp>
      <p:sp>
        <p:nvSpPr>
          <p:cNvPr id="37" name="Text 34"/>
          <p:cNvSpPr txBox="1"/>
          <p:nvPr/>
        </p:nvSpPr>
        <p:spPr>
          <a:xfrm>
            <a:off x="2679192" y="3840480"/>
            <a:ext cx="310896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سَوْفَ</a:t>
            </a:r>
            <a:pPr rtl="1" algn="ctr" indent="0" marL="0">
              <a:buNone/>
            </a:pPr>
            <a:r>
              <a:rPr lang="ar-SA" altLang="en-US" sz="2400" b="1" dirty="0">
                <a:solidFill>
                  <a:srgbClr val="1B3B6F"/>
                </a:solidFill>
                <a:latin typeface="Amiri" pitchFamily="34" charset="0"/>
                <a:ea typeface="Amiri" pitchFamily="34" charset="-122"/>
                <a:cs typeface="Amiri" pitchFamily="34" charset="-120"/>
              </a:rPr>
              <a:t> تَتَدَرَّبُ</a:t>
            </a:r>
            <a:endParaRPr lang="ar-SA" sz="2400" dirty="0"/>
          </a:p>
        </p:txBody>
      </p:sp>
      <p:sp>
        <p:nvSpPr>
          <p:cNvPr id="38" name="Text 35"/>
          <p:cNvSpPr txBox="1"/>
          <p:nvPr/>
        </p:nvSpPr>
        <p:spPr>
          <a:xfrm>
            <a:off x="566928" y="3840480"/>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she</a:t>
            </a:r>
            <a:endParaRPr lang="en-US" sz="11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9079992" y="4626864"/>
            <a:ext cx="25603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نُسَافِرُ</a:t>
            </a:r>
            <a:endParaRPr lang="ar-SA" sz="2400" dirty="0"/>
          </a:p>
        </p:txBody>
      </p:sp>
      <p:sp>
        <p:nvSpPr>
          <p:cNvPr id="43" name="Text 40"/>
          <p:cNvSpPr txBox="1"/>
          <p:nvPr/>
        </p:nvSpPr>
        <p:spPr>
          <a:xfrm>
            <a:off x="5971032" y="4626864"/>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سَ</a:t>
            </a:r>
            <a:pPr rtl="1" algn="ctr" indent="0" marL="0">
              <a:buNone/>
            </a:pPr>
            <a:r>
              <a:rPr lang="ar-SA" altLang="en-US" sz="2400" b="1" dirty="0">
                <a:solidFill>
                  <a:srgbClr val="1B3B6F"/>
                </a:solidFill>
                <a:latin typeface="Amiri" pitchFamily="34" charset="0"/>
                <a:ea typeface="Amiri" pitchFamily="34" charset="-122"/>
                <a:cs typeface="Amiri" pitchFamily="34" charset="-120"/>
              </a:rPr>
              <a:t>نُسَافِرُ</a:t>
            </a:r>
            <a:endParaRPr lang="ar-SA" sz="2400" dirty="0"/>
          </a:p>
        </p:txBody>
      </p:sp>
      <p:sp>
        <p:nvSpPr>
          <p:cNvPr id="44" name="Text 41"/>
          <p:cNvSpPr txBox="1"/>
          <p:nvPr/>
        </p:nvSpPr>
        <p:spPr>
          <a:xfrm>
            <a:off x="2679192" y="4626864"/>
            <a:ext cx="310896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سَوْفَ</a:t>
            </a:r>
            <a:pPr rtl="1" algn="ctr" indent="0" marL="0">
              <a:buNone/>
            </a:pPr>
            <a:r>
              <a:rPr lang="ar-SA" altLang="en-US" sz="2400" b="1" dirty="0">
                <a:solidFill>
                  <a:srgbClr val="1B3B6F"/>
                </a:solidFill>
                <a:latin typeface="Amiri" pitchFamily="34" charset="0"/>
                <a:ea typeface="Amiri" pitchFamily="34" charset="-122"/>
                <a:cs typeface="Amiri" pitchFamily="34" charset="-120"/>
              </a:rPr>
              <a:t> نُسَافِرُ</a:t>
            </a:r>
            <a:endParaRPr lang="ar-SA" sz="2400" dirty="0"/>
          </a:p>
        </p:txBody>
      </p:sp>
      <p:sp>
        <p:nvSpPr>
          <p:cNvPr id="45" name="Text 42"/>
          <p:cNvSpPr txBox="1"/>
          <p:nvPr/>
        </p:nvSpPr>
        <p:spPr>
          <a:xfrm>
            <a:off x="566928" y="4626864"/>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a:t>
            </a:r>
            <a:endParaRPr lang="en-US" sz="1100" dirty="0"/>
          </a:p>
        </p:txBody>
      </p:sp>
      <p:sp>
        <p:nvSpPr>
          <p:cNvPr id="46" name="Text 4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sa- is joined to the verb; sawfa is a separate word (more deliberate / formal). Same meaning: will.</a:t>
            </a:r>
            <a:endParaRPr lang="en-US" sz="11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AMBITION AND PURPOSE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I aim for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أَطْمَحُ إِلَى أَنْ · لِكَيْ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28700" cy="274320"/>
          </a:xfrm>
          <a:prstGeom prst="roundRect">
            <a:avLst>
              <a:gd name="adj" fmla="val 50000"/>
            </a:avLst>
          </a:prstGeom>
          <a:solidFill>
            <a:srgbClr val="1E7B4F"/>
          </a:solidFill>
          <a:ln w="12700">
            <a:solidFill>
              <a:srgbClr val="1E7B4F"/>
            </a:solidFill>
            <a:prstDash val="solid"/>
          </a:ln>
        </p:spPr>
      </p:sp>
      <p:sp>
        <p:nvSpPr>
          <p:cNvPr id="17" name="Text 14"/>
          <p:cNvSpPr txBox="1"/>
          <p:nvPr/>
        </p:nvSpPr>
        <p:spPr>
          <a:xfrm>
            <a:off x="8232648"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WANT · CORE</a:t>
            </a:r>
            <a:endParaRPr lang="en-US" sz="850" dirty="0"/>
          </a:p>
        </p:txBody>
      </p:sp>
      <p:sp>
        <p:nvSpPr>
          <p:cNvPr id="18" name="Text 15"/>
          <p:cNvSpPr txBox="1"/>
          <p:nvPr/>
        </p:nvSpPr>
        <p:spPr>
          <a:xfrm>
            <a:off x="9307068"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أُرِيدُ أَنْ أُصْبِحَ</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أُرِيدُ أَنْ أُصْبِحَ مُهَنْدِسًا.</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want to become an engineer.</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Job after uṣbiḥa: -an.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0876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AMBITION · DEVELOP</a:t>
            </a:r>
            <a:endParaRPr lang="en-US" sz="850" dirty="0"/>
          </a:p>
        </p:txBody>
      </p:sp>
      <p:sp>
        <p:nvSpPr>
          <p:cNvPr id="26" name="Text 23"/>
          <p:cNvSpPr txBox="1"/>
          <p:nvPr/>
        </p:nvSpPr>
        <p:spPr>
          <a:xfrm>
            <a:off x="5967984"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أَطْمَحُ إِلَى أَنْ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أَطْمَحُ إِلَى أَنْ أُدِيرَ شَرِكَةً.</a:t>
            </a:r>
            <a:endParaRPr lang="ar-SA" sz="30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aspire to run a company.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ilā an + verb (-a).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PURPOSE · DEVELOP</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لِكَيْ · حَتَّى</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سَأَدْرُسُ بِجِدٍّ لِكَيْ أَنْجَحَ.</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will study hard in order to succeed.</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Verb after li-kay ends in -a.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sa- is joined to the verb.</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سَأَدْرُسُ الطِّبَّ.</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سَ أَدْرُسُ الطِّبَّ.</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Future tense and purpose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السِّينُ وَسَوْفَ وَالتَّعْبِيرُ عَنِ الغَرَضِ</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Near or planned future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سَـ + المُضَارِع</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سَأَدْرُسُ الطِّبَّ.   ·   سَأَعْمَلُ فِي الخَارِجِ.</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Future with </a:t>
            </a:r>
            <a:pPr algn="l" indent="0" marL="0">
              <a:buNone/>
            </a:pPr>
            <a:r>
              <a:rPr lang="ar-SA" altLang="en-US" sz="1650" b="1" dirty="0">
                <a:solidFill>
                  <a:srgbClr val="1B3B6F"/>
                </a:solidFill>
                <a:latin typeface="Amiri" pitchFamily="34" charset="0"/>
                <a:ea typeface="Amiri" pitchFamily="34" charset="-122"/>
                <a:cs typeface="Amiri" pitchFamily="34" charset="-120"/>
              </a:rPr>
              <a:t>سوف</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سَوْفَ + المُضَارِع</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سَوْفَ أَتَدَرَّبُ فِي شَرِكَةٍ.   ·   سَوْفَ أَكْتَسِبُ خِبْرَةً.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Ambition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أَطْمَحُ إِلَى أَنْ + مُضَارِع</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أَطْمَحُ إِلَى أَنْ أُصْبِحَ مُهَنْدِسًا.   ·   أَطْمَحُ إِلَى أَنْ أُدِيرَ شَرِكَةً.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Purpose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لِكَيْ / حَتَّى + مُضَارِعٌ مَنْصُوبٌ</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سَأَدْرُسُ بِجِدٍّ لِكَيْ أَنْجَحَ.   ·   سَأَتَدَرَّبُ حَتَّى أَكْتَسِبَ خِبْرَةً.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“I will study”?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أَدْرُسُ</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دَرَسْتُ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سَأَدْرُسُ</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تَتَدَرَّبُ هِنْدٌ فِي شَرِكَةٍ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سَوْفَ</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قَدْ</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future for “he works”.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سَتَعْمَلُ</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سَيَعْمَلُ</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سَأَعْمَلُ</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سَأَدْرُسُ بِجِدٍّ لِكَيْ ___ .</a:t>
            </a:r>
            <a:endParaRPr lang="ar-SA" sz="150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أَنْجَحَ</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نَجَحْتُ</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سَأَنْجَحُ</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“I will study”?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أَدْرُسُ</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دَرَسْتُ</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سَأَدْرُسُ</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sa- + adrusu.</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تَتَدَرَّبُ هِنْدٌ فِي شَرِكَةٍ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سَوْفَ</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لَمْ</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قَدْ</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sawfa = will.</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future for “he works”.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سَتَعْمَلُ</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سَيَعْمَلُ</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سَأَعْمَلُ</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 sa-ya-.</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سَأَدْرُسُ بِجِدٍّ لِكَيْ ___ .</a:t>
            </a:r>
            <a:endParaRPr lang="ar-SA" sz="150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أَنْجَحَ</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نَجَحْتُ</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سَأَنْجَحُ</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li-kay: present verb in -a.</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plan a career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Ambition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أَطْمَحُ إِلَى أَنْ </a:t>
            </a:r>
            <a:pPr rtl="1" algn="ctr" indent="0" marL="0">
              <a:lnSpc>
                <a:spcPct val="120000"/>
              </a:lnSpc>
              <a:buNone/>
            </a:pPr>
            <a:r>
              <a:rPr lang="ar-SA" altLang="en-US" sz="2000" b="1" dirty="0">
                <a:solidFill>
                  <a:srgbClr val="1D5FBF"/>
                </a:solidFill>
                <a:latin typeface="Amiri" pitchFamily="34" charset="0"/>
                <a:ea typeface="Amiri" pitchFamily="34" charset="-122"/>
                <a:cs typeface="Amiri" pitchFamily="34" charset="-120"/>
              </a:rPr>
              <a:t>أُصْبِحَ</a:t>
            </a:r>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 مُهَنْدِسًا.</a:t>
            </a:r>
            <a:endParaRPr lang="ar-SA" sz="20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ilā an + verb (-a).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Step 1</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0E7C86"/>
                </a:solidFill>
                <a:latin typeface="Amiri" pitchFamily="34" charset="0"/>
                <a:ea typeface="Amiri" pitchFamily="34" charset="-122"/>
                <a:cs typeface="Amiri" pitchFamily="34" charset="-120"/>
              </a:rPr>
              <a:t>سَ</a:t>
            </a:r>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أَدْرُسُ الرِّيَاضِيَّاتِ فِي الجَامِعَةِ.</a:t>
            </a:r>
            <a:endParaRPr lang="ar-SA" sz="1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sa- + present.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Step 2 + why</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سَوْفَ</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أَتَدَرَّبُ فِي شَرِكَةٍ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لِكَيْ</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أَكْتَسِبَ خِبْرَةً.</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Purpose: li-kay + -a.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Condition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إِذَا نَجَحْتُ، </a:t>
            </a:r>
            <a:pPr rtl="1" algn="ctr" indent="0" marL="0">
              <a:lnSpc>
                <a:spcPct val="120000"/>
              </a:lnSpc>
              <a:buNone/>
            </a:pPr>
            <a:r>
              <a:rPr lang="ar-SA" altLang="en-US" sz="1850" b="1" dirty="0">
                <a:solidFill>
                  <a:srgbClr val="0E7C86"/>
                </a:solidFill>
                <a:latin typeface="Amiri" pitchFamily="34" charset="0"/>
                <a:ea typeface="Amiri" pitchFamily="34" charset="-122"/>
                <a:cs typeface="Amiri" pitchFamily="34" charset="-120"/>
              </a:rPr>
              <a:t>سَ</a:t>
            </a:r>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أَعْمَلُ فِي الخَارِجِ.</a:t>
            </a:r>
            <a:endParaRPr lang="ar-SA" sz="18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If I succeed → sa-.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FUTURE</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AMBITION</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PURPOSE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فِي المُسْتَقْبَلِ أَطْمَحُ إِلَى أَنْ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أُصْبِحَ</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مُهَنْدِسًا. بَعْدَ المَدْرَسَةِ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سَ</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أَدْرُسُ الرِّيَاضِيَّاتِ وَالفِيزِيَاءَ فِي الجَامِعَةِ، ثُمَّ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سَوْفَ</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أَتَدَرَّبُ فِي شَرِكَةِ بِنَاءٍ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لِكَيْ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أَكْتَسِبَ خِبْرَةً عَمَلِيَّةً. إِذَا نَجَحْتُ،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سَ</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أَعْمَلُ فِي الخَارِجِ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حَتَّى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أَتَعَلَّمَ مِنْ مُهَنْدِسِينَ مِنْ ثَقَافَاتٍ مُخْتَلِفَةٍ.</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In the future I aspire to become an engineer. After school I will study mathematics and physics at university, then I will train in a building company in order to gain practical experience. If I succeed, I will work abroad so that I learn from engineers from different cultures.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ea typeface="Calibri" pitchFamily="34" charset="-122"/>
                <a:cs typeface="Calibri" pitchFamily="34" charset="-120"/>
              </a:rPr>
              <a:t>I DO · MODEL SENTENCES (TEACHER-WRITTEN ON THE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سَأَدْرُسُ الطِّبَّ فِي الجَامِعَةِ.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will study medicine at university.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sa- joined to the verb.</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سَوْفَ تَتَدَرَّبُ هِنْدٌ فِي شَرِكَةٍ.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Hind will train in a company.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sawfa + she-verb (ta-).</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أَطْمَحُ إِلَى أَنْ أُصْبِحَ مُهَنْدِسًا.</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aspire to become an engineer.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ilā an + verb; job in -an.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سَأَتَدَرَّبُ حَتَّى أَكْتَسِبَ خِبْرَةً.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will train so that I gain experience.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Purpose + verb (-a).</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THE FUTURE TENSE — PLANS, AMBITIONS AND CAREER GOALS”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will I do?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خُطَطُ المُسْتَقْبَلِ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programmer</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travel abroad</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develop skills</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سَأُطَوِّرُ مَهَارَاتِي.</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سَأَعْمَلُ مُبَرْمِجًا.</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سَأُسَافِرُ إِلَى الخَارِجِ.</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خُطَطُ المُسْتَقْبَلِ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programmer</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سَأَعْمَلُ مُبَرْمِجًا.</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will work as a programmer.</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travel abroad</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سَأُسَافِرُ إِلَى الخَارِجِ.</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will travel abroad.</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develop skills</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سَأُطَوِّرُ مَهَارَاتِي.</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will develop my skills.</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Future or present?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سَأَدْرُسُ الطِّبَّ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سَوْفَ يَتَدَرَّبُ</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سَتَعْمَلُ فِي الخَارِجِ</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سَنُسَافِرُ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أَدْرُسُ العُلُومَ</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يَعْمَلُ فِي مَكْتَبٍ</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تَتَدَرَّبُ الآنَ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نَسْكُنُ فِي لَنْدَنَ</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Future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Present</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Future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سَأَدْرُسُ الطِّبَّ</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سَوْفَ يَتَدَرَّبُ</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سَتَعْمَلُ فِي الخَارِجِ</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سَنُسَافِرُ</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Present</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أَدْرُسُ العُلُومَ</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يَعْمَلُ فِي مَكْتَبٍ</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تَتَدَرَّبُ الآنَ</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نَسْكُنُ فِي لَنْدَنَ</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أَطْمَحُ ___ أَنْ أُصْبِحَ طَبِيبًا.</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gives a purpose?</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لٰكِنَّ</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لِكَيْ</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بَيْنَمَا</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أَنْوِي أَنْ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succeed in</a:t>
            </a:r>
            <a:endParaRPr lang="en-US" sz="12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intend to</a:t>
            </a:r>
            <a:endParaRPr lang="en-US" sz="12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need to</a:t>
            </a:r>
            <a:endParaRPr lang="en-US" sz="12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1" name="Text 58"/>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أُرِيدُ أَنْ أُصْبِحَ ___ .</a:t>
            </a:r>
            <a:endParaRPr lang="ar-SA" sz="150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مُهَنْدِسٌ</a:t>
            </a:r>
            <a:endParaRPr lang="ar-SA" sz="20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مُهَنْدِسِينَ</a:t>
            </a:r>
            <a:endParaRPr lang="ar-SA" sz="20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مُهَنْدِسًا</a:t>
            </a:r>
            <a:endParaRPr lang="ar-SA" sz="20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أَطْمَحُ ___ أَنْ أُصْبِحَ طَبِيبًا.</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aṭmaḥu ilā an …</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gives a purpose?</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لٰكِنَّ</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لِكَيْ</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بَيْنَمَا</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li-kay = in order to.</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أَنْوِي أَنْ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succeed in</a:t>
            </a:r>
            <a:endParaRPr lang="en-US" sz="125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intend to</a:t>
            </a:r>
            <a:endParaRPr lang="en-US" sz="125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need to</a:t>
            </a:r>
            <a:endParaRPr lang="en-US" sz="125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niyya = intention.</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7" name="Text 64"/>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أُرِيدُ أَنْ أُصْبِحَ ___ .</a:t>
            </a:r>
            <a:endParaRPr lang="ar-SA" sz="150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مُهَنْدِسٌ</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مُهَنْدِسِينَ</a:t>
            </a:r>
            <a:endParaRPr lang="ar-SA" sz="170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مُهَنْدِسًا</a:t>
            </a:r>
            <a:endParaRPr lang="ar-SA" sz="17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Job after uṣbiḥa: -an.</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سَوْفَ سَأَدْرُسُ الطِّبَّ.</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sa- or sawfa: both?</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أَطْمَحُ إِلَى أَنْ أُصْبِحُ مُهَنْدِسًا.</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After an: -u or -a?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سَتَدْرُسُ عُمَرُ الهَنْدَسَةَ.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Omar = he: which prefix?</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سَوْفَ سَأَدْرُسُ الطِّبَّ.</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سَوْفَ أَدْرُسُ الطِّبَّ.</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sa- OR sawfa, not both.</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أَطْمَحُ إِلَى أَنْ أُصْبِحُ مُهَنْدِسًا.</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أَطْمَحُ إِلَى أَنْ أُصْبِحَ مُهَنْدِسًا.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an the verb ends in -a.</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سَتَدْرُسُ عُمَرُ الهَنْدَسَةَ.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سَيَدْرُسُ عُمَرُ الهَنْدَسَةَ.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Omar is “he” → sa-ya-.</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Three career plans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Omar want to become?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engineer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doctor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designer</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Omar study at university?</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medicine</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computing</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maths and physics</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Hind join?</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nursing course</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language course</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design course</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will she join it?</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build a portfolio</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find a job abroad</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meet friends</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Yusuf plan to train?</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school</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hospital</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bank</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Yusuf want to check?</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nursing suits him</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the salary is high</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the hours are short</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مُهَنْدِسًا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التَّصْمِيمِ</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مُسْتَشْفًى</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يُرِيدُ عُمَرُ أَنْ يُصْبِحَ مُهَنْدِسًا،</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Omar wants to become an engineer,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لِذٰلِكَ سَيَدْرُسُ الرِّيَاضِيَّاتِ وَالفِيزِيَاءَ فِي الجَامِعَةِ.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 he will study maths and physics at university.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هِنْدٌ فَسَوْفَ تَلْتَحِقُ بِدَوْرَةٍ فِي التَّصْمِيمِ لِكَيْ تَبْنِيَ مَلَفَّ أَعْمَالٍ.</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Hind, she will join a design course in order to build a portfolio.</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وَيُخَطِّطُ يُوسُفُ لِلتَّدَرُّبِ فِي مُسْتَشْفًى</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Yusuf plans to train in a hospital</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حَتَّى يَتَأَكَّدَ مِنْ أَنَّ التَّمْرِيضَ يُنَاسِبُهُ.</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 that he can make sure nursing suits him.</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Omar want to become?</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engineer</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doctor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designer</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يُرِيدُ عُمَرُ أَنْ يُصْبِحَ مُهَنْدِسًا</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Omar study at university?</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medicine</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computing</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maths and physics</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سَيَدْرُسُ الرِّيَاضِيَّاتِ وَالفِيزِيَاءَ</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Hind join?</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nursing course</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language course</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design course</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سَوْفَ تَلْتَحِقُ بِدَوْرَةٍ فِي التَّصْمِيمِ</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will she join it?</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build a portfolio</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find a job abroad</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meet friends</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لِكَيْ تَبْنِيَ مَلَفَّ أَعْمَالٍ</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Yusuf plan to train?</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a school</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a hospital</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a bank</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لِلتَّدَرُّبِ فِي مُسْتَشْفًى</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Yusuf want to check?</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that nursing suits him</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the salary is high</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the hours are short</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حَتَّى يَتَأَكَّدَ مِنْ أَنَّ التَّمْرِيضَ يُنَاسِبُهُ</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مُهَنْدِسًا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التَّصْمِيمِ</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مُسْتَشْفًى</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career plans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سَتَدْرُسُ بَعْدَ المَدْرَسَةِ؟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تُرِيدُ أَنْ تُصْبِحَ فِي المُسْتَقْبَلِ؟</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لِمَاذَا تُرِيدُ هٰذِهِ المِهْنَةَ؟</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خُطَّتُكَ إِذَا لَمْ تَنْجَحْ فِي الخُطَّةِ الأُولَى؟</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سَأَدْرُسُ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أُرِيدُ أَنْ أُصْبِحَ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34" charset="0"/>
                <a:ea typeface="Amiri" pitchFamily="34" charset="-122"/>
                <a:cs typeface="Amiri" pitchFamily="34" charset="-120"/>
              </a:rPr>
              <a:t>أَطْمَحُ إِلَى ذٰلِكَ لِأَنَّ ___ ، وَسَوْفَ ___ لِكَيْ ___ .</a:t>
            </a:r>
            <a:endParaRPr lang="ar-SA" sz="13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إِذَا لَمْ أَنْجَحْ، سَوْفَ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مَاذَا سَتَفْعَلُ بَعْدَ المَدْرَسَةِ؟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will you do after school?</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سَأَدْرُسُ عُلُومَ الحَاسُوبِ فِي الجَامِعَةِ.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will study computer science at university.</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What you want to become, two things you will do (sa-), and one reason.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Ambition + route (sa- / sawfa) + a purpose (li-kay / ḥattā) for two steps.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comparison, contrast, precise evidence and independently controlled complex structures.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your plan, the route and the purpose of EACH step, plus “if I succeed …”.</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أَطْمَحُ إِلَى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aspire to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سَوْفَ أَتَدَرَّبُ فِي ______ لِكَيْ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will train in … in order to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سَأَتَعَلَّمُ ______ حَتَّى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will learn … so that I can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نَجَحْتُ، سَـ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I succeed, I will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المُسْتَقْبَلِ أُرِيدُ أَنْ أُصْبِحَ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the future I want to become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بَعْدَ المَدْرَسَةِ سَأَدْرُسُ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After school I will study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ثُمَّ سَأَعْمَلُ فِي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Then I will work in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لِأَنَّنِي أُحِبُّ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because I love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سَأَدْرُسُ  ·  سَأَعْمَلُ  ·  سَوْفَ أَتَدَرَّبُ  ·  أُرِيدُ أَنْ أُصْبِحَ  ·  أَطْمَحُ إِلَى أَنْ  ·  أَنْوِي أَنْ  ·  لِكَيْ  ·  حَتَّى  ·  أَكْتَسِبَ خِبْرَةً  ·  بَعْدَ التَّخَرُّجِ  ·  فِي المُسْتَقْبَلِ  ·  إِذَا نَجَحْتُ</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about your future career plan, the route you will follow and the purpose of each step.</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Address every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least two target structures from the grammar lesson.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 evidence, reason or comparison.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Check agreement, verb patterns and spelling.</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مَجَالِ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the field of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أَبْحَثُ عَنْ تَدْرِيبٍ عَمَلِيٍّ</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look for a work placement</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أُطَوِّرُ مَهَارَاتِي فِي …</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develop my skills in …</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قَدْ أُؤَسِّسُ شَرِكَتِي الخَاصَّةَ يَوْمًا مَا</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may found my own company one day</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عَلَى الرَّغْمِ مِنْ أَنَّ الطَّرِيقَ طَوِيلٌ</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although the road is long</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المُسْتَقْبَلِ أَطْمَحُ إِلَى أَنْ أُصْبِحَ مُهَنْدِسًا لِأَنَّنِي أُحِبُّ الرِّيَاضِيَّاتِ وَحَلَّ المُشْكِلَاتِ. بَعْدَ المَدْرَسَةِ سَأَدْرُسُ الهَنْدَسَةَ فِي الجَامِعَةِ، وَسَوْفَ أَبْحَثُ عَنْ تَدْرِيبٍ عَمَلِيٍّ فِي شَرِكَةِ بِنَاءٍ لِكَيْ أَكْتَسِبَ خِبْرَةً. كَمَا سَأَتَعَلَّمُ لُغَةً أَجْنَبِيَّةً حَتَّى أَسْتَطِيعَ العَمَلَ مَعَ فَرِيقٍ دَوْلِيٍّ. إِذَا نَجَحْتُ فِي هٰذِهِ الخُطَّةِ، فَسَأَعْمَلُ فِي الخَارِجِ لِمُدَّةِ سَنَتَيْنِ. عَلَى الرَّغْمِ مِنْ أَنَّ الطَّرِيقَ طَوِيلٌ، فَإِنَّنِي مُسْتَعِدٌّ لِلْعَمَلِ بِجِدٍّ.</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In the future I aspire to become an engineer because I love maths and solving problems. After school I will study engineering at university, and I will look for a work placement in a building company in order to gain experience. I will also learn a foreign language so that I can work with an international team. If I succeed in this plan, I will work abroad for two years. Although the road is long, I am ready to work hard.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ambition (aṭmaḥu ilā an)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sa- and sawfa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li-kay / ḥattā + verb (-a)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condition (if I succeed)</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future verbs start with sa- or sawfa.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The job after uṣbiḥa ends in -an.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an / li-kay / ḥattā: verb in -a.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Each step has a purpose.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added a condition (if I succeed).</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future for “she studies”.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سَتَدْرُسُ</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سَيَدْرُسُ</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سَأَدْرُسُ</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gives a purpose?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سَأَتَدَرَّبُ فِي شَرِكَةٍ.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سَأَتَدَرَّبُ حَتَّى أَكْتَسِبَ خِبْرَةً.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تَدَرَّبْتُ أَمْسِ.</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أَطْمَحُ إِلَى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شَرِكَةً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أُدِيرَ</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أَدَرْتُ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سَأُدِيرُ</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future for “she studies”.</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سَتَدْرُسُ</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سَيَدْرُسُ</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سَأَدْرُسُ</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 sa-ta-.</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gives a purpose?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سَأَتَدَرَّبُ فِي شَرِكَةٍ.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سَأَتَدَرَّبُ حَتَّى أَكْتَسِبَ خِبْرَةً.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تَدَرَّبْتُ أَمْسِ.</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ḥattā + verb (-a) = so that.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أَطْمَحُ إِلَى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شَرِكَةً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أُدِيرَ</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أَدَرْتُ</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سَأُدِيرُ</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an: present verb in -a.</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five-year plan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المُسْتَقْبَلِ أَطْمَحُ إِلَى أَنْ أَعْمَلَ فِي مَجَالِ الأَمْنِ السِّيبْرَانِيِّ. بَعْدَ إِنْهَاءِ المَدْرَسَةِ سَأَدْرُسُ عُلُومَ الحَاسُوبِ، وَسَوْفَ أَبْحَثُ أَيْضًا عَنْ تَدْرِيبٍ عَمَلِيٍّ فِي شَرِكَةٍ تِقْنِيَّةٍ. أُرِيدُ أَنْ أَطَوِّرَ مَهَارَاتِي فِي البَرْمَجَةِ وَحَلِّ المُشْكِلَاتِ لِكَيْ أَحْمِيَ البَيَانَاتِ. إِذَا نَجَحْتُ فِي هٰذِهِ الخُطَّةِ، فَسَأَعْمَلُ فِي فَرِيقٍ دَوْلِيٍّ وَقَدْ أُؤَسِّسُ شَرِكَتِي الخَاصَّةَ يَوْمًا مَا.</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مَجَالِ</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field of</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الأَمْنِ السِّيبْرَانِيِّ</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cyber security</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إِنْهَاءِ المَدْرَسَةِ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finishing school</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عُلُومَ الحَاسُوبِ</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computer science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تَدْرِيبٍ عَمَلِيٍّ</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work placement</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شَرِكَةٍ تِقْنِيَّةٍ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tech company</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أُطَوِّرَ</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develop</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أَحْمِيَ البَيَانَاتِ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protect data</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فَرِيقٍ دَوْلِيٍّ</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an international team</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أُؤَسِّسُ</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found / set up</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field interests the writer?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medicine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cyber security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journalism</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the writer study?</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engineering</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languages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computer science</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practical step is planned?</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work placement in a tech company</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year abroad</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part-time job in a shop</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skills will be developed?</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leadership and design</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programming and problem solving</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languages and teamwork</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purpose of these skills?</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protect data</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earn more money</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travel</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long-term possibility is mentioned?</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becoming a teacher</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retiring early</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founding a company one day</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field interests the writer?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medicine</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cyber security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journalism</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الأَمْنِ السِّيبْرَانِيِّ</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the writer study?</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engineering</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languages</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computer science</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سَأَدْرُسُ عُلُومَ الحَاسُوبِ</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practical step is planned?</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 work placement in a tech company</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year abroad</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part-time job in a shop</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تَدْرِيبٍ عَمَلِيٍّ فِي شَرِكَةٍ تِقْنِيَّةٍ</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skills will be developed?</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leadership and design</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programming and problem solving</a:t>
            </a:r>
            <a:endParaRPr lang="en-US" sz="11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languages and teamwork</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البَرْمَجَةِ وَحَلِّ المُشْكِلَاتِ</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purpose of these skills?</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protect data</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earn more money</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travel</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لِكَيْ أَحْمِيَ البَيَانَاتِ</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long-term possibility is mentioned?</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becoming a teacher</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retiring early</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founding a company one day</a:t>
            </a:r>
            <a:endParaRPr lang="en-US" sz="120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قَدْ أُؤَسِّسُ شَرِكَتِي الخَاصَّةَ</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D3-L04 · Future Plans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D3-L05: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D3-L05 · Education and Training — Routes to a Career</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جَامِعَةٌ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university</a:t>
            </a:r>
            <a:pPr indent="0" marL="0">
              <a:buNone/>
            </a:pPr>
            <a:r>
              <a:rPr lang="en-US" sz="1000" i="1" dirty="0">
                <a:solidFill>
                  <a:srgbClr val="5A6472"/>
                </a:solidFill>
                <a:latin typeface="Calibri" pitchFamily="34" charset="0"/>
                <a:ea typeface="Calibri" pitchFamily="34" charset="-122"/>
                <a:cs typeface="Calibri" pitchFamily="34" charset="-120"/>
              </a:rPr>
              <a:t>  pl. جَامِعَاتٌ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شَهَادَةٌ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certificate / degree</a:t>
            </a:r>
            <a:pPr indent="0" marL="0">
              <a:buNone/>
            </a:pPr>
            <a:r>
              <a:rPr lang="en-US" sz="1000" i="1" dirty="0">
                <a:solidFill>
                  <a:srgbClr val="5A6472"/>
                </a:solidFill>
                <a:latin typeface="Calibri" pitchFamily="34" charset="0"/>
                <a:ea typeface="Calibri" pitchFamily="34" charset="-122"/>
                <a:cs typeface="Calibri" pitchFamily="34" charset="-120"/>
              </a:rPr>
              <a:t>  pl. شَهَادَاتٌ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تَدْرِيبٌ عَمَلِيٌّ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work placement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دَوْرَةٌ تَدْرِيبِيَّةٌ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training course</a:t>
            </a:r>
            <a:pPr indent="0" marL="0">
              <a:buNone/>
            </a:pPr>
            <a:r>
              <a:rPr lang="en-US" sz="1000" i="1" dirty="0">
                <a:solidFill>
                  <a:srgbClr val="5A6472"/>
                </a:solidFill>
                <a:latin typeface="Calibri" pitchFamily="34" charset="0"/>
                <a:ea typeface="Calibri" pitchFamily="34" charset="-122"/>
                <a:cs typeface="Calibri" pitchFamily="34" charset="-120"/>
              </a:rPr>
              <a:t>  pl. دَوْرَاتٌ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مِنْحَةٌ دِرَاسِيَّةٌ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scholarship</a:t>
            </a:r>
            <a:pPr indent="0" marL="0">
              <a:buNone/>
            </a:pPr>
            <a:r>
              <a:rPr lang="en-US" sz="1000" i="1" dirty="0">
                <a:solidFill>
                  <a:srgbClr val="5A6472"/>
                </a:solidFill>
                <a:latin typeface="Calibri" pitchFamily="34" charset="0"/>
                <a:ea typeface="Calibri" pitchFamily="34" charset="-122"/>
                <a:cs typeface="Calibri" pitchFamily="34" charset="-120"/>
              </a:rPr>
              <a:t>  pl. مِنَحٌ</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Which route interests you more: university or a vocational course? Why?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أُفَضِّلُ … لِأَنَّ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Change 6 present sentences into the future (sa- / sawfa); write 5 sentences from the frames.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your plan in 80–100 words with li-kay / ḥattā.</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your career route with the purpose of each step (100–120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D3-L04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ea typeface="Cambria" pitchFamily="34" charset="-122"/>
                <a:cs typeface="Cambria" pitchFamily="34" charset="-120"/>
              </a:rPr>
              <a:t>D3-L05 · Education and Training — Routes to a Career</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التَّعْلِيمُ وَالتَّدْرِيبُ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future = sa- / sawfa + present — after an, li-kay and ḥattā the verb ends in -a.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D3-L04 · The Future Tense — Plans, Ambitions and Career Goals</dc:title>
  <dc:subject>PptxGenJS Presentation</dc:subject>
  <dc:creator>Al Madina Online School · Arabic Department</dc:creator>
  <cp:lastModifiedBy>Al Madina Online School · Arabic Department</cp:lastModifiedBy>
  <cp:revision>1</cp:revision>
  <dcterms:created xsi:type="dcterms:W3CDTF">2026-10-03T05:16:14Z</dcterms:created>
  <dcterms:modified xsi:type="dcterms:W3CDTF">2026-10-03T05:16:14Z</dcterms:modified>
</cp:coreProperties>
</file>