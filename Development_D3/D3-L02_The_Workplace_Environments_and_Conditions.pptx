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D3-L02. The website lesson “The Workplace — Environments and Work Conditions”: vocabulary, grammar rules and quiz, patterns, common mistakes, sorter, listening, reading, speaking prompts and model, writing task and model, differentiation, final check and the lesson mission. Picture match: website visual game “The Workplace — Environments and Work Conditions”.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condition phrases + “He works in a modern office / a safe environment” + one advantage (مِنْ مَزَايَا … أَنَّ …). Develop: الَّذِي / الَّتِي and a contrast (بَيْنَمَا / وَلٰكِنَّ). Stretch: weigh two workplaces and choose one (عَلَى الرَّغْمِ مِنْ أَنَّ …).
• Built on D3-L01 (فِي + workplace). New: the workplace now gets an adjective that AGREES (مَكْتَبٌ حَدِيثٌ / شَرِكَةٌ حَدِيثَةٌ).
• مِنْ مَزَايَا … أَنَّ was taught in F6-L05 (towns): same structure, new topic.
• Vocabulary group 1 (workplaces) is review from D3-L01 — revise it quickly or set it as FLEX.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D3-L01. Questions 3–4 retrieve D3-L01. Question 5 retrieves F6-L05 (advantages of a town).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workplace and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صنعت (industry) shares the root of مَصْنَعٌ (factory); توازن is identical. CAREFUL: Urdu مکتب is a (traditional) school; Arabic مَكْتَبٌ is an office or desk. رَاتِبٌ and سَنَوِيٌّ have no Urdu cognates — link them by meaning (تنخواہ، سالانہ).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FLEX: teach if time allows; otherwise these are on the website vocabulary tab for homework.
Review from D3-L01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FLEX: teach if time allows; otherwise these are on the website vocabulary tab for homework.
Review from D3-L01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(1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(2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connectors (FLEX): the same D3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connectors (FLEX): the same D3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“Place and condition” (يَعْمَلُ فِي + مَكَانٍ + صِفَةٍ: describe the location, then add an agreeing adjective) and “Relative clause” (الَّذِي for masculine and الَّتِي for feminine antecedents). Website examples: يَعْمَلُ فِي مَكْتَبٍ حَدِيثٍ · تَعْمَلُ فِي بِيئَةٍ آمِنَةٍ · المَكْتَبُ الَّذِي أَعْمَلُ فِيهِ · الشَّرِكَةُ الَّتِي تُوَفِّرُ تَدْرِيبًا.
Teacher additions: the adjective takes the noun’s case ending (فِي مَكْتَبٍ حَدِيثٍ: both -in after fī); the returning pronoun فِيهِ / فِيهَا. Core can stop at row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“Advantages and disadvantages” (a noun phrase followed by أَنَّ and a complete clause) and “Contrast” (بَيْنَمَا compares two situations; لٰكِنَّ qualifies a statement). Website examples: مِنْ مَزَايَا العَمَلِ أَنَّ سَاعَاتِهِ مَرِنَةٌ · مِنْ عُيُوبِهِ أَنَّهُ مُجْهِدٌ · الرَّاتِبُ مُرْتَفِعٌ، وَلٰكِنَّ السَّاعَاتِ طَوِيلَةٌ · أَعْمَلُ فِي مَكْتَبٍ، بَيْنَمَا يَعْمَلُ أَخِي فِي الهَوَاءِ الطَّلْقِ.
Stretch: after أَنَّ and لٰكِنَّ the noun takes -a (accusative): أَنَّ سَاعَاتِهِ (a feminine sound plural shows -i), لٰكِنَّ السَّاعَاتِ.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“وَصْفُ بِيئَةِ العَمَلِ وَالجُمَلُ المَوْصُولَةُ”
• Place and condition: Describe the location, then add an agreeing adjective.
• Relative clause: Use الذي for masculine and التي for feminine antecedents.
• Advantages and disadvantages: Use a noun phrase followed by أنَّ and a complete clause.
• Contrast: Use بينما to compare two situations and لكنّ to qualify a statement.
Website common error: Do not leave out أَنَّ after مِنْ مَزَايَا / مِنْ عُيُوبِ, and do not use الَّذِي with a feminine noun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from the website rules and the listening script (Samer on the building site). Think aloud: “Masculine or feminine place? Which clause? Where is my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تَعْمَلُ مَرْيَمُ فِي مُخْتَبَرٍ حَدِيثٍ مِنَ السَّاعَةِ الثَّامِنَةِ إِلَى الرَّابِعَةِ. تُحِبُّ بِيئَةَ العَمَلِ لِأَنَّهَا آمِنَةٌ وَمُنَظَّمَةٌ، وَلٰكِنَّ العَمَلَ يَحْتَاجُ إِلَى دِقَّةٍ شَدِيدَةٍ. أَمَّا سَامِرٌ فَيَعْمَلُ فِي مَوْقِعِ بِنَاءٍ. رَاتِبُهُ جَيِّدٌ، لٰكِنَّ عَمَلَهُ مُجْهِدٌ وَيَتَأَثَّرُ بِالطَّقْسِ.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عُيُوبُهُ؟ (And its disadvantages?)
B: مِنْ عُيُوبِهِ أَنَّ السَّاعَاتِ طَوِيلَةٌ، وَلٰكِنَّ الرَّاتِبَ مُرْتَفِعٌ. (One disadvantage is that the hours are long, but the salary is high.)
Teacher-written prompts and model (the website prompts for this lesson are generic). Model continues: A: وَمَا عُيُوبُهُ؟ B: مِنْ عُيُوبِهِ أَنَّ السَّاعَاتِ طَوِيلَةٌ، وَلٰكِنَّ الرَّاتِبَ مُرْتَفِعٌ. To a girl: أَيْنَ تُفَضِّلِينَ أَنْ 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two workplaces and explain which one you would prefer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مَكْتَبٍ حَدِيثٍ، مَوْقِعِ بِنَاءٍ · المَكْتَبُ الَّذِي يَعْمَلُ فِيهِ · مِنْ مَزَايَاهُ أَنَّ … وَلٰكِنَّ عَمَلَهُ مُجْهِدٌ · أُفَضِّلُ … لِأَنَّنِي … · عَلَى الرَّغْمِ مِنْ أَنَّ … فَإِنَّهُ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(D3-L03 · Skills and Qualities — What Makes a Good Worker?) will spend class time USING this language, so students prepare it tonight — short, simple, easy to access (school guidance: “Simple, Short, Interesting, Relevant, Easy to access”). The five words come from the website D3-L03 vocabulary (skills and worker qualities).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Workplace — Environments and Work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بِيئَةُ العَمَلِ — الأَمَاكِنُ وَظُرُوفُ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where people work and what the conditions are like: an agreeing adjective (</a:t>
            </a:r>
            <a:pPr algn="l" indent="0" marL="0">
              <a:buNone/>
            </a:pPr>
            <a:r>
              <a:rPr lang="ar-SA" altLang="en-US" sz="1800" dirty="0">
                <a:solidFill>
                  <a:srgbClr val="C6D2E6"/>
                </a:solidFill>
                <a:latin typeface="Amiri" pitchFamily="34" charset="0"/>
                <a:ea typeface="Amiri" pitchFamily="34" charset="-122"/>
                <a:cs typeface="Amiri" pitchFamily="34" charset="-120"/>
              </a:rPr>
              <a:t>مَكْتَبٌ حَدِيثٌ</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بِيئَةٌ آمِنَةٌ</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الَّذِي / الَّتِي</a:t>
            </a:r>
            <a:pPr algn="l" indent="0" marL="0">
              <a:buNone/>
            </a:pPr>
            <a:r>
              <a:rPr lang="en-US" sz="1400" dirty="0">
                <a:solidFill>
                  <a:srgbClr val="C6D2E6"/>
                </a:solidFill>
                <a:latin typeface="Calibri" pitchFamily="34" charset="0"/>
                <a:ea typeface="Calibri" pitchFamily="34" charset="-122"/>
                <a:cs typeface="Calibri" pitchFamily="34" charset="-120"/>
              </a:rPr>
              <a:t>, advantages and disadvantages with </a:t>
            </a:r>
            <a:pPr algn="l" indent="0" marL="0">
              <a:buNone/>
            </a:pPr>
            <a:r>
              <a:rPr lang="ar-SA" altLang="en-US" sz="1800" dirty="0">
                <a:solidFill>
                  <a:srgbClr val="C6D2E6"/>
                </a:solidFill>
                <a:latin typeface="Amiri" pitchFamily="34" charset="0"/>
                <a:ea typeface="Amiri" pitchFamily="34" charset="-122"/>
                <a:cs typeface="Amiri" pitchFamily="34" charset="-120"/>
              </a:rPr>
              <a:t>أَنَّ</a:t>
            </a:r>
            <a:pPr algn="l" indent="0" marL="0">
              <a:buNone/>
            </a:pPr>
            <a:r>
              <a:rPr lang="en-US" sz="1400" dirty="0">
                <a:solidFill>
                  <a:srgbClr val="C6D2E6"/>
                </a:solidFill>
                <a:latin typeface="Calibri" pitchFamily="34" charset="0"/>
                <a:ea typeface="Calibri" pitchFamily="34" charset="-122"/>
                <a:cs typeface="Calibri" pitchFamily="34" charset="-120"/>
              </a:rPr>
              <a:t>, and a contrast.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Workplace + adjective, the who / which clause, and pros and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advantages / disadvantages,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 مُجْزٍ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rewarding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tiring 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تَكُونُ مُحَاسِبَةٌ.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المَصْنَعِ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المُخْتَبَرِ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 …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 مُجْزٍ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rewarding work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tiring 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part-time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مُحَاسِبٌ.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تَكُونُ مُحَاسِبَةٌ.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مُحَاسِبَةٌ.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D3-L01: feminine, no “is”.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المَصْنَعِ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المُخْتَبَرِ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المَحْكَمَةِ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D3-L01 workplaces.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عُيُوبِ …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سَبِيلِ المِثَالِ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the same frame for towns.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adjective follows the workplace and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مَكْتَبٌ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حَدِيثٌ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بِيئَةٌ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آمِنَةٌ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الشَّرِكَةُ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الَّتِي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أَعْمَلُ فِيهَا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workplace with an adjective that agrees.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work conditions and benefits (hours, salary, team, leave).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Join ideas with </a:t>
            </a:r>
            <a:pPr algn="l" indent="0" marL="0">
              <a:buNone/>
            </a:pPr>
            <a:r>
              <a:rPr lang="ar-SA" altLang="en-US" sz="1700" dirty="0">
                <a:solidFill>
                  <a:srgbClr val="1F2A37"/>
                </a:solidFill>
                <a:latin typeface="Amiri" pitchFamily="34" charset="0"/>
                <a:ea typeface="Amiri" pitchFamily="34" charset="-122"/>
                <a:cs typeface="Amiri" pitchFamily="34" charset="-120"/>
              </a:rPr>
              <a:t>الَّذِي / الَّتِي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advantages and disadvantages with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and a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workplace with an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one advantage of a job.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place where / the company which.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jobs.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two workplaces and choose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although … in a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Workplaces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Conditions and benefits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رَاتِبٌ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‎تنخواہ‎ </a:t>
            </a:r>
            <a:pPr indent="0" marL="0">
              <a:buNone/>
            </a:pPr>
            <a:r>
              <a:rPr lang="en-US" sz="950" b="1" dirty="0">
                <a:solidFill>
                  <a:srgbClr val="2E8B57"/>
                </a:solidFill>
                <a:latin typeface="Calibri" pitchFamily="34" charset="0"/>
                <a:ea typeface="Calibri" pitchFamily="34" charset="-122"/>
                <a:cs typeface="Calibri" pitchFamily="34" charset="-120"/>
              </a:rPr>
              <a:t> tankhwāh · salary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Urdu: school · Arabic: office / desk</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مَصْنَعٌ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‎صنعت‎ </a:t>
            </a:r>
            <a:pPr indent="0" marL="0">
              <a:buNone/>
            </a:pPr>
            <a:r>
              <a:rPr lang="en-US" sz="950" b="1" dirty="0">
                <a:solidFill>
                  <a:srgbClr val="2E8B57"/>
                </a:solidFill>
                <a:latin typeface="Calibri" pitchFamily="34" charset="0"/>
                <a:ea typeface="Calibri" pitchFamily="34" charset="-122"/>
                <a:cs typeface="Calibri" pitchFamily="34" charset="-120"/>
              </a:rPr>
              <a:t> sanʿat · industry → factory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سَنَوِيَّةٌ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‎سال / سالانہ‎ </a:t>
            </a:r>
            <a:pPr indent="0" marL="0">
              <a:buNone/>
            </a:pPr>
            <a:r>
              <a:rPr lang="en-US" sz="950" b="1" dirty="0">
                <a:solidFill>
                  <a:srgbClr val="2E8B57"/>
                </a:solidFill>
                <a:latin typeface="Calibri" pitchFamily="34" charset="0"/>
                <a:ea typeface="Calibri" pitchFamily="34" charset="-122"/>
                <a:cs typeface="Calibri" pitchFamily="34" charset="-120"/>
              </a:rPr>
              <a:t> sālāna · annual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مَصْنَعٌ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maṣ-na-ʿun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مُخْتَبَرٌ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laboratory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mukh-ta-ba-run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مَحْكَمَةٌ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maḥ-ka-ma-tun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remotely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Conditions and benefits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full-time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دَوَامٌ جُزْئِيٌّ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part-time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da-wā-mun juz-ʾiy-yun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سَاعَاتٌ مَرِنَةٌ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 hours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sā-ʿā-tun ma-ri-na-tun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رَاتِبٌ مُرْتَفِعٌ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 salary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rā-ti-bun mur-ta-fi-ʿun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رَاتِبٌ مُنْخَفِضٌ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low salary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rā-ti-bun mun-kha-fi-ḍun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مُجْهِدٌ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tiring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muj-hi-dun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Conditions and benefits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مُجْزٍ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rewarding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muj-zin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آمِنَةٌ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safe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bī-ʾa-tun ā-mi-na-tun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فَرِيقُ عَمَلٍ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team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fa-rī-qu ʿa-ma-lin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إِجَازَةٌ سَنَوِيَّةٌ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annual leave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i-jā-za-tun sa-na-wiy-ya-tun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 التَّرَقِّي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promotion opportunities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fu-ra-ṣu at-ta-raq-qī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تَوَازُنٌ بَيْنَ العَمَلِ وَالحَيَاةِ</a:t>
            </a:r>
            <a:endParaRPr lang="ar-SA" sz="29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work-life 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ta-wā-zu-nun bay-na al-ʿa-ma-li wāl-ḥa-yā-ti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1 · PLACE + CONDITION, AND WHICH / WHERE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Describe the place, then join a clause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يَعْمَلُ فِي مَكْتَبٍ </a:t>
            </a:r>
            <a:pPr rtl="1" algn="ctr" indent="0" marL="0">
              <a:buNone/>
            </a:pPr>
            <a:r>
              <a:rPr lang="ar-SA" altLang="en-US" sz="2100" b="1" dirty="0">
                <a:solidFill>
                  <a:srgbClr val="1D5FBF"/>
                </a:solidFill>
                <a:latin typeface="Amiri" pitchFamily="34" charset="0"/>
                <a:ea typeface="Amiri" pitchFamily="34" charset="-122"/>
                <a:cs typeface="Amiri" pitchFamily="34" charset="-120"/>
              </a:rPr>
              <a:t>حَدِيثٍ</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a modern office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تَعْمَلُ فِي بِيئَةٍ </a:t>
            </a:r>
            <a:pPr rtl="1" algn="ctr" indent="0" marL="0">
              <a:buNone/>
            </a:pPr>
            <a:r>
              <a:rPr lang="ar-SA" altLang="en-US" sz="2100" b="1" dirty="0">
                <a:solidFill>
                  <a:srgbClr val="D6336C"/>
                </a:solidFill>
                <a:latin typeface="Amiri" pitchFamily="34" charset="0"/>
                <a:ea typeface="Amiri" pitchFamily="34" charset="-122"/>
                <a:cs typeface="Amiri" pitchFamily="34" charset="-120"/>
              </a:rPr>
              <a:t>آمِنَةٍ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a safe environment</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agrees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مَصْنَعٌ </a:t>
            </a:r>
            <a:pPr rtl="1" algn="ctr" indent="0" marL="0">
              <a:buNone/>
            </a:pPr>
            <a:r>
              <a:rPr lang="ar-SA" altLang="en-US" sz="2100" b="1" dirty="0">
                <a:solidFill>
                  <a:srgbClr val="1D5FBF"/>
                </a:solidFill>
                <a:latin typeface="Amiri" pitchFamily="34" charset="0"/>
                <a:ea typeface="Amiri" pitchFamily="34" charset="-122"/>
                <a:cs typeface="Amiri" pitchFamily="34" charset="-120"/>
              </a:rPr>
              <a:t>كَبِيرٌ</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big factory</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شَرِكَةٌ </a:t>
            </a:r>
            <a:pPr rtl="1" algn="ctr" indent="0" marL="0">
              <a:buNone/>
            </a:pPr>
            <a:r>
              <a:rPr lang="ar-SA" altLang="en-US" sz="2100" b="1" dirty="0">
                <a:solidFill>
                  <a:srgbClr val="D6336C"/>
                </a:solidFill>
                <a:latin typeface="Amiri" pitchFamily="34" charset="0"/>
                <a:ea typeface="Amiri" pitchFamily="34" charset="-122"/>
                <a:cs typeface="Amiri" pitchFamily="34" charset="-120"/>
              </a:rPr>
              <a:t>دَوْلِيَّةٌ</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 international company</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 -atun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المَكْتَبُ </a:t>
            </a:r>
            <a:pPr rtl="1" algn="ctr" indent="0" marL="0">
              <a:buNone/>
            </a:pPr>
            <a:r>
              <a:rPr lang="ar-SA" altLang="en-US" sz="2100" b="1" dirty="0">
                <a:solidFill>
                  <a:srgbClr val="1D5FBF"/>
                </a:solidFill>
                <a:latin typeface="Amiri" pitchFamily="34" charset="0"/>
                <a:ea typeface="Amiri" pitchFamily="34" charset="-122"/>
                <a:cs typeface="Amiri" pitchFamily="34" charset="-120"/>
              </a:rPr>
              <a:t>الَّذِي</a:t>
            </a:r>
            <a:pPr rtl="1" algn="ctr" indent="0" marL="0">
              <a:buNone/>
            </a:pPr>
            <a:r>
              <a:rPr lang="ar-SA" altLang="en-US" sz="2100" b="1" dirty="0">
                <a:solidFill>
                  <a:srgbClr val="1B3B6F"/>
                </a:solidFill>
                <a:latin typeface="Amiri" pitchFamily="34" charset="0"/>
                <a:ea typeface="Amiri" pitchFamily="34" charset="-122"/>
                <a:cs typeface="Amiri" pitchFamily="34" charset="-120"/>
              </a:rPr>
              <a:t> أَعْمَلُ فِيهِ</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office (which) I work in</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الشَّرِكَةُ </a:t>
            </a:r>
            <a:pPr rtl="1" algn="ctr" indent="0" marL="0">
              <a:buNone/>
            </a:pPr>
            <a:r>
              <a:rPr lang="ar-SA" altLang="en-US" sz="2100" b="1" dirty="0">
                <a:solidFill>
                  <a:srgbClr val="D6336C"/>
                </a:solidFill>
                <a:latin typeface="Amiri" pitchFamily="34" charset="0"/>
                <a:ea typeface="Amiri" pitchFamily="34" charset="-122"/>
                <a:cs typeface="Amiri" pitchFamily="34" charset="-120"/>
              </a:rPr>
              <a:t>الَّتِي</a:t>
            </a:r>
            <a:pPr rtl="1" algn="ctr" indent="0" marL="0">
              <a:buNone/>
            </a:pPr>
            <a:r>
              <a:rPr lang="ar-SA" altLang="en-US" sz="2100" b="1" dirty="0">
                <a:solidFill>
                  <a:srgbClr val="1B3B6F"/>
                </a:solidFill>
                <a:latin typeface="Amiri" pitchFamily="34" charset="0"/>
                <a:ea typeface="Amiri" pitchFamily="34" charset="-122"/>
                <a:cs typeface="Amiri" pitchFamily="34" charset="-120"/>
              </a:rPr>
              <a:t> تُوَفِّرُ تَدْرِيبًا</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company which offers training</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allaḏī · allatī</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المَكْتَبُ الَّذِي أَعْمَلُ </a:t>
            </a:r>
            <a:pPr rtl="1" algn="ctr" indent="0" marL="0">
              <a:buNone/>
            </a:pPr>
            <a:r>
              <a:rPr lang="ar-SA" altLang="en-US" sz="2100" b="1" dirty="0">
                <a:solidFill>
                  <a:srgbClr val="1D5FBF"/>
                </a:solidFill>
                <a:latin typeface="Amiri" pitchFamily="34" charset="0"/>
                <a:ea typeface="Amiri" pitchFamily="34" charset="-122"/>
                <a:cs typeface="Amiri" pitchFamily="34" charset="-120"/>
              </a:rPr>
              <a:t>فِيهِ</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it (m.)</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الشَّرِكَةُ الَّتِي أَعْمَلُ </a:t>
            </a:r>
            <a:pPr rtl="1" algn="ctr" indent="0" marL="0">
              <a:buNone/>
            </a:pPr>
            <a:r>
              <a:rPr lang="ar-SA" altLang="en-US" sz="2100" b="1" dirty="0">
                <a:solidFill>
                  <a:srgbClr val="D6336C"/>
                </a:solidFill>
                <a:latin typeface="Amiri" pitchFamily="34" charset="0"/>
                <a:ea typeface="Amiri" pitchFamily="34" charset="-122"/>
                <a:cs typeface="Amiri" pitchFamily="34" charset="-120"/>
              </a:rPr>
              <a:t>فِيهَا</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it (f.)</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fīhi · fīhā</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Relative clauses need a “the” noun: al-maktab allaḏī … — and fīhi / fīhā points back to the place.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PROS, CONS AND CONTRAST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Weigh it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مَزَايَا · عُيُوبٌ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مَزَايَا العَمَلِ أَنَّ سَاعَاتِهِ مَرِنَةٌ.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the job is that its hours are flexible.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 full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CORE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 أَنَّهُ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عُيُوبِهِ أَنَّهُ مُجْهِدٌ.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its disadvantages is that it is tiring.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annahu = that it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الرَّاتِبُ مُرْتَفِعٌ، وَلٰكِنَّ السَّاعَاتِ طَوِيلَةٌ.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salary is high, but the hours are long.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lākinna + noun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clause after min mazāyā needs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مِنْ مَزَايَا العَمَلِ أَنَّ سَاعَاتِهِ مَرِنَةٌ.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مِنْ مَزَايَا العَمَلِ سَاعَاتُهُ مَرِنَةٌ.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Work conditions and relative clauses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وَصْفُ بِيئَةِ العَمَلِ وَالجُمَلُ المَوْصُولَةُ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Place and condition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فِي + مَكَانٍ + 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فِي مَكْتَبٍ حَدِيثٍ.   ·   تَعْمَلُ فِي بِيئَةٍ آمِنَةٍ.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Relative clause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مَكَانٌ الَّذِي / بِيئَةٌ الَّتِي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المَكْتَبُ الَّذِي أَعْمَلُ فِيهِ   ·   الشَّرِكَةُ الَّتِي تُوَفِّرُ تَدْرِيبًا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Advantages and disadvantages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أَنَّ / مِنْ عُيُوبِ ...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العَمَلِ أَنَّ سَاعَاتِهِ مَرِنَةٌ.   ·   مِنْ عُيُوبِهِ أَنَّهُ مُجْهِدٌ.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وَلٰكِنَّ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الرَّاتِبُ مُرْتَفِعٌ، وَلٰكِنَّ السَّاعَاتِ طَوِيلَةٌ.   ·   أَعْمَلُ فِي مَكْتَبٍ، بَيْنَمَا يَعْمَلُ أَخِي فِي الهَوَاءِ الطَّلْقِ.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فِي بِيئَةٍ ___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مَزَايَا العَمَلِ ___ سَاعَاتِهِ مَرِنَةٌ.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compares two people’s situations?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إِضَافَةً إِلَى ذٰلِكَ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فِي بِيئَةٍ ___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آمِنٍ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آمِنَةٍ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bīʾa is feminine → āminatin.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sharika is feminine → allatī.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مَزَايَا العَمَلِ ___ سَاعَاتِهِ مَرِنَةٌ.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clause after min mazāyā needs anna.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compares two people’s situations?</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إِضَافَةً إِلَى ذٰلِكَ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baynamā = whereas.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compare two workplaces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Place + 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يَعْمَلُ أَبِي فِي مَكْتَبٍ </a:t>
            </a:r>
            <a:pPr rtl="1" algn="ctr" indent="0" marL="0">
              <a:buNone/>
            </a:pPr>
            <a:r>
              <a:rPr lang="ar-SA" altLang="en-US" sz="2200" b="1" dirty="0">
                <a:solidFill>
                  <a:srgbClr val="1D5FBF"/>
                </a:solidFill>
                <a:latin typeface="Amiri" pitchFamily="34" charset="0"/>
                <a:ea typeface="Amiri" pitchFamily="34" charset="-122"/>
                <a:cs typeface="Amiri" pitchFamily="34" charset="-120"/>
              </a:rPr>
              <a:t>حَدِيثٍ</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maktab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المَكْتَبُ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الَّذِي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يَعْمَلُ فِيهِ هَادِئٌ.</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allaḏī + fīhi.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يَعْمَلُ خَالِي فِي مَوْقِعِ بِنَاءٍ.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situation.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Pros and cons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رَاتِبُهُ مُرْتَفِعٌ،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عَمَلَهُ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مُجْهِدٌ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Qualify with but.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يَعْمَلُ أَبِي فِي 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حَدِيثٍ</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وَسَطِ المَدِينَةِ،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يَعْمَلُ خَالِي فِي مَوْقِعِ بِنَاءٍ فِي الهَوَاءِ الطَّلْقِ. المَكْتَبُ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الَّذِي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يَعْمَلُ فِيهِ أَبِي هَادِئٌ وَآمِنٌ، وَمِنْ مَزَايَاهُ أَنَّ السَّاعَاتِ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أَمَّا خَالِي فَرَاتِبُهُ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مُرْتَفِعٌ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وَلٰكِنَّ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عَمَلَهُ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مُجْهِدٌ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وَيَتَأَثَّرُ بِالطَّقْسِ.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father works in a modern office in the city centre, whereas my uncle works on a building site outdoors. The office my father works in is quiet and safe, and one of its advantages is that the hours are flexible. As for my uncle, his salary is high, but his work is tiring and affected by the weather.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يَعْمَلُ أَبِي فِي مَكْتَبٍ حَدِيثٍ.</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father works in a modern office.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Place + agreeing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الشَّرِكَةُ الَّتِي أَعْمَلُ فِيهَا كَبِيرَةٌ.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company I work in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allatī for a feminine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العَمَلِ أَنَّ سَاعَاتِهِ مَرِنَةٌ.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the job is that its hours are flexible.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anna + clause.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الرَّاتِبُ مُرْتَفِعٌ، وَلٰكِنَّ السَّاعَاتِ طَوِيلَةٌ.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salary is high, but the hours are long.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Qualify with but.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WORKPLACE — ENVIRONMENTS AND WORK CONDITIONS”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Where do I work?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 team</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 machines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laptop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مِنَ المَنْزِلِ.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مَكْتَبٍ حَدِيثٍ.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مَصْنَعٍ.</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 team</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مَكْتَبٍ حَدِيثٍ.</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 modern office.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 machines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مَصْنَعٍ.</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 factory.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laptop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مِنَ المَنْزِلِ.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from home.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مُرْتَفِعٌ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بِيئَةٌ آمِنَةٌ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التَّرَقِّي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مُنْخَفِضٌ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طَوِيلَةٌ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تَوَاصُلٌ بَطِيءٌ</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Advantage</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Disadvantage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مُرْتَفِعٌ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بِيئَةٌ آمِنَةٌ</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التَّرَقِّي</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Disadvantage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مُنْخَفِضٌ</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مُجْهِدٌ</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طَوِيلَةٌ</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تَوَاصُلٌ بَطِيءٌ</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المَكْتَبُ ___ أَعْمَلُ فِيهِ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دَوَامٌ جُزْئِيٌّ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full-time work</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annual leave</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a disadvantage?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مُجْزٍ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مُجْهِدٌ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 مَرِنَةٌ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makes sense.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لِأَنَّ السَّاعَاتِ طَوِيلَةٌ.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لِذٰلِكَ السَّاعَاتُ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وَلٰكِنَّ السَّاعَاتِ طَوِيلَةٌ.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المَكْتَبُ ___ أَعْمَلُ فِيهِ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maktab is masculine → allaḏī.</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دَوَامٌ جُزْئِيٌّ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full-time work</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annual leave</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juzʾ = part.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a disadvantage?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 مُجْزٍ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عَمَلٌ مُجْهِدٌ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 مَرِنَةٌ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mujhid = tiring.</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makes sense.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الرَّاتِبُ مُرْتَفِعٌ، لِأَنَّ السَّاعَاتِ طَوِيلَةٌ.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الرَّاتِبُ مُرْتَفِعٌ، لِذٰلِكَ السَّاعَاتُ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الرَّاتِبُ مُرْتَفِعٌ، وَلٰكِنَّ السَّاعَاتِ طَوِيلَةٌ.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contrast needs “but”, not “because” or “so”.</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تَعْمَلُ فِي بِيئَةٍ آمِنٍ.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bīʾa: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الشَّرِكَةُ الَّذِي أَعْمَلُ فِيهَا 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sharika → allaḏī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مَزَايَا العَمَلِ سَاعَاتُهُ مَرِنَةٌ.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تَعْمَلُ فِي بِيئَةٍ آمِنٍ.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تَعْمَلُ فِي بِيئَةٍ آمِنَةٍ.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agrees with feminine bīʾa.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الشَّرِكَةُ الَّذِي أَعْمَلُ فِيهَا 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الشَّرِكَةُ الَّتِي أَعْمَلُ فِيهَا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noun → allatī.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مَزَايَا العَمَلِ سَاعَاتُهُ مَرِنَةٌ.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مَزَايَا العَمَلِ أَنَّ سَاعَاتِهِ مَرِنَةٌ.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contrasting workplaces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Maryam work?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laboratory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environment?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outdoors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safe and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work need?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 precision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strength</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 of travel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Samer work?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laboratory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an office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disadvantage of his work?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tiring and affected by the weather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مُخْتَبَرٍ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الثَّامِنَةِ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مَوْقِعِ بِنَاءٍ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تَعْمَلُ مَرْيَمُ فِي مُخْتَبَرٍ حَدِيثٍ مِنَ السَّاعَةِ الثَّامِنَةِ إِلَى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 works in a modern laboratory from eight o’clock to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بِيئَةَ العَمَلِ لِأَنَّهَا آمِنَةٌ وَمُنَظَّمَةٌ،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loves the work environment because it is safe and organised,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العَمَلَ يَحْتَاجُ إِلَى دِقَّةٍ شَدِيدَةٍ.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work needs great precision.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سَامِرٌ فَيَعْمَلُ فِي مَوْقِعِ بِنَاءٍ.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Samer, he works on a building site.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رَاتِبُهُ جَيِّدٌ، لٰكِنَّ عَمَلَهُ مُجْهِدٌ وَيَتَأَثَّرُ بِالطَّقْسِ.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salary is good, but his work is tiring and affected by the weather.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Maryam work?</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modern laboratory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 building site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مُخْتَبَرٍ حَدِيثٍ</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السَّاعَةِ الثَّامِنَةِ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environment?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outdoors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safe and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آمِنَةٌ وَمُنَظَّمَةٌ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work need?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great precision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strength</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lot of travel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دِقَّةٍ شَدِيدَةٍ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Samer work?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laboratory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an office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مَوْقِعِ بِنَاءٍ</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disadvantage of his work?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tiring and affected by the weather</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عَمَلَهُ مُجْهِدٌ وَيَتَأَثَّرُ بِالطَّقْسِ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مُخْتَبَرٍ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الثَّامِنَةِ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مَوْقِعِ بِنَاءٍ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The Workplace — Environments and Work Conditions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مَكَانَ عَمَلِ أَحَدِ أَفْرَادِ عَائِلَتِكَ.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تُحِبُّ أَنْ تَعْمَلَ: فِي مَكْتَبٍ أَمْ فِي الهَوَاءِ الطَّلْقِ؟</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العَمَلِ عَنْ بُعْدٍ وَمَا عُيُوبُهُ؟</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الرَّاتِبُ أَهَمُّ مِنْ بِيئَةِ العَمَلِ؟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 تَعْمَلُ فِي ___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أَنْ أَعْمَلَ فِي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مِنْ مَزَايَاهُ أَنَّ ___ ، وَمِنْ عُيُوبِهِ 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رَأْيِي ___ أَهَمُّ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تُفَضِّلُ أَنْ تَعْمَلَ؟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would you prefer to work?</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مَكْتَبًا حَدِيثًا لِأَنَّ بِيئَتَهُ آمِنَةٌ وَمُنَظَّمَةٌ.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a modern office because its environment is safe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workplaces, each with an adjective, plus one advantage with مِنْ مَزَايَا … أَنَّ.</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workplaces with الَّذِي / الَّتِي, بَيْنَمَا and وَلٰكِنَّ, and choose one.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workplaces, weigh pros and cons, justify your choice with although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الشَّرِكَةُ الَّتِي ______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company (which) … works in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يَعْمَلُ خَالِي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uncle works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الرَّاتِبُ ______ ، وَلٰكِنَّ السَّاعَاتِ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salary is …, but the hours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أَبِي فِي مَكْتَبٍ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works in a modern office.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خَالَتِي فِي مُسْتَشْفًى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aunt works in a big hospital.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العَمَلِ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the job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عُيُوبِهِ أَنَّهُ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disadvantage is that it is tiring.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 حَدِيثٌ  ·  بِيئَةٌ آمِنَةٌ  ·  سَاعَاتٌ مَرِنَةٌ  ·  رَاتِبٌ مُرْتَفِعٌ  ·  عَمَلٌ مُجْهِدٌ  ·  عَمَلٌ مُجْزٍ  ·  فَرِيقُ عَمَلٍ  ·  الَّذِي  ·  الَّتِي  ·  أَنَّ  ·  بَيْنَمَا  ·  وَلٰكِنَّ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two workplaces and explain which one you would prefer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يُوَفِّرُ الوَقْتَ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saves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التَّعَاوُنُ المُبَاشِرُ مَعَ الفَرِيقِ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direct cooperation with the team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يُحَقِّقُ تَوَازُنًا أَفْضَلَ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achieves a better balance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يَتَأَثَّرُ بِالطَّقْسِ</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affected by the weather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فَإِنَّ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(still)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يَعْمَلُ أَبِي فِي مَكْتَبٍ حَدِيثٍ فِي وَسَطِ المَدِينَةِ، بَيْنَمَا يَعْمَلُ خَالِي فِي مَوْقِعِ بِنَاءٍ فِي الهَوَاءِ الطَّلْقِ. المَكْتَبُ الَّذِي يَعْمَلُ فِيهِ أَبِي هَادِئٌ وَآمِنٌ، وَمِنْ مَزَايَاهُ أَنَّ السَّاعَاتِ مَرِنَةٌ. أَمَّا خَالِي فَرَاتِبُهُ مُرْتَفِعٌ، وَلٰكِنَّ عَمَلَهُ مُجْهِدٌ وَيَتَأَثَّرُ بِالطَّقْسِ. فِي رَأْيِي، أُفَضِّلُ العَمَلَ فِي مَكْتَبٍ لِأَنَّنِي أُحِبُّ البِيئَةَ المُنَظَّمَةَ وَالعَمَلَ مَعَ فَرِيقٍ. عَلَى الرَّغْمِ مِنْ أَنَّ العَمَلَ فِي الهَوَاءِ الطَّلْقِ صِحِّيٌّ، فَإِنَّهُ صَعْبٌ فِي الشِّتَاءِ. لِذٰلِكَ أُرِيدُ وَظِيفَةً تُحَقِّقُ تَوَازُنًا بَيْنَ العَمَلِ وَالحَيَاةِ.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father works in a modern office in the city centre, whereas my uncle works on a building site outdoors. The office my father works in is quiet and safe, and one advantage is that the hours are flexible. As for my uncle, his salary is high, but his work is tiring and affected by the weather. In my opinion, I prefer working in an office because I like an organised environment and working with a team. Although working outdoors is healthy, it is hard in winter. So I want a job that gives a balance between work and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workplaces with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allaḏī or 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justified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with the workplace.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advantage with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allaḏī / allatī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workplaces.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choice is justified with although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pronoun.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 مُرْتَفِعٌ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low salary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annual leave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عُيُوبِهِ</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pronoun.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allatī = which / who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 مُرْتَفِعٌ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low salary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annual leave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murtafiʿ = high.</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عُيُوبِهِ</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ʿuyūbihi annahu …</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يُفَضِّلُ بَعْضُ العَامِلِينَ العَمَلَ عَنْ بُعْدٍ لِأَنَّهُ يُوَفِّرُ الوَقْتَ وَيَمْنَحُهُمْ مَرُونَةً أَكْبَرَ. وَلٰكِنَّ آخَرِينَ يَخْتَارُونَ المَكْتَبَ الَّذِي يَسْمَحُ لَهُمْ بِالتَّعَاوُنِ المُبَاشِرِ مَعَ الفَرِيقِ. فِي شَرِكَةِ نُورٍ، يَسْتَطِيعُ المُوَظَّفُونَ العَمَلَ مِنَ المَنْزِلِ يَوْمَيْنِ فِي الأُسْبُوعِ. مِنْ مَزَايَا هٰذَا النِّظَامِ أَنَّهُ يُحَقِّقُ تَوَازُنًا أَفْضَلَ، وَمِنْ عُيُوبِهِ أَنَّ التَّوَاصُلَ قَدْ يَكُونُ أَبْطَأَ.</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بَعْضُ العَامِلِينَ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 workers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يُوَفِّرُ الوَقْتَ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saves time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مَرُونَةً أَكْبَرَ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flexibility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آخَرِينَ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others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يَسْمَحُ لَهُمْ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allows them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التَّعَاوُنِ المُبَاشِرِ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 cooperation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المُوَظَّفُونَ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employees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المَنْزِلِ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النِّظَامِ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this system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أَبْطَأَ</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slower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some people prefer remote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saves time and gives more flexibility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meet more colleagues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others choose the office?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closer to home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 cooperation with the team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How often can Nour company staff work from home?</a:t>
            </a:r>
            <a:endParaRPr lang="en-US" sz="11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day a month</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of this system is stated?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faster communication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better (work–life) balance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higher salary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stated?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may be slower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hours are longer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less flexibility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mainly about?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advertising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worker’s day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comparing remote and office work</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some people prefer remote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saves time and gives more flexibility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meet more colleagues</a:t>
            </a:r>
            <a:endParaRPr lang="en-US" sz="12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يُوَفِّرُ الوَقْتَ وَيَمْنَحُهُمْ مَرُونَةً أَكْبَرَ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others choose the office?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closer to home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direct cooperation with the team</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بِالتَّعَاوُنِ المُبَاشِرِ مَعَ الفَرِيقِ</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How often can Nour company staff work from home?</a:t>
            </a:r>
            <a:endParaRPr lang="en-US" sz="11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day a month</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يَوْمَيْنِ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of this system is stated?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faster communication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better (work–life) balance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higher salary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يُحَقِّقُ تَوَازُنًا أَفْضَلَ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stated?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may be slower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hours are longer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less flexibility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قَدْ يَكُونُ أَبْطَأَ</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mainly about?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advertising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worker’s day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comparing remote and office work</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are compared.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D3-L03 · Skills and Qualities — What Makes a Good Worker?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experience</a:t>
            </a:r>
            <a:pPr indent="0" marL="0">
              <a:buNone/>
            </a:pPr>
            <a:r>
              <a:rPr lang="en-US" sz="1000" i="1" dirty="0">
                <a:solidFill>
                  <a:srgbClr val="5A6472"/>
                </a:solidFill>
                <a:latin typeface="Calibri" pitchFamily="34" charset="0"/>
                <a:ea typeface="Calibri" pitchFamily="34" charset="-122"/>
                <a:cs typeface="Calibri" pitchFamily="34" charset="-120"/>
              </a:rPr>
              <a:t>  pl. خِبْرَاتٌ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مَسْؤُولٌ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responsible</a:t>
            </a:r>
            <a:pPr indent="0" marL="0">
              <a:buNone/>
            </a:pPr>
            <a:r>
              <a:rPr lang="en-US" sz="1000" i="1" dirty="0">
                <a:solidFill>
                  <a:srgbClr val="5A6472"/>
                </a:solidFill>
                <a:latin typeface="Calibri" pitchFamily="34" charset="0"/>
                <a:ea typeface="Calibri" pitchFamily="34" charset="-122"/>
                <a:cs typeface="Calibri" pitchFamily="34" charset="-120"/>
              </a:rPr>
              <a:t>  f. مَسْؤُولَةٌ · pl. مَسْؤُولُونَ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مُنَظَّمٌ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organised</a:t>
            </a:r>
            <a:pPr indent="0" marL="0">
              <a:buNone/>
            </a:pPr>
            <a:r>
              <a:rPr lang="en-US" sz="1000" i="1" dirty="0">
                <a:solidFill>
                  <a:srgbClr val="5A6472"/>
                </a:solidFill>
                <a:latin typeface="Calibri" pitchFamily="34" charset="0"/>
                <a:ea typeface="Calibri" pitchFamily="34" charset="-122"/>
                <a:cs typeface="Calibri" pitchFamily="34" charset="-120"/>
              </a:rPr>
              <a:t>  f. مُنَظَّمَةٌ · pl. مُنَظَّمُونَ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القِيَادَةُ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leadership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skill a doctor needs and one a teacher needs.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يَحْتَاجُ الطَّبِيبُ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9 work-condition phrases;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workplaces in 80–100 words with </a:t>
            </a:r>
            <a:pPr algn="l" indent="0" marL="0">
              <a:buNone/>
            </a:pPr>
            <a:r>
              <a:rPr lang="ar-SA" altLang="en-US" sz="1550" dirty="0">
                <a:solidFill>
                  <a:srgbClr val="1F2A37"/>
                </a:solidFill>
                <a:latin typeface="Amiri" pitchFamily="34" charset="0"/>
                <a:ea typeface="Amiri" pitchFamily="34" charset="-122"/>
                <a:cs typeface="Amiri" pitchFamily="34" charset="-120"/>
              </a:rPr>
              <a:t>الَّذِي / الَّتِي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two workplaces and justify your choice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D3-L03 · Skills and Qualities — What Makes a Good Worker?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المَهَارَاتُ وَالمُؤَهِّلَاتُ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adjective agrees with the workplace — allaḏī (m.) / allatī (f.) — anna before a clause.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D3-L02 · The Workplace — Environments and Work Conditions</dc:title>
  <dc:subject>PptxGenJS Presentation</dc:subject>
  <dc:creator>Al Madina Online School · Arabic Department</dc:creator>
  <cp:lastModifiedBy>Al Madina Online School · Arabic Department</cp:lastModifiedBy>
  <cp:revision>1</cp:revision>
  <dcterms:created xsi:type="dcterms:W3CDTF">2026-10-03T05:10:10Z</dcterms:created>
  <dcterms:modified xsi:type="dcterms:W3CDTF">2026-10-03T05:10:10Z</dcterms:modified>
</cp:coreProperties>
</file>