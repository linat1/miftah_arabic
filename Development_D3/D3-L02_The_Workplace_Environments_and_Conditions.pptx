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notesMasterIdLst>
    <p:notesMasterId r:id="rId4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D3 Work and Careers › D3-L02. The website lesson “The Workplace — Environments and Work Conditions”: vocabulary, grammar rules and quiz, patterns, common mistakes, sorter, listening, reading, speaking prompts and model, writing task and model, differentiation, final check and the lesson mission. Picture match: website visual game “The Workplace — Environments and Work Conditions”.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8 condition phrases + “He works in a modern office / a safe environment” + one advantage (مِنْ مَزَايَا … أَنَّ …). Develop: الَّذِي / الَّتِي and a contrast (بَيْنَمَا / وَلٰكِنَّ). Stretch: weigh two workplaces and choose one (عَلَى الرَّغْمِ مِنْ أَنَّ …).
• Built on D3-L01 (فِي + workplace). New: the workplace now gets an adjective that AGREES (مَكْتَبٌ حَدِيثٌ / شَرِكَةٌ حَدِيثَةٌ).
• مِنْ مَزَايَا … أَنَّ was taught in F6-L05 (towns): same structure, new topic.
• Vocabulary group 1 (workplaces) is review from D3-L01 — revise it quickly or set it as FLEX.
• TEACHER-WRITTEN ITEMS: on the website this lesson’s mission, sorter, mistakes, grammar, final, listening, reading, speaking, writing items are generic placeholders, so the deck uses teacher-written questions and translations built on the website’s own script and text (flagged for the website editor).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at the end of D3-L01. Questions 3–4 retrieve D3-L01. Question 5 retrieves F6-L05 (advantages of a town).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The adjective follows the workplace and agrees with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صنعت (industry) shares the root of مَصْنَعٌ (factory); توازن is identical. CAREFUL: Urdu مکتب is a (traditional) school; Arabic مَكْتَبٌ is an office or desk. رَاتِبٌ and سَنَوِيٌّ have no Urdu cognates — link them by meaning (تنخواہ، سالانہ).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Workplaces (website vocabulary (1 of 2)). Hear → Say → See → Use. Transliteration is printed for Core students (cover it for Develop/Stretch).
FLEX: teach if time allows; otherwise these are on the website vocabulary tab for homework.
Review from D3-L01 (FLEX): say each workplace with a new adjective — مَكْتَبٌ حَدِيثٌ، مَصْنَعٌ كَبِيرٌ، شَرِكَةٌ دَوْلِيَّةٌ.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Workplaces (website vocabulary (2 of 2)). Hear → Say → See → Use. Transliteration is printed for Core students (cover it for Develop/Stretch).
FLEX: teach if time allows; otherwise these are on the website vocabulary tab for homework.
Review from D3-L01 (FLEX): say each workplace with a new adjective — مَكْتَبٌ حَدِيثٌ، مَصْنَعٌ كَبِيرٌ، شَرِكَةٌ دَوْلِيَّةٌ.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Conditions and benefits (website vocabulary (1 of 2)). Hear → Say → See → Use. Transliteration is printed for Core students (cover it for Develop/Stretch).
The new words. Every phrase is noun + adjective: the adjective agrees (سَاعَاتٌ مَرِنَةٌ: a non-human plural takes a feminine singular adjective). مُجْزٍ (rewarding) loses its yāʾ like مُحَامٍ: f. مُجْزِيَةٌ.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Conditions and benefits (website vocabulary (2 of 2)). Hear → Say → See → Use. Transliteration is printed for Core students (cover it for Develop/Stretch).
The new words. Every phrase is noun + adjective: the adjective agrees (سَاعَاتٌ مَرِنَةٌ: a non-human plural takes a feminine singular adjective). مُجْزٍ (rewarding) loses its yāʾ like مُحَامٍ: f. مُجْزِيَةٌ.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Evaluation (website vocabulary (1 of 2)). Hear → Say → See → Use. Transliteration is printed for Core students (cover it for Develop/Stretch).
FLEX: teach if time allows; otherwise these are on the website vocabulary tab for homework.
Evaluation connectors (FLEX): the same D3 list. Today’s focus: بَيْنَمَا (whereas) and وَلٰكِنَّ (however).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Evaluation (website vocabulary (2 of 2)). Hear → Say → See → Use. Transliteration is printed for Core students (cover it for Develop/Stretch).
FLEX: teach if time allows; otherwise these are on the website vocabulary tab for homework.
Evaluation connectors (FLEX): the same D3 list. Today’s focus: بَيْنَمَا (whereas) and وَلٰكِنَّ (however).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1 — website rules “Place and condition” (يَعْمَلُ فِي + مَكَانٍ + صِفَةٍ: describe the location, then add an agreeing adjective) and “Relative clause” (الَّذِي for masculine and الَّتِي for feminine antecedents). Website examples: يَعْمَلُ فِي مَكْتَبٍ حَدِيثٍ · تَعْمَلُ فِي بِيئَةٍ آمِنَةٍ · المَكْتَبُ الَّذِي أَعْمَلُ فِيهِ · الشَّرِكَةُ الَّتِي تُوَفِّرُ تَدْرِيبًا.
Teacher additions: the adjective takes the noun’s case ending (فِي مَكْتَبٍ حَدِيثٍ: both -in after fī); the returning pronoun فِيهِ / فِيهَا. Core can stop at row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2 — website rules “Advantages and disadvantages” (a noun phrase followed by أَنَّ and a complete clause) and “Contrast” (بَيْنَمَا compares two situations; لٰكِنَّ qualifies a statement). Website examples: مِنْ مَزَايَا العَمَلِ أَنَّ سَاعَاتِهِ مَرِنَةٌ · مِنْ عُيُوبِهِ أَنَّهُ مُجْهِدٌ · الرَّاتِبُ مُرْتَفِعٌ، وَلٰكِنَّ السَّاعَاتِ طَوِيلَةٌ · أَعْمَلُ فِي مَكْتَبٍ، بَيْنَمَا يَعْمَلُ أَخِي فِي الهَوَاءِ الطَّلْقِ.
Stretch: after أَنَّ and لٰكِنَّ the noun takes -a (accusative): أَنَّ سَاعَاتِهِ (a feminine sound plural shows -i), لٰكِنَّ السَّاعَاتِ.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WEBSITE GRAMMAR RULES AND EXAMPLES (FLEX — revision or homework). Website overview: “وَصْفُ بِيئَةِ العَمَلِ وَالجُمَلُ المَوْصُولَةُ”
• Place and condition: Describe the location, then add an agreeing adjective.
• Relative clause: Use الذي for masculine and التي for feminine antecedents.
• Advantages and disadvantages: Use a noun phrase followed by أنَّ and a complete clause.
• Contrast: Use بينما to compare two situations and لكنّ to qualify a statement.
Website common error: Do not leave out أَنَّ after مِنْ مَزَايَا / مِنْ عُيُوبِ, and do not use الَّذِي with a feminine noun (teacher wording: the website common error for this lesson is generic).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4, 5.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teacher-written model built from the website rules and the listening script (Samer on the building site). Think aloud: “Masculine or feminine place? Which clause? Where is my contrast?”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The Workplace — Environments and Work Conditions”)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Other website cards: أَعْمَلُ فِي مُسْتَشْفًى · أَعْمَلُ فِي مَدْرَسَةٍ · أَعْمَلُ مِنَ التَّاسِعَةِ إِلَى الخَامِسَةِ (from nine to five). Stretch: add an adjective to each card (مَصْنَعٌ كَبِيرٌ).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The Workplace — Environments and Work Conditions”)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Other website cards: أَعْمَلُ فِي مُسْتَشْفًى · أَعْمَلُ فِي مَدْرَسَةٍ · أَعْمَلُ مِنَ التَّاسِعَةِ إِلَى الخَامِسَةِ (from nine to five). Stretch: add an adjective to each card (مَصْنَعٌ كَبِيرٌ).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website sorter (2 min). Website instruction: Decide whether each work condition is usually an advantage or a disadvantage.
Then turn two items into sentences: مِنْ مَزَايَا العَمَلِ أَنَّ … · مِنْ عُيُوبِهِ أَنَّ … (Stretch: argue that one item could be both — long hours with a high salary).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website sorter (2 min). Website instruction: Decide whether each work condition is usually an advantage or a disadvantage.
Then turn two items into sentences: مِنْ مَزَايَا العَمَلِ أَنَّ … · مِنْ عُيُوبِهِ أَنَّ … (Stretch: argue that one item could be both — long hours with a high salary).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3,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2 and 5. Develop / Stretch: all 6.
Listen 1: just listen. Listen 2: note answers. Then chat the letters.
Support: after the second listening, show the read-along slide (Arabic + English, line by line) for Core students.
SCRIPT (read aloud):
تَعْمَلُ مَرْيَمُ فِي مُخْتَبَرٍ حَدِيثٍ مِنَ السَّاعَةِ الثَّامِنَةِ إِلَى الرَّابِعَةِ. تُحِبُّ بِيئَةَ العَمَلِ لِأَنَّهَا آمِنَةٌ وَمُنَظَّمَةٌ، وَلٰكِنَّ العَمَلَ يَحْتَاجُ إِلَى دِقَّةٍ شَدِيدَةٍ. أَمَّا سَامِرٌ فَيَعْمَلُ فِي مَوْقِعِ بِنَاءٍ. رَاتِبُهُ جَيِّدٌ، لٰكِنَّ عَمَلَهُ مُجْهِدٌ وَيَتَأَثَّرُ بِالطَّقْسِ.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وَمَا عُيُوبُهُ؟ (And its disadvantages?)
B: مِنْ عُيُوبِهِ أَنَّ السَّاعَاتِ طَوِيلَةٌ، وَلٰكِنَّ الرَّاتِبَ مُرْتَفِعٌ. (One disadvantage is that the hours are long, but the salary is high.)
Teacher-written prompts and model (the website prompts for this lesson are generic). Model continues: A: وَمَا عُيُوبُهُ؟ B: مِنْ عُيُوبِهِ أَنَّ السَّاعَاتِ طَوِيلَةٌ، وَلٰكِنَّ الرَّاتِبَ مُرْتَفِعٌ. To a girl: أَيْنَ تُفَضِّلِينَ أَنْ تَعْمَلِي؟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Secure the main vocabulary and produce four accurate sentences using the taught frame. · Develop — Combine description, grammar and a reason in connected answers. · Stretch — Add comparison, contrast, precise evidence and independently controlled complex structures.
Website writing task (Stretch): Compare two workplaces and explain which one you would prefer and why.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Teacher-written model (the website model for this lesson is a placeholder). Evidence: مَكْتَبٍ حَدِيثٍ، مَوْقِعِ بِنَاءٍ · المَكْتَبُ الَّذِي يَعْمَلُ فِيهِ · مِنْ مَزَايَاهُ أَنَّ … وَلٰكِنَّ عَمَلَهُ مُجْهِدٌ · أُفَضِّلُ … لِأَنَّنِي … · عَلَى الرَّغْمِ مِنْ أَنَّ … فَإِنَّهُ …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(D3-L03 · Skills and Qualities — What Makes a Good Worker?) will spend class time USING this language, so students prepare it tonight — short, simple, easy to access (school guidance: “Simple, Short, Interesting, Relevant, Easy to access”). The five words come from the website D3-L03 vocabulary (skills and worker qualities).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slideLayout" Target="../slideLayouts/slideLayout1.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slideLayout" Target="../slideLayouts/slideLayout1.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8  ·  DEVELOPMENT D3  ·  D3-L02</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D3-L02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The Workplace — Environments and Work Conditions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بِيئَةُ العَمَلِ — الأَمَاكِنُ وَظُرُوفُ العَمَلِ</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Describe where people work and what the conditions are like: an agreeing adjective (</a:t>
            </a:r>
            <a:pPr algn="l" indent="0" marL="0">
              <a:buNone/>
            </a:pPr>
            <a:r>
              <a:rPr lang="ar-SA" altLang="en-US" sz="1800" dirty="0">
                <a:solidFill>
                  <a:srgbClr val="C6D2E6"/>
                </a:solidFill>
                <a:latin typeface="Amiri" pitchFamily="2" charset="-78"/>
                <a:ea typeface="Amiri" pitchFamily="2" charset="-78"/>
                <a:cs typeface="Amiri" pitchFamily="2" charset="-78"/>
              </a:rPr>
              <a:t>مَكْتَبٌ حَدِيثٌ</a:t>
            </a:r>
            <a:pPr algn="l" indent="0" marL="0">
              <a:buNone/>
            </a:pPr>
            <a:r>
              <a:rPr lang="en-US" sz="1400" dirty="0">
                <a:solidFill>
                  <a:srgbClr val="C6D2E6"/>
                </a:solidFill>
                <a:latin typeface="Calibri" pitchFamily="34" charset="0"/>
                <a:cs typeface="Amiri" pitchFamily="2" charset="-78"/>
              </a:rPr>
              <a:t> · </a:t>
            </a:r>
            <a:pPr algn="l" indent="0" marL="0">
              <a:buNone/>
            </a:pPr>
            <a:r>
              <a:rPr lang="ar-SA" altLang="en-US" sz="1800" dirty="0">
                <a:solidFill>
                  <a:srgbClr val="C6D2E6"/>
                </a:solidFill>
                <a:latin typeface="Amiri" pitchFamily="2" charset="-78"/>
                <a:ea typeface="Amiri" pitchFamily="2" charset="-78"/>
                <a:cs typeface="Amiri" pitchFamily="2" charset="-78"/>
              </a:rPr>
              <a:t>بِيئَةٌ آمِنَةٌ</a:t>
            </a:r>
            <a:pPr algn="l" indent="0" marL="0">
              <a:buNone/>
            </a:pPr>
            <a:r>
              <a:rPr lang="en-US" sz="1400" dirty="0">
                <a:solidFill>
                  <a:srgbClr val="C6D2E6"/>
                </a:solidFill>
                <a:latin typeface="Calibri" pitchFamily="34" charset="0"/>
                <a:cs typeface="Amiri" pitchFamily="2" charset="-78"/>
              </a:rPr>
              <a:t>), </a:t>
            </a:r>
            <a:pPr algn="l" indent="0" marL="0">
              <a:buNone/>
            </a:pPr>
            <a:r>
              <a:rPr lang="ar-SA" altLang="en-US" sz="1800" dirty="0">
                <a:solidFill>
                  <a:srgbClr val="C6D2E6"/>
                </a:solidFill>
                <a:latin typeface="Amiri" pitchFamily="2" charset="-78"/>
                <a:ea typeface="Amiri" pitchFamily="2" charset="-78"/>
                <a:cs typeface="Amiri" pitchFamily="2" charset="-78"/>
              </a:rPr>
              <a:t>الَّذِي / الَّتِي</a:t>
            </a:r>
            <a:pPr algn="l" indent="0" marL="0">
              <a:buNone/>
            </a:pPr>
            <a:r>
              <a:rPr lang="en-US" sz="1400" dirty="0">
                <a:solidFill>
                  <a:srgbClr val="C6D2E6"/>
                </a:solidFill>
                <a:latin typeface="Calibri" pitchFamily="34" charset="0"/>
                <a:cs typeface="Amiri" pitchFamily="2" charset="-78"/>
              </a:rPr>
              <a:t>, advantages and disadvantages with </a:t>
            </a:r>
            <a:pPr algn="l" indent="0" marL="0">
              <a:buNone/>
            </a:pPr>
            <a:r>
              <a:rPr lang="ar-SA" altLang="en-US" sz="1800" dirty="0">
                <a:solidFill>
                  <a:srgbClr val="C6D2E6"/>
                </a:solidFill>
                <a:latin typeface="Amiri" pitchFamily="2" charset="-78"/>
                <a:ea typeface="Amiri" pitchFamily="2" charset="-78"/>
                <a:cs typeface="Amiri" pitchFamily="2" charset="-78"/>
              </a:rPr>
              <a:t>أَنَّ</a:t>
            </a:r>
            <a:pPr algn="l" indent="0" marL="0">
              <a:buNone/>
            </a:pPr>
            <a:r>
              <a:rPr lang="en-US" sz="1400" dirty="0">
                <a:solidFill>
                  <a:srgbClr val="C6D2E6"/>
                </a:solidFill>
                <a:latin typeface="Calibri" pitchFamily="34" charset="0"/>
                <a:cs typeface="Amiri" pitchFamily="2" charset="-78"/>
              </a:rPr>
              <a:t>, and a contrast.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D3-L02 · Development D3 · Work and Careers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Development › D3 › D3-L02</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D3-L02 · Workplace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D3-L02 · Workplace</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D3-L02</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Workplace + adjective, the who / which clause, and pros and cons.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Picture match, sort advantages / disadvantages, fix and listen.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D3-L03.</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D3-L02 · Workplace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رَاتِبٌ</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team</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salary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office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عَمَلٌ مُجْزٍ</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rewarding work</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tiring work</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part-time work</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أُمِّي مُحَاسِبٌ.</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أُمِّي تَكُونُ مُحَاسِبَةٌ.</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أُمِّي مُحَاسِبَةٌ.</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does a lawyer work?</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المَصْنَعِ</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المُخْتَبَرِ</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المَحْكَمَةِ</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introduces an advantage?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 مَزَايَا … أَنَّ</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 عُيُوبِ … أَنَّ</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 سَبِيلِ المِثَالِ</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D3-L02 · Workplace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رَاتِبٌ</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team</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salary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an office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(D3-L01).</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عَمَلٌ مُجْزٍ</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rewarding work</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tiring work</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part-time work</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(D3-L01).</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أُمِّي مُحَاسِبٌ.</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أُمِّي تَكُونُ مُحَاسِبَةٌ.</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أُمِّي مُحَاسِبَةٌ.</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D3-L01: feminine, no “is”.</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does a lawyer work?</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 المَصْنَعِ</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 المُخْتَبَرِ</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فِي المَحْكَمَةِ</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D3-L01 workplaces.</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introduces an advantage?</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مِنْ مَزَايَا … أَنَّ</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مِنْ عُيُوبِ … أَنَّ</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عَلَى سَبِيلِ المِثَالِ</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F6-L05: the same frame for towns.</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The adjective follows the workplace and agrees with it.</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مَكْتَبٌ </a:t>
            </a:r>
            <a:pPr rtl="1" algn="ctr" indent="0" marL="0">
              <a:lnSpc>
                <a:spcPct val="120000"/>
              </a:lnSpc>
              <a:buNone/>
            </a:pPr>
            <a:r>
              <a:rPr lang="ar-SA" altLang="en-US" sz="1950" b="1" dirty="0">
                <a:solidFill>
                  <a:srgbClr val="1D5FBF"/>
                </a:solidFill>
                <a:latin typeface="Amiri" pitchFamily="2" charset="-78"/>
                <a:ea typeface="Amiri" pitchFamily="2" charset="-78"/>
                <a:cs typeface="Amiri" pitchFamily="2" charset="-78"/>
              </a:rPr>
              <a:t>حَدِيثٌ</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 بِيئَةٌ </a:t>
            </a:r>
            <a:pPr rtl="1" algn="ctr" indent="0" marL="0">
              <a:lnSpc>
                <a:spcPct val="120000"/>
              </a:lnSpc>
              <a:buNone/>
            </a:pPr>
            <a:r>
              <a:rPr lang="ar-SA" altLang="en-US" sz="1950" b="1" dirty="0">
                <a:solidFill>
                  <a:srgbClr val="D6336C"/>
                </a:solidFill>
                <a:latin typeface="Amiri" pitchFamily="2" charset="-78"/>
                <a:ea typeface="Amiri" pitchFamily="2" charset="-78"/>
                <a:cs typeface="Amiri" pitchFamily="2" charset="-78"/>
              </a:rPr>
              <a:t>آمِنَةٌ</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 الشَّرِكَةُ </a:t>
            </a:r>
            <a:pPr rtl="1" algn="ctr" indent="0" marL="0">
              <a:lnSpc>
                <a:spcPct val="120000"/>
              </a:lnSpc>
              <a:buNone/>
            </a:pPr>
            <a:r>
              <a:rPr lang="ar-SA" altLang="en-US" sz="1950" b="1" dirty="0">
                <a:solidFill>
                  <a:srgbClr val="D6336C"/>
                </a:solidFill>
                <a:latin typeface="Amiri" pitchFamily="2" charset="-78"/>
                <a:ea typeface="Amiri" pitchFamily="2" charset="-78"/>
                <a:cs typeface="Amiri" pitchFamily="2" charset="-78"/>
              </a:rPr>
              <a:t>الَّتِي</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أَعْمَلُ فِيهَا</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D3-L02 · Workplace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D3-L02</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Describe a workplace with an adjective that agrees.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Name work conditions and benefits (hours, salary, team, leave).</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Join ideas with </a:t>
            </a:r>
            <a:pPr algn="l" indent="0" marL="0">
              <a:buNone/>
            </a:pPr>
            <a:r>
              <a:rPr lang="ar-SA" altLang="en-US" sz="1700" dirty="0">
                <a:solidFill>
                  <a:srgbClr val="1F2A37"/>
                </a:solidFill>
                <a:latin typeface="Amiri" pitchFamily="2" charset="-78"/>
                <a:ea typeface="Amiri" pitchFamily="2" charset="-78"/>
                <a:cs typeface="Amiri" pitchFamily="2" charset="-78"/>
              </a:rPr>
              <a:t>الَّذِي / الَّتِي</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Weigh advantages and disadvantages with </a:t>
            </a:r>
            <a:pPr algn="l" indent="0" marL="0">
              <a:buNone/>
            </a:pPr>
            <a:r>
              <a:rPr lang="ar-SA" altLang="en-US" sz="1700" dirty="0">
                <a:solidFill>
                  <a:srgbClr val="1F2A37"/>
                </a:solidFill>
                <a:latin typeface="Amiri" pitchFamily="2" charset="-78"/>
                <a:ea typeface="Amiri" pitchFamily="2" charset="-78"/>
                <a:cs typeface="Amiri" pitchFamily="2" charset="-78"/>
              </a:rPr>
              <a:t>أَنَّ</a:t>
            </a:r>
            <a:pPr algn="l" indent="0" marL="0">
              <a:buNone/>
            </a:pPr>
            <a:r>
              <a:rPr lang="en-US" sz="1300" dirty="0">
                <a:solidFill>
                  <a:srgbClr val="1F2A37"/>
                </a:solidFill>
                <a:latin typeface="Calibri" pitchFamily="34" charset="0"/>
                <a:cs typeface="Amiri" pitchFamily="2" charset="-78"/>
              </a:rPr>
              <a:t> and a contrast.</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describe a workplace with an adjective.</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give one advantage of a job.</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use the place where / the company which.</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contrast two jobs.</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weigh two workplaces and choose one.</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use although … in a judgement.</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36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Workplaces · 12</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Conditions and benefits · 12</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Evaluation · 12</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رَاتِبٌ</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‎تنخواہ‎ </a:t>
            </a:r>
            <a:pPr indent="0" marL="0">
              <a:buNone/>
            </a:pPr>
            <a:r>
              <a:rPr lang="en-US" sz="950" b="1" dirty="0">
                <a:solidFill>
                  <a:srgbClr val="2E8B57"/>
                </a:solidFill>
                <a:latin typeface="Calibri" pitchFamily="34" charset="0"/>
                <a:cs typeface="Amiri" pitchFamily="2" charset="-78"/>
              </a:rPr>
              <a:t> tankhwāh · salary (meaning only)</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مَكْتَبٌ</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‎مکتب‎ </a:t>
            </a:r>
            <a:pPr indent="0" marL="0">
              <a:buNone/>
            </a:pPr>
            <a:r>
              <a:rPr lang="en-US" sz="950" b="1" dirty="0">
                <a:solidFill>
                  <a:srgbClr val="2E8B57"/>
                </a:solidFill>
                <a:latin typeface="Calibri" pitchFamily="34" charset="0"/>
                <a:cs typeface="Amiri" pitchFamily="2" charset="-78"/>
              </a:rPr>
              <a:t> maktab · Urdu: school · Arabic: office / desk</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مَصْنَعٌ</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‎صنعت‎ </a:t>
            </a:r>
            <a:pPr indent="0" marL="0">
              <a:buNone/>
            </a:pPr>
            <a:r>
              <a:rPr lang="en-US" sz="950" b="1" dirty="0">
                <a:solidFill>
                  <a:srgbClr val="2E8B57"/>
                </a:solidFill>
                <a:latin typeface="Calibri" pitchFamily="34" charset="0"/>
                <a:cs typeface="Amiri" pitchFamily="2" charset="-78"/>
              </a:rPr>
              <a:t> sanʿat · industry → factory</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سَنَوِيَّةٌ</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‎سال / سالانہ‎ </a:t>
            </a:r>
            <a:pPr indent="0" marL="0">
              <a:buNone/>
            </a:pPr>
            <a:r>
              <a:rPr lang="en-US" sz="950" b="1" dirty="0">
                <a:solidFill>
                  <a:srgbClr val="2E8B57"/>
                </a:solidFill>
                <a:latin typeface="Calibri" pitchFamily="34" charset="0"/>
                <a:cs typeface="Amiri" pitchFamily="2" charset="-78"/>
              </a:rPr>
              <a:t> sālāna · annual (meaning only)</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تَوَازُنٌ</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‎توازن‎ </a:t>
            </a:r>
            <a:pPr indent="0" marL="0">
              <a:buNone/>
            </a:pPr>
            <a:r>
              <a:rPr lang="en-US" sz="950" b="1" dirty="0">
                <a:solidFill>
                  <a:srgbClr val="2E8B57"/>
                </a:solidFill>
                <a:latin typeface="Calibri" pitchFamily="34" charset="0"/>
                <a:cs typeface="Amiri" pitchFamily="2" charset="-78"/>
              </a:rPr>
              <a:t> tawāzun · balance</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D3-L02 · Workplace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Workplaces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D3-L02</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مُسْتَشْفًى</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hospital</a:t>
            </a:r>
            <a:endParaRPr lang="en-US" sz="1350" dirty="0"/>
          </a:p>
          <a:p>
            <a:pPr indent="0" marL="0">
              <a:buNone/>
            </a:pPr>
            <a:r>
              <a:rPr lang="en-US" sz="1100" i="1" dirty="0">
                <a:solidFill>
                  <a:srgbClr val="5A6472"/>
                </a:solidFill>
                <a:latin typeface="Calibri" pitchFamily="34" charset="0"/>
                <a:cs typeface="Amiri" pitchFamily="2" charset="-78"/>
              </a:rPr>
              <a:t>mus-tash-fan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مَدْرَسَةٌ</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school</a:t>
            </a:r>
            <a:endParaRPr lang="en-US" sz="1350" dirty="0"/>
          </a:p>
          <a:p>
            <a:pPr indent="0" marL="0">
              <a:buNone/>
            </a:pPr>
            <a:r>
              <a:rPr lang="en-US" sz="1100" i="1" dirty="0">
                <a:solidFill>
                  <a:srgbClr val="5A6472"/>
                </a:solidFill>
                <a:latin typeface="Calibri" pitchFamily="34" charset="0"/>
                <a:cs typeface="Amiri" pitchFamily="2" charset="-78"/>
              </a:rPr>
              <a:t>mad-ra-sa-tun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مَكْتَبٌ</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office</a:t>
            </a:r>
            <a:endParaRPr lang="en-US" sz="1350" dirty="0"/>
          </a:p>
          <a:p>
            <a:pPr indent="0" marL="0">
              <a:buNone/>
            </a:pPr>
            <a:r>
              <a:rPr lang="en-US" sz="1100" i="1" dirty="0">
                <a:solidFill>
                  <a:srgbClr val="5A6472"/>
                </a:solidFill>
                <a:latin typeface="Calibri" pitchFamily="34" charset="0"/>
                <a:cs typeface="Amiri" pitchFamily="2" charset="-78"/>
              </a:rPr>
              <a:t>mak-ta-bun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مَصْنَعٌ</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factory</a:t>
            </a:r>
            <a:endParaRPr lang="en-US" sz="1350" dirty="0"/>
          </a:p>
          <a:p>
            <a:pPr indent="0" marL="0">
              <a:buNone/>
            </a:pPr>
            <a:r>
              <a:rPr lang="en-US" sz="1100" i="1" dirty="0">
                <a:solidFill>
                  <a:srgbClr val="5A6472"/>
                </a:solidFill>
                <a:latin typeface="Calibri" pitchFamily="34" charset="0"/>
                <a:cs typeface="Amiri" pitchFamily="2" charset="-78"/>
              </a:rPr>
              <a:t>maṣ-na-ʿun</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مُخْتَبَرٌ</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laboratory</a:t>
            </a:r>
            <a:endParaRPr lang="en-US" sz="1350" dirty="0"/>
          </a:p>
          <a:p>
            <a:pPr indent="0" marL="0">
              <a:buNone/>
            </a:pPr>
            <a:r>
              <a:rPr lang="en-US" sz="1100" i="1" dirty="0">
                <a:solidFill>
                  <a:srgbClr val="5A6472"/>
                </a:solidFill>
                <a:latin typeface="Calibri" pitchFamily="34" charset="0"/>
                <a:cs typeface="Amiri" pitchFamily="2" charset="-78"/>
              </a:rPr>
              <a:t>mukh-ta-ba-run</a:t>
            </a:r>
            <a:endParaRPr lang="en-US" sz="1350" dirty="0"/>
          </a:p>
        </p:txBody>
      </p:sp>
      <p:sp>
        <p:nvSpPr>
          <p:cNvPr id="42" name="Shape 3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45" name="Text 4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مَحْكَمَةٌ</a:t>
            </a:r>
            <a:endParaRPr lang="ar-SA" sz="3000" dirty="0"/>
          </a:p>
        </p:txBody>
      </p:sp>
      <p:sp>
        <p:nvSpPr>
          <p:cNvPr id="46" name="Text 4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court</a:t>
            </a:r>
            <a:endParaRPr lang="en-US" sz="1350" dirty="0"/>
          </a:p>
          <a:p>
            <a:pPr indent="0" marL="0">
              <a:buNone/>
            </a:pPr>
            <a:r>
              <a:rPr lang="en-US" sz="1100" i="1" dirty="0">
                <a:solidFill>
                  <a:srgbClr val="5A6472"/>
                </a:solidFill>
                <a:latin typeface="Calibri" pitchFamily="34" charset="0"/>
                <a:cs typeface="Amiri" pitchFamily="2" charset="-78"/>
              </a:rPr>
              <a:t>maḥ-ka-ma-tun</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D3-L02 · Workplace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Workplaces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D3-L02</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مَتْجَرٌ</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shop</a:t>
            </a:r>
            <a:endParaRPr lang="en-US" sz="1350" dirty="0"/>
          </a:p>
          <a:p>
            <a:pPr indent="0" marL="0">
              <a:buNone/>
            </a:pPr>
            <a:r>
              <a:rPr lang="en-US" sz="1100" i="1" dirty="0">
                <a:solidFill>
                  <a:srgbClr val="5A6472"/>
                </a:solidFill>
                <a:latin typeface="Calibri" pitchFamily="34" charset="0"/>
                <a:cs typeface="Amiri" pitchFamily="2" charset="-78"/>
              </a:rPr>
              <a:t>mat-ja-run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مَطَارٌ</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airport</a:t>
            </a:r>
            <a:endParaRPr lang="en-US" sz="1350" dirty="0"/>
          </a:p>
          <a:p>
            <a:pPr indent="0" marL="0">
              <a:buNone/>
            </a:pPr>
            <a:r>
              <a:rPr lang="en-US" sz="1100" i="1" dirty="0">
                <a:solidFill>
                  <a:srgbClr val="5A6472"/>
                </a:solidFill>
                <a:latin typeface="Calibri" pitchFamily="34" charset="0"/>
                <a:cs typeface="Amiri" pitchFamily="2" charset="-78"/>
              </a:rPr>
              <a:t>ma-ṭā-run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شَرِكَةٌ</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company</a:t>
            </a:r>
            <a:endParaRPr lang="en-US" sz="1350" dirty="0"/>
          </a:p>
          <a:p>
            <a:pPr indent="0" marL="0">
              <a:buNone/>
            </a:pPr>
            <a:r>
              <a:rPr lang="en-US" sz="1100" i="1" dirty="0">
                <a:solidFill>
                  <a:srgbClr val="5A6472"/>
                </a:solidFill>
                <a:latin typeface="Calibri" pitchFamily="34" charset="0"/>
                <a:cs typeface="Amiri" pitchFamily="2" charset="-78"/>
              </a:rPr>
              <a:t>sha-ri-ka-tun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مَوْقِعُ بِنَاءٍ</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building site</a:t>
            </a:r>
            <a:endParaRPr lang="en-US" sz="1350" dirty="0"/>
          </a:p>
          <a:p>
            <a:pPr indent="0" marL="0">
              <a:buNone/>
            </a:pPr>
            <a:r>
              <a:rPr lang="en-US" sz="1100" i="1" dirty="0">
                <a:solidFill>
                  <a:srgbClr val="5A6472"/>
                </a:solidFill>
                <a:latin typeface="Calibri" pitchFamily="34" charset="0"/>
                <a:cs typeface="Amiri" pitchFamily="2" charset="-78"/>
              </a:rPr>
              <a:t>maw-qi-ʿu bi-nā-ʾin</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عَنْ بُعْدٍ</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remotely</a:t>
            </a:r>
            <a:endParaRPr lang="en-US" sz="1350" dirty="0"/>
          </a:p>
          <a:p>
            <a:pPr indent="0" marL="0">
              <a:buNone/>
            </a:pPr>
            <a:r>
              <a:rPr lang="en-US" sz="1100" i="1" dirty="0">
                <a:solidFill>
                  <a:srgbClr val="5A6472"/>
                </a:solidFill>
                <a:latin typeface="Calibri" pitchFamily="34" charset="0"/>
                <a:cs typeface="Amiri" pitchFamily="2" charset="-78"/>
              </a:rPr>
              <a:t>ʿan buʿ-din</a:t>
            </a:r>
            <a:endParaRPr lang="en-US" sz="1350" dirty="0"/>
          </a:p>
        </p:txBody>
      </p:sp>
      <p:sp>
        <p:nvSpPr>
          <p:cNvPr id="42" name="Shape 3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45" name="Text 4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فِي الهَوَاءِ الطَّلْقِ</a:t>
            </a:r>
            <a:endParaRPr lang="ar-SA" sz="3000" dirty="0"/>
          </a:p>
        </p:txBody>
      </p:sp>
      <p:sp>
        <p:nvSpPr>
          <p:cNvPr id="46" name="Text 4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outdoors</a:t>
            </a:r>
            <a:endParaRPr lang="en-US" sz="1350" dirty="0"/>
          </a:p>
          <a:p>
            <a:pPr indent="0" marL="0">
              <a:buNone/>
            </a:pPr>
            <a:r>
              <a:rPr lang="en-US" sz="1100" i="1" dirty="0">
                <a:solidFill>
                  <a:srgbClr val="5A6472"/>
                </a:solidFill>
                <a:latin typeface="Calibri" pitchFamily="34" charset="0"/>
                <a:cs typeface="Amiri" pitchFamily="2" charset="-78"/>
              </a:rPr>
              <a:t>fī al-ha-wā-ʾi aṭ-ṭal-qi</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D3-L02 · Workplace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Conditions and benefits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دَوَامٌ كَامِلٌ</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full-time work</a:t>
            </a:r>
            <a:endParaRPr lang="en-US" sz="1350" dirty="0"/>
          </a:p>
          <a:p>
            <a:pPr indent="0" marL="0">
              <a:buNone/>
            </a:pPr>
            <a:r>
              <a:rPr lang="en-US" sz="1100" i="1" dirty="0">
                <a:solidFill>
                  <a:srgbClr val="5A6472"/>
                </a:solidFill>
                <a:latin typeface="Calibri" pitchFamily="34" charset="0"/>
                <a:cs typeface="Amiri" pitchFamily="2" charset="-78"/>
              </a:rPr>
              <a:t>da-wā-mun kā-mi-lun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دَوَامٌ جُزْئِيٌّ</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part-time work</a:t>
            </a:r>
            <a:endParaRPr lang="en-US" sz="1350" dirty="0"/>
          </a:p>
          <a:p>
            <a:pPr indent="0" marL="0">
              <a:buNone/>
            </a:pPr>
            <a:r>
              <a:rPr lang="en-US" sz="1100" i="1" dirty="0">
                <a:solidFill>
                  <a:srgbClr val="5A6472"/>
                </a:solidFill>
                <a:latin typeface="Calibri" pitchFamily="34" charset="0"/>
                <a:cs typeface="Amiri" pitchFamily="2" charset="-78"/>
              </a:rPr>
              <a:t>da-wā-mun juz-ʾiy-yun</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سَاعَاتٌ مَرِنَةٌ</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flexible hours</a:t>
            </a:r>
            <a:endParaRPr lang="en-US" sz="1350" dirty="0"/>
          </a:p>
          <a:p>
            <a:pPr indent="0" marL="0">
              <a:buNone/>
            </a:pPr>
            <a:r>
              <a:rPr lang="en-US" sz="1100" i="1" dirty="0">
                <a:solidFill>
                  <a:srgbClr val="5A6472"/>
                </a:solidFill>
                <a:latin typeface="Calibri" pitchFamily="34" charset="0"/>
                <a:cs typeface="Amiri" pitchFamily="2" charset="-78"/>
              </a:rPr>
              <a:t>sā-ʿā-tun ma-ri-na-tun</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39" name="Shape 3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رَاتِبٌ مُرْتَفِعٌ</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high salary</a:t>
            </a:r>
            <a:endParaRPr lang="en-US" sz="1350" dirty="0"/>
          </a:p>
          <a:p>
            <a:pPr indent="0" marL="0">
              <a:buNone/>
            </a:pPr>
            <a:r>
              <a:rPr lang="en-US" sz="1100" i="1" dirty="0">
                <a:solidFill>
                  <a:srgbClr val="5A6472"/>
                </a:solidFill>
                <a:latin typeface="Calibri" pitchFamily="34" charset="0"/>
                <a:cs typeface="Amiri" pitchFamily="2" charset="-78"/>
              </a:rPr>
              <a:t>rā-ti-bun mur-ta-fi-ʿun</a:t>
            </a:r>
            <a:endParaRPr lang="en-US" sz="1350" dirty="0"/>
          </a:p>
        </p:txBody>
      </p:sp>
      <p:sp>
        <p:nvSpPr>
          <p:cNvPr id="43" name="Shape 4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4389120" y="4261104"/>
            <a:ext cx="310896" cy="310896"/>
          </a:xfrm>
          <a:prstGeom prst="ellipse">
            <a:avLst/>
          </a:prstGeom>
          <a:solidFill>
            <a:srgbClr val="F4F1EA"/>
          </a:solidFill>
          <a:ln w="12700">
            <a:solidFill>
              <a:srgbClr val="F4F1EA"/>
            </a:solidFill>
            <a:prstDash val="solid"/>
          </a:ln>
        </p:spPr>
      </p:sp>
      <p:sp>
        <p:nvSpPr>
          <p:cNvPr id="45" name="Text 4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46" name="Shape 43"/>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8" name="Text 45"/>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رَاتِبٌ مُنْخَفِضٌ</a:t>
            </a:r>
            <a:endParaRPr lang="ar-SA" sz="3000" dirty="0"/>
          </a:p>
        </p:txBody>
      </p:sp>
      <p:sp>
        <p:nvSpPr>
          <p:cNvPr id="49" name="Text 46"/>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low salary</a:t>
            </a:r>
            <a:endParaRPr lang="en-US" sz="1350" dirty="0"/>
          </a:p>
          <a:p>
            <a:pPr indent="0" marL="0">
              <a:buNone/>
            </a:pPr>
            <a:r>
              <a:rPr lang="en-US" sz="1100" i="1" dirty="0">
                <a:solidFill>
                  <a:srgbClr val="5A6472"/>
                </a:solidFill>
                <a:latin typeface="Calibri" pitchFamily="34" charset="0"/>
                <a:cs typeface="Amiri" pitchFamily="2" charset="-78"/>
              </a:rPr>
              <a:t>rā-ti-bun mun-kha-fi-ḍun</a:t>
            </a:r>
            <a:endParaRPr lang="en-US" sz="1350" dirty="0"/>
          </a:p>
        </p:txBody>
      </p:sp>
      <p:sp>
        <p:nvSpPr>
          <p:cNvPr id="50" name="Shape 4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1" name="Shape 48"/>
          <p:cNvSpPr/>
          <p:nvPr/>
        </p:nvSpPr>
        <p:spPr>
          <a:xfrm>
            <a:off x="566928" y="4261104"/>
            <a:ext cx="310896" cy="310896"/>
          </a:xfrm>
          <a:prstGeom prst="ellipse">
            <a:avLst/>
          </a:prstGeom>
          <a:solidFill>
            <a:srgbClr val="F4F1EA"/>
          </a:solidFill>
          <a:ln w="12700">
            <a:solidFill>
              <a:srgbClr val="F4F1EA"/>
            </a:solidFill>
            <a:prstDash val="solid"/>
          </a:ln>
        </p:spPr>
      </p:sp>
      <p:sp>
        <p:nvSpPr>
          <p:cNvPr id="52" name="Text 4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53" name="Shape 50"/>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5" name="Text 5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عَمَلٌ مُجْهِدٌ</a:t>
            </a:r>
            <a:endParaRPr lang="ar-SA" sz="3000" dirty="0"/>
          </a:p>
        </p:txBody>
      </p:sp>
      <p:sp>
        <p:nvSpPr>
          <p:cNvPr id="56" name="Text 5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tiring work</a:t>
            </a:r>
            <a:endParaRPr lang="en-US" sz="1350" dirty="0"/>
          </a:p>
          <a:p>
            <a:pPr indent="0" marL="0">
              <a:buNone/>
            </a:pPr>
            <a:r>
              <a:rPr lang="en-US" sz="1100" i="1" dirty="0">
                <a:solidFill>
                  <a:srgbClr val="5A6472"/>
                </a:solidFill>
                <a:latin typeface="Calibri" pitchFamily="34" charset="0"/>
                <a:cs typeface="Amiri" pitchFamily="2" charset="-78"/>
              </a:rPr>
              <a:t>ʿa-ma-lun muj-hi-dun</a:t>
            </a:r>
            <a:endParaRPr lang="en-US" sz="13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D3-L02 · Workplace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Conditions and benefits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عَمَلٌ مُجْزٍ</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rewarding work</a:t>
            </a:r>
            <a:endParaRPr lang="en-US" sz="1350" dirty="0"/>
          </a:p>
          <a:p>
            <a:pPr indent="0" marL="0">
              <a:buNone/>
            </a:pPr>
            <a:r>
              <a:rPr lang="en-US" sz="1100" i="1" dirty="0">
                <a:solidFill>
                  <a:srgbClr val="5A6472"/>
                </a:solidFill>
                <a:latin typeface="Calibri" pitchFamily="34" charset="0"/>
                <a:cs typeface="Amiri" pitchFamily="2" charset="-78"/>
              </a:rPr>
              <a:t>ʿa-ma-lun muj-zin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بِيئَةٌ آمِنَةٌ</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safe environment</a:t>
            </a:r>
            <a:endParaRPr lang="en-US" sz="1350" dirty="0"/>
          </a:p>
          <a:p>
            <a:pPr indent="0" marL="0">
              <a:buNone/>
            </a:pPr>
            <a:r>
              <a:rPr lang="en-US" sz="1100" i="1" dirty="0">
                <a:solidFill>
                  <a:srgbClr val="5A6472"/>
                </a:solidFill>
                <a:latin typeface="Calibri" pitchFamily="34" charset="0"/>
                <a:cs typeface="Amiri" pitchFamily="2" charset="-78"/>
              </a:rPr>
              <a:t>bī-ʾa-tun ā-mi-na-tun</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فَرِيقُ عَمَلٍ</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work team</a:t>
            </a:r>
            <a:endParaRPr lang="en-US" sz="1350" dirty="0"/>
          </a:p>
          <a:p>
            <a:pPr indent="0" marL="0">
              <a:buNone/>
            </a:pPr>
            <a:r>
              <a:rPr lang="en-US" sz="1100" i="1" dirty="0">
                <a:solidFill>
                  <a:srgbClr val="5A6472"/>
                </a:solidFill>
                <a:latin typeface="Calibri" pitchFamily="34" charset="0"/>
                <a:cs typeface="Amiri" pitchFamily="2" charset="-78"/>
              </a:rPr>
              <a:t>fa-rī-qu ʿa-ma-lin</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إِجَازَةٌ سَنَوِيَّةٌ</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annual leave</a:t>
            </a:r>
            <a:endParaRPr lang="en-US" sz="1350" dirty="0"/>
          </a:p>
          <a:p>
            <a:pPr indent="0" marL="0">
              <a:buNone/>
            </a:pPr>
            <a:r>
              <a:rPr lang="en-US" sz="1100" i="1" dirty="0">
                <a:solidFill>
                  <a:srgbClr val="5A6472"/>
                </a:solidFill>
                <a:latin typeface="Calibri" pitchFamily="34" charset="0"/>
                <a:cs typeface="Amiri" pitchFamily="2" charset="-78"/>
              </a:rPr>
              <a:t>i-jā-za-tun sa-na-wiy-ya-tun</a:t>
            </a:r>
            <a:endParaRPr lang="en-US" sz="1350" dirty="0"/>
          </a:p>
        </p:txBody>
      </p:sp>
      <p:sp>
        <p:nvSpPr>
          <p:cNvPr id="41" name="Shape 3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4389120"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44" name="Text 4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فُرَصُ التَّرَقِّي</a:t>
            </a:r>
            <a:endParaRPr lang="ar-SA" sz="3000" dirty="0"/>
          </a:p>
        </p:txBody>
      </p:sp>
      <p:sp>
        <p:nvSpPr>
          <p:cNvPr id="45" name="Text 4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promotion opportunities</a:t>
            </a:r>
            <a:endParaRPr lang="en-US" sz="1350" dirty="0"/>
          </a:p>
          <a:p>
            <a:pPr indent="0" marL="0">
              <a:buNone/>
            </a:pPr>
            <a:r>
              <a:rPr lang="en-US" sz="1100" i="1" dirty="0">
                <a:solidFill>
                  <a:srgbClr val="5A6472"/>
                </a:solidFill>
                <a:latin typeface="Calibri" pitchFamily="34" charset="0"/>
                <a:cs typeface="Amiri" pitchFamily="2" charset="-78"/>
              </a:rPr>
              <a:t>fu-ra-ṣu at-ta-raq-qī</a:t>
            </a:r>
            <a:endParaRPr lang="en-US" sz="1350" dirty="0"/>
          </a:p>
        </p:txBody>
      </p:sp>
      <p:sp>
        <p:nvSpPr>
          <p:cNvPr id="46" name="Shape 43"/>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66928" y="4261104"/>
            <a:ext cx="310896" cy="310896"/>
          </a:xfrm>
          <a:prstGeom prst="ellipse">
            <a:avLst/>
          </a:prstGeom>
          <a:solidFill>
            <a:srgbClr val="F4F1EA"/>
          </a:solidFill>
          <a:ln w="12700">
            <a:solidFill>
              <a:srgbClr val="F4F1EA"/>
            </a:solidFill>
            <a:prstDash val="solid"/>
          </a:ln>
        </p:spPr>
      </p:sp>
      <p:sp>
        <p:nvSpPr>
          <p:cNvPr id="48" name="Text 45"/>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49" name="Text 46"/>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2900" b="1" dirty="0">
                <a:solidFill>
                  <a:srgbClr val="1B3B6F"/>
                </a:solidFill>
                <a:latin typeface="Amiri" pitchFamily="2" charset="-78"/>
                <a:ea typeface="Amiri" pitchFamily="2" charset="-78"/>
                <a:cs typeface="Amiri" pitchFamily="2" charset="-78"/>
              </a:rPr>
              <a:t>تَوَازُنٌ بَيْنَ العَمَلِ وَالحَيَاةِ</a:t>
            </a:r>
            <a:endParaRPr lang="ar-SA" sz="2900" dirty="0"/>
          </a:p>
        </p:txBody>
      </p:sp>
      <p:sp>
        <p:nvSpPr>
          <p:cNvPr id="50" name="Text 47"/>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work-life balance</a:t>
            </a:r>
            <a:endParaRPr lang="en-US" sz="1350" dirty="0"/>
          </a:p>
          <a:p>
            <a:pPr indent="0" marL="0">
              <a:buNone/>
            </a:pPr>
            <a:r>
              <a:rPr lang="en-US" sz="1100" i="1" dirty="0">
                <a:solidFill>
                  <a:srgbClr val="5A6472"/>
                </a:solidFill>
                <a:latin typeface="Calibri" pitchFamily="34" charset="0"/>
                <a:cs typeface="Amiri" pitchFamily="2" charset="-78"/>
              </a:rPr>
              <a:t>ta-wā-zu-nun bay-na al-ʿa-ma-li wāl-ḥa-yā-ti</a:t>
            </a:r>
            <a:endParaRPr lang="en-US" sz="135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D3-L02 · Workplace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Evaluation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D3-L02</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25</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لِأَنَّ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because</a:t>
            </a:r>
            <a:endParaRPr lang="en-US" sz="1350" dirty="0"/>
          </a:p>
          <a:p>
            <a:pPr indent="0" marL="0">
              <a:buNone/>
            </a:pPr>
            <a:r>
              <a:rPr lang="en-US" sz="1100" i="1" dirty="0">
                <a:solidFill>
                  <a:srgbClr val="5A6472"/>
                </a:solidFill>
                <a:latin typeface="Calibri" pitchFamily="34" charset="0"/>
                <a:cs typeface="Amiri" pitchFamily="2" charset="-78"/>
              </a:rPr>
              <a:t>li-ʾan-na</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26</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لِذٰلِكَ</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therefore</a:t>
            </a:r>
            <a:endParaRPr lang="en-US" sz="1350" dirty="0"/>
          </a:p>
          <a:p>
            <a:pPr indent="0" marL="0">
              <a:buNone/>
            </a:pPr>
            <a:r>
              <a:rPr lang="en-US" sz="1100" i="1" dirty="0">
                <a:solidFill>
                  <a:srgbClr val="5A6472"/>
                </a:solidFill>
                <a:latin typeface="Calibri" pitchFamily="34" charset="0"/>
                <a:cs typeface="Amiri" pitchFamily="2" charset="-78"/>
              </a:rPr>
              <a:t>li-dhā-li-ka</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27</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وَلٰكِنَّ</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however</a:t>
            </a:r>
            <a:endParaRPr lang="en-US" sz="1350" dirty="0"/>
          </a:p>
          <a:p>
            <a:pPr indent="0" marL="0">
              <a:buNone/>
            </a:pPr>
            <a:r>
              <a:rPr lang="en-US" sz="1100" i="1" dirty="0">
                <a:solidFill>
                  <a:srgbClr val="5A6472"/>
                </a:solidFill>
                <a:latin typeface="Calibri" pitchFamily="34" charset="0"/>
                <a:cs typeface="Amiri" pitchFamily="2" charset="-78"/>
              </a:rPr>
              <a:t>wa-lā-kin-na</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28</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بَيْنَمَا</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whereas</a:t>
            </a:r>
            <a:endParaRPr lang="en-US" sz="1350" dirty="0"/>
          </a:p>
          <a:p>
            <a:pPr indent="0" marL="0">
              <a:buNone/>
            </a:pPr>
            <a:r>
              <a:rPr lang="en-US" sz="1100" i="1" dirty="0">
                <a:solidFill>
                  <a:srgbClr val="5A6472"/>
                </a:solidFill>
                <a:latin typeface="Calibri" pitchFamily="34" charset="0"/>
                <a:cs typeface="Amiri" pitchFamily="2" charset="-78"/>
              </a:rPr>
              <a:t>bay-na-mā</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29</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عَلَى الرَّغْمِ مِنْ أَنَّ</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although</a:t>
            </a:r>
            <a:endParaRPr lang="en-US" sz="1350" dirty="0"/>
          </a:p>
          <a:p>
            <a:pPr indent="0" marL="0">
              <a:buNone/>
            </a:pPr>
            <a:r>
              <a:rPr lang="en-US" sz="1100" i="1" dirty="0">
                <a:solidFill>
                  <a:srgbClr val="5A6472"/>
                </a:solidFill>
                <a:latin typeface="Calibri" pitchFamily="34" charset="0"/>
                <a:cs typeface="Amiri" pitchFamily="2" charset="-78"/>
              </a:rPr>
              <a:t>ʿa-lā ar-ragh-mi min an-na</a:t>
            </a:r>
            <a:endParaRPr lang="en-US" sz="1350" dirty="0"/>
          </a:p>
        </p:txBody>
      </p:sp>
      <p:sp>
        <p:nvSpPr>
          <p:cNvPr id="42" name="Shape 3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30</a:t>
            </a:r>
            <a:endParaRPr lang="en-US" sz="1000" dirty="0"/>
          </a:p>
        </p:txBody>
      </p:sp>
      <p:sp>
        <p:nvSpPr>
          <p:cNvPr id="45" name="Text 4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إِضَافَةً إِلَى ذٰلِكَ</a:t>
            </a:r>
            <a:endParaRPr lang="ar-SA" sz="3000" dirty="0"/>
          </a:p>
        </p:txBody>
      </p:sp>
      <p:sp>
        <p:nvSpPr>
          <p:cNvPr id="46" name="Text 4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addition</a:t>
            </a:r>
            <a:endParaRPr lang="en-US" sz="1350" dirty="0"/>
          </a:p>
          <a:p>
            <a:pPr indent="0" marL="0">
              <a:buNone/>
            </a:pPr>
            <a:r>
              <a:rPr lang="en-US" sz="1100" i="1" dirty="0">
                <a:solidFill>
                  <a:srgbClr val="5A6472"/>
                </a:solidFill>
                <a:latin typeface="Calibri" pitchFamily="34" charset="0"/>
                <a:cs typeface="Amiri" pitchFamily="2" charset="-78"/>
              </a:rPr>
              <a:t>i-ḍā-fa-tan i-lā dhā-li-ka</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D3-L02 · Workplace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Evaluation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D3-L02</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31</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مِنْ جِهَةٍ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on one hand</a:t>
            </a:r>
            <a:endParaRPr lang="en-US" sz="1350" dirty="0"/>
          </a:p>
          <a:p>
            <a:pPr indent="0" marL="0">
              <a:buNone/>
            </a:pPr>
            <a:r>
              <a:rPr lang="en-US" sz="1100" i="1" dirty="0">
                <a:solidFill>
                  <a:srgbClr val="5A6472"/>
                </a:solidFill>
                <a:latin typeface="Calibri" pitchFamily="34" charset="0"/>
                <a:cs typeface="Amiri" pitchFamily="2" charset="-78"/>
              </a:rPr>
              <a:t>min ji-ha-tin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32</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مِنْ جِهَةٍ أُخْرَى</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on the other hand</a:t>
            </a:r>
            <a:endParaRPr lang="en-US" sz="1350" dirty="0"/>
          </a:p>
          <a:p>
            <a:pPr indent="0" marL="0">
              <a:buNone/>
            </a:pPr>
            <a:r>
              <a:rPr lang="en-US" sz="1100" i="1" dirty="0">
                <a:solidFill>
                  <a:srgbClr val="5A6472"/>
                </a:solidFill>
                <a:latin typeface="Calibri" pitchFamily="34" charset="0"/>
                <a:cs typeface="Amiri" pitchFamily="2" charset="-78"/>
              </a:rPr>
              <a:t>min ji-ha-tin ukh-rā</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33</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فِي رَأْيِي</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my opinion</a:t>
            </a:r>
            <a:endParaRPr lang="en-US" sz="1350" dirty="0"/>
          </a:p>
          <a:p>
            <a:pPr indent="0" marL="0">
              <a:buNone/>
            </a:pPr>
            <a:r>
              <a:rPr lang="en-US" sz="1100" i="1" dirty="0">
                <a:solidFill>
                  <a:srgbClr val="5A6472"/>
                </a:solidFill>
                <a:latin typeface="Calibri" pitchFamily="34" charset="0"/>
                <a:cs typeface="Amiri" pitchFamily="2" charset="-78"/>
              </a:rPr>
              <a:t>fī raʾ-yī</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34</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عَلَى سَبِيلِ المِثَالِ</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for example</a:t>
            </a:r>
            <a:endParaRPr lang="en-US" sz="1350" dirty="0"/>
          </a:p>
          <a:p>
            <a:pPr indent="0" marL="0">
              <a:buNone/>
            </a:pPr>
            <a:r>
              <a:rPr lang="en-US" sz="1100" i="1" dirty="0">
                <a:solidFill>
                  <a:srgbClr val="5A6472"/>
                </a:solidFill>
                <a:latin typeface="Calibri" pitchFamily="34" charset="0"/>
                <a:cs typeface="Amiri" pitchFamily="2" charset="-78"/>
              </a:rPr>
              <a:t>ʿa-lā sa-bī-li al-mi-thā-li</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35</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نَتِيجَةً لِذٰلِكَ</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as a result</a:t>
            </a:r>
            <a:endParaRPr lang="en-US" sz="1350" dirty="0"/>
          </a:p>
          <a:p>
            <a:pPr indent="0" marL="0">
              <a:buNone/>
            </a:pPr>
            <a:r>
              <a:rPr lang="en-US" sz="1100" i="1" dirty="0">
                <a:solidFill>
                  <a:srgbClr val="5A6472"/>
                </a:solidFill>
                <a:latin typeface="Calibri" pitchFamily="34" charset="0"/>
                <a:cs typeface="Amiri" pitchFamily="2" charset="-78"/>
              </a:rPr>
              <a:t>na-tī-ja-tan li-dhā-li-ka</a:t>
            </a:r>
            <a:endParaRPr lang="en-US" sz="1350" dirty="0"/>
          </a:p>
        </p:txBody>
      </p:sp>
      <p:sp>
        <p:nvSpPr>
          <p:cNvPr id="42" name="Shape 3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36</a:t>
            </a:r>
            <a:endParaRPr lang="en-US" sz="1000" dirty="0"/>
          </a:p>
        </p:txBody>
      </p:sp>
      <p:sp>
        <p:nvSpPr>
          <p:cNvPr id="45" name="Text 4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بِهَدَفِ</a:t>
            </a:r>
            <a:endParaRPr lang="ar-SA" sz="3000" dirty="0"/>
          </a:p>
        </p:txBody>
      </p:sp>
      <p:sp>
        <p:nvSpPr>
          <p:cNvPr id="46" name="Text 4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with the aim of</a:t>
            </a:r>
            <a:endParaRPr lang="en-US" sz="1350" dirty="0"/>
          </a:p>
          <a:p>
            <a:pPr indent="0" marL="0">
              <a:buNone/>
            </a:pPr>
            <a:r>
              <a:rPr lang="en-US" sz="1100" i="1" dirty="0">
                <a:solidFill>
                  <a:srgbClr val="5A6472"/>
                </a:solidFill>
                <a:latin typeface="Calibri" pitchFamily="34" charset="0"/>
                <a:cs typeface="Amiri" pitchFamily="2" charset="-78"/>
              </a:rPr>
              <a:t>bi-ha-da-fi</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D3-L02 · Workplace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46" b="1" spc="150" kern="0" dirty="0">
                <a:solidFill>
                  <a:srgbClr val="1B3B6F"/>
                </a:solidFill>
                <a:latin typeface="Calibri" pitchFamily="34" charset="0"/>
                <a:cs typeface="Amiri" pitchFamily="2" charset="-78"/>
              </a:rPr>
              <a:t>GRAMMAR FOCUS · PART 1 · PLACE + CONDITION, AND WHICH / WHERE (WEBSITE RULES 1–2)</a:t>
            </a:r>
            <a:endParaRPr lang="en-US" sz="846"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Describe the place, then join a clause</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الَّذِي · الَّتِي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598664"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Masculine noun</a:t>
            </a:r>
            <a:endParaRPr lang="en-US" sz="1100" dirty="0"/>
          </a:p>
        </p:txBody>
      </p:sp>
      <p:sp>
        <p:nvSpPr>
          <p:cNvPr id="17" name="Text 14"/>
          <p:cNvSpPr txBox="1"/>
          <p:nvPr/>
        </p:nvSpPr>
        <p:spPr>
          <a:xfrm>
            <a:off x="3392424"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Feminine noun</a:t>
            </a:r>
            <a:endParaRPr lang="en-US" sz="1100" dirty="0"/>
          </a:p>
        </p:txBody>
      </p:sp>
      <p:sp>
        <p:nvSpPr>
          <p:cNvPr id="18" name="Text 15"/>
          <p:cNvSpPr txBox="1"/>
          <p:nvPr/>
        </p:nvSpPr>
        <p:spPr>
          <a:xfrm>
            <a:off x="530352" y="1810512"/>
            <a:ext cx="27157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Rule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616952" y="2286000"/>
            <a:ext cx="402336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يَعْمَلُ فِي مَكْتَبٍ </a:t>
            </a:r>
            <a:pPr rtl="1" algn="ctr" indent="0" marL="0">
              <a:buNone/>
            </a:pPr>
            <a:r>
              <a:rPr lang="ar-SA" altLang="en-US" sz="2100" b="1" dirty="0">
                <a:solidFill>
                  <a:srgbClr val="1D5FBF"/>
                </a:solidFill>
                <a:latin typeface="Amiri" pitchFamily="2" charset="-78"/>
                <a:ea typeface="Amiri" pitchFamily="2" charset="-78"/>
                <a:cs typeface="Amiri" pitchFamily="2" charset="-78"/>
              </a:rPr>
              <a:t>حَدِيثٍ</a:t>
            </a:r>
            <a:pPr rtl="1" algn="ctr" indent="0" marL="0">
              <a:buNone/>
            </a:pPr>
            <a:r>
              <a:rPr lang="ar-SA" altLang="en-US" sz="2100" b="1" dirty="0">
                <a:solidFill>
                  <a:srgbClr val="1B3B6F"/>
                </a:solidFill>
                <a:latin typeface="Amiri" pitchFamily="2" charset="-78"/>
                <a:cs typeface="Amiri" pitchFamily="2" charset="-78"/>
              </a:rPr>
              <a:t>.</a:t>
            </a:r>
            <a:endParaRPr lang="ar-SA" sz="2100" dirty="0"/>
          </a:p>
        </p:txBody>
      </p:sp>
      <p:sp>
        <p:nvSpPr>
          <p:cNvPr id="21" name="Text 18"/>
          <p:cNvSpPr txBox="1"/>
          <p:nvPr/>
        </p:nvSpPr>
        <p:spPr>
          <a:xfrm>
            <a:off x="7571232" y="2706624"/>
            <a:ext cx="411480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in a modern office</a:t>
            </a:r>
            <a:endParaRPr lang="en-US" sz="950" dirty="0"/>
          </a:p>
        </p:txBody>
      </p:sp>
      <p:sp>
        <p:nvSpPr>
          <p:cNvPr id="22" name="Text 19"/>
          <p:cNvSpPr txBox="1"/>
          <p:nvPr/>
        </p:nvSpPr>
        <p:spPr>
          <a:xfrm>
            <a:off x="3410712" y="2286000"/>
            <a:ext cx="402336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تَعْمَلُ فِي بِيئَةٍ </a:t>
            </a:r>
            <a:pPr rtl="1" algn="ctr" indent="0" marL="0">
              <a:buNone/>
            </a:pPr>
            <a:r>
              <a:rPr lang="ar-SA" altLang="en-US" sz="2100" b="1" dirty="0">
                <a:solidFill>
                  <a:srgbClr val="D6336C"/>
                </a:solidFill>
                <a:latin typeface="Amiri" pitchFamily="2" charset="-78"/>
                <a:ea typeface="Amiri" pitchFamily="2" charset="-78"/>
                <a:cs typeface="Amiri" pitchFamily="2" charset="-78"/>
              </a:rPr>
              <a:t>آمِنَةٍ</a:t>
            </a:r>
            <a:pPr rtl="1" algn="ctr" indent="0" marL="0">
              <a:buNone/>
            </a:pPr>
            <a:r>
              <a:rPr lang="ar-SA" altLang="en-US" sz="2100" b="1" dirty="0">
                <a:solidFill>
                  <a:srgbClr val="1B3B6F"/>
                </a:solidFill>
                <a:latin typeface="Amiri" pitchFamily="2" charset="-78"/>
                <a:cs typeface="Amiri" pitchFamily="2" charset="-78"/>
              </a:rPr>
              <a:t>.</a:t>
            </a:r>
            <a:endParaRPr lang="ar-SA" sz="2100" dirty="0"/>
          </a:p>
        </p:txBody>
      </p:sp>
      <p:sp>
        <p:nvSpPr>
          <p:cNvPr id="23" name="Text 20"/>
          <p:cNvSpPr txBox="1"/>
          <p:nvPr/>
        </p:nvSpPr>
        <p:spPr>
          <a:xfrm>
            <a:off x="3364992" y="2706624"/>
            <a:ext cx="411480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in a safe environment</a:t>
            </a:r>
            <a:endParaRPr lang="en-US" sz="950" dirty="0"/>
          </a:p>
        </p:txBody>
      </p:sp>
      <p:sp>
        <p:nvSpPr>
          <p:cNvPr id="24" name="Text 21"/>
          <p:cNvSpPr txBox="1"/>
          <p:nvPr/>
        </p:nvSpPr>
        <p:spPr>
          <a:xfrm>
            <a:off x="566928" y="2267712"/>
            <a:ext cx="26791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adjective agrees</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7616952" y="3072384"/>
            <a:ext cx="402336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مَصْنَعٌ </a:t>
            </a:r>
            <a:pPr rtl="1" algn="ctr" indent="0" marL="0">
              <a:buNone/>
            </a:pPr>
            <a:r>
              <a:rPr lang="ar-SA" altLang="en-US" sz="2100" b="1" dirty="0">
                <a:solidFill>
                  <a:srgbClr val="1D5FBF"/>
                </a:solidFill>
                <a:latin typeface="Amiri" pitchFamily="2" charset="-78"/>
                <a:ea typeface="Amiri" pitchFamily="2" charset="-78"/>
                <a:cs typeface="Amiri" pitchFamily="2" charset="-78"/>
              </a:rPr>
              <a:t>كَبِيرٌ</a:t>
            </a:r>
            <a:endParaRPr lang="ar-SA" sz="2100" dirty="0"/>
          </a:p>
        </p:txBody>
      </p:sp>
      <p:sp>
        <p:nvSpPr>
          <p:cNvPr id="29" name="Text 26"/>
          <p:cNvSpPr txBox="1"/>
          <p:nvPr/>
        </p:nvSpPr>
        <p:spPr>
          <a:xfrm>
            <a:off x="7571232" y="3493008"/>
            <a:ext cx="411480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a big factory</a:t>
            </a:r>
            <a:endParaRPr lang="en-US" sz="950" dirty="0"/>
          </a:p>
        </p:txBody>
      </p:sp>
      <p:sp>
        <p:nvSpPr>
          <p:cNvPr id="30" name="Text 27"/>
          <p:cNvSpPr txBox="1"/>
          <p:nvPr/>
        </p:nvSpPr>
        <p:spPr>
          <a:xfrm>
            <a:off x="3410712" y="3072384"/>
            <a:ext cx="402336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شَرِكَةٌ </a:t>
            </a:r>
            <a:pPr rtl="1" algn="ctr" indent="0" marL="0">
              <a:buNone/>
            </a:pPr>
            <a:r>
              <a:rPr lang="ar-SA" altLang="en-US" sz="2100" b="1" dirty="0">
                <a:solidFill>
                  <a:srgbClr val="D6336C"/>
                </a:solidFill>
                <a:latin typeface="Amiri" pitchFamily="2" charset="-78"/>
                <a:ea typeface="Amiri" pitchFamily="2" charset="-78"/>
                <a:cs typeface="Amiri" pitchFamily="2" charset="-78"/>
              </a:rPr>
              <a:t>دَوْلِيَّةٌ</a:t>
            </a:r>
            <a:endParaRPr lang="ar-SA" sz="2100" dirty="0"/>
          </a:p>
        </p:txBody>
      </p:sp>
      <p:sp>
        <p:nvSpPr>
          <p:cNvPr id="31" name="Text 28"/>
          <p:cNvSpPr txBox="1"/>
          <p:nvPr/>
        </p:nvSpPr>
        <p:spPr>
          <a:xfrm>
            <a:off x="3364992" y="3493008"/>
            <a:ext cx="411480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an international company</a:t>
            </a:r>
            <a:endParaRPr lang="en-US" sz="950" dirty="0"/>
          </a:p>
        </p:txBody>
      </p:sp>
      <p:sp>
        <p:nvSpPr>
          <p:cNvPr id="32" name="Text 29"/>
          <p:cNvSpPr txBox="1"/>
          <p:nvPr/>
        </p:nvSpPr>
        <p:spPr>
          <a:xfrm>
            <a:off x="566928" y="3054096"/>
            <a:ext cx="26791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-un / -atun</a:t>
            </a:r>
            <a:endParaRPr lang="en-US" sz="1100" dirty="0"/>
          </a:p>
        </p:txBody>
      </p:sp>
      <p:sp>
        <p:nvSpPr>
          <p:cNvPr id="33" name="Shape 30"/>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5" name="Shape 32"/>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6" name="Text 33"/>
          <p:cNvSpPr txBox="1"/>
          <p:nvPr/>
        </p:nvSpPr>
        <p:spPr>
          <a:xfrm>
            <a:off x="7616952" y="3858768"/>
            <a:ext cx="402336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المَكْتَبُ </a:t>
            </a:r>
            <a:pPr rtl="1" algn="ctr" indent="0" marL="0">
              <a:buNone/>
            </a:pPr>
            <a:r>
              <a:rPr lang="ar-SA" altLang="en-US" sz="2100" b="1" dirty="0">
                <a:solidFill>
                  <a:srgbClr val="1D5FBF"/>
                </a:solidFill>
                <a:latin typeface="Amiri" pitchFamily="2" charset="-78"/>
                <a:ea typeface="Amiri" pitchFamily="2" charset="-78"/>
                <a:cs typeface="Amiri" pitchFamily="2" charset="-78"/>
              </a:rPr>
              <a:t>الَّذِي</a:t>
            </a:r>
            <a:pPr rtl="1" algn="ctr" indent="0" marL="0">
              <a:buNone/>
            </a:pPr>
            <a:r>
              <a:rPr lang="ar-SA" altLang="en-US" sz="2100" b="1" dirty="0">
                <a:solidFill>
                  <a:srgbClr val="1B3B6F"/>
                </a:solidFill>
                <a:latin typeface="Amiri" pitchFamily="2" charset="-78"/>
                <a:ea typeface="Amiri" pitchFamily="2" charset="-78"/>
                <a:cs typeface="Amiri" pitchFamily="2" charset="-78"/>
              </a:rPr>
              <a:t> أَعْمَلُ فِيهِ</a:t>
            </a:r>
            <a:endParaRPr lang="ar-SA" sz="2100" dirty="0"/>
          </a:p>
        </p:txBody>
      </p:sp>
      <p:sp>
        <p:nvSpPr>
          <p:cNvPr id="37" name="Text 34"/>
          <p:cNvSpPr txBox="1"/>
          <p:nvPr/>
        </p:nvSpPr>
        <p:spPr>
          <a:xfrm>
            <a:off x="7571232" y="4279392"/>
            <a:ext cx="411480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 office (which) I work in</a:t>
            </a:r>
            <a:endParaRPr lang="en-US" sz="950" dirty="0"/>
          </a:p>
        </p:txBody>
      </p:sp>
      <p:sp>
        <p:nvSpPr>
          <p:cNvPr id="38" name="Text 35"/>
          <p:cNvSpPr txBox="1"/>
          <p:nvPr/>
        </p:nvSpPr>
        <p:spPr>
          <a:xfrm>
            <a:off x="3410712" y="3858768"/>
            <a:ext cx="402336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الشَّرِكَةُ </a:t>
            </a:r>
            <a:pPr rtl="1" algn="ctr" indent="0" marL="0">
              <a:buNone/>
            </a:pPr>
            <a:r>
              <a:rPr lang="ar-SA" altLang="en-US" sz="2100" b="1" dirty="0">
                <a:solidFill>
                  <a:srgbClr val="D6336C"/>
                </a:solidFill>
                <a:latin typeface="Amiri" pitchFamily="2" charset="-78"/>
                <a:ea typeface="Amiri" pitchFamily="2" charset="-78"/>
                <a:cs typeface="Amiri" pitchFamily="2" charset="-78"/>
              </a:rPr>
              <a:t>الَّتِي</a:t>
            </a:r>
            <a:pPr rtl="1" algn="ctr" indent="0" marL="0">
              <a:buNone/>
            </a:pPr>
            <a:r>
              <a:rPr lang="ar-SA" altLang="en-US" sz="2100" b="1" dirty="0">
                <a:solidFill>
                  <a:srgbClr val="1B3B6F"/>
                </a:solidFill>
                <a:latin typeface="Amiri" pitchFamily="2" charset="-78"/>
                <a:ea typeface="Amiri" pitchFamily="2" charset="-78"/>
                <a:cs typeface="Amiri" pitchFamily="2" charset="-78"/>
              </a:rPr>
              <a:t> تُوَفِّرُ تَدْرِيبًا</a:t>
            </a:r>
            <a:endParaRPr lang="ar-SA" sz="2100" dirty="0"/>
          </a:p>
        </p:txBody>
      </p:sp>
      <p:sp>
        <p:nvSpPr>
          <p:cNvPr id="39" name="Text 36"/>
          <p:cNvSpPr txBox="1"/>
          <p:nvPr/>
        </p:nvSpPr>
        <p:spPr>
          <a:xfrm>
            <a:off x="3364992" y="4279392"/>
            <a:ext cx="411480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 company which offers training</a:t>
            </a:r>
            <a:endParaRPr lang="en-US" sz="950" dirty="0"/>
          </a:p>
        </p:txBody>
      </p:sp>
      <p:sp>
        <p:nvSpPr>
          <p:cNvPr id="40" name="Text 37"/>
          <p:cNvSpPr txBox="1"/>
          <p:nvPr/>
        </p:nvSpPr>
        <p:spPr>
          <a:xfrm>
            <a:off x="566928" y="3840480"/>
            <a:ext cx="26791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allaḏī · allatī</a:t>
            </a:r>
            <a:endParaRPr lang="en-US" sz="1100" dirty="0"/>
          </a:p>
        </p:txBody>
      </p:sp>
      <p:sp>
        <p:nvSpPr>
          <p:cNvPr id="41" name="Shape 3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2" name="Text 39"/>
          <p:cNvSpPr txBox="1"/>
          <p:nvPr/>
        </p:nvSpPr>
        <p:spPr>
          <a:xfrm>
            <a:off x="7616952" y="4645152"/>
            <a:ext cx="402336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المَكْتَبُ الَّذِي أَعْمَلُ </a:t>
            </a:r>
            <a:pPr rtl="1" algn="ctr" indent="0" marL="0">
              <a:buNone/>
            </a:pPr>
            <a:r>
              <a:rPr lang="ar-SA" altLang="en-US" sz="2100" b="1" dirty="0">
                <a:solidFill>
                  <a:srgbClr val="1D5FBF"/>
                </a:solidFill>
                <a:latin typeface="Amiri" pitchFamily="2" charset="-78"/>
                <a:ea typeface="Amiri" pitchFamily="2" charset="-78"/>
                <a:cs typeface="Amiri" pitchFamily="2" charset="-78"/>
              </a:rPr>
              <a:t>فِيهِ</a:t>
            </a:r>
            <a:endParaRPr lang="ar-SA" sz="2100" dirty="0"/>
          </a:p>
        </p:txBody>
      </p:sp>
      <p:sp>
        <p:nvSpPr>
          <p:cNvPr id="43" name="Text 40"/>
          <p:cNvSpPr txBox="1"/>
          <p:nvPr/>
        </p:nvSpPr>
        <p:spPr>
          <a:xfrm>
            <a:off x="7571232" y="5065776"/>
            <a:ext cx="411480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in it (m.)</a:t>
            </a:r>
            <a:endParaRPr lang="en-US" sz="950" dirty="0"/>
          </a:p>
        </p:txBody>
      </p:sp>
      <p:sp>
        <p:nvSpPr>
          <p:cNvPr id="44" name="Text 41"/>
          <p:cNvSpPr txBox="1"/>
          <p:nvPr/>
        </p:nvSpPr>
        <p:spPr>
          <a:xfrm>
            <a:off x="3410712" y="4645152"/>
            <a:ext cx="402336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الشَّرِكَةُ الَّتِي أَعْمَلُ </a:t>
            </a:r>
            <a:pPr rtl="1" algn="ctr" indent="0" marL="0">
              <a:buNone/>
            </a:pPr>
            <a:r>
              <a:rPr lang="ar-SA" altLang="en-US" sz="2100" b="1" dirty="0">
                <a:solidFill>
                  <a:srgbClr val="D6336C"/>
                </a:solidFill>
                <a:latin typeface="Amiri" pitchFamily="2" charset="-78"/>
                <a:ea typeface="Amiri" pitchFamily="2" charset="-78"/>
                <a:cs typeface="Amiri" pitchFamily="2" charset="-78"/>
              </a:rPr>
              <a:t>فِيهَا</a:t>
            </a:r>
            <a:endParaRPr lang="ar-SA" sz="2100" dirty="0"/>
          </a:p>
        </p:txBody>
      </p:sp>
      <p:sp>
        <p:nvSpPr>
          <p:cNvPr id="45" name="Text 42"/>
          <p:cNvSpPr txBox="1"/>
          <p:nvPr/>
        </p:nvSpPr>
        <p:spPr>
          <a:xfrm>
            <a:off x="3364992" y="5065776"/>
            <a:ext cx="411480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in it (f.)</a:t>
            </a:r>
            <a:endParaRPr lang="en-US" sz="950" dirty="0"/>
          </a:p>
        </p:txBody>
      </p:sp>
      <p:sp>
        <p:nvSpPr>
          <p:cNvPr id="46" name="Text 43"/>
          <p:cNvSpPr txBox="1"/>
          <p:nvPr/>
        </p:nvSpPr>
        <p:spPr>
          <a:xfrm>
            <a:off x="566928" y="4626864"/>
            <a:ext cx="26791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fīhi · fīhā</a:t>
            </a:r>
            <a:endParaRPr lang="en-US" sz="1100" dirty="0"/>
          </a:p>
        </p:txBody>
      </p:sp>
      <p:sp>
        <p:nvSpPr>
          <p:cNvPr id="47" name="Text 4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Relative clauses need a “the” noun: al-maktab allaḏī … — and fīhi / fīhā points back to the place.</a:t>
            </a:r>
            <a:endParaRPr lang="en-US" sz="11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D3-L02 · Workplace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2 · PROS, CONS AND CONTRAST (WEBSITE RULES 3–4)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Weigh it up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مَزَايَا · عُيُوبٌ · بَيْنَمَا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D3-L02</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371600" cy="274320"/>
          </a:xfrm>
          <a:prstGeom prst="roundRect">
            <a:avLst>
              <a:gd name="adj" fmla="val 50000"/>
            </a:avLst>
          </a:prstGeom>
          <a:solidFill>
            <a:srgbClr val="1E7B4F"/>
          </a:solidFill>
          <a:ln w="12700">
            <a:solidFill>
              <a:srgbClr val="1E7B4F"/>
            </a:solidFill>
            <a:prstDash val="solid"/>
          </a:ln>
        </p:spPr>
      </p:sp>
      <p:sp>
        <p:nvSpPr>
          <p:cNvPr id="17" name="Text 14"/>
          <p:cNvSpPr txBox="1"/>
          <p:nvPr/>
        </p:nvSpPr>
        <p:spPr>
          <a:xfrm>
            <a:off x="8232648" y="1920240"/>
            <a:ext cx="13716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ADVANTAGE · CORE</a:t>
            </a:r>
            <a:endParaRPr lang="en-US" sz="850" dirty="0"/>
          </a:p>
        </p:txBody>
      </p:sp>
      <p:sp>
        <p:nvSpPr>
          <p:cNvPr id="18" name="Text 15"/>
          <p:cNvSpPr txBox="1"/>
          <p:nvPr/>
        </p:nvSpPr>
        <p:spPr>
          <a:xfrm>
            <a:off x="9649968" y="1874520"/>
            <a:ext cx="19446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مِنْ مَزَايَا … أَنَّ</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ea typeface="Amiri" pitchFamily="2" charset="-78"/>
                <a:cs typeface="Amiri" pitchFamily="2" charset="-78"/>
              </a:rPr>
              <a:t>مِنْ مَزَايَا العَمَلِ أَنَّ سَاعَاتِهِ مَرِنَةٌ.</a:t>
            </a:r>
            <a:endParaRPr lang="ar-SA" sz="2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One advantage of the job is that its hours are flexible.</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anna + a full clause.</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577340" cy="274320"/>
          </a:xfrm>
          <a:prstGeom prst="roundRect">
            <a:avLst>
              <a:gd name="adj" fmla="val 50000"/>
            </a:avLst>
          </a:prstGeom>
          <a:solidFill>
            <a:srgbClr val="B83227"/>
          </a:solidFill>
          <a:ln w="12700">
            <a:solidFill>
              <a:srgbClr val="B83227"/>
            </a:solidFill>
            <a:prstDash val="solid"/>
          </a:ln>
        </p:spPr>
      </p:sp>
      <p:sp>
        <p:nvSpPr>
          <p:cNvPr id="25" name="Text 22"/>
          <p:cNvSpPr txBox="1"/>
          <p:nvPr/>
        </p:nvSpPr>
        <p:spPr>
          <a:xfrm>
            <a:off x="4413504" y="1920240"/>
            <a:ext cx="15773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DISADVANTAGE · CORE</a:t>
            </a:r>
            <a:endParaRPr lang="en-US" sz="850" dirty="0"/>
          </a:p>
        </p:txBody>
      </p:sp>
      <p:sp>
        <p:nvSpPr>
          <p:cNvPr id="26" name="Text 23"/>
          <p:cNvSpPr txBox="1"/>
          <p:nvPr/>
        </p:nvSpPr>
        <p:spPr>
          <a:xfrm>
            <a:off x="6036564" y="1874520"/>
            <a:ext cx="17388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مِنْ عُيُوبِهِ أَنَّهُ</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مِنْ عُيُوبِهِ أَنَّهُ مُجْهِدٌ.</a:t>
            </a:r>
            <a:endParaRPr lang="ar-SA" sz="3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One of its disadvantages is that it is tiring.</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annahu = that it (m.).</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50876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CONTRAST · DEVELOP</a:t>
            </a:r>
            <a:endParaRPr lang="en-US" sz="850" dirty="0"/>
          </a:p>
        </p:txBody>
      </p:sp>
      <p:sp>
        <p:nvSpPr>
          <p:cNvPr id="34" name="Text 31"/>
          <p:cNvSpPr txBox="1"/>
          <p:nvPr/>
        </p:nvSpPr>
        <p:spPr>
          <a:xfrm>
            <a:off x="2148840" y="1874520"/>
            <a:ext cx="18074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وَلٰكِنَّ · بَيْنَمَا</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الرَّاتِبُ مُرْتَفِعٌ، وَلٰكِنَّ السَّاعَاتِ طَوِيلَةٌ.</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The salary is high, but the hours are long.</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lākinna + noun in -a.</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A clause after min mazāyā needs anna.</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2" charset="-78"/>
                <a:ea typeface="Amiri" pitchFamily="2" charset="-78"/>
                <a:cs typeface="Amiri" pitchFamily="2" charset="-78"/>
              </a:rPr>
              <a:t>مِنْ مَزَايَا العَمَلِ أَنَّ سَاعَاتِهِ مَرِنَةٌ.</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2" charset="-78"/>
                <a:ea typeface="Amiri" pitchFamily="2" charset="-78"/>
                <a:cs typeface="Amiri" pitchFamily="2" charset="-78"/>
              </a:rPr>
              <a:t>مِنْ مَزَايَا العَمَلِ سَاعَاتُهُ مَرِنَةٌ.</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D3-L02 · Workplace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Work conditions and relative clauses</a:t>
            </a:r>
            <a:endParaRPr lang="en-US" sz="26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750" b="1" dirty="0">
                <a:solidFill>
                  <a:srgbClr val="8A6D1E"/>
                </a:solidFill>
                <a:latin typeface="Amiri" pitchFamily="2" charset="-78"/>
                <a:ea typeface="Amiri" pitchFamily="2" charset="-78"/>
                <a:cs typeface="Amiri" pitchFamily="2" charset="-78"/>
              </a:rPr>
              <a:t>وَصْفُ بِيئَةِ العَمَلِ وَالجُمَلُ المَوْصُولَةُ</a:t>
            </a:r>
            <a:endParaRPr lang="ar-SA" sz="275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D3-L02</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Place and condition</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يَعْمَلُ فِي + مَكَانٍ + صِفَةٍ</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يَعْمَلُ فِي مَكْتَبٍ حَدِيثٍ.   ·   تَعْمَلُ فِي بِيئَةٍ آمِنَةٍ.</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Relative clause</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مَكَانٌ الَّذِي / بِيئَةٌ الَّتِي</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المَكْتَبُ الَّذِي أَعْمَلُ فِيهِ   ·   الشَّرِكَةُ الَّتِي تُوَفِّرُ تَدْرِيبًا</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Advantages and disadvantages</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مِنْ مَزَايَا ... أَنَّ / مِنْ عُيُوبِ ... أَنَّ</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مِنْ مَزَايَا العَمَلِ أَنَّ سَاعَاتِهِ مَرِنَةٌ.   ·   مِنْ عُيُوبِهِ أَنَّهُ مُجْهِدٌ.</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Contrast</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بَيْنَمَا / وَلٰكِنَّ</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lnSpc>
                <a:spcPct val="120000"/>
              </a:lnSpc>
              <a:buNone/>
            </a:pPr>
            <a:r>
              <a:rPr lang="ar-SA" altLang="en-US" sz="1850" b="1" dirty="0">
                <a:solidFill>
                  <a:srgbClr val="1F2A37"/>
                </a:solidFill>
                <a:latin typeface="Amiri" pitchFamily="2" charset="-78"/>
                <a:ea typeface="Amiri" pitchFamily="2" charset="-78"/>
                <a:cs typeface="Amiri" pitchFamily="2" charset="-78"/>
              </a:rPr>
              <a:t>الرَّاتِبُ مُرْتَفِعٌ، وَلٰكِنَّ السَّاعَاتِ طَوِيلَةٌ.   ·   أَعْمَلُ فِي مَكْتَبٍ، بَيْنَمَا يَعْمَلُ أَخِي فِي الهَوَاءِ الطَّلْقِ.</a:t>
            </a:r>
            <a:endParaRPr lang="ar-SA" sz="18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D3-L02 · Workplace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تَعْمَلُ أُخْتِي فِي بِيئَةٍ ___ .</a:t>
            </a:r>
            <a:endParaRPr lang="ar-SA" sz="15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آمِنٍ</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أَمَانٍ</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آمِنَةٍ</a:t>
            </a:r>
            <a:endParaRPr lang="ar-SA" sz="2050" dirty="0"/>
          </a:p>
        </p:txBody>
      </p:sp>
      <p:sp>
        <p:nvSpPr>
          <p:cNvPr id="29" name="Shape 26"/>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313932"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2" name="Text 29"/>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3" name="Text 30"/>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الشَّرِكَةُ ___ أَعْمَلُ فِيهَا كَبِيرَةٌ.</a:t>
            </a:r>
            <a:endParaRPr lang="ar-SA" sz="150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الَّتِي</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الَّذِي</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الَّذِينَ</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47" name="Text 44"/>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مِنْ مَزَايَا العَمَلِ ___ سَاعَاتِهِ مَرِنَةٌ.</a:t>
            </a:r>
            <a:endParaRPr lang="ar-SA" sz="150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بَيْنَمَا</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connector compares two people’s situations?</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بَيْنَمَا</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لِذٰلِكَ</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إِضَافَةً إِلَى ذٰلِكَ</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D3-L02 · Workplace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تَعْمَلُ أُخْتِي فِي بِيئَةٍ ___ .</a:t>
            </a:r>
            <a:endParaRPr lang="ar-SA" sz="15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آمِنٍ</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أَمَانٍ</a:t>
            </a:r>
            <a:endParaRPr lang="ar-SA" sz="1700" dirty="0"/>
          </a:p>
        </p:txBody>
      </p:sp>
      <p:sp>
        <p:nvSpPr>
          <p:cNvPr id="26" name="Shape 23"/>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9" name="Text 26"/>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آمِنَةٍ</a:t>
            </a:r>
            <a:endParaRPr lang="ar-SA" sz="1700" dirty="0"/>
          </a:p>
        </p:txBody>
      </p:sp>
      <p:sp>
        <p:nvSpPr>
          <p:cNvPr id="30" name="Text 27"/>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bīʾa is feminine → āminatin.</a:t>
            </a:r>
            <a:endParaRPr lang="en-US" sz="1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5" name="Text 32"/>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الشَّرِكَةُ ___ أَعْمَلُ فِيهَا كَبِيرَةٌ.</a:t>
            </a:r>
            <a:endParaRPr lang="ar-SA" sz="1500" dirty="0"/>
          </a:p>
        </p:txBody>
      </p:sp>
      <p:sp>
        <p:nvSpPr>
          <p:cNvPr id="36" name="Shape 33"/>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7" name="Shape 34"/>
          <p:cNvSpPr/>
          <p:nvPr/>
        </p:nvSpPr>
        <p:spPr>
          <a:xfrm>
            <a:off x="6368796" y="2490216"/>
            <a:ext cx="256032" cy="256032"/>
          </a:xfrm>
          <a:prstGeom prst="ellipse">
            <a:avLst/>
          </a:prstGeom>
          <a:solidFill>
            <a:srgbClr val="2E8B57"/>
          </a:solidFill>
          <a:ln w="12700">
            <a:solidFill>
              <a:srgbClr val="2E8B57"/>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الَّتِي</a:t>
            </a:r>
            <a:endParaRPr lang="ar-SA" sz="1700" dirty="0"/>
          </a:p>
        </p:txBody>
      </p:sp>
      <p:sp>
        <p:nvSpPr>
          <p:cNvPr id="40" name="Shape 37"/>
          <p:cNvSpPr/>
          <p:nvPr/>
        </p:nvSpPr>
        <p:spPr>
          <a:xfrm>
            <a:off x="6368796" y="2862072"/>
            <a:ext cx="256032" cy="256032"/>
          </a:xfrm>
          <a:prstGeom prst="ellipse">
            <a:avLst/>
          </a:prstGeom>
          <a:solidFill>
            <a:srgbClr val="C9CED6"/>
          </a:solidFill>
          <a:ln w="12700">
            <a:solidFill>
              <a:srgbClr val="C9CED6"/>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الَّذِي</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الَّذِينَ</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sharika is feminine → allatī.</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51" name="Text 48"/>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مِنْ مَزَايَا العَمَلِ ___ سَاعَاتِهِ مَرِنَةٌ.</a:t>
            </a:r>
            <a:endParaRPr lang="ar-SA" sz="150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لِأَنَّ</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أَنَّ</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بَيْنَمَا</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clause after min mazāyā needs anna.</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connector compares two people’s situations?</a:t>
            </a:r>
            <a:endParaRPr lang="en-US" sz="1250" dirty="0"/>
          </a:p>
        </p:txBody>
      </p:sp>
      <p:sp>
        <p:nvSpPr>
          <p:cNvPr id="67" name="Shape 64"/>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368796" y="4831080"/>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70" name="Text 67"/>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بَيْنَمَا</a:t>
            </a:r>
            <a:endParaRPr lang="ar-SA" sz="1700" dirty="0"/>
          </a:p>
        </p:txBody>
      </p:sp>
      <p:sp>
        <p:nvSpPr>
          <p:cNvPr id="71" name="Shape 68"/>
          <p:cNvSpPr/>
          <p:nvPr/>
        </p:nvSpPr>
        <p:spPr>
          <a:xfrm>
            <a:off x="6368796" y="5202936"/>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3" name="Text 70"/>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لِذٰلِكَ</a:t>
            </a:r>
            <a:endParaRPr lang="ar-SA" sz="1700" dirty="0"/>
          </a:p>
        </p:txBody>
      </p:sp>
      <p:sp>
        <p:nvSpPr>
          <p:cNvPr id="74" name="Shape 71"/>
          <p:cNvSpPr/>
          <p:nvPr/>
        </p:nvSpPr>
        <p:spPr>
          <a:xfrm>
            <a:off x="6368796" y="5574792"/>
            <a:ext cx="256032" cy="256032"/>
          </a:xfrm>
          <a:prstGeom prst="ellipse">
            <a:avLst/>
          </a:prstGeom>
          <a:solidFill>
            <a:srgbClr val="C9CED6"/>
          </a:solidFill>
          <a:ln w="12700">
            <a:solidFill>
              <a:srgbClr val="C9CED6"/>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إِضَافَةً إِلَى ذٰلِكَ</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baynamā = whereas.</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D3-L02 · Workplace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Watch me compare two workplaces</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D3-L02</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Place + adjective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يَعْمَلُ أَبِي فِي مَكْتَبٍ </a:t>
            </a:r>
            <a:pPr rtl="1" algn="ctr" indent="0" marL="0">
              <a:buNone/>
            </a:pPr>
            <a:r>
              <a:rPr lang="ar-SA" altLang="en-US" sz="2200" b="1" dirty="0">
                <a:solidFill>
                  <a:srgbClr val="1D5FBF"/>
                </a:solidFill>
                <a:latin typeface="Amiri" pitchFamily="2" charset="-78"/>
                <a:ea typeface="Amiri" pitchFamily="2" charset="-78"/>
                <a:cs typeface="Amiri" pitchFamily="2" charset="-78"/>
              </a:rPr>
              <a:t>حَدِيثٍ</a:t>
            </a:r>
            <a:pPr rtl="1" algn="ctr" indent="0" marL="0">
              <a:buNone/>
            </a:pPr>
            <a:r>
              <a:rPr lang="ar-SA" altLang="en-US" sz="2200" b="1" dirty="0">
                <a:solidFill>
                  <a:srgbClr val="1B3B6F"/>
                </a:solidFill>
                <a:latin typeface="Amiri" pitchFamily="2" charset="-78"/>
                <a:cs typeface="Amiri" pitchFamily="2" charset="-78"/>
              </a:rPr>
              <a:t>.</a:t>
            </a:r>
            <a:endParaRPr lang="ar-SA" sz="22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maktab is masculine.</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Which</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50" b="1" dirty="0">
                <a:solidFill>
                  <a:srgbClr val="1B3B6F"/>
                </a:solidFill>
                <a:latin typeface="Amiri" pitchFamily="2" charset="-78"/>
                <a:ea typeface="Amiri" pitchFamily="2" charset="-78"/>
                <a:cs typeface="Amiri" pitchFamily="2" charset="-78"/>
              </a:rPr>
              <a:t>المَكْتَبُ </a:t>
            </a:r>
            <a:pPr rtl="1" algn="ctr" indent="0" marL="0">
              <a:lnSpc>
                <a:spcPct val="120000"/>
              </a:lnSpc>
              <a:buNone/>
            </a:pPr>
            <a:r>
              <a:rPr lang="ar-SA" altLang="en-US" sz="1850" b="1" dirty="0">
                <a:solidFill>
                  <a:srgbClr val="1D5FBF"/>
                </a:solidFill>
                <a:latin typeface="Amiri" pitchFamily="2" charset="-78"/>
                <a:ea typeface="Amiri" pitchFamily="2" charset="-78"/>
                <a:cs typeface="Amiri" pitchFamily="2" charset="-78"/>
              </a:rPr>
              <a:t>الَّذِي</a:t>
            </a:r>
            <a:pPr rtl="1" algn="ctr" indent="0" marL="0">
              <a:lnSpc>
                <a:spcPct val="120000"/>
              </a:lnSpc>
              <a:buNone/>
            </a:pPr>
            <a:r>
              <a:rPr lang="ar-SA" altLang="en-US" sz="1850" b="1" dirty="0">
                <a:solidFill>
                  <a:srgbClr val="1B3B6F"/>
                </a:solidFill>
                <a:latin typeface="Amiri" pitchFamily="2" charset="-78"/>
                <a:ea typeface="Amiri" pitchFamily="2" charset="-78"/>
                <a:cs typeface="Amiri" pitchFamily="2" charset="-78"/>
              </a:rPr>
              <a:t> يَعْمَلُ فِيهِ هَادِئٌ.</a:t>
            </a:r>
            <a:endParaRPr lang="ar-SA" sz="18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allaḏī + fīhi.</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Contrast</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0E7C86"/>
                </a:solidFill>
                <a:latin typeface="Amiri" pitchFamily="2" charset="-78"/>
                <a:ea typeface="Amiri" pitchFamily="2" charset="-78"/>
                <a:cs typeface="Amiri" pitchFamily="2" charset="-78"/>
              </a:rPr>
              <a:t>بَيْنَمَا</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يَعْمَلُ خَالِي فِي مَوْقِعِ بِنَاءٍ.</a:t>
            </a:r>
            <a:endParaRPr lang="ar-SA" sz="17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Second situation.</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Pros and cons</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رَاتِبُهُ مُرْتَفِعٌ، </a:t>
            </a:r>
            <a:pPr rtl="1" algn="ctr" indent="0" marL="0">
              <a:lnSpc>
                <a:spcPct val="120000"/>
              </a:lnSpc>
              <a:buNone/>
            </a:pPr>
            <a:r>
              <a:rPr lang="ar-SA" altLang="en-US" sz="1750" b="1" dirty="0">
                <a:solidFill>
                  <a:srgbClr val="0E7C86"/>
                </a:solidFill>
                <a:latin typeface="Amiri" pitchFamily="2" charset="-78"/>
                <a:ea typeface="Amiri" pitchFamily="2" charset="-78"/>
                <a:cs typeface="Amiri" pitchFamily="2" charset="-78"/>
              </a:rPr>
              <a:t>وَلٰكِنَّ</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عَمَلَهُ </a:t>
            </a:r>
            <a:pPr rtl="1" algn="ctr" indent="0" marL="0">
              <a:lnSpc>
                <a:spcPct val="120000"/>
              </a:lnSpc>
              <a:buNone/>
            </a:pPr>
            <a:r>
              <a:rPr lang="ar-SA" altLang="en-US" sz="1750" b="1" dirty="0">
                <a:solidFill>
                  <a:srgbClr val="D6336C"/>
                </a:solidFill>
                <a:latin typeface="Amiri" pitchFamily="2" charset="-78"/>
                <a:ea typeface="Amiri" pitchFamily="2" charset="-78"/>
                <a:cs typeface="Amiri" pitchFamily="2" charset="-78"/>
              </a:rPr>
              <a:t>مُجْهِدٌ</a:t>
            </a:r>
            <a:pPr rtl="1" algn="ctr" indent="0" marL="0">
              <a:lnSpc>
                <a:spcPct val="120000"/>
              </a:lnSpc>
              <a:buNone/>
            </a:pPr>
            <a:r>
              <a:rPr lang="ar-SA" altLang="en-US" sz="1750" b="1" dirty="0">
                <a:solidFill>
                  <a:srgbClr val="1B3B6F"/>
                </a:solidFill>
                <a:latin typeface="Amiri" pitchFamily="2" charset="-78"/>
                <a:cs typeface="Amiri" pitchFamily="2" charset="-78"/>
              </a:rPr>
              <a:t>.</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Qualify with but.</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PLACE</a:t>
            </a:r>
            <a:endParaRPr lang="en-US" sz="800" dirty="0"/>
          </a:p>
        </p:txBody>
      </p:sp>
      <p:sp>
        <p:nvSpPr>
          <p:cNvPr id="47" name="Shape 43"/>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CONTRAST</a:t>
            </a:r>
            <a:endParaRPr lang="en-US" sz="800" dirty="0"/>
          </a:p>
        </p:txBody>
      </p:sp>
      <p:sp>
        <p:nvSpPr>
          <p:cNvPr id="49" name="Shape 45"/>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CONDITION</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يَعْمَلُ أَبِي فِي مَكْتَبٍ </a:t>
            </a:r>
            <a:pPr rtl="1" algn="r" indent="0" marL="0">
              <a:lnSpc>
                <a:spcPct val="120000"/>
              </a:lnSpc>
              <a:buNone/>
            </a:pPr>
            <a:r>
              <a:rPr lang="ar-SA" altLang="en-US" sz="1400" b="1" dirty="0">
                <a:solidFill>
                  <a:srgbClr val="1D5FBF"/>
                </a:solidFill>
                <a:latin typeface="Amiri" pitchFamily="2" charset="-78"/>
                <a:ea typeface="Amiri" pitchFamily="2" charset="-78"/>
                <a:cs typeface="Amiri" pitchFamily="2" charset="-78"/>
              </a:rPr>
              <a:t>حَدِيثٍ</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فِي وَسَطِ المَدِينَةِ،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بَيْنَمَا</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يَعْمَلُ خَالِي فِي مَوْقِعِ بِنَاءٍ فِي الهَوَاءِ الطَّلْقِ. المَكْتَبُ </a:t>
            </a:r>
            <a:pPr rtl="1" algn="r" indent="0" marL="0">
              <a:lnSpc>
                <a:spcPct val="120000"/>
              </a:lnSpc>
              <a:buNone/>
            </a:pPr>
            <a:r>
              <a:rPr lang="ar-SA" altLang="en-US" sz="1400" b="1" dirty="0">
                <a:solidFill>
                  <a:srgbClr val="1D5FBF"/>
                </a:solidFill>
                <a:latin typeface="Amiri" pitchFamily="2" charset="-78"/>
                <a:ea typeface="Amiri" pitchFamily="2" charset="-78"/>
                <a:cs typeface="Amiri" pitchFamily="2" charset="-78"/>
              </a:rPr>
              <a:t>الَّذِي</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يَعْمَلُ فِيهِ أَبِي هَادِئٌ وَآمِنٌ، وَمِنْ مَزَايَاهُ أَنَّ السَّاعَاتِ </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مَرِنَةٌ</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أَمَّا خَالِي فَرَاتِبُهُ </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مُرْتَفِعٌ</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وَلٰكِنَّ</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عَمَلَهُ </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مُجْهِدٌ</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وَيَتَأَثَّرُ بِالطَّقْسِ.</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My father works in a modern office in the city centre, whereas my uncle works on a building site outdoors. The office my father works in is quiet and safe, and one of its advantages is that the hours are flexible. As for my uncle, his salary is high, but his work is tiring and affected by the weather.</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D3-L02 · Workplace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6B4C9A"/>
                </a:solidFill>
                <a:latin typeface="Calibri" pitchFamily="34" charset="0"/>
                <a:cs typeface="Amiri" pitchFamily="2" charset="-78"/>
              </a:rPr>
              <a:t>I DO · MODEL SENTENCES (TEACHER-WRITTEN ON THE WEBSITE RULES)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D3-L02</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يَعْمَلُ أَبِي فِي مَكْتَبٍ حَدِيثٍ.</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My father works in a modern office.</a:t>
            </a:r>
            <a:endParaRPr lang="en-US" sz="1250" dirty="0"/>
          </a:p>
          <a:p>
            <a:pPr indent="0" marL="0">
              <a:buNone/>
            </a:pPr>
            <a:r>
              <a:rPr lang="en-US" sz="1050" i="1" dirty="0">
                <a:solidFill>
                  <a:srgbClr val="8A6D1E"/>
                </a:solidFill>
                <a:latin typeface="Calibri" pitchFamily="34" charset="0"/>
                <a:cs typeface="Amiri" pitchFamily="2" charset="-78"/>
              </a:rPr>
              <a:t>Place + agreeing adjective.</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الشَّرِكَةُ الَّتِي أَعْمَلُ فِيهَا كَبِيرَةٌ.</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company I work in is big.</a:t>
            </a:r>
            <a:endParaRPr lang="en-US" sz="1250" dirty="0"/>
          </a:p>
          <a:p>
            <a:pPr indent="0" marL="0">
              <a:buNone/>
            </a:pPr>
            <a:r>
              <a:rPr lang="en-US" sz="1050" i="1" dirty="0">
                <a:solidFill>
                  <a:srgbClr val="8A6D1E"/>
                </a:solidFill>
                <a:latin typeface="Calibri" pitchFamily="34" charset="0"/>
                <a:cs typeface="Amiri" pitchFamily="2" charset="-78"/>
              </a:rPr>
              <a:t>allatī for a feminine noun.</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مِنْ مَزَايَا العَمَلِ أَنَّ سَاعَاتِهِ مَرِنَةٌ.</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One advantage of the job is that its hours are flexible.</a:t>
            </a:r>
            <a:endParaRPr lang="en-US" sz="1250" dirty="0"/>
          </a:p>
          <a:p>
            <a:pPr indent="0" marL="0">
              <a:buNone/>
            </a:pPr>
            <a:r>
              <a:rPr lang="en-US" sz="1050" i="1" dirty="0">
                <a:solidFill>
                  <a:srgbClr val="8A6D1E"/>
                </a:solidFill>
                <a:latin typeface="Calibri" pitchFamily="34" charset="0"/>
                <a:cs typeface="Amiri" pitchFamily="2" charset="-78"/>
              </a:rPr>
              <a:t>anna + clause.</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الرَّاتِبُ مُرْتَفِعٌ، وَلٰكِنَّ السَّاعَاتِ طَوِيلَةٌ.</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salary is high, but the hours are long.</a:t>
            </a:r>
            <a:endParaRPr lang="en-US" sz="1250" dirty="0"/>
          </a:p>
          <a:p>
            <a:pPr indent="0" marL="0">
              <a:buNone/>
            </a:pPr>
            <a:r>
              <a:rPr lang="en-US" sz="1050" i="1" dirty="0">
                <a:solidFill>
                  <a:srgbClr val="8A6D1E"/>
                </a:solidFill>
                <a:latin typeface="Calibri" pitchFamily="34" charset="0"/>
                <a:cs typeface="Amiri" pitchFamily="2" charset="-78"/>
              </a:rPr>
              <a:t>Qualify with but.</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D3-L02 · Workplace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cs typeface="Amiri" pitchFamily="2" charset="-78"/>
              </a:rPr>
              <a:t>WE DO · PICTURE MATCH · WEBSITE GAME “VISUAL GAME — THE WORKPLACE — ENVIRONMENTS AND WORK CONDITIONS”</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Where do I work? Match the picture</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بِيئَةُ العَمَلِ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D3-L02</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office · team</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factory · machines</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home · laptop</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أَعْمَلُ مِنَ المَنْزِلِ.</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أَعْمَلُ فِي مَكْتَبٍ حَدِيثٍ.</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أَعْمَلُ فِي مَصْنَعٍ.</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D3-L02 · Workplace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بِيئَةُ العَمَلِ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D3-L02</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office · team</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أَعْمَلُ فِي مَكْتَبٍ حَدِيثٍ.</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work in a modern office.</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factory · machines</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أَعْمَلُ فِي مَصْنَعٍ.</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work in a factory.</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home · laptop</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أَعْمَلُ مِنَ المَنْزِلِ.</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work from home.</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D3-L02 · Workplace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Advantage or disadvantage?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D3-L02</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رَاتِبٌ مُرْتَفِعٌ</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سَاعَاتٌ مَرِنَةٌ</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عَمَلٌ مُجْزٍ</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بِيئَةٌ آمِنَةٌ</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فُرَصُ التَّرَقِّي</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رَاتِبٌ مُنْخَفِضٌ</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عَمَلٌ مُجْهِدٌ</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سَاعَاتٌ طَوِيلَةٌ</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تَوَاصُلٌ بَطِيءٌ</a:t>
            </a:r>
            <a:endParaRPr lang="ar-SA" sz="1800" dirty="0"/>
          </a:p>
        </p:txBody>
      </p:sp>
      <p:sp>
        <p:nvSpPr>
          <p:cNvPr id="33" name="Shape 30"/>
          <p:cNvSpPr/>
          <p:nvPr/>
        </p:nvSpPr>
        <p:spPr>
          <a:xfrm>
            <a:off x="6185916" y="3529584"/>
            <a:ext cx="5545836"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6323076" y="3639312"/>
            <a:ext cx="5271516"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6323076" y="3639312"/>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Advantage</a:t>
            </a:r>
            <a:endParaRPr lang="en-US" sz="950" dirty="0"/>
          </a:p>
        </p:txBody>
      </p:sp>
      <p:sp>
        <p:nvSpPr>
          <p:cNvPr id="36" name="Shape 33"/>
          <p:cNvSpPr/>
          <p:nvPr/>
        </p:nvSpPr>
        <p:spPr>
          <a:xfrm>
            <a:off x="457200" y="3529584"/>
            <a:ext cx="5545836"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594360" y="3639312"/>
            <a:ext cx="5271516"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594360" y="3639312"/>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Disadvantage</a:t>
            </a:r>
            <a:endParaRPr lang="en-US" sz="9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D3-L02 · Workplace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D3-L02</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Advantage</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رَاتِبٌ مُرْتَفِعٌ</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سَاعَاتٌ مَرِنَةٌ</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عَمَلٌ مُجْزٍ</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بِيئَةٌ آمِنَةٌ</a:t>
            </a:r>
            <a:endParaRPr lang="ar-SA" sz="1800" dirty="0"/>
          </a:p>
        </p:txBody>
      </p:sp>
      <p:sp>
        <p:nvSpPr>
          <p:cNvPr id="26" name="Shape 23"/>
          <p:cNvSpPr/>
          <p:nvPr/>
        </p:nvSpPr>
        <p:spPr>
          <a:xfrm>
            <a:off x="6323076" y="4425696"/>
            <a:ext cx="5271516" cy="438912"/>
          </a:xfrm>
          <a:prstGeom prst="roundRect">
            <a:avLst>
              <a:gd name="adj" fmla="val 12500"/>
            </a:avLst>
          </a:prstGeom>
          <a:solidFill>
            <a:srgbClr val="FFF4DC"/>
          </a:solidFill>
          <a:ln w="9525">
            <a:solidFill>
              <a:srgbClr val="E6C98A"/>
            </a:solidFill>
            <a:prstDash val="solid"/>
          </a:ln>
        </p:spPr>
      </p:sp>
      <p:sp>
        <p:nvSpPr>
          <p:cNvPr id="27" name="Text 24"/>
          <p:cNvSpPr txBox="1"/>
          <p:nvPr/>
        </p:nvSpPr>
        <p:spPr>
          <a:xfrm>
            <a:off x="6414516" y="4425696"/>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فُرَصُ التَّرَقِّي</a:t>
            </a:r>
            <a:endParaRPr lang="ar-SA" sz="1800" dirty="0"/>
          </a:p>
        </p:txBody>
      </p:sp>
      <p:sp>
        <p:nvSpPr>
          <p:cNvPr id="28" name="Shape 25"/>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9" name="Shape 26"/>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30" name="Text 27"/>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Disadvantage</a:t>
            </a:r>
            <a:endParaRPr lang="en-US" sz="950" dirty="0"/>
          </a:p>
        </p:txBody>
      </p:sp>
      <p:sp>
        <p:nvSpPr>
          <p:cNvPr id="31" name="Shape 28"/>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رَاتِبٌ مُنْخَفِضٌ</a:t>
            </a:r>
            <a:endParaRPr lang="ar-SA" sz="1800" dirty="0"/>
          </a:p>
        </p:txBody>
      </p:sp>
      <p:sp>
        <p:nvSpPr>
          <p:cNvPr id="33" name="Shape 30"/>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عَمَلٌ مُجْهِدٌ</a:t>
            </a:r>
            <a:endParaRPr lang="ar-SA" sz="1800" dirty="0"/>
          </a:p>
        </p:txBody>
      </p:sp>
      <p:sp>
        <p:nvSpPr>
          <p:cNvPr id="35" name="Shape 32"/>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سَاعَاتٌ طَوِيلَةٌ</a:t>
            </a:r>
            <a:endParaRPr lang="ar-SA" sz="1800" dirty="0"/>
          </a:p>
        </p:txBody>
      </p:sp>
      <p:sp>
        <p:nvSpPr>
          <p:cNvPr id="37" name="Shape 34"/>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8" name="Text 35"/>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تَوَاصُلٌ بَطِيءٌ</a:t>
            </a:r>
            <a:endParaRPr lang="ar-SA" sz="18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D3-L02 · Workplace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3,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D3-L02</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المَكْتَبُ ___ أَعْمَلُ فِيهِ هَادِئٌ.</a:t>
            </a:r>
            <a:endParaRPr lang="ar-SA" sz="1500" dirty="0"/>
          </a:p>
        </p:txBody>
      </p:sp>
      <p:sp>
        <p:nvSpPr>
          <p:cNvPr id="22" name="Shape 19"/>
          <p:cNvSpPr/>
          <p:nvPr/>
        </p:nvSpPr>
        <p:spPr>
          <a:xfrm>
            <a:off x="640080" y="25328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4" name="Text 21"/>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الَّتِي</a:t>
            </a:r>
            <a:endParaRPr lang="ar-SA" sz="2050" dirty="0"/>
          </a:p>
        </p:txBody>
      </p:sp>
      <p:sp>
        <p:nvSpPr>
          <p:cNvPr id="25" name="Shape 22"/>
          <p:cNvSpPr/>
          <p:nvPr/>
        </p:nvSpPr>
        <p:spPr>
          <a:xfrm>
            <a:off x="640080" y="29900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7" name="Text 24"/>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الَّذِينَ</a:t>
            </a:r>
            <a:endParaRPr lang="ar-SA" sz="2050" dirty="0"/>
          </a:p>
        </p:txBody>
      </p:sp>
      <p:sp>
        <p:nvSpPr>
          <p:cNvPr id="28" name="Shape 25"/>
          <p:cNvSpPr/>
          <p:nvPr/>
        </p:nvSpPr>
        <p:spPr>
          <a:xfrm>
            <a:off x="640080" y="3447288"/>
            <a:ext cx="256032" cy="256032"/>
          </a:xfrm>
          <a:prstGeom prst="ellipse">
            <a:avLst/>
          </a:prstGeom>
          <a:solidFill>
            <a:srgbClr val="F4F1EA"/>
          </a:solidFill>
          <a:ln w="12700">
            <a:solidFill>
              <a:srgbClr val="F4F1EA"/>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الَّذِي</a:t>
            </a:r>
            <a:endParaRPr lang="ar-SA" sz="2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4" name="Text 31"/>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دَوَامٌ جُزْئِيٌّ</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full-time work</a:t>
            </a:r>
            <a:endParaRPr lang="en-US" sz="12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part-time work</a:t>
            </a:r>
            <a:endParaRPr lang="en-US" sz="12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annual leave</a:t>
            </a:r>
            <a:endParaRPr lang="en-US" sz="12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7" name="Text 44"/>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usually a disadvantage?</a:t>
            </a:r>
            <a:endParaRPr lang="en-US" sz="125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عَمَلٌ مُجْزٍ</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عَمَلٌ مُجْهِدٌ</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سَاعَاتٌ مَرِنَةٌ</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sentence that makes sense.</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الرَّاتِبُ مُرْتَفِعٌ، لِأَنَّ السَّاعَاتِ طَوِيلَةٌ.</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الرَّاتِبُ مُرْتَفِعٌ، لِذٰلِكَ السَّاعَاتُ قَصِيرَةٌ.</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الرَّاتِبُ مُرْتَفِعٌ، وَلٰكِنَّ السَّاعَاتِ طَوِيلَةٌ.</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D3-L02 · Workplace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D3-L02</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المَكْتَبُ ___ أَعْمَلُ فِيهِ هَادِئٌ.</a:t>
            </a:r>
            <a:endParaRPr lang="ar-SA" sz="1500" dirty="0"/>
          </a:p>
        </p:txBody>
      </p:sp>
      <p:sp>
        <p:nvSpPr>
          <p:cNvPr id="22" name="Shape 19"/>
          <p:cNvSpPr/>
          <p:nvPr/>
        </p:nvSpPr>
        <p:spPr>
          <a:xfrm>
            <a:off x="640080" y="2490216"/>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4" name="Text 21"/>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الَّتِي</a:t>
            </a:r>
            <a:endParaRPr lang="ar-SA" sz="1700" dirty="0"/>
          </a:p>
        </p:txBody>
      </p:sp>
      <p:sp>
        <p:nvSpPr>
          <p:cNvPr id="25" name="Shape 22"/>
          <p:cNvSpPr/>
          <p:nvPr/>
        </p:nvSpPr>
        <p:spPr>
          <a:xfrm>
            <a:off x="640080" y="2862072"/>
            <a:ext cx="256032" cy="256032"/>
          </a:xfrm>
          <a:prstGeom prst="ellipse">
            <a:avLst/>
          </a:prstGeom>
          <a:solidFill>
            <a:srgbClr val="C9CED6"/>
          </a:solidFill>
          <a:ln w="12700">
            <a:solidFill>
              <a:srgbClr val="C9CED6"/>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7" name="Text 24"/>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الَّذِينَ</a:t>
            </a:r>
            <a:endParaRPr lang="ar-SA" sz="1700" dirty="0"/>
          </a:p>
        </p:txBody>
      </p:sp>
      <p:sp>
        <p:nvSpPr>
          <p:cNvPr id="28" name="Shape 25"/>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9" name="Shape 26"/>
          <p:cNvSpPr/>
          <p:nvPr/>
        </p:nvSpPr>
        <p:spPr>
          <a:xfrm>
            <a:off x="640080" y="3233928"/>
            <a:ext cx="256032" cy="256032"/>
          </a:xfrm>
          <a:prstGeom prst="ellipse">
            <a:avLst/>
          </a:prstGeom>
          <a:solidFill>
            <a:srgbClr val="2E8B57"/>
          </a:solidFill>
          <a:ln w="12700">
            <a:solidFill>
              <a:srgbClr val="2E8B57"/>
            </a:solidFill>
            <a:prstDash val="solid"/>
          </a:ln>
        </p:spPr>
      </p:sp>
      <p:sp>
        <p:nvSpPr>
          <p:cNvPr id="30" name="Text 27"/>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1" name="Text 28"/>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الَّذِي</a:t>
            </a:r>
            <a:endParaRPr lang="ar-SA" sz="1700" dirty="0"/>
          </a:p>
        </p:txBody>
      </p:sp>
      <p:sp>
        <p:nvSpPr>
          <p:cNvPr id="32" name="Text 29"/>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maktab is masculine → allaḏī.</a:t>
            </a:r>
            <a:endParaRPr lang="en-US" sz="1050" dirty="0"/>
          </a:p>
        </p:txBody>
      </p:sp>
      <p:sp>
        <p:nvSpPr>
          <p:cNvPr id="33" name="Shape 30"/>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313932" y="1947672"/>
            <a:ext cx="310896" cy="310896"/>
          </a:xfrm>
          <a:prstGeom prst="ellipse">
            <a:avLst/>
          </a:prstGeom>
          <a:solidFill>
            <a:srgbClr val="1B3B6F"/>
          </a:solidFill>
          <a:ln w="12700">
            <a:solidFill>
              <a:srgbClr val="1B3B6F"/>
            </a:solidFill>
            <a:prstDash val="solid"/>
          </a:ln>
        </p:spPr>
      </p:sp>
      <p:sp>
        <p:nvSpPr>
          <p:cNvPr id="35" name="Text 3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6" name="Text 33"/>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دَوَامٌ جُزْئِيٌّ</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full-time work</a:t>
            </a:r>
            <a:endParaRPr lang="en-US" sz="125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part-time work</a:t>
            </a:r>
            <a:endParaRPr lang="en-US" sz="125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annual leave</a:t>
            </a:r>
            <a:endParaRPr lang="en-US" sz="125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juzʾ = part.</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1" name="Text 48"/>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usually a disadvantage?</a:t>
            </a:r>
            <a:endParaRPr lang="en-US" sz="125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عَمَلٌ مُجْزٍ</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عَمَلٌ مُجْهِدٌ</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سَاعَاتٌ مَرِنَةٌ</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mujhid = tiring.</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sentence that makes sense.</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الرَّاتِبُ مُرْتَفِعٌ، لِأَنَّ السَّاعَاتِ طَوِيلَةٌ.</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الرَّاتِبُ مُرْتَفِعٌ، لِذٰلِكَ السَّاعَاتُ قَصِيرَةٌ.</a:t>
            </a:r>
            <a:endParaRPr lang="ar-SA" sz="170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الرَّاتِبُ مُرْتَفِعٌ، وَلٰكِنَّ السَّاعَاتِ طَوِيلَةٌ.</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contrast needs “but”, not “because” or “so”.</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D3-L02 · Workplace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D3-L02</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تَعْمَلُ فِي بِيئَةٍ آمِنٍ.</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bīʾa: masculine or feminine?</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الشَّرِكَةُ الَّذِي أَعْمَلُ فِيهَا كَبِيرَةٌ.</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sharika → allaḏī or allatī?</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مِنْ مَزَايَا العَمَلِ سَاعَاتُهُ مَرِنَةٌ.</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What is missing before the clause?</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D3-L02 · Workplace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D3-L02</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تَعْمَلُ فِي بِيئَةٍ آمِنٍ.</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تَعْمَلُ فِي بِيئَةٍ آمِنَةٍ.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adjective agrees with feminine bīʾa.</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الشَّرِكَةُ الَّذِي أَعْمَلُ فِيهَا كَبِيرَةٌ.</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الشَّرِكَةُ الَّتِي أَعْمَلُ فِيهَا كَبِيرَةٌ.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Feminine noun → allatī.</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مِنْ مَزَايَا العَمَلِ سَاعَاتُهُ مَرِنَةٌ.</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مِنْ مَزَايَا العَمَلِ أَنَّ سَاعَاتِهِ مَرِنَةٌ.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Add anna before the clause.</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D3-L02 · Workplace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Two contrasting workplaces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D3-L02</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does Maryam work?</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a modern laboratory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a hospital</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 a building site</a:t>
            </a:r>
            <a:endParaRPr lang="en-US" sz="1250" dirty="0"/>
          </a:p>
        </p:txBody>
      </p:sp>
      <p:sp>
        <p:nvSpPr>
          <p:cNvPr id="28" name="Shape 25"/>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3449574"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are her hours?</a:t>
            </a:r>
            <a:endParaRPr lang="en-US" sz="1250" dirty="0"/>
          </a:p>
        </p:txBody>
      </p:sp>
      <p:sp>
        <p:nvSpPr>
          <p:cNvPr id="32" name="Shape 29"/>
          <p:cNvSpPr/>
          <p:nvPr/>
        </p:nvSpPr>
        <p:spPr>
          <a:xfrm>
            <a:off x="3504438"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9:00 to 5:00</a:t>
            </a:r>
            <a:endParaRPr lang="en-US" sz="1250" dirty="0"/>
          </a:p>
        </p:txBody>
      </p:sp>
      <p:sp>
        <p:nvSpPr>
          <p:cNvPr id="35" name="Shape 32"/>
          <p:cNvSpPr/>
          <p:nvPr/>
        </p:nvSpPr>
        <p:spPr>
          <a:xfrm>
            <a:off x="3504438"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8:00 to 2:00</a:t>
            </a:r>
            <a:endParaRPr lang="en-US" sz="1250" dirty="0"/>
          </a:p>
        </p:txBody>
      </p:sp>
      <p:sp>
        <p:nvSpPr>
          <p:cNvPr id="38" name="Shape 35"/>
          <p:cNvSpPr/>
          <p:nvPr/>
        </p:nvSpPr>
        <p:spPr>
          <a:xfrm>
            <a:off x="3504438"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8:00 to 4:00</a:t>
            </a:r>
            <a:endParaRPr lang="en-US" sz="1250" dirty="0"/>
          </a:p>
        </p:txBody>
      </p:sp>
      <p:sp>
        <p:nvSpPr>
          <p:cNvPr id="41" name="Shape 38"/>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313932"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she like the environment?</a:t>
            </a:r>
            <a:endParaRPr lang="en-US" sz="1250" dirty="0"/>
          </a:p>
        </p:txBody>
      </p:sp>
      <p:sp>
        <p:nvSpPr>
          <p:cNvPr id="45" name="Shape 42"/>
          <p:cNvSpPr/>
          <p:nvPr/>
        </p:nvSpPr>
        <p:spPr>
          <a:xfrm>
            <a:off x="6368796"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salary is high</a:t>
            </a:r>
            <a:endParaRPr lang="en-US" sz="1250" dirty="0"/>
          </a:p>
        </p:txBody>
      </p:sp>
      <p:sp>
        <p:nvSpPr>
          <p:cNvPr id="48" name="Shape 45"/>
          <p:cNvSpPr/>
          <p:nvPr/>
        </p:nvSpPr>
        <p:spPr>
          <a:xfrm>
            <a:off x="6368796"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outdoors</a:t>
            </a:r>
            <a:endParaRPr lang="en-US" sz="1250" dirty="0"/>
          </a:p>
        </p:txBody>
      </p:sp>
      <p:sp>
        <p:nvSpPr>
          <p:cNvPr id="51" name="Shape 48"/>
          <p:cNvSpPr/>
          <p:nvPr/>
        </p:nvSpPr>
        <p:spPr>
          <a:xfrm>
            <a:off x="6368796"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safe and organised</a:t>
            </a:r>
            <a:endParaRPr lang="en-US" sz="1250" dirty="0"/>
          </a:p>
        </p:txBody>
      </p:sp>
      <p:sp>
        <p:nvSpPr>
          <p:cNvPr id="54" name="Shape 51"/>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9178290" y="1947672"/>
            <a:ext cx="310896" cy="310896"/>
          </a:xfrm>
          <a:prstGeom prst="ellipse">
            <a:avLst/>
          </a:prstGeom>
          <a:solidFill>
            <a:srgbClr val="1B3B6F"/>
          </a:solidFill>
          <a:ln w="12700">
            <a:solidFill>
              <a:srgbClr val="1B3B6F"/>
            </a:solidFill>
            <a:prstDash val="solid"/>
          </a:ln>
        </p:spPr>
      </p:sp>
      <p:sp>
        <p:nvSpPr>
          <p:cNvPr id="56" name="Text 53"/>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her work need?</a:t>
            </a:r>
            <a:endParaRPr lang="en-US" sz="1250" dirty="0"/>
          </a:p>
        </p:txBody>
      </p:sp>
      <p:sp>
        <p:nvSpPr>
          <p:cNvPr id="58" name="Shape 55"/>
          <p:cNvSpPr/>
          <p:nvPr/>
        </p:nvSpPr>
        <p:spPr>
          <a:xfrm>
            <a:off x="9233154" y="2532888"/>
            <a:ext cx="256032" cy="256032"/>
          </a:xfrm>
          <a:prstGeom prst="ellipse">
            <a:avLst/>
          </a:prstGeom>
          <a:solidFill>
            <a:srgbClr val="F4F1EA"/>
          </a:solidFill>
          <a:ln w="12700">
            <a:solidFill>
              <a:srgbClr val="F4F1EA"/>
            </a:solidFill>
            <a:prstDash val="solid"/>
          </a:ln>
        </p:spPr>
      </p:sp>
      <p:sp>
        <p:nvSpPr>
          <p:cNvPr id="59" name="Text 56"/>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great precision</a:t>
            </a:r>
            <a:endParaRPr lang="en-US" sz="1250" dirty="0"/>
          </a:p>
        </p:txBody>
      </p:sp>
      <p:sp>
        <p:nvSpPr>
          <p:cNvPr id="61" name="Shape 58"/>
          <p:cNvSpPr/>
          <p:nvPr/>
        </p:nvSpPr>
        <p:spPr>
          <a:xfrm>
            <a:off x="9233154" y="2990088"/>
            <a:ext cx="256032" cy="256032"/>
          </a:xfrm>
          <a:prstGeom prst="ellipse">
            <a:avLst/>
          </a:prstGeom>
          <a:solidFill>
            <a:srgbClr val="F4F1EA"/>
          </a:solidFill>
          <a:ln w="12700">
            <a:solidFill>
              <a:srgbClr val="F4F1EA"/>
            </a:solidFill>
            <a:prstDash val="solid"/>
          </a:ln>
        </p:spPr>
      </p:sp>
      <p:sp>
        <p:nvSpPr>
          <p:cNvPr id="62" name="Text 59"/>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physical strength</a:t>
            </a:r>
            <a:endParaRPr lang="en-US" sz="1250" dirty="0"/>
          </a:p>
        </p:txBody>
      </p:sp>
      <p:sp>
        <p:nvSpPr>
          <p:cNvPr id="64" name="Shape 61"/>
          <p:cNvSpPr/>
          <p:nvPr/>
        </p:nvSpPr>
        <p:spPr>
          <a:xfrm>
            <a:off x="9233154" y="3447288"/>
            <a:ext cx="256032" cy="256032"/>
          </a:xfrm>
          <a:prstGeom prst="ellipse">
            <a:avLst/>
          </a:prstGeom>
          <a:solidFill>
            <a:srgbClr val="F4F1EA"/>
          </a:solidFill>
          <a:ln w="12700">
            <a:solidFill>
              <a:srgbClr val="F4F1EA"/>
            </a:solidFill>
            <a:prstDash val="solid"/>
          </a:ln>
        </p:spPr>
      </p:sp>
      <p:sp>
        <p:nvSpPr>
          <p:cNvPr id="65" name="Text 62"/>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lot of travel</a:t>
            </a:r>
            <a:endParaRPr lang="en-US" sz="1250" dirty="0"/>
          </a:p>
        </p:txBody>
      </p:sp>
      <p:sp>
        <p:nvSpPr>
          <p:cNvPr id="67" name="Shape 6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585216"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does Samer work?</a:t>
            </a:r>
            <a:endParaRPr lang="en-US" sz="1250" dirty="0"/>
          </a:p>
        </p:txBody>
      </p:sp>
      <p:sp>
        <p:nvSpPr>
          <p:cNvPr id="71" name="Shape 68"/>
          <p:cNvSpPr/>
          <p:nvPr/>
        </p:nvSpPr>
        <p:spPr>
          <a:xfrm>
            <a:off x="640080"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a laboratory</a:t>
            </a:r>
            <a:endParaRPr lang="en-US" sz="1250" dirty="0"/>
          </a:p>
        </p:txBody>
      </p:sp>
      <p:sp>
        <p:nvSpPr>
          <p:cNvPr id="74" name="Shape 71"/>
          <p:cNvSpPr/>
          <p:nvPr/>
        </p:nvSpPr>
        <p:spPr>
          <a:xfrm>
            <a:off x="640080"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 a building site</a:t>
            </a:r>
            <a:endParaRPr lang="en-US" sz="1250" dirty="0"/>
          </a:p>
        </p:txBody>
      </p:sp>
      <p:sp>
        <p:nvSpPr>
          <p:cNvPr id="77" name="Shape 74"/>
          <p:cNvSpPr/>
          <p:nvPr/>
        </p:nvSpPr>
        <p:spPr>
          <a:xfrm>
            <a:off x="640080"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an office</a:t>
            </a:r>
            <a:endParaRPr lang="en-US" sz="1250" dirty="0"/>
          </a:p>
        </p:txBody>
      </p:sp>
      <p:sp>
        <p:nvSpPr>
          <p:cNvPr id="80" name="Shape 7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344957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3" name="Text 8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a disadvantage of his work?</a:t>
            </a:r>
            <a:endParaRPr lang="en-US" sz="1250" dirty="0"/>
          </a:p>
        </p:txBody>
      </p:sp>
      <p:sp>
        <p:nvSpPr>
          <p:cNvPr id="84" name="Shape 81"/>
          <p:cNvSpPr/>
          <p:nvPr/>
        </p:nvSpPr>
        <p:spPr>
          <a:xfrm>
            <a:off x="350443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6" name="Text 83"/>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tiring and affected by the weather</a:t>
            </a:r>
            <a:endParaRPr lang="en-US" sz="1250" dirty="0"/>
          </a:p>
        </p:txBody>
      </p:sp>
      <p:sp>
        <p:nvSpPr>
          <p:cNvPr id="87" name="Shape 84"/>
          <p:cNvSpPr/>
          <p:nvPr/>
        </p:nvSpPr>
        <p:spPr>
          <a:xfrm>
            <a:off x="350443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9" name="Text 86"/>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salary is low</a:t>
            </a:r>
            <a:endParaRPr lang="en-US" sz="1250" dirty="0"/>
          </a:p>
        </p:txBody>
      </p:sp>
      <p:sp>
        <p:nvSpPr>
          <p:cNvPr id="90" name="Shape 87"/>
          <p:cNvSpPr/>
          <p:nvPr/>
        </p:nvSpPr>
        <p:spPr>
          <a:xfrm>
            <a:off x="350443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2" name="Text 89"/>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hours are short</a:t>
            </a:r>
            <a:endParaRPr lang="en-US" sz="1250" dirty="0"/>
          </a:p>
        </p:txBody>
      </p:sp>
      <p:sp>
        <p:nvSpPr>
          <p:cNvPr id="93" name="Shape 90"/>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4" name="Shape 91"/>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95" name="Text 92"/>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6" name="Text 93"/>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2 and 5.</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مُخْتَبَرٍ</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الثَّامِنَةِ</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مَوْقِعِ بِنَاءٍ</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D3-L02 · Workplace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D3-L02</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تَعْمَلُ مَرْيَمُ فِي مُخْتَبَرٍ حَدِيثٍ مِنَ السَّاعَةِ الثَّامِنَةِ إِلَى الرَّابِعَةِ.</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Maryam works in a modern laboratory from eight o’clock to four.</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تُحِبُّ بِيئَةَ العَمَلِ لِأَنَّهَا آمِنَةٌ وَمُنَظَّمَةٌ،</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loves the work environment because it is safe and organised,</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وَلٰكِنَّ العَمَلَ يَحْتَاجُ إِلَى دِقَّةٍ شَدِيدَةٍ.</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but the work needs great precision.</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أَمَّا سَامِرٌ فَيَعْمَلُ فِي مَوْقِعِ بِنَاءٍ.</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As for Samer, he works on a building site.</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رَاتِبُهُ جَيِّدٌ، لٰكِنَّ عَمَلَهُ مُجْهِدٌ وَيَتَأَثَّرُ بِالطَّقْسِ.</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His salary is good, but his work is tiring and affected by the weather.</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D3-L02 · Workplace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D3-L02</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does Maryam work?</a:t>
            </a:r>
            <a:endParaRPr lang="en-US" sz="1250" dirty="0"/>
          </a:p>
        </p:txBody>
      </p:sp>
      <p:sp>
        <p:nvSpPr>
          <p:cNvPr id="19" name="Shape 16"/>
          <p:cNvSpPr/>
          <p:nvPr/>
        </p:nvSpPr>
        <p:spPr>
          <a:xfrm>
            <a:off x="548640" y="2453640"/>
            <a:ext cx="2498598"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in a modern laboratory</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 a hospital</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 a building site</a:t>
            </a:r>
            <a:endParaRPr lang="en-US" sz="1250" dirty="0"/>
          </a:p>
        </p:txBody>
      </p:sp>
      <p:sp>
        <p:nvSpPr>
          <p:cNvPr id="29" name="Text 26"/>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فِي مُخْتَبَرٍ حَدِيثٍ</a:t>
            </a:r>
            <a:endParaRPr lang="ar-SA" sz="13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are her hours?</a:t>
            </a:r>
            <a:endParaRPr lang="en-US" sz="1250" dirty="0"/>
          </a:p>
        </p:txBody>
      </p:sp>
      <p:sp>
        <p:nvSpPr>
          <p:cNvPr id="34" name="Shape 31"/>
          <p:cNvSpPr/>
          <p:nvPr/>
        </p:nvSpPr>
        <p:spPr>
          <a:xfrm>
            <a:off x="3504438"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9:00 to 5:00</a:t>
            </a:r>
            <a:endParaRPr lang="en-US" sz="1250" dirty="0"/>
          </a:p>
        </p:txBody>
      </p:sp>
      <p:sp>
        <p:nvSpPr>
          <p:cNvPr id="37" name="Shape 34"/>
          <p:cNvSpPr/>
          <p:nvPr/>
        </p:nvSpPr>
        <p:spPr>
          <a:xfrm>
            <a:off x="3504438"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8:00 to 2:00</a:t>
            </a:r>
            <a:endParaRPr lang="en-US" sz="1250" dirty="0"/>
          </a:p>
        </p:txBody>
      </p:sp>
      <p:sp>
        <p:nvSpPr>
          <p:cNvPr id="40" name="Shape 37"/>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3504438"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8:00 to 4:00</a:t>
            </a:r>
            <a:endParaRPr lang="en-US" sz="1250" dirty="0"/>
          </a:p>
        </p:txBody>
      </p:sp>
      <p:sp>
        <p:nvSpPr>
          <p:cNvPr id="44" name="Text 41"/>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مِنَ السَّاعَةِ الثَّامِنَةِ إِلَى الرَّابِعَةِ</a:t>
            </a:r>
            <a:endParaRPr lang="ar-SA" sz="1350" dirty="0"/>
          </a:p>
        </p:txBody>
      </p:sp>
      <p:sp>
        <p:nvSpPr>
          <p:cNvPr id="45" name="Shape 42"/>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6313932"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she like the environment?</a:t>
            </a:r>
            <a:endParaRPr lang="en-US" sz="1250" dirty="0"/>
          </a:p>
        </p:txBody>
      </p:sp>
      <p:sp>
        <p:nvSpPr>
          <p:cNvPr id="49" name="Shape 46"/>
          <p:cNvSpPr/>
          <p:nvPr/>
        </p:nvSpPr>
        <p:spPr>
          <a:xfrm>
            <a:off x="6368796"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salary is high</a:t>
            </a:r>
            <a:endParaRPr lang="en-US" sz="1250" dirty="0"/>
          </a:p>
        </p:txBody>
      </p:sp>
      <p:sp>
        <p:nvSpPr>
          <p:cNvPr id="52" name="Shape 49"/>
          <p:cNvSpPr/>
          <p:nvPr/>
        </p:nvSpPr>
        <p:spPr>
          <a:xfrm>
            <a:off x="6368796"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outdoors</a:t>
            </a:r>
            <a:endParaRPr lang="en-US" sz="1250" dirty="0"/>
          </a:p>
        </p:txBody>
      </p:sp>
      <p:sp>
        <p:nvSpPr>
          <p:cNvPr id="55" name="Shape 52"/>
          <p:cNvSpPr/>
          <p:nvPr/>
        </p:nvSpPr>
        <p:spPr>
          <a:xfrm>
            <a:off x="6277356" y="3197352"/>
            <a:ext cx="2498598"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368796"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it is safe and organised</a:t>
            </a:r>
            <a:endParaRPr lang="en-US" sz="1250" dirty="0"/>
          </a:p>
        </p:txBody>
      </p:sp>
      <p:sp>
        <p:nvSpPr>
          <p:cNvPr id="59" name="Text 56"/>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لِأَنَّهَا آمِنَةٌ وَمُنَظَّمَةٌ</a:t>
            </a:r>
            <a:endParaRPr lang="ar-SA" sz="1350" dirty="0"/>
          </a:p>
        </p:txBody>
      </p:sp>
      <p:sp>
        <p:nvSpPr>
          <p:cNvPr id="60" name="Shape 57"/>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9178290" y="1947672"/>
            <a:ext cx="310896" cy="310896"/>
          </a:xfrm>
          <a:prstGeom prst="ellipse">
            <a:avLst/>
          </a:prstGeom>
          <a:solidFill>
            <a:srgbClr val="1B3B6F"/>
          </a:solidFill>
          <a:ln w="12700">
            <a:solidFill>
              <a:srgbClr val="1B3B6F"/>
            </a:solidFill>
            <a:prstDash val="solid"/>
          </a:ln>
        </p:spPr>
      </p:sp>
      <p:sp>
        <p:nvSpPr>
          <p:cNvPr id="62" name="Text 59"/>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her work need?</a:t>
            </a:r>
            <a:endParaRPr lang="en-US" sz="1250" dirty="0"/>
          </a:p>
        </p:txBody>
      </p:sp>
      <p:sp>
        <p:nvSpPr>
          <p:cNvPr id="64" name="Shape 61"/>
          <p:cNvSpPr/>
          <p:nvPr/>
        </p:nvSpPr>
        <p:spPr>
          <a:xfrm>
            <a:off x="9141714" y="2453640"/>
            <a:ext cx="2498598"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9233154" y="2490216"/>
            <a:ext cx="256032" cy="256032"/>
          </a:xfrm>
          <a:prstGeom prst="ellipse">
            <a:avLst/>
          </a:prstGeom>
          <a:solidFill>
            <a:srgbClr val="2E8B57"/>
          </a:solidFill>
          <a:ln w="12700">
            <a:solidFill>
              <a:srgbClr val="2E8B57"/>
            </a:solidFill>
            <a:prstDash val="solid"/>
          </a:ln>
        </p:spPr>
      </p:sp>
      <p:sp>
        <p:nvSpPr>
          <p:cNvPr id="66" name="Text 63"/>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great precision</a:t>
            </a:r>
            <a:endParaRPr lang="en-US" sz="1250" dirty="0"/>
          </a:p>
        </p:txBody>
      </p:sp>
      <p:sp>
        <p:nvSpPr>
          <p:cNvPr id="68" name="Shape 65"/>
          <p:cNvSpPr/>
          <p:nvPr/>
        </p:nvSpPr>
        <p:spPr>
          <a:xfrm>
            <a:off x="9233154" y="2862072"/>
            <a:ext cx="256032" cy="256032"/>
          </a:xfrm>
          <a:prstGeom prst="ellipse">
            <a:avLst/>
          </a:prstGeom>
          <a:solidFill>
            <a:srgbClr val="C9CED6"/>
          </a:solidFill>
          <a:ln w="12700">
            <a:solidFill>
              <a:srgbClr val="C9CED6"/>
            </a:solidFill>
            <a:prstDash val="solid"/>
          </a:ln>
        </p:spPr>
      </p:sp>
      <p:sp>
        <p:nvSpPr>
          <p:cNvPr id="69" name="Text 66"/>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physical strength</a:t>
            </a:r>
            <a:endParaRPr lang="en-US" sz="1250" dirty="0"/>
          </a:p>
        </p:txBody>
      </p:sp>
      <p:sp>
        <p:nvSpPr>
          <p:cNvPr id="71" name="Shape 68"/>
          <p:cNvSpPr/>
          <p:nvPr/>
        </p:nvSpPr>
        <p:spPr>
          <a:xfrm>
            <a:off x="9233154" y="3233928"/>
            <a:ext cx="256032" cy="256032"/>
          </a:xfrm>
          <a:prstGeom prst="ellipse">
            <a:avLst/>
          </a:prstGeom>
          <a:solidFill>
            <a:srgbClr val="C9CED6"/>
          </a:solidFill>
          <a:ln w="12700">
            <a:solidFill>
              <a:srgbClr val="C9CED6"/>
            </a:solidFill>
            <a:prstDash val="solid"/>
          </a:ln>
        </p:spPr>
      </p:sp>
      <p:sp>
        <p:nvSpPr>
          <p:cNvPr id="72" name="Text 69"/>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lot of travel</a:t>
            </a:r>
            <a:endParaRPr lang="en-US" sz="1250" dirty="0"/>
          </a:p>
        </p:txBody>
      </p:sp>
      <p:sp>
        <p:nvSpPr>
          <p:cNvPr id="74" name="Text 71"/>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يَحْتَاجُ إِلَى دِقَّةٍ شَدِيدَةٍ</a:t>
            </a:r>
            <a:endParaRPr lang="ar-SA" sz="1350" dirty="0"/>
          </a:p>
        </p:txBody>
      </p:sp>
      <p:sp>
        <p:nvSpPr>
          <p:cNvPr id="75" name="Shape 72"/>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85216"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does Samer work?</a:t>
            </a:r>
            <a:endParaRPr lang="en-US" sz="1250" dirty="0"/>
          </a:p>
        </p:txBody>
      </p:sp>
      <p:sp>
        <p:nvSpPr>
          <p:cNvPr id="79" name="Shape 76"/>
          <p:cNvSpPr/>
          <p:nvPr/>
        </p:nvSpPr>
        <p:spPr>
          <a:xfrm>
            <a:off x="640080"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 a laboratory</a:t>
            </a:r>
            <a:endParaRPr lang="en-US" sz="1250" dirty="0"/>
          </a:p>
        </p:txBody>
      </p:sp>
      <p:sp>
        <p:nvSpPr>
          <p:cNvPr id="82" name="Shape 79"/>
          <p:cNvSpPr/>
          <p:nvPr/>
        </p:nvSpPr>
        <p:spPr>
          <a:xfrm>
            <a:off x="548640" y="5166360"/>
            <a:ext cx="2498598"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640080"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on a building site</a:t>
            </a:r>
            <a:endParaRPr lang="en-US" sz="1250" dirty="0"/>
          </a:p>
        </p:txBody>
      </p:sp>
      <p:sp>
        <p:nvSpPr>
          <p:cNvPr id="86" name="Shape 83"/>
          <p:cNvSpPr/>
          <p:nvPr/>
        </p:nvSpPr>
        <p:spPr>
          <a:xfrm>
            <a:off x="640080"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 an office</a:t>
            </a:r>
            <a:endParaRPr lang="en-US" sz="1250" dirty="0"/>
          </a:p>
        </p:txBody>
      </p:sp>
      <p:sp>
        <p:nvSpPr>
          <p:cNvPr id="89" name="Text 86"/>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فِي مَوْقِعِ بِنَاءٍ</a:t>
            </a:r>
            <a:endParaRPr lang="ar-SA" sz="1350" dirty="0"/>
          </a:p>
        </p:txBody>
      </p:sp>
      <p:sp>
        <p:nvSpPr>
          <p:cNvPr id="90" name="Shape 8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344957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3" name="Text 9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a disadvantage of his work?</a:t>
            </a:r>
            <a:endParaRPr lang="en-US" sz="1250" dirty="0"/>
          </a:p>
        </p:txBody>
      </p:sp>
      <p:sp>
        <p:nvSpPr>
          <p:cNvPr id="94" name="Shape 91"/>
          <p:cNvSpPr/>
          <p:nvPr/>
        </p:nvSpPr>
        <p:spPr>
          <a:xfrm>
            <a:off x="3412998" y="4794504"/>
            <a:ext cx="2498598" cy="347472"/>
          </a:xfrm>
          <a:prstGeom prst="roundRect">
            <a:avLst>
              <a:gd name="adj" fmla="val 15789"/>
            </a:avLst>
          </a:prstGeom>
          <a:solidFill>
            <a:srgbClr val="E6F4EC"/>
          </a:solidFill>
          <a:ln w="9525">
            <a:solidFill>
              <a:srgbClr val="2E8B57"/>
            </a:solidFill>
            <a:prstDash val="solid"/>
          </a:ln>
        </p:spPr>
      </p:sp>
      <p:sp>
        <p:nvSpPr>
          <p:cNvPr id="95" name="Shape 92"/>
          <p:cNvSpPr/>
          <p:nvPr/>
        </p:nvSpPr>
        <p:spPr>
          <a:xfrm>
            <a:off x="3504438" y="4831080"/>
            <a:ext cx="256032" cy="256032"/>
          </a:xfrm>
          <a:prstGeom prst="ellipse">
            <a:avLst/>
          </a:prstGeom>
          <a:solidFill>
            <a:srgbClr val="2E8B57"/>
          </a:solidFill>
          <a:ln w="12700">
            <a:solidFill>
              <a:srgbClr val="2E8B57"/>
            </a:solidFill>
            <a:prstDash val="solid"/>
          </a:ln>
        </p:spPr>
      </p:sp>
      <p:sp>
        <p:nvSpPr>
          <p:cNvPr id="96" name="Text 93"/>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97" name="Text 94"/>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it is tiring and affected by the weather</a:t>
            </a:r>
            <a:endParaRPr lang="en-US" sz="1150" dirty="0"/>
          </a:p>
        </p:txBody>
      </p:sp>
      <p:sp>
        <p:nvSpPr>
          <p:cNvPr id="98" name="Shape 95"/>
          <p:cNvSpPr/>
          <p:nvPr/>
        </p:nvSpPr>
        <p:spPr>
          <a:xfrm>
            <a:off x="3504438" y="5202936"/>
            <a:ext cx="256032" cy="256032"/>
          </a:xfrm>
          <a:prstGeom prst="ellipse">
            <a:avLst/>
          </a:prstGeom>
          <a:solidFill>
            <a:srgbClr val="C9CED6"/>
          </a:solidFill>
          <a:ln w="12700">
            <a:solidFill>
              <a:srgbClr val="C9CED6"/>
            </a:solidFill>
            <a:prstDash val="solid"/>
          </a:ln>
        </p:spPr>
      </p:sp>
      <p:sp>
        <p:nvSpPr>
          <p:cNvPr id="99" name="Text 96"/>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0" name="Text 97"/>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salary is low</a:t>
            </a:r>
            <a:endParaRPr lang="en-US" sz="1250" dirty="0"/>
          </a:p>
        </p:txBody>
      </p:sp>
      <p:sp>
        <p:nvSpPr>
          <p:cNvPr id="101" name="Shape 98"/>
          <p:cNvSpPr/>
          <p:nvPr/>
        </p:nvSpPr>
        <p:spPr>
          <a:xfrm>
            <a:off x="350443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3" name="Text 100"/>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hours are short</a:t>
            </a:r>
            <a:endParaRPr lang="en-US" sz="1250" dirty="0"/>
          </a:p>
        </p:txBody>
      </p:sp>
      <p:sp>
        <p:nvSpPr>
          <p:cNvPr id="104" name="Text 101"/>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عَمَلَهُ مُجْهِدٌ وَيَتَأَثَّرُ بِالطَّقْسِ</a:t>
            </a:r>
            <a:endParaRPr lang="ar-SA" sz="1350" dirty="0"/>
          </a:p>
        </p:txBody>
      </p:sp>
      <p:sp>
        <p:nvSpPr>
          <p:cNvPr id="105" name="Shape 10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6" name="Shape 103"/>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107" name="Text 104"/>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108" name="Text 105"/>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2 and 5.</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مُخْتَبَرٍ</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الثَّامِنَةِ</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مَوْقِعِ بِنَاءٍ</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109" name="Text 10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D3-L02 · Workplace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Where would you like to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D3-L02</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صِفْ مَكَانَ عَمَلِ أَحَدِ أَفْرَادِ عَائِلَتِكَ.</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أَيْنَ تُحِبُّ أَنْ تَعْمَلَ: فِي مَكْتَبٍ أَمْ فِي الهَوَاءِ الطَّلْقِ؟</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مَزَايَا العَمَلِ عَنْ بُعْدٍ وَمَا عُيُوبُهُ؟</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هَلِ الرَّاتِبُ أَهَمُّ مِنْ بِيئَةِ العَمَلِ؟ وَلِمَاذَا؟</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يَعْمَلُ / تَعْمَلُ فِي ___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2E8B57"/>
          </a:solidFill>
          <a:ln w="12700">
            <a:solidFill>
              <a:srgbClr val="2E8B57"/>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أُحِبُّ أَنْ أَعْمَلَ فِي ___ لِأَنَّ ___ .</a:t>
            </a:r>
            <a:endParaRPr lang="ar-SA" sz="1600" dirty="0"/>
          </a:p>
        </p:txBody>
      </p:sp>
      <p:sp>
        <p:nvSpPr>
          <p:cNvPr id="54" name="Shape 51"/>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2" charset="-78"/>
                <a:ea typeface="Amiri" pitchFamily="2" charset="-78"/>
                <a:cs typeface="Amiri" pitchFamily="2" charset="-78"/>
              </a:rPr>
              <a:t>مِنْ مَزَايَاهُ أَنَّ ___ ، وَمِنْ عُيُوبِهِ أَنَّ ___ .</a:t>
            </a:r>
            <a:endParaRPr lang="ar-SA" sz="1400" dirty="0"/>
          </a:p>
        </p:txBody>
      </p:sp>
      <p:sp>
        <p:nvSpPr>
          <p:cNvPr id="57" name="Shape 54"/>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فِي رَأْيِي ___ أَهَمُّ لِأَنَّ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أَيْنَ تُفَضِّلُ أَنْ تَعْمَلَ؟</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Where would you prefer to work?</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أُفَضِّلُ مَكْتَبًا حَدِيثًا لِأَنَّ بِيئَتَهُ آمِنَةٌ وَمُنَظَّمَةٌ.</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I prefer a modern office because its environment is safe and organised.</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D3-L02 · Workplace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D3-L02</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Secure the main vocabulary and produce four accurate sentences using the taught frame.</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ar-SA" sz="1150" dirty="0">
                <a:solidFill>
                  <a:srgbClr val="1F2A37"/>
                </a:solidFill>
                <a:latin typeface="Calibri" pitchFamily="34" charset="0"/>
                <a:ea typeface="Amiri" pitchFamily="2" charset="-78"/>
                <a:cs typeface="Amiri" pitchFamily="2" charset="-78"/>
              </a:rPr>
              <a:t>Two workplaces, each with an adjective, plus one advantage with مِنْ مَزَايَا … أَنَّ.</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80–100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Combine description, grammar and a reason in connected answers.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ar-SA" sz="1150" dirty="0">
                <a:solidFill>
                  <a:srgbClr val="1F2A37"/>
                </a:solidFill>
                <a:latin typeface="Calibri" pitchFamily="34" charset="0"/>
                <a:ea typeface="Amiri" pitchFamily="2" charset="-78"/>
                <a:cs typeface="Amiri" pitchFamily="2" charset="-78"/>
              </a:rPr>
              <a:t>Compare two workplaces with الَّذِي / الَّتِي, بَيْنَمَا and وَلٰكِنَّ, and choose one.</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100–120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comparison, contrast, precise evidence and independently controlled complex structures.</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compare two workplaces, weigh pros and cons, justify your choice with although …</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D3-L02 · Workplace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D3-L02</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الشَّرِكَةُ الَّتِي ______ فِيهَا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company (which) … works in is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بَيْنَمَا يَعْمَلُ خَالِي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whereas my uncle works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الرَّاتِبُ ______ ، وَلٰكِنَّ السَّاعَاتِ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salary is …, but the hours are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أُفَضِّلُ ______ لِأَنَّ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prefer … because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يَعْمَلُ أَبِي فِي مَكْتَبٍ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father works in a modern office.</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تَعْمَلُ خَالَتِي فِي مُسْتَشْفًى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aunt works in a big hospital.</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مِنْ مَزَايَا العَمَلِ أَنَّ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One advantage of the job is that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مِنْ عُيُوبِهِ أَنَّهُ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One disadvantage is that it is tiring.</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مَكْتَبٌ حَدِيثٌ  ·  بِيئَةٌ آمِنَةٌ  ·  سَاعَاتٌ مَرِنَةٌ  ·  رَاتِبٌ مُرْتَفِعٌ  ·  عَمَلٌ مُجْهِدٌ  ·  عَمَلٌ مُجْزٍ  ·  فَرِيقُ عَمَلٍ  ·  الَّذِي  ·  الَّتِي  ·  أَنَّ  ·  بَيْنَمَا  ·  وَلٰكِنَّ</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44</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D3-L02 · Workplace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D3-L02</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Compare two workplaces and explain which one you would prefer and why.</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Address every content point.</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Use at least two target structures from the grammar lesson.</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Add evidence, reason or comparison.</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Check agreement, verb patterns and spelling.</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يُوَفِّرُ الوَقْتَ</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it saves time</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التَّعَاوُنُ المُبَاشِرُ مَعَ الفَرِيقِ</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direct cooperation with the team</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يُحَقِّقُ تَوَازُنًا أَفْضَلَ</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it achieves a better balance</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يَتَأَثَّرُ بِالطَّقْسِ</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it is affected by the weather</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عَلَى الرَّغْمِ مِنْ أَنَّ … فَإِنَّ …</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although … (still) …</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44</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D3-L02 · Workplace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D3-L02</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400" dirty="0">
                <a:solidFill>
                  <a:srgbClr val="1F2A37"/>
                </a:solidFill>
                <a:latin typeface="Amiri" pitchFamily="2" charset="-78"/>
                <a:ea typeface="Amiri" pitchFamily="2" charset="-78"/>
                <a:cs typeface="Amiri" pitchFamily="2" charset="-78"/>
              </a:rPr>
              <a:t>يَعْمَلُ أَبِي فِي مَكْتَبٍ حَدِيثٍ فِي وَسَطِ المَدِينَةِ، بَيْنَمَا يَعْمَلُ خَالِي فِي مَوْقِعِ بِنَاءٍ فِي الهَوَاءِ الطَّلْقِ. المَكْتَبُ الَّذِي يَعْمَلُ فِيهِ أَبِي هَادِئٌ وَآمِنٌ، وَمِنْ مَزَايَاهُ أَنَّ السَّاعَاتِ مَرِنَةٌ. أَمَّا خَالِي فَرَاتِبُهُ مُرْتَفِعٌ، وَلٰكِنَّ عَمَلَهُ مُجْهِدٌ وَيَتَأَثَّرُ بِالطَّقْسِ. فِي رَأْيِي، أُفَضِّلُ العَمَلَ فِي مَكْتَبٍ لِأَنَّنِي أُحِبُّ البِيئَةَ المُنَظَّمَةَ وَالعَمَلَ مَعَ فَرِيقٍ. عَلَى الرَّغْمِ مِنْ أَنَّ العَمَلَ فِي الهَوَاءِ الطَّلْقِ صِحِّيٌّ، فَإِنَّهُ صَعْبٌ فِي الشِّتَاءِ. لِذٰلِكَ أُرِيدُ وَظِيفَةً تُحَقِّقُ تَوَازُنًا بَيْنَ العَمَلِ وَالحَيَاةِ.</a:t>
            </a:r>
            <a:endParaRPr lang="ar-SA" sz="24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My father works in a modern office in the city centre, whereas my uncle works on a building site outdoors. The office my father works in is quiet and safe, and one advantage is that the hours are flexible. As for my uncle, his salary is high, but his work is tiring and affected by the weather. In my opinion, I prefer working in an office because I like an organised environment and working with a team. Although working outdoors is healthy, it is hard in winter. So I want a job that gives a balance between work and life.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two workplaces with adjectives</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allaḏī or allatī</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an advantage and a disadvantage</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justified choice</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44</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D3-L02 · Workplace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adjectives agree with the workplace.</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gave one advantage with anna.</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allaḏī / allatī correctly.</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contrasted two workplaces.</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choice is justified with although …</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44</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D3-L02 · Workplace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D3-L02</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feminine relative pronoun.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الَّتِي</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الَّذِي</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الَّذِينَ</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رَاتِبٌ مُرْتَفِعٌ</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low salary</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high salary</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annual leave</a:t>
            </a:r>
            <a:endParaRPr lang="en-US" sz="12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مِنْ عُيُوبِهِ</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مُجْهِدٌ</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أَنَّهُ</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لِأَنَّهُ</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بَيْنَمَا</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44</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D3-L02 · Workplace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D3-L02</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feminine relative pronoun.</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الَّتِي</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الَّذِي</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الَّذِينَ</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allatī = which / who (f.).</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رَاتِبٌ مُرْتَفِعٌ</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low salary</a:t>
            </a:r>
            <a:endParaRPr lang="en-US" sz="12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high salary</a:t>
            </a:r>
            <a:endParaRPr lang="en-US" sz="12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annual leave</a:t>
            </a:r>
            <a:endParaRPr lang="en-US" sz="12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murtafiʿ = high.</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مِنْ عُيُوبِهِ</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مُجْهِدٌ</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أَنَّهُ</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لِأَنَّهُ</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بَيْنَمَا</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min ʿuyūbihi annahu …</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44</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D3-L02 · Workplace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Workplace comparison</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D3-L02</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يُفَضِّلُ بَعْضُ العَامِلِينَ العَمَلَ عَنْ بُعْدٍ لِأَنَّهُ يُوَفِّرُ الوَقْتَ وَيَمْنَحُهُمْ مَرُونَةً أَكْبَرَ. وَلٰكِنَّ آخَرِينَ يَخْتَارُونَ المَكْتَبَ الَّذِي يَسْمَحُ لَهُمْ بِالتَّعَاوُنِ المُبَاشِرِ مَعَ الفَرِيقِ. فِي شَرِكَةِ نُورٍ، يَسْتَطِيعُ المُوَظَّفُونَ العَمَلَ مِنَ المَنْزِلِ يَوْمَيْنِ فِي الأُسْبُوعِ. مِنْ مَزَايَا هٰذَا النِّظَامِ أَنَّهُ يُحَقِّقُ تَوَازُنًا أَفْضَلَ، وَمِنْ عُيُوبِهِ أَنَّ التَّوَاصُلَ قَدْ يَكُونُ أَبْطَأَ.</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بَعْضُ العَامِلِينَ</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some workers</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يُوَفِّرُ الوَقْتَ</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saves time</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مَرُونَةً أَكْبَرَ</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more flexibility</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آخَرِينَ</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others</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يَسْمَحُ لَهُمْ</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allows them</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التَّعَاوُنِ المُبَاشِرِ</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direct cooperation</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المُوَظَّفُونَ</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employees</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مِنَ المَنْزِلِ</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from home</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هٰذَا النِّظَامِ</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this system</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أَبْطَأَ</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slower</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44</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D3-L02 · Workplace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D3-L02</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 some people prefer remote work?</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salary is higher</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saves time and gives more flexibility</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meet more colleagues</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 others choose the office?</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closer to home</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quieter</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direct cooperation with the team</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How often can Nour company staff work from home?</a:t>
            </a:r>
            <a:endParaRPr lang="en-US" sz="11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two days a week</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every day</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one day a month</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advantage of this system is stated?</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faster communication</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better (work–life) balance</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higher salary</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disadvantage is stated?</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communication may be slower</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hours are longer</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there is less flexibility</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text mainly about?</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advertising a job</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one worker’s day</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comparing remote and office work</a:t>
            </a:r>
            <a:endParaRPr lang="en-US" sz="12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44</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D3-L02 · Workplace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D3-L02</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 some people prefer remote work?</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salary is higher</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it saves time and gives more flexibility</a:t>
            </a:r>
            <a:endParaRPr lang="en-US" sz="11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00" dirty="0">
                <a:solidFill>
                  <a:srgbClr val="9AA1AB"/>
                </a:solidFill>
                <a:latin typeface="Calibri" pitchFamily="34" charset="0"/>
                <a:cs typeface="Amiri" pitchFamily="2" charset="-78"/>
              </a:rPr>
              <a:t>they meet more colleagues</a:t>
            </a:r>
            <a:endParaRPr lang="en-US" sz="120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يُوَفِّرُ الوَقْتَ وَيَمْنَحُهُمْ مَرُونَةً أَكْبَرَ</a:t>
            </a:r>
            <a:endParaRPr lang="ar-SA" sz="13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 others choose the office?</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closer to home</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quieter</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direct cooperation with the team</a:t>
            </a:r>
            <a:endParaRPr lang="en-US" sz="11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بِالتَّعَاوُنِ المُبَاشِرِ مَعَ الفَرِيقِ</a:t>
            </a:r>
            <a:endParaRPr lang="ar-SA" sz="13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How often can Nour company staff work from home?</a:t>
            </a:r>
            <a:endParaRPr lang="en-US" sz="11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two days a week</a:t>
            </a:r>
            <a:endParaRPr lang="en-US" sz="12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every day</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one day a month</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يَوْمَيْنِ فِي الأُسْبُوعِ</a:t>
            </a:r>
            <a:endParaRPr lang="ar-SA" sz="13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advantage of this system is stated?</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faster communication</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a better (work–life) balance</a:t>
            </a:r>
            <a:endParaRPr lang="en-US" sz="11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higher salary</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يُحَقِّقُ تَوَازُنًا أَفْضَلَ</a:t>
            </a:r>
            <a:endParaRPr lang="ar-SA" sz="13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disadvantage is stated?</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communication may be slower</a:t>
            </a:r>
            <a:endParaRPr lang="en-US" sz="11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hours are longer</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there is less flexibility</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التَّوَاصُلَ قَدْ يَكُونُ أَبْطَأَ</a:t>
            </a:r>
            <a:endParaRPr lang="ar-SA" sz="13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text mainly about?</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advertising a job</a:t>
            </a:r>
            <a:endParaRPr lang="en-US" sz="12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one worker’s day</a:t>
            </a:r>
            <a:endParaRPr lang="en-US" sz="125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comparing remote and office work</a:t>
            </a:r>
            <a:endParaRPr lang="en-US" sz="115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Both sides are compared.</a:t>
            </a:r>
            <a:endParaRPr lang="en-US" sz="10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44</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D3-L02 · Workplace</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D3-L03: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D3-L02</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D3-L03 · Skills and Qualities — What Makes a Good Worker?</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مَهَارَةٌ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skill</a:t>
            </a:r>
            <a:pPr indent="0" marL="0">
              <a:buNone/>
            </a:pPr>
            <a:r>
              <a:rPr lang="ar-SA" sz="1000" i="1" dirty="0">
                <a:solidFill>
                  <a:srgbClr val="5A6472"/>
                </a:solidFill>
                <a:latin typeface="Calibri" pitchFamily="34" charset="0"/>
                <a:ea typeface="Amiri" pitchFamily="2" charset="-78"/>
                <a:cs typeface="Amiri" pitchFamily="2" charset="-78"/>
              </a:rPr>
              <a:t>  pl. مَهَارَاتٌ</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خِبْرَةٌ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experience</a:t>
            </a:r>
            <a:pPr indent="0" marL="0">
              <a:buNone/>
            </a:pPr>
            <a:r>
              <a:rPr lang="ar-SA" sz="1000" i="1" dirty="0">
                <a:solidFill>
                  <a:srgbClr val="5A6472"/>
                </a:solidFill>
                <a:latin typeface="Calibri" pitchFamily="34" charset="0"/>
                <a:ea typeface="Amiri" pitchFamily="2" charset="-78"/>
                <a:cs typeface="Amiri" pitchFamily="2" charset="-78"/>
              </a:rPr>
              <a:t>  pl. خِبْرَاتٌ</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مَسْؤُولٌ</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responsible</a:t>
            </a:r>
            <a:pPr indent="0" marL="0">
              <a:buNone/>
            </a:pPr>
            <a:r>
              <a:rPr lang="ar-SA" sz="1000" i="1" dirty="0">
                <a:solidFill>
                  <a:srgbClr val="5A6472"/>
                </a:solidFill>
                <a:latin typeface="Calibri" pitchFamily="34" charset="0"/>
                <a:ea typeface="Amiri" pitchFamily="2" charset="-78"/>
                <a:cs typeface="Amiri" pitchFamily="2" charset="-78"/>
              </a:rPr>
              <a:t>  f. مَسْؤُولَةٌ · pl. مَسْؤُولُونَ</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مُنَظَّمٌ</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organised</a:t>
            </a:r>
            <a:pPr indent="0" marL="0">
              <a:buNone/>
            </a:pPr>
            <a:r>
              <a:rPr lang="ar-SA" sz="1000" i="1" dirty="0">
                <a:solidFill>
                  <a:srgbClr val="5A6472"/>
                </a:solidFill>
                <a:latin typeface="Calibri" pitchFamily="34" charset="0"/>
                <a:ea typeface="Amiri" pitchFamily="2" charset="-78"/>
                <a:cs typeface="Amiri" pitchFamily="2" charset="-78"/>
              </a:rPr>
              <a:t>  f. مُنَظَّمَةٌ · pl. مُنَظَّمُونَ</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القِيَادَةُ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leadership</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Name one skill a doctor needs and one a teacher needs.</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يَحْتَاجُ الطَّبِيبُ إِلَى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Learn the 9 work-condition phrases; write 5 sentences from the frames.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Compare two workplaces in 80–100 words with </a:t>
            </a:r>
            <a:pPr algn="l" indent="0" marL="0">
              <a:buNone/>
            </a:pPr>
            <a:r>
              <a:rPr lang="ar-SA" altLang="en-US" sz="1550" dirty="0">
                <a:solidFill>
                  <a:srgbClr val="1F2A37"/>
                </a:solidFill>
                <a:latin typeface="Amiri" pitchFamily="2" charset="-78"/>
                <a:ea typeface="Amiri" pitchFamily="2" charset="-78"/>
                <a:cs typeface="Amiri" pitchFamily="2" charset="-78"/>
              </a:rPr>
              <a:t>الَّذِي / الَّتِي</a:t>
            </a:r>
            <a:pPr algn="l" indent="0" marL="0">
              <a:buNone/>
            </a:pPr>
            <a:r>
              <a:rPr lang="en-US" sz="1200" dirty="0">
                <a:solidFill>
                  <a:srgbClr val="1F2A37"/>
                </a:solidFill>
                <a:latin typeface="Calibri" pitchFamily="34" charset="0"/>
                <a:cs typeface="Amiri" pitchFamily="2" charset="-78"/>
              </a:rPr>
              <a:t> and </a:t>
            </a:r>
            <a:pPr algn="l" indent="0" marL="0">
              <a:buNone/>
            </a:pPr>
            <a:r>
              <a:rPr lang="ar-SA" altLang="en-US" sz="1550" dirty="0">
                <a:solidFill>
                  <a:srgbClr val="1F2A37"/>
                </a:solidFill>
                <a:latin typeface="Amiri" pitchFamily="2" charset="-78"/>
                <a:ea typeface="Amiri" pitchFamily="2" charset="-78"/>
                <a:cs typeface="Amiri" pitchFamily="2" charset="-78"/>
              </a:rPr>
              <a:t>بَيْنَمَا</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compare two workplaces and justify your choice (100–120 words).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44</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D3-L02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700" b="1" dirty="0">
                <a:solidFill>
                  <a:srgbClr val="FFFFFF"/>
                </a:solidFill>
                <a:latin typeface="Cambria" pitchFamily="34" charset="0"/>
                <a:cs typeface="Amiri" pitchFamily="2" charset="-78"/>
              </a:rPr>
              <a:t>D3-L03 · Skills and Qualities — What Makes a Good Worker?</a:t>
            </a:r>
            <a:endParaRPr lang="en-US" sz="17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المَهَارَاتُ وَالمُؤَهِّلَاتُ</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the adjective agrees with the workplace — allaḏī (m.) / allatī (f.) — anna before a clause.</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44</Slides>
  <Notes>44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D3-L02 · The Workplace — Environments and Work Conditions</dc:title>
  <dc:subject>PptxGenJS Presentation</dc:subject>
  <dc:creator>Al Madina Online School · Arabic Department</dc:creator>
  <cp:lastModifiedBy>Al Madina Online School · Arabic Department</cp:lastModifiedBy>
  <cp:revision>1</cp:revision>
  <dcterms:created xsi:type="dcterms:W3CDTF">2026-10-11T06:40:42Z</dcterms:created>
  <dcterms:modified xsi:type="dcterms:W3CDTF">2026-10-11T06:40:42Z</dcterms:modified>
</cp:coreProperties>
</file>