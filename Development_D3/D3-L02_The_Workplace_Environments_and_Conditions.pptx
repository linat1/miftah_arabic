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D3-L02. The website lesson “The Workplace — Environments and Work Conditions”: vocabulary, grammar rules and quiz, patterns, common mistakes, sorter, listening, reading, speaking prompts and model, writing task and model, differentiation, final check and the lesson mission. Picture match: website visual game “The Workplace — Environments and Work Conditions”.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condition phrases + “He works in a modern office / a safe environment” + one advantage (مِنْ مَزَايَا … أَنَّ …). Develop: الَّذِي / الَّتِي and a contrast (بَيْنَمَا / وَلٰكِنَّ). Stretch: weigh two workplaces and choose one (عَلَى الرَّغْمِ مِنْ أَنَّ …).
• Built on D3-L01 (فِي + workplace). New: the workplace now gets an adjective that AGREES (مَكْتَبٌ حَدِيثٌ / شَرِكَةٌ حَدِيثَةٌ).
• مِنْ مَزَايَا … أَنَّ was taught in F6-L05 (towns): same structure, new topic.
• Vocabulary group 1 (workplaces) is review from D3-L01 — revise it quickly or set it as FLEX.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D3-L01. Questions 3–4 retrieve D3-L01. Question 5 retrieves F6-L05 (advantages of a town).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adjective follows the workplace and agrees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صنعت (industry) shares the root of مَصْنَعٌ (factory); توازن is identical. CAREFUL: Urdu مکتب is a (traditional) school; Arabic مَكْتَبٌ is an office or desk. رَاتِبٌ and سَنَوِيٌّ have no Urdu cognates — link them by meaning (تنخواہ، سالانہ).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(1 of 2)). Hear → Say → See → Use. Transliteration is printed for Core students (cover it for Develop/Stretch).
FLEX: teach if time allows; otherwise these are on the website vocabulary tab for homework.
Review from D3-L01 (FLEX): say each workplace with a new adjective — مَكْتَبٌ حَدِيثٌ، مَصْنَعٌ كَبِيرٌ، شَرِكَةٌ دَوْلِيَّةٌ.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(2 of 2)). Hear → Say → See → Use. Transliteration is printed for Core students (cover it for Develop/Stretch).
FLEX: teach if time allows; otherwise these are on the website vocabulary tab for homework.
Review from D3-L01 (FLEX): say each workplace with a new adjective — مَكْتَبٌ حَدِيثٌ، مَصْنَعٌ كَبِيرٌ، شَرِكَةٌ دَوْلِيَّةٌ.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Conditions and benefits (website vocabulary (1 of 2)). Hear → Say → See → Use. Transliteration is printed for Core students (cover it for Develop/Stretch).
The new words. Every phrase is noun + adjective: the adjective agrees (سَاعَاتٌ مَرِنَةٌ: a non-human plural takes a feminine singular adjective). مُجْزٍ (rewarding) loses its yāʾ like مُحَامٍ: f. مُجْزِيَةٌ.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Conditions and benefits (website vocabulary (2 of 2)). Hear → Say → See → Use. Transliteration is printed for Core students (cover it for Develop/Stretch).
The new words. Every phrase is noun + adjective: the adjective agrees (سَاعَاتٌ مَرِنَةٌ: a non-human plural takes a feminine singular adjective). مُجْزٍ (rewarding) loses its yāʾ like مُحَامٍ: f. مُجْزِيَةٌ.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(1 of 2)). Hear → Say → See → Use. Transliteration is printed for Core students (cover it for Develop/Stretch).
FLEX: teach if time allows; otherwise these are on the website vocabulary tab for homework.
Evaluation connectors (FLEX): the same D3 list. Today’s focus: بَيْنَمَا (whereas) and وَلٰكِنَّ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(2 of 2)). Hear → Say → See → Use. Transliteration is printed for Core students (cover it for Develop/Stretch).
FLEX: teach if time allows; otherwise these are on the website vocabulary tab for homework.
Evaluation connectors (FLEX): the same D3 list. Today’s focus: بَيْنَمَا (whereas) and وَلٰكِنَّ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“Place and condition” (يَعْمَلُ فِي + مَكَانٍ + صِفَةٍ: describe the location, then add an agreeing adjective) and “Relative clause” (الَّذِي for masculine and الَّتِي for feminine antecedents). Website examples: يَعْمَلُ فِي مَكْتَبٍ حَدِيثٍ · تَعْمَلُ فِي بِيئَةٍ آمِنَةٍ · المَكْتَبُ الَّذِي أَعْمَلُ فِيهِ · الشَّرِكَةُ الَّتِي تُوَفِّرُ تَدْرِيبًا.
Teacher additions: the adjective takes the noun’s case ending (فِي مَكْتَبٍ حَدِيثٍ: both -in after fī); the returning pronoun فِيهِ / فِيهَا. Core can stop at row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“Advantages and disadvantages” (a noun phrase followed by أَنَّ and a complete clause) and “Contrast” (بَيْنَمَا compares two situations; لٰكِنَّ qualifies a statement). Website examples: مِنْ مَزَايَا العَمَلِ أَنَّ سَاعَاتِهِ مَرِنَةٌ · مِنْ عُيُوبِهِ أَنَّهُ مُجْهِدٌ · الرَّاتِبُ مُرْتَفِعٌ، وَلٰكِنَّ السَّاعَاتِ طَوِيلَةٌ · أَعْمَلُ فِي مَكْتَبٍ، بَيْنَمَا يَعْمَلُ أَخِي فِي الهَوَاءِ الطَّلْقِ.
Stretch: after أَنَّ and لٰكِنَّ the noun takes -a (accusative): أَنَّ سَاعَاتِهِ (a feminine sound plural shows -i), لٰكِنَّ السَّاعَاتِ.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“وَصْفُ بِيئَةِ العَمَلِ وَالجُمَلُ المَوْصُولَةُ”
• Place and condition: Describe the location, then add an agreeing adjective.
• Relative clause: Use الذي for masculine and التي for feminine antecedents.
• Advantages and disadvantages: Use a noun phrase followed by أنَّ and a complete clause.
• Contrast: Use بينما to compare two situations and لكنّ to qualify a statement.
Website common error: Do not leave out أَنَّ after مِنْ مَزَايَا / مِنْ عُيُوبِ, and do not use الَّذِي with a feminine noun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from the website rules and the listening script (Samer on the building site). Think aloud: “Masculine or feminine place? Which clause? Where is my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Workplace — Environments and Work Conditions”)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أَعْمَلُ فِي مُسْتَشْفًى · أَعْمَلُ فِي مَدْرَسَةٍ · أَعْمَلُ مِنَ التَّاسِعَةِ إِلَى الخَامِسَةِ (from nine to five). Stretch: add an adjective to each card (مَصْنَعٌ كَبِيرٌ).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Workplace — Environments and Work Conditions”)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أَعْمَلُ فِي مُسْتَشْفًى · أَعْمَلُ فِي مَدْرَسَةٍ · أَعْمَلُ مِنَ التَّاسِعَةِ إِلَى الخَامِسَةِ (from nine to five). Stretch: add an adjective to each card (مَصْنَعٌ كَبِيرٌ).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work condition is usually an advantage or a disadvantage.
Then turn two items into sentences: مِنْ مَزَايَا العَمَلِ أَنَّ … · مِنْ عُيُوبِهِ أَنَّ … (Stretch: argue that one item could be both — long hours with a high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work condition is usually an advantage or a disadvantage.
Then turn two items into sentences: مِنْ مَزَايَا العَمَلِ أَنَّ … · مِنْ عُيُوبِهِ أَنَّ … (Stretch: argue that one item could be both — long hours with a high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تَعْمَلُ مَرْيَمُ فِي مُخْتَبَرٍ حَدِيثٍ مِنَ السَّاعَةِ الثَّامِنَةِ إِلَى الرَّابِعَةِ. تُحِبُّ بِيئَةَ العَمَلِ لِأَنَّهَا آمِنَةٌ وَمُنَظَّمَةٌ، وَلٰكِنَّ العَمَلَ يَحْتَاجُ إِلَى دِقَّةٍ شَدِيدَةٍ. أَمَّا سَامِرٌ فَيَعْمَلُ فِي مَوْقِعِ بِنَاءٍ. رَاتِبُهُ جَيِّدٌ، لٰكِنَّ عَمَلَهُ مُجْهِدٌ وَيَتَأَثَّرُ بِالطَّقْسِ.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عُيُوبُهُ؟ (And its disadvantages?)
B: مِنْ عُيُوبِهِ أَنَّ السَّاعَاتِ طَوِيلَةٌ، وَلٰكِنَّ الرَّاتِبَ مُرْتَفِعٌ. (One disadvantage is that the hours are long, but the salary is high.)
Teacher-written prompts and model (the website prompts for this lesson are generic). Model continues: A: وَمَا عُيُوبُهُ؟ B: مِنْ عُيُوبِهِ أَنَّ السَّاعَاتِ طَوِيلَةٌ، وَلٰكِنَّ الرَّاتِبَ مُرْتَفِعٌ. To a girl: أَيْنَ تُفَضِّلِينَ أَنْ 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two workplaces and explain which one you would prefer and why.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مَكْتَبٍ حَدِيثٍ، مَوْقِعِ بِنَاءٍ · المَكْتَبُ الَّذِي يَعْمَلُ فِيهِ · مِنْ مَزَايَاهُ أَنَّ … وَلٰكِنَّ عَمَلَهُ مُجْهِدٌ · أُفَضِّلُ … لِأَنَّنِي … · عَلَى الرَّغْمِ مِنْ أَنَّ … فَإِنَّهُ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(D3-L03 · Skills and Qualities — What Makes a Good Worker?) will spend class time USING this language, so students prepare it tonight — short, simple, easy to access (school guidance: “Simple, Short, Interesting, Relevant, Easy to access”). The five words come from the website D3-L03 vocabulary (skills and worker qualities).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The Workplace — Environments and Work Conditions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بِيئَةُ العَمَلِ — الأَمَاكِنُ وَظُرُوفُ العَمَلِ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where people work and what the conditions are like: an agreeing adjective (</a:t>
            </a:r>
            <a:pPr algn="l" indent="0" marL="0">
              <a:buNone/>
            </a:pPr>
            <a:r>
              <a:rPr lang="ar-SA" altLang="en-US" sz="1800" dirty="0">
                <a:solidFill>
                  <a:srgbClr val="C6D2E6"/>
                </a:solidFill>
                <a:latin typeface="Amiri" pitchFamily="34" charset="0"/>
                <a:ea typeface="Amiri" pitchFamily="34" charset="-122"/>
                <a:cs typeface="Amiri" pitchFamily="34" charset="-120"/>
              </a:rPr>
              <a:t>مَكْتَبٌ حَدِيثٌ</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بِيئَةٌ آمِنَةٌ</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الَّذِي / الَّتِي</a:t>
            </a:r>
            <a:pPr algn="l" indent="0" marL="0">
              <a:buNone/>
            </a:pPr>
            <a:r>
              <a:rPr lang="en-US" sz="1400" dirty="0">
                <a:solidFill>
                  <a:srgbClr val="C6D2E6"/>
                </a:solidFill>
                <a:latin typeface="Calibri" pitchFamily="34" charset="0"/>
                <a:ea typeface="Calibri" pitchFamily="34" charset="-122"/>
                <a:cs typeface="Calibri" pitchFamily="34" charset="-120"/>
              </a:rPr>
              <a:t>, advantages and disadvantages with </a:t>
            </a:r>
            <a:pPr algn="l" indent="0" marL="0">
              <a:buNone/>
            </a:pPr>
            <a:r>
              <a:rPr lang="ar-SA" altLang="en-US" sz="1800" dirty="0">
                <a:solidFill>
                  <a:srgbClr val="C6D2E6"/>
                </a:solidFill>
                <a:latin typeface="Amiri" pitchFamily="34" charset="0"/>
                <a:ea typeface="Amiri" pitchFamily="34" charset="-122"/>
                <a:cs typeface="Amiri" pitchFamily="34" charset="-120"/>
              </a:rPr>
              <a:t>أَنَّ</a:t>
            </a:r>
            <a:pPr algn="l" indent="0" marL="0">
              <a:buNone/>
            </a:pPr>
            <a:r>
              <a:rPr lang="en-US" sz="1400" dirty="0">
                <a:solidFill>
                  <a:srgbClr val="C6D2E6"/>
                </a:solidFill>
                <a:latin typeface="Calibri" pitchFamily="34" charset="0"/>
                <a:ea typeface="Calibri" pitchFamily="34" charset="-122"/>
                <a:cs typeface="Calibri" pitchFamily="34" charset="-120"/>
              </a:rPr>
              <a:t>, and a contrast.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D3-L02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Workplace + adjective, the who / which clause, and pros and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advantages / disadvantages,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رَاتِبٌ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office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عَمَلٌ مُجْزٍ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rewarding 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tiring 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part-time 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تَكُونُ مُحَاسِبَةٌ.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lawyer work?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المَصْنَعِ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المُخْتَبَرِ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المَحْكَمَةِ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 …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عُيُوبِ … 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رَاتِبٌ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office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عَمَلٌ مُجْزٍ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rewarding work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tiring 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part-time 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مُحَاسِبٌ.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تَكُونُ مُحَاسِبَةٌ.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 مُحَاسِبَةٌ.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D3-L01: feminine, no “is”.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lawyer work?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المَصْنَعِ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المُخْتَبَرِ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المَحْكَمَةِ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D3-L01 workplaces.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 …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عُيُوبِ … 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سَبِيلِ المِثَالِ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F6-L05: the same frame for towns.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adjective follows the workplace and agrees with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مَكْتَبٌ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حَدِيثٌ</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بِيئَةٌ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آمِنَةٌ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الشَّرِكَةُ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الَّتِي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أَعْمَلُ فِيهَا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workplace with an adjective that agrees.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work conditions and benefits (hours, salary, team, leave).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Join ideas with </a:t>
            </a:r>
            <a:pPr algn="l" indent="0" marL="0">
              <a:buNone/>
            </a:pPr>
            <a:r>
              <a:rPr lang="ar-SA" altLang="en-US" sz="1700" dirty="0">
                <a:solidFill>
                  <a:srgbClr val="1F2A37"/>
                </a:solidFill>
                <a:latin typeface="Amiri" pitchFamily="34" charset="0"/>
                <a:ea typeface="Amiri" pitchFamily="34" charset="-122"/>
                <a:cs typeface="Amiri" pitchFamily="34" charset="-120"/>
              </a:rPr>
              <a:t>الَّذِي / الَّتِي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Weigh advantages and disadvantages with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and a contrast.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a workplace with an adjective.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one advantage of a job.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place where / the company which.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two jobs.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weigh two workplaces and choose one.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although … in a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Workplaces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Conditions and benefits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رَاتِبٌ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‎تنخواہ‎ </a:t>
            </a:r>
            <a:pPr indent="0" marL="0">
              <a:buNone/>
            </a:pPr>
            <a:r>
              <a:rPr lang="en-US" sz="950" b="1" dirty="0">
                <a:solidFill>
                  <a:srgbClr val="2E8B57"/>
                </a:solidFill>
                <a:latin typeface="Calibri" pitchFamily="34" charset="0"/>
                <a:ea typeface="Calibri" pitchFamily="34" charset="-122"/>
                <a:cs typeface="Calibri" pitchFamily="34" charset="-120"/>
              </a:rPr>
              <a:t> tankhwāh · salary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مَكْتَبٌ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‎مکتب‎ </a:t>
            </a:r>
            <a:pPr indent="0" marL="0">
              <a:buNone/>
            </a:pPr>
            <a:r>
              <a:rPr lang="en-US" sz="950" b="1" dirty="0">
                <a:solidFill>
                  <a:srgbClr val="2E8B57"/>
                </a:solidFill>
                <a:latin typeface="Calibri" pitchFamily="34" charset="0"/>
                <a:ea typeface="Calibri" pitchFamily="34" charset="-122"/>
                <a:cs typeface="Calibri" pitchFamily="34" charset="-120"/>
              </a:rPr>
              <a:t> maktab · Urdu: school · Arabic: office / desk</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مَصْنَعٌ</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‎صنعت‎ </a:t>
            </a:r>
            <a:pPr indent="0" marL="0">
              <a:buNone/>
            </a:pPr>
            <a:r>
              <a:rPr lang="en-US" sz="950" b="1" dirty="0">
                <a:solidFill>
                  <a:srgbClr val="2E8B57"/>
                </a:solidFill>
                <a:latin typeface="Calibri" pitchFamily="34" charset="0"/>
                <a:ea typeface="Calibri" pitchFamily="34" charset="-122"/>
                <a:cs typeface="Calibri" pitchFamily="34" charset="-120"/>
              </a:rPr>
              <a:t> sanʿat · industry → factory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سَنَوِيَّةٌ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‎سال / سالانہ‎ </a:t>
            </a:r>
            <a:pPr indent="0" marL="0">
              <a:buNone/>
            </a:pPr>
            <a:r>
              <a:rPr lang="en-US" sz="950" b="1" dirty="0">
                <a:solidFill>
                  <a:srgbClr val="2E8B57"/>
                </a:solidFill>
                <a:latin typeface="Calibri" pitchFamily="34" charset="0"/>
                <a:ea typeface="Calibri" pitchFamily="34" charset="-122"/>
                <a:cs typeface="Calibri" pitchFamily="34" charset="-120"/>
              </a:rPr>
              <a:t> sālāna · annual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تَوَازُنٌ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‎توازن‎ </a:t>
            </a:r>
            <a:pPr indent="0" marL="0">
              <a:buNone/>
            </a:pPr>
            <a:r>
              <a:rPr lang="en-US" sz="950" b="1" dirty="0">
                <a:solidFill>
                  <a:srgbClr val="2E8B57"/>
                </a:solidFill>
                <a:latin typeface="Calibri" pitchFamily="34" charset="0"/>
                <a:ea typeface="Calibri" pitchFamily="34" charset="-122"/>
                <a:cs typeface="Calibri" pitchFamily="34" charset="-120"/>
              </a:rPr>
              <a:t> tawāzun · balance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mad-ra-sa-tun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مَصْنَعٌ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maṣ-na-ʿun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مُخْتَبَرٌ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laboratory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mukh-ta-ba-run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مَحْكَمَةٌ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maḥ-ka-ma-tun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mat-ja-run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building 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remotely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outdoors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Conditions and benefits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دَوَامٌ كَامِلٌ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full-time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da-wā-mun kā-mi-lun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دَوَامٌ جُزْئِيٌّ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part-time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da-wā-mun juz-ʾiy-yun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سَاعَاتٌ مَرِنَةٌ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flexible hours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sā-ʿā-tun ma-ri-na-tun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رَاتِبٌ مُرْتَفِعٌ</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high salary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rā-ti-bun mur-ta-fi-ʿun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رَاتِبٌ مُنْخَفِضٌ</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low salary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rā-ti-bun mun-kha-fi-ḍun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 مُجْهِدٌ</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tiring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ʿa-ma-lun muj-hi-dun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Conditions and benefits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 مُجْزٍ</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rewarding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ʿa-ma-lun muj-zin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بِيئَةٌ آمِنَةٌ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safe environment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bī-ʾa-tun ā-mi-na-tun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فَرِيقُ عَمَلٍ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team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fa-rī-qu ʿa-ma-lin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إِجَازَةٌ سَنَوِيَّةٌ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annual leave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i-jā-za-tun sa-na-wiy-ya-tun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فُرَصُ التَّرَقِّي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promotion opportunities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fu-ra-ṣu at-ta-raq-qī</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تَوَازُنٌ بَيْنَ العَمَلِ وَالحَيَاةِ</a:t>
            </a:r>
            <a:endParaRPr lang="ar-SA" sz="29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work-life balance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ta-wā-zu-nun bay-na al-ʿa-ma-li wāl-ḥa-yā-ti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FOCUS · PART 1 · PLACE + CONDITION, AND WHICH / WHERE (WEBSITE RULES 1–2)</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Describe the place, then join a clause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الَّذِي · 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noun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noun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يَعْمَلُ فِي مَكْتَبٍ </a:t>
            </a:r>
            <a:pPr rtl="1" algn="ctr" indent="0" marL="0">
              <a:buNone/>
            </a:pPr>
            <a:r>
              <a:rPr lang="ar-SA" altLang="en-US" sz="2100" b="1" dirty="0">
                <a:solidFill>
                  <a:srgbClr val="1D5FBF"/>
                </a:solidFill>
                <a:latin typeface="Amiri" pitchFamily="34" charset="0"/>
                <a:ea typeface="Amiri" pitchFamily="34" charset="-122"/>
                <a:cs typeface="Amiri" pitchFamily="34" charset="-120"/>
              </a:rPr>
              <a:t>حَدِيثٍ</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a modern office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تَعْمَلُ فِي بِيئَةٍ </a:t>
            </a:r>
            <a:pPr rtl="1" algn="ctr" indent="0" marL="0">
              <a:buNone/>
            </a:pPr>
            <a:r>
              <a:rPr lang="ar-SA" altLang="en-US" sz="2100" b="1" dirty="0">
                <a:solidFill>
                  <a:srgbClr val="D6336C"/>
                </a:solidFill>
                <a:latin typeface="Amiri" pitchFamily="34" charset="0"/>
                <a:ea typeface="Amiri" pitchFamily="34" charset="-122"/>
                <a:cs typeface="Amiri" pitchFamily="34" charset="-120"/>
              </a:rPr>
              <a:t>آمِنَةٍ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a safe environment</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agrees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مَصْنَعٌ </a:t>
            </a:r>
            <a:pPr rtl="1" algn="ctr" indent="0" marL="0">
              <a:buNone/>
            </a:pPr>
            <a:r>
              <a:rPr lang="ar-SA" altLang="en-US" sz="2100" b="1" dirty="0">
                <a:solidFill>
                  <a:srgbClr val="1D5FBF"/>
                </a:solidFill>
                <a:latin typeface="Amiri" pitchFamily="34" charset="0"/>
                <a:ea typeface="Amiri" pitchFamily="34" charset="-122"/>
                <a:cs typeface="Amiri" pitchFamily="34" charset="-120"/>
              </a:rPr>
              <a:t>كَبِيرٌ</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big factory</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شَرِكَةٌ </a:t>
            </a:r>
            <a:pPr rtl="1" algn="ctr" indent="0" marL="0">
              <a:buNone/>
            </a:pPr>
            <a:r>
              <a:rPr lang="ar-SA" altLang="en-US" sz="2100" b="1" dirty="0">
                <a:solidFill>
                  <a:srgbClr val="D6336C"/>
                </a:solidFill>
                <a:latin typeface="Amiri" pitchFamily="34" charset="0"/>
                <a:ea typeface="Amiri" pitchFamily="34" charset="-122"/>
                <a:cs typeface="Amiri" pitchFamily="34" charset="-120"/>
              </a:rPr>
              <a:t>دَوْلِيَّةٌ</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 international company</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 / -atun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المَكْتَبُ </a:t>
            </a:r>
            <a:pPr rtl="1" algn="ctr" indent="0" marL="0">
              <a:buNone/>
            </a:pPr>
            <a:r>
              <a:rPr lang="ar-SA" altLang="en-US" sz="2100" b="1" dirty="0">
                <a:solidFill>
                  <a:srgbClr val="1D5FBF"/>
                </a:solidFill>
                <a:latin typeface="Amiri" pitchFamily="34" charset="0"/>
                <a:ea typeface="Amiri" pitchFamily="34" charset="-122"/>
                <a:cs typeface="Amiri" pitchFamily="34" charset="-120"/>
              </a:rPr>
              <a:t>الَّذِي</a:t>
            </a:r>
            <a:pPr rtl="1" algn="ctr" indent="0" marL="0">
              <a:buNone/>
            </a:pPr>
            <a:r>
              <a:rPr lang="ar-SA" altLang="en-US" sz="2100" b="1" dirty="0">
                <a:solidFill>
                  <a:srgbClr val="1B3B6F"/>
                </a:solidFill>
                <a:latin typeface="Amiri" pitchFamily="34" charset="0"/>
                <a:ea typeface="Amiri" pitchFamily="34" charset="-122"/>
                <a:cs typeface="Amiri" pitchFamily="34" charset="-120"/>
              </a:rPr>
              <a:t> أَعْمَلُ فِيهِ</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office (which) I work in</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الشَّرِكَةُ </a:t>
            </a:r>
            <a:pPr rtl="1" algn="ctr" indent="0" marL="0">
              <a:buNone/>
            </a:pPr>
            <a:r>
              <a:rPr lang="ar-SA" altLang="en-US" sz="2100" b="1" dirty="0">
                <a:solidFill>
                  <a:srgbClr val="D6336C"/>
                </a:solidFill>
                <a:latin typeface="Amiri" pitchFamily="34" charset="0"/>
                <a:ea typeface="Amiri" pitchFamily="34" charset="-122"/>
                <a:cs typeface="Amiri" pitchFamily="34" charset="-120"/>
              </a:rPr>
              <a:t>الَّتِي</a:t>
            </a:r>
            <a:pPr rtl="1" algn="ctr" indent="0" marL="0">
              <a:buNone/>
            </a:pPr>
            <a:r>
              <a:rPr lang="ar-SA" altLang="en-US" sz="2100" b="1" dirty="0">
                <a:solidFill>
                  <a:srgbClr val="1B3B6F"/>
                </a:solidFill>
                <a:latin typeface="Amiri" pitchFamily="34" charset="0"/>
                <a:ea typeface="Amiri" pitchFamily="34" charset="-122"/>
                <a:cs typeface="Amiri" pitchFamily="34" charset="-120"/>
              </a:rPr>
              <a:t> تُوَفِّرُ تَدْرِيبًا</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company which offers training</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allaḏī · allatī</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المَكْتَبُ الَّذِي أَعْمَلُ </a:t>
            </a:r>
            <a:pPr rtl="1" algn="ctr" indent="0" marL="0">
              <a:buNone/>
            </a:pPr>
            <a:r>
              <a:rPr lang="ar-SA" altLang="en-US" sz="2100" b="1" dirty="0">
                <a:solidFill>
                  <a:srgbClr val="1D5FBF"/>
                </a:solidFill>
                <a:latin typeface="Amiri" pitchFamily="34" charset="0"/>
                <a:ea typeface="Amiri" pitchFamily="34" charset="-122"/>
                <a:cs typeface="Amiri" pitchFamily="34" charset="-120"/>
              </a:rPr>
              <a:t>فِيهِ</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it (m.)</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الشَّرِكَةُ الَّتِي أَعْمَلُ </a:t>
            </a:r>
            <a:pPr rtl="1" algn="ctr" indent="0" marL="0">
              <a:buNone/>
            </a:pPr>
            <a:r>
              <a:rPr lang="ar-SA" altLang="en-US" sz="2100" b="1" dirty="0">
                <a:solidFill>
                  <a:srgbClr val="D6336C"/>
                </a:solidFill>
                <a:latin typeface="Amiri" pitchFamily="34" charset="0"/>
                <a:ea typeface="Amiri" pitchFamily="34" charset="-122"/>
                <a:cs typeface="Amiri" pitchFamily="34" charset="-120"/>
              </a:rPr>
              <a:t>فِيهَا</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it (f.)</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fīhi · fīhā</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Relative clauses need a “the” noun: al-maktab allaḏī … — and fīhi / fīhā points back to the place.</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PROS, CONS AND CONTRAST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Weigh it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مَزَايَا · عُيُوبٌ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ADVANTAGE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مَزَايَا …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مِنْ مَزَايَا العَمَلِ أَنَّ سَاعَاتِهِ مَرِنَةٌ.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advantage of the job is that its hours are flexible.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a full clause.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DISADVANTAGE · CORE</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عُيُوبِهِ أَنَّهُ</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مِنْ عُيُوبِهِ أَنَّهُ مُجْهِدٌ.</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of its disadvantages is that it is tiring.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annahu = that it (m.).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وَلٰكِنَّ · 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الرَّاتِبُ مُرْتَفِعٌ، وَلٰكِنَّ السَّاعَاتِ طَوِيلَةٌ.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salary is high, but the hours are long.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lākinna + noun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clause after min mazāyā needs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مِنْ مَزَايَا العَمَلِ أَنَّ سَاعَاتِهِ مَرِنَةٌ.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مِنْ مَزَايَا العَمَلِ سَاعَاتُهُ مَرِنَةٌ.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Work conditions and relative clauses</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وَصْفُ بِيئَةِ العَمَلِ وَالجُمَلُ المَوْصُولَةُ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Place and condition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يَعْمَلُ فِي + مَكَانٍ + صِفَةٍ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يَعْمَلُ فِي مَكْتَبٍ حَدِيثٍ.   ·   تَعْمَلُ فِي بِيئَةٍ آمِنَةٍ.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Relative clause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مَكَانٌ الَّذِي / بِيئَةٌ الَّتِي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المَكْتَبُ الَّذِي أَعْمَلُ فِيهِ   ·   الشَّرِكَةُ الَّتِي تُوَفِّرُ تَدْرِيبًا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Advantages and disadvantages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مَزَايَا ... أَنَّ / مِنْ عُيُوبِ ... أَنَّ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مَزَايَا العَمَلِ أَنَّ سَاعَاتِهِ مَرِنَةٌ.   ·   مِنْ عُيُوبِهِ أَنَّهُ مُجْهِدٌ.</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Contrast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بَيْنَمَا / وَلٰكِنَّ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الرَّاتِبُ مُرْتَفِعٌ، وَلٰكِنَّ السَّاعَاتِ طَوِيلَةٌ.   ·   أَعْمَلُ فِي مَكْتَبٍ، بَيْنَمَا يَعْمَلُ أَخِي فِي الهَوَاءِ الطَّلْقِ.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تَعْمَلُ أُخْتِي فِي بِيئَةٍ ___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آمِنٍ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آمِنَةٍ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الشَّرِكَةُ ___ أَعْمَلُ فِيهَا كَبِيرَةٌ.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مَزَايَا العَمَلِ ___ سَاعَاتِهِ مَرِنَةٌ.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compares two people’s situations?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إِضَافَةً إِلَى ذٰلِكَ</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تَعْمَلُ أُخْتِي فِي بِيئَةٍ ___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آمِنٍ</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آمِنَةٍ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bīʾa is feminine → āminatin.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الشَّرِكَةُ ___ أَعْمَلُ فِيهَا كَبِيرَةٌ.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sharika is feminine → allatī.</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مَزَايَا العَمَلِ ___ سَاعَاتِهِ مَرِنَةٌ.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clause after min mazāyā needs anna.</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compares two people’s situations?</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إِضَافَةً إِلَى ذٰلِكَ</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baynamā = whereas.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compare two workplaces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Place + adjective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يَعْمَلُ أَبِي فِي مَكْتَبٍ </a:t>
            </a:r>
            <a:pPr rtl="1" algn="ctr" indent="0" marL="0">
              <a:buNone/>
            </a:pPr>
            <a:r>
              <a:rPr lang="ar-SA" altLang="en-US" sz="2200" b="1" dirty="0">
                <a:solidFill>
                  <a:srgbClr val="1D5FBF"/>
                </a:solidFill>
                <a:latin typeface="Amiri" pitchFamily="34" charset="0"/>
                <a:ea typeface="Amiri" pitchFamily="34" charset="-122"/>
                <a:cs typeface="Amiri" pitchFamily="34" charset="-120"/>
              </a:rPr>
              <a:t>حَدِيثٍ</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maktab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Which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المَكْتَبُ </a:t>
            </a:r>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الَّذِي</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يَعْمَلُ فِيهِ هَادِئٌ.</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allaḏī + fīhi.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يَعْمَلُ خَالِي فِي مَوْقِعِ بِنَاءٍ.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situation.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Pros and cons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رَاتِبُهُ مُرْتَفِعٌ،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وَلٰكِنَّ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عَمَلَهُ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مُجْهِدٌ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Qualify with but.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PLACE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يَعْمَلُ أَبِي فِي مَكْتَبٍ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حَدِيثٍ</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وَسَطِ المَدِينَةِ،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يَعْمَلُ خَالِي فِي مَوْقِعِ بِنَاءٍ فِي الهَوَاءِ الطَّلْقِ. المَكْتَبُ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الَّذِي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يَعْمَلُ فِيهِ أَبِي هَادِئٌ وَآمِنٌ، وَمِنْ مَزَايَاهُ أَنَّ السَّاعَاتِ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مَرِنَةٌ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أَمَّا خَالِي فَرَاتِبُهُ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مُرْتَفِعٌ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وَلٰكِنَّ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عَمَلَهُ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مُجْهِدٌ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وَيَتَأَثَّرُ بِالطَّقْسِ.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father works in a modern office in the city centre, whereas my uncle works on a building site outdoors. The office my father works in is quiet and safe, and one of its advantages is that the hours are flexible. As for my uncle, his salary is high, but his work is tiring and affected by the weather.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يَعْمَلُ أَبِي فِي مَكْتَبٍ حَدِيثٍ.</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father works in a modern office.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Place + agreeing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الشَّرِكَةُ الَّتِي أَعْمَلُ فِيهَا كَبِيرَةٌ.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company I work in is big.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allatī for a feminine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مَزَايَا العَمَلِ أَنَّ سَاعَاتِهِ مَرِنَةٌ.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One advantage of the job is that its hours are flexible.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anna + clause.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الرَّاتِبُ مُرْتَفِعٌ، وَلٰكِنَّ السَّاعَاتِ طَوِيلَةٌ.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salary is high, but the hours are long.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Qualify with but.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WORKPLACE — ENVIRONMENTS AND WORK CONDITIONS”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Where do I work?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بِيئَةُ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office · team</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factory · machines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home · laptop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مِنَ المَنْزِلِ.</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فِي مَكْتَبٍ حَدِيثٍ.</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فِي مَصْنَعٍ.</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بِيئَةُ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office · team</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أَعْمَلُ فِي مَكْتَبٍ حَدِيثٍ.</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work in a modern office.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factory · machines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أَعْمَلُ فِي مَصْنَعٍ.</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work in a factory.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home · laptop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أَعْمَلُ مِنَ المَنْزِلِ.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work from home.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Advantage or disadvantage?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مُرْتَفِعٌ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مَرِنَةٌ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عَمَلٌ مُجْزٍ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بِيئَةٌ آمِنَةٌ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فُرَصُ التَّرَقِّي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مُنْخَفِضٌ</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عَمَلٌ مُجْهِدٌ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طَوِيلَةٌ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تَوَاصُلٌ بَطِيءٌ</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Advantage</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Disadvantage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Advantage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مُرْتَفِعٌ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مَرِنَةٌ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عَمَلٌ مُجْزٍ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بِيئَةٌ آمِنَةٌ</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فُرَصُ التَّرَقِّي</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Disadvantage</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مُنْخَفِضٌ</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عَمَلٌ مُجْهِدٌ</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طَوِيلَةٌ</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تَوَاصُلٌ بَطِيءٌ</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المَكْتَبُ ___ أَعْمَلُ فِيهِ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دَوَامٌ جُزْئِيٌّ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full-time work</a:t>
            </a:r>
            <a:endParaRPr lang="en-US" sz="12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part-time work</a:t>
            </a:r>
            <a:endParaRPr lang="en-US" sz="12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annual leave</a:t>
            </a:r>
            <a:endParaRPr lang="en-US" sz="12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usually a disadvantage?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 مُجْزٍ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 مُجْهِدٌ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سَاعَاتٌ مَرِنَةٌ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makes sense.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الرَّاتِبُ مُرْتَفِعٌ، لِأَنَّ السَّاعَاتِ طَوِيلَةٌ.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الرَّاتِبُ مُرْتَفِعٌ، لِذٰلِكَ السَّاعَاتُ قَصِيرَةٌ.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الرَّاتِبُ مُرْتَفِعٌ، وَلٰكِنَّ السَّاعَاتِ طَوِيلَةٌ.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المَكْتَبُ ___ أَعْمَلُ فِيهِ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الَّذِي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maktab is masculine → allaḏī.</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دَوَامٌ جُزْئِيٌّ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full-time work</a:t>
            </a:r>
            <a:endParaRPr lang="en-US" sz="125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part-time work</a:t>
            </a:r>
            <a:endParaRPr lang="en-US" sz="125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annual leave</a:t>
            </a:r>
            <a:endParaRPr lang="en-US" sz="125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juzʾ = part.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usually a disadvantage?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عَمَلٌ مُجْزٍ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عَمَلٌ مُجْهِدٌ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سَاعَاتٌ مَرِنَةٌ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mujhid = tiring.</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makes sense.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الرَّاتِبُ مُرْتَفِعٌ، لِأَنَّ السَّاعَاتِ طَوِيلَةٌ.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الرَّاتِبُ مُرْتَفِعٌ، لِذٰلِكَ السَّاعَاتُ قَصِيرَةٌ.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الرَّاتِبُ مُرْتَفِعٌ، وَلٰكِنَّ السَّاعَاتِ طَوِيلَةٌ.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contrast needs “but”, not “because” or “so”.</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تَعْمَلُ فِي بِيئَةٍ آمِنٍ.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bīʾa: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الشَّرِكَةُ الَّذِي أَعْمَلُ فِيهَا كَبِيرَةٌ.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sharika → allaḏī or allatī?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مِنْ مَزَايَا العَمَلِ سَاعَاتُهُ مَرِنَةٌ.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تَعْمَلُ فِي بِيئَةٍ آمِنٍ.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تَعْمَلُ فِي بِيئَةٍ آمِنَةٍ.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 agrees with feminine bīʾa.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الشَّرِكَةُ الَّذِي أَعْمَلُ فِيهَا كَبِيرَةٌ.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الشَّرِكَةُ الَّتِي أَعْمَلُ فِيهَا كَبِيرَةٌ.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noun → allatī.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مِنْ مَزَايَا العَمَلِ سَاعَاتُهُ مَرِنَةٌ.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مِنْ مَزَايَا العَمَلِ أَنَّ سَاعَاتِهِ مَرِنَةٌ.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Add anna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contrasting workplaces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Maryam work?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modern laboratory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a building site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her hours?</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9:00 to 5:00</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 to 2:00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 to 4:00</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the environment?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high</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outdoors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safe and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her work need?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great precision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physical strength</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lot of travel</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Samer work?</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laboratory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a building site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an office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disadvantage of his work?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tiring and affected by the weather</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low</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hours are short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مُخْتَبَرٍ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الثَّامِنَةِ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مَوْقِعِ بِنَاءٍ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تَعْمَلُ مَرْيَمُ فِي مُخْتَبَرٍ حَدِيثٍ مِنَ السَّاعَةِ الثَّامِنَةِ إِلَى الرَّابِعَةِ.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 works in a modern laboratory from eight o’clock to four.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بِيئَةَ العَمَلِ لِأَنَّهَا آمِنَةٌ وَمُنَظَّمَةٌ،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loves the work environment because it is safe and organised,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 العَمَلَ يَحْتَاجُ إِلَى دِقَّةٍ شَدِيدَةٍ.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the work needs great precision.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سَامِرٌ فَيَعْمَلُ فِي مَوْقِعِ بِنَاءٍ.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Samer, he works on a building site.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رَاتِبُهُ جَيِّدٌ، لٰكِنَّ عَمَلَهُ مُجْهِدٌ وَيَتَأَثَّرُ بِالطَّقْسِ.</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salary is good, but his work is tiring and affected by the weather.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Maryam work?</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modern laboratory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hospital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a building site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مُخْتَبَرٍ حَدِيثٍ</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her hours?</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9:00 to 5:00</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8:00 to 2:00</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8:00 to 4:00</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السَّاعَةِ الثَّامِنَةِ إِلَى الرَّابِعَةِ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the environment?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high</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outdoors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safe and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آمِنَةٌ وَمُنَظَّمَةٌ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her work need?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great precision</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physical strength</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lot of travel</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يَحْتَاجُ إِلَى دِقَّةٍ شَدِيدَةٍ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Samer work?</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laboratory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a building site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an office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مَوْقِعِ بِنَاءٍ</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disadvantage of his work?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tiring and affected by the weather</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low</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hours are short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عَمَلَهُ مُجْهِدٌ وَيَتَأَثَّرُ بِالطَّقْسِ</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مُخْتَبَرٍ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الثَّامِنَةِ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مَوْقِعِ بِنَاءٍ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would you like to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مَكَانَ عَمَلِ أَحَدِ أَفْرَادِ عَائِلَتِكَ.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تُحِبُّ أَنْ تَعْمَلَ: فِي مَكْتَبٍ أَمْ فِي الهَوَاءِ الطَّلْقِ؟</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مَزَايَا العَمَلِ عَنْ بُعْدٍ وَمَا عُيُوبُهُ؟</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الرَّاتِبُ أَهَمُّ مِنْ بِيئَةِ العَمَلِ؟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يَعْمَلُ / تَعْمَلُ فِي ___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أُحِبُّ أَنْ أَعْمَلَ فِي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مِنْ مَزَايَاهُ أَنَّ ___ ، وَمِنْ عُيُوبِهِ أَنَّ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رَأْيِي ___ أَهَمُّ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تُفَضِّلُ أَنْ تَعْمَلَ؟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would you prefer to work?</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مَكْتَبًا حَدِيثًا لِأَنَّ بِيئَتَهُ آمِنَةٌ وَمُنَظَّمَةٌ.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prefer a modern office because its environment is safe and organised.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workplaces, each with an adjective, plus one advantage with مِنْ مَزَايَا … أَنَّ.</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workplaces with الَّذِي / الَّتِي, بَيْنَمَا and وَلٰكِنَّ, and choose one.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two workplaces, weigh pros and cons, justify your choice with although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الشَّرِكَةُ الَّتِي ______ فِيهَا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company (which) … works in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بَيْنَمَا يَعْمَلُ خَالِي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whereas my uncle works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الرَّاتِبُ ______ ، وَلٰكِنَّ السَّاعَاتِ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salary is …, but the hours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أَبِي فِي مَكْتَبٍ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works in a modern office.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تَعْمَلُ خَالَتِي فِي مُسْتَشْفًى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aunt works in a big hospital.</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مَزَايَا العَمَلِ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advantage of the job is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عُيُوبِهِ أَنَّهُ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disadvantage is that it is tiring.</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مَكْتَبٌ حَدِيثٌ  ·  بِيئَةٌ آمِنَةٌ  ·  سَاعَاتٌ مَرِنَةٌ  ·  رَاتِبٌ مُرْتَفِعٌ  ·  عَمَلٌ مُجْهِدٌ  ·  عَمَلٌ مُجْزٍ  ·  فَرِيقُ عَمَلٍ  ·  الَّذِي  ·  الَّتِي  ·  أَنَّ  ·  بَيْنَمَا  ·  وَلٰكِنَّ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Compare two workplaces and explain which one you would prefer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يُوَفِّرُ الوَقْتَ</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saves time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التَّعَاوُنُ المُبَاشِرُ مَعَ الفَرِيقِ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direct cooperation with the team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يُحَقِّقُ تَوَازُنًا أَفْضَلَ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achieves a better balance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يَتَأَثَّرُ بِالطَّقْسِ</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affected by the weather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 فَإِنَّ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 (still)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34" charset="0"/>
                <a:ea typeface="Amiri" pitchFamily="34" charset="-122"/>
                <a:cs typeface="Amiri" pitchFamily="34" charset="-120"/>
              </a:rPr>
              <a:t>يَعْمَلُ أَبِي فِي مَكْتَبٍ حَدِيثٍ فِي وَسَطِ المَدِينَةِ، بَيْنَمَا يَعْمَلُ خَالِي فِي مَوْقِعِ بِنَاءٍ فِي الهَوَاءِ الطَّلْقِ. المَكْتَبُ الَّذِي يَعْمَلُ فِيهِ أَبِي هَادِئٌ وَآمِنٌ، وَمِنْ مَزَايَاهُ أَنَّ السَّاعَاتِ مَرِنَةٌ. أَمَّا خَالِي فَرَاتِبُهُ مُرْتَفِعٌ، وَلٰكِنَّ عَمَلَهُ مُجْهِدٌ وَيَتَأَثَّرُ بِالطَّقْسِ. فِي رَأْيِي، أُفَضِّلُ العَمَلَ فِي مَكْتَبٍ لِأَنَّنِي أُحِبُّ البِيئَةَ المُنَظَّمَةَ وَالعَمَلَ مَعَ فَرِيقٍ. عَلَى الرَّغْمِ مِنْ أَنَّ العَمَلَ فِي الهَوَاءِ الطَّلْقِ صِحِّيٌّ، فَإِنَّهُ صَعْبٌ فِي الشِّتَاءِ. لِذٰلِكَ أُرِيدُ وَظِيفَةً تُحَقِّقُ تَوَازُنًا بَيْنَ العَمَلِ وَالحَيَاةِ.</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father works in a modern office in the city centre, whereas my uncle works on a building site outdoors. The office my father works in is quiet and safe, and one advantage is that the hours are flexible. As for my uncle, his salary is high, but his work is tiring and affected by the weather. In my opinion, I prefer working in an office because I like an organised environment and working with a team. Although working outdoors is healthy, it is hard in winter. So I want a job that gives a balance between work and life.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workplaces with adjectives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allaḏī or allatī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justified choice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agree with the workplace.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advantage with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allaḏī / allatī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two workplaces.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choice is justified with although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pronoun.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رَاتِبٌ مُرْتَفِعٌ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low salary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high salary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annual leave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مِنْ عُيُوبِهِ</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مُجْهِدٌ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pronoun.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الَّتِي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الَّذِي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الَّذِينَ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allatī = which / who (f.).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رَاتِبٌ مُرْتَفِعٌ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low salary</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high salary</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annual leave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murtafiʿ = high.</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مِنْ عُيُوبِهِ</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مُجْهِدٌ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min ʿuyūbihi annahu …</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 comparison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يُفَضِّلُ بَعْضُ العَامِلِينَ العَمَلَ عَنْ بُعْدٍ لِأَنَّهُ يُوَفِّرُ الوَقْتَ وَيَمْنَحُهُمْ مَرُونَةً أَكْبَرَ. وَلٰكِنَّ آخَرِينَ يَخْتَارُونَ المَكْتَبَ الَّذِي يَسْمَحُ لَهُمْ بِالتَّعَاوُنِ المُبَاشِرِ مَعَ الفَرِيقِ. فِي شَرِكَةِ نُورٍ، يَسْتَطِيعُ المُوَظَّفُونَ العَمَلَ مِنَ المَنْزِلِ يَوْمَيْنِ فِي الأُسْبُوعِ. مِنْ مَزَايَا هٰذَا النِّظَامِ أَنَّهُ يُحَقِّقُ تَوَازُنًا أَفْضَلَ، وَمِنْ عُيُوبِهِ أَنَّ التَّوَاصُلَ قَدْ يَكُونُ أَبْطَأَ.</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بَعْضُ العَامِلِينَ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 workers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يُوَفِّرُ الوَقْتَ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saves time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مَرُونَةً أَكْبَرَ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flexibility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آخَرِينَ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others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يَسْمَحُ لَهُمْ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allows them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التَّعَاوُنِ المُبَاشِرِ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direct cooperation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المُوَظَّفُونَ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employees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المَنْزِلِ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هٰذَا النِّظَامِ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this system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أَبْطَأَ</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slower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some people prefer remote work?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higher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saves time and gives more flexibility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meet more colleagues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others choose the office?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closer to home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quieter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direct cooperation with the team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How often can Nour company staff work from home?</a:t>
            </a:r>
            <a:endParaRPr lang="en-US" sz="11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 a week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day a month</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of this system is stated?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faster communication</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better (work–life) balance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higher salary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disadvantage is stated?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communication may be slower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hours are longer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less flexibility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 mainly about?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advertising a job</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worker’s day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comparing remote and office work</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some people prefer remote work?</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higher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saves time and gives more flexibility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they meet more colleagues</a:t>
            </a:r>
            <a:endParaRPr lang="en-US" sz="120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يُوَفِّرُ الوَقْتَ وَيَمْنَحُهُمْ مَرُونَةً أَكْبَرَ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others choose the office?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closer to home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quieter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direct cooperation with the team</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بِالتَّعَاوُنِ المُبَاشِرِ مَعَ الفَرِيقِ</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How often can Nour company staff work from home?</a:t>
            </a:r>
            <a:endParaRPr lang="en-US" sz="11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days a week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day a month</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يَوْمَيْنِ فِي الأُسْبُوعِ</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of this system is stated?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faster communication</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better (work–life) balance</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higher salary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يُحَقِّقُ تَوَازُنًا أَفْضَلَ</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disadvantage is stated?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communication may be slower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hours are longer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less flexibility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التَّوَاصُلَ قَدْ يَكُونُ أَبْطَأَ</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 mainly about?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advertising a job</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worker’s day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comparing remote and office work</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sides are compared.</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D3-L02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D3-L03 · Skills and Qualities — What Makes a Good Worker?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مَهَارَةٌ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skill</a:t>
            </a:r>
            <a:pPr indent="0" marL="0">
              <a:buNone/>
            </a:pPr>
            <a:r>
              <a:rPr lang="en-US" sz="1000" i="1" dirty="0">
                <a:solidFill>
                  <a:srgbClr val="5A6472"/>
                </a:solidFill>
                <a:latin typeface="Calibri" pitchFamily="34" charset="0"/>
                <a:ea typeface="Calibri" pitchFamily="34" charset="-122"/>
                <a:cs typeface="Calibri" pitchFamily="34" charset="-120"/>
              </a:rPr>
              <a:t>  pl. مَهَارَاتٌ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خِبْرَةٌ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experience</a:t>
            </a:r>
            <a:pPr indent="0" marL="0">
              <a:buNone/>
            </a:pPr>
            <a:r>
              <a:rPr lang="en-US" sz="1000" i="1" dirty="0">
                <a:solidFill>
                  <a:srgbClr val="5A6472"/>
                </a:solidFill>
                <a:latin typeface="Calibri" pitchFamily="34" charset="0"/>
                <a:ea typeface="Calibri" pitchFamily="34" charset="-122"/>
                <a:cs typeface="Calibri" pitchFamily="34" charset="-120"/>
              </a:rPr>
              <a:t>  pl. خِبْرَاتٌ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مَسْؤُولٌ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responsible</a:t>
            </a:r>
            <a:pPr indent="0" marL="0">
              <a:buNone/>
            </a:pPr>
            <a:r>
              <a:rPr lang="en-US" sz="1000" i="1" dirty="0">
                <a:solidFill>
                  <a:srgbClr val="5A6472"/>
                </a:solidFill>
                <a:latin typeface="Calibri" pitchFamily="34" charset="0"/>
                <a:ea typeface="Calibri" pitchFamily="34" charset="-122"/>
                <a:cs typeface="Calibri" pitchFamily="34" charset="-120"/>
              </a:rPr>
              <a:t>  f. مَسْؤُولَةٌ · pl. مَسْؤُولُونَ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مُنَظَّمٌ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organised</a:t>
            </a:r>
            <a:pPr indent="0" marL="0">
              <a:buNone/>
            </a:pPr>
            <a:r>
              <a:rPr lang="en-US" sz="1000" i="1" dirty="0">
                <a:solidFill>
                  <a:srgbClr val="5A6472"/>
                </a:solidFill>
                <a:latin typeface="Calibri" pitchFamily="34" charset="0"/>
                <a:ea typeface="Calibri" pitchFamily="34" charset="-122"/>
                <a:cs typeface="Calibri" pitchFamily="34" charset="-120"/>
              </a:rPr>
              <a:t>  f. مُنَظَّمَةٌ · pl. مُنَظَّمُونَ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القِيَادَةُ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leadership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one skill a doctor needs and one a teacher needs.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يَحْتَاجُ الطَّبِيبُ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9 work-condition phrases;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Compare two workplaces in 80–100 words with </a:t>
            </a:r>
            <a:pPr algn="l" indent="0" marL="0">
              <a:buNone/>
            </a:pPr>
            <a:r>
              <a:rPr lang="ar-SA" altLang="en-US" sz="1550" dirty="0">
                <a:solidFill>
                  <a:srgbClr val="1F2A37"/>
                </a:solidFill>
                <a:latin typeface="Amiri" pitchFamily="34" charset="0"/>
                <a:ea typeface="Amiri" pitchFamily="34" charset="-122"/>
                <a:cs typeface="Amiri" pitchFamily="34" charset="-120"/>
              </a:rPr>
              <a:t>الَّذِي / الَّتِي</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compare two workplaces and justify your choice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D3-L03 · Skills and Qualities — What Makes a Good Worker?</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المَهَارَاتُ وَالمُؤَهِّلَاتُ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adjective agrees with the workplace — allaḏī (m.) / allatī (f.) — anna before a clause.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D3-L02 · The Workplace — Environments and Work Conditions</dc:title>
  <dc:subject>PptxGenJS Presentation</dc:subject>
  <dc:creator>Al Madina Online School · Arabic Department</dc:creator>
  <cp:lastModifiedBy>Al Madina Online School · Arabic Department</cp:lastModifiedBy>
  <cp:revision>1</cp:revision>
  <dcterms:created xsi:type="dcterms:W3CDTF">2026-10-03T05:16:13Z</dcterms:created>
  <dcterms:modified xsi:type="dcterms:W3CDTF">2026-10-03T05:16:13Z</dcterms:modified>
</cp:coreProperties>
</file>