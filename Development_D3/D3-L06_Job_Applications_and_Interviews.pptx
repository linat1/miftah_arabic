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D3 Work and Careers › D3-L06. The website lesson “Job Applications and Interviews — CV, Skills and Future Plans”: vocabulary, grammar rules and quiz, patterns, common mistakes, sorter, listening, reading, speaking prompts and model, writing task and model, differentiation, final check and the lesson mission. Picture match: website visual game “Job Applications and Interviews — CV, Skills and Future Plans”.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8 application words + four formal chunks learnt as wholes (يَسُرُّنِي أَنْ أَتَقَدَّمَ لِـ … · لَدَيَّ خِبْرَةٌ فِي … · أَعْتَقِدُ أَنَّنِي مُنَاسِبٌ / مُنَاسِبَةٌ … · مِنْ نِقَاطِ قُوَّتِي …). Develop: سَبَقَ لِي أَنْ + past verb and a strength with evidence. Stretch: a full formal email (greeting, purpose, experience, suitability, close).
• REGISTER is the new idea: formal Arabic avoids the chatty أُرِيدُ … in a letter — compare English “I would like to apply” vs “I want the job”.
• The D3-L03 skills (group 2) and D3-L04 future (sa-) feed straight into the interview answers.
• Role-play idea: the teacher (or a confident student) is the interviewer; students answer three questions in the chat or on the mic.
• TEACHER-WRITTEN ITEMS: on the website this lesson’s mission, sorter, mistakes, grammar, final, listening, reading, speaking, writing items are generic placeholders, so the deck uses teacher-written questions and translations built on the website’s own script and text (flagged for the website editor).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D3-L05. Question 3 retrieves D3-L05; questions 4–5 retrieve D3-L03 (skills and evidence).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 job letter is FORMAL: “I am pleased to apply”, not “I want the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سیرت (as in Sīrat an-Nabī — a life story) → سِيرَةٌ ذَاتِيَّةٌ (“self life-story” = CV). طلب، تجربہ، رسمی are shared. CAREFUL again: Urdu مقابلہ is a contest or competition; Arabic مُقَابَلَةٌ شَخْصِيَّةٌ is a (job) interview.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Applications (website vocabulary (1 of 2)). Hear → Say → See → Use. Transliteration is printed for Core students (cover it for Develop/Stretch).
The application toolkit. Two cards are whole formal chunks: أَنَا مُنَاسِبٌ لِهٰذِهِ الوَظِيفَةِ (a girl: مُنَاسِبَةٌ) and يَسُرُّنِي أَنْ أَتَقَدَّمَ (literally “it pleases me to apply”).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Applications (website vocabulary (2 of 2)). Hear → Say → See → Use. Transliteration is printed for Core students (cover it for Develop/Stretch).
The application toolkit. Two cards are whole formal chunks: أَنَا مُنَاسِبٌ لِهٰذِهِ الوَظِيفَةِ (a girl: مُنَاسِبَةٌ) and يَسُرُّنِي أَنْ أَتَقَدَّمَ (literally “it pleases me to apply”).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Skills and evidence (website vocabulary (1 of 2)). Hear → Say → See → Use. Transliteration is printed for Core students (cover it for Develop/Stretch).
FLEX: teach if time allows; otherwise these are on the website vocabulary tab for homework.
Skills (FLEX): review from D3-L03 — every interview answer needs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Skills and evidence (website vocabulary (2 of 2)). Hear → Say → See → Use. Transliteration is printed for Core students (cover it for Develop/Stretch).
FLEX: teach if time allows; otherwise these are on the website vocabulary tab for homework.
Skills (FLEX): review from D3-L03 — every interview answer needs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Formal connectors (website vocabulary (1 of 2)). Hear → Say → See → Use. Transliteration is printed for Core students (cover it for Develop/Stretch).
FLEX: teach if time allows; otherwise these are on the website vocabulary tab for homework.
Formal connectors (FLEX): in a letter prefer إِضَافَةً إِلَى ذٰلِكَ and عَلَى سَبِيلِ المِثَالِ.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Formal connectors (website vocabulary (2 of 2)). Hear → Say → See → Use. Transliteration is printed for Core students (cover it for Develop/Stretch).
FLEX: teach if time allows; otherwise these are on the website vocabulary tab for homework.
Formal connectors (FLEX): in a letter prefer إِضَافَةً إِلَى ذٰلِكَ and عَلَى سَبِيلِ المِثَالِ.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“Formal opening” (يَسُرُّنِي أَنْ أَتَقَدَّمَ لِـ: a formal impersonal opening rather than conversational أُرِيدُ) and “Experience” (لَدَيَّ with a noun or سَبَقَ لِي أَنْ with a verb). Website examples: يَسُرُّنِي أَنْ أَتَقَدَّمَ لِوَظِيفَةِ مُسَاعِدٍ إِدَارِيٍّ · لَدَيَّ خِبْرَةٌ فِي خِدْمَةِ العُمَلَاءِ · سَبَقَ لِي أَنْ عَمِلْتُ فِي مَكْتَبٍ.
The informal column is teacher-added for contrast. Core: learn rows 1–2 as fixed chunks.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“Suitability” (أَعْتَقِدُ أَنَّنِي مُنَاسِبٌ / مُنَاسِبَةٌ لِـ: agree the adjective with the applicant and support the claim) and “Interview evidence” (مِنْ نِقَاطِ قُوَّتِي … وَالدَّلِيلُ عَلَى ذٰلِكَ …: give evidence after naming a strength). Website examples as shown.
(Teacher-chosen: the website common error is generic.)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“اللُّغَةُ الرَّسْمِيَّةُ فِي طَلَبِ الوَظِيفَةِ وَالمُقَابَلَةِ”
• Formal opening: Use a formal impersonal opening rather than conversational أريد.
• Experience: Use لديّ with a noun or سبق لي أن with a verb.
• Suitability: Agree the adjective with the applicant and support the claim.
• Interview evidence: Give evidence after naming a strength.
Website common error: Do not open a formal letter with أُرِيدُ, and make مُنَاسِبٌ agree with the applicant (teacher wording: the website common error for this lesson is generic).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teacher-written model built on the website rules and reading text. Point out the five-part shape: greeting → purpose → experience → suitability → close (مَعَ خَالِصِ التَّحِيَّاتِ). To a woman manager: السَّيِّدَةُ المُدِيرَةُ المُحْتَرَمَةُ (as in the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Job Applications and Interviews — CV, Skills and Future Plans”)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Other website cards: مِنْ نِقَاطِ قُوَّتِي التَّوَاصُلُ وَالتَّنْظِيمُ · لِمَاذَا تُرِيدُ هٰذِهِ الوَظِيفَةَ؟ (the classic interview question) · يَجِبُ أَنْ أَسْتَعِدَّ جَيِّدًا لِلْمُقَابَلَةِ.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Job Applications and Interviews — CV, Skills and Future Plans”)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Other website cards: مِنْ نِقَاطِ قُوَّتِي التَّوَاصُلُ وَالتَّنْظِيمُ · لِمَاذَا تُرِيدُ هٰذِهِ الوَظِيفَةَ؟ (the classic interview question) · يَجِبُ أَنْ أَسْتَعِدَّ جَيِّدًا لِلْمُقَابَلَةِ.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Would you use this in a formal job letter, or only when chatting with a friend?
Then turn two informal items into formal ones: أُرِيدُ الوَظِيفَةَ → يَسُرُّنِي أَنْ أَتَقَدَّمَ لِلوَظِيفَةِ.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Would you use this in a formal job letter, or only when chatting with a friend?
Then turn two informal items into formal ones: أُرِيدُ الوَظِيفَةَ → يَسُرُّنِي أَنْ أَتَقَدَّمَ لِلوَظِيفَةِ.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3 and 5. Develop / Stretch: all 6.
Listen 1: just listen. Listen 2: note answers. Then chat the letters.
Support: after the second listening, show the read-along slide (Arabic + English, line by line) for Core students.
SCRIPT (read aloud):
المُقَابِلُ: لِمَاذَا تُرِيدِينَ هٰذِهِ الوَظِيفَةَ؟ نُورُ: لِأَنَّنِي أُحِبُّ التَّعَامُلَ مَعَ النَّاسِ، وَلَدَيَّ خِبْرَةٌ فِي تَنْظِيمِ الفَعَالِيَّاتِ المَدْرَسِيَّةِ. المُقَابِلُ: مَا نُقْطَةُ قُوَّتِكِ؟ نُورُ: أَنَا مُنَظَّمَةٌ، فَقَدْ قُدْتُ فَرِيقًا مِنْ خَمْسِ طَالِبَاتٍ وَأَنْهَيْنَا المَشْرُوعَ قَبْلَ المَوْعِدِ. المُقَابِلُ: مَا خُطَّتُكِ؟ نُورُ: سَأَدْرُسُ إِدَارَةَ الأَعْمَالِ فِي المُسْتَقْبَلِ.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مَا نُقْطَةُ قُوَّتِكَ؟ (What is your strength?)
B: مِنْ نِقَاطِ قُوَّتِي التَّنْظِيمُ، وَالدَّلِيلُ عَلَى ذٰلِكَ أَنَّنِي أُنْهِي وَاجِبَاتِي قَبْلَ المَوْعِدِ. (One of my strengths is organisation; the proof is that I finish my work before the deadline.)
Teacher-written prompts and model (the website prompts are generic) — an interview role play: the teacher is the interviewer. Model continues: A: مَا نُقْطَةُ قُوَّتِكَ؟ B: مِنْ نِقَاطِ قُوَّتِي التَّنْظِيمُ، وَالدَّلِيلُ عَلَى ذٰلِكَ أَنَّنِي أُنْهِي وَاجِبَاتِي قَبْلَ المَوْعِدِ. To a girl: لِمَاذَا تُرِيدِينَ …؟ · مَا نُقْطَةُ قُوَّتِكِ؟ (as in the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Secure the main vocabulary and produce four accurate sentences using the taught frame. · Develop — Combine description, grammar and a reason in connected answers. · Stretch — Add comparison, contrast, precise evidence and independently controlled complex structures.
Website writing task (Stretch): Write a formal application email for a weekend or summer job.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Teacher-written model (the website model for this lesson is a placeholder). Evidence: يَسُرُّنِي أَنْ أَتَقَدَّمَ · سَبَقَ لِي أَنْ تَطَوَّعْتُ · لَدَيَّ خِبْرَةٌ فِي · مِنْ نِقَاطِ قُوَّتِي … وَالدَّلِيلُ عَلَى ذٰلِكَ · أَعْتَقِدُ أَنَّنِي مُنَاسِبٌ · سَأَدْرُسُ (D3-L04) · مَعَ خَالِصِ التَّحِيَّاتِ.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(D3-L07 · Arabic Proverbs and Values — Work Ethic and Success) will spend class time USING this language, so students prepare it tonight — short, simple, easy to access (school guidance: “Simple, Short, Interesting, Relevant, Easy to access”). The five words come from the website D3-L07 vocabulary (proverbs and work values).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D3  ·  D3-L06</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D3-L06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Job Applications and Interviews — CV, Skills and Future Plans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2800" b="1" dirty="0">
                <a:solidFill>
                  <a:srgbClr val="D4AF37"/>
                </a:solidFill>
                <a:latin typeface="Amiri" pitchFamily="2" charset="-78"/>
                <a:ea typeface="Amiri" pitchFamily="2" charset="-78"/>
                <a:cs typeface="Amiri" pitchFamily="2" charset="-78"/>
              </a:rPr>
              <a:t>طَلَبَاتُ العَمَلِ وَالمُقَابَلَاتُ — السِّيرَةُ الذَّاتِيَّةُ وَالمَهَارَاتُ وَالخُطَطُ</a:t>
            </a:r>
            <a:endParaRPr lang="ar-SA" sz="28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Apply formally for a job and answer interview questions: a formal opening (</a:t>
            </a:r>
            <a:pPr algn="l" indent="0" marL="0">
              <a:buNone/>
            </a:pPr>
            <a:r>
              <a:rPr lang="ar-SA" altLang="en-US" sz="1800" dirty="0">
                <a:solidFill>
                  <a:srgbClr val="C6D2E6"/>
                </a:solidFill>
                <a:latin typeface="Amiri" pitchFamily="2" charset="-78"/>
                <a:ea typeface="Amiri" pitchFamily="2" charset="-78"/>
                <a:cs typeface="Amiri" pitchFamily="2" charset="-78"/>
              </a:rPr>
              <a:t>يَسُرُّنِي أَنْ أَتَقَدَّمَ لِـ</a:t>
            </a:r>
            <a:pPr algn="l" indent="0" marL="0">
              <a:buNone/>
            </a:pPr>
            <a:r>
              <a:rPr lang="en-US" sz="1400" dirty="0">
                <a:solidFill>
                  <a:srgbClr val="C6D2E6"/>
                </a:solidFill>
                <a:latin typeface="Calibri" pitchFamily="34" charset="0"/>
                <a:cs typeface="Amiri" pitchFamily="2" charset="-78"/>
              </a:rPr>
              <a:t> …), experience (</a:t>
            </a:r>
            <a:pPr algn="l" indent="0" marL="0">
              <a:buNone/>
            </a:pPr>
            <a:r>
              <a:rPr lang="ar-SA" altLang="en-US" sz="1800" dirty="0">
                <a:solidFill>
                  <a:srgbClr val="C6D2E6"/>
                </a:solidFill>
                <a:latin typeface="Amiri" pitchFamily="2" charset="-78"/>
                <a:ea typeface="Amiri" pitchFamily="2" charset="-78"/>
                <a:cs typeface="Amiri" pitchFamily="2" charset="-78"/>
              </a:rPr>
              <a:t>لَدَيَّ خِبْرَةٌ فِي / سَبَقَ لِي أَنْ</a:t>
            </a:r>
            <a:pPr algn="l" indent="0" marL="0">
              <a:buNone/>
            </a:pPr>
            <a:r>
              <a:rPr lang="en-US" sz="1400" dirty="0">
                <a:solidFill>
                  <a:srgbClr val="C6D2E6"/>
                </a:solidFill>
                <a:latin typeface="Calibri" pitchFamily="34" charset="0"/>
                <a:cs typeface="Amiri" pitchFamily="2" charset="-78"/>
              </a:rPr>
              <a:t> …), suitability (</a:t>
            </a:r>
            <a:pPr algn="l" indent="0" marL="0">
              <a:buNone/>
            </a:pPr>
            <a:r>
              <a:rPr lang="ar-SA" altLang="en-US" sz="1800" dirty="0">
                <a:solidFill>
                  <a:srgbClr val="C6D2E6"/>
                </a:solidFill>
                <a:latin typeface="Amiri" pitchFamily="2" charset="-78"/>
                <a:ea typeface="Amiri" pitchFamily="2" charset="-78"/>
                <a:cs typeface="Amiri" pitchFamily="2" charset="-78"/>
              </a:rPr>
              <a:t>أَعْتَقِدُ أَنَّنِي مُنَاسِبٌ</a:t>
            </a:r>
            <a:pPr algn="l" indent="0" marL="0">
              <a:buNone/>
            </a:pPr>
            <a:r>
              <a:rPr lang="en-US" sz="1400" dirty="0">
                <a:solidFill>
                  <a:srgbClr val="C6D2E6"/>
                </a:solidFill>
                <a:latin typeface="Calibri" pitchFamily="34" charset="0"/>
                <a:cs typeface="Amiri" pitchFamily="2" charset="-78"/>
              </a:rPr>
              <a:t> …) and a strength with evidence.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D3-L06 · Development D3 · Work and Careers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D3 › D3-L06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Applications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Applications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Formal application chunks and interview evidence.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sort formal / informal, fix and listen to an interview.</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D3-L07.</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Applications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سِيرَةٌ ذَاتِيَّةٌ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cover letter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CV</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interview</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نُقْطَةُ ضَعْفٍ</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weakness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strength</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reference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 فَسَأَلْتَحِقُ بِالجَامِعَةِ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سَأَنْجَحُ</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نَاجِحٌ</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نَجَحْتُ</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skill (noun)?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مُنَظَّمٌ</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مَسْؤُولٌ</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إِدَارَةُ الوَقْتِ</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about a girl.</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 مُنَظَّمَةٌ لِأَنَّنِي أُخَطِّطُ يَوْمِي.</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 مُنَظَّمٌ لِأَنَّهَا تُخَطِّطُ.</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مُنَظَّمَةٌ.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Applications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سِيرَةٌ ذَاتِيَّةٌ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cover letter</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CV</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interview</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(D3-L05).</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نُقْطَةُ ضَعْفٍ</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weakness</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strength</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reference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(D3-L05).</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 فَسَأَلْتَحِقُ بِالجَامِعَةِ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سَأَنْجَحُ</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نَاجِحٌ</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نَجَحْتُ</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D3-L05: idhā + past.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skill (noun)?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مُنَظَّمٌ</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مَسْؤُولٌ</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إِدَارَةُ الوَقْتِ</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D3-L03: skills are nouns.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about a girl.</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أَنَا مُنَظَّمَةٌ لِأَنَّنِي أُخَطِّطُ يَوْمِي.</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أَنَا مُنَظَّمٌ لِأَنَّهَا تُخَطِّطُ.</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 مُنَظَّمَةٌ.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D3-L03: quality + evidence.</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 job letter is FORMAL: “I am pleased to apply”, not “I want the job”.</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يَسُرُّنِي أَنْ أَتَقَدَّمَ</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لِوَظِيفَةِ …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لَدَيَّ خِبْرَةٌ فِي</a:t>
            </a:r>
            <a:pPr rtl="1" algn="ctr" indent="0" marL="0">
              <a:lnSpc>
                <a:spcPct val="120000"/>
              </a:lnSpc>
              <a:buNone/>
            </a:pPr>
            <a:r>
              <a:rPr lang="ar-SA" altLang="en-US" sz="1950" b="1" dirty="0">
                <a:solidFill>
                  <a:srgbClr val="1B3B6F"/>
                </a:solidFill>
                <a:latin typeface="Amiri" pitchFamily="2" charset="-78"/>
                <a:cs typeface="Amiri" pitchFamily="2" charset="-78"/>
              </a:rPr>
              <a:t> …</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Applications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the documents and steps of a job application.</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Open a formal application with </a:t>
            </a:r>
            <a:pPr algn="l" indent="0" marL="0">
              <a:buNone/>
            </a:pPr>
            <a:r>
              <a:rPr lang="ar-SA" altLang="en-US" sz="1700" dirty="0">
                <a:solidFill>
                  <a:srgbClr val="1F2A37"/>
                </a:solidFill>
                <a:latin typeface="Amiri" pitchFamily="2" charset="-78"/>
                <a:ea typeface="Amiri" pitchFamily="2" charset="-78"/>
                <a:cs typeface="Amiri" pitchFamily="2" charset="-78"/>
              </a:rPr>
              <a:t>يَسُرُّنِي أَنْ أَتَقَدَّمَ لِـ</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experience (</a:t>
            </a:r>
            <a:pPr algn="l" indent="0" marL="0">
              <a:buNone/>
            </a:pPr>
            <a:r>
              <a:rPr lang="ar-SA" altLang="en-US" sz="1700" dirty="0">
                <a:solidFill>
                  <a:srgbClr val="1F2A37"/>
                </a:solidFill>
                <a:latin typeface="Amiri" pitchFamily="2" charset="-78"/>
                <a:ea typeface="Amiri" pitchFamily="2" charset="-78"/>
                <a:cs typeface="Amiri" pitchFamily="2" charset="-78"/>
              </a:rPr>
              <a:t>لَدَيَّ خِبْرَةٌ فِي / سَبَقَ لِي أَنْ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a strength in an interview and prove it.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the parts of a job application.</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open a formal letter.</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describe my experience.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give a strength with evidence.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full formal application email.</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answer interview questions with future plans.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36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Applications · 12</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Skills and evidence · 12</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Formal connectors · 12</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سِيرَةٌ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‎سیرت‎ </a:t>
            </a:r>
            <a:pPr indent="0" marL="0">
              <a:buNone/>
            </a:pPr>
            <a:r>
              <a:rPr lang="en-US" sz="950" b="1" dirty="0">
                <a:solidFill>
                  <a:srgbClr val="2E8B57"/>
                </a:solidFill>
                <a:latin typeface="Calibri" pitchFamily="34" charset="0"/>
                <a:cs typeface="Amiri" pitchFamily="2" charset="-78"/>
              </a:rPr>
              <a:t> sīrat · life story (Sīra) → CV</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طَلَبٌ</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‎طلب / درخواست‎ </a:t>
            </a:r>
            <a:pPr indent="0" marL="0">
              <a:buNone/>
            </a:pPr>
            <a:r>
              <a:rPr lang="en-US" sz="950" b="1" dirty="0">
                <a:solidFill>
                  <a:srgbClr val="2E8B57"/>
                </a:solidFill>
                <a:latin typeface="Calibri" pitchFamily="34" charset="0"/>
                <a:cs typeface="Amiri" pitchFamily="2" charset="-78"/>
              </a:rPr>
              <a:t> talab · request → application</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مُقَابَلَةٌ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‎مقابلہ‎ </a:t>
            </a:r>
            <a:pPr indent="0" marL="0">
              <a:buNone/>
            </a:pPr>
            <a:r>
              <a:rPr lang="en-US" sz="950" b="1" dirty="0">
                <a:solidFill>
                  <a:srgbClr val="2E8B57"/>
                </a:solidFill>
                <a:latin typeface="Calibri" pitchFamily="34" charset="0"/>
                <a:cs typeface="Amiri" pitchFamily="2" charset="-78"/>
              </a:rPr>
              <a:t> muqābla · Urdu: contest · Arabic: interview</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تَجْرِبَةٌ / خِبْرَةٌ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‎تجربہ‎ </a:t>
            </a:r>
            <a:pPr indent="0" marL="0">
              <a:buNone/>
            </a:pPr>
            <a:r>
              <a:rPr lang="en-US" sz="950" b="1" dirty="0">
                <a:solidFill>
                  <a:srgbClr val="2E8B57"/>
                </a:solidFill>
                <a:latin typeface="Calibri" pitchFamily="34" charset="0"/>
                <a:cs typeface="Amiri" pitchFamily="2" charset="-78"/>
              </a:rPr>
              <a:t> tajurba · experience</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رَسْمِيٌّ</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‎رسمی‎ </a:t>
            </a:r>
            <a:pPr indent="0" marL="0">
              <a:buNone/>
            </a:pPr>
            <a:r>
              <a:rPr lang="en-US" sz="950" b="1" dirty="0">
                <a:solidFill>
                  <a:srgbClr val="2E8B57"/>
                </a:solidFill>
                <a:latin typeface="Calibri" pitchFamily="34" charset="0"/>
                <a:cs typeface="Amiri" pitchFamily="2" charset="-78"/>
              </a:rPr>
              <a:t> rasmī · formal</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Applications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Applications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سِيرَةٌ ذَاتِيَّةٌ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CV</a:t>
            </a:r>
            <a:endParaRPr lang="en-US" sz="1350" dirty="0"/>
          </a:p>
          <a:p>
            <a:pPr indent="0" marL="0">
              <a:buNone/>
            </a:pPr>
            <a:r>
              <a:rPr lang="en-US" sz="1100" i="1" dirty="0">
                <a:solidFill>
                  <a:srgbClr val="5A6472"/>
                </a:solidFill>
                <a:latin typeface="Calibri" pitchFamily="34" charset="0"/>
                <a:cs typeface="Amiri" pitchFamily="2" charset="-78"/>
              </a:rPr>
              <a:t>sī-ra-tun dhā-tiy-ya-tun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سِيَرٌ ذَاتِيَّةٌ</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رِسَالَةُ تَغْطِيَةٍ</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cover letter</a:t>
            </a:r>
            <a:endParaRPr lang="en-US" sz="1350" dirty="0"/>
          </a:p>
          <a:p>
            <a:pPr indent="0" marL="0">
              <a:buNone/>
            </a:pPr>
            <a:r>
              <a:rPr lang="en-US" sz="1100" i="1" dirty="0">
                <a:solidFill>
                  <a:srgbClr val="5A6472"/>
                </a:solidFill>
                <a:latin typeface="Calibri" pitchFamily="34" charset="0"/>
                <a:cs typeface="Amiri" pitchFamily="2" charset="-78"/>
              </a:rPr>
              <a:t>ri-sā-la-tu tagh-ṭi-ya-tin</a:t>
            </a:r>
            <a:endParaRPr lang="en-US" sz="135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7" name="Shape 34"/>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8" name="Text 35"/>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9" name="Shape 36"/>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طَلَبُ وَظِيفَةٍ</a:t>
            </a:r>
            <a:endParaRPr lang="ar-SA" sz="3000" dirty="0"/>
          </a:p>
        </p:txBody>
      </p:sp>
      <p:sp>
        <p:nvSpPr>
          <p:cNvPr id="42" name="Text 39"/>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job application</a:t>
            </a:r>
            <a:endParaRPr lang="en-US" sz="1350" dirty="0"/>
          </a:p>
          <a:p>
            <a:pPr indent="0" marL="0">
              <a:buNone/>
            </a:pPr>
            <a:r>
              <a:rPr lang="en-US" sz="1100" i="1" dirty="0">
                <a:solidFill>
                  <a:srgbClr val="5A6472"/>
                </a:solidFill>
                <a:latin typeface="Calibri" pitchFamily="34" charset="0"/>
                <a:cs typeface="Amiri" pitchFamily="2" charset="-78"/>
              </a:rPr>
              <a:t>ṭa-la-bu wa-ẓī-fa-tin</a:t>
            </a:r>
            <a:endParaRPr lang="en-US" sz="1350" dirty="0"/>
          </a:p>
        </p:txBody>
      </p:sp>
      <p:sp>
        <p:nvSpPr>
          <p:cNvPr id="43" name="Shape 40"/>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5" name="Text 42"/>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طَلَبَاتُ وَظَائِفَ</a:t>
            </a:r>
            <a:endParaRPr lang="ar-SA" sz="1500" dirty="0"/>
          </a:p>
        </p:txBody>
      </p:sp>
      <p:sp>
        <p:nvSpPr>
          <p:cNvPr id="46" name="Shape 4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11312"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9" name="Shape 4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1" name="Text 4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إِعْلَانُ وَظِيفَةٍ</a:t>
            </a:r>
            <a:endParaRPr lang="ar-SA" sz="3000" dirty="0"/>
          </a:p>
        </p:txBody>
      </p:sp>
      <p:sp>
        <p:nvSpPr>
          <p:cNvPr id="52" name="Text 4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job advert</a:t>
            </a:r>
            <a:endParaRPr lang="en-US" sz="1350" dirty="0"/>
          </a:p>
          <a:p>
            <a:pPr indent="0" marL="0">
              <a:buNone/>
            </a:pPr>
            <a:r>
              <a:rPr lang="en-US" sz="1100" i="1" dirty="0">
                <a:solidFill>
                  <a:srgbClr val="5A6472"/>
                </a:solidFill>
                <a:latin typeface="Calibri" pitchFamily="34" charset="0"/>
                <a:cs typeface="Amiri" pitchFamily="2" charset="-78"/>
              </a:rPr>
              <a:t>iʿ-lā-nu wa-ẓī-fa-tin</a:t>
            </a:r>
            <a:endParaRPr lang="en-US" sz="1350" dirty="0"/>
          </a:p>
        </p:txBody>
      </p:sp>
      <p:sp>
        <p:nvSpPr>
          <p:cNvPr id="53" name="Shape 5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4389120"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6" name="Shape 53"/>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57" name="Text 54"/>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8" name="Shape 5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مُقَابَلَةٌ شَخْصِيَّةٌ</a:t>
            </a:r>
            <a:endParaRPr lang="ar-SA" sz="3000" dirty="0"/>
          </a:p>
        </p:txBody>
      </p:sp>
      <p:sp>
        <p:nvSpPr>
          <p:cNvPr id="61" name="Text 5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interview</a:t>
            </a:r>
            <a:endParaRPr lang="en-US" sz="1350" dirty="0"/>
          </a:p>
          <a:p>
            <a:pPr indent="0" marL="0">
              <a:buNone/>
            </a:pPr>
            <a:r>
              <a:rPr lang="en-US" sz="1100" i="1" dirty="0">
                <a:solidFill>
                  <a:srgbClr val="5A6472"/>
                </a:solidFill>
                <a:latin typeface="Calibri" pitchFamily="34" charset="0"/>
                <a:cs typeface="Amiri" pitchFamily="2" charset="-78"/>
              </a:rPr>
              <a:t>mu-qā-ba-la-tun shakh-ṣiy-ya-tun</a:t>
            </a:r>
            <a:endParaRPr lang="en-US" sz="1350" dirty="0"/>
          </a:p>
        </p:txBody>
      </p:sp>
      <p:sp>
        <p:nvSpPr>
          <p:cNvPr id="62" name="Shape 59"/>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4" name="Text 61"/>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مُقَابَلَاتٌ</a:t>
            </a:r>
            <a:endParaRPr lang="ar-SA" sz="1500" dirty="0"/>
          </a:p>
        </p:txBody>
      </p:sp>
      <p:sp>
        <p:nvSpPr>
          <p:cNvPr id="65" name="Shape 6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566928"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8" name="Text 65"/>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مَرْجِعٌ / تَزْكِيَةٌ</a:t>
            </a:r>
            <a:endParaRPr lang="ar-SA" sz="3000" dirty="0"/>
          </a:p>
        </p:txBody>
      </p:sp>
      <p:sp>
        <p:nvSpPr>
          <p:cNvPr id="69" name="Text 66"/>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reference</a:t>
            </a:r>
            <a:endParaRPr lang="en-US" sz="1350" dirty="0"/>
          </a:p>
          <a:p>
            <a:pPr indent="0" marL="0">
              <a:buNone/>
            </a:pPr>
            <a:r>
              <a:rPr lang="en-US" sz="1100" i="1" dirty="0">
                <a:solidFill>
                  <a:srgbClr val="5A6472"/>
                </a:solidFill>
                <a:latin typeface="Calibri" pitchFamily="34" charset="0"/>
                <a:cs typeface="Amiri" pitchFamily="2" charset="-78"/>
              </a:rPr>
              <a:t>mar-ji-ʿun / taz-ki-ya-tun</a:t>
            </a:r>
            <a:endParaRPr lang="en-US" sz="13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Applications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Applications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خِبْرَةٌ سَابِقَةٌ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previous experience</a:t>
            </a:r>
            <a:endParaRPr lang="en-US" sz="1350" dirty="0"/>
          </a:p>
          <a:p>
            <a:pPr indent="0" marL="0">
              <a:buNone/>
            </a:pPr>
            <a:r>
              <a:rPr lang="en-US" sz="1100" i="1" dirty="0">
                <a:solidFill>
                  <a:srgbClr val="5A6472"/>
                </a:solidFill>
                <a:latin typeface="Calibri" pitchFamily="34" charset="0"/>
                <a:cs typeface="Amiri" pitchFamily="2" charset="-78"/>
              </a:rPr>
              <a:t>khib-ra-tun sā-bi-qa-tun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مُتَطَلَّبَاتُ الوَظِيفَةِ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job requirements</a:t>
            </a:r>
            <a:endParaRPr lang="en-US" sz="1350" dirty="0"/>
          </a:p>
          <a:p>
            <a:pPr indent="0" marL="0">
              <a:buNone/>
            </a:pPr>
            <a:r>
              <a:rPr lang="en-US" sz="1100" i="1" dirty="0">
                <a:solidFill>
                  <a:srgbClr val="5A6472"/>
                </a:solidFill>
                <a:latin typeface="Calibri" pitchFamily="34" charset="0"/>
                <a:cs typeface="Amiri" pitchFamily="2" charset="-78"/>
              </a:rPr>
              <a:t>mu-ta-ṭal-la-bā-tu al-wa-ẓī-fa-ti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0" name="Shape 27"/>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نُقْطَةُ قُوَّةٍ</a:t>
            </a:r>
            <a:endParaRPr lang="ar-SA" sz="3000" dirty="0"/>
          </a:p>
        </p:txBody>
      </p:sp>
      <p:sp>
        <p:nvSpPr>
          <p:cNvPr id="35" name="Text 3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strength</a:t>
            </a:r>
            <a:endParaRPr lang="en-US" sz="1350" dirty="0"/>
          </a:p>
          <a:p>
            <a:pPr indent="0" marL="0">
              <a:buNone/>
            </a:pPr>
            <a:r>
              <a:rPr lang="en-US" sz="1100" i="1" dirty="0">
                <a:solidFill>
                  <a:srgbClr val="5A6472"/>
                </a:solidFill>
                <a:latin typeface="Calibri" pitchFamily="34" charset="0"/>
                <a:cs typeface="Amiri" pitchFamily="2" charset="-78"/>
              </a:rPr>
              <a:t>nuq-ṭa-tu quw-wa-tin</a:t>
            </a:r>
            <a:endParaRPr lang="en-US" sz="1350" dirty="0"/>
          </a:p>
        </p:txBody>
      </p:sp>
      <p:sp>
        <p:nvSpPr>
          <p:cNvPr id="36" name="Shape 33"/>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8" name="Text 35"/>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نِقَاطُ قُوَّةٍ</a:t>
            </a:r>
            <a:endParaRPr lang="ar-SA" sz="15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نُقْطَةُ ضَعْفٍ</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weakness</a:t>
            </a:r>
            <a:endParaRPr lang="en-US" sz="1350" dirty="0"/>
          </a:p>
          <a:p>
            <a:pPr indent="0" marL="0">
              <a:buNone/>
            </a:pPr>
            <a:r>
              <a:rPr lang="en-US" sz="1100" i="1" dirty="0">
                <a:solidFill>
                  <a:srgbClr val="5A6472"/>
                </a:solidFill>
                <a:latin typeface="Calibri" pitchFamily="34" charset="0"/>
                <a:cs typeface="Amiri" pitchFamily="2" charset="-78"/>
              </a:rPr>
              <a:t>nuq-ṭa-tu ḍaʿ-fin</a:t>
            </a:r>
            <a:endParaRPr lang="en-US" sz="1350" dirty="0"/>
          </a:p>
        </p:txBody>
      </p:sp>
      <p:sp>
        <p:nvSpPr>
          <p:cNvPr id="46" name="Shape 43"/>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4389120"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9" name="Text 46"/>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أَنَا مُنَاسِبٌ لِهٰذِهِ الوَظِيفَةِ</a:t>
            </a:r>
            <a:endParaRPr lang="ar-SA" sz="3000" dirty="0"/>
          </a:p>
        </p:txBody>
      </p:sp>
      <p:sp>
        <p:nvSpPr>
          <p:cNvPr id="50" name="Text 47"/>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am suitable for this job</a:t>
            </a:r>
            <a:endParaRPr lang="en-US" sz="1350" dirty="0"/>
          </a:p>
          <a:p>
            <a:pPr indent="0" marL="0">
              <a:buNone/>
            </a:pPr>
            <a:r>
              <a:rPr lang="en-US" sz="1100" i="1" dirty="0">
                <a:solidFill>
                  <a:srgbClr val="5A6472"/>
                </a:solidFill>
                <a:latin typeface="Calibri" pitchFamily="34" charset="0"/>
                <a:cs typeface="Amiri" pitchFamily="2" charset="-78"/>
              </a:rPr>
              <a:t>a-nā mu-nā-si-bun li-hā-dhi-hi al-wa-ẓī-fa-ti</a:t>
            </a:r>
            <a:endParaRPr lang="en-US" sz="1350" dirty="0"/>
          </a:p>
        </p:txBody>
      </p:sp>
      <p:sp>
        <p:nvSpPr>
          <p:cNvPr id="51" name="Shape 4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4" name="Shape 51"/>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يَسُرُّنِي أَنْ أَتَقَدَّمَ</a:t>
            </a:r>
            <a:endParaRPr lang="ar-SA" sz="3000" dirty="0"/>
          </a:p>
        </p:txBody>
      </p:sp>
      <p:sp>
        <p:nvSpPr>
          <p:cNvPr id="57" name="Text 54"/>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am pleased to apply</a:t>
            </a:r>
            <a:endParaRPr lang="en-US" sz="1350" dirty="0"/>
          </a:p>
          <a:p>
            <a:pPr indent="0" marL="0">
              <a:buNone/>
            </a:pPr>
            <a:r>
              <a:rPr lang="en-US" sz="1100" i="1" dirty="0">
                <a:solidFill>
                  <a:srgbClr val="5A6472"/>
                </a:solidFill>
                <a:latin typeface="Calibri" pitchFamily="34" charset="0"/>
                <a:cs typeface="Amiri" pitchFamily="2" charset="-78"/>
              </a:rPr>
              <a:t>ya-sur-ru-nī an a-ta-qad-da-ma</a:t>
            </a:r>
            <a:endParaRPr lang="en-US" sz="13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Applications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Skills and evidence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مَهَارَةُ التَّوَاصُلِ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communication skill</a:t>
            </a:r>
            <a:endParaRPr lang="en-US" sz="1350" dirty="0"/>
          </a:p>
          <a:p>
            <a:pPr indent="0" marL="0">
              <a:buNone/>
            </a:pPr>
            <a:r>
              <a:rPr lang="en-US" sz="1100" i="1" dirty="0">
                <a:solidFill>
                  <a:srgbClr val="5A6472"/>
                </a:solidFill>
                <a:latin typeface="Calibri" pitchFamily="34" charset="0"/>
                <a:cs typeface="Amiri" pitchFamily="2" charset="-78"/>
              </a:rPr>
              <a:t>ma-hā-ra-tu at-ta-wā-ṣu-li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حَلُّ المُشْكِلَاتِ</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problem solving</a:t>
            </a:r>
            <a:endParaRPr lang="en-US" sz="1350" dirty="0"/>
          </a:p>
          <a:p>
            <a:pPr indent="0" marL="0">
              <a:buNone/>
            </a:pPr>
            <a:r>
              <a:rPr lang="en-US" sz="1100" i="1" dirty="0">
                <a:solidFill>
                  <a:srgbClr val="5A6472"/>
                </a:solidFill>
                <a:latin typeface="Calibri" pitchFamily="34" charset="0"/>
                <a:cs typeface="Amiri" pitchFamily="2" charset="-78"/>
              </a:rPr>
              <a:t>ḥal-lu al-mush-ki-lā-ti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العَمَلُ الجَمَاعِيُّ</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teamwork</a:t>
            </a:r>
            <a:endParaRPr lang="en-US" sz="1350" dirty="0"/>
          </a:p>
          <a:p>
            <a:pPr indent="0" marL="0">
              <a:buNone/>
            </a:pPr>
            <a:r>
              <a:rPr lang="en-US" sz="1100" i="1" dirty="0">
                <a:solidFill>
                  <a:srgbClr val="5A6472"/>
                </a:solidFill>
                <a:latin typeface="Calibri" pitchFamily="34" charset="0"/>
                <a:cs typeface="Amiri" pitchFamily="2" charset="-78"/>
              </a:rPr>
              <a:t>al-ʿa-ma-lu al-ja-mā-ʿiy-yu</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إِدَارَةُ الوَقْتِ</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time management</a:t>
            </a:r>
            <a:endParaRPr lang="en-US" sz="1350" dirty="0"/>
          </a:p>
          <a:p>
            <a:pPr indent="0" marL="0">
              <a:buNone/>
            </a:pPr>
            <a:r>
              <a:rPr lang="en-US" sz="1100" i="1" dirty="0">
                <a:solidFill>
                  <a:srgbClr val="5A6472"/>
                </a:solidFill>
                <a:latin typeface="Calibri" pitchFamily="34" charset="0"/>
                <a:cs typeface="Amiri" pitchFamily="2" charset="-78"/>
              </a:rPr>
              <a:t>i-dā-ra-tu al-waq-ti</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الإِبْدَاعُ</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creativity</a:t>
            </a:r>
            <a:endParaRPr lang="en-US" sz="1350" dirty="0"/>
          </a:p>
          <a:p>
            <a:pPr indent="0" marL="0">
              <a:buNone/>
            </a:pPr>
            <a:r>
              <a:rPr lang="en-US" sz="1100" i="1" dirty="0">
                <a:solidFill>
                  <a:srgbClr val="5A6472"/>
                </a:solidFill>
                <a:latin typeface="Calibri" pitchFamily="34" charset="0"/>
                <a:cs typeface="Amiri" pitchFamily="2" charset="-78"/>
              </a:rPr>
              <a:t>al-ib-dā-ʿu</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الدِّقَّةُ</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accuracy</a:t>
            </a:r>
            <a:endParaRPr lang="en-US" sz="1350" dirty="0"/>
          </a:p>
          <a:p>
            <a:pPr indent="0" marL="0">
              <a:buNone/>
            </a:pPr>
            <a:r>
              <a:rPr lang="en-US" sz="1100" i="1" dirty="0">
                <a:solidFill>
                  <a:srgbClr val="5A6472"/>
                </a:solidFill>
                <a:latin typeface="Calibri" pitchFamily="34" charset="0"/>
                <a:cs typeface="Amiri" pitchFamily="2" charset="-78"/>
              </a:rPr>
              <a:t>ad-diq-qa-tu</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Applications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Skills and evidence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المَرُونَةُ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adaptability</a:t>
            </a:r>
            <a:endParaRPr lang="en-US" sz="1350" dirty="0"/>
          </a:p>
          <a:p>
            <a:pPr indent="0" marL="0">
              <a:buNone/>
            </a:pPr>
            <a:r>
              <a:rPr lang="en-US" sz="1100" i="1" dirty="0">
                <a:solidFill>
                  <a:srgbClr val="5A6472"/>
                </a:solidFill>
                <a:latin typeface="Calibri" pitchFamily="34" charset="0"/>
                <a:cs typeface="Amiri" pitchFamily="2" charset="-78"/>
              </a:rPr>
              <a:t>al-ma-rū-na-tu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القِيَادَةُ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leadership</a:t>
            </a:r>
            <a:endParaRPr lang="en-US" sz="1350" dirty="0"/>
          </a:p>
          <a:p>
            <a:pPr indent="0" marL="0">
              <a:buNone/>
            </a:pPr>
            <a:r>
              <a:rPr lang="en-US" sz="1100" i="1" dirty="0">
                <a:solidFill>
                  <a:srgbClr val="5A6472"/>
                </a:solidFill>
                <a:latin typeface="Calibri" pitchFamily="34" charset="0"/>
                <a:cs typeface="Amiri" pitchFamily="2" charset="-78"/>
              </a:rPr>
              <a:t>al-qi-yā-da-tu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الخِبْرَةُ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experience</a:t>
            </a:r>
            <a:endParaRPr lang="en-US" sz="1350" dirty="0"/>
          </a:p>
          <a:p>
            <a:pPr indent="0" marL="0">
              <a:buNone/>
            </a:pPr>
            <a:r>
              <a:rPr lang="en-US" sz="1100" i="1" dirty="0">
                <a:solidFill>
                  <a:srgbClr val="5A6472"/>
                </a:solidFill>
                <a:latin typeface="Calibri" pitchFamily="34" charset="0"/>
                <a:cs typeface="Amiri" pitchFamily="2" charset="-78"/>
              </a:rPr>
              <a:t>al-khib-ra-tu</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المُؤَهِّلَاتُ</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qualifications</a:t>
            </a:r>
            <a:endParaRPr lang="en-US" sz="1350" dirty="0"/>
          </a:p>
          <a:p>
            <a:pPr indent="0" marL="0">
              <a:buNone/>
            </a:pPr>
            <a:r>
              <a:rPr lang="en-US" sz="1100" i="1" dirty="0">
                <a:solidFill>
                  <a:srgbClr val="5A6472"/>
                </a:solidFill>
                <a:latin typeface="Calibri" pitchFamily="34" charset="0"/>
                <a:cs typeface="Amiri" pitchFamily="2" charset="-78"/>
              </a:rPr>
              <a:t>al-mu-ʾah-hi-lā-tu</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إِجَادَةُ اللُّغَاتِ</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language proficiency</a:t>
            </a:r>
            <a:endParaRPr lang="en-US" sz="1350" dirty="0"/>
          </a:p>
          <a:p>
            <a:pPr indent="0" marL="0">
              <a:buNone/>
            </a:pPr>
            <a:r>
              <a:rPr lang="en-US" sz="1100" i="1" dirty="0">
                <a:solidFill>
                  <a:srgbClr val="5A6472"/>
                </a:solidFill>
                <a:latin typeface="Calibri" pitchFamily="34" charset="0"/>
                <a:cs typeface="Amiri" pitchFamily="2" charset="-78"/>
              </a:rPr>
              <a:t>i-jā-da-tu all-lu-ghā-ti</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مَهَارَاتُ الحَاسُوبِ</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computer skills</a:t>
            </a:r>
            <a:endParaRPr lang="en-US" sz="1350" dirty="0"/>
          </a:p>
          <a:p>
            <a:pPr indent="0" marL="0">
              <a:buNone/>
            </a:pPr>
            <a:r>
              <a:rPr lang="en-US" sz="1100" i="1" dirty="0">
                <a:solidFill>
                  <a:srgbClr val="5A6472"/>
                </a:solidFill>
                <a:latin typeface="Calibri" pitchFamily="34" charset="0"/>
                <a:cs typeface="Amiri" pitchFamily="2" charset="-78"/>
              </a:rPr>
              <a:t>ma-hā-rā-tu al-ḥā-sū-bi</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Applications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Formal connectors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a:t>
            </a:r>
            <a:endParaRPr lang="en-US" sz="1350" dirty="0"/>
          </a:p>
          <a:p>
            <a:pPr indent="0" marL="0">
              <a:buNone/>
            </a:pPr>
            <a:r>
              <a:rPr lang="en-US" sz="1100" i="1" dirty="0">
                <a:solidFill>
                  <a:srgbClr val="5A6472"/>
                </a:solidFill>
                <a:latin typeface="Calibri" pitchFamily="34" charset="0"/>
                <a:cs typeface="Amiri" pitchFamily="2" charset="-78"/>
              </a:rPr>
              <a:t>li-ʾan-na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لِذٰلِكَ</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therefore</a:t>
            </a:r>
            <a:endParaRPr lang="en-US" sz="1350" dirty="0"/>
          </a:p>
          <a:p>
            <a:pPr indent="0" marL="0">
              <a:buNone/>
            </a:pPr>
            <a:r>
              <a:rPr lang="en-US" sz="1100" i="1" dirty="0">
                <a:solidFill>
                  <a:srgbClr val="5A6472"/>
                </a:solidFill>
                <a:latin typeface="Calibri" pitchFamily="34" charset="0"/>
                <a:cs typeface="Amiri" pitchFamily="2" charset="-78"/>
              </a:rPr>
              <a:t>li-dhā-li-ka</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وَلٰكِنَّ</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however</a:t>
            </a:r>
            <a:endParaRPr lang="en-US" sz="1350" dirty="0"/>
          </a:p>
          <a:p>
            <a:pPr indent="0" marL="0">
              <a:buNone/>
            </a:pPr>
            <a:r>
              <a:rPr lang="en-US" sz="1100" i="1" dirty="0">
                <a:solidFill>
                  <a:srgbClr val="5A6472"/>
                </a:solidFill>
                <a:latin typeface="Calibri" pitchFamily="34" charset="0"/>
                <a:cs typeface="Amiri" pitchFamily="2" charset="-78"/>
              </a:rPr>
              <a:t>wa-lā-kin-na</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بَيْنَمَا</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الرَّغْمِ مِنْ أَنَّ</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although</a:t>
            </a:r>
            <a:endParaRPr lang="en-US" sz="1350" dirty="0"/>
          </a:p>
          <a:p>
            <a:pPr indent="0" marL="0">
              <a:buNone/>
            </a:pPr>
            <a:r>
              <a:rPr lang="en-US" sz="1100" i="1" dirty="0">
                <a:solidFill>
                  <a:srgbClr val="5A6472"/>
                </a:solidFill>
                <a:latin typeface="Calibri" pitchFamily="34" charset="0"/>
                <a:cs typeface="Amiri" pitchFamily="2" charset="-78"/>
              </a:rPr>
              <a:t>ʿa-lā ar-ragh-mi min an-na</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30</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إِضَافَةً إِلَى ذٰلِكَ</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addition</a:t>
            </a:r>
            <a:endParaRPr lang="en-US" sz="1350" dirty="0"/>
          </a:p>
          <a:p>
            <a:pPr indent="0" marL="0">
              <a:buNone/>
            </a:pPr>
            <a:r>
              <a:rPr lang="en-US" sz="1100" i="1" dirty="0">
                <a:solidFill>
                  <a:srgbClr val="5A6472"/>
                </a:solidFill>
                <a:latin typeface="Calibri" pitchFamily="34" charset="0"/>
                <a:cs typeface="Amiri" pitchFamily="2" charset="-78"/>
              </a:rPr>
              <a:t>i-ḍā-fa-tan i-lā dhā-li-ka</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Applications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Formal connectors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جِهَةٍ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one hand</a:t>
            </a:r>
            <a:endParaRPr lang="en-US" sz="1350" dirty="0"/>
          </a:p>
          <a:p>
            <a:pPr indent="0" marL="0">
              <a:buNone/>
            </a:pPr>
            <a:r>
              <a:rPr lang="en-US" sz="1100" i="1" dirty="0">
                <a:solidFill>
                  <a:srgbClr val="5A6472"/>
                </a:solidFill>
                <a:latin typeface="Calibri" pitchFamily="34" charset="0"/>
                <a:cs typeface="Amiri" pitchFamily="2" charset="-78"/>
              </a:rPr>
              <a:t>min ji-ha-tin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جِهَةٍ أُخْرَى</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the other hand</a:t>
            </a:r>
            <a:endParaRPr lang="en-US" sz="1350" dirty="0"/>
          </a:p>
          <a:p>
            <a:pPr indent="0" marL="0">
              <a:buNone/>
            </a:pPr>
            <a:r>
              <a:rPr lang="en-US" sz="1100" i="1" dirty="0">
                <a:solidFill>
                  <a:srgbClr val="5A6472"/>
                </a:solidFill>
                <a:latin typeface="Calibri" pitchFamily="34" charset="0"/>
                <a:cs typeface="Amiri" pitchFamily="2" charset="-78"/>
              </a:rPr>
              <a:t>min ji-ha-tin ukh-rā</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رَأْيِي</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my opinion</a:t>
            </a:r>
            <a:endParaRPr lang="en-US" sz="1350" dirty="0"/>
          </a:p>
          <a:p>
            <a:pPr indent="0" marL="0">
              <a:buNone/>
            </a:pPr>
            <a:r>
              <a:rPr lang="en-US" sz="1100" i="1" dirty="0">
                <a:solidFill>
                  <a:srgbClr val="5A6472"/>
                </a:solidFill>
                <a:latin typeface="Calibri" pitchFamily="34" charset="0"/>
                <a:cs typeface="Amiri" pitchFamily="2" charset="-78"/>
              </a:rPr>
              <a:t>fī raʾ-yī</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34</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سَبِيلِ المِثَالِ</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 example</a:t>
            </a:r>
            <a:endParaRPr lang="en-US" sz="1350" dirty="0"/>
          </a:p>
          <a:p>
            <a:pPr indent="0" marL="0">
              <a:buNone/>
            </a:pPr>
            <a:r>
              <a:rPr lang="en-US" sz="1100" i="1" dirty="0">
                <a:solidFill>
                  <a:srgbClr val="5A6472"/>
                </a:solidFill>
                <a:latin typeface="Calibri" pitchFamily="34" charset="0"/>
                <a:cs typeface="Amiri" pitchFamily="2" charset="-78"/>
              </a:rPr>
              <a:t>ʿa-lā sa-bī-li al-mi-thā-li</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35</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نَتِيجَةً لِذٰلِكَ</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 a result</a:t>
            </a:r>
            <a:endParaRPr lang="en-US" sz="1350" dirty="0"/>
          </a:p>
          <a:p>
            <a:pPr indent="0" marL="0">
              <a:buNone/>
            </a:pPr>
            <a:r>
              <a:rPr lang="en-US" sz="1100" i="1" dirty="0">
                <a:solidFill>
                  <a:srgbClr val="5A6472"/>
                </a:solidFill>
                <a:latin typeface="Calibri" pitchFamily="34" charset="0"/>
                <a:cs typeface="Amiri" pitchFamily="2" charset="-78"/>
              </a:rPr>
              <a:t>na-tī-ja-tan li-dhā-li-ka</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36</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بِهَدَفِ</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with the aim of</a:t>
            </a:r>
            <a:endParaRPr lang="en-US" sz="1350" dirty="0"/>
          </a:p>
          <a:p>
            <a:pPr indent="0" marL="0">
              <a:buNone/>
            </a:pPr>
            <a:r>
              <a:rPr lang="en-US" sz="1100" i="1" dirty="0">
                <a:solidFill>
                  <a:srgbClr val="5A6472"/>
                </a:solidFill>
                <a:latin typeface="Calibri" pitchFamily="34" charset="0"/>
                <a:cs typeface="Amiri" pitchFamily="2" charset="-78"/>
              </a:rPr>
              <a:t>bi-ha-da-fi</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Applications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50" b="1" spc="150" kern="0" dirty="0">
                <a:solidFill>
                  <a:srgbClr val="1B3B6F"/>
                </a:solidFill>
                <a:latin typeface="Calibri" pitchFamily="34" charset="0"/>
                <a:cs typeface="Amiri" pitchFamily="2" charset="-78"/>
              </a:rPr>
              <a:t>GRAMMAR FOCUS · PART 1 · FORMAL OPENING AND EXPERIENCE (WEBSITE RULES 1–2)</a:t>
            </a:r>
            <a:endParaRPr lang="en-US" sz="95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Formal, not chatty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لُغَةٌ رَسْمِيَّةٌ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942832" y="1810512"/>
            <a:ext cx="2715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Pattern</a:t>
            </a:r>
            <a:endParaRPr lang="en-US" sz="1100" dirty="0"/>
          </a:p>
        </p:txBody>
      </p:sp>
      <p:sp>
        <p:nvSpPr>
          <p:cNvPr id="17" name="Text 14"/>
          <p:cNvSpPr txBox="1"/>
          <p:nvPr/>
        </p:nvSpPr>
        <p:spPr>
          <a:xfrm>
            <a:off x="4187952"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Formal (use)</a:t>
            </a:r>
            <a:endParaRPr lang="en-US" sz="1100" dirty="0"/>
          </a:p>
        </p:txBody>
      </p:sp>
      <p:sp>
        <p:nvSpPr>
          <p:cNvPr id="18" name="Text 15"/>
          <p:cNvSpPr txBox="1"/>
          <p:nvPr/>
        </p:nvSpPr>
        <p:spPr>
          <a:xfrm>
            <a:off x="530352"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Informal (avoid in a letter)</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979408" y="2267712"/>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yasurrunī an ataqaddama li-</a:t>
            </a:r>
            <a:endParaRPr lang="en-US" sz="1100" dirty="0"/>
          </a:p>
        </p:txBody>
      </p:sp>
      <p:sp>
        <p:nvSpPr>
          <p:cNvPr id="21" name="Text 18"/>
          <p:cNvSpPr txBox="1"/>
          <p:nvPr/>
        </p:nvSpPr>
        <p:spPr>
          <a:xfrm>
            <a:off x="4206240" y="2286000"/>
            <a:ext cx="457200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ea typeface="Amiri" pitchFamily="2" charset="-78"/>
                <a:cs typeface="Amiri" pitchFamily="2" charset="-78"/>
              </a:rPr>
              <a:t>يَسُرُّنِي أَنْ أَتَقَدَّمَ</a:t>
            </a:r>
            <a:pPr rtl="1" algn="ctr" indent="0" marL="0">
              <a:buNone/>
            </a:pPr>
            <a:r>
              <a:rPr lang="ar-SA" altLang="en-US" sz="2100" b="1" dirty="0">
                <a:solidFill>
                  <a:srgbClr val="1B3B6F"/>
                </a:solidFill>
                <a:latin typeface="Amiri" pitchFamily="2" charset="-78"/>
                <a:ea typeface="Amiri" pitchFamily="2" charset="-78"/>
                <a:cs typeface="Amiri" pitchFamily="2" charset="-78"/>
              </a:rPr>
              <a:t> لِوَظِيفَةِ مُسَاعِدٍ إِدَارِيٍّ.</a:t>
            </a:r>
            <a:endParaRPr lang="ar-SA" sz="2100" dirty="0"/>
          </a:p>
        </p:txBody>
      </p:sp>
      <p:sp>
        <p:nvSpPr>
          <p:cNvPr id="22" name="Text 19"/>
          <p:cNvSpPr txBox="1"/>
          <p:nvPr/>
        </p:nvSpPr>
        <p:spPr>
          <a:xfrm>
            <a:off x="4160520" y="2706624"/>
            <a:ext cx="46634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pleased to apply for the post of administrative assistant.</a:t>
            </a:r>
            <a:endParaRPr lang="en-US" sz="950" dirty="0"/>
          </a:p>
        </p:txBody>
      </p:sp>
      <p:sp>
        <p:nvSpPr>
          <p:cNvPr id="23" name="Text 20"/>
          <p:cNvSpPr txBox="1"/>
          <p:nvPr/>
        </p:nvSpPr>
        <p:spPr>
          <a:xfrm>
            <a:off x="548640" y="2286000"/>
            <a:ext cx="34747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أُرِيدُ هٰذِهِ الوَظِيفَةَ.</a:t>
            </a:r>
            <a:endParaRPr lang="ar-SA" sz="2100" dirty="0"/>
          </a:p>
        </p:txBody>
      </p:sp>
      <p:sp>
        <p:nvSpPr>
          <p:cNvPr id="24" name="Text 21"/>
          <p:cNvSpPr txBox="1"/>
          <p:nvPr/>
        </p:nvSpPr>
        <p:spPr>
          <a:xfrm>
            <a:off x="502920" y="2706624"/>
            <a:ext cx="35661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want this job.</a:t>
            </a:r>
            <a:endParaRPr lang="en-US" sz="95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979408" y="3054096"/>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ladayya + noun</a:t>
            </a:r>
            <a:endParaRPr lang="en-US" sz="1100" dirty="0"/>
          </a:p>
        </p:txBody>
      </p:sp>
      <p:sp>
        <p:nvSpPr>
          <p:cNvPr id="29" name="Text 26"/>
          <p:cNvSpPr txBox="1"/>
          <p:nvPr/>
        </p:nvSpPr>
        <p:spPr>
          <a:xfrm>
            <a:off x="4206240" y="3072384"/>
            <a:ext cx="4572000" cy="453542"/>
          </a:xfrm>
          <a:prstGeom prst="rect">
            <a:avLst/>
          </a:prstGeom>
          <a:noFill/>
          <a:ln/>
        </p:spPr>
        <p:txBody>
          <a:bodyPr wrap="square" lIns="0" tIns="0" rIns="0" bIns="0" rtlCol="0" anchor="ctr"/>
          <a:lstStyle/>
          <a:p>
            <a:pPr rtl="1" algn="ctr" indent="0" marL="0">
              <a:buNone/>
            </a:pPr>
            <a:r>
              <a:rPr lang="ar-SA" altLang="en-US" sz="2100" b="1" dirty="0">
                <a:solidFill>
                  <a:srgbClr val="D6336C"/>
                </a:solidFill>
                <a:latin typeface="Amiri" pitchFamily="2" charset="-78"/>
                <a:ea typeface="Amiri" pitchFamily="2" charset="-78"/>
                <a:cs typeface="Amiri" pitchFamily="2" charset="-78"/>
              </a:rPr>
              <a:t>لَدَيَّ خِبْرَةٌ فِي</a:t>
            </a:r>
            <a:pPr rtl="1" algn="ctr" indent="0" marL="0">
              <a:buNone/>
            </a:pPr>
            <a:r>
              <a:rPr lang="ar-SA" altLang="en-US" sz="2100" b="1" dirty="0">
                <a:solidFill>
                  <a:srgbClr val="1B3B6F"/>
                </a:solidFill>
                <a:latin typeface="Amiri" pitchFamily="2" charset="-78"/>
                <a:ea typeface="Amiri" pitchFamily="2" charset="-78"/>
                <a:cs typeface="Amiri" pitchFamily="2" charset="-78"/>
              </a:rPr>
              <a:t> خِدْمَةِ العُمَلَاءِ.</a:t>
            </a:r>
            <a:endParaRPr lang="ar-SA" sz="2100" dirty="0"/>
          </a:p>
        </p:txBody>
      </p:sp>
      <p:sp>
        <p:nvSpPr>
          <p:cNvPr id="30" name="Text 27"/>
          <p:cNvSpPr txBox="1"/>
          <p:nvPr/>
        </p:nvSpPr>
        <p:spPr>
          <a:xfrm>
            <a:off x="4160520" y="3493008"/>
            <a:ext cx="46634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have experience in customer service.</a:t>
            </a:r>
            <a:endParaRPr lang="en-US" sz="950" dirty="0"/>
          </a:p>
        </p:txBody>
      </p:sp>
      <p:sp>
        <p:nvSpPr>
          <p:cNvPr id="31" name="Text 28"/>
          <p:cNvSpPr txBox="1"/>
          <p:nvPr/>
        </p:nvSpPr>
        <p:spPr>
          <a:xfrm>
            <a:off x="548640" y="3072384"/>
            <a:ext cx="34747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عَمِلْتُ فِي مَطْعَمٍ.</a:t>
            </a:r>
            <a:endParaRPr lang="ar-SA" sz="2100" dirty="0"/>
          </a:p>
        </p:txBody>
      </p:sp>
      <p:sp>
        <p:nvSpPr>
          <p:cNvPr id="32" name="Text 29"/>
          <p:cNvSpPr txBox="1"/>
          <p:nvPr/>
        </p:nvSpPr>
        <p:spPr>
          <a:xfrm>
            <a:off x="502920" y="3493008"/>
            <a:ext cx="35661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worked in a restaurant.</a:t>
            </a:r>
            <a:endParaRPr lang="en-US" sz="950" dirty="0"/>
          </a:p>
        </p:txBody>
      </p:sp>
      <p:sp>
        <p:nvSpPr>
          <p:cNvPr id="33" name="Shape 30"/>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5" name="Shape 32"/>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6" name="Text 33"/>
          <p:cNvSpPr txBox="1"/>
          <p:nvPr/>
        </p:nvSpPr>
        <p:spPr>
          <a:xfrm>
            <a:off x="8979408" y="3840480"/>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sabaqa lī an + past</a:t>
            </a:r>
            <a:endParaRPr lang="en-US" sz="1100" dirty="0"/>
          </a:p>
        </p:txBody>
      </p:sp>
      <p:sp>
        <p:nvSpPr>
          <p:cNvPr id="37" name="Text 34"/>
          <p:cNvSpPr txBox="1"/>
          <p:nvPr/>
        </p:nvSpPr>
        <p:spPr>
          <a:xfrm>
            <a:off x="4206240" y="3858768"/>
            <a:ext cx="4572000" cy="453542"/>
          </a:xfrm>
          <a:prstGeom prst="rect">
            <a:avLst/>
          </a:prstGeom>
          <a:noFill/>
          <a:ln/>
        </p:spPr>
        <p:txBody>
          <a:bodyPr wrap="square" lIns="0" tIns="0" rIns="0" bIns="0" rtlCol="0" anchor="ctr"/>
          <a:lstStyle/>
          <a:p>
            <a:pPr rtl="1" algn="ctr" indent="0" marL="0">
              <a:buNone/>
            </a:pPr>
            <a:r>
              <a:rPr lang="ar-SA" altLang="en-US" sz="2100" b="1" dirty="0">
                <a:solidFill>
                  <a:srgbClr val="D6336C"/>
                </a:solidFill>
                <a:latin typeface="Amiri" pitchFamily="2" charset="-78"/>
                <a:ea typeface="Amiri" pitchFamily="2" charset="-78"/>
                <a:cs typeface="Amiri" pitchFamily="2" charset="-78"/>
              </a:rPr>
              <a:t>سَبَقَ لِي أَنْ</a:t>
            </a:r>
            <a:pPr rtl="1" algn="ctr" indent="0" marL="0">
              <a:buNone/>
            </a:pPr>
            <a:r>
              <a:rPr lang="ar-SA" altLang="en-US" sz="2100" b="1" dirty="0">
                <a:solidFill>
                  <a:srgbClr val="1B3B6F"/>
                </a:solidFill>
                <a:latin typeface="Amiri" pitchFamily="2" charset="-78"/>
                <a:ea typeface="Amiri" pitchFamily="2" charset="-78"/>
                <a:cs typeface="Amiri" pitchFamily="2" charset="-78"/>
              </a:rPr>
              <a:t> عَمِلْتُ فِي مَكْتَبٍ.</a:t>
            </a:r>
            <a:endParaRPr lang="ar-SA" sz="2100" dirty="0"/>
          </a:p>
        </p:txBody>
      </p:sp>
      <p:sp>
        <p:nvSpPr>
          <p:cNvPr id="38" name="Text 35"/>
          <p:cNvSpPr txBox="1"/>
          <p:nvPr/>
        </p:nvSpPr>
        <p:spPr>
          <a:xfrm>
            <a:off x="4160520" y="4279392"/>
            <a:ext cx="46634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have previously worked in an office.</a:t>
            </a:r>
            <a:endParaRPr lang="en-US" sz="950" dirty="0"/>
          </a:p>
        </p:txBody>
      </p:sp>
      <p:sp>
        <p:nvSpPr>
          <p:cNvPr id="39" name="Text 36"/>
          <p:cNvSpPr txBox="1"/>
          <p:nvPr/>
        </p:nvSpPr>
        <p:spPr>
          <a:xfrm>
            <a:off x="548640" y="3858768"/>
            <a:ext cx="34747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سَاعَدْتُ فِي المَكْتَبَةِ.</a:t>
            </a:r>
            <a:endParaRPr lang="ar-SA" sz="2100" dirty="0"/>
          </a:p>
        </p:txBody>
      </p:sp>
      <p:sp>
        <p:nvSpPr>
          <p:cNvPr id="40" name="Text 37"/>
          <p:cNvSpPr txBox="1"/>
          <p:nvPr/>
        </p:nvSpPr>
        <p:spPr>
          <a:xfrm>
            <a:off x="502920" y="4279392"/>
            <a:ext cx="35661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helped in the library.</a:t>
            </a:r>
            <a:endParaRPr lang="en-US" sz="9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979408" y="4626864"/>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aʿtaqidu annanī + adj.</a:t>
            </a:r>
            <a:endParaRPr lang="en-US" sz="1100" dirty="0"/>
          </a:p>
        </p:txBody>
      </p:sp>
      <p:sp>
        <p:nvSpPr>
          <p:cNvPr id="43" name="Text 40"/>
          <p:cNvSpPr txBox="1"/>
          <p:nvPr/>
        </p:nvSpPr>
        <p:spPr>
          <a:xfrm>
            <a:off x="4206240" y="4645152"/>
            <a:ext cx="457200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ea typeface="Amiri" pitchFamily="2" charset="-78"/>
                <a:cs typeface="Amiri" pitchFamily="2" charset="-78"/>
              </a:rPr>
              <a:t>أَعْتَقِدُ أَنَّنِي مُنَاسِبَةٌ</a:t>
            </a:r>
            <a:pPr rtl="1" algn="ctr" indent="0" marL="0">
              <a:buNone/>
            </a:pPr>
            <a:r>
              <a:rPr lang="ar-SA" altLang="en-US" sz="2100" b="1" dirty="0">
                <a:solidFill>
                  <a:srgbClr val="1B3B6F"/>
                </a:solidFill>
                <a:latin typeface="Amiri" pitchFamily="2" charset="-78"/>
                <a:ea typeface="Amiri" pitchFamily="2" charset="-78"/>
                <a:cs typeface="Amiri" pitchFamily="2" charset="-78"/>
              </a:rPr>
              <a:t> لِلوَظِيفَةِ.</a:t>
            </a:r>
            <a:endParaRPr lang="ar-SA" sz="2100" dirty="0"/>
          </a:p>
        </p:txBody>
      </p:sp>
      <p:sp>
        <p:nvSpPr>
          <p:cNvPr id="44" name="Text 41"/>
          <p:cNvSpPr txBox="1"/>
          <p:nvPr/>
        </p:nvSpPr>
        <p:spPr>
          <a:xfrm>
            <a:off x="4160520" y="5065776"/>
            <a:ext cx="46634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believe I am suitable for the job (f.).</a:t>
            </a:r>
            <a:endParaRPr lang="en-US" sz="950" dirty="0"/>
          </a:p>
        </p:txBody>
      </p:sp>
      <p:sp>
        <p:nvSpPr>
          <p:cNvPr id="45" name="Text 42"/>
          <p:cNvSpPr txBox="1"/>
          <p:nvPr/>
        </p:nvSpPr>
        <p:spPr>
          <a:xfrm>
            <a:off x="548640" y="4645152"/>
            <a:ext cx="34747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أَنَا جَيِّدٌ.</a:t>
            </a:r>
            <a:endParaRPr lang="ar-SA" sz="2100" dirty="0"/>
          </a:p>
        </p:txBody>
      </p:sp>
      <p:sp>
        <p:nvSpPr>
          <p:cNvPr id="46" name="Text 43"/>
          <p:cNvSpPr txBox="1"/>
          <p:nvPr/>
        </p:nvSpPr>
        <p:spPr>
          <a:xfrm>
            <a:off x="502920" y="5065776"/>
            <a:ext cx="35661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good.</a:t>
            </a:r>
            <a:endParaRPr lang="en-US" sz="950" dirty="0"/>
          </a:p>
        </p:txBody>
      </p:sp>
      <p:sp>
        <p:nvSpPr>
          <p:cNvPr id="47" name="Text 4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ladayya with a NOUN (experience in …) and sabaqa lī an with a PAST verb (I have previously …).</a:t>
            </a:r>
            <a:endParaRPr lang="en-US" sz="11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Applications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SUITABILITY AND INTERVIEW EVIDENCE (WEBSITE RULES 3–4)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Why me? Prove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مُنَاسِبٌ · الدَّلِيلُ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16586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1658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SUITABLE · HE</a:t>
            </a:r>
            <a:endParaRPr lang="en-US" sz="850" dirty="0"/>
          </a:p>
        </p:txBody>
      </p:sp>
      <p:sp>
        <p:nvSpPr>
          <p:cNvPr id="18" name="Text 15"/>
          <p:cNvSpPr txBox="1"/>
          <p:nvPr/>
        </p:nvSpPr>
        <p:spPr>
          <a:xfrm>
            <a:off x="9444228" y="1874520"/>
            <a:ext cx="21503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أَعْتَقِدُ أَنَّنِي مُنَاسِبٌ</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50" b="1" dirty="0">
                <a:solidFill>
                  <a:srgbClr val="1B3B6F"/>
                </a:solidFill>
                <a:latin typeface="Amiri" pitchFamily="2" charset="-78"/>
                <a:ea typeface="Amiri" pitchFamily="2" charset="-78"/>
                <a:cs typeface="Amiri" pitchFamily="2" charset="-78"/>
              </a:rPr>
              <a:t>أَعْتَقِدُ أَنَّنِي مُنَاسِبٌ لِهٰذِهِ الفُرْصَةِ.</a:t>
            </a:r>
            <a:endParaRPr lang="ar-SA" sz="22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believe I am suitable for this opportunity.</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 boy: munāsibun.</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23444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SUITABLE · SHE</a:t>
            </a:r>
            <a:endParaRPr lang="en-US" sz="850" dirty="0"/>
          </a:p>
        </p:txBody>
      </p:sp>
      <p:sp>
        <p:nvSpPr>
          <p:cNvPr id="26" name="Text 23"/>
          <p:cNvSpPr txBox="1"/>
          <p:nvPr/>
        </p:nvSpPr>
        <p:spPr>
          <a:xfrm>
            <a:off x="5693664"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أَعْتَقِدُ أَنَّنِي مُنَاسِبَةٌ</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أَعْتَقِدُ أَنَّنِي مُنَاسِبَةٌ لِلوَظِيفَةِ لِأَنَّنِي مُنَظَّمَةٌ.</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believe I am suitable for the job because I am organised.</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 girl: -atun, twice.</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08760" cy="274320"/>
          </a:xfrm>
          <a:prstGeom prst="roundRect">
            <a:avLst>
              <a:gd name="adj" fmla="val 50000"/>
            </a:avLst>
          </a:prstGeom>
          <a:solidFill>
            <a:srgbClr val="1E7B4F"/>
          </a:solidFill>
          <a:ln w="12700">
            <a:solidFill>
              <a:srgbClr val="1E7B4F"/>
            </a:solidFill>
            <a:prstDash val="solid"/>
          </a:ln>
        </p:spPr>
      </p:sp>
      <p:sp>
        <p:nvSpPr>
          <p:cNvPr id="33" name="Text 30"/>
          <p:cNvSpPr txBox="1"/>
          <p:nvPr/>
        </p:nvSpPr>
        <p:spPr>
          <a:xfrm>
            <a:off x="594360"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EVIDENCE · STRETCH</a:t>
            </a:r>
            <a:endParaRPr lang="en-US" sz="850" dirty="0"/>
          </a:p>
        </p:txBody>
      </p:sp>
      <p:sp>
        <p:nvSpPr>
          <p:cNvPr id="34" name="Text 31"/>
          <p:cNvSpPr txBox="1"/>
          <p:nvPr/>
        </p:nvSpPr>
        <p:spPr>
          <a:xfrm>
            <a:off x="2148840"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وَالدَّلِيلُ عَلَى ذٰلِكَ</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مِنْ نِقَاطِ قُوَّتِي إِدَارَةُ الوَقْتِ، وَالدَّلِيلُ عَلَى ذٰلِكَ أَنَّنِي أُنَظِّمُ مَشْرُوعَاتِي بِدِقَّةٍ.</a:t>
            </a:r>
            <a:endParaRPr lang="ar-SA" sz="20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150" i="1" dirty="0">
                <a:solidFill>
                  <a:srgbClr val="5A6472"/>
                </a:solidFill>
                <a:latin typeface="Calibri" pitchFamily="34" charset="0"/>
                <a:cs typeface="Amiri" pitchFamily="2" charset="-78"/>
              </a:rPr>
              <a:t>One of my strengths is time management; the proof is that I organise my projects carefully.</a:t>
            </a:r>
            <a:endParaRPr lang="en-US" sz="115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Strength, then proof.</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A girl applying: the adjective agrees.</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قَالَتْ نُورُ: أَنَا مُنَاسِبَةٌ.</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قَالَتْ نُورُ: أَنَا مُنَاسِبٌ.</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Applications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Formal application language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200" b="1" dirty="0">
                <a:solidFill>
                  <a:srgbClr val="8A6D1E"/>
                </a:solidFill>
                <a:latin typeface="Amiri" pitchFamily="2" charset="-78"/>
                <a:ea typeface="Amiri" pitchFamily="2" charset="-78"/>
                <a:cs typeface="Amiri" pitchFamily="2" charset="-78"/>
              </a:rPr>
              <a:t>اللُّغَةُ الرَّسْمِيَّةُ فِي طَلَبِ الوَظِيفَةِ وَالمُقَابَلَةِ</a:t>
            </a:r>
            <a:endParaRPr lang="ar-SA" sz="22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Formal opening</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يَسُرُّنِي أَنْ أَتَقَدَّمَ لِـ</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يَسُرُّنِي أَنْ أَتَقَدَّمَ لِوَظِيفَةِ مُسَاعِدٍ إِدَارِيٍّ.</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Experience</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لَدَيَّ خِبْرَةٌ فِي / سَبَقَ لِي أَنْ</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لَدَيَّ خِبْرَةٌ فِي خِدْمَةِ العُمَلَاءِ.   ·   سَبَقَ لِي أَنْ عَمِلْتُ فِي مَكْتَبٍ.</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Suitability</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أَعْتَقِدُ أَنَّنِي مُنَاسِبٌ / مُنَاسِبَةٌ لِـ</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أَعْتَقِدُ أَنَّنِي مُنَاسِبَةٌ لِلوَظِيفَةِ لِأَنَّنِي مُنَظَّمَةٌ.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Interview evidence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مِنْ نِقَاطِ قُوَّتِي ... وَالدَّلِيلُ عَلَى ذٰلِكَ ...</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مِنْ نِقَاطِ قُوَّتِي إِدَارَةُ الوَقْتِ، وَالدَّلِيلُ عَلَى ذٰلِكَ أَنَّنِي أُنَظِّمُ مَشْرُوعَاتِي بِدِقَّةٍ.</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Applications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formal opening?</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أُرِيدُ الوَظِيفَةَ.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 أُحِبُّ الوَظِيفَةَ.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يَسُرُّنِي أَنْ أَتَقَدَّمَ لِلوَظِيفَةِ.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2" name="Text 29"/>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لَدَيَّ خِبْرَةٌ ___ خِدْمَةِ العُمَلَاءِ.</a:t>
            </a:r>
            <a:endParaRPr lang="ar-SA" sz="150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6" name="Text 43"/>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سَبَقَ لِي أَنْ ___ فِي مَكْتَبٍ.</a:t>
            </a:r>
            <a:endParaRPr lang="ar-SA" sz="150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أَعْمَلُ</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عَمِلْتُ</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عَمَلٌ</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A girl writes:</a:t>
            </a:r>
            <a:endParaRPr lang="en-US" sz="1200" dirty="0"/>
          </a:p>
        </p:txBody>
      </p:sp>
      <p:sp>
        <p:nvSpPr>
          <p:cNvPr id="60" name="Text 57"/>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أَعْتَقِدُ أَنَّنِي ___ لِلوَظِيفَةِ.</a:t>
            </a:r>
            <a:endParaRPr lang="ar-SA" sz="150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مُنَاسِبَةٌ</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مُنَاسِبٌ</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مُنَاسِبُونَ</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Applications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formal opening?</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أُرِيدُ الوَظِيفَةَ.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أَنَا أُحِبُّ الوَظِيفَةَ.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يَسُرُّنِي أَنْ أَتَقَدَّمَ لِلوَظِيفَةِ.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Formal, impersonal opening.</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لَدَيَّ خِبْرَةٌ ___ خِدْمَةِ العُمَلَاءِ.</a:t>
            </a:r>
            <a:endParaRPr lang="ar-SA" sz="150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khibra fī = experience in.</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0" name="Text 47"/>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سَبَقَ لِي أَنْ ___ فِي مَكْتَبٍ.</a:t>
            </a:r>
            <a:endParaRPr lang="ar-SA" sz="150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أَعْمَلُ</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عَمِلْتُ</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عَمَلٌ</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sabaqa lī an + PAST verb.</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A girl writes:</a:t>
            </a:r>
            <a:endParaRPr lang="en-US" sz="1200" dirty="0"/>
          </a:p>
        </p:txBody>
      </p:sp>
      <p:sp>
        <p:nvSpPr>
          <p:cNvPr id="66" name="Text 63"/>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أَعْتَقِدُ أَنَّنِي ___ لِلوَظِيفَةِ.</a:t>
            </a:r>
            <a:endParaRPr lang="ar-SA" sz="1500" dirty="0"/>
          </a:p>
        </p:txBody>
      </p:sp>
      <p:sp>
        <p:nvSpPr>
          <p:cNvPr id="67" name="Shape 64"/>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368796" y="4831080"/>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مُنَاسِبَةٌ</a:t>
            </a:r>
            <a:endParaRPr lang="ar-SA" sz="170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مُنَاسِبٌ</a:t>
            </a:r>
            <a:endParaRPr lang="ar-SA" sz="1700" dirty="0"/>
          </a:p>
        </p:txBody>
      </p:sp>
      <p:sp>
        <p:nvSpPr>
          <p:cNvPr id="74" name="Shape 71"/>
          <p:cNvSpPr/>
          <p:nvPr/>
        </p:nvSpPr>
        <p:spPr>
          <a:xfrm>
            <a:off x="6368796" y="5574792"/>
            <a:ext cx="256032" cy="256032"/>
          </a:xfrm>
          <a:prstGeom prst="ellipse">
            <a:avLst/>
          </a:prstGeom>
          <a:solidFill>
            <a:srgbClr val="C9CED6"/>
          </a:solidFill>
          <a:ln w="12700">
            <a:solidFill>
              <a:srgbClr val="C9CED6"/>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مُنَاسِبُونَ</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Agree with the applicant.</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Applications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Watch me write a formal application</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Greeting</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300" b="1" dirty="0">
                <a:solidFill>
                  <a:srgbClr val="1B3B6F"/>
                </a:solidFill>
                <a:latin typeface="Amiri" pitchFamily="2" charset="-78"/>
                <a:ea typeface="Amiri" pitchFamily="2" charset="-78"/>
                <a:cs typeface="Amiri" pitchFamily="2" charset="-78"/>
              </a:rPr>
              <a:t>السَّيِّدُ المُدِيرُ المُحْتَرَمُ،</a:t>
            </a:r>
            <a:endParaRPr lang="ar-SA" sz="23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Formal greeting.</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Purpose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يَسُرُّنِي أَنْ أَتَقَدَّمَ</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لِوَظِيفَةِ مُسَاعِدٍ فِي مَتْجَرِكُمْ.</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Formal opening.</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Experience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سَبَقَ لِي أَنْ</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عَمِلْتُ فِي مَطْعَمٍ، وَ</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لَدَيَّ خِبْرَةٌ فِي</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خِدْمَةِ العُمَلَاءِ.</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Verb, then noun.</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Why me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أَعْتَقِدُ أَنَّنِي مُنَاسِبٌ</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لِلوَظِيفَةِ لِأَنَّنِي مَسْؤُولٌ.</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Claim + reason.</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OPENING</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EXPERIENCE</a:t>
            </a:r>
            <a:endParaRPr lang="en-US" sz="800" dirty="0"/>
          </a:p>
        </p:txBody>
      </p:sp>
      <p:sp>
        <p:nvSpPr>
          <p:cNvPr id="49" name="Shape 45"/>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SUITABILITY</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السَّيِّدُ المُدِيرُ المُحْتَرَمُ،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يَسُرُّنِي أَنْ أَتَقَدَّمَ</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لِوَظِيفَةِ مُسَاعِدٍ فِي مَتْجَرِكُمْ يَوْمَ السَّبْتِ.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سَبَقَ لِي أَنْ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عَمِلْتُ فِي مَطْعَمِ عَمِّي، وَ</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لَدَيَّ خِبْرَةٌ فِي</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خِدْمَةِ العُمَلَاءِ.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أَعْتَقِدُ أَنَّنِي مُنَاسِبٌ</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لِهٰذِهِ الوَظِيفَةِ لِأَنَّنِي مَسْؤُولٌ وَأَحْتَرِمُ المَوَاعِيدَ. مَعَ خَالِصِ التَّحِيَّاتِ.</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Dear Manager, I am pleased to apply for the post of Saturday assistant in your shop. I have previously worked in my uncle’s restaurant, and I have experience in customer service. I believe I am suitable for this job because I am responsible and I respect appointments. With best regards.</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Applications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cs typeface="Amiri" pitchFamily="2" charset="-78"/>
              </a:rPr>
              <a:t>I DO · MODEL SENTENCES (TEACHER-WRITTEN ON THE WEBSITE RULES)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يَسُرُّنِي أَنْ أَتَقَدَّمَ لِوَظِيفَةِ مُسَاعِدٍ إِدَارِيٍّ.</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am pleased to apply for the post of administrative assistant.</a:t>
            </a:r>
            <a:endParaRPr lang="en-US" sz="1250" dirty="0"/>
          </a:p>
          <a:p>
            <a:pPr indent="0" marL="0">
              <a:buNone/>
            </a:pPr>
            <a:r>
              <a:rPr lang="en-US" sz="1050" i="1" dirty="0">
                <a:solidFill>
                  <a:srgbClr val="8A6D1E"/>
                </a:solidFill>
                <a:latin typeface="Calibri" pitchFamily="34" charset="0"/>
                <a:cs typeface="Amiri" pitchFamily="2" charset="-78"/>
              </a:rPr>
              <a:t>Formal opening.</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لَدَيَّ خِبْرَةٌ فِي خِدْمَةِ العُمَلَاءِ.</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have experience in customer service.</a:t>
            </a:r>
            <a:endParaRPr lang="en-US" sz="1250" dirty="0"/>
          </a:p>
          <a:p>
            <a:pPr indent="0" marL="0">
              <a:buNone/>
            </a:pPr>
            <a:r>
              <a:rPr lang="en-US" sz="1050" i="1" dirty="0">
                <a:solidFill>
                  <a:srgbClr val="8A6D1E"/>
                </a:solidFill>
                <a:latin typeface="Calibri" pitchFamily="34" charset="0"/>
                <a:cs typeface="Amiri" pitchFamily="2" charset="-78"/>
              </a:rPr>
              <a:t>ladayya + noun.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سَبَقَ لِي أَنْ تَطَوَّعْتُ فِي مَكْتَبَةِ المَدْرَسَةِ.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have previously volunteered in the school library.</a:t>
            </a:r>
            <a:endParaRPr lang="en-US" sz="1250" dirty="0"/>
          </a:p>
          <a:p>
            <a:pPr indent="0" marL="0">
              <a:buNone/>
            </a:pPr>
            <a:r>
              <a:rPr lang="en-US" sz="1050" i="1" dirty="0">
                <a:solidFill>
                  <a:srgbClr val="8A6D1E"/>
                </a:solidFill>
                <a:latin typeface="Calibri" pitchFamily="34" charset="0"/>
                <a:cs typeface="Amiri" pitchFamily="2" charset="-78"/>
              </a:rPr>
              <a:t>sabaqa lī an + past.</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أَعْتَقِدُ أَنَّنِي مُنَاسِبَةٌ لِلوَظِيفَةِ لِأَنَّنِي مُنَظَّمَةٌ.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believe I am suitable for the job because I am organised.</a:t>
            </a:r>
            <a:endParaRPr lang="en-US" sz="1250" dirty="0"/>
          </a:p>
          <a:p>
            <a:pPr indent="0" marL="0">
              <a:buNone/>
            </a:pPr>
            <a:r>
              <a:rPr lang="en-US" sz="1050" i="1" dirty="0">
                <a:solidFill>
                  <a:srgbClr val="8A6D1E"/>
                </a:solidFill>
                <a:latin typeface="Calibri" pitchFamily="34" charset="0"/>
                <a:cs typeface="Amiri" pitchFamily="2" charset="-78"/>
              </a:rPr>
              <a:t>Agree (f.) + reason.</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Applications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JOB APPLICATIONS AND INTERVIEWS — CV, SKILLS AND FUTURE PLANS”</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Applying for a job: match the picture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مُقَابَلَةُ العَمَلِ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CV</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an interview</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email + attachment</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أُرْسِلُ طَلَبَ الوَظِيفَةِ بِالبَرِيدِ الإِلِكْتُرُونِيِّ.</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هٰذِهِ سِيرَتِي الذَّاتِيَّةُ.</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لَدَيَّ مُقَابَلَةُ عَمَلٍ.</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Applications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مُقَابَلَةُ العَمَلِ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CV</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هٰذِهِ سِيرَتِي الذَّاتِيَّةُ.</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my CV.</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an interview</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لَدَيَّ مُقَابَلَةُ عَمَلٍ.</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have a job interview.</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email + attachment</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أُرْسِلُ طَلَبَ الوَظِيفَةِ بِالبَرِيدِ الإِلِكْتُرُونِيِّ.</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send the job application by email.</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Applications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Formal or informal?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يَسُرُّنِي أَنْ أَتَقَدَّمَ</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لَدَيَّ خِبْرَةٌ فِي</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سَبَقَ لِي أَنْ عَمِلْتُ</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 خَالِصِ التَّحِيَّاتِ</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الوَظِيفَةَ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مَرْحَبًا يَا صَدِيقِي</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جَيِّدٌ</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إِلَى اللِّقَاءِ</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Formal (letter)</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Informal (chat)</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Applications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Formal (letter)</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يَسُرُّنِي أَنْ أَتَقَدَّمَ</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لَدَيَّ خِبْرَةٌ فِي</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سَبَقَ لِي أَنْ عَمِلْتُ</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 خَالِصِ التَّحِيَّاتِ</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Informal (chat)</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الوَظِيفَةَ</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مَرْحَبًا يَا صَدِيقِي</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جَيِّدٌ</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إِلَى اللِّقَاءِ</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Applications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رِسَالَةُ تَغْطِيَةٍ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CV</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job advert</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cover letter</a:t>
            </a:r>
            <a:endParaRPr lang="en-US" sz="12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gives evidence for a strength?</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 قَائِدٌ جَيِّدٌ.</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وَالدَّلِيلُ عَلَى ذٰلِكَ أَنَّنِي قُدْتُ فَرِيقًا.</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أُحِبُّ القِيَادَةَ.</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formal way to end a letter?</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 اللِّقَاءِ</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 خَالِصِ التَّحِيَّاتِ</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بَاي</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مَرْجِعٌ / تَزْكِيَةٌ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salary</a:t>
            </a:r>
            <a:endParaRPr lang="en-US" sz="12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weakness</a:t>
            </a:r>
            <a:endParaRPr lang="en-US" sz="12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reference</a:t>
            </a:r>
            <a:endParaRPr lang="en-US" sz="12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Applications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رِسَالَةُ تَغْطِيَةٍ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CV</a:t>
            </a:r>
            <a:endParaRPr lang="en-US" sz="125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job advert</a:t>
            </a:r>
            <a:endParaRPr lang="en-US" sz="125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cover letter</a:t>
            </a:r>
            <a:endParaRPr lang="en-US" sz="125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risāla = letter.</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gives evidence for a strength?</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أَنَا قَائِدٌ جَيِّدٌ.</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وَالدَّلِيلُ عَلَى ذٰلِكَ أَنَّنِي قُدْتُ فَرِيقًا.</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أُحِبُّ القِيَادَةَ.</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Strength, then proof.</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formal way to end a letter?</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 اللِّقَاءِ</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مَعَ خَالِصِ التَّحِيَّاتِ</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بَاي</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With best regards.</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مَرْجِعٌ / تَزْكِيَةٌ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salary</a:t>
            </a:r>
            <a:endParaRPr lang="en-US" sz="125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weakness</a:t>
            </a:r>
            <a:endParaRPr lang="en-US" sz="125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reference</a:t>
            </a:r>
            <a:endParaRPr lang="en-US" sz="125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Someone who recommends you.</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Applications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يَسُرُّنِي أَنْ أَتَقَدَّمُ لِلوَظِيفَةِ.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an: -u or -a?</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لَدَيَّ خِبْرَةٌ فِي عَمِلْتُ.</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fī + a verb or a noun?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قَالَتْ نُورُ: أَعْتَقِدُ أَنَّنِي مُنَاسِبٌ.</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Noor is a girl: which ending?</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Applications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يَسُرُّنِي أَنْ أَتَقَدَّمُ لِلوَظِيفَةِ.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يَسُرُّنِي أَنْ أَتَقَدَّمَ لِلوَظِيفَةِ.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an the verb ends in -a.</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لَدَيَّ خِبْرَةٌ فِي عَمِلْتُ.</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لَدَيَّ خِبْرَةٌ فِي خِدْمَةِ العُمَلَاءِ.</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ladayya khibra fī + a NOUN.</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قَالَتْ نُورُ: أَعْتَقِدُ أَنَّنِي مُنَاسِبٌ.</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قَالَتْ نُورُ: أَعْتَقِدُ أَنَّنِي مُنَاسِبَةٌ.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Noor is a girl → munāsibatun.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Applications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Interview extracts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Noor want the job?</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likes dealing with people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salary is high</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near her home</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experience does she have?</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working in a shop</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teaching children</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organising school events</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strength does she name?</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is creative</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is calm</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is organised</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evidence does she give?</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led a team and finished early</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won a prize</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has a certificate</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students were in her team?</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five</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ten</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she study in the future?</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business management</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medicine</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design</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5.</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النَّاسِ</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مُنَظَّمَةٌ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خَمْسِ</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Applications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المُقَابِلُ: لِمَاذَا تُرِيدِينَ هٰذِهِ الوَظِيفَةَ؟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Interviewer: Why do you want this job?</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2" charset="-78"/>
                <a:ea typeface="Amiri" pitchFamily="2" charset="-78"/>
                <a:cs typeface="Amiri" pitchFamily="2" charset="-78"/>
              </a:rPr>
              <a:t>نُورُ: لِأَنَّنِي أُحِبُّ التَّعَامُلَ مَعَ النَّاسِ، وَلَدَيَّ خِبْرَةٌ فِي تَنْظِيمِ الفَعَالِيَّاتِ المَدْرَسِيَّةِ.</a:t>
            </a:r>
            <a:endParaRPr lang="ar-SA" sz="18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Noor: Because I like dealing with people, and I have experience in organising school events.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المُقَابِلُ: مَا نُقْطَةُ قُوَّتِكِ؟</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Interviewer: What is your strength?</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2" charset="-78"/>
                <a:ea typeface="Amiri" pitchFamily="2" charset="-78"/>
                <a:cs typeface="Amiri" pitchFamily="2" charset="-78"/>
              </a:rPr>
              <a:t>نُورُ: أَنَا مُنَظَّمَةٌ، فَقَدْ قُدْتُ فَرِيقًا مِنْ خَمْسِ طَالِبَاتٍ وَأَنْهَيْنَا المَشْرُوعَ قَبْلَ المَوْعِدِ.</a:t>
            </a:r>
            <a:endParaRPr lang="ar-SA" sz="18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Noor: I am organised — I led a team of five students and we finished the project before the deadline.</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المُقَابِلُ: مَا خُطَّتُكِ؟ نُورُ: سَأَدْرُسُ إِدَارَةَ الأَعْمَالِ فِي المُسْتَقْبَلِ.</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Interviewer: What is your plan? Noor: I will study business management in the future.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Applications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Noor want the job?</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she likes dealing with people</a:t>
            </a:r>
            <a:endParaRPr lang="en-US" sz="12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salary is high</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near her home</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أُحِبُّ التَّعَامُلَ مَعَ النَّاسِ</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experience does she have?</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working in a shop</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teaching children</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organising school events</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خِبْرَةٌ فِي تَنْظِيمِ الفَعَالِيَّاتِ المَدْرَسِيَّةِ</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strength does she name?</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is creative</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is calm</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she is organised</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أَنَا مُنَظَّمَةٌ</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evidence does she give?</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she led a team and finished early</a:t>
            </a:r>
            <a:endParaRPr lang="en-US" sz="11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won a prize</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has a certificate</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قُدْتُ فَرِيقًا … قَبْلَ المَوْعِدِ</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students were in her team?</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five</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ten</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خَمْسِ طَالِبَاتٍ</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she study in the future?</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business management</a:t>
            </a:r>
            <a:endParaRPr lang="en-US" sz="12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medicine</a:t>
            </a:r>
            <a:endParaRPr lang="en-US" sz="12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design</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سَأَدْرُسُ إِدَارَةَ الأَعْمَالِ</a:t>
            </a:r>
            <a:endParaRPr lang="ar-SA" sz="13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5.</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النَّاسِ</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مُنَظَّمَةٌ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خَمْسِ</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Applications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job interview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لِمَاذَا تُرِيدُ هٰذِهِ الوَظِيفَةَ؟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نُقْطَةُ قُوَّتِكَ؟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لَدَيْكَ خِبْرَةٌ سَابِقَةٌ؟</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نُقْطَةُ ضَعْفِكَ، وَكَيْفَ تُحَسِّنُهَا؟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لِأَنَّنِي أُحِبُّ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نُقْطَةُ قُوَّتِي ___ لِأَنَّنِي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نَعَمْ، سَبَقَ لِي أَنْ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أَحْيَانًا ___ ، وَلٰكِنَّنِي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لِمَاذَا تُرِيدُ هٰذِهِ الوَظِيفَةَ؟</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Why do you want this job?</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لِأَنَّنِي أُحِبُّ العَمَلَ مَعَ النَّاسِ، وَلَدَيَّ خِبْرَةٌ فِي خِدْمَةِ العُمَلَاءِ.</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00" i="1" dirty="0">
                <a:solidFill>
                  <a:srgbClr val="5A6472"/>
                </a:solidFill>
                <a:latin typeface="Calibri" pitchFamily="34" charset="0"/>
                <a:cs typeface="Amiri" pitchFamily="2" charset="-78"/>
              </a:rPr>
              <a:t>Because I like working with people, and I have experience in customer service.</a:t>
            </a:r>
            <a:endParaRPr lang="en-US" sz="90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Applications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Secure the main vocabulary and produce four accurate sentences using the taught frame.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 short formal letter from the frames: greeting, purpose, one experience, why you, close.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80–100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Combine description, grammar and a reason in connected answers.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Formal email with sabaqa lī an, ladayya khibra and a strength with evidence.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comparison, contrast, precise evidence and independently controlled complex structures.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 full formal application email for a weekend or summer job, with future plans.</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Applications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سَبَقَ لِي أَنْ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previously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حَيْثُ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where I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نِقَاطِ قُوَّتِي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One of my strengths is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وَالدَّلِيلُ عَلَى ذٰلِكَ أَنَّنِي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the proof is that I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السَّيِّدُ المُدِيرُ المُحْتَرَمُ،</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Dear Manager,</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يَسُرُّنِي أَنْ أَتَقَدَّمَ لِوَظِيفَةِ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pleased to apply for the post of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لَدَيَّ خِبْرَةٌ فِي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experience in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أَعْتَقِدُ أَنَّنِي مُنَاسِبٌ / مُنَاسِبَةٌ لِأَنَّنِي ______ .</a:t>
            </a:r>
            <a:endParaRPr lang="ar-SA" sz="165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believe I am suitable because …</a:t>
            </a:r>
            <a:endParaRPr lang="en-US" sz="1050" dirty="0"/>
          </a:p>
        </p:txBody>
      </p:sp>
      <p:sp>
        <p:nvSpPr>
          <p:cNvPr id="37" name="Text 34"/>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مَعَ خَالِصِ التَّحِيَّاتِ.</a:t>
            </a:r>
            <a:endParaRPr lang="ar-SA" sz="1800" dirty="0"/>
          </a:p>
        </p:txBody>
      </p:sp>
      <p:sp>
        <p:nvSpPr>
          <p:cNvPr id="38" name="Text 35"/>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With best regards.</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يَسُرُّنِي أَنْ أَتَقَدَّمَ  ·  لَدَيَّ خِبْرَةٌ فِي  ·  سَبَقَ لِي أَنْ  ·  أَعْتَقِدُ أَنَّنِي  ·  مُنَاسِبٌ  ·  مُنَاسِبَةٌ  ·  مِنْ نِقَاطِ قُوَّتِي  ·  وَالدَّلِيلُ عَلَى ذٰلِكَ  ·  تَطَوَّعْتُ  ·  خِدْمَةِ العُمَلَاءِ  ·  إِضَافَةً إِلَى ذٰلِكَ  ·  مَعَ خَالِصِ التَّحِيَّاتِ</a:t>
            </a:r>
            <a:endParaRPr lang="ar-SA" sz="13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44</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Applications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formal application email for a weekend or summer job.</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Address every content point.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least two target structures from the grammar lesson.</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 evidence, reason or comparison.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Check agreement, verb patterns and spelling.</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السَّيِّدَةُ المُدِيرَةُ المُحْتَرَمَةُ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Dear (female) Manager</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فُرْصَةُ التَّدْرِيبِ الصَّيْفِيِّ</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summer placement</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حَيْثُ سَاعَدْتُ الزُّوَّارَ</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where I helped visitors</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أَتَعَلَّمُ بِسُرْعَةٍ</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learn quickly</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أَعْمَلُ جَيِّدًا ضِمْنَ فَرِيقٍ</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work well in a team</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44</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Applications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السَّيِّدُ مُدِيرُ المَتْجَرِ المُحْتَرَمُ، يَسُرُّنِي أَنْ أَتَقَدَّمَ لِوَظِيفَةِ مُسَاعِدٍ فِي مَتْجَرِكُمْ أَيَّامَ السَّبْتِ. أَنَا طَالِبٌ فِي الصَّفِّ الثَّامِنِ، وَأَنَا مَسْؤُولٌ وَمُنَظَّمٌ. سَبَقَ لِي أَنْ تَطَوَّعْتُ فِي مَكْتَبَةِ المَدْرَسَةِ، حَيْثُ سَاعَدْتُ الطُّلَّابَ وَرَتَّبْتُ الكُتُبَ، لِذٰلِكَ لَدَيَّ خِبْرَةٌ فِي التَّعَامُلِ مَعَ النَّاسِ. مِنْ نِقَاطِ قُوَّتِي إِدَارَةُ الوَقْتِ، وَالدَّلِيلُ عَلَى ذٰلِكَ أَنَّنِي أُنْهِي وَاجِبَاتِي دَائِمًا فِي الوَقْتِ. أَعْتَقِدُ أَنَّنِي مُنَاسِبٌ لِهٰذِهِ الوَظِيفَةِ لِأَنَّنِي أَتَعَلَّمُ بِسُرْعَةٍ. فِي المُسْتَقْبَلِ سَأَدْرُسُ إِدَارَةَ الأَعْمَالِ. مَعَ خَالِصِ التَّحِيَّاتِ.</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Shop Manager, I am pleased to apply for the post of Saturday assistant in your shop. I am a Year 8 student, and I am responsible and organised. I have previously volunteered in the school library, where I helped students and arranged the books, so I have experience in dealing with people. One of my strengths is time management; the proof is that I always finish my homework on time. I believe I am suitable for this job because I learn quickly. In the future I will study business management. With best regards.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formal opening</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sabaqa lī an + past</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strength with evidence</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formal close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44</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Applications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 formal opening and close.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munāsib agrees with me (m. / f.).</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ladayya + noun; sabaqa lī an + past.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strength has evidence.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a future plan (sa-).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44</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Applications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يَسُرُّنِي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لِوَظِيفَةِ مُسَاعِدٍ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أَتَقَدَّمَ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تَقَدَّمْتُ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سَأَتَقَدَّمُ</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uses a noun after ladayya?</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لَدَيَّ عَمِلْتُ.</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لَدَيَّ خِبْرَةٌ فِي التَّصْمِيمِ.</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لَدَيَّ أَنْ أَعْمَلَ.</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مُقَابَلَةٌ شَخْصِيَّةٌ</a:t>
            </a:r>
            <a:pPr algn="l" indent="0" marL="0">
              <a:buNone/>
            </a:pPr>
            <a:r>
              <a:rPr lang="en-US" sz="1250" b="1" dirty="0">
                <a:solidFill>
                  <a:srgbClr val="1B3B6F"/>
                </a:solidFill>
                <a:latin typeface="Calibri" pitchFamily="34" charset="0"/>
                <a:cs typeface="Amiri" pitchFamily="2" charset="-78"/>
              </a:rPr>
              <a:t> mean here?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job interview</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contest</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meeting with friends</a:t>
            </a:r>
            <a:endParaRPr lang="en-US"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44</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Applications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يَسُرُّنِي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لِوَظِيفَةِ مُسَاعِدٍ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أَتَقَدَّمَ</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تَقَدَّمْتُ</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سَأَتَقَدَّمُ</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an + verb (-a).</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uses a noun after ladayya?</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لَدَيَّ عَمِلْتُ.</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لَدَيَّ خِبْرَةٌ فِي التَّصْمِيمِ.</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لَدَيَّ أَنْ أَعْمَلَ.</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ladayya + noun.</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مُقَابَلَةٌ شَخْصِيَّةٌ</a:t>
            </a:r>
            <a:pPr algn="l" indent="0" marL="0">
              <a:buNone/>
            </a:pPr>
            <a:r>
              <a:rPr lang="en-US" sz="1250" b="1" dirty="0">
                <a:solidFill>
                  <a:srgbClr val="1B3B6F"/>
                </a:solidFill>
                <a:latin typeface="Calibri" pitchFamily="34" charset="0"/>
                <a:cs typeface="Amiri" pitchFamily="2" charset="-78"/>
              </a:rPr>
              <a:t> mean here?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job interview</a:t>
            </a:r>
            <a:endParaRPr lang="en-US"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contest</a:t>
            </a:r>
            <a:endParaRPr lang="en-US"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meeting with friends</a:t>
            </a:r>
            <a:endParaRPr lang="en-US"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Not the Urdu meaning!</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44</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Applications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short application</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السَّيِّدَةُ مُدِيرَةُ المَوَارِدِ البَشَرِيَّةِ المُحْتَرَمَةُ، يَسُرُّنِي أَنْ أَتَقَدَّمَ لِفُرْصَةِ التَّدْرِيبِ الصَّيْفِيِّ فِي شَرِكَتِكُمْ. أَنَا طَالِبٌ مُنَظَّمٌ وَمَسْؤُولٌ، وَلَدَيَّ مَهَارَاتٌ جَيِّدَةٌ فِي الحَاسُوبِ وَالتَّوَاصُلِ. سَبَقَ لِي أَنْ تَطَوَّعْتُ فِي مَكْتَبَةِ المَدْرَسَةِ، حَيْثُ سَاعَدْتُ الزُّوَّارَ وَرَتَّبْتُ السِّجِلَّاتِ. أَعْتَقِدُ أَنَّنِي مُنَاسِبٌ لِهٰذِهِ الفُرْصَةِ لِأَنَّنِي أَتَعَلَّمُ بِسُرْعَةٍ وَأَعْمَلُ جَيِّدًا ضِمْنَ فَرِيقٍ.</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400" b="1" dirty="0">
                <a:solidFill>
                  <a:srgbClr val="1B3B6F"/>
                </a:solidFill>
                <a:latin typeface="Amiri" pitchFamily="2" charset="-78"/>
                <a:ea typeface="Amiri" pitchFamily="2" charset="-78"/>
                <a:cs typeface="Amiri" pitchFamily="2" charset="-78"/>
              </a:rPr>
              <a:t>مُدِيرَةُ المَوَارِدِ البَشَرِيَّةِ</a:t>
            </a:r>
            <a:endParaRPr lang="ar-SA" sz="14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HR manager (f.)</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المُحْتَرَمَةُ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respected (Dear …)</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فُرْصَةِ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opportunity</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التَّدْرِيبِ الصَّيْفِيِّ</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summer training</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شَرِكَتِكُمْ</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your company</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تَطَوَّعْتُ</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volunteered</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حَيْثُ</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where</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الزُّوَّارَ</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visitors</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رَتَّبْتُ السِّجِلَّاتِ</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organised the records</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ضِمْنَ فَرِيقٍ</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within a team</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44</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Applications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writer applying for?</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full-time job</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summer training placement</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scholarship</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skills does the writer name?</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leadership and design</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languages and maths</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computer and communication</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did the writer volunteer?</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school library</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hospital</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shop</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tasks did the writer do?</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taught pupils and cleaned</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helped visitors and organised records</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sold books and cooked</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writer feel suitable?</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learns quickly and works well in a team</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is the oldest student</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lives near the company</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register is used?</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informal</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mix of English and Arabic</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formal</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44</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Applications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writer applying for?</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full-time job</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 summer training placement</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scholarship</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لِفُرْصَةِ التَّدْرِيبِ الصَّيْفِيِّ</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skills does the writer name?</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leadership and design</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languages and maths</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computer and communication</a:t>
            </a:r>
            <a:endParaRPr lang="en-US" sz="11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مَهَارَاتٌ جَيِّدَةٌ فِي الحَاسُوبِ وَالتَّوَاصُلِ</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did the writer volunteer?</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the school library</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a hospital</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a shop</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تَطَوَّعْتُ فِي مَكْتَبَةِ المَدْرَسَةِ</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tasks did the writer do?</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taught pupils and cleaned</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helped visitors and organised records</a:t>
            </a:r>
            <a:endParaRPr lang="en-US" sz="11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sold books and cooked</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سَاعَدْتُ الزُّوَّارَ وَرَتَّبْتُ السِّجِلَّاتِ</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writer feel suitable?</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learns quickly and works well in a team</a:t>
            </a:r>
            <a:endParaRPr lang="en-US" sz="11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is the oldest student</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lives near the company</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أَتَعَلَّمُ بِسُرْعَةٍ وَأَعْمَلُ جَيِّدًا ضِمْنَ فَرِيقٍ</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register is used?</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informal</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mix of English and Arabic</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formal</a:t>
            </a:r>
            <a:endParaRPr lang="en-US" sz="12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السَّيِّدَةُ … المُحْتَرَمَةُ، يَسُرُّنِي …</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44</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D3-L06 · Applications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D3-L07: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D3-L06</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D3-L07 · Arabic Proverbs and Values — Work Ethic and Success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مَثَلٌ</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proverb</a:t>
            </a:r>
            <a:pPr indent="0" marL="0">
              <a:buNone/>
            </a:pPr>
            <a:r>
              <a:rPr lang="ar-SA" sz="1000" i="1" dirty="0">
                <a:solidFill>
                  <a:srgbClr val="5A6472"/>
                </a:solidFill>
                <a:latin typeface="Calibri" pitchFamily="34" charset="0"/>
                <a:ea typeface="Amiri" pitchFamily="2" charset="-78"/>
                <a:cs typeface="Amiri" pitchFamily="2" charset="-78"/>
              </a:rPr>
              <a:t>  pl. أَمْثَالٌ</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المُثَابَرَةُ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perseverance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الأَمَانَةُ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honesty, trustworthiness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الاِنْضِبَاطُ</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discipline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الإِتْقَانُ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mastery, doing a job well</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Do you know a proverb (in any language) about hard work? Write it down.</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مَنْ جَدَّ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the four formal chunks by heart; write the 5-sentence letter from the frames.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Formal email (80–100 words) with experience and a strength + evidence.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formal application email for a weekend or summer job (100–120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44</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D3-L06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D3-L07 · Arabic Proverbs and Values — Work Ethic and Success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الأَمْثَالُ العَرَبِيَّةُ وَالقِيَمُ</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formal opening — ladayya + noun, sabaqa lī an + past — every strength needs proof.</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D3-L06 · Job Applications and Interviews — CV, Skills and Future Plans</dc:title>
  <dc:subject>PptxGenJS Presentation</dc:subject>
  <dc:creator>Al Madina Online School · Arabic Department</dc:creator>
  <cp:lastModifiedBy>Al Madina Online School · Arabic Department</cp:lastModifiedBy>
  <cp:revision>1</cp:revision>
  <dcterms:created xsi:type="dcterms:W3CDTF">2026-10-11T06:40:45Z</dcterms:created>
  <dcterms:modified xsi:type="dcterms:W3CDTF">2026-10-11T06:40:45Z</dcterms:modified>
</cp:coreProperties>
</file>