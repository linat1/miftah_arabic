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D3-L06. The website lesson “Job Applications and Interviews — CV, Skills and Future Plans”: vocabulary, grammar rules and quiz, patterns, common mistakes, sorter, listening, reading, speaking prompts and model, writing task and model, differentiation, final check and the lesson mission. Picture match: website visual game “Job Applications and Interviews — CV, Skills and Future Plans”.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application words + four formal chunks learnt as wholes (يَسُرُّنِي أَنْ أَتَقَدَّمَ لِـ … · لَدَيَّ خِبْرَةٌ فِي … · أَعْتَقِدُ أَنَّنِي مُنَاسِبٌ / مُنَاسِبَةٌ … · مِنْ نِقَاطِ قُوَّتِي …). Develop: سَبَقَ لِي أَنْ + past verb and a strength with evidence. Stretch: a full formal email (greeting, purpose, experience, suitability, close).
• REGISTER is the new idea: formal Arabic avoids the chatty أُرِيدُ … in a letter — compare English “I would like to apply” vs “I want the job”.
• The D3-L03 skills (group 2) and D3-L04 future (sa-) feed straight into the interview answers.
• Role-play idea: the teacher (or a confident student) is the interviewer; students answer three questions in the chat or on the mic.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D3-L05. Question 3 retrieves D3-L05; questions 4–5 retrieve D3-L03 (skills and evidence).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job letter is FORMAL: “I am pleased to apply”, not “I want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سیرت (as in Sīrat an-Nabī — a life story) → سِيرَةٌ ذَاتِيَّةٌ (“self life-story” = CV). طلب، تجربہ، رسمی are shared. CAREFUL again: Urdu مقابلہ is a contest or competition; Arabic مُقَابَلَةٌ شَخْصِيَّةٌ is a (job)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Applications (website vocabulary (1 of 2)). Hear → Say → See → Use. Transliteration is printed for Core students (cover it for Develop/Stretch).
The application toolkit. Two cards are whole formal chunks: أَنَا مُنَاسِبٌ لِهٰذِهِ الوَظِيفَةِ (a girl: مُنَاسِبَةٌ) and يَسُرُّنِي أَنْ أَتَقَدَّمَ (literally “it pleases me to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Applications (website vocabulary (2 of 2)). Hear → Say → See → Use. Transliteration is printed for Core students (cover it for Develop/Stretch).
The application toolkit. Two cards are whole formal chunks: أَنَا مُنَاسِبٌ لِهٰذِهِ الوَظِيفَةِ (a girl: مُنَاسِبَةٌ) and يَسُرُّنِي أَنْ أَتَقَدَّمَ (literally “it pleases me to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evidence (website vocabulary (1 of 2)). Hear → Say → See → Use. Transliteration is printed for Core students (cover it for Develop/Stretch).
FLEX: teach if time allows; otherwise these are on the website vocabulary tab for homework.
Skills (FLEX): review from D3-L03 — every interview answer needs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evidence (website vocabulary (2 of 2)). Hear → Say → See → Use. Transliteration is printed for Core students (cover it for Develop/Stretch).
FLEX: teach if time allows; otherwise these are on the website vocabulary tab for homework.
Skills (FLEX): review from D3-L03 — every interview answer needs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(1 of 2)). Hear → Say → See → Use. Transliteration is printed for Core students (cover it for Develop/Stretch).
FLEX: teach if time allows; otherwise these are on the website vocabulary tab for homework.
Formal connectors (FLEX): in a letter prefer إِضَافَةً إِلَى ذٰلِكَ and عَلَى سَبِيلِ المِثَالِ.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(2 of 2)). Hear → Say → See → Use. Transliteration is printed for Core students (cover it for Develop/Stretch).
FLEX: teach if time allows; otherwise these are on the website vocabulary tab for homework.
Formal connectors (FLEX): in a letter prefer إِضَافَةً إِلَى ذٰلِكَ and عَلَى سَبِيلِ المِثَالِ.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“Formal opening” (يَسُرُّنِي أَنْ أَتَقَدَّمَ لِـ: a formal impersonal opening rather than conversational أُرِيدُ) and “Experience” (لَدَيَّ with a noun or سَبَقَ لِي أَنْ with a verb). Website examples: يَسُرُّنِي أَنْ أَتَقَدَّمَ لِوَظِيفَةِ مُسَاعِدٍ إِدَارِيٍّ · لَدَيَّ خِبْرَةٌ فِي خِدْمَةِ العُمَلَاءِ · سَبَقَ لِي أَنْ عَمِلْتُ فِي مَكْتَبٍ.
The informal column is teacher-added for contrast. Core: learn rows 1–2 as fixed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“Suitability” (أَعْتَقِدُ أَنَّنِي مُنَاسِبٌ / مُنَاسِبَةٌ لِـ: agree the adjective with the applicant and support the claim) and “Interview evidence” (مِنْ نِقَاطِ قُوَّتِي … وَالدَّلِيلُ عَلَى ذٰلِكَ …: give evidence after naming a strength). Website examples as shown.
(Teacher-chosen: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“اللُّغَةُ الرَّسْمِيَّةُ فِي طَلَبِ الوَظِيفَةِ وَالمُقَابَلَةِ”
• Formal opening: Use a formal impersonal opening rather than conversational أريد.
• Experience: Use لديّ with a noun or سبق لي أن with a verb.
• Suitability: Agree the adjective with the applicant and support the claim.
• Interview evidence: Give evidence after naming a strength.
Website common error: Do not open a formal letter with أُرِيدُ, and make مُنَاسِبٌ agree with the applicant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reading text. Point out the five-part shape: greeting → purpose → experience → suitability → close (مَعَ خَالِصِ التَّحِيَّاتِ). To a woman manager: السَّيِّدَةُ المُدِيرَةُ المُحْتَرَمَةُ (as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 Applications and Interviews — CV, Skills and Future Plans”)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مِنْ نِقَاطِ قُوَّتِي التَّوَاصُلُ وَالتَّنْظِيمُ · لِمَاذَا تُرِيدُ هٰذِهِ الوَظِيفَةَ؟ (the classic interview question) · يَجِبُ أَنْ أَسْتَعِدَّ جَيِّدًا لِلْمُقَابَلَةِ.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 Applications and Interviews — CV, Skills and Future Plans”)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مِنْ نِقَاطِ قُوَّتِي التَّوَاصُلُ وَالتَّنْظِيمُ · لِمَاذَا تُرِيدُ هٰذِهِ الوَظِيفَةَ؟ (the classic interview question) · يَجِبُ أَنْ أَسْتَعِدَّ جَيِّدًا لِلْمُقَابَلَةِ.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Would you use this in a formal job letter, or only when chatting with a friend?
Then turn two informal items into formal ones: أُرِيدُ الوَظِيفَةَ → يَسُرُّنِي أَنْ أَتَقَدَّمَ لِلوَظِيفَةِ.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Would you use this in a formal job letter, or only when chatting with a friend?
Then turn two informal items into formal ones: أُرِيدُ الوَظِيفَةَ → يَسُرُّنِي أَنْ أَتَقَدَّمَ لِلوَظِيفَةِ.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المُقَابِلُ: لِمَاذَا تُرِيدِينَ هٰذِهِ الوَظِيفَةَ؟ نُورُ: لِأَنَّنِي أُحِبُّ التَّعَامُلَ مَعَ النَّاسِ، وَلَدَيَّ خِبْرَةٌ فِي تَنْظِيمِ الفَعَالِيَّاتِ المَدْرَسِيَّةِ. المُقَابِلُ: مَا نُقْطَةُ قُوَّتِكِ؟ نُورُ: أَنَا مُنَظَّمَةٌ، فَقَدْ قُدْتُ فَرِيقًا مِنْ خَمْسِ طَالِبَاتٍ وَأَنْهَيْنَا المَشْرُوعَ قَبْلَ المَوْعِدِ. المُقَابِلُ: مَا خُطَّتُكِ؟ نُورُ: سَأَدْرُسُ إِدَارَةَ الأَعْمَالِ فِي المُسْتَقْبَلِ.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نُقْطَةُ قُوَّتِكَ؟ (What is your strength?)
B: مِنْ نِقَاطِ قُوَّتِي التَّنْظِيمُ، وَالدَّلِيلُ عَلَى ذٰلِكَ أَنَّنِي أُنْهِي وَاجِبَاتِي قَبْلَ المَوْعِدِ. (One of my strengths is organisation; the proof is that I finish my work before the deadline.)
Teacher-written prompts and model (the website prompts are generic) — an interview role play: the teacher is the interviewer. Model continues: A: مَا نُقْطَةُ قُوَّتِكَ؟ B: مِنْ نِقَاطِ قُوَّتِي التَّنْظِيمُ، وَالدَّلِيلُ عَلَى ذٰلِكَ أَنَّنِي أُنْهِي وَاجِبَاتِي قَبْلَ المَوْعِدِ. To a girl: لِمَاذَا تُرِيدِينَ …؟ · مَا نُقْطَةُ قُوَّتِكِ؟ (as in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 formal application email for a weekend or summer job.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يَسُرُّنِي أَنْ أَتَقَدَّمَ · سَبَقَ لِي أَنْ تَطَوَّعْتُ · لَدَيَّ خِبْرَةٌ فِي · مِنْ نِقَاطِ قُوَّتِي … وَالدَّلِيلُ عَلَى ذٰلِكَ · أَعْتَقِدُ أَنَّنِي مُنَاسِبٌ · سَأَدْرُسُ (D3-L04) · مَعَ خَالِصِ التَّحِيَّاتِ.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(D3-L07 · Arabic Proverbs and Values — Work Ethic and Success) will spend class time USING this language, so students prepare it tonight — short, simple, easy to access (school guidance: “Simple, Short, Interesting, Relevant, Easy to access”). The five words come from the website D3-L07 vocabulary (proverbs and work values).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Job Applications and Interviews — CV, Skills and Future Plans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800" b="1" dirty="0">
                <a:solidFill>
                  <a:srgbClr val="D4AF37"/>
                </a:solidFill>
                <a:latin typeface="Amiri" pitchFamily="2" charset="-78"/>
                <a:cs typeface="Amiri" pitchFamily="2" charset="-78"/>
              </a:rPr>
              <a:t>طَلَبَاتُ العَمَلِ وَالمُقَابَلَاتُ — السِّيرَةُ الذَّاتِيَّةُ وَالمَهَارَاتُ وَالخُطَطُ</a:t>
            </a:r>
            <a:endParaRPr lang="ar-SA" sz="28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Apply formally for a job and answer interview questions: a formal opening (</a:t>
            </a:r>
            <a:pPr algn="l" indent="0" marL="0">
              <a:buNone/>
            </a:pPr>
            <a:r>
              <a:rPr lang="ar-SA" altLang="en-US" sz="1800" dirty="0">
                <a:solidFill>
                  <a:srgbClr val="C6D2E6"/>
                </a:solidFill>
                <a:latin typeface="Amiri" pitchFamily="2" charset="-78"/>
                <a:cs typeface="Amiri" pitchFamily="2" charset="-78"/>
              </a:rPr>
              <a:t>يَسُرُّنِي أَنْ أَتَقَدَّمَ لِـ</a:t>
            </a:r>
            <a:pPr algn="l" indent="0" marL="0">
              <a:buNone/>
            </a:pPr>
            <a:r>
              <a:rPr lang="en-US" sz="1400" dirty="0">
                <a:solidFill>
                  <a:srgbClr val="C6D2E6"/>
                </a:solidFill>
                <a:latin typeface="Calibri" pitchFamily="34" charset="0"/>
                <a:cs typeface="Amiri" pitchFamily="2" charset="-78"/>
              </a:rPr>
              <a:t> …), experience (</a:t>
            </a:r>
            <a:pPr algn="l" indent="0" marL="0">
              <a:buNone/>
            </a:pPr>
            <a:r>
              <a:rPr lang="ar-SA" altLang="en-US" sz="1800" dirty="0">
                <a:solidFill>
                  <a:srgbClr val="C6D2E6"/>
                </a:solidFill>
                <a:latin typeface="Amiri" pitchFamily="2" charset="-78"/>
                <a:cs typeface="Amiri" pitchFamily="2" charset="-78"/>
              </a:rPr>
              <a:t>لَدَيَّ خِبْرَةٌ فِي / سَبَقَ لِي أَنْ</a:t>
            </a:r>
            <a:pPr algn="l" indent="0" marL="0">
              <a:buNone/>
            </a:pPr>
            <a:r>
              <a:rPr lang="en-US" sz="1400" dirty="0">
                <a:solidFill>
                  <a:srgbClr val="C6D2E6"/>
                </a:solidFill>
                <a:latin typeface="Calibri" pitchFamily="34" charset="0"/>
                <a:cs typeface="Amiri" pitchFamily="2" charset="-78"/>
              </a:rPr>
              <a:t> …), suitability (</a:t>
            </a:r>
            <a:pPr algn="l" indent="0" marL="0">
              <a:buNone/>
            </a:pPr>
            <a:r>
              <a:rPr lang="ar-SA" altLang="en-US" sz="1800" dirty="0">
                <a:solidFill>
                  <a:srgbClr val="C6D2E6"/>
                </a:solidFill>
                <a:latin typeface="Amiri" pitchFamily="2" charset="-78"/>
                <a:cs typeface="Amiri" pitchFamily="2" charset="-78"/>
              </a:rPr>
              <a:t>أَعْتَقِدُ أَنَّنِي مُنَاسِبٌ</a:t>
            </a:r>
            <a:pPr algn="l" indent="0" marL="0">
              <a:buNone/>
            </a:pPr>
            <a:r>
              <a:rPr lang="en-US" sz="1400" dirty="0">
                <a:solidFill>
                  <a:srgbClr val="C6D2E6"/>
                </a:solidFill>
                <a:latin typeface="Calibri" pitchFamily="34" charset="0"/>
                <a:cs typeface="Amiri" pitchFamily="2" charset="-78"/>
              </a:rPr>
              <a:t> …) and a strength with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D3-L06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Formal application chunks and interview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formal / informal, fix and listen to an interview.</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سِيرَةٌ ذَاتِيَّةٌ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cover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CV</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interview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نُقْطَةُ ضَعْفٍ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weakness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strength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 فَسَأَلْتَحِقُ بِالجَامِعَةِ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نَجَحْتُ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skill (noun)?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مُنَظَّمٌ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مَسْؤُولٌ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إِدَارَةُ الوَقْتِ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girl.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مُنَظَّمَةٌ لِأَنَّنِي أُخَطِّطُ يَوْمِي.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مُنَظَّمٌ لِأَنَّهَا تُخَطِّطُ.</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مُنَظَّمَةٌ.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سِيرَةٌ ذَاتِيَّةٌ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cover letter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CV</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interview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نُقْطَةُ ضَعْفٍ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weakness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strength</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reference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 فَسَأَلْتَحِقُ بِالجَامِعَةِ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سَأَنْجَحُ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نَاجِحٌ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نَجَحْتُ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D3-L05: idhā +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skill (noun)?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مُنَظَّمٌ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مَسْؤُولٌ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إِدَارَةُ الوَقْتِ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D3-L03: skills are nouns.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girl.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أَنَا مُنَظَّمَةٌ لِأَنَّنِي أُخَطِّطُ يَوْمِي.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مُنَظَّمٌ لِأَنَّهَا تُخَطِّطُ.</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مُنَظَّمَةٌ.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D3-L03: quality + evidence.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job letter is FORMAL: “I am pleased to apply”, not “I want the job”.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يَسُرُّنِي أَنْ أَتَقَدَّمَ</a:t>
            </a:r>
            <a:pPr rtl="1" algn="ctr" indent="0" marL="0">
              <a:lnSpc>
                <a:spcPct val="120000"/>
              </a:lnSpc>
              <a:buNone/>
            </a:pPr>
            <a:r>
              <a:rPr lang="ar-SA" altLang="en-US" sz="1950" b="1" dirty="0">
                <a:solidFill>
                  <a:srgbClr val="1B3B6F"/>
                </a:solidFill>
                <a:latin typeface="Amiri" pitchFamily="2" charset="-78"/>
                <a:cs typeface="Amiri" pitchFamily="2" charset="-78"/>
              </a:rPr>
              <a:t> لِوَظِيفَةِ … · </a:t>
            </a:r>
            <a:pPr rtl="1" algn="ctr" indent="0" marL="0">
              <a:lnSpc>
                <a:spcPct val="120000"/>
              </a:lnSpc>
              <a:buNone/>
            </a:pPr>
            <a:r>
              <a:rPr lang="ar-SA" altLang="en-US" sz="1950" b="1" dirty="0">
                <a:solidFill>
                  <a:srgbClr val="D6336C"/>
                </a:solidFill>
                <a:latin typeface="Amiri" pitchFamily="2" charset="-78"/>
                <a:cs typeface="Amiri" pitchFamily="2" charset="-78"/>
              </a:rPr>
              <a:t>لَدَيَّ خِبْرَةٌ فِي</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documents and steps of a job application.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Open a formal application with </a:t>
            </a:r>
            <a:pPr algn="l" indent="0" marL="0">
              <a:buNone/>
            </a:pPr>
            <a:r>
              <a:rPr lang="ar-SA" altLang="en-US" sz="1700" dirty="0">
                <a:solidFill>
                  <a:srgbClr val="1F2A37"/>
                </a:solidFill>
                <a:latin typeface="Amiri" pitchFamily="2" charset="-78"/>
                <a:cs typeface="Amiri" pitchFamily="2" charset="-78"/>
              </a:rPr>
              <a:t>يَسُرُّنِي أَنْ أَتَقَدَّمَ 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experience (</a:t>
            </a:r>
            <a:pPr algn="l" indent="0" marL="0">
              <a:buNone/>
            </a:pPr>
            <a:r>
              <a:rPr lang="ar-SA" altLang="en-US" sz="1700" dirty="0">
                <a:solidFill>
                  <a:srgbClr val="1F2A37"/>
                </a:solidFill>
                <a:latin typeface="Amiri" pitchFamily="2" charset="-78"/>
                <a:cs typeface="Amiri" pitchFamily="2" charset="-78"/>
              </a:rPr>
              <a:t>لَدَيَّ خِبْرَةٌ فِي / سَبَقَ لِي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 strength in an interview and prove it.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parts of a job application.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open a formal letter.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my experience.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strength with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full formal application email.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interview questions with future plans.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Applications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Skills and evidence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Formal connectors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سِيرَةٌ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‎سیرت‎ </a:t>
            </a:r>
            <a:pPr indent="0" marL="0">
              <a:buNone/>
            </a:pPr>
            <a:r>
              <a:rPr lang="en-US" sz="950" b="1" dirty="0">
                <a:solidFill>
                  <a:srgbClr val="2E8B57"/>
                </a:solidFill>
                <a:latin typeface="Calibri" pitchFamily="34" charset="0"/>
                <a:cs typeface="Amiri" pitchFamily="2" charset="-78"/>
              </a:rPr>
              <a:t> sīrat · life story (Sīra) → CV</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طَلَبٌ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‎طلب / درخواست‎ </a:t>
            </a:r>
            <a:pPr indent="0" marL="0">
              <a:buNone/>
            </a:pPr>
            <a:r>
              <a:rPr lang="en-US" sz="950" b="1" dirty="0">
                <a:solidFill>
                  <a:srgbClr val="2E8B57"/>
                </a:solidFill>
                <a:latin typeface="Calibri" pitchFamily="34" charset="0"/>
                <a:cs typeface="Amiri" pitchFamily="2" charset="-78"/>
              </a:rPr>
              <a:t> talab · request → application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مُقَابَلَةٌ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‎مقابلہ‎ </a:t>
            </a:r>
            <a:pPr indent="0" marL="0">
              <a:buNone/>
            </a:pPr>
            <a:r>
              <a:rPr lang="en-US" sz="950" b="1" dirty="0">
                <a:solidFill>
                  <a:srgbClr val="2E8B57"/>
                </a:solidFill>
                <a:latin typeface="Calibri" pitchFamily="34" charset="0"/>
                <a:cs typeface="Amiri" pitchFamily="2" charset="-78"/>
              </a:rPr>
              <a:t> muqābla · Urdu: contest · Arabic: interview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تَجْرِبَةٌ / خِبْرَةٌ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‎تجربہ‎ </a:t>
            </a:r>
            <a:pPr indent="0" marL="0">
              <a:buNone/>
            </a:pPr>
            <a:r>
              <a:rPr lang="en-US" sz="950" b="1" dirty="0">
                <a:solidFill>
                  <a:srgbClr val="2E8B57"/>
                </a:solidFill>
                <a:latin typeface="Calibri" pitchFamily="34" charset="0"/>
                <a:cs typeface="Amiri" pitchFamily="2" charset="-78"/>
              </a:rPr>
              <a:t> tajurba · experience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رَسْمِيٌّ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‎رسمی‎ </a:t>
            </a:r>
            <a:pPr indent="0" marL="0">
              <a:buNone/>
            </a:pPr>
            <a:r>
              <a:rPr lang="en-US" sz="950" b="1" dirty="0">
                <a:solidFill>
                  <a:srgbClr val="2E8B57"/>
                </a:solidFill>
                <a:latin typeface="Calibri" pitchFamily="34" charset="0"/>
                <a:cs typeface="Amiri" pitchFamily="2" charset="-78"/>
              </a:rPr>
              <a:t> rasmī · formal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Applications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سِيرَةٌ ذَاتِيَّةٌ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CV</a:t>
            </a:r>
            <a:endParaRPr lang="en-US" sz="1350" dirty="0"/>
          </a:p>
          <a:p>
            <a:pPr indent="0" marL="0">
              <a:buNone/>
            </a:pPr>
            <a:r>
              <a:rPr lang="en-US" sz="1100" i="1" dirty="0">
                <a:solidFill>
                  <a:srgbClr val="5A6472"/>
                </a:solidFill>
                <a:latin typeface="Calibri" pitchFamily="34" charset="0"/>
                <a:cs typeface="Amiri" pitchFamily="2" charset="-78"/>
              </a:rPr>
              <a:t>sī-ra-tun dhā-tiy-ya-tun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سِيَرٌ ذَاتِيَّةٌ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رِسَالَةُ تَغْطِيَةٍ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cover letter</a:t>
            </a:r>
            <a:endParaRPr lang="en-US" sz="1350" dirty="0"/>
          </a:p>
          <a:p>
            <a:pPr indent="0" marL="0">
              <a:buNone/>
            </a:pPr>
            <a:r>
              <a:rPr lang="en-US" sz="1100" i="1" dirty="0">
                <a:solidFill>
                  <a:srgbClr val="5A6472"/>
                </a:solidFill>
                <a:latin typeface="Calibri" pitchFamily="34" charset="0"/>
                <a:cs typeface="Amiri" pitchFamily="2" charset="-78"/>
              </a:rPr>
              <a:t>ri-sā-la-tu tagh-ṭi-ya-tin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طَلَبُ وَظِيفَةٍ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application</a:t>
            </a:r>
            <a:endParaRPr lang="en-US" sz="1350" dirty="0"/>
          </a:p>
          <a:p>
            <a:pPr indent="0" marL="0">
              <a:buNone/>
            </a:pPr>
            <a:r>
              <a:rPr lang="en-US" sz="1100" i="1" dirty="0">
                <a:solidFill>
                  <a:srgbClr val="5A6472"/>
                </a:solidFill>
                <a:latin typeface="Calibri" pitchFamily="34" charset="0"/>
                <a:cs typeface="Amiri" pitchFamily="2" charset="-78"/>
              </a:rPr>
              <a:t>ṭa-la-bu wa-ẓī-fa-tin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طَلَبَاتُ وَظَائِفَ</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إِعْلَانُ وَظِيفَةٍ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advert</a:t>
            </a:r>
            <a:endParaRPr lang="en-US" sz="1350" dirty="0"/>
          </a:p>
          <a:p>
            <a:pPr indent="0" marL="0">
              <a:buNone/>
            </a:pPr>
            <a:r>
              <a:rPr lang="en-US" sz="1100" i="1" dirty="0">
                <a:solidFill>
                  <a:srgbClr val="5A6472"/>
                </a:solidFill>
                <a:latin typeface="Calibri" pitchFamily="34" charset="0"/>
                <a:cs typeface="Amiri" pitchFamily="2" charset="-78"/>
              </a:rPr>
              <a:t>iʿ-lā-nu wa-ẓī-fa-tin</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6" name="Shape 5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مُقَابَلَةٌ شَخْصِيَّةٌ</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interview</a:t>
            </a:r>
            <a:endParaRPr lang="en-US" sz="1350" dirty="0"/>
          </a:p>
          <a:p>
            <a:pPr indent="0" marL="0">
              <a:buNone/>
            </a:pPr>
            <a:r>
              <a:rPr lang="en-US" sz="1100" i="1" dirty="0">
                <a:solidFill>
                  <a:srgbClr val="5A6472"/>
                </a:solidFill>
                <a:latin typeface="Calibri" pitchFamily="34" charset="0"/>
                <a:cs typeface="Amiri" pitchFamily="2" charset="-78"/>
              </a:rPr>
              <a:t>mu-qā-ba-la-tun shakh-ṣiy-ya-tun</a:t>
            </a:r>
            <a:endParaRPr lang="en-US" sz="1350" dirty="0"/>
          </a:p>
        </p:txBody>
      </p:sp>
      <p:sp>
        <p:nvSpPr>
          <p:cNvPr id="62" name="Shape 5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4" name="Text 6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مُقَابَلَاتٌ</a:t>
            </a:r>
            <a:endParaRPr lang="ar-SA" sz="150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8" name="Text 6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مَرْجِعٌ / تَزْكِيَةٌ</a:t>
            </a:r>
            <a:endParaRPr lang="ar-SA" sz="3000" dirty="0"/>
          </a:p>
        </p:txBody>
      </p:sp>
      <p:sp>
        <p:nvSpPr>
          <p:cNvPr id="69" name="Text 6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reference</a:t>
            </a:r>
            <a:endParaRPr lang="en-US" sz="1350" dirty="0"/>
          </a:p>
          <a:p>
            <a:pPr indent="0" marL="0">
              <a:buNone/>
            </a:pPr>
            <a:r>
              <a:rPr lang="en-US" sz="1100" i="1" dirty="0">
                <a:solidFill>
                  <a:srgbClr val="5A6472"/>
                </a:solidFill>
                <a:latin typeface="Calibri" pitchFamily="34" charset="0"/>
                <a:cs typeface="Amiri" pitchFamily="2" charset="-78"/>
              </a:rPr>
              <a:t>mar-ji-ʿun / taz-ki-ya-tun</a:t>
            </a:r>
            <a:endParaRPr lang="en-US" sz="13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Applications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خِبْرَةٌ سَابِقَةٌ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previous experience</a:t>
            </a:r>
            <a:endParaRPr lang="en-US" sz="1350" dirty="0"/>
          </a:p>
          <a:p>
            <a:pPr indent="0" marL="0">
              <a:buNone/>
            </a:pPr>
            <a:r>
              <a:rPr lang="en-US" sz="1100" i="1" dirty="0">
                <a:solidFill>
                  <a:srgbClr val="5A6472"/>
                </a:solidFill>
                <a:latin typeface="Calibri" pitchFamily="34" charset="0"/>
                <a:cs typeface="Amiri" pitchFamily="2" charset="-78"/>
              </a:rPr>
              <a:t>khib-ra-tun sā-bi-qa-tun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مُتَطَلَّبَاتُ الوَظِيفَةِ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requirements</a:t>
            </a:r>
            <a:endParaRPr lang="en-US" sz="1350" dirty="0"/>
          </a:p>
          <a:p>
            <a:pPr indent="0" marL="0">
              <a:buNone/>
            </a:pPr>
            <a:r>
              <a:rPr lang="en-US" sz="1100" i="1" dirty="0">
                <a:solidFill>
                  <a:srgbClr val="5A6472"/>
                </a:solidFill>
                <a:latin typeface="Calibri" pitchFamily="34" charset="0"/>
                <a:cs typeface="Amiri" pitchFamily="2" charset="-78"/>
              </a:rPr>
              <a:t>mu-ta-ṭal-la-bā-tu al-wa-ẓī-fa-ti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نُقْطَةُ قُوَّةٍ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نِقَاطُ قُوَّةٍ</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نُقْطَةُ ضَعْفٍ</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weakness</a:t>
            </a:r>
            <a:endParaRPr lang="en-US" sz="1350" dirty="0"/>
          </a:p>
          <a:p>
            <a:pPr indent="0" marL="0">
              <a:buNone/>
            </a:pPr>
            <a:r>
              <a:rPr lang="en-US" sz="1100" i="1" dirty="0">
                <a:solidFill>
                  <a:srgbClr val="5A6472"/>
                </a:solidFill>
                <a:latin typeface="Calibri" pitchFamily="34" charset="0"/>
                <a:cs typeface="Amiri" pitchFamily="2" charset="-78"/>
              </a:rPr>
              <a:t>nuq-ṭa-tu ḍaʿ-fin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9" name="Text 4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أَنَا مُنَاسِبٌ لِهٰذِهِ الوَظِيفَةِ</a:t>
            </a:r>
            <a:endParaRPr lang="ar-SA" sz="3000" dirty="0"/>
          </a:p>
        </p:txBody>
      </p:sp>
      <p:sp>
        <p:nvSpPr>
          <p:cNvPr id="50" name="Text 4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suitable for this job</a:t>
            </a:r>
            <a:endParaRPr lang="en-US" sz="1350" dirty="0"/>
          </a:p>
          <a:p>
            <a:pPr indent="0" marL="0">
              <a:buNone/>
            </a:pPr>
            <a:r>
              <a:rPr lang="en-US" sz="1100" i="1" dirty="0">
                <a:solidFill>
                  <a:srgbClr val="5A6472"/>
                </a:solidFill>
                <a:latin typeface="Calibri" pitchFamily="34" charset="0"/>
                <a:cs typeface="Amiri" pitchFamily="2" charset="-78"/>
              </a:rPr>
              <a:t>a-nā mu-nā-si-bun li-hā-dhi-hi al-wa-ẓī-fa-ti</a:t>
            </a:r>
            <a:endParaRPr lang="en-US" sz="1350" dirty="0"/>
          </a:p>
        </p:txBody>
      </p:sp>
      <p:sp>
        <p:nvSpPr>
          <p:cNvPr id="51" name="Shape 4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Shape 5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يَسُرُّنِي أَنْ أَتَقَدَّمَ</a:t>
            </a:r>
            <a:endParaRPr lang="ar-SA" sz="3000" dirty="0"/>
          </a:p>
        </p:txBody>
      </p:sp>
      <p:sp>
        <p:nvSpPr>
          <p:cNvPr id="57" name="Text 5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pleased to apply</a:t>
            </a:r>
            <a:endParaRPr lang="en-US" sz="1350" dirty="0"/>
          </a:p>
          <a:p>
            <a:pPr indent="0" marL="0">
              <a:buNone/>
            </a:pPr>
            <a:r>
              <a:rPr lang="en-US" sz="1100" i="1" dirty="0">
                <a:solidFill>
                  <a:srgbClr val="5A6472"/>
                </a:solidFill>
                <a:latin typeface="Calibri" pitchFamily="34" charset="0"/>
                <a:cs typeface="Amiri" pitchFamily="2" charset="-78"/>
              </a:rPr>
              <a:t>ya-sur-ru-nī an a-ta-qad-da-ma</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evidence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1 · FORMAL OPENING AND EXPERIENCE (WEBSITE RULES 1–2)</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not chatty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لُغَةٌ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41879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Formal (use)</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Informal (avoid in a letter)</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yasurrunī an ataqaddama li-</a:t>
            </a:r>
            <a:endParaRPr lang="en-US" sz="1100" dirty="0"/>
          </a:p>
        </p:txBody>
      </p:sp>
      <p:sp>
        <p:nvSpPr>
          <p:cNvPr id="21" name="Text 18"/>
          <p:cNvSpPr txBox="1"/>
          <p:nvPr/>
        </p:nvSpPr>
        <p:spPr>
          <a:xfrm>
            <a:off x="4206240" y="2286000"/>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يَسُرُّنِي أَنْ أَتَقَدَّمَ</a:t>
            </a:r>
            <a:pPr rtl="1" algn="ctr" indent="0" marL="0">
              <a:buNone/>
            </a:pPr>
            <a:r>
              <a:rPr lang="ar-SA" altLang="en-US" sz="2100" b="1" dirty="0">
                <a:solidFill>
                  <a:srgbClr val="1B3B6F"/>
                </a:solidFill>
                <a:latin typeface="Amiri" pitchFamily="2" charset="-78"/>
                <a:cs typeface="Amiri" pitchFamily="2" charset="-78"/>
              </a:rPr>
              <a:t> لِوَظِيفَةِ مُسَاعِدٍ إِدَارِيٍّ.</a:t>
            </a:r>
            <a:endParaRPr lang="ar-SA" sz="2100" dirty="0"/>
          </a:p>
        </p:txBody>
      </p:sp>
      <p:sp>
        <p:nvSpPr>
          <p:cNvPr id="22" name="Text 19"/>
          <p:cNvSpPr txBox="1"/>
          <p:nvPr/>
        </p:nvSpPr>
        <p:spPr>
          <a:xfrm>
            <a:off x="4160520" y="2706624"/>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pleased to apply for the post of administrative assistant.</a:t>
            </a:r>
            <a:endParaRPr lang="en-US" sz="950" dirty="0"/>
          </a:p>
        </p:txBody>
      </p:sp>
      <p:sp>
        <p:nvSpPr>
          <p:cNvPr id="23" name="Text 20"/>
          <p:cNvSpPr txBox="1"/>
          <p:nvPr/>
        </p:nvSpPr>
        <p:spPr>
          <a:xfrm>
            <a:off x="548640" y="2286000"/>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أُرِيدُ هٰذِهِ الوَظِيفَةَ.</a:t>
            </a:r>
            <a:endParaRPr lang="ar-SA" sz="2100" dirty="0"/>
          </a:p>
        </p:txBody>
      </p:sp>
      <p:sp>
        <p:nvSpPr>
          <p:cNvPr id="24" name="Text 21"/>
          <p:cNvSpPr txBox="1"/>
          <p:nvPr/>
        </p:nvSpPr>
        <p:spPr>
          <a:xfrm>
            <a:off x="502920" y="2706624"/>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this job.</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ladayya + noun</a:t>
            </a:r>
            <a:endParaRPr lang="en-US" sz="1100" dirty="0"/>
          </a:p>
        </p:txBody>
      </p:sp>
      <p:sp>
        <p:nvSpPr>
          <p:cNvPr id="29" name="Text 26"/>
          <p:cNvSpPr txBox="1"/>
          <p:nvPr/>
        </p:nvSpPr>
        <p:spPr>
          <a:xfrm>
            <a:off x="4206240" y="3072384"/>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لَدَيَّ خِبْرَةٌ فِي</a:t>
            </a:r>
            <a:pPr rtl="1" algn="ctr" indent="0" marL="0">
              <a:buNone/>
            </a:pPr>
            <a:r>
              <a:rPr lang="ar-SA" altLang="en-US" sz="2100" b="1" dirty="0">
                <a:solidFill>
                  <a:srgbClr val="1B3B6F"/>
                </a:solidFill>
                <a:latin typeface="Amiri" pitchFamily="2" charset="-78"/>
                <a:cs typeface="Amiri" pitchFamily="2" charset="-78"/>
              </a:rPr>
              <a:t> خِدْمَةِ العُمَلَاءِ.</a:t>
            </a:r>
            <a:endParaRPr lang="ar-SA" sz="2100" dirty="0"/>
          </a:p>
        </p:txBody>
      </p:sp>
      <p:sp>
        <p:nvSpPr>
          <p:cNvPr id="30" name="Text 27"/>
          <p:cNvSpPr txBox="1"/>
          <p:nvPr/>
        </p:nvSpPr>
        <p:spPr>
          <a:xfrm>
            <a:off x="4160520" y="3493008"/>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experience in customer service.</a:t>
            </a:r>
            <a:endParaRPr lang="en-US" sz="950" dirty="0"/>
          </a:p>
        </p:txBody>
      </p:sp>
      <p:sp>
        <p:nvSpPr>
          <p:cNvPr id="31" name="Text 28"/>
          <p:cNvSpPr txBox="1"/>
          <p:nvPr/>
        </p:nvSpPr>
        <p:spPr>
          <a:xfrm>
            <a:off x="548640" y="3072384"/>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عَمِلْتُ فِي مَطْعَمٍ.</a:t>
            </a:r>
            <a:endParaRPr lang="ar-SA" sz="2100" dirty="0"/>
          </a:p>
        </p:txBody>
      </p:sp>
      <p:sp>
        <p:nvSpPr>
          <p:cNvPr id="32" name="Text 29"/>
          <p:cNvSpPr txBox="1"/>
          <p:nvPr/>
        </p:nvSpPr>
        <p:spPr>
          <a:xfrm>
            <a:off x="502920" y="3493008"/>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worked in a restaurant.</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sabaqa lī an + past</a:t>
            </a:r>
            <a:endParaRPr lang="en-US" sz="1100" dirty="0"/>
          </a:p>
        </p:txBody>
      </p:sp>
      <p:sp>
        <p:nvSpPr>
          <p:cNvPr id="37" name="Text 34"/>
          <p:cNvSpPr txBox="1"/>
          <p:nvPr/>
        </p:nvSpPr>
        <p:spPr>
          <a:xfrm>
            <a:off x="4206240" y="3858768"/>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سَبَقَ لِي أَنْ</a:t>
            </a:r>
            <a:pPr rtl="1" algn="ctr" indent="0" marL="0">
              <a:buNone/>
            </a:pPr>
            <a:r>
              <a:rPr lang="ar-SA" altLang="en-US" sz="2100" b="1" dirty="0">
                <a:solidFill>
                  <a:srgbClr val="1B3B6F"/>
                </a:solidFill>
                <a:latin typeface="Amiri" pitchFamily="2" charset="-78"/>
                <a:cs typeface="Amiri" pitchFamily="2" charset="-78"/>
              </a:rPr>
              <a:t> عَمِلْتُ فِي مَكْتَبٍ.</a:t>
            </a:r>
            <a:endParaRPr lang="ar-SA" sz="2100" dirty="0"/>
          </a:p>
        </p:txBody>
      </p:sp>
      <p:sp>
        <p:nvSpPr>
          <p:cNvPr id="38" name="Text 35"/>
          <p:cNvSpPr txBox="1"/>
          <p:nvPr/>
        </p:nvSpPr>
        <p:spPr>
          <a:xfrm>
            <a:off x="4160520" y="4279392"/>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previously worked in an office.</a:t>
            </a:r>
            <a:endParaRPr lang="en-US" sz="950" dirty="0"/>
          </a:p>
        </p:txBody>
      </p:sp>
      <p:sp>
        <p:nvSpPr>
          <p:cNvPr id="39" name="Text 36"/>
          <p:cNvSpPr txBox="1"/>
          <p:nvPr/>
        </p:nvSpPr>
        <p:spPr>
          <a:xfrm>
            <a:off x="548640" y="3858768"/>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سَاعَدْتُ فِي المَكْتَبَةِ.</a:t>
            </a:r>
            <a:endParaRPr lang="ar-SA" sz="2100" dirty="0"/>
          </a:p>
        </p:txBody>
      </p:sp>
      <p:sp>
        <p:nvSpPr>
          <p:cNvPr id="40" name="Text 37"/>
          <p:cNvSpPr txBox="1"/>
          <p:nvPr/>
        </p:nvSpPr>
        <p:spPr>
          <a:xfrm>
            <a:off x="502920" y="4279392"/>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helped in the library.</a:t>
            </a:r>
            <a:endParaRPr lang="en-US" sz="9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aʿtaqidu annanī + adj.</a:t>
            </a:r>
            <a:endParaRPr lang="en-US" sz="1100" dirty="0"/>
          </a:p>
        </p:txBody>
      </p:sp>
      <p:sp>
        <p:nvSpPr>
          <p:cNvPr id="43" name="Text 40"/>
          <p:cNvSpPr txBox="1"/>
          <p:nvPr/>
        </p:nvSpPr>
        <p:spPr>
          <a:xfrm>
            <a:off x="4206240" y="4645152"/>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أَعْتَقِدُ أَنَّنِي مُنَاسِبَةٌ</a:t>
            </a:r>
            <a:pPr rtl="1" algn="ctr" indent="0" marL="0">
              <a:buNone/>
            </a:pPr>
            <a:r>
              <a:rPr lang="ar-SA" altLang="en-US" sz="2100" b="1" dirty="0">
                <a:solidFill>
                  <a:srgbClr val="1B3B6F"/>
                </a:solidFill>
                <a:latin typeface="Amiri" pitchFamily="2" charset="-78"/>
                <a:cs typeface="Amiri" pitchFamily="2" charset="-78"/>
              </a:rPr>
              <a:t> لِلوَظِيفَةِ.</a:t>
            </a:r>
            <a:endParaRPr lang="ar-SA" sz="2100" dirty="0"/>
          </a:p>
        </p:txBody>
      </p:sp>
      <p:sp>
        <p:nvSpPr>
          <p:cNvPr id="44" name="Text 41"/>
          <p:cNvSpPr txBox="1"/>
          <p:nvPr/>
        </p:nvSpPr>
        <p:spPr>
          <a:xfrm>
            <a:off x="4160520" y="5065776"/>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believe I am suitable for the job (f.).</a:t>
            </a:r>
            <a:endParaRPr lang="en-US" sz="950" dirty="0"/>
          </a:p>
        </p:txBody>
      </p:sp>
      <p:sp>
        <p:nvSpPr>
          <p:cNvPr id="45" name="Text 42"/>
          <p:cNvSpPr txBox="1"/>
          <p:nvPr/>
        </p:nvSpPr>
        <p:spPr>
          <a:xfrm>
            <a:off x="548640" y="4645152"/>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أَنَا جَيِّدٌ.</a:t>
            </a:r>
            <a:endParaRPr lang="ar-SA" sz="2100" dirty="0"/>
          </a:p>
        </p:txBody>
      </p:sp>
      <p:sp>
        <p:nvSpPr>
          <p:cNvPr id="46" name="Text 43"/>
          <p:cNvSpPr txBox="1"/>
          <p:nvPr/>
        </p:nvSpPr>
        <p:spPr>
          <a:xfrm>
            <a:off x="502920" y="5065776"/>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good.</a:t>
            </a:r>
            <a:endParaRPr lang="en-US" sz="9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ladayya with a NOUN (experience in …) and sabaqa lī an with a PAST verb (I have previously …).</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SUITABILITY AND INTERVIEW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me? Prove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مُنَاسِبٌ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SUITABLE · HE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أَعْتَقِدُ أَنَّنِي مُنَاسِبٌ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أَعْتَقِدُ أَنَّنِي مُنَاسِبٌ لِهٰذِهِ الفُرْصَةِ.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believe I am suitable for this opportunity.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boy: munāsibun.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SUITABLE · SHE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أَعْتَقِدُ أَنَّنِي مُنَاسِبَةٌ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أَعْتَقِدُ أَنَّنِي مُنَاسِبَةٌ لِلوَظِيفَةِ لِأَنَّنِي مُنَظَّمَةٌ.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believe I am suitable for the job because I am organised.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girl: -atun, twice.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وَالدَّلِيلُ عَلَى ذٰلِكَ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مِنْ نِقَاطِ قُوَّتِي إِدَارَةُ الوَقْتِ، وَالدَّلِيلُ عَلَى ذٰلِكَ أَنَّنِي أُنَظِّمُ مَشْرُوعَاتِي بِدِقَّةٍ.</a:t>
            </a:r>
            <a:endParaRPr lang="ar-SA" sz="2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150" i="1" dirty="0">
                <a:solidFill>
                  <a:srgbClr val="5A6472"/>
                </a:solidFill>
                <a:latin typeface="Calibri" pitchFamily="34" charset="0"/>
                <a:cs typeface="Amiri" pitchFamily="2" charset="-78"/>
              </a:rPr>
              <a:t>One of my strengths is time management; the proof is that I organise my projects carefully.</a:t>
            </a:r>
            <a:endParaRPr lang="en-US" sz="115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Strength, then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girl applying: the adjective agrees.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قَالَتْ نُورُ: أَنَا مُنَاسِبَةٌ.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قَالَتْ نُورُ: أَنَا مُنَاسِبٌ.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application language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cs typeface="Amiri" pitchFamily="2" charset="-78"/>
              </a:rPr>
              <a:t>اللُّغَةُ الرَّسْمِيَّةُ فِي طَلَبِ الوَظِيفَةِ وَالمُقَابَلَةِ</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Formal opening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يَسُرُّنِي أَنْ أَتَقَدَّمَ لِـ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يَسُرُّنِي أَنْ أَتَقَدَّمَ لِوَظِيفَةِ مُسَاعِدٍ إِدَارِيٍّ.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Experience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لَدَيَّ خِبْرَةٌ فِي / سَبَقَ لِي 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لَدَيَّ خِبْرَةٌ فِي خِدْمَةِ العُمَلَاءِ.   ·   سَبَقَ لِي أَنْ عَمِلْتُ فِي مَكْتَبٍ.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Suitability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أَعْتَقِدُ أَنَّنِي مُنَاسِبٌ / مُنَاسِبَةٌ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أَعْتَقِدُ أَنَّنِي مُنَاسِبَةٌ لِلوَظِيفَةِ لِأَنَّنِي مُنَظَّمَةٌ.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Interview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مِنْ نِقَاطِ قُوَّتِي ... وَالدَّلِيلُ عَلَى ذٰلِكَ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مِنْ نِقَاطِ قُوَّتِي إِدَارَةُ الوَقْتِ، وَالدَّلِيلُ عَلَى ذٰلِكَ أَنَّنِي أُنَظِّمُ مَشْرُوعَاتِي بِدِقَّةٍ.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الوَظِيفَةَ.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أُحِبُّ الوَظِيفَةَ.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يَسُرُّنِي أَنْ أَتَقَدَّمَ لِلوَظِيفَةِ.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لَدَيَّ خِبْرَةٌ ___ خِدْمَةِ العُمَلَاءِ.</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سَبَقَ لِي أَنْ ___ فِي مَكْتَبٍ.</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أَعْمَلُ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عَمِلْتُ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 girl writes: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أَعْتَقِدُ أَنَّنِي ___ لِلوَظِيفَةِ.</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مُنَاسِبَةٌ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مُنَاسِبٌ</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مُنَاسِبُونَ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الوَظِيفَةَ.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أُحِبُّ الوَظِيفَةَ.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يَسُرُّنِي أَنْ أَتَقَدَّمَ لِلوَظِيفَةِ.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Formal, impersonal opening.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لَدَيَّ خِبْرَةٌ ___ خِدْمَةِ العُمَلَاءِ.</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khibra fī = experience in.</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سَبَقَ لِي أَنْ ___ فِي مَكْتَبٍ.</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أَعْمَلُ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عَمِلْتُ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sabaqa lī an + PAST verb.</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 girl writes: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أَعْتَقِدُ أَنَّنِي ___ لِلوَظِيفَةِ.</a:t>
            </a:r>
            <a:endParaRPr lang="ar-SA" sz="15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مُنَاسِبَةٌ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مُنَاسِبٌ</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مُنَاسِبُونَ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Agree with the applicant.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write a formal application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Greeting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السَّيِّدُ المُدِيرُ المُحْتَرَمُ،</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Formal greeting.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Purpose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يَسُرُّنِي أَنْ أَتَقَدَّمَ</a:t>
            </a:r>
            <a:pPr rtl="1" algn="ctr" indent="0" marL="0">
              <a:lnSpc>
                <a:spcPct val="120000"/>
              </a:lnSpc>
              <a:buNone/>
            </a:pPr>
            <a:r>
              <a:rPr lang="ar-SA" altLang="en-US" sz="1750" b="1" dirty="0">
                <a:solidFill>
                  <a:srgbClr val="1B3B6F"/>
                </a:solidFill>
                <a:latin typeface="Amiri" pitchFamily="2" charset="-78"/>
                <a:cs typeface="Amiri" pitchFamily="2" charset="-78"/>
              </a:rPr>
              <a:t> لِوَظِيفَةِ مُسَاعِدٍ فِي مَتْجَرِكُمْ.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Formal opening.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Experience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cs typeface="Amiri" pitchFamily="2" charset="-78"/>
              </a:rPr>
              <a:t>سَبَقَ لِي أَنْ</a:t>
            </a:r>
            <a:pPr rtl="1" algn="ctr" indent="0" marL="0">
              <a:lnSpc>
                <a:spcPct val="120000"/>
              </a:lnSpc>
              <a:buNone/>
            </a:pPr>
            <a:r>
              <a:rPr lang="ar-SA" altLang="en-US" sz="1750" b="1" dirty="0">
                <a:solidFill>
                  <a:srgbClr val="1B3B6F"/>
                </a:solidFill>
                <a:latin typeface="Amiri" pitchFamily="2" charset="-78"/>
                <a:cs typeface="Amiri" pitchFamily="2" charset="-78"/>
              </a:rPr>
              <a:t> عَمِلْتُ فِي مَطْعَمٍ، وَ</a:t>
            </a:r>
            <a:pPr rtl="1" algn="ctr" indent="0" marL="0">
              <a:lnSpc>
                <a:spcPct val="120000"/>
              </a:lnSpc>
              <a:buNone/>
            </a:pPr>
            <a:r>
              <a:rPr lang="ar-SA" altLang="en-US" sz="1750" b="1" dirty="0">
                <a:solidFill>
                  <a:srgbClr val="D6336C"/>
                </a:solidFill>
                <a:latin typeface="Amiri" pitchFamily="2" charset="-78"/>
                <a:cs typeface="Amiri" pitchFamily="2" charset="-78"/>
              </a:rPr>
              <a:t>لَدَيَّ خِبْرَةٌ فِي</a:t>
            </a:r>
            <a:pPr rtl="1" algn="ctr" indent="0" marL="0">
              <a:lnSpc>
                <a:spcPct val="120000"/>
              </a:lnSpc>
              <a:buNone/>
            </a:pPr>
            <a:r>
              <a:rPr lang="ar-SA" altLang="en-US" sz="1750" b="1" dirty="0">
                <a:solidFill>
                  <a:srgbClr val="1B3B6F"/>
                </a:solidFill>
                <a:latin typeface="Amiri" pitchFamily="2" charset="-78"/>
                <a:cs typeface="Amiri" pitchFamily="2" charset="-78"/>
              </a:rPr>
              <a:t> خِدْمَةِ العُمَلَاءِ.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then noun.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Why 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أَعْتَقِدُ أَنَّنِي مُنَاسِبٌ</a:t>
            </a:r>
            <a:pPr rtl="1" algn="ctr" indent="0" marL="0">
              <a:lnSpc>
                <a:spcPct val="120000"/>
              </a:lnSpc>
              <a:buNone/>
            </a:pPr>
            <a:r>
              <a:rPr lang="ar-SA" altLang="en-US" sz="1750" b="1" dirty="0">
                <a:solidFill>
                  <a:srgbClr val="1B3B6F"/>
                </a:solidFill>
                <a:latin typeface="Amiri" pitchFamily="2" charset="-78"/>
                <a:cs typeface="Amiri" pitchFamily="2" charset="-78"/>
              </a:rPr>
              <a:t> لِلوَظِيفَةِ لِأَنَّنِي مَسْؤُولٌ.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Claim + reason.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OPENING</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EXPERIENCE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SUITABILITY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السَّيِّدُ المُدِيرُ المُحْتَرَمُ، </a:t>
            </a:r>
            <a:pPr rtl="1" algn="r" indent="0" marL="0">
              <a:lnSpc>
                <a:spcPct val="120000"/>
              </a:lnSpc>
              <a:buNone/>
            </a:pPr>
            <a:r>
              <a:rPr lang="ar-SA" altLang="en-US" sz="1400" b="1" dirty="0">
                <a:solidFill>
                  <a:srgbClr val="1D5FBF"/>
                </a:solidFill>
                <a:latin typeface="Amiri" pitchFamily="2" charset="-78"/>
                <a:cs typeface="Amiri" pitchFamily="2" charset="-78"/>
              </a:rPr>
              <a:t>يَسُرُّنِي أَنْ أَتَقَدَّمَ</a:t>
            </a:r>
            <a:pPr rtl="1" algn="r" indent="0" marL="0">
              <a:lnSpc>
                <a:spcPct val="120000"/>
              </a:lnSpc>
              <a:buNone/>
            </a:pPr>
            <a:r>
              <a:rPr lang="ar-SA" altLang="en-US" sz="1400" b="1" dirty="0">
                <a:solidFill>
                  <a:srgbClr val="1B3B6F"/>
                </a:solidFill>
                <a:latin typeface="Amiri" pitchFamily="2" charset="-78"/>
                <a:cs typeface="Amiri" pitchFamily="2" charset="-78"/>
              </a:rPr>
              <a:t> لِوَظِيفَةِ مُسَاعِدٍ فِي مَتْجَرِكُمْ يَوْمَ السَّبْتِ. </a:t>
            </a:r>
            <a:pPr rtl="1" algn="r" indent="0" marL="0">
              <a:lnSpc>
                <a:spcPct val="120000"/>
              </a:lnSpc>
              <a:buNone/>
            </a:pPr>
            <a:r>
              <a:rPr lang="ar-SA" altLang="en-US" sz="1400" b="1" dirty="0">
                <a:solidFill>
                  <a:srgbClr val="D6336C"/>
                </a:solidFill>
                <a:latin typeface="Amiri" pitchFamily="2" charset="-78"/>
                <a:cs typeface="Amiri" pitchFamily="2" charset="-78"/>
              </a:rPr>
              <a:t>سَبَقَ لِي أَنْ</a:t>
            </a:r>
            <a:pPr rtl="1" algn="r" indent="0" marL="0">
              <a:lnSpc>
                <a:spcPct val="120000"/>
              </a:lnSpc>
              <a:buNone/>
            </a:pPr>
            <a:r>
              <a:rPr lang="ar-SA" altLang="en-US" sz="1400" b="1" dirty="0">
                <a:solidFill>
                  <a:srgbClr val="1B3B6F"/>
                </a:solidFill>
                <a:latin typeface="Amiri" pitchFamily="2" charset="-78"/>
                <a:cs typeface="Amiri" pitchFamily="2" charset="-78"/>
              </a:rPr>
              <a:t> عَمِلْتُ فِي مَطْعَمِ عَمِّي، وَ</a:t>
            </a:r>
            <a:pPr rtl="1" algn="r" indent="0" marL="0">
              <a:lnSpc>
                <a:spcPct val="120000"/>
              </a:lnSpc>
              <a:buNone/>
            </a:pPr>
            <a:r>
              <a:rPr lang="ar-SA" altLang="en-US" sz="1400" b="1" dirty="0">
                <a:solidFill>
                  <a:srgbClr val="D6336C"/>
                </a:solidFill>
                <a:latin typeface="Amiri" pitchFamily="2" charset="-78"/>
                <a:cs typeface="Amiri" pitchFamily="2" charset="-78"/>
              </a:rPr>
              <a:t>لَدَيَّ خِبْرَةٌ فِي</a:t>
            </a:r>
            <a:pPr rtl="1" algn="r" indent="0" marL="0">
              <a:lnSpc>
                <a:spcPct val="120000"/>
              </a:lnSpc>
              <a:buNone/>
            </a:pPr>
            <a:r>
              <a:rPr lang="ar-SA" altLang="en-US" sz="1400" b="1" dirty="0">
                <a:solidFill>
                  <a:srgbClr val="1B3B6F"/>
                </a:solidFill>
                <a:latin typeface="Amiri" pitchFamily="2" charset="-78"/>
                <a:cs typeface="Amiri" pitchFamily="2" charset="-78"/>
              </a:rPr>
              <a:t> خِدْمَةِ العُمَلَاءِ. </a:t>
            </a:r>
            <a:pPr rtl="1" algn="r" indent="0" marL="0">
              <a:lnSpc>
                <a:spcPct val="120000"/>
              </a:lnSpc>
              <a:buNone/>
            </a:pPr>
            <a:r>
              <a:rPr lang="ar-SA" altLang="en-US" sz="1400" b="1" dirty="0">
                <a:solidFill>
                  <a:srgbClr val="0E7C86"/>
                </a:solidFill>
                <a:latin typeface="Amiri" pitchFamily="2" charset="-78"/>
                <a:cs typeface="Amiri" pitchFamily="2" charset="-78"/>
              </a:rPr>
              <a:t>أَعْتَقِدُ أَنَّنِي مُنَاسِبٌ</a:t>
            </a:r>
            <a:pPr rtl="1" algn="r" indent="0" marL="0">
              <a:lnSpc>
                <a:spcPct val="120000"/>
              </a:lnSpc>
              <a:buNone/>
            </a:pPr>
            <a:r>
              <a:rPr lang="ar-SA" altLang="en-US" sz="1400" b="1" dirty="0">
                <a:solidFill>
                  <a:srgbClr val="1B3B6F"/>
                </a:solidFill>
                <a:latin typeface="Amiri" pitchFamily="2" charset="-78"/>
                <a:cs typeface="Amiri" pitchFamily="2" charset="-78"/>
              </a:rPr>
              <a:t> لِهٰذِهِ الوَظِيفَةِ لِأَنَّنِي مَسْؤُولٌ وَأَحْتَرِمُ المَوَاعِيدَ. مَعَ خَالِصِ التَّحِيَّاتِ.</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Dear Manager, I am pleased to apply for the post of Saturday assistant in your shop. I have previously worked in my uncle’s restaurant, and I have experience in customer service. I believe I am suitable for this job because I am responsible and I respect appointments. With best regards.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يَسُرُّنِي أَنْ أَتَقَدَّمَ لِوَظِيفَةِ مُسَاعِدٍ إِدَارِيٍّ.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pleased to apply for the post of administrative assistant.</a:t>
            </a:r>
            <a:endParaRPr lang="en-US" sz="1250" dirty="0"/>
          </a:p>
          <a:p>
            <a:pPr indent="0" marL="0">
              <a:buNone/>
            </a:pPr>
            <a:r>
              <a:rPr lang="en-US" sz="1050" i="1" dirty="0">
                <a:solidFill>
                  <a:srgbClr val="8A6D1E"/>
                </a:solidFill>
                <a:latin typeface="Calibri" pitchFamily="34" charset="0"/>
                <a:cs typeface="Amiri" pitchFamily="2" charset="-78"/>
              </a:rPr>
              <a:t>Formal opening.</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لَدَيَّ خِبْرَةٌ فِي خِدْمَةِ العُمَلَاءِ.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experience in customer service.</a:t>
            </a:r>
            <a:endParaRPr lang="en-US" sz="1250" dirty="0"/>
          </a:p>
          <a:p>
            <a:pPr indent="0" marL="0">
              <a:buNone/>
            </a:pPr>
            <a:r>
              <a:rPr lang="en-US" sz="1050" i="1" dirty="0">
                <a:solidFill>
                  <a:srgbClr val="8A6D1E"/>
                </a:solidFill>
                <a:latin typeface="Calibri" pitchFamily="34" charset="0"/>
                <a:cs typeface="Amiri" pitchFamily="2" charset="-78"/>
              </a:rPr>
              <a:t>ladayya +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سَبَقَ لِي أَنْ تَطَوَّعْتُ فِي مَكْتَبَةِ المَدْرَسَةِ.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previously volunteered in the school library.</a:t>
            </a:r>
            <a:endParaRPr lang="en-US" sz="1250" dirty="0"/>
          </a:p>
          <a:p>
            <a:pPr indent="0" marL="0">
              <a:buNone/>
            </a:pPr>
            <a:r>
              <a:rPr lang="en-US" sz="1050" i="1" dirty="0">
                <a:solidFill>
                  <a:srgbClr val="8A6D1E"/>
                </a:solidFill>
                <a:latin typeface="Calibri" pitchFamily="34" charset="0"/>
                <a:cs typeface="Amiri" pitchFamily="2" charset="-78"/>
              </a:rPr>
              <a:t>sabaqa lī an + past.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أَعْتَقِدُ أَنَّنِي مُنَاسِبَةٌ لِلوَظِيفَةِ لِأَنَّنِي مُنَظَّمَةٌ.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believe I am suitable for the job because I am organised.</a:t>
            </a:r>
            <a:endParaRPr lang="en-US" sz="1250" dirty="0"/>
          </a:p>
          <a:p>
            <a:pPr indent="0" marL="0">
              <a:buNone/>
            </a:pPr>
            <a:r>
              <a:rPr lang="en-US" sz="1050" i="1" dirty="0">
                <a:solidFill>
                  <a:srgbClr val="8A6D1E"/>
                </a:solidFill>
                <a:latin typeface="Calibri" pitchFamily="34" charset="0"/>
                <a:cs typeface="Amiri" pitchFamily="2" charset="-78"/>
              </a:rPr>
              <a:t>Agree (f.) + 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JOB APPLICATIONS AND INTERVIEWS — CV, SKILLS AND FUTURE PLANS”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Applying for a job: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مُقَابَلَةُ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CV</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 interview</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email + attachment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أُرْسِلُ طَلَبَ الوَظِيفَةِ بِالبَرِيدِ الإِلِكْتُرُونِيِّ.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سِيرَتِي الذَّاتِيَّةُ.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لَدَيَّ مُقَابَلَةُ عَمَلٍ.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مُقَابَلَةُ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CV</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سِيرَتِي الذَّاتِيَّةُ.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CV.</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 interview</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لَدَيَّ مُقَابَلَةُ عَمَلٍ.</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a job interview.</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email + attachment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أُرْسِلُ طَلَبَ الوَظِيفَةِ بِالبَرِيدِ الإِلِكْتُرُونِيِّ.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send the job application by email.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or informal?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يَسُرُّنِي أَنْ أَتَقَدَّمَ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لَدَيَّ خِبْرَةٌ فِي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سَبَقَ لِي أَنْ عَمِلْتُ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خَالِصِ التَّحِيَّاتِ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الوَظِيفَةَ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صَدِيقِي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جَيِّدٌ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اللِّقَاءِ</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Formal (letter)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Informal (chat)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Formal (letter)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يَسُرُّنِي أَنْ أَتَقَدَّمَ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لَدَيَّ خِبْرَةٌ فِي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سَبَقَ لِي أَنْ عَمِلْتُ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خَالِصِ التَّحِيَّاتِ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Informal (chat)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الوَظِيفَةَ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صَدِيقِي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جَيِّدٌ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اللِّقَاءِ</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رِسَالَةُ تَغْطِيَةٍ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CV</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job advert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cover letter</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strength?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قَائِدٌ جَيِّدٌ.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وَالدَّلِيلُ عَلَى ذٰلِكَ أَنَّنِي قُدْتُ فَرِيقًا.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القِيَادَةَ.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way to end a letter?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اللِّقَاءِ</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خَالِصِ التَّحِيَّاتِ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مَرْجِعٌ / تَزْكِيَةٌ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weakness</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رِسَالَةُ تَغْطِيَةٍ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CV</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job advert</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cover letter</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risāla = letter.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strength?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قَائِدٌ جَيِّدٌ.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وَالدَّلِيلُ عَلَى ذٰلِكَ أَنَّنِي قُدْتُ فَرِيقًا.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القِيَادَةَ.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Strength, then proof.</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way to end a letter?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 اللِّقَاءِ</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 خَالِصِ التَّحِيَّاتِ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With best regards.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مَرْجِعٌ / تَزْكِيَةٌ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salary</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weakness</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reference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Someone who recommends you.</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يَسُرُّنِي أَنْ أَتَقَدَّمُ لِلوَظِيفَةِ.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لَدَيَّ خِبْرَةٌ فِي عَمِلْتُ.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fī + a verb or a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قَالَتْ نُورُ: أَعْتَقِدُ أَنَّنِي مُنَاسِبٌ.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Noor is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يَسُرُّنِي أَنْ أَتَقَدَّمُ لِلوَظِيفَةِ.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يَسُرُّنِي أَنْ أَتَقَدَّمَ لِلوَظِيفَةِ.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an the verb ends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لَدَيَّ خِبْرَةٌ فِي عَمِلْتُ.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لَدَيَّ خِبْرَةٌ فِي خِدْمَةِ العُمَلَاءِ.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ladayya khibra fī + a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قَالَتْ نُورُ: أَعْتَقِدُ أَنَّنِي مُنَاسِبٌ.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قَالَتْ نُورُ: أَعْتَقِدُ أَنَّنِي مُنَاسِبَةٌ.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Noor is a girl → munāsibatun.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extracts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want the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likes dealing with people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high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 her home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experience does she have?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working in a shop</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teaching children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organising school events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strength does she name?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creative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calm</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organised</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does she give?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led a team and finished early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won a prize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a certificate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students were in her team?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study in the future?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business management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design</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النَّاسِ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مُنَظَّمَةٌ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خَمْسِ</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المُقَابِلُ: لِمَاذَا تُرِيدِينَ هٰذِهِ الوَظِيفَةَ؟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Interviewer: Why do you want this job?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نُورُ: لِأَنَّنِي أُحِبُّ التَّعَامُلَ مَعَ النَّاسِ، وَلَدَيَّ خِبْرَةٌ فِي تَنْظِيمِ الفَعَالِيَّاتِ المَدْرَسِيَّةِ.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Noor: Because I like dealing with people, and I have experience in organising school events.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المُقَابِلُ: مَا نُقْطَةُ قُوَّتِكِ؟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Interviewer: What is your strength?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نُورُ: أَنَا مُنَظَّمَةٌ، فَقَدْ قُدْتُ فَرِيقًا مِنْ خَمْسِ طَالِبَاتٍ وَأَنْهَيْنَا المَشْرُوعَ قَبْلَ المَوْعِدِ.</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Noor: I am organised — I led a team of five students and we finished the project before the deadline.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المُقَابِلُ: مَا خُطَّتُكِ؟ نُورُ: سَأَدْرُسُ إِدَارَةَ الأَعْمَالِ فِي المُسْتَقْبَلِ.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Interviewer: What is your plan? Noor: I will study business management in the future.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want the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she likes dealing with people</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high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 her home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أُحِبُّ التَّعَامُلَ مَعَ النَّاسِ</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experience does she have?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working in a shop</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teaching children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organising school events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خِبْرَةٌ فِي تَنْظِيمِ الفَعَالِيَّاتِ المَدْرَسِيَّةِ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strength does she name?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creative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calm</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is organised</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أَنَا مُنَظَّمَةٌ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does she give?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led a team and finished early</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won a prize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a certificate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قُدْتُ فَرِيقًا … قَبْلَ المَوْعِدِ</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students were in her team?</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five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خَمْسِ طَالِبَاتٍ</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study in the future?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business management</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design</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سَأَدْرُسُ إِدَارَةَ الأَعْمَالِ</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النَّاسِ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مُنَظَّمَةٌ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خَمْسِ</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job interview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لِمَاذَا تُرِيدُ هٰذِهِ الوَظِيفَةَ؟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نُقْطَةُ قُوَّتِكَ؟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لَدَيْكَ خِبْرَةٌ سَابِقَةٌ؟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نُقْطَةُ ضَعْفِكَ، وَكَيْفَ تُحَسِّنُهَا؟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لِأَنَّنِي أُحِبُّ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نُقْطَةُ قُوَّتِي ___ لِأَنَّنِي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نَعَمْ، سَبَقَ لِي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أَحْيَانًا ___ ، وَلٰكِنَّنِي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لِمَاذَا تُرِيدُ هٰذِهِ الوَظِيفَةَ؟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Why do you want this job?</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لِأَنَّنِي أُحِبُّ العَمَلَ مَعَ النَّاسِ، وَلَدَيَّ خِبْرَةٌ فِي خِدْمَةِ العُمَلَاءِ.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Because I like working with people, and I have experience in customer service.</a:t>
            </a:r>
            <a:endParaRPr lang="en-US" sz="9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short formal letter from the frames: greeting, purpose, one experience, why you, close.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Formal email with sabaqa lī an, ladayya khibra and a strength with evidence.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full formal application email for a weekend or summer job, with future plans.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سَبَقَ لِي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previously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حَيْثُ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I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نِقَاطِ قُوَّتِي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of my strengths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وَالدَّلِيلُ عَلَى ذٰلِكَ أَنَّنِي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the proof is that I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السَّيِّدُ المُدِيرُ المُحْتَرَمُ،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Dear Manager,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يَسُرُّنِي أَنْ أَتَقَدَّمَ لِوَظِيفَةِ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pleased to apply for the post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لَدَيَّ خِبْرَةٌ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experience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أَعْتَقِدُ أَنَّنِي مُنَاسِبٌ / مُنَاسِبَةٌ لِأَنَّنِي ______ .</a:t>
            </a:r>
            <a:endParaRPr lang="ar-SA" sz="165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believe I am suitable because …</a:t>
            </a:r>
            <a:endParaRPr lang="en-US" sz="1050" dirty="0"/>
          </a:p>
        </p:txBody>
      </p:sp>
      <p:sp>
        <p:nvSpPr>
          <p:cNvPr id="37" name="Text 34"/>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خَالِصِ التَّحِيَّاتِ.</a:t>
            </a:r>
            <a:endParaRPr lang="ar-SA" sz="1800" dirty="0"/>
          </a:p>
        </p:txBody>
      </p:sp>
      <p:sp>
        <p:nvSpPr>
          <p:cNvPr id="38" name="Text 35"/>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With best regards.</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يَسُرُّنِي أَنْ أَتَقَدَّمَ  ·  لَدَيَّ خِبْرَةٌ فِي  ·  سَبَقَ لِي أَنْ  ·  أَعْتَقِدُ أَنَّنِي  ·  مُنَاسِبٌ  ·  مُنَاسِبَةٌ  ·  مِنْ نِقَاطِ قُوَّتِي  ·  وَالدَّلِيلُ عَلَى ذٰلِكَ  ·  تَطَوَّعْتُ  ·  خِدْمَةِ العُمَلَاءِ  ·  إِضَافَةً إِلَى ذٰلِكَ  ·  مَعَ خَالِصِ التَّحِيَّاتِ</a:t>
            </a:r>
            <a:endParaRPr lang="ar-SA" sz="13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formal application email for a weekend or summer job.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السَّيِّدَةُ المُدِيرَةُ المُحْتَرَمَةُ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Dear (female) Manager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فُرْصَةُ التَّدْرِيبِ الصَّيْفِيِّ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summer placement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حَيْثُ سَاعَدْتُ الزُّوَّارَ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where I helped visitors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أَتَعَلَّمُ بِسُرْعَةٍ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learn quickly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أَعْمَلُ جَيِّدًا ضِمْنَ فَرِيقٍ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work well in a team</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السَّيِّدُ مُدِيرُ المَتْجَرِ المُحْتَرَمُ، يَسُرُّنِي أَنْ أَتَقَدَّمَ لِوَظِيفَةِ مُسَاعِدٍ فِي مَتْجَرِكُمْ أَيَّامَ السَّبْتِ. أَنَا طَالِبٌ فِي الصَّفِّ الثَّامِنِ، وَأَنَا مَسْؤُولٌ وَمُنَظَّمٌ. سَبَقَ لِي أَنْ تَطَوَّعْتُ فِي مَكْتَبَةِ المَدْرَسَةِ، حَيْثُ سَاعَدْتُ الطُّلَّابَ وَرَتَّبْتُ الكُتُبَ، لِذٰلِكَ لَدَيَّ خِبْرَةٌ فِي التَّعَامُلِ مَعَ النَّاسِ. مِنْ نِقَاطِ قُوَّتِي إِدَارَةُ الوَقْتِ، وَالدَّلِيلُ عَلَى ذٰلِكَ أَنَّنِي أُنْهِي وَاجِبَاتِي دَائِمًا فِي الوَقْتِ. أَعْتَقِدُ أَنَّنِي مُنَاسِبٌ لِهٰذِهِ الوَظِيفَةِ لِأَنَّنِي أَتَعَلَّمُ بِسُرْعَةٍ. فِي المُسْتَقْبَلِ سَأَدْرُسُ إِدَارَةَ الأَعْمَالِ. مَعَ خَالِصِ التَّحِيَّاتِ.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Shop Manager, I am pleased to apply for the post of Saturday assistant in your shop. I am a Year 8 student, and I am responsible and organised. I have previously volunteered in the school library, where I helped students and arranged the books, so I have experience in dealing with people. One of my strengths is time management; the proof is that I always finish my homework on time. I believe I am suitable for this job because I learn quickly. In the future I will study business management. With best regards.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formal opening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sabaqa lī an +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strength with evidence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formal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formal opening and close.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munāsib agrees with me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ladayya + noun; sabaqa lī an + past.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strength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future plan (sa-).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يَسُرُّنِي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لِوَظِيفَةِ مُسَاعِدٍ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أَتَقَدَّمَ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تَقَدَّمْتُ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سَأَتَقَدَّمُ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 noun after ladayya?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لَدَيَّ عَمِلْتُ.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لَدَيَّ خِبْرَةٌ فِي التَّصْمِيمِ.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لَدَيَّ أَنْ أَعْمَلَ.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مُقَابَلَةٌ شَخْصِيَّةٌ</a:t>
            </a:r>
            <a:pPr algn="l" indent="0" marL="0">
              <a:buNone/>
            </a:pPr>
            <a:r>
              <a:rPr lang="en-US" sz="1250" b="1" dirty="0">
                <a:solidFill>
                  <a:srgbClr val="1B3B6F"/>
                </a:solidFill>
                <a:latin typeface="Calibri" pitchFamily="34" charset="0"/>
                <a:cs typeface="Amiri" pitchFamily="2" charset="-78"/>
              </a:rPr>
              <a:t> mean here?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job interview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contest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meeting with friends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يَسُرُّنِي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لِوَظِيفَةِ مُسَاعِدٍ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أَتَقَدَّمَ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تَقَدَّمْتُ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سَأَتَقَدَّمُ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 verb (-a).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 noun after ladayya?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لَدَيَّ عَمِلْتُ.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لَدَيَّ خِبْرَةٌ فِي التَّصْمِيمِ.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لَدَيَّ أَنْ أَعْمَلَ.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ladayya +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مُقَابَلَةٌ شَخْصِيَّةٌ</a:t>
            </a:r>
            <a:pPr algn="l" indent="0" marL="0">
              <a:buNone/>
            </a:pPr>
            <a:r>
              <a:rPr lang="en-US" sz="1250" b="1" dirty="0">
                <a:solidFill>
                  <a:srgbClr val="1B3B6F"/>
                </a:solidFill>
                <a:latin typeface="Calibri" pitchFamily="34" charset="0"/>
                <a:cs typeface="Amiri" pitchFamily="2" charset="-78"/>
              </a:rPr>
              <a:t> mean here?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job interview</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contest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meeting with friends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Not the Urdu meaning!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short application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السَّيِّدَةُ مُدِيرَةُ المَوَارِدِ البَشَرِيَّةِ المُحْتَرَمَةُ، يَسُرُّنِي أَنْ أَتَقَدَّمَ لِفُرْصَةِ التَّدْرِيبِ الصَّيْفِيِّ فِي شَرِكَتِكُمْ. أَنَا طَالِبٌ مُنَظَّمٌ وَمَسْؤُولٌ، وَلَدَيَّ مَهَارَاتٌ جَيِّدَةٌ فِي الحَاسُوبِ وَالتَّوَاصُلِ. سَبَقَ لِي أَنْ تَطَوَّعْتُ فِي مَكْتَبَةِ المَدْرَسَةِ، حَيْثُ سَاعَدْتُ الزُّوَّارَ وَرَتَّبْتُ السِّجِلَّاتِ. أَعْتَقِدُ أَنَّنِي مُنَاسِبٌ لِهٰذِهِ الفُرْصَةِ لِأَنَّنِي أَتَعَلَّمُ بِسُرْعَةٍ وَأَعْمَلُ جَيِّدًا ضِمْنَ فَرِيقٍ.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مُدِيرَةُ المَوَارِدِ البَشَرِيَّةِ</a:t>
            </a:r>
            <a:endParaRPr lang="ar-SA" sz="14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HR manager (f.)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المُحْتَرَمَةُ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respected (Dear …)</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فُرْصَةِ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opportunity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التَّدْرِيبِ الصَّيْفِيِّ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summer training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شَرِكَتِكُمْ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your company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تَطَوَّعْتُ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volunteered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حَيْثُ</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where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الزُّوَّارَ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visitors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رَتَّبْتُ السِّجِلَّاتِ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organised the records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ضِمْنَ فَرِيقٍ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within a team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 applying for?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full-time job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summer training placement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skills does the writer name?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 and design</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languages and maths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and communication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volunteer?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school library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hospital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shop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tasks did the writer do?</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taught pupils and cleaned</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helped visitors and organised records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sold books and cooked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feel suitable?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learns quickly and works well in a team</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the oldest student</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lives near the company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register is used?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informal</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mix of English and Arabic</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 applying for?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full-time job</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summer training placement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لِفُرْصَةِ التَّدْرِيبِ الصَّيْفِيِّ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skills does the writer name?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 and design</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languages and maths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computer and communication</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مَهَارَاتٌ جَيِّدَةٌ فِي الحَاسُوبِ وَالتَّوَاصُلِ</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volunteer?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school library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hospital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shop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تَطَوَّعْتُ فِي مَكْتَبَةِ المَدْرَسَةِ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tasks did the writer do?</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taught pupils and cleaned</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helped visitors and organised records</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sold books and cooked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سَاعَدْتُ الزُّوَّارَ وَرَتَّبْتُ السِّجِلَّاتِ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feel suitable?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learns quickly and works well in a team</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the oldest student</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lives near the company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أَتَعَلَّمُ بِسُرْعَةٍ وَأَعْمَلُ جَيِّدًا ضِمْنَ فَرِيقٍ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register is used?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informal</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mix of English and Arabic</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formal</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السَّيِّدَةُ … المُحْتَرَمَةُ، يَسُرُّنِي …</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D3-L07 · Arabic Proverbs and Values — Work Ethic and Success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مَثَلٌ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proverb</a:t>
            </a:r>
            <a:pPr indent="0" marL="0">
              <a:buNone/>
            </a:pPr>
            <a:r>
              <a:rPr lang="en-US" sz="1000" i="1" dirty="0">
                <a:solidFill>
                  <a:srgbClr val="5A6472"/>
                </a:solidFill>
                <a:latin typeface="Calibri" pitchFamily="34" charset="0"/>
                <a:cs typeface="Amiri" pitchFamily="2" charset="-78"/>
              </a:rPr>
              <a:t>  pl. أَمْثَالٌ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المُثَابَرَةُ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perseverance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الأَمَانَةُ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honesty, trustworthiness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الاِنْضِبَاطُ</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discipline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الإِتْقَانُ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mastery, doing a job well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 you know a proverb (in any language) about hard work? Write it down.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مَنْ جَدَّ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four formal chunks by heart; write the 5-sentence letter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Formal email (80–100 words) with experience and a strength +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formal application email for a weekend or summer job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D3-L07 · Arabic Proverbs and Values — Work Ethic and Success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الأَمْثَالُ العَرَبِيَّةُ وَالقِيَمُ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formal opening — ladayya + noun, sabaqa lī an + past — every strength needs proof.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D3-L06 · Job Applications and Interviews — CV, Skills and Future Plans</dc:title>
  <dc:subject>PptxGenJS Presentation</dc:subject>
  <dc:creator>Al Madina Online School · Arabic Department</dc:creator>
  <cp:lastModifiedBy>Al Madina Online School · Arabic Department</cp:lastModifiedBy>
  <cp:revision>1</cp:revision>
  <dcterms:created xsi:type="dcterms:W3CDTF">2026-10-11T06:40:45Z</dcterms:created>
  <dcterms:modified xsi:type="dcterms:W3CDTF">2026-10-11T06:40:45Z</dcterms:modified>
</cp:coreProperties>
</file>