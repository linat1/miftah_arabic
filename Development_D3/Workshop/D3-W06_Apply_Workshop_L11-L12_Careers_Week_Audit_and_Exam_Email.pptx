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D3-L11 · Learn D3-L12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D3-L11 (D3 Consolidation — Error Analysis and Assessment Preparation) and D3-L12 (Review and Unit Assessment: Work and Careers).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D3-L11 and D3-L12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D3-L11? After D3-L12?” Take two answers in the chat for each lesson (one word or one sentence is enough). Then read objective 3 — today’s new situation that needs BOTH lessons. Students tick their route goals at the end of the lesson.
D3-L11 language: four audits: (1) agreement — job m. / f. / pl., adjectives, non-human plural; (2) verb + preposition — yaḥtāju ilā · ḥaṣala ʿalā · yaʿmalu fī · aṭmaḥu ilā; (3) future — sa- / sawfa / lan + -a; (4) evidence — every claim needs mathalan / li-anna; routine: diagnose → explain the rule → repair
D3-L12 language: D3 review: jobs m. / f. / pl. and yaʿmalu + -an; workplace adjectives and min mazāyāhu anna; yaḥtāju ilā · yajibu an yakūna + -an · yastaṭīʿu an; future sa- / sawfa / lan + -a; li-kay; idhā … fa-sawfa; formal application phrases; proverbs with yaʿnī anna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D3-L11 and D3-L12. Teacher reads it once with a confident student; then pairs. Ask: “Which lines are from D3-L11? Which from D3-L12?” Each line passes one D3-L11 audit: agreement (مُحَامِيَةً), verb + preposition (يَحْتَاجُ إِلَى), future (لَنْ أَعْمَلَ · سَأَدْرُسُ) and evidence (مَثَلًا). The content is the D3-L12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four D3 audits (D3-L11) applied to every D3 structure under assessment conditions (D3-L12). FADED SUPPORT: tasks 1–2 show the plan; students write their own plan for 3–5. To a girl Partner A says: مَاذَا تَعْمَلُ أُسْرَتُكِ؟ · مَا خُطَطُكِ؟ · هَلْ أَنْتِ مُبْدِعَةٌ؟.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D3-L11 and D3-L12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D3-L11 and D3-L12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and one phrase from D3-L11 and one from D3-L12.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D3-L11 + D3-L12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Careers Week: Audit and Exam Email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أُسْبُوعُ المِهَنِ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use all of D3 under assessment conditions: they audit sentences for the four D3 traps (agreement, verb + preposition, future, evidence), interview each other about work in their family, skills and plans, and write the exam-style email about work and their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D3-L11 + D3-L12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D3-L11 and D3-L12.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D3-L11 + D3-L12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D3-L11: D3 Consolidation — Error Analysis and Assessment Preparation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D3-L12: Review and Unit Assessment: Work and Careers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careers-week interview · Exam-style email: work and my future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D3-L11 and D3-L12.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D3-L11 · D3 Consolidation — Error Analysis and Assessment Preparation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مُحَامٍ / مُحَامِيَةٌ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lawyer</a:t>
            </a:r>
            <a:endParaRPr lang="en-US" sz="1350" dirty="0"/>
          </a:p>
          <a:p>
            <a:pPr indent="0" marL="0">
              <a:buNone/>
            </a:pPr>
            <a:r>
              <a:rPr lang="en-US" sz="1100" i="1" dirty="0">
                <a:solidFill>
                  <a:srgbClr val="5A6472"/>
                </a:solidFill>
                <a:latin typeface="Calibri" pitchFamily="34" charset="0"/>
                <a:cs typeface="Amiri" pitchFamily="2" charset="-78"/>
              </a:rPr>
              <a:t>mu-ḥā-min / mu-ḥā-mi-ya-tun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مُبَرْمِجٌ / مُبَرْمِجَةٌ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programmer</a:t>
            </a:r>
            <a:endParaRPr lang="en-US" sz="1350" dirty="0"/>
          </a:p>
          <a:p>
            <a:pPr indent="0" marL="0">
              <a:buNone/>
            </a:pPr>
            <a:r>
              <a:rPr lang="en-US" sz="1100" i="1" dirty="0">
                <a:solidFill>
                  <a:srgbClr val="5A6472"/>
                </a:solidFill>
                <a:latin typeface="Calibri" pitchFamily="34" charset="0"/>
                <a:cs typeface="Amiri" pitchFamily="2" charset="-78"/>
              </a:rPr>
              <a:t>mu-bar-mi-jun / mu-bar-mi-ja-tun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مُصَمِّمٌ / مُصَمِّمَةٌ</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designer</a:t>
            </a:r>
            <a:endParaRPr lang="en-US" sz="1350" dirty="0"/>
          </a:p>
          <a:p>
            <a:pPr indent="0" marL="0">
              <a:buNone/>
            </a:pPr>
            <a:r>
              <a:rPr lang="en-US" sz="1100" i="1" dirty="0">
                <a:solidFill>
                  <a:srgbClr val="5A6472"/>
                </a:solidFill>
                <a:latin typeface="Calibri" pitchFamily="34" charset="0"/>
                <a:cs typeface="Amiri" pitchFamily="2" charset="-78"/>
              </a:rPr>
              <a:t>mu-ṣam-mi-mun / mu-ṣam-mi-ma-tun</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مُصَمِّمُونَ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مُصَمِّمَةٌ</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a:t>
            </a:r>
            <a:endParaRPr lang="ar-SA" sz="1500" dirty="0"/>
          </a:p>
        </p:txBody>
      </p:sp>
      <p:sp>
        <p:nvSpPr>
          <p:cNvPr id="103" name="Shape 10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4" name="Shape 101"/>
          <p:cNvSpPr/>
          <p:nvPr/>
        </p:nvSpPr>
        <p:spPr>
          <a:xfrm>
            <a:off x="566928" y="4261104"/>
            <a:ext cx="310896" cy="310896"/>
          </a:xfrm>
          <a:prstGeom prst="ellipse">
            <a:avLst/>
          </a:prstGeom>
          <a:solidFill>
            <a:srgbClr val="F4F1EA"/>
          </a:solidFill>
          <a:ln w="12700">
            <a:solidFill>
              <a:srgbClr val="F4F1EA"/>
            </a:solidFill>
            <a:prstDash val="solid"/>
          </a:ln>
        </p:spPr>
      </p:sp>
      <p:sp>
        <p:nvSpPr>
          <p:cNvPr id="105" name="Text 10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6" name="Shape 103"/>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7" name="Text 104"/>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8" name="Text 10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شُرْطِيٌّ / شُرْطِيَّةٌ</a:t>
            </a:r>
            <a:endParaRPr lang="ar-SA" sz="3000" dirty="0"/>
          </a:p>
        </p:txBody>
      </p:sp>
      <p:sp>
        <p:nvSpPr>
          <p:cNvPr id="109" name="Text 10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police officer</a:t>
            </a:r>
            <a:endParaRPr lang="en-US" sz="1350" dirty="0"/>
          </a:p>
          <a:p>
            <a:pPr indent="0" marL="0">
              <a:buNone/>
            </a:pPr>
            <a:r>
              <a:rPr lang="en-US" sz="1100" i="1" dirty="0">
                <a:solidFill>
                  <a:srgbClr val="5A6472"/>
                </a:solidFill>
                <a:latin typeface="Calibri" pitchFamily="34" charset="0"/>
                <a:cs typeface="Amiri" pitchFamily="2" charset="-78"/>
              </a:rPr>
              <a:t>shur-ṭiy-yun / shur-ṭiy-ya-tun</a:t>
            </a:r>
            <a:endParaRPr lang="en-US" sz="1350" dirty="0"/>
          </a:p>
        </p:txBody>
      </p:sp>
      <p:sp>
        <p:nvSpPr>
          <p:cNvPr id="110" name="Shape 10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2" name="Text 109"/>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شُرْطِيُّونَ</a:t>
            </a:r>
            <a:endParaRPr lang="ar-SA" sz="1500" dirty="0"/>
          </a:p>
        </p:txBody>
      </p:sp>
      <p:sp>
        <p:nvSpPr>
          <p:cNvPr id="113" name="Shape 11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4" name="Text 11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5" name="Text 112"/>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شُرْطِيَّةٌ</a:t>
            </a:r>
            <a:endParaRPr lang="ar-SA" sz="1500" dirty="0"/>
          </a:p>
        </p:txBody>
      </p:sp>
      <p:sp>
        <p:nvSpPr>
          <p:cNvPr id="116" name="Shape 11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7" name="Text 11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8" name="Text 115"/>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a:t>
            </a:r>
            <a:endParaRPr lang="ar-SA" sz="150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D3-L12 · Review and Unit Assessment: Work and Careers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تَعْمَلُ مُهَنْدِسَةً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works as an engineer</a:t>
            </a:r>
            <a:endParaRPr lang="en-US" sz="1350" dirty="0"/>
          </a:p>
          <a:p>
            <a:pPr indent="0" marL="0">
              <a:buNone/>
            </a:pPr>
            <a:r>
              <a:rPr lang="en-US" sz="1100" i="1" dirty="0">
                <a:solidFill>
                  <a:srgbClr val="5A6472"/>
                </a:solidFill>
                <a:latin typeface="Calibri" pitchFamily="34" charset="0"/>
                <a:cs typeface="Amiri" pitchFamily="2" charset="-78"/>
              </a:rPr>
              <a:t>taʿ-ma-lu mu-han-di-sa-tan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مَزَايَاهُ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advantage is that</a:t>
            </a:r>
            <a:endParaRPr lang="en-US" sz="1350" dirty="0"/>
          </a:p>
          <a:p>
            <a:pPr indent="0" marL="0">
              <a:buNone/>
            </a:pPr>
            <a:r>
              <a:rPr lang="en-US" sz="1100" i="1" dirty="0">
                <a:solidFill>
                  <a:srgbClr val="5A6472"/>
                </a:solidFill>
                <a:latin typeface="Calibri" pitchFamily="34" charset="0"/>
                <a:cs typeface="Amiri" pitchFamily="2" charset="-78"/>
              </a:rPr>
              <a:t>min ma-zā-yā-hu an-na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يَكُونَ صَبُورًا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must be patient</a:t>
            </a:r>
            <a:endParaRPr lang="en-US" sz="1350" dirty="0"/>
          </a:p>
          <a:p>
            <a:pPr indent="0" marL="0">
              <a:buNone/>
            </a:pPr>
            <a:r>
              <a:rPr lang="en-US" sz="1100" i="1" dirty="0">
                <a:solidFill>
                  <a:srgbClr val="5A6472"/>
                </a:solidFill>
                <a:latin typeface="Calibri" pitchFamily="34" charset="0"/>
                <a:cs typeface="Amiri" pitchFamily="2" charset="-78"/>
              </a:rPr>
              <a:t>ya-ji-bu an ya-kū-na ṣa-bū-ran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 أَعْمَلَ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won’t work</a:t>
            </a:r>
            <a:endParaRPr lang="en-US" sz="1350" dirty="0"/>
          </a:p>
          <a:p>
            <a:pPr indent="0" marL="0">
              <a:buNone/>
            </a:pPr>
            <a:r>
              <a:rPr lang="en-US" sz="1100" i="1" dirty="0">
                <a:solidFill>
                  <a:srgbClr val="5A6472"/>
                </a:solidFill>
                <a:latin typeface="Calibri" pitchFamily="34" charset="0"/>
                <a:cs typeface="Amiri" pitchFamily="2" charset="-78"/>
              </a:rPr>
              <a:t>lan aʿ-ma-la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تَلْمَذَةٌ مِهَنِيَّةٌ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يُشْتَرَطُ · يُفَضَّلُ</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required · preferred</a:t>
            </a:r>
            <a:endParaRPr lang="en-US" sz="1350" dirty="0"/>
          </a:p>
          <a:p>
            <a:pPr indent="0" marL="0">
              <a:buNone/>
            </a:pPr>
            <a:r>
              <a:rPr lang="en-US" sz="1100" i="1" dirty="0">
                <a:solidFill>
                  <a:srgbClr val="5A6472"/>
                </a:solidFill>
                <a:latin typeface="Calibri" pitchFamily="34" charset="0"/>
                <a:cs typeface="Amiri" pitchFamily="2" charset="-78"/>
              </a:rPr>
              <a:t>yush-ta-ra-ṭu · yu-faḍ-ḍa-lu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Correct, or needs fixing?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طَبِيبَةٌ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طَبِيبٌ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الصَّبْرَ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إِلَى الصَّبْرِ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أَعْمَلَ فِي مَكْتَبٍ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لَا أَعْمَلُ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تَعْمَلُ مُسْتَشْفًى</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تَعْمَلُ مُمَرِّضَةً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fixing</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طَبِيبَةٌ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إِلَى الصَّبْرِ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أَعْمَلَ فِي مَكْتَبٍ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تَعْمَلُ مُمَرِّضَةً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fixing</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طَبِيبٌ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الصَّبْرَ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لَا أَعْمَلُ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تَعْمَلُ مُسْتَشْفًى</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 exam-style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جَوَابٌ 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relative’s job and workplace.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صِفْ عَمَلَ أَحَدِ أَقَارِبِكَ وَمَكَانَ عَمَلِهِ.</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aunt works as a lawyer in a modern office in the city centre.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خَالَتِي تَعْمَلُ مُحَامِيَةً فِي مَكْتَبٍ حَدِيثٍ فِي وَسَطِ المَدِينَةِ.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skills does her job need?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المَهَارَاتُ الَّتِي يَحْتَاجُ إِلَيْهَا عَمَلُهَا؟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needs intelligence and patience; for example, she reads hundreds of pages every week.</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يَحْتَاجُ إِلَى الذَّكَاءِ وَالصَّبْرِ؛ مَثَلًا، تَقْرَأُ مِئَاتِ الصَّفَحَاتِ كُلَّ أُسْبُوعٍ.</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what is your ambition?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وَأَنْتَ، مَا طُمُوحُكَ؟</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not work in law; I will study pharmacy so that I can help patients.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لَنْ أَعْمَلَ فِي القَانُونِ؛ سَأَدْرُسُ الصَّيْدَلَةَ لِكَيْ أُسَاعِدَ المَرْضَى.</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56648" y="226771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m. / f. / pl. all correct?</a:t>
            </a:r>
            <a:endParaRPr lang="en-US" sz="11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 / أُمِّي … / عَمَّايَ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your family members do?</a:t>
            </a:r>
            <a:endParaRPr lang="en-US" sz="1100" dirty="0"/>
          </a:p>
        </p:txBody>
      </p:sp>
      <p:sp>
        <p:nvSpPr>
          <p:cNvPr id="25" name="Text 22"/>
          <p:cNvSpPr txBox="1"/>
          <p:nvPr/>
        </p:nvSpPr>
        <p:spPr>
          <a:xfrm>
            <a:off x="1069848" y="2267712"/>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مَاذَا يَعْمَلُ أَفْرَادُ عَائِلَتِكَ؟</a:t>
            </a:r>
            <a:pPr algn="l" indent="0" marL="0">
              <a:buNone/>
            </a:pPr>
            <a:r>
              <a:rPr lang="en-US" sz="1100" dirty="0">
                <a:solidFill>
                  <a:srgbClr val="5A6472"/>
                </a:solidFill>
                <a:latin typeface="Calibri" pitchFamily="34" charset="0"/>
                <a:cs typeface="Amiri" pitchFamily="2" charset="-78"/>
              </a:rPr>
              <a:t>‏ (Audit 1: agreement)</a:t>
            </a:r>
            <a:endParaRPr lang="en-US" sz="11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مَزَايَاهُ أَنَّ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يَعْمَلُ … / تَعْمَلُ … فِي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relative’s job and workplace.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عَمَلَ أَحَدِ أَقَارِبِكَ وَمَكَانَ عَمَلِهِ.</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a:t>
            </a:r>
            <a:pPr algn="l" indent="0" marL="0">
              <a:buNone/>
            </a:pPr>
            <a:r>
              <a:rPr lang="ar-SA" altLang="en-US" sz="1450" dirty="0">
                <a:solidFill>
                  <a:srgbClr val="5A6472"/>
                </a:solidFill>
                <a:latin typeface="Amiri" pitchFamily="2" charset="-78"/>
                <a:ea typeface="Amiri" pitchFamily="2" charset="-78"/>
                <a:cs typeface="Amiri" pitchFamily="2" charset="-78"/>
              </a:rPr>
              <a:t>إِلَى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عَلَى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فِي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تَحْتَاجُ إِلَى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dream job need?</a:t>
            </a:r>
            <a:endParaRPr lang="en-US" sz="1100" dirty="0"/>
          </a:p>
        </p:txBody>
      </p:sp>
      <p:sp>
        <p:nvSpPr>
          <p:cNvPr id="41" name="Text 38"/>
          <p:cNvSpPr txBox="1"/>
          <p:nvPr/>
        </p:nvSpPr>
        <p:spPr>
          <a:xfrm>
            <a:off x="1069848" y="3496056"/>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إِلَامَ تَحْتَاجُ وَظِيفَةُ أَحْلَامِكَ؟</a:t>
            </a:r>
            <a:pPr algn="l" indent="0" marL="0">
              <a:buNone/>
            </a:pPr>
            <a:r>
              <a:rPr lang="en-US" sz="1100" dirty="0">
                <a:solidFill>
                  <a:srgbClr val="5A6472"/>
                </a:solidFill>
                <a:latin typeface="Calibri" pitchFamily="34" charset="0"/>
                <a:cs typeface="Amiri" pitchFamily="2" charset="-78"/>
              </a:rPr>
              <a:t>‏ (Audit 2: prepositions)</a:t>
            </a:r>
            <a:endParaRPr lang="en-US" sz="11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وَيَجِبُ أَنْ يَكُونَ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يَحْتَاجُ العَامِلُ إِلَى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skills matter at work?</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المَهَارَاتُ المُهِمَّةُ فِي العَمَلِ؟</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 + -a?</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سَأَدْرُسُ … / سَوْفَ … / لَنْ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plans after school?</a:t>
            </a:r>
            <a:endParaRPr lang="en-US" sz="1100" dirty="0"/>
          </a:p>
        </p:txBody>
      </p:sp>
      <p:sp>
        <p:nvSpPr>
          <p:cNvPr id="57" name="Text 54"/>
          <p:cNvSpPr txBox="1"/>
          <p:nvPr/>
        </p:nvSpPr>
        <p:spPr>
          <a:xfrm>
            <a:off x="1069848" y="4724400"/>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مَا خُطَطُكَ بَعْدَ المَدْرَسَةِ؟</a:t>
            </a:r>
            <a:pPr algn="l" indent="0" marL="0">
              <a:buNone/>
            </a:pPr>
            <a:r>
              <a:rPr lang="en-US" sz="1100" dirty="0">
                <a:solidFill>
                  <a:srgbClr val="5A6472"/>
                </a:solidFill>
                <a:latin typeface="Calibri" pitchFamily="34" charset="0"/>
                <a:cs typeface="Amiri" pitchFamily="2" charset="-78"/>
              </a:rPr>
              <a:t>‏ (Audit 3: future)</a:t>
            </a:r>
            <a:endParaRPr lang="en-US" sz="11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أَطْمَحُ إِلَى أَنْ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ambition?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طُمُوحُكَ؟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D3-L11, even numbers from D3-L12.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Role-play card — the careers-week interview</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أُسْبُوعِ المِهَنِ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أَبِي يَعْمَلُ … · أَخَوَاتِي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relatives: jobs that agree, one plural.</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يَعْمَلُ أَفْرَادُ عَائِلَتِكَ؟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إِلَامَ ← تَحْتَاجُ إِلَى … · يَجِبُ أَنْ يَكُونَ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preposition + what the worker must be.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إِلَامَ تَحْتَاجُ وَظِيفَةُ أَحْلَامِكَ؟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with ‏</a:t>
            </a:r>
            <a:pPr algn="l" indent="0" marL="0">
              <a:buNone/>
            </a:pPr>
            <a:r>
              <a:rPr lang="ar-SA" altLang="en-US" sz="1450" dirty="0">
                <a:solidFill>
                  <a:srgbClr val="5A6472"/>
                </a:solidFill>
                <a:latin typeface="Amiri" pitchFamily="2" charset="-78"/>
                <a:ea typeface="Amiri" pitchFamily="2" charset="-78"/>
                <a:cs typeface="Amiri" pitchFamily="2" charset="-78"/>
              </a:rPr>
              <a:t>سَوْفَ</a:t>
            </a:r>
            <a:pPr algn="l" indent="0" marL="0">
              <a:buNone/>
            </a:pPr>
            <a:r>
              <a:rPr lang="en-US" sz="1100" dirty="0">
                <a:solidFill>
                  <a:srgbClr val="5A6472"/>
                </a:solidFill>
                <a:latin typeface="Calibri" pitchFamily="34" charset="0"/>
                <a:cs typeface="Amiri" pitchFamily="2" charset="-78"/>
              </a:rPr>
              <a:t>‏ and one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خُطَطُكَ بَعْدَ المَدْرَسَةِ؟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claim with evidence.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أَنْتَ شَخْصٌ مُبْدِعٌ؟ أَثْبِتْ ذٰلِكَ.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balanced opinion with a concession.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الرَّاتِبُ العَالِي أَهَمُّ شَيْءٍ فِي العَمَلِ؟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 Partner A = the careers adviser.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Work and my future — the exam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العَمَلُ وَمُسْتَقْبَلِي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one minute under test conditions, covering the four exam bullets: a family member’s job and workplace, the job you would like and the skills it needs, your plan to get there, and your opinion on salary versus happiness. Your partner listens for the four audits.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يَعْمَلُ / تَعْمَلُ … فِي … · أُرِيدُ أَنْ أُصْبِحَ … · سَأَدْرُسُ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يَحْتَاجُ إِلَى</a:t>
            </a:r>
            <a:pPr algn="l" indent="0" marL="0">
              <a:buNone/>
            </a:pPr>
            <a:r>
              <a:rPr lang="en-US" sz="1150" dirty="0">
                <a:solidFill>
                  <a:srgbClr val="1F2A37"/>
                </a:solidFill>
                <a:latin typeface="Calibri" pitchFamily="34" charset="0"/>
                <a:cs typeface="Amiri" pitchFamily="2" charset="-78"/>
              </a:rPr>
              <a:t> …‏ , evidence (‏</a:t>
            </a:r>
            <a:pPr algn="l" indent="0" marL="0">
              <a:buNone/>
            </a:pPr>
            <a:r>
              <a:rPr lang="ar-SA" altLang="en-US" sz="1500" dirty="0">
                <a:solidFill>
                  <a:srgbClr val="1F2A37"/>
                </a:solidFill>
                <a:latin typeface="Amiri" pitchFamily="2" charset="-78"/>
                <a:ea typeface="Amiri" pitchFamily="2" charset="-78"/>
                <a:cs typeface="Amiri" pitchFamily="2" charset="-78"/>
              </a:rPr>
              <a:t>مَثَلًا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لَنْ</a:t>
            </a:r>
            <a:pPr algn="l" indent="0" marL="0">
              <a:buNone/>
            </a:pPr>
            <a:r>
              <a:rPr lang="en-US" sz="1150" dirty="0">
                <a:solidFill>
                  <a:srgbClr val="1F2A37"/>
                </a:solidFill>
                <a:latin typeface="Calibri" pitchFamily="34" charset="0"/>
                <a:cs typeface="Amiri" pitchFamily="2" charset="-78"/>
              </a:rPr>
              <a:t>‏ + -a, ‏</a:t>
            </a:r>
            <a:pPr algn="l" indent="0" marL="0">
              <a:buNone/>
            </a:pPr>
            <a:r>
              <a:rPr lang="ar-SA" altLang="en-US" sz="1500" dirty="0">
                <a:solidFill>
                  <a:srgbClr val="1F2A37"/>
                </a:solidFill>
                <a:latin typeface="Amiri" pitchFamily="2" charset="-78"/>
                <a:ea typeface="Amiri" pitchFamily="2" charset="-78"/>
                <a:cs typeface="Amiri" pitchFamily="2" charset="-78"/>
              </a:rPr>
              <a:t>إِذَا … فَسَوْفَ</a:t>
            </a:r>
            <a:pPr algn="l" indent="0" marL="0">
              <a:buNone/>
            </a:pPr>
            <a:r>
              <a:rPr lang="en-US" sz="1150" dirty="0">
                <a:solidFill>
                  <a:srgbClr val="1F2A37"/>
                </a:solidFill>
                <a:latin typeface="Calibri" pitchFamily="34" charset="0"/>
                <a:cs typeface="Amiri" pitchFamily="2" charset="-78"/>
              </a:rPr>
              <a:t> …‏ and a concession — no notes.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two sisters are nurses in the hospital.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أُخْتَايَ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مُمَرِّضَتَانِ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مُمَرِّضَاتٌ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المُسْتَشْفَى.</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المُسْتَشْفَى الكَبِيرَةِ.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cousin (f.) works as a pilot.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ابْنَةُ خَالِي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خَالِي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طَيَّارَةً.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طَيَّارَةٌ.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got a scholarship.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حَصَلْتُ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أَحْصُلُ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مِنْحَةٍ دِرَاسِيَّةٍ.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مِنْحَةٌ دِرَاسِيَّةٌ.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two sisters are nurses in the hospital.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sisters → dual </a:t>
            </a:r>
            <a:pPr algn="l" indent="0" marL="0">
              <a:buNone/>
            </a:pPr>
            <a:r>
              <a:rPr lang="ar-SA" altLang="en-US" sz="1350" dirty="0">
                <a:solidFill>
                  <a:srgbClr val="5A6472"/>
                </a:solidFill>
                <a:latin typeface="Amiri" pitchFamily="2" charset="-78"/>
                <a:ea typeface="Amiri" pitchFamily="2" charset="-78"/>
                <a:cs typeface="Amiri" pitchFamily="2" charset="-78"/>
              </a:rPr>
              <a:t>مُمَرِّضَتَانِ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مُسْتَشْفًى</a:t>
            </a:r>
            <a:pPr algn="l" indent="0" marL="0">
              <a:buNone/>
            </a:pPr>
            <a:r>
              <a:rPr lang="en-US" sz="1050" i="1" dirty="0">
                <a:solidFill>
                  <a:srgbClr val="5A6472"/>
                </a:solidFill>
                <a:latin typeface="Calibri" pitchFamily="34" charset="0"/>
                <a:cs typeface="Amiri" pitchFamily="2" charset="-78"/>
              </a:rPr>
              <a:t> is masculine.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أُخْتَايَ مُمَرِّضَتَانِ فِي المُسْتَشْفَى.</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cousin (f.) works as a pilot.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تَعْمَلُ</a:t>
            </a:r>
            <a:pPr algn="l" indent="0" marL="0">
              <a:buNone/>
            </a:pPr>
            <a:r>
              <a:rPr lang="en-US" sz="1050" i="1" dirty="0">
                <a:solidFill>
                  <a:srgbClr val="5A6472"/>
                </a:solidFill>
                <a:latin typeface="Calibri" pitchFamily="34" charset="0"/>
                <a:cs typeface="Amiri" pitchFamily="2" charset="-78"/>
              </a:rPr>
              <a:t> + job in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ابْنَةُ خَالِي تَعْمَلُ طَيَّارَةً.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got a scholarship.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حَصَلَ عَلَى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حَصَلْتُ عَلَى مِنْحَةٍ دِرَاسِيَّةٍ.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خَالَتِي تَعْمَلُ مُحَامِيٌ فِي مَكْتَبٍ صَغِيرَةٍ.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Audit 1 — 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تَعْمَلُ مُدَرِّسٌ فِي مَدْرَسَةٍ كَبِيرٍ.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يَحْتَاجُ الطَّبِيبُ الصَّبْرَ وَسَوْفَ لَا أَعْمَلُ فِي البَنْكِ.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Audits 2 and 3.</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خَالَتِي تَعْمَلُ مُحَامِيٌ فِي مَكْتَبٍ صَغِيرَةٍ.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خَالَتِي تَعْمَلُ مُحَامِيَةً فِي مَكْتَبٍ صَغِيرٍ.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Job: f. + accusative; ‏</a:t>
            </a:r>
            <a:pPr algn="l" indent="0" marL="0">
              <a:buNone/>
            </a:pPr>
            <a:r>
              <a:rPr lang="ar-SA" altLang="en-US" sz="1500" b="1" dirty="0">
                <a:solidFill>
                  <a:srgbClr val="1B3B6F"/>
                </a:solidFill>
                <a:latin typeface="Amiri" pitchFamily="2" charset="-78"/>
                <a:ea typeface="Amiri" pitchFamily="2" charset="-78"/>
                <a:cs typeface="Amiri" pitchFamily="2" charset="-78"/>
              </a:rPr>
              <a:t>مَكْتَبٌ</a:t>
            </a:r>
            <a:pPr algn="l" indent="0" marL="0">
              <a:buNone/>
            </a:pPr>
            <a:r>
              <a:rPr lang="en-US" sz="1150" b="1" dirty="0">
                <a:solidFill>
                  <a:srgbClr val="1B3B6F"/>
                </a:solidFill>
                <a:latin typeface="Calibri" pitchFamily="34" charset="0"/>
                <a:cs typeface="Amiri" pitchFamily="2" charset="-78"/>
              </a:rPr>
              <a:t>‏ (m.) → ‏</a:t>
            </a:r>
            <a:pPr algn="l" indent="0" marL="0">
              <a:buNone/>
            </a:pPr>
            <a:r>
              <a:rPr lang="ar-SA" altLang="en-US" sz="1500" b="1" dirty="0">
                <a:solidFill>
                  <a:srgbClr val="1B3B6F"/>
                </a:solidFill>
                <a:latin typeface="Amiri" pitchFamily="2" charset="-78"/>
                <a:ea typeface="Amiri" pitchFamily="2" charset="-78"/>
                <a:cs typeface="Amiri" pitchFamily="2" charset="-78"/>
              </a:rPr>
              <a:t>صَغِيرٍ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تَعْمَلُ مُدَرِّسٌ فِي مَدْرَسَةٍ كَبِيرٍ.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تَعْمَلُ مُدَرِّسَةً فِي مَدْرَسَةٍ كَبِيرَةٍ.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Job f. + -an; ‏</a:t>
            </a:r>
            <a:pPr algn="l" indent="0" marL="0">
              <a:buNone/>
            </a:pPr>
            <a:r>
              <a:rPr lang="ar-SA" altLang="en-US" sz="1500" b="1" dirty="0">
                <a:solidFill>
                  <a:srgbClr val="1B3B6F"/>
                </a:solidFill>
                <a:latin typeface="Amiri" pitchFamily="2" charset="-78"/>
                <a:ea typeface="Amiri" pitchFamily="2" charset="-78"/>
                <a:cs typeface="Amiri" pitchFamily="2" charset="-78"/>
              </a:rPr>
              <a:t>مَدْرَسَةٌ</a:t>
            </a:r>
            <a:pPr algn="l" indent="0" marL="0">
              <a:buNone/>
            </a:pPr>
            <a:r>
              <a:rPr lang="en-US" sz="1150" b="1" dirty="0">
                <a:solidFill>
                  <a:srgbClr val="1B3B6F"/>
                </a:solidFill>
                <a:latin typeface="Calibri" pitchFamily="34" charset="0"/>
                <a:cs typeface="Amiri" pitchFamily="2" charset="-78"/>
              </a:rPr>
              <a:t>‏ (f.) → ‏</a:t>
            </a:r>
            <a:pPr algn="l" indent="0" marL="0">
              <a:buNone/>
            </a:pPr>
            <a:r>
              <a:rPr lang="ar-SA" altLang="en-US" sz="1500" b="1" dirty="0">
                <a:solidFill>
                  <a:srgbClr val="1B3B6F"/>
                </a:solidFill>
                <a:latin typeface="Amiri" pitchFamily="2" charset="-78"/>
                <a:ea typeface="Amiri" pitchFamily="2" charset="-78"/>
                <a:cs typeface="Amiri" pitchFamily="2" charset="-78"/>
              </a:rPr>
              <a:t>كَبِيرَةٍ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يَحْتَاجُ الطَّبِيبُ الصَّبْرَ وَسَوْفَ لَا أَعْمَلُ فِي البَنْكِ.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يَحْتَاجُ الطَّبِيبُ إِلَى الصَّبْرِ، وَلَنْ أَعْمَلَ فِي البَنْكِ.</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يَحْتَاجُ إِلَى</a:t>
            </a:r>
            <a:pPr algn="l" indent="0" marL="0">
              <a:buNone/>
            </a:pPr>
            <a:r>
              <a:rPr lang="en-US" sz="1150" b="1" dirty="0">
                <a:solidFill>
                  <a:srgbClr val="1B3B6F"/>
                </a:solidFill>
                <a:latin typeface="Calibri" pitchFamily="34" charset="0"/>
                <a:cs typeface="Amiri" pitchFamily="2" charset="-78"/>
              </a:rPr>
              <a:t>‏; won’t = ‏</a:t>
            </a:r>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مَثَلًا،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يَعْمَلُ / تَعْمَلُ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 works as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أُصْبِحَ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 aspire to become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يَحْتَاجُ هٰذَا العَمَلُ إِلَى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This job needs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______ لِكَيْ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 will study … so that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الرَّاتِبُ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my opinion salary is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يَعْمَلُ · تَعْمَلُ + مُعَلِّمَةً  ·  فِي مُسْتَشْفًى · فِي شَرِكَةٍ  ·  يَحْتَاجُ إِلَى  ·  يَجِبُ أَنْ يَكُونَ  ·  سَأَدْرُسُ · سَوْفَ  ·  لَنْ أَعْمَلَ  ·  لِكَيْ · إِذَا … فَسَوْفَ  ·  عَلَى الرَّغْمِ مِنْ أَنَّ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Exam-style email: work and my future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العَمَلُ وَمُسْتَقْبَلِي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pen-friend asks about work and your future. Write an email (about 60–80 words). Answer ALL four bullets: • the job of someone in your family and where they work • the job you would like and the skills it needs • your plan to get there (study / training) • your opinion: is a high salary the most important thing? Then audit your email for the four traps.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D3-L11 AND D3-L12.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 / تَعْمَلُ …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works as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أَطْمَحُ إِلَى أَنْ … ؛ يَحْتَاجُ هٰذَا العَمَلُ إِلَى …</a:t>
            </a:r>
            <a:endParaRPr lang="ar-SA" sz="16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 … ; this job needs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 لِكَيْ … · لَنْ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study … so that … · I will not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 عَلَى الرَّغْمِ مِنْ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 although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 every agreement error (job, adjective, verb)?</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يَحْتَاجُ إِلَى</a:t>
            </a:r>
            <a:pPr algn="l" indent="0" marL="0">
              <a:buNone/>
            </a:pPr>
            <a:r>
              <a:rPr lang="en-US" sz="1100" dirty="0">
                <a:solidFill>
                  <a:srgbClr val="5A6472"/>
                </a:solidFill>
                <a:latin typeface="Calibri" pitchFamily="34" charset="0"/>
                <a:cs typeface="Amiri" pitchFamily="2" charset="-78"/>
              </a:rPr>
              <a:t>‏, future with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evidence and a concession?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يَعْمَلُ سَائِقًا، وَأَخَوَاتِي مُعَلِّمَاتٌ فِي مَدْرَسَةٍ ابْتِدَائِيَّةٍ.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works as a driver, and my sisters are teachers in a primary school.</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يَعْمَلُ أَفْرَادُ عَائِلَتِكَ؟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تَحْتَاجُ إِلَى الإِبْدَاعِ؛ يَجِبُ أَنْ يَكُونَ المُصَمِّمُ صَبُورًا وَدَقِيقًا.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needs creativity; a designer must be patient and precise.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إِلَامَ تَحْتَاجُ وَظِيفَةُ أَحْلَامِكَ؟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الفَنَّ فِي الكُلِّيَّةِ، وَسَوْفَ أَتَدَرَّبُ فِي شَرِكَةٍ، وَلَنْ أَتْرُكَ الرَّسْمَ أَبَدًا.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study art at college, and I will train at a company, and I will never stop drawing.</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خُطَطُكَ بَعْدَ المَدْرَسَةِ؟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مَثَلًا، صَمَّمْتُ مُلْصَقَ المَدْرَسَةِ لِأُسْبُوعِ المِهَنِ.</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for example, I designed the school poster for careers week.</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أَنْتَ شَخْصٌ مُبْدِعٌ؟ أَثْبِتْ ذٰلِكَ.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 الرَّاتِبَ مُهِمٌّ، فَإِنَّنِي أَرَى أَنَّ السَّعَادَةَ فِي العَمَلِ أَهَمُّ.</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Although salary is important, I think that being happy at work matters more.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الرَّاتِبُ العَالِي أَهَمُّ شَيْءٍ فِي العَمَلِ؟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يَا سَلْمَى! خَالَتِي تَعْمَلُ مُحَامِيَةً فِي مَكْتَبٍ حَدِيثٍ فِي لَنْدَنَ. أَمَّا أَنَا فَأَطْمَحُ إِلَى أَنْ أُصْبِحَ صَيْدَلَانِيَّةً، لِأَنِّي أُحِبُّ الكِيمْيَاءَ. يَحْتَاجُ هٰذَا العَمَلُ إِلَى الدِّقَّةِ وَالصَّبْرِ، وَأَنَا دَقِيقَةٌ؛ مَثَلًا، لَا أَنْسَى وَاجِبَاتِي أَبَدًا. سَأَدْرُسُ العُلُومَ، ثُمَّ سَأَلْتَحِقُ بِالجَامِعَةِ لِكَيْ أَحْصُلَ عَلَى شَهَادَةٍ. فِي رَأْيِي الرَّاتِبُ مُهِمٌّ، وَلٰكِنَّهُ لَيْسَ أَهَمَّ شَيْءٍ؛ عَلَى الرَّغْمِ مِنْ أَنَّ المَالَ مُفِيدٌ، فَإِنَّ السَّعَادَةَ أَهَمُّ.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Salma! My aunt works as a lawyer in a modern office in London. As for me, I aspire to become a pharmacist, because I love chemistry. This job needs precision and patience, and I am precise; for example, I never forget my homework. I will study science, then go to university so that I get a degree. In my opinion salary is important, but it is not the most important thing; although money is useful, happiness matters more.”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تَعْمَلُ مُحَامِيَةً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يَحْتَاجُ هٰذَا العَمَلُ إِلَى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أَحْصُلَ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أَهَمَّ شَيْءٍ</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D3-W06 · Apply workshop (D3-L11 + D3-L12)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D3-L11 and D3-L12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D3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D3-W06 · Apply Workshop — Careers Week: Audit and Exam Email</dc:title>
  <dc:subject>PptxGenJS Presentation</dc:subject>
  <dc:creator>Al Madina Online School · Arabic Department</dc:creator>
  <cp:lastModifiedBy>Al Madina Online School · Arabic Department</cp:lastModifiedBy>
  <cp:revision>1</cp:revision>
  <dcterms:created xsi:type="dcterms:W3CDTF">2026-10-26T15:33:33Z</dcterms:created>
  <dcterms:modified xsi:type="dcterms:W3CDTF">2026-10-26T15:33:33Z</dcterms:modified>
</cp:coreProperties>
</file>