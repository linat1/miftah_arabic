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D3-L01 · Learn D3-L02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D3-L01 (Jobs and Professions — Vocabulary and Gender) and D3-L02 (The Workplace — Environments and Work Conditions).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D3-L01 and D3-L02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D3-L01? After D3-L02?” Take two answers in the chat for each lesson (one word or one sentence is enough). Then read objective 3 — today’s new situation that needs BOTH lessons. Students tick their route goals at the end of the lesson.
D3-L01 language: professions in three forms (ṭabībun · ṭabībatun · aṭibbāʾu / ṭabībātun); place with fī (yaʿmalu fī mustashfā); “works as” with the accusative (yaʿmalu muḥāsiban · taʿmalu muhandisatan); a job I would like: urīdu an aʿmala … li-anna …
D3-L02 language: noun + agreeing adjective (maktabun ḥadīthun · bīʾatun āminatun · sāʿātun marinatun); alladhī / allatī for the job or place; advantages and disadvantages: min mazāyā … anna … · min ʿuyūbi … anna …; contrast with wa-lākinna / baynamā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D3-L01 and D3-L02. Teacher reads it once with a confident student; then pairs. Ask: “Which lines are from D3-L01? Which from D3-L02?” Jobs in the accusative after أَعْمَلُ (مُمَرِّضَةً) and plurals (مُتَعَاوِنُونَ) come from D3-L01; workplace adjectives and مِنْ مَزَايَاهُ / مِنْ عُيُوبِهِ أَنَّ … from D3-L02. Note non-human plural agreement: السَّاعَاتُ طَوِيلَةٌ.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jobs in three forms and يَعْمَلُ + accusative (D3-L01) with workplace adjectives, advantages and disadvantages (D3-L02). FADED SUPPORT: tasks 1–2 show the plan; students write their own plan for 3–5. To a girl Partner A says: when the professional is a woman: أَعْمَلُ مُهَنْدِسَةً … · مَكْتَبِي … — the student asks: مَاذَا تَعْمَلِينَ؟.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D3-L01 and D3-L02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D3-L01 and D3-L02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and one phrase from D3-L01 and one from D3-L02.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D3-L01 + D3-L02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At the School Careers Fair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فِي مَعْرِضِ المِهَنِ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join jobs (m. / f. / pl., </a:t>
            </a:r>
            <a:pPr algn="l" indent="0" marL="0">
              <a:buNone/>
            </a:pPr>
            <a:r>
              <a:rPr lang="ar-SA" altLang="en-US" sz="1750" dirty="0">
                <a:solidFill>
                  <a:srgbClr val="C6D2E6"/>
                </a:solidFill>
                <a:latin typeface="Amiri" pitchFamily="2" charset="-78"/>
                <a:ea typeface="Amiri" pitchFamily="2" charset="-78"/>
                <a:cs typeface="Amiri" pitchFamily="2" charset="-78"/>
              </a:rPr>
              <a:t>يَعْمَلُ</a:t>
            </a:r>
            <a:pPr algn="l" indent="0" marL="0">
              <a:buNone/>
            </a:pPr>
            <a:r>
              <a:rPr lang="en-US" sz="1350" dirty="0">
                <a:solidFill>
                  <a:srgbClr val="C6D2E6"/>
                </a:solidFill>
                <a:latin typeface="Calibri" pitchFamily="34" charset="0"/>
                <a:cs typeface="Amiri" pitchFamily="2" charset="-78"/>
              </a:rPr>
              <a:t> + job in the accusative) with workplaces and conditions: at a careers fair they visit stands, ask professionals about their work and workplace, weigh up advantages and disadvantages, and write a careers-fair report comparing two jobs.</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D3-L01 + D3-L02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D3-L01 and D3-L02.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D3-L01 + D3-L02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D3-L01: Jobs and Professions — Vocabulary and Gender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D3-L02: The Workplace — Environments and Work Conditions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interviewing a professional · Careers fair report: two jobs compared</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D3-L01 and D3-L02.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D3-L01 · Jobs and Professions — Vocabulary and Gender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صَحَفِيٌّ / صَحَفِيَّةٌ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journalist</a:t>
            </a:r>
            <a:endParaRPr lang="en-US" sz="1350" dirty="0"/>
          </a:p>
          <a:p>
            <a:pPr indent="0" marL="0">
              <a:buNone/>
            </a:pPr>
            <a:r>
              <a:rPr lang="en-US" sz="1100" i="1" dirty="0">
                <a:solidFill>
                  <a:srgbClr val="5A6472"/>
                </a:solidFill>
                <a:latin typeface="Calibri" pitchFamily="34" charset="0"/>
                <a:cs typeface="Amiri" pitchFamily="2" charset="-78"/>
              </a:rPr>
              <a:t>ṣa-ḥa-fiy-yun / ṣa-ḥa-fiy-ya-tun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office</a:t>
            </a:r>
            <a:endParaRPr lang="en-US" sz="1350" dirty="0"/>
          </a:p>
          <a:p>
            <a:pPr indent="0" marL="0">
              <a:buNone/>
            </a:pPr>
            <a:r>
              <a:rPr lang="en-US" sz="1100" i="1" dirty="0">
                <a:solidFill>
                  <a:srgbClr val="5A6472"/>
                </a:solidFill>
                <a:latin typeface="Calibri" pitchFamily="34" charset="0"/>
                <a:cs typeface="Amiri" pitchFamily="2" charset="-78"/>
              </a:rPr>
              <a:t>mak-ta-bun</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D3-L02 · The Workplace — Environments and Work Conditions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دَوَامٌ كَامِلٌ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full-time work</a:t>
            </a:r>
            <a:endParaRPr lang="en-US" sz="1350" dirty="0"/>
          </a:p>
          <a:p>
            <a:pPr indent="0" marL="0">
              <a:buNone/>
            </a:pPr>
            <a:r>
              <a:rPr lang="en-US" sz="1100" i="1" dirty="0">
                <a:solidFill>
                  <a:srgbClr val="5A6472"/>
                </a:solidFill>
                <a:latin typeface="Calibri" pitchFamily="34" charset="0"/>
                <a:cs typeface="Amiri" pitchFamily="2" charset="-78"/>
              </a:rPr>
              <a:t>da-wā-mun kā-mi-lun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سَاعَاتٌ مَرِنَةٌ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flexible hours</a:t>
            </a:r>
            <a:endParaRPr lang="en-US" sz="1350" dirty="0"/>
          </a:p>
          <a:p>
            <a:pPr indent="0" marL="0">
              <a:buNone/>
            </a:pPr>
            <a:r>
              <a:rPr lang="en-US" sz="1100" i="1" dirty="0">
                <a:solidFill>
                  <a:srgbClr val="5A6472"/>
                </a:solidFill>
                <a:latin typeface="Calibri" pitchFamily="34" charset="0"/>
                <a:cs typeface="Amiri" pitchFamily="2" charset="-78"/>
              </a:rPr>
              <a:t>sā-ʿā-tun ma-ri-na-tun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رَاتِبٌ مُنْخَفِضٌ</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low salary</a:t>
            </a:r>
            <a:endParaRPr lang="en-US" sz="1350" dirty="0"/>
          </a:p>
          <a:p>
            <a:pPr indent="0" marL="0">
              <a:buNone/>
            </a:pPr>
            <a:r>
              <a:rPr lang="en-US" sz="1100" i="1" dirty="0">
                <a:solidFill>
                  <a:srgbClr val="5A6472"/>
                </a:solidFill>
                <a:latin typeface="Calibri" pitchFamily="34" charset="0"/>
                <a:cs typeface="Amiri" pitchFamily="2" charset="-78"/>
              </a:rPr>
              <a:t>rā-ti-bun mun-kha-fi-ḍun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 مُجْزٍ</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rewarding work</a:t>
            </a:r>
            <a:endParaRPr lang="en-US" sz="1350" dirty="0"/>
          </a:p>
          <a:p>
            <a:pPr indent="0" marL="0">
              <a:buNone/>
            </a:pPr>
            <a:r>
              <a:rPr lang="en-US" sz="1100" i="1" dirty="0">
                <a:solidFill>
                  <a:srgbClr val="5A6472"/>
                </a:solidFill>
                <a:latin typeface="Calibri" pitchFamily="34" charset="0"/>
                <a:cs typeface="Amiri" pitchFamily="2" charset="-78"/>
              </a:rPr>
              <a:t>ʿa-ma-lun muj-zin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فَرِيقُ عَمَلٍ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team</a:t>
            </a:r>
            <a:endParaRPr lang="en-US" sz="1350" dirty="0"/>
          </a:p>
          <a:p>
            <a:pPr indent="0" marL="0">
              <a:buNone/>
            </a:pPr>
            <a:r>
              <a:rPr lang="en-US" sz="1100" i="1" dirty="0">
                <a:solidFill>
                  <a:srgbClr val="5A6472"/>
                </a:solidFill>
                <a:latin typeface="Calibri" pitchFamily="34" charset="0"/>
                <a:cs typeface="Amiri" pitchFamily="2" charset="-78"/>
              </a:rPr>
              <a:t>fa-rī-qu ʿa-ma-lin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يَعْمَلُ … مُحَاسِبًا فِي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يَعْمَلُ … فِي مَكَانٍ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 أَنَّ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تَعْمَلُ … مُمَرِّضَةً فِي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أَعْمَلَ … لِأَنَّ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D3-L01 · Jobs and Professions — Vocabulary and Gender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D3-L02 · The Workplace — Environments and Work Conditions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D3-L01 · Jobs and Professions — Vocabulary and Gender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يَعْمَلُ … مُحَاسِبًا فِي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تَعْمَلُ … مُمَرِّضَةً فِي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أَعْمَلَ … لِأَنَّ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D3-L02 · The Workplace — Environments and Work Conditions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يَعْمَلُ … فِي مَكَانٍ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 أَنَّ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hospital stand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جَنَاحِ المُسْتَشْفَى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(as a job)?</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تَعْمَلِينَ؟</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work as a nurse in a big hospital in the city.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أَعْمَلُ مُمَرِّضَةً فِي مُسْتَشْفًى كَبِيرٍ فِي المَدِينَةِ.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work environment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بِيئَةُ العَمَلِ؟</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place is modern and safe, and the colleagues are co-operative.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المَكَانُ حَدِيثٌ وَآمِنٌ، وَالزُّمَلَاءُ مُتَعَاوِنُونَ.</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the disadvantages of the job?</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عُيُوبُ العَمَلِ؟</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disadvantage is that the hours are long, but one advantage is that I help people.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عُيُوبِهِ أَنَّ السَّاعَاتِ طَوِيلَةٌ، وَلٰكِنْ مِنْ مَزَايَاهُ أَنَّنِي أُسَاعِدُ النَّاسَ.</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خَالِي يَعْمَلُ … / خَالَتِي تَعْمَلُ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one of your relatives do?</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يَعْمَلُ أَحَدُ أَقَارِبِكَ؟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وَفِيهِ / وَفِيهَا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يَعْمَلُ / تَعْمَلُ فِي … ، وَالمَكَانُ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one of your parents work? What is the place like?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يَعْمَلُ أَحَدُ وَالِدَيْكَ؟ كَيْفَ المَكَانُ؟</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 بَيْنَمَا تَعْمَلُ المُمَرِّضَاتُ فِي …</a:t>
            </a:r>
            <a:endParaRPr lang="ar-SA" sz="14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يَعْمَلُ المُدَرِّسُونَ فِي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teachers and nurses work?</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يَعْمَلُ المُدَرِّسُونَ وَالمُمَرِّضَاتُ؟</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دَوَامًا … لِأَنَّ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Full-time or part-time?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دَوَامًا كَامِلًا أَمْ جُزْئِيًّا؟</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عَمَلُ … صَعْبٌ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job is hard, in your opinion?</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الوَظِيفَةُ الصَّعْبَةُ فِي رَأْيِكَ؟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 أَهَمُّ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matters more: salary or environment?</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الأَهَمُّ: الرَّاتِبُ أَمْ بِيئَةُ العَمَلِ؟</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D3-L01, even numbers from D3-L02.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interviewing a professional</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مُوَظَّفٍ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أَعْمَلُ … فِي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 (accusative) + workplace.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تَعْمَلُ، وَأَيْنَ؟</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مَكْتَبِي … وَ… · السَّاعَاتُ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adjectives that agree.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مَكَانَ عَمَلِكَ.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advantages.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 عَمَلِكَ؟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disadvantage + a contrast.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عُيُوبُهُ؟</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relatives, one plural.</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يَعْمَلُ أَفْرَادُ عَائِلَتِكَ؟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professional at the stand · Partner A = a visiting student.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jobs I saw at the fair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وَظِيفَتَانِ فِي المَعْرِضِ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two jobs from the careers fair (or from your family): who does them, where, what the workplace is like, one advantage and one disadvantage of each, and which one you would prefer and why.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يَعْمَلُ … فِي … · تَعْمَلُ … فِي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workplace adjectives and ‏</a:t>
            </a:r>
            <a:pPr algn="l" indent="0" marL="0">
              <a:buNone/>
            </a:pPr>
            <a:r>
              <a:rPr lang="ar-SA" altLang="en-US" sz="1500" dirty="0">
                <a:solidFill>
                  <a:srgbClr val="1F2A37"/>
                </a:solidFill>
                <a:latin typeface="Amiri" pitchFamily="2" charset="-78"/>
                <a:ea typeface="Amiri" pitchFamily="2" charset="-78"/>
                <a:cs typeface="Amiri" pitchFamily="2" charset="-78"/>
              </a:rPr>
              <a:t>مِنْ مَزَايَاهُ أَنَّ … / مِنْ عُيُوبِهِ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 plural (‏</a:t>
            </a:r>
            <a:pPr algn="l" indent="0" marL="0">
              <a:buNone/>
            </a:pPr>
            <a:r>
              <a:rPr lang="ar-SA" altLang="en-US" sz="1500" dirty="0">
                <a:solidFill>
                  <a:srgbClr val="1F2A37"/>
                </a:solidFill>
                <a:latin typeface="Amiri" pitchFamily="2" charset="-78"/>
                <a:ea typeface="Amiri" pitchFamily="2" charset="-78"/>
                <a:cs typeface="Amiri" pitchFamily="2" charset="-78"/>
              </a:rPr>
              <a:t>مُهَنْدِسُونَ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مُعَلِّمَاتٌ</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أُرِيدُ أَنْ أَعْمَلَ … لِأَنَّ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works as an engineer.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 خَالَتِي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 خَالَتِي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مُهَنْدِسَةً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مُهَنْدِسَةٌ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شَرِكَةٍ.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شَرِكَةٌ.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works in a safe environment.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بِيئَةٍ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بِيئَةٌ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آمِنَةٍ.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آمِنٍ.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nurses (f.) work in the hospital.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يَعْمَلُونَ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المُمَرِّضَاتُ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المُمَرِّضُونَ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المُسْتَشْفَى.</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المُسْتَشْفَى.</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works as an engineer.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تَعْمَلُ</a:t>
            </a:r>
            <a:pPr algn="l" indent="0" marL="0">
              <a:buNone/>
            </a:pPr>
            <a:r>
              <a:rPr lang="en-US" sz="1050" i="1" dirty="0">
                <a:solidFill>
                  <a:srgbClr val="5A6472"/>
                </a:solidFill>
                <a:latin typeface="Calibri" pitchFamily="34" charset="0"/>
                <a:cs typeface="Amiri" pitchFamily="2" charset="-78"/>
              </a:rPr>
              <a:t>; “as” → accusative </a:t>
            </a:r>
            <a:pPr algn="l" indent="0" marL="0">
              <a:buNone/>
            </a:pPr>
            <a:r>
              <a:rPr lang="ar-SA" altLang="en-US" sz="1350" dirty="0">
                <a:solidFill>
                  <a:srgbClr val="5A6472"/>
                </a:solidFill>
                <a:latin typeface="Amiri" pitchFamily="2" charset="-78"/>
                <a:ea typeface="Amiri" pitchFamily="2" charset="-78"/>
                <a:cs typeface="Amiri" pitchFamily="2" charset="-78"/>
              </a:rPr>
              <a:t>مُهَنْدِسَةً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تَعْمَلُ خَالَتِي مُهَنْدِسَةً فِي شَرِكَةٍ.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works in a safe environment.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بِيئَةٌ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آمِنَةٍ</a:t>
            </a:r>
            <a:pPr algn="l" indent="0" marL="0">
              <a:buNone/>
            </a:pPr>
            <a:r>
              <a:rPr lang="en-US" sz="1050" i="1" dirty="0">
                <a:solidFill>
                  <a:srgbClr val="5A6472"/>
                </a:solidFill>
                <a:latin typeface="Calibri" pitchFamily="34" charset="0"/>
                <a:cs typeface="Amiri" pitchFamily="2" charset="-78"/>
              </a:rPr>
              <a:t>, genitive after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تَعْمَلُ فِي بِيئَةٍ آمِنَةٍ.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nurses (f.) work in the hospital.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verb before its subject stays singular (feminine here); f. plural ends in -ātu.</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تَعْمَلُ المُمَرِّضَاتُ فِي المُسْتَشْفَى.</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طَبِيبٌ فِي المُسْتَشْفَى.</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يَعْمَلُ فِي مَكْتَبٍ حَدِيثَةٍ.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مَكْتَبٌ</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يَعْمَلُ مُحَاسِبٌ.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“works as”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طَبِيبٌ فِي المُسْتَشْفَى.</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طَبِيبَةٌ فِي المُسْتَشْفَى.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job: ‏</a:t>
            </a:r>
            <a:pPr algn="l" indent="0" marL="0">
              <a:buNone/>
            </a:pPr>
            <a:r>
              <a:rPr lang="ar-SA" altLang="en-US" sz="1500" b="1" dirty="0">
                <a:solidFill>
                  <a:srgbClr val="1B3B6F"/>
                </a:solidFill>
                <a:latin typeface="Amiri" pitchFamily="2" charset="-78"/>
                <a:ea typeface="Amiri" pitchFamily="2" charset="-78"/>
                <a:cs typeface="Amiri" pitchFamily="2" charset="-78"/>
              </a:rPr>
              <a:t>طَبِيبَةٌ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يَعْمَلُ فِي مَكْتَبٍ حَدِيثَةٍ.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يَعْمَلُ فِي مَكْتَبٍ حَدِيثٍ.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noun → masculine adjective.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يَعْمَلُ مُحَاسِبٌ.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يَعْمَلُ مُحَاسِبًا.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يَعْمَلُ</a:t>
            </a:r>
            <a:pPr algn="l" indent="0" marL="0">
              <a:buNone/>
            </a:pPr>
            <a:r>
              <a:rPr lang="en-US" sz="1150" b="1" dirty="0">
                <a:solidFill>
                  <a:srgbClr val="1B3B6F"/>
                </a:solidFill>
                <a:latin typeface="Calibri" pitchFamily="34" charset="0"/>
                <a:cs typeface="Amiri" pitchFamily="2" charset="-78"/>
              </a:rPr>
              <a:t>‏ + job in the accusative.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عُيُوبِهِ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disadvantage is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المَعْرِضِ تَكَلَّمْتُ مَعَ ______ ؛ يَعْمَلُ ______ فِي ______ .</a:t>
            </a:r>
            <a:endParaRPr lang="ar-SA" sz="13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fair I spoke with …; he works as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وَتَكَلَّمْتُ مَعَ ______ ؛ تَعْمَلُ ______ فِي ______ .</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spoke with …; she works as …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مَكَانُ عَمَلِهِ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workplace is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عَمَلِهَا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advantage of her job is that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أَعْمَلَ ______ لِأَنَّ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work as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طَبِيبٌ · طَبِيبَةٌ · أَطِبَّاءُ  ·  مُهَنْدِسًا · مُمَرِّضَةً  ·  مَكْتَبٌ · مُسْتَشْفًى · شَرِكَةٌ  ·  حَدِيثٌ · آمِنٌ · مَرِنٌ  ·  مُجْهِدٌ · مُمْتِعٌ  ·  مِنْ مَزَايَاهُ أَنَّ  ·  مِنْ عُيُوبِهِ أَنَّ  ·  بَيْنَمَا · وَلٰكِنَّ</a:t>
            </a:r>
            <a:endParaRPr lang="ar-SA" sz="15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Careers fair report: two jobs compared</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عَنْ مَعْرِضِ المِهَنِ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report (about 60–80 words) for the school careers blog. Include: • two professionals you met (one male, one female) — job in the accusative and workplace • the workplace of each with agreeing adjectives • two advantages and one disadvantage • a contrast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 which job you would like and why (‏</a:t>
            </a:r>
            <a:pPr algn="l" indent="0" marL="0">
              <a:buNone/>
            </a:pPr>
            <a:r>
              <a:rPr lang="ar-SA" altLang="en-US" sz="1450" b="1" dirty="0">
                <a:solidFill>
                  <a:srgbClr val="1F2A37"/>
                </a:solidFill>
                <a:latin typeface="Amiri" pitchFamily="2" charset="-78"/>
                <a:ea typeface="Amiri" pitchFamily="2" charset="-78"/>
                <a:cs typeface="Amiri" pitchFamily="2" charset="-78"/>
              </a:rPr>
              <a:t>أُرِيدُ أَنْ أَعْمَلَ</a:t>
            </a:r>
            <a:pPr algn="l" indent="0" marL="0">
              <a:buNone/>
            </a:pPr>
            <a:r>
              <a:rPr lang="en-US" sz="1100" b="1" dirty="0">
                <a:solidFill>
                  <a:srgbClr val="1F2A37"/>
                </a:solidFill>
                <a:latin typeface="Calibri" pitchFamily="34" charset="0"/>
                <a:cs typeface="Amiri" pitchFamily="2" charset="-78"/>
              </a:rPr>
              <a:t> …‏).</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D3-L01 AND D3-L02.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مُهَنْدِسًا · تَعْمَلُ مُمَرِّضَةً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works as an engineer · she works as a nurse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مَكَانُ العَمَلِ حَدِيثٌ وَآمِنٌ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workplace is modern and safe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مَزَايَاهُ أَنَّ … · مِنْ عُيُوبِهِ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advantage is that … · a disadvantage is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أَعْمَلَ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work as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each job in the right form (m. / f. / pl.) with a workplace?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advantages and disadvantages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 noun in -a?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أَعْمَلُ مُهَنْدِسًا فِي شَرِكَةٍ لِلطَّاقَةِ الشَّمْسِيَّةِ.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work as an engineer in a solar-energy company.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تَعْمَلُ، وَأَيْنَ؟</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مَكْتَبِي وَاسِعٌ وَهَادِئٌ، وَالسَّاعَاتُ مَرِنَةٌ.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office is spacious and quiet, and the hours are flexible.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مَكَانَ عَمَلِكَ.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 أَنَّ الرَّاتِبَ جَيِّدٌ، وَأَنَّ العَمَلَ مُفِيدٌ لِلْبِيئَةِ.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Its advantages are that the salary is good and that the work is useful for the environment.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مَزَايَا عَمَلِكَ؟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 أَنَّنِي أُسَافِرُ كَثِيرًا، وَلٰكِنَّنِي أُحِبُّ ذٰلِكَ.</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disadvantage is that I travel a lot, but I like that.</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عُيُوبُهُ؟</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أُخْتِي مُعَلِّمَةٌ، وَأَعْمَامِي مُحَاسِبُونَ فِي بَنْكٍ.</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sister is a teacher, and my uncles are accountants in a bank.</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يَعْمَلُ أَفْرَادُ عَائِلَتِكَ؟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المَعْرِضِ تَكَلَّمْتُ مَعَ السَّيِّدِ كَرِيمٍ؛ يَعْمَلُ مُهَنْدِسًا فِي شَرِكَةٍ لِلطَّاقَةِ الشَّمْسِيَّةِ. مَكْتَبُهُ حَدِيثٌ وَهَادِئٌ، وَمِنْ مَزَايَا عَمَلِهِ أَنَّ الرَّاتِبَ جَيِّدٌ. وَتَكَلَّمْتُ مَعَ السَّيِّدَةِ هُدَى؛ تَعْمَلُ مُمَرِّضَةً فِي مُسْتَشْفًى كَبِيرٍ. مِنْ مَزَايَا عَمَلِهَا أَنَّهَا تُسَاعِدُ النَّاسَ، وَلٰكِنْ مِنْ عُيُوبِهِ أَنَّ السَّاعَاتِ طَوِيلَةٌ. عَمَلُ المُهَنْدِسِ مُرِيحٌ، بَيْنَمَا عَمَلُ المُمَرِّضَةِ مُجْهِدٌ. أُرِيدُ أَنْ أَعْمَلَ مُهَنْدِسًا لِأَنِّي أُحِبُّ العُلُومَ وَالبِيئَةَ.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the fair I spoke with Mr Karim; he works as an engineer in a solar-energy company. His office is modern and quiet, and one advantage of his job is that the salary is good. And I spoke with Mrs Huda; she works as a nurse in a big hospital. An advantage of her job is that she helps people, but a disadvantage is that the hours are long. The engineer’s job is comfortable, whereas the nurse’s job is tiring. I want to work as an engineer because I love science and the environment.”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يَعْمَلُ مُهَنْدِسًا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تَعْمَلُ مُمَرِّضَةً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عَمَلِهَا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عَمَلُ المُمَرِّضَةِ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D3-W01 · Apply workshop (D3-L01 + D3-L02)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D3-L01 and D3-L02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D3-L03 · Skills and Qualities — What Makes a Good Worker?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المَهَارَاتُ وَالمُؤَهِّلَاتُ — مَا الَّذِي يَجْعَلُ العَامِلَ جَيِّدًا؟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D3-W01 · Apply Workshop — At the School Careers Fair</dc:title>
  <dc:subject>PptxGenJS Presentation</dc:subject>
  <dc:creator>Al Madina Online School · Arabic Department</dc:creator>
  <cp:lastModifiedBy>Al Madina Online School · Arabic Department</cp:lastModifiedBy>
  <cp:revision>1</cp:revision>
  <dcterms:created xsi:type="dcterms:W3CDTF">2026-10-26T15:48:00Z</dcterms:created>
  <dcterms:modified xsi:type="dcterms:W3CDTF">2026-10-26T15:48:00Z</dcterms:modified>
</cp:coreProperties>
</file>