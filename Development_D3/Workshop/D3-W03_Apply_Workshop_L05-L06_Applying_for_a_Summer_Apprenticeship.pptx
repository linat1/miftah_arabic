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D3-L05 · Learn D3-L06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D3-L05 (Education and Training — Routes to a Career) and D3-L06 (Job Applications and Interviews — CV, Skills and Future Plans).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D3-L05 and D3-L06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D3-L05? After D3-L06?” Take two answers in the chat for each lesson (one word or one sentence is enough). Then read objective 3 — today’s new situation that needs BOTH lessons. Students tick their route goals at the end of the lesson.
D3-L05 language: routes: university · college · vocational institute · apprenticeship · training course; the route to a goal: li-kay uṣbiḥa … yajibu an …; condition: idhā ḥaṣaltu ʿalā … fa-sawfa …; comparing routes (aqṣaru min · arkhaṣu min · akthar ʿamaliyyatan); a balanced judgement
D3-L06 language: formal opening: yasurrunī an ataqaddama li-waẓīfati …; experience: ladayya khibratun fī … · sabaqa lī an + verb in -a; suitability: aʿtaqidu annanī munāsibun / munāsibatun li-hādhihi al-waẓīfa li-anna …; a strength with evidence; a formal close: maʿa fāʾiqi al-iḥtirām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D3-L05 and D3-L06. Teacher reads it once with a confident student; then pairs. Ask: “Which lines are from D3-L05? Which from D3-L06?” Comparing routes (أَكْثَرُ عَمَلِيَّةً مِنَ …) and إِذَا حَصَلْتُ عَلَى … فَسَوْفَ … come from D3-L05; the formal phrases (يَسُرُّنِي أَنْ أَتَقَدَّمَ · سَبَقَ لِي أَنْ · لَدَيَّ خِبْرَةٌ) from D3-L06.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formal interview language, experience and strengths (D3-L06) with routes to a career, comparisons and conditions (D3-L05). FADED SUPPORT: tasks 1–2 show the plan; students write their own plan for 3–5. To a girl Partner A says: عَرِّفِينَا بِنَفْسِكِ · هَلْ لَدَيْكِ خِبْرَةٌ؟ · لِمَاذَا تُفَضِّلِينَ …؟ — she answers: أَعْتَقِدُ أَنَّنِي مُنَاسِبَةٌ.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D3-L05 and D3-L06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D3-L05 and D3-L06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CHECK YOURSELF (2 min). Find each bullet point in the model, and one phrase from D3-L05 and one from D3-L06.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D3-L05 + D3-L06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Applying for a Summer Apprenticeship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نَتَقَدَّمُ لِتَدْرِيبٍ صَيْفِيٍّ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routes to a career with applying for a job: they apply for a summer apprenticeship at an engineering company — a formal interview (experience, strengths, why the apprenticeship route suits them, future plans), then a formal cover letter that compares routes and explains their choice.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D3-L05 + D3-L06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D3-L05 and D3-L06.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D3-L05 + D3-L06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D3-L05: Education and Training — Routes to a Career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D3-L06: Job Applications and Interviews — CV, Skills and Future Plans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formal interview · A formal cover letter for the apprenticeship</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D3-L05 and D3-L06.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D3-L05 · Education and Training — Routes to a Career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مَعَاهِدُ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شَهَادَاتٌ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66" name="Text 6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67" name="Shape 6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 دِرَاسِيَّةٌ</a:t>
            </a:r>
            <a:endParaRPr lang="ar-SA" sz="150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D3-L06 · Job Applications and Interviews — CV, Skills and Future Plans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طَلَبَاتُ وَظَائِفَ</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مُقَابَلَاتٌ</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 قُوَّةٍ</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يَسُرُّنِي أَنْ أَتَقَدَّمَ</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 أَنَّ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أَقْصَرُ / أَرْخَصُ مِنْ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أُصْبِحَ … يَجِبُ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 · لَدَيَّ خِبْرَةٌ فِي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فَائِقِ الاحْتِرَامِ،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فِي النِّهَايَةِ، الطَّرِيقُ الأَفْضَلُ يَعْتَمِدُ عَلَى …</a:t>
            </a:r>
            <a:endParaRPr lang="ar-SA" sz="135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D3-L05 · Education and Training — Routes to a Career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D3-L06 · Job Applications and Interviews — CV, Skills and Future Plans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D3-L05 · Education and Training — Routes to a Career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 أَنَّ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أَقْصَرُ / أَرْخَصُ مِنْ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أُصْبِحَ … يَجِبُ أَنْ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النِّهَايَةِ، الطَّرِيقُ الأَفْضَلُ يَعْتَمِدُ عَلَى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D3-L06 · Job Applications and Interviews — CV, Skills and Future Plans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 · لَدَيَّ خِبْرَةٌ فِي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فَائِقِ الاحْتِرَامِ،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apprenticeship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التَّدْرِيبِ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 Why do you want this apprenticeship?</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أَهْلًا. لِمَاذَا تُرِيدُ هٰذَا التَّدْرِيبَ المِهْنِيَّ؟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pleased to apply for it, because an apprenticeship is more practical than university.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يَسُرُّنِي أَنْ أَتَقَدَّمَ لَهُ، لِأَنَّ التَّدْرِيبَ أَكْثَرُ عَمَلِيَّةً مِنَ الجَامِعَةِ.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previous experience?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لَدَيْكَ خِبْرَةٌ سَابِقَةٌ؟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have previously helped my father in his workshop every summer.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سَبَقَ لِي أَنْ سَاعَدْتُ أَبِي فِي وَرْشَتِهِ كُلَّ صَيْفٍ.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will you do after the apprenticeship?</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سَتَفْعَلُ بَعْدَ التَّدْرِيبِ؟</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get the certificate, I will work as a technician in your company.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حَصَلْتُ عَلَى الشَّهَادَةِ، فَسَوْفَ أَعْمَلُ فَنِّيًّا فِي شَرِكَتِكُمْ.</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أُصْبِحَ … يَجِبُ أَنْ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route to your dream job?</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الطَّرِيقُ إِلَى وَظِيفَةِ أَحْلَامِكَ؟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 وَأَهْتَمُّ بِالرِّيَاضَةِ / بِالقِرَاءَةِ</a:t>
            </a:r>
            <a:endParaRPr lang="ar-SA" sz="135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 ، وَأَدْرُسُ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عَرِّفْنَا بِنَفْسِكَ.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مَزَايَا الجَامِعَةِ أَنَّ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the advantages of university?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مَزَايَا الجَامِعَةِ؟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وَأُرِيدُ أَنْ أَكْسِبَ خِبْرَةً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لِأَنَّنِي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want this job?</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هٰذِهِ الوَظِيفَةَ؟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لِأَنَّهُ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a work placement useful?</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التَّدْرِيبُ العَمَلِيُّ مُفِيدٌ؟</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لِمُدَّةِ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سَبَقَ لِي أَنْ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previous experience?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لَدَيْكَ خِبْرَةٌ سَابِقَةٌ؟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D3-L05, even numbers from D3-L06.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Role-play card — the formal interview</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المُقَابَلَةُ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عَرِّفْ ← اسْمِي … ، وَيَسُرُّنِي أَنْ أَتَقَدَّمَ لِهٰذَا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age, school and the post.</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عَرِّفْنَا بِنَفْسِكَ، مِنْ فَضْلِكَ.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سَبَقَ لِي أَنْ … · لَدَيَّ خِبْرَةٌ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Experience with ‏</a:t>
            </a:r>
            <a:pPr algn="l" indent="0" marL="0">
              <a:buNone/>
            </a:pPr>
            <a:r>
              <a:rPr lang="ar-SA" altLang="en-US" sz="1450" dirty="0">
                <a:solidFill>
                  <a:srgbClr val="5A6472"/>
                </a:solidFill>
                <a:latin typeface="Amiri" pitchFamily="2" charset="-78"/>
                <a:ea typeface="Amiri" pitchFamily="2" charset="-78"/>
                <a:cs typeface="Amiri" pitchFamily="2" charset="-78"/>
              </a:rPr>
              <a:t>سَبَقَ لِي أَنْ</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لَدَيْكَ خِبْرَةٌ؟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the routes with two comparatives.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تُفَضِّلُ التَّدْرِيبَ عَلَى الجَامِعَةِ؟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strength with evidence and a weakness.</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نُقْطَةُ قُوَّتِكَ؟ وَنُقْطَةُ ضَعْفِكَ؟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future plan with a condition.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تَرَى نَفْسَكَ بَعْدَ خَمْسِ سَنَوَاتٍ؟</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applicant · Partner A = the company manager.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 am the right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 أَنَا 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as an applicant: the post you are applying for, your experience, two strengths with evidence, why you chose this route (compare it with university), and your plan after the apprenticeship — with one condition.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يَسُرُّنِي أَنْ أَتَقَدَّمَ لِهٰذَا التَّدْرِيبِ · لَدَيَّ خِبْرَةٌ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سَبَقَ لِي أَنْ</a:t>
            </a:r>
            <a:pPr algn="l" indent="0" marL="0">
              <a:buNone/>
            </a:pPr>
            <a:r>
              <a:rPr lang="en-US" sz="1150" dirty="0">
                <a:solidFill>
                  <a:srgbClr val="1F2A37"/>
                </a:solidFill>
                <a:latin typeface="Calibri" pitchFamily="34" charset="0"/>
                <a:cs typeface="Amiri" pitchFamily="2" charset="-78"/>
              </a:rPr>
              <a:t> …‏ and two comparatives (‏</a:t>
            </a:r>
            <a:pPr algn="l" indent="0" marL="0">
              <a:buNone/>
            </a:pPr>
            <a:r>
              <a:rPr lang="ar-SA" altLang="en-US" sz="1500" dirty="0">
                <a:solidFill>
                  <a:srgbClr val="1F2A37"/>
                </a:solidFill>
                <a:latin typeface="Amiri" pitchFamily="2" charset="-78"/>
                <a:ea typeface="Amiri" pitchFamily="2" charset="-78"/>
                <a:cs typeface="Amiri" pitchFamily="2" charset="-78"/>
              </a:rPr>
              <a:t>أَقْصَرُ</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أَكْثَرُ عَمَلِيَّةً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أَعْتَقِدُ أَنَّنِي مُنَاسِبٌ / مُنَاسِبَةٌ لِأَنَّ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إِذَا حَصَلْتُ عَلَى … فَسَوْفَ</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To become a lawyer, I must study law.</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أُصْبِحَ مُحَامِيًا،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أُصْبِحُ مُحَامٍ،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القَانُونَ.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القَانُونَ.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pleased to apply for the job of assistant.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يَسُرُّنِي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يَسُرُّنِيَ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أَتَقَدَّمَ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أَتَقَدَّمُ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لِوَظِيفَةِ مُسَاعِدٍ.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لِوَظِيفَةُ مُسَاعِدٌ.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An apprenticeship is cheaper than university.</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التَّلْمَذَةُ المِهَنِيَّةُ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التَّلْمَذَةَ المِهَنِيَّةَ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الجَامِعَةِ.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الجَامِعَةُ.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To become a lawyer, I must study law.</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لِكَيْ / 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أُصْبِحَ</a:t>
            </a:r>
            <a:pPr algn="l" indent="0" marL="0">
              <a:buNone/>
            </a:pPr>
            <a:r>
              <a:rPr lang="en-US" sz="1050" i="1" dirty="0">
                <a:solidFill>
                  <a:srgbClr val="5A6472"/>
                </a:solidFill>
                <a:latin typeface="Calibri" pitchFamily="34" charset="0"/>
                <a:cs typeface="Amiri" pitchFamily="2" charset="-78"/>
              </a:rPr>
              <a:t> + -an (</a:t>
            </a:r>
            <a:pPr algn="l" indent="0" marL="0">
              <a:buNone/>
            </a:pPr>
            <a:r>
              <a:rPr lang="ar-SA" altLang="en-US" sz="1350" dirty="0">
                <a:solidFill>
                  <a:srgbClr val="5A6472"/>
                </a:solidFill>
                <a:latin typeface="Amiri" pitchFamily="2" charset="-78"/>
                <a:ea typeface="Amiri" pitchFamily="2" charset="-78"/>
                <a:cs typeface="Amiri" pitchFamily="2" charset="-78"/>
              </a:rPr>
              <a:t>مُحَامِيًا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لِكَيْ أُصْبِحَ مُحَامِيًا، يَجِبُ أَنْ أَدْرُسَ القَانُونَ.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pleased to apply for the job of assistant.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لِ</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يَسُرُّنِي أَنْ أَتَقَدَّمَ لِوَظِيفَةِ مُسَاعِدٍ.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An apprenticeship is cheaper than university.</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أَفْعَلُ</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no feminine ending;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التَّلْمَذَةُ المِهَنِيَّةُ أَرْخَصُ مِنَ الجَامِعَةِ.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أُصْبِحُ مُهَنْدِسًا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verbs after particles.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يَسُرُّنِي أَنْ أَتَقَدَّمُ لِلْوَظِيفَةِ.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الجَامِعَةُ أَغْلَى مِنَ التَّدْرِيبُ.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مِنْ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أُصْبِحُ مُهَنْدِسًا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أُصْبِحَ مُهَنْدِسًا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لِكَيْ / أَنْ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يَسُرُّنِي أَنْ أَتَقَدَّمُ لِلْوَظِيفَةِ.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يَسُرُّنِي أَنْ أَتَقَدَّمَ لِلْوَظِيفَةِ.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الجَامِعَةُ أَغْلَى مِنَ التَّدْرِيبُ.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الجَامِعَةُ أَغْلَى مِنَ التَّدْرِيبِ.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التَّدْرِيبَ لِأَنَّهُ ______ مِنَ الجَامِعَةِ.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the apprenticeship because it is …-er than university.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حَصَلْتُ عَلَى ______ ، فَسَوْفَ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get …,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أَعْتَقِدُ أَنَّنِي مُنَاسِبٌ / مُنَاسِبَةٌ لِأَنَّ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Sir / Madam,</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سَبَقَ لِي أَنْ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previously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مَثَلًا،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for example,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فَائِقِ الاحْتِرَامِ، ______</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Yours faithfully, (name)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حَضْرَةَ المُدِيرِ المُحْتَرَمِ  ·  يَسُرُّنِي أَنْ أَتَقَدَّمَ  ·  سَبَقَ لِي أَنْ  ·  لَدَيَّ خِبْرَةٌ فِي  ·  أَقْصَرُ · أَرْخَصُ مِنْ  ·  أَكْثَرُ عَمَلِيَّةً  ·  إِذَا حَصَلْتُ عَلَى … فَسَوْفَ  ·  مَعَ فَائِقِ الاحْتِرَامِ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 formal cover letter for the apprenticeship</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تَقْدِيمٍ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formal cover letter (about 60–80 words) for the summer apprenticeship. Include: • a formal opening and the post • your experience (‏</a:t>
            </a:r>
            <a:pPr algn="l" indent="0" marL="0">
              <a:buNone/>
            </a:pPr>
            <a:r>
              <a:rPr lang="ar-SA" altLang="en-US" sz="1450" b="1" dirty="0">
                <a:solidFill>
                  <a:srgbClr val="1F2A37"/>
                </a:solidFill>
                <a:latin typeface="Amiri" pitchFamily="2" charset="-78"/>
                <a:ea typeface="Amiri" pitchFamily="2" charset="-78"/>
                <a:cs typeface="Amiri" pitchFamily="2" charset="-78"/>
              </a:rPr>
              <a:t>سَبَقَ لِي أَنْ</a:t>
            </a:r>
            <a:pPr algn="l" indent="0" marL="0">
              <a:buNone/>
            </a:pPr>
            <a:r>
              <a:rPr lang="en-US" sz="1100" b="1" dirty="0">
                <a:solidFill>
                  <a:srgbClr val="1F2A37"/>
                </a:solidFill>
                <a:latin typeface="Calibri" pitchFamily="34" charset="0"/>
                <a:cs typeface="Amiri" pitchFamily="2" charset="-78"/>
              </a:rPr>
              <a:t> …‏) • two strengths with evidence • why this route suits you better than university (two comparatives) • your plan with a condition • a formal close.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D3-L05 AND D3-L06.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Sir / Madam (formal)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pleased to apply for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التَّدْرِيبُ أَكْثَرُ عَمَلِيَّةً مِنَ الجَامِعَةِ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apprenticeship is more practical than university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فَائِقِ الاحْتِرَامِ،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faithfully</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advantages of two routes and the route to your own job?</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سَبَقَ لِي أَنْ</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أَعْتَقِدُ أَنَّنِي</a:t>
            </a:r>
            <a:pPr algn="l" indent="0" marL="0">
              <a:buNone/>
            </a:pPr>
            <a:r>
              <a:rPr lang="en-US" sz="1100" dirty="0">
                <a:solidFill>
                  <a:srgbClr val="5A6472"/>
                </a:solidFill>
                <a:latin typeface="Calibri" pitchFamily="34" charset="0"/>
                <a:cs typeface="Amiri" pitchFamily="2" charset="-78"/>
              </a:rPr>
              <a:t> …‏ and evidence for each strength?</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 عُمْرِي سِتَّ عَشْرَةَ سَنَةً، وَيَسُرُّنِي أَنْ أَتَقَدَّمَ لِهٰذَا التَّدْرِيبِ.</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Yusuf, I am sixteen, and I am pleased to apply for this apprenticeship.</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عَرِّفْنَا بِنَفْسِكَ، مِنْ فَضْلِكَ.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أَصْلَحْتُ دَرَّاجَاتٍ فِي نَادِي الحَيِّ، وَلَدَيَّ خِبْرَةٌ فِي العَمَلِ الجَمَاعِيِّ.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previously repaired bikes at the local club, and I have experience of teamwork.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لَدَيْكَ خِبْرَةٌ؟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أَقْصَرُ وَأَرْخَصُ مِنَ الجَامِعَةِ، وَأَكْثَرُ عَمَلِيَّةً.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it is shorter and cheaper than university, and more practical.</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تُفَضِّلُ التَّدْرِيبَ عَلَى الجَامِعَةِ؟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دَقِيقٌ؛ مَثَلًا، أُرَاجِعُ عَمَلِي مَرَّتَيْنِ. نُقْطَةُ ضَعْفِي أَنِّي خَجُولٌ، وَلٰكِنَّنِي أَتَحَسَّنُ.</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precise; for example, I check my work twice. My weakness is that I am shy, but I am improving.</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نُقْطَةُ قُوَّتِكَ؟ وَنُقْطَةُ ضَعْفِكَ؟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حَصَلْتُ عَلَى الشَّهَادَةِ، فَسَوْفَ أَعْمَلُ فَنِّيًّا، ثُمَّ سَأَدْرُسُ الهَنْدَسَةَ بِدَوَامٍ جُزْئِيٍّ.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get the certificate, I will work as a technician, then I will study engineering part-time.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تَرَى نَفْسَكَ بَعْدَ خَمْسِ سَنَوَاتٍ؟</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حَضْرَةَ المُدِيرِ المُحْتَرَمِ،</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يَسُرُّنِي أَنْ أَتَقَدَّمَ لِلتَّدْرِيبِ الصَّيْفِيِّ فِي شَرِكَتِكُمْ. سَبَقَ لِي أَنْ سَاعَدْتُ أَبِي فِي وَرْشَتِهِ، وَلَدَيَّ خِبْرَةٌ فِي العَمَلِ الجَمَاعِيِّ. أَنَا دَقِيقٌ وَمَسْؤُولٌ؛ مَثَلًا، أَصِلُ إِلَى النَّادِي فِي الوَقْتِ دَائِمًا. أُفَضِّلُ التَّدْرِيبَ لِأَنَّهُ أَقْصَرُ مِنَ الجَامِعَةِ وَأَكْثَرُ عَمَلِيَّةً. إِذَا حَصَلْتُ عَلَى الشَّهَادَةِ، فَسَوْفَ أَعْمَلُ فَنِّيًّا. أَعْتَقِدُ أَنَّنِي مُنَاسِبٌ لِهٰذَا التَّدْرِيبِ.</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مَعَ فَائِقِ الاحْتِرَامِ، يُوسُفُ</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Sir / Madam, I am pleased to apply for the summer apprenticeship in your company. I have previously helped my father in his workshop, and I have experience of teamwork. I am precise and responsible; for example, I always arrive at the club on time. I prefer an apprenticeship because it is shorter than university and more practical. If I get the certificate, I will work as a technician. I believe I am suitable for this apprenticeship. Yours faithfully,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يَسُرُّنِي أَنْ أَتَقَدَّمَ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سَبَقَ لِي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أَقْصَرُ مِنَ الجَامِعَةِ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حَصَلْتُ عَلَى الشَّهَادَةِ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D3-W03 · Apply workshop (D3-L05 + D3-L06)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D3-L05 and D3-L06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D3-L07 · Arabic Proverbs and Values — Work Ethic and Success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الأَمْثَالُ العَرَبِيَّةُ وَالقِيَمُ — أَخْلَاقِيَّاتُ العَمَلِ وَالنَّجَاحُ</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D3-W03 · Apply Workshop — Applying for a Summer Apprenticeship</dc:title>
  <dc:subject>PptxGenJS Presentation</dc:subject>
  <dc:creator>Al Madina Online School · Arabic Department</dc:creator>
  <cp:lastModifiedBy>Al Madina Online School · Arabic Department</cp:lastModifiedBy>
  <cp:revision>1</cp:revision>
  <dcterms:created xsi:type="dcterms:W3CDTF">2026-10-26T15:48:02Z</dcterms:created>
  <dcterms:modified xsi:type="dcterms:W3CDTF">2026-10-26T15:48:02Z</dcterms:modified>
</cp:coreProperties>
</file>