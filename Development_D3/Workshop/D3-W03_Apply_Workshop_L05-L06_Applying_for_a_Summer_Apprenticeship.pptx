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APPLY WORKSHOP AT A GLANCE — the third lesson of the week (Learn D3-L05 · Learn D3-L06 · Apply). 60 minutes on Teams: teacher-led in the main room for the short whole-class steps, pairs or breakout rooms of two or three for speaking, individual writing.
0–3 Welcome + plan · 3–6 What we learnt this week · PART 1 REMEMBER: word race (4) · which lesson? sort (4) · PART 2 SPEAK: new dialogue (5) · mixed question cards (6) · role-play card (7) · one minute talk (4) · PART 3 WRITE: sentence builder (3) · spot and fix (3) · connected writing (12) + buddy check (3) · CHECK YOURSELF: models + self-check (5).
PURPOSE: students APPLY the language of BOTH lessons in new contexts — the question cards, builder and common mistakes come from the two practice rooms; the dialogue, role-play, talk and writing task are new and join the lessons together.
CONTENT: D3-L05 (Education and Training — Routes to a Career) and D3-L06 (Job Applications and Interviews — CV, Skills and Future Plans).
SET-UP: share this deck or its PDF in the chat. Pairs or breakout rooms for Part 2 (same-level rooms keep the routes simple). Everyone writes in their own book or document in Part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 Apply = use what you learnt in D3-L05 and D3-L06 in a NEW situation. Point out the step number in the top-left of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WE LEARNT (3 min, main room). Ask: “What can you say after D3-L05? After D3-L06?” Take two answers in the chat for each lesson (one word or one sentence is enough). Then read objective 3 — today’s new situation that needs BOTH lessons. Students tick their route goals at the end of the lesson.
D3-L05 language: routes: university · college · vocational institute · apprenticeship · training course; the route to a goal: li-kay uṣbiḥa … yajibu an …; condition: idhā ḥaṣaltu ʿalā … fa-sawfa …; comparing routes (aqṣaru min · arkhaṣu min · akthar ʿamaliyyatan); a balanced judgement
D3-L06 language: formal opening: yasurrunī an ataqaddama li-waẓīfati …; experience: ladayya khibratun fī … · sabaqa lī an + verb in -a; suitability: aʿtaqidu annanī munāsibun / munāsibatun li-hādhihi al-waẓīfa li-anna …; a strength with evidence; a formal close: maʿa fāʾiqi al-iḥtirām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(4 min). Quick, energetic retrieval. Model one round with a student, then pairs race. Collect the best score in the chat. Listen for words students hesitate over and revisit them in Part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six words from D3-L05.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six words from D3-L06.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(4 min). Students read each card ALOUD (by invitation), then type its number in the chat with 1 or 2 (for example “card 3 → 2”). Then check the answer slide. Ask: “Which card could you use in BOTH lessons?” — this links the two lessons before Part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(4 min). Students read each card ALOUD (by invitation), then type its number in the chat with 1 or 2 (for example “card 3 → 2”). Then check the answer slide. Ask: “Which card could you use in BOTH lessons?” — this links the two lessons before Part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3 (5 min). A NEW dialogue that joins D3-L05 and D3-L06. Teacher reads it once with a confident student; then pairs. Ask: “Which lines are from D3-L05? Which from D3-L06?” Comparing routes (أَكْثَرُ عَمَلِيَّةً مِنَ …) and إِذَا حَصَلْتُ عَلَى … فَسَوْفَ … come from D3-L05; the formal phrases (يَسُرُّنِي أَنْ أَتَقَدَّمَ · سَبَقَ لِي أَنْ · لَدَيَّ خِبْرَةٌ) from D3-L06.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 (6 min, pairs or rooms). The questions come from the two practice rooms, now mixed so students switch between the lessons. Teacher: visit rooms and ask one Stretch follow-up question in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5 (7 min). One NEW situation that needs both lessons: formal interview language, experience and strengths (D3-L06) with routes to a career, comparisons and conditions (D3-L05). FADED SUPPORT: tasks 1–2 show the plan; students write their own plan for 3–5. To a girl Partner A says: عَرِّفِينَا بِنَفْسِكِ · هَلْ لَدَيْكِ خِبْرَةٌ؟ · لِمَاذَا تُفَضِّلِينَ …؟ — she answers: أَعْتَقِدُ أَنَّنِي مُنَاسِبَةٌ.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Fluency: one talk that uses BOTH lessons. Two volunteers speak to the whole class at the end (open mic).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Rows come from the D3-L05 and D3-L06 practice rooms. Read the English, choose the correct part from each column (start on the RIGHT). Pairs agree, then check. Students copy the correct sentences — they help in Step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Rows come from the D3-L05 and D3-L06 practice rooms. Read the English, choose the correct part from each column (start on the RIGHT). Pairs agree, then check. Students copy the correct sentences — they help in Step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(3 min). Common mistakes from both lessons. Students type the corrected version in the chat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(3 min). Common mistakes from both lessons. Students type the corrected version in the chat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9 support. Core: use the Core frames for every bullet. Develop: use the Develop frames only if stuck. Stretch: no frames — add reasons, a time phrase and an extra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9 (10 min writing, everyone on their own). Core: frames for every bullet (50–60 words). Develop: 80–100 words, frames only if stuck. Stretch: no frames, add reasons and another time frame. Teacher reads ONE sentence per student (in the chat or the shared document) and gives one live correction.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BUDDY CHECK (3 min). Pairs swap texts (or share screens). Then everyone returns to the main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YOURSELF (2 min, main room). Each student finds one task they answered less fully and says it again using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(56 words). CHECK YOURSELF (2 min). Find each bullet point in the model, and one phrase from D3-L05 and one from D3-L06. Then each student copies ONE phrase from the model into their own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8  ·  DEVELOPMENT D3  ·  D3-L05 + D3-L06 · APPLY WORKSHOP</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D3-W03</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Apply Workshop — Applying for a Summer Apprenticeship</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وَرْشَةُ التَّطْبِيقِ — نَتَقَدَّمُ لِتَدْرِيبٍ صَيْفِيٍّ</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250" dirty="0">
                <a:solidFill>
                  <a:srgbClr val="C6D2E6"/>
                </a:solidFill>
                <a:latin typeface="Calibri" pitchFamily="34" charset="0"/>
                <a:cs typeface="Amiri" pitchFamily="2" charset="-78"/>
              </a:rPr>
              <a:t>Students join routes to a career with applying for a job: they apply for a summer apprenticeship at an engineering company — a formal interview (experience, strengths, why the apprenticeship route suits them, future plans), then a formal cover letter that compares routes and explains their choice.</a:t>
            </a:r>
            <a:endParaRPr lang="en-US" sz="125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Apply workshop · D3-L05 + D3-L06</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Development · A2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Development › D3 › D3-L06</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D3-W03 · Apply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D3-W03 · Apply workshop (D3-L05 + D3-L06)</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24</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D3-W03 · Apply workshop</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PLAN · LEARN, LEARN, APPLY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Two lessons — now use them together</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الوَرْشَةِ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D3-W03 · Apply workshop (D3-L05 + D3-L06)</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1B3B6F"/>
          </a:solidFill>
          <a:ln w="12700">
            <a:solidFill>
              <a:srgbClr val="1B3B6F"/>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What we learnt: D3-L05 and D3-L06.</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مَاذَا تَعَلَّمْنَا؟</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2F6FB0"/>
          </a:solidFill>
          <a:ln w="12700">
            <a:solidFill>
              <a:srgbClr val="2F6FB0"/>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Part 1 · Remember: word race and “which lesson?” sort.</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تَذَكَّرْ</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1E6B52"/>
          </a:solidFill>
          <a:ln w="12700">
            <a:solidFill>
              <a:srgbClr val="1E6B52"/>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22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Part 2 · Speak: say the model dialogue · question cards · role-play card · short talk.</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تَكَلَّمْ</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19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Part 3 · Write: sentence builder · spot and fix · write your text · buddy check.</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Check yourself with the models.</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قَارِنْ</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WORKSHOP RUNS</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Today there is no new language: you USE the words and structures of the last two lessons together. Everybody speaks in every step and everybody writes their own text. Choose your route — Core, Develop or Stretch — and move up when you are ready.</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24</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D3-W03 · Apply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WHAT WE LEARNT THIS WEEK · D3-L05 + D3-L06</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This week’s two lessons — and today’s goal</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نُطَبِّقُ مَا تَعَلَّمْنَا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D3-W03 · Apply workshop (D3-L05 + D3-L06)</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D3-L05: Education and Training — Routes to a Career</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D3-L06: Job Applications and Interviews — CV, Skills and Future Plans</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Apply both: the formal interview · A formal cover letter for the apprenticeship</a:t>
            </a:r>
            <a:endParaRPr lang="en-US" sz="1300" dirty="0"/>
          </a:p>
        </p:txBody>
      </p:sp>
      <p:sp>
        <p:nvSpPr>
          <p:cNvPr id="27" name="Shape 24"/>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28" name="Shape 25"/>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29" name="Text 26"/>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0" name="Text 27"/>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1" name="Text 28"/>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Answer questions from BOTH lessons in full sentences.</a:t>
            </a:r>
            <a:endParaRPr lang="en-US" sz="1300" dirty="0"/>
          </a:p>
        </p:txBody>
      </p:sp>
      <p:sp>
        <p:nvSpPr>
          <p:cNvPr id="32" name="Text 29"/>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Write the text using the frames.</a:t>
            </a:r>
            <a:endParaRPr lang="en-US" sz="1300" dirty="0"/>
          </a:p>
        </p:txBody>
      </p:sp>
      <p:sp>
        <p:nvSpPr>
          <p:cNvPr id="33" name="Shape 30"/>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4" name="Shape 31"/>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5" name="Text 32"/>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6" name="Text 33"/>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37" name="Text 34"/>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Join both lessons in one conversation and a one minute talk.</a:t>
            </a:r>
            <a:endParaRPr lang="en-US" sz="1300" dirty="0"/>
          </a:p>
        </p:txBody>
      </p:sp>
      <p:sp>
        <p:nvSpPr>
          <p:cNvPr id="38" name="Text 35"/>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Write the text, frames only if stuck.</a:t>
            </a:r>
            <a:endParaRPr lang="en-US" sz="1300" dirty="0"/>
          </a:p>
        </p:txBody>
      </p:sp>
      <p:sp>
        <p:nvSpPr>
          <p:cNvPr id="39" name="Shape 36"/>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0" name="Shape 37"/>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1" name="Text 38"/>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2" name="Text 39"/>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3" name="Text 40"/>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Speak without notes; add reasons and opinions.</a:t>
            </a:r>
            <a:endParaRPr lang="en-US" sz="1300" dirty="0"/>
          </a:p>
        </p:txBody>
      </p:sp>
      <p:sp>
        <p:nvSpPr>
          <p:cNvPr id="44" name="Text 41"/>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Use more than one tense; give and justify opinions.</a:t>
            </a:r>
            <a:endParaRPr lang="en-US" sz="130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D3-W03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1 · STEP 1 · WORD RACE · 4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Word race: two lessons, one race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سِبَاقُ الكَلِمَاتِ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D3-W03 · Apply workshop (D3-L05 + D3-L06)</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1 · PAIRS</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English → Arabic, from both lessons</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The next two slides show words from D3-L05 and D3-L06. Partner A says a word in ENGLISH; Partner B says it in ARABIC. One point for every correct answer in 90 seconds — then swap.</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Teacher: first round together (3 words from each slide).</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Pairs: 90 seconds each, as many as you can.</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Mix the lessons: one word from slide 1, one from slide 2.</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Last round: use two words — one from each lesson — in ONE sentence.</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Arabic word clearly.</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word, then a short sentence with it.</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Join a word from each lesson in one sentence with ‏</a:t>
            </a:r>
            <a:pPr algn="l" indent="0" marL="0">
              <a:buNone/>
            </a:pPr>
            <a:r>
              <a:rPr lang="ar-SA" altLang="en-US" sz="1500" dirty="0">
                <a:solidFill>
                  <a:srgbClr val="1F2A37"/>
                </a:solidFill>
                <a:latin typeface="Amiri" pitchFamily="2" charset="-78"/>
                <a:ea typeface="Amiri" pitchFamily="2" charset="-78"/>
                <a:cs typeface="Amiri" pitchFamily="2" charset="-78"/>
              </a:rPr>
              <a:t>وَ</a:t>
            </a:r>
            <a:pPr algn="l" indent="0" marL="0">
              <a:buNone/>
            </a:pPr>
            <a:r>
              <a:rPr lang="en-US" sz="1150" dirty="0">
                <a:solidFill>
                  <a:srgbClr val="1F2A37"/>
                </a:solidFill>
                <a:latin typeface="Calibri" pitchFamily="34" charset="0"/>
                <a:cs typeface="Amiri" pitchFamily="2" charset="-78"/>
              </a:rPr>
              <a:t>‏ or ‏</a:t>
            </a:r>
            <a:pPr algn="l" indent="0" marL="0">
              <a:buNone/>
            </a:pPr>
            <a:r>
              <a:rPr lang="ar-SA" altLang="en-US" sz="1500" dirty="0">
                <a:solidFill>
                  <a:srgbClr val="1F2A37"/>
                </a:solidFill>
                <a:latin typeface="Amiri" pitchFamily="2" charset="-78"/>
                <a:ea typeface="Amiri" pitchFamily="2" charset="-78"/>
                <a:cs typeface="Amiri" pitchFamily="2" charset="-78"/>
              </a:rPr>
              <a:t>لِأَنَّ</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دَوْرُكَ! / دَوْرُكِ!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your turn! (m. / f.)</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صَحِيحٌ!</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correct!</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حَاوِلْ مَرَّةً أُخْرَى</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try again</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نُقْطَةٌ لَكَ / لَكِ</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a point for you (m. / f.)</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24</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D3-W03 · Apply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WORDS FROM D3-L05</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D3-L05 · Education and Training — Routes to a Career</a:t>
            </a:r>
            <a:endParaRPr lang="en-US" sz="1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 الأَوَّلِ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D3-W03 · Apply workshop (D3-L05 + D3-L06)</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709574"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جَامِعَةٌ</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university</a:t>
            </a:r>
            <a:endParaRPr lang="en-US" sz="1350" dirty="0"/>
          </a:p>
          <a:p>
            <a:pPr indent="0" marL="0">
              <a:buNone/>
            </a:pPr>
            <a:r>
              <a:rPr lang="en-US" sz="1100" i="1" dirty="0">
                <a:solidFill>
                  <a:srgbClr val="5A6472"/>
                </a:solidFill>
                <a:latin typeface="Calibri" pitchFamily="34" charset="0"/>
                <a:cs typeface="Amiri" pitchFamily="2" charset="-78"/>
              </a:rPr>
              <a:t>jā-mi-ʿa-tun</a:t>
            </a:r>
            <a:endParaRPr lang="en-US" sz="1350" dirty="0"/>
          </a:p>
        </p:txBody>
      </p:sp>
      <p:sp>
        <p:nvSpPr>
          <p:cNvPr id="24" name="Shape 21"/>
          <p:cNvSpPr/>
          <p:nvPr/>
        </p:nvSpPr>
        <p:spPr>
          <a:xfrm>
            <a:off x="8238744" y="3438144"/>
            <a:ext cx="3364992"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8293608"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6" name="Text 23"/>
          <p:cNvSpPr txBox="1"/>
          <p:nvPr/>
        </p:nvSpPr>
        <p:spPr>
          <a:xfrm>
            <a:off x="8284464"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جَامِعَاتٌ</a:t>
            </a:r>
            <a:endParaRPr lang="ar-SA" sz="1500" dirty="0"/>
          </a:p>
        </p:txBody>
      </p:sp>
      <p:sp>
        <p:nvSpPr>
          <p:cNvPr id="27" name="Shape 24"/>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4389120"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30" name="Shape 27"/>
          <p:cNvSpPr/>
          <p:nvPr/>
        </p:nvSpPr>
        <p:spPr>
          <a:xfrm>
            <a:off x="4782312" y="1938528"/>
            <a:ext cx="709574" cy="256032"/>
          </a:xfrm>
          <a:prstGeom prst="roundRect">
            <a:avLst>
              <a:gd name="adj" fmla="val 50000"/>
            </a:avLst>
          </a:prstGeom>
          <a:solidFill>
            <a:srgbClr val="EFE7D2"/>
          </a:solidFill>
          <a:ln w="12700">
            <a:solidFill>
              <a:srgbClr val="EFE7D2"/>
            </a:solidFill>
            <a:prstDash val="solid"/>
          </a:ln>
        </p:spPr>
      </p:sp>
      <p:sp>
        <p:nvSpPr>
          <p:cNvPr id="31" name="Text 28"/>
          <p:cNvSpPr txBox="1"/>
          <p:nvPr/>
        </p:nvSpPr>
        <p:spPr>
          <a:xfrm>
            <a:off x="4782312"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32" name="Shape 29"/>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مَعْهَدٌ مِهَنِيٌّ</a:t>
            </a:r>
            <a:endParaRPr lang="ar-SA" sz="3000" dirty="0"/>
          </a:p>
        </p:txBody>
      </p:sp>
      <p:sp>
        <p:nvSpPr>
          <p:cNvPr id="35" name="Text 32"/>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vocational institute</a:t>
            </a:r>
            <a:endParaRPr lang="en-US" sz="1350" dirty="0"/>
          </a:p>
          <a:p>
            <a:pPr indent="0" marL="0">
              <a:buNone/>
            </a:pPr>
            <a:r>
              <a:rPr lang="en-US" sz="1100" i="1" dirty="0">
                <a:solidFill>
                  <a:srgbClr val="5A6472"/>
                </a:solidFill>
                <a:latin typeface="Calibri" pitchFamily="34" charset="0"/>
                <a:cs typeface="Amiri" pitchFamily="2" charset="-78"/>
              </a:rPr>
              <a:t>maʿ-ha-dun mi-ha-niy-yun</a:t>
            </a:r>
            <a:endParaRPr lang="en-US" sz="1350" dirty="0"/>
          </a:p>
        </p:txBody>
      </p:sp>
      <p:sp>
        <p:nvSpPr>
          <p:cNvPr id="36" name="Shape 33"/>
          <p:cNvSpPr/>
          <p:nvPr/>
        </p:nvSpPr>
        <p:spPr>
          <a:xfrm>
            <a:off x="4416552" y="3438144"/>
            <a:ext cx="3364992" cy="438912"/>
          </a:xfrm>
          <a:prstGeom prst="roundRect">
            <a:avLst>
              <a:gd name="adj" fmla="val 10417"/>
            </a:avLst>
          </a:prstGeom>
          <a:solidFill>
            <a:srgbClr val="F4F1EA"/>
          </a:solidFill>
          <a:ln w="9525">
            <a:solidFill>
              <a:srgbClr val="F4F1EA"/>
            </a:solidFill>
            <a:prstDash val="solid"/>
          </a:ln>
        </p:spPr>
      </p:sp>
      <p:sp>
        <p:nvSpPr>
          <p:cNvPr id="37" name="Text 34"/>
          <p:cNvSpPr txBox="1"/>
          <p:nvPr/>
        </p:nvSpPr>
        <p:spPr>
          <a:xfrm>
            <a:off x="4471416"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38" name="Text 35"/>
          <p:cNvSpPr txBox="1"/>
          <p:nvPr/>
        </p:nvSpPr>
        <p:spPr>
          <a:xfrm>
            <a:off x="4462272"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مَعَاهِدُ مِهَنِيَّةٌ</a:t>
            </a:r>
            <a:endParaRPr lang="ar-SA" sz="1500" dirty="0"/>
          </a:p>
        </p:txBody>
      </p:sp>
      <p:sp>
        <p:nvSpPr>
          <p:cNvPr id="39" name="Shape 3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66928" y="1920240"/>
            <a:ext cx="310896" cy="310896"/>
          </a:xfrm>
          <a:prstGeom prst="ellipse">
            <a:avLst/>
          </a:prstGeom>
          <a:solidFill>
            <a:srgbClr val="F4F1EA"/>
          </a:solidFill>
          <a:ln w="12700">
            <a:solidFill>
              <a:srgbClr val="F4F1EA"/>
            </a:solidFill>
            <a:prstDash val="solid"/>
          </a:ln>
        </p:spPr>
      </p:sp>
      <p:sp>
        <p:nvSpPr>
          <p:cNvPr id="41" name="Text 3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42" name="Shape 3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3" name="Text 4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4" name="Text 4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تَدْرِيبٌ عَمَلِيٌّ</a:t>
            </a:r>
            <a:endParaRPr lang="ar-SA" sz="3000" dirty="0"/>
          </a:p>
        </p:txBody>
      </p:sp>
      <p:sp>
        <p:nvSpPr>
          <p:cNvPr id="45" name="Text 4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work placement</a:t>
            </a:r>
            <a:endParaRPr lang="en-US" sz="1350" dirty="0"/>
          </a:p>
          <a:p>
            <a:pPr indent="0" marL="0">
              <a:buNone/>
            </a:pPr>
            <a:r>
              <a:rPr lang="en-US" sz="1100" i="1" dirty="0">
                <a:solidFill>
                  <a:srgbClr val="5A6472"/>
                </a:solidFill>
                <a:latin typeface="Calibri" pitchFamily="34" charset="0"/>
                <a:cs typeface="Amiri" pitchFamily="2" charset="-78"/>
              </a:rPr>
              <a:t>tad-rī-bun ʿa-ma-liy-yun</a:t>
            </a:r>
            <a:endParaRPr lang="en-US" sz="1350" dirty="0"/>
          </a:p>
        </p:txBody>
      </p:sp>
      <p:sp>
        <p:nvSpPr>
          <p:cNvPr id="46" name="Shape 4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4"/>
          <p:cNvSpPr/>
          <p:nvPr/>
        </p:nvSpPr>
        <p:spPr>
          <a:xfrm>
            <a:off x="8211312" y="4261104"/>
            <a:ext cx="310896" cy="310896"/>
          </a:xfrm>
          <a:prstGeom prst="ellipse">
            <a:avLst/>
          </a:prstGeom>
          <a:solidFill>
            <a:srgbClr val="F4F1EA"/>
          </a:solidFill>
          <a:ln w="12700">
            <a:solidFill>
              <a:srgbClr val="F4F1EA"/>
            </a:solidFill>
            <a:prstDash val="solid"/>
          </a:ln>
        </p:spPr>
      </p:sp>
      <p:sp>
        <p:nvSpPr>
          <p:cNvPr id="48" name="Text 4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49" name="Shape 46"/>
          <p:cNvSpPr/>
          <p:nvPr/>
        </p:nvSpPr>
        <p:spPr>
          <a:xfrm>
            <a:off x="8604504" y="4279392"/>
            <a:ext cx="709574" cy="256032"/>
          </a:xfrm>
          <a:prstGeom prst="roundRect">
            <a:avLst>
              <a:gd name="adj" fmla="val 50000"/>
            </a:avLst>
          </a:prstGeom>
          <a:solidFill>
            <a:srgbClr val="EFE7D2"/>
          </a:solidFill>
          <a:ln w="12700">
            <a:solidFill>
              <a:srgbClr val="EFE7D2"/>
            </a:solidFill>
            <a:prstDash val="solid"/>
          </a:ln>
        </p:spPr>
      </p:sp>
      <p:sp>
        <p:nvSpPr>
          <p:cNvPr id="50" name="Text 47"/>
          <p:cNvSpPr txBox="1"/>
          <p:nvPr/>
        </p:nvSpPr>
        <p:spPr>
          <a:xfrm>
            <a:off x="8604504"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51" name="Shape 48"/>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52" name="Text 49"/>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3" name="Text 50"/>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شَهَادَةٌ</a:t>
            </a:r>
            <a:endParaRPr lang="ar-SA" sz="3000" dirty="0"/>
          </a:p>
        </p:txBody>
      </p:sp>
      <p:sp>
        <p:nvSpPr>
          <p:cNvPr id="54" name="Text 51"/>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certificate/degree</a:t>
            </a:r>
            <a:endParaRPr lang="en-US" sz="1350" dirty="0"/>
          </a:p>
          <a:p>
            <a:pPr indent="0" marL="0">
              <a:buNone/>
            </a:pPr>
            <a:r>
              <a:rPr lang="en-US" sz="1100" i="1" dirty="0">
                <a:solidFill>
                  <a:srgbClr val="5A6472"/>
                </a:solidFill>
                <a:latin typeface="Calibri" pitchFamily="34" charset="0"/>
                <a:cs typeface="Amiri" pitchFamily="2" charset="-78"/>
              </a:rPr>
              <a:t>sha-hā-da-tun</a:t>
            </a:r>
            <a:endParaRPr lang="en-US" sz="1350" dirty="0"/>
          </a:p>
        </p:txBody>
      </p:sp>
      <p:sp>
        <p:nvSpPr>
          <p:cNvPr id="55" name="Shape 52"/>
          <p:cNvSpPr/>
          <p:nvPr/>
        </p:nvSpPr>
        <p:spPr>
          <a:xfrm>
            <a:off x="8238744" y="5779008"/>
            <a:ext cx="3364992" cy="438912"/>
          </a:xfrm>
          <a:prstGeom prst="roundRect">
            <a:avLst>
              <a:gd name="adj" fmla="val 10417"/>
            </a:avLst>
          </a:prstGeom>
          <a:solidFill>
            <a:srgbClr val="F4F1EA"/>
          </a:solidFill>
          <a:ln w="9525">
            <a:solidFill>
              <a:srgbClr val="F4F1EA"/>
            </a:solidFill>
            <a:prstDash val="solid"/>
          </a:ln>
        </p:spPr>
      </p:sp>
      <p:sp>
        <p:nvSpPr>
          <p:cNvPr id="56" name="Text 53"/>
          <p:cNvSpPr txBox="1"/>
          <p:nvPr/>
        </p:nvSpPr>
        <p:spPr>
          <a:xfrm>
            <a:off x="8293608" y="5788152"/>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57" name="Text 54"/>
          <p:cNvSpPr txBox="1"/>
          <p:nvPr/>
        </p:nvSpPr>
        <p:spPr>
          <a:xfrm>
            <a:off x="8284464" y="5824728"/>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شَهَادَاتٌ</a:t>
            </a:r>
            <a:endParaRPr lang="ar-SA" sz="1500" dirty="0"/>
          </a:p>
        </p:txBody>
      </p:sp>
      <p:sp>
        <p:nvSpPr>
          <p:cNvPr id="58" name="Shape 55"/>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9" name="Shape 56"/>
          <p:cNvSpPr/>
          <p:nvPr/>
        </p:nvSpPr>
        <p:spPr>
          <a:xfrm>
            <a:off x="4389120" y="4261104"/>
            <a:ext cx="310896" cy="310896"/>
          </a:xfrm>
          <a:prstGeom prst="ellipse">
            <a:avLst/>
          </a:prstGeom>
          <a:solidFill>
            <a:srgbClr val="F4F1EA"/>
          </a:solidFill>
          <a:ln w="12700">
            <a:solidFill>
              <a:srgbClr val="F4F1EA"/>
            </a:solidFill>
            <a:prstDash val="solid"/>
          </a:ln>
        </p:spPr>
      </p:sp>
      <p:sp>
        <p:nvSpPr>
          <p:cNvPr id="60" name="Text 57"/>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61" name="Shape 58"/>
          <p:cNvSpPr/>
          <p:nvPr/>
        </p:nvSpPr>
        <p:spPr>
          <a:xfrm>
            <a:off x="4782312" y="4279392"/>
            <a:ext cx="709574" cy="256032"/>
          </a:xfrm>
          <a:prstGeom prst="roundRect">
            <a:avLst>
              <a:gd name="adj" fmla="val 50000"/>
            </a:avLst>
          </a:prstGeom>
          <a:solidFill>
            <a:srgbClr val="EFE7D2"/>
          </a:solidFill>
          <a:ln w="12700">
            <a:solidFill>
              <a:srgbClr val="EFE7D2"/>
            </a:solidFill>
            <a:prstDash val="solid"/>
          </a:ln>
        </p:spPr>
      </p:sp>
      <p:sp>
        <p:nvSpPr>
          <p:cNvPr id="62" name="Text 59"/>
          <p:cNvSpPr txBox="1"/>
          <p:nvPr/>
        </p:nvSpPr>
        <p:spPr>
          <a:xfrm>
            <a:off x="4782312"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63" name="Shape 60"/>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64" name="Text 61"/>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5" name="Text 62"/>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مِنْحَةٌ دِرَاسِيَّةٌ</a:t>
            </a:r>
            <a:endParaRPr lang="ar-SA" sz="3000" dirty="0"/>
          </a:p>
        </p:txBody>
      </p:sp>
      <p:sp>
        <p:nvSpPr>
          <p:cNvPr id="66" name="Text 63"/>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scholarship</a:t>
            </a:r>
            <a:endParaRPr lang="en-US" sz="1350" dirty="0"/>
          </a:p>
          <a:p>
            <a:pPr indent="0" marL="0">
              <a:buNone/>
            </a:pPr>
            <a:r>
              <a:rPr lang="en-US" sz="1100" i="1" dirty="0">
                <a:solidFill>
                  <a:srgbClr val="5A6472"/>
                </a:solidFill>
                <a:latin typeface="Calibri" pitchFamily="34" charset="0"/>
                <a:cs typeface="Amiri" pitchFamily="2" charset="-78"/>
              </a:rPr>
              <a:t>min-ḥa-tun di-rā-siy-ya-tun</a:t>
            </a:r>
            <a:endParaRPr lang="en-US" sz="1350" dirty="0"/>
          </a:p>
        </p:txBody>
      </p:sp>
      <p:sp>
        <p:nvSpPr>
          <p:cNvPr id="67" name="Shape 64"/>
          <p:cNvSpPr/>
          <p:nvPr/>
        </p:nvSpPr>
        <p:spPr>
          <a:xfrm>
            <a:off x="4416552" y="5779008"/>
            <a:ext cx="3364992" cy="438912"/>
          </a:xfrm>
          <a:prstGeom prst="roundRect">
            <a:avLst>
              <a:gd name="adj" fmla="val 10417"/>
            </a:avLst>
          </a:prstGeom>
          <a:solidFill>
            <a:srgbClr val="F4F1EA"/>
          </a:solidFill>
          <a:ln w="9525">
            <a:solidFill>
              <a:srgbClr val="F4F1EA"/>
            </a:solidFill>
            <a:prstDash val="solid"/>
          </a:ln>
        </p:spPr>
      </p:sp>
      <p:sp>
        <p:nvSpPr>
          <p:cNvPr id="68" name="Text 65"/>
          <p:cNvSpPr txBox="1"/>
          <p:nvPr/>
        </p:nvSpPr>
        <p:spPr>
          <a:xfrm>
            <a:off x="4471416" y="5788152"/>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69" name="Text 66"/>
          <p:cNvSpPr txBox="1"/>
          <p:nvPr/>
        </p:nvSpPr>
        <p:spPr>
          <a:xfrm>
            <a:off x="4462272" y="5824728"/>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مِنَحٌ دِرَاسِيَّةٌ</a:t>
            </a:r>
            <a:endParaRPr lang="ar-SA" sz="1500" dirty="0"/>
          </a:p>
        </p:txBody>
      </p:sp>
      <p:sp>
        <p:nvSpPr>
          <p:cNvPr id="70" name="Shape 67"/>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1" name="Shape 68"/>
          <p:cNvSpPr/>
          <p:nvPr/>
        </p:nvSpPr>
        <p:spPr>
          <a:xfrm>
            <a:off x="566928" y="4261104"/>
            <a:ext cx="310896" cy="310896"/>
          </a:xfrm>
          <a:prstGeom prst="ellipse">
            <a:avLst/>
          </a:prstGeom>
          <a:solidFill>
            <a:srgbClr val="F4F1EA"/>
          </a:solidFill>
          <a:ln w="12700">
            <a:solidFill>
              <a:srgbClr val="F4F1EA"/>
            </a:solidFill>
            <a:prstDash val="solid"/>
          </a:ln>
        </p:spPr>
      </p:sp>
      <p:sp>
        <p:nvSpPr>
          <p:cNvPr id="72" name="Text 69"/>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73" name="Text 70"/>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خِبْرَةٌ عَمَلِيَّةٌ</a:t>
            </a:r>
            <a:endParaRPr lang="ar-SA" sz="3000" dirty="0"/>
          </a:p>
        </p:txBody>
      </p:sp>
      <p:sp>
        <p:nvSpPr>
          <p:cNvPr id="74" name="Text 71"/>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work experience</a:t>
            </a:r>
            <a:endParaRPr lang="en-US" sz="1350" dirty="0"/>
          </a:p>
          <a:p>
            <a:pPr indent="0" marL="0">
              <a:buNone/>
            </a:pPr>
            <a:r>
              <a:rPr lang="en-US" sz="1100" i="1" dirty="0">
                <a:solidFill>
                  <a:srgbClr val="5A6472"/>
                </a:solidFill>
                <a:latin typeface="Calibri" pitchFamily="34" charset="0"/>
                <a:cs typeface="Amiri" pitchFamily="2" charset="-78"/>
              </a:rPr>
              <a:t>khib-ra-tun ʿa-ma-liy-ya-tun</a:t>
            </a:r>
            <a:endParaRPr lang="en-US" sz="13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24</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D3-W03 · Apply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WORDS FROM D3-L06</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D3-L06 · Job Applications and Interviews — CV, Skills and Future Plans</a:t>
            </a:r>
            <a:endParaRPr lang="en-US" sz="1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 الثَّانِي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D3-W03 · Apply workshop (D3-L05 + D3-L06)</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8604504" y="1938528"/>
            <a:ext cx="709574"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سِيرَةٌ ذَاتِيَّةٌ</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CV</a:t>
            </a:r>
            <a:endParaRPr lang="en-US" sz="1350" dirty="0"/>
          </a:p>
          <a:p>
            <a:pPr indent="0" marL="0">
              <a:buNone/>
            </a:pPr>
            <a:r>
              <a:rPr lang="en-US" sz="1100" i="1" dirty="0">
                <a:solidFill>
                  <a:srgbClr val="5A6472"/>
                </a:solidFill>
                <a:latin typeface="Calibri" pitchFamily="34" charset="0"/>
                <a:cs typeface="Amiri" pitchFamily="2" charset="-78"/>
              </a:rPr>
              <a:t>sī-ra-tun dhā-tiy-ya-tun</a:t>
            </a:r>
            <a:endParaRPr lang="en-US" sz="1350" dirty="0"/>
          </a:p>
        </p:txBody>
      </p:sp>
      <p:sp>
        <p:nvSpPr>
          <p:cNvPr id="24" name="Shape 21"/>
          <p:cNvSpPr/>
          <p:nvPr/>
        </p:nvSpPr>
        <p:spPr>
          <a:xfrm>
            <a:off x="8238744" y="3438144"/>
            <a:ext cx="3364992"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8293608"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6" name="Text 23"/>
          <p:cNvSpPr txBox="1"/>
          <p:nvPr/>
        </p:nvSpPr>
        <p:spPr>
          <a:xfrm>
            <a:off x="8284464"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سِيَرٌ ذَاتِيَّةٌ</a:t>
            </a:r>
            <a:endParaRPr lang="ar-SA" sz="1500" dirty="0"/>
          </a:p>
        </p:txBody>
      </p:sp>
      <p:sp>
        <p:nvSpPr>
          <p:cNvPr id="27" name="Shape 24"/>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4389120"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30" name="Shape 27"/>
          <p:cNvSpPr/>
          <p:nvPr/>
        </p:nvSpPr>
        <p:spPr>
          <a:xfrm>
            <a:off x="4782312" y="1938528"/>
            <a:ext cx="709574" cy="256032"/>
          </a:xfrm>
          <a:prstGeom prst="roundRect">
            <a:avLst>
              <a:gd name="adj" fmla="val 50000"/>
            </a:avLst>
          </a:prstGeom>
          <a:solidFill>
            <a:srgbClr val="EFE7D2"/>
          </a:solidFill>
          <a:ln w="12700">
            <a:solidFill>
              <a:srgbClr val="EFE7D2"/>
            </a:solidFill>
            <a:prstDash val="solid"/>
          </a:ln>
        </p:spPr>
      </p:sp>
      <p:sp>
        <p:nvSpPr>
          <p:cNvPr id="31" name="Text 28"/>
          <p:cNvSpPr txBox="1"/>
          <p:nvPr/>
        </p:nvSpPr>
        <p:spPr>
          <a:xfrm>
            <a:off x="4782312"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32" name="Shape 29"/>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طَلَبُ وَظِيفَةٍ</a:t>
            </a:r>
            <a:endParaRPr lang="ar-SA" sz="3000" dirty="0"/>
          </a:p>
        </p:txBody>
      </p:sp>
      <p:sp>
        <p:nvSpPr>
          <p:cNvPr id="35" name="Text 32"/>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job application</a:t>
            </a:r>
            <a:endParaRPr lang="en-US" sz="1350" dirty="0"/>
          </a:p>
          <a:p>
            <a:pPr indent="0" marL="0">
              <a:buNone/>
            </a:pPr>
            <a:r>
              <a:rPr lang="en-US" sz="1100" i="1" dirty="0">
                <a:solidFill>
                  <a:srgbClr val="5A6472"/>
                </a:solidFill>
                <a:latin typeface="Calibri" pitchFamily="34" charset="0"/>
                <a:cs typeface="Amiri" pitchFamily="2" charset="-78"/>
              </a:rPr>
              <a:t>ṭa-la-bu wa-ẓī-fa-tin</a:t>
            </a:r>
            <a:endParaRPr lang="en-US" sz="1350" dirty="0"/>
          </a:p>
        </p:txBody>
      </p:sp>
      <p:sp>
        <p:nvSpPr>
          <p:cNvPr id="36" name="Shape 33"/>
          <p:cNvSpPr/>
          <p:nvPr/>
        </p:nvSpPr>
        <p:spPr>
          <a:xfrm>
            <a:off x="4416552" y="3438144"/>
            <a:ext cx="3364992" cy="438912"/>
          </a:xfrm>
          <a:prstGeom prst="roundRect">
            <a:avLst>
              <a:gd name="adj" fmla="val 10417"/>
            </a:avLst>
          </a:prstGeom>
          <a:solidFill>
            <a:srgbClr val="F4F1EA"/>
          </a:solidFill>
          <a:ln w="9525">
            <a:solidFill>
              <a:srgbClr val="F4F1EA"/>
            </a:solidFill>
            <a:prstDash val="solid"/>
          </a:ln>
        </p:spPr>
      </p:sp>
      <p:sp>
        <p:nvSpPr>
          <p:cNvPr id="37" name="Text 34"/>
          <p:cNvSpPr txBox="1"/>
          <p:nvPr/>
        </p:nvSpPr>
        <p:spPr>
          <a:xfrm>
            <a:off x="4471416"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38" name="Text 35"/>
          <p:cNvSpPr txBox="1"/>
          <p:nvPr/>
        </p:nvSpPr>
        <p:spPr>
          <a:xfrm>
            <a:off x="4462272"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طَلَبَاتُ وَظَائِفَ</a:t>
            </a:r>
            <a:endParaRPr lang="ar-SA" sz="1500" dirty="0"/>
          </a:p>
        </p:txBody>
      </p:sp>
      <p:sp>
        <p:nvSpPr>
          <p:cNvPr id="39" name="Shape 3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66928" y="1920240"/>
            <a:ext cx="310896" cy="310896"/>
          </a:xfrm>
          <a:prstGeom prst="ellipse">
            <a:avLst/>
          </a:prstGeom>
          <a:solidFill>
            <a:srgbClr val="F4F1EA"/>
          </a:solidFill>
          <a:ln w="12700">
            <a:solidFill>
              <a:srgbClr val="F4F1EA"/>
            </a:solidFill>
            <a:prstDash val="solid"/>
          </a:ln>
        </p:spPr>
      </p:sp>
      <p:sp>
        <p:nvSpPr>
          <p:cNvPr id="41" name="Text 3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42" name="Shape 39"/>
          <p:cNvSpPr/>
          <p:nvPr/>
        </p:nvSpPr>
        <p:spPr>
          <a:xfrm>
            <a:off x="960120" y="1938528"/>
            <a:ext cx="709574" cy="256032"/>
          </a:xfrm>
          <a:prstGeom prst="roundRect">
            <a:avLst>
              <a:gd name="adj" fmla="val 50000"/>
            </a:avLst>
          </a:prstGeom>
          <a:solidFill>
            <a:srgbClr val="EFE7D2"/>
          </a:solidFill>
          <a:ln w="12700">
            <a:solidFill>
              <a:srgbClr val="EFE7D2"/>
            </a:solidFill>
            <a:prstDash val="solid"/>
          </a:ln>
        </p:spPr>
      </p:sp>
      <p:sp>
        <p:nvSpPr>
          <p:cNvPr id="43" name="Text 40"/>
          <p:cNvSpPr txBox="1"/>
          <p:nvPr/>
        </p:nvSpPr>
        <p:spPr>
          <a:xfrm>
            <a:off x="960120"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44" name="Shape 41"/>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مُقَابَلَةٌ شَخْصِيَّةٌ</a:t>
            </a:r>
            <a:endParaRPr lang="ar-SA" sz="3000" dirty="0"/>
          </a:p>
        </p:txBody>
      </p:sp>
      <p:sp>
        <p:nvSpPr>
          <p:cNvPr id="47" name="Text 44"/>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interview</a:t>
            </a:r>
            <a:endParaRPr lang="en-US" sz="1350" dirty="0"/>
          </a:p>
          <a:p>
            <a:pPr indent="0" marL="0">
              <a:buNone/>
            </a:pPr>
            <a:r>
              <a:rPr lang="en-US" sz="1100" i="1" dirty="0">
                <a:solidFill>
                  <a:srgbClr val="5A6472"/>
                </a:solidFill>
                <a:latin typeface="Calibri" pitchFamily="34" charset="0"/>
                <a:cs typeface="Amiri" pitchFamily="2" charset="-78"/>
              </a:rPr>
              <a:t>mu-qā-ba-la-tun shakh-ṣiy-ya-tun</a:t>
            </a:r>
            <a:endParaRPr lang="en-US" sz="1350" dirty="0"/>
          </a:p>
        </p:txBody>
      </p:sp>
      <p:sp>
        <p:nvSpPr>
          <p:cNvPr id="48" name="Shape 45"/>
          <p:cNvSpPr/>
          <p:nvPr/>
        </p:nvSpPr>
        <p:spPr>
          <a:xfrm>
            <a:off x="594360" y="3438144"/>
            <a:ext cx="3364992" cy="438912"/>
          </a:xfrm>
          <a:prstGeom prst="roundRect">
            <a:avLst>
              <a:gd name="adj" fmla="val 10417"/>
            </a:avLst>
          </a:prstGeom>
          <a:solidFill>
            <a:srgbClr val="F4F1EA"/>
          </a:solidFill>
          <a:ln w="9525">
            <a:solidFill>
              <a:srgbClr val="F4F1EA"/>
            </a:solidFill>
            <a:prstDash val="solid"/>
          </a:ln>
        </p:spPr>
      </p:sp>
      <p:sp>
        <p:nvSpPr>
          <p:cNvPr id="49" name="Text 46"/>
          <p:cNvSpPr txBox="1"/>
          <p:nvPr/>
        </p:nvSpPr>
        <p:spPr>
          <a:xfrm>
            <a:off x="649224"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50" name="Text 47"/>
          <p:cNvSpPr txBox="1"/>
          <p:nvPr/>
        </p:nvSpPr>
        <p:spPr>
          <a:xfrm>
            <a:off x="640080"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مُقَابَلَاتٌ</a:t>
            </a:r>
            <a:endParaRPr lang="ar-SA" sz="1500" dirty="0"/>
          </a:p>
        </p:txBody>
      </p:sp>
      <p:sp>
        <p:nvSpPr>
          <p:cNvPr id="51" name="Shape 48"/>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8211312" y="4261104"/>
            <a:ext cx="310896" cy="310896"/>
          </a:xfrm>
          <a:prstGeom prst="ellipse">
            <a:avLst/>
          </a:prstGeom>
          <a:solidFill>
            <a:srgbClr val="F4F1EA"/>
          </a:solidFill>
          <a:ln w="12700">
            <a:solidFill>
              <a:srgbClr val="F4F1EA"/>
            </a:solidFill>
            <a:prstDash val="solid"/>
          </a:ln>
        </p:spPr>
      </p:sp>
      <p:sp>
        <p:nvSpPr>
          <p:cNvPr id="53" name="Text 50"/>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54" name="Shape 51"/>
          <p:cNvSpPr/>
          <p:nvPr/>
        </p:nvSpPr>
        <p:spPr>
          <a:xfrm>
            <a:off x="8604504" y="4279392"/>
            <a:ext cx="709574" cy="256032"/>
          </a:xfrm>
          <a:prstGeom prst="roundRect">
            <a:avLst>
              <a:gd name="adj" fmla="val 50000"/>
            </a:avLst>
          </a:prstGeom>
          <a:solidFill>
            <a:srgbClr val="EFE7D2"/>
          </a:solidFill>
          <a:ln w="12700">
            <a:solidFill>
              <a:srgbClr val="EFE7D2"/>
            </a:solidFill>
            <a:prstDash val="solid"/>
          </a:ln>
        </p:spPr>
      </p:sp>
      <p:sp>
        <p:nvSpPr>
          <p:cNvPr id="55" name="Text 52"/>
          <p:cNvSpPr txBox="1"/>
          <p:nvPr/>
        </p:nvSpPr>
        <p:spPr>
          <a:xfrm>
            <a:off x="8604504"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56" name="Shape 53"/>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57" name="Text 54"/>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8" name="Text 55"/>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نُقْطَةُ قُوَّةٍ</a:t>
            </a:r>
            <a:endParaRPr lang="ar-SA" sz="3000" dirty="0"/>
          </a:p>
        </p:txBody>
      </p:sp>
      <p:sp>
        <p:nvSpPr>
          <p:cNvPr id="59" name="Text 56"/>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strength</a:t>
            </a:r>
            <a:endParaRPr lang="en-US" sz="1350" dirty="0"/>
          </a:p>
          <a:p>
            <a:pPr indent="0" marL="0">
              <a:buNone/>
            </a:pPr>
            <a:r>
              <a:rPr lang="en-US" sz="1100" i="1" dirty="0">
                <a:solidFill>
                  <a:srgbClr val="5A6472"/>
                </a:solidFill>
                <a:latin typeface="Calibri" pitchFamily="34" charset="0"/>
                <a:cs typeface="Amiri" pitchFamily="2" charset="-78"/>
              </a:rPr>
              <a:t>nuq-ṭa-tu quw-wa-tin</a:t>
            </a:r>
            <a:endParaRPr lang="en-US" sz="1350" dirty="0"/>
          </a:p>
        </p:txBody>
      </p:sp>
      <p:sp>
        <p:nvSpPr>
          <p:cNvPr id="60" name="Shape 57"/>
          <p:cNvSpPr/>
          <p:nvPr/>
        </p:nvSpPr>
        <p:spPr>
          <a:xfrm>
            <a:off x="8238744" y="5779008"/>
            <a:ext cx="3364992" cy="438912"/>
          </a:xfrm>
          <a:prstGeom prst="roundRect">
            <a:avLst>
              <a:gd name="adj" fmla="val 10417"/>
            </a:avLst>
          </a:prstGeom>
          <a:solidFill>
            <a:srgbClr val="F4F1EA"/>
          </a:solidFill>
          <a:ln w="9525">
            <a:solidFill>
              <a:srgbClr val="F4F1EA"/>
            </a:solidFill>
            <a:prstDash val="solid"/>
          </a:ln>
        </p:spPr>
      </p:sp>
      <p:sp>
        <p:nvSpPr>
          <p:cNvPr id="61" name="Text 58"/>
          <p:cNvSpPr txBox="1"/>
          <p:nvPr/>
        </p:nvSpPr>
        <p:spPr>
          <a:xfrm>
            <a:off x="8293608" y="5788152"/>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62" name="Text 59"/>
          <p:cNvSpPr txBox="1"/>
          <p:nvPr/>
        </p:nvSpPr>
        <p:spPr>
          <a:xfrm>
            <a:off x="8284464" y="5824728"/>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نِقَاطُ قُوَّةٍ</a:t>
            </a:r>
            <a:endParaRPr lang="ar-SA" sz="1500" dirty="0"/>
          </a:p>
        </p:txBody>
      </p:sp>
      <p:sp>
        <p:nvSpPr>
          <p:cNvPr id="63" name="Shape 6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4389120" y="4261104"/>
            <a:ext cx="310896" cy="310896"/>
          </a:xfrm>
          <a:prstGeom prst="ellipse">
            <a:avLst/>
          </a:prstGeom>
          <a:solidFill>
            <a:srgbClr val="F4F1EA"/>
          </a:solidFill>
          <a:ln w="12700">
            <a:solidFill>
              <a:srgbClr val="F4F1EA"/>
            </a:solidFill>
            <a:prstDash val="solid"/>
          </a:ln>
        </p:spPr>
      </p:sp>
      <p:sp>
        <p:nvSpPr>
          <p:cNvPr id="65" name="Text 6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66" name="Shape 63"/>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67" name="Text 64"/>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8" name="Text 65"/>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يَسُرُّنِي أَنْ أَتَقَدَّمَ</a:t>
            </a:r>
            <a:endParaRPr lang="ar-SA" sz="3000" dirty="0"/>
          </a:p>
        </p:txBody>
      </p:sp>
      <p:sp>
        <p:nvSpPr>
          <p:cNvPr id="69" name="Text 66"/>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am pleased to apply</a:t>
            </a:r>
            <a:endParaRPr lang="en-US" sz="1350" dirty="0"/>
          </a:p>
          <a:p>
            <a:pPr indent="0" marL="0">
              <a:buNone/>
            </a:pPr>
            <a:r>
              <a:rPr lang="en-US" sz="1100" i="1" dirty="0">
                <a:solidFill>
                  <a:srgbClr val="5A6472"/>
                </a:solidFill>
                <a:latin typeface="Calibri" pitchFamily="34" charset="0"/>
                <a:cs typeface="Amiri" pitchFamily="2" charset="-78"/>
              </a:rPr>
              <a:t>ya-sur-ru-nī an a-ta-qad-da-ma</a:t>
            </a:r>
            <a:endParaRPr lang="en-US" sz="1350" dirty="0"/>
          </a:p>
        </p:txBody>
      </p:sp>
      <p:sp>
        <p:nvSpPr>
          <p:cNvPr id="70" name="Shape 67"/>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1" name="Shape 68"/>
          <p:cNvSpPr/>
          <p:nvPr/>
        </p:nvSpPr>
        <p:spPr>
          <a:xfrm>
            <a:off x="566928" y="4261104"/>
            <a:ext cx="310896" cy="310896"/>
          </a:xfrm>
          <a:prstGeom prst="ellipse">
            <a:avLst/>
          </a:prstGeom>
          <a:solidFill>
            <a:srgbClr val="F4F1EA"/>
          </a:solidFill>
          <a:ln w="12700">
            <a:solidFill>
              <a:srgbClr val="F4F1EA"/>
            </a:solidFill>
            <a:prstDash val="solid"/>
          </a:ln>
        </p:spPr>
      </p:sp>
      <p:sp>
        <p:nvSpPr>
          <p:cNvPr id="72" name="Text 69"/>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73" name="Text 70"/>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مُتَطَلَّبَاتُ الوَظِيفَةِ</a:t>
            </a:r>
            <a:endParaRPr lang="ar-SA" sz="3000" dirty="0"/>
          </a:p>
        </p:txBody>
      </p:sp>
      <p:sp>
        <p:nvSpPr>
          <p:cNvPr id="74" name="Text 71"/>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job requirements</a:t>
            </a:r>
            <a:endParaRPr lang="en-US" sz="1350" dirty="0"/>
          </a:p>
          <a:p>
            <a:pPr indent="0" marL="0">
              <a:buNone/>
            </a:pPr>
            <a:r>
              <a:rPr lang="en-US" sz="1100" i="1" dirty="0">
                <a:solidFill>
                  <a:srgbClr val="5A6472"/>
                </a:solidFill>
                <a:latin typeface="Calibri" pitchFamily="34" charset="0"/>
                <a:cs typeface="Amiri" pitchFamily="2" charset="-78"/>
              </a:rPr>
              <a:t>mu-ta-ṭal-la-bā-tu al-wa-ẓī-fa-ti</a:t>
            </a:r>
            <a:endParaRPr lang="en-US" sz="13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24</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D3-W03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PART 1 · STEP 2 · WHICH LESSON? · READ EACH CARD, THEN SORT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Which lesson does it come from?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مِنْ أَيِّ 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D3-W03 · Apply workshop (D3-L05 + D3-L06)</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مِنْ مَزَايَا … أَنَّ …</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حَضْرَةَ المُدِيرِ المُحْتَرَمِ،</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يَسُرُّنِي أَنْ أَتَقَدَّمَ لِوَظِيفَةِ …</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 أَقْصَرُ / أَرْخَصُ مِنْ …</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لِكَيْ أُصْبِحَ … يَجِبُ أَنْ …</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سَبَقَ لِي أَنْ … · لَدَيَّ خِبْرَةٌ فِي …</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مَعَ فَائِقِ الاحْتِرَامِ،</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فِي النِّهَايَةِ، الطَّرِيقُ الأَفْضَلُ يَعْتَمِدُ عَلَى …</a:t>
            </a:r>
            <a:endParaRPr lang="ar-SA" sz="1350" dirty="0"/>
          </a:p>
        </p:txBody>
      </p:sp>
      <p:sp>
        <p:nvSpPr>
          <p:cNvPr id="31" name="Shape 28"/>
          <p:cNvSpPr/>
          <p:nvPr/>
        </p:nvSpPr>
        <p:spPr>
          <a:xfrm>
            <a:off x="6185916" y="3017520"/>
            <a:ext cx="5545836" cy="3291840"/>
          </a:xfrm>
          <a:prstGeom prst="roundRect">
            <a:avLst>
              <a:gd name="adj" fmla="val 2222"/>
            </a:avLst>
          </a:prstGeom>
          <a:solidFill>
            <a:srgbClr val="EEF3FA"/>
          </a:solidFill>
          <a:ln w="9525">
            <a:solidFill>
              <a:srgbClr val="C9D6EA"/>
            </a:solidFill>
            <a:prstDash val="solid"/>
          </a:ln>
        </p:spPr>
      </p:sp>
      <p:sp>
        <p:nvSpPr>
          <p:cNvPr id="32" name="Shape 29"/>
          <p:cNvSpPr/>
          <p:nvPr/>
        </p:nvSpPr>
        <p:spPr>
          <a:xfrm>
            <a:off x="6323076" y="3127248"/>
            <a:ext cx="5271516" cy="310896"/>
          </a:xfrm>
          <a:prstGeom prst="roundRect">
            <a:avLst>
              <a:gd name="adj" fmla="val 50000"/>
            </a:avLst>
          </a:prstGeom>
          <a:solidFill>
            <a:srgbClr val="2F6FB0"/>
          </a:solidFill>
          <a:ln w="12700">
            <a:solidFill>
              <a:srgbClr val="2F6FB0"/>
            </a:solidFill>
            <a:prstDash val="solid"/>
          </a:ln>
        </p:spPr>
      </p:sp>
      <p:sp>
        <p:nvSpPr>
          <p:cNvPr id="33" name="Text 30"/>
          <p:cNvSpPr txBox="1"/>
          <p:nvPr/>
        </p:nvSpPr>
        <p:spPr>
          <a:xfrm>
            <a:off x="6323076"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D3-L05 · Education and Training — Routes to a Career</a:t>
            </a:r>
            <a:endParaRPr lang="en-US" sz="950" dirty="0"/>
          </a:p>
        </p:txBody>
      </p:sp>
      <p:sp>
        <p:nvSpPr>
          <p:cNvPr id="34" name="Shape 31"/>
          <p:cNvSpPr/>
          <p:nvPr/>
        </p:nvSpPr>
        <p:spPr>
          <a:xfrm>
            <a:off x="457200" y="3017520"/>
            <a:ext cx="5545836" cy="3291840"/>
          </a:xfrm>
          <a:prstGeom prst="roundRect">
            <a:avLst>
              <a:gd name="adj" fmla="val 2222"/>
            </a:avLst>
          </a:prstGeom>
          <a:solidFill>
            <a:srgbClr val="EEF3FA"/>
          </a:solidFill>
          <a:ln w="9525">
            <a:solidFill>
              <a:srgbClr val="C9D6EA"/>
            </a:solidFill>
            <a:prstDash val="solid"/>
          </a:ln>
        </p:spPr>
      </p:sp>
      <p:sp>
        <p:nvSpPr>
          <p:cNvPr id="35" name="Shape 32"/>
          <p:cNvSpPr/>
          <p:nvPr/>
        </p:nvSpPr>
        <p:spPr>
          <a:xfrm>
            <a:off x="594360" y="3127248"/>
            <a:ext cx="5271516" cy="310896"/>
          </a:xfrm>
          <a:prstGeom prst="roundRect">
            <a:avLst>
              <a:gd name="adj" fmla="val 50000"/>
            </a:avLst>
          </a:prstGeom>
          <a:solidFill>
            <a:srgbClr val="2F6FB0"/>
          </a:solidFill>
          <a:ln w="12700">
            <a:solidFill>
              <a:srgbClr val="2F6FB0"/>
            </a:solidFill>
            <a:prstDash val="solid"/>
          </a:ln>
        </p:spPr>
      </p:sp>
      <p:sp>
        <p:nvSpPr>
          <p:cNvPr id="36" name="Text 33"/>
          <p:cNvSpPr txBox="1"/>
          <p:nvPr/>
        </p:nvSpPr>
        <p:spPr>
          <a:xfrm>
            <a:off x="594360"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D3-L06 · Job Applications and Interviews — CV, Skills and Future Plans</a:t>
            </a:r>
            <a:endParaRPr lang="en-US" sz="9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24</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D3-W03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2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Which lesson?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مِنْ أَيِّ 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D3-W03 · Apply workshop (D3-L05 + D3-L06)</a:t>
            </a:r>
            <a:endParaRPr lang="en-US" sz="850" dirty="0"/>
          </a:p>
        </p:txBody>
      </p:sp>
      <p:sp>
        <p:nvSpPr>
          <p:cNvPr id="15" name="Shape 12"/>
          <p:cNvSpPr/>
          <p:nvPr/>
        </p:nvSpPr>
        <p:spPr>
          <a:xfrm>
            <a:off x="6185916" y="1810512"/>
            <a:ext cx="5545836" cy="4498848"/>
          </a:xfrm>
          <a:prstGeom prst="roundRect">
            <a:avLst>
              <a:gd name="adj" fmla="val 1626"/>
            </a:avLst>
          </a:prstGeom>
          <a:solidFill>
            <a:srgbClr val="EEF3FA"/>
          </a:solidFill>
          <a:ln w="9525">
            <a:solidFill>
              <a:srgbClr val="C9D6EA"/>
            </a:solidFill>
            <a:prstDash val="solid"/>
          </a:ln>
        </p:spPr>
      </p:sp>
      <p:sp>
        <p:nvSpPr>
          <p:cNvPr id="16" name="Shape 13"/>
          <p:cNvSpPr/>
          <p:nvPr/>
        </p:nvSpPr>
        <p:spPr>
          <a:xfrm>
            <a:off x="6323076" y="1920240"/>
            <a:ext cx="5271516"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6323076"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D3-L05 · Education and Training — Routes to a Career</a:t>
            </a:r>
            <a:endParaRPr lang="en-US" sz="950" dirty="0"/>
          </a:p>
        </p:txBody>
      </p:sp>
      <p:sp>
        <p:nvSpPr>
          <p:cNvPr id="18" name="Shape 15"/>
          <p:cNvSpPr/>
          <p:nvPr/>
        </p:nvSpPr>
        <p:spPr>
          <a:xfrm>
            <a:off x="6323076" y="2377440"/>
            <a:ext cx="5271516"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6414516"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مِنْ مَزَايَا … أَنَّ …</a:t>
            </a:r>
            <a:endParaRPr lang="ar-SA" sz="1800" dirty="0"/>
          </a:p>
        </p:txBody>
      </p:sp>
      <p:sp>
        <p:nvSpPr>
          <p:cNvPr id="20" name="Shape 17"/>
          <p:cNvSpPr/>
          <p:nvPr/>
        </p:nvSpPr>
        <p:spPr>
          <a:xfrm>
            <a:off x="6323076" y="2889504"/>
            <a:ext cx="5271516"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6414516"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 أَقْصَرُ / أَرْخَصُ مِنْ …</a:t>
            </a:r>
            <a:endParaRPr lang="ar-SA" sz="1800" dirty="0"/>
          </a:p>
        </p:txBody>
      </p:sp>
      <p:sp>
        <p:nvSpPr>
          <p:cNvPr id="22" name="Shape 19"/>
          <p:cNvSpPr/>
          <p:nvPr/>
        </p:nvSpPr>
        <p:spPr>
          <a:xfrm>
            <a:off x="6323076" y="3401568"/>
            <a:ext cx="5271516"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6414516"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لِكَيْ أُصْبِحَ … يَجِبُ أَنْ …</a:t>
            </a:r>
            <a:endParaRPr lang="ar-SA" sz="1800" dirty="0"/>
          </a:p>
        </p:txBody>
      </p:sp>
      <p:sp>
        <p:nvSpPr>
          <p:cNvPr id="24" name="Shape 21"/>
          <p:cNvSpPr/>
          <p:nvPr/>
        </p:nvSpPr>
        <p:spPr>
          <a:xfrm>
            <a:off x="6323076" y="3913632"/>
            <a:ext cx="5271516" cy="438912"/>
          </a:xfrm>
          <a:prstGeom prst="roundRect">
            <a:avLst>
              <a:gd name="adj" fmla="val 12500"/>
            </a:avLst>
          </a:prstGeom>
          <a:solidFill>
            <a:srgbClr val="FFF4DC"/>
          </a:solidFill>
          <a:ln w="9525">
            <a:solidFill>
              <a:srgbClr val="E6C98A"/>
            </a:solidFill>
            <a:prstDash val="solid"/>
          </a:ln>
        </p:spPr>
      </p:sp>
      <p:sp>
        <p:nvSpPr>
          <p:cNvPr id="25" name="Text 22"/>
          <p:cNvSpPr txBox="1"/>
          <p:nvPr/>
        </p:nvSpPr>
        <p:spPr>
          <a:xfrm>
            <a:off x="6414516"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فِي النِّهَايَةِ، الطَّرِيقُ الأَفْضَلُ يَعْتَمِدُ عَلَى …</a:t>
            </a:r>
            <a:endParaRPr lang="ar-SA" sz="1800" dirty="0"/>
          </a:p>
        </p:txBody>
      </p:sp>
      <p:sp>
        <p:nvSpPr>
          <p:cNvPr id="26" name="Shape 23"/>
          <p:cNvSpPr/>
          <p:nvPr/>
        </p:nvSpPr>
        <p:spPr>
          <a:xfrm>
            <a:off x="457200" y="1810512"/>
            <a:ext cx="5545836" cy="4498848"/>
          </a:xfrm>
          <a:prstGeom prst="roundRect">
            <a:avLst>
              <a:gd name="adj" fmla="val 1626"/>
            </a:avLst>
          </a:prstGeom>
          <a:solidFill>
            <a:srgbClr val="EEF3FA"/>
          </a:solidFill>
          <a:ln w="9525">
            <a:solidFill>
              <a:srgbClr val="C9D6EA"/>
            </a:solidFill>
            <a:prstDash val="solid"/>
          </a:ln>
        </p:spPr>
      </p:sp>
      <p:sp>
        <p:nvSpPr>
          <p:cNvPr id="27" name="Shape 24"/>
          <p:cNvSpPr/>
          <p:nvPr/>
        </p:nvSpPr>
        <p:spPr>
          <a:xfrm>
            <a:off x="594360" y="1920240"/>
            <a:ext cx="5271516" cy="310896"/>
          </a:xfrm>
          <a:prstGeom prst="roundRect">
            <a:avLst>
              <a:gd name="adj" fmla="val 50000"/>
            </a:avLst>
          </a:prstGeom>
          <a:solidFill>
            <a:srgbClr val="2F6FB0"/>
          </a:solidFill>
          <a:ln w="12700">
            <a:solidFill>
              <a:srgbClr val="2F6FB0"/>
            </a:solidFill>
            <a:prstDash val="solid"/>
          </a:ln>
        </p:spPr>
      </p:sp>
      <p:sp>
        <p:nvSpPr>
          <p:cNvPr id="28" name="Text 25"/>
          <p:cNvSpPr txBox="1"/>
          <p:nvPr/>
        </p:nvSpPr>
        <p:spPr>
          <a:xfrm>
            <a:off x="594360"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D3-L06 · Job Applications and Interviews — CV, Skills and Future Plans</a:t>
            </a:r>
            <a:endParaRPr lang="en-US" sz="950" dirty="0"/>
          </a:p>
        </p:txBody>
      </p:sp>
      <p:sp>
        <p:nvSpPr>
          <p:cNvPr id="29" name="Shape 26"/>
          <p:cNvSpPr/>
          <p:nvPr/>
        </p:nvSpPr>
        <p:spPr>
          <a:xfrm>
            <a:off x="594360" y="2377440"/>
            <a:ext cx="5271516"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685800"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حَضْرَةَ المُدِيرِ المُحْتَرَمِ،</a:t>
            </a:r>
            <a:endParaRPr lang="ar-SA" sz="1800" dirty="0"/>
          </a:p>
        </p:txBody>
      </p:sp>
      <p:sp>
        <p:nvSpPr>
          <p:cNvPr id="31" name="Shape 28"/>
          <p:cNvSpPr/>
          <p:nvPr/>
        </p:nvSpPr>
        <p:spPr>
          <a:xfrm>
            <a:off x="594360" y="2889504"/>
            <a:ext cx="5271516"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685800"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يَسُرُّنِي أَنْ أَتَقَدَّمَ لِوَظِيفَةِ …</a:t>
            </a:r>
            <a:endParaRPr lang="ar-SA" sz="1800" dirty="0"/>
          </a:p>
        </p:txBody>
      </p:sp>
      <p:sp>
        <p:nvSpPr>
          <p:cNvPr id="33" name="Shape 30"/>
          <p:cNvSpPr/>
          <p:nvPr/>
        </p:nvSpPr>
        <p:spPr>
          <a:xfrm>
            <a:off x="594360" y="3401568"/>
            <a:ext cx="5271516" cy="438912"/>
          </a:xfrm>
          <a:prstGeom prst="roundRect">
            <a:avLst>
              <a:gd name="adj" fmla="val 12500"/>
            </a:avLst>
          </a:prstGeom>
          <a:solidFill>
            <a:srgbClr val="FFF4DC"/>
          </a:solidFill>
          <a:ln w="9525">
            <a:solidFill>
              <a:srgbClr val="E6C98A"/>
            </a:solidFill>
            <a:prstDash val="solid"/>
          </a:ln>
        </p:spPr>
      </p:sp>
      <p:sp>
        <p:nvSpPr>
          <p:cNvPr id="34" name="Text 31"/>
          <p:cNvSpPr txBox="1"/>
          <p:nvPr/>
        </p:nvSpPr>
        <p:spPr>
          <a:xfrm>
            <a:off x="685800"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سَبَقَ لِي أَنْ … · لَدَيَّ خِبْرَةٌ فِي …</a:t>
            </a:r>
            <a:endParaRPr lang="ar-SA" sz="1800" dirty="0"/>
          </a:p>
        </p:txBody>
      </p:sp>
      <p:sp>
        <p:nvSpPr>
          <p:cNvPr id="35" name="Shape 32"/>
          <p:cNvSpPr/>
          <p:nvPr/>
        </p:nvSpPr>
        <p:spPr>
          <a:xfrm>
            <a:off x="594360" y="3913632"/>
            <a:ext cx="5271516" cy="438912"/>
          </a:xfrm>
          <a:prstGeom prst="roundRect">
            <a:avLst>
              <a:gd name="adj" fmla="val 12500"/>
            </a:avLst>
          </a:prstGeom>
          <a:solidFill>
            <a:srgbClr val="FFF4DC"/>
          </a:solidFill>
          <a:ln w="9525">
            <a:solidFill>
              <a:srgbClr val="E6C98A"/>
            </a:solidFill>
            <a:prstDash val="solid"/>
          </a:ln>
        </p:spPr>
      </p:sp>
      <p:sp>
        <p:nvSpPr>
          <p:cNvPr id="36" name="Text 33"/>
          <p:cNvSpPr txBox="1"/>
          <p:nvPr/>
        </p:nvSpPr>
        <p:spPr>
          <a:xfrm>
            <a:off x="685800"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مَعَ فَائِقِ الاحْتِرَامِ،</a:t>
            </a:r>
            <a:endParaRPr lang="ar-SA" sz="180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24</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D3-W03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34" b="1" spc="150" kern="0" dirty="0">
                <a:solidFill>
                  <a:srgbClr val="2F6FB0"/>
                </a:solidFill>
                <a:latin typeface="Calibri" pitchFamily="34" charset="0"/>
                <a:cs typeface="Amiri" pitchFamily="2" charset="-78"/>
              </a:rPr>
              <a:t>PART 2 · STEP 3 · SAY THE MODEL DIALOGUE · BOTH LESSONS IN ONE CONVERSATION</a:t>
            </a:r>
            <a:endParaRPr lang="en-US" sz="934"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The apprenticeship interview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مُقَابَلَةُ التَّدْرِيبِ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D3-W03 · Apply workshop (D3-L05 + D3-L06)</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54112" y="1810512"/>
            <a:ext cx="3904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1444752" y="1810512"/>
            <a:ext cx="6163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Say it in Arabic</a:t>
            </a:r>
            <a:endParaRPr lang="en-US" sz="1100" dirty="0"/>
          </a:p>
        </p:txBody>
      </p:sp>
      <p:sp>
        <p:nvSpPr>
          <p:cNvPr id="18" name="Text 15"/>
          <p:cNvSpPr txBox="1"/>
          <p:nvPr/>
        </p:nvSpPr>
        <p:spPr>
          <a:xfrm>
            <a:off x="5303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Who</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7790688" y="226771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Welcome. Why do you want this apprenticeship?</a:t>
            </a:r>
            <a:endParaRPr lang="en-US" sz="1100" dirty="0"/>
          </a:p>
        </p:txBody>
      </p:sp>
      <p:sp>
        <p:nvSpPr>
          <p:cNvPr id="21" name="Text 18"/>
          <p:cNvSpPr txBox="1"/>
          <p:nvPr/>
        </p:nvSpPr>
        <p:spPr>
          <a:xfrm>
            <a:off x="1463040" y="2267712"/>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أَهْلًا. لِمَاذَا تُرِيدُ هٰذَا التَّدْرِيبَ المِهْنِيَّ؟</a:t>
            </a:r>
            <a:endParaRPr lang="ar-SA" sz="1900" dirty="0"/>
          </a:p>
        </p:txBody>
      </p:sp>
      <p:sp>
        <p:nvSpPr>
          <p:cNvPr id="22" name="Text 19"/>
          <p:cNvSpPr txBox="1"/>
          <p:nvPr/>
        </p:nvSpPr>
        <p:spPr>
          <a:xfrm>
            <a:off x="566928" y="226771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23" name="Shape 20"/>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4" name="Text 21"/>
          <p:cNvSpPr txBox="1"/>
          <p:nvPr/>
        </p:nvSpPr>
        <p:spPr>
          <a:xfrm>
            <a:off x="7790688" y="2881884"/>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am pleased to apply for it, because an apprenticeship is more practical than university.</a:t>
            </a:r>
            <a:endParaRPr lang="en-US" sz="1100" dirty="0"/>
          </a:p>
        </p:txBody>
      </p:sp>
      <p:sp>
        <p:nvSpPr>
          <p:cNvPr id="25" name="Text 22"/>
          <p:cNvSpPr txBox="1"/>
          <p:nvPr/>
        </p:nvSpPr>
        <p:spPr>
          <a:xfrm>
            <a:off x="1463040" y="2881884"/>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يَسُرُّنِي أَنْ أَتَقَدَّمَ لَهُ، لِأَنَّ التَّدْرِيبَ أَكْثَرُ عَمَلِيَّةً مِنَ الجَامِعَةِ.</a:t>
            </a:r>
            <a:endParaRPr lang="ar-SA" sz="1900" dirty="0"/>
          </a:p>
        </p:txBody>
      </p:sp>
      <p:sp>
        <p:nvSpPr>
          <p:cNvPr id="26" name="Text 23"/>
          <p:cNvSpPr txBox="1"/>
          <p:nvPr/>
        </p:nvSpPr>
        <p:spPr>
          <a:xfrm>
            <a:off x="566928" y="2881884"/>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27" name="Shape 2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28" name="Text 25"/>
          <p:cNvSpPr txBox="1"/>
          <p:nvPr/>
        </p:nvSpPr>
        <p:spPr>
          <a:xfrm>
            <a:off x="7790688" y="3496056"/>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Do you have previous experience?</a:t>
            </a:r>
            <a:endParaRPr lang="en-US" sz="1100" dirty="0"/>
          </a:p>
        </p:txBody>
      </p:sp>
      <p:sp>
        <p:nvSpPr>
          <p:cNvPr id="29" name="Text 26"/>
          <p:cNvSpPr txBox="1"/>
          <p:nvPr/>
        </p:nvSpPr>
        <p:spPr>
          <a:xfrm>
            <a:off x="1463040" y="3496056"/>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هَلْ لَدَيْكَ خِبْرَةٌ سَابِقَةٌ؟</a:t>
            </a:r>
            <a:endParaRPr lang="ar-SA" sz="1900" dirty="0"/>
          </a:p>
        </p:txBody>
      </p:sp>
      <p:sp>
        <p:nvSpPr>
          <p:cNvPr id="30" name="Text 27"/>
          <p:cNvSpPr txBox="1"/>
          <p:nvPr/>
        </p:nvSpPr>
        <p:spPr>
          <a:xfrm>
            <a:off x="566928" y="3496056"/>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1" name="Shape 2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2" name="Text 29"/>
          <p:cNvSpPr txBox="1"/>
          <p:nvPr/>
        </p:nvSpPr>
        <p:spPr>
          <a:xfrm>
            <a:off x="7790688" y="4110228"/>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Yes, I have previously helped my father in his workshop every summer.</a:t>
            </a:r>
            <a:endParaRPr lang="en-US" sz="1100" dirty="0"/>
          </a:p>
        </p:txBody>
      </p:sp>
      <p:sp>
        <p:nvSpPr>
          <p:cNvPr id="33" name="Text 30"/>
          <p:cNvSpPr txBox="1"/>
          <p:nvPr/>
        </p:nvSpPr>
        <p:spPr>
          <a:xfrm>
            <a:off x="1463040" y="4110228"/>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نَعَمْ، سَبَقَ لِي أَنْ سَاعَدْتُ أَبِي فِي وَرْشَتِهِ كُلَّ صَيْفٍ.</a:t>
            </a:r>
            <a:endParaRPr lang="ar-SA" sz="1900" dirty="0"/>
          </a:p>
        </p:txBody>
      </p:sp>
      <p:sp>
        <p:nvSpPr>
          <p:cNvPr id="34" name="Text 31"/>
          <p:cNvSpPr txBox="1"/>
          <p:nvPr/>
        </p:nvSpPr>
        <p:spPr>
          <a:xfrm>
            <a:off x="566928" y="4110228"/>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35" name="Shape 32"/>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36" name="Text 33"/>
          <p:cNvSpPr txBox="1"/>
          <p:nvPr/>
        </p:nvSpPr>
        <p:spPr>
          <a:xfrm>
            <a:off x="7790688" y="4724400"/>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And what will you do after the apprenticeship?</a:t>
            </a:r>
            <a:endParaRPr lang="en-US" sz="1100" dirty="0"/>
          </a:p>
        </p:txBody>
      </p:sp>
      <p:sp>
        <p:nvSpPr>
          <p:cNvPr id="37" name="Text 34"/>
          <p:cNvSpPr txBox="1"/>
          <p:nvPr/>
        </p:nvSpPr>
        <p:spPr>
          <a:xfrm>
            <a:off x="1463040" y="4724400"/>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وَمَاذَا سَتَفْعَلُ بَعْدَ التَّدْرِيبِ؟</a:t>
            </a:r>
            <a:endParaRPr lang="ar-SA" sz="1900" dirty="0"/>
          </a:p>
        </p:txBody>
      </p:sp>
      <p:sp>
        <p:nvSpPr>
          <p:cNvPr id="38" name="Text 35"/>
          <p:cNvSpPr txBox="1"/>
          <p:nvPr/>
        </p:nvSpPr>
        <p:spPr>
          <a:xfrm>
            <a:off x="566928" y="4724400"/>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9" name="Shape 3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7790688" y="533857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If I get the certificate, I will work as a technician in your company.</a:t>
            </a:r>
            <a:endParaRPr lang="en-US" sz="1100" dirty="0"/>
          </a:p>
        </p:txBody>
      </p:sp>
      <p:sp>
        <p:nvSpPr>
          <p:cNvPr id="41" name="Text 38"/>
          <p:cNvSpPr txBox="1"/>
          <p:nvPr/>
        </p:nvSpPr>
        <p:spPr>
          <a:xfrm>
            <a:off x="1463040" y="5338572"/>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إِذَا حَصَلْتُ عَلَى الشَّهَادَةِ، فَسَوْفَ أَعْمَلُ فَنِّيًّا فِي شَرِكَتِكُمْ.</a:t>
            </a:r>
            <a:endParaRPr lang="ar-SA" sz="1900" dirty="0"/>
          </a:p>
        </p:txBody>
      </p:sp>
      <p:sp>
        <p:nvSpPr>
          <p:cNvPr id="42" name="Text 39"/>
          <p:cNvSpPr txBox="1"/>
          <p:nvPr/>
        </p:nvSpPr>
        <p:spPr>
          <a:xfrm>
            <a:off x="566928" y="533857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Round 1: read it in pairs (A and B). Round 2: swap letters. Round 3: cover the Arabic and say it from the English. Then change TWO details — one from each lesson — and say it again.</a:t>
            </a:r>
            <a:endParaRPr lang="en-US" sz="11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24</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D3-W03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6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4 · QUESTION CARDS · QUESTIONS FROM BOTH LESSONS, MIXED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00" b="1" dirty="0">
                <a:solidFill>
                  <a:srgbClr val="1B3B6F"/>
                </a:solidFill>
                <a:latin typeface="Cambria" pitchFamily="34" charset="0"/>
                <a:cs typeface="Amiri" pitchFamily="2" charset="-78"/>
              </a:rPr>
              <a:t>Mixed questions — answer, then add more</a:t>
            </a:r>
            <a:endParaRPr lang="en-US" sz="23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مِنَ الدَّرْسَيْنِ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D3-W03 · Apply workshop (D3-L05 + D3-L06)</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20072" y="1810512"/>
            <a:ext cx="1938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Add more (Develop · Stretch)</a:t>
            </a:r>
            <a:endParaRPr lang="en-US" sz="1100" dirty="0"/>
          </a:p>
        </p:txBody>
      </p:sp>
      <p:sp>
        <p:nvSpPr>
          <p:cNvPr id="17" name="Text 14"/>
          <p:cNvSpPr txBox="1"/>
          <p:nvPr/>
        </p:nvSpPr>
        <p:spPr>
          <a:xfrm>
            <a:off x="697687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Start your answer (Core)</a:t>
            </a:r>
            <a:endParaRPr lang="en-US" sz="1100" dirty="0"/>
          </a:p>
        </p:txBody>
      </p:sp>
      <p:sp>
        <p:nvSpPr>
          <p:cNvPr id="18" name="Text 15"/>
          <p:cNvSpPr txBox="1"/>
          <p:nvPr/>
        </p:nvSpPr>
        <p:spPr>
          <a:xfrm>
            <a:off x="459943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Text 16"/>
          <p:cNvSpPr txBox="1"/>
          <p:nvPr/>
        </p:nvSpPr>
        <p:spPr>
          <a:xfrm>
            <a:off x="1033272" y="1810512"/>
            <a:ext cx="3419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Partner A asks</a:t>
            </a:r>
            <a:endParaRPr lang="en-US" sz="1100" dirty="0"/>
          </a:p>
        </p:txBody>
      </p:sp>
      <p:sp>
        <p:nvSpPr>
          <p:cNvPr id="20" name="Text 17"/>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1" name="Shape 18"/>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2" name="Text 19"/>
          <p:cNvSpPr txBox="1"/>
          <p:nvPr/>
        </p:nvSpPr>
        <p:spPr>
          <a:xfrm>
            <a:off x="9738360" y="2267712"/>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ثُمَّ …</a:t>
            </a:r>
            <a:endParaRPr lang="ar-SA" sz="1500" dirty="0"/>
          </a:p>
        </p:txBody>
      </p:sp>
      <p:sp>
        <p:nvSpPr>
          <p:cNvPr id="23" name="Text 20"/>
          <p:cNvSpPr txBox="1"/>
          <p:nvPr/>
        </p:nvSpPr>
        <p:spPr>
          <a:xfrm>
            <a:off x="6995160" y="2267712"/>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لِكَيْ أُصْبِحَ … يَجِبُ أَنْ …</a:t>
            </a:r>
            <a:endParaRPr lang="ar-SA" sz="1600" dirty="0"/>
          </a:p>
        </p:txBody>
      </p:sp>
      <p:sp>
        <p:nvSpPr>
          <p:cNvPr id="24" name="Text 21"/>
          <p:cNvSpPr txBox="1"/>
          <p:nvPr/>
        </p:nvSpPr>
        <p:spPr>
          <a:xfrm>
            <a:off x="4636008" y="2267712"/>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is the route to your dream job?</a:t>
            </a:r>
            <a:endParaRPr lang="en-US" sz="1100" dirty="0"/>
          </a:p>
        </p:txBody>
      </p:sp>
      <p:sp>
        <p:nvSpPr>
          <p:cNvPr id="25" name="Text 22"/>
          <p:cNvSpPr txBox="1"/>
          <p:nvPr/>
        </p:nvSpPr>
        <p:spPr>
          <a:xfrm>
            <a:off x="1051560" y="2267712"/>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الطَّرِيقُ إِلَى وَظِيفَةِ أَحْلَامِكَ؟</a:t>
            </a:r>
            <a:endParaRPr lang="ar-SA" sz="1700" dirty="0"/>
          </a:p>
        </p:txBody>
      </p:sp>
      <p:sp>
        <p:nvSpPr>
          <p:cNvPr id="26" name="Text 23"/>
          <p:cNvSpPr txBox="1"/>
          <p:nvPr/>
        </p:nvSpPr>
        <p:spPr>
          <a:xfrm>
            <a:off x="566928" y="2267712"/>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30" name="Text 27"/>
          <p:cNvSpPr txBox="1"/>
          <p:nvPr/>
        </p:nvSpPr>
        <p:spPr>
          <a:xfrm>
            <a:off x="9738360" y="2881884"/>
            <a:ext cx="1901952" cy="5593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 وَأَهْتَمُّ بِالرِّيَاضَةِ / بِالقِرَاءَةِ</a:t>
            </a:r>
            <a:endParaRPr lang="ar-SA" sz="1350" dirty="0"/>
          </a:p>
        </p:txBody>
      </p:sp>
      <p:sp>
        <p:nvSpPr>
          <p:cNvPr id="31" name="Text 28"/>
          <p:cNvSpPr txBox="1"/>
          <p:nvPr/>
        </p:nvSpPr>
        <p:spPr>
          <a:xfrm>
            <a:off x="6995160" y="2881884"/>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اسْمِي … وَعُمْرِي … ، وَأَدْرُسُ …</a:t>
            </a:r>
            <a:endParaRPr lang="ar-SA" sz="1600" dirty="0"/>
          </a:p>
        </p:txBody>
      </p:sp>
      <p:sp>
        <p:nvSpPr>
          <p:cNvPr id="32" name="Text 29"/>
          <p:cNvSpPr txBox="1"/>
          <p:nvPr/>
        </p:nvSpPr>
        <p:spPr>
          <a:xfrm>
            <a:off x="4636008" y="2881884"/>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Introduce yourself.</a:t>
            </a:r>
            <a:endParaRPr lang="en-US" sz="1100" dirty="0"/>
          </a:p>
        </p:txBody>
      </p:sp>
      <p:sp>
        <p:nvSpPr>
          <p:cNvPr id="33" name="Text 30"/>
          <p:cNvSpPr txBox="1"/>
          <p:nvPr/>
        </p:nvSpPr>
        <p:spPr>
          <a:xfrm>
            <a:off x="1051560" y="2881884"/>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عَرِّفْنَا بِنَفْسِكَ.</a:t>
            </a:r>
            <a:endParaRPr lang="ar-SA" sz="1700" dirty="0"/>
          </a:p>
        </p:txBody>
      </p:sp>
      <p:sp>
        <p:nvSpPr>
          <p:cNvPr id="34" name="Text 31"/>
          <p:cNvSpPr txBox="1"/>
          <p:nvPr/>
        </p:nvSpPr>
        <p:spPr>
          <a:xfrm>
            <a:off x="566928" y="2881884"/>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8" name="Text 35"/>
          <p:cNvSpPr txBox="1"/>
          <p:nvPr/>
        </p:nvSpPr>
        <p:spPr>
          <a:xfrm>
            <a:off x="9738360" y="3496056"/>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وَلٰكِنَّ …</a:t>
            </a:r>
            <a:endParaRPr lang="ar-SA" sz="1500" dirty="0"/>
          </a:p>
        </p:txBody>
      </p:sp>
      <p:sp>
        <p:nvSpPr>
          <p:cNvPr id="39" name="Text 36"/>
          <p:cNvSpPr txBox="1"/>
          <p:nvPr/>
        </p:nvSpPr>
        <p:spPr>
          <a:xfrm>
            <a:off x="6995160" y="3496056"/>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مِنْ مَزَايَا الجَامِعَةِ أَنَّ …</a:t>
            </a:r>
            <a:endParaRPr lang="ar-SA" sz="1600" dirty="0"/>
          </a:p>
        </p:txBody>
      </p:sp>
      <p:sp>
        <p:nvSpPr>
          <p:cNvPr id="40" name="Text 37"/>
          <p:cNvSpPr txBox="1"/>
          <p:nvPr/>
        </p:nvSpPr>
        <p:spPr>
          <a:xfrm>
            <a:off x="4636008" y="3496056"/>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are the advantages of university?</a:t>
            </a:r>
            <a:endParaRPr lang="en-US" sz="1100" dirty="0"/>
          </a:p>
        </p:txBody>
      </p:sp>
      <p:sp>
        <p:nvSpPr>
          <p:cNvPr id="41" name="Text 38"/>
          <p:cNvSpPr txBox="1"/>
          <p:nvPr/>
        </p:nvSpPr>
        <p:spPr>
          <a:xfrm>
            <a:off x="1051560" y="3496056"/>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مَزَايَا الجَامِعَةِ؟</a:t>
            </a:r>
            <a:endParaRPr lang="ar-SA" sz="1700" dirty="0"/>
          </a:p>
        </p:txBody>
      </p:sp>
      <p:sp>
        <p:nvSpPr>
          <p:cNvPr id="42" name="Text 39"/>
          <p:cNvSpPr txBox="1"/>
          <p:nvPr/>
        </p:nvSpPr>
        <p:spPr>
          <a:xfrm>
            <a:off x="566928" y="3496056"/>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3" name="Shape 40"/>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46" name="Text 43"/>
          <p:cNvSpPr txBox="1"/>
          <p:nvPr/>
        </p:nvSpPr>
        <p:spPr>
          <a:xfrm>
            <a:off x="9738360" y="4110228"/>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وَأُرِيدُ أَنْ أَكْسِبَ خِبْرَةً</a:t>
            </a:r>
            <a:endParaRPr lang="ar-SA" sz="1500" dirty="0"/>
          </a:p>
        </p:txBody>
      </p:sp>
      <p:sp>
        <p:nvSpPr>
          <p:cNvPr id="47" name="Text 44"/>
          <p:cNvSpPr txBox="1"/>
          <p:nvPr/>
        </p:nvSpPr>
        <p:spPr>
          <a:xfrm>
            <a:off x="6995160" y="4110228"/>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لِأَنَّنِي …</a:t>
            </a:r>
            <a:endParaRPr lang="ar-SA" sz="1600" dirty="0"/>
          </a:p>
        </p:txBody>
      </p:sp>
      <p:sp>
        <p:nvSpPr>
          <p:cNvPr id="48" name="Text 45"/>
          <p:cNvSpPr txBox="1"/>
          <p:nvPr/>
        </p:nvSpPr>
        <p:spPr>
          <a:xfrm>
            <a:off x="4636008" y="4110228"/>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Why do you want this job?</a:t>
            </a:r>
            <a:endParaRPr lang="en-US" sz="1100" dirty="0"/>
          </a:p>
        </p:txBody>
      </p:sp>
      <p:sp>
        <p:nvSpPr>
          <p:cNvPr id="49" name="Text 46"/>
          <p:cNvSpPr txBox="1"/>
          <p:nvPr/>
        </p:nvSpPr>
        <p:spPr>
          <a:xfrm>
            <a:off x="1051560" y="4110228"/>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لِمَاذَا تُرِيدُ هٰذِهِ الوَظِيفَةَ؟</a:t>
            </a:r>
            <a:endParaRPr lang="ar-SA" sz="1700" dirty="0"/>
          </a:p>
        </p:txBody>
      </p:sp>
      <p:sp>
        <p:nvSpPr>
          <p:cNvPr id="50" name="Text 47"/>
          <p:cNvSpPr txBox="1"/>
          <p:nvPr/>
        </p:nvSpPr>
        <p:spPr>
          <a:xfrm>
            <a:off x="566928" y="4110228"/>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51" name="Shape 48"/>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52" name="Text 49"/>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3" name="Shape 50"/>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54" name="Text 51"/>
          <p:cNvSpPr txBox="1"/>
          <p:nvPr/>
        </p:nvSpPr>
        <p:spPr>
          <a:xfrm>
            <a:off x="9738360" y="4724400"/>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مَثَلًا …</a:t>
            </a:r>
            <a:endParaRPr lang="ar-SA" sz="1500" dirty="0"/>
          </a:p>
        </p:txBody>
      </p:sp>
      <p:sp>
        <p:nvSpPr>
          <p:cNvPr id="55" name="Text 52"/>
          <p:cNvSpPr txBox="1"/>
          <p:nvPr/>
        </p:nvSpPr>
        <p:spPr>
          <a:xfrm>
            <a:off x="6995160" y="4724400"/>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نَعَمْ، لِأَنَّهُ …</a:t>
            </a:r>
            <a:endParaRPr lang="ar-SA" sz="1600" dirty="0"/>
          </a:p>
        </p:txBody>
      </p:sp>
      <p:sp>
        <p:nvSpPr>
          <p:cNvPr id="56" name="Text 53"/>
          <p:cNvSpPr txBox="1"/>
          <p:nvPr/>
        </p:nvSpPr>
        <p:spPr>
          <a:xfrm>
            <a:off x="4636008" y="4724400"/>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Is a work placement useful?</a:t>
            </a:r>
            <a:endParaRPr lang="en-US" sz="1100" dirty="0"/>
          </a:p>
        </p:txBody>
      </p:sp>
      <p:sp>
        <p:nvSpPr>
          <p:cNvPr id="57" name="Text 54"/>
          <p:cNvSpPr txBox="1"/>
          <p:nvPr/>
        </p:nvSpPr>
        <p:spPr>
          <a:xfrm>
            <a:off x="1051560" y="4724400"/>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التَّدْرِيبُ العَمَلِيُّ مُفِيدٌ؟</a:t>
            </a:r>
            <a:endParaRPr lang="ar-SA" sz="1700" dirty="0"/>
          </a:p>
        </p:txBody>
      </p:sp>
      <p:sp>
        <p:nvSpPr>
          <p:cNvPr id="58" name="Text 55"/>
          <p:cNvSpPr txBox="1"/>
          <p:nvPr/>
        </p:nvSpPr>
        <p:spPr>
          <a:xfrm>
            <a:off x="566928" y="4724400"/>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9" name="Shape 5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60" name="Text 57"/>
          <p:cNvSpPr txBox="1"/>
          <p:nvPr/>
        </p:nvSpPr>
        <p:spPr>
          <a:xfrm>
            <a:off x="9738360" y="5338572"/>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لِمُدَّةِ …</a:t>
            </a:r>
            <a:endParaRPr lang="ar-SA" sz="1500" dirty="0"/>
          </a:p>
        </p:txBody>
      </p:sp>
      <p:sp>
        <p:nvSpPr>
          <p:cNvPr id="61" name="Text 58"/>
          <p:cNvSpPr txBox="1"/>
          <p:nvPr/>
        </p:nvSpPr>
        <p:spPr>
          <a:xfrm>
            <a:off x="6995160" y="5338572"/>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نَعَمْ، سَبَقَ لِي أَنْ …</a:t>
            </a:r>
            <a:endParaRPr lang="ar-SA" sz="1600" dirty="0"/>
          </a:p>
        </p:txBody>
      </p:sp>
      <p:sp>
        <p:nvSpPr>
          <p:cNvPr id="62" name="Text 59"/>
          <p:cNvSpPr txBox="1"/>
          <p:nvPr/>
        </p:nvSpPr>
        <p:spPr>
          <a:xfrm>
            <a:off x="4636008" y="5338572"/>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Do you have previous experience?</a:t>
            </a:r>
            <a:endParaRPr lang="en-US" sz="1100" dirty="0"/>
          </a:p>
        </p:txBody>
      </p:sp>
      <p:sp>
        <p:nvSpPr>
          <p:cNvPr id="63" name="Text 60"/>
          <p:cNvSpPr txBox="1"/>
          <p:nvPr/>
        </p:nvSpPr>
        <p:spPr>
          <a:xfrm>
            <a:off x="1051560" y="5338572"/>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لَدَيْكَ خِبْرَةٌ سَابِقَةٌ؟</a:t>
            </a:r>
            <a:endParaRPr lang="ar-SA" sz="1700" dirty="0"/>
          </a:p>
        </p:txBody>
      </p:sp>
      <p:sp>
        <p:nvSpPr>
          <p:cNvPr id="64" name="Text 61"/>
          <p:cNvSpPr txBox="1"/>
          <p:nvPr/>
        </p:nvSpPr>
        <p:spPr>
          <a:xfrm>
            <a:off x="566928" y="5338572"/>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65" name="Text 6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Odd numbers come from D3-L05, even numbers from D3-L06. Core: a full sentence from the starter. Develop: add the “more” part. Stretch: link two answers with ‏</a:t>
            </a:r>
            <a:pPr algn="l" indent="0" marL="0">
              <a:buNone/>
            </a:pPr>
            <a:r>
              <a:rPr lang="ar-SA" altLang="en-US" sz="1450" b="1" dirty="0">
                <a:solidFill>
                  <a:srgbClr val="1B3B6F"/>
                </a:solidFill>
                <a:latin typeface="Amiri" pitchFamily="2" charset="-78"/>
                <a:ea typeface="Amiri" pitchFamily="2" charset="-78"/>
                <a:cs typeface="Amiri" pitchFamily="2" charset="-78"/>
              </a:rPr>
              <a:t>وَ</a:t>
            </a:r>
            <a:pPr algn="l" indent="0" marL="0">
              <a:buNone/>
            </a:pPr>
            <a:r>
              <a:rPr lang="en-US" sz="1100" b="1" dirty="0">
                <a:solidFill>
                  <a:srgbClr val="1B3B6F"/>
                </a:solidFill>
                <a:latin typeface="Calibri" pitchFamily="34" charset="0"/>
                <a:cs typeface="Amiri" pitchFamily="2" charset="-78"/>
              </a:rPr>
              <a:t>‏, ‏</a:t>
            </a:r>
            <a:pPr algn="l" indent="0" marL="0">
              <a:buNone/>
            </a:pPr>
            <a:r>
              <a:rPr lang="ar-SA" altLang="en-US" sz="1450" b="1" dirty="0">
                <a:solidFill>
                  <a:srgbClr val="1B3B6F"/>
                </a:solidFill>
                <a:latin typeface="Amiri" pitchFamily="2" charset="-78"/>
                <a:ea typeface="Amiri" pitchFamily="2" charset="-78"/>
                <a:cs typeface="Amiri" pitchFamily="2" charset="-78"/>
              </a:rPr>
              <a:t>لِأَنَّ</a:t>
            </a:r>
            <a:pPr algn="l" indent="0" marL="0">
              <a:buNone/>
            </a:pPr>
            <a:r>
              <a:rPr lang="en-US" sz="1100" b="1" dirty="0">
                <a:solidFill>
                  <a:srgbClr val="1B3B6F"/>
                </a:solidFill>
                <a:latin typeface="Calibri" pitchFamily="34" charset="0"/>
                <a:cs typeface="Amiri" pitchFamily="2" charset="-78"/>
              </a:rPr>
              <a:t>‏ or ‏</a:t>
            </a:r>
            <a:pPr algn="l" indent="0" marL="0">
              <a:buNone/>
            </a:pPr>
            <a:r>
              <a:rPr lang="ar-SA" altLang="en-US" sz="1450" b="1" dirty="0">
                <a:solidFill>
                  <a:srgbClr val="1B3B6F"/>
                </a:solidFill>
                <a:latin typeface="Amiri" pitchFamily="2" charset="-78"/>
                <a:ea typeface="Amiri" pitchFamily="2" charset="-78"/>
                <a:cs typeface="Amiri" pitchFamily="2" charset="-78"/>
              </a:rPr>
              <a:t>لٰكِنَّ</a:t>
            </a:r>
            <a:pPr algn="l" indent="0" marL="0">
              <a:buNone/>
            </a:pPr>
            <a:r>
              <a:rPr lang="en-US" sz="1100" b="1" dirty="0">
                <a:solidFill>
                  <a:srgbClr val="1B3B6F"/>
                </a:solidFill>
                <a:latin typeface="Calibri" pitchFamily="34" charset="0"/>
                <a:cs typeface="Amiri" pitchFamily="2" charset="-78"/>
              </a:rPr>
              <a:t>‏. Swap after each question.</a:t>
            </a:r>
            <a:endParaRPr lang="en-US" sz="1100" dirty="0"/>
          </a:p>
        </p:txBody>
      </p:sp>
      <p:sp>
        <p:nvSpPr>
          <p:cNvPr id="66" name="Text 6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24</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D3-W03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34" b="1" spc="150" kern="0" dirty="0">
                <a:solidFill>
                  <a:srgbClr val="1E6B52"/>
                </a:solidFill>
                <a:latin typeface="Calibri" pitchFamily="34" charset="0"/>
                <a:cs typeface="Amiri" pitchFamily="2" charset="-78"/>
              </a:rPr>
              <a:t>STEP 5 · ROLE-PLAY CARD · PLANS FOR TASKS 1–2 ARE GIVEN — PLAN 3–5 YOURSELF</a:t>
            </a:r>
            <a:endParaRPr lang="en-US" sz="934"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Role-play card — the formal interview</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المُقَابَلَةُ الرَّسْمِيَّةُ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D3-W03 · Apply workshop (D3-L05 + D3-L06)</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57032" y="1810512"/>
            <a:ext cx="3401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Plan: first words</a:t>
            </a:r>
            <a:endParaRPr lang="en-US" sz="1100" dirty="0"/>
          </a:p>
        </p:txBody>
      </p:sp>
      <p:sp>
        <p:nvSpPr>
          <p:cNvPr id="17" name="Text 14"/>
          <p:cNvSpPr txBox="1"/>
          <p:nvPr/>
        </p:nvSpPr>
        <p:spPr>
          <a:xfrm>
            <a:off x="496519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Speaker’s task</a:t>
            </a:r>
            <a:endParaRPr lang="en-US" sz="1100" dirty="0"/>
          </a:p>
        </p:txBody>
      </p:sp>
      <p:sp>
        <p:nvSpPr>
          <p:cNvPr id="18" name="Text 15"/>
          <p:cNvSpPr txBox="1"/>
          <p:nvPr/>
        </p:nvSpPr>
        <p:spPr>
          <a:xfrm>
            <a:off x="103327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Partner A reads</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275320" y="2267712"/>
            <a:ext cx="336499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عَرِّفْ ← اسْمِي … ، وَيَسُرُّنِي أَنْ أَتَقَدَّمَ لِهٰذَا …</a:t>
            </a:r>
            <a:endParaRPr lang="ar-SA" sz="1600" dirty="0"/>
          </a:p>
        </p:txBody>
      </p:sp>
      <p:sp>
        <p:nvSpPr>
          <p:cNvPr id="22" name="Text 19"/>
          <p:cNvSpPr txBox="1"/>
          <p:nvPr/>
        </p:nvSpPr>
        <p:spPr>
          <a:xfrm>
            <a:off x="5001768" y="2267712"/>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Name, age, school and the post.</a:t>
            </a:r>
            <a:endParaRPr lang="en-US" sz="1100" dirty="0"/>
          </a:p>
        </p:txBody>
      </p:sp>
      <p:sp>
        <p:nvSpPr>
          <p:cNvPr id="23" name="Text 20"/>
          <p:cNvSpPr txBox="1"/>
          <p:nvPr/>
        </p:nvSpPr>
        <p:spPr>
          <a:xfrm>
            <a:off x="1051560" y="2267712"/>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عَرِّفْنَا بِنَفْسِكَ، مِنْ فَضْلِكَ.</a:t>
            </a:r>
            <a:endParaRPr lang="ar-SA" sz="1700" dirty="0"/>
          </a:p>
        </p:txBody>
      </p:sp>
      <p:sp>
        <p:nvSpPr>
          <p:cNvPr id="24" name="Text 21"/>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275320" y="3004718"/>
            <a:ext cx="336499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هَلْ ← سَبَقَ لِي أَنْ … · لَدَيَّ خِبْرَةٌ فِي …</a:t>
            </a:r>
            <a:endParaRPr lang="ar-SA" sz="1600" dirty="0"/>
          </a:p>
        </p:txBody>
      </p:sp>
      <p:sp>
        <p:nvSpPr>
          <p:cNvPr id="29" name="Text 26"/>
          <p:cNvSpPr txBox="1"/>
          <p:nvPr/>
        </p:nvSpPr>
        <p:spPr>
          <a:xfrm>
            <a:off x="5001768" y="3004718"/>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Experience with ‏</a:t>
            </a:r>
            <a:pPr algn="l" indent="0" marL="0">
              <a:buNone/>
            </a:pPr>
            <a:r>
              <a:rPr lang="ar-SA" altLang="en-US" sz="1450" dirty="0">
                <a:solidFill>
                  <a:srgbClr val="5A6472"/>
                </a:solidFill>
                <a:latin typeface="Amiri" pitchFamily="2" charset="-78"/>
                <a:ea typeface="Amiri" pitchFamily="2" charset="-78"/>
                <a:cs typeface="Amiri" pitchFamily="2" charset="-78"/>
              </a:rPr>
              <a:t>سَبَقَ لِي أَنْ</a:t>
            </a:r>
            <a:pPr algn="l" indent="0" marL="0">
              <a:buNone/>
            </a:pPr>
            <a:r>
              <a:rPr lang="en-US" sz="1100" dirty="0">
                <a:solidFill>
                  <a:srgbClr val="5A6472"/>
                </a:solidFill>
                <a:latin typeface="Calibri" pitchFamily="34" charset="0"/>
                <a:cs typeface="Amiri" pitchFamily="2" charset="-78"/>
              </a:rPr>
              <a:t> …‏</a:t>
            </a:r>
            <a:endParaRPr lang="en-US" sz="1100" dirty="0"/>
          </a:p>
        </p:txBody>
      </p:sp>
      <p:sp>
        <p:nvSpPr>
          <p:cNvPr id="30" name="Text 27"/>
          <p:cNvSpPr txBox="1"/>
          <p:nvPr/>
        </p:nvSpPr>
        <p:spPr>
          <a:xfrm>
            <a:off x="1051560" y="3004718"/>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لَدَيْكَ خِبْرَةٌ؟</a:t>
            </a:r>
            <a:endParaRPr lang="ar-SA" sz="1700" dirty="0"/>
          </a:p>
        </p:txBody>
      </p:sp>
      <p:sp>
        <p:nvSpPr>
          <p:cNvPr id="31" name="Text 28"/>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293608" y="3741725"/>
            <a:ext cx="33649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6" name="Text 33"/>
          <p:cNvSpPr txBox="1"/>
          <p:nvPr/>
        </p:nvSpPr>
        <p:spPr>
          <a:xfrm>
            <a:off x="5001768" y="3741725"/>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Compare the routes with two comparatives.</a:t>
            </a:r>
            <a:endParaRPr lang="en-US" sz="1100" dirty="0"/>
          </a:p>
        </p:txBody>
      </p:sp>
      <p:sp>
        <p:nvSpPr>
          <p:cNvPr id="37" name="Text 34"/>
          <p:cNvSpPr txBox="1"/>
          <p:nvPr/>
        </p:nvSpPr>
        <p:spPr>
          <a:xfrm>
            <a:off x="1051560" y="3741725"/>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لِمَاذَا تُفَضِّلُ التَّدْرِيبَ عَلَى الجَامِعَةِ؟</a:t>
            </a:r>
            <a:endParaRPr lang="ar-SA" sz="1700" dirty="0"/>
          </a:p>
        </p:txBody>
      </p:sp>
      <p:sp>
        <p:nvSpPr>
          <p:cNvPr id="38" name="Text 35"/>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293608" y="4478731"/>
            <a:ext cx="33649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1" name="Text 38"/>
          <p:cNvSpPr txBox="1"/>
          <p:nvPr/>
        </p:nvSpPr>
        <p:spPr>
          <a:xfrm>
            <a:off x="5001768" y="4478731"/>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strength with evidence and a weakness.</a:t>
            </a:r>
            <a:endParaRPr lang="en-US" sz="1100" dirty="0"/>
          </a:p>
        </p:txBody>
      </p:sp>
      <p:sp>
        <p:nvSpPr>
          <p:cNvPr id="42" name="Text 39"/>
          <p:cNvSpPr txBox="1"/>
          <p:nvPr/>
        </p:nvSpPr>
        <p:spPr>
          <a:xfrm>
            <a:off x="1051560" y="4478731"/>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نُقْطَةُ قُوَّتِكَ؟ وَنُقْطَةُ ضَعْفِكَ؟</a:t>
            </a:r>
            <a:endParaRPr lang="ar-SA" sz="1700" dirty="0"/>
          </a:p>
        </p:txBody>
      </p:sp>
      <p:sp>
        <p:nvSpPr>
          <p:cNvPr id="43" name="Text 40"/>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293608" y="5215738"/>
            <a:ext cx="33649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6" name="Text 43"/>
          <p:cNvSpPr txBox="1"/>
          <p:nvPr/>
        </p:nvSpPr>
        <p:spPr>
          <a:xfrm>
            <a:off x="5001768" y="5215738"/>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future plan with a condition.</a:t>
            </a:r>
            <a:endParaRPr lang="en-US" sz="1100" dirty="0"/>
          </a:p>
        </p:txBody>
      </p:sp>
      <p:sp>
        <p:nvSpPr>
          <p:cNvPr id="47" name="Text 44"/>
          <p:cNvSpPr txBox="1"/>
          <p:nvPr/>
        </p:nvSpPr>
        <p:spPr>
          <a:xfrm>
            <a:off x="1051560" y="5215738"/>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أَيْنَ تَرَى نَفْسَكَ بَعْدَ خَمْسِ سَنَوَاتٍ؟</a:t>
            </a:r>
            <a:endParaRPr lang="ar-SA" sz="1700" dirty="0"/>
          </a:p>
        </p:txBody>
      </p:sp>
      <p:sp>
        <p:nvSpPr>
          <p:cNvPr id="48" name="Text 45"/>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 !</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Speaker = the applicant · Partner A = the company manager. Write the plan for tasks 3–5 in your book first. Task ! is a surprise — Partner A reads it without warning. Then swap roles.</a:t>
            </a:r>
            <a:endParaRPr lang="en-US" sz="110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24</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D3-W03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6 · SHORT TALK · ONE MINUTE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Why I am the right person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لِمَاذَا أَنَا مُنَاسِبٌ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D3-W03 · Apply workshop (D3-L05 + D3-L06)</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6 · PAIRS</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Talk for one minute — use both lessons</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Talk for one minute as an applicant: the post you are applying for, your experience, two strengths with evidence, why you chose this route (compare it with university), and your plan after the apprenticeship — with one condition.</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Think for 30 seconds: 2 key words from EACH lesson, no sentences.</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Speaker talks; the partner times it.</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Partner: one thing that went well + one thing to improve.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 then the teacher invites two volunteers.</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rtl="1" algn="r" indent="0" marL="0">
              <a:buNone/>
            </a:pPr>
            <a:r>
              <a:rPr lang="ar-SA" altLang="en-US" sz="1450" dirty="0">
                <a:solidFill>
                  <a:srgbClr val="1F2A37"/>
                </a:solidFill>
                <a:latin typeface="Amiri" pitchFamily="2" charset="-78"/>
                <a:ea typeface="Amiri" pitchFamily="2" charset="-78"/>
                <a:cs typeface="Amiri" pitchFamily="2" charset="-78"/>
              </a:rPr>
              <a:t>يَسُرُّنِي أَنْ أَتَقَدَّمَ لِهٰذَا التَّدْرِيبِ · لَدَيَّ خِبْرَةٌ فِي …</a:t>
            </a:r>
            <a:endParaRPr lang="ar-SA" sz="14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a:t>
            </a:r>
            <a:pPr algn="l" indent="0" marL="0">
              <a:buNone/>
            </a:pPr>
            <a:r>
              <a:rPr lang="ar-SA" altLang="en-US" sz="1500" dirty="0">
                <a:solidFill>
                  <a:srgbClr val="1F2A37"/>
                </a:solidFill>
                <a:latin typeface="Amiri" pitchFamily="2" charset="-78"/>
                <a:ea typeface="Amiri" pitchFamily="2" charset="-78"/>
                <a:cs typeface="Amiri" pitchFamily="2" charset="-78"/>
              </a:rPr>
              <a:t>سَبَقَ لِي أَنْ</a:t>
            </a:r>
            <a:pPr algn="l" indent="0" marL="0">
              <a:buNone/>
            </a:pPr>
            <a:r>
              <a:rPr lang="en-US" sz="1150" dirty="0">
                <a:solidFill>
                  <a:srgbClr val="1F2A37"/>
                </a:solidFill>
                <a:latin typeface="Calibri" pitchFamily="34" charset="0"/>
                <a:cs typeface="Amiri" pitchFamily="2" charset="-78"/>
              </a:rPr>
              <a:t> …‏ and two comparatives (‏</a:t>
            </a:r>
            <a:pPr algn="l" indent="0" marL="0">
              <a:buNone/>
            </a:pPr>
            <a:r>
              <a:rPr lang="ar-SA" altLang="en-US" sz="1500" dirty="0">
                <a:solidFill>
                  <a:srgbClr val="1F2A37"/>
                </a:solidFill>
                <a:latin typeface="Amiri" pitchFamily="2" charset="-78"/>
                <a:ea typeface="Amiri" pitchFamily="2" charset="-78"/>
                <a:cs typeface="Amiri" pitchFamily="2" charset="-78"/>
              </a:rPr>
              <a:t>أَقْصَرُ</a:t>
            </a:r>
            <a:pPr algn="l" indent="0" marL="0">
              <a:buNone/>
            </a:pPr>
            <a:r>
              <a:rPr lang="en-US" sz="1150" dirty="0">
                <a:solidFill>
                  <a:srgbClr val="1F2A37"/>
                </a:solidFill>
                <a:latin typeface="Calibri" pitchFamily="34" charset="0"/>
                <a:cs typeface="Amiri" pitchFamily="2" charset="-78"/>
              </a:rPr>
              <a:t> · </a:t>
            </a:r>
            <a:pPr algn="l" indent="0" marL="0">
              <a:buNone/>
            </a:pPr>
            <a:r>
              <a:rPr lang="ar-SA" altLang="en-US" sz="1500" dirty="0">
                <a:solidFill>
                  <a:srgbClr val="1F2A37"/>
                </a:solidFill>
                <a:latin typeface="Amiri" pitchFamily="2" charset="-78"/>
                <a:ea typeface="Amiri" pitchFamily="2" charset="-78"/>
                <a:cs typeface="Amiri" pitchFamily="2" charset="-78"/>
              </a:rPr>
              <a:t>أَكْثَرُ عَمَلِيَّةً</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a:t>
            </a:r>
            <a:pPr algn="l" indent="0" marL="0">
              <a:buNone/>
            </a:pPr>
            <a:r>
              <a:rPr lang="ar-SA" altLang="en-US" sz="1500" dirty="0">
                <a:solidFill>
                  <a:srgbClr val="1F2A37"/>
                </a:solidFill>
                <a:latin typeface="Amiri" pitchFamily="2" charset="-78"/>
                <a:ea typeface="Amiri" pitchFamily="2" charset="-78"/>
                <a:cs typeface="Amiri" pitchFamily="2" charset="-78"/>
              </a:rPr>
              <a:t>أَعْتَقِدُ أَنَّنِي مُنَاسِبٌ / مُنَاسِبَةٌ لِأَنَّ</a:t>
            </a:r>
            <a:pPr algn="l" indent="0" marL="0">
              <a:buNone/>
            </a:pPr>
            <a:r>
              <a:rPr lang="en-US" sz="1150" dirty="0">
                <a:solidFill>
                  <a:srgbClr val="1F2A37"/>
                </a:solidFill>
                <a:latin typeface="Calibri" pitchFamily="34" charset="0"/>
                <a:cs typeface="Amiri" pitchFamily="2" charset="-78"/>
              </a:rPr>
              <a:t> …‏ and ‏</a:t>
            </a:r>
            <a:pPr algn="l" indent="0" marL="0">
              <a:buNone/>
            </a:pPr>
            <a:r>
              <a:rPr lang="ar-SA" altLang="en-US" sz="1500" dirty="0">
                <a:solidFill>
                  <a:srgbClr val="1F2A37"/>
                </a:solidFill>
                <a:latin typeface="Amiri" pitchFamily="2" charset="-78"/>
                <a:ea typeface="Amiri" pitchFamily="2" charset="-78"/>
                <a:cs typeface="Amiri" pitchFamily="2" charset="-78"/>
              </a:rPr>
              <a:t>إِذَا حَصَلْتُ عَلَى … فَسَوْفَ</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أَوَّلًا … ثُمَّ …</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first … then …</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لِأَنَّ … · لِذٰلِكَ …</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because … · so …</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رَأْيِي …</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in my opinion …</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الخِتَامِ …</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to finish …</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24</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D3-W03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3 · STEP 7 · SENTENCE BUILDER · FROM BOTH LESSONS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 three correct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D3-W03 · Apply workshop (D3-L05 + D3-L06)</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To become a lawyer, I must study law.</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لِكَيْ أُصْبِحَ مُحَامِيًا،</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لِكَيْ أُصْبِحُ مُحَامٍ،</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يَجِبُ أَنْ</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يَجِبُ</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أَدْرُسَ القَانُونَ.</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أَدْرُسُ القَانُونَ.</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I am pleased to apply for the job of assistant.</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يَسُرُّنِي</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يَسُرُّنِيَ</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أَنْ أَتَقَدَّمَ</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أَنْ أَتَقَدَّمُ</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لِوَظِيفَةِ مُسَاعِدٍ.</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لِوَظِيفَةُ مُسَاعِدٌ.</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An apprenticeship is cheaper than university.</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التَّلْمَذَةُ المِهَنِيَّةُ</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التَّلْمَذَةَ المِهَنِيَّةَ</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أَرْخَصُ</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أَرْخَصَةٌ</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مِنَ الجَامِعَةِ.</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مِنَ الجَامِعَةُ.</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24</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D3-W03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7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D3-W03 · Apply workshop (D3-L05 + D3-L06)</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To become a lawyer, I must study law.</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لِكَيْ / أَنْ</a:t>
            </a:r>
            <a:pPr algn="l" indent="0" marL="0">
              <a:buNone/>
            </a:pPr>
            <a:r>
              <a:rPr lang="en-US" sz="1050" i="1" dirty="0">
                <a:solidFill>
                  <a:srgbClr val="5A6472"/>
                </a:solidFill>
                <a:latin typeface="Calibri" pitchFamily="34" charset="0"/>
                <a:cs typeface="Amiri" pitchFamily="2" charset="-78"/>
              </a:rPr>
              <a:t> + -a; </a:t>
            </a:r>
            <a:pPr algn="l" indent="0" marL="0">
              <a:buNone/>
            </a:pPr>
            <a:r>
              <a:rPr lang="ar-SA" altLang="en-US" sz="1350" dirty="0">
                <a:solidFill>
                  <a:srgbClr val="5A6472"/>
                </a:solidFill>
                <a:latin typeface="Amiri" pitchFamily="2" charset="-78"/>
                <a:ea typeface="Amiri" pitchFamily="2" charset="-78"/>
                <a:cs typeface="Amiri" pitchFamily="2" charset="-78"/>
              </a:rPr>
              <a:t>أُصْبِحَ</a:t>
            </a:r>
            <a:pPr algn="l" indent="0" marL="0">
              <a:buNone/>
            </a:pPr>
            <a:r>
              <a:rPr lang="en-US" sz="1050" i="1" dirty="0">
                <a:solidFill>
                  <a:srgbClr val="5A6472"/>
                </a:solidFill>
                <a:latin typeface="Calibri" pitchFamily="34" charset="0"/>
                <a:cs typeface="Amiri" pitchFamily="2" charset="-78"/>
              </a:rPr>
              <a:t> + -an (</a:t>
            </a:r>
            <a:pPr algn="l" indent="0" marL="0">
              <a:buNone/>
            </a:pPr>
            <a:r>
              <a:rPr lang="ar-SA" altLang="en-US" sz="1350" dirty="0">
                <a:solidFill>
                  <a:srgbClr val="5A6472"/>
                </a:solidFill>
                <a:latin typeface="Amiri" pitchFamily="2" charset="-78"/>
                <a:ea typeface="Amiri" pitchFamily="2" charset="-78"/>
                <a:cs typeface="Amiri" pitchFamily="2" charset="-78"/>
              </a:rPr>
              <a:t>مُحَامِيًا</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لِكَيْ أُصْبِحَ مُحَامِيًا، يَجِبُ أَنْ أَدْرُسَ القَانُونَ.</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I am pleased to apply for the job of assistant.</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أَنْ</a:t>
            </a:r>
            <a:pPr algn="l" indent="0" marL="0">
              <a:buNone/>
            </a:pPr>
            <a:r>
              <a:rPr lang="en-US" sz="1050" i="1" dirty="0">
                <a:solidFill>
                  <a:srgbClr val="5A6472"/>
                </a:solidFill>
                <a:latin typeface="Calibri" pitchFamily="34" charset="0"/>
                <a:cs typeface="Amiri" pitchFamily="2" charset="-78"/>
              </a:rPr>
              <a:t> + -a; </a:t>
            </a:r>
            <a:pPr algn="l" indent="0" marL="0">
              <a:buNone/>
            </a:pPr>
            <a:r>
              <a:rPr lang="ar-SA" altLang="en-US" sz="1350" dirty="0">
                <a:solidFill>
                  <a:srgbClr val="5A6472"/>
                </a:solidFill>
                <a:latin typeface="Amiri" pitchFamily="2" charset="-78"/>
                <a:ea typeface="Amiri" pitchFamily="2" charset="-78"/>
                <a:cs typeface="Amiri" pitchFamily="2" charset="-78"/>
              </a:rPr>
              <a:t>لِ</a:t>
            </a:r>
            <a:pPr algn="l" indent="0" marL="0">
              <a:buNone/>
            </a:pPr>
            <a:r>
              <a:rPr lang="en-US" sz="1050" i="1" dirty="0">
                <a:solidFill>
                  <a:srgbClr val="5A6472"/>
                </a:solidFill>
                <a:latin typeface="Calibri" pitchFamily="34" charset="0"/>
                <a:cs typeface="Amiri" pitchFamily="2" charset="-78"/>
              </a:rPr>
              <a:t> + genitive.</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يَسُرُّنِي أَنْ أَتَقَدَّمَ لِوَظِيفَةِ مُسَاعِدٍ.</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An apprenticeship is cheaper than university.</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أَفْعَلُ</a:t>
            </a:r>
            <a:pPr algn="l" indent="0" marL="0">
              <a:buNone/>
            </a:pPr>
            <a:r>
              <a:rPr lang="en-US" sz="1050" i="1" dirty="0">
                <a:solidFill>
                  <a:srgbClr val="5A6472"/>
                </a:solidFill>
                <a:latin typeface="Calibri" pitchFamily="34" charset="0"/>
                <a:cs typeface="Amiri" pitchFamily="2" charset="-78"/>
              </a:rPr>
              <a:t> + </a:t>
            </a:r>
            <a:pPr algn="l" indent="0" marL="0">
              <a:buNone/>
            </a:pPr>
            <a:r>
              <a:rPr lang="ar-SA" altLang="en-US" sz="1350" dirty="0">
                <a:solidFill>
                  <a:srgbClr val="5A6472"/>
                </a:solidFill>
                <a:latin typeface="Amiri" pitchFamily="2" charset="-78"/>
                <a:ea typeface="Amiri" pitchFamily="2" charset="-78"/>
                <a:cs typeface="Amiri" pitchFamily="2" charset="-78"/>
              </a:rPr>
              <a:t>مِنْ</a:t>
            </a:r>
            <a:pPr algn="l" indent="0" marL="0">
              <a:buNone/>
            </a:pPr>
            <a:r>
              <a:rPr lang="en-US" sz="1050" i="1" dirty="0">
                <a:solidFill>
                  <a:srgbClr val="5A6472"/>
                </a:solidFill>
                <a:latin typeface="Calibri" pitchFamily="34" charset="0"/>
                <a:cs typeface="Amiri" pitchFamily="2" charset="-78"/>
              </a:rPr>
              <a:t>, no feminine ending; </a:t>
            </a:r>
            <a:pPr algn="l" indent="0" marL="0">
              <a:buNone/>
            </a:pPr>
            <a:r>
              <a:rPr lang="ar-SA" altLang="en-US" sz="1350" dirty="0">
                <a:solidFill>
                  <a:srgbClr val="5A6472"/>
                </a:solidFill>
                <a:latin typeface="Amiri" pitchFamily="2" charset="-78"/>
                <a:ea typeface="Amiri" pitchFamily="2" charset="-78"/>
                <a:cs typeface="Amiri" pitchFamily="2" charset="-78"/>
              </a:rPr>
              <a:t>مِنْ</a:t>
            </a:r>
            <a:pPr algn="l" indent="0" marL="0">
              <a:buNone/>
            </a:pPr>
            <a:r>
              <a:rPr lang="en-US" sz="1050" i="1" dirty="0">
                <a:solidFill>
                  <a:srgbClr val="5A6472"/>
                </a:solidFill>
                <a:latin typeface="Calibri" pitchFamily="34" charset="0"/>
                <a:cs typeface="Amiri" pitchFamily="2" charset="-78"/>
              </a:rPr>
              <a:t> + genitive.</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التَّلْمَذَةُ المِهَنِيَّةُ أَرْخَصُ مِنَ الجَامِعَةِ.</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24</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D3-W03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8 · SPOT AND FIX · MISTAKES FROM BOTH LESSONS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D3-W03 · Apply workshop (D3-L05 + D3-L06)</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لِكَيْ أُصْبِحُ مُهَنْدِسًا يَجِبُ أَنْ أَدْرُسُ.</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Two verbs after particles.</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يَسُرُّنِي أَنْ أَتَقَدَّمُ لِلْوَظِيفَةِ.</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After </a:t>
            </a:r>
            <a:pPr algn="l" indent="0" marL="0">
              <a:buNone/>
            </a:pPr>
            <a:r>
              <a:rPr lang="ar-SA" altLang="en-US" sz="1700" dirty="0">
                <a:solidFill>
                  <a:srgbClr val="5A6472"/>
                </a:solidFill>
                <a:latin typeface="Amiri" pitchFamily="2" charset="-78"/>
                <a:ea typeface="Amiri" pitchFamily="2" charset="-78"/>
                <a:cs typeface="Amiri" pitchFamily="2" charset="-78"/>
              </a:rPr>
              <a:t>أَنْ</a:t>
            </a:r>
            <a:pPr algn="l" indent="0" marL="0">
              <a:buNone/>
            </a:pPr>
            <a:r>
              <a:rPr lang="en-US" sz="1300" i="1" dirty="0">
                <a:solidFill>
                  <a:srgbClr val="5A6472"/>
                </a:solidFill>
                <a:latin typeface="Calibri" pitchFamily="34" charset="0"/>
                <a:cs typeface="Amiri" pitchFamily="2" charset="-78"/>
              </a:rPr>
              <a:t> …</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الجَامِعَةُ أَغْلَى مِنَ التَّدْرِيبُ.</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After </a:t>
            </a:r>
            <a:pPr algn="l" indent="0" marL="0">
              <a:buNone/>
            </a:pPr>
            <a:r>
              <a:rPr lang="ar-SA" altLang="en-US" sz="1700" dirty="0">
                <a:solidFill>
                  <a:srgbClr val="5A6472"/>
                </a:solidFill>
                <a:latin typeface="Amiri" pitchFamily="2" charset="-78"/>
                <a:ea typeface="Amiri" pitchFamily="2" charset="-78"/>
                <a:cs typeface="Amiri" pitchFamily="2" charset="-78"/>
              </a:rPr>
              <a:t>مِنْ</a:t>
            </a:r>
            <a:pPr algn="l" indent="0" marL="0">
              <a:buNone/>
            </a:pPr>
            <a:r>
              <a:rPr lang="en-US" sz="1300" i="1" dirty="0">
                <a:solidFill>
                  <a:srgbClr val="5A6472"/>
                </a:solidFill>
                <a:latin typeface="Calibri" pitchFamily="34" charset="0"/>
                <a:cs typeface="Amiri" pitchFamily="2" charset="-78"/>
              </a:rPr>
              <a:t> …</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24</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D3-W03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8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D3-W03 · Apply workshop (D3-L05 + D3-L06)</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لِكَيْ أُصْبِحُ مُهَنْدِسًا يَجِبُ أَنْ أَدْرُسُ.</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لِكَيْ أُصْبِحَ مُهَنْدِسًا يَجِبُ أَنْ أَدْرُسَ.</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t>
            </a:r>
            <a:pPr algn="l" indent="0" marL="0">
              <a:buNone/>
            </a:pPr>
            <a:r>
              <a:rPr lang="ar-SA" altLang="en-US" sz="1500" b="1" dirty="0">
                <a:solidFill>
                  <a:srgbClr val="1B3B6F"/>
                </a:solidFill>
                <a:latin typeface="Amiri" pitchFamily="2" charset="-78"/>
                <a:ea typeface="Amiri" pitchFamily="2" charset="-78"/>
                <a:cs typeface="Amiri" pitchFamily="2" charset="-78"/>
              </a:rPr>
              <a:t>لِكَيْ / أَنْ</a:t>
            </a:r>
            <a:pPr algn="l" indent="0" marL="0">
              <a:buNone/>
            </a:pPr>
            <a:r>
              <a:rPr lang="en-US" sz="1150" b="1" dirty="0">
                <a:solidFill>
                  <a:srgbClr val="1B3B6F"/>
                </a:solidFill>
                <a:latin typeface="Calibri" pitchFamily="34" charset="0"/>
                <a:cs typeface="Amiri" pitchFamily="2" charset="-78"/>
              </a:rPr>
              <a:t>‏ + -a.</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يَسُرُّنِي أَنْ أَتَقَدَّمُ لِلْوَظِيفَةِ.</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يَسُرُّنِي أَنْ أَتَقَدَّمَ لِلْوَظِيفَةِ.</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t>
            </a:r>
            <a:pPr algn="l" indent="0" marL="0">
              <a:buNone/>
            </a:pPr>
            <a:r>
              <a:rPr lang="ar-SA" altLang="en-US" sz="1500" b="1" dirty="0">
                <a:solidFill>
                  <a:srgbClr val="1B3B6F"/>
                </a:solidFill>
                <a:latin typeface="Amiri" pitchFamily="2" charset="-78"/>
                <a:ea typeface="Amiri" pitchFamily="2" charset="-78"/>
                <a:cs typeface="Amiri" pitchFamily="2" charset="-78"/>
              </a:rPr>
              <a:t>أَنْ</a:t>
            </a:r>
            <a:pPr algn="l" indent="0" marL="0">
              <a:buNone/>
            </a:pPr>
            <a:r>
              <a:rPr lang="en-US" sz="1150" b="1" dirty="0">
                <a:solidFill>
                  <a:srgbClr val="1B3B6F"/>
                </a:solidFill>
                <a:latin typeface="Calibri" pitchFamily="34" charset="0"/>
                <a:cs typeface="Amiri" pitchFamily="2" charset="-78"/>
              </a:rPr>
              <a:t>‏ + -a.</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الجَامِعَةُ أَغْلَى مِنَ التَّدْرِيبُ.</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الجَامِعَةُ أَغْلَى مِنَ التَّدْرِيبِ.</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t>
            </a:r>
            <a:pPr algn="l" indent="0" marL="0">
              <a:buNone/>
            </a:pPr>
            <a:r>
              <a:rPr lang="ar-SA" altLang="en-US" sz="1500" b="1" dirty="0">
                <a:solidFill>
                  <a:srgbClr val="1B3B6F"/>
                </a:solidFill>
                <a:latin typeface="Amiri" pitchFamily="2" charset="-78"/>
                <a:ea typeface="Amiri" pitchFamily="2" charset="-78"/>
                <a:cs typeface="Amiri" pitchFamily="2" charset="-78"/>
              </a:rPr>
              <a:t>مِنْ</a:t>
            </a:r>
            <a:pPr algn="l" indent="0" marL="0">
              <a:buNone/>
            </a:pPr>
            <a:r>
              <a:rPr lang="en-US" sz="1150" b="1" dirty="0">
                <a:solidFill>
                  <a:srgbClr val="1B3B6F"/>
                </a:solidFill>
                <a:latin typeface="Calibri" pitchFamily="34" charset="0"/>
                <a:cs typeface="Amiri" pitchFamily="2" charset="-78"/>
              </a:rPr>
              <a:t>‏ + genitive.</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24</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D3-W03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9 · WRITE YOUR TEXT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writing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D3-W03 · Apply workshop (D3-L05 + D3-L06)</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أُفَضِّلُ التَّدْرِيبَ لِأَنَّهُ ______ مِنَ الجَامِعَةِ.</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prefer the apprenticeship because it is …-er than university.</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إِذَا حَصَلْتُ عَلَى ______ ، فَسَوْفَ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If I get …, I will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750" b="1" dirty="0">
                <a:solidFill>
                  <a:srgbClr val="1B3B6F"/>
                </a:solidFill>
                <a:latin typeface="Amiri" pitchFamily="2" charset="-78"/>
                <a:ea typeface="Amiri" pitchFamily="2" charset="-78"/>
                <a:cs typeface="Amiri" pitchFamily="2" charset="-78"/>
              </a:rPr>
              <a:t>أَعْتَقِدُ أَنَّنِي مُنَاسِبٌ / مُنَاسِبَةٌ لِأَنَّ ______ .</a:t>
            </a:r>
            <a:endParaRPr lang="ar-SA" sz="175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believe I am suitable because …</a:t>
            </a:r>
            <a:endParaRPr lang="en-US" sz="1050" dirty="0"/>
          </a:p>
        </p:txBody>
      </p:sp>
      <p:sp>
        <p:nvSpPr>
          <p:cNvPr id="24" name="Shape 21"/>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5" name="Shape 22"/>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7" name="Text 24"/>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حَضْرَةَ المُدِيرِ المُحْتَرَمِ،</a:t>
            </a:r>
            <a:endParaRPr lang="ar-SA" sz="1800" dirty="0"/>
          </a:p>
        </p:txBody>
      </p:sp>
      <p:sp>
        <p:nvSpPr>
          <p:cNvPr id="28" name="Text 25"/>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Dear Sir / Madam,</a:t>
            </a:r>
            <a:endParaRPr lang="en-US" sz="1050" dirty="0"/>
          </a:p>
        </p:txBody>
      </p:sp>
      <p:sp>
        <p:nvSpPr>
          <p:cNvPr id="29" name="Text 26"/>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يَسُرُّنِي أَنْ أَتَقَدَّمَ لِ ______ .</a:t>
            </a:r>
            <a:endParaRPr lang="ar-SA" sz="1800" dirty="0"/>
          </a:p>
        </p:txBody>
      </p:sp>
      <p:sp>
        <p:nvSpPr>
          <p:cNvPr id="30" name="Text 27"/>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am pleased to apply for …</a:t>
            </a:r>
            <a:endParaRPr lang="en-US" sz="1050" dirty="0"/>
          </a:p>
        </p:txBody>
      </p:sp>
      <p:sp>
        <p:nvSpPr>
          <p:cNvPr id="31" name="Text 28"/>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سَبَقَ لِي أَنْ ______ .</a:t>
            </a:r>
            <a:endParaRPr lang="ar-SA" sz="1800" dirty="0"/>
          </a:p>
        </p:txBody>
      </p:sp>
      <p:sp>
        <p:nvSpPr>
          <p:cNvPr id="32" name="Text 29"/>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have previously …</a:t>
            </a:r>
            <a:endParaRPr lang="en-US" sz="1050" dirty="0"/>
          </a:p>
        </p:txBody>
      </p:sp>
      <p:sp>
        <p:nvSpPr>
          <p:cNvPr id="33" name="Text 30"/>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أَنَا ______ ؛ مَثَلًا، ______ .</a:t>
            </a:r>
            <a:endParaRPr lang="ar-SA" sz="1800" dirty="0"/>
          </a:p>
        </p:txBody>
      </p:sp>
      <p:sp>
        <p:nvSpPr>
          <p:cNvPr id="34" name="Text 31"/>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am …; for example, …</a:t>
            </a:r>
            <a:endParaRPr lang="en-US" sz="1050" dirty="0"/>
          </a:p>
        </p:txBody>
      </p:sp>
      <p:sp>
        <p:nvSpPr>
          <p:cNvPr id="35" name="Text 32"/>
          <p:cNvSpPr txBox="1"/>
          <p:nvPr/>
        </p:nvSpPr>
        <p:spPr>
          <a:xfrm>
            <a:off x="8202168"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مَعَ فَائِقِ الاحْتِرَامِ، ______</a:t>
            </a:r>
            <a:endParaRPr lang="ar-SA" sz="1800" dirty="0"/>
          </a:p>
        </p:txBody>
      </p:sp>
      <p:sp>
        <p:nvSpPr>
          <p:cNvPr id="36" name="Text 33"/>
          <p:cNvSpPr txBox="1"/>
          <p:nvPr/>
        </p:nvSpPr>
        <p:spPr>
          <a:xfrm>
            <a:off x="6327648"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Yours faithfully, (name)</a:t>
            </a:r>
            <a:endParaRPr lang="en-US" sz="1050" dirty="0"/>
          </a:p>
        </p:txBody>
      </p:sp>
      <p:sp>
        <p:nvSpPr>
          <p:cNvPr id="37" name="Shape 34"/>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9" name="Text 36"/>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حَضْرَةَ المُدِيرِ المُحْتَرَمِ  ·  يَسُرُّنِي أَنْ أَتَقَدَّمَ  ·  سَبَقَ لِي أَنْ  ·  لَدَيَّ خِبْرَةٌ فِي  ·  أَقْصَرُ · أَرْخَصُ مِنْ  ·  أَكْثَرُ عَمَلِيَّةً  ·  إِذَا حَصَلْتُ عَلَى … فَسَوْفَ  ·  مَعَ فَائِقِ الاحْتِرَامِ</a:t>
            </a:r>
            <a:endParaRPr lang="ar-SA" sz="16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24</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D3-W03 · Apply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10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9 · WRITE YOUR TEXT · ABOUT 60–80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100" b="1" dirty="0">
                <a:solidFill>
                  <a:srgbClr val="1B3B6F"/>
                </a:solidFill>
                <a:latin typeface="Cambria" pitchFamily="34" charset="0"/>
                <a:cs typeface="Amiri" pitchFamily="2" charset="-78"/>
              </a:rPr>
              <a:t>A formal cover letter for the apprenticeship</a:t>
            </a:r>
            <a:endParaRPr lang="en-US" sz="21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رِسَالَةُ تَقْدِيمٍ رَسْمِيَّةٌ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D3-W03 · Apply workshop (D3-L05 + D3-L06)</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2061972"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2061972"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WRITING · DIRECTED TASK</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100" b="1" dirty="0">
                <a:solidFill>
                  <a:srgbClr val="1F2A37"/>
                </a:solidFill>
                <a:latin typeface="Calibri" pitchFamily="34" charset="0"/>
                <a:cs typeface="Amiri" pitchFamily="2" charset="-78"/>
              </a:rPr>
              <a:t>Write a formal cover letter (about 60–80 words) for the summer apprenticeship. Include: • a formal opening and the post • your experience (‏</a:t>
            </a:r>
            <a:pPr algn="l" indent="0" marL="0">
              <a:buNone/>
            </a:pPr>
            <a:r>
              <a:rPr lang="ar-SA" altLang="en-US" sz="1450" b="1" dirty="0">
                <a:solidFill>
                  <a:srgbClr val="1F2A37"/>
                </a:solidFill>
                <a:latin typeface="Amiri" pitchFamily="2" charset="-78"/>
                <a:ea typeface="Amiri" pitchFamily="2" charset="-78"/>
                <a:cs typeface="Amiri" pitchFamily="2" charset="-78"/>
              </a:rPr>
              <a:t>سَبَقَ لِي أَنْ</a:t>
            </a:r>
            <a:pPr algn="l" indent="0" marL="0">
              <a:buNone/>
            </a:pPr>
            <a:r>
              <a:rPr lang="en-US" sz="1100" b="1" dirty="0">
                <a:solidFill>
                  <a:srgbClr val="1F2A37"/>
                </a:solidFill>
                <a:latin typeface="Calibri" pitchFamily="34" charset="0"/>
                <a:cs typeface="Amiri" pitchFamily="2" charset="-78"/>
              </a:rPr>
              <a:t> …‏) • two strengths with evidence • why this route suits you better than university (two comparatives) • your plan with a condition • a formal close.</a:t>
            </a:r>
            <a:endParaRPr lang="en-US" sz="110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All the bullet points, in order.</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Language from D3-L05 AND D3-L06.</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Linking words: ‏</a:t>
            </a:r>
            <a:pPr algn="l" indent="0" marL="0">
              <a:buNone/>
            </a:pPr>
            <a:r>
              <a:rPr lang="ar-SA" altLang="en-US" sz="1550" dirty="0">
                <a:solidFill>
                  <a:srgbClr val="1F2A37"/>
                </a:solidFill>
                <a:latin typeface="Amiri" pitchFamily="2" charset="-78"/>
                <a:ea typeface="Amiri" pitchFamily="2" charset="-78"/>
                <a:cs typeface="Amiri" pitchFamily="2" charset="-78"/>
              </a:rPr>
              <a:t>وَ</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ثُمَّ</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لٰكِنَّ</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opinion with a reason.</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then fix one thing.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حَضْرَةَ المُدِيرِ المُحْتَرَمِ،</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Dear Sir / Madam (formal)</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يَسُرُّنِي أَنْ أَتَقَدَّمَ لِ…</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am pleased to apply for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التَّدْرِيبُ أَكْثَرُ عَمَلِيَّةً مِنَ الجَامِعَةِ</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an apprenticeship is more practical than university</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مَعَ فَائِقِ الاحْتِرَامِ،</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yours faithfully</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24</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D3-W03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9 · BUDDY CHECK · SWAP AND READ YOUR BUDDY’S TEXT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D3-W03 · Apply workshop (D3-L05 + D3-L06)</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EVERY bullet point?</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give advantages of two routes and the route to your own job?</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a:t>
            </a:r>
            <a:pPr algn="l" indent="0" marL="0">
              <a:buNone/>
            </a:pPr>
            <a:r>
              <a:rPr lang="ar-SA" altLang="en-US" sz="1450" dirty="0">
                <a:solidFill>
                  <a:srgbClr val="5A6472"/>
                </a:solidFill>
                <a:latin typeface="Amiri" pitchFamily="2" charset="-78"/>
                <a:ea typeface="Amiri" pitchFamily="2" charset="-78"/>
                <a:cs typeface="Amiri" pitchFamily="2" charset="-78"/>
              </a:rPr>
              <a:t>سَبَقَ لِي أَنْ</a:t>
            </a:r>
            <a:pPr algn="l" indent="0" marL="0">
              <a:buNone/>
            </a:pPr>
            <a:r>
              <a:rPr lang="en-US" sz="1100" dirty="0">
                <a:solidFill>
                  <a:srgbClr val="5A6472"/>
                </a:solidFill>
                <a:latin typeface="Calibri" pitchFamily="34" charset="0"/>
                <a:cs typeface="Amiri" pitchFamily="2" charset="-78"/>
              </a:rPr>
              <a:t>‏, ‏</a:t>
            </a:r>
            <a:pPr algn="l" indent="0" marL="0">
              <a:buNone/>
            </a:pPr>
            <a:r>
              <a:rPr lang="ar-SA" altLang="en-US" sz="1450" dirty="0">
                <a:solidFill>
                  <a:srgbClr val="5A6472"/>
                </a:solidFill>
                <a:latin typeface="Amiri" pitchFamily="2" charset="-78"/>
                <a:ea typeface="Amiri" pitchFamily="2" charset="-78"/>
                <a:cs typeface="Amiri" pitchFamily="2" charset="-78"/>
              </a:rPr>
              <a:t>أَعْتَقِدُ أَنَّنِي</a:t>
            </a:r>
            <a:pPr algn="l" indent="0" marL="0">
              <a:buNone/>
            </a:pPr>
            <a:r>
              <a:rPr lang="en-US" sz="1100" dirty="0">
                <a:solidFill>
                  <a:srgbClr val="5A6472"/>
                </a:solidFill>
                <a:latin typeface="Calibri" pitchFamily="34" charset="0"/>
                <a:cs typeface="Amiri" pitchFamily="2" charset="-78"/>
              </a:rPr>
              <a:t> …‏ and evidence for each strength?</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t>
            </a:r>
            <a:pPr algn="l" indent="0" marL="0">
              <a:buNone/>
            </a:pPr>
            <a:r>
              <a:rPr lang="ar-SA" altLang="en-US" sz="1450" dirty="0">
                <a:solidFill>
                  <a:srgbClr val="5A6472"/>
                </a:solidFill>
                <a:latin typeface="Amiri" pitchFamily="2" charset="-78"/>
                <a:ea typeface="Amiri" pitchFamily="2" charset="-78"/>
                <a:cs typeface="Amiri" pitchFamily="2" charset="-78"/>
              </a:rPr>
              <a:t>وَ</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ثُمَّ</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لِأَنَّ</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لٰكِنَّ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more than one tense and give an opinion with a reason?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thing that went well + one thing to improve.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24</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D3-W03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ROLE-PLAY CARD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Role-play card: compare with a strong answer</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D3-W03 · Apply workshop (D3-L05 + D3-L06)</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782312" y="1810512"/>
            <a:ext cx="6876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 strong answer (with English)</a:t>
            </a:r>
            <a:endParaRPr lang="en-US" sz="1100" dirty="0"/>
          </a:p>
        </p:txBody>
      </p:sp>
      <p:sp>
        <p:nvSpPr>
          <p:cNvPr id="17" name="Text 14"/>
          <p:cNvSpPr txBox="1"/>
          <p:nvPr/>
        </p:nvSpPr>
        <p:spPr>
          <a:xfrm>
            <a:off x="1033272"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Partner A reads</a:t>
            </a:r>
            <a:endParaRPr lang="en-US" sz="1100" dirty="0"/>
          </a:p>
        </p:txBody>
      </p:sp>
      <p:sp>
        <p:nvSpPr>
          <p:cNvPr id="18" name="Text 15"/>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4800600" y="2286000"/>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اسْمِي يُوسُفُ، عُمْرِي سِتَّ عَشْرَةَ سَنَةً، وَيَسُرُّنِي أَنْ أَتَقَدَّمَ لِهٰذَا التَّدْرِيبِ.</a:t>
            </a:r>
            <a:endParaRPr lang="ar-SA" sz="1800" dirty="0"/>
          </a:p>
        </p:txBody>
      </p:sp>
      <p:sp>
        <p:nvSpPr>
          <p:cNvPr id="21" name="Text 18"/>
          <p:cNvSpPr txBox="1"/>
          <p:nvPr/>
        </p:nvSpPr>
        <p:spPr>
          <a:xfrm>
            <a:off x="4754880" y="2676997"/>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My name is Yusuf, I am sixteen, and I am pleased to apply for this apprenticeship.</a:t>
            </a:r>
            <a:endParaRPr lang="en-US" sz="950" dirty="0"/>
          </a:p>
        </p:txBody>
      </p:sp>
      <p:sp>
        <p:nvSpPr>
          <p:cNvPr id="22" name="Text 19"/>
          <p:cNvSpPr txBox="1"/>
          <p:nvPr/>
        </p:nvSpPr>
        <p:spPr>
          <a:xfrm>
            <a:off x="1051560" y="2267712"/>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عَرِّفْنَا بِنَفْسِكَ، مِنْ فَضْلِكَ.</a:t>
            </a:r>
            <a:endParaRPr lang="ar-SA" sz="1600" dirty="0"/>
          </a:p>
        </p:txBody>
      </p:sp>
      <p:sp>
        <p:nvSpPr>
          <p:cNvPr id="23" name="Text 20"/>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4" name="Shape 21"/>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5" name="Text 22"/>
          <p:cNvSpPr txBox="1"/>
          <p:nvPr/>
        </p:nvSpPr>
        <p:spPr>
          <a:xfrm>
            <a:off x="4800600" y="3023006"/>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سَبَقَ لِي أَنْ أَصْلَحْتُ دَرَّاجَاتٍ فِي نَادِي الحَيِّ، وَلَدَيَّ خِبْرَةٌ فِي العَمَلِ الجَمَاعِيِّ.</a:t>
            </a:r>
            <a:endParaRPr lang="ar-SA" sz="1800" dirty="0"/>
          </a:p>
        </p:txBody>
      </p:sp>
      <p:sp>
        <p:nvSpPr>
          <p:cNvPr id="26" name="Text 23"/>
          <p:cNvSpPr txBox="1"/>
          <p:nvPr/>
        </p:nvSpPr>
        <p:spPr>
          <a:xfrm>
            <a:off x="4754880" y="3414004"/>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have previously repaired bikes at the local club, and I have experience of teamwork.</a:t>
            </a:r>
            <a:endParaRPr lang="en-US" sz="950" dirty="0"/>
          </a:p>
        </p:txBody>
      </p:sp>
      <p:sp>
        <p:nvSpPr>
          <p:cNvPr id="27" name="Text 24"/>
          <p:cNvSpPr txBox="1"/>
          <p:nvPr/>
        </p:nvSpPr>
        <p:spPr>
          <a:xfrm>
            <a:off x="1051560" y="3004718"/>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هَلْ لَدَيْكَ خِبْرَةٌ؟</a:t>
            </a:r>
            <a:endParaRPr lang="ar-SA" sz="1600" dirty="0"/>
          </a:p>
        </p:txBody>
      </p:sp>
      <p:sp>
        <p:nvSpPr>
          <p:cNvPr id="28" name="Text 25"/>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0" name="Text 27"/>
          <p:cNvSpPr txBox="1"/>
          <p:nvPr/>
        </p:nvSpPr>
        <p:spPr>
          <a:xfrm>
            <a:off x="4800600" y="3760013"/>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لِأَنَّهُ أَقْصَرُ وَأَرْخَصُ مِنَ الجَامِعَةِ، وَأَكْثَرُ عَمَلِيَّةً.</a:t>
            </a:r>
            <a:endParaRPr lang="ar-SA" sz="1800" dirty="0"/>
          </a:p>
        </p:txBody>
      </p:sp>
      <p:sp>
        <p:nvSpPr>
          <p:cNvPr id="31" name="Text 28"/>
          <p:cNvSpPr txBox="1"/>
          <p:nvPr/>
        </p:nvSpPr>
        <p:spPr>
          <a:xfrm>
            <a:off x="4754880" y="4151010"/>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Because it is shorter and cheaper than university, and more practical.</a:t>
            </a:r>
            <a:endParaRPr lang="en-US" sz="950" dirty="0"/>
          </a:p>
        </p:txBody>
      </p:sp>
      <p:sp>
        <p:nvSpPr>
          <p:cNvPr id="32" name="Text 29"/>
          <p:cNvSpPr txBox="1"/>
          <p:nvPr/>
        </p:nvSpPr>
        <p:spPr>
          <a:xfrm>
            <a:off x="1051560" y="3741725"/>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لِمَاذَا تُفَضِّلُ التَّدْرِيبَ عَلَى الجَامِعَةِ؟</a:t>
            </a:r>
            <a:endParaRPr lang="ar-SA" sz="1600" dirty="0"/>
          </a:p>
        </p:txBody>
      </p:sp>
      <p:sp>
        <p:nvSpPr>
          <p:cNvPr id="33" name="Text 30"/>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4" name="Shape 31"/>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5" name="Text 32"/>
          <p:cNvSpPr txBox="1"/>
          <p:nvPr/>
        </p:nvSpPr>
        <p:spPr>
          <a:xfrm>
            <a:off x="4800600" y="4497019"/>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أَنَا دَقِيقٌ؛ مَثَلًا، أُرَاجِعُ عَمَلِي مَرَّتَيْنِ. نُقْطَةُ ضَعْفِي أَنِّي خَجُولٌ، وَلٰكِنَّنِي أَتَحَسَّنُ.</a:t>
            </a:r>
            <a:endParaRPr lang="ar-SA" sz="1800" dirty="0"/>
          </a:p>
        </p:txBody>
      </p:sp>
      <p:sp>
        <p:nvSpPr>
          <p:cNvPr id="36" name="Text 33"/>
          <p:cNvSpPr txBox="1"/>
          <p:nvPr/>
        </p:nvSpPr>
        <p:spPr>
          <a:xfrm>
            <a:off x="4754880" y="4888017"/>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am precise; for example, I check my work twice. My weakness is that I am shy, but I am improving.</a:t>
            </a:r>
            <a:endParaRPr lang="en-US" sz="950" dirty="0"/>
          </a:p>
        </p:txBody>
      </p:sp>
      <p:sp>
        <p:nvSpPr>
          <p:cNvPr id="37" name="Text 34"/>
          <p:cNvSpPr txBox="1"/>
          <p:nvPr/>
        </p:nvSpPr>
        <p:spPr>
          <a:xfrm>
            <a:off x="1051560" y="4478731"/>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 نُقْطَةُ قُوَّتِكَ؟ وَنُقْطَةُ ضَعْفِكَ؟</a:t>
            </a:r>
            <a:endParaRPr lang="ar-SA" sz="1600" dirty="0"/>
          </a:p>
        </p:txBody>
      </p:sp>
      <p:sp>
        <p:nvSpPr>
          <p:cNvPr id="38" name="Text 35"/>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Shape 36"/>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0" name="Text 37"/>
          <p:cNvSpPr txBox="1"/>
          <p:nvPr/>
        </p:nvSpPr>
        <p:spPr>
          <a:xfrm>
            <a:off x="4800600" y="5234026"/>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إِذَا حَصَلْتُ عَلَى الشَّهَادَةِ، فَسَوْفَ أَعْمَلُ فَنِّيًّا، ثُمَّ سَأَدْرُسُ الهَنْدَسَةَ بِدَوَامٍ جُزْئِيٍّ.</a:t>
            </a:r>
            <a:endParaRPr lang="ar-SA" sz="1800" dirty="0"/>
          </a:p>
        </p:txBody>
      </p:sp>
      <p:sp>
        <p:nvSpPr>
          <p:cNvPr id="41" name="Text 38"/>
          <p:cNvSpPr txBox="1"/>
          <p:nvPr/>
        </p:nvSpPr>
        <p:spPr>
          <a:xfrm>
            <a:off x="4754880" y="5625023"/>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If I get the certificate, I will work as a technician, then I will study engineering part-time.</a:t>
            </a:r>
            <a:endParaRPr lang="en-US" sz="950" dirty="0"/>
          </a:p>
        </p:txBody>
      </p:sp>
      <p:sp>
        <p:nvSpPr>
          <p:cNvPr id="42" name="Text 39"/>
          <p:cNvSpPr txBox="1"/>
          <p:nvPr/>
        </p:nvSpPr>
        <p:spPr>
          <a:xfrm>
            <a:off x="1051560" y="5215738"/>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أَيْنَ تَرَى نَفْسَكَ بَعْدَ خَمْسِ سَنَوَاتٍ؟</a:t>
            </a:r>
            <a:endParaRPr lang="ar-SA" sz="1600" dirty="0"/>
          </a:p>
        </p:txBody>
      </p:sp>
      <p:sp>
        <p:nvSpPr>
          <p:cNvPr id="43" name="Text 40"/>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44" name="Text 41"/>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answer every task in a full sentence? Find one phrase from each lesson in the models and say it aloud.</a:t>
            </a:r>
            <a:endParaRPr lang="en-US" sz="115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24</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D3-W03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WRITE YOUR TEXT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Writing: compare with a strong answer</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D3-W03 · Apply workshop (D3-L05 + D3-L06)</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300" dirty="0">
                <a:solidFill>
                  <a:srgbClr val="1F2A37"/>
                </a:solidFill>
                <a:latin typeface="Amiri" pitchFamily="2" charset="-78"/>
                <a:ea typeface="Amiri" pitchFamily="2" charset="-78"/>
                <a:cs typeface="Amiri" pitchFamily="2" charset="-78"/>
              </a:rPr>
              <a:t>حَضْرَةَ المُدِيرِ المُحْتَرَمِ،</a:t>
            </a:r>
            <a:endParaRPr lang="ar-SA" sz="2300" dirty="0"/>
          </a:p>
          <a:p>
            <a:pPr rtl="1" algn="r" indent="0" marL="0">
              <a:lnSpc>
                <a:spcPct val="120000"/>
              </a:lnSpc>
              <a:buNone/>
            </a:pPr>
            <a:r>
              <a:rPr lang="ar-SA" altLang="en-US" sz="2300" dirty="0">
                <a:solidFill>
                  <a:srgbClr val="1F2A37"/>
                </a:solidFill>
                <a:latin typeface="Amiri" pitchFamily="2" charset="-78"/>
                <a:ea typeface="Amiri" pitchFamily="2" charset="-78"/>
                <a:cs typeface="Amiri" pitchFamily="2" charset="-78"/>
              </a:rPr>
              <a:t>يَسُرُّنِي أَنْ أَتَقَدَّمَ لِلتَّدْرِيبِ الصَّيْفِيِّ فِي شَرِكَتِكُمْ. سَبَقَ لِي أَنْ سَاعَدْتُ أَبِي فِي وَرْشَتِهِ، وَلَدَيَّ خِبْرَةٌ فِي العَمَلِ الجَمَاعِيِّ. أَنَا دَقِيقٌ وَمَسْؤُولٌ؛ مَثَلًا، أَصِلُ إِلَى النَّادِي فِي الوَقْتِ دَائِمًا. أُفَضِّلُ التَّدْرِيبَ لِأَنَّهُ أَقْصَرُ مِنَ الجَامِعَةِ وَأَكْثَرُ عَمَلِيَّةً. إِذَا حَصَلْتُ عَلَى الشَّهَادَةِ، فَسَوْفَ أَعْمَلُ فَنِّيًّا. أَعْتَقِدُ أَنَّنِي مُنَاسِبٌ لِهٰذَا التَّدْرِيبِ.</a:t>
            </a:r>
            <a:endParaRPr lang="ar-SA" sz="2300" dirty="0"/>
          </a:p>
          <a:p>
            <a:pPr rtl="1" algn="r" indent="0" marL="0">
              <a:lnSpc>
                <a:spcPct val="120000"/>
              </a:lnSpc>
              <a:buNone/>
            </a:pPr>
            <a:r>
              <a:rPr lang="ar-SA" altLang="en-US" sz="2300" dirty="0">
                <a:solidFill>
                  <a:srgbClr val="1F2A37"/>
                </a:solidFill>
                <a:latin typeface="Amiri" pitchFamily="2" charset="-78"/>
                <a:ea typeface="Amiri" pitchFamily="2" charset="-78"/>
                <a:cs typeface="Amiri" pitchFamily="2" charset="-78"/>
              </a:rPr>
              <a:t>مَعَ فَائِقِ الاحْتِرَامِ، يُوسُفُ</a:t>
            </a:r>
            <a:endParaRPr lang="ar-SA" sz="23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“Dear Sir / Madam, I am pleased to apply for the summer apprenticeship in your company. I have previously helped my father in his workshop, and I have experience of teamwork. I am precise and responsible; for example, I always arrive at the club on time. I prefer an apprenticeship because it is shorter than university and more practical. If I get the certificate, I will work as a technician. I believe I am suitable for this apprenticeship. Yours faithfully, Yusuf”</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يَسُرُّنِي أَنْ أَتَقَدَّمَ</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سَبَقَ لِي أَنْ</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أَقْصَرُ مِنَ الجَامِعَةِ</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إِذَا حَصَلْتُ عَلَى الشَّهَادَةِ</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24</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D3-W03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D3-W03 · Apply workshop (D3-L05 + D3-L06)</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answered questions from D3-L05 and D3-L06 in full sentences.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a sentence for every bullet point.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language from BOTH lessons when I spoke and when I wrote.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text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more than one tense and gave opinions with reasons.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24</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D3-W03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used two lessons together!</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650" b="1" dirty="0">
                <a:solidFill>
                  <a:srgbClr val="FFFFFF"/>
                </a:solidFill>
                <a:latin typeface="Cambria" pitchFamily="34" charset="0"/>
                <a:cs typeface="Amiri" pitchFamily="2" charset="-78"/>
              </a:rPr>
              <a:t>D3-L07 · Arabic Proverbs and Values — Work Ethic and Success</a:t>
            </a:r>
            <a:endParaRPr lang="en-US" sz="16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الأَمْثَالُ العَرَبِيَّةُ وَالقِيَمُ — أَخْلَاقِيَّاتُ العَمَلِ وَالنَّجَاحُ</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keep using this week’s language — say it, then write it.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D3-W03 · Apply Workshop — Applying for a Summer Apprenticeship</dc:title>
  <dc:subject>PptxGenJS Presentation</dc:subject>
  <dc:creator>Al Madina Online School · Arabic Department</dc:creator>
  <cp:lastModifiedBy>Al Madina Online School · Arabic Department</cp:lastModifiedBy>
  <cp:revision>1</cp:revision>
  <dcterms:created xsi:type="dcterms:W3CDTF">2026-10-26T15:33:30Z</dcterms:created>
  <dcterms:modified xsi:type="dcterms:W3CDTF">2026-10-26T15:33:30Z</dcterms:modified>
</cp:coreProperties>
</file>