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D3-L09 · Learn D3-L10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one minute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D3-L09 (Writing — Career Plans Article or Email) and D3-L10 (Listening — Work and Career Conversations).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D3-L09 and D3-L10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LEARNT (3 min, main room). Ask: “What can you say after D3-L09? After D3-L10?” Take two answers in the chat for each lesson (one word or one sentence is enough). Then read objective 3 — today’s new situation that needs BOTH lessons. Students tick their route goals at the end of the lesson.
D3-L09 language: four-paragraph plan: ambition + reason · skills + evidence · route in sequence (awwalan … thumma … baʿda al-takharruji …) · challenge + concession; future (sa- / sawfa / lan); purpose (li-kay); condition (idhā najaḥtu); connectors (iḍāfatan ilā dhālika · natījatan li-dhālika · ʿalā al-raghmi min anna)
D3-L10 language: listening traps in career talk: a change of mind (kuntu sa-… thumma ghayyartu raʾyī) — the FINAL plan counts; corrections after lā / bal; WHO is speaking (anā / akhī / ukhtī); attitude words (mutaḥammis · qaliq · mutaraddid); future vs past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D3-L09.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D3-L10.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D3-L09 and D3-L10. Teacher reads it once with a confident student; then pairs. Ask: “Which lines are from D3-L09? Which from D3-L10?” The final plan after a change of mind, لَا … بَلْ …, a different speaker (أَمَّا أُخْتُهُ فَ…) and attitude words come from D3-L10; the four-paragraph plan from D3-L09.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5 (7 min). One NEW situation that needs both lessons: catching the final plan, corrections, the speaker and the attitude (D3-L10), then reporting it in connected written style (D3-L09). FADED SUPPORT: tasks 1–2 show the plan; students write their own plan for 3–5. To a girl Partner A says: وَأَنْتِ: هَلْ غَيَّرْتِ رَأْيَكِ؟ — she answers: كُنْتُ سَأُصْبِحُ … ثُمَّ غَيَّرْتُ رَأْيِي.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D3-L09 and D3-L10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D3-L09 and D3-L10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(50–60 words). Develop: 80–100 words, frames only if stuck. Stretch: no frames, add reasons and another time frame.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(56 words). CHECK YOURSELF (2 min). Find each bullet point in the model, and one phrase from D3-L09 and one from D3-L10.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8  ·  DEVELOPMENT D3  ·  D3-L09 + D3-L10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D3-W05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The Careers Podcast and Article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بُودْكَاسْتُ المِهَنِ وَالمَقَالَةُ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listening and extended writing: they listen to young people talking about career plans (catching the FINAL plan after a change of mind, corrections with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بَلْ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, who is speaking, attitude), then record their own plan and turn it into a four-paragraph careers-magazine article.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D3-L09 + D3-L10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Development · A2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Development › D3 › D3-L10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D3-L09 and D3-L10.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model dialogue · question cards · role-play card · short talk.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sentence builder · spot and fix · write your text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D3-L09 + D3-L10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D3-L09: Writing — Career Plans Article or Email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D3-L10: Listening — Work and Career Conversations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Listening card — career voices · A career-plan article in four paragraphs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Answer questions from BOTH lessons in full sentences.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Write the text using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Join both lessons in one conversation and a one minute talk.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text, frames only if stuck.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Speak without notes; add reasons and opinions.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Use more than one tense; give and justify opinions.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 race: two lessons, one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English → Arabic,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words from D3-L09 and D3-L10. Partner A says a word in ENGLISH; Partner B says it in ARABIC.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word, then a short sentence with 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Join a word from each lesson in one sentence with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D3-L09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D3-L09 · Writing — Career Plans Article or Email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will study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sa-ʾad-ru-su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أَنْوِي أَنْ</a:t>
            </a:r>
            <a:endParaRPr lang="ar-SA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intend to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an-wī an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لِكَيْ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order to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li-kay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3000" dirty="0"/>
          </a:p>
        </p:txBody>
      </p:sp>
      <p:sp>
        <p:nvSpPr>
          <p:cNvPr id="42" name="Text 39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li-ʾan-na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الرَّغْمِ مِنْ أَنَّ</a:t>
            </a:r>
            <a:endParaRPr lang="ar-SA" sz="3000" dirty="0"/>
          </a:p>
        </p:txBody>
      </p:sp>
      <p:sp>
        <p:nvSpPr>
          <p:cNvPr id="49" name="Text 4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although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ʿa-lā ar-ragh-mi min an-na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سَبِيلِ المِثَالِ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example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ʿa-lā sa-bī-li al-mi-thā-li</a:t>
            </a:r>
            <a:endParaRPr lang="en-US" sz="1350" dirty="0"/>
          </a:p>
        </p:txBody>
      </p:sp>
      <p:sp>
        <p:nvSpPr>
          <p:cNvPr id="57" name="Text 5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D3-L10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D3-L10 · Listening — Work and Career Conversations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will study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sa-ʾad-ru-su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أَنْوِي أَنْ</a:t>
            </a:r>
            <a:endParaRPr lang="ar-SA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intend to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an-wī an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li-ʾan-na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</a:t>
            </a:r>
            <a:endParaRPr lang="ar-SA" sz="3000" dirty="0"/>
          </a:p>
        </p:txBody>
      </p:sp>
      <p:sp>
        <p:nvSpPr>
          <p:cNvPr id="42" name="Text 39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whereas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bay-na-mā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نَتِيجَةً لِذٰلِكَ</a:t>
            </a:r>
            <a:endParaRPr lang="ar-SA" sz="3000" dirty="0"/>
          </a:p>
        </p:txBody>
      </p:sp>
      <p:sp>
        <p:nvSpPr>
          <p:cNvPr id="49" name="Text 4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as a result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na-tī-ja-tan li-dhā-li-ka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</a:t>
            </a:r>
            <a:endParaRPr lang="ar-SA" sz="3000" dirty="0"/>
          </a:p>
        </p:txBody>
      </p:sp>
      <p:sp>
        <p:nvSpPr>
          <p:cNvPr id="54" name="Text 51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aspire to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aṭ-ma-ḥu i-lā an</a:t>
            </a:r>
            <a:endParaRPr lang="en-US" sz="13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SORT IT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Listening trap or article connector?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إِضَافَةً إِلَى ذٰلِكَ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غَيَّرْتُ رَأْيِي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… بَلْ …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نَتِيجَةً لِذٰلِكَ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التَّخَرُّجِ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أُخْتِي فَ…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مُتَرَدِّدٌ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الرَّغْمِ مِنْ أَنَّ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Article connectors · D3-L09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Listening traps · D3-L10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Sort: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Article connectors · D3-L09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إِضَافَةً إِلَى ذٰلِكَ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نَتِيجَةً لِذٰلِكَ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التَّخَرُّجِ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الرَّغْمِ مِنْ أَنَّ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Listening traps · D3-L10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غَيَّرْتُ رَأْيِي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… بَلْ …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أُخْتِي فَ…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مُتَرَدِّدٌ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MODEL DIALOGUE · BOTH LESSONS IN ONE CONVERSATION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did Rami say?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قَالَ رَامِي؟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podcast Rami said: “I was going to study medicine, then I changed my mind.”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البُودْكَاسْتِ قَالَ رَامِي: «كُنْتُ سَأَدْرُسُ الطِّبَّ، ثُمَّ غَيَّرْتُ رَأْيِي».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what will he study now?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 مَاذَا سَيَدْرُسُ الآنَ؟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“I will study engineering, not in London but in Manchester.”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«سَأَدْرُسُ الهَنْدَسَةَ، لَا فِي لَنْدَنَ بَلْ فِي مَانْشِسْتَرَ».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is he excited?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هُوَ مُتَحَمِّسٌ؟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very excited, whereas his sister is undecided.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مُتَحَمِّسٌ جِدًّا، أَمَّا أُخْتُهُ فَمُتَرَدِّدَةٌ.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write my article like this: first the ambition, then the skills, then the steps, and finally the challenge.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سَأَكْتُبُ مَقَالَتِي هٰكَذَا: أَوَّلًا الطُّمُوحُ، ثُمَّ المَهَارَاتُ، ثُمَّ الخُطُوَاتُ، وَأَخِيرًا التَّحَدِّي.</a:t>
            </a:r>
            <a:endParaRPr lang="ar-SA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 (A and B). Round 2: swap letters. Round 3: cover the Arabic and say it from the English. Then change TWO details — one from each lesson — and say it again.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QUESTION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Mixed questions — answer, then add more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Add more (Develop · Stretch)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your answer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مُنْذُ أَنْ كُنْتُ صَغِيرًا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… لِأَنَّ …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226771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What is your ambition? Why?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¶١ مَا طُمُوحُكَ؟ وَلِمَاذَا؟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56648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Trap: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المَقْهَى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 =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الخُطَّةُ القَدِيمَةُ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المَكْتَبَةِ …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36008" y="2881884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“I was going to work in a café, then found a job in a library.” — Where will he work?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سَأَعْمَلُ فِي مَقْهًى هٰذَا الصَّيْفَ، ثُمَّ وَجَدْتُ عَمَلًا فِي مَكْتَبَةٍ. — أَيْنَ سَيَعْمَلُ؟</a:t>
            </a:r>
            <a:endParaRPr lang="ar-SA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إِضَافَةً إِلَى ذٰلِكَ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؛ عَلَى سَبِيلِ المِثَالِ …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636008" y="3496056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Your skills? Give evidence.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¶٢ مَا مَهَارَاتُكَ؟ أَعْطِ دَلِيلًا.</a:t>
            </a:r>
            <a:endParaRPr lang="ar-SA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56648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Key word: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…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36008" y="4110228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“The interview isn’t Monday, but Wednesday.” — When?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المُقَابَلَةُ لَيْسَتْ يَوْمَ الإِثْنَيْنِ، بَلْ يَوْمَ الأَرْبِعَاءِ. — مَتَى المُقَابَلَةُ؟</a:t>
            </a:r>
            <a:endParaRPr lang="ar-SA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بَعْدَ التَّخَرُّجِ سَوْفَ …</a:t>
            </a:r>
            <a:endParaRPr lang="ar-SA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سَأَدْرُسُ … ثُمَّ …</a:t>
            </a:r>
            <a:endParaRPr lang="ar-SA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636008" y="4724400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Your steps, in order?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¶٣ مَا خُطُوَاتُكَ بِالتَّرْتِيبِ؟</a:t>
            </a:r>
            <a:endParaRPr lang="ar-SA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56648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Trap: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المُتَحَمِّسَةُ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 =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الأُخْتُ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…</a:t>
            </a:r>
            <a:endParaRPr lang="ar-SA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36008" y="533857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“My sister is excited about university, whereas I am worried.” — How does the speaker feel?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أُخْتِي مُتَحَمِّسَةٌ لِلْجَامِعَةِ، بَيْنَمَا أَنَا قَلِقٌ. — كَيْفَ يَشْعُرُ المُتَكَلِّمُ؟</a:t>
            </a:r>
            <a:endParaRPr lang="ar-SA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D3-L09, even numbers from D3-L10. Core: a full sentence from the starter. Develop: add the “more” part. Stretch: link two answers with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‏,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‏. Swap after each question.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ROLE-PLAY CARD · PLANS FOR TASKS 1–2 ARE GIVEN — PLAN 3–5 YOURSELF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Listening card — career voices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أَصْوَاتٌ عَنِ المِهَنِ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فِي … (لَيْسَ فِي …)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will she work? (the final plan)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«كُنْتُ سَأَعْمَلُ فِي مَقْهًى هٰذَا الصَّيْفَ، ثُمَّ وَجَدْتُ عَمَلًا فِي مَكْتَبَةٍ».</a:t>
            </a:r>
            <a:endParaRPr lang="ar-SA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بَلْ ← يَوْمَ …</a:t>
            </a:r>
            <a:endParaRPr lang="ar-SA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is the interview?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«المُقَابَلَةُ لَيْسَتْ يَوْمَ الإِثْنَيْنِ، بَلْ يَوْمَ الأَرْبِعَاءِ».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wants to be a pilot? What does the speaker want?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«أَخِي يُرِيدُ أَنْ يُصْبِحَ طَيَّارًا، أَمَّا أَنَا فَأُحِبُّ الطَّبْخَ».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her attitude? Give the clue.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«لَا أَعْرِفُ: الجَامِعَةُ مُكْلِفَةٌ، وَلٰكِنَّ التَّدْرِيبَ قَصِيرٌ…»</a:t>
            </a:r>
            <a:endParaRPr lang="ar-SA" sz="16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own change of mind and final plan.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وَأَنْتَ: هَلْ غَيَّرْتَ رَأْيَكَ عَنْ مِهْنَتِكَ يَوْمًا؟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Partner A reads each clip twice. Give the FINAL answer and name the trap (‏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غَيَّرْتُ رَأْيِي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بَلْ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… فَ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…‏ · attitude word). Task ! is yours. Then swap.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SHORT TALK · ONE MINUTE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podcast clip: my career plan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مَقْطَعِي فِي البُودْكَاسْتِ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use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Record a one-minute podcast clip about your career plan in four parts (ambition · skills · route · challenge). Include ONE change of mind and ONE correction with ‏</a:t>
            </a:r>
            <a:pPr algn="l" indent="0" marL="0">
              <a:buNone/>
            </a:pPr>
            <a:r>
              <a:rPr lang="ar-SA" altLang="en-US" sz="17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بَلْ</a:t>
            </a:r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as a trap. Your partner listens and reports your FINAL plan.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Think for 30 seconds: 2 key words from EACH lesson,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partner times 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Partner: one thing that went well + one thing to improve.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then the teacher invites two volunteers.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… · سَأَدْرُسُ …</a:t>
            </a:r>
            <a:endParaRPr lang="ar-SA" sz="14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سَأَدْرُسُ … ثُمَّ غَيَّرْتُ رَأْيِي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and an attitude word (‏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مُتَحَمِّسٌ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قَلِقٌ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‏).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إِضَافَةً إِلَى ذٰلِكَ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التَّخَرُّجِ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الرَّغْمِ مِنْ أَنَّ … فَإِنَّنِي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· لِذٰلِكَ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… · so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opinion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SENTENCE BUILDER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correct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In addition, I am good at languages.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إِضَافَةً إِلَى ذٰلِكَ،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لِذٰلِكَ،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مَاهِرٌ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مَاهِرًا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اللُّغَاتِ.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بِاللُّغَاتُ.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was going to study law, then I changed my mind.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سَأَدْرُسُ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كُنْتُ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القَانُونَ،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القَانُونُ،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غَيَّرْتُ رَأْيِي.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أُغَيِّرُ رَأْيِي.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First I will study, then I will train.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سَأَدْرُسُ،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دَرَسْتُ،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سَأَتَدَرَّبُ.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أَتَدَرَّبَ.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SENTENCES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Sentence builder: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In addition, I am good at languages.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إِضَافَةً إِلَى ذٰلِكَ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predicate -un.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إِضَافَةً إِلَى ذٰلِكَ، أَنَا مَاهِرٌ فِي اللُّغَاتِ.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was going to study law, then I changed my mind.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Was going to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sa- verb; then a past verb.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سَأَدْرُسُ القَانُونَ، ثُمَّ غَيَّرْتُ رَأْيِي.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First I will study, then I will train.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Sequence in the future: sa- …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sa- …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سَأَدْرُسُ، ثُمَّ سَأَتَدَرَّبُ.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AND FIX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لَا أَتْرُكُ حُلْمِي.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Negative future.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«كُنْتُ سَأَعْمَلُ فِي بَنْكٍ، ثُمَّ اخْتَرْتُ التَّعْلِيمَ.» ← سَيَعْمَلُ فِي بَنْكٍ.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Old plan or final plan?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مُنَظَّمٌ. أَنَا دَقِيقٌ. أَنَا صَبُورٌ.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Join and prove.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لَا أَتْرُكُ حُلْمِي.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أَتْرُكَ حُلْمِي.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+ -a.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«كُنْتُ سَأَعْمَلُ فِي بَنْكٍ، ثُمَّ اخْتَرْتُ التَّعْلِيمَ.» ← سَيَعْمَلُ فِي بَنْكٍ.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سَيَعْمَلُ فِي التَّعْلِيمِ.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plan after 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غَيَّرْتُ / اخْتَرْتُ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is the final one.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مُنَظَّمٌ. أَنَا دَقِيقٌ. أَنَا صَبُورٌ.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مُنَظَّمٌ وَدَقِيقٌ؛ عَلَى سَبِيلِ المِثَالِ، أُخَطِّطُ دُرُوسِي كُلَّ أُسْبُوعٍ.</a:t>
            </a:r>
            <a:endParaRPr lang="ar-SA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Connectors + evidence.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سَأُصْبِحُ ______ ، ثُمَّ غَيَّرْتُ رَأْيِي.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I was going to become …, then I changed my mind.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إِضَافَةً إِلَى ذٰلِكَ، ______ 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In addition, …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______ ، فَسَوْفَ ______ .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¶4 If …, I will …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أُصْبِحَ ______ لِأَنَّ ______ .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I aspire to become … because …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______ ؛ عَلَى سَبِيلِ المِثَالِ، ______ .</a:t>
            </a:r>
            <a:endParaRPr lang="ar-SA" sz="175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I am …; for example, …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سَأَدْرُسُ ______ ، ثُمَّ ______ .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First I will study …, then …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التَّخَرُّجِ ______ .</a:t>
            </a:r>
            <a:endParaRPr lang="ar-SA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After graduating …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202168" y="4517136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الرَّغْمِ مِنْ أَنَّ ______ ، فَإِنَّنِي ______ 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6327648" y="4517136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¶4 Although …, I …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 ·  غَيَّرْتُ رَأْيِي  ·  عَلَى سَبِيلِ المِثَالِ  ·  إِضَافَةً إِلَى ذٰلِكَ  ·  أَوَّلًا · ثُمَّ  ·  بَعْدَ التَّخَرُّجِ  ·  نَتِيجَةً لِذٰلِكَ  ·  عَلَى الرَّغْمِ مِنْ أَنَّ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ABOUT 60–80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 career-plan article in four paragraphs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مَقَالَةٌ عَنْ خُطَّتِي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2061972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2061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DIRECTED TASK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Turn your podcast clip into an article (about 60–80 words) in four paragraphs for a careers magazine. ¶1 ambition + two reasons (and one change of mind). ¶2 two skills with evidence. ¶3 your route in order (first … then … after graduating …). ¶4 a challenge + a concession, and a condition to finish.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All the bullet points, in order.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Language from D3-L09 AND D3-L10.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Linking words: ‏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One opinion with a reason.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سَأَدْرُسُ … ثُمَّ غَيَّرْتُ رَأْيِي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going to … then I changed my mind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إِضَافَةً إِلَى ذٰلِكَ …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 بَعْدَ التَّخَرُّجِ …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 after graduating …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الرَّغْمِ مِنْ أَنَّ … فَإِنَّنِي …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although …, I …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EVERY bullet point?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four clear paragraphs, each with its job?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catch corrections with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‏, who is speaking and the attitude?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linking words (‏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more than one tense and give an opinion with a reason?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ROLE-PLAY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card: compare with a strong answer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مَكْتَبَةٍ، لَيْسَ فِي مَقْهًى.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 library, not in a café.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«كُنْتُ سَأَعْمَلُ فِي مَقْهًى هٰذَا الصَّيْفَ، ثُمَّ وَجَدْتُ عَمَلًا فِي مَكْتَبَةٍ».</a:t>
            </a:r>
            <a:endParaRPr lang="ar-SA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الأَرْبِعَاءِ.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Wednesday.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«المُقَابَلَةُ لَيْسَتْ يَوْمَ الإِثْنَيْنِ، بَلْ يَوْمَ الأَرْبِعَاءِ».</a:t>
            </a:r>
            <a:endParaRPr lang="ar-SA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أَخُوهُ يُرِيدُ أَنْ يُصْبِحَ طَيَّارًا، وَالمُتَكَلِّمُ يُرِيدُ أَنْ يَعْمَلَ طَبَّاخًا.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His brother wants to be a pilot; the speaker wants to work as a chef.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«أَخِي يُرِيدُ أَنْ يُصْبِحَ طَيَّارًا، أَمَّا أَنَا فَأُحِبُّ الطَّبْخَ».</a:t>
            </a:r>
            <a:endParaRPr lang="ar-SA" sz="15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مُتَرَدِّدَةٌ؛ الدَّلِيلُ: «لَا أَعْرِفُ».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She is undecided; the clue: “I don’t know.”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«لَا أَعْرِفُ: الجَامِعَةُ مُكْلِفَةٌ، وَلٰكِنَّ التَّدْرِيبَ قَصِيرٌ…»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كُنْتُ سَأُصْبِحُ لَاعِبَ كُرَةٍ، ثُمَّ غَيَّرْتُ رَأْيِي؛ الآنَ أُرِيدُ أَنْ أُصْبِحَ مُدَرِّبًا.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was going to be a footballer, then I changed my mind; now I want to become a coach.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وَأَنْتَ: هَلْ غَيَّرْتَ رَأْيَكَ عَنْ مِهْنَتِكَ يَوْمًا؟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WRITE YOUR TEXT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أُصْبِحَ مُهَنْدِسَةً، لِأَنِّي أُحِبُّ الرِّيَاضِيَّاتِ وَأُرِيدُ أَنْ أَبْنِيَ جُسُورًا. كُنْتُ سَأَدْرُسُ الطِّبَّ، ثُمَّ غَيَّرْتُ رَأْيِي.</a:t>
            </a:r>
            <a:endParaRPr lang="ar-SA" sz="245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دَقِيقَةٌ؛ عَلَى سَبِيلِ المِثَالِ، أُرَاجِعُ حِسَابَاتِي مَرَّتَيْنِ. إِضَافَةً إِلَى ذٰلِكَ، أُحِبُّ العَمَلَ الجَمَاعِيَّ.</a:t>
            </a:r>
            <a:endParaRPr lang="ar-SA" sz="245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سَأَدْرُسُ الفِيزْيَاءَ، ثُمَّ سَأَلْتَحِقُ بِالجَامِعَةِ. بَعْدَ التَّخَرُّجِ سَأَعْمَلُ فِي شَرِكَةٍ كَبِيرَةٍ.</a:t>
            </a:r>
            <a:endParaRPr lang="ar-SA" sz="245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الرَّغْمِ مِنْ أَنَّ الدِّرَاسَةَ صَعْبَةٌ، فَإِنَّنِي مُتَحَمِّسَةٌ. إِذَا اجْتَهَدْتُ، فَسَوْفَ أَنْجَحُ.</a:t>
            </a:r>
            <a:endParaRPr lang="ar-SA" sz="245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“I aspire to become an engineer, because I love maths and want to build bridges. I was going to study medicine, then I changed my mind. / I am precise; for example, I check my calculations twice. In addition, I like teamwork. / First I will study physics, then I will go to university. After graduating I will work in a big company. / Although the studies are hard, I am excited. If I work hard, I will succeed.”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غَيَّرْتُ رَأْيِي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إِضَافَةً إِلَى ذٰلِكَ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التَّخَرُّجِ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الرَّغْمِ مِنْ أَنَّ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D3 · Work and Careers · D3-W05 · Apply workshop (D3-L09 + D3-L10)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from D3-L09 and D3-L10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a sentence for every bullet point.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language from BOTH lessons when I spoke and when I wrote.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text and I fixed one mistake.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more than one tense and gave opinions with reasons.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D3-W05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D3-L11 · D3 Consolidation — Error Analysis and Assessment Preparation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تَرْسِيخُ الوَحْدَةِ الثَّالِثَةِ — تَحْلِيلُ الأَخْطَاءِ وَالاِسْتِعْدَادُ لِلتَّقْيِيمِ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D3-W05 · Apply Workshop — The Careers Podcast and Article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2026-10-26T15:33:32Z</dcterms:created>
  <dcterms:modified xsi:type="dcterms:W3CDTF">2026-10-26T15:33:32Z</dcterms:modified>
</cp:coreProperties>
</file>