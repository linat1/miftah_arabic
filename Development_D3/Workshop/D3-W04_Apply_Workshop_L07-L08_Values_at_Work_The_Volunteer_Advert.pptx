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WORKSHOP AT A GLANCE — the third lesson of the week (Learn D3-L07 · Learn D3-L08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one minute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D3-L07 (Arabic Proverbs and Values — Work Ethic and Success) and D3-L08 (Reading — Jobs and Career Texts).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D3-L07 and D3-L08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LEARNT (3 min, main room). Ask: “What can you say after D3-L07? After D3-L08?” Take two answers in the chat for each lesson (one word or one sentence is enough). Then read objective 3 — today’s new situation that needs BOTH lessons. Students tick their route goals at the end of the lesson.
D3-L07 language: explaining a proverb: yaʿnī hādhā al-mathalu anna …; applying it: yanṭabiqu hādhā al-mathalu ʿalā …; advice with the imperative (ijtahid · iṣbir) and the prohibition lā + jussive (lā tuʾajjil · lā tastaslim); values nouns (al-muthābara · al-amāna · al-inḍibāṭ)
D3-L08 language: advert passives: yushtaraṭu (it is required) · yuṭlabu (is wanted) · yufaḍḍalu (is preferred); tracking reference (alladhī / allatī · -hu / -hā); inference you can prove from the text (yabdū anna … · al-dalīlu anna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D3-L07.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D3-L08.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3 (5 min). A NEW dialogue that joins D3-L07 and D3-L08. Teacher reads it once with a confident student; then pairs. Ask: “Which lines are from D3-L07? Which from D3-L08?” Advert passives (يُطْلَبُ · يُشْتَرَطُ · يُفَضَّلُ) and inference (يَبْدُو أَنَّ …) come from D3-L08; explaining and applying a proverb (يَعْنِي هٰذَا المَثَلُ أَنَّ …) and values nouns from D3-L07.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5 (7 min). One NEW situation that needs both lessons: reading advert requirements and inferring from the text (D3-L08) and linking them to values and proverbs (D3-L07). FADED SUPPORT: tasks 1–2 show the plan; students write their own plan for 3–5. To a girl Partner A says: هَلْ أَنْتِ مُنَاسِبَةٌ؟ · مَاذَا تَقُولِينَ لِنَفْسِكِ؟ — and she advises herself: اصْبِرِي وَلَا تَسْتَسْلِمِي.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D3-L07 and D3-L08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D3-L07 and D3-L08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(50–60 words). Develop: 80–100 words, frames only if stuck. Stretch: no frames, add reasons and another time frame.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(54 words). CHECK YOURSELF (2 min). Find each bullet point in the model, and one phrase from D3-L07 and one from D3-L08.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D3  ·  D3-L07 + D3-L08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D3-W04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Apply Workshop — Values at Work: The Volunteer Advert</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القِيَمُ فِي العَمَلِ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200" dirty="0">
                <a:solidFill>
                  <a:srgbClr val="C6D2E6"/>
                </a:solidFill>
                <a:latin typeface="Calibri" pitchFamily="34" charset="0"/>
                <a:cs typeface="Amiri" pitchFamily="2" charset="-78"/>
              </a:rPr>
              <a:t>Students join reading job adverts with values and proverbs: they read a volunteer advert from a food bank (</a:t>
            </a:r>
            <a:pPr algn="l" indent="0" marL="0">
              <a:buNone/>
            </a:pPr>
            <a:r>
              <a:rPr lang="ar-SA" altLang="en-US" sz="1550" dirty="0">
                <a:solidFill>
                  <a:srgbClr val="C6D2E6"/>
                </a:solidFill>
                <a:latin typeface="Amiri" pitchFamily="2" charset="-78"/>
                <a:ea typeface="Amiri" pitchFamily="2" charset="-78"/>
                <a:cs typeface="Amiri" pitchFamily="2" charset="-78"/>
              </a:rPr>
              <a:t>يُطْلَبُ</a:t>
            </a:r>
            <a:pPr algn="l" indent="0" marL="0">
              <a:buNone/>
            </a:pPr>
            <a:r>
              <a:rPr lang="en-US" sz="1200" dirty="0">
                <a:solidFill>
                  <a:srgbClr val="C6D2E6"/>
                </a:solidFill>
                <a:latin typeface="Calibri" pitchFamily="34" charset="0"/>
                <a:cs typeface="Amiri" pitchFamily="2" charset="-78"/>
              </a:rPr>
              <a:t> · </a:t>
            </a:r>
            <a:pPr algn="l" indent="0" marL="0">
              <a:buNone/>
            </a:pPr>
            <a:r>
              <a:rPr lang="ar-SA" altLang="en-US" sz="1550" dirty="0">
                <a:solidFill>
                  <a:srgbClr val="C6D2E6"/>
                </a:solidFill>
                <a:latin typeface="Amiri" pitchFamily="2" charset="-78"/>
                <a:ea typeface="Amiri" pitchFamily="2" charset="-78"/>
                <a:cs typeface="Amiri" pitchFamily="2" charset="-78"/>
              </a:rPr>
              <a:t>يُشْتَرَطُ</a:t>
            </a:r>
            <a:pPr algn="l" indent="0" marL="0">
              <a:buNone/>
            </a:pPr>
            <a:r>
              <a:rPr lang="en-US" sz="1200" dirty="0">
                <a:solidFill>
                  <a:srgbClr val="C6D2E6"/>
                </a:solidFill>
                <a:latin typeface="Calibri" pitchFamily="34" charset="0"/>
                <a:cs typeface="Amiri" pitchFamily="2" charset="-78"/>
              </a:rPr>
              <a:t> · </a:t>
            </a:r>
            <a:pPr algn="l" indent="0" marL="0">
              <a:buNone/>
            </a:pPr>
            <a:r>
              <a:rPr lang="ar-SA" altLang="en-US" sz="1550" dirty="0">
                <a:solidFill>
                  <a:srgbClr val="C6D2E6"/>
                </a:solidFill>
                <a:latin typeface="Amiri" pitchFamily="2" charset="-78"/>
                <a:ea typeface="Amiri" pitchFamily="2" charset="-78"/>
                <a:cs typeface="Amiri" pitchFamily="2" charset="-78"/>
              </a:rPr>
              <a:t>يُفَضَّلُ</a:t>
            </a:r>
            <a:pPr algn="l" indent="0" marL="0">
              <a:buNone/>
            </a:pPr>
            <a:r>
              <a:rPr lang="en-US" sz="1200" dirty="0">
                <a:solidFill>
                  <a:srgbClr val="C6D2E6"/>
                </a:solidFill>
                <a:latin typeface="Calibri" pitchFamily="34" charset="0"/>
                <a:cs typeface="Amiri" pitchFamily="2" charset="-78"/>
              </a:rPr>
              <a:t>), infer what the charity values, match proverbs to the requirements, decide if they are suitable, and write a reply that explains a proverb and applies it to themselves.</a:t>
            </a:r>
            <a:endParaRPr lang="en-US" sz="12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D3-L07 + D3-L08</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D3 › D3-L08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D3-W04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D3-W04 · Apply workshop (D3-L07 + D3-L08)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D3-W04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D3-W04 · Apply workshop (D3-L07 + D3-L08)</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D3-L07 and D3-L08.</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model dialogue · question cards · role-play card · short talk.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sentence builder · spot and fix ·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D3-W04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D3-L07 + D3-L08</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D3-W04 · Apply workshop (D3-L07 + D3-L08)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D3-L07: Arabic Proverbs and Values — Work Ethic and Success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D3-L08: Reading — Jobs and Career Texts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the food bank advert · A reply to the volunteer advert</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Answer questions from BOTH lessons in full sentences.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Write the text using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Join both lessons in one conversation and a one minute talk.</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text, frames only if stuck.</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Speak without notes; add reasons and opinions.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Use more than one tense; give and justify opinions.</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D3-W04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race: two lessons, one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D3-W04 · Apply workshop (D3-L07 + D3-L08)</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English → Arabic,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words from D3-L07 and D3-L08. Partner A says a word in ENGLISH; Partner B says it in ARABIC.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with it.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a word from each lesson in one sentence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D3-W04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D3-L07</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D3-L07 · Arabic Proverbs and Values — Work Ethic and Success</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D3-W04 · Apply workshop (D3-L07 + D3-L08)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جَدَّ وَجَدَ</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Whoever strives succeeds</a:t>
            </a:r>
            <a:endParaRPr lang="en-US" sz="1350" dirty="0"/>
          </a:p>
          <a:p>
            <a:pPr indent="0" marL="0">
              <a:buNone/>
            </a:pPr>
            <a:r>
              <a:rPr lang="en-US" sz="1100" i="1" dirty="0">
                <a:solidFill>
                  <a:srgbClr val="5A6472"/>
                </a:solidFill>
                <a:latin typeface="Calibri" pitchFamily="34" charset="0"/>
                <a:cs typeface="Amiri" pitchFamily="2" charset="-78"/>
              </a:rPr>
              <a:t>man jad-da wa-ja-da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2550" b="1" dirty="0">
                <a:solidFill>
                  <a:srgbClr val="1B3B6F"/>
                </a:solidFill>
                <a:latin typeface="Amiri" pitchFamily="2" charset="-78"/>
                <a:ea typeface="Amiri" pitchFamily="2" charset="-78"/>
                <a:cs typeface="Amiri" pitchFamily="2" charset="-78"/>
              </a:rPr>
              <a:t>لَا تُؤَجِّلْ عَمَلَ اليَوْمِ إِلَى الغَدِ</a:t>
            </a:r>
            <a:endParaRPr lang="ar-SA" sz="255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Do not postpone today’s work</a:t>
            </a:r>
            <a:endParaRPr lang="en-US" sz="1350" dirty="0"/>
          </a:p>
          <a:p>
            <a:pPr indent="0" marL="0">
              <a:buNone/>
            </a:pPr>
            <a:r>
              <a:rPr lang="en-US" sz="1100" i="1" dirty="0">
                <a:solidFill>
                  <a:srgbClr val="5A6472"/>
                </a:solidFill>
                <a:latin typeface="Calibri" pitchFamily="34" charset="0"/>
                <a:cs typeface="Amiri" pitchFamily="2" charset="-78"/>
              </a:rPr>
              <a:t>lā tu-ʾaj-jil ʿa-ma-la al-yaw-mi i-lā al-gha-di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العِلْمُ نُورٌ</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Knowledge is light</a:t>
            </a:r>
            <a:endParaRPr lang="en-US" sz="1350" dirty="0"/>
          </a:p>
          <a:p>
            <a:pPr indent="0" marL="0">
              <a:buNone/>
            </a:pPr>
            <a:r>
              <a:rPr lang="en-US" sz="1100" i="1" dirty="0">
                <a:solidFill>
                  <a:srgbClr val="5A6472"/>
                </a:solidFill>
                <a:latin typeface="Calibri" pitchFamily="34" charset="0"/>
                <a:cs typeface="Amiri" pitchFamily="2" charset="-78"/>
              </a:rPr>
              <a:t>al-ʿil-mu nū-run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المُثَابَرَةُ</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perseverance</a:t>
            </a:r>
            <a:endParaRPr lang="en-US" sz="1350" dirty="0"/>
          </a:p>
          <a:p>
            <a:pPr indent="0" marL="0">
              <a:buNone/>
            </a:pPr>
            <a:r>
              <a:rPr lang="en-US" sz="1100" i="1" dirty="0">
                <a:solidFill>
                  <a:srgbClr val="5A6472"/>
                </a:solidFill>
                <a:latin typeface="Calibri" pitchFamily="34" charset="0"/>
                <a:cs typeface="Amiri" pitchFamily="2" charset="-78"/>
              </a:rPr>
              <a:t>al-mu-thā-ba-ra-tu</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الاِنْضِبَاطُ</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discipline</a:t>
            </a:r>
            <a:endParaRPr lang="en-US" sz="1350" dirty="0"/>
          </a:p>
          <a:p>
            <a:pPr indent="0" marL="0">
              <a:buNone/>
            </a:pPr>
            <a:r>
              <a:rPr lang="en-US" sz="1100" i="1" dirty="0">
                <a:solidFill>
                  <a:srgbClr val="5A6472"/>
                </a:solidFill>
                <a:latin typeface="Calibri" pitchFamily="34" charset="0"/>
                <a:cs typeface="Amiri" pitchFamily="2" charset="-78"/>
              </a:rPr>
              <a:t>aln-ḍi-bā-ṭu</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3" name="Text 5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التَّعَاوُنُ</a:t>
            </a:r>
            <a:endParaRPr lang="ar-SA" sz="3000" dirty="0"/>
          </a:p>
        </p:txBody>
      </p:sp>
      <p:sp>
        <p:nvSpPr>
          <p:cNvPr id="54" name="Text 5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cooperation</a:t>
            </a:r>
            <a:endParaRPr lang="en-US" sz="1350" dirty="0"/>
          </a:p>
          <a:p>
            <a:pPr indent="0" marL="0">
              <a:buNone/>
            </a:pPr>
            <a:r>
              <a:rPr lang="en-US" sz="1100" i="1" dirty="0">
                <a:solidFill>
                  <a:srgbClr val="5A6472"/>
                </a:solidFill>
                <a:latin typeface="Calibri" pitchFamily="34" charset="0"/>
                <a:cs typeface="Amiri" pitchFamily="2" charset="-78"/>
              </a:rPr>
              <a:t>at-ta-ʿā-wu-nu</a:t>
            </a:r>
            <a:endParaRPr lang="en-US" sz="13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D3-W04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D3-L08</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D3-L08 · Reading — Jobs and Career Texts</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D3-W04 · Apply workshop (D3-L07 + D3-L08)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سِيرَةٌ ذَاتِيَّةٌ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CV</a:t>
            </a:r>
            <a:endParaRPr lang="en-US" sz="1350" dirty="0"/>
          </a:p>
          <a:p>
            <a:pPr indent="0" marL="0">
              <a:buNone/>
            </a:pPr>
            <a:r>
              <a:rPr lang="en-US" sz="1100" i="1" dirty="0">
                <a:solidFill>
                  <a:srgbClr val="5A6472"/>
                </a:solidFill>
                <a:latin typeface="Calibri" pitchFamily="34" charset="0"/>
                <a:cs typeface="Amiri" pitchFamily="2" charset="-78"/>
              </a:rPr>
              <a:t>sī-ra-tun dhā-tiy-ya-tun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خِبْرَةٌ سَابِقَةٌ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previous experience</a:t>
            </a:r>
            <a:endParaRPr lang="en-US" sz="1350" dirty="0"/>
          </a:p>
          <a:p>
            <a:pPr indent="0" marL="0">
              <a:buNone/>
            </a:pPr>
            <a:r>
              <a:rPr lang="en-US" sz="1100" i="1" dirty="0">
                <a:solidFill>
                  <a:srgbClr val="5A6472"/>
                </a:solidFill>
                <a:latin typeface="Calibri" pitchFamily="34" charset="0"/>
                <a:cs typeface="Amiri" pitchFamily="2" charset="-78"/>
              </a:rPr>
              <a:t>khib-ra-tun sā-bi-qa-tun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مَهَارَةُ التَّوَاصُلِ</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communication skill</a:t>
            </a:r>
            <a:endParaRPr lang="en-US" sz="1350" dirty="0"/>
          </a:p>
          <a:p>
            <a:pPr indent="0" marL="0">
              <a:buNone/>
            </a:pPr>
            <a:r>
              <a:rPr lang="en-US" sz="1100" i="1" dirty="0">
                <a:solidFill>
                  <a:srgbClr val="5A6472"/>
                </a:solidFill>
                <a:latin typeface="Calibri" pitchFamily="34" charset="0"/>
                <a:cs typeface="Amiri" pitchFamily="2" charset="-78"/>
              </a:rPr>
              <a:t>ma-hā-ra-tu at-ta-wā-ṣu-li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إِجَادَةُ اللُّغَاتِ</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language proficiency</a:t>
            </a:r>
            <a:endParaRPr lang="en-US" sz="1350" dirty="0"/>
          </a:p>
          <a:p>
            <a:pPr indent="0" marL="0">
              <a:buNone/>
            </a:pPr>
            <a:r>
              <a:rPr lang="en-US" sz="1100" i="1" dirty="0">
                <a:solidFill>
                  <a:srgbClr val="5A6472"/>
                </a:solidFill>
                <a:latin typeface="Calibri" pitchFamily="34" charset="0"/>
                <a:cs typeface="Amiri" pitchFamily="2" charset="-78"/>
              </a:rPr>
              <a:t>i-jā-da-tu all-lu-ghā-ti</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رِسَالَةُ تَغْطِيَةٍ</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cover letter</a:t>
            </a:r>
            <a:endParaRPr lang="en-US" sz="1350" dirty="0"/>
          </a:p>
          <a:p>
            <a:pPr indent="0" marL="0">
              <a:buNone/>
            </a:pPr>
            <a:r>
              <a:rPr lang="en-US" sz="1100" i="1" dirty="0">
                <a:solidFill>
                  <a:srgbClr val="5A6472"/>
                </a:solidFill>
                <a:latin typeface="Calibri" pitchFamily="34" charset="0"/>
                <a:cs typeface="Amiri" pitchFamily="2" charset="-78"/>
              </a:rPr>
              <a:t>ri-sā-la-tu tagh-ṭi-ya-tin</a:t>
            </a:r>
            <a:endParaRPr lang="en-US" sz="1350" dirty="0"/>
          </a:p>
        </p:txBody>
      </p:sp>
      <p:sp>
        <p:nvSpPr>
          <p:cNvPr id="48" name="Shape 4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66928"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51" name="Text 4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مُقَابَلَةٌ شَخْصِيَّةٌ</a:t>
            </a:r>
            <a:endParaRPr lang="ar-SA" sz="3000" dirty="0"/>
          </a:p>
        </p:txBody>
      </p:sp>
      <p:sp>
        <p:nvSpPr>
          <p:cNvPr id="52" name="Text 4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interview</a:t>
            </a:r>
            <a:endParaRPr lang="en-US" sz="1350" dirty="0"/>
          </a:p>
          <a:p>
            <a:pPr indent="0" marL="0">
              <a:buNone/>
            </a:pPr>
            <a:r>
              <a:rPr lang="en-US" sz="1100" i="1" dirty="0">
                <a:solidFill>
                  <a:srgbClr val="5A6472"/>
                </a:solidFill>
                <a:latin typeface="Calibri" pitchFamily="34" charset="0"/>
                <a:cs typeface="Amiri" pitchFamily="2" charset="-78"/>
              </a:rPr>
              <a:t>mu-qā-ba-la-tun shakh-ṣiy-ya-tun</a:t>
            </a:r>
            <a:endParaRPr lang="en-US"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D3-W04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2 · SORT IT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Advert language or values language?</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 البِطَاقَاتِ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D3-W04 · Apply workshop (D3-L07 + D3-L08)</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الصَّبْرُ مِفْتَاحُ الفَرَجِ</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يُطْلَبُ مُتَطَوِّعُونَ</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يُشْتَرَطُ الالْتِزَامُ</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الأَمَانَةُ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يَعْنِي هٰذَا المَثَلُ أَنَّ …</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يُفَضَّلُ مَنْ لَدَيْهِ خِبْرَةٌ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لِلتَّقَدُّمِ أَرْسِلْ …</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تَسْتَسْلِمْ</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Proverbs and values · D3-L07</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Advert language · D3-L08</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 البِطَاقَاتِ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D3-W04 · Apply workshop (D3-L07 + D3-L08)</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Proverbs and values · D3-L07</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الصَّبْرُ مِفْتَاحُ الفَرَجِ</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الأَمَانَةُ</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يَعْنِي هٰذَا المَثَلُ أَنَّ …</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تَسْتَسْلِمْ</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Advert language · D3-L08</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يُطْلَبُ مُتَطَوِّعُونَ</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يُشْتَرَطُ الالْتِزَامُ</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يُفَضَّلُ مَنْ لَدَيْهِ خِبْرَةٌ</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لِلتَّقَدُّمِ أَرْسِلْ …</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D3-W04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PART 2 · STEP 3 · SAY THE MODEL DIALOGUE · BOTH LESSONS IN ONE CONVERSATION</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the advert together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نَقْرَأُ الإِعْلَانَ مَعًا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D3-W04 · Apply workshop (D3-L07 + D3-L08)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Listen: “Volunteers wanted for the food bank on Saturday.”</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اسْمَعْ: «يُطْلَبُ مُتَطَوِّعُونَ لِبَنْكِ الطَّعَامِ يَوْمَ السَّبْتِ».</a:t>
            </a:r>
            <a:endParaRPr lang="ar-SA" sz="19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what are the requirements?</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وَمَا الشُّرُوطُ؟</a:t>
            </a:r>
            <a:endParaRPr lang="ar-SA" sz="19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“Punctuality is required, and someone with teamwork experience is preferred.”</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«يُشْتَرَطُ الالْتِزَامُ بِالوَقْتِ، وَيُفَضَّلُ مَنْ لَدَيْهِ خِبْرَةٌ فِي العَمَلِ الجَمَاعِيِّ».</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It seems that discipline is important to them. That is like the proverb: “Time is like a sword.”</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يَبْدُو أَنَّ الانْضِبَاطَ مُهِمٌّ عِنْدَهُمْ. هٰذَا مِثْلُ المَثَلِ: «الوَقْتُ كَالسَّيْفِ».</a:t>
            </a:r>
            <a:endParaRPr lang="ar-SA" sz="19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does this proverb mean?</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مَاذَا يَعْنِي هٰذَا المَثَلُ؟</a:t>
            </a:r>
            <a:endParaRPr lang="ar-SA" sz="19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It means that time is precious; if you don’t use it well, it is lost.</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يَعْنِي أَنَّ الوَقْتَ ثَمِينٌ؛ إِذَا لَمْ تَسْتَعْمِلْهُ جَيِّدًا، ضَاعَ.</a:t>
            </a:r>
            <a:endParaRPr lang="ar-SA" sz="19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Round 1: read it in pairs (A and B). Round 2: swap letters. Round 3: cover the Arabic and say it from the English. Then change TWO details — one from each lesson — and say it again.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D3-W04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QUESTION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Mixed questions — answer, then add more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D3-W04 · Apply workshop (D3-L07 + D3-L08)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38360" y="226771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مَثَلًا …</a:t>
            </a:r>
            <a:endParaRPr lang="ar-SA" sz="1500" dirty="0"/>
          </a:p>
        </p:txBody>
      </p:sp>
      <p:sp>
        <p:nvSpPr>
          <p:cNvPr id="23" name="Text 20"/>
          <p:cNvSpPr txBox="1"/>
          <p:nvPr/>
        </p:nvSpPr>
        <p:spPr>
          <a:xfrm>
            <a:off x="6995160" y="226771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يَعْنِي هٰذَا المَثَلُ أَنَّ …</a:t>
            </a:r>
            <a:endParaRPr lang="ar-SA" sz="1600" dirty="0"/>
          </a:p>
        </p:txBody>
      </p:sp>
      <p:sp>
        <p:nvSpPr>
          <p:cNvPr id="24" name="Text 21"/>
          <p:cNvSpPr txBox="1"/>
          <p:nvPr/>
        </p:nvSpPr>
        <p:spPr>
          <a:xfrm>
            <a:off x="4636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does “Patience is the key to relief” mean?</a:t>
            </a:r>
            <a:endParaRPr lang="en-US" sz="1100" dirty="0"/>
          </a:p>
        </p:txBody>
      </p:sp>
      <p:sp>
        <p:nvSpPr>
          <p:cNvPr id="25" name="Text 22"/>
          <p:cNvSpPr txBox="1"/>
          <p:nvPr/>
        </p:nvSpPr>
        <p:spPr>
          <a:xfrm>
            <a:off x="1051560" y="226771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يَعْنِي «الصَّبْرُ مِفْتَاحُ الفَرَجِ»؟</a:t>
            </a:r>
            <a:endParaRPr lang="ar-SA" sz="170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38360" y="2881884"/>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شَرْطٌ أَسَاسِيٌّ</a:t>
            </a:r>
            <a:endParaRPr lang="ar-SA" sz="150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نَعَمْ، «يُشْتَرَطُ» يَعْنِي …</a:t>
            </a:r>
            <a:endParaRPr lang="ar-SA" sz="1600" dirty="0"/>
          </a:p>
        </p:txBody>
      </p:sp>
      <p:sp>
        <p:nvSpPr>
          <p:cNvPr id="32" name="Text 29"/>
          <p:cNvSpPr txBox="1"/>
          <p:nvPr/>
        </p:nvSpPr>
        <p:spPr>
          <a:xfrm>
            <a:off x="4636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“English proficiency is required.” — Is it essential?</a:t>
            </a:r>
            <a:endParaRPr lang="en-US" sz="1100" dirty="0"/>
          </a:p>
        </p:txBody>
      </p:sp>
      <p:sp>
        <p:nvSpPr>
          <p:cNvPr id="33" name="Text 30"/>
          <p:cNvSpPr txBox="1"/>
          <p:nvPr/>
        </p:nvSpPr>
        <p:spPr>
          <a:xfrm>
            <a:off x="1051560" y="2881884"/>
            <a:ext cx="3383280" cy="559308"/>
          </a:xfrm>
          <a:prstGeom prst="rect">
            <a:avLst/>
          </a:prstGeom>
          <a:noFill/>
          <a:ln/>
        </p:spPr>
        <p:txBody>
          <a:bodyPr wrap="square" lIns="0" tIns="0" rIns="0" bIns="0" rtlCol="0" anchor="ctr"/>
          <a:lstStyle/>
          <a:p>
            <a:pPr rtl="1" algn="ctr" indent="0" marL="0">
              <a:buNone/>
            </a:pPr>
            <a:r>
              <a:rPr lang="ar-SA" altLang="en-US" sz="1400" b="1" dirty="0">
                <a:solidFill>
                  <a:srgbClr val="1B3B6F"/>
                </a:solidFill>
                <a:latin typeface="Amiri" pitchFamily="2" charset="-78"/>
                <a:ea typeface="Amiri" pitchFamily="2" charset="-78"/>
                <a:cs typeface="Amiri" pitchFamily="2" charset="-78"/>
              </a:rPr>
              <a:t>«يُشْتَرَطُ إِجَادَةُ اللُّغَةِ الإِنْجِلِيزِيَّةِ.» — هَلْ هٰذَا ضَرُورِيٌّ؟</a:t>
            </a:r>
            <a:endParaRPr lang="ar-SA" sz="140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38360" y="3496056"/>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مِثْلَ فَرِيقِ …</a:t>
            </a:r>
            <a:endParaRPr lang="ar-SA" sz="1500" dirty="0"/>
          </a:p>
        </p:txBody>
      </p:sp>
      <p:sp>
        <p:nvSpPr>
          <p:cNvPr id="39" name="Text 36"/>
          <p:cNvSpPr txBox="1"/>
          <p:nvPr/>
        </p:nvSpPr>
        <p:spPr>
          <a:xfrm>
            <a:off x="6995160" y="3496056"/>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نَقُولُهُ عِنْدَمَا …</a:t>
            </a:r>
            <a:endParaRPr lang="ar-SA" sz="1600" dirty="0"/>
          </a:p>
        </p:txBody>
      </p:sp>
      <p:sp>
        <p:nvSpPr>
          <p:cNvPr id="40" name="Text 37"/>
          <p:cNvSpPr txBox="1"/>
          <p:nvPr/>
        </p:nvSpPr>
        <p:spPr>
          <a:xfrm>
            <a:off x="4636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When do we say “Unity is strength”?</a:t>
            </a:r>
            <a:endParaRPr lang="en-US" sz="1100" dirty="0"/>
          </a:p>
        </p:txBody>
      </p:sp>
      <p:sp>
        <p:nvSpPr>
          <p:cNvPr id="41" name="Text 38"/>
          <p:cNvSpPr txBox="1"/>
          <p:nvPr/>
        </p:nvSpPr>
        <p:spPr>
          <a:xfrm>
            <a:off x="1051560" y="3496056"/>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مَتَى نَقُولُ «الاتِّحَادُ قُوَّةٌ»؟</a:t>
            </a:r>
            <a:endParaRPr lang="ar-SA" sz="170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56648" y="4110228"/>
            <a:ext cx="1901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لَا، لَيْسَتْ ضَرُورِيَّةً، وَلٰكِنَّ …</a:t>
            </a:r>
            <a:endParaRPr lang="ar-SA" sz="1600" dirty="0"/>
          </a:p>
        </p:txBody>
      </p:sp>
      <p:sp>
        <p:nvSpPr>
          <p:cNvPr id="48" name="Text 45"/>
          <p:cNvSpPr txBox="1"/>
          <p:nvPr/>
        </p:nvSpPr>
        <p:spPr>
          <a:xfrm>
            <a:off x="4636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driving licence is preferred.” — Do you need one?</a:t>
            </a:r>
            <a:endParaRPr lang="en-US" sz="1100" dirty="0"/>
          </a:p>
        </p:txBody>
      </p:sp>
      <p:sp>
        <p:nvSpPr>
          <p:cNvPr id="49" name="Text 46"/>
          <p:cNvSpPr txBox="1"/>
          <p:nvPr/>
        </p:nvSpPr>
        <p:spPr>
          <a:xfrm>
            <a:off x="1051560" y="4110228"/>
            <a:ext cx="3383280"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«يُفَضَّلُ مَنْ لَدَيْهِ رُخْصَةُ قِيَادَةٍ.» — هَلْ تَحْتَاجُ إِلَيْهَا؟</a:t>
            </a:r>
            <a:endParaRPr lang="ar-SA" sz="150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56648" y="4724400"/>
            <a:ext cx="1901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55" name="Text 52"/>
          <p:cNvSpPr txBox="1"/>
          <p:nvPr/>
        </p:nvSpPr>
        <p:spPr>
          <a:xfrm>
            <a:off x="6995160" y="4724400"/>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نَعَمْ، يَنْطَبِقُ عَلَيَّ لِأَنَّ …</a:t>
            </a:r>
            <a:endParaRPr lang="ar-SA" sz="1600" dirty="0"/>
          </a:p>
        </p:txBody>
      </p:sp>
      <p:sp>
        <p:nvSpPr>
          <p:cNvPr id="56" name="Text 53"/>
          <p:cNvSpPr txBox="1"/>
          <p:nvPr/>
        </p:nvSpPr>
        <p:spPr>
          <a:xfrm>
            <a:off x="4636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Does “Knowledge is light” apply to your life?</a:t>
            </a:r>
            <a:endParaRPr lang="en-US" sz="1100" dirty="0"/>
          </a:p>
        </p:txBody>
      </p:sp>
      <p:sp>
        <p:nvSpPr>
          <p:cNvPr id="57" name="Text 54"/>
          <p:cNvSpPr txBox="1"/>
          <p:nvPr/>
        </p:nvSpPr>
        <p:spPr>
          <a:xfrm>
            <a:off x="1051560" y="4724400"/>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يَنْطَبِقُ «العِلْمُ نُورٌ» عَلَى حَيَاتِكَ؟</a:t>
            </a:r>
            <a:endParaRPr lang="ar-SA" sz="170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56648" y="5338572"/>
            <a:ext cx="1901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Clue: ‏</a:t>
            </a:r>
            <a:pPr algn="l" indent="0" marL="0">
              <a:buNone/>
            </a:pPr>
            <a:r>
              <a:rPr lang="ar-SA" altLang="en-US" sz="1450" dirty="0">
                <a:solidFill>
                  <a:srgbClr val="5A6472"/>
                </a:solidFill>
                <a:latin typeface="Amiri" pitchFamily="2" charset="-78"/>
                <a:ea typeface="Amiri" pitchFamily="2" charset="-78"/>
                <a:cs typeface="Amiri" pitchFamily="2" charset="-78"/>
              </a:rPr>
              <a:t>الَّتِي</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الشَّرِكَةُ</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الشَّرِكَةُ …</a:t>
            </a:r>
            <a:endParaRPr lang="ar-SA" sz="1600" dirty="0"/>
          </a:p>
        </p:txBody>
      </p:sp>
      <p:sp>
        <p:nvSpPr>
          <p:cNvPr id="62" name="Text 59"/>
          <p:cNvSpPr txBox="1"/>
          <p:nvPr/>
        </p:nvSpPr>
        <p:spPr>
          <a:xfrm>
            <a:off x="4636008" y="5338572"/>
            <a:ext cx="2194560" cy="559308"/>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“The company, which was founded in Dubai, seeks a designer.” — What was founded in Dubai?</a:t>
            </a:r>
            <a:endParaRPr lang="en-US" sz="1050" dirty="0"/>
          </a:p>
        </p:txBody>
      </p:sp>
      <p:sp>
        <p:nvSpPr>
          <p:cNvPr id="63" name="Text 60"/>
          <p:cNvSpPr txBox="1"/>
          <p:nvPr/>
        </p:nvSpPr>
        <p:spPr>
          <a:xfrm>
            <a:off x="1051560" y="5338572"/>
            <a:ext cx="3383280" cy="559308"/>
          </a:xfrm>
          <a:prstGeom prst="rect">
            <a:avLst/>
          </a:prstGeom>
          <a:noFill/>
          <a:ln/>
        </p:spPr>
        <p:txBody>
          <a:bodyPr wrap="square" lIns="0" tIns="0" rIns="0" bIns="0" rtlCol="0" anchor="ctr"/>
          <a:lstStyle/>
          <a:p>
            <a:pPr rtl="1" algn="ctr" indent="0" marL="0">
              <a:lnSpc>
                <a:spcPct val="120000"/>
              </a:lnSpc>
              <a:buNone/>
            </a:pPr>
            <a:r>
              <a:rPr lang="ar-SA" altLang="en-US" sz="1200" b="1" dirty="0">
                <a:solidFill>
                  <a:srgbClr val="1B3B6F"/>
                </a:solidFill>
                <a:latin typeface="Amiri" pitchFamily="2" charset="-78"/>
                <a:ea typeface="Amiri" pitchFamily="2" charset="-78"/>
                <a:cs typeface="Amiri" pitchFamily="2" charset="-78"/>
              </a:rPr>
              <a:t>«الشَّرِكَةُ الَّتِي تَأَسَّسَتْ فِي دُبَيٍّ تَبْحَثُ عَنْ مُصَمِّمٍ.» — مَا الَّذِي تَأَسَّسَ فِي دُبَيٍّ؟</a:t>
            </a:r>
            <a:endParaRPr lang="ar-SA" sz="120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D3-L07, even numbers from D3-L08. Core: a full sentence from the starter. Develop: add the “more” part. Stretch: link two answers with ‏</a:t>
            </a:r>
            <a:pPr algn="l" indent="0" marL="0">
              <a:buNone/>
            </a:pPr>
            <a:r>
              <a:rPr lang="ar-SA" altLang="en-US" sz="1450" b="1" dirty="0">
                <a:solidFill>
                  <a:srgbClr val="1B3B6F"/>
                </a:solidFill>
                <a:latin typeface="Amiri" pitchFamily="2" charset="-78"/>
                <a:ea typeface="Amiri" pitchFamily="2" charset="-78"/>
                <a:cs typeface="Amiri" pitchFamily="2" charset="-78"/>
              </a:rPr>
              <a:t>وَ</a:t>
            </a:r>
            <a:pPr algn="l" indent="0" marL="0">
              <a:buNone/>
            </a:pPr>
            <a:r>
              <a:rPr lang="en-US" sz="1100" b="1" dirty="0">
                <a:solidFill>
                  <a:srgbClr val="1B3B6F"/>
                </a:solidFill>
                <a:latin typeface="Calibri" pitchFamily="34" charset="0"/>
                <a:cs typeface="Amiri" pitchFamily="2" charset="-78"/>
              </a:rPr>
              <a:t>‏,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Swap after each question.</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D3-W04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E6B52"/>
                </a:solidFill>
                <a:latin typeface="Calibri" pitchFamily="34" charset="0"/>
                <a:cs typeface="Amiri" pitchFamily="2" charset="-78"/>
              </a:rPr>
              <a:t>STEP 5 · ROLE-PLAY CARD · PLANS FOR TASKS 1–2 ARE GIVEN — PLAN 3–5 YOURSELF</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Reading card — the food bank advert</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إِعْلَانُ بَنْكِ الطَّعَامِ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D3-W04 · Apply workshop (D3-L07 + D3-L08)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75320" y="2267712"/>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 نَعَمْ / لَا، عُمْرِي …</a:t>
            </a:r>
            <a:endParaRPr lang="ar-SA" sz="16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Check the requirement against yourself.</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lnSpc>
                <a:spcPct val="120000"/>
              </a:lnSpc>
              <a:buNone/>
            </a:pPr>
            <a:r>
              <a:rPr lang="ar-SA" altLang="en-US" sz="1300" b="1" dirty="0">
                <a:solidFill>
                  <a:srgbClr val="1B3B6F"/>
                </a:solidFill>
                <a:latin typeface="Amiri" pitchFamily="2" charset="-78"/>
                <a:ea typeface="Amiri" pitchFamily="2" charset="-78"/>
                <a:cs typeface="Amiri" pitchFamily="2" charset="-78"/>
              </a:rPr>
              <a:t>«يُشْتَرَطُ أَنْ يَكُونَ عُمْرُ المُتَطَوِّعِ أَرْبَعَ عَشْرَةَ سَنَةً عَلَى الأَقَلِّ.» — هَلْ أَنْتَ مُنَاسِبٌ؟</a:t>
            </a:r>
            <a:endParaRPr lang="ar-SA" sz="13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75320" y="300471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يُفَضَّلُ ← لَيْسَ ضَرُورِيًّا، وَلٰكِنَّهُ …</a:t>
            </a:r>
            <a:endParaRPr lang="ar-SA" sz="16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Required or preferred?</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«يُفَضَّلُ مَنْ يَتَكَلَّمُ لُغَةً ثَانِيَةً.» — هَلْ هٰذَا ضَرُورِيٌّ؟</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93608" y="3741725"/>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Infer a value with evidence from the text.</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القِيمَةُ المُهِمَّةُ فِي هٰذَا الإِعْلَانِ؟ مَا الدَّلِيلُ؟</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293608" y="4478731"/>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1" name="Text 38"/>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Explain the proverb and apply it.</a:t>
            </a:r>
            <a:endParaRPr lang="en-US" sz="1100" dirty="0"/>
          </a:p>
        </p:txBody>
      </p:sp>
      <p:sp>
        <p:nvSpPr>
          <p:cNvPr id="42" name="Text 39"/>
          <p:cNvSpPr txBox="1"/>
          <p:nvPr/>
        </p:nvSpPr>
        <p:spPr>
          <a:xfrm>
            <a:off x="1051560" y="4478731"/>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يَعْنِي «الاتِّحَادُ قُوَّةٌ»؟</a:t>
            </a:r>
            <a:endParaRPr lang="ar-SA" sz="1700" dirty="0"/>
          </a:p>
        </p:txBody>
      </p:sp>
      <p:sp>
        <p:nvSpPr>
          <p:cNvPr id="43" name="Text 40"/>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293608" y="5215738"/>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6" name="Text 43"/>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Advise yourself with an imperative and a prohibition.</a:t>
            </a:r>
            <a:endParaRPr lang="en-US" sz="1100" dirty="0"/>
          </a:p>
        </p:txBody>
      </p:sp>
      <p:sp>
        <p:nvSpPr>
          <p:cNvPr id="47" name="Text 44"/>
          <p:cNvSpPr txBox="1"/>
          <p:nvPr/>
        </p:nvSpPr>
        <p:spPr>
          <a:xfrm>
            <a:off x="1051560" y="521573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إِذَا كَانَ العَمَلُ مُتْعِبًا، مَاذَا تَقُولُ لِنَفْسِكَ؟</a:t>
            </a:r>
            <a:endParaRPr lang="ar-SA" sz="1700" dirty="0"/>
          </a:p>
        </p:txBody>
      </p:sp>
      <p:sp>
        <p:nvSpPr>
          <p:cNvPr id="48" name="Text 45"/>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Partner A reads the advert lines and asks. Answer with evidence from the text (‏</a:t>
            </a:r>
            <a:pPr algn="l" indent="0" marL="0">
              <a:buNone/>
            </a:pPr>
            <a:r>
              <a:rPr lang="ar-SA" altLang="en-US" sz="1500" b="1" dirty="0">
                <a:solidFill>
                  <a:srgbClr val="1B3B6F"/>
                </a:solidFill>
                <a:latin typeface="Amiri" pitchFamily="2" charset="-78"/>
                <a:ea typeface="Amiri" pitchFamily="2" charset="-78"/>
                <a:cs typeface="Amiri" pitchFamily="2" charset="-78"/>
              </a:rPr>
              <a:t>الدَّلِيلُ أَنَّ</a:t>
            </a:r>
            <a:pPr algn="l" indent="0" marL="0">
              <a:buNone/>
            </a:pPr>
            <a:r>
              <a:rPr lang="en-US" sz="1150" b="1" dirty="0">
                <a:solidFill>
                  <a:srgbClr val="1B3B6F"/>
                </a:solidFill>
                <a:latin typeface="Calibri" pitchFamily="34" charset="0"/>
                <a:cs typeface="Amiri" pitchFamily="2" charset="-78"/>
              </a:rPr>
              <a:t> …‏). Task ! is personal. Then swap.</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D3-W04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SHORT TALK · ONE MINUTE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proverb for the volunteers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مَثَلٌ لِلْمُتَطَوِّعِينَ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D3-W04 · Apply workshop (D3-L07 + D3-L08)</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Talk for one minute — use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Talk for one minute to the new volunteers: what the advert requires and prefers, which value matters most at the food bank and why, one proverb and what it means, a time it applied to you (in the past), and two pieces of advice (one imperative, one ‏</a:t>
            </a:r>
            <a:pPr algn="l" indent="0" marL="0">
              <a:buNone/>
            </a:pPr>
            <a:r>
              <a:rPr lang="ar-SA" altLang="en-US" sz="1750" dirty="0">
                <a:solidFill>
                  <a:srgbClr val="1F2A37"/>
                </a:solidFill>
                <a:latin typeface="Amiri" pitchFamily="2" charset="-78"/>
                <a:ea typeface="Amiri" pitchFamily="2" charset="-78"/>
                <a:cs typeface="Amiri" pitchFamily="2" charset="-78"/>
              </a:rPr>
              <a:t>لَا</a:t>
            </a:r>
            <a:pPr algn="l" indent="0" marL="0">
              <a:buNone/>
            </a:pPr>
            <a:r>
              <a:rPr lang="en-US" sz="1350" dirty="0">
                <a:solidFill>
                  <a:srgbClr val="1F2A37"/>
                </a:solidFill>
                <a:latin typeface="Calibri" pitchFamily="34" charset="0"/>
                <a:cs typeface="Amiri" pitchFamily="2" charset="-78"/>
              </a:rPr>
              <a:t>‏ + verb).</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2 key words from EACH lesson,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partner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then the teacher invites two volunteers.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يُشْتَرَطُ … · يُفَضَّلُ … · يَعْنِي هٰذَا المَثَلُ أَنَّ …</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 value with a reason and a past example (‏</a:t>
            </a:r>
            <a:pPr algn="l" indent="0" marL="0">
              <a:buNone/>
            </a:pPr>
            <a:r>
              <a:rPr lang="ar-SA" altLang="en-US" sz="1500" dirty="0">
                <a:solidFill>
                  <a:srgbClr val="1F2A37"/>
                </a:solidFill>
                <a:latin typeface="Amiri" pitchFamily="2" charset="-78"/>
                <a:ea typeface="Amiri" pitchFamily="2" charset="-78"/>
                <a:cs typeface="Amiri" pitchFamily="2" charset="-78"/>
              </a:rPr>
              <a:t>يَنْطَبِقُ هٰذَا المَثَلُ عَلَى</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inference (‏</a:t>
            </a:r>
            <a:pPr algn="l" indent="0" marL="0">
              <a:buNone/>
            </a:pPr>
            <a:r>
              <a:rPr lang="ar-SA" altLang="en-US" sz="1500" dirty="0">
                <a:solidFill>
                  <a:srgbClr val="1F2A37"/>
                </a:solidFill>
                <a:latin typeface="Amiri" pitchFamily="2" charset="-78"/>
                <a:ea typeface="Amiri" pitchFamily="2" charset="-78"/>
                <a:cs typeface="Amiri" pitchFamily="2" charset="-78"/>
              </a:rPr>
              <a:t>يَبْدُو أَنَّ</a:t>
            </a:r>
            <a:pPr algn="l" indent="0" marL="0">
              <a:buNone/>
            </a:pPr>
            <a:r>
              <a:rPr lang="en-US" sz="1150" dirty="0">
                <a:solidFill>
                  <a:srgbClr val="1F2A37"/>
                </a:solidFill>
                <a:latin typeface="Calibri" pitchFamily="34" charset="0"/>
                <a:cs typeface="Amiri" pitchFamily="2" charset="-78"/>
              </a:rPr>
              <a:t> … · </a:t>
            </a:r>
            <a:pPr algn="l" indent="0" marL="0">
              <a:buNone/>
            </a:pPr>
            <a:r>
              <a:rPr lang="ar-SA" altLang="en-US" sz="1500" dirty="0">
                <a:solidFill>
                  <a:srgbClr val="1F2A37"/>
                </a:solidFill>
                <a:latin typeface="Amiri" pitchFamily="2" charset="-78"/>
                <a:ea typeface="Amiri" pitchFamily="2" charset="-78"/>
                <a:cs typeface="Amiri" pitchFamily="2" charset="-78"/>
              </a:rPr>
              <a:t>الدَّلِيلُ أَنَّ</a:t>
            </a:r>
            <a:pPr algn="l" indent="0" marL="0">
              <a:buNone/>
            </a:pPr>
            <a:r>
              <a:rPr lang="en-US" sz="1150" dirty="0">
                <a:solidFill>
                  <a:srgbClr val="1F2A37"/>
                </a:solidFill>
                <a:latin typeface="Calibri" pitchFamily="34" charset="0"/>
                <a:cs typeface="Amiri" pitchFamily="2" charset="-78"/>
              </a:rPr>
              <a:t> …‏) and advice: ‏</a:t>
            </a:r>
            <a:pPr algn="l" indent="0" marL="0">
              <a:buNone/>
            </a:pPr>
            <a:r>
              <a:rPr lang="ar-SA" altLang="en-US" sz="1500" dirty="0">
                <a:solidFill>
                  <a:srgbClr val="1F2A37"/>
                </a:solidFill>
                <a:latin typeface="Amiri" pitchFamily="2" charset="-78"/>
                <a:ea typeface="Amiri" pitchFamily="2" charset="-78"/>
                <a:cs typeface="Amiri" pitchFamily="2" charset="-78"/>
              </a:rPr>
              <a:t>اجْتَهِدُوا</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لَا تَسْتَسْلِمُوا</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أَوَّلًا … ثُمَّ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first … then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لِأَنَّ … · لِذٰلِكَ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because … · so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رَأْيِي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in my opinion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الخِتَامِ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to finish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D3-W04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SENTENCE BUILDER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D3-W04 · Apply workshop (D3-L07 + D3-L08)</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This proverb means that patience is important.</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يَعْنِي هٰذَا المَثَلُ</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يَعْنِي هٰذِهِ المَثَلُ</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 الصَّبْرَ</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 الصَّبْرُ</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مُهِمٌّ.</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مُهِمًّا.</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Experience in sales is required.</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تُشْتَرَطُ</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يَشْتَرِطُ</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خِبْرَةٌ</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خِبْرَةً</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المَبِيعَاتِ.</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مَعَ المَبِيعَاتِ.</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Don’t give up!</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لَا</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لَنْ</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تَسْتَسْلِمْ</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تَسْتَسْلِمُ</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أَبَدًا!</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أَبَدٌ!</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D3-W04 · Apply workshop (D3-L07 + D3-L08)</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This proverb means that patience is important.</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مَثَلٌ</a:t>
            </a:r>
            <a:pPr algn="l" indent="0" marL="0">
              <a:buNone/>
            </a:pPr>
            <a:r>
              <a:rPr lang="en-US" sz="1050" i="1" dirty="0">
                <a:solidFill>
                  <a:srgbClr val="5A6472"/>
                </a:solidFill>
                <a:latin typeface="Calibri" pitchFamily="34" charset="0"/>
                <a:cs typeface="Amiri" pitchFamily="2" charset="-78"/>
              </a:rPr>
              <a:t> (m.) → </a:t>
            </a:r>
            <a:pPr algn="l" indent="0" marL="0">
              <a:buNone/>
            </a:pPr>
            <a:r>
              <a:rPr lang="ar-SA" altLang="en-US" sz="1350" dirty="0">
                <a:solidFill>
                  <a:srgbClr val="5A6472"/>
                </a:solidFill>
                <a:latin typeface="Amiri" pitchFamily="2" charset="-78"/>
                <a:ea typeface="Amiri" pitchFamily="2" charset="-78"/>
                <a:cs typeface="Amiri" pitchFamily="2" charset="-78"/>
              </a:rPr>
              <a:t>هٰذَا</a:t>
            </a:r>
            <a:pPr algn="l" indent="0" marL="0">
              <a:buNone/>
            </a:pPr>
            <a:r>
              <a:rPr lang="en-US" sz="1050" i="1" dirty="0">
                <a:solidFill>
                  <a:srgbClr val="5A6472"/>
                </a:solidFill>
                <a:latin typeface="Calibri" pitchFamily="34" charset="0"/>
                <a:cs typeface="Amiri" pitchFamily="2" charset="-78"/>
              </a:rPr>
              <a:t>; </a:t>
            </a:r>
            <a:pPr algn="l" indent="0" marL="0">
              <a:buNone/>
            </a:pPr>
            <a:r>
              <a:rPr lang="ar-SA" altLang="en-US" sz="1350" dirty="0">
                <a:solidFill>
                  <a:srgbClr val="5A6472"/>
                </a:solidFill>
                <a:latin typeface="Amiri" pitchFamily="2" charset="-78"/>
                <a:ea typeface="Amiri" pitchFamily="2" charset="-78"/>
                <a:cs typeface="Amiri" pitchFamily="2" charset="-78"/>
              </a:rPr>
              <a:t>أَنَّ</a:t>
            </a:r>
            <a:pPr algn="l" indent="0" marL="0">
              <a:buNone/>
            </a:pPr>
            <a:r>
              <a:rPr lang="en-US" sz="1050" i="1" dirty="0">
                <a:solidFill>
                  <a:srgbClr val="5A6472"/>
                </a:solidFill>
                <a:latin typeface="Calibri" pitchFamily="34" charset="0"/>
                <a:cs typeface="Amiri" pitchFamily="2" charset="-78"/>
              </a:rPr>
              <a:t> + -a; predicate -un.</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يَعْنِي هٰذَا المَثَلُ أَنَّ الصَّبْرَ مُهِمٌّ.</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Experience in sales is required.</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Passive verb + subject in -un; </a:t>
            </a:r>
            <a:pPr algn="l" indent="0" marL="0">
              <a:buNone/>
            </a:pPr>
            <a:r>
              <a:rPr lang="ar-SA" altLang="en-US" sz="1350" dirty="0">
                <a:solidFill>
                  <a:srgbClr val="5A6472"/>
                </a:solidFill>
                <a:latin typeface="Amiri" pitchFamily="2" charset="-78"/>
                <a:ea typeface="Amiri" pitchFamily="2" charset="-78"/>
                <a:cs typeface="Amiri" pitchFamily="2" charset="-78"/>
              </a:rPr>
              <a:t>خِبْرَةٌ</a:t>
            </a:r>
            <a:pPr algn="l" indent="0" marL="0">
              <a:buNone/>
            </a:pPr>
            <a:r>
              <a:rPr lang="en-US" sz="1050" i="1" dirty="0">
                <a:solidFill>
                  <a:srgbClr val="5A6472"/>
                </a:solidFill>
                <a:latin typeface="Calibri" pitchFamily="34" charset="0"/>
                <a:cs typeface="Amiri" pitchFamily="2" charset="-78"/>
              </a:rPr>
              <a:t> (f.) → </a:t>
            </a:r>
            <a:pPr algn="l" indent="0" marL="0">
              <a:buNone/>
            </a:pPr>
            <a:r>
              <a:rPr lang="ar-SA" altLang="en-US" sz="1350" dirty="0">
                <a:solidFill>
                  <a:srgbClr val="5A6472"/>
                </a:solidFill>
                <a:latin typeface="Amiri" pitchFamily="2" charset="-78"/>
                <a:ea typeface="Amiri" pitchFamily="2" charset="-78"/>
                <a:cs typeface="Amiri" pitchFamily="2" charset="-78"/>
              </a:rPr>
              <a:t>تُشْتَرَطُ</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تُشْتَرَطُ خِبْرَةٌ فِي المَبِيعَاتِ.</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Don’t give up!</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Prohibition = </a:t>
            </a:r>
            <a:pPr algn="l" indent="0" marL="0">
              <a:buNone/>
            </a:pPr>
            <a:r>
              <a:rPr lang="ar-SA" altLang="en-US" sz="1350" dirty="0">
                <a:solidFill>
                  <a:srgbClr val="5A6472"/>
                </a:solidFill>
                <a:latin typeface="Amiri" pitchFamily="2" charset="-78"/>
                <a:ea typeface="Amiri" pitchFamily="2" charset="-78"/>
                <a:cs typeface="Amiri" pitchFamily="2" charset="-78"/>
              </a:rPr>
              <a:t>لَا</a:t>
            </a:r>
            <a:pPr algn="l" indent="0" marL="0">
              <a:buNone/>
            </a:pPr>
            <a:r>
              <a:rPr lang="en-US" sz="1050" i="1" dirty="0">
                <a:solidFill>
                  <a:srgbClr val="5A6472"/>
                </a:solidFill>
                <a:latin typeface="Calibri" pitchFamily="34" charset="0"/>
                <a:cs typeface="Amiri" pitchFamily="2" charset="-78"/>
              </a:rPr>
              <a:t> + jussive (sukūn).</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لَا تَسْتَسْلِمْ أَبَدًا!</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D3-W04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AND FIX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D3-W04 · Apply workshop (D3-L07 + D3-L08)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لَا تُؤَجِّلُ عَمَلَكَ.</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Prohibition ending.</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«يُفَضَّلُ» يَعْنِي ضَرُورِيٌّ.</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Preferred or required?</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يَعْنِي المَثَلُ أَنَّ العِلْمُ نُورٌ.</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a:t>
            </a:r>
            <a:pPr algn="l" indent="0" marL="0">
              <a:buNone/>
            </a:pPr>
            <a:r>
              <a:rPr lang="ar-SA" altLang="en-US" sz="1700" dirty="0">
                <a:solidFill>
                  <a:srgbClr val="5A6472"/>
                </a:solidFill>
                <a:latin typeface="Amiri" pitchFamily="2" charset="-78"/>
                <a:ea typeface="Amiri" pitchFamily="2" charset="-78"/>
                <a:cs typeface="Amiri" pitchFamily="2" charset="-78"/>
              </a:rPr>
              <a:t>أَنَّ</a:t>
            </a:r>
            <a:pPr algn="l" indent="0" marL="0">
              <a:buNone/>
            </a:pPr>
            <a:r>
              <a:rPr lang="en-US" sz="1300" i="1" dirty="0">
                <a:solidFill>
                  <a:srgbClr val="5A6472"/>
                </a:solidFill>
                <a:latin typeface="Calibri" pitchFamily="34" charset="0"/>
                <a:cs typeface="Amiri" pitchFamily="2" charset="-78"/>
              </a:rPr>
              <a:t> …</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D3-W04 · Apply workshop (D3-L07 + D3-L08)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لَا تُؤَجِّلُ عَمَلَكَ.</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لَا تُؤَجِّلْ عَمَلَكَ.</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t>
            </a:r>
            <a:pPr algn="l" indent="0" marL="0">
              <a:buNone/>
            </a:pPr>
            <a:r>
              <a:rPr lang="ar-SA" altLang="en-US" sz="1500" b="1" dirty="0">
                <a:solidFill>
                  <a:srgbClr val="1B3B6F"/>
                </a:solidFill>
                <a:latin typeface="Amiri" pitchFamily="2" charset="-78"/>
                <a:ea typeface="Amiri" pitchFamily="2" charset="-78"/>
                <a:cs typeface="Amiri" pitchFamily="2" charset="-78"/>
              </a:rPr>
              <a:t>لَا</a:t>
            </a:r>
            <a:pPr algn="l" indent="0" marL="0">
              <a:buNone/>
            </a:pPr>
            <a:r>
              <a:rPr lang="en-US" sz="1150" b="1" dirty="0">
                <a:solidFill>
                  <a:srgbClr val="1B3B6F"/>
                </a:solidFill>
                <a:latin typeface="Calibri" pitchFamily="34" charset="0"/>
                <a:cs typeface="Amiri" pitchFamily="2" charset="-78"/>
              </a:rPr>
              <a:t>‏ (don’t) + jussive: ‏</a:t>
            </a:r>
            <a:pPr algn="l" indent="0" marL="0">
              <a:buNone/>
            </a:pPr>
            <a:r>
              <a:rPr lang="ar-SA" altLang="en-US" sz="1500" b="1" dirty="0">
                <a:solidFill>
                  <a:srgbClr val="1B3B6F"/>
                </a:solidFill>
                <a:latin typeface="Amiri" pitchFamily="2" charset="-78"/>
                <a:ea typeface="Amiri" pitchFamily="2" charset="-78"/>
                <a:cs typeface="Amiri" pitchFamily="2" charset="-78"/>
              </a:rPr>
              <a:t>تُؤَجِّلْ</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«يُفَضَّلُ» يَعْنِي ضَرُورِيٌّ.</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«يُفَضَّلُ» يَعْنِي مُفِيدٌ وَلٰكِنَّهُ لَيْسَ ضَرُورِيًّا.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Only ‏</a:t>
            </a:r>
            <a:pPr algn="l" indent="0" marL="0">
              <a:buNone/>
            </a:pPr>
            <a:r>
              <a:rPr lang="ar-SA" altLang="en-US" sz="1500" b="1" dirty="0">
                <a:solidFill>
                  <a:srgbClr val="1B3B6F"/>
                </a:solidFill>
                <a:latin typeface="Amiri" pitchFamily="2" charset="-78"/>
                <a:ea typeface="Amiri" pitchFamily="2" charset="-78"/>
                <a:cs typeface="Amiri" pitchFamily="2" charset="-78"/>
              </a:rPr>
              <a:t>يُشْتَرَطُ</a:t>
            </a:r>
            <a:pPr algn="l" indent="0" marL="0">
              <a:buNone/>
            </a:pPr>
            <a:r>
              <a:rPr lang="en-US" sz="1150" b="1" dirty="0">
                <a:solidFill>
                  <a:srgbClr val="1B3B6F"/>
                </a:solidFill>
                <a:latin typeface="Calibri" pitchFamily="34" charset="0"/>
                <a:cs typeface="Amiri" pitchFamily="2" charset="-78"/>
              </a:rPr>
              <a:t>‏ means essential.</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يَعْنِي المَثَلُ أَنَّ العِلْمُ نُورٌ.</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يَعْنِي المَثَلُ أَنَّ العِلْمَ نُورٌ.</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t>
            </a:r>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 noun in -a.</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D3-W04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D3-W04 · Apply workshop (D3-L07 + D3-L08)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يَنْطَبِقُ هٰذَا المَثَلُ عَلَيَّ؛ مَثَلًا،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proverb applies to me; for example,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أَعْتَقِدُ أَنَّنِي مُنَاسِبٌ / مُنَاسِبَةٌ لِأَنَّ ______ .</a:t>
            </a:r>
            <a:endParaRPr lang="ar-SA" sz="17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believe I am suitable because …</a:t>
            </a:r>
            <a:endParaRPr lang="en-US" sz="1050" dirty="0"/>
          </a:p>
        </p:txBody>
      </p:sp>
      <p:sp>
        <p:nvSpPr>
          <p:cNvPr id="22" name="Shape 19"/>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5" name="Text 22"/>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قَرَأْتُ إِعْلَانَكُمْ، وَيَسُرُّنِي أَنْ ______ .</a:t>
            </a:r>
            <a:endParaRPr lang="ar-SA" sz="1800" dirty="0"/>
          </a:p>
        </p:txBody>
      </p:sp>
      <p:sp>
        <p:nvSpPr>
          <p:cNvPr id="26" name="Text 23"/>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read your advert, and I am pleased to …</a:t>
            </a:r>
            <a:endParaRPr lang="en-US" sz="1050" dirty="0"/>
          </a:p>
        </p:txBody>
      </p:sp>
      <p:sp>
        <p:nvSpPr>
          <p:cNvPr id="27" name="Text 24"/>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يُشْتَرَطُ ______ ، وَأَنَا ______ .</a:t>
            </a:r>
            <a:endParaRPr lang="ar-SA" sz="1800" dirty="0"/>
          </a:p>
        </p:txBody>
      </p:sp>
      <p:sp>
        <p:nvSpPr>
          <p:cNvPr id="28" name="Text 25"/>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required, and I …</a:t>
            </a:r>
            <a:endParaRPr lang="en-US" sz="1050" dirty="0"/>
          </a:p>
        </p:txBody>
      </p:sp>
      <p:sp>
        <p:nvSpPr>
          <p:cNvPr id="29" name="Text 26"/>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يَبْدُو أَنَّ ______ مُهِمٌّ / مُهِمَّةٌ عِنْدَكُمْ.</a:t>
            </a:r>
            <a:endParaRPr lang="ar-SA" sz="1800" dirty="0"/>
          </a:p>
        </p:txBody>
      </p:sp>
      <p:sp>
        <p:nvSpPr>
          <p:cNvPr id="30" name="Text 27"/>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seems that … is important to you.</a:t>
            </a:r>
            <a:endParaRPr lang="en-US" sz="1050" dirty="0"/>
          </a:p>
        </p:txBody>
      </p:sp>
      <p:sp>
        <p:nvSpPr>
          <p:cNvPr id="31" name="Text 28"/>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يَعْنِي المَثَلُ «______» أَنَّ ______ .</a:t>
            </a:r>
            <a:endParaRPr lang="ar-SA" sz="1800" dirty="0"/>
          </a:p>
        </p:txBody>
      </p:sp>
      <p:sp>
        <p:nvSpPr>
          <p:cNvPr id="32" name="Text 29"/>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proverb “…” means that …</a:t>
            </a:r>
            <a:endParaRPr lang="en-US" sz="1050" dirty="0"/>
          </a:p>
        </p:txBody>
      </p:sp>
      <p:sp>
        <p:nvSpPr>
          <p:cNvPr id="33" name="Shape 30"/>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5" name="Text 32"/>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يُطْلَبُ · يُشْتَرَطُ · يُفَضَّلُ  ·  يَبْدُو أَنَّ  ·  الدَّلِيلُ أَنَّ  ·  الأَمَانَةُ · الانْضِبَاطُ  ·  المُثَابَرَةُ  ·  يَعْنِي هٰذَا المَثَلُ أَنَّ  ·  يَنْطَبِقُ عَلَى  ·  الصَّبْرُ مِفْتَاحُ الفَرَجِ</a:t>
            </a:r>
            <a:endParaRPr lang="ar-SA" sz="16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D3-W04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ABOUT 60–80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reply to the volunteer advert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رَدٌّ عَلَى الإِعْلَانِ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D3-W04 · Apply workshop (D3-L07 + D3-L08)</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2061972"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2061972"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DIRECTED TASK</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Write a reply (about 60–80 words) to the food bank. Include: • the post and two requirements from the advert, and whether you meet them • what the charity seems to value, with evidence from the text • one proverb, what it means and how it applies to you (a past example) • why you are suitable • a polite close.</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the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Language from D3-L07 AND D3-L08.</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Linking words: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ثُمَّ</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لٰكِنَّ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opinion with a reason.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قَرَأْتُ إِعْلَانَكُمْ: «يُطْلَبُ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read your advert: “… wanted”</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يُشْتَرَطُ … ، وَأَنَا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 is required, and I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يَبْدُو أَنَّ … مُهِمٌّ عِنْدَكُمْ</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seems that … matters to you</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2" charset="-78"/>
                <a:ea typeface="Amiri" pitchFamily="2" charset="-78"/>
                <a:cs typeface="Amiri" pitchFamily="2" charset="-78"/>
              </a:rPr>
              <a:t>يَعْنِي هٰذَا المَثَلُ أَنَّ … · يَنْطَبِقُ عَلَيَّ لِأَنَّ …</a:t>
            </a:r>
            <a:endParaRPr lang="ar-SA" sz="165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this proverb means … · it applies to me because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D3-W04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D3-W04 · Apply workshop (D3-L07 + D3-L08)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explain one proverb with ‏</a:t>
            </a:r>
            <a:pPr algn="l" indent="0" marL="0">
              <a:buNone/>
            </a:pPr>
            <a:r>
              <a:rPr lang="ar-SA" altLang="en-US" sz="1450" dirty="0">
                <a:solidFill>
                  <a:srgbClr val="5A6472"/>
                </a:solidFill>
                <a:latin typeface="Amiri" pitchFamily="2" charset="-78"/>
                <a:ea typeface="Amiri" pitchFamily="2" charset="-78"/>
                <a:cs typeface="Amiri" pitchFamily="2" charset="-78"/>
              </a:rPr>
              <a:t>يَعْنِي … أَنَّ</a:t>
            </a:r>
            <a:pPr algn="l" indent="0" marL="0">
              <a:buNone/>
            </a:pPr>
            <a:r>
              <a:rPr lang="en-US" sz="1100" dirty="0">
                <a:solidFill>
                  <a:srgbClr val="5A6472"/>
                </a:solidFill>
                <a:latin typeface="Calibri" pitchFamily="34" charset="0"/>
                <a:cs typeface="Amiri" pitchFamily="2" charset="-78"/>
              </a:rPr>
              <a:t>‏ + noun in -a?</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track ‏</a:t>
            </a:r>
            <a:pPr algn="l" indent="0" marL="0">
              <a:buNone/>
            </a:pPr>
            <a:r>
              <a:rPr lang="ar-SA" altLang="en-US" sz="1450" dirty="0">
                <a:solidFill>
                  <a:srgbClr val="5A6472"/>
                </a:solidFill>
                <a:latin typeface="Amiri" pitchFamily="2" charset="-78"/>
                <a:ea typeface="Amiri" pitchFamily="2" charset="-78"/>
                <a:cs typeface="Amiri" pitchFamily="2" charset="-78"/>
              </a:rPr>
              <a:t>الَّذِي / الَّتِي</a:t>
            </a:r>
            <a:pPr algn="l" indent="0" marL="0">
              <a:buNone/>
            </a:pPr>
            <a:r>
              <a:rPr lang="en-US" sz="1100" dirty="0">
                <a:solidFill>
                  <a:srgbClr val="5A6472"/>
                </a:solidFill>
                <a:latin typeface="Calibri" pitchFamily="34" charset="0"/>
                <a:cs typeface="Amiri" pitchFamily="2" charset="-78"/>
              </a:rPr>
              <a:t>‏ and support an inference with evidence?</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more than one tense and give an opinion with a reason?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D3-W04 · Apply workshop (D3-L07 + D3-L08)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نَعَمْ، أَنَا مُنَاسِبٌ؛ عُمْرِي خَمْسَ عَشْرَةَ سَنَةً.</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Yes, I am suitable; I am fifteen.</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lnSpc>
                <a:spcPct val="120000"/>
              </a:lnSpc>
              <a:buNone/>
            </a:pPr>
            <a:r>
              <a:rPr lang="ar-SA" altLang="en-US" sz="1300" b="1" dirty="0">
                <a:solidFill>
                  <a:srgbClr val="1B3B6F"/>
                </a:solidFill>
                <a:latin typeface="Amiri" pitchFamily="2" charset="-78"/>
                <a:ea typeface="Amiri" pitchFamily="2" charset="-78"/>
                <a:cs typeface="Amiri" pitchFamily="2" charset="-78"/>
              </a:rPr>
              <a:t>«يُشْتَرَطُ أَنْ يَكُونَ عُمْرُ المُتَطَوِّعِ أَرْبَعَ عَشْرَةَ سَنَةً عَلَى الأَقَلِّ.» — هَلْ أَنْتَ مُنَاسِبٌ؟</a:t>
            </a:r>
            <a:endParaRPr lang="ar-SA" sz="13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لَيْسَ ضَرُورِيًّا، وَلٰكِنَّهُ مُفِيدٌ؛ أَنَا أَتَكَلَّمُ العَرَبِيَّةَ وَالإِنْجِلِيزِيَّةَ.</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It is not essential, but it is useful; I speak Arabic and English.</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«يُفَضَّلُ مَنْ يَتَكَلَّمُ لُغَةً ثَانِيَةً.» — هَلْ هٰذَا ضَرُورِيٌّ؟</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يَبْدُو أَنَّ الأَمَانَةَ مُهِمَّةٌ، وَالدَّلِيلُ أَنَّهُمْ يَطْلُبُونَ مُتَطَوِّعِينَ لِتَوْزِيعِ الطَّعَامِ وَالمَالِ.</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It seems that honesty is important; the evidence is that they want volunteers to hand out food and money.</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القِيمَةُ المُهِمَّةُ فِي هٰذَا الإِعْلَانِ؟ مَا الدَّلِيلُ؟</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يَعْنِي أَنَّنَا أَقْوَى مَعًا؛ يَنْطَبِقُ هٰذَا المَثَلُ عَلَى العَمَلِ الجَمَاعِيِّ فِي بَنْكِ الطَّعَامِ.</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It means we are stronger together; this proverb applies to teamwork at the food bank.</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يَعْنِي «الاتِّحَادُ قُوَّةٌ»؟</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أَقُولُ: اصْبِرْ وَلَا تَسْتَسْلِمْ، فَالصَّبْرُ مِفْتَاحُ الفَرَجِ.</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say: be patient and don’t give up, for patience is the key to relief.</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إِذَا كَانَ العَمَلُ مُتْعِبًا، مَاذَا تَقُولُ لِنَفْسِكَ؟</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D3-W04 · Apply workshop (D3-L07 + D3-L08)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السَّلَامُ عَلَيْكُمْ، قَرَأْتُ إِعْلَانَكُمْ، وَيَسُرُّنِي أَنْ أَتَطَوَّعَ يَوْمَ السَّبْتِ. يُشْتَرَطُ الالْتِزَامُ بِالوَقْتِ، وَأَنَا أَصِلُ إِلَى المَدْرَسَةِ مُبَكِّرًا دَائِمًا. يَبْدُو أَنَّ الانْضِبَاطَ وَالأَمَانَةَ مُهِمَّانِ عِنْدَكُمْ، وَالدَّلِيلُ أَنَّكُمْ تُوَزِّعُونَ الطَّعَامَ عَلَى العَائِلَاتِ. يَعْنِي المَثَلُ «الاتِّحَادُ قُوَّةٌ» أَنَّنَا أَقْوَى مَعًا، وَيَنْطَبِقُ عَلَيَّ؛ مَثَلًا، فَازَ فَرِيقُنَا فِي المُسَابَقَةِ لِأَنَّنَا تَعَاوَنَّا. أَعْتَقِدُ أَنَّنِي مُنَاسِبٌ لِأَنِّي صَبُورٌ وَمُتَعَاوِنٌ. شُكْرًا جَزِيلًا.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“Peace be upon you. I read your advert, and I am pleased to volunteer on Saturday. Punctuality is required, and I always arrive at school early. It seems that discipline and honesty are important to you; the evidence is that you hand out food to families. The proverb “Unity is strength” means that we are stronger together, and it applies to me; for example, our team won the competition because we co-operated. I believe I am suitable because I am patient and co-operative. Thank you very much.”</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يُشْتَرَطُ الالْتِزَامُ</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يَبْدُو أَنَّ الانْضِبَاطَ</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وَالدَّلِيلُ أَنَّكُمْ</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يَعْنِي المَثَلُ</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D3-W04 · Apply workshop (D3-L07 + D3-L08)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questions from D3-L07 and D3-L08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language from BOTH lessons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more than one tense and gave opinions with reasons.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D3-W04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50" b="1" dirty="0">
                <a:solidFill>
                  <a:srgbClr val="FFFFFF"/>
                </a:solidFill>
                <a:latin typeface="Cambria" pitchFamily="34" charset="0"/>
                <a:cs typeface="Amiri" pitchFamily="2" charset="-78"/>
              </a:rPr>
              <a:t>D3-L09 · Writing — Career Plans Article or Email</a:t>
            </a:r>
            <a:endParaRPr lang="en-US" sz="20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الكِتَابَةُ — خُطَطِي وَطُمُوحَاتِي المِهَنِيَّةُ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week’s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D3-W04 · Apply Workshop — Values at Work: The Volunteer Advert</dc:title>
  <dc:subject>PptxGenJS Presentation</dc:subject>
  <dc:creator>Al Madina Online School · Arabic Department</dc:creator>
  <cp:lastModifiedBy>Al Madina Online School · Arabic Department</cp:lastModifiedBy>
  <cp:revision>1</cp:revision>
  <dcterms:created xsi:type="dcterms:W3CDTF">2026-10-26T15:48:03Z</dcterms:created>
  <dcterms:modified xsi:type="dcterms:W3CDTF">2026-10-26T15:48:03Z</dcterms:modified>
</cp:coreProperties>
</file>