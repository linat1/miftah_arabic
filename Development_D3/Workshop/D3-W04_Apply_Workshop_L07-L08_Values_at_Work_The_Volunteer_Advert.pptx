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D3-L07 · Learn D3-L08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D3-L07 (Arabic Proverbs and Values — Work Ethic and Success) and D3-L08 (Reading — Jobs and Career Texts).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D3-L07 and D3-L08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D3-L07? After D3-L08?” Take two answers in the chat for each lesson (one word or one sentence is enough). Then read objective 3 — today’s new situation that needs BOTH lessons. Students tick their route goals at the end of the lesson.
D3-L07 language: explaining a proverb: yaʿnī hādhā al-mathalu anna …; applying it: yanṭabiqu hādhā al-mathalu ʿalā …; advice with the imperative (ijtahid · iṣbir) and the prohibition lā + jussive (lā tuʾajjil · lā tastaslim); values nouns (al-muthābara · al-amāna · al-inḍibāṭ)
D3-L08 language: advert passives: yushtaraṭu (it is required) · yuṭlabu (is wanted) · yufaḍḍalu (is preferred); tracking reference (alladhī / allatī · -hu / -hā); inference you can prove from the text (yabdū anna … · al-dalīlu anna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D3-L07.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D3-L08.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D3-L07 and D3-L08. Teacher reads it once with a confident student; then pairs. Ask: “Which lines are from D3-L07? Which from D3-L08?” Advert passives (يُطْلَبُ · يُشْتَرَطُ · يُفَضَّلُ) and inference (يَبْدُو أَنَّ …) come from D3-L08; explaining and applying a proverb (يَعْنِي هٰذَا المَثَلُ أَنَّ …) and values nouns from D3-L07.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reading advert requirements and inferring from the text (D3-L08) and linking them to values and proverbs (D3-L07). FADED SUPPORT: tasks 1–2 show the plan; students write their own plan for 3–5. To a girl Partner A says: هَلْ أَنْتِ مُنَاسِبَةٌ؟ · مَاذَا تَقُولِينَ لِنَفْسِكِ؟ — and she advises herself: اصْبِرِي وَلَا تَسْتَسْلِمِي.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D3-L07 and D3-L08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D3-L07 and D3-L08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(54 words). CHECK YOURSELF (2 min). Find each bullet point in the model, and one phrase from D3-L07 and one from D3-L08.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D3-L07 + D3-L08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D3-W04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Apply Workshop — Values at Work: The Volunteer Advert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القِيَمُ فِي العَمَلِ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join reading job adverts with values and proverbs: they read a volunteer advert from a food bank (</a:t>
            </a:r>
            <a:pPr algn="l" indent="0" marL="0">
              <a:buNone/>
            </a:pPr>
            <a:r>
              <a:rPr lang="ar-SA" altLang="en-US" sz="1550" dirty="0">
                <a:solidFill>
                  <a:srgbClr val="C6D2E6"/>
                </a:solidFill>
                <a:latin typeface="Amiri" pitchFamily="2" charset="-78"/>
                <a:ea typeface="Amiri" pitchFamily="2" charset="-78"/>
                <a:cs typeface="Amiri" pitchFamily="2" charset="-78"/>
              </a:rPr>
              <a:t>يُطْلَبُ</a:t>
            </a:r>
            <a:pPr algn="l" indent="0" marL="0">
              <a:buNone/>
            </a:pPr>
            <a:r>
              <a:rPr lang="en-US" sz="1200" dirty="0">
                <a:solidFill>
                  <a:srgbClr val="C6D2E6"/>
                </a:solidFill>
                <a:latin typeface="Calibri" pitchFamily="34" charset="0"/>
                <a:cs typeface="Amiri" pitchFamily="2" charset="-78"/>
              </a:rPr>
              <a:t> · </a:t>
            </a:r>
            <a:pPr algn="l" indent="0" marL="0">
              <a:buNone/>
            </a:pPr>
            <a:r>
              <a:rPr lang="ar-SA" altLang="en-US" sz="1550" dirty="0">
                <a:solidFill>
                  <a:srgbClr val="C6D2E6"/>
                </a:solidFill>
                <a:latin typeface="Amiri" pitchFamily="2" charset="-78"/>
                <a:ea typeface="Amiri" pitchFamily="2" charset="-78"/>
                <a:cs typeface="Amiri" pitchFamily="2" charset="-78"/>
              </a:rPr>
              <a:t>يُشْتَرَطُ</a:t>
            </a:r>
            <a:pPr algn="l" indent="0" marL="0">
              <a:buNone/>
            </a:pPr>
            <a:r>
              <a:rPr lang="en-US" sz="1200" dirty="0">
                <a:solidFill>
                  <a:srgbClr val="C6D2E6"/>
                </a:solidFill>
                <a:latin typeface="Calibri" pitchFamily="34" charset="0"/>
                <a:cs typeface="Amiri" pitchFamily="2" charset="-78"/>
              </a:rPr>
              <a:t> · </a:t>
            </a:r>
            <a:pPr algn="l" indent="0" marL="0">
              <a:buNone/>
            </a:pPr>
            <a:r>
              <a:rPr lang="ar-SA" altLang="en-US" sz="1550" dirty="0">
                <a:solidFill>
                  <a:srgbClr val="C6D2E6"/>
                </a:solidFill>
                <a:latin typeface="Amiri" pitchFamily="2" charset="-78"/>
                <a:ea typeface="Amiri" pitchFamily="2" charset="-78"/>
                <a:cs typeface="Amiri" pitchFamily="2" charset="-78"/>
              </a:rPr>
              <a:t>يُفَضَّلُ</a:t>
            </a:r>
            <a:pPr algn="l" indent="0" marL="0">
              <a:buNone/>
            </a:pPr>
            <a:r>
              <a:rPr lang="en-US" sz="1200" dirty="0">
                <a:solidFill>
                  <a:srgbClr val="C6D2E6"/>
                </a:solidFill>
                <a:latin typeface="Calibri" pitchFamily="34" charset="0"/>
                <a:cs typeface="Amiri" pitchFamily="2" charset="-78"/>
              </a:rPr>
              <a:t>), infer what the charity values, match proverbs to the requirements, decide if they are suitable, and write a reply that explains a proverb and applies it to themselves.</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D3-L07 + D3-L08</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D3-L07 and D3-L08.</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D3-L07 + D3-L08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D3-L07: Arabic Proverbs and Values — Work Ethic and Success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D3-L08: Reading — Jobs and Career Texts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the food bank advert · A reply to the volunteer advert</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D3-L07 and D3-L08.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D3-L07</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D3-L07 · Arabic Proverbs and Values — Work Ethic and Success</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 جَدَّ وَجَدَ</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Whoever strives succeeds</a:t>
            </a:r>
            <a:endParaRPr lang="en-US" sz="1350" dirty="0"/>
          </a:p>
          <a:p>
            <a:pPr indent="0" marL="0">
              <a:buNone/>
            </a:pPr>
            <a:r>
              <a:rPr lang="en-US" sz="1100" i="1" dirty="0">
                <a:solidFill>
                  <a:srgbClr val="5A6472"/>
                </a:solidFill>
                <a:latin typeface="Calibri" pitchFamily="34" charset="0"/>
                <a:cs typeface="Amiri" pitchFamily="2" charset="-78"/>
              </a:rPr>
              <a:t>man jad-da wa-ja-da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لَا تُؤَجِّلْ عَمَلَ اليَوْمِ إِلَى الغَدِ</a:t>
            </a:r>
            <a:endParaRPr lang="ar-SA" sz="255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 not postpone today’s work</a:t>
            </a:r>
            <a:endParaRPr lang="en-US" sz="1350" dirty="0"/>
          </a:p>
          <a:p>
            <a:pPr indent="0" marL="0">
              <a:buNone/>
            </a:pPr>
            <a:r>
              <a:rPr lang="en-US" sz="1100" i="1" dirty="0">
                <a:solidFill>
                  <a:srgbClr val="5A6472"/>
                </a:solidFill>
                <a:latin typeface="Calibri" pitchFamily="34" charset="0"/>
                <a:cs typeface="Amiri" pitchFamily="2" charset="-78"/>
              </a:rPr>
              <a:t>lā tu-ʾaj-jil ʿa-ma-la al-yaw-mi i-lā al-gha-di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العِلْمُ نُورٌ</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Knowledge is light</a:t>
            </a:r>
            <a:endParaRPr lang="en-US" sz="1350" dirty="0"/>
          </a:p>
          <a:p>
            <a:pPr indent="0" marL="0">
              <a:buNone/>
            </a:pPr>
            <a:r>
              <a:rPr lang="en-US" sz="1100" i="1" dirty="0">
                <a:solidFill>
                  <a:srgbClr val="5A6472"/>
                </a:solidFill>
                <a:latin typeface="Calibri" pitchFamily="34" charset="0"/>
                <a:cs typeface="Amiri" pitchFamily="2" charset="-78"/>
              </a:rPr>
              <a:t>al-ʿil-mu nū-run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المُثَابَرَةُ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perseverance</a:t>
            </a:r>
            <a:endParaRPr lang="en-US" sz="1350" dirty="0"/>
          </a:p>
          <a:p>
            <a:pPr indent="0" marL="0">
              <a:buNone/>
            </a:pPr>
            <a:r>
              <a:rPr lang="en-US" sz="1100" i="1" dirty="0">
                <a:solidFill>
                  <a:srgbClr val="5A6472"/>
                </a:solidFill>
                <a:latin typeface="Calibri" pitchFamily="34" charset="0"/>
                <a:cs typeface="Amiri" pitchFamily="2" charset="-78"/>
              </a:rPr>
              <a:t>al-mu-thā-ba-ra-tu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الاِنْضِبَاطُ</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discipline</a:t>
            </a:r>
            <a:endParaRPr lang="en-US" sz="1350" dirty="0"/>
          </a:p>
          <a:p>
            <a:pPr indent="0" marL="0">
              <a:buNone/>
            </a:pPr>
            <a:r>
              <a:rPr lang="en-US" sz="1100" i="1" dirty="0">
                <a:solidFill>
                  <a:srgbClr val="5A6472"/>
                </a:solidFill>
                <a:latin typeface="Calibri" pitchFamily="34" charset="0"/>
                <a:cs typeface="Amiri" pitchFamily="2" charset="-78"/>
              </a:rPr>
              <a:t>aln-ḍi-bā-ṭu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Text 5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التَّعَاوُنُ</a:t>
            </a:r>
            <a:endParaRPr lang="ar-SA" sz="3000" dirty="0"/>
          </a:p>
        </p:txBody>
      </p:sp>
      <p:sp>
        <p:nvSpPr>
          <p:cNvPr id="54" name="Text 5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cooperation</a:t>
            </a:r>
            <a:endParaRPr lang="en-US" sz="1350" dirty="0"/>
          </a:p>
          <a:p>
            <a:pPr indent="0" marL="0">
              <a:buNone/>
            </a:pPr>
            <a:r>
              <a:rPr lang="en-US" sz="1100" i="1" dirty="0">
                <a:solidFill>
                  <a:srgbClr val="5A6472"/>
                </a:solidFill>
                <a:latin typeface="Calibri" pitchFamily="34" charset="0"/>
                <a:cs typeface="Amiri" pitchFamily="2" charset="-78"/>
              </a:rPr>
              <a:t>at-ta-ʿā-wu-nu</a:t>
            </a:r>
            <a:endParaRPr lang="en-US" sz="13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D3-L08</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D3-L08 · Reading — Jobs and Career Texts</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سِيرَةٌ ذَاتِيَّةٌ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CV</a:t>
            </a:r>
            <a:endParaRPr lang="en-US" sz="1350" dirty="0"/>
          </a:p>
          <a:p>
            <a:pPr indent="0" marL="0">
              <a:buNone/>
            </a:pPr>
            <a:r>
              <a:rPr lang="en-US" sz="1100" i="1" dirty="0">
                <a:solidFill>
                  <a:srgbClr val="5A6472"/>
                </a:solidFill>
                <a:latin typeface="Calibri" pitchFamily="34" charset="0"/>
                <a:cs typeface="Amiri" pitchFamily="2" charset="-78"/>
              </a:rPr>
              <a:t>sī-ra-tun dhā-tiy-ya-tun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خِبْرَةٌ سَابِقَةٌ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previous experience</a:t>
            </a:r>
            <a:endParaRPr lang="en-US" sz="1350" dirty="0"/>
          </a:p>
          <a:p>
            <a:pPr indent="0" marL="0">
              <a:buNone/>
            </a:pPr>
            <a:r>
              <a:rPr lang="en-US" sz="1100" i="1" dirty="0">
                <a:solidFill>
                  <a:srgbClr val="5A6472"/>
                </a:solidFill>
                <a:latin typeface="Calibri" pitchFamily="34" charset="0"/>
                <a:cs typeface="Amiri" pitchFamily="2" charset="-78"/>
              </a:rPr>
              <a:t>khib-ra-tun sā-bi-qa-tun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مَهَارَةُ التَّوَاصُلِ</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communication skill</a:t>
            </a:r>
            <a:endParaRPr lang="en-US" sz="1350" dirty="0"/>
          </a:p>
          <a:p>
            <a:pPr indent="0" marL="0">
              <a:buNone/>
            </a:pPr>
            <a:r>
              <a:rPr lang="en-US" sz="1100" i="1" dirty="0">
                <a:solidFill>
                  <a:srgbClr val="5A6472"/>
                </a:solidFill>
                <a:latin typeface="Calibri" pitchFamily="34" charset="0"/>
                <a:cs typeface="Amiri" pitchFamily="2" charset="-78"/>
              </a:rPr>
              <a:t>ma-hā-ra-tu at-ta-wā-ṣu-li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إِجَادَةُ اللُّغَاتِ</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 proficiency</a:t>
            </a:r>
            <a:endParaRPr lang="en-US" sz="1350" dirty="0"/>
          </a:p>
          <a:p>
            <a:pPr indent="0" marL="0">
              <a:buNone/>
            </a:pPr>
            <a:r>
              <a:rPr lang="en-US" sz="1100" i="1" dirty="0">
                <a:solidFill>
                  <a:srgbClr val="5A6472"/>
                </a:solidFill>
                <a:latin typeface="Calibri" pitchFamily="34" charset="0"/>
                <a:cs typeface="Amiri" pitchFamily="2" charset="-78"/>
              </a:rPr>
              <a:t>i-jā-da-tu all-lu-ghā-ti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Text 4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رِسَالَةُ تَغْطِيَةٍ</a:t>
            </a:r>
            <a:endParaRPr lang="ar-SA" sz="3000" dirty="0"/>
          </a:p>
        </p:txBody>
      </p:sp>
      <p:sp>
        <p:nvSpPr>
          <p:cNvPr id="47" name="Text 4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cover letter</a:t>
            </a:r>
            <a:endParaRPr lang="en-US" sz="1350" dirty="0"/>
          </a:p>
          <a:p>
            <a:pPr indent="0" marL="0">
              <a:buNone/>
            </a:pPr>
            <a:r>
              <a:rPr lang="en-US" sz="1100" i="1" dirty="0">
                <a:solidFill>
                  <a:srgbClr val="5A6472"/>
                </a:solidFill>
                <a:latin typeface="Calibri" pitchFamily="34" charset="0"/>
                <a:cs typeface="Amiri" pitchFamily="2" charset="-78"/>
              </a:rPr>
              <a:t>ri-sā-la-tu tagh-ṭi-ya-tin</a:t>
            </a:r>
            <a:endParaRPr lang="en-US" sz="1350" dirty="0"/>
          </a:p>
        </p:txBody>
      </p:sp>
      <p:sp>
        <p:nvSpPr>
          <p:cNvPr id="48" name="Shape 4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1" name="Text 4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مُقَابَلَةٌ شَخْصِيَّةٌ</a:t>
            </a:r>
            <a:endParaRPr lang="ar-SA" sz="3000" dirty="0"/>
          </a:p>
        </p:txBody>
      </p:sp>
      <p:sp>
        <p:nvSpPr>
          <p:cNvPr id="52" name="Text 4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interview</a:t>
            </a:r>
            <a:endParaRPr lang="en-US" sz="1350" dirty="0"/>
          </a:p>
          <a:p>
            <a:pPr indent="0" marL="0">
              <a:buNone/>
            </a:pPr>
            <a:r>
              <a:rPr lang="en-US" sz="1100" i="1" dirty="0">
                <a:solidFill>
                  <a:srgbClr val="5A6472"/>
                </a:solidFill>
                <a:latin typeface="Calibri" pitchFamily="34" charset="0"/>
                <a:cs typeface="Amiri" pitchFamily="2" charset="-78"/>
              </a:rPr>
              <a:t>mu-qā-ba-la-tun shakh-ṣiy-ya-tun</a:t>
            </a:r>
            <a:endParaRPr lang="en-US" sz="1350" dirty="0"/>
          </a:p>
        </p:txBody>
      </p:sp>
      <p:sp>
        <p:nvSpPr>
          <p:cNvPr id="53" name="Text 5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2 · SORT IT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Advert language or values language?</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الصَّبْرُ مِفْتَاحُ الفَرَجِ</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يُطْلَبُ مُتَطَوِّعُونَ</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يُشْتَرَطُ الالْتِزَامُ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الأَمَانَةُ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يَعْنِي هٰذَا المَثَلُ أَنَّ …</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يُفَضَّلُ مَنْ لَدَيْهِ خِبْرَةٌ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لِلتَّقَدُّمِ أَرْسِلْ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تَسْتَسْلِمْ</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Proverbs and values · D3-L07</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Advert language · D3-L08</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 البِطَاقَاتِ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Proverbs and values · D3-L07</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الصَّبْرُ مِفْتَاحُ الفَرَجِ</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الأَمَانَةُ</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يَعْنِي هٰذَا المَثَلُ أَنَّ …</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تَسْتَسْلِمْ</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Advert language · D3-L08</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يُطْلَبُ مُتَطَوِّعُونَ</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يُشْتَرَطُ الالْتِزَامُ</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يُفَضَّلُ مَنْ لَدَيْهِ خِبْرَةٌ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لِلتَّقَدُّمِ أَرْسِلْ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the advert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نَقْرَأُ الإِعْلَانَ مَعًا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 “Volunteers wanted for the food bank on Saturday.”</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اسْمَعْ: «يُطْلَبُ مُتَطَوِّعُونَ لِبَنْكِ الطَّعَامِ يَوْمَ السَّبْتِ».</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are the requirements?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وَمَا الشُّرُوطُ؟</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“Punctuality is required, and someone with teamwork experience is preferred.”</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«يُشْتَرَطُ الالْتِزَامُ بِالوَقْتِ، وَيُفَضَّلُ مَنْ لَدَيْهِ خِبْرَةٌ فِي العَمَلِ الجَمَاعِيِّ».</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seems that discipline is important to them. That is like the proverb: “Time is like a sword.”</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يَبْدُو أَنَّ الانْضِبَاطَ مُهِمٌّ عِنْدَهُمْ. هٰذَا مِثْلُ المَثَلِ: «الوَقْتُ كَالسَّيْفِ».</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this proverb mean?</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يَعْنِي هٰذَا المَثَلُ؟</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It means that time is precious; if you don’t use it well, it is lost.</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يَعْنِي أَنَّ الوَقْتَ ثَمِينٌ؛ إِذَا لَمْ تَسْتَعْمِلْهُ جَيِّدًا، ضَاعَ.</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مَثَلًا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يَعْنِي هٰذَا المَثَلُ أَنَّ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“Patience is the key to relief” mean?</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يَعْنِي «الصَّبْرُ مِفْتَاحُ الفَرَجِ»؟</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شَرْطٌ أَسَاسِيٌّ</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«يُشْتَرَطُ» يَعْنِي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“English proficiency is required.” — Is it essential?</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400" b="1" dirty="0">
                <a:solidFill>
                  <a:srgbClr val="1B3B6F"/>
                </a:solidFill>
                <a:latin typeface="Amiri" pitchFamily="2" charset="-78"/>
                <a:ea typeface="Amiri" pitchFamily="2" charset="-78"/>
                <a:cs typeface="Amiri" pitchFamily="2" charset="-78"/>
              </a:rPr>
              <a:t>«يُشْتَرَطُ إِجَادَةُ اللُّغَةِ الإِنْجِلِيزِيَّةِ.» — هَلْ هٰذَا ضَرُورِيٌّ؟</a:t>
            </a:r>
            <a:endParaRPr lang="ar-SA" sz="14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فَرِيقِ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نَقُولُهُ عِنْدَمَا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do we say “Unity is strength”?</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نَقُولُ «الاتِّحَادُ قُوَّةٌ»؟</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56648" y="4110228"/>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لَيْسَتْ ضَرُورِيَّةً، وَلٰكِنَّ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driving licence is preferred.” — Do you need one?</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«يُفَضَّلُ مَنْ لَدَيْهِ رُخْصَةُ قِيَادَةٍ.» — هَلْ تَحْتَاجُ إِلَيْهَا؟</a:t>
            </a:r>
            <a:endParaRPr lang="ar-SA" sz="15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56648" y="4724400"/>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يَنْطَبِقُ عَلَيَّ لِأَنَّ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Does “Knowledge is light” apply to your life?</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يَنْطَبِقُ «العِلْمُ نُورٌ» عَلَى حَيَاتِكَ؟</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56648" y="5338572"/>
            <a:ext cx="190195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Clue: ‏</a:t>
            </a:r>
            <a:pPr algn="l" indent="0" marL="0">
              <a:buNone/>
            </a:pPr>
            <a:r>
              <a:rPr lang="ar-SA" altLang="en-US" sz="1450" dirty="0">
                <a:solidFill>
                  <a:srgbClr val="5A6472"/>
                </a:solidFill>
                <a:latin typeface="Amiri" pitchFamily="2" charset="-78"/>
                <a:ea typeface="Amiri" pitchFamily="2" charset="-78"/>
                <a:cs typeface="Amiri" pitchFamily="2" charset="-78"/>
              </a:rPr>
              <a:t>الَّتِي</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الشَّرِكَةُ</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الشَّرِكَةُ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“The company, which was founded in Dubai, seeks a designer.” — What was founded in Dubai?</a:t>
            </a:r>
            <a:endParaRPr lang="en-US" sz="105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«الشَّرِكَةُ الَّتِي تَأَسَّسَتْ فِي دُبَيٍّ تَبْحَثُ عَنْ مُصَمِّمٍ.» — مَا الَّذِي تَأَسَّسَ فِي دُبَيٍّ؟</a:t>
            </a:r>
            <a:endParaRPr lang="ar-SA" sz="12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D3-L07, even numbers from D3-L08.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Reading card — the food bank advert</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إِعْلَانُ بَنْكِ الطَّعَامِ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 لَا، عُمْرِي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Check the requirement against yourself.</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«يُشْتَرَطُ أَنْ يَكُونَ عُمْرُ المُتَطَوِّعِ أَرْبَعَ عَشْرَةَ سَنَةً عَلَى الأَقَلِّ.» — هَلْ أَنْتَ مُنَاسِبٌ؟</a:t>
            </a:r>
            <a:endParaRPr lang="ar-SA" sz="13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يُفَضَّلُ ← لَيْسَ ضَرُورِيًّا، وَلٰكِنَّهُ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Required or preferred?</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«يُفَضَّلُ مَنْ يَتَكَلَّمُ لُغَةً ثَانِيَةً.» — هَلْ هٰذَا ضَرُورِيٌّ؟</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Infer a value with evidence from the text.</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القِيمَةُ المُهِمَّةُ فِي هٰذَا الإِعْلَانِ؟ مَا الدَّلِيلُ؟</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the proverb and apply it.</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يَعْنِي «الاتِّحَادُ قُوَّةٌ»؟</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Advise yourself with an imperative and a prohibition.</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إِذَا كَانَ العَمَلُ مُتْعِبًا، مَاذَا تَقُولُ لِنَفْسِكَ؟</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Partner A reads the advert lines and asks. Answer with evidence from the text (‏</a:t>
            </a:r>
            <a:pPr algn="l" indent="0" marL="0">
              <a:buNone/>
            </a:pPr>
            <a:r>
              <a:rPr lang="ar-SA" altLang="en-US" sz="1500" b="1" dirty="0">
                <a:solidFill>
                  <a:srgbClr val="1B3B6F"/>
                </a:solidFill>
                <a:latin typeface="Amiri" pitchFamily="2" charset="-78"/>
                <a:ea typeface="Amiri" pitchFamily="2" charset="-78"/>
                <a:cs typeface="Amiri" pitchFamily="2" charset="-78"/>
              </a:rPr>
              <a:t>الدَّلِيلُ أَنَّ</a:t>
            </a:r>
            <a:pPr algn="l" indent="0" marL="0">
              <a:buNone/>
            </a:pPr>
            <a:r>
              <a:rPr lang="en-US" sz="1150" b="1" dirty="0">
                <a:solidFill>
                  <a:srgbClr val="1B3B6F"/>
                </a:solidFill>
                <a:latin typeface="Calibri" pitchFamily="34" charset="0"/>
                <a:cs typeface="Amiri" pitchFamily="2" charset="-78"/>
              </a:rPr>
              <a:t> …‏). Task ! is personal. Then swap.</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proverb for the volunteers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مَثَلٌ لِلْمُتَطَوِّعِينَ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to the new volunteers: what the advert requires and prefers, which value matters most at the food bank and why, one proverb and what it means, a time it applied to you (in the past), and two pieces of advice (one imperative, one ‏</a:t>
            </a:r>
            <a:pPr algn="l" indent="0" marL="0">
              <a:buNone/>
            </a:pPr>
            <a:r>
              <a:rPr lang="ar-SA" altLang="en-US" sz="1750" dirty="0">
                <a:solidFill>
                  <a:srgbClr val="1F2A37"/>
                </a:solidFill>
                <a:latin typeface="Amiri" pitchFamily="2" charset="-78"/>
                <a:ea typeface="Amiri" pitchFamily="2" charset="-78"/>
                <a:cs typeface="Amiri" pitchFamily="2" charset="-78"/>
              </a:rPr>
              <a:t>لَا</a:t>
            </a:r>
            <a:pPr algn="l" indent="0" marL="0">
              <a:buNone/>
            </a:pPr>
            <a:r>
              <a:rPr lang="en-US" sz="1350" dirty="0">
                <a:solidFill>
                  <a:srgbClr val="1F2A37"/>
                </a:solidFill>
                <a:latin typeface="Calibri" pitchFamily="34" charset="0"/>
                <a:cs typeface="Amiri" pitchFamily="2" charset="-78"/>
              </a:rPr>
              <a:t>‏ + verb).</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يُشْتَرَطُ … · يُفَضَّلُ … · يَعْنِي هٰذَا المَثَلُ أَنَّ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value with a reason and a past example (‏</a:t>
            </a:r>
            <a:pPr algn="l" indent="0" marL="0">
              <a:buNone/>
            </a:pPr>
            <a:r>
              <a:rPr lang="ar-SA" altLang="en-US" sz="1500" dirty="0">
                <a:solidFill>
                  <a:srgbClr val="1F2A37"/>
                </a:solidFill>
                <a:latin typeface="Amiri" pitchFamily="2" charset="-78"/>
                <a:ea typeface="Amiri" pitchFamily="2" charset="-78"/>
                <a:cs typeface="Amiri" pitchFamily="2" charset="-78"/>
              </a:rPr>
              <a:t>يَنْطَبِقُ هٰذَا المَثَلُ عَلَى</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inference (‏</a:t>
            </a:r>
            <a:pPr algn="l" indent="0" marL="0">
              <a:buNone/>
            </a:pPr>
            <a:r>
              <a:rPr lang="ar-SA" altLang="en-US" sz="1500" dirty="0">
                <a:solidFill>
                  <a:srgbClr val="1F2A37"/>
                </a:solidFill>
                <a:latin typeface="Amiri" pitchFamily="2" charset="-78"/>
                <a:ea typeface="Amiri" pitchFamily="2" charset="-78"/>
                <a:cs typeface="Amiri" pitchFamily="2" charset="-78"/>
              </a:rPr>
              <a:t>يَبْدُو أَنَّ</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الدَّلِيلُ أَنَّ</a:t>
            </a:r>
            <a:pPr algn="l" indent="0" marL="0">
              <a:buNone/>
            </a:pPr>
            <a:r>
              <a:rPr lang="en-US" sz="1150" dirty="0">
                <a:solidFill>
                  <a:srgbClr val="1F2A37"/>
                </a:solidFill>
                <a:latin typeface="Calibri" pitchFamily="34" charset="0"/>
                <a:cs typeface="Amiri" pitchFamily="2" charset="-78"/>
              </a:rPr>
              <a:t> …‏) and advice: ‏</a:t>
            </a:r>
            <a:pPr algn="l" indent="0" marL="0">
              <a:buNone/>
            </a:pPr>
            <a:r>
              <a:rPr lang="ar-SA" altLang="en-US" sz="1500" dirty="0">
                <a:solidFill>
                  <a:srgbClr val="1F2A37"/>
                </a:solidFill>
                <a:latin typeface="Amiri" pitchFamily="2" charset="-78"/>
                <a:ea typeface="Amiri" pitchFamily="2" charset="-78"/>
                <a:cs typeface="Amiri" pitchFamily="2" charset="-78"/>
              </a:rPr>
              <a:t>اجْتَهِدُوا</a:t>
            </a:r>
            <a:pPr algn="l" indent="0" marL="0">
              <a:buNone/>
            </a:pPr>
            <a:r>
              <a:rPr lang="en-US" sz="1150" dirty="0">
                <a:solidFill>
                  <a:srgbClr val="1F2A37"/>
                </a:solidFill>
                <a:latin typeface="Calibri" pitchFamily="34" charset="0"/>
                <a:cs typeface="Amiri" pitchFamily="2" charset="-78"/>
              </a:rPr>
              <a:t> · </a:t>
            </a:r>
            <a:pPr algn="l" indent="0" marL="0">
              <a:buNone/>
            </a:pPr>
            <a:r>
              <a:rPr lang="ar-SA" altLang="en-US" sz="1500" dirty="0">
                <a:solidFill>
                  <a:srgbClr val="1F2A37"/>
                </a:solidFill>
                <a:latin typeface="Amiri" pitchFamily="2" charset="-78"/>
                <a:ea typeface="Amiri" pitchFamily="2" charset="-78"/>
                <a:cs typeface="Amiri" pitchFamily="2" charset="-78"/>
              </a:rPr>
              <a:t>لَا تَسْتَسْلِمُوا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This proverb means that patience is important.</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يَعْنِي هٰذَا المَثَلُ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يَعْنِي هٰذِهِ المَثَلُ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الصَّبْرَ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 الصَّبْرُ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مُهِمٌّ.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مُهِمًّا.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Experience in sales is required.</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تُشْتَرَطُ</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يَشْتَرِطُ</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خِبْرَةٌ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خِبْرَةً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المَبِيعَاتِ.</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مَعَ المَبِيعَاتِ.</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Don’t give up!</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لَنْ</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تَسْتَسْلِمْ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تَسْتَسْلِمُ</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أَبَدًا!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أَبَدٌ!</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This proverb means that patience is important.</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مَثَلٌ</a:t>
            </a:r>
            <a:pPr algn="l" indent="0" marL="0">
              <a:buNone/>
            </a:pPr>
            <a:r>
              <a:rPr lang="en-US" sz="1050" i="1" dirty="0">
                <a:solidFill>
                  <a:srgbClr val="5A6472"/>
                </a:solidFill>
                <a:latin typeface="Calibri" pitchFamily="34" charset="0"/>
                <a:cs typeface="Amiri" pitchFamily="2" charset="-78"/>
              </a:rPr>
              <a:t> (m.) → </a:t>
            </a:r>
            <a:pPr algn="l" indent="0" marL="0">
              <a:buNone/>
            </a:pPr>
            <a:r>
              <a:rPr lang="ar-SA" altLang="en-US" sz="1350" dirty="0">
                <a:solidFill>
                  <a:srgbClr val="5A6472"/>
                </a:solidFill>
                <a:latin typeface="Amiri" pitchFamily="2" charset="-78"/>
                <a:ea typeface="Amiri" pitchFamily="2" charset="-78"/>
                <a:cs typeface="Amiri" pitchFamily="2" charset="-78"/>
              </a:rPr>
              <a:t>هٰذَا</a:t>
            </a:r>
            <a:pPr algn="l" indent="0" marL="0">
              <a:buNone/>
            </a:pPr>
            <a:r>
              <a:rPr lang="en-US" sz="1050" i="1" dirty="0">
                <a:solidFill>
                  <a:srgbClr val="5A6472"/>
                </a:solidFill>
                <a:latin typeface="Calibri" pitchFamily="34" charset="0"/>
                <a:cs typeface="Amiri" pitchFamily="2" charset="-78"/>
              </a:rPr>
              <a:t>;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predicate -un.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يَعْنِي هٰذَا المَثَلُ أَنَّ الصَّبْرَ مُهِمٌّ.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Experience in sales is required.</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Passive verb + subject in -un; </a:t>
            </a:r>
            <a:pPr algn="l" indent="0" marL="0">
              <a:buNone/>
            </a:pPr>
            <a:r>
              <a:rPr lang="ar-SA" altLang="en-US" sz="1350" dirty="0">
                <a:solidFill>
                  <a:srgbClr val="5A6472"/>
                </a:solidFill>
                <a:latin typeface="Amiri" pitchFamily="2" charset="-78"/>
                <a:ea typeface="Amiri" pitchFamily="2" charset="-78"/>
                <a:cs typeface="Amiri" pitchFamily="2" charset="-78"/>
              </a:rPr>
              <a:t>خِبْرَةٌ</a:t>
            </a:r>
            <a:pPr algn="l" indent="0" marL="0">
              <a:buNone/>
            </a:pPr>
            <a:r>
              <a:rPr lang="en-US" sz="1050" i="1" dirty="0">
                <a:solidFill>
                  <a:srgbClr val="5A6472"/>
                </a:solidFill>
                <a:latin typeface="Calibri" pitchFamily="34" charset="0"/>
                <a:cs typeface="Amiri" pitchFamily="2" charset="-78"/>
              </a:rPr>
              <a:t> (f.) → </a:t>
            </a:r>
            <a:pPr algn="l" indent="0" marL="0">
              <a:buNone/>
            </a:pPr>
            <a:r>
              <a:rPr lang="ar-SA" altLang="en-US" sz="1350" dirty="0">
                <a:solidFill>
                  <a:srgbClr val="5A6472"/>
                </a:solidFill>
                <a:latin typeface="Amiri" pitchFamily="2" charset="-78"/>
                <a:ea typeface="Amiri" pitchFamily="2" charset="-78"/>
                <a:cs typeface="Amiri" pitchFamily="2" charset="-78"/>
              </a:rPr>
              <a:t>تُشْتَرَطُ</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تُشْتَرَطُ خِبْرَةٌ فِي المَبِيعَاتِ.</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Don’t give up!</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Prohibition = </a:t>
            </a:r>
            <a:pPr algn="l" indent="0" marL="0">
              <a:buNone/>
            </a:pPr>
            <a:r>
              <a:rPr lang="ar-SA" altLang="en-US" sz="1350" dirty="0">
                <a:solidFill>
                  <a:srgbClr val="5A6472"/>
                </a:solidFill>
                <a:latin typeface="Amiri" pitchFamily="2" charset="-78"/>
                <a:ea typeface="Amiri" pitchFamily="2" charset="-78"/>
                <a:cs typeface="Amiri" pitchFamily="2" charset="-78"/>
              </a:rPr>
              <a:t>لَا</a:t>
            </a:r>
            <a:pPr algn="l" indent="0" marL="0">
              <a:buNone/>
            </a:pPr>
            <a:r>
              <a:rPr lang="en-US" sz="1050" i="1" dirty="0">
                <a:solidFill>
                  <a:srgbClr val="5A6472"/>
                </a:solidFill>
                <a:latin typeface="Calibri" pitchFamily="34" charset="0"/>
                <a:cs typeface="Amiri" pitchFamily="2" charset="-78"/>
              </a:rPr>
              <a:t> + jussive (sukūn).</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تَسْتَسْلِمْ أَبَدًا!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لَا تُؤَجِّلُ عَمَلَكَ.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Prohibition ending.</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«يُفَضَّلُ» يَعْنِي ضَرُورِيٌّ.</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Preferred or required?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يَعْنِي المَثَلُ أَنَّ العِلْمُ نُورٌ.</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لَا تُؤَجِّلُ عَمَلَكَ.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تُؤَجِّلْ عَمَلَكَ.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لَا</a:t>
            </a:r>
            <a:pPr algn="l" indent="0" marL="0">
              <a:buNone/>
            </a:pPr>
            <a:r>
              <a:rPr lang="en-US" sz="1150" b="1" dirty="0">
                <a:solidFill>
                  <a:srgbClr val="1B3B6F"/>
                </a:solidFill>
                <a:latin typeface="Calibri" pitchFamily="34" charset="0"/>
                <a:cs typeface="Amiri" pitchFamily="2" charset="-78"/>
              </a:rPr>
              <a:t>‏ (don’t) + jussive: ‏</a:t>
            </a:r>
            <a:pPr algn="l" indent="0" marL="0">
              <a:buNone/>
            </a:pPr>
            <a:r>
              <a:rPr lang="ar-SA" altLang="en-US" sz="1500" b="1" dirty="0">
                <a:solidFill>
                  <a:srgbClr val="1B3B6F"/>
                </a:solidFill>
                <a:latin typeface="Amiri" pitchFamily="2" charset="-78"/>
                <a:ea typeface="Amiri" pitchFamily="2" charset="-78"/>
                <a:cs typeface="Amiri" pitchFamily="2" charset="-78"/>
              </a:rPr>
              <a:t>تُؤَجِّلْ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«يُفَضَّلُ» يَعْنِي ضَرُورِيٌّ.</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«يُفَضَّلُ» يَعْنِي مُفِيدٌ وَلٰكِنَّهُ لَيْسَ ضَرُورِيًّا.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Only ‏</a:t>
            </a:r>
            <a:pPr algn="l" indent="0" marL="0">
              <a:buNone/>
            </a:pPr>
            <a:r>
              <a:rPr lang="ar-SA" altLang="en-US" sz="1500" b="1" dirty="0">
                <a:solidFill>
                  <a:srgbClr val="1B3B6F"/>
                </a:solidFill>
                <a:latin typeface="Amiri" pitchFamily="2" charset="-78"/>
                <a:ea typeface="Amiri" pitchFamily="2" charset="-78"/>
                <a:cs typeface="Amiri" pitchFamily="2" charset="-78"/>
              </a:rPr>
              <a:t>يُشْتَرَطُ</a:t>
            </a:r>
            <a:pPr algn="l" indent="0" marL="0">
              <a:buNone/>
            </a:pPr>
            <a:r>
              <a:rPr lang="en-US" sz="1150" b="1" dirty="0">
                <a:solidFill>
                  <a:srgbClr val="1B3B6F"/>
                </a:solidFill>
                <a:latin typeface="Calibri" pitchFamily="34" charset="0"/>
                <a:cs typeface="Amiri" pitchFamily="2" charset="-78"/>
              </a:rPr>
              <a:t>‏ means essential.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يَعْنِي المَثَلُ أَنَّ العِلْمُ نُورٌ.</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يَعْنِي المَثَلُ أَنَّ العِلْمَ نُورٌ.</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noun in -a.</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يَنْطَبِقُ هٰذَا المَثَلُ عَلَيَّ؛ مَثَلًا،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proverb applies to me; for example,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أَعْتَقِدُ أَنَّنِي مُنَاسِبٌ / مُنَاسِبَةٌ لِأَنَّ ______ .</a:t>
            </a:r>
            <a:endParaRPr lang="ar-SA" sz="17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believe I am suitable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قَرَأْتُ إِعْلَانَكُمْ، وَيَسُرُّنِي أَنْ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read your advert, and I am pleased to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يُشْتَرَطُ ______ ، وَأَنَا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required, and I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يَبْدُو أَنَّ ______ مُهِمٌّ / مُهِمَّةٌ عِنْدَكُمْ.</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seems that … is important to you.</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يَعْنِي المَثَلُ «______» 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proverb “…” means that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يُطْلَبُ · يُشْتَرَطُ · يُفَضَّلُ  ·  يَبْدُو أَنَّ  ·  الدَّلِيلُ أَنَّ  ·  الأَمَانَةُ · الانْضِبَاطُ  ·  المُثَابَرَةُ  ·  يَعْنِي هٰذَا المَثَلُ أَنَّ  ·  يَنْطَبِقُ عَلَى  ·  الصَّبْرُ مِفْتَاحُ الفَرَجِ</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reply to the volunteer advert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رَدٌّ عَلَى الإِعْلَانِ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Write a reply (about 60–80 words) to the food bank. Include: • the post and two requirements from the advert, and whether you meet them • what the charity seems to value, with evidence from the text • one proverb, what it means and how it applies to you (a past example) • why you are suitable • a polite close.</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D3-L07 AND D3-L08.</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قَرَأْتُ إِعْلَانَكُمْ: «يُطْلَبُ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read your advert: “… wanted”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يُشْتَرَطُ … ، وَأَنَا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is required, and I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يَبْدُو أَنَّ … مُهِمٌّ عِنْدَكُمْ</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seems that … matters to you</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ea typeface="Amiri" pitchFamily="2" charset="-78"/>
                <a:cs typeface="Amiri" pitchFamily="2" charset="-78"/>
              </a:rPr>
              <a:t>يَعْنِي هٰذَا المَثَلُ أَنَّ … · يَنْطَبِقُ عَلَيَّ لِأَنَّ …</a:t>
            </a:r>
            <a:endParaRPr lang="ar-SA" sz="165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this proverb means … · it applies to me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explain one proverb with ‏</a:t>
            </a:r>
            <a:pPr algn="l" indent="0" marL="0">
              <a:buNone/>
            </a:pPr>
            <a:r>
              <a:rPr lang="ar-SA" altLang="en-US" sz="1450" dirty="0">
                <a:solidFill>
                  <a:srgbClr val="5A6472"/>
                </a:solidFill>
                <a:latin typeface="Amiri" pitchFamily="2" charset="-78"/>
                <a:ea typeface="Amiri" pitchFamily="2" charset="-78"/>
                <a:cs typeface="Amiri" pitchFamily="2" charset="-78"/>
              </a:rPr>
              <a:t>يَعْنِي … أَنَّ</a:t>
            </a:r>
            <a:pPr algn="l" indent="0" marL="0">
              <a:buNone/>
            </a:pPr>
            <a:r>
              <a:rPr lang="en-US" sz="1100" dirty="0">
                <a:solidFill>
                  <a:srgbClr val="5A6472"/>
                </a:solidFill>
                <a:latin typeface="Calibri" pitchFamily="34" charset="0"/>
                <a:cs typeface="Amiri" pitchFamily="2" charset="-78"/>
              </a:rPr>
              <a:t>‏ + noun in -a?</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track ‏</a:t>
            </a:r>
            <a:pPr algn="l" indent="0" marL="0">
              <a:buNone/>
            </a:pPr>
            <a:r>
              <a:rPr lang="ar-SA" altLang="en-US" sz="1450" dirty="0">
                <a:solidFill>
                  <a:srgbClr val="5A6472"/>
                </a:solidFill>
                <a:latin typeface="Amiri" pitchFamily="2" charset="-78"/>
                <a:ea typeface="Amiri" pitchFamily="2" charset="-78"/>
                <a:cs typeface="Amiri" pitchFamily="2" charset="-78"/>
              </a:rPr>
              <a:t>الَّذِي / الَّتِي</a:t>
            </a:r>
            <a:pPr algn="l" indent="0" marL="0">
              <a:buNone/>
            </a:pPr>
            <a:r>
              <a:rPr lang="en-US" sz="1100" dirty="0">
                <a:solidFill>
                  <a:srgbClr val="5A6472"/>
                </a:solidFill>
                <a:latin typeface="Calibri" pitchFamily="34" charset="0"/>
                <a:cs typeface="Amiri" pitchFamily="2" charset="-78"/>
              </a:rPr>
              <a:t>‏ and support an inference with evidence?</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أَنَا مُنَاسِبٌ؛ عُمْرِي خَمْسَ عَشْرَةَ سَنَةً.</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am suitable; I am fifteen.</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«يُشْتَرَطُ أَنْ يَكُونَ عُمْرُ المُتَطَوِّعِ أَرْبَعَ عَشْرَةَ سَنَةً عَلَى الأَقَلِّ.» — هَلْ أَنْتَ مُنَاسِبٌ؟</a:t>
            </a:r>
            <a:endParaRPr lang="ar-SA" sz="13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لَيْسَ ضَرُورِيًّا، وَلٰكِنَّهُ مُفِيدٌ؛ أَنَا أَتَكَلَّمُ العَرَبِيَّةَ وَالإِنْجِلِيزِيَّةَ.</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is not essential, but it is useful; I speak Arabic and English.</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«يُفَضَّلُ مَنْ يَتَكَلَّمُ لُغَةً ثَانِيَةً.» — هَلْ هٰذَا ضَرُورِيٌّ؟</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يَبْدُو أَنَّ الأَمَانَةَ مُهِمَّةٌ، وَالدَّلِيلُ أَنَّهُمْ يَطْلُبُونَ مُتَطَوِّعِينَ لِتَوْزِيعِ الطَّعَامِ وَالمَالِ.</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seems that honesty is important; the evidence is that they want volunteers to hand out food and money.</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القِيمَةُ المُهِمَّةُ فِي هٰذَا الإِعْلَانِ؟ مَا الدَّلِيلُ؟</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يَعْنِي أَنَّنَا أَقْوَى مَعًا؛ يَنْطَبِقُ هٰذَا المَثَلُ عَلَى العَمَلِ الجَمَاعِيِّ فِي بَنْكِ الطَّعَامِ.</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It means we are stronger together; this proverb applies to teamwork at the food bank.</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يَعْنِي «الاتِّحَادُ قُوَّةٌ»؟</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أَقُولُ: اصْبِرْ وَلَا تَسْتَسْلِمْ، فَالصَّبْرُ مِفْتَاحُ الفَرَجِ.</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say: be patient and don’t give up, for patience is the key to relief.</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كَانَ العَمَلُ مُتْعِبًا، مَاذَا تَقُولُ لِنَفْسِكَ؟</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السَّلَامُ عَلَيْكُمْ، قَرَأْتُ إِعْلَانَكُمْ، وَيَسُرُّنِي أَنْ أَتَطَوَّعَ يَوْمَ السَّبْتِ. يُشْتَرَطُ الالْتِزَامُ بِالوَقْتِ، وَأَنَا أَصِلُ إِلَى المَدْرَسَةِ مُبَكِّرًا دَائِمًا. يَبْدُو أَنَّ الانْضِبَاطَ وَالأَمَانَةَ مُهِمَّانِ عِنْدَكُمْ، وَالدَّلِيلُ أَنَّكُمْ تُوَزِّعُونَ الطَّعَامَ عَلَى العَائِلَاتِ. يَعْنِي المَثَلُ «الاتِّحَادُ قُوَّةٌ» أَنَّنَا أَقْوَى مَعًا، وَيَنْطَبِقُ عَلَيَّ؛ مَثَلًا، فَازَ فَرِيقُنَا فِي المُسَابَقَةِ لِأَنَّنَا تَعَاوَنَّا. أَعْتَقِدُ أَنَّنِي مُنَاسِبٌ لِأَنِّي صَبُورٌ وَمُتَعَاوِنٌ. شُكْرًا جَزِيلًا.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“Peace be upon you. I read your advert, and I am pleased to volunteer on Saturday. Punctuality is required, and I always arrive at school early. It seems that discipline and honesty are important to you; the evidence is that you hand out food to families. The proverb “Unity is strength” means that we are stronger together, and it applies to me; for example, our team won the competition because we co-operated. I believe I am suitable because I am patient and co-operative. Thank you very much.”</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يُشْتَرَطُ الالْتِزَامُ</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يَبْدُو أَنَّ الانْضِبَاطَ</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وَالدَّلِيلُ أَنَّكُمْ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يَعْنِي المَثَلُ</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D3-W04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D3-W04 · Apply workshop (D3-L07 + D3-L08)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D3-L07 and D3-L08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D3-W04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D3-L09 · Writing — Career Plans Article or Email</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خُطَطِي وَطُمُوحَاتِي المِهَنِيَّةُ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D3-W04 · Apply Workshop — Values at Work: The Volunteer Advert</dc:title>
  <dc:subject>PptxGenJS Presentation</dc:subject>
  <dc:creator>Al Madina Online School · Arabic Department</dc:creator>
  <cp:lastModifiedBy>Al Madina Online School · Arabic Department</cp:lastModifiedBy>
  <cp:revision>1</cp:revision>
  <dcterms:created xsi:type="dcterms:W3CDTF">2026-10-26T15:33:31Z</dcterms:created>
  <dcterms:modified xsi:type="dcterms:W3CDTF">2026-10-26T15:33:31Z</dcterms:modified>
</cp:coreProperties>
</file>