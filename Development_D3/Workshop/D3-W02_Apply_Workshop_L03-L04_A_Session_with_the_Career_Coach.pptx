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D3-L03 · Learn D3-L04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D3-L03 (Skills and Qualities — What Makes a Good Worker?) and D3-L04 (The Future Tense — Plans, Ambitions and Career Goals).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D3-L03 and D3-L04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D3-L03? After D3-L04?” Take two answers in the chat for each lesson (one word or one sentence is enough). Then read objective 3 — today’s new situation that needs BOTH lessons. Students tick their route goals at the end of the lesson.
D3-L03 language: needs: yaḥtāju ilā + noun (yaḥtāju al-ṭabību ilā al-ṣabri); must: yajibu an yakūna + adjective in -an (ṣabūran / ṣabūratan); can: yastaṭīʿu an + verb in -a; proving a quality with behaviour (mathalan, ʿindamā …)
D3-L04 language: future with sa- (sa-adrusu) and sawfa (sawfa atadarrabu); negative future lan + verb in -a; ambition: aṭmaḥu ilā an · anwī an · urīdu an uṣbiḥa + noun in -an; purpose: li-kay / ḥattā + verb in -a; condition: idhā najaḥtu, fa-sa-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D3-L03.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D3-L04.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D3-L03 and D3-L04. Teacher reads it once with a confident student; then pairs. Ask: “Which lines are from D3-L03? Which from D3-L04?” يَحْتَاجُ إِلَى · يَجِبُ أَنْ تَكُونَ + -an (صَبُورَةً) · أَسْتَطِيعُ أَنْ come from D3-L03; أَطْمَحُ إِلَى أَنْ · سَأَدْرُسُ · لِكَيْ · لَنْ + -a from D3-L04.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needs, qualities and proven skills (D3-L03) with ambitions, future steps, purpose, negatives and conditions (D3-L04). FADED SUPPORT: tasks 1–2 show the plan; students write their own plan for 3–5. To a girl Partner A says: مَا طُمُوحُكِ؟ · مَا مَهَارَاتُكِ؟ — and she answers: أَطْمَحُ إِلَى أَنْ أُصْبِحَ مُبَرْمِجَةً.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D3-L03 and D3-L04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D3-L03 and D3-L04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CHECK YOURSELF (2 min). Find each bullet point in the model, and one phrase from D3-L03 and one from D3-L04.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D3-L03 + D3-L04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D3-W02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 Session with the Career Coach</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جَلْسَةٌ مَعَ المُرْشِدِ المِهْنِيِّ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join skills and qualities with future plans: in a session with the school career coach they say what their dream job needs (</a:t>
            </a:r>
            <a:pPr algn="l" indent="0" marL="0">
              <a:buNone/>
            </a:pPr>
            <a:r>
              <a:rPr lang="ar-SA" altLang="en-US" sz="1650" dirty="0">
                <a:solidFill>
                  <a:srgbClr val="C6D2E6"/>
                </a:solidFill>
                <a:latin typeface="Amiri" pitchFamily="2" charset="-78"/>
                <a:ea typeface="Amiri" pitchFamily="2" charset="-78"/>
                <a:cs typeface="Amiri" pitchFamily="2" charset="-78"/>
              </a:rPr>
              <a:t>يَحْتَاجُ إِلَى</a:t>
            </a:r>
            <a:pPr algn="l" indent="0" marL="0">
              <a:buNone/>
            </a:pPr>
            <a:r>
              <a:rPr lang="en-US" sz="1250" dirty="0">
                <a:solidFill>
                  <a:srgbClr val="C6D2E6"/>
                </a:solidFill>
                <a:latin typeface="Calibri" pitchFamily="34" charset="0"/>
                <a:cs typeface="Amiri" pitchFamily="2" charset="-78"/>
              </a:rPr>
              <a:t> · </a:t>
            </a:r>
            <a:pPr algn="l" indent="0" marL="0">
              <a:buNone/>
            </a:pPr>
            <a:r>
              <a:rPr lang="ar-SA" altLang="en-US" sz="1650" dirty="0">
                <a:solidFill>
                  <a:srgbClr val="C6D2E6"/>
                </a:solidFill>
                <a:latin typeface="Amiri" pitchFamily="2" charset="-78"/>
                <a:ea typeface="Amiri" pitchFamily="2" charset="-78"/>
                <a:cs typeface="Amiri" pitchFamily="2" charset="-78"/>
              </a:rPr>
              <a:t>يَجِبُ أَنْ يَكُونَ</a:t>
            </a:r>
            <a:pPr algn="l" indent="0" marL="0">
              <a:buNone/>
            </a:pPr>
            <a:r>
              <a:rPr lang="en-US" sz="1250" dirty="0">
                <a:solidFill>
                  <a:srgbClr val="C6D2E6"/>
                </a:solidFill>
                <a:latin typeface="Calibri" pitchFamily="34" charset="0"/>
                <a:cs typeface="Amiri" pitchFamily="2" charset="-78"/>
              </a:rPr>
              <a:t> …), prove their own skills with examples, set out future steps (</a:t>
            </a:r>
            <a:pPr algn="l" indent="0" marL="0">
              <a:buNone/>
            </a:pPr>
            <a:r>
              <a:rPr lang="ar-SA" altLang="en-US" sz="1650" dirty="0">
                <a:solidFill>
                  <a:srgbClr val="C6D2E6"/>
                </a:solidFill>
                <a:latin typeface="Amiri" pitchFamily="2" charset="-78"/>
                <a:ea typeface="Amiri" pitchFamily="2" charset="-78"/>
                <a:cs typeface="Amiri" pitchFamily="2" charset="-78"/>
              </a:rPr>
              <a:t>سَأَدْرُسُ</a:t>
            </a:r>
            <a:pPr algn="l" indent="0" marL="0">
              <a:buNone/>
            </a:pPr>
            <a:r>
              <a:rPr lang="en-US" sz="1250" dirty="0">
                <a:solidFill>
                  <a:srgbClr val="C6D2E6"/>
                </a:solidFill>
                <a:latin typeface="Calibri" pitchFamily="34" charset="0"/>
                <a:cs typeface="Amiri" pitchFamily="2" charset="-78"/>
              </a:rPr>
              <a:t> · </a:t>
            </a:r>
            <a:pPr algn="l" indent="0" marL="0">
              <a:buNone/>
            </a:pPr>
            <a:r>
              <a:rPr lang="ar-SA" altLang="en-US" sz="1650" dirty="0">
                <a:solidFill>
                  <a:srgbClr val="C6D2E6"/>
                </a:solidFill>
                <a:latin typeface="Amiri" pitchFamily="2" charset="-78"/>
                <a:ea typeface="Amiri" pitchFamily="2" charset="-78"/>
                <a:cs typeface="Amiri" pitchFamily="2" charset="-78"/>
              </a:rPr>
              <a:t>سَوْفَ</a:t>
            </a:r>
            <a:pPr algn="l" indent="0" marL="0">
              <a:buNone/>
            </a:pPr>
            <a:r>
              <a:rPr lang="en-US" sz="1250" dirty="0">
                <a:solidFill>
                  <a:srgbClr val="C6D2E6"/>
                </a:solidFill>
                <a:latin typeface="Calibri" pitchFamily="34" charset="0"/>
                <a:cs typeface="Amiri" pitchFamily="2" charset="-78"/>
              </a:rPr>
              <a:t> · </a:t>
            </a:r>
            <a:pPr algn="l" indent="0" marL="0">
              <a:buNone/>
            </a:pPr>
            <a:r>
              <a:rPr lang="ar-SA" altLang="en-US" sz="1650" dirty="0">
                <a:solidFill>
                  <a:srgbClr val="C6D2E6"/>
                </a:solidFill>
                <a:latin typeface="Amiri" pitchFamily="2" charset="-78"/>
                <a:ea typeface="Amiri" pitchFamily="2" charset="-78"/>
                <a:cs typeface="Amiri" pitchFamily="2" charset="-78"/>
              </a:rPr>
              <a:t>لَنْ</a:t>
            </a:r>
            <a:pPr algn="l" indent="0" marL="0">
              <a:buNone/>
            </a:pPr>
            <a:r>
              <a:rPr lang="en-US" sz="1250" dirty="0">
                <a:solidFill>
                  <a:srgbClr val="C6D2E6"/>
                </a:solidFill>
                <a:latin typeface="Calibri" pitchFamily="34" charset="0"/>
                <a:cs typeface="Amiri" pitchFamily="2" charset="-78"/>
              </a:rPr>
              <a:t> · </a:t>
            </a:r>
            <a:pPr algn="l" indent="0" marL="0">
              <a:buNone/>
            </a:pPr>
            <a:r>
              <a:rPr lang="ar-SA" altLang="en-US" sz="1650" dirty="0">
                <a:solidFill>
                  <a:srgbClr val="C6D2E6"/>
                </a:solidFill>
                <a:latin typeface="Amiri" pitchFamily="2" charset="-78"/>
                <a:ea typeface="Amiri" pitchFamily="2" charset="-78"/>
                <a:cs typeface="Amiri" pitchFamily="2" charset="-78"/>
              </a:rPr>
              <a:t>لِكَيْ</a:t>
            </a:r>
            <a:pPr algn="l" indent="0" marL="0">
              <a:buNone/>
            </a:pPr>
            <a:r>
              <a:rPr lang="en-US" sz="1250" dirty="0">
                <a:solidFill>
                  <a:srgbClr val="C6D2E6"/>
                </a:solidFill>
                <a:latin typeface="Calibri" pitchFamily="34" charset="0"/>
                <a:cs typeface="Amiri" pitchFamily="2" charset="-78"/>
              </a:rPr>
              <a:t> · </a:t>
            </a:r>
            <a:pPr algn="l" indent="0" marL="0">
              <a:buNone/>
            </a:pPr>
            <a:r>
              <a:rPr lang="ar-SA" altLang="en-US" sz="1650" dirty="0">
                <a:solidFill>
                  <a:srgbClr val="C6D2E6"/>
                </a:solidFill>
                <a:latin typeface="Amiri" pitchFamily="2" charset="-78"/>
                <a:ea typeface="Amiri" pitchFamily="2" charset="-78"/>
                <a:cs typeface="Amiri" pitchFamily="2" charset="-78"/>
              </a:rPr>
              <a:t>إِذَا … فَسَوْفَ</a:t>
            </a:r>
            <a:pPr algn="l" indent="0" marL="0">
              <a:buNone/>
            </a:pPr>
            <a:r>
              <a:rPr lang="en-US" sz="1250" dirty="0">
                <a:solidFill>
                  <a:srgbClr val="C6D2E6"/>
                </a:solidFill>
                <a:latin typeface="Calibri" pitchFamily="34" charset="0"/>
                <a:cs typeface="Amiri" pitchFamily="2" charset="-78"/>
              </a:rPr>
              <a:t> …), and write a personal career plan.</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D3-L03 + D3-L04</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D3-L03 and D3-L04.</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D3-L03 + D3-L04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D3-L03: Skills and Qualities — What Makes a Good Worker?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D3-L04: The Future Tense — Plans, Ambitions and Career Goals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career coach · My personal career plan</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D3-L03 and D3-L04.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D3-L03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D3-L03 · Skills and Qualities — What Makes a Good Worker?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مَهَارَةُ التَّوَاصُلِ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communication skill</a:t>
            </a:r>
            <a:endParaRPr lang="en-US" sz="1350" dirty="0"/>
          </a:p>
          <a:p>
            <a:pPr indent="0" marL="0">
              <a:buNone/>
            </a:pPr>
            <a:r>
              <a:rPr lang="en-US" sz="1100" i="1" dirty="0">
                <a:solidFill>
                  <a:srgbClr val="5A6472"/>
                </a:solidFill>
                <a:latin typeface="Calibri" pitchFamily="34" charset="0"/>
                <a:cs typeface="Amiri" pitchFamily="2" charset="-78"/>
              </a:rPr>
              <a:t>ma-hā-ra-tu at-ta-wā-ṣu-li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العَمَلُ الجَمَاعِيُّ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teamwork</a:t>
            </a:r>
            <a:endParaRPr lang="en-US" sz="1350" dirty="0"/>
          </a:p>
          <a:p>
            <a:pPr indent="0" marL="0">
              <a:buNone/>
            </a:pPr>
            <a:r>
              <a:rPr lang="en-US" sz="1100" i="1" dirty="0">
                <a:solidFill>
                  <a:srgbClr val="5A6472"/>
                </a:solidFill>
                <a:latin typeface="Calibri" pitchFamily="34" charset="0"/>
                <a:cs typeface="Amiri" pitchFamily="2" charset="-78"/>
              </a:rPr>
              <a:t>al-ʿa-ma-lu al-ja-mā-ʿiy-yu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مَسْؤُولٌ / مَسْؤُولَةٌ</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responsible</a:t>
            </a:r>
            <a:endParaRPr lang="en-US" sz="1350" dirty="0"/>
          </a:p>
          <a:p>
            <a:pPr indent="0" marL="0">
              <a:buNone/>
            </a:pPr>
            <a:r>
              <a:rPr lang="en-US" sz="1100" i="1" dirty="0">
                <a:solidFill>
                  <a:srgbClr val="5A6472"/>
                </a:solidFill>
                <a:latin typeface="Calibri" pitchFamily="34" charset="0"/>
                <a:cs typeface="Amiri" pitchFamily="2" charset="-78"/>
              </a:rPr>
              <a:t>mas-ʾū-lun / mas-ʾū-la-tun</a:t>
            </a:r>
            <a:endParaRPr lang="en-US" sz="1350" dirty="0"/>
          </a:p>
        </p:txBody>
      </p:sp>
      <p:sp>
        <p:nvSpPr>
          <p:cNvPr id="45" name="Shape 42"/>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مَسْؤُولُونَ</a:t>
            </a:r>
            <a:endParaRPr lang="ar-SA" sz="1500" dirty="0"/>
          </a:p>
        </p:txBody>
      </p:sp>
      <p:sp>
        <p:nvSpPr>
          <p:cNvPr id="48" name="Shape 45"/>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0" name="Text 47"/>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مَسْؤُولَةٌ</a:t>
            </a:r>
            <a:endParaRPr lang="ar-SA" sz="1500" dirty="0"/>
          </a:p>
        </p:txBody>
      </p:sp>
      <p:sp>
        <p:nvSpPr>
          <p:cNvPr id="51" name="Shape 48"/>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3" name="Text 50"/>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مَسْؤُولٌ</a:t>
            </a:r>
            <a:endParaRPr lang="ar-SA" sz="150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63" name="Shape 60"/>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66" name="Shape 63"/>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8" name="Text 65"/>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9" name="Shape 66"/>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1" name="Text 68"/>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76" name="Text 73"/>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7" name="Shape 7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8" name="Text 7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9" name="Text 7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 / مُتَعَاوِنَةٌ</a:t>
            </a:r>
            <a:endParaRPr lang="ar-SA" sz="3000" dirty="0"/>
          </a:p>
        </p:txBody>
      </p:sp>
      <p:sp>
        <p:nvSpPr>
          <p:cNvPr id="80" name="Text 7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81" name="Shape 78"/>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3" name="Text 80"/>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مُتَعَاوِنُونَ</a:t>
            </a:r>
            <a:endParaRPr lang="ar-SA" sz="1500" dirty="0"/>
          </a:p>
        </p:txBody>
      </p:sp>
      <p:sp>
        <p:nvSpPr>
          <p:cNvPr id="84" name="Shape 81"/>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6" name="Text 83"/>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87" name="Shape 84"/>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9" name="Text 86"/>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D3-L04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D3-L04 · The Future Tense — Plans, Ambitions and Career Goals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سَأَدْرُسُ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study</a:t>
            </a:r>
            <a:endParaRPr lang="en-US" sz="1350" dirty="0"/>
          </a:p>
          <a:p>
            <a:pPr indent="0" marL="0">
              <a:buNone/>
            </a:pPr>
            <a:r>
              <a:rPr lang="en-US" sz="1100" i="1" dirty="0">
                <a:solidFill>
                  <a:srgbClr val="5A6472"/>
                </a:solidFill>
                <a:latin typeface="Calibri" pitchFamily="34" charset="0"/>
                <a:cs typeface="Amiri" pitchFamily="2" charset="-78"/>
              </a:rPr>
              <a:t>sa-ʾad-ru-su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سَتَدْرُسُ</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سَيَدْرُسُ</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سَأَدْرُسُ</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أَنْ أُصْبِحَ</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become</a:t>
            </a:r>
            <a:endParaRPr lang="en-US" sz="1350" dirty="0"/>
          </a:p>
          <a:p>
            <a:pPr indent="0" marL="0">
              <a:buNone/>
            </a:pPr>
            <a:r>
              <a:rPr lang="en-US" sz="1100" i="1" dirty="0">
                <a:solidFill>
                  <a:srgbClr val="5A6472"/>
                </a:solidFill>
                <a:latin typeface="Calibri" pitchFamily="34" charset="0"/>
                <a:cs typeface="Amiri" pitchFamily="2" charset="-78"/>
              </a:rPr>
              <a:t>u-rī-du an uṣ-bi-ḥa</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تُرِيدُ أَنْ تُصْبِحَ</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يُرِيدُ أَنْ يُصْبِحَ</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أُرِيدُ أَنْ أُصْبِحَ</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أَنْوِي أَنْ</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intend to</a:t>
            </a:r>
            <a:endParaRPr lang="en-US" sz="1350" dirty="0"/>
          </a:p>
          <a:p>
            <a:pPr indent="0" marL="0">
              <a:buNone/>
            </a:pPr>
            <a:r>
              <a:rPr lang="en-US" sz="1100" i="1" dirty="0">
                <a:solidFill>
                  <a:srgbClr val="5A6472"/>
                </a:solidFill>
                <a:latin typeface="Calibri" pitchFamily="34" charset="0"/>
                <a:cs typeface="Amiri" pitchFamily="2" charset="-78"/>
              </a:rPr>
              <a:t>an-wī an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تَنْوِي</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يَنْوِي</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أَنْوِي</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التَّخَرُّجِ</a:t>
            </a:r>
            <a:endParaRPr lang="ar-SA" sz="3000" dirty="0"/>
          </a:p>
        </p:txBody>
      </p:sp>
      <p:sp>
        <p:nvSpPr>
          <p:cNvPr id="75" name="Text 7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graduation</a:t>
            </a:r>
            <a:endParaRPr lang="en-US" sz="1350" dirty="0"/>
          </a:p>
          <a:p>
            <a:pPr indent="0" marL="0">
              <a:buNone/>
            </a:pPr>
            <a:r>
              <a:rPr lang="en-US" sz="1100" i="1" dirty="0">
                <a:solidFill>
                  <a:srgbClr val="5A6472"/>
                </a:solidFill>
                <a:latin typeface="Calibri" pitchFamily="34" charset="0"/>
                <a:cs typeface="Amiri" pitchFamily="2" charset="-78"/>
              </a:rPr>
              <a:t>baʿ-da at-ta-khar-ru-ji</a:t>
            </a:r>
            <a:endParaRPr lang="en-US" sz="1350" dirty="0"/>
          </a:p>
        </p:txBody>
      </p:sp>
      <p:sp>
        <p:nvSpPr>
          <p:cNvPr id="76" name="Shape 7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389120"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9" name="Shape 7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a:t>
            </a:r>
            <a:endParaRPr lang="ar-SA" sz="3000" dirty="0"/>
          </a:p>
        </p:txBody>
      </p:sp>
      <p:sp>
        <p:nvSpPr>
          <p:cNvPr id="82" name="Text 7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6" name="Text 8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حَتَّى</a:t>
            </a:r>
            <a:endParaRPr lang="ar-SA" sz="3000" dirty="0"/>
          </a:p>
        </p:txBody>
      </p:sp>
      <p:sp>
        <p:nvSpPr>
          <p:cNvPr id="87" name="Text 8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a:t>
            </a:r>
            <a:endParaRPr lang="en-US" sz="1350" dirty="0"/>
          </a:p>
          <a:p>
            <a:pPr indent="0" marL="0">
              <a:buNone/>
            </a:pPr>
            <a:r>
              <a:rPr lang="en-US" sz="1100" i="1" dirty="0">
                <a:solidFill>
                  <a:srgbClr val="5A6472"/>
                </a:solidFill>
                <a:latin typeface="Calibri" pitchFamily="34" charset="0"/>
                <a:cs typeface="Amiri" pitchFamily="2" charset="-78"/>
              </a:rPr>
              <a:t>ḥat-tā</a:t>
            </a:r>
            <a:endParaRPr lang="en-US" sz="135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تَحْتَاجُ هٰذِهِ الوَظِيفَةُ إِلَى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أَطْمَحُ إِلَى أَنْ أُصْبِحَ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سَأَدْرُسُ … ثُمَّ سَوْفَ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يَكُونَ / تَكُونَ …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أَسْتَطِيعُ أَنْ … ؛ مَثَلًا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 · حَتَّى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نَجَحْتُ، فَسَأُ…</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نُقْطَةُ ضَعْفِي … وَلٰكِنَّنِي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D3-L03 · Skills and Qualities — What Makes a Good Worker?</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D3-L04 · The Future Tense — Plans, Ambitions and Career Goals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D3-L03 · Skills and Qualities — What Makes a Good Worker?</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تَحْتَاجُ هٰذِهِ الوَظِيفَةُ إِلَى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يَكُونَ / تَكُونَ …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أَسْتَطِيعُ أَنْ … ؛ مَثَلًا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نُقْطَةُ ضَعْفِي … وَلٰكِنَّنِي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D3-L04 · The Future Tense — Plans, Ambitions and Career Goals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أَطْمَحُ إِلَى أَنْ أُصْبِحَ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سَأَدْرُسُ … ثُمَّ سَوْفَ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 · حَتَّى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نَجَحْتُ، فَسَأُ…</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 the career coach’s office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مَكْتَبِ المُرْشِدِ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want to become?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تُرِيدِينَ أَنْ تُصْبِحِي؟</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aspire to become a children’s doctor.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أَطْمَحُ إِلَى أَنْ أُصْبِحَ طَبِيبَةَ أَطْفَالٍ.</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this job need?</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إِلَامَ تَحْتَاجُ هٰذِهِ الوَظِيفَةُ؟</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needs patience; the doctor must be patient and kind. I can stay calm when my little brother cries.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تَحْتَاجُ إِلَى الصَّبْرِ؛ يَجِبُ أَنْ تَكُونَ الطَّبِيبَةُ صَبُورَةً وَلَطِيفَةً. أَنَا أَسْتَطِيعُ أَنْ أَهْدَأَ عِنْدَمَا يَبْكِي أَخِي الصَّغِيرُ.</a:t>
            </a:r>
            <a:endParaRPr lang="ar-SA" sz="13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is your plan?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 خُطَّتُكِ؟</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study biology and chemistry so that I can get into medical school, and I will never give up.</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سَأَدْرُسُ الأَحْيَاءَ وَالكِيمْيَاءَ لِكَيْ أَدْخُلَ كُلِّيَّةَ الطِّبِّ، وَلَنْ أَسْتَسْلِمَ أَبَدًا.</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يَحْتَاجُ إِلَى … وَ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a doctor need?</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إِلَامَ يَحْتَاجُ الطَّبِيبُ؟</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سَأَدْرُسُ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you study in the future?</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سَتَدْرُسُ فِي المُسْتَقْبَلِ؟</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المَرْضَى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أَنْ تَكُونَ … وَ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must a nurse (f.) be like?</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يَجِبُ أَنْ تَكُونَ المُمَرِّضَةُ؟</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أُرِيدُ أَنْ أُصْبِحَ … ← طَيَّارًا / طَيَّارَةً</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want to become?</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تُرِيدُ أَنْ تُصْبِحَ؟</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عِنْدَمَا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أَقْوَى مَهَارَةٍ عِنْدِي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strongest skill?</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أَقْوَى مَهَارَةٍ عِنْدَكَ؟</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لَنْ أَعْمَلَ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you never do in your job?</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لَنْ تَفْعَلَهُ أَبَدًا فِي عَمَلِكَ؟</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D3-L03, even numbers from D3-L04.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Role-play card — the career coach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المُرْشِدُ المِهْنِيُّ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أَطْمَحُ إِلَى أَنْ أُصْبِحَ … لِأَنَّ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ambition + a reason.</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طُمُوحُكَ؟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إِلَامَ ← يَحْتَاجُ إِلَى … · يَجِبُ أَنْ يَكُونَ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the job needs + what the worker must be.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إِلَامَ يَحْتَاجُ المُبَرْمِجُ؟</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skills with evidence.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مَهَارَاتُكَ؟ أَعْطِنِي دَلِيلًا.</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future steps + a purpose.</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خُطُوَاتُكَ القَادِمَةُ؟</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Plan B with ‏</a:t>
            </a:r>
            <a:pPr algn="l" indent="0" marL="0">
              <a:buNone/>
            </a:pPr>
            <a:r>
              <a:rPr lang="ar-SA" altLang="en-US" sz="1450" dirty="0">
                <a:solidFill>
                  <a:srgbClr val="5A6472"/>
                </a:solidFill>
                <a:latin typeface="Amiri" pitchFamily="2" charset="-78"/>
                <a:ea typeface="Amiri" pitchFamily="2" charset="-78"/>
                <a:cs typeface="Amiri" pitchFamily="2" charset="-78"/>
              </a:rPr>
              <a:t>إِذَا</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لَنْ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وَإِذَا لَمْ تَنْجَحْ فِي الامْتِحَانِ؟</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student · Partner A = the career coach.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My dream job and how I will get there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وَظِيفَةُ أَحْلَامِي وَطَرِيقِي إِلَيْهَا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your dream job and why, what it needs and what the worker must be like, two skills you have with evidence, three future steps, one thing you will not do, and a Plan B.</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أَطْمَحُ إِلَى أَنْ أُصْبِحَ … · يَحْتَاجُ إِلَى … · سَأَدْرُسُ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يَجِبُ أَنْ يَكُونَ / تَكُونَ</a:t>
            </a:r>
            <a:pPr algn="l" indent="0" marL="0">
              <a:buNone/>
            </a:pPr>
            <a:r>
              <a:rPr lang="en-US" sz="1150" dirty="0">
                <a:solidFill>
                  <a:srgbClr val="1F2A37"/>
                </a:solidFill>
                <a:latin typeface="Calibri" pitchFamily="34" charset="0"/>
                <a:cs typeface="Amiri" pitchFamily="2" charset="-78"/>
              </a:rPr>
              <a:t>‏ + -an, ‏</a:t>
            </a:r>
            <a:pPr algn="l" indent="0" marL="0">
              <a:buNone/>
            </a:pPr>
            <a:r>
              <a:rPr lang="ar-SA" altLang="en-US" sz="1500" dirty="0">
                <a:solidFill>
                  <a:srgbClr val="1F2A37"/>
                </a:solidFill>
                <a:latin typeface="Amiri" pitchFamily="2" charset="-78"/>
                <a:ea typeface="Amiri" pitchFamily="2" charset="-78"/>
                <a:cs typeface="Amiri" pitchFamily="2" charset="-78"/>
              </a:rPr>
              <a:t>أَسْتَطِيعُ أَنْ</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مَثَلًا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لِكَيْ</a:t>
            </a:r>
            <a:pPr algn="l" indent="0" marL="0">
              <a:buNone/>
            </a:pPr>
            <a:r>
              <a:rPr lang="en-US" sz="1150" dirty="0">
                <a:solidFill>
                  <a:srgbClr val="1F2A37"/>
                </a:solidFill>
                <a:latin typeface="Calibri" pitchFamily="34" charset="0"/>
                <a:cs typeface="Amiri" pitchFamily="2" charset="-78"/>
              </a:rPr>
              <a:t>‏, ‏</a:t>
            </a:r>
            <a:pPr algn="l" indent="0" marL="0">
              <a:buNone/>
            </a:pPr>
            <a:r>
              <a:rPr lang="ar-SA" altLang="en-US" sz="1500" dirty="0">
                <a:solidFill>
                  <a:srgbClr val="1F2A37"/>
                </a:solidFill>
                <a:latin typeface="Amiri" pitchFamily="2" charset="-78"/>
                <a:ea typeface="Amiri" pitchFamily="2" charset="-78"/>
                <a:cs typeface="Amiri" pitchFamily="2" charset="-78"/>
              </a:rPr>
              <a:t>لَنْ</a:t>
            </a:r>
            <a:pPr algn="l" indent="0" marL="0">
              <a:buNone/>
            </a:pPr>
            <a:r>
              <a:rPr lang="en-US" sz="1150" dirty="0">
                <a:solidFill>
                  <a:srgbClr val="1F2A37"/>
                </a:solidFill>
                <a:latin typeface="Calibri" pitchFamily="34" charset="0"/>
                <a:cs typeface="Amiri" pitchFamily="2" charset="-78"/>
              </a:rPr>
              <a:t>‏ + -a and ‏</a:t>
            </a:r>
            <a:pPr algn="l" indent="0" marL="0">
              <a:buNone/>
            </a:pPr>
            <a:r>
              <a:rPr lang="ar-SA" altLang="en-US" sz="1500" dirty="0">
                <a:solidFill>
                  <a:srgbClr val="1F2A37"/>
                </a:solidFill>
                <a:latin typeface="Amiri" pitchFamily="2" charset="-78"/>
                <a:ea typeface="Amiri" pitchFamily="2" charset="-78"/>
                <a:cs typeface="Amiri" pitchFamily="2" charset="-78"/>
              </a:rPr>
              <a:t>إِذَا … فَسَوْفَ</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An engineer needs accuracy.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يَحْتَاجُ المُهَنْدِسُ</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يَحْتَاجُ المُهَنْدِسَ</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الدِّقَّةِ.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الدِّقَّةُ.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will study medicine so that I become a doctor.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سَأَدْرُسُ الطِّبَّ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دَرَسْتُ الطِّبَّ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أُصْبِحَ طَبِيبًا.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أُصْبِحُ طَبِيبٌ.</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 nurse (f.) must be patient.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تَكُونَ المُمَرِّضَةُ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يَكُونَ المُمَرِّضَةُ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صَبُورَةً.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صَبُورَةٌ.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An engineer needs accuracy.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يَحْتَاجُ إِلَى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يَحْتَاجُ المُهَنْدِسُ إِلَى الدِّقَّةِ.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will study medicine so that I become a doctor.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Future sa-; </a:t>
            </a:r>
            <a:pPr algn="l" indent="0" marL="0">
              <a:buNone/>
            </a:pPr>
            <a:r>
              <a:rPr lang="ar-SA" altLang="en-US" sz="1350" dirty="0">
                <a:solidFill>
                  <a:srgbClr val="5A6472"/>
                </a:solidFill>
                <a:latin typeface="Amiri" pitchFamily="2" charset="-78"/>
                <a:ea typeface="Amiri" pitchFamily="2" charset="-78"/>
                <a:cs typeface="Amiri" pitchFamily="2" charset="-78"/>
              </a:rPr>
              <a:t>لِكَيْ</a:t>
            </a:r>
            <a:pPr algn="l" indent="0" marL="0">
              <a:buNone/>
            </a:pPr>
            <a:r>
              <a:rPr lang="en-US" sz="1050" i="1" dirty="0">
                <a:solidFill>
                  <a:srgbClr val="5A6472"/>
                </a:solidFill>
                <a:latin typeface="Calibri" pitchFamily="34" charset="0"/>
                <a:cs typeface="Amiri" pitchFamily="2" charset="-78"/>
              </a:rPr>
              <a:t> + -a; </a:t>
            </a:r>
            <a:pPr algn="l" indent="0" marL="0">
              <a:buNone/>
            </a:pPr>
            <a:r>
              <a:rPr lang="ar-SA" altLang="en-US" sz="1350" dirty="0">
                <a:solidFill>
                  <a:srgbClr val="5A6472"/>
                </a:solidFill>
                <a:latin typeface="Amiri" pitchFamily="2" charset="-78"/>
                <a:ea typeface="Amiri" pitchFamily="2" charset="-78"/>
                <a:cs typeface="Amiri" pitchFamily="2" charset="-78"/>
              </a:rPr>
              <a:t>أُصْبِحَ</a:t>
            </a:r>
            <a:pPr algn="l" indent="0" marL="0">
              <a:buNone/>
            </a:pPr>
            <a:r>
              <a:rPr lang="en-US" sz="1050" i="1" dirty="0">
                <a:solidFill>
                  <a:srgbClr val="5A6472"/>
                </a:solidFill>
                <a:latin typeface="Calibri" pitchFamily="34" charset="0"/>
                <a:cs typeface="Amiri" pitchFamily="2" charset="-78"/>
              </a:rPr>
              <a:t> + -an.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سَأَدْرُسُ الطِّبَّ لِكَيْ أُصْبِحَ طَبِيبًا.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 nurse (f.) must be patient.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تَكُونَ</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كَانَ</a:t>
            </a:r>
            <a:pPr algn="l" indent="0" marL="0">
              <a:buNone/>
            </a:pPr>
            <a:r>
              <a:rPr lang="en-US" sz="1050" i="1" dirty="0">
                <a:solidFill>
                  <a:srgbClr val="5A6472"/>
                </a:solidFill>
                <a:latin typeface="Calibri" pitchFamily="34" charset="0"/>
                <a:cs typeface="Amiri" pitchFamily="2" charset="-78"/>
              </a:rPr>
              <a:t>-type verb → adjective in -an.</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أَنْ تَكُونَ المُمَرِّضَةُ صَبُورَةً.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يَكُونَ مُنَظَّمٌ.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يَكُونَ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سَوْفَ لَا أَعْمَلُ فِي البَنْكِ.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Negative future.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يَحْتَاجُ الطَّيَّارُ الدِّقَّةَ.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يَكُونَ مُنَظَّمٌ.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يَكُونَ مُنَظَّمًا.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كَانَ / يَكُونَ</a:t>
            </a:r>
            <a:pPr algn="l" indent="0" marL="0">
              <a:buNone/>
            </a:pPr>
            <a:r>
              <a:rPr lang="en-US" sz="1150" b="1" dirty="0">
                <a:solidFill>
                  <a:srgbClr val="1B3B6F"/>
                </a:solidFill>
                <a:latin typeface="Calibri" pitchFamily="34" charset="0"/>
                <a:cs typeface="Amiri" pitchFamily="2" charset="-78"/>
              </a:rPr>
              <a:t>‏ → adjective in -an.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سَوْفَ لَا أَعْمَلُ فِي البَنْكِ.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لَنْ أَعْمَلَ فِي البَنْكِ.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Won’t = ‏</a:t>
            </a:r>
            <a:pPr algn="l" indent="0" marL="0">
              <a:buNone/>
            </a:pPr>
            <a:r>
              <a:rPr lang="ar-SA" altLang="en-US" sz="1500" b="1" dirty="0">
                <a:solidFill>
                  <a:srgbClr val="1B3B6F"/>
                </a:solidFill>
                <a:latin typeface="Amiri" pitchFamily="2" charset="-78"/>
                <a:ea typeface="Amiri" pitchFamily="2" charset="-78"/>
                <a:cs typeface="Amiri" pitchFamily="2" charset="-78"/>
              </a:rPr>
              <a:t>لَنْ</a:t>
            </a:r>
            <a:pPr algn="l" indent="0" marL="0">
              <a:buNone/>
            </a:pPr>
            <a:r>
              <a:rPr lang="en-US" sz="1150" b="1" dirty="0">
                <a:solidFill>
                  <a:srgbClr val="1B3B6F"/>
                </a:solidFill>
                <a:latin typeface="Calibri" pitchFamily="34" charset="0"/>
                <a:cs typeface="Amiri" pitchFamily="2" charset="-78"/>
              </a:rPr>
              <a:t>‏ + -a (not ‏</a:t>
            </a:r>
            <a:pPr algn="l" indent="0" marL="0">
              <a:buNone/>
            </a:pPr>
            <a:r>
              <a:rPr lang="ar-SA" altLang="en-US" sz="1500" b="1" dirty="0">
                <a:solidFill>
                  <a:srgbClr val="1B3B6F"/>
                </a:solidFill>
                <a:latin typeface="Amiri" pitchFamily="2" charset="-78"/>
                <a:ea typeface="Amiri" pitchFamily="2" charset="-78"/>
                <a:cs typeface="Amiri" pitchFamily="2" charset="-78"/>
              </a:rPr>
              <a:t>سَوْفَ لَا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يَحْتَاجُ الطَّيَّارُ الدِّقَّةَ.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يَحْتَاجُ الطَّيَّارُ إِلَى الدِّقَّةِ.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يَحْتَاجُ إِلَى …</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لِكَيْ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so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not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لَمْ ______ ، فَسَوْفَ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don’t …, I will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أَطْمَحُ إِلَى أَنْ أُصْبِحَ ______ لِأَنَّ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aspire to become … because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يَحْتَاجُ هٰذَا العَمَلُ إِلَى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job needs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مَثَلًا،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for example,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سَأَدْرُسُ ______ ، ثُمَّ سَوْفَ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study …, then I will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أَطْمَحُ إِلَى أَنْ  ·  أُصْبِحَ  ·  يَحْتَاجُ إِلَى  ·  يَجِبُ أَنْ يَكُونَ صَبُورًا  ·  أَسْتَطِيعُ أَنْ  ·  سَأَدْرُسُ · سَوْفَ  ·  لَنْ + أَسْتَسْلِمَ  ·  لِكَيْ · إِذَا … فَسَوْفَ</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personal career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خُطَّتِي المِهْنِيَّةُ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career plan (about 60–80 words) for your careers file. Include: • your ambition with a reason • what the job needs and what the worker must be • two skills or qualities you have, each with evidence • three future steps with ‏</a:t>
            </a:r>
            <a:pPr algn="l" indent="0" marL="0">
              <a:buNone/>
            </a:pPr>
            <a:r>
              <a:rPr lang="ar-SA" altLang="en-US" sz="1450" b="1" dirty="0">
                <a:solidFill>
                  <a:srgbClr val="1F2A37"/>
                </a:solidFill>
                <a:latin typeface="Amiri" pitchFamily="2" charset="-78"/>
                <a:ea typeface="Amiri" pitchFamily="2" charset="-78"/>
                <a:cs typeface="Amiri" pitchFamily="2" charset="-78"/>
              </a:rPr>
              <a:t>سَوْفَ</a:t>
            </a:r>
            <a:pPr algn="l" indent="0" marL="0">
              <a:buNone/>
            </a:pPr>
            <a:r>
              <a:rPr lang="en-US" sz="1100" b="1" dirty="0">
                <a:solidFill>
                  <a:srgbClr val="1F2A37"/>
                </a:solidFill>
                <a:latin typeface="Calibri" pitchFamily="34" charset="0"/>
                <a:cs typeface="Amiri" pitchFamily="2" charset="-78"/>
              </a:rPr>
              <a:t>‏ or the ‏</a:t>
            </a:r>
            <a:pPr algn="l" indent="0" marL="0">
              <a:buNone/>
            </a:pPr>
            <a:r>
              <a:rPr lang="ar-SA" altLang="en-US" sz="1450" b="1" dirty="0">
                <a:solidFill>
                  <a:srgbClr val="1F2A37"/>
                </a:solidFill>
                <a:latin typeface="Amiri" pitchFamily="2" charset="-78"/>
                <a:ea typeface="Amiri" pitchFamily="2" charset="-78"/>
                <a:cs typeface="Amiri" pitchFamily="2" charset="-78"/>
              </a:rPr>
              <a:t>سَ</a:t>
            </a:r>
            <a:pPr algn="l" indent="0" marL="0">
              <a:buNone/>
            </a:pPr>
            <a:r>
              <a:rPr lang="en-US" sz="1100" b="1" dirty="0">
                <a:solidFill>
                  <a:srgbClr val="1F2A37"/>
                </a:solidFill>
                <a:latin typeface="Calibri" pitchFamily="34" charset="0"/>
                <a:cs typeface="Amiri" pitchFamily="2" charset="-78"/>
              </a:rPr>
              <a:t>‏ prefix • one purpose (‏</a:t>
            </a:r>
            <a:pPr algn="l" indent="0" marL="0">
              <a:buNone/>
            </a:pPr>
            <a:r>
              <a:rPr lang="ar-SA" altLang="en-US" sz="1450" b="1" dirty="0">
                <a:solidFill>
                  <a:srgbClr val="1F2A37"/>
                </a:solidFill>
                <a:latin typeface="Amiri" pitchFamily="2" charset="-78"/>
                <a:ea typeface="Amiri" pitchFamily="2" charset="-78"/>
                <a:cs typeface="Amiri" pitchFamily="2" charset="-78"/>
              </a:rPr>
              <a:t>لِكَيْ</a:t>
            </a:r>
            <a:pPr algn="l" indent="0" marL="0">
              <a:buNone/>
            </a:pPr>
            <a:r>
              <a:rPr lang="en-US" sz="1100" b="1" dirty="0">
                <a:solidFill>
                  <a:srgbClr val="1F2A37"/>
                </a:solidFill>
                <a:latin typeface="Calibri" pitchFamily="34" charset="0"/>
                <a:cs typeface="Amiri" pitchFamily="2" charset="-78"/>
              </a:rPr>
              <a:t>‏) and one negative (‏</a:t>
            </a:r>
            <a:pPr algn="l" indent="0" marL="0">
              <a:buNone/>
            </a:pPr>
            <a:r>
              <a:rPr lang="ar-SA" altLang="en-US" sz="1450" b="1" dirty="0">
                <a:solidFill>
                  <a:srgbClr val="1F2A37"/>
                </a:solidFill>
                <a:latin typeface="Amiri" pitchFamily="2" charset="-78"/>
                <a:ea typeface="Amiri" pitchFamily="2" charset="-78"/>
                <a:cs typeface="Amiri" pitchFamily="2" charset="-78"/>
              </a:rPr>
              <a:t>لَنْ</a:t>
            </a:r>
            <a:pPr algn="l" indent="0" marL="0">
              <a:buNone/>
            </a:pPr>
            <a:r>
              <a:rPr lang="en-US" sz="1100" b="1" dirty="0">
                <a:solidFill>
                  <a:srgbClr val="1F2A37"/>
                </a:solidFill>
                <a:latin typeface="Calibri" pitchFamily="34" charset="0"/>
                <a:cs typeface="Amiri" pitchFamily="2" charset="-78"/>
              </a:rPr>
              <a:t> …‏) • a Plan B with ‏</a:t>
            </a:r>
            <a:pPr algn="l" indent="0" marL="0">
              <a:buNone/>
            </a:pPr>
            <a:r>
              <a:rPr lang="ar-SA" altLang="en-US" sz="1450" b="1" dirty="0">
                <a:solidFill>
                  <a:srgbClr val="1F2A37"/>
                </a:solidFill>
                <a:latin typeface="Amiri" pitchFamily="2" charset="-78"/>
                <a:ea typeface="Amiri" pitchFamily="2" charset="-78"/>
                <a:cs typeface="Amiri" pitchFamily="2" charset="-78"/>
              </a:rPr>
              <a:t>إِذَا … فَسَوْفَ</a:t>
            </a:r>
            <a:pPr algn="l" indent="0" marL="0">
              <a:buNone/>
            </a:pPr>
            <a:r>
              <a:rPr lang="en-US" sz="1100" b="1" dirty="0">
                <a:solidFill>
                  <a:srgbClr val="1F2A37"/>
                </a:solidFill>
                <a:latin typeface="Calibri" pitchFamily="34" charset="0"/>
                <a:cs typeface="Amiri" pitchFamily="2" charset="-78"/>
              </a:rPr>
              <a:t> …‏</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D3-L03 AND D3-L04.</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أَطْمَحُ إِلَى أَنْ أُصْبِحَ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aspire to become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يَحْتَاجُ هٰذَا العَمَلُ إِلَى … · يَجِبُ أَنْ يَكُونَ …</a:t>
            </a:r>
            <a:endParaRPr lang="ar-SA" sz="165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job needs … · he must be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أَسْتَطِيعُ أَنْ … ؛ مَثَلًا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can … ; for example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سَأَدْرُسُ … لِكَيْ … · لَنْ أَسْتَسْلِمَ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study … so that … · I will not give up</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يَحْتَاجُ إِلَى</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يَجِبُ أَنْ يَكُونَ</a:t>
            </a:r>
            <a:pPr algn="l" indent="0" marL="0">
              <a:buNone/>
            </a:pPr>
            <a:r>
              <a:rPr lang="en-US" sz="1100" dirty="0">
                <a:solidFill>
                  <a:srgbClr val="5A6472"/>
                </a:solidFill>
                <a:latin typeface="Calibri" pitchFamily="34" charset="0"/>
                <a:cs typeface="Amiri" pitchFamily="2" charset="-78"/>
              </a:rPr>
              <a:t>‏ + -an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لَنْ</a:t>
            </a:r>
            <a:pPr algn="l" indent="0" marL="0">
              <a:buNone/>
            </a:pPr>
            <a:r>
              <a:rPr lang="en-US" sz="1100" dirty="0">
                <a:solidFill>
                  <a:srgbClr val="5A6472"/>
                </a:solidFill>
                <a:latin typeface="Calibri" pitchFamily="34" charset="0"/>
                <a:cs typeface="Amiri" pitchFamily="2" charset="-78"/>
              </a:rPr>
              <a:t>‏ + -a, ‏</a:t>
            </a:r>
            <a:pPr algn="l" indent="0" marL="0">
              <a:buNone/>
            </a:pPr>
            <a:r>
              <a:rPr lang="ar-SA" altLang="en-US" sz="1450" dirty="0">
                <a:solidFill>
                  <a:srgbClr val="5A6472"/>
                </a:solidFill>
                <a:latin typeface="Amiri" pitchFamily="2" charset="-78"/>
                <a:ea typeface="Amiri" pitchFamily="2" charset="-78"/>
                <a:cs typeface="Amiri" pitchFamily="2" charset="-78"/>
              </a:rPr>
              <a:t>لِكَيْ</a:t>
            </a:r>
            <a:pPr algn="l" indent="0" marL="0">
              <a:buNone/>
            </a:pPr>
            <a:r>
              <a:rPr lang="en-US" sz="1100" dirty="0">
                <a:solidFill>
                  <a:srgbClr val="5A6472"/>
                </a:solidFill>
                <a:latin typeface="Calibri" pitchFamily="34" charset="0"/>
                <a:cs typeface="Amiri" pitchFamily="2" charset="-78"/>
              </a:rPr>
              <a:t>‏ + -a and an ‏</a:t>
            </a:r>
            <a:pPr algn="l" indent="0" marL="0">
              <a:buNone/>
            </a:pPr>
            <a:r>
              <a:rPr lang="ar-SA" altLang="en-US" sz="1450" dirty="0">
                <a:solidFill>
                  <a:srgbClr val="5A6472"/>
                </a:solidFill>
                <a:latin typeface="Amiri" pitchFamily="2" charset="-78"/>
                <a:ea typeface="Amiri" pitchFamily="2" charset="-78"/>
                <a:cs typeface="Amiri" pitchFamily="2" charset="-78"/>
              </a:rPr>
              <a:t>إِذَا</a:t>
            </a:r>
            <a:pPr algn="l" indent="0" marL="0">
              <a:buNone/>
            </a:pPr>
            <a:r>
              <a:rPr lang="en-US" sz="1100" dirty="0">
                <a:solidFill>
                  <a:srgbClr val="5A6472"/>
                </a:solidFill>
                <a:latin typeface="Calibri" pitchFamily="34" charset="0"/>
                <a:cs typeface="Amiri" pitchFamily="2" charset="-78"/>
              </a:rPr>
              <a:t>‏ condition correctly?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أَطْمَحُ إِلَى أَنْ أُصْبِحَ مُبَرْمِجًا، لِأَنِّي أُحِبُّ الحَاسُوبَ.</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aspire to become a programmer, because I love computers.</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طُمُوحُكَ؟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يَحْتَاجُ إِلَى التَّرْكِيزِ؛ يَجِبُ أَنْ يَكُونَ دَقِيقًا وَصَبُورًا.</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needs concentration; he must be precise and patient.</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إِلَامَ يَحْتَاجُ المُبَرْمِجُ؟</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أَسْتَطِيعُ أَنْ أَحُلَّ المَشَاكِلَ؛ مَثَلًا، صَمَّمْتُ لُعْبَةً بَسِيطَةً فِي نَادِي الحَاسُوبِ.</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can solve problems; for example, I designed a simple game in the computer club.</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مَهَارَاتُكَ؟ أَعْطِنِي دَلِيلًا.</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سَأَدْرُسُ عِلْمَ الحَاسُوبِ، ثُمَّ سَوْفَ أَتَدَرَّبُ فِي شَرِكَةٍ لِكَيْ أَكْتَسِبَ خِبْرَةً.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study computer science, then I will train in a company so that I gain experience.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خُطُوَاتُكَ القَادِمَةُ؟</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لَمْ أَنْجَحْ، فَسَأُعِيدُ الامْتِحَانَ؛ لَنْ أَسْتَسْلِمَ.</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I don’t pass, I will retake the exam; I will not give up.</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لَمْ تَنْجَحْ فِي الامْتِحَانِ؟</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أَطْمَحُ إِلَى أَنْ أُصْبِحَ مُبَرْمِجَةً، لِأَنِّي أُحِبُّ التِّكْنُولُوجِيَا. يَحْتَاجُ هٰذَا العَمَلُ إِلَى التَّرْكِيزِ، وَيَجِبُ أَنْ تَكُونَ المُبَرْمِجَةُ دَقِيقَةً وَصَبُورَةً. أَنَا مُنَظَّمَةٌ؛ مَثَلًا، أُخَطِّطُ لِدُرُوسِي كُلَّ أُسْبُوعٍ. وَأَسْتَطِيعُ أَنْ أَحُلَّ المَشَاكِلَ فِي نَادِي الحَاسُوبِ. سَأَدْرُسُ الرِّيَاضِيَّاتِ، ثُمَّ سَوْفَ أَدْرُسُ عِلْمَ الحَاسُوبِ فِي الجَامِعَةِ لِكَيْ أَعْمَلَ فِي شَرِكَةٍ كَبِيرَةٍ. لَنْ أَسْتَسْلِمَ أَبَدًا. إِذَا لَمْ أَدْخُلِ الجَامِعَةَ، فَسَأَتَدَرَّبُ فِي دَوْرَةٍ مِهْنِيَّةٍ.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aspire to become a programmer, because I love technology. This job needs concentration, and a programmer must be precise and patient. I am organised; for example, I plan my lessons every week. And I can solve problems in the computer club. I will study maths, then I will study computer science at university so that I can work in a big company. I will never give up. If I don’t get into university, I will train on a vocational course.”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أَطْمَحُ إِلَى أَنْ أُصْبِحَ</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يَحْتَاجُ هٰذَا العَمَلُ إِلَى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أَعْمَلَ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لَنْ أَسْتَسْلِمَ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D3-W02 · Apply workshop (D3-L03 + D3-L04)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D3-L03 and D3-L04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D3-W02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D3-L05 · Education and Training — Routes to a Career</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التَّعْلِيمُ وَالتَّدْرِيبُ — طُرُقٌ إِلَى المَسِيرَةِ المِهَنِيَّةِ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D3-W02 · Apply Workshop — A Session with the Career Coach</dc:title>
  <dc:subject>PptxGenJS Presentation</dc:subject>
  <dc:creator>Al Madina Online School · Arabic Department</dc:creator>
  <cp:lastModifiedBy>Al Madina Online School · Arabic Department</cp:lastModifiedBy>
  <cp:revision>1</cp:revision>
  <dcterms:created xsi:type="dcterms:W3CDTF">2026-10-26T15:48:01Z</dcterms:created>
  <dcterms:modified xsi:type="dcterms:W3CDTF">2026-10-26T15:48:01Z</dcterms:modified>
</cp:coreProperties>
</file>