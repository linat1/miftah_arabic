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D3-L05. The website lesson “Education and Training — Routes to a Career”: vocabulary, grammar rules and quiz, patterns, common mistakes, sorter, listening, reading, speaking prompts and model, writing task and model, differentiation, final check and the lesson mission. Picture match: website visual game “Education and Training — Routes to a Career”.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education / training words + “To become a doctor, I must study at university” (لِكَيْ أُصْبِحَ … يَجِبُ أَنْ أَدْرُسَ …). Develop: a condition (إِذَا نَجَحْتُ، فَسَأَلْتَحِقُ …) and a comparison (أَفْضَلُ مِنْ / أَكْثَرُ عَمَلِيَّةً مِنْ). Stretch: compare university and an apprenticeship and recommend one route for one career.
• Builds directly on D3-L04 (sa-, li-kay, an + verb in -a). NEW: إِذَا + PAST verb for a future condition (إِذَا نَجَحْتُ = if I succeed).
• UK link: “apprenticeship” = تَلْمَذَةٌ مِهَنِيَّةٌ; “college / sixth form” = كُلِّيَّةٌ. Students can talk about real UK routes (A levels, T levels, apprenticeships).
• Website text corrections used in the deck: لِكَيْ أُصْبِحَ (website: أَصْبِحَ) and لَمْ تُقَرِّرْ (website: تَقْرِّرْ).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D3-L04. Questions 3–4 retrieve D3-L04 (future, purpose); question 5 retrieves D3-L02 (pros and cons).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Goal → route → condition: to become … I must … — if I succeed, I will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(as in Jamia universities) and تعلیم are shared. CAREFUL: شہادت in Urdu is testimony or martyrdom; Arabic شَهَادَةٌ is also a certificate or degree. تلمیذ (pupil, disciple) is the root of تَلْمَذَةٌ مِهَنِيَّةٌ (apprenticeship). خصوصی shares the root of تَخَصُّصٌ (specialisation).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(1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(2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(1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(2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“Route to a goal” (لِكَيْ أُصْبِحَ … يَجِبُ أَنْ …: state the goal first or last, but connect the route logically) and “Conditional plan” (إِذَا + مَاضٍ، فَـ + مُسْتَقْبَلٌ: use a past-form verb after إذا for a realistic future condition). Website examples as shown (one vowel corrected: website has لِكَيْ أَصْبِحَ).
Teacher point: the job after أُصْبِحَ takes -an (طَبِيبًا، فَنِّيًّا) — D3-L01. Core can stop at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“Comparison” (أَفْضَلُ مِنْ / أَكْثَرُ عَمَلِيَّةً مِنْ: use مِنْ after the comparative) and “Balanced evaluation” (present both sides before reaching a judgement). Website examples as shown.
Comparative forms (F6-L06 link): أَرْخَصُ مِنْ، أَغْلَى مِنْ، أَفْضَلُ مِنْ. For longer adjectives use أَكْثَرُ / أَقَلُّ + noun in -an: أَقَلُّ تَكْلِفَةً (less costly — reading text). The error pair is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“المُفَاضَلَةُ بَيْنَ مَسَارَاتِ التَّعْلِيمِ وَالتَّدْرِيبِ”
• Route to a goal: State the goal first or last, but connect the route logically.
• Conditional plan: Use a past-form verb after إذا for a realistic future condition.
• Comparison: Use مِنْ after the comparative.
• Balanced evaluation: Present both sides before reaching a judgement.
Website common error: Do not use a present verb after إِذَا for a future plan, and do not leave out مِنْ after a comparative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(Ahmed: an apprenticeship in an electricity company). Think aloud: “Goal? Route? Better than what? What 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تُفَضِّلُ سَارَةُ الدِّرَاسَةَ الجَامِعِيَّةَ لِأَنَّهَا تُرِيدُ أَنْ تُصْبِحَ مُحَامِيَةً. أَمَّا أَحْمَدُ فَقَدِ اخْتَارَ تَلْمَذَةً مِهَنِيَّةً فِي شَرِكَةِ كَهْرَبَاءٍ لِأَنَّهُ يُفَضِّلُ التَّعَلُّمَ العَمَلِيَّ وَيَحْصُلُ عَلَى رَاتِبٍ صَغِيرٍ أَثْنَاءَ التَّدْرِيبِ. وَمَرْيَمُ لَمْ تُقَرِّرْ بَعْدُ؛ فَهِيَ تَبْحَثُ عَنْ دَوْرَةٍ قَصِيرَةٍ فِي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خُطَّتُكَ؟ (And what is your plan?)
B: إِذَا نَجَحْتُ فِي الاِمْتِحَانَاتِ، فَسَأَدْرُسُ القَانُونَ. (If I pass the exams, I will study law.)
Teacher-written prompts and model (the website prompts are generic). Model continues: A: وَمَا خُطَّتُكَ؟ B: إِذَا نَجَحْتُ فِي الاِمْتِحَانَاتِ، فَسَأَدْرُسُ القَانُونَ. To a girl: هَلْ تُفَضِّلِينَ …؟ · لِكَيْ تُصْبِحِي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university and vocational training and recommend the best route for one career.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لِكَيْ أُصْبِحَ مُحَامِيًا، يَجِبُ أَنْ أَدْرُسَ · مِنْ مَزَايَا … وَلٰكِنْ مِنْ عُيُوبِهَا … · أَكْثَرُ عَمَلِيَّةً وَأَقَلُّ تَكْلِفَةً · أَفْضَلُ لِي · إِذَا حَصَلْتُ … فَسَأَلْتَحِقُ.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(D3-L06 · Job Applications and Interviews — CV, Skills and Future Plans) will spend class time USING this language, so students prepare it tonight — short, simple, easy to access (school guidance: “Simple, Short, Interesting, Relevant, Easy to access”). The five words come from the website D3-L06 vocabulary (applications and interviews).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Education and Training — Routes to a Career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التَّعْلِيمُ وَالتَّدْرِيبُ — طُرُقٌ إِلَى 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Compare routes into work (university, college, apprenticeship, course): the route to a goal (</a:t>
            </a:r>
            <a:pPr algn="l" indent="0" marL="0">
              <a:buNone/>
            </a:pPr>
            <a:r>
              <a:rPr lang="ar-SA" altLang="en-US" sz="1800" dirty="0">
                <a:solidFill>
                  <a:srgbClr val="C6D2E6"/>
                </a:solidFill>
                <a:latin typeface="Amiri" pitchFamily="34" charset="0"/>
                <a:ea typeface="Amiri" pitchFamily="34" charset="-122"/>
                <a:cs typeface="Amiri" pitchFamily="34" charset="-120"/>
              </a:rPr>
              <a:t>لِكَيْ أُصْبِحَ … يَجِبُ أَنْ</a:t>
            </a:r>
            <a:pPr algn="l" indent="0" marL="0">
              <a:buNone/>
            </a:pPr>
            <a:r>
              <a:rPr lang="en-US" sz="1400" dirty="0">
                <a:solidFill>
                  <a:srgbClr val="C6D2E6"/>
                </a:solidFill>
                <a:latin typeface="Calibri" pitchFamily="34" charset="0"/>
                <a:ea typeface="Calibri" pitchFamily="34" charset="-122"/>
                <a:cs typeface="Calibri" pitchFamily="34" charset="-120"/>
              </a:rPr>
              <a:t> …), a condition (</a:t>
            </a:r>
            <a:pPr algn="l" indent="0" marL="0">
              <a:buNone/>
            </a:pPr>
            <a:r>
              <a:rPr lang="ar-SA" altLang="en-US" sz="1800" dirty="0">
                <a:solidFill>
                  <a:srgbClr val="C6D2E6"/>
                </a:solidFill>
                <a:latin typeface="Amiri" pitchFamily="34" charset="0"/>
                <a:ea typeface="Amiri" pitchFamily="34" charset="-122"/>
                <a:cs typeface="Amiri" pitchFamily="34" charset="-120"/>
              </a:rPr>
              <a:t>إِذَا نَجَحْتُ، فَسَـ</a:t>
            </a:r>
            <a:pPr algn="l" indent="0" marL="0">
              <a:buNone/>
            </a:pPr>
            <a:r>
              <a:rPr lang="en-US" sz="1400" dirty="0">
                <a:solidFill>
                  <a:srgbClr val="C6D2E6"/>
                </a:solidFill>
                <a:latin typeface="Calibri" pitchFamily="34" charset="0"/>
                <a:ea typeface="Calibri" pitchFamily="34" charset="-122"/>
                <a:cs typeface="Calibri" pitchFamily="34" charset="-120"/>
              </a:rPr>
              <a:t> …), a comparison and a balanced judgement.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D3-L05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route to a goal, if …, comparison and pros /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university / apprenticeship, fix and listen to three routes.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course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اكْتَسَبْتُ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سَأَكْتَسِبُ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أَكْتَسِبَ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عُيُوبِهِ أَنَّهُ مُجْهِدٌ.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 أَنَّهُ مُجْزٍ.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أَطْمَحُ إِلَى أَنْ أُصْبِحَ طَبِيبًا.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course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work placement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D3-L04: sa- + present.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اكْتَسَبْتُ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سَأَكْتَسِبُ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أَكْتَسِبَ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D3-L04: li-kay + verb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عُيُوبِهِ أَنَّهُ مُجْهِدٌ.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مَزَايَاهُ أَنَّهُ مُجْزٍ.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أَطْمَحُ إِلَى أَنْ أُصْبِحَ طَبِيبًا.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pros and cons.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Goal → route → condition: to become … I must … — if I succeed, I will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طَبِيبًا يَجِبُ أَنْ أَدْرُسَ · إِذَا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نَجَحْتُ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أَلْتَحِقُ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education and training routes into work.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 goal to its route (</a:t>
            </a:r>
            <a:pPr algn="l" indent="0" marL="0">
              <a:buNone/>
            </a:pPr>
            <a:r>
              <a:rPr lang="ar-SA" altLang="en-US" sz="1700" dirty="0">
                <a:solidFill>
                  <a:srgbClr val="1F2A37"/>
                </a:solidFill>
                <a:latin typeface="Amiri" pitchFamily="34" charset="0"/>
                <a:ea typeface="Amiri" pitchFamily="34" charset="-122"/>
                <a:cs typeface="Amiri" pitchFamily="34" charset="-120"/>
              </a:rPr>
              <a:t>لِكَيْ أُصْبِحَ … يَجِبُ 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 plan with a condition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 past,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 +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routes and give a balanced recommendation.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routes into work.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must do to become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plan with if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routes.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university against an apprenticeship.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a route for one career.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and training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planning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‎جامعہ‎ </a:t>
            </a:r>
            <a:pPr indent="0" marL="0">
              <a:buNone/>
            </a:pPr>
            <a:r>
              <a:rPr lang="en-US" sz="950" b="1" dirty="0">
                <a:solidFill>
                  <a:srgbClr val="2E8B57"/>
                </a:solidFill>
                <a:latin typeface="Calibri" pitchFamily="34" charset="0"/>
                <a:ea typeface="Calibri" pitchFamily="34" charset="-122"/>
                <a:cs typeface="Calibri" pitchFamily="34" charset="-120"/>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شَهَادَةٌ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‎شہادت‎ </a:t>
            </a:r>
            <a:pPr indent="0" marL="0">
              <a:buNone/>
            </a:pPr>
            <a:r>
              <a:rPr lang="en-US" sz="950" b="1" dirty="0">
                <a:solidFill>
                  <a:srgbClr val="2E8B57"/>
                </a:solidFill>
                <a:latin typeface="Calibri" pitchFamily="34" charset="0"/>
                <a:ea typeface="Calibri" pitchFamily="34" charset="-122"/>
                <a:cs typeface="Calibri" pitchFamily="34" charset="-120"/>
              </a:rPr>
              <a:t> shahādat · Urdu: testimony, martyrdom · Arabic: certificate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تَلْمَذَةٌ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‎تلمیذ / شاگرد‎ </a:t>
            </a:r>
            <a:pPr indent="0" marL="0">
              <a:buNone/>
            </a:pPr>
            <a:r>
              <a:rPr lang="en-US" sz="950" b="1" dirty="0">
                <a:solidFill>
                  <a:srgbClr val="2E8B57"/>
                </a:solidFill>
                <a:latin typeface="Calibri" pitchFamily="34" charset="0"/>
                <a:ea typeface="Calibri" pitchFamily="34" charset="-122"/>
                <a:cs typeface="Calibri" pitchFamily="34" charset="-120"/>
              </a:rPr>
              <a:t> tilmīz · pupil → apprenticeship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تَخَصُّصٌ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‎خصوصی‎ </a:t>
            </a:r>
            <a:pPr indent="0" marL="0">
              <a:buNone/>
            </a:pPr>
            <a:r>
              <a:rPr lang="en-US" sz="950" b="1" dirty="0">
                <a:solidFill>
                  <a:srgbClr val="2E8B57"/>
                </a:solidFill>
                <a:latin typeface="Calibri" pitchFamily="34" charset="0"/>
                <a:ea typeface="Calibri" pitchFamily="34" charset="-122"/>
                <a:cs typeface="Calibri" pitchFamily="34" charset="-120"/>
              </a:rPr>
              <a:t> khusūsī · special → specialisation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كُلِّيَّاتٌ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مَعَاهِدُ مِهَنِيَّةٌ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شَهَادَاتٌ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دَوْرَاتٌ تَدْرِيبِيَّةٌ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مِنَحٌ دِرَاسِيَّةٌ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GOAL, ROUTE AND CONDITION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become … I must … — if …, I will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لِكَيْ أُصْبِحَ · إِذَا … فَسَـ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30352" y="1810512"/>
            <a:ext cx="7351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goal → route</a:t>
            </a:r>
            <a:endParaRPr lang="en-US" sz="1100" dirty="0"/>
          </a:p>
        </p:txBody>
      </p:sp>
      <p:sp>
        <p:nvSpPr>
          <p:cNvPr id="20" name="Text 17"/>
          <p:cNvSpPr txBox="1"/>
          <p:nvPr/>
        </p:nvSpPr>
        <p:spPr>
          <a:xfrm>
            <a:off x="548640" y="2286000"/>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طَبِيبًا، </a:t>
            </a:r>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أَدْرُسَ فِي الجَامِعَةِ.</a:t>
            </a:r>
            <a:endParaRPr lang="ar-SA" sz="2100" dirty="0"/>
          </a:p>
        </p:txBody>
      </p:sp>
      <p:sp>
        <p:nvSpPr>
          <p:cNvPr id="21" name="Text 18"/>
          <p:cNvSpPr txBox="1"/>
          <p:nvPr/>
        </p:nvSpPr>
        <p:spPr>
          <a:xfrm>
            <a:off x="502920" y="2706624"/>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 become a doctor, I must study at university.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route → goal</a:t>
            </a:r>
            <a:endParaRPr lang="en-US" sz="1100" dirty="0"/>
          </a:p>
        </p:txBody>
      </p:sp>
      <p:sp>
        <p:nvSpPr>
          <p:cNvPr id="26" name="Text 23"/>
          <p:cNvSpPr txBox="1"/>
          <p:nvPr/>
        </p:nvSpPr>
        <p:spPr>
          <a:xfrm>
            <a:off x="548640" y="3072384"/>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أَتَدَرَّبَ 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فَنِّيًّا.</a:t>
            </a:r>
            <a:endParaRPr lang="ar-SA" sz="2100" dirty="0"/>
          </a:p>
        </p:txBody>
      </p:sp>
      <p:sp>
        <p:nvSpPr>
          <p:cNvPr id="27" name="Text 24"/>
          <p:cNvSpPr txBox="1"/>
          <p:nvPr/>
        </p:nvSpPr>
        <p:spPr>
          <a:xfrm>
            <a:off x="502920" y="3493008"/>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must train to become a technician.</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fa-sa- + present</a:t>
            </a:r>
            <a:endParaRPr lang="en-US" sz="1100" dirty="0"/>
          </a:p>
        </p:txBody>
      </p:sp>
      <p:sp>
        <p:nvSpPr>
          <p:cNvPr id="32" name="Text 29"/>
          <p:cNvSpPr txBox="1"/>
          <p:nvPr/>
        </p:nvSpPr>
        <p:spPr>
          <a:xfrm>
            <a:off x="548640" y="3858768"/>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نَجَحْتُ</a:t>
            </a:r>
            <a:pPr rtl="1" algn="ctr" indent="0" marL="0">
              <a:buNone/>
            </a:pPr>
            <a:r>
              <a:rPr lang="ar-SA" altLang="en-US" sz="2100" b="1" dirty="0">
                <a:solidFill>
                  <a:srgbClr val="1B3B6F"/>
                </a:solidFill>
                <a:latin typeface="Amiri" pitchFamily="34" charset="0"/>
                <a:ea typeface="Amiri" pitchFamily="34" charset="-122"/>
                <a:cs typeface="Amiri" pitchFamily="34" charset="-120"/>
              </a:rPr>
              <a:t>، فَسَأَلْتَحِقُ بِالجَامِعَةِ.</a:t>
            </a:r>
            <a:endParaRPr lang="ar-SA" sz="2100" dirty="0"/>
          </a:p>
        </p:txBody>
      </p:sp>
      <p:sp>
        <p:nvSpPr>
          <p:cNvPr id="33" name="Text 30"/>
          <p:cNvSpPr txBox="1"/>
          <p:nvPr/>
        </p:nvSpPr>
        <p:spPr>
          <a:xfrm>
            <a:off x="502920" y="4279392"/>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succeed, I will join university.</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 a real future</a:t>
            </a:r>
            <a:endParaRPr lang="en-US" sz="1100" dirty="0"/>
          </a:p>
        </p:txBody>
      </p:sp>
      <p:sp>
        <p:nvSpPr>
          <p:cNvPr id="36" name="Text 33"/>
          <p:cNvSpPr txBox="1"/>
          <p:nvPr/>
        </p:nvSpPr>
        <p:spPr>
          <a:xfrm>
            <a:off x="548640" y="4645152"/>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وَجَدْتُ</a:t>
            </a:r>
            <a:pPr rtl="1" algn="ctr" indent="0" marL="0">
              <a:buNone/>
            </a:pPr>
            <a:r>
              <a:rPr lang="ar-SA" altLang="en-US" sz="2100" b="1" dirty="0">
                <a:solidFill>
                  <a:srgbClr val="1B3B6F"/>
                </a:solidFill>
                <a:latin typeface="Amiri" pitchFamily="34" charset="0"/>
                <a:ea typeface="Amiri" pitchFamily="34" charset="-122"/>
                <a:cs typeface="Amiri" pitchFamily="34" charset="-120"/>
              </a:rPr>
              <a:t> تَلْمَذَةً مِهَنِيَّةً، فَسَأُقَدِّمُ طَلَبًا.</a:t>
            </a:r>
            <a:endParaRPr lang="ar-SA" sz="2100" dirty="0"/>
          </a:p>
        </p:txBody>
      </p:sp>
      <p:sp>
        <p:nvSpPr>
          <p:cNvPr id="37" name="Text 34"/>
          <p:cNvSpPr txBox="1"/>
          <p:nvPr/>
        </p:nvSpPr>
        <p:spPr>
          <a:xfrm>
            <a:off x="502920" y="5065776"/>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find an apprenticeship, I will apply.</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a PAST verb talks about the FUTURE: idhā najaḥtu = if I succeed (literally “if I succeeded”).</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AND EVALUATE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Better than … · on the other hand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مِنْ · مِنْ مَزَايَا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عَمَلِيَّةً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التَّدْرِيبُ العَمَلِيُّ أَكْثَرُ عَمَلِيَّةً مِنَ الدِّرَاسَةِ النَّظَرِيَّةِ.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Practical training is more practical than theoretical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akthar + noun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مَزَايَا التَّلْمَذَةِ المِهَنِيَّةِ أَنَّهَا مَدْفُوعَةٌ.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an apprenticeship is that it is paid.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annahā = that it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عُيُوبِهَا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عُيُوبِهَا أَنَّ الخِيَارَاتِ قَدْ تَكُونُ مَحْدُودَةً.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disadvantage is that the options may be limited.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qad takūnu = may be.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comparative needs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الجَامِعَةُ أَفْضَلُ مِنَ الدَّوْرَةِ لِهٰذِهِ المِهْنَةِ.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الجَامِعَةُ أَفْضَلُ الدَّوْرَةِ لِهٰذِهِ المِهْنَةِ.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Routes, alternatives and conditions</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المُفَاضَلَةُ بَيْنَ مَسَارَاتِ التَّعْلِيمِ وَالتَّدْرِيبِ</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Route to a goal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أُصْبِحَ ... يَجِبُ 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أُصْبِحَ طَبِيبًا يَجِبُ أَنْ أَدْرُسَ فِي الجَامِعَةِ.   ·   يَجِبُ أَنْ أَتَدَرَّبَ لِكَيْ أُصْبِحَ فَنِّيًّا.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Conditional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 مَاضٍ، فَـ + مُسْتَقْبَل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نَجَحْتُ، فَسَأَلْتَحِقُ بِالجَامِعَةِ.   ·   إِذَا وَجَدْتُ تَلْمَذَةً مِهَنِيَّةً، فَسَأُقَدِّمُ طَلَبًا.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مِنْ / أَكْثَرُ عَمَلِيَّةً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التَّدْرِيبُ العَمَلِيُّ أَكْثَرُ عَمَلِيَّةً مِنَ الدِّرَاسَةِ النَّظَرِيَّةِ.   ·   الجَامِعَةُ أَفْضَلُ لِبَعْضِ المِهَنِ.</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 مِنْ عُيُوبِ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مَزَايَا التَّلْمَذَةِ المِهَنِيَّةِ أَنَّهَا مَدْفُوعَةٌ.   ·   مِنْ عُيُوبِهَا أَنَّ الخِيَارَاتِ قَدْ تَكُونُ مَحْدُودَةً.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سَأُصْبِحُ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أَصْبَحْتُ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سَأُصْبِحُ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أُصْبِحَ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 verb.</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 min.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tilmīdh = pupil.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choose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Goal + route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كَهْرَبَائِيًّا،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Goal, then what I must do.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التَّلْمَذَةُ المِهَنِيَّةُ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أَكْثَرُ عَمَلِيَّةً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الجَامِعَةِ.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akthar … 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مَزَايَاهَا أَنَّهَا مَدْفُوعَةٌ، وَلٰكِنَّ الخِيَارَاتِ مَحْدُودَةٌ.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sides.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إِذَا وَجَدْتُ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تَلْمَذَةً، فَسَأُقَدِّمُ طَلَبًا.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past → fa-sa-.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GOAL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ROUTE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 / IF</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لِكَيْ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كَهْرَبَائِيًّا،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مَعْهَدٍ مِهَنِيٍّ أَوْ فِي شَرِكَةٍ. فِي رَأْيِي، التَّلْمَذَةُ المِهَنِيَّةُ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أَكْثَرُ عَمَلِيَّةً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الجَامِعَةِ لِهٰذِهِ المِهْنَةِ. مِنْ مَزَايَاهَا أَنَّهَا مَدْفُوعَةٌ، وَلٰكِنْ مِنْ عُيُوبِهَا أَنَّ الخِيَارَاتِ قَدْ تَكُونُ مَحْدُودَةً.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وَجَدْتُ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تَلْمَذَةً مِهَنِيَّةً جَيِّدَةً، فَسَأُقَدِّمُ طَلَبًا فَوْرًا.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To become an electrician, I must train at a vocational institute or in a company. In my opinion, an apprenticeship is more practical than university for this job. One advantage is that it is paid, but one disadvantage is that the options may be limited. If I find a good apprenticeship, I will apply straight away.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لِكَيْ أُصْبِحَ طَبِيبًا، يَجِبُ أَنْ أَدْرُسَ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To become a doctor, I must study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Goal → route.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نَجَحْتُ، فَسَأَلْتَحِقُ بِالجَامِعَةِ.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succeed, I will join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idhā + past, fa-sa-.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التَّلْمَذَةُ المِهَنِيَّةُ أَقَلُّ تَكْلِفَةً مِنَ الجَامِعَةِ.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An apprenticeship costs less than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aqall + -an + min.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الجَامِعَةِ أَنَّهَا تُقَدِّمُ مَعْرِفَةً عَمِيقَةً.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of university is that it offers deep knowledge.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Advantage + annahā.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EDUCATION AND TRAINING — ROUTES TO A CAREER”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Where do I learn?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أَتَلَقَّى تَدْرِيبًا مِهَنِيًّا.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أَتَعَلَّمُ عَنْ بُعْدٍ.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الجَامِعَةِ.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الجَامِعَةِ.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university.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أَتَلَقَّى تَدْرِيبًا مِهَنِيًّا.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receive vocational training.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أَتَعَلَّمُ عَنْ بُعْدٍ.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learn remotely.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 مَدْفُوعَةٌ.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الخِيَارَاتُ مَحْدُودَةٌ.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عَمَلِيَّةً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تَكْلِفَةً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course</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experience</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أَلْتَحِقُ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الْتَحَقْتُ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فَسَأَلْتَحِقُ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إِنَّهَا مَدْفُوعَةٌ.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الخِيَارَاتُ مَحْدُودَةٌ.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sides, then a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عَمَلِيَّةً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تَكْلِفَةً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aqall = less.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training course</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experience</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qabūl = acceptance.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أَلْتَحِقُ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الْتَحَقْتُ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فَسَأَلْتَحِقُ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 future.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أُصْبِحُ طَبِيبًا،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li-kay: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أَنْجَحُ، سَأَلْتَحِقُ بِالجَامِعَةِ.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 which tense?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التَّدْرِيبُ أَكْثَرُ عَمَلِيَّةً الدِّرَاسَةِ.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akthar ʿamaliyyatan?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أُصْبِحُ طَبِيبًا،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أُصْبِحَ طَبِيبًا،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li-kay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أَنْجَحُ، سَأَلْتَحِقُ بِالجَامِعَةِ.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نَجَحْتُ، فَسَأَلْتَحِقُ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past verb; fa- before the future.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التَّدْرِيبُ أَكْثَرُ عَمَلِيَّةً الدِّرَاسَةِ.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التَّدْرِيبُ أَكْثَرُ عَمَلِيَّةً مِنَ الدِّرَاسَةِ.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comparative needs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Choosing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to become a lawyer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go there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university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course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company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prefers practical learning</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dislikes studying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his home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pays high fees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gets a small salary while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scholarship</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place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in a shop</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سَارَةُ الدِّرَاسَةَ الجَامِعِيَّةَ لِأَنَّهَا تُرِيدُ أَنْ تُصْبِحَ مُحَامِيَةً.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prefers university study because she wants to become a lawyer.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أَحْمَدُ فَقَدِ اخْتَارَ تَلْمَذَةً مِهَنِيَّةً فِي شَرِكَةِ كَهْرَبَاءٍ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Ahmed, he has chosen an apprenticeship in an electricity company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يُفَضِّلُ التَّعَلُّمَ العَمَلِيَّ وَيَحْصُلُ عَلَى رَاتِبٍ صَغِيرٍ أَثْنَاءَ التَّدْرِيبِ.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he prefers practical learning and he gets a small salary during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وَمَرْيَمُ لَمْ تُقَرِّرْ بَعْدُ؛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Maryam has not decided yet;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فَهِيَ تَبْحَثُ عَنْ دَوْرَةٍ قَصِيرَةٍ فِي التَّصْمِيمِ.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looking for a short course in design.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wants to become a lawyer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friends go there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تُرِيدُ أَنْ تُصْبِحَ مُحَامِيَةً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university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course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اخْتَارَ تَلْمَذَةً مِهَنِيَّةً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company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 company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شَرِكَةِ كَهْرَبَاءٍ</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prefers practical learning</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dislikes studying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his home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يُفَضِّلُ التَّعَلُّمَ العَمَلِيَّ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pays high fees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gets a small salary while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has a scholarship</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يَحْصُلُ عَلَى رَاتِبٍ صَغِيرٍ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place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job in a shop</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دَوْرَةٍ قَصِيرَةٍ فِي التَّصْمِيمِ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University, college or apprenticeship?</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أَنْ تَدْرُسَ لِكَيْ تُصْبِحَ مُدَرِّسًا؟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الجَامِعَةَ أَمِ التَّلْمَذَةَ المِهَنِيَّةَ؟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نَجَحْتَ فِي الاِمْتِحَانَاتِ؟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التَّلْمَذَةِ المِهَنِيَّةِ وَعُيُوبُهَا؟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لِكَيْ أُصْبِحَ ___ ، يَجِبُ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أُفَضِّلُ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نَجَحْتُ، فَسَـ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مِنْ مَزَايَاهَا أَنَّ ___ ، وَلٰكِنْ مِنْ عُيُوبِهَا أَنَّ ___ .</a:t>
            </a:r>
            <a:endParaRPr lang="ar-SA" sz="12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تُفَضِّلُ الجَامِعَةَ أَمِ التَّلْمَذَةَ المِهَنِيَّةَ؟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prefer university or an apprenticeship?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الجَامِعَةَ لِأَنَّنِي أُرِيدُ أَنْ أُصْبِحَ مُحَامِيًا.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university because I want to become a lawyer.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what you must do to become it, which route you prefer and why.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routes (akthar … min) and add a plan with idhā.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university and vocational training and recommend a route for one career.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عَمَلِيَّةً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more practical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أَقَلُّ تَكْلِفَةً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costs less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حَصَلْتُ عَلَى مِنْحَةٍ، فَسَـ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get a scholarship,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أُصْبِحَ ______ ، يَجِبُ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become a …, I must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______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جَامِعَةٌ  ·  كُلِّيَّةٌ  ·  تَلْمَذَةٌ مِهَنِيَّةٌ  ·  دَوْرَةٌ تَدْرِيبِيَّةٌ  ·  شَهَادَةٌ  ·  لِكَيْ أُصْبِحَ  ·  يَجِبُ أَنْ  ·  إِذَا نَجَحْتُ  ·  فَسَـ  ·  أَفْضَلُ مِنْ  ·  أَكْثَرُ عَمَلِيَّةً  ·  أَقَلُّ تَكْلِفَةً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university and vocational training and recommend the best route for one career.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هُنَاكَ مَسَارٌ وَاحِدٌ يُنَاسِبُ الجَمِيعَ</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no single route that suits everyone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work and study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 التَّخَصُّصِ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chances to specialise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لِلطَّالِبِ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 should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طَرِيقَةُ تَعَلُّمِهِ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way he learns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لَيْسَ هُنَاكَ مَسَارٌ وَاحِدٌ يُنَاسِبُ الجَمِيعَ. لِكَيْ أُصْبِحَ مُحَامِيًا، يَجِبُ أَنْ أَدْرُسَ القَانُونَ فِي الجَامِعَةِ، لِأَنَّ هٰذِهِ المِهْنَةَ تَحْتَاجُ إِلَى شَهَادَةٍ. مِنْ مَزَايَا الجَامِعَةِ أَنَّهَا تُقَدِّمُ مَعْرِفَةً عَمِيقَةً، وَلٰكِنْ مِنْ عُيُوبِهَا أَنَّهَا مُكْلِفَةٌ. أَمَّا التَّلْمَذَةُ المِهَنِيَّةُ فَهِيَ أَكْثَرُ عَمَلِيَّةً وَأَقَلُّ تَكْلِفَةً، وَهِيَ مُنَاسِبَةٌ لِمِهَنٍ مِثْلِ الكَهْرَبَاءِ وَالتَّصْمِيمِ. فِي رَأْيِي، الجَامِعَةُ أَفْضَلُ لِي لِأَنَّنِي أُحِبُّ القِرَاءَةَ وَالبَحْثَ. إِذَا حَصَلْتُ عَلَى مِنْحَةٍ دِرَاسِيَّةٍ، فَسَأَلْتَحِقُ بِجَامِعَةٍ فِي لَنْدَنَ.</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is no single route that suits everyone. To become a lawyer, I must study law at university, because this job needs a degree. One advantage of university is that it offers deep knowledge, but one disadvantage is that it is expensive. An apprenticeship, on the other hand, is more practical and less costly, and it suits jobs such as electrics and design. In my opinion, university is better for me because I love reading and research. If I get a scholarship, I will join a university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goal → route (li-kay … yajibu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min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a goal to a route.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li-kay / an: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comparison has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past verb, then fa-sa-.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both sides before recommending.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وَجَدْتُ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سَأَجِدُ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المِنْحَةُ الدِّرَاسِيَّةُ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وَجَدْتُ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سَأَجِدُ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المِنْحَةُ الدِّرَاسِيَّةُ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Reading text.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afḍal min.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لَيْسَ هُنَاكَ مَسَارٌ وَاحِدٌ يُنَاسِبُ الجَمِيعَ. فَالجَامِعَةُ تُقَدِّمُ مَعْرِفَةً عَمِيقَةً وَشَهَادَةً مَطْلُوبَةً لِمِهَنٍ مِثْلَ الطِّبِّ وَالقَانُونِ. أَمَّا التَّلْمَذَةُ المِهَنِيَّةُ فَتَجْمَعُ بَيْنَ العَمَلِ وَالدِّرَاسَةِ، وَهِيَ أَكْثَرُ عَمَلِيَّةً وَأَقَلُّ تَكْلِفَةً. وَمَعَ ذٰلِكَ، قَدْ تَكُونُ فُرَصُ التَّخَصُّصِ فِيهَا أَضْيَقَ. يَنْبَغِي لِلطَّالِبِ أَنْ يَدْرُسَ هَدَفَهُ وَطَرِيقَةَ تَعَلُّمِهِ قَبْلَ أَنْ يَخْتَارَ.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route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يُنَاسِبُ الجَمِيعَ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suits everyone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عَمِيقَةً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مَطْلُوبَةً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القَانُونِ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تَكْلِفَةً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costly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 التَّخَصُّصِ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chances to specialise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أَضْيَقَ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narrower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يَنْبَغِي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should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knowledge and a required degree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shorter study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 and cooking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 and building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study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and work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deeper and longer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practical and less costly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easier and closer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chances to specialise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salary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holidays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friends’ choices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nearest college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goal and how they learn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deep knowledge and a required degree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shorter study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عَمِيقَةً وَشَهَادَةً مَطْلُوبَةً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 and cooking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 and building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مِثْلَ الطِّبِّ وَالقَانُونِ</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study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and work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تَجْمَعُ بَيْنَ العَمَلِ وَالدِّرَاسَةِ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deeper and longer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practical and less costly</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easier and closer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عَمَلِيَّةً وَأَقَلُّ تَكْلِفَةً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fewer chances to specialise</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salary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holidays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 التَّخَصُّصِ … أَضْيَقَ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friends’ choices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nearest college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their goal and how they learn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هَدَفَهُ وَطَرِيقَةَ تَعَلُّمِهِ</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D3-L06 · Job Applications and Interviews — CV, Skills and Future Plans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CV</a:t>
            </a:r>
            <a:pPr indent="0" marL="0">
              <a:buNone/>
            </a:pPr>
            <a:r>
              <a:rPr lang="en-US" sz="1000" i="1" dirty="0">
                <a:solidFill>
                  <a:srgbClr val="5A6472"/>
                </a:solidFill>
                <a:latin typeface="Calibri" pitchFamily="34" charset="0"/>
                <a:ea typeface="Calibri" pitchFamily="34" charset="-122"/>
                <a:cs typeface="Calibri" pitchFamily="34" charset="-120"/>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cover letter</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interview</a:t>
            </a:r>
            <a:pPr indent="0" marL="0">
              <a:buNone/>
            </a:pPr>
            <a:r>
              <a:rPr lang="en-US" sz="1000" i="1" dirty="0">
                <a:solidFill>
                  <a:srgbClr val="5A6472"/>
                </a:solidFill>
                <a:latin typeface="Calibri" pitchFamily="34" charset="0"/>
                <a:ea typeface="Calibri" pitchFamily="34" charset="-122"/>
                <a:cs typeface="Calibri" pitchFamily="34" charset="-120"/>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job advert</a:t>
            </a:r>
            <a:pPr indent="0" marL="0">
              <a:buNone/>
            </a:pPr>
            <a:r>
              <a:rPr lang="en-US" sz="1000" i="1" dirty="0">
                <a:solidFill>
                  <a:srgbClr val="5A6472"/>
                </a:solidFill>
                <a:latin typeface="Calibri" pitchFamily="34" charset="0"/>
                <a:ea typeface="Calibri" pitchFamily="34" charset="-122"/>
                <a:cs typeface="Calibri" pitchFamily="34" charset="-120"/>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weakness</a:t>
            </a:r>
            <a:pPr indent="0" marL="0">
              <a:buNone/>
            </a:pPr>
            <a:r>
              <a:rPr lang="en-US" sz="1000" i="1" dirty="0">
                <a:solidFill>
                  <a:srgbClr val="5A6472"/>
                </a:solidFill>
                <a:latin typeface="Calibri" pitchFamily="34" charset="0"/>
                <a:ea typeface="Calibri" pitchFamily="34" charset="-122"/>
                <a:cs typeface="Calibri" pitchFamily="34" charset="-120"/>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route words;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routes in 80–100 words with min and idhā.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university and vocational training and recommend a route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D3-L06 · Job Applications and Interviews — CV, Skills and Future Plans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طَلَبَاتُ العَمَلِ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to become … I must … — idhā + past, fa-sa- — a comparative needs min.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D3-L05 · Education and Training — Routes to a Career</dc:title>
  <dc:subject>PptxGenJS Presentation</dc:subject>
  <dc:creator>Al Madina Online School · Arabic Department</dc:creator>
  <cp:lastModifiedBy>Al Madina Online School · Arabic Department</cp:lastModifiedBy>
  <cp:revision>1</cp:revision>
  <dcterms:created xsi:type="dcterms:W3CDTF">2026-10-03T10:11:11Z</dcterms:created>
  <dcterms:modified xsi:type="dcterms:W3CDTF">2026-10-03T10:11:11Z</dcterms:modified>
</cp:coreProperties>
</file>