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D3-L05. The website lesson “Education and Training — Routes to a Career”: vocabulary, grammar rules and quiz, patterns, common mistakes, sorter, listening, reading, speaking prompts and model, writing task and model, differentiation, final check and the lesson mission. Picture match: website visual game “Education and Training — Routes to a Career”.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education / training words + “To become a doctor, I must study at university” (لِكَيْ أُصْبِحَ … يَجِبُ أَنْ أَدْرُسَ …). Develop: a condition (إِذَا نَجَحْتُ، فَسَأَلْتَحِقُ …) and a comparison (أَفْضَلُ مِنْ / أَكْثَرُ عَمَلِيَّةً مِنْ). Stretch: compare university and an apprenticeship and recommend one route for one career.
• Builds directly on D3-L04 (sa-, li-kay, an + verb in -a). NEW: إِذَا + PAST verb for a future condition (إِذَا نَجَحْتُ = if I succeed).
• UK link: “apprenticeship” = تَلْمَذَةٌ مِهَنِيَّةٌ; “college / sixth form” = كُلِّيَّةٌ. Students can talk about real UK routes (A levels, T levels, apprenticeships).
• Website text corrections used in the deck: لِكَيْ أُصْبِحَ (website: أَصْبِحَ) and لَمْ تُقَرِّرْ (website: تَقْرِّرْ).
• TEACHER-WRITTEN ITEMS: on the website this lesson’s mission, listening, sorter, mistakes, grammar, final,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D3-L04. Questions 3–4 retrieve D3-L04 (future, purpose); question 5 retrieves D3-L02 (pros and cons).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Goal → route → condition: to become … I must … — if I succeed, I will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جامعہ (as in Jamia universities) and تعلیم are shared. CAREFUL: شہادت in Urdu is testimony or martyrdom; Arabic شَهَادَةٌ is also a certificate or degree. تلمیذ (pupil, disciple) is the root of تَلْمَذَةٌ مِهَنِيَّةٌ (apprenticeship). خصوصی shares the root of تَخَصُّصٌ (specialisation).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and training (website vocabulary (1 of 2)). Hear → Say → See → Use. Transliteration is printed for Core students (cover it for Develop/Stretch).
Routes into work. Cards show the plural where it is useful. مِهَنِيٌّ = vocational (from مِهْنَةٌ, D3-L01);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and training (website vocabulary (2 of 2)). Hear → Say → See → Use. Transliteration is printed for Core students (cover it for Develop/Stretch).
Routes into work. Cards show the plural where it is useful. مِهَنِيٌّ = vocational (from مِهْنَةٌ, D3-L01);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(1 of 2)). Hear → Say → See → Use. Transliteration is printed for Core students (cover it for Develop/Stretch).
FLEX: teach if time allows; otherwise these are on the website vocabulary tab for homework.
Future planning (FLEX): review from D3-L04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(2 of 2)). Hear → Say → See → Use. Transliteration is printed for Core students (cover it for Develop/Stretch).
FLEX: teach if time allows; otherwise these are on the website vocabulary tab for homework.
Future planning (FLEX): review from D3-L04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(1 of 2)). Hear → Say → See → Use. Transliteration is printed for Core students (cover it for Develop/Stretch).
FLEX: teach if time allows; otherwise these are on the website vocabulary tab for homework.
Evaluation (FLEX): the D3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(2 of 2)). Hear → Say → See → Use. Transliteration is printed for Core students (cover it for Develop/Stretch).
FLEX: teach if time allows; otherwise these are on the website vocabulary tab for homework.
Evaluation (FLEX): the D3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“Route to a goal” (لِكَيْ أُصْبِحَ … يَجِبُ أَنْ …: state the goal first or last, but connect the route logically) and “Conditional plan” (إِذَا + مَاضٍ، فَـ + مُسْتَقْبَلٌ: use a past-form verb after إذا for a realistic future condition). Website examples as shown (one vowel corrected: website has لِكَيْ أَصْبِحَ).
Teacher point: the job after أُصْبِحَ takes -an (طَبِيبًا، فَنِّيًّا) — D3-L01. Core can stop at rows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“Comparison” (أَفْضَلُ مِنْ / أَكْثَرُ عَمَلِيَّةً مِنْ: use مِنْ after the comparative) and “Balanced evaluation” (present both sides before reaching a judgement). Website examples as shown.
Comparative forms (F6-L06 link): أَرْخَصُ مِنْ، أَغْلَى مِنْ، أَفْضَلُ مِنْ. For longer adjectives use أَكْثَرُ / أَقَلُّ + noun in -an: أَقَلُّ تَكْلِفَةً (less costly — reading text). The error pair is teacher-chosen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“المُفَاضَلَةُ بَيْنَ مَسَارَاتِ التَّعْلِيمِ وَالتَّدْرِيبِ”
• Route to a goal: State the goal first or last, but connect the route logically.
• Conditional plan: Use a past-form verb after إذا for a realistic future condition.
• Comparison: Use مِنْ after the comparative.
• Balanced evaluation: Present both sides before reaching a judgement.
Website common error: Do not use a present verb after إِذَا for a future plan, and do not leave out مِنْ after a comparative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listening (Ahmed: an apprenticeship in an electricity company). Think aloud: “Goal? Route? Better than what? What 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Listen 1: just listen. Listen 2: note answers. Then chat the letters.
Support: after the second listening, show the read-along slide (Arabic + English, line by line) for Core students.
SCRIPT (read aloud):
تُفَضِّلُ سَارَةُ الدِّرَاسَةَ الجَامِعِيَّةَ لِأَنَّهَا تُرِيدُ أَنْ تُصْبِحَ مُحَامِيَةً. أَمَّا أَحْمَدُ فَقَدِ اخْتَارَ تَلْمَذَةً مِهَنِيَّةً فِي شَرِكَةِ كَهْرَبَاءٍ لِأَنَّهُ يُفَضِّلُ التَّعَلُّمَ العَمَلِيَّ وَيَحْصُلُ عَلَى رَاتِبٍ صَغِيرٍ أَثْنَاءَ التَّدْرِيبِ. وَمَرْيَمُ لَمْ تُقَرِّرْ بَعْدُ؛ فَهِيَ تَبْحَثُ عَنْ دَوْرَةٍ قَصِيرَةٍ فِي التَّصْمِيمِ.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خُطَّتُكَ؟ (And what is your plan?)
B: إِذَا نَجَحْتُ فِي الاِمْتِحَانَاتِ، فَسَأَدْرُسُ القَانُونَ. (If I pass the exams, I will study law.)
Teacher-written prompts and model (the website prompts are generic). Model continues: A: وَمَا خُطَّتُكَ؟ B: إِذَا نَجَحْتُ فِي الاِمْتِحَانَاتِ، فَسَأَدْرُسُ القَانُونَ. To a girl: هَلْ تُفَضِّلِينَ …؟ · لِكَيْ تُصْبِحِي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Compare university and vocational training and recommend the best route for one career.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لِكَيْ أُصْبِحَ مُحَامِيًا، يَجِبُ أَنْ أَدْرُسَ · مِنْ مَزَايَا … وَلٰكِنْ مِنْ عُيُوبِهَا … · أَكْثَرُ عَمَلِيَّةً وَأَقَلُّ تَكْلِفَةً · أَفْضَلُ لِي · إِذَا حَصَلْتُ … فَسَأَلْتَحِقُ.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(D3-L06 · Job Applications and Interviews — CV, Skills and Future Plans) will spend class time USING this language, so students prepare it tonight — short, simple, easy to access (school guidance: “Simple, Short, Interesting, Relevant, Easy to access”). The five words come from the website D3-L06 vocabulary (applications and interviews).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Education and Training — Routes to a Career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التَّعْلِيمُ وَالتَّدْرِيبُ — طُرُقٌ إِلَى المَسِيرَةِ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Compare routes into work (university, college, apprenticeship, course): the route to a goal (</a:t>
            </a:r>
            <a:pPr algn="l" indent="0" marL="0">
              <a:buNone/>
            </a:pPr>
            <a:r>
              <a:rPr lang="ar-SA" altLang="en-US" sz="1800" dirty="0">
                <a:solidFill>
                  <a:srgbClr val="C6D2E6"/>
                </a:solidFill>
                <a:latin typeface="Amiri" pitchFamily="34" charset="0"/>
                <a:ea typeface="Amiri" pitchFamily="34" charset="-122"/>
                <a:cs typeface="Amiri" pitchFamily="34" charset="-120"/>
              </a:rPr>
              <a:t>لِكَيْ أُصْبِحَ … يَجِبُ أَنْ</a:t>
            </a:r>
            <a:pPr algn="l" indent="0" marL="0">
              <a:buNone/>
            </a:pPr>
            <a:r>
              <a:rPr lang="en-US" sz="1400" dirty="0">
                <a:solidFill>
                  <a:srgbClr val="C6D2E6"/>
                </a:solidFill>
                <a:latin typeface="Calibri" pitchFamily="34" charset="0"/>
                <a:ea typeface="Calibri" pitchFamily="34" charset="-122"/>
                <a:cs typeface="Calibri" pitchFamily="34" charset="-120"/>
              </a:rPr>
              <a:t> …), a condition (</a:t>
            </a:r>
            <a:pPr algn="l" indent="0" marL="0">
              <a:buNone/>
            </a:pPr>
            <a:r>
              <a:rPr lang="ar-SA" altLang="en-US" sz="1800" dirty="0">
                <a:solidFill>
                  <a:srgbClr val="C6D2E6"/>
                </a:solidFill>
                <a:latin typeface="Amiri" pitchFamily="34" charset="0"/>
                <a:ea typeface="Amiri" pitchFamily="34" charset="-122"/>
                <a:cs typeface="Amiri" pitchFamily="34" charset="-120"/>
              </a:rPr>
              <a:t>إِذَا نَجَحْتُ، فَسَـ</a:t>
            </a:r>
            <a:pPr algn="l" indent="0" marL="0">
              <a:buNone/>
            </a:pPr>
            <a:r>
              <a:rPr lang="en-US" sz="1400" dirty="0">
                <a:solidFill>
                  <a:srgbClr val="C6D2E6"/>
                </a:solidFill>
                <a:latin typeface="Calibri" pitchFamily="34" charset="0"/>
                <a:ea typeface="Calibri" pitchFamily="34" charset="-122"/>
                <a:cs typeface="Calibri" pitchFamily="34" charset="-120"/>
              </a:rPr>
              <a:t> …), a comparison and a balanced judgement.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D3-L05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route to a goal, if …, comparison and pros / cons.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university / apprenticeship, fix and listen to three routes.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certificate / degree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course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مِنْحَةٌ دِرَاسِيَّةٌ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work placement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سَأَتَدَرَّبُ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اكْتَسَبْتُ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سَأَكْتَسِبُ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أَكْتَسِبَ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disadvantage?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عُيُوبِهِ أَنَّهُ مُجْهِدٌ.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مَزَايَاهُ أَنَّهُ مُجْزٍ.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أَطْمَحُ إِلَى أَنْ أُصْبِحَ طَبِيبًا.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certificate / degree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course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مِنْحَةٌ دِرَاسِيَّةٌ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work placement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D3-L04: sa- + present.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سَأَتَدَرَّبُ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اكْتَسَبْتُ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سَأَكْتَسِبُ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أَكْتَسِبَ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D3-L04: li-kay + verb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disadvantage?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عُيُوبِهِ أَنَّهُ مُجْهِدٌ.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مَزَايَاهُ أَنَّهُ مُجْزٍ.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أَطْمَحُ إِلَى أَنْ أُصْبِحَ طَبِيبًا.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D3-L02: pros and cons.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Goal → route → condition: to become … I must … — if I succeed, I will …</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لِكَيْ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أُصْبِحَ</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طَبِيبًا يَجِبُ أَنْ أَدْرُسَ · إِذَا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نَجَحْتُ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فَ</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سَ</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أَلْتَحِقُ بِالجَامِعَةِ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education and training routes into work.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Link a goal to its route (</a:t>
            </a:r>
            <a:pPr algn="l" indent="0" marL="0">
              <a:buNone/>
            </a:pPr>
            <a:r>
              <a:rPr lang="ar-SA" altLang="en-US" sz="1700" dirty="0">
                <a:solidFill>
                  <a:srgbClr val="1F2A37"/>
                </a:solidFill>
                <a:latin typeface="Amiri" pitchFamily="34" charset="0"/>
                <a:ea typeface="Amiri" pitchFamily="34" charset="-122"/>
                <a:cs typeface="Amiri" pitchFamily="34" charset="-120"/>
              </a:rPr>
              <a:t>لِكَيْ أُصْبِحَ … يَجِبُ أَنْ</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 plan with a condition (</a:t>
            </a:r>
            <a:pPr algn="l" indent="0" marL="0">
              <a:buNone/>
            </a:pPr>
            <a:r>
              <a:rPr lang="ar-SA" altLang="en-US" sz="1700" dirty="0">
                <a:solidFill>
                  <a:srgbClr val="1F2A37"/>
                </a:solidFill>
                <a:latin typeface="Amiri" pitchFamily="34" charset="0"/>
                <a:ea typeface="Amiri" pitchFamily="34" charset="-122"/>
                <a:cs typeface="Amiri" pitchFamily="34" charset="-120"/>
              </a:rPr>
              <a:t>إِذَا</a:t>
            </a:r>
            <a:pPr algn="l" indent="0" marL="0">
              <a:buNone/>
            </a:pPr>
            <a:r>
              <a:rPr lang="en-US" sz="1300" dirty="0">
                <a:solidFill>
                  <a:srgbClr val="1F2A37"/>
                </a:solidFill>
                <a:latin typeface="Calibri" pitchFamily="34" charset="0"/>
                <a:ea typeface="Calibri" pitchFamily="34" charset="-122"/>
                <a:cs typeface="Calibri" pitchFamily="34" charset="-120"/>
              </a:rPr>
              <a:t> + past, </a:t>
            </a:r>
            <a:pPr algn="l" indent="0" marL="0">
              <a:buNone/>
            </a:pPr>
            <a:r>
              <a:rPr lang="ar-SA" altLang="en-US" sz="1700" dirty="0">
                <a:solidFill>
                  <a:srgbClr val="1F2A37"/>
                </a:solidFill>
                <a:latin typeface="Amiri" pitchFamily="34" charset="0"/>
                <a:ea typeface="Amiri" pitchFamily="34" charset="-122"/>
                <a:cs typeface="Amiri" pitchFamily="34" charset="-120"/>
              </a:rPr>
              <a:t>فَـ</a:t>
            </a:r>
            <a:pPr algn="l" indent="0" marL="0">
              <a:buNone/>
            </a:pPr>
            <a:r>
              <a:rPr lang="en-US" sz="1300" dirty="0">
                <a:solidFill>
                  <a:srgbClr val="1F2A37"/>
                </a:solidFill>
                <a:latin typeface="Calibri" pitchFamily="34" charset="0"/>
                <a:ea typeface="Calibri" pitchFamily="34" charset="-122"/>
                <a:cs typeface="Calibri" pitchFamily="34" charset="-120"/>
              </a:rPr>
              <a:t> + future).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routes and give a balanced recommendation.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routes into work.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must do to become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 plan with if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routes.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weigh university against an apprenticeship.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recommend a route for one career.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Education and training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Future planning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جَامِعَةٌ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‎جامعہ‎ </a:t>
            </a:r>
            <a:pPr indent="0" marL="0">
              <a:buNone/>
            </a:pPr>
            <a:r>
              <a:rPr lang="en-US" sz="950" b="1" dirty="0">
                <a:solidFill>
                  <a:srgbClr val="2E8B57"/>
                </a:solidFill>
                <a:latin typeface="Calibri" pitchFamily="34" charset="0"/>
                <a:ea typeface="Calibri" pitchFamily="34" charset="-122"/>
                <a:cs typeface="Calibri" pitchFamily="34" charset="-120"/>
              </a:rPr>
              <a:t> jāmiʿa · university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‎تعلیم‎ </a:t>
            </a:r>
            <a:pPr indent="0" marL="0">
              <a:buNone/>
            </a:pPr>
            <a:r>
              <a:rPr lang="en-US" sz="950" b="1" dirty="0">
                <a:solidFill>
                  <a:srgbClr val="2E8B57"/>
                </a:solidFill>
                <a:latin typeface="Calibri" pitchFamily="34" charset="0"/>
                <a:ea typeface="Calibri" pitchFamily="34" charset="-122"/>
                <a:cs typeface="Calibri" pitchFamily="34" charset="-120"/>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شَهَادَةٌ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‎شہادت‎ </a:t>
            </a:r>
            <a:pPr indent="0" marL="0">
              <a:buNone/>
            </a:pPr>
            <a:r>
              <a:rPr lang="en-US" sz="950" b="1" dirty="0">
                <a:solidFill>
                  <a:srgbClr val="2E8B57"/>
                </a:solidFill>
                <a:latin typeface="Calibri" pitchFamily="34" charset="0"/>
                <a:ea typeface="Calibri" pitchFamily="34" charset="-122"/>
                <a:cs typeface="Calibri" pitchFamily="34" charset="-120"/>
              </a:rPr>
              <a:t> shahādat · Urdu: testimony, martyrdom · Arabic: certificate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تَلْمَذَةٌ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‎تلمیذ / شاگرد‎ </a:t>
            </a:r>
            <a:pPr indent="0" marL="0">
              <a:buNone/>
            </a:pPr>
            <a:r>
              <a:rPr lang="en-US" sz="950" b="1" dirty="0">
                <a:solidFill>
                  <a:srgbClr val="2E8B57"/>
                </a:solidFill>
                <a:latin typeface="Calibri" pitchFamily="34" charset="0"/>
                <a:ea typeface="Calibri" pitchFamily="34" charset="-122"/>
                <a:cs typeface="Calibri" pitchFamily="34" charset="-120"/>
              </a:rPr>
              <a:t> tilmīz · pupil → apprenticeship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تَخَصُّصٌ</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‎خصوصی‎ </a:t>
            </a:r>
            <a:pPr indent="0" marL="0">
              <a:buNone/>
            </a:pPr>
            <a:r>
              <a:rPr lang="en-US" sz="950" b="1" dirty="0">
                <a:solidFill>
                  <a:srgbClr val="2E8B57"/>
                </a:solidFill>
                <a:latin typeface="Calibri" pitchFamily="34" charset="0"/>
                <a:ea typeface="Calibri" pitchFamily="34" charset="-122"/>
                <a:cs typeface="Calibri" pitchFamily="34" charset="-120"/>
              </a:rPr>
              <a:t> khusūsī · special → specialisation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and training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جَامِعَةٌ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jā-mi-ʿa-tun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جَامِعَاتٌ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college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كُلِّيَّاتٌ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مَعْهَدٌ مِهَنِيٌّ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institute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maʿ-ha-dun mi-ha-niy-yun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مَعَاهِدُ مِهَنِيَّةٌ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مِهَنِيٌّ</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training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mi-ha-niy-yun</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عَمَلِيٌّ</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placement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ʿa-ma-liy-yun</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تَلْمَذَةٌ مِهَنِيَّةٌ</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apprenticeship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tal-ma-dha-tun mi-ha-niy-ya-tun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and training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شَهَادَةٌ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certificate/degree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sha-hā-da-tun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شَهَادَاتٌ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دَوْرَةٌ تَدْرِيبِيَّةٌ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training course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daw-ra-tun tad-rī-biy-ya-tun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دَوْرَاتٌ تَدْرِيبِيَّةٌ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مِنْحَةٌ دِرَاسِيَّةٌ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scholarship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min-ḥa-tun di-rā-siy-ya-tun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مِنَحٌ دِرَاسِيَّةٌ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مُتَطَلَّبَاتُ القَبُولِ</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entry requirements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mu-ta-ṭal-la-bā-tu al-qa-bū-li</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خِبْرَةٌ عَمَلِيَّةٌ</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khib-ra-tun ʿa-ma-liy-ya-tun</a:t>
            </a:r>
            <a:endParaRPr lang="en-US" sz="135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مَسَارٌ أَكَادِيمِيٌّ</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ma-sā-run a-kā-dī-miy-yun</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planning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سَأَدْرُسُ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sa-ʾad-ru-su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سَوْفَ أَتَدَرَّبُ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saw-fa a-ta-dar-ra-bu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أَنْ أُصْبِحَ</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want to become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an uṣ-bi-ḥa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أَطْمَحُ إِلَى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aspire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aṭ-ma-ḥu i-lā 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أَنْوِي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intend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an-wī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أُخَطِّطُ لِـ</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u-khaṭ-ṭi-ṭu li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planning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graduation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المُحْتَمَلِ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likely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al-muḥ-ta-ma-li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نَجَحْتُ</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 succeed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na-jaḥ-tu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GOAL, ROUTE AND CONDITION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 become … I must … — if …, I will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لِكَيْ أُصْبِحَ · إِذَا … فَسَـ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530352" y="1810512"/>
            <a:ext cx="7351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8065008" y="2267712"/>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goal → route</a:t>
            </a:r>
            <a:endParaRPr lang="en-US" sz="1100" dirty="0"/>
          </a:p>
        </p:txBody>
      </p:sp>
      <p:sp>
        <p:nvSpPr>
          <p:cNvPr id="20" name="Text 17"/>
          <p:cNvSpPr txBox="1"/>
          <p:nvPr/>
        </p:nvSpPr>
        <p:spPr>
          <a:xfrm>
            <a:off x="548640" y="2286000"/>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100" b="1" dirty="0">
                <a:solidFill>
                  <a:srgbClr val="1D5FBF"/>
                </a:solidFill>
                <a:latin typeface="Amiri" pitchFamily="34" charset="0"/>
                <a:ea typeface="Amiri" pitchFamily="34" charset="-122"/>
                <a:cs typeface="Amiri" pitchFamily="34" charset="-120"/>
              </a:rPr>
              <a:t>أُصْبِحَ</a:t>
            </a:r>
            <a:pPr rtl="1" algn="ctr" indent="0" marL="0">
              <a:buNone/>
            </a:pPr>
            <a:r>
              <a:rPr lang="ar-SA" altLang="en-US" sz="2100" b="1" dirty="0">
                <a:solidFill>
                  <a:srgbClr val="1B3B6F"/>
                </a:solidFill>
                <a:latin typeface="Amiri" pitchFamily="34" charset="0"/>
                <a:ea typeface="Amiri" pitchFamily="34" charset="-122"/>
                <a:cs typeface="Amiri" pitchFamily="34" charset="-120"/>
              </a:rPr>
              <a:t> طَبِيبًا، </a:t>
            </a:r>
            <a:pPr rtl="1" algn="ctr" indent="0" marL="0">
              <a:buNone/>
            </a:pPr>
            <a:r>
              <a:rPr lang="ar-SA" altLang="en-US" sz="2100" b="1" dirty="0">
                <a:solidFill>
                  <a:srgbClr val="D6336C"/>
                </a:solidFill>
                <a:latin typeface="Amiri" pitchFamily="34" charset="0"/>
                <a:ea typeface="Amiri" pitchFamily="34" charset="-122"/>
                <a:cs typeface="Amiri" pitchFamily="34" charset="-120"/>
              </a:rPr>
              <a:t>يَجِبُ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أَدْرُسَ فِي الجَامِعَةِ.</a:t>
            </a:r>
            <a:endParaRPr lang="ar-SA" sz="2100" dirty="0"/>
          </a:p>
        </p:txBody>
      </p:sp>
      <p:sp>
        <p:nvSpPr>
          <p:cNvPr id="21" name="Text 18"/>
          <p:cNvSpPr txBox="1"/>
          <p:nvPr/>
        </p:nvSpPr>
        <p:spPr>
          <a:xfrm>
            <a:off x="502920" y="2706624"/>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To become a doctor, I must study at university.</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8065008" y="3054096"/>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route → goal</a:t>
            </a:r>
            <a:endParaRPr lang="en-US" sz="1100" dirty="0"/>
          </a:p>
        </p:txBody>
      </p:sp>
      <p:sp>
        <p:nvSpPr>
          <p:cNvPr id="26" name="Text 23"/>
          <p:cNvSpPr txBox="1"/>
          <p:nvPr/>
        </p:nvSpPr>
        <p:spPr>
          <a:xfrm>
            <a:off x="548640" y="3072384"/>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يَجِبُ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أَتَدَرَّبَ لِكَيْ </a:t>
            </a:r>
            <a:pPr rtl="1" algn="ctr" indent="0" marL="0">
              <a:buNone/>
            </a:pPr>
            <a:r>
              <a:rPr lang="ar-SA" altLang="en-US" sz="2100" b="1" dirty="0">
                <a:solidFill>
                  <a:srgbClr val="1D5FBF"/>
                </a:solidFill>
                <a:latin typeface="Amiri" pitchFamily="34" charset="0"/>
                <a:ea typeface="Amiri" pitchFamily="34" charset="-122"/>
                <a:cs typeface="Amiri" pitchFamily="34" charset="-120"/>
              </a:rPr>
              <a:t>أُصْبِحَ</a:t>
            </a:r>
            <a:pPr rtl="1" algn="ctr" indent="0" marL="0">
              <a:buNone/>
            </a:pPr>
            <a:r>
              <a:rPr lang="ar-SA" altLang="en-US" sz="2100" b="1" dirty="0">
                <a:solidFill>
                  <a:srgbClr val="1B3B6F"/>
                </a:solidFill>
                <a:latin typeface="Amiri" pitchFamily="34" charset="0"/>
                <a:ea typeface="Amiri" pitchFamily="34" charset="-122"/>
                <a:cs typeface="Amiri" pitchFamily="34" charset="-120"/>
              </a:rPr>
              <a:t> فَنِّيًّا.</a:t>
            </a:r>
            <a:endParaRPr lang="ar-SA" sz="2100" dirty="0"/>
          </a:p>
        </p:txBody>
      </p:sp>
      <p:sp>
        <p:nvSpPr>
          <p:cNvPr id="27" name="Text 24"/>
          <p:cNvSpPr txBox="1"/>
          <p:nvPr/>
        </p:nvSpPr>
        <p:spPr>
          <a:xfrm>
            <a:off x="502920" y="3493008"/>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must train to become a technician.</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8065008" y="3840480"/>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 PAST, fa-sa- + present</a:t>
            </a:r>
            <a:endParaRPr lang="en-US" sz="1100" dirty="0"/>
          </a:p>
        </p:txBody>
      </p:sp>
      <p:sp>
        <p:nvSpPr>
          <p:cNvPr id="32" name="Text 29"/>
          <p:cNvSpPr txBox="1"/>
          <p:nvPr/>
        </p:nvSpPr>
        <p:spPr>
          <a:xfrm>
            <a:off x="548640" y="3858768"/>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إِذَا نَجَحْتُ</a:t>
            </a:r>
            <a:pPr rtl="1" algn="ctr" indent="0" marL="0">
              <a:buNone/>
            </a:pPr>
            <a:r>
              <a:rPr lang="ar-SA" altLang="en-US" sz="2100" b="1" dirty="0">
                <a:solidFill>
                  <a:srgbClr val="1B3B6F"/>
                </a:solidFill>
                <a:latin typeface="Amiri" pitchFamily="34" charset="0"/>
                <a:ea typeface="Amiri" pitchFamily="34" charset="-122"/>
                <a:cs typeface="Amiri" pitchFamily="34" charset="-120"/>
              </a:rPr>
              <a:t>، فَسَأَلْتَحِقُ بِالجَامِعَةِ.</a:t>
            </a:r>
            <a:endParaRPr lang="ar-SA" sz="2100" dirty="0"/>
          </a:p>
        </p:txBody>
      </p:sp>
      <p:sp>
        <p:nvSpPr>
          <p:cNvPr id="33" name="Text 30"/>
          <p:cNvSpPr txBox="1"/>
          <p:nvPr/>
        </p:nvSpPr>
        <p:spPr>
          <a:xfrm>
            <a:off x="502920" y="4279392"/>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If I succeed, I will join university.</a:t>
            </a:r>
            <a:endParaRPr lang="en-US" sz="95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8065008" y="4626864"/>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 PAST = a real future</a:t>
            </a:r>
            <a:endParaRPr lang="en-US" sz="1100" dirty="0"/>
          </a:p>
        </p:txBody>
      </p:sp>
      <p:sp>
        <p:nvSpPr>
          <p:cNvPr id="36" name="Text 33"/>
          <p:cNvSpPr txBox="1"/>
          <p:nvPr/>
        </p:nvSpPr>
        <p:spPr>
          <a:xfrm>
            <a:off x="548640" y="4645152"/>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إِذَا وَجَدْتُ</a:t>
            </a:r>
            <a:pPr rtl="1" algn="ctr" indent="0" marL="0">
              <a:buNone/>
            </a:pPr>
            <a:r>
              <a:rPr lang="ar-SA" altLang="en-US" sz="2100" b="1" dirty="0">
                <a:solidFill>
                  <a:srgbClr val="1B3B6F"/>
                </a:solidFill>
                <a:latin typeface="Amiri" pitchFamily="34" charset="0"/>
                <a:ea typeface="Amiri" pitchFamily="34" charset="-122"/>
                <a:cs typeface="Amiri" pitchFamily="34" charset="-120"/>
              </a:rPr>
              <a:t> تَلْمَذَةً مِهَنِيَّةً، فَسَأُقَدِّمُ طَلَبًا.</a:t>
            </a:r>
            <a:endParaRPr lang="ar-SA" sz="2100" dirty="0"/>
          </a:p>
        </p:txBody>
      </p:sp>
      <p:sp>
        <p:nvSpPr>
          <p:cNvPr id="37" name="Text 34"/>
          <p:cNvSpPr txBox="1"/>
          <p:nvPr/>
        </p:nvSpPr>
        <p:spPr>
          <a:xfrm>
            <a:off x="502920" y="5065776"/>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If I find an apprenticeship, I will apply.</a:t>
            </a:r>
            <a:endParaRPr lang="en-US" sz="9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idhā + a PAST verb talks about the FUTURE: idhā najaḥtu = if I succeed (literally “if I succeeded”).</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COMPARE AND EVALUATE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Better than … · on the other hand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أَفْضَلُ مِنْ · مِنْ مَزَايَا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عَمَلِيَّةً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التَّدْرِيبُ العَمَلِيُّ أَكْثَرُ عَمَلِيَّةً مِنَ الدِّرَاسَةِ النَّظَرِيَّةِ.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Practical training is more practical than theoretical study.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akthar + noun (-an) + min.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ADVANTAGE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مَزَايَا … 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مَزَايَا التَّلْمَذَةِ المِهَنِيَّةِ أَنَّهَا مَدْفُوعَةٌ.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advantage of an apprenticeship is that it is paid.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annahā = that it (f.).</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DISADVANTAGE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عُيُوبِهَا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عُيُوبِهَا أَنَّ الخِيَارَاتِ قَدْ تَكُونُ مَحْدُودَةً.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disadvantage is that the options may be limited.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qad takūnu = may be.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comparative needs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الجَامِعَةُ أَفْضَلُ مِنَ الدَّوْرَةِ لِهٰذِهِ المِهْنَةِ.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الجَامِعَةُ أَفْضَلُ الدَّوْرَةِ لِهٰذِهِ المِهْنَةِ.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Routes, alternatives and conditions</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34" charset="0"/>
                <a:ea typeface="Amiri" pitchFamily="34" charset="-122"/>
                <a:cs typeface="Amiri" pitchFamily="34" charset="-120"/>
              </a:rPr>
              <a:t>المُفَاضَلَةُ بَيْنَ مَسَارَاتِ التَّعْلِيمِ وَالتَّدْرِيبِ</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Route to a goal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لِكَيْ أُصْبِحَ ... يَجِبُ أَنْ ...</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لِكَيْ أُصْبِحَ طَبِيبًا يَجِبُ أَنْ أَدْرُسَ فِي الجَامِعَةِ.   ·   يَجِبُ أَنْ أَتَدَرَّبَ لِكَيْ أُصْبِحَ فَنِّيًّا.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Conditional plan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إِذَا + مَاضٍ، فَـ + مُسْتَقْبَل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نَجَحْتُ، فَسَأَلْتَحِقُ بِالجَامِعَةِ.   ·   إِذَا وَجَدْتُ تَلْمَذَةً مِهَنِيَّةً، فَسَأُقَدِّمُ طَلَبًا.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أَفْضَلُ مِنْ / أَكْثَرُ عَمَلِيَّةً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التَّدْرِيبُ العَمَلِيُّ أَكْثَرُ عَمَلِيَّةً مِنَ الدِّرَاسَةِ النَّظَرِيَّةِ.   ·   الجَامِعَةُ أَفْضَلُ لِبَعْضِ المِهَنِ.</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Balanced evaluation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مَزَايَا ... / مِنْ عُيُوبِ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مِنْ مَزَايَا التَّلْمَذَةِ المِهَنِيَّةِ أَنَّهَا مَدْفُوعَةٌ.   ·   مِنْ عُيُوبِهَا أَنَّ الخِيَارَاتِ قَدْ تَكُونُ مَحْدُودَةً.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لِكَيْ ___ طَبِيبًا، يَجِبُ أَنْ أَدْرُسَ.</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أَصْبَحْتُ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سَأُصْبِحُ</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أُصْبِحَ</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___ ، فَسَأَلْتَحِقُ بِالجَامِعَةِ.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نَاجِحٌ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التَّدْرِيبُ أَكْثَرُ عَمَلِيَّةً ___ الدِّرَاسَةِ.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لِكَيْ ___ طَبِيبًا، يَجِبُ أَنْ أَدْرُسَ.</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أَصْبَحْتُ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سَأُصْبِحُ</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أُصْبِحَ</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li-kay: present verb in -a.</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___ ، فَسَأَلْتَحِقُ بِالجَامِعَةِ.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نَجَحْتُ</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نَاجِحٌ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idhā + past verb.</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التَّدْرِيبُ أَكْثَرُ عَمَلِيَّةً ___ الدِّرَاسَةِ.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 + min.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scholarship</a:t>
            </a:r>
            <a:endParaRPr lang="en-US" sz="125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tilmīdh = pupil.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choose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Goal + route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لِكَيْ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أُصْبِحَ</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كَهْرَبَائِيًّا،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يَجِبُ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أَتَدَرَّبَ.</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Goal, then what I must do.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التَّلْمَذَةُ المِهَنِيَّةُ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أَكْثَرُ عَمَلِيَّةً 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الجَامِعَةِ.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akthar … min.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مِنْ مَزَايَاهَا أَنَّهَا مَدْفُوعَةٌ، وَلٰكِنَّ الخِيَارَاتِ مَحْدُودَةٌ.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sides.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إِذَا وَجَدْتُ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تَلْمَذَةً، فَسَأُقَدِّمُ طَلَبًا.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idhā + past → fa-sa-.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GOAL</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ROUTE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 / IF</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لِكَيْ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أُصْبِحَ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كَهْرَبَائِيًّا،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يَجِبُ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أَتَدَرَّبَ فِي مَعْهَدٍ مِهَنِيٍّ أَوْ فِي شَرِكَةٍ. فِي رَأْيِي، التَّلْمَذَةُ المِهَنِيَّةُ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أَكْثَرُ عَمَلِيَّةً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الجَامِعَةِ لِهٰذِهِ المِهْنَةِ. مِنْ مَزَايَاهَا أَنَّهَا مَدْفُوعَةٌ، وَلٰكِنْ مِنْ عُيُوبِهَا أَنَّ الخِيَارَاتِ قَدْ تَكُونُ مَحْدُودَةً.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وَجَدْتُ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تَلْمَذَةً مِهَنِيَّةً جَيِّدَةً، فَسَأُقَدِّمُ طَلَبًا فَوْرًا.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To become an electrician, I must train at a vocational institute or in a company. In my opinion, an apprenticeship is more practical than university for this job. One advantage is that it is paid, but one disadvantage is that the options may be limited. If I find a good apprenticeship, I will apply straight away.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لِكَيْ أُصْبِحَ طَبِيبًا، يَجِبُ أَنْ أَدْرُسَ فِي الجَامِعَةِ.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To become a doctor, I must study at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Goal → route.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نَجَحْتُ، فَسَأَلْتَحِقُ بِالجَامِعَةِ.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I succeed, I will join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idhā + past, fa-sa-.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التَّلْمَذَةُ المِهَنِيَّةُ أَقَلُّ تَكْلِفَةً مِنَ الجَامِعَةِ.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An apprenticeship costs less than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aqall + -an + min.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مَزَايَا الجَامِعَةِ أَنَّهَا تُقَدِّمُ مَعْرِفَةً عَمِيقَةً.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One advantage of university is that it offers deep knowledge.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Advantage + annahā.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EDUCATION AND TRAINING — ROUTES TO A CAREER”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Where do I learn?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learning online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أَتَلَقَّى تَدْرِيبًا مِهَنِيًّا.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أَتَعَلَّمُ عَنْ بُعْدٍ.</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الجَامِعَةِ.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الجَامِعَةِ.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at university.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أَتَلَقَّى تَدْرِيبًا مِهَنِيًّا.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receive vocational training.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learning online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أَتَعَلَّمُ عَنْ بُعْدٍ.</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learn remotely.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University or apprenticeship?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مَعْرِفَةٌ عَمِيقَةٌ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شَهَادَةٌ لِلطِّبِّ وَالقَانُونِ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دِرَاسَةٌ نَظَرِيَّةٌ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تَكْلِفَةٌ أَعْلَى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تَجْمَعُ بَيْنَ العَمَلِ وَالدِّرَاسَةِ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أَكْثَرُ عَمَلِيَّةً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أَقَلُّ تَكْلِفَةً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أَثْنَاءَ التَّدْرِيبِ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University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Apprenticeship</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University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مَعْرِفَةٌ عَمِيقَةٌ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شَهَادَةٌ لِلطِّبِّ وَالقَانُونِ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دِرَاسَةٌ نَظَرِيَّةٌ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تَكْلِفَةٌ أَعْلَى</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Apprenticeship</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تَجْمَعُ بَيْنَ العَمَلِ وَالدِّرَاسَةِ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أَكْثَرُ عَمَلِيَّةً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أَقَلُّ تَكْلِفَةً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أَثْنَاءَ التَّدْرِيبِ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balanced judgement?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إِنَّهَا مَدْفُوعَةٌ.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الخِيَارَاتُ مَحْدُودَةٌ.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مَزَايَاهَا أَنَّهَا مَدْفُوعَةٌ، وَلٰكِنَّ الخِيَارَاتِ مَحْدُودَةٌ.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“less costly”?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عَمَلِيَّةً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تَكْلِفَةً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مُتَطَلَّبَاتُ القَبُولِ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training course</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entry requirements</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experience</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follows idhā najaḥtu in a plan?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أَلْتَحِقُ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الْتَحَقْتُ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فَسَأَلْتَحِقُ</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balanced judgement?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إِنَّهَا مَدْفُوعَةٌ.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الخِيَارَاتُ مَحْدُودَةٌ.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مَزَايَاهَا أَنَّهَا مَدْفُوعَةٌ، وَلٰكِنَّ الخِيَارَاتِ مَحْدُودَةٌ.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sides, then a contrast.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“less costly”?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عَمَلِيَّةً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أَقَلُّ تَكْلِفَةً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aqall = less.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مُتَطَلَّبَاتُ القَبُولِ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training course</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entry requirements</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 experience</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qabūl = acceptance.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follows idhā najaḥtu in a plan?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أَلْتَحِقُ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الْتَحَقْتُ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فَسَأَلْتَحِقُ</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 + future.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لِكَيْ أُصْبِحُ طَبِيبًا، يَجِبُ أَنْ 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li-kay: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أَنْجَحُ، سَأَلْتَحِقُ بِالجَامِعَةِ.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idhā + which tense?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التَّدْرِيبُ أَكْثَرُ عَمَلِيَّةً الدِّرَاسَةِ.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after akthar ʿamaliyyatan?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لِكَيْ أُصْبِحُ طَبِيبًا، يَجِبُ أَنْ 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لِكَيْ أُصْبِحَ طَبِيبًا، يَجِبُ أَنْ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li-kay the verb ends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أَنْجَحُ، سَأَلْتَحِقُ بِالجَامِعَةِ.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نَجَحْتُ، فَسَأَلْتَحِقُ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idhā + past verb; fa- before the future.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التَّدْرِيبُ أَكْثَرُ عَمَلِيَّةً الدِّرَاسَةِ.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التَّدْرِيبُ أَكْثَرُ عَمَلِيَّةً مِنَ الدِّرَاسَةِ.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comparative needs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Choosing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prefer university?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wants to become a lawyer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friends go there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route did Ahmed choose?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university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course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what kind of company?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building company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design company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electricity company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he prefer it?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prefers practical learning</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dislikes studying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near his home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money detail is mentioned?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pays high fees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gets a small salary while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has a scholarship</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Maryam looking for?</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design course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 place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job in a shop</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مُحَامِيَةً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تَلْمَذَةً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دَوْرَةٍ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تُفَضِّلُ سَارَةُ الدِّرَاسَةَ الجَامِعِيَّةَ لِأَنَّهَا تُرِيدُ أَنْ تُصْبِحَ مُحَامِيَةً.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Sarah prefers university study because she wants to become a lawyer.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أَحْمَدُ فَقَدِ اخْتَارَ تَلْمَذَةً مِهَنِيَّةً فِي شَرِكَةِ كَهْرَبَاءٍ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Ahmed, he has chosen an apprenticeship in an electricity company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يُفَضِّلُ التَّعَلُّمَ العَمَلِيَّ وَيَحْصُلُ عَلَى رَاتِبٍ صَغِيرٍ أَثْنَاءَ التَّدْرِيبِ.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he prefers practical learning and he gets a small salary during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وَمَرْيَمُ لَمْ تُقَرِّرْ بَعْدُ؛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Maryam has not decided yet;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فَهِيَ تَبْحَثُ عَنْ دَوْرَةٍ قَصِيرَةٍ فِي التَّصْمِيمِ.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looking for a short course in design.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prefer university?</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wants to become a lawyer</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cheaper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friends go there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تُرِيدُ أَنْ تُصْبِحَ مُحَامِيَةً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route did Ahmed choose?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university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course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apprenticeship</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اخْتَارَ تَلْمَذَةً مِهَنِيَّةً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what kind of company?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building company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design company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electricity company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شَرِكَةِ كَهْرَبَاءٍ</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he prefer it?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 prefers practical learning</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dislikes studying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near his home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يُفَضِّلُ التَّعَلُّمَ العَمَلِيَّ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money detail is mentioned?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pays high fees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 gets a small salary while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has a scholarship</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يَحْصُلُ عَلَى رَاتِبٍ صَغِيرٍ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Maryam looking for?</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short design course</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 place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job in a shop</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دَوْرَةٍ قَصِيرَةٍ فِي التَّصْمِيمِ</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مُحَامِيَةً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تَلْمَذَةً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دَوْرَةٍ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University, college or apprenticeship?</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يَجِبُ أَنْ تَدْرُسَ لِكَيْ تُصْبِحَ مُدَرِّسًا؟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الجَامِعَةَ أَمِ التَّلْمَذَةَ المِهَنِيَّةَ؟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خُطَّتُكَ إِذَا نَجَحْتَ فِي الاِمْتِحَانَاتِ؟</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مَزَايَا التَّلْمَذَةِ المِهَنِيَّةِ وَعُيُوبُهَا؟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لِكَيْ أُصْبِحَ ___ ، يَجِبُ 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أُفَضِّلُ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نَجَحْتُ، فَسَـ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مِنْ مَزَايَاهَا أَنَّ ___ ، وَلٰكِنْ مِنْ عُيُوبِهَا أَنَّ ___ .</a:t>
            </a:r>
            <a:endParaRPr lang="ar-SA" sz="12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تُفَضِّلُ الجَامِعَةَ أَمِ التَّلْمَذَةَ المِهَنِيَّةَ؟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prefer university or an apprenticeship?</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أُفَضِّلُ الجَامِعَةَ لِأَنَّنِي أُرِيدُ أَنْ أُصْبِحَ مُحَامِيًا.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prefer university because I want to become a lawyer.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job: what you must do to become it, which route you prefer and why.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routes (akthar … min) and add a plan with idhā.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university and vocational training and recommend a route for one career.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عَمَلِيَّةً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more practical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أَقَلُّ تَكْلِفَةً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costs less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نَجَحْتُ، فَسَـ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succeed,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حَصَلْتُ عَلَى مِنْحَةٍ، فَسَـ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get a scholarship,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أُصْبِحَ ______ ، يَجِبُ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 become a …, I must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لِأَنَّ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سَأَدْرُسُ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will study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مَزَايَا ______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advantage of … is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جَامِعَةٌ  ·  كُلِّيَّةٌ  ·  تَلْمَذَةٌ مِهَنِيَّةٌ  ·  دَوْرَةٌ تَدْرِيبِيَّةٌ  ·  شَهَادَةٌ  ·  لِكَيْ أُصْبِحَ  ·  يَجِبُ أَنْ  ·  إِذَا نَجَحْتُ  ·  فَسَـ  ·  أَفْضَلُ مِنْ  ·  أَكْثَرُ عَمَلِيَّةً  ·  أَقَلُّ تَكْلِفَةً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Compare university and vocational training and recommend the best route for one career.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هُنَاكَ مَسَارٌ وَاحِدٌ يُنَاسِبُ الجَمِيعَ</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there is no single route that suits everyone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تَجْمَعُ بَيْنَ العَمَلِ وَالدِّرَاسَةِ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work and study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فُرَصُ التَّخَصُّصِ</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chances to specialise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يَنْبَغِي لِلطَّالِبِ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student should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طَرِيقَةُ تَعَلُّمِهِ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way he learns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لَيْسَ هُنَاكَ مَسَارٌ وَاحِدٌ يُنَاسِبُ الجَمِيعَ. لِكَيْ أُصْبِحَ مُحَامِيًا، يَجِبُ أَنْ أَدْرُسَ القَانُونَ فِي الجَامِعَةِ، لِأَنَّ هٰذِهِ المِهْنَةَ تَحْتَاجُ إِلَى شَهَادَةٍ. مِنْ مَزَايَا الجَامِعَةِ أَنَّهَا تُقَدِّمُ مَعْرِفَةً عَمِيقَةً، وَلٰكِنْ مِنْ عُيُوبِهَا أَنَّهَا مُكْلِفَةٌ. أَمَّا التَّلْمَذَةُ المِهَنِيَّةُ فَهِيَ أَكْثَرُ عَمَلِيَّةً وَأَقَلُّ تَكْلِفَةً، وَهِيَ مُنَاسِبَةٌ لِمِهَنٍ مِثْلِ الكَهْرَبَاءِ وَالتَّصْمِيمِ. فِي رَأْيِي، الجَامِعَةُ أَفْضَلُ لِي لِأَنَّنِي أُحِبُّ القِرَاءَةَ وَالبَحْثَ. إِذَا حَصَلْتُ عَلَى مِنْحَةٍ دِرَاسِيَّةٍ، فَسَأَلْتَحِقُ بِجَامِعَةٍ فِي لَنْدَنَ.</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There is no single route that suits everyone. To become a lawyer, I must study law at university, because this job needs a degree. One advantage of university is that it offers deep knowledge, but one disadvantage is that it is expensive. An apprenticeship, on the other hand, is more practical and less costly, and it suits jobs such as electrics and design. In my opinion, university is better for me because I love reading and research. If I get a scholarship, I will join a university in London.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goal → route (li-kay … yajibu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 with min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condition with idhā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linked a goal to a route.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li-kay / an: verb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comparison has min.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idhā + past verb, then fa-sa-.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both sides before recommending.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 فَسَأُقَدِّمُ طَلَبًا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وَجَدْتُ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سَأَجِدُ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route combines work and study?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الجَامِعَةُ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التَّلْمَذَةُ المِهَنِيَّةُ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المِنْحَةُ الدِّرَاسِيَّةُ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 أَفْضَلُ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الدَّوْرَةِ لِهٰذِهِ المِهْنَةِ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تَلْمَذَةً مِهَنِيَّةً، فَسَأُقَدِّمُ طَلَبًا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وَجَدْتُ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سَأَجِدُ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idhā + past.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route combines work and study?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الجَامِعَةُ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التَّلْمَذَةُ المِهَنِيَّةُ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المِنْحَةُ الدِّرَاسِيَّةُ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Reading text.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 أَفْضَلُ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الدَّوْرَةِ لِهٰذِهِ المِهْنَةِ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afḍal min.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University or apprenticeship?</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لَيْسَ هُنَاكَ مَسَارٌ وَاحِدٌ يُنَاسِبُ الجَمِيعَ. فَالجَامِعَةُ تُقَدِّمُ مَعْرِفَةً عَمِيقَةً وَشَهَادَةً مَطْلُوبَةً لِمِهَنٍ مِثْلَ الطِّبِّ وَالقَانُونِ. أَمَّا التَّلْمَذَةُ المِهَنِيَّةُ فَتَجْمَعُ بَيْنَ العَمَلِ وَالدِّرَاسَةِ، وَهِيَ أَكْثَرُ عَمَلِيَّةً وَأَقَلُّ تَكْلِفَةً. وَمَعَ ذٰلِكَ، قَدْ تَكُونُ فُرَصُ التَّخَصُّصِ فِيهَا أَضْيَقَ. يَنْبَغِي لِلطَّالِبِ أَنْ يَدْرُسَ هَدَفَهُ وَطَرِيقَةَ تَعَلُّمِهِ قَبْلَ أَنْ يَخْتَارَ.</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مَسَارٌ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route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يُنَاسِبُ الجَمِيعَ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suits everyone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مَعْرِفَةً عَمِيقَةً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deep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مَطْلُوبَةً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required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القَانُونِ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تَجْمَعُ بَيْنَ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combines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أَقَلُّ تَكْلِفَةً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less costly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فُرَصُ التَّخَصُّصِ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chances to specialise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أَضْيَقَ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narrower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يَنْبَغِي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should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university provide?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 knowledge and a required degree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shorter study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careers need a degree?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design and cooking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driving and building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 and law</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an apprenticeship combine?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and study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and study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 and work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two advantages of an apprenticeship are given?</a:t>
            </a:r>
            <a:endParaRPr lang="en-US" sz="120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deeper and longer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practical and less costly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easier and closer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possible disadvantage is given?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fewer chances to specialise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salary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holidays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should a student think about before choosing?</a:t>
            </a:r>
            <a:endParaRPr lang="en-US" sz="12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friends’ choices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nearest college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goal and how they learn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university provide?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salary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deep knowledge and a required degree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shorter study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مَعْرِفَةً عَمِيقَةً وَشَهَادَةً مَطْلُوبَةً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careers need a degree?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design and cooking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driving and building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medicine and law</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مِثْلَ الطِّبِّ وَالقَانُونِ</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an apprenticeship combine?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work and study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and study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 and work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تَجْمَعُ بَيْنَ العَمَلِ وَالدِّرَاسَةِ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two advantages of an apprenticeship are given?</a:t>
            </a:r>
            <a:endParaRPr lang="en-US" sz="120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deeper and longer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more practical and less costly</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easier and closer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عَمَلِيَّةً وَأَقَلُّ تَكْلِفَةً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possible disadvantage is given?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fewer chances to specialise</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salary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 holidays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فُرَصُ التَّخَصُّصِ … أَضْيَقَ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should a student think about before choosing?</a:t>
            </a:r>
            <a:endParaRPr lang="en-US" sz="12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friends’ choices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nearest college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their goal and how they learn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هَدَفَهُ وَطَرِيقَةَ تَعَلُّمِهِ</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D3-L06 · Job Applications and Interviews — CV, Skills and Future Plans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سِيرَةٌ ذَاتِيَّةٌ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CV</a:t>
            </a:r>
            <a:pPr indent="0" marL="0">
              <a:buNone/>
            </a:pPr>
            <a:r>
              <a:rPr lang="en-US" sz="1000" i="1" dirty="0">
                <a:solidFill>
                  <a:srgbClr val="5A6472"/>
                </a:solidFill>
                <a:latin typeface="Calibri" pitchFamily="34" charset="0"/>
                <a:ea typeface="Calibri" pitchFamily="34" charset="-122"/>
                <a:cs typeface="Calibri" pitchFamily="34" charset="-120"/>
              </a:rPr>
              <a:t>  pl. سِيَرٌ ذَاتِيَّةٌ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رِسَالَةُ تَغْطِيَةٍ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cover letter</a:t>
            </a:r>
            <a:pPr indent="0" marL="0">
              <a:buNone/>
            </a:pPr>
            <a:r>
              <a:rPr lang="en-US" sz="1000" i="1" dirty="0">
                <a:solidFill>
                  <a:srgbClr val="5A6472"/>
                </a:solidFill>
                <a:latin typeface="Calibri" pitchFamily="34" charset="0"/>
                <a:ea typeface="Calibri" pitchFamily="34" charset="-122"/>
                <a:cs typeface="Calibri" pitchFamily="34" charset="-120"/>
              </a:rPr>
              <a:t>  pl. رَسَائِلُ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مُقَابَلَةٌ شَخْصِيَّةٌ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interview</a:t>
            </a:r>
            <a:pPr indent="0" marL="0">
              <a:buNone/>
            </a:pPr>
            <a:r>
              <a:rPr lang="en-US" sz="1000" i="1" dirty="0">
                <a:solidFill>
                  <a:srgbClr val="5A6472"/>
                </a:solidFill>
                <a:latin typeface="Calibri" pitchFamily="34" charset="0"/>
                <a:ea typeface="Calibri" pitchFamily="34" charset="-122"/>
                <a:cs typeface="Calibri" pitchFamily="34" charset="-120"/>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إِعْلَانُ وَظِيفَةٍ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job advert</a:t>
            </a:r>
            <a:pPr indent="0" marL="0">
              <a:buNone/>
            </a:pPr>
            <a:r>
              <a:rPr lang="en-US" sz="1000" i="1" dirty="0">
                <a:solidFill>
                  <a:srgbClr val="5A6472"/>
                </a:solidFill>
                <a:latin typeface="Calibri" pitchFamily="34" charset="0"/>
                <a:ea typeface="Calibri" pitchFamily="34" charset="-122"/>
                <a:cs typeface="Calibri" pitchFamily="34" charset="-120"/>
              </a:rPr>
              <a:t>  pl. إِعْلَانَاتٌ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ضَعْفٍ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weakness</a:t>
            </a:r>
            <a:pPr indent="0" marL="0">
              <a:buNone/>
            </a:pPr>
            <a:r>
              <a:rPr lang="en-US" sz="1000" i="1" dirty="0">
                <a:solidFill>
                  <a:srgbClr val="5A6472"/>
                </a:solidFill>
                <a:latin typeface="Calibri" pitchFamily="34" charset="0"/>
                <a:ea typeface="Calibri" pitchFamily="34" charset="-122"/>
                <a:cs typeface="Calibri" pitchFamily="34" charset="-120"/>
              </a:rPr>
              <a:t>  pl. نِقَاطُ ضَعْفٍ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your biggest strength for a job? Write one sentence with evidence.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نُقْطَةُ قُوَّتِي هِيَ … لِأَنَّنِي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10 route words;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Compare two routes in 80–100 words with min and idhā.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compare university and vocational training and recommend a route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D3-L06 · Job Applications and Interviews — CV, Skills and Future Plans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طَلَبَاتُ العَمَلِ وَالمُقَابَلَاتُ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to become … I must … — idhā + past, fa-sa- — a comparative needs min.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D3-L05 · Education and Training — Routes to a Career</dc:title>
  <dc:subject>PptxGenJS Presentation</dc:subject>
  <dc:creator>Al Madina Online School · Arabic Department</dc:creator>
  <cp:lastModifiedBy>Al Madina Online School · Arabic Department</cp:lastModifiedBy>
  <cp:revision>1</cp:revision>
  <dcterms:created xsi:type="dcterms:W3CDTF">2026-10-03T05:18:20Z</dcterms:created>
  <dcterms:modified xsi:type="dcterms:W3CDTF">2026-10-03T05:18:20Z</dcterms:modified>
</cp:coreProperties>
</file>