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D3 Work and Careers › D3-L05. The website lesson “Education and Training — Routes to a Career”: vocabulary, grammar rules and quiz, patterns, common mistakes, sorter, listening, reading, speaking prompts and model, writing task and model, differentiation, final check and the lesson mission. Picture match: website visual game “Education and Training — Routes to a Career”.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8 education / training words + “To become a doctor, I must study at university” (لِكَيْ أُصْبِحَ … يَجِبُ أَنْ أَدْرُسَ …). Develop: a condition (إِذَا نَجَحْتُ، فَسَأَلْتَحِقُ …) and a comparison (أَفْضَلُ مِنْ / أَكْثَرُ عَمَلِيَّةً مِنْ). Stretch: compare university and an apprenticeship and recommend one route for one career.
• Builds directly on D3-L04 (sa-, li-kay, an + verb in -a). NEW: إِذَا + PAST verb for a future condition (إِذَا نَجَحْتُ = if I succeed).
• UK link: “apprenticeship” = تَلْمَذَةٌ مِهَنِيَّةٌ; “college / sixth form” = كُلِّيَّةٌ. Students can talk about real UK routes (A levels, T levels, apprenticeships).
• Website text corrections used in the deck: لِكَيْ أُصْبِحَ (website: أَصْبِحَ) and لَمْ تُقَرِّرْ (website: تَقْرِّرْ).
• TEACHER-WRITTEN ITEMS: on the website this lesson’s mission, listening, sorter, mistakes, grammar, final, reading, speaking, writing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D3-L04. Questions 3–4 retrieve D3-L04 (future, purpose); question 5 retrieves D3-L02 (pros and cons).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Goal → route → condition: to become … I must … — if I succeed, I will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جامعہ (as in Jamia universities) and تعلیم are shared. CAREFUL: شہادت in Urdu is testimony or martyrdom; Arabic شَهَادَةٌ is also a certificate or degree. تلمیذ (pupil, disciple) is the root of تَلْمَذَةٌ مِهَنِيَّةٌ (apprenticeship). خصوصی shares the root of تَخَصُّصٌ (specialisation).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Education and training (website vocabulary (1 of 2)). Hear → Say → See → Use. Transliteration is printed for Core students (cover it for Develop/Stretch).
Routes into work. Cards show the plural where it is useful. مِهَنِيٌّ = vocational (from مِهْنَةٌ, D3-L01); عَمَلِيٌّ = practical (from عَمَلٌ).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Education and training (website vocabulary (2 of 2)). Hear → Say → See → Use. Transliteration is printed for Core students (cover it for Develop/Stretch).
Routes into work. Cards show the plural where it is useful. مِهَنِيٌّ = vocational (from مِهْنَةٌ, D3-L01); عَمَلِيٌّ = practical (from عَمَلٌ).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Future planning (website vocabulary (1 of 2)). Hear → Say → See → Use. Transliteration is printed for Core students (cover it for Develop/Stretch).
FLEX: teach if time allows; otherwise these are on the website vocabulary tab for homework.
Future planning (FLEX): review from D3-L04 — you need sa- and li-kay for every plan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Future planning (website vocabulary (2 of 2)). Hear → Say → See → Use. Transliteration is printed for Core students (cover it for Develop/Stretch).
FLEX: teach if time allows; otherwise these are on the website vocabulary tab for homework.
Future planning (FLEX): review from D3-L04 — you need sa- and li-kay for every plan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Evaluation (website vocabulary (1 of 2)). Hear → Say → See → Use. Transliteration is printed for Core students (cover it for Develop/Stretch).
FLEX: teach if time allows; otherwise these are on the website vocabulary tab for homework.
Evaluation (FLEX): the D3 connector list. Today: عَلَى الرَّغْمِ مِنْ أَنَّ and مِنْ جِهَةٍ … مِنْ جِهَةٍ أُخْرَى for a balanced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Evaluation (website vocabulary (2 of 2)). Hear → Say → See → Use. Transliteration is printed for Core students (cover it for Develop/Stretch).
FLEX: teach if time allows; otherwise these are on the website vocabulary tab for homework.
Evaluation (FLEX): the D3 connector list. Today: عَلَى الرَّغْمِ مِنْ أَنَّ and مِنْ جِهَةٍ … مِنْ جِهَةٍ أُخْرَى for a balanced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“Route to a goal” (لِكَيْ أُصْبِحَ … يَجِبُ أَنْ …: state the goal first or last, but connect the route logically) and “Conditional plan” (إِذَا + مَاضٍ، فَـ + مُسْتَقْبَلٌ: use a past-form verb after إذا for a realistic future condition). Website examples as shown (one vowel corrected: website has لِكَيْ أَصْبِحَ).
Teacher point: the job after أُصْبِحَ takes -an (طَبِيبًا، فَنِّيًّا) — D3-L01. Core can stop at rows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“Comparison” (أَفْضَلُ مِنْ / أَكْثَرُ عَمَلِيَّةً مِنْ: use مِنْ after the comparative) and “Balanced evaluation” (present both sides before reaching a judgement). Website examples as shown.
Comparative forms (F6-L06 link): أَرْخَصُ مِنْ، أَغْلَى مِنْ، أَفْضَلُ مِنْ. For longer adjectives use أَكْثَرُ / أَقَلُّ + noun in -an: أَقَلُّ تَكْلِفَةً (less costly — reading text). The error pair is teacher-chosen (the website common error is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“المُفَاضَلَةُ بَيْنَ مَسَارَاتِ التَّعْلِيمِ وَالتَّدْرِيبِ”
• Route to a goal: State the goal first or last, but connect the route logically.
• Conditional plan: Use a past-form verb after إذا for a realistic future condition.
• Comparison: Use مِنْ after the comparative.
• Balanced evaluation: Present both sides before reaching a judgement.
Website common error: Do not use a present verb after إِذَا for a future plan, and do not leave out مِنْ after a comparative (teacher wording: the website common error for this lesson is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teacher-written model built on the website rules and listening (Ahmed: an apprenticeship in an electricity company). Think aloud: “Goal? Route? Better than what? What if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Education and Training — Routes to a Career”)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Other website cards: أَدْرُسُ فِي المَدْرَسَةِ الثَّانَوِيَّةِ · أَدْرُسُ لِأَنْجَحَ فِي الاِمْتِحَانِ (li- + verb in -a = in order to) · التَّعْلِيمُ يُسَاعِدُنِي عَلَى الحُصُولِ عَلَى وَظِيفَةٍ.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Education and Training — Routes to a Career”)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Other website cards: أَدْرُسُ فِي المَدْرَسَةِ الثَّانَوِيَّةِ · أَدْرُسُ لِأَنْجَحَ فِي الاِمْتِحَانِ (li- + verb in -a = in order to) · التَّعْلِيمُ يُسَاعِدُنِي عَلَى الحُصُولِ عَلَى وَظِيفَةٍ.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Which route does each description fit best (from the reading text)?
Then choose one card from each side and make a sentence: مِنْ مَزَايَا الجَامِعَةِ أَنَّهَا … · مِنْ مَزَايَا التَّلْمَذَةِ أَنَّهَا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Which route does each description fit best (from the reading text)?
Then choose one card from each side and make a sentence: مِنْ مَزَايَا الجَامِعَةِ أَنَّهَا … · مِنْ مَزَايَا التَّلْمَذَةِ أَنَّهَا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6. Develop / Stretch: all 6.
Listen 1: just listen. Listen 2: note answers. Then chat the letters.
Support: after the second listening, show the read-along slide (Arabic + English, line by line) for Core students.
SCRIPT (read aloud):
تُفَضِّلُ سَارَةُ الدِّرَاسَةَ الجَامِعِيَّةَ لِأَنَّهَا تُرِيدُ أَنْ تُصْبِحَ مُحَامِيَةً. أَمَّا أَحْمَدُ فَقَدِ اخْتَارَ تَلْمَذَةً مِهَنِيَّةً فِي شَرِكَةِ كَهْرَبَاءٍ لِأَنَّهُ يُفَضِّلُ التَّعَلُّمَ العَمَلِيَّ وَيَحْصُلُ عَلَى رَاتِبٍ صَغِيرٍ أَثْنَاءَ التَّدْرِيبِ. وَمَرْيَمُ لَمْ تُقَرِّرْ بَعْدُ؛ فَهِيَ تَبْحَثُ عَنْ دَوْرَةٍ قَصِيرَةٍ فِي التَّصْمِيمِ.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خُطَّتُكَ؟ (And what is your plan?)
B: إِذَا نَجَحْتُ فِي الاِمْتِحَانَاتِ، فَسَأَدْرُسُ القَانُونَ. (If I pass the exams, I will study law.)
Teacher-written prompts and model (the website prompts are generic). Model continues: A: وَمَا خُطَّتُكَ؟ B: إِذَا نَجَحْتُ فِي الاِمْتِحَانَاتِ، فَسَأَدْرُسُ القَانُونَ. To a girl: هَلْ تُفَضِّلِينَ …؟ · لِكَيْ تُصْبِحِي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independently controlled complex structures.
Website writing task (Stretch): Compare university and vocational training and recommend the best route for one career.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Teacher-written model (the website model for this lesson is a placeholder). Evidence: لِكَيْ أُصْبِحَ مُحَامِيًا، يَجِبُ أَنْ أَدْرُسَ · مِنْ مَزَايَا … وَلٰكِنْ مِنْ عُيُوبِهَا … · أَكْثَرُ عَمَلِيَّةً وَأَقَلُّ تَكْلِفَةً · أَفْضَلُ لِي · إِذَا حَصَلْتُ … فَسَأَلْتَحِقُ.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(D3-L06 · Job Applications and Interviews — CV, Skills and Future Plans) will spend class time USING this language, so students prepare it tonight — short, simple, easy to access (school guidance: “Simple, Short, Interesting, Relevant, Easy to access”). The five words come from the website D3-L06 vocabulary (applications and interviews).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Education and Training — Routes to a Career</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التَّعْلِيمُ وَالتَّدْرِيبُ — طُرُقٌ إِلَى المَسِيرَةِ المِهَنِيَّةِ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Compare routes into work (university, college, apprenticeship, course): the route to a goal (</a:t>
            </a:r>
            <a:pPr algn="l" indent="0" marL="0">
              <a:buNone/>
            </a:pPr>
            <a:r>
              <a:rPr lang="ar-SA" altLang="en-US" sz="1800" dirty="0">
                <a:solidFill>
                  <a:srgbClr val="C6D2E6"/>
                </a:solidFill>
                <a:latin typeface="Amiri" pitchFamily="2" charset="-78"/>
                <a:ea typeface="Amiri" pitchFamily="2" charset="-78"/>
                <a:cs typeface="Amiri" pitchFamily="2" charset="-78"/>
              </a:rPr>
              <a:t>لِكَيْ أُصْبِحَ … يَجِبُ أَنْ</a:t>
            </a:r>
            <a:pPr algn="l" indent="0" marL="0">
              <a:buNone/>
            </a:pPr>
            <a:r>
              <a:rPr lang="en-US" sz="1400" dirty="0">
                <a:solidFill>
                  <a:srgbClr val="C6D2E6"/>
                </a:solidFill>
                <a:latin typeface="Calibri" pitchFamily="34" charset="0"/>
                <a:cs typeface="Amiri" pitchFamily="2" charset="-78"/>
              </a:rPr>
              <a:t> …), a condition (</a:t>
            </a:r>
            <a:pPr algn="l" indent="0" marL="0">
              <a:buNone/>
            </a:pPr>
            <a:r>
              <a:rPr lang="ar-SA" altLang="en-US" sz="1800" dirty="0">
                <a:solidFill>
                  <a:srgbClr val="C6D2E6"/>
                </a:solidFill>
                <a:latin typeface="Amiri" pitchFamily="2" charset="-78"/>
                <a:ea typeface="Amiri" pitchFamily="2" charset="-78"/>
                <a:cs typeface="Amiri" pitchFamily="2" charset="-78"/>
              </a:rPr>
              <a:t>إِذَا نَجَحْتُ، فَسَـ</a:t>
            </a:r>
            <a:pPr algn="l" indent="0" marL="0">
              <a:buNone/>
            </a:pPr>
            <a:r>
              <a:rPr lang="en-US" sz="1400" dirty="0">
                <a:solidFill>
                  <a:srgbClr val="C6D2E6"/>
                </a:solidFill>
                <a:latin typeface="Calibri" pitchFamily="34" charset="0"/>
                <a:cs typeface="Amiri" pitchFamily="2" charset="-78"/>
              </a:rPr>
              <a:t> …), a comparison and a balanced judgement.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D3-L05 · Development D3 · Work and Careers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route to a goal, if …, comparison and pros / cons.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university / apprenticeship, fix and listen to three routes.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D3-L06.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شَهَادَةٌ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university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certificate / degree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course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مِنْحَةٌ دِرَاسِيَّةٌ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scholarship</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work placement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exam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 will study”?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أَدْرُسُ</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دَرَسْتُ</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سَأَدْرُسُ</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سَأَتَدَرَّبُ 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خِبْرَةً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اكْتَسَبْتُ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سَأَكْتَسِبُ</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أَكْتَسِبَ</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a disadvantage?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عُيُوبِهِ أَنَّهُ مُجْهِدٌ.</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مَزَايَاهُ أَنَّهُ مُجْزٍ.</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أَطْمَحُ إِلَى أَنْ أُصْبِحَ طَبِيبًا.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شَهَادَةٌ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university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certificate / degree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course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(D3-L04).</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مِنْحَةٌ دِرَاسِيَّةٌ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scholarship</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work placement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exam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(D3-L04).</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 will study”?</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أَدْرُسُ</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دَرَسْتُ</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سَأَدْرُسُ</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D3-L04: sa- + present.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سَأَتَدَرَّبُ 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خِبْرَةً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اكْتَسَبْتُ</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سَأَكْتَسِبُ</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أَكْتَسِبَ</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D3-L04: li-kay + verb (-a).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a disadvantage?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 عُيُوبِهِ أَنَّهُ مُجْهِدٌ.</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مَزَايَاهُ أَنَّهُ مُجْزٍ.</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أَطْمَحُ إِلَى أَنْ أُصْبِحَ طَبِيبًا.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D3-L02: pros and cons.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Goal → route → condition: to become … I must … — if I succeed, I will …</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لِكَيْ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أُصْبِحَ</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طَبِيبًا يَجِبُ أَنْ أَدْرُسَ · إِذَا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نَجَحْتُ</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فَسَ</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أَلْتَحِقُ بِالجَامِعَةِ</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education and training routes into work.</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Link a goal to its route (</a:t>
            </a:r>
            <a:pPr algn="l" indent="0" marL="0">
              <a:buNone/>
            </a:pPr>
            <a:r>
              <a:rPr lang="ar-SA" altLang="en-US" sz="1700" dirty="0">
                <a:solidFill>
                  <a:srgbClr val="1F2A37"/>
                </a:solidFill>
                <a:latin typeface="Amiri" pitchFamily="2" charset="-78"/>
                <a:ea typeface="Amiri" pitchFamily="2" charset="-78"/>
                <a:cs typeface="Amiri" pitchFamily="2" charset="-78"/>
              </a:rPr>
              <a:t>لِكَيْ أُصْبِحَ … يَجِبُ أَنْ</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Make a plan with a condition (</a:t>
            </a:r>
            <a:pPr algn="l" indent="0" marL="0">
              <a:buNone/>
            </a:pPr>
            <a:r>
              <a:rPr lang="ar-SA" altLang="en-US" sz="1700" dirty="0">
                <a:solidFill>
                  <a:srgbClr val="1F2A37"/>
                </a:solidFill>
                <a:latin typeface="Amiri" pitchFamily="2" charset="-78"/>
                <a:ea typeface="Amiri" pitchFamily="2" charset="-78"/>
                <a:cs typeface="Amiri" pitchFamily="2" charset="-78"/>
              </a:rPr>
              <a:t>إِذَا</a:t>
            </a:r>
            <a:pPr algn="l" indent="0" marL="0">
              <a:buNone/>
            </a:pPr>
            <a:r>
              <a:rPr lang="en-US" sz="1300" dirty="0">
                <a:solidFill>
                  <a:srgbClr val="1F2A37"/>
                </a:solidFill>
                <a:latin typeface="Calibri" pitchFamily="34" charset="0"/>
                <a:cs typeface="Amiri" pitchFamily="2" charset="-78"/>
              </a:rPr>
              <a:t> + past, </a:t>
            </a:r>
            <a:pPr algn="l" indent="0" marL="0">
              <a:buNone/>
            </a:pPr>
            <a:r>
              <a:rPr lang="ar-SA" altLang="en-US" sz="1700" dirty="0">
                <a:solidFill>
                  <a:srgbClr val="1F2A37"/>
                </a:solidFill>
                <a:latin typeface="Amiri" pitchFamily="2" charset="-78"/>
                <a:ea typeface="Amiri" pitchFamily="2" charset="-78"/>
                <a:cs typeface="Amiri" pitchFamily="2" charset="-78"/>
              </a:rPr>
              <a:t>فَـ</a:t>
            </a:r>
            <a:pPr algn="l" indent="0" marL="0">
              <a:buNone/>
            </a:pPr>
            <a:r>
              <a:rPr lang="en-US" sz="1300" dirty="0">
                <a:solidFill>
                  <a:srgbClr val="1F2A37"/>
                </a:solidFill>
                <a:latin typeface="Calibri" pitchFamily="34" charset="0"/>
                <a:cs typeface="Amiri" pitchFamily="2" charset="-78"/>
              </a:rPr>
              <a:t> + future).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Compare two routes and give a balanced recommendation.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routes into work.</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I must do to become …</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make a plan with if …</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compare two routes.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weigh university against an apprenticeship.</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recommend a route for one career.</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36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Education and training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Future planning · 12</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Evaluation · 12</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جَامِعَةٌ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‎جامعہ‎ </a:t>
            </a:r>
            <a:pPr indent="0" marL="0">
              <a:buNone/>
            </a:pPr>
            <a:r>
              <a:rPr lang="en-US" sz="950" b="1" dirty="0">
                <a:solidFill>
                  <a:srgbClr val="2E8B57"/>
                </a:solidFill>
                <a:latin typeface="Calibri" pitchFamily="34" charset="0"/>
                <a:cs typeface="Amiri" pitchFamily="2" charset="-78"/>
              </a:rPr>
              <a:t> jāmiʿa · university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تَعْلِيمٌ</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‎تعلیم‎ </a:t>
            </a:r>
            <a:pPr indent="0" marL="0">
              <a:buNone/>
            </a:pPr>
            <a:r>
              <a:rPr lang="en-US" sz="950" b="1" dirty="0">
                <a:solidFill>
                  <a:srgbClr val="2E8B57"/>
                </a:solidFill>
                <a:latin typeface="Calibri" pitchFamily="34" charset="0"/>
                <a:cs typeface="Amiri" pitchFamily="2" charset="-78"/>
              </a:rPr>
              <a:t> taʿlīm · education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شَهَادَةٌ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‎شہادت‎ </a:t>
            </a:r>
            <a:pPr indent="0" marL="0">
              <a:buNone/>
            </a:pPr>
            <a:r>
              <a:rPr lang="en-US" sz="950" b="1" dirty="0">
                <a:solidFill>
                  <a:srgbClr val="2E8B57"/>
                </a:solidFill>
                <a:latin typeface="Calibri" pitchFamily="34" charset="0"/>
                <a:cs typeface="Amiri" pitchFamily="2" charset="-78"/>
              </a:rPr>
              <a:t> shahādat · Urdu: testimony, martyrdom · Arabic: certificate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تَلْمَذَةٌ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‎تلمیذ / شاگرد‎ </a:t>
            </a:r>
            <a:pPr indent="0" marL="0">
              <a:buNone/>
            </a:pPr>
            <a:r>
              <a:rPr lang="en-US" sz="950" b="1" dirty="0">
                <a:solidFill>
                  <a:srgbClr val="2E8B57"/>
                </a:solidFill>
                <a:latin typeface="Calibri" pitchFamily="34" charset="0"/>
                <a:cs typeface="Amiri" pitchFamily="2" charset="-78"/>
              </a:rPr>
              <a:t> tilmīz · pupil → apprenticeship</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تَخَصُّصٌ</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‎خصوصی‎ </a:t>
            </a:r>
            <a:pPr indent="0" marL="0">
              <a:buNone/>
            </a:pPr>
            <a:r>
              <a:rPr lang="en-US" sz="950" b="1" dirty="0">
                <a:solidFill>
                  <a:srgbClr val="2E8B57"/>
                </a:solidFill>
                <a:latin typeface="Calibri" pitchFamily="34" charset="0"/>
                <a:cs typeface="Amiri" pitchFamily="2" charset="-78"/>
              </a:rPr>
              <a:t> khusūsī · special → specialisation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Education and training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جَامِعَةٌ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university</a:t>
            </a:r>
            <a:endParaRPr lang="en-US" sz="1350" dirty="0"/>
          </a:p>
          <a:p>
            <a:pPr indent="0" marL="0">
              <a:buNone/>
            </a:pPr>
            <a:r>
              <a:rPr lang="en-US" sz="1100" i="1" dirty="0">
                <a:solidFill>
                  <a:srgbClr val="5A6472"/>
                </a:solidFill>
                <a:latin typeface="Calibri" pitchFamily="34" charset="0"/>
                <a:cs typeface="Amiri" pitchFamily="2" charset="-78"/>
              </a:rPr>
              <a:t>jā-mi-ʿa-tun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جَامِعَاتٌ</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كُلِّيَّةٌ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college</a:t>
            </a:r>
            <a:endParaRPr lang="en-US" sz="1350" dirty="0"/>
          </a:p>
          <a:p>
            <a:pPr indent="0" marL="0">
              <a:buNone/>
            </a:pPr>
            <a:r>
              <a:rPr lang="en-US" sz="1100" i="1" dirty="0">
                <a:solidFill>
                  <a:srgbClr val="5A6472"/>
                </a:solidFill>
                <a:latin typeface="Calibri" pitchFamily="34" charset="0"/>
                <a:cs typeface="Amiri" pitchFamily="2" charset="-78"/>
              </a:rPr>
              <a:t>kul-liy-ya-tun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كُلِّيَّاتٌ</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مَعْهَدٌ مِهَنِيٌّ</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vocational institute</a:t>
            </a:r>
            <a:endParaRPr lang="en-US" sz="1350" dirty="0"/>
          </a:p>
          <a:p>
            <a:pPr indent="0" marL="0">
              <a:buNone/>
            </a:pPr>
            <a:r>
              <a:rPr lang="en-US" sz="1100" i="1" dirty="0">
                <a:solidFill>
                  <a:srgbClr val="5A6472"/>
                </a:solidFill>
                <a:latin typeface="Calibri" pitchFamily="34" charset="0"/>
                <a:cs typeface="Amiri" pitchFamily="2" charset="-78"/>
              </a:rPr>
              <a:t>maʿ-ha-dun mi-ha-niy-yun</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مَعَاهِدُ مِهَنِيَّةٌ</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تَدْرِيبٌ مِهَنِيٌّ</a:t>
            </a:r>
            <a:endParaRPr lang="ar-SA" sz="3000" dirty="0"/>
          </a:p>
        </p:txBody>
      </p:sp>
      <p:sp>
        <p:nvSpPr>
          <p:cNvPr id="57" name="Text 5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vocational training</a:t>
            </a:r>
            <a:endParaRPr lang="en-US" sz="1350" dirty="0"/>
          </a:p>
          <a:p>
            <a:pPr indent="0" marL="0">
              <a:buNone/>
            </a:pPr>
            <a:r>
              <a:rPr lang="en-US" sz="1100" i="1" dirty="0">
                <a:solidFill>
                  <a:srgbClr val="5A6472"/>
                </a:solidFill>
                <a:latin typeface="Calibri" pitchFamily="34" charset="0"/>
                <a:cs typeface="Amiri" pitchFamily="2" charset="-78"/>
              </a:rPr>
              <a:t>tad-rī-bun mi-ha-niy-yun</a:t>
            </a:r>
            <a:endParaRPr lang="en-US" sz="1350" dirty="0"/>
          </a:p>
        </p:txBody>
      </p:sp>
      <p:sp>
        <p:nvSpPr>
          <p:cNvPr id="58" name="Shape 5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4389120"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1" name="Shape 5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تَدْرِيبٌ عَمَلِيٌّ</a:t>
            </a:r>
            <a:endParaRPr lang="ar-SA" sz="3000" dirty="0"/>
          </a:p>
        </p:txBody>
      </p:sp>
      <p:sp>
        <p:nvSpPr>
          <p:cNvPr id="64" name="Text 6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work placement</a:t>
            </a:r>
            <a:endParaRPr lang="en-US" sz="1350" dirty="0"/>
          </a:p>
          <a:p>
            <a:pPr indent="0" marL="0">
              <a:buNone/>
            </a:pPr>
            <a:r>
              <a:rPr lang="en-US" sz="1100" i="1" dirty="0">
                <a:solidFill>
                  <a:srgbClr val="5A6472"/>
                </a:solidFill>
                <a:latin typeface="Calibri" pitchFamily="34" charset="0"/>
                <a:cs typeface="Amiri" pitchFamily="2" charset="-78"/>
              </a:rPr>
              <a:t>tad-rī-bun ʿa-ma-liy-yun</a:t>
            </a:r>
            <a:endParaRPr lang="en-US" sz="1350" dirty="0"/>
          </a:p>
        </p:txBody>
      </p:sp>
      <p:sp>
        <p:nvSpPr>
          <p:cNvPr id="65" name="Shape 6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566928"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8" name="Shape 6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تَلْمَذَةٌ مِهَنِيَّةٌ</a:t>
            </a:r>
            <a:endParaRPr lang="ar-SA" sz="3000" dirty="0"/>
          </a:p>
        </p:txBody>
      </p:sp>
      <p:sp>
        <p:nvSpPr>
          <p:cNvPr id="71" name="Text 6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apprenticeship</a:t>
            </a:r>
            <a:endParaRPr lang="en-US" sz="1350" dirty="0"/>
          </a:p>
          <a:p>
            <a:pPr indent="0" marL="0">
              <a:buNone/>
            </a:pPr>
            <a:r>
              <a:rPr lang="en-US" sz="1100" i="1" dirty="0">
                <a:solidFill>
                  <a:srgbClr val="5A6472"/>
                </a:solidFill>
                <a:latin typeface="Calibri" pitchFamily="34" charset="0"/>
                <a:cs typeface="Amiri" pitchFamily="2" charset="-78"/>
              </a:rPr>
              <a:t>tal-ma-dha-tun mi-ha-niy-ya-tun</a:t>
            </a:r>
            <a:endParaRPr lang="en-US" sz="13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Education and training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شَهَادَةٌ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certificate/degree</a:t>
            </a:r>
            <a:endParaRPr lang="en-US" sz="1350" dirty="0"/>
          </a:p>
          <a:p>
            <a:pPr indent="0" marL="0">
              <a:buNone/>
            </a:pPr>
            <a:r>
              <a:rPr lang="en-US" sz="1100" i="1" dirty="0">
                <a:solidFill>
                  <a:srgbClr val="5A6472"/>
                </a:solidFill>
                <a:latin typeface="Calibri" pitchFamily="34" charset="0"/>
                <a:cs typeface="Amiri" pitchFamily="2" charset="-78"/>
              </a:rPr>
              <a:t>sha-hā-da-tun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شَهَادَاتٌ</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دَوْرَةٌ تَدْرِيبِيَّةٌ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training course</a:t>
            </a:r>
            <a:endParaRPr lang="en-US" sz="1350" dirty="0"/>
          </a:p>
          <a:p>
            <a:pPr indent="0" marL="0">
              <a:buNone/>
            </a:pPr>
            <a:r>
              <a:rPr lang="en-US" sz="1100" i="1" dirty="0">
                <a:solidFill>
                  <a:srgbClr val="5A6472"/>
                </a:solidFill>
                <a:latin typeface="Calibri" pitchFamily="34" charset="0"/>
                <a:cs typeface="Amiri" pitchFamily="2" charset="-78"/>
              </a:rPr>
              <a:t>daw-ra-tun tad-rī-biy-ya-tun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دَوْرَاتٌ تَدْرِيبِيَّةٌ</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2" name="Shape 3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مِنْحَةٌ دِرَاسِيَّةٌ</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scholarship</a:t>
            </a:r>
            <a:endParaRPr lang="en-US" sz="1350" dirty="0"/>
          </a:p>
          <a:p>
            <a:pPr indent="0" marL="0">
              <a:buNone/>
            </a:pPr>
            <a:r>
              <a:rPr lang="en-US" sz="1100" i="1" dirty="0">
                <a:solidFill>
                  <a:srgbClr val="5A6472"/>
                </a:solidFill>
                <a:latin typeface="Calibri" pitchFamily="34" charset="0"/>
                <a:cs typeface="Amiri" pitchFamily="2" charset="-78"/>
              </a:rPr>
              <a:t>min-ḥa-tun di-rā-siy-ya-tun</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مِنَحٌ دِرَاسِيَّةٌ</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4" name="Shape 5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مُتَطَلَّبَاتُ القَبُولِ</a:t>
            </a:r>
            <a:endParaRPr lang="ar-SA" sz="3000" dirty="0"/>
          </a:p>
        </p:txBody>
      </p:sp>
      <p:sp>
        <p:nvSpPr>
          <p:cNvPr id="57" name="Text 5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entry requirements</a:t>
            </a:r>
            <a:endParaRPr lang="en-US" sz="1350" dirty="0"/>
          </a:p>
          <a:p>
            <a:pPr indent="0" marL="0">
              <a:buNone/>
            </a:pPr>
            <a:r>
              <a:rPr lang="en-US" sz="1100" i="1" dirty="0">
                <a:solidFill>
                  <a:srgbClr val="5A6472"/>
                </a:solidFill>
                <a:latin typeface="Calibri" pitchFamily="34" charset="0"/>
                <a:cs typeface="Amiri" pitchFamily="2" charset="-78"/>
              </a:rPr>
              <a:t>mu-ta-ṭal-la-bā-tu al-qa-bū-li</a:t>
            </a:r>
            <a:endParaRPr lang="en-US" sz="1350" dirty="0"/>
          </a:p>
        </p:txBody>
      </p:sp>
      <p:sp>
        <p:nvSpPr>
          <p:cNvPr id="58" name="Shape 5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4389120"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1" name="Text 5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خِبْرَةٌ عَمَلِيَّةٌ</a:t>
            </a:r>
            <a:endParaRPr lang="ar-SA" sz="3000" dirty="0"/>
          </a:p>
        </p:txBody>
      </p:sp>
      <p:sp>
        <p:nvSpPr>
          <p:cNvPr id="62" name="Text 5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work experience</a:t>
            </a:r>
            <a:endParaRPr lang="en-US" sz="1350" dirty="0"/>
          </a:p>
          <a:p>
            <a:pPr indent="0" marL="0">
              <a:buNone/>
            </a:pPr>
            <a:r>
              <a:rPr lang="en-US" sz="1100" i="1" dirty="0">
                <a:solidFill>
                  <a:srgbClr val="5A6472"/>
                </a:solidFill>
                <a:latin typeface="Calibri" pitchFamily="34" charset="0"/>
                <a:cs typeface="Amiri" pitchFamily="2" charset="-78"/>
              </a:rPr>
              <a:t>khib-ra-tun ʿa-ma-liy-ya-tun</a:t>
            </a:r>
            <a:endParaRPr lang="en-US" sz="1350" dirty="0"/>
          </a:p>
        </p:txBody>
      </p:sp>
      <p:sp>
        <p:nvSpPr>
          <p:cNvPr id="63" name="Shape 6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66928"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6" name="Text 6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مَسَارٌ أَكَادِيمِيٌّ</a:t>
            </a:r>
            <a:endParaRPr lang="ar-SA" sz="3000" dirty="0"/>
          </a:p>
        </p:txBody>
      </p:sp>
      <p:sp>
        <p:nvSpPr>
          <p:cNvPr id="67" name="Text 6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academic route</a:t>
            </a:r>
            <a:endParaRPr lang="en-US" sz="1350" dirty="0"/>
          </a:p>
          <a:p>
            <a:pPr indent="0" marL="0">
              <a:buNone/>
            </a:pPr>
            <a:r>
              <a:rPr lang="en-US" sz="1100" i="1" dirty="0">
                <a:solidFill>
                  <a:srgbClr val="5A6472"/>
                </a:solidFill>
                <a:latin typeface="Calibri" pitchFamily="34" charset="0"/>
                <a:cs typeface="Amiri" pitchFamily="2" charset="-78"/>
              </a:rPr>
              <a:t>ma-sā-run a-kā-dī-miy-yun</a:t>
            </a:r>
            <a:endParaRPr lang="en-US" sz="13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Future planning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سَأَدْرُسُ</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study</a:t>
            </a:r>
            <a:endParaRPr lang="en-US" sz="1350" dirty="0"/>
          </a:p>
          <a:p>
            <a:pPr indent="0" marL="0">
              <a:buNone/>
            </a:pPr>
            <a:r>
              <a:rPr lang="en-US" sz="1100" i="1" dirty="0">
                <a:solidFill>
                  <a:srgbClr val="5A6472"/>
                </a:solidFill>
                <a:latin typeface="Calibri" pitchFamily="34" charset="0"/>
                <a:cs typeface="Amiri" pitchFamily="2" charset="-78"/>
              </a:rPr>
              <a:t>sa-ʾad-ru-su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سَوْفَ أَتَدَرَّبُ</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train</a:t>
            </a:r>
            <a:endParaRPr lang="en-US" sz="1350" dirty="0"/>
          </a:p>
          <a:p>
            <a:pPr indent="0" marL="0">
              <a:buNone/>
            </a:pPr>
            <a:r>
              <a:rPr lang="en-US" sz="1100" i="1" dirty="0">
                <a:solidFill>
                  <a:srgbClr val="5A6472"/>
                </a:solidFill>
                <a:latin typeface="Calibri" pitchFamily="34" charset="0"/>
                <a:cs typeface="Amiri" pitchFamily="2" charset="-78"/>
              </a:rPr>
              <a:t>saw-fa a-ta-dar-ra-bu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أُرِيدُ أَنْ أُصْبِحَ</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want to become</a:t>
            </a:r>
            <a:endParaRPr lang="en-US" sz="1350" dirty="0"/>
          </a:p>
          <a:p>
            <a:pPr indent="0" marL="0">
              <a:buNone/>
            </a:pPr>
            <a:r>
              <a:rPr lang="en-US" sz="1100" i="1" dirty="0">
                <a:solidFill>
                  <a:srgbClr val="5A6472"/>
                </a:solidFill>
                <a:latin typeface="Calibri" pitchFamily="34" charset="0"/>
                <a:cs typeface="Amiri" pitchFamily="2" charset="-78"/>
              </a:rPr>
              <a:t>u-rī-du an uṣ-bi-ḥa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أَطْمَحُ إِلَى أَنْ</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aspire to</a:t>
            </a:r>
            <a:endParaRPr lang="en-US" sz="1350" dirty="0"/>
          </a:p>
          <a:p>
            <a:pPr indent="0" marL="0">
              <a:buNone/>
            </a:pPr>
            <a:r>
              <a:rPr lang="en-US" sz="1100" i="1" dirty="0">
                <a:solidFill>
                  <a:srgbClr val="5A6472"/>
                </a:solidFill>
                <a:latin typeface="Calibri" pitchFamily="34" charset="0"/>
                <a:cs typeface="Amiri" pitchFamily="2" charset="-78"/>
              </a:rPr>
              <a:t>aṭ-ma-ḥu i-lā an</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أَنْوِي أَنْ</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intend to</a:t>
            </a:r>
            <a:endParaRPr lang="en-US" sz="1350" dirty="0"/>
          </a:p>
          <a:p>
            <a:pPr indent="0" marL="0">
              <a:buNone/>
            </a:pPr>
            <a:r>
              <a:rPr lang="en-US" sz="1100" i="1" dirty="0">
                <a:solidFill>
                  <a:srgbClr val="5A6472"/>
                </a:solidFill>
                <a:latin typeface="Calibri" pitchFamily="34" charset="0"/>
                <a:cs typeface="Amiri" pitchFamily="2" charset="-78"/>
              </a:rPr>
              <a:t>an-wī an</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أُخَطِّطُ لِـ</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plan to</a:t>
            </a:r>
            <a:endParaRPr lang="en-US" sz="1350" dirty="0"/>
          </a:p>
          <a:p>
            <a:pPr indent="0" marL="0">
              <a:buNone/>
            </a:pPr>
            <a:r>
              <a:rPr lang="en-US" sz="1100" i="1" dirty="0">
                <a:solidFill>
                  <a:srgbClr val="5A6472"/>
                </a:solidFill>
                <a:latin typeface="Calibri" pitchFamily="34" charset="0"/>
                <a:cs typeface="Amiri" pitchFamily="2" charset="-78"/>
              </a:rPr>
              <a:t>u-khaṭ-ṭi-ṭu li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Future planning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بَعْدَ التَّخَرُّجِ</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graduation</a:t>
            </a:r>
            <a:endParaRPr lang="en-US" sz="1350" dirty="0"/>
          </a:p>
          <a:p>
            <a:pPr indent="0" marL="0">
              <a:buNone/>
            </a:pPr>
            <a:r>
              <a:rPr lang="en-US" sz="1100" i="1" dirty="0">
                <a:solidFill>
                  <a:srgbClr val="5A6472"/>
                </a:solidFill>
                <a:latin typeface="Calibri" pitchFamily="34" charset="0"/>
                <a:cs typeface="Amiri" pitchFamily="2" charset="-78"/>
              </a:rPr>
              <a:t>baʿ-da at-ta-khar-ru-ji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المُسْتَقْبَلِ</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future</a:t>
            </a:r>
            <a:endParaRPr lang="en-US" sz="1350" dirty="0"/>
          </a:p>
          <a:p>
            <a:pPr indent="0" marL="0">
              <a:buNone/>
            </a:pPr>
            <a:r>
              <a:rPr lang="en-US" sz="1100" i="1" dirty="0">
                <a:solidFill>
                  <a:srgbClr val="5A6472"/>
                </a:solidFill>
                <a:latin typeface="Calibri" pitchFamily="34" charset="0"/>
                <a:cs typeface="Amiri" pitchFamily="2" charset="-78"/>
              </a:rPr>
              <a:t>fī al-mus-taq-ba-li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لِكَيْ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order to</a:t>
            </a:r>
            <a:endParaRPr lang="en-US" sz="1350" dirty="0"/>
          </a:p>
          <a:p>
            <a:pPr indent="0" marL="0">
              <a:buNone/>
            </a:pPr>
            <a:r>
              <a:rPr lang="en-US" sz="1100" i="1" dirty="0">
                <a:solidFill>
                  <a:srgbClr val="5A6472"/>
                </a:solidFill>
                <a:latin typeface="Calibri" pitchFamily="34" charset="0"/>
                <a:cs typeface="Amiri" pitchFamily="2" charset="-78"/>
              </a:rPr>
              <a:t>li-kay</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حَتَّى</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 that</a:t>
            </a:r>
            <a:endParaRPr lang="en-US" sz="1350" dirty="0"/>
          </a:p>
          <a:p>
            <a:pPr indent="0" marL="0">
              <a:buNone/>
            </a:pPr>
            <a:r>
              <a:rPr lang="en-US" sz="1100" i="1" dirty="0">
                <a:solidFill>
                  <a:srgbClr val="5A6472"/>
                </a:solidFill>
                <a:latin typeface="Calibri" pitchFamily="34" charset="0"/>
                <a:cs typeface="Amiri" pitchFamily="2" charset="-78"/>
              </a:rPr>
              <a:t>ḥat-tā</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المُحْتَمَلِ أَنْ</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likely that</a:t>
            </a:r>
            <a:endParaRPr lang="en-US" sz="1350" dirty="0"/>
          </a:p>
          <a:p>
            <a:pPr indent="0" marL="0">
              <a:buNone/>
            </a:pPr>
            <a:r>
              <a:rPr lang="en-US" sz="1100" i="1" dirty="0">
                <a:solidFill>
                  <a:srgbClr val="5A6472"/>
                </a:solidFill>
                <a:latin typeface="Calibri" pitchFamily="34" charset="0"/>
                <a:cs typeface="Amiri" pitchFamily="2" charset="-78"/>
              </a:rPr>
              <a:t>mi-na al-muḥ-ta-ma-li an</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إِذَا نَجَحْتُ</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I succeed</a:t>
            </a:r>
            <a:endParaRPr lang="en-US" sz="1350" dirty="0"/>
          </a:p>
          <a:p>
            <a:pPr indent="0" marL="0">
              <a:buNone/>
            </a:pPr>
            <a:r>
              <a:rPr lang="en-US" sz="1100" i="1" dirty="0">
                <a:solidFill>
                  <a:srgbClr val="5A6472"/>
                </a:solidFill>
                <a:latin typeface="Calibri" pitchFamily="34" charset="0"/>
                <a:cs typeface="Amiri" pitchFamily="2" charset="-78"/>
              </a:rPr>
              <a:t>i-dhā na-jaḥ-tu</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Evaluation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لِذٰلِكَ</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وَلٰكِنَّ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however</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 أَنَّ</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إِضَافَةً إِلَى ذٰلِكَ</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addition</a:t>
            </a:r>
            <a:endParaRPr lang="en-US" sz="1350" dirty="0"/>
          </a:p>
          <a:p>
            <a:pPr indent="0" marL="0">
              <a:buNone/>
            </a:pPr>
            <a:r>
              <a:rPr lang="en-US" sz="1100" i="1" dirty="0">
                <a:solidFill>
                  <a:srgbClr val="5A6472"/>
                </a:solidFill>
                <a:latin typeface="Calibri" pitchFamily="34" charset="0"/>
                <a:cs typeface="Amiri" pitchFamily="2" charset="-78"/>
              </a:rPr>
              <a:t>i-ḍā-fa-tan i-lā dhā-li-ka</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Evaluation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جِهَةٍ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one hand</a:t>
            </a:r>
            <a:endParaRPr lang="en-US" sz="1350" dirty="0"/>
          </a:p>
          <a:p>
            <a:pPr indent="0" marL="0">
              <a:buNone/>
            </a:pPr>
            <a:r>
              <a:rPr lang="en-US" sz="1100" i="1" dirty="0">
                <a:solidFill>
                  <a:srgbClr val="5A6472"/>
                </a:solidFill>
                <a:latin typeface="Calibri" pitchFamily="34" charset="0"/>
                <a:cs typeface="Amiri" pitchFamily="2" charset="-78"/>
              </a:rPr>
              <a:t>min ji-ha-tin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جِهَةٍ أُخْرَى</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ji-ha-tin ukh-rā</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رَأْيِي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سَبِيلِ المِثَالِ</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example</a:t>
            </a:r>
            <a:endParaRPr lang="en-US" sz="1350" dirty="0"/>
          </a:p>
          <a:p>
            <a:pPr indent="0" marL="0">
              <a:buNone/>
            </a:pPr>
            <a:r>
              <a:rPr lang="en-US" sz="1100" i="1" dirty="0">
                <a:solidFill>
                  <a:srgbClr val="5A6472"/>
                </a:solidFill>
                <a:latin typeface="Calibri" pitchFamily="34" charset="0"/>
                <a:cs typeface="Amiri" pitchFamily="2" charset="-78"/>
              </a:rPr>
              <a:t>ʿa-lā sa-bī-li al-mi-thā-li</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35</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نَتِيجَةً لِذٰلِكَ</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a result</a:t>
            </a:r>
            <a:endParaRPr lang="en-US" sz="1350" dirty="0"/>
          </a:p>
          <a:p>
            <a:pPr indent="0" marL="0">
              <a:buNone/>
            </a:pPr>
            <a:r>
              <a:rPr lang="en-US" sz="1100" i="1" dirty="0">
                <a:solidFill>
                  <a:srgbClr val="5A6472"/>
                </a:solidFill>
                <a:latin typeface="Calibri" pitchFamily="34" charset="0"/>
                <a:cs typeface="Amiri" pitchFamily="2" charset="-78"/>
              </a:rPr>
              <a:t>na-tī-ja-tan li-dhā-li-ka</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36</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بِهَدَفِ</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with the aim of</a:t>
            </a:r>
            <a:endParaRPr lang="en-US" sz="1350" dirty="0"/>
          </a:p>
          <a:p>
            <a:pPr indent="0" marL="0">
              <a:buNone/>
            </a:pPr>
            <a:r>
              <a:rPr lang="en-US" sz="1100" i="1" dirty="0">
                <a:solidFill>
                  <a:srgbClr val="5A6472"/>
                </a:solidFill>
                <a:latin typeface="Calibri" pitchFamily="34" charset="0"/>
                <a:cs typeface="Amiri" pitchFamily="2" charset="-78"/>
              </a:rPr>
              <a:t>bi-ha-da-fi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GOAL, ROUTE AND CONDITION (WEBSITE RULES 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 become … I must … — if …, I will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لِكَيْ أُصْبِحَ · إِذَا … فَسَـ</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17" name="Text 14"/>
          <p:cNvSpPr txBox="1"/>
          <p:nvPr/>
        </p:nvSpPr>
        <p:spPr>
          <a:xfrm>
            <a:off x="530352" y="1810512"/>
            <a:ext cx="7351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8065008" y="2267712"/>
            <a:ext cx="35935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goal → route</a:t>
            </a:r>
            <a:endParaRPr lang="en-US" sz="1100" dirty="0"/>
          </a:p>
        </p:txBody>
      </p:sp>
      <p:sp>
        <p:nvSpPr>
          <p:cNvPr id="20" name="Text 17"/>
          <p:cNvSpPr txBox="1"/>
          <p:nvPr/>
        </p:nvSpPr>
        <p:spPr>
          <a:xfrm>
            <a:off x="548640" y="2286000"/>
            <a:ext cx="73152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لِكَيْ </a:t>
            </a:r>
            <a:pPr rtl="1" algn="ctr" indent="0" marL="0">
              <a:buNone/>
            </a:pPr>
            <a:r>
              <a:rPr lang="ar-SA" altLang="en-US" sz="2100" b="1" dirty="0">
                <a:solidFill>
                  <a:srgbClr val="1D5FBF"/>
                </a:solidFill>
                <a:latin typeface="Amiri" pitchFamily="2" charset="-78"/>
                <a:ea typeface="Amiri" pitchFamily="2" charset="-78"/>
                <a:cs typeface="Amiri" pitchFamily="2" charset="-78"/>
              </a:rPr>
              <a:t>أُصْبِحَ</a:t>
            </a:r>
            <a:pPr rtl="1" algn="ctr" indent="0" marL="0">
              <a:buNone/>
            </a:pPr>
            <a:r>
              <a:rPr lang="ar-SA" altLang="en-US" sz="2100" b="1" dirty="0">
                <a:solidFill>
                  <a:srgbClr val="1B3B6F"/>
                </a:solidFill>
                <a:latin typeface="Amiri" pitchFamily="2" charset="-78"/>
                <a:ea typeface="Amiri" pitchFamily="2" charset="-78"/>
                <a:cs typeface="Amiri" pitchFamily="2" charset="-78"/>
              </a:rPr>
              <a:t> طَبِيبًا، </a:t>
            </a:r>
            <a:pPr rtl="1" algn="ctr" indent="0" marL="0">
              <a:buNone/>
            </a:pPr>
            <a:r>
              <a:rPr lang="ar-SA" altLang="en-US" sz="2100" b="1" dirty="0">
                <a:solidFill>
                  <a:srgbClr val="D6336C"/>
                </a:solidFill>
                <a:latin typeface="Amiri" pitchFamily="2" charset="-78"/>
                <a:ea typeface="Amiri" pitchFamily="2" charset="-78"/>
                <a:cs typeface="Amiri" pitchFamily="2" charset="-78"/>
              </a:rPr>
              <a:t>يَجِبُ أَنْ</a:t>
            </a:r>
            <a:pPr rtl="1" algn="ctr" indent="0" marL="0">
              <a:buNone/>
            </a:pPr>
            <a:r>
              <a:rPr lang="ar-SA" altLang="en-US" sz="2100" b="1" dirty="0">
                <a:solidFill>
                  <a:srgbClr val="1B3B6F"/>
                </a:solidFill>
                <a:latin typeface="Amiri" pitchFamily="2" charset="-78"/>
                <a:ea typeface="Amiri" pitchFamily="2" charset="-78"/>
                <a:cs typeface="Amiri" pitchFamily="2" charset="-78"/>
              </a:rPr>
              <a:t> أَدْرُسَ فِي الجَامِعَةِ.</a:t>
            </a:r>
            <a:endParaRPr lang="ar-SA" sz="2100" dirty="0"/>
          </a:p>
        </p:txBody>
      </p:sp>
      <p:sp>
        <p:nvSpPr>
          <p:cNvPr id="21" name="Text 18"/>
          <p:cNvSpPr txBox="1"/>
          <p:nvPr/>
        </p:nvSpPr>
        <p:spPr>
          <a:xfrm>
            <a:off x="502920" y="2706624"/>
            <a:ext cx="74066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To become a doctor, I must study at university.</a:t>
            </a:r>
            <a:endParaRPr lang="en-US" sz="950" dirty="0"/>
          </a:p>
        </p:txBody>
      </p:sp>
      <p:sp>
        <p:nvSpPr>
          <p:cNvPr id="22" name="Shape 19"/>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8065008" y="3054096"/>
            <a:ext cx="35935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route → goal</a:t>
            </a:r>
            <a:endParaRPr lang="en-US" sz="1100" dirty="0"/>
          </a:p>
        </p:txBody>
      </p:sp>
      <p:sp>
        <p:nvSpPr>
          <p:cNvPr id="26" name="Text 23"/>
          <p:cNvSpPr txBox="1"/>
          <p:nvPr/>
        </p:nvSpPr>
        <p:spPr>
          <a:xfrm>
            <a:off x="548640" y="3072384"/>
            <a:ext cx="7315200"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ea typeface="Amiri" pitchFamily="2" charset="-78"/>
                <a:cs typeface="Amiri" pitchFamily="2" charset="-78"/>
              </a:rPr>
              <a:t>يَجِبُ أَنْ</a:t>
            </a:r>
            <a:pPr rtl="1" algn="ctr" indent="0" marL="0">
              <a:buNone/>
            </a:pPr>
            <a:r>
              <a:rPr lang="ar-SA" altLang="en-US" sz="2100" b="1" dirty="0">
                <a:solidFill>
                  <a:srgbClr val="1B3B6F"/>
                </a:solidFill>
                <a:latin typeface="Amiri" pitchFamily="2" charset="-78"/>
                <a:ea typeface="Amiri" pitchFamily="2" charset="-78"/>
                <a:cs typeface="Amiri" pitchFamily="2" charset="-78"/>
              </a:rPr>
              <a:t> أَتَدَرَّبَ لِكَيْ </a:t>
            </a:r>
            <a:pPr rtl="1" algn="ctr" indent="0" marL="0">
              <a:buNone/>
            </a:pPr>
            <a:r>
              <a:rPr lang="ar-SA" altLang="en-US" sz="2100" b="1" dirty="0">
                <a:solidFill>
                  <a:srgbClr val="1D5FBF"/>
                </a:solidFill>
                <a:latin typeface="Amiri" pitchFamily="2" charset="-78"/>
                <a:ea typeface="Amiri" pitchFamily="2" charset="-78"/>
                <a:cs typeface="Amiri" pitchFamily="2" charset="-78"/>
              </a:rPr>
              <a:t>أُصْبِحَ</a:t>
            </a:r>
            <a:pPr rtl="1" algn="ctr" indent="0" marL="0">
              <a:buNone/>
            </a:pPr>
            <a:r>
              <a:rPr lang="ar-SA" altLang="en-US" sz="2100" b="1" dirty="0">
                <a:solidFill>
                  <a:srgbClr val="1B3B6F"/>
                </a:solidFill>
                <a:latin typeface="Amiri" pitchFamily="2" charset="-78"/>
                <a:ea typeface="Amiri" pitchFamily="2" charset="-78"/>
                <a:cs typeface="Amiri" pitchFamily="2" charset="-78"/>
              </a:rPr>
              <a:t> فَنِّيًّا.</a:t>
            </a:r>
            <a:endParaRPr lang="ar-SA" sz="2100" dirty="0"/>
          </a:p>
        </p:txBody>
      </p:sp>
      <p:sp>
        <p:nvSpPr>
          <p:cNvPr id="27" name="Text 24"/>
          <p:cNvSpPr txBox="1"/>
          <p:nvPr/>
        </p:nvSpPr>
        <p:spPr>
          <a:xfrm>
            <a:off x="502920" y="3493008"/>
            <a:ext cx="74066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must train to become a technician.</a:t>
            </a:r>
            <a:endParaRPr lang="en-US" sz="950" dirty="0"/>
          </a:p>
        </p:txBody>
      </p:sp>
      <p:sp>
        <p:nvSpPr>
          <p:cNvPr id="28" name="Shape 25"/>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0" name="Shape 27"/>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1" name="Text 28"/>
          <p:cNvSpPr txBox="1"/>
          <p:nvPr/>
        </p:nvSpPr>
        <p:spPr>
          <a:xfrm>
            <a:off x="8065008" y="3840480"/>
            <a:ext cx="35935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 PAST, fa-sa- + present</a:t>
            </a:r>
            <a:endParaRPr lang="en-US" sz="1100" dirty="0"/>
          </a:p>
        </p:txBody>
      </p:sp>
      <p:sp>
        <p:nvSpPr>
          <p:cNvPr id="32" name="Text 29"/>
          <p:cNvSpPr txBox="1"/>
          <p:nvPr/>
        </p:nvSpPr>
        <p:spPr>
          <a:xfrm>
            <a:off x="548640" y="3858768"/>
            <a:ext cx="731520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إِذَا نَجَحْتُ</a:t>
            </a:r>
            <a:pPr rtl="1" algn="ctr" indent="0" marL="0">
              <a:buNone/>
            </a:pPr>
            <a:r>
              <a:rPr lang="ar-SA" altLang="en-US" sz="2100" b="1" dirty="0">
                <a:solidFill>
                  <a:srgbClr val="1B3B6F"/>
                </a:solidFill>
                <a:latin typeface="Amiri" pitchFamily="2" charset="-78"/>
                <a:ea typeface="Amiri" pitchFamily="2" charset="-78"/>
                <a:cs typeface="Amiri" pitchFamily="2" charset="-78"/>
              </a:rPr>
              <a:t>، فَسَأَلْتَحِقُ بِالجَامِعَةِ.</a:t>
            </a:r>
            <a:endParaRPr lang="ar-SA" sz="2100" dirty="0"/>
          </a:p>
        </p:txBody>
      </p:sp>
      <p:sp>
        <p:nvSpPr>
          <p:cNvPr id="33" name="Text 30"/>
          <p:cNvSpPr txBox="1"/>
          <p:nvPr/>
        </p:nvSpPr>
        <p:spPr>
          <a:xfrm>
            <a:off x="502920" y="4279392"/>
            <a:ext cx="74066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If I succeed, I will join university.</a:t>
            </a:r>
            <a:endParaRPr lang="en-US" sz="95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8065008" y="4626864"/>
            <a:ext cx="35935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 PAST = a real future</a:t>
            </a:r>
            <a:endParaRPr lang="en-US" sz="1100" dirty="0"/>
          </a:p>
        </p:txBody>
      </p:sp>
      <p:sp>
        <p:nvSpPr>
          <p:cNvPr id="36" name="Text 33"/>
          <p:cNvSpPr txBox="1"/>
          <p:nvPr/>
        </p:nvSpPr>
        <p:spPr>
          <a:xfrm>
            <a:off x="548640" y="4645152"/>
            <a:ext cx="731520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إِذَا وَجَدْتُ</a:t>
            </a:r>
            <a:pPr rtl="1" algn="ctr" indent="0" marL="0">
              <a:buNone/>
            </a:pPr>
            <a:r>
              <a:rPr lang="ar-SA" altLang="en-US" sz="2100" b="1" dirty="0">
                <a:solidFill>
                  <a:srgbClr val="1B3B6F"/>
                </a:solidFill>
                <a:latin typeface="Amiri" pitchFamily="2" charset="-78"/>
                <a:ea typeface="Amiri" pitchFamily="2" charset="-78"/>
                <a:cs typeface="Amiri" pitchFamily="2" charset="-78"/>
              </a:rPr>
              <a:t> تَلْمَذَةً مِهَنِيَّةً، فَسَأُقَدِّمُ طَلَبًا.</a:t>
            </a:r>
            <a:endParaRPr lang="ar-SA" sz="2100" dirty="0"/>
          </a:p>
        </p:txBody>
      </p:sp>
      <p:sp>
        <p:nvSpPr>
          <p:cNvPr id="37" name="Text 34"/>
          <p:cNvSpPr txBox="1"/>
          <p:nvPr/>
        </p:nvSpPr>
        <p:spPr>
          <a:xfrm>
            <a:off x="502920" y="5065776"/>
            <a:ext cx="74066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If I find an apprenticeship, I will apply.</a:t>
            </a:r>
            <a:endParaRPr lang="en-US" sz="950" dirty="0"/>
          </a:p>
        </p:txBody>
      </p:sp>
      <p:sp>
        <p:nvSpPr>
          <p:cNvPr id="38" name="Text 3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idhā + a PAST verb talks about the FUTURE: idhā najaḥtu = if I succeed (literally “if I succeeded”).</a:t>
            </a:r>
            <a:endParaRPr lang="en-US" sz="11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COMPARE AND EVALUATE (WEBSITE RULES 3–4)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Better than … · on the other hand …</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أَفْضَلُ مِنْ · مِنْ مَزَايَا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4401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COMPARE · DEVELOP</a:t>
            </a:r>
            <a:endParaRPr lang="en-US" sz="850" dirty="0"/>
          </a:p>
        </p:txBody>
      </p:sp>
      <p:sp>
        <p:nvSpPr>
          <p:cNvPr id="18" name="Text 15"/>
          <p:cNvSpPr txBox="1"/>
          <p:nvPr/>
        </p:nvSpPr>
        <p:spPr>
          <a:xfrm>
            <a:off x="9718548"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أَكْثَرُ عَمَلِيَّةً مِنْ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التَّدْرِيبُ العَمَلِيُّ أَكْثَرُ عَمَلِيَّةً مِنَ الدِّرَاسَةِ النَّظَرِيَّةِ.</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Practical training is more practical than theoretical study.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akthar + noun (-an) + min.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71600" cy="274320"/>
          </a:xfrm>
          <a:prstGeom prst="roundRect">
            <a:avLst>
              <a:gd name="adj" fmla="val 50000"/>
            </a:avLst>
          </a:prstGeom>
          <a:solidFill>
            <a:srgbClr val="1E7B4F"/>
          </a:solidFill>
          <a:ln w="12700">
            <a:solidFill>
              <a:srgbClr val="1E7B4F"/>
            </a:solidFill>
            <a:prstDash val="solid"/>
          </a:ln>
        </p:spPr>
      </p:sp>
      <p:sp>
        <p:nvSpPr>
          <p:cNvPr id="25" name="Text 22"/>
          <p:cNvSpPr txBox="1"/>
          <p:nvPr/>
        </p:nvSpPr>
        <p:spPr>
          <a:xfrm>
            <a:off x="4413504"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ADVANTAGE · CORE</a:t>
            </a:r>
            <a:endParaRPr lang="en-US" sz="850" dirty="0"/>
          </a:p>
        </p:txBody>
      </p:sp>
      <p:sp>
        <p:nvSpPr>
          <p:cNvPr id="26" name="Text 23"/>
          <p:cNvSpPr txBox="1"/>
          <p:nvPr/>
        </p:nvSpPr>
        <p:spPr>
          <a:xfrm>
            <a:off x="5830824"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مِنْ مَزَايَا … أَنَّهَا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مِنْ مَزَايَا التَّلْمَذَةِ المِهَنِيَّةِ أَنَّهَا مَدْفُوعَةٌ.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One advantage of an apprenticeship is that it is paid.</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annahā = that it (f.).</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78308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7830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DISADVANTAGE · STRETCH</a:t>
            </a:r>
            <a:endParaRPr lang="en-US" sz="850" dirty="0"/>
          </a:p>
        </p:txBody>
      </p:sp>
      <p:sp>
        <p:nvSpPr>
          <p:cNvPr id="34" name="Text 31"/>
          <p:cNvSpPr txBox="1"/>
          <p:nvPr/>
        </p:nvSpPr>
        <p:spPr>
          <a:xfrm>
            <a:off x="2423160" y="1874520"/>
            <a:ext cx="15331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مِنْ عُيُوبِهَا أَنَّ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مِنْ عُيُوبِهَا أَنَّ الخِيَارَاتِ قَدْ تَكُونُ مَحْدُودَةً.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One disadvantage is that the options may be limited.</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qad takūnu = may be.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A comparative needs min.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الجَامِعَةُ أَفْضَلُ مِنَ الدَّوْرَةِ لِهٰذِهِ المِهْنَةِ.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الجَامِعَةُ أَفْضَلُ الدَّوْرَةِ لِهٰذِهِ المِهْنَةِ.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Routes, alternatives and conditions</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300" b="1" dirty="0">
                <a:solidFill>
                  <a:srgbClr val="8A6D1E"/>
                </a:solidFill>
                <a:latin typeface="Amiri" pitchFamily="2" charset="-78"/>
                <a:ea typeface="Amiri" pitchFamily="2" charset="-78"/>
                <a:cs typeface="Amiri" pitchFamily="2" charset="-78"/>
              </a:rPr>
              <a:t>المُفَاضَلَةُ بَيْنَ مَسَارَاتِ التَّعْلِيمِ وَالتَّدْرِيبِ</a:t>
            </a:r>
            <a:endParaRPr lang="ar-SA" sz="23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Route to a goal</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لِكَيْ أُصْبِحَ ... يَجِبُ أَنْ ...</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لِكَيْ أُصْبِحَ طَبِيبًا يَجِبُ أَنْ أَدْرُسَ فِي الجَامِعَةِ.   ·   يَجِبُ أَنْ أَتَدَرَّبَ لِكَيْ أُصْبِحَ فَنِّيًّا.</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Conditional plan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إِذَا + مَاضٍ، فَـ + مُسْتَقْبَل</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نَجَحْتُ، فَسَأَلْتَحِقُ بِالجَامِعَةِ.   ·   إِذَا وَجَدْتُ تَلْمَذَةً مِهَنِيَّةً، فَسَأُقَدِّمُ طَلَبًا.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Comparison</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أَفْضَلُ مِنْ / أَكْثَرُ عَمَلِيَّةً مِنْ</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lnSpc>
                <a:spcPct val="120000"/>
              </a:lnSpc>
              <a:buNone/>
            </a:pPr>
            <a:r>
              <a:rPr lang="ar-SA" altLang="en-US" sz="1950" b="1" dirty="0">
                <a:solidFill>
                  <a:srgbClr val="1F2A37"/>
                </a:solidFill>
                <a:latin typeface="Amiri" pitchFamily="2" charset="-78"/>
                <a:ea typeface="Amiri" pitchFamily="2" charset="-78"/>
                <a:cs typeface="Amiri" pitchFamily="2" charset="-78"/>
              </a:rPr>
              <a:t>التَّدْرِيبُ العَمَلِيُّ أَكْثَرُ عَمَلِيَّةً مِنَ الدِّرَاسَةِ النَّظَرِيَّةِ.   ·   الجَامِعَةُ أَفْضَلُ لِبَعْضِ المِهَنِ.</a:t>
            </a:r>
            <a:endParaRPr lang="ar-SA" sz="195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Balanced evaluation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مِنْ مَزَايَا ... / مِنْ عُيُوبِ ...</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مِنْ مَزَايَا التَّلْمَذَةِ المِهَنِيَّةِ أَنَّهَا مَدْفُوعَةٌ.   ·   مِنْ عُيُوبِهَا أَنَّ الخِيَارَاتِ قَدْ تَكُونُ مَحْدُودَةً.</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لِكَيْ ___ طَبِيبًا، يَجِبُ أَنْ أَدْرُسَ.</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أَصْبَحْتُ</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سَأُصْبِحُ</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أُصْبِحَ</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إِذَا ___ ، فَسَأَلْتَحِقُ بِالجَامِعَةِ.</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نَجَحْتُ</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سَأَنْجَحُ</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نَاجِحٌ</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التَّدْرِيبُ أَكْثَرُ عَمَلِيَّةً ___ الدِّرَاسَةِ.</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تَلْمَذَةٌ مِهَنِيَّةٌ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apprenticeship</a:t>
            </a:r>
            <a:endParaRPr lang="en-US" sz="12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scholarship</a:t>
            </a:r>
            <a:endParaRPr lang="en-US" sz="12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university</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لِكَيْ ___ طَبِيبًا، يَجِبُ أَنْ أَدْرُسَ.</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أَصْبَحْتُ</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سَأُصْبِحُ</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أُصْبِحَ</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li-kay: present verb in -a.</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إِذَا ___ ، فَسَأَلْتَحِقُ بِالجَامِعَةِ.</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نَجَحْتُ</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سَأَنْجَحُ</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نَاجِحٌ</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idhā + past verb.</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التَّدْرِيبُ أَكْثَرُ عَمَلِيَّةً ___ الدِّرَاسَةِ.</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Comparative + min.</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تَلْمَذَةٌ مِهَنِيَّةٌ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7" name="Shape 64"/>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4831080"/>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apprenticeship</a:t>
            </a:r>
            <a:endParaRPr lang="en-US" sz="125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scholarship</a:t>
            </a:r>
            <a:endParaRPr lang="en-US" sz="1250" dirty="0"/>
          </a:p>
        </p:txBody>
      </p:sp>
      <p:sp>
        <p:nvSpPr>
          <p:cNvPr id="74" name="Shape 71"/>
          <p:cNvSpPr/>
          <p:nvPr/>
        </p:nvSpPr>
        <p:spPr>
          <a:xfrm>
            <a:off x="6368796" y="5574792"/>
            <a:ext cx="256032" cy="256032"/>
          </a:xfrm>
          <a:prstGeom prst="ellipse">
            <a:avLst/>
          </a:prstGeom>
          <a:solidFill>
            <a:srgbClr val="C9CED6"/>
          </a:solidFill>
          <a:ln w="12700">
            <a:solidFill>
              <a:srgbClr val="C9CED6"/>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university</a:t>
            </a:r>
            <a:endParaRPr lang="en-US" sz="125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tilmīdh = pupil.</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choose a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Goal + route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لِكَيْ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أُصْبِحَ</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كَهْرَبَائِيًّا،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يَجِبُ أَنْ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أَتَدَرَّبَ.</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Goal, then what I must do.</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Compare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التَّلْمَذَةُ المِهَنِيَّةُ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أَكْثَرُ عَمَلِيَّةً مِنَ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الجَامِعَةِ.</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akthar … min.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Balance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مِنْ مَزَايَاهَا أَنَّهَا مَدْفُوعَةٌ، وَلٰكِنَّ الخِيَارَاتِ مَحْدُودَةٌ.</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Both sides.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Condition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إِذَا وَجَدْتُ</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تَلْمَذَةً، فَسَأُقَدِّمُ طَلَبًا.</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idhā + past → fa-sa-.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GOAL</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ROUTE</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COMPARE / IF</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لِكَيْ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أُصْبِحَ</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كَهْرَبَائِيًّا،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يَجِبُ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أَتَدَرَّبَ فِي مَعْهَدٍ مِهَنِيٍّ أَوْ فِي شَرِكَةٍ. فِي رَأْيِي، التَّلْمَذَةُ المِهَنِيَّةُ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أَكْثَرُ عَمَلِيَّةً مِنَ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الجَامِعَةِ لِهٰذِهِ المِهْنَةِ. مِنْ مَزَايَاهَا أَنَّهَا مَدْفُوعَةٌ، وَلٰكِنْ مِنْ عُيُوبِهَا أَنَّ الخِيَارَاتِ قَدْ تَكُونُ مَحْدُودَةً.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إِذَا وَجَدْتُ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تَلْمَذَةً مِهَنِيَّةً جَيِّدَةً، فَسَأُقَدِّمُ طَلَبًا فَوْرًا.</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To become an electrician, I must train at a vocational institute or in a company. In my opinion, an apprenticeship is more practical than university for this job. One advantage is that it is paid, but one disadvantage is that the options may be limited. If I find a good apprenticeship, I will apply straight away.</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I DO · MODEL SENTENCES (TEACHER-WRITTEN ON THE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لِكَيْ أُصْبِحَ طَبِيبًا، يَجِبُ أَنْ أَدْرُسَ فِي الجَامِعَةِ.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To become a doctor, I must study at university.</a:t>
            </a:r>
            <a:endParaRPr lang="en-US" sz="1250" dirty="0"/>
          </a:p>
          <a:p>
            <a:pPr indent="0" marL="0">
              <a:buNone/>
            </a:pPr>
            <a:r>
              <a:rPr lang="en-US" sz="1050" i="1" dirty="0">
                <a:solidFill>
                  <a:srgbClr val="8A6D1E"/>
                </a:solidFill>
                <a:latin typeface="Calibri" pitchFamily="34" charset="0"/>
                <a:cs typeface="Amiri" pitchFamily="2" charset="-78"/>
              </a:rPr>
              <a:t>Goal → route.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إِذَا نَجَحْتُ، فَسَأَلْتَحِقُ بِالجَامِعَةِ.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I succeed, I will join university.</a:t>
            </a:r>
            <a:endParaRPr lang="en-US" sz="1250" dirty="0"/>
          </a:p>
          <a:p>
            <a:pPr indent="0" marL="0">
              <a:buNone/>
            </a:pPr>
            <a:r>
              <a:rPr lang="en-US" sz="1050" i="1" dirty="0">
                <a:solidFill>
                  <a:srgbClr val="8A6D1E"/>
                </a:solidFill>
                <a:latin typeface="Calibri" pitchFamily="34" charset="0"/>
                <a:cs typeface="Amiri" pitchFamily="2" charset="-78"/>
              </a:rPr>
              <a:t>idhā + past, fa-sa-.</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التَّلْمَذَةُ المِهَنِيَّةُ أَقَلُّ تَكْلِفَةً مِنَ الجَامِعَةِ.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An apprenticeship costs less than university.</a:t>
            </a:r>
            <a:endParaRPr lang="en-US" sz="1250" dirty="0"/>
          </a:p>
          <a:p>
            <a:pPr indent="0" marL="0">
              <a:buNone/>
            </a:pPr>
            <a:r>
              <a:rPr lang="en-US" sz="1050" i="1" dirty="0">
                <a:solidFill>
                  <a:srgbClr val="8A6D1E"/>
                </a:solidFill>
                <a:latin typeface="Calibri" pitchFamily="34" charset="0"/>
                <a:cs typeface="Amiri" pitchFamily="2" charset="-78"/>
              </a:rPr>
              <a:t>aqall + -an + min.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مِنْ مَزَايَا الجَامِعَةِ أَنَّهَا تُقَدِّمُ مَعْرِفَةً عَمِيقَةً.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One advantage of university is that it offers deep knowledge.</a:t>
            </a:r>
            <a:endParaRPr lang="en-US" sz="1250" dirty="0"/>
          </a:p>
          <a:p>
            <a:pPr indent="0" marL="0">
              <a:buNone/>
            </a:pPr>
            <a:r>
              <a:rPr lang="en-US" sz="1050" i="1" dirty="0">
                <a:solidFill>
                  <a:srgbClr val="8A6D1E"/>
                </a:solidFill>
                <a:latin typeface="Calibri" pitchFamily="34" charset="0"/>
                <a:cs typeface="Amiri" pitchFamily="2" charset="-78"/>
              </a:rPr>
              <a:t>Advantage + annahā.</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EDUCATION AND TRAINING — ROUTES TO A CAREER”</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Where do I learn? Match the picture</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طَرِيقُ التَّعْلِيمِ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university</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vocational training</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learning online</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أَتَلَقَّى تَدْرِيبًا مِهَنِيًّا.</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أَتَعَلَّمُ عَنْ بُعْدٍ.</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أَدْرُسُ فِي الجَامِعَةِ.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طَرِيقُ التَّعْلِيمِ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university</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أَدْرُسُ فِي الجَامِعَةِ.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study at university.</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vocational training</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أَتَلَقَّى تَدْرِيبًا مِهَنِيًّا.</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receive vocational training.</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learning online</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أَتَعَلَّمُ عَنْ بُعْدٍ.</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learn remotely.</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University or apprenticeship?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مَعْرِفَةٌ عَمِيقَةٌ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شَهَادَةٌ لِلطِّبِّ وَالقَانُونِ</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دِرَاسَةٌ نَظَرِيَّةٌ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تَكْلِفَةٌ أَعْلَى</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تَجْمَعُ بَيْنَ العَمَلِ وَالدِّرَاسَةِ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أَكْثَرُ عَمَلِيَّةً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أَقَلُّ تَكْلِفَةً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رَاتِبٌ أَثْنَاءَ التَّدْرِيبِ</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University</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Apprenticeship</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University</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مَعْرِفَةٌ عَمِيقَةٌ</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شَهَادَةٌ لِلطِّبِّ وَالقَانُونِ</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دِرَاسَةٌ نَظَرِيَّةٌ</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تَكْلِفَةٌ أَعْلَى</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Apprenticeship</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تَجْمَعُ بَيْنَ العَمَلِ وَالدِّرَاسَةِ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أَكْثَرُ عَمَلِيَّةً</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أَقَلُّ تَكْلِفَةً</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رَاتِبٌ أَثْنَاءَ التَّدْرِيبِ</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 balanced judgement?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إِنَّهَا مَدْفُوعَةٌ.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الخِيَارَاتُ مَحْدُودَةٌ.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مَزَايَاهَا أَنَّهَا مَدْفُوعَةٌ، وَلٰكِنَّ الخِيَارَاتِ مَحْدُودَةٌ.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“less costly”?</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عَمَلِيَّةً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أَقَلُّ تَكْلِفَةً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أَفْضَلُ مِنْ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مُتَطَلَّبَاتُ القَبُولِ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training course</a:t>
            </a:r>
            <a:endParaRPr lang="en-US" sz="12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entry requirements</a:t>
            </a:r>
            <a:endParaRPr lang="en-US" sz="12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work experience</a:t>
            </a:r>
            <a:endParaRPr lang="en-US" sz="12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follows idhā najaḥtu in a plan?</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أَلْتَحِقُ</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الْتَحَقْتُ</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فَسَأَلْتَحِقُ</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 balanced judgement?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إِنَّهَا مَدْفُوعَةٌ.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الخِيَارَاتُ مَحْدُودَةٌ.</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 مَزَايَاهَا أَنَّهَا مَدْفُوعَةٌ، وَلٰكِنَّ الخِيَارَاتِ مَحْدُودَةٌ.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sides, then a contrast.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“less costly”?</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أَكْثَرُ عَمَلِيَّةً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أَقَلُّ تَكْلِفَةً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أَفْضَلُ مِنْ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aqall = less.</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مُتَطَلَّبَاتُ القَبُولِ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training course</a:t>
            </a:r>
            <a:endParaRPr lang="en-US" sz="125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entry requirements</a:t>
            </a:r>
            <a:endParaRPr lang="en-US" sz="125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work experience</a:t>
            </a:r>
            <a:endParaRPr lang="en-US" sz="125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qabūl = acceptance.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follows idhā najaḥtu in a plan?</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أَلْتَحِقُ</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الْتَحَقْتُ</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فَسَأَلْتَحِقُ</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fa- + future.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لِكَيْ أُصْبِحُ طَبِيبًا، يَجِبُ أَنْ أَدْرُسَ.</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li-kay: -u or -a?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إِذَا أَنْجَحُ، سَأَلْتَحِقُ بِالجَامِعَةِ.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idhā + which tense?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التَّدْرِيبُ أَكْثَرُ عَمَلِيَّةً الدِّرَاسَةِ.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missing after akthar ʿamaliyyatan?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لِكَيْ أُصْبِحُ طَبِيبًا، يَجِبُ أَنْ أَدْرُسَ.</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لِكَيْ أُصْبِحَ طَبِيبًا، يَجِبُ أَنْ أَدْرُسَ.</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li-kay the verb ends in -a.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إِذَا أَنْجَحُ، سَأَلْتَحِقُ بِالجَامِعَةِ.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إِذَا نَجَحْتُ، فَسَأَلْتَحِقُ بِالجَامِعَةِ.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idhā + past verb; fa- before the future.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التَّدْرِيبُ أَكْثَرُ عَمَلِيَّةً الدِّرَاسَةِ.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التَّدْرِيبُ أَكْثَرُ عَمَلِيَّةً مِنَ الدِّرَاسَةِ.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comparative needs min.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Choosing a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Sarah prefer university?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wants to become a lawyer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cheaper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friends go there</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route did Ahmed choose?</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university</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short course</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apprenticeship</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what kind of company?</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building company</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design company</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electricity company</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he prefer it?</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prefers practical learning</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dislikes studying</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near his home</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money detail is mentioned?</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pays high fees</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gets a small salary while training</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has a scholarship</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Maryam looking for?</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short design course</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university place</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job in a shop</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6.</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مُحَامِيَةً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تَلْمَذَةً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دَوْرَةٍ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تُفَضِّلُ سَارَةُ الدِّرَاسَةَ الجَامِعِيَّةَ لِأَنَّهَا تُرِيدُ أَنْ تُصْبِحَ مُحَامِيَةً.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Sarah prefers university study because she wants to become a lawyer.</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أَمَّا أَحْمَدُ فَقَدِ اخْتَارَ تَلْمَذَةً مِهَنِيَّةً فِي شَرِكَةِ كَهْرَبَاءٍ</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Ahmed, he has chosen an apprenticeship in an electricity company</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لِأَنَّهُ يُفَضِّلُ التَّعَلُّمَ العَمَلِيَّ وَيَحْصُلُ عَلَى رَاتِبٍ صَغِيرٍ أَثْنَاءَ التَّدْرِيبِ.</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he prefers practical learning and he gets a small salary during training.</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وَمَرْيَمُ لَمْ تُقَرِّرْ بَعْدُ؛</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Maryam has not decided yet;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فَهِيَ تَبْحَثُ عَنْ دَوْرَةٍ قَصِيرَةٍ فِي التَّصْمِيمِ.</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is looking for a short course in design.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Sarah prefer university?</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she wants to become a lawyer</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cheaper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friends go there</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تُرِيدُ أَنْ تُصْبِحَ مُحَامِيَةً</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route did Ahmed choose?</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university</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short course</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apprenticeship</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اخْتَارَ تَلْمَذَةً مِهَنِيَّةً</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what kind of company?</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building company</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design company</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electricity company</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شَرِكَةِ كَهْرَبَاءٍ</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he prefer it?</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he prefers practical learning</a:t>
            </a:r>
            <a:endParaRPr lang="en-US" sz="11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dislikes studying</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near his home</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يُفَضِّلُ التَّعَلُّمَ العَمَلِيَّ</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money detail is mentioned?</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pays high fees</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he gets a small salary while training</a:t>
            </a:r>
            <a:endParaRPr lang="en-US" sz="11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has a scholarship</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يَحْصُلُ عَلَى رَاتِبٍ صَغِيرٍ</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Maryam looking for?</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short design course</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university place</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job in a shop</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دَوْرَةٍ قَصِيرَةٍ فِي التَّصْمِيمِ</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6.</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مُحَامِيَةً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تَلْمَذَةً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دَوْرَةٍ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University, college or apprenticeship?</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يَجِبُ أَنْ تَدْرُسَ لِكَيْ تُصْبِحَ مُدَرِّسًا؟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تُفَضِّلُ الجَامِعَةَ أَمِ التَّلْمَذَةَ المِهَنِيَّةَ؟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خُطَّتُكَ إِذَا نَجَحْتَ فِي الاِمْتِحَانَاتِ؟</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مَزَايَا التَّلْمَذَةِ المِهَنِيَّةِ وَعُيُوبُهَا؟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لِكَيْ أُصْبِحَ ___ ، يَجِبُ أَنْ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أُفَضِّلُ ___ لِأَنَّ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إِذَا نَجَحْتُ، فَسَـ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F2A37"/>
                </a:solidFill>
                <a:latin typeface="Amiri" pitchFamily="2" charset="-78"/>
                <a:ea typeface="Amiri" pitchFamily="2" charset="-78"/>
                <a:cs typeface="Amiri" pitchFamily="2" charset="-78"/>
              </a:rPr>
              <a:t>مِنْ مَزَايَاهَا أَنَّ ___ ، وَلٰكِنْ مِنْ عُيُوبِهَا أَنَّ ___ .</a:t>
            </a:r>
            <a:endParaRPr lang="ar-SA" sz="12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هَلْ تُفَضِّلُ الجَامِعَةَ أَمِ التَّلْمَذَةَ المِهَنِيَّةَ؟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Do you prefer university or an apprenticeship?</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أُفَضِّلُ الجَامِعَةَ لِأَنَّنِي أُرِيدُ أَنْ أُصْبِحَ مُحَامِيًا.</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prefer university because I want to become a lawyer.</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job: what you must do to become it, which route you prefer and why.</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80–100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Compare two routes (akthar … min) and add a plan with idhā.</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comparison, contrast, precise evidence and independently controlled complex structures.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compare university and vocational training and recommend a route for one career.</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أَكْثَرُ عَمَلِيَّةً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more practical than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أَقَلُّ تَكْلِفَةً مِنْ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costs less than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نَجَحْتُ، فَسَـ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succeed, I will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حَصَلْتُ عَلَى مِنْحَةٍ، فَسَـ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get a scholarship, I will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لِكَيْ أُصْبِحَ ______ ، يَجِبُ أَنْ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become a …, I must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______ لِأَنَّ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because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المَدْرَسَةِ سَأَدْرُسُ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school I will study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مَزَايَا ______ أَنَّ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advantage of … is that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جَامِعَةٌ  ·  كُلِّيَّةٌ  ·  تَلْمَذَةٌ مِهَنِيَّةٌ  ·  دَوْرَةٌ تَدْرِيبِيَّةٌ  ·  شَهَادَةٌ  ·  لِكَيْ أُصْبِحَ  ·  يَجِبُ أَنْ  ·  إِذَا نَجَحْتُ  ·  فَسَـ  ·  أَفْضَلُ مِنْ  ·  أَكْثَرُ عَمَلِيَّةً  ·  أَقَلُّ تَكْلِفَةً</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Compare university and vocational training and recommend the best route for one career.</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Address every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two target structures from the grammar lesson.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evidence, reason or comparison.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Check agreement, verb patterns and spelling.</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لَيْسَ هُنَاكَ مَسَارٌ وَاحِدٌ يُنَاسِبُ الجَمِيعَ</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there is no single route that suits everyone</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تَجْمَعُ بَيْنَ العَمَلِ وَالدِّرَاسَةِ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combines work and study</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فُرَصُ التَّخَصُّصِ</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chances to specialise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يَنْبَغِي لِلطَّالِبِ أَنْ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student should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طَرِيقَةُ تَعَلُّمِهِ</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way he learns</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450" dirty="0">
                <a:solidFill>
                  <a:srgbClr val="1F2A37"/>
                </a:solidFill>
                <a:latin typeface="Amiri" pitchFamily="2" charset="-78"/>
                <a:ea typeface="Amiri" pitchFamily="2" charset="-78"/>
                <a:cs typeface="Amiri" pitchFamily="2" charset="-78"/>
              </a:rPr>
              <a:t>لَيْسَ هُنَاكَ مَسَارٌ وَاحِدٌ يُنَاسِبُ الجَمِيعَ. لِكَيْ أُصْبِحَ مُحَامِيًا، يَجِبُ أَنْ أَدْرُسَ القَانُونَ فِي الجَامِعَةِ، لِأَنَّ هٰذِهِ المِهْنَةَ تَحْتَاجُ إِلَى شَهَادَةٍ. مِنْ مَزَايَا الجَامِعَةِ أَنَّهَا تُقَدِّمُ مَعْرِفَةً عَمِيقَةً، وَلٰكِنْ مِنْ عُيُوبِهَا أَنَّهَا مُكْلِفَةٌ. أَمَّا التَّلْمَذَةُ المِهَنِيَّةُ فَهِيَ أَكْثَرُ عَمَلِيَّةً وَأَقَلُّ تَكْلِفَةً، وَهِيَ مُنَاسِبَةٌ لِمِهَنٍ مِثْلِ الكَهْرَبَاءِ وَالتَّصْمِيمِ. فِي رَأْيِي، الجَامِعَةُ أَفْضَلُ لِي لِأَنَّنِي أُحِبُّ القِرَاءَةَ وَالبَحْثَ. إِذَا حَصَلْتُ عَلَى مِنْحَةٍ دِرَاسِيَّةٍ، فَسَأَلْتَحِقُ بِجَامِعَةٍ فِي لَنْدَنَ.</a:t>
            </a:r>
            <a:endParaRPr lang="ar-SA" sz="24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There is no single route that suits everyone. To become a lawyer, I must study law at university, because this job needs a degree. One advantage of university is that it offers deep knowledge, but one disadvantage is that it is expensive. An apprenticeship, on the other hand, is more practical and less costly, and it suits jobs such as electrics and design. In my opinion, university is better for me because I love reading and research. If I get a scholarship, I will join a university in London.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goal → route (li-kay … yajibu an)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comparison with min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advantage and a disadvantage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condition with idhā</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linked a goal to a route.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li-kay / an: verb in -a.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comparison has min.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idhā + past verb, then fa-sa-.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both sides before recommending.</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تَلْمَذَةً مِهَنِيَّةً، فَسَأُقَدِّمُ طَلَبًا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وَجَدْتُ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أَجِدُ</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سَأَجِدُ</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route combines work and study?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الجَامِعَةُ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التَّلْمَذَةُ المِهَنِيَّةُ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المِنْحَةُ الدِّرَاسِيَّةُ</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الجَامِعَةُ أَفْضَلُ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الدَّوْرَةِ لِهٰذِهِ المِهْنَةِ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تَلْمَذَةً مِهَنِيَّةً، فَسَأُقَدِّمُ طَلَبًا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وَجَدْتُ</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أَجِدُ</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سَأَجِدُ</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idhā + past.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route combines work and study?</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الجَامِعَةُ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التَّلْمَذَةُ المِهَنِيَّةُ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المِنْحَةُ الدِّرَاسِيَّةُ</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Reading text.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الجَامِعَةُ أَفْضَلُ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الدَّوْرَةِ لِهٰذِهِ المِهْنَةِ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عَنْ</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afḍal min.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University or apprenticeship?</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لَيْسَ هُنَاكَ مَسَارٌ وَاحِدٌ يُنَاسِبُ الجَمِيعَ. فَالجَامِعَةُ تُقَدِّمُ مَعْرِفَةً عَمِيقَةً وَشَهَادَةً مَطْلُوبَةً لِمِهَنٍ مِثْلَ الطِّبِّ وَالقَانُونِ. أَمَّا التَّلْمَذَةُ المِهَنِيَّةُ فَتَجْمَعُ بَيْنَ العَمَلِ وَالدِّرَاسَةِ، وَهِيَ أَكْثَرُ عَمَلِيَّةً وَأَقَلُّ تَكْلِفَةً. وَمَعَ ذٰلِكَ، قَدْ تَكُونُ فُرَصُ التَّخَصُّصِ فِيهَا أَضْيَقَ. يَنْبَغِي لِلطَّالِبِ أَنْ يَدْرُسَ هَدَفَهُ وَطَرِيقَةَ تَعَلُّمِهِ قَبْلَ أَنْ يَخْتَارَ.</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مَسَارٌ</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route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يُنَاسِبُ الجَمِيعَ</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suits everyone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مَعْرِفَةً عَمِيقَةً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deep knowledge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مَطْلُوبَةً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required</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القَانُونِ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law</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تَجْمَعُ بَيْنَ</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combines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أَقَلُّ تَكْلِفَةً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less costly</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فُرَصُ التَّخَصُّصِ</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chances to specialise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أَضْيَقَ</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narrower</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يَنْبَغِي</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should</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university provide?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salary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deep knowledge and a required degree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shorter study</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careers need a degree?</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design and cooking</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driving and building</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medicine and law</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an apprenticeship combine?</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work and study</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 and study</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sport and work</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two advantages of an apprenticeship are given?</a:t>
            </a:r>
            <a:endParaRPr lang="en-US" sz="120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deeper and longer</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practical and less costly</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easier and closer</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possible disadvantage is given?</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fewer chances to specialise</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salary</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long holidays</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should a student think about before choosing?</a:t>
            </a:r>
            <a:endParaRPr lang="en-US" sz="120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their friends’ choices</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nearest college</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their goal and how they learn</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university provide?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salary</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deep knowledge and a required degree</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shorter study</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مَعْرِفَةً عَمِيقَةً وَشَهَادَةً مَطْلُوبَةً</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careers need a degree?</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design and cooking</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driving and building</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medicine and law</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مِثْلَ الطِّبِّ وَالقَانُونِ</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an apprenticeship combine?</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work and study</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travel and study</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sport and work</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تَجْمَعُ بَيْنَ العَمَلِ وَالدِّرَاسَةِ</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two advantages of an apprenticeship are given?</a:t>
            </a:r>
            <a:endParaRPr lang="en-US" sz="120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deeper and longer</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more practical and less costly</a:t>
            </a:r>
            <a:endParaRPr lang="en-US" sz="11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easier and closer</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أَكْثَرُ عَمَلِيَّةً وَأَقَلُّ تَكْلِفَةً</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possible disadvantage is given?</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fewer chances to specialise</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salary</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long holidays</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فُرَصُ التَّخَصُّصِ … أَضْيَقَ</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should a student think about before choosing?</a:t>
            </a:r>
            <a:endParaRPr lang="en-US" sz="120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their friends’ choices</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nearest college</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their goal and how they learn</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هَدَفَهُ وَطَرِيقَةَ تَعَلُّمِهِ</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D3-L05 · Routes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D3-L06: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D3-L06 · Job Applications and Interviews — CV, Skills and Future Plans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سِيرَةٌ ذَاتِيَّةٌ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CV</a:t>
            </a:r>
            <a:pPr indent="0" marL="0">
              <a:buNone/>
            </a:pPr>
            <a:r>
              <a:rPr lang="ar-SA" sz="1000" i="1" dirty="0">
                <a:solidFill>
                  <a:srgbClr val="5A6472"/>
                </a:solidFill>
                <a:latin typeface="Calibri" pitchFamily="34" charset="0"/>
                <a:ea typeface="Amiri" pitchFamily="2" charset="-78"/>
                <a:cs typeface="Amiri" pitchFamily="2" charset="-78"/>
              </a:rPr>
              <a:t>  pl. سِيَرٌ ذَاتِيَّةٌ</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رِسَالَةُ تَغْطِيَةٍ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cover letter</a:t>
            </a:r>
            <a:pPr indent="0" marL="0">
              <a:buNone/>
            </a:pPr>
            <a:r>
              <a:rPr lang="ar-SA" sz="1000" i="1" dirty="0">
                <a:solidFill>
                  <a:srgbClr val="5A6472"/>
                </a:solidFill>
                <a:latin typeface="Calibri" pitchFamily="34" charset="0"/>
                <a:ea typeface="Amiri" pitchFamily="2" charset="-78"/>
                <a:cs typeface="Amiri" pitchFamily="2" charset="-78"/>
              </a:rPr>
              <a:t>  pl. رَسَائِلُ</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مُقَابَلَةٌ شَخْصِيَّةٌ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interview</a:t>
            </a:r>
            <a:pPr indent="0" marL="0">
              <a:buNone/>
            </a:pPr>
            <a:r>
              <a:rPr lang="ar-SA" sz="1000" i="1" dirty="0">
                <a:solidFill>
                  <a:srgbClr val="5A6472"/>
                </a:solidFill>
                <a:latin typeface="Calibri" pitchFamily="34" charset="0"/>
                <a:ea typeface="Amiri" pitchFamily="2" charset="-78"/>
                <a:cs typeface="Amiri" pitchFamily="2" charset="-78"/>
              </a:rPr>
              <a:t>  pl. مُقَابَلَاتٌ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إِعْلَانُ وَظِيفَةٍ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job advert</a:t>
            </a:r>
            <a:pPr indent="0" marL="0">
              <a:buNone/>
            </a:pPr>
            <a:r>
              <a:rPr lang="ar-SA" sz="1000" i="1" dirty="0">
                <a:solidFill>
                  <a:srgbClr val="5A6472"/>
                </a:solidFill>
                <a:latin typeface="Calibri" pitchFamily="34" charset="0"/>
                <a:ea typeface="Amiri" pitchFamily="2" charset="-78"/>
                <a:cs typeface="Amiri" pitchFamily="2" charset="-78"/>
              </a:rPr>
              <a:t>  pl. إِعْلَانَاتٌ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نُقْطَةُ ضَعْفٍ</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weakness</a:t>
            </a:r>
            <a:pPr indent="0" marL="0">
              <a:buNone/>
            </a:pPr>
            <a:r>
              <a:rPr lang="ar-SA" sz="1000" i="1" dirty="0">
                <a:solidFill>
                  <a:srgbClr val="5A6472"/>
                </a:solidFill>
                <a:latin typeface="Calibri" pitchFamily="34" charset="0"/>
                <a:ea typeface="Amiri" pitchFamily="2" charset="-78"/>
                <a:cs typeface="Amiri" pitchFamily="2" charset="-78"/>
              </a:rPr>
              <a:t>  pl. نِقَاطُ ضَعْفٍ</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is your biggest strength for a job? Write one sentence with evidence.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نُقْطَةُ قُوَّتِي هِيَ … لِأَنَّنِي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10 route words; write 5 sentences from the frames.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Compare two routes in 80–100 words with min and idhā.</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compare university and vocational training and recommend a route (100–120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D3-L06 · Job Applications and Interviews — CV, Skills and Future Plans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طَلَبَاتُ العَمَلِ وَالمُقَابَلَاتُ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to become … I must … — idhā + past, fa-sa- — a comparative needs min.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D3-L05 · Education and Training — Routes to a Career</dc:title>
  <dc:subject>PptxGenJS Presentation</dc:subject>
  <dc:creator>Al Madina Online School · Arabic Department</dc:creator>
  <cp:lastModifiedBy>Al Madina Online School · Arabic Department</cp:lastModifiedBy>
  <cp:revision>1</cp:revision>
  <dcterms:created xsi:type="dcterms:W3CDTF">2026-10-11T06:40:44Z</dcterms:created>
  <dcterms:modified xsi:type="dcterms:W3CDTF">2026-10-11T06:40:44Z</dcterms:modified>
</cp:coreProperties>
</file>