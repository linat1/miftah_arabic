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laboratory (not marked) · 6–7 Assessment map · 7–19 Listening (20) · 19–27 Reading (10) · 27–45 Writing (20) · 45–55 Speaking (10, one-to-one or trusted pairs) · 55–60 Profile and D4 target.
FLEX slides are optional. Use them if the class is moving quickly; otherwise the same activities are on the website for homework.
Content source: Miftah Arabic website, Pathways › Development › D3 Work and Careers › D3-L12. The website D3-L12 is a four-skill, 60-mark unit assessment: the complete D3 language vault (all eleven lessons), a ten-question cumulative grammar laboratory (agreement · patterns · future · evidence), Part A listening (Al-Nour Technology summer-training advert: 10 questions × 2 = 20), Part B reading (Amal’s career-plan article: 10), Part C writing (five-field application profile 5 + 120–140-word article or formal email 15, marked task / range / accuracy) and Part D speaking (interview + topic conversation: 10), then an evidence-based D4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NOTE: the reading text is the D3-L09 model email (Amal) — students who studied it closely have an advantage; that is fine (it rewards revision), but mark the WRITING strictly for originality.
• Website: “Complete each section independently, then record a precise D4 target.”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complete D3 language vault · 02 cumulative grammar laboratory · 03 Part A listening · 04 Part B reading · 05 Part C writing · 06 Part D speaking · 07 reflection and D4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D3-L11. Questions 2–5 are from the website ten-question cumulative grammar laboratory (used diagnostically).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audit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“Cumulative grammar laboratory”, correct answers): مُهَنْدِسَةٌ · يَحْتَاجُ … إِلَى · سَأَتَدَرَّبُ · يَسُرُّنِي أَنْ أَتَقَدَّمَ لِـ · لِكَيْ أَنْجَحَ · أَنَا مُنَظَّمٌ، وَالدَّلِيلُ … · إِذَا نَجَحْتُ فَسَأَدْرُسُ … · الشَّرِكَةُ الَّتِي تُقَدِّمُ تَدْرِيبًا · مَنْ جَدَّ وَجَدَ (effort) · أُخْتِي مُحَاسِبَةٌ وَسَتَعْمَلُ فِي شَرِكَةٍ.
The website language vault (all D3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 skills · one evidence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 No English support on assessment texts. Website strategy: “Locate · infer ·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5 · Range 5 · Accuracy 5): 120–140 words explaining a career choice, required skills, evidence, the education / training route and one challenge. The D3-L11 teacher model (lawyer)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(website, 10 marks). Teacher questions (the D3-L11 conversation): مَا المِهْنَةُ الَّتِي تُرِيدُهَا؟ وَلِمَاذَا؟ · مَا مَهَارَاتُكَ؟ وَمَا الدَّلِيلُ؟ · مَا خُطَّتُكَ بَعْدَ المَدْرَسَةِ؟ · مَا نُقْطَةُ قُوَّتِكَ؟ · مَا الصُّعُوبَةُ المُحْتَمَلَةُ؟ وَكَيْفَ سَتَتَغَلَّبُ عَلَيْهَا؟
To a girl: تُرِيدِينَهَا · مَهَارَاتُكِ · خُطَّتُكِ · قُوَّتِكِ · سَتَتَغَلَّبِينَ.
Suggested marking: communication and development 4 · range 3 · accuracy and pronunciation 3. ORGANISATION: one-to-one while others finish writing, or trusted pairs with the teacher as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“D3 reflection and D4 readiness”: “Record one secure language feature and one precise next action.”). The bands are a teacher guide in line with the D1 and D2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(D4-L01 · The Natural World — Environment and Climate) will spend class time USING this language, so students prepare it tonight — short, simple, easy to access (school guidance: “Simple, Short, Interesting, Relevant, Easy to access”). D4 begins with the natural world (website D4-L01 “The Natural World — Environment and Climate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Work and Careers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jobs, workplaces, skills, future plans, training routes, applications and work values — then choose one precise next step for D4.</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D3-L12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 audits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D4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D4: environment.</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instructions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المُدَرِّسُ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تَدَرَّبْتُ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سَتَدَرَّبْتُ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سَأَتَدَرَّبُ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سَأَدْرُسُ بِجِدٍّ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controlled?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مُحَاسِبَةٌ وَسَتَعْمَلُ فِي شَرِكَةٍ.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مُحَاسِبٌ وَسَوْفَ عَمِلَتْ.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فِي مُحَاسِبَةٍ.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instructions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المُدَرِّسُ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تَدَرَّبْتُ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سَتَدَرَّبْتُ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سَأَتَدَرَّبُ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سَأَدْرُسُ بِجِدٍّ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controlled?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أُخْتِي مُحَاسِبَةٌ وَسَتَعْمَلُ فِي شَرِكَةٍ.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مُحَاسِبٌ وَسَوْفَ عَمِلَتْ.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فِي مُحَاسِبَةٍ.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find ONE audit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المُطَابَقَةُ · حَرْفُ الجَرِّ · المُسْتَقْبَلُ · الدَّلِيلُ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D3 GRAMMAR SYSTEM (WEBSITE GRAMMAR LABORATORY)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audits before you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AGREEMENT</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مُهَنْدِسَةٌ · تَعْمَلُ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أُخْتِي مُحَاسِبَةٌ وَسَتَعْمَلُ فِي شَرِكَةٍ.</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sister is an accountant and will work in a company.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Person, verb and job match.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PATTERNS</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إِلَى · لِـ · 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الشَّرِكَةُ الَّتِي تُقَدِّمُ تَدْرِيبًا</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company which offers training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Whole phrases, right relative.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EVIDENCE</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سَـ · لِكَيْ · الدَّلِيلُ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أَنَا مُنَظَّمٌ، وَالدَّلِيلُ أَنَّنِي أَحْتَرِمُ المَوَاعِيدَ.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organised; the proof is that I respect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Claim +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grammar laboratory: a condition needs idhā + past, then fa-sa-.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إِذَا نَجَحْتُ فَسَأَدْرُسُ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إِذَا أَنْجَحُ سَوْفَ دَرَسْتُ.</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summer-training advert (heard up to three times): 10 questions, 2 marks each — listen for the FINAL details</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Amal’s career-plan article: locate, infer and prove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application profile (5) + a 120–140-word career article or formal email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interview + a topic conversation about your career plan</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1–5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summer-training advert (1–5)</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opportunity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course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permanent director role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summer training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is essential?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start date?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August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August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August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months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weeks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provided?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and a certificate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accommodation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 salary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opportunity is described?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course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permanent director role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summer training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فُرْصَةِ تَدْرِيبٍ صَيْفِيٍّ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is essential?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teamwork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العَمَلِ ضِمْنَ فَرِيقٍ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start date?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August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 August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August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الثَّانِي مِنْ أَغُسْطُسَ، لَا فِي الثَّانِي عَشَرَ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 months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days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weeks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أَرْبَعَةَ أَسَابِيعَ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provided?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and a certificate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accommodation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high salary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تَدْرِيبًا وَشَهَادَةً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6–10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 summer-training advert (6–10)</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access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applicants send?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essay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deadline?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attitude is encouraged?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responsibility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carelessness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purpose?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advertise a shop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recruit trainees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cancel a course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access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تُقَدِّمُ رَاتِبًا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applicants send?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essay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CV</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إِرْسَالُ سِيرَةٍ ذَاتِيَّةٍ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deadline?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Thursday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يَوْمِ الخَمِيسِ</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attitude is encouraged?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responsibility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carelessness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مَسْؤُولِينَ وَمُسْتَعِدِّينَ لِلتَّعَلُّمِ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purpose?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advertise a shop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recruit trainees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cancel a course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تُعْلِنُ … عَنْ فُرْصَةِ تَدْرِيبٍ</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Amal’s career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خُطَّتِي المِهَنِيَّةُ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أَطْمَحُ إِلَى أَنْ أُصْبِحَ مُهَنْدِسَةَ بِيئَةٍ لِأَنَّنِي أُرِيدُ أَنْ أُسَاهِمَ فِي حَلِّ مُشْكِلَاتِ التَّلَوُّثِ. أَنَا جَيِّدَةٌ فِي العُلُومِ وَالعَمَلِ الجَمَاعِيِّ، وَالدَّلِيلُ عَلَى ذٰلِكَ أَنَّنِي قُدْتُ مَشْرُوعًا مَدْرَسِيًّا عَنْ إِعَادَةِ التَّدْوِيرِ. بَعْدَ التَّخَرُّجِ سَأَدْرُسُ الهَنْدَسَةَ، ثُمَّ سَأَبْحَثُ عَنْ تَدْرِيبٍ عَمَلِيٍّ. عَلَى الرَّغْمِ مِنْ أَنَّ الطَّرِيقَ طَوِيلٌ، فَإِنَّنِي مُسْتَعِدَّةٌ لِلْعَمَلِ بِجِدٍّ.</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does Amal want?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environmental engineer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choose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work fewer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for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solve pollution problems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strength does she name?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and teamwork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 and sales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 and cooking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watched a video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led a recycling project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bought a book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does Amal want?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environmental engineer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مُهَنْدِسَةَ بِيئَةٍ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choose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work fewer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for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solve pollution problems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حَلِّ مُشْكِلَاتِ التَّلَوُّثِ</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strength does she name?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 and teamwork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 and sales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 and cooking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العُلُومِ وَالعَمَلِ الجَمَاعِيِّ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watched a video</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led a recycling project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bought a book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قُدْتُ مَشْرُوعًا … إِعَادَةِ التَّدْوِيرِ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engineering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سَأَدْرُسُ الهَنْدَسَةَ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will follow?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holiday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course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work placement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does she acknowledge?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route is long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job has no value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subject is easy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attitude?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indifferent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determined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uncertain and unwilling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type?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shopping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weather report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career-plan article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will follow?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holiday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course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work placement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تَدْرِيبٍ عَمَلِيٍّ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does she acknowledge?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route is long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job has no value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subject is easy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الطَّرِيقَ 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attitude?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indifferent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determined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uncertain and unwilling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مُسْتَعِدَّةٌ لِلْعَمَلِ بِجِدٍّ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concession?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although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type?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shopping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weather report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career-plan article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أَطْمَحُ … سَأَدْرُسُ …</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QUESTION 1 · APPLICATION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application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الطَّلَبِ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الوَظِيفَةُ المُخْتَارَةُ</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Chosen job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مَهَارَتَانِ</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Two skills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دَلِيلٌ عَلَى مَهَارَةٍ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Evidence for a skill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خِبْرَةٌ سَابِقَةٌ</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Previous experience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خُطَّةٌ مُسْتَقْبَلِيَّةٌ</a:t>
            </a:r>
            <a:endParaRPr lang="ar-SA" sz="22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Future plan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ea typeface="Amiri" pitchFamily="2" charset="-78"/>
                <a:cs typeface="Amiri" pitchFamily="2" charset="-78"/>
              </a:rPr>
              <a:t>مُبَرْمِجٌ</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حَلُّ المُشْكِلَاتِ وَالعَمَلُ الجَمَاعِيُّ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قُدْتُ فَرِيقًا فِي مَشْرُوعٍ</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تَطَوَّعْتُ فِي المَكْتَبَةِ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سَأَدْرُسُ عُلُومَ الحَاسُوبِ</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120–140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article or formal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مَقَالٌ أَوْ رِسَالَةٌ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Marked for (website)</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/5 — all points developed</a:t>
            </a:r>
            <a:endParaRPr lang="en-US" sz="1100" dirty="0"/>
          </a:p>
        </p:txBody>
      </p:sp>
      <p:sp>
        <p:nvSpPr>
          <p:cNvPr id="20" name="Text 17"/>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career choice and why</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varied grammar and vocabulary</a:t>
            </a:r>
            <a:endParaRPr lang="en-US" sz="1100" dirty="0"/>
          </a:p>
        </p:txBody>
      </p:sp>
      <p:sp>
        <p:nvSpPr>
          <p:cNvPr id="25" name="Text 22"/>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The skills it needs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agreement, patterns, spelling</a:t>
            </a:r>
            <a:endParaRPr lang="en-US" sz="1100" dirty="0"/>
          </a:p>
        </p:txBody>
      </p:sp>
      <p:sp>
        <p:nvSpPr>
          <p:cNvPr id="30" name="Text 27"/>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Evidence that you have them</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601968" y="4478731"/>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sawfa · li-kay · idhā</a:t>
            </a:r>
            <a:endParaRPr lang="en-US" sz="1100" dirty="0"/>
          </a:p>
        </p:txBody>
      </p:sp>
      <p:sp>
        <p:nvSpPr>
          <p:cNvPr id="35" name="Text 32"/>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Your education / training route</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601968" y="521573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 al-raghmi min anna … fa-inna</a:t>
            </a:r>
            <a:endParaRPr lang="en-US" sz="1100" dirty="0"/>
          </a:p>
        </p:txBody>
      </p:sp>
      <p:sp>
        <p:nvSpPr>
          <p:cNvPr id="40" name="Text 37"/>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challenge (and how you will face it)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Four paragraphs, four jobs (D3-L09) — then run the four audits (D3-L11).</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and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language</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aṭmaḥu ilā an uṣbiḥa … li-annanī …</a:t>
            </a:r>
            <a:endParaRPr lang="en-US" sz="1100" dirty="0"/>
          </a:p>
        </p:txBody>
      </p:sp>
      <p:sp>
        <p:nvSpPr>
          <p:cNvPr id="20" name="Text 17"/>
          <p:cNvSpPr txBox="1"/>
          <p:nvPr/>
        </p:nvSpPr>
        <p:spPr>
          <a:xfrm>
            <a:off x="566928" y="2267712"/>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State the career and why it interests you.</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wa-l-dalīlu annanī …</a:t>
            </a:r>
            <a:endParaRPr lang="en-US" sz="1100" dirty="0"/>
          </a:p>
        </p:txBody>
      </p:sp>
      <p:sp>
        <p:nvSpPr>
          <p:cNvPr id="25" name="Text 22"/>
          <p:cNvSpPr txBox="1"/>
          <p:nvPr/>
        </p:nvSpPr>
        <p:spPr>
          <a:xfrm>
            <a:off x="566928" y="300471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Name two skills and evidence.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awwalan … thumma … li-kay …</a:t>
            </a:r>
            <a:endParaRPr lang="en-US" sz="1100" dirty="0"/>
          </a:p>
        </p:txBody>
      </p:sp>
      <p:sp>
        <p:nvSpPr>
          <p:cNvPr id="30" name="Text 27"/>
          <p:cNvSpPr txBox="1"/>
          <p:nvPr/>
        </p:nvSpPr>
        <p:spPr>
          <a:xfrm>
            <a:off x="566928" y="3741725"/>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Explain the education or training route.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niqāṭi quwwatī …</a:t>
            </a:r>
            <a:endParaRPr lang="en-US" sz="1100" dirty="0"/>
          </a:p>
        </p:txBody>
      </p:sp>
      <p:sp>
        <p:nvSpPr>
          <p:cNvPr id="35" name="Text 32"/>
          <p:cNvSpPr txBox="1"/>
          <p:nvPr/>
        </p:nvSpPr>
        <p:spPr>
          <a:xfrm>
            <a:off x="566928" y="4478731"/>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Answer an interview question about strengths.</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 al-raghmi min anna …</a:t>
            </a:r>
            <a:endParaRPr lang="en-US" sz="1100" dirty="0"/>
          </a:p>
        </p:txBody>
      </p:sp>
      <p:sp>
        <p:nvSpPr>
          <p:cNvPr id="40" name="Text 37"/>
          <p:cNvSpPr txBox="1"/>
          <p:nvPr/>
        </p:nvSpPr>
        <p:spPr>
          <a:xfrm>
            <a:off x="566928" y="521573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Discuss one challenge and solution.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prepare concise cues, not a script. Be ready for natural follow-up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D3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D3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career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selected D3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My strongest D3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jobs for a man and a woman and say where they work.</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I will study (sa- /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skills with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formal application.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120–140-word career plan with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D4-L01 · The Natural World — Environment and Climate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البِيئَةُ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environment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المَنَاخُ</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climate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الطَّقْسُ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weather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الصَّحْرَاءُ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desert</a:t>
            </a:r>
            <a:pPr indent="0" marL="0">
              <a:buNone/>
            </a:pPr>
            <a:r>
              <a:rPr lang="ar-SA" sz="1000" i="1" dirty="0">
                <a:solidFill>
                  <a:srgbClr val="5A6472"/>
                </a:solidFill>
                <a:latin typeface="Calibri" pitchFamily="34" charset="0"/>
                <a:ea typeface="Amiri" pitchFamily="2" charset="-78"/>
                <a:cs typeface="Amiri" pitchFamily="2" charset="-78"/>
              </a:rPr>
              <a:t>  pl. الصَّحَارِي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الغَابَةُ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forest</a:t>
            </a:r>
            <a:pPr indent="0" marL="0">
              <a:buNone/>
            </a:pPr>
            <a:r>
              <a:rPr lang="ar-SA" sz="1000" i="1" dirty="0">
                <a:solidFill>
                  <a:srgbClr val="5A6472"/>
                </a:solidFill>
                <a:latin typeface="Calibri" pitchFamily="34" charset="0"/>
                <a:ea typeface="Amiri" pitchFamily="2" charset="-78"/>
                <a:cs typeface="Amiri" pitchFamily="2" charset="-78"/>
              </a:rPr>
              <a:t>  pl. الغَابَاتُ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Describe the weather where you live today in one Arabic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الطَّقْسُ اليَوْمَ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D3-L12 section with your lowest score; learn the five environment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then learn the five environment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the climate of a country you know,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D4-L01 · The Natural World — Environment and Climate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العَالَمُ 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D3 complete — well done! Carry the four audits into D4: agreement, patterns, tense, evidence.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D3-L12 · Review and Unit Assessment: Work and Careers</dc:title>
  <dc:subject>PptxGenJS Presentation</dc:subject>
  <dc:creator>Al Madina Online School · Arabic Department</dc:creator>
  <cp:lastModifiedBy>Al Madina Online School · Arabic Department</cp:lastModifiedBy>
  <cp:revision>1</cp:revision>
  <dcterms:created xsi:type="dcterms:W3CDTF">2026-10-11T06:40:49Z</dcterms:created>
  <dcterms:modified xsi:type="dcterms:W3CDTF">2026-10-11T06:40:49Z</dcterms:modified>
</cp:coreProperties>
</file>