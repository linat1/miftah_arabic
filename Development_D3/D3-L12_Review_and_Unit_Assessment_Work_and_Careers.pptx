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2–6 Grammar laboratory (not marked) · 6–7 Assessment map · 7–19 Listening (20) · 19–27 Reading (10) · 27–45 Writing (20) · 45–55 Speaking (10, one-to-one or trusted pairs) · 55–60 Profile and D4 target.
FLEX slides are optional. Use them if the class is moving quickly; otherwise the same activities are on the website for homework.
Content source: Miftah Arabic website, Pathways › Development › D3 Work and Careers › D3-L12. The website D3-L12 is a four-skill, 60-mark unit assessment: the complete D3 language vault (all eleven lessons), a ten-question cumulative grammar laboratory (agreement · patterns · future · evidence), Part A listening (Al-Nour Technology summer-training advert: 10 questions × 2 = 20), Part B reading (Amal’s career-plan article: 10), Part C writing (five-field application profile 5 + 120–140-word article or formal email 15, marked task / range / accuracy) and Part D speaking (interview + topic conversation: 10), then an evidence-based D4 target.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NOTE: the reading text is the D3-L09 model email (Amal) — students who studied it closely have an advantage; that is fine (it rewards revision), but mark the WRITING strictly for originality.
• Website: “Complete each section independently, then record a precise D4 target.”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sections: 01 complete D3 language vault · 02 cumulative grammar laboratory · 03 Part A listening · 04 Part B reading · 05 Part C writing · 06 Part D speaking · 07 reflection and D4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 1 tests one of the words prepared at home at the end of D3-L11. Questions 2–5 are from the website ten-question cumulative grammar laboratory (used diagnostically).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Use it to find ONE audit to check in your writing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REVIEW (website “Cumulative grammar laboratory”, correct answers): مُهَنْدِسَةٌ · يَحْتَاجُ … إِلَى · سَأَتَدَرَّبُ · يَسُرُّنِي أَنْ أَتَقَدَّمَ لِـ · لِكَيْ أَنْجَحَ · أَنَا مُنَظَّمٌ، وَالدَّلِيلُ … · إِذَا نَجَحْتُ فَسَأَدْرُسُ … · الشَّرِكَةُ الَّتِي تُقَدِّمُ تَدْرِيبًا · مَنْ جَدَّ وَجَدَ (effort) · أُخْتِي مُحَاسِبَةٌ وَسَتَعْمَلُ فِي شَرِكَةٍ.
The website language vault (all D3 vocabulary by lesson) is for revision BEFORE the assessment — close it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“Four skills · one evidence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(website Part A, 20 marks: 10 questions × 2). Read the advert twice at natural pace; students answer after the second reading (website: “three listens · final details” — a third listening is allowed).
SCRIPT: تُعْلِنُ شَرِكَةُ النُّورِ التِّقْنِيَّةُ عَنْ فُرْصَةِ تَدْرِيبٍ صَيْفِيٍّ لِلطُّلَّابِ. يُشْتَرَطُ إِجَادَةُ الحَاسُوبِ وَالقُدْرَةُ عَلَى العَمَلِ ضِمْنَ فَرِيقٍ. سَتَبْدَأُ الفُرْصَةُ فِي الثَّانِي مِنْ أَغُسْطُسَ، لَا فِي الثَّانِي عَشَرَ مِنْهُ، وَسَتَسْتَمِرُّ أَرْبَعَةَ أَسَابِيعَ. تُقَدِّمُ الشَّرِكَةُ تَدْرِيبًا وَشَهَادَةً، وَلٰكِنَّهَا لَا تُقَدِّمُ رَاتِبًا. عَلَى المُتَقَدِّمِينَ إِرْسَالُ سِيرَةٍ ذَاتِيَّةٍ قَبْلَ يَوْمِ الخَمِيسِ، وَيَنْبَغِي أَنْ يَكُونُوا مَسْؤُولِينَ وَمُسْتَعِدِّينَ لِلتَّعَلُّمِ.
Private chat: five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2 per correct answer. Website: reveal the script only after the attempt; ask which corrected detail (“the 2nd, not the 12th”) caught people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(website Part A, 20 marks: 10 questions × 2). Read the advert twice at natural pace; students answer after the second reading (website: “three listens · final details” — a third listening is allowed).
SCRIPT: تُعْلِنُ شَرِكَةُ النُّورِ التِّقْنِيَّةُ عَنْ فُرْصَةِ تَدْرِيبٍ صَيْفِيٍّ لِلطُّلَّابِ. يُشْتَرَطُ إِجَادَةُ الحَاسُوبِ وَالقُدْرَةُ عَلَى العَمَلِ ضِمْنَ فَرِيقٍ. سَتَبْدَأُ الفُرْصَةُ فِي الثَّانِي مِنْ أَغُسْطُسَ، لَا فِي الثَّانِي عَشَرَ مِنْهُ، وَسَتَسْتَمِرُّ أَرْبَعَةَ أَسَابِيعَ. تُقَدِّمُ الشَّرِكَةُ تَدْرِيبًا وَشَهَادَةً، وَلٰكِنَّهَا لَا تُقَدِّمُ رَاتِبًا. عَلَى المُتَقَدِّمِينَ إِرْسَالُ سِيرَةٍ ذَاتِيَّةٍ قَبْلَ يَوْمِ الخَمِيسِ، وَيَنْبَغِي أَنْ يَكُونُوا مَسْؤُولِينَ وَمُسْتَعِدِّينَ لِلتَّعَلُّمِ.
Private chat: five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2 per correct answer. Website: reveal the script only after the attempt; ask which corrected detail (“the 2nd, not the 12th”) caught people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Part B). No English support on assessment texts. Website strategy: “Locate · infer ·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 “locate · infer · prove”). Keep the text on the previous slide available (flick back or share it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 “locate · infer · prove”). Keep the text on the previous slide available (flick back or share it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1 (website, 5 marks): one mark per field completed accurately in Arabic (a phrase is enough; spelling and agreement must be correct for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2 (website, 15 marks: Task 5 · Range 5 · Accuracy 5): 120–140 words explaining a career choice, required skills, evidence, the education / training route and one challenge. The D3-L11 teacher model (lawyer) is a full-mark exemplar — show it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(website, 10 marks). Teacher questions (the D3-L11 conversation): مَا المِهْنَةُ الَّتِي تُرِيدُهَا؟ وَلِمَاذَا؟ · مَا مَهَارَاتُكَ؟ وَمَا الدَّلِيلُ؟ · مَا خُطَّتُكَ بَعْدَ المَدْرَسَةِ؟ · مَا نُقْطَةُ قُوَّتِكَ؟ · مَا الصُّعُوبَةُ المُحْتَمَلَةُ؟ وَكَيْفَ سَتَتَغَلَّبُ عَلَيْهَا؟
To a girl: تُرِيدِينَهَا · مَهَارَاتُكِ · خُطَّتُكِ · قُوَّتِكِ · سَتَتَغَلَّبِينَ.
Suggested marking: communication and development 4 · range 3 · accuracy and pronunciation 3. ORGANISATION: one-to-one while others finish writing, or trusted pairs with the teacher as interviewer.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“D3 reflection and D4 readiness”: “Record one secure language feature and one precise next action.”). The bands are a teacher guide in line with the D1 and D2 assessments.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(D4-L01 · The Natural World — Environment and Climate) will spend class time USING this language, so students prepare it tonight — short, simple, easy to access (school guidance: “Simple, Short, Interesting, Relevant, Easy to access”). D4 begins with the natural world (website D4-L01 “The Natural World — Environment and Climate Vocabulary”).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Review and Unit Assessment: Work and Careers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المُرَاجَعَةُ وَتَقْيِيمُ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Show what you can understand and produce about jobs, workplaces, skills, future plans, training routes, applications and work values — then choose one precise next step for D4.</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D3-L12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D3</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laboratory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four audits and 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28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D4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D4: environment.</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grammar laboratory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تَقْيِيمٌ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skill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assessment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instructions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يَحْتَاجُ المُدَرِّسُ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الصَّبْرِ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سَوْفَ تَدَرَّبْتُ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سَتَدَرَّبْتُ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سَأَتَدَرَّبُ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سَأَدْرُسُ بِجِدٍّ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أَنْجَحَ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fully controlled?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مُحَاسِبَةٌ وَسَتَعْمَلُ فِي شَرِكَةٍ.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مُحَاسِبٌ وَسَوْفَ عَمِلَتْ.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فِي مُحَاسِبَةٍ.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تَقْيِيمٌ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skill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assessment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instructions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يَحْتَاجُ المُدَرِّسُ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الصَّبْرِ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laboratory 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سَوْفَ تَدَرَّبْتُ</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سَتَدَرَّبْتُ</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سَأَتَدَرَّبُ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laboratory 3.</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سَأَدْرُسُ بِجِدٍّ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أَنْجَحَ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laboratory 5.</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fully controlled?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أُخْتِي مُحَاسِبَةٌ وَسَتَعْمَلُ فِي شَرِكَةٍ.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أُخْتِي مُحَاسِبٌ وَسَوْفَ عَمِلَتْ.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أُخْتِي فِي مُحَاسِبَةٍ.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laboratory 10.</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Use it to find ONE audit to check in your writing today.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المُطَابَقَةُ · حَرْفُ الجَرِّ · المُسْتَقْبَلُ · الدَّلِيلُ</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REVIEW · THE D3 GRAMMAR SYSTEM (WEBSITE GRAMMAR LABORATORY)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audits before you write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مُرَاجَعَةُ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9154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AGREEMENT</a:t>
            </a:r>
            <a:endParaRPr lang="en-US" sz="850" dirty="0"/>
          </a:p>
        </p:txBody>
      </p:sp>
      <p:sp>
        <p:nvSpPr>
          <p:cNvPr id="18" name="Text 15"/>
          <p:cNvSpPr txBox="1"/>
          <p:nvPr/>
        </p:nvSpPr>
        <p:spPr>
          <a:xfrm>
            <a:off x="9169908"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مُهَنْدِسَةٌ · تَعْمَلُ</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أُخْتِي مُحَاسِبَةٌ وَسَتَعْمَلُ فِي شَرِكَةٍ.</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sister is an accountant and will work in a company.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Person, verb and job match.</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2296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PATTERNS</a:t>
            </a:r>
            <a:endParaRPr lang="en-US" sz="850" dirty="0"/>
          </a:p>
        </p:txBody>
      </p:sp>
      <p:sp>
        <p:nvSpPr>
          <p:cNvPr id="26" name="Text 23"/>
          <p:cNvSpPr txBox="1"/>
          <p:nvPr/>
        </p:nvSpPr>
        <p:spPr>
          <a:xfrm>
            <a:off x="5282184"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إِلَى · لِـ · الَّتِي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الشَّرِكَةُ الَّتِي تُقَدِّمُ تَدْرِيبًا</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company which offers training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Whole phrases, right relative.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FUTURE + EVIDENCE</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سَـ · لِكَيْ · الدَّلِيلُ</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أَنَا مُنَظَّمٌ، وَالدَّلِيلُ أَنَّنِي أَحْتَرِمُ المَوَاعِيدَ.</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am organised; the proof is that I respect deadlines.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Claim + proof.</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grammar laboratory: a condition needs idhā + past, then fa-sa-.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إِذَا نَجَحْتُ فَسَأَدْرُسُ فِي الجَامِعَةِ.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إِذَا أَنْجَحُ سَوْفَ دَرَسْتُ.</a:t>
            </a:r>
            <a:endParaRPr lang="ar-SA" sz="18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summer-training advert (heard up to three times): 10 questions, 2 marks each — listen for the FINAL details</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Amal’s career-plan article: locate, infer and prove — 10 questions</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five-field application profile (5) + a 120–140-word career article or formal email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interview + a topic conversation about your career plan</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QUESTIONS 1–5 · 2 MARKS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The summer-training advert (1–5)</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opportunity is described?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 course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permanent director role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summer training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skill is essential?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driving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teamwork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cooking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corrected start date?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 August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 August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August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it last?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 months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days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 weeks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provided?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training and a certificate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free accommodation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high salary</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QUESTIONS 1–5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opportunity is described?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 course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permanent director role</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summer training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فُرْصَةِ تَدْرِيبٍ صَيْفِيٍّ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skill is essential?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driving</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teamwork</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cooking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العَمَلِ ضِمْنَ فَرِيقٍ</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corrected start date?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12 August</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 August</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 August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الثَّانِي مِنْ أَغُسْطُسَ، لَا فِي الثَّانِي عَشَرَ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it last?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 months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days</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 weeks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أَرْبَعَةَ أَسَابِيعَ</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provided?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training and a certificate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free accommodation</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high salary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تَدْرِيبًا وَشَهَادَةً</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QUESTIONS 6–10 · 2 MARKS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summer-training advert (6–10)</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provided?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access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salary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reference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applicants send?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essay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CV</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passport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deadline?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Friday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Thursday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attitude is encouraged?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responsibility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carelessness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silence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overall purpose?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advertise a shop</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recruit trainees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cancel a course</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QUESTIONS 6–10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provided?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computer access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salary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reference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تُقَدِّمُ رَاتِبًا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must applicants send?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essay</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CV</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passport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إِرْسَالُ سِيرَةٍ ذَاتِيَّةٍ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deadline?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Friday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Monday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Thursday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قَبْلَ يَوْمِ الخَمِيسِ</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attitude is encouraged?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responsibility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carelessness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silence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مَسْؤُولِينَ وَمُسْتَعِدِّينَ لِلتَّعَلُّمِ</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overall purpose?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advertise a shop</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recruit trainees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cancel a course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تُعْلِنُ … عَنْ فُرْصَةِ تَدْرِيبٍ</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Amal’s career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خُطَّتِي المِهَنِيَّةُ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أَطْمَحُ إِلَى أَنْ أُصْبِحَ مُهَنْدِسَةَ بِيئَةٍ لِأَنَّنِي أُرِيدُ أَنْ أُسَاهِمَ فِي حَلِّ مُشْكِلَاتِ التَّلَوُّثِ. أَنَا جَيِّدَةٌ فِي العُلُومِ وَالعَمَلِ الجَمَاعِيِّ، وَالدَّلِيلُ عَلَى ذٰلِكَ أَنَّنِي قُدْتُ مَشْرُوعًا مَدْرَسِيًّا عَنْ إِعَادَةِ التَّدْوِيرِ. بَعْدَ التَّخَرُّجِ سَأَدْرُسُ الهَنْدَسَةَ، ثُمَّ سَأَبْحَثُ عَنْ تَدْرِيبٍ عَمَلِيٍّ. عَلَى الرَّغْمِ مِنْ أَنَّ الطَّرِيقَ طَوِيلٌ، فَإِنَّنِي مُسْتَعِدَّةٌ لِلْعَمَلِ بِجِدٍّ.</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job does Amal want?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accountant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environmental engineer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journalist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choose it?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work fewer hours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travel for free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solve pollution problems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strength does she name?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 and teamwork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driving and sales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drawing and cooking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does she give?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watched a video</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led a recycling project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bought a book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she study?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engineering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law</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job does Amal want?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accountant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environmental engineer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journalist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مُهَنْدِسَةَ بِيئَةٍ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choose it?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work fewer hours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travel for free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solve pollution problems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حَلِّ مُشْكِلَاتِ التَّلَوُّثِ</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strength does she name?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 and teamwork</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driving and sales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drawing and cooking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العُلُومِ وَالعَمَلِ الجَمَاعِيِّ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does she give?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watched a video</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led a recycling project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bought a book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قُدْتُ مَشْرُوعًا … إِعَادَةِ التَّدْوِيرِ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she study?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engineering</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law</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medicine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سَأَدْرُسُ الهَنْدَسَةَ</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practical step will follow?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holiday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course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work placement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challenge does she acknowledge?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route is long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job has no value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subject is easy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attitude?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indifferent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determined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uncertain and unwilling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concession?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الرَّغْمِ مِنْ أَنَّ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text type?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shopping list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weather report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career-plan article</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practical step will follow?</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holiday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course</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work placement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تَدْرِيبٍ عَمَلِيٍّ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challenge does she acknowledge?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route is long</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job has no value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subject is easy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الطَّرِيقَ طَوِيلٌ</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attitude?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indifferent</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determined</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uncertain and unwilling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مُسْتَعِدَّةٌ لِلْعَمَلِ بِجِدٍّ</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concession?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 الرَّغْمِ مِنْ أَنَّ</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although</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text type?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shopping list</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weather report</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career-plan article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أَطْمَحُ … سَأَدْرُسُ …</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WRITING · QUESTION 1 · APPLICATION PROFILE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application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الطَّلَبِ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382219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Field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3840480" y="2267712"/>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الوَظِيفَةُ المُخْتَارَةُ</a:t>
            </a:r>
            <a:endParaRPr lang="ar-SA" sz="2200" dirty="0"/>
          </a:p>
        </p:txBody>
      </p:sp>
      <p:sp>
        <p:nvSpPr>
          <p:cNvPr id="22" name="Text 19"/>
          <p:cNvSpPr txBox="1"/>
          <p:nvPr/>
        </p:nvSpPr>
        <p:spPr>
          <a:xfrm>
            <a:off x="56692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Chosen job</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3840480" y="300471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مَهَارَتَانِ</a:t>
            </a:r>
            <a:endParaRPr lang="ar-SA" sz="2200" dirty="0"/>
          </a:p>
        </p:txBody>
      </p:sp>
      <p:sp>
        <p:nvSpPr>
          <p:cNvPr id="28" name="Text 25"/>
          <p:cNvSpPr txBox="1"/>
          <p:nvPr/>
        </p:nvSpPr>
        <p:spPr>
          <a:xfrm>
            <a:off x="56692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Two skills</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3840480" y="3741725"/>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دَلِيلٌ عَلَى مَهَارَةٍ</a:t>
            </a:r>
            <a:endParaRPr lang="ar-SA" sz="2200" dirty="0"/>
          </a:p>
        </p:txBody>
      </p:sp>
      <p:sp>
        <p:nvSpPr>
          <p:cNvPr id="34" name="Text 31"/>
          <p:cNvSpPr txBox="1"/>
          <p:nvPr/>
        </p:nvSpPr>
        <p:spPr>
          <a:xfrm>
            <a:off x="56692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Evidence for a skill</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3840480" y="4478731"/>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خِبْرَةٌ سَابِقَةٌ</a:t>
            </a:r>
            <a:endParaRPr lang="ar-SA" sz="2200" dirty="0"/>
          </a:p>
        </p:txBody>
      </p:sp>
      <p:sp>
        <p:nvSpPr>
          <p:cNvPr id="40" name="Text 37"/>
          <p:cNvSpPr txBox="1"/>
          <p:nvPr/>
        </p:nvSpPr>
        <p:spPr>
          <a:xfrm>
            <a:off x="56692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Previous experience</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3840480" y="521573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خُطَّةٌ مُسْتَقْبَلِيَّةٌ</a:t>
            </a:r>
            <a:endParaRPr lang="ar-SA" sz="2200" dirty="0"/>
          </a:p>
        </p:txBody>
      </p:sp>
      <p:sp>
        <p:nvSpPr>
          <p:cNvPr id="46" name="Text 43"/>
          <p:cNvSpPr txBox="1"/>
          <p:nvPr/>
        </p:nvSpPr>
        <p:spPr>
          <a:xfrm>
            <a:off x="56692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Future plan</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Example: </a:t>
            </a:r>
            <a:pPr algn="l" indent="0" marL="0">
              <a:buNone/>
            </a:pPr>
            <a:r>
              <a:rPr lang="ar-SA" altLang="en-US" sz="1500" b="1" dirty="0">
                <a:solidFill>
                  <a:srgbClr val="1B3B6F"/>
                </a:solidFill>
                <a:latin typeface="Amiri" pitchFamily="2" charset="-78"/>
                <a:ea typeface="Amiri" pitchFamily="2" charset="-78"/>
                <a:cs typeface="Amiri" pitchFamily="2" charset="-78"/>
              </a:rPr>
              <a:t>مُبَرْمِجٌ</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حَلُّ المُشْكِلَاتِ وَالعَمَلُ الجَمَاعِيُّ</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قُدْتُ فَرِيقًا فِي مَشْرُوعٍ</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تَطَوَّعْتُ فِي المَكْتَبَةِ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سَأَدْرُسُ عُلُومَ الحَاسُوبِ</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2 · 120–140 WORDS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Career article or formal 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مَقَالٌ أَوْ رِسَالَةٌ رَسْمِيَّةٌ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Marked for (website)</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Include all five points</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6601968" y="2267712"/>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/5 — all points developed</a:t>
            </a:r>
            <a:endParaRPr lang="en-US" sz="1100" dirty="0"/>
          </a:p>
        </p:txBody>
      </p:sp>
      <p:sp>
        <p:nvSpPr>
          <p:cNvPr id="20" name="Text 17"/>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Your career choice and why</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6601968" y="3004718"/>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 — varied grammar and vocabulary</a:t>
            </a:r>
            <a:endParaRPr lang="en-US" sz="1100" dirty="0"/>
          </a:p>
        </p:txBody>
      </p:sp>
      <p:sp>
        <p:nvSpPr>
          <p:cNvPr id="25" name="Text 22"/>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The skills it needs</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6601968" y="3741725"/>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 — agreement, patterns, spelling</a:t>
            </a:r>
            <a:endParaRPr lang="en-US" sz="1100" dirty="0"/>
          </a:p>
        </p:txBody>
      </p:sp>
      <p:sp>
        <p:nvSpPr>
          <p:cNvPr id="30" name="Text 27"/>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Evidence that you have them</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6601968" y="4478731"/>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sawfa · li-kay · idhā</a:t>
            </a:r>
            <a:endParaRPr lang="en-US" sz="1100" dirty="0"/>
          </a:p>
        </p:txBody>
      </p:sp>
      <p:sp>
        <p:nvSpPr>
          <p:cNvPr id="35" name="Text 32"/>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Your education / training route</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6601968" y="5215738"/>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ʿalā al-raghmi min anna … fa-inna</a:t>
            </a:r>
            <a:endParaRPr lang="en-US" sz="1100" dirty="0"/>
          </a:p>
        </p:txBody>
      </p:sp>
      <p:sp>
        <p:nvSpPr>
          <p:cNvPr id="40" name="Text 37"/>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One challenge (and how you will face it)</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Independent evidence: no translation software or AI. Four paragraphs, four jobs (D3-L09) — then run the four audits (D3-L11).</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D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Interview and 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Useful language</a:t>
            </a:r>
            <a:endParaRPr lang="en-US" sz="1100" dirty="0"/>
          </a:p>
        </p:txBody>
      </p:sp>
      <p:sp>
        <p:nvSpPr>
          <p:cNvPr id="17" name="Text 14"/>
          <p:cNvSpPr txBox="1"/>
          <p:nvPr/>
        </p:nvSpPr>
        <p:spPr>
          <a:xfrm>
            <a:off x="53035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Cue (website)</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aṭmaḥu ilā an uṣbiḥa … li-annanī …</a:t>
            </a:r>
            <a:endParaRPr lang="en-US" sz="1100" dirty="0"/>
          </a:p>
        </p:txBody>
      </p:sp>
      <p:sp>
        <p:nvSpPr>
          <p:cNvPr id="20" name="Text 17"/>
          <p:cNvSpPr txBox="1"/>
          <p:nvPr/>
        </p:nvSpPr>
        <p:spPr>
          <a:xfrm>
            <a:off x="566928" y="2267712"/>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State the career and why it interests you.</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wa-l-dalīlu annanī …</a:t>
            </a:r>
            <a:endParaRPr lang="en-US" sz="1100" dirty="0"/>
          </a:p>
        </p:txBody>
      </p:sp>
      <p:sp>
        <p:nvSpPr>
          <p:cNvPr id="25" name="Text 22"/>
          <p:cNvSpPr txBox="1"/>
          <p:nvPr/>
        </p:nvSpPr>
        <p:spPr>
          <a:xfrm>
            <a:off x="566928" y="3004718"/>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Name two skills and evidence.</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awwalan … thumma … li-kay …</a:t>
            </a:r>
            <a:endParaRPr lang="en-US" sz="1100" dirty="0"/>
          </a:p>
        </p:txBody>
      </p:sp>
      <p:sp>
        <p:nvSpPr>
          <p:cNvPr id="30" name="Text 27"/>
          <p:cNvSpPr txBox="1"/>
          <p:nvPr/>
        </p:nvSpPr>
        <p:spPr>
          <a:xfrm>
            <a:off x="566928" y="3741725"/>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Explain the education or training route.</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min niqāṭi quwwatī …</a:t>
            </a:r>
            <a:endParaRPr lang="en-US" sz="1100" dirty="0"/>
          </a:p>
        </p:txBody>
      </p:sp>
      <p:sp>
        <p:nvSpPr>
          <p:cNvPr id="35" name="Text 32"/>
          <p:cNvSpPr txBox="1"/>
          <p:nvPr/>
        </p:nvSpPr>
        <p:spPr>
          <a:xfrm>
            <a:off x="566928" y="4478731"/>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Answer an interview question about strengths.</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ʿalā al-raghmi min anna …</a:t>
            </a:r>
            <a:endParaRPr lang="en-US" sz="1100" dirty="0"/>
          </a:p>
        </p:txBody>
      </p:sp>
      <p:sp>
        <p:nvSpPr>
          <p:cNvPr id="40" name="Text 37"/>
          <p:cNvSpPr txBox="1"/>
          <p:nvPr/>
        </p:nvSpPr>
        <p:spPr>
          <a:xfrm>
            <a:off x="566928" y="5215738"/>
            <a:ext cx="6766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Discuss one challenge and solution.</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prepare concise cues, not a script. Be ready for natural follow-up questions.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D3 FOUR-SKILLS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D3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Teacher guide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confident career communication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revisit selected D3 lessons with guided practice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reflection: My strongest D3 evidence was … · My precise next action is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jobs for a man and a woman and say where they work.</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what I will study (sa- / sawfa).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skills with evidence.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 formal application.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 120–140-word career plan with a concession.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D3-L12 · D3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D4-L01: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D4-L01 · The Natural World — Environment and Climate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البِيئَةُ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environment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المَنَاخُ</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climate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الطَّقْسُ</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weather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الصَّحْرَاءُ</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desert</a:t>
            </a:r>
            <a:pPr indent="0" marL="0">
              <a:buNone/>
            </a:pPr>
            <a:r>
              <a:rPr lang="ar-SA" sz="1000" i="1" dirty="0">
                <a:solidFill>
                  <a:srgbClr val="5A6472"/>
                </a:solidFill>
                <a:latin typeface="Calibri" pitchFamily="34" charset="0"/>
                <a:ea typeface="Amiri" pitchFamily="2" charset="-78"/>
                <a:cs typeface="Amiri" pitchFamily="2" charset="-78"/>
              </a:rPr>
              <a:t>  pl. الصَّحَارِي</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الغَابَةُ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forest</a:t>
            </a:r>
            <a:pPr indent="0" marL="0">
              <a:buNone/>
            </a:pPr>
            <a:r>
              <a:rPr lang="ar-SA" sz="1000" i="1" dirty="0">
                <a:solidFill>
                  <a:srgbClr val="5A6472"/>
                </a:solidFill>
                <a:latin typeface="Calibri" pitchFamily="34" charset="0"/>
                <a:ea typeface="Amiri" pitchFamily="2" charset="-78"/>
                <a:cs typeface="Amiri" pitchFamily="2" charset="-78"/>
              </a:rPr>
              <a:t>  pl. الغَابَاتُ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Describe the weather where you live today in one Arabic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الطَّقْسُ اليَوْمَ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website D3-L12 section with your lowest score; learn the five environment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one paragraph of your assessed article, then learn the five environment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about the climate of a country you know, using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D4-L01 · The Natural World — Environment and Climate</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العَالَمُ الطَّبِيعِيُّ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D3 complete — well done! Carry the four audits into D4: agreement, patterns, tense, evidence.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D3-L12 · Review and Unit Assessment: Work and Careers</dc:title>
  <dc:subject>PptxGenJS Presentation</dc:subject>
  <dc:creator>Al Madina Online School · Arabic Department</dc:creator>
  <cp:lastModifiedBy>Al Madina Online School · Arabic Department</cp:lastModifiedBy>
  <cp:revision>1</cp:revision>
  <dcterms:created xsi:type="dcterms:W3CDTF">2026-10-11T06:40:49Z</dcterms:created>
  <dcterms:modified xsi:type="dcterms:W3CDTF">2026-10-11T06:40:49Z</dcterms:modified>
</cp:coreProperties>
</file>