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D3-L10. The website lesson “Listening — Work and Career Conversations”: vocabulary, grammar rules and quiz, patterns, common mistakes, sorter, listening, reading, speaking prompts and model, writing task and model, differentiation, final check and the lesson mission. Picture match: website visual game “Listening — Work and Career Conversations”.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speakers. Do them as three cycles: predict → listen twice → read the script → answers.
• Core: label each question (place · job · reason · number) and answer the first-detail questions. Develop: all questions + the FINAL detail after a change (ثُمَّ غَيَّرْتُ رَأْيِي · لَا أَرْبَعَةَ). Stretch: reconstruct the three speakers in notes (website writing task) and name each distractor.
• Read each text yourself at natural speed. Do NOT show the script until after the second listening.
• Same strategy family as D1-L10 and F6-L10; NEW traps today: “I used to … but now …”, “I was going to … then I changed my mind”, “three, not four”.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D3-L09. Questions 3–5 retrieve D3-L09 (sequence), D3-L04 (future vs past) and D3-L08 (negation in adverts).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thing you hear is often NOT the answer. Wait for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تغیر، قرار (as in قرارداد, a resolution), فائدہ are all shared. Today’s key phrase غَيَّرْتُ رَأْيِي = “I changed my opinion” = Urdu میں نے اپنی رائے بدل 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Plans and qualifications (website vocabulary (1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Plans and qualifications (website vocabulary (2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Plans and qualifications (website vocabulary (3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Attitude (website vocabulary (1 of 2)). Hear → Say → See → Use. Transliteration is printed for Core students (cover it for Develop/Stretch).
Attitude and change signals: وَلٰكِنَّ and بَيْنَمَا often come just before the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Attitude (website vocabulary (2 of 2)). Hear → Say → See → Use. Transliteration is printed for Core students (cover it for Develop/Stretch).
Attitude and change signals: وَلٰكِنَّ and بَيْنَمَا often come just before the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“Change of plan” (كَانَ سَـ … وَلٰكِنَّهُ قَرَّرَ أَنْ …: listen for the final decision, not the abandoned first plan) and “Exact detail” (لَيْسَ … بَلْ …: the correction after بل is the detail to record). Website example: كَانَ سَيَدْرُسُ القَانُونَ، وَلٰكِنَّهُ قَرَّرَ أَنْ يَدْرُسَ الإِعْلَامَ · لَا يَعْمَلُ يَوْمَ الجُمُعَةِ بَلْ يَوْمَ السَّبْتِ. Rows 1–3 are the three speakers of today’s website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“Reported statement” (قَالَ إِنَّهُ / قَالَتْ إِنَّهَا: use the attached pronoun to retain speaker reference) and “Attitude signal” (يُفَضِّلُ / يَشْكُو مِنْ / يَشْعُرُ بِـ reveal the speaker’s evaluation). Website examples as shown.
After قَالَ use إِنَّ (with kasra), not أَنَّ — a fixed rule of reported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“تَتَبُّعُ المُتَحَدِّثِ وَالتَّغْيِيرِ وَالتَّفَاصِيلِ”
• Reported statement: Use the attached pronoun to retain speaker reference.
• Change of plan: Listen for the final decision, not the abandoned first plan.
• Exact detail: The correction after بل is the detail to record.
• Attitude signal: These verbs reveal the speaker’s evaluation.
Website common error: Do not choose the first detail you hear: wait for لٰكِنَّ, ثُمَّ غَيَّرْتُ رَأْيِي, لَا or بَلْ, and record the final detail (website reading strategy text;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on speaker 2 BEFORE students hear it, using only the slide. The model uses today’s reporting structure (قَالَتْ إِنَّهَا …) and the D3-L09 prep word أَسْتَبْعِدُ.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From the three speakers: is it the first (abandoned) detail or the final one?
Then report each final plan aloud: قَالَ إِنَّهُ … / قَالَتْ إِنَّهَا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From the three speakers: is it the first (abandoned) detail or the final one?
Then report each final plan aloud: قَالَ إِنَّهُ … / قَالَتْ إِنَّهَا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المُتَحَدِّثُ الأَوَّلُ: كُنْتُ أَعْمَلُ فِي مَتْجَرٍ بَعْدَ المَدْرَسَةِ، لٰكِنَّنِي بَدَأْتُ تَدْرِيبًا فِي مَكْتَبِ مُحَاسَبَةٍ هٰذَا الشَّهْرَ. العَمَلُ أَصْعَبُ، وَلٰكِنَّهُ أَكْثَرُ فَائِدَةً لِخُطَّتِي.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 1 (her first plan). Develop/Stretch: all three — question 2 is her FINAL choice.
Listen 1: just listen. Listen 2: note answers. Then chat the letters.
Support: after the second listening, show the read-along slide (Arabic + English, line by line) for Core students.
SCRIPT (read aloud):
المُتَحَدِّثَةُ الثَّانِيَةُ: كُنْتُ سَأَدْرُسُ القَانُونَ، ثُمَّ غَيَّرْتُ رَأْيِي وَقَرَّرْتُ دِرَاسَةَ الصَّحَافَةِ لِأَنَّنِي أُحِبُّ الكِتَابَةَ.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 2. Develop/Stretch: both — question 1 is the corrected number.
Listen 1: just listen. Listen 2: note answers. Then chat the letters.
Support: after the second listening, show the read-along slide (Arabic + English, line by line) for Core students.
SCRIPT (read aloud):
المُتَحَدِّثُ الثَّالِثُ: أَعْمَلُ مِنَ المَنْزِلِ ثَلَاثَةَ أَيَّامٍ، لَا أَرْبَعَةَ، وَهٰذَا يُسَاعِدُنِي عَلَى تَوْفِيرِ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المُشَتِّتُ؟ (And what was the distractor?)
B: القَانُونُ، لِأَنَّهَا غَيَّرَتْ رَأْيَهَا. (Law, because she changed her mind.)
Teacher-written prompts and model (the website prompts are generic). Students explain HOW they listened. Model continues: A: وَمَا المُشَتِّتُ؟ B: القَانُونُ، لِأَنَّهَا غَيَّرَتْ رَأْيَهَا.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concise notes reconstructing the speakers’ final jobs, plans, reasons and changed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notes (the website model for this lesson is a placeholder). Evidence: كَانَ يَعْمَلُ … وَلٰكِنَّهُ الآنَ · قَالَ إِنَّ … · كَانَتْ سَتَدْرُسُ … ثُمَّ قَرَّرَتْ · ثَلَاثَةَ أَيَّامٍ، لَا أَرْبَعَةَ · المُشَتِّتَاتُ.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(D3-L11 · D3 Consolidation — Error Analysis and Assessment Preparation) will spend class time USING this language, so students prepare it tonight — short, simple, easy to access (school guidance: “Simple, Short, Interesting, Relevant, Easy to access”). The five words prepare the D3-L11 review lesson (error analysis and assessment preparation).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Work and Career Conversations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مُحَادَثَاتُ العَمَلِ وَالمَسِيرَةِ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track WHO is speaking, catch the FINAL plan after a change of mind (</a:t>
            </a:r>
            <a:pPr algn="l" indent="0" marL="0">
              <a:buNone/>
            </a:pPr>
            <a:r>
              <a:rPr lang="ar-SA" altLang="en-US" sz="1800" dirty="0">
                <a:solidFill>
                  <a:srgbClr val="C6D2E6"/>
                </a:solidFill>
                <a:latin typeface="Amiri" pitchFamily="2" charset="-78"/>
                <a:ea typeface="Amiri" pitchFamily="2" charset="-78"/>
                <a:cs typeface="Amiri" pitchFamily="2" charset="-78"/>
              </a:rPr>
              <a:t>كُنْتُ سَأَ … ثُمَّ غَيَّرْتُ رَأْيِي</a:t>
            </a:r>
            <a:pPr algn="l" indent="0" marL="0">
              <a:buNone/>
            </a:pPr>
            <a:r>
              <a:rPr lang="en-US" sz="1400" dirty="0">
                <a:solidFill>
                  <a:srgbClr val="C6D2E6"/>
                </a:solidFill>
                <a:latin typeface="Calibri" pitchFamily="34" charset="0"/>
                <a:cs typeface="Amiri" pitchFamily="2" charset="-78"/>
              </a:rPr>
              <a:t>), the corrected detail after </a:t>
            </a:r>
            <a:pPr algn="l" indent="0" marL="0">
              <a:buNone/>
            </a:pPr>
            <a:r>
              <a:rPr lang="ar-SA" altLang="en-US" sz="1800" dirty="0">
                <a:solidFill>
                  <a:srgbClr val="C6D2E6"/>
                </a:solidFill>
                <a:latin typeface="Amiri" pitchFamily="2" charset="-78"/>
                <a:ea typeface="Amiri" pitchFamily="2" charset="-78"/>
                <a:cs typeface="Amiri" pitchFamily="2" charset="-78"/>
              </a:rPr>
              <a:t>لَا / بَلْ</a:t>
            </a:r>
            <a:pPr algn="l" indent="0" marL="0">
              <a:buNone/>
            </a:pPr>
            <a:r>
              <a:rPr lang="en-US" sz="1400" dirty="0">
                <a:solidFill>
                  <a:srgbClr val="C6D2E6"/>
                </a:solidFill>
                <a:latin typeface="Calibri" pitchFamily="34" charset="0"/>
                <a:cs typeface="Amiri" pitchFamily="2" charset="-78"/>
              </a:rPr>
              <a:t>, and the speaker’s attitude.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D3-L10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 said it? What changed? What is the final detail?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first plan / final plan, fix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script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أَسْتَبْعِدُ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eliminate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check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required in the advert: </a:t>
            </a:r>
            <a:pPr algn="l" indent="0" marL="0">
              <a:buNone/>
            </a:pPr>
            <a:r>
              <a:rPr lang="ar-SA" altLang="en-US" sz="1650" b="1" dirty="0">
                <a:solidFill>
                  <a:srgbClr val="1B3B6F"/>
                </a:solidFill>
                <a:latin typeface="Amiri" pitchFamily="2" charset="-78"/>
                <a:ea typeface="Amiri" pitchFamily="2" charset="-78"/>
                <a:cs typeface="Amiri" pitchFamily="2" charset="-78"/>
              </a:rPr>
              <a:t>لَا تُشْتَرَطُ الخِبْرَةُ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script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أَسْتَبْعِدُ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eliminate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predict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check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أَدْرُسُ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future.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required in the advert: </a:t>
            </a:r>
            <a:pPr algn="l" indent="0" marL="0">
              <a:buNone/>
            </a:pPr>
            <a:r>
              <a:rPr lang="ar-SA" altLang="en-US" sz="1650" b="1" dirty="0">
                <a:solidFill>
                  <a:srgbClr val="1B3B6F"/>
                </a:solidFill>
                <a:latin typeface="Amiri" pitchFamily="2" charset="-78"/>
                <a:ea typeface="Amiri" pitchFamily="2" charset="-78"/>
                <a:cs typeface="Amiri" pitchFamily="2" charset="-78"/>
              </a:rPr>
              <a:t>لَا تُشْتَرَطُ الخِبْرَةُ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lā = not.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first thing you hear is often NOT the answer. Wait for the change.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كُنْتُ سَأَدْرُسُ القَانُونَ،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ثُمَّ غَيَّرْتُ رَأْيِي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ثَلَاثَةَ أَيَّامٍ،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لَا أَرْبَعَةَ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type of detail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who is speaking and report it (</a:t>
            </a:r>
            <a:pPr algn="l" indent="0" marL="0">
              <a:buNone/>
            </a:pPr>
            <a:r>
              <a:rPr lang="ar-SA" altLang="en-US" sz="1700" dirty="0">
                <a:solidFill>
                  <a:srgbClr val="1F2A37"/>
                </a:solidFill>
                <a:latin typeface="Amiri" pitchFamily="2" charset="-78"/>
                <a:ea typeface="Amiri" pitchFamily="2" charset="-78"/>
                <a:cs typeface="Amiri" pitchFamily="2" charset="-78"/>
              </a:rPr>
              <a:t>قَالَ إِنَّهُ / قَالَتْ إِنَّهَا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the final plan after a change of mind or a correction.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speaker’s attitude from verbs and adjectives.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label what each question asks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a place, a job and a number.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the final plan after a 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a speaker said.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each distractor and why it is wrong.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reconstruct three speakers in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signals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Plans and qualifications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Attitude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غَيَّرْتُ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‎تغیر / تبدیلی‎ </a:t>
            </a:r>
            <a:pPr indent="0" marL="0">
              <a:buNone/>
            </a:pPr>
            <a:r>
              <a:rPr lang="en-US" sz="950" b="1" dirty="0">
                <a:solidFill>
                  <a:srgbClr val="2E8B57"/>
                </a:solidFill>
                <a:latin typeface="Calibri" pitchFamily="34" charset="0"/>
                <a:cs typeface="Amiri" pitchFamily="2" charset="-78"/>
              </a:rPr>
              <a:t> taghayyur · change → I changed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قَرَارٌ / قَرَّرْتُ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‎قرار‎ </a:t>
            </a:r>
            <a:pPr indent="0" marL="0">
              <a:buNone/>
            </a:pPr>
            <a:r>
              <a:rPr lang="en-US" sz="950" b="1" dirty="0">
                <a:solidFill>
                  <a:srgbClr val="2E8B57"/>
                </a:solidFill>
                <a:latin typeface="Calibri" pitchFamily="34" charset="0"/>
                <a:cs typeface="Amiri" pitchFamily="2" charset="-78"/>
              </a:rPr>
              <a:t> qarār · decision → I decided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فَائِدَةٌ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‎فائدہ‎ </a:t>
            </a:r>
            <a:pPr indent="0" marL="0">
              <a:buNone/>
            </a:pPr>
            <a:r>
              <a:rPr lang="en-US" sz="950" b="1" dirty="0">
                <a:solidFill>
                  <a:srgbClr val="2E8B57"/>
                </a:solidFill>
                <a:latin typeface="Calibri" pitchFamily="34" charset="0"/>
                <a:cs typeface="Amiri" pitchFamily="2" charset="-78"/>
              </a:rPr>
              <a:t> fāʾida · benefit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تَوْفِيرٌ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‎وافر‎ </a:t>
            </a:r>
            <a:pPr indent="0" marL="0">
              <a:buNone/>
            </a:pPr>
            <a:r>
              <a:rPr lang="en-US" sz="950" b="1" dirty="0">
                <a:solidFill>
                  <a:srgbClr val="2E8B57"/>
                </a:solidFill>
                <a:latin typeface="Calibri" pitchFamily="34" charset="0"/>
                <a:cs typeface="Amiri" pitchFamily="2" charset="-78"/>
              </a:rPr>
              <a:t> wāfir · plenty → saving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and qualifications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and qualifications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and qualifications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Attitude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Attitude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TRAP AND THE ANSWER (WEBSITE RULES 2–3)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First you hear … then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التَّغْيِيرُ وَالتَّصْحِيحُ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7" name="Text 14"/>
          <p:cNvSpPr txBox="1"/>
          <p:nvPr/>
        </p:nvSpPr>
        <p:spPr>
          <a:xfrm>
            <a:off x="65653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Trap</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script)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537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accounting office</a:t>
            </a:r>
            <a:endParaRPr lang="en-US" sz="1100" dirty="0"/>
          </a:p>
        </p:txBody>
      </p:sp>
      <p:sp>
        <p:nvSpPr>
          <p:cNvPr id="21" name="Text 18"/>
          <p:cNvSpPr txBox="1"/>
          <p:nvPr/>
        </p:nvSpPr>
        <p:spPr>
          <a:xfrm>
            <a:off x="6601968" y="2267712"/>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shop (past)</a:t>
            </a:r>
            <a:endParaRPr lang="en-US" sz="1100" dirty="0"/>
          </a:p>
        </p:txBody>
      </p:sp>
      <p:sp>
        <p:nvSpPr>
          <p:cNvPr id="22" name="Text 19"/>
          <p:cNvSpPr txBox="1"/>
          <p:nvPr/>
        </p:nvSpPr>
        <p:spPr>
          <a:xfrm>
            <a:off x="548640" y="2286000"/>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كُنْتُ أَعْمَلُ</a:t>
            </a:r>
            <a:pPr rtl="1" algn="ctr" indent="0" marL="0">
              <a:buNone/>
            </a:pPr>
            <a:r>
              <a:rPr lang="ar-SA" altLang="en-US" sz="2100" b="1" dirty="0">
                <a:solidFill>
                  <a:srgbClr val="1B3B6F"/>
                </a:solidFill>
                <a:latin typeface="Amiri" pitchFamily="2" charset="-78"/>
                <a:ea typeface="Amiri" pitchFamily="2" charset="-78"/>
                <a:cs typeface="Amiri" pitchFamily="2" charset="-78"/>
              </a:rPr>
              <a:t> فِي مَتْجَرٍ، </a:t>
            </a:r>
            <a:pPr rtl="1" algn="ctr" indent="0" marL="0">
              <a:buNone/>
            </a:pPr>
            <a:r>
              <a:rPr lang="ar-SA" altLang="en-US" sz="2100" b="1" dirty="0">
                <a:solidFill>
                  <a:srgbClr val="0E7C86"/>
                </a:solidFill>
                <a:latin typeface="Amiri" pitchFamily="2" charset="-78"/>
                <a:ea typeface="Amiri" pitchFamily="2" charset="-78"/>
                <a:cs typeface="Amiri" pitchFamily="2" charset="-78"/>
              </a:rPr>
              <a:t>لٰكِنَّنِي بَدَأْتُ</a:t>
            </a:r>
            <a:pPr rtl="1" algn="ctr" indent="0" marL="0">
              <a:buNone/>
            </a:pPr>
            <a:r>
              <a:rPr lang="ar-SA" altLang="en-US" sz="2100" b="1" dirty="0">
                <a:solidFill>
                  <a:srgbClr val="1B3B6F"/>
                </a:solidFill>
                <a:latin typeface="Amiri" pitchFamily="2" charset="-78"/>
                <a:ea typeface="Amiri" pitchFamily="2" charset="-78"/>
                <a:cs typeface="Amiri" pitchFamily="2" charset="-78"/>
              </a:rPr>
              <a:t> تَدْرِيبًا فِي مَكْتَبِ مُحَاسَبَةٍ.</a:t>
            </a:r>
            <a:endParaRPr lang="ar-SA" sz="2100" dirty="0"/>
          </a:p>
        </p:txBody>
      </p:sp>
      <p:sp>
        <p:nvSpPr>
          <p:cNvPr id="23" name="Text 20"/>
          <p:cNvSpPr txBox="1"/>
          <p:nvPr/>
        </p:nvSpPr>
        <p:spPr>
          <a:xfrm>
            <a:off x="502920" y="2706624"/>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used to work in a shop, but I started training in an accounting office.</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537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journalism</a:t>
            </a:r>
            <a:endParaRPr lang="en-US" sz="1100" dirty="0"/>
          </a:p>
        </p:txBody>
      </p:sp>
      <p:sp>
        <p:nvSpPr>
          <p:cNvPr id="28" name="Text 25"/>
          <p:cNvSpPr txBox="1"/>
          <p:nvPr/>
        </p:nvSpPr>
        <p:spPr>
          <a:xfrm>
            <a:off x="6601968" y="3054096"/>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(old plan)</a:t>
            </a:r>
            <a:endParaRPr lang="en-US" sz="1100" dirty="0"/>
          </a:p>
        </p:txBody>
      </p:sp>
      <p:sp>
        <p:nvSpPr>
          <p:cNvPr id="29" name="Text 26"/>
          <p:cNvSpPr txBox="1"/>
          <p:nvPr/>
        </p:nvSpPr>
        <p:spPr>
          <a:xfrm>
            <a:off x="548640" y="3072384"/>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كُنْتُ سَأَدْرُسُ</a:t>
            </a:r>
            <a:pPr rtl="1" algn="ctr" indent="0" marL="0">
              <a:buNone/>
            </a:pPr>
            <a:r>
              <a:rPr lang="ar-SA" altLang="en-US" sz="2100" b="1" dirty="0">
                <a:solidFill>
                  <a:srgbClr val="1B3B6F"/>
                </a:solidFill>
                <a:latin typeface="Amiri" pitchFamily="2" charset="-78"/>
                <a:ea typeface="Amiri" pitchFamily="2" charset="-78"/>
                <a:cs typeface="Amiri" pitchFamily="2" charset="-78"/>
              </a:rPr>
              <a:t> القَانُونَ، </a:t>
            </a:r>
            <a:pPr rtl="1" algn="ctr" indent="0" marL="0">
              <a:buNone/>
            </a:pPr>
            <a:r>
              <a:rPr lang="ar-SA" altLang="en-US" sz="2100" b="1" dirty="0">
                <a:solidFill>
                  <a:srgbClr val="0E7C86"/>
                </a:solidFill>
                <a:latin typeface="Amiri" pitchFamily="2" charset="-78"/>
                <a:ea typeface="Amiri" pitchFamily="2" charset="-78"/>
                <a:cs typeface="Amiri" pitchFamily="2" charset="-78"/>
              </a:rPr>
              <a:t>ثُمَّ غَيَّرْتُ رَأْيِي</a:t>
            </a:r>
            <a:pPr rtl="1" algn="ctr" indent="0" marL="0">
              <a:buNone/>
            </a:pPr>
            <a:r>
              <a:rPr lang="ar-SA" altLang="en-US" sz="2100" b="1" dirty="0">
                <a:solidFill>
                  <a:srgbClr val="1B3B6F"/>
                </a:solidFill>
                <a:latin typeface="Amiri" pitchFamily="2" charset="-78"/>
                <a:ea typeface="Amiri" pitchFamily="2" charset="-78"/>
                <a:cs typeface="Amiri" pitchFamily="2" charset="-78"/>
              </a:rPr>
              <a:t> وَقَرَّرْتُ دِرَاسَةَ الصَّحَافَةِ.</a:t>
            </a:r>
            <a:endParaRPr lang="ar-SA" sz="2100" dirty="0"/>
          </a:p>
        </p:txBody>
      </p:sp>
      <p:sp>
        <p:nvSpPr>
          <p:cNvPr id="30" name="Text 27"/>
          <p:cNvSpPr txBox="1"/>
          <p:nvPr/>
        </p:nvSpPr>
        <p:spPr>
          <a:xfrm>
            <a:off x="502920" y="3493008"/>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was going to study law, then I changed my mind and decided to study journalism.</a:t>
            </a:r>
            <a:endParaRPr lang="en-US" sz="95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537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a:t>
            </a:r>
            <a:endParaRPr lang="en-US" sz="1100" dirty="0"/>
          </a:p>
        </p:txBody>
      </p:sp>
      <p:sp>
        <p:nvSpPr>
          <p:cNvPr id="35" name="Text 32"/>
          <p:cNvSpPr txBox="1"/>
          <p:nvPr/>
        </p:nvSpPr>
        <p:spPr>
          <a:xfrm>
            <a:off x="6601968" y="3840480"/>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a:t>
            </a:r>
            <a:endParaRPr lang="en-US" sz="1100" dirty="0"/>
          </a:p>
        </p:txBody>
      </p:sp>
      <p:sp>
        <p:nvSpPr>
          <p:cNvPr id="36" name="Text 33"/>
          <p:cNvSpPr txBox="1"/>
          <p:nvPr/>
        </p:nvSpPr>
        <p:spPr>
          <a:xfrm>
            <a:off x="548640" y="3858768"/>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أَعْمَلُ مِنَ المَنْزِلِ ثَلَاثَةَ أَيَّامٍ، </a:t>
            </a:r>
            <a:pPr rtl="1" algn="ctr" indent="0" marL="0">
              <a:buNone/>
            </a:pPr>
            <a:r>
              <a:rPr lang="ar-SA" altLang="en-US" sz="2100" b="1" dirty="0">
                <a:solidFill>
                  <a:srgbClr val="D6336C"/>
                </a:solidFill>
                <a:latin typeface="Amiri" pitchFamily="2" charset="-78"/>
                <a:ea typeface="Amiri" pitchFamily="2" charset="-78"/>
                <a:cs typeface="Amiri" pitchFamily="2" charset="-78"/>
              </a:rPr>
              <a:t>لَا أَرْبَعَةَ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7" name="Text 34"/>
          <p:cNvSpPr txBox="1"/>
          <p:nvPr/>
        </p:nvSpPr>
        <p:spPr>
          <a:xfrm>
            <a:off x="502920" y="4279392"/>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work from home three days, not four.</a:t>
            </a:r>
            <a:endParaRPr lang="en-US" sz="95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537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(after bal)</a:t>
            </a:r>
            <a:endParaRPr lang="en-US" sz="1100" dirty="0"/>
          </a:p>
        </p:txBody>
      </p:sp>
      <p:sp>
        <p:nvSpPr>
          <p:cNvPr id="40" name="Text 37"/>
          <p:cNvSpPr txBox="1"/>
          <p:nvPr/>
        </p:nvSpPr>
        <p:spPr>
          <a:xfrm>
            <a:off x="6601968" y="4626864"/>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Friday</a:t>
            </a:r>
            <a:endParaRPr lang="en-US" sz="1100" dirty="0"/>
          </a:p>
        </p:txBody>
      </p:sp>
      <p:sp>
        <p:nvSpPr>
          <p:cNvPr id="41" name="Text 38"/>
          <p:cNvSpPr txBox="1"/>
          <p:nvPr/>
        </p:nvSpPr>
        <p:spPr>
          <a:xfrm>
            <a:off x="548640" y="4645152"/>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لَا يَعْمَلُ يَوْمَ الجُمُعَةِ </a:t>
            </a:r>
            <a:pPr rtl="1" algn="ctr" indent="0" marL="0">
              <a:buNone/>
            </a:pPr>
            <a:r>
              <a:rPr lang="ar-SA" altLang="en-US" sz="2100" b="1" dirty="0">
                <a:solidFill>
                  <a:srgbClr val="0E7C86"/>
                </a:solidFill>
                <a:latin typeface="Amiri" pitchFamily="2" charset="-78"/>
                <a:ea typeface="Amiri" pitchFamily="2" charset="-78"/>
                <a:cs typeface="Amiri" pitchFamily="2" charset="-78"/>
              </a:rPr>
              <a:t>بَلْ</a:t>
            </a:r>
            <a:pPr rtl="1" algn="ctr" indent="0" marL="0">
              <a:buNone/>
            </a:pPr>
            <a:r>
              <a:rPr lang="ar-SA" altLang="en-US" sz="2100" b="1" dirty="0">
                <a:solidFill>
                  <a:srgbClr val="1B3B6F"/>
                </a:solidFill>
                <a:latin typeface="Amiri" pitchFamily="2" charset="-78"/>
                <a:ea typeface="Amiri" pitchFamily="2" charset="-78"/>
                <a:cs typeface="Amiri" pitchFamily="2" charset="-78"/>
              </a:rPr>
              <a:t> يَوْمَ السَّبْتِ.</a:t>
            </a:r>
            <a:endParaRPr lang="ar-SA" sz="2100" dirty="0"/>
          </a:p>
        </p:txBody>
      </p:sp>
      <p:sp>
        <p:nvSpPr>
          <p:cNvPr id="42" name="Text 39"/>
          <p:cNvSpPr txBox="1"/>
          <p:nvPr/>
        </p:nvSpPr>
        <p:spPr>
          <a:xfrm>
            <a:off x="502920" y="5065776"/>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does not work on Friday but on Saturday.</a:t>
            </a:r>
            <a:endParaRPr lang="en-US" sz="9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kuntu + present = “I used to …”; kuntu sa- + present = “I was going to …” — both are NOT the final answer.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REPORTING AND ATTITUDE (WEBSITE RULES 1 AND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Who said it — and how did they feel?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قَالَ إِنَّهُ · يُفَضِّلُ · يَشْكُو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 SAID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 إِنَّهُ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قَالَ إِنَّهُ يَعْمَلُ فِي مَكْتَبٍ.</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said that he works in an office.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inna + -hu = that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 SAID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قَالَتْ إِنَّهَا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قَالَتْ إِنَّهَا سَتَدْرُسُ الصَّحَافَةَ.</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said that she will study journalism.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qālat + innahā.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ATTITUDE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يُفَضِّلُ · يَشْكُو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يُفَضِّلُ السَّاعَاتِ المَرِنَةَ، وَيَشْكُو مِنْ طُولِ الطَّرِيقِ.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prefers flexible hours and complains about the long journey.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Verbs show feelings.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Report a girl with qālat innahā.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قَالَتْ إِنَّهَا تُحِبُّ الكِتَابَةَ.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قَالَ إِنَّهُ تُحِبُّ الكِتَابَةَ.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discrimination and reported detail</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تَتَبُّعُ المُتَحَدِّثِ وَالتَّغْيِيرِ وَالتَّفَاصِيلِ</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Reported statement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قَالَ إِنَّهُ / قَالَتْ إِنَّهَا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إِنَّهُ يَعْمَلُ فِي مَكْتَبٍ.   ·   قَالَتْ إِنَّهَا سَتَدْرُسُ الطِّبَّ.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Change of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كَانَ سَـ... وَلٰكِنَّهُ قَرَّرَ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سَيَدْرُسُ القَانُونَ، وَلٰكِنَّهُ قَرَّرَ أَنْ يَدْرُسَ الإِعْلَامَ.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Exact detail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لَيْسَ ... بَلْ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يَعْمَلُ يَوْمَ الجُمُعَةِ بَلْ يَوْمَ السَّبْتِ.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Attitude signal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يُفَضِّلُ / يَشْكُو مِنْ / يَشْعُرُ بِـ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يُفَضِّلُ السَّاعَاتِ المَرِنَةَ.   ·   يَشْكُو مِنْ طُولِ الطَّرِيقِ.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كُنْتُ أَعْمَلُ فِي مَتْجَرٍ</a:t>
            </a:r>
            <a:pPr algn="l" indent="0" marL="0">
              <a:buNone/>
            </a:pPr>
            <a:r>
              <a:rPr lang="en-US" sz="1250" b="1" dirty="0">
                <a:solidFill>
                  <a:srgbClr val="1B3B6F"/>
                </a:solidFill>
                <a:latin typeface="Calibri" pitchFamily="34" charset="0"/>
                <a:cs typeface="Amiri" pitchFamily="2" charset="-78"/>
              </a:rPr>
              <a:t>, is the shop his job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cannot know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was his old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غَيَّرْتُ رَأْيِي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changed my mind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gave my opinion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decided early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قَالَتْ ___ سَتَدْرُسُ الصَّحَافَةَ.</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ثَلَاثَةَ أَيَّامٍ، لَا أَرْبَعَةَ</a:t>
            </a:r>
            <a:pPr algn="l" indent="0" marL="0">
              <a:buNone/>
            </a:pPr>
            <a:r>
              <a:rPr lang="en-US" sz="1250" b="1" dirty="0">
                <a:solidFill>
                  <a:srgbClr val="1B3B6F"/>
                </a:solidFill>
                <a:latin typeface="Calibri" pitchFamily="34" charset="0"/>
                <a:cs typeface="Amiri" pitchFamily="2" charset="-78"/>
              </a:rPr>
              <a:t>, which number is the answer?</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كُنْتُ أَعْمَلُ فِي مَتْجَرٍ</a:t>
            </a:r>
            <a:pPr algn="l" indent="0" marL="0">
              <a:buNone/>
            </a:pPr>
            <a:r>
              <a:rPr lang="en-US" sz="1250" b="1" dirty="0">
                <a:solidFill>
                  <a:srgbClr val="1B3B6F"/>
                </a:solidFill>
                <a:latin typeface="Calibri" pitchFamily="34" charset="0"/>
                <a:cs typeface="Amiri" pitchFamily="2" charset="-78"/>
              </a:rPr>
              <a:t>, is the shop his job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cannot know</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was his old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aʿmalu = I used to work.</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غَيَّرْتُ رَأْيِي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changed my mind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gave my opinion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decided early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Change signal.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قَالَتْ ___ سَتَدْرُسُ الصَّحَافَةَ.</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said that she …</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ثَلَاثَةَ أَيَّامٍ، لَا أَرْبَعَةَ</a:t>
            </a:r>
            <a:pPr algn="l" indent="0" marL="0">
              <a:buNone/>
            </a:pPr>
            <a:r>
              <a:rPr lang="en-US" sz="1250" b="1" dirty="0">
                <a:solidFill>
                  <a:srgbClr val="1B3B6F"/>
                </a:solidFill>
                <a:latin typeface="Calibri" pitchFamily="34" charset="0"/>
                <a:cs typeface="Amiri" pitchFamily="2" charset="-78"/>
              </a:rPr>
              <a:t>, which number is the answer?</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detail before “not four”.</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beat a change-of-plan distractor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مَاذَا قَرَّرَتْ أَنْ تَدْرُسَ؟</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SUBJECT — her FINAL choice.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كُنْتُ سَأَدْرُسُ القَانُونَ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ثُمَّ غَيَّرْتُ رَأْيِي</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subjects!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القَانُونَ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Old plan: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وَ</a:t>
            </a:r>
            <a:pPr rtl="1" algn="ctr" indent="0" marL="0">
              <a:buNone/>
            </a:pPr>
            <a:r>
              <a:rPr lang="ar-SA" altLang="en-US" sz="2550" b="1" dirty="0">
                <a:solidFill>
                  <a:srgbClr val="0E7C86"/>
                </a:solidFill>
                <a:latin typeface="Amiri" pitchFamily="2" charset="-78"/>
                <a:ea typeface="Amiri" pitchFamily="2" charset="-78"/>
                <a:cs typeface="Amiri" pitchFamily="2" charset="-78"/>
              </a:rPr>
              <a:t>قَرَّرْتُ دِرَاسَةَ الصَّحَافَةِ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decided” = final.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السُّؤَالُ يَطْلُبُ قَرَارَهَا النِّهَائِيَّ. سَمِعْتُ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القَانُونَ</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الصَّحَافَةِ</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اِسْتَبْعَدْتُ القَانُونَ لِأَنَّهَا قَالَتْ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غَيَّرْتُ رَأْيِي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قَالَتْ إِنَّهَا سَتَدْرُسُ الصَّحَافَةَ لِأَنَّهَا تُحِبُّ الكِتَابَةَ.</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question asks for her final decision. I heard “law” and “journalism”. I eliminated law because she said “I changed my mind”. She said that she will study journalism because she loves writing.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إِنَّهُ يَعْمَلُ فِي مَكْتَبٍ.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said that he works in an office.</a:t>
            </a:r>
            <a:endParaRPr lang="en-US" sz="1250" dirty="0"/>
          </a:p>
          <a:p>
            <a:pPr indent="0" marL="0">
              <a:buNone/>
            </a:pPr>
            <a:r>
              <a:rPr lang="en-US" sz="1050" i="1" dirty="0">
                <a:solidFill>
                  <a:srgbClr val="8A6D1E"/>
                </a:solidFill>
                <a:latin typeface="Calibri" pitchFamily="34" charset="0"/>
                <a:cs typeface="Amiri" pitchFamily="2" charset="-78"/>
              </a:rPr>
              <a:t>Report: qāla innahu.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كَانَتْ سَتَدْرُسُ القَانُونَ، وَلٰكِنَّهَا قَرَّرَتْ دِرَاسَةَ الصَّحَافَةِ.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was going to study law, but decided to study journalism.</a:t>
            </a:r>
            <a:endParaRPr lang="en-US" sz="1250" dirty="0"/>
          </a:p>
          <a:p>
            <a:pPr indent="0" marL="0">
              <a:buNone/>
            </a:pPr>
            <a:r>
              <a:rPr lang="en-US" sz="1050" i="1" dirty="0">
                <a:solidFill>
                  <a:srgbClr val="8A6D1E"/>
                </a:solidFill>
                <a:latin typeface="Calibri" pitchFamily="34" charset="0"/>
                <a:cs typeface="Amiri" pitchFamily="2" charset="-78"/>
              </a:rPr>
              <a:t>Final decision after but.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يَعْمَلُ مِنَ المَنْزِلِ ثَلَاثَةَ أَيَّامٍ، لَا أَرْبَعَةَ.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works from home three days, not four.</a:t>
            </a:r>
            <a:endParaRPr lang="en-US" sz="1250" dirty="0"/>
          </a:p>
          <a:p>
            <a:pPr indent="0" marL="0">
              <a:buNone/>
            </a:pPr>
            <a:r>
              <a:rPr lang="en-US" sz="1050" i="1" dirty="0">
                <a:solidFill>
                  <a:srgbClr val="8A6D1E"/>
                </a:solidFill>
                <a:latin typeface="Calibri" pitchFamily="34" charset="0"/>
                <a:cs typeface="Amiri" pitchFamily="2" charset="-78"/>
              </a:rPr>
              <a:t>Correction after 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يُفَضِّلُ السَّاعَاتِ المَرِنَةَ.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prefers flexible hours.</a:t>
            </a:r>
            <a:endParaRPr lang="en-US" sz="1250" dirty="0"/>
          </a:p>
          <a:p>
            <a:pPr indent="0" marL="0">
              <a:buNone/>
            </a:pPr>
            <a:r>
              <a:rPr lang="en-US" sz="1050" i="1" dirty="0">
                <a:solidFill>
                  <a:srgbClr val="8A6D1E"/>
                </a:solidFill>
                <a:latin typeface="Calibri" pitchFamily="34" charset="0"/>
                <a:cs typeface="Amiri" pitchFamily="2" charset="-78"/>
              </a:rPr>
              <a:t>Attitude verb.</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plan or final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أَعْمَلُ فِي مَتْجَرٍ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سَأَدْرُسُ 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تَدْرِيبٌ فِي مَكْتَبِ مُحَاسَبَةٍ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قَرَّرْتُ دِرَاسَةَ الصَّحَافَةِ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أَيَّامٍ</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First / old plan (distractor)</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Final plan (answer)</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First / old plan (distractor)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أَعْمَلُ فِي مَتْجَرٍ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سَأَدْرُسُ 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أَيَّامٍ</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Final plan (answer)</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تَدْرِيبٌ فِي مَكْتَبِ مُحَاسَبَةٍ</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قَرَّرْتُ دِرَاسَةَ الصَّحَافَةِ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أَيَّامٍ</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لَا يَعْمَلُ يَوْمَ الجُمُعَةِ بَلْ يَوْمَ السَّبْتِ</a:t>
            </a:r>
            <a:pPr algn="l" indent="0" marL="0">
              <a:buNone/>
            </a:pPr>
            <a:r>
              <a:rPr lang="en-US" sz="1250" b="1" dirty="0">
                <a:solidFill>
                  <a:srgbClr val="1B3B6F"/>
                </a:solidFill>
                <a:latin typeface="Calibri" pitchFamily="34" charset="0"/>
                <a:cs typeface="Amiri" pitchFamily="2" charset="-78"/>
              </a:rPr>
              <a:t>, which day does he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complaint?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يُفَضِّلُ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يَشْكُو مِنْ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in the second listening?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change words, numbers and times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 word</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FINAL decision?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سَأَ…</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أَعْمَلُ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قَرَّرْتُ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لَا يَعْمَلُ يَوْمَ الجُمُعَةِ بَلْ يَوْمَ السَّبْتِ</a:t>
            </a:r>
            <a:pPr algn="l" indent="0" marL="0">
              <a:buNone/>
            </a:pPr>
            <a:r>
              <a:rPr lang="en-US" sz="1250" b="1" dirty="0">
                <a:solidFill>
                  <a:srgbClr val="1B3B6F"/>
                </a:solidFill>
                <a:latin typeface="Calibri" pitchFamily="34" charset="0"/>
                <a:cs typeface="Amiri" pitchFamily="2" charset="-78"/>
              </a:rPr>
              <a:t>, which day does he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Saturday</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bal.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complaint?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يُفَضِّلُ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يَشْكُو مِنْ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yashkū min = complains about.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in the second listening?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change words, numbers and times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 word</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strategy text.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FINAL decision?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سَأَ…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أَعْمَلُ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قَرَّرْتُ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qarrartu = I decided.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سَتَدْرُسُ المُتَحَدِّثَةُ القَانُونَ.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plan is final?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يَعْمَلُ مِنَ المَنْزِلِ أَرْبَعَةَ أَيَّامٍ.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“Three, not four”: which counts?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قَالَتْ إِنَّهُ تُحِبُّ الكِتَابَةَ.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female speaker: innahu or innahā?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سَتَدْرُسُ المُتَحَدِّثَةُ القَانُونَ.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سَتَدْرُسُ المُتَحَدِّثَةُ الصَّحَافَةَ.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changed her mind: the final plan counts.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يَعْمَلُ مِنَ المَنْزِلِ أَرْبَعَةَ أَيَّامٍ.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يَعْمَلُ مِنَ المَنْزِلِ ثَلَاثَةَ أَيَّامٍ.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not four”: the correction counts.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قَالَتْ إِنَّهُ تُحِبُّ الكِتَابَةَ.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قَالَتْ إِنَّهَا تُحِبُّ الكِتَابَةَ.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speaker → innahā.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Speaker 1: a new placement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speaker 1 work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shop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office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his new placement?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accounting office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better for him?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easier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pays more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useful for his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describe the new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harder but more useful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easier and shorter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boring but well paid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place? place? reason?</a:t>
            </a:r>
            <a:endParaRPr lang="en-US" sz="1250" dirty="0"/>
          </a:p>
          <a:p>
            <a:pPr algn="l" indent="0" marL="0">
              <a:buNone/>
            </a:pPr>
            <a:r>
              <a:rPr lang="en-US" sz="1250" dirty="0">
                <a:solidFill>
                  <a:srgbClr val="1E6B52"/>
                </a:solidFill>
                <a:latin typeface="Calibri" pitchFamily="34" charset="0"/>
                <a:cs typeface="Amiri" pitchFamily="2" charset="-78"/>
              </a:rPr>
              <a:t>Two workplaces are heard: which is NOW?</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كُنْتُ أَعْمَلُ فِي مَتْجَرٍ بَعْدَ المَدْرَسَةِ،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used to work in a shop after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لٰكِنَّنِي بَدَأْتُ تَدْرِيبًا فِي مَكْتَبِ مُحَاسَبَةٍ هٰذَا الشَّهْرَ.</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 started a placement in an accounting office this month.</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العَمَلُ أَصْعَبُ، وَلٰكِنَّهُ أَكْثَرُ فَائِدَةً لِخُطَّتِي.</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work is harder, but more useful for my plan.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speaker 1 work before?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shop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an office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أَعْمَلُ فِي مَتْجَرٍ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his new placement?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accounting office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مَكْتَبِ مُحَاسَبَةٍ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better for him?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easier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pays more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more useful for his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فَائِدَةً لِخُطَّتِي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describe the new work?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harder but more useful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easier and shorter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boring but well paid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العَمَلُ أَصْعَبُ، وَلٰكِنَّهُ أَكْثَرُ فَائِدَةً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place? place? reason?</a:t>
            </a:r>
            <a:endParaRPr lang="en-US" sz="1250" dirty="0"/>
          </a:p>
          <a:p>
            <a:pPr algn="l" indent="0" marL="0">
              <a:buNone/>
            </a:pPr>
            <a:r>
              <a:rPr lang="en-US" sz="1250" dirty="0">
                <a:solidFill>
                  <a:srgbClr val="1E6B52"/>
                </a:solidFill>
                <a:latin typeface="Calibri" pitchFamily="34" charset="0"/>
                <a:cs typeface="Amiri" pitchFamily="2" charset="-78"/>
              </a:rPr>
              <a:t>Two workplaces are heard: which is NOW?</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Speaker 2: a change of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speaker 2 going to study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final choice?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journalism</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choose 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easier</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studies 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loves writing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subjects are heard.</a:t>
            </a:r>
            <a:endParaRPr lang="en-US" sz="1250" dirty="0"/>
          </a:p>
          <a:p>
            <a:pPr algn="l" indent="0" marL="0">
              <a:buNone/>
            </a:pPr>
            <a:r>
              <a:rPr lang="en-US" sz="1250" dirty="0">
                <a:solidFill>
                  <a:srgbClr val="1E6B52"/>
                </a:solidFill>
                <a:latin typeface="Calibri" pitchFamily="34" charset="0"/>
                <a:cs typeface="Amiri" pitchFamily="2" charset="-78"/>
              </a:rPr>
              <a:t>Wait for “I changed my mind”.</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كُنْتُ سَأَدْرُسُ القَانُونَ،</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was going to study law,</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غَيَّرْتُ رَأْيِي وَقَرَّرْتُ دِرَاسَةَ الصَّحَافَةِ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changed my mind and decided to study journalism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لِأَنَّنِي أُحِبُّ الكِتَابَةَ.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 love writing.</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speaker 2 going to study first?</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law</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سَأَدْرُسُ القَانُونَ</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final choice?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journalism</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قَرَّرْتُ دِرَاسَةَ الصَّحَافَةِ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choose 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easier</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 studies it</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loves writing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لِأَنَّنِي أُحِبُّ الكِتَابَةَ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subjects are heard.</a:t>
            </a:r>
            <a:endParaRPr lang="en-US" sz="1250" dirty="0"/>
          </a:p>
          <a:p>
            <a:pPr algn="l" indent="0" marL="0">
              <a:buNone/>
            </a:pPr>
            <a:r>
              <a:rPr lang="en-US" sz="1250" dirty="0">
                <a:solidFill>
                  <a:srgbClr val="1E6B52"/>
                </a:solidFill>
                <a:latin typeface="Calibri" pitchFamily="34" charset="0"/>
                <a:cs typeface="Amiri" pitchFamily="2" charset="-78"/>
              </a:rPr>
              <a:t>Wait for “I changed my mind”.</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Speaker 3: working from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days does speaker 3 work from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help him?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money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time</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numbers are heard.</a:t>
            </a:r>
            <a:endParaRPr lang="en-US" sz="1250" dirty="0"/>
          </a:p>
          <a:p>
            <a:pPr algn="l" indent="0" marL="0">
              <a:buNone/>
            </a:pPr>
            <a:r>
              <a:rPr lang="en-US" sz="1250" dirty="0">
                <a:solidFill>
                  <a:srgbClr val="1E6B52"/>
                </a:solidFill>
                <a:latin typeface="Calibri" pitchFamily="34" charset="0"/>
                <a:cs typeface="Amiri" pitchFamily="2" charset="-78"/>
              </a:rPr>
              <a:t>Which one does he correct?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أَعْمَلُ مِنَ المَنْزِلِ ثَلَاثَةَ أَيَّامٍ، لَا أَرْبَعَةَ،</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work from home three days, not four,</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وَهٰذَا يُسَاعِدُنِي عَلَى تَوْفِيرِ الوَقْتِ.</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this helps me save time.</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days does speaker 3 work from home?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ثَلَاثَةَ أَيَّامٍ، لَا أَرْبَعَةَ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help him?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saves money</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saves time</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يُسَاعِدُنِي عَلَى تَوْفِيرِ الوَقْتِ</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numbers are heard.</a:t>
            </a:r>
            <a:endParaRPr lang="en-US" sz="1250" dirty="0"/>
          </a:p>
          <a:p>
            <a:pPr algn="l" indent="0" marL="0">
              <a:buNone/>
            </a:pPr>
            <a:r>
              <a:rPr lang="en-US" sz="1250" dirty="0">
                <a:solidFill>
                  <a:srgbClr val="1E6B52"/>
                </a:solidFill>
                <a:latin typeface="Calibri" pitchFamily="34" charset="0"/>
                <a:cs typeface="Amiri" pitchFamily="2" charset="-78"/>
              </a:rPr>
              <a:t>Which one does he correct?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يَعْمَلُ المُتَحَدِّثُ الأَوَّلُ الآنَ؟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قَرَّرَتِ المُتَحَدِّثَةُ الثَّانِيَةُ؟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يَوْمًا يَعْمَلُ المُتَحَدِّثُ الثَّالِثُ مِنَ المَنْزِلِ؟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المُشَتِّتُ فِي كُلِّ نَصٍّ؟</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يَعْمَلُ الآنَ فِي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قَالَتْ إِنَّهَا سَتَدْرُسُ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يَعْمَلُ مِنَ المَنْزِلِ ___ ، لَا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المُشَتِّتُ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قَرَّرَتِ المُتَحَدِّثَةُ الثَّانِيَةُ أَنْ تَدْرُسَ؟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the second speaker decide to study?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قَالَتْ إِنَّهَا سَتَدْرُسُ الصَّحَافَةَ.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She said that she will study journalism.</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notes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note per speaker: the FINAL job / plan / number.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Report each speaker (qāla innahu / qālat innahā) with the final detail and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concise notes on all three speakers + the distractor in each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إِنَّ العَمَلَ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said that the work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سَتَدْرُسُ ______ ، وَلٰكِنَّهَا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was going to study … but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قَالَتْ إِنَّهَا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said that she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المُشَتِّتُ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distractor was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المُتَحَدِّثُ الأَوَّلُ يَتَدَرَّبُ الآنَ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Speaker 1 now trains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المُتَحَدِّثَةُ الثَّانِيَةُ سَتَدْرُسُ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Speaker 2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المُتَحَدِّثُ الثَّالِثُ يَعْمَلُ مِنَ المَنْزِلِ ______ أَيَّامٍ.</a:t>
            </a:r>
            <a:endParaRPr lang="ar-SA" sz="15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Speaker 3 works from home … days.</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قَالَ إِنَّهُ  ·  قَالَتْ إِنَّهَا  ·  كَانَ يَعْمَلُ  ·  كَانَتْ سَتَدْرُسُ  ·  غَيَّرَتْ رَأْيَهَا  ·  قَرَّرَتْ  ·  لَا … بَلْ  ·  مَكْتَبُ مُحَاسَبَةٍ  ·  الصَّحَافَةُ  ·  ثَلَاثَةُ أَيَّامٍ  ·  مُشَتِّتٌ  ·  أَسْتَبْعِدُ</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concise notes reconstructing the speakers’ final jobs, plans, reasons and changed details.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يَعْمَلُ … وَلٰكِنَّهُ الآنَ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used to work … but now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غَيَّرَتْ رَأْيَهَا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changed her mind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فَائِدَةً لِخُطَّتِهِ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useful for his plan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يُسَاعِدُهُ عَلَى تَوْفِيرِ الوَقْتِ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helps him save time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اِسْتَبْعَدْتُ … لِأَنَّ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eliminated … because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المُتَحَدِّثُ الأَوَّلُ: كَانَ يَعْمَلُ فِي مَتْجَرٍ، وَلٰكِنَّهُ الآنَ يَتَدَرَّبُ فِي مَكْتَبِ مُحَاسَبَةٍ. قَالَ إِنَّ العَمَلَ أَصْعَبُ وَلٰكِنَّهُ أَكْثَرُ فَائِدَةً لِخُطَّتِهِ. المُتَحَدِّثَةُ الثَّانِيَةُ: كَانَتْ سَتَدْرُسُ القَانُونَ، ثُمَّ قَرَّرَتْ دِرَاسَةَ الصَّحَافَةِ لِأَنَّهَا تُحِبُّ الكِتَابَةَ. المُتَحَدِّثُ الثَّالِثُ: يَعْمَلُ مِنَ المَنْزِلِ ثَلَاثَةَ أَيَّامٍ، لَا أَرْبَعَةَ، وَيَقُولُ إِنَّ هٰذَا يُوَفِّرُ الوَقْتَ. المُشَتِّتَاتُ: المَتْجَرُ، القَانُونُ، أَرْبَعَةُ أَيَّامٍ.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Speaker 1: he used to work in a shop, but now he is training in an accounting office. He said the work is harder but more useful for his plan. Speaker 2: she was going to study law, then decided to study journalism because she loves writing. Speaker 3: he works from home three days, not four, and says this saves time. Distractors: the shop, law, four days.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old plan vs a final plan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innahu / qālat innahā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corrected number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distractors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are the FINAL details.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with qāla innahu / qālat innahā.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the correction after lā / bal.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distractor in each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يَعْمَلُ فِي 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أَنَّنِي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introduces the real answer?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كُنْتُ سَأَدْرُسُ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was going to study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study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يَعْمَلُ فِي 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إِنَّهُ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إِنَّهَا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أَنَّنِي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said that he …</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introduces the real answer?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 = but rather.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كُنْتُ سَأَدْرُسُ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was going to study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will study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study</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old plan.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notes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الاِسْتِمَاعِ، اِقْرَأِ الأَسْئِلَةَ وَحَدِّدْ نَوْعَ التَّفْصِيلِ المَطْلُوبِ: هَلْ هُوَ مِهْنَةٌ أَمْ مَكَانٌ أَمْ سَبَبٌ أَمْ خُطَّةٌ؟ فِي الاِسْتِمَاعِ الأَوَّلِ، رَكِّزْ عَلَى المُتَحَدِّثِ وَالفِكْرَةِ العَامَّةِ. فِي الاِسْتِمَاعِ الثَّانِي، اِنْتَبِهْ إِلَى كَلِمَاتِ التَّغْيِيرِ مِثْلَ «لٰكِنْ» وَ«بَلْ» وَإِلَى الأَرْقَامِ وَالأَوْقَاتِ. لَا تَخْتَرْ أَوَّلَ كَلِمَةٍ تَسْمَعُهَا إِذَا صَحَّحَهَا المُتَحَدِّثُ بَعْدَ ذٰلِكَ.</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نَوْعَ التَّفْصِيلِ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type of detail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رَكِّزْ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focus 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الفِكْرَةِ العَامَّةِ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general idea</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اِنْتَبِهْ إِلَى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pay attention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كَلِمَاتِ التَّغْيِيرِ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change words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الأَرْقَامِ وَالأَوْقَاتِ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numbers and times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صَحَّحَهَا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corrected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identify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type of detail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new word</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numbers only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and the general idea</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 words, numbers and times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accent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new</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change signals are named?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وَ</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ثُمَّ</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لٰكِنْ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بَلْ</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عَلَى</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choose the first word you hear?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may correct it later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wrong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short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describe a career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give listening strategies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identify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type of detail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new word</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نَوْعَ التَّفْصِيلِ المَطْلُوبِ</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numbers only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speaker and the general idea</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المُتَحَدِّثِ وَالفِكْرَةِ العَامَّةِ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change words, numbers and times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accent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new</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كَلِمَاتِ التَّغْيِيرِ … وَالأَرْقَامِ وَالأَوْقَاتِ</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change signals are named?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وَ</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ثُمَّ</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لٰكِنْ</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بَلْ</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عَلَى</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«لٰكِنْ» وَ«بَلْ»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choose the first word you hear?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speaker may correct it later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wrong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short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صَحَّحَهَا المُتَحَدِّثُ</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describe a career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to give listening strategies</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Strategy notes.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D3-L11 · D3 Consolidation — Error Analysis and Assessment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complete review</a:t>
            </a:r>
            <a:pPr indent="0" marL="0">
              <a:buNone/>
            </a:pPr>
            <a:r>
              <a:rPr lang="ar-SA" sz="1000" i="1" dirty="0">
                <a:solidFill>
                  <a:srgbClr val="5A6472"/>
                </a:solidFill>
                <a:latin typeface="Calibri" pitchFamily="34" charset="0"/>
                <a:ea typeface="Amiri" pitchFamily="2" charset="-78"/>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error analysis</a:t>
            </a:r>
            <a:pPr indent="0" marL="0">
              <a:buNone/>
            </a:pPr>
            <a:r>
              <a:rPr lang="ar-SA" sz="1000" i="1" dirty="0">
                <a:solidFill>
                  <a:srgbClr val="5A6472"/>
                </a:solidFill>
                <a:latin typeface="Calibri" pitchFamily="34" charset="0"/>
                <a:ea typeface="Amiri" pitchFamily="2" charset="-78"/>
                <a:cs typeface="Amiri" pitchFamily="2" charset="-78"/>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أَوْلَوِيَّةٌ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priority</a:t>
            </a:r>
            <a:pPr indent="0" marL="0">
              <a:buNone/>
            </a:pPr>
            <a:r>
              <a:rPr lang="ar-SA" sz="1000" i="1" dirty="0">
                <a:solidFill>
                  <a:srgbClr val="5A6472"/>
                </a:solidFill>
                <a:latin typeface="Calibri" pitchFamily="34" charset="0"/>
                <a:ea typeface="Amiri" pitchFamily="2" charset="-78"/>
                <a:cs typeface="Amiri" pitchFamily="2" charset="-78"/>
              </a:rPr>
              <a:t>  pl. أَوْلَوِيَّاتٌ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ar-SA" sz="1000" i="1" dirty="0">
                <a:solidFill>
                  <a:srgbClr val="5A6472"/>
                </a:solidFill>
                <a:latin typeface="Calibri" pitchFamily="34" charset="0"/>
                <a:ea typeface="Amiri" pitchFamily="2" charset="-78"/>
                <a:cs typeface="Amiri" pitchFamily="2" charset="-78"/>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أُحَسِّنُ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improve</a:t>
            </a:r>
            <a:pPr indent="0" marL="0">
              <a:buNone/>
            </a:pPr>
            <a:r>
              <a:rPr lang="ar-SA" sz="1000" i="1" dirty="0">
                <a:solidFill>
                  <a:srgbClr val="5A6472"/>
                </a:solidFill>
                <a:latin typeface="Calibri" pitchFamily="34" charset="0"/>
                <a:ea typeface="Amiri" pitchFamily="2" charset="-78"/>
                <a:cs typeface="Amiri" pitchFamily="2" charset="-78"/>
              </a:rPr>
              <a:t>  يُحَسِّنُ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D3-L01 to D3-L10: which grammar point do you find hardest? Bring one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D3-L10: redo the listening; learn the five review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Report the three speakers in 6 sentences (qāla innahu / qālat innahā).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concise reconstruction notes with distractors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D3-L11 · D3 Consolidation — Error Analysis and Assessment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تَحْلِيلُ الأَخْطَاءِ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first detail is often a trap — wait for “but”, “then I changed my mind”, “not” and “bal”.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D3-L10 · Listening — Work and Career Conversations</dc:title>
  <dc:subject>PptxGenJS Presentation</dc:subject>
  <dc:creator>Al Madina Online School · Arabic Department</dc:creator>
  <cp:lastModifiedBy>Al Madina Online School · Arabic Department</cp:lastModifiedBy>
  <cp:revision>1</cp:revision>
  <dcterms:created xsi:type="dcterms:W3CDTF">2026-10-11T06:40:48Z</dcterms:created>
  <dcterms:modified xsi:type="dcterms:W3CDTF">2026-10-11T06:40:48Z</dcterms:modified>
</cp:coreProperties>
</file>