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D3 Work and Careers › D3-L10. The website lesson “Listening — Work and Career Conversations”: vocabulary, grammar rules and quiz, patterns, common mistakes, sorter, listening, reading, speaking prompts and model, writing task and model, differentiation, final check and the lesson mission. Picture match: website visual game “Listening — Work and Career Conversations”.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a LISTENING-SKILLS lesson: the website listening has three short speakers. Do them as three cycles: predict → listen twice → read the script → answers.
• Core: label each question (place · job · reason · number) and answer the first-detail questions. Develop: all questions + the FINAL detail after a change (ثُمَّ غَيَّرْتُ رَأْيِي · لَا أَرْبَعَةَ). Stretch: reconstruct the three speakers in notes (website writing task) and name each distractor.
• Read each text yourself at natural speed. Do NOT show the script until after the second listening.
• Same strategy family as D1-L10 and F6-L10; NEW traps today: “I used to … but now …”, “I was going to … then I changed my mind”, “three, not four”.
• TEACHER-WRITTEN ITEMS: on the website this lesson’s mission, listening, sorter, mistakes, grammar, final, reading, speaking, writing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D3-L09. Questions 3–5 retrieve D3-L09 (sequence), D3-L04 (future vs past) and D3-L08 (negation in adverts).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first thing you hear is often NOT the answer. Wait for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رائے، تغیر، قرار (as in قرارداد, a resolution), فائدہ are all shared. Today’s key phrase غَيَّرْتُ رَأْيِي = “I changed my opinion” = Urdu میں نے اپنی رائے بدل دی.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Plans and qualifications (website vocabulary (1 of 3)). Hear → Say → See → Use. Transliteration is printed for Core students (cover it for Develop/Stretch).
FLEX: teach if time allows; otherwise these are on the website vocabulary tab for homework.
Plans (FLEX): review from D3-L04. In listening, contrast سَأَدْرُسُ (I will study) with كُنْتُ سَأَدْرُسُ (I was going to study — a plan that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Plans and qualifications (website vocabulary (2 of 3)). Hear → Say → See → Use. Transliteration is printed for Core students (cover it for Develop/Stretch).
FLEX: teach if time allows; otherwise these are on the website vocabulary tab for homework.
Plans (FLEX): review from D3-L04. In listening, contrast سَأَدْرُسُ (I will study) with كُنْتُ سَأَدْرُسُ (I was going to study — a plan that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Plans and qualifications (website vocabulary (3 of 3)). Hear → Say → See → Use. Transliteration is printed for Core students (cover it for Develop/Stretch).
FLEX: teach if time allows; otherwise these are on the website vocabulary tab for homework.
Plans (FLEX): review from D3-L04. In listening, contrast سَأَدْرُسُ (I will study) with كُنْتُ سَأَدْرُسُ (I was going to study — a plan that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Attitude (website vocabulary (1 of 2)). Hear → Say → See → Use. Transliteration is printed for Core students (cover it for Develop/Stretch).
Attitude and change signals: وَلٰكِنَّ and بَيْنَمَا often come just before the real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Attitude (website vocabulary (2 of 2)). Hear → Say → See → Use. Transliteration is printed for Core students (cover it for Develop/Stretch).
Attitude and change signals: وَلٰكِنَّ and بَيْنَمَا often come just before the real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“Change of plan” (كَانَ سَـ … وَلٰكِنَّهُ قَرَّرَ أَنْ …: listen for the final decision, not the abandoned first plan) and “Exact detail” (لَيْسَ … بَلْ …: the correction after بل is the detail to record). Website example: كَانَ سَيَدْرُسُ القَانُونَ، وَلٰكِنَّهُ قَرَّرَ أَنْ يَدْرُسَ الإِعْلَامَ · لَا يَعْمَلُ يَوْمَ الجُمُعَةِ بَلْ يَوْمَ السَّبْتِ. Rows 1–3 are the three speakers of today’s website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“Reported statement” (قَالَ إِنَّهُ / قَالَتْ إِنَّهَا: use the attached pronoun to retain speaker reference) and “Attitude signal” (يُفَضِّلُ / يَشْكُو مِنْ / يَشْعُرُ بِـ reveal the speaker’s evaluation). Website examples as shown.
After قَالَ use إِنَّ (with kasra), not أَنَّ — a fixed rule of reported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“تَتَبُّعُ المُتَحَدِّثِ وَالتَّغْيِيرِ وَالتَّفَاصِيلِ”
• Reported statement: Use the attached pronoun to retain speaker reference.
• Change of plan: Listen for the final decision, not the abandoned first plan.
• Exact detail: The correction after بل is the detail to record.
• Attitude signal: These verbs reveal the speaker’s evaluation.
Website common error: Do not choose the first detail you hear: wait for لٰكِنَّ, ثُمَّ غَيَّرْتُ رَأْيِي, لَا or بَلْ, and record the final detail (website reading strategy text; the website common error is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think aloud on speaker 2 BEFORE students hear it, using only the slide. The model uses today’s reporting structure (قَالَتْ إِنَّهَا …) and the D3-L09 prep word أَسْتَبْعِدُ.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From the three speakers: is it the first (abandoned) detail or the final one?
Then report each final plan aloud: قَالَ إِنَّهُ … / قَالَتْ إِنَّهَا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From the three speakers: is it the first (abandoned) detail or the final one?
Then report each final plan aloud: قَالَ إِنَّهُ … / قَالَتْ إِنَّهَا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and 2. Develop/Stretch: all four.
Listen 1: just listen. Listen 2: note answers. Then chat the letters.
Support: after the second listening, show the read-along slide (Arabic + English, line by line) for Core students.
SCRIPT (read aloud):
المُتَحَدِّثُ الأَوَّلُ: كُنْتُ أَعْمَلُ فِي مَتْجَرٍ بَعْدَ المَدْرَسَةِ، لٰكِنَّنِي بَدَأْتُ تَدْرِيبًا فِي مَكْتَبِ مُحَاسَبَةٍ هٰذَا الشَّهْرَ. العَمَلُ أَصْعَبُ، وَلٰكِنَّهُ أَكْثَرُ فَائِدَةً لِخُطَّتِي.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 1 (her first plan). Develop/Stretch: all three — question 2 is her FINAL choice.
Listen 1: just listen. Listen 2: note answers. Then chat the letters.
Support: after the second listening, show the read-along slide (Arabic + English, line by line) for Core students.
SCRIPT (read aloud):
المُتَحَدِّثَةُ الثَّانِيَةُ: كُنْتُ سَأَدْرُسُ القَانُونَ، ثُمَّ غَيَّرْتُ رَأْيِي وَقَرَّرْتُ دِرَاسَةَ الصَّحَافَةِ لِأَنَّنِي أُحِبُّ الكِتَابَةَ.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 2. Develop/Stretch: both — question 1 is the corrected number.
Listen 1: just listen. Listen 2: note answers. Then chat the letters.
Support: after the second listening, show the read-along slide (Arabic + English, line by line) for Core students.
SCRIPT (read aloud):
المُتَحَدِّثُ الثَّالِثُ: أَعْمَلُ مِنَ المَنْزِلِ ثَلَاثَةَ أَيَّامٍ، لَا أَرْبَعَةَ، وَهٰذَا يُسَاعِدُنِي عَلَى تَوْفِيرِ الوَقْتِ.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المُشَتِّتُ؟ (And what was the distractor?)
B: القَانُونُ، لِأَنَّهَا غَيَّرَتْ رَأْيَهَا. (Law, because she changed her mind.)
Teacher-written prompts and model (the website prompts are generic). Students explain HOW they listened. Model continues: A: وَمَا المُشَتِّتُ؟ B: القَانُونُ، لِأَنَّهَا غَيَّرَتْ رَأْيَهَا.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independently controlled complex structures.
Website writing task (Stretch): Write concise notes reconstructing the speakers’ final jobs, plans, reasons and changed details.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Teacher-written model notes (the website model for this lesson is a placeholder). Evidence: كَانَ يَعْمَلُ … وَلٰكِنَّهُ الآنَ · قَالَ إِنَّ … · كَانَتْ سَتَدْرُسُ … ثُمَّ قَرَّرَتْ · ثَلَاثَةَ أَيَّامٍ، لَا أَرْبَعَةَ · المُشَتِّتَاتُ.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(D3-L11 · D3 Consolidation — Error Analysis and Assessment Preparation) will spend class time USING this language, so students prepare it tonight — short, simple, easy to access (school guidance: “Simple, Short, Interesting, Relevant, Easy to access”). The five words prepare the D3-L11 review lesson (error analysis and assessment preparation).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Listening — Work and Career Conversations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الاِسْتِمَاعُ — مُحَادَثَاتُ العَمَلِ وَالمَسِيرَةِ المِهَنِيَّةِ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Listen like an examiner: track WHO is speaking, catch the FINAL plan after a change of mind (</a:t>
            </a:r>
            <a:pPr algn="l" indent="0" marL="0">
              <a:buNone/>
            </a:pPr>
            <a:r>
              <a:rPr lang="ar-SA" altLang="en-US" sz="1800" dirty="0">
                <a:solidFill>
                  <a:srgbClr val="C6D2E6"/>
                </a:solidFill>
                <a:latin typeface="Amiri" pitchFamily="2" charset="-78"/>
                <a:ea typeface="Amiri" pitchFamily="2" charset="-78"/>
                <a:cs typeface="Amiri" pitchFamily="2" charset="-78"/>
              </a:rPr>
              <a:t>كُنْتُ سَأَ … ثُمَّ غَيَّرْتُ رَأْيِي</a:t>
            </a:r>
            <a:pPr algn="l" indent="0" marL="0">
              <a:buNone/>
            </a:pPr>
            <a:r>
              <a:rPr lang="en-US" sz="1400" dirty="0">
                <a:solidFill>
                  <a:srgbClr val="C6D2E6"/>
                </a:solidFill>
                <a:latin typeface="Calibri" pitchFamily="34" charset="0"/>
                <a:cs typeface="Amiri" pitchFamily="2" charset="-78"/>
              </a:rPr>
              <a:t>), the corrected detail after </a:t>
            </a:r>
            <a:pPr algn="l" indent="0" marL="0">
              <a:buNone/>
            </a:pPr>
            <a:r>
              <a:rPr lang="ar-SA" altLang="en-US" sz="1800" dirty="0">
                <a:solidFill>
                  <a:srgbClr val="C6D2E6"/>
                </a:solidFill>
                <a:latin typeface="Amiri" pitchFamily="2" charset="-78"/>
                <a:ea typeface="Amiri" pitchFamily="2" charset="-78"/>
                <a:cs typeface="Amiri" pitchFamily="2" charset="-78"/>
              </a:rPr>
              <a:t>لَا / بَلْ</a:t>
            </a:r>
            <a:pPr algn="l" indent="0" marL="0">
              <a:buNone/>
            </a:pPr>
            <a:r>
              <a:rPr lang="en-US" sz="1400" dirty="0">
                <a:solidFill>
                  <a:srgbClr val="C6D2E6"/>
                </a:solidFill>
                <a:latin typeface="Calibri" pitchFamily="34" charset="0"/>
                <a:cs typeface="Amiri" pitchFamily="2" charset="-78"/>
              </a:rPr>
              <a:t>, and the speaker’s attitude.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D3-L10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Who said it? What changed? What is the final detail?</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first plan / final plan, fix listening habits, then three short listening cycles.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D3-L11.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 </a:t>
            </a:r>
            <a:pPr algn="l" indent="0" marL="0">
              <a:buNone/>
            </a:pPr>
            <a:r>
              <a:rPr lang="ar-SA" altLang="en-US" sz="1650" b="1" dirty="0">
                <a:solidFill>
                  <a:srgbClr val="1B3B6F"/>
                </a:solidFill>
                <a:latin typeface="Amiri" pitchFamily="2" charset="-78"/>
                <a:ea typeface="Amiri" pitchFamily="2" charset="-78"/>
                <a:cs typeface="Amiri" pitchFamily="2" charset="-78"/>
              </a:rPr>
              <a:t>مُشَتِّتٌ</a:t>
            </a:r>
            <a:pPr algn="l" indent="0" marL="0">
              <a:buNone/>
            </a:pPr>
            <a:r>
              <a:rPr lang="en-US" sz="1250" b="1" dirty="0">
                <a:solidFill>
                  <a:srgbClr val="1B3B6F"/>
                </a:solidFill>
                <a:latin typeface="Calibri" pitchFamily="34" charset="0"/>
                <a:cs typeface="Amiri" pitchFamily="2" charset="-78"/>
              </a:rPr>
              <a:t> in a listening test?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key word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distractor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script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أَسْتَبْعِدُ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eliminate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predict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check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starts the first step of a plan?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أَخِيرًا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لِذٰلِكَ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أَوَّلًا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will study”?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دَرَسْتُ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أَدْرُسُ</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سَأَدْرُسُ</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NOT required in the advert: </a:t>
            </a:r>
            <a:pPr algn="l" indent="0" marL="0">
              <a:buNone/>
            </a:pPr>
            <a:r>
              <a:rPr lang="ar-SA" altLang="en-US" sz="1650" b="1" dirty="0">
                <a:solidFill>
                  <a:srgbClr val="1B3B6F"/>
                </a:solidFill>
                <a:latin typeface="Amiri" pitchFamily="2" charset="-78"/>
                <a:ea typeface="Amiri" pitchFamily="2" charset="-78"/>
                <a:cs typeface="Amiri" pitchFamily="2" charset="-78"/>
              </a:rPr>
              <a:t>لَا تُشْتَرَطُ الخِبْرَةُ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experience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organisation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computer skills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 </a:t>
            </a:r>
            <a:pPr algn="l" indent="0" marL="0">
              <a:buNone/>
            </a:pPr>
            <a:r>
              <a:rPr lang="ar-SA" altLang="en-US" sz="1650" b="1" dirty="0">
                <a:solidFill>
                  <a:srgbClr val="1B3B6F"/>
                </a:solidFill>
                <a:latin typeface="Amiri" pitchFamily="2" charset="-78"/>
                <a:ea typeface="Amiri" pitchFamily="2" charset="-78"/>
                <a:cs typeface="Amiri" pitchFamily="2" charset="-78"/>
              </a:rPr>
              <a:t>مُشَتِّتٌ</a:t>
            </a:r>
            <a:pPr algn="l" indent="0" marL="0">
              <a:buNone/>
            </a:pPr>
            <a:r>
              <a:rPr lang="en-US" sz="1250" b="1" dirty="0">
                <a:solidFill>
                  <a:srgbClr val="1B3B6F"/>
                </a:solidFill>
                <a:latin typeface="Calibri" pitchFamily="34" charset="0"/>
                <a:cs typeface="Amiri" pitchFamily="2" charset="-78"/>
              </a:rPr>
              <a:t> in a listening test?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key word</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distractor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script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(D3-L09).</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أَسْتَبْعِدُ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eliminate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predict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check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(D3-L09).</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starts the first step of a plan?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أَخِيرًا</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لِذٰلِكَ</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أَوَّلًا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D3-L09.</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will study”?</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دَرَسْتُ</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كُنْتُ أَدْرُسُ</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سَأَدْرُسُ</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D3-L04: future.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NOT required in the advert: </a:t>
            </a:r>
            <a:pPr algn="l" indent="0" marL="0">
              <a:buNone/>
            </a:pPr>
            <a:r>
              <a:rPr lang="ar-SA" altLang="en-US" sz="1650" b="1" dirty="0">
                <a:solidFill>
                  <a:srgbClr val="1B3B6F"/>
                </a:solidFill>
                <a:latin typeface="Amiri" pitchFamily="2" charset="-78"/>
                <a:ea typeface="Amiri" pitchFamily="2" charset="-78"/>
                <a:cs typeface="Amiri" pitchFamily="2" charset="-78"/>
              </a:rPr>
              <a:t>لَا تُشْتَرَطُ الخِبْرَةُ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experience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organisation</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computer skills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D3-L08: lā = not.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first thing you hear is often NOT the answer. Wait for the change.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كُنْتُ سَأَدْرُسُ القَانُونَ،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ثُمَّ غَيَّرْتُ رَأْيِي</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ثَلَاثَةَ أَيَّامٍ،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لَا أَرْبَعَةَ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Predict the type of detail before listening.</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Track who is speaking and report it (</a:t>
            </a:r>
            <a:pPr algn="l" indent="0" marL="0">
              <a:buNone/>
            </a:pPr>
            <a:r>
              <a:rPr lang="ar-SA" altLang="en-US" sz="1700" dirty="0">
                <a:solidFill>
                  <a:srgbClr val="1F2A37"/>
                </a:solidFill>
                <a:latin typeface="Amiri" pitchFamily="2" charset="-78"/>
                <a:ea typeface="Amiri" pitchFamily="2" charset="-78"/>
                <a:cs typeface="Amiri" pitchFamily="2" charset="-78"/>
              </a:rPr>
              <a:t>قَالَ إِنَّهُ / قَالَتْ إِنَّهَا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Catch the final plan after a change of mind or a correction.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Identify the speaker’s attitude from verbs and adjectives.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label what each question asks for.</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catch a place, a job and a number.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catch the final plan after a change.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report what a speaker said.</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name each distractor and why it is wrong.</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reconstruct three speakers in notes.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48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Listening signals · 18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Plans and qualifications · 18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Attitude · 12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رَأْيٌ</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‎رائے‎ </a:t>
            </a:r>
            <a:pPr indent="0" marL="0">
              <a:buNone/>
            </a:pPr>
            <a:r>
              <a:rPr lang="en-US" sz="950" b="1" dirty="0">
                <a:solidFill>
                  <a:srgbClr val="2E8B57"/>
                </a:solidFill>
                <a:latin typeface="Calibri" pitchFamily="34" charset="0"/>
                <a:cs typeface="Amiri" pitchFamily="2" charset="-78"/>
              </a:rPr>
              <a:t> rāy · opinion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غَيَّرْتُ</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‎تغیر / تبدیلی‎ </a:t>
            </a:r>
            <a:pPr indent="0" marL="0">
              <a:buNone/>
            </a:pPr>
            <a:r>
              <a:rPr lang="en-US" sz="950" b="1" dirty="0">
                <a:solidFill>
                  <a:srgbClr val="2E8B57"/>
                </a:solidFill>
                <a:latin typeface="Calibri" pitchFamily="34" charset="0"/>
                <a:cs typeface="Amiri" pitchFamily="2" charset="-78"/>
              </a:rPr>
              <a:t> taghayyur · change → I changed</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قَرَارٌ / قَرَّرْتُ</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‎قرار‎ </a:t>
            </a:r>
            <a:pPr indent="0" marL="0">
              <a:buNone/>
            </a:pPr>
            <a:r>
              <a:rPr lang="en-US" sz="950" b="1" dirty="0">
                <a:solidFill>
                  <a:srgbClr val="2E8B57"/>
                </a:solidFill>
                <a:latin typeface="Calibri" pitchFamily="34" charset="0"/>
                <a:cs typeface="Amiri" pitchFamily="2" charset="-78"/>
              </a:rPr>
              <a:t> qarār · decision → I decided</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فَائِدَةٌ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‎فائدہ‎ </a:t>
            </a:r>
            <a:pPr indent="0" marL="0">
              <a:buNone/>
            </a:pPr>
            <a:r>
              <a:rPr lang="en-US" sz="950" b="1" dirty="0">
                <a:solidFill>
                  <a:srgbClr val="2E8B57"/>
                </a:solidFill>
                <a:latin typeface="Calibri" pitchFamily="34" charset="0"/>
                <a:cs typeface="Amiri" pitchFamily="2" charset="-78"/>
              </a:rPr>
              <a:t> fāʾida · benefit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تَوْفِيرٌ</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‎وافر‎ </a:t>
            </a:r>
            <a:pPr indent="0" marL="0">
              <a:buNone/>
            </a:pPr>
            <a:r>
              <a:rPr lang="en-US" sz="950" b="1" dirty="0">
                <a:solidFill>
                  <a:srgbClr val="2E8B57"/>
                </a:solidFill>
                <a:latin typeface="Calibri" pitchFamily="34" charset="0"/>
                <a:cs typeface="Amiri" pitchFamily="2" charset="-78"/>
              </a:rPr>
              <a:t> wāfir · plenty → saving</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Plans and qualifications (1 of 3)</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سَأَدْرُسُ</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study</a:t>
            </a:r>
            <a:endParaRPr lang="en-US" sz="1350" dirty="0"/>
          </a:p>
          <a:p>
            <a:pPr indent="0" marL="0">
              <a:buNone/>
            </a:pPr>
            <a:r>
              <a:rPr lang="en-US" sz="1100" i="1" dirty="0">
                <a:solidFill>
                  <a:srgbClr val="5A6472"/>
                </a:solidFill>
                <a:latin typeface="Calibri" pitchFamily="34" charset="0"/>
                <a:cs typeface="Amiri" pitchFamily="2" charset="-78"/>
              </a:rPr>
              <a:t>sa-ʾad-ru-su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سَوْفَ أَتَدَرَّبُ</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train</a:t>
            </a:r>
            <a:endParaRPr lang="en-US" sz="1350" dirty="0"/>
          </a:p>
          <a:p>
            <a:pPr indent="0" marL="0">
              <a:buNone/>
            </a:pPr>
            <a:r>
              <a:rPr lang="en-US" sz="1100" i="1" dirty="0">
                <a:solidFill>
                  <a:srgbClr val="5A6472"/>
                </a:solidFill>
                <a:latin typeface="Calibri" pitchFamily="34" charset="0"/>
                <a:cs typeface="Amiri" pitchFamily="2" charset="-78"/>
              </a:rPr>
              <a:t>saw-fa a-ta-dar-ra-bu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أُرِيدُ أَنْ أُصْبِحَ</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want to become</a:t>
            </a:r>
            <a:endParaRPr lang="en-US" sz="1350" dirty="0"/>
          </a:p>
          <a:p>
            <a:pPr indent="0" marL="0">
              <a:buNone/>
            </a:pPr>
            <a:r>
              <a:rPr lang="en-US" sz="1100" i="1" dirty="0">
                <a:solidFill>
                  <a:srgbClr val="5A6472"/>
                </a:solidFill>
                <a:latin typeface="Calibri" pitchFamily="34" charset="0"/>
                <a:cs typeface="Amiri" pitchFamily="2" charset="-78"/>
              </a:rPr>
              <a:t>u-rī-du an uṣ-bi-ḥa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أَطْمَحُ إِلَى أَنْ</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aspire to</a:t>
            </a:r>
            <a:endParaRPr lang="en-US" sz="1350" dirty="0"/>
          </a:p>
          <a:p>
            <a:pPr indent="0" marL="0">
              <a:buNone/>
            </a:pPr>
            <a:r>
              <a:rPr lang="en-US" sz="1100" i="1" dirty="0">
                <a:solidFill>
                  <a:srgbClr val="5A6472"/>
                </a:solidFill>
                <a:latin typeface="Calibri" pitchFamily="34" charset="0"/>
                <a:cs typeface="Amiri" pitchFamily="2" charset="-78"/>
              </a:rPr>
              <a:t>aṭ-ma-ḥu i-lā an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4" name="Shape 4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أَنْوِي أَنْ</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intend to</a:t>
            </a:r>
            <a:endParaRPr lang="en-US" sz="1350" dirty="0"/>
          </a:p>
          <a:p>
            <a:pPr indent="0" marL="0">
              <a:buNone/>
            </a:pPr>
            <a:r>
              <a:rPr lang="en-US" sz="1100" i="1" dirty="0">
                <a:solidFill>
                  <a:srgbClr val="5A6472"/>
                </a:solidFill>
                <a:latin typeface="Calibri" pitchFamily="34" charset="0"/>
                <a:cs typeface="Amiri" pitchFamily="2" charset="-78"/>
              </a:rPr>
              <a:t>an-wī an</a:t>
            </a:r>
            <a:endParaRPr lang="en-US" sz="1350" dirty="0"/>
          </a:p>
        </p:txBody>
      </p:sp>
      <p:sp>
        <p:nvSpPr>
          <p:cNvPr id="48" name="Shape 4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1" name="Shape 4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أُخَطِّطُ لِـ</a:t>
            </a:r>
            <a:endParaRPr lang="ar-SA" sz="3000" dirty="0"/>
          </a:p>
        </p:txBody>
      </p:sp>
      <p:sp>
        <p:nvSpPr>
          <p:cNvPr id="54" name="Text 5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plan to</a:t>
            </a:r>
            <a:endParaRPr lang="en-US" sz="1350" dirty="0"/>
          </a:p>
          <a:p>
            <a:pPr indent="0" marL="0">
              <a:buNone/>
            </a:pPr>
            <a:r>
              <a:rPr lang="en-US" sz="1100" i="1" dirty="0">
                <a:solidFill>
                  <a:srgbClr val="5A6472"/>
                </a:solidFill>
                <a:latin typeface="Calibri" pitchFamily="34" charset="0"/>
                <a:cs typeface="Amiri" pitchFamily="2" charset="-78"/>
              </a:rPr>
              <a:t>u-khaṭ-ṭi-ṭu li</a:t>
            </a:r>
            <a:endParaRPr lang="en-US" sz="13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Plans and qualifications (2 of 3)</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التَّخَرُّجِ</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graduation</a:t>
            </a:r>
            <a:endParaRPr lang="en-US" sz="1350" dirty="0"/>
          </a:p>
          <a:p>
            <a:pPr indent="0" marL="0">
              <a:buNone/>
            </a:pPr>
            <a:r>
              <a:rPr lang="en-US" sz="1100" i="1" dirty="0">
                <a:solidFill>
                  <a:srgbClr val="5A6472"/>
                </a:solidFill>
                <a:latin typeface="Calibri" pitchFamily="34" charset="0"/>
                <a:cs typeface="Amiri" pitchFamily="2" charset="-78"/>
              </a:rPr>
              <a:t>baʿ-da at-ta-khar-ru-ji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المُسْتَقْبَلِ</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future</a:t>
            </a:r>
            <a:endParaRPr lang="en-US" sz="1350" dirty="0"/>
          </a:p>
          <a:p>
            <a:pPr indent="0" marL="0">
              <a:buNone/>
            </a:pPr>
            <a:r>
              <a:rPr lang="en-US" sz="1100" i="1" dirty="0">
                <a:solidFill>
                  <a:srgbClr val="5A6472"/>
                </a:solidFill>
                <a:latin typeface="Calibri" pitchFamily="34" charset="0"/>
                <a:cs typeface="Amiri" pitchFamily="2" charset="-78"/>
              </a:rPr>
              <a:t>fī al-mus-taq-ba-li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order to</a:t>
            </a:r>
            <a:endParaRPr lang="en-US" sz="1350" dirty="0"/>
          </a:p>
          <a:p>
            <a:pPr indent="0" marL="0">
              <a:buNone/>
            </a:pPr>
            <a:r>
              <a:rPr lang="en-US" sz="1100" i="1" dirty="0">
                <a:solidFill>
                  <a:srgbClr val="5A6472"/>
                </a:solidFill>
                <a:latin typeface="Calibri" pitchFamily="34" charset="0"/>
                <a:cs typeface="Amiri" pitchFamily="2" charset="-78"/>
              </a:rPr>
              <a:t>li-kay</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حَتَّى</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 that</a:t>
            </a:r>
            <a:endParaRPr lang="en-US" sz="1350" dirty="0"/>
          </a:p>
          <a:p>
            <a:pPr indent="0" marL="0">
              <a:buNone/>
            </a:pPr>
            <a:r>
              <a:rPr lang="en-US" sz="1100" i="1" dirty="0">
                <a:solidFill>
                  <a:srgbClr val="5A6472"/>
                </a:solidFill>
                <a:latin typeface="Calibri" pitchFamily="34" charset="0"/>
                <a:cs typeface="Amiri" pitchFamily="2" charset="-78"/>
              </a:rPr>
              <a:t>ḥat-tā</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المُحْتَمَلِ أَنْ</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likely that</a:t>
            </a:r>
            <a:endParaRPr lang="en-US" sz="1350" dirty="0"/>
          </a:p>
          <a:p>
            <a:pPr indent="0" marL="0">
              <a:buNone/>
            </a:pPr>
            <a:r>
              <a:rPr lang="en-US" sz="1100" i="1" dirty="0">
                <a:solidFill>
                  <a:srgbClr val="5A6472"/>
                </a:solidFill>
                <a:latin typeface="Calibri" pitchFamily="34" charset="0"/>
                <a:cs typeface="Amiri" pitchFamily="2" charset="-78"/>
              </a:rPr>
              <a:t>mi-na al-muḥ-ta-ma-li an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 نَجَحْتُ</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I succeed</a:t>
            </a:r>
            <a:endParaRPr lang="en-US" sz="1350" dirty="0"/>
          </a:p>
          <a:p>
            <a:pPr indent="0" marL="0">
              <a:buNone/>
            </a:pPr>
            <a:r>
              <a:rPr lang="en-US" sz="1100" i="1" dirty="0">
                <a:solidFill>
                  <a:srgbClr val="5A6472"/>
                </a:solidFill>
                <a:latin typeface="Calibri" pitchFamily="34" charset="0"/>
                <a:cs typeface="Amiri" pitchFamily="2" charset="-78"/>
              </a:rPr>
              <a:t>i-dhā na-jaḥ-tu</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Plans and qualifications (3 of 3)</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جَامِعَةٌ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university</a:t>
            </a:r>
            <a:endParaRPr lang="en-US" sz="1350" dirty="0"/>
          </a:p>
          <a:p>
            <a:pPr indent="0" marL="0">
              <a:buNone/>
            </a:pPr>
            <a:r>
              <a:rPr lang="en-US" sz="1100" i="1" dirty="0">
                <a:solidFill>
                  <a:srgbClr val="5A6472"/>
                </a:solidFill>
                <a:latin typeface="Calibri" pitchFamily="34" charset="0"/>
                <a:cs typeface="Amiri" pitchFamily="2" charset="-78"/>
              </a:rPr>
              <a:t>jā-mi-ʿa-tun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كُلِّيَّةٌ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college</a:t>
            </a:r>
            <a:endParaRPr lang="en-US" sz="1350" dirty="0"/>
          </a:p>
          <a:p>
            <a:pPr indent="0" marL="0">
              <a:buNone/>
            </a:pPr>
            <a:r>
              <a:rPr lang="en-US" sz="1100" i="1" dirty="0">
                <a:solidFill>
                  <a:srgbClr val="5A6472"/>
                </a:solidFill>
                <a:latin typeface="Calibri" pitchFamily="34" charset="0"/>
                <a:cs typeface="Amiri" pitchFamily="2" charset="-78"/>
              </a:rPr>
              <a:t>kul-liy-ya-tun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مَعْهَدٌ مِهَنِيٌّ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vocational institute</a:t>
            </a:r>
            <a:endParaRPr lang="en-US" sz="1350" dirty="0"/>
          </a:p>
          <a:p>
            <a:pPr indent="0" marL="0">
              <a:buNone/>
            </a:pPr>
            <a:r>
              <a:rPr lang="en-US" sz="1100" i="1" dirty="0">
                <a:solidFill>
                  <a:srgbClr val="5A6472"/>
                </a:solidFill>
                <a:latin typeface="Calibri" pitchFamily="34" charset="0"/>
                <a:cs typeface="Amiri" pitchFamily="2" charset="-78"/>
              </a:rPr>
              <a:t>maʿ-ha-dun mi-ha-niy-yun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تَدْرِيبٌ مِهَنِيٌّ</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vocational training</a:t>
            </a:r>
            <a:endParaRPr lang="en-US" sz="1350" dirty="0"/>
          </a:p>
          <a:p>
            <a:pPr indent="0" marL="0">
              <a:buNone/>
            </a:pPr>
            <a:r>
              <a:rPr lang="en-US" sz="1100" i="1" dirty="0">
                <a:solidFill>
                  <a:srgbClr val="5A6472"/>
                </a:solidFill>
                <a:latin typeface="Calibri" pitchFamily="34" charset="0"/>
                <a:cs typeface="Amiri" pitchFamily="2" charset="-78"/>
              </a:rPr>
              <a:t>tad-rī-bun mi-ha-niy-yun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تَدْرِيبٌ عَمَلِيٌّ</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work placement</a:t>
            </a:r>
            <a:endParaRPr lang="en-US" sz="1350" dirty="0"/>
          </a:p>
          <a:p>
            <a:pPr indent="0" marL="0">
              <a:buNone/>
            </a:pPr>
            <a:r>
              <a:rPr lang="en-US" sz="1100" i="1" dirty="0">
                <a:solidFill>
                  <a:srgbClr val="5A6472"/>
                </a:solidFill>
                <a:latin typeface="Calibri" pitchFamily="34" charset="0"/>
                <a:cs typeface="Amiri" pitchFamily="2" charset="-78"/>
              </a:rPr>
              <a:t>tad-rī-bun ʿa-ma-liy-yun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تَلْمَذَةٌ مِهَنِيَّةٌ</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apprenticeship</a:t>
            </a:r>
            <a:endParaRPr lang="en-US" sz="1350" dirty="0"/>
          </a:p>
          <a:p>
            <a:pPr indent="0" marL="0">
              <a:buNone/>
            </a:pPr>
            <a:r>
              <a:rPr lang="en-US" sz="1100" i="1" dirty="0">
                <a:solidFill>
                  <a:srgbClr val="5A6472"/>
                </a:solidFill>
                <a:latin typeface="Calibri" pitchFamily="34" charset="0"/>
                <a:cs typeface="Amiri" pitchFamily="2" charset="-78"/>
              </a:rPr>
              <a:t>tal-ma-dha-tun mi-ha-niy-ya-tun</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Attitude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9" name="Text 4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إِضَافَةً إِلَى ذٰلِكَ</a:t>
            </a:r>
            <a:endParaRPr lang="ar-SA" sz="3000" dirty="0"/>
          </a:p>
        </p:txBody>
      </p:sp>
      <p:sp>
        <p:nvSpPr>
          <p:cNvPr id="50" name="Text 4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a:t>
            </a:r>
            <a:endParaRPr lang="en-US" sz="1350" dirty="0"/>
          </a:p>
          <a:p>
            <a:pPr indent="0" marL="0">
              <a:buNone/>
            </a:pPr>
            <a:r>
              <a:rPr lang="en-US" sz="1100" i="1" dirty="0">
                <a:solidFill>
                  <a:srgbClr val="5A6472"/>
                </a:solidFill>
                <a:latin typeface="Calibri" pitchFamily="34" charset="0"/>
                <a:cs typeface="Amiri" pitchFamily="2" charset="-78"/>
              </a:rPr>
              <a:t>i-ḍā-fa-tan i-lā dhā-li-ka</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Attitude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ji-ha-tin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 أُخْرَى</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8" name="Shape 2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سَبِيلِ المِثَالِ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40" name="Shape 3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نَتِيجَةً لِذٰلِكَ</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44" name="Shape 4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66928"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47" name="Text 4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بِهَدَفِ</a:t>
            </a:r>
            <a:endParaRPr lang="ar-SA" sz="3000" dirty="0"/>
          </a:p>
        </p:txBody>
      </p:sp>
      <p:sp>
        <p:nvSpPr>
          <p:cNvPr id="48" name="Text 4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the aim of</a:t>
            </a:r>
            <a:endParaRPr lang="en-US" sz="1350" dirty="0"/>
          </a:p>
          <a:p>
            <a:pPr indent="0" marL="0">
              <a:buNone/>
            </a:pPr>
            <a:r>
              <a:rPr lang="en-US" sz="1100" i="1" dirty="0">
                <a:solidFill>
                  <a:srgbClr val="5A6472"/>
                </a:solidFill>
                <a:latin typeface="Calibri" pitchFamily="34" charset="0"/>
                <a:cs typeface="Amiri" pitchFamily="2" charset="-78"/>
              </a:rPr>
              <a:t>bi-ha-da-fi</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THE TRAP AND THE ANSWER (WEBSITE RULES 2–3)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First you hear … then the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التَّغْيِيرُ وَالتَّصْحِيحُ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217152" y="1810512"/>
            <a:ext cx="2441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a:t>
            </a:r>
            <a:endParaRPr lang="en-US" sz="1100" dirty="0"/>
          </a:p>
        </p:txBody>
      </p:sp>
      <p:sp>
        <p:nvSpPr>
          <p:cNvPr id="17" name="Text 14"/>
          <p:cNvSpPr txBox="1"/>
          <p:nvPr/>
        </p:nvSpPr>
        <p:spPr>
          <a:xfrm>
            <a:off x="656539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Trap</a:t>
            </a:r>
            <a:endParaRPr lang="en-US" sz="1100" dirty="0"/>
          </a:p>
        </p:txBody>
      </p:sp>
      <p:sp>
        <p:nvSpPr>
          <p:cNvPr id="18" name="Text 15"/>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script)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253728" y="2267712"/>
            <a:ext cx="24048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accounting office</a:t>
            </a:r>
            <a:endParaRPr lang="en-US" sz="1100" dirty="0"/>
          </a:p>
        </p:txBody>
      </p:sp>
      <p:sp>
        <p:nvSpPr>
          <p:cNvPr id="21" name="Text 18"/>
          <p:cNvSpPr txBox="1"/>
          <p:nvPr/>
        </p:nvSpPr>
        <p:spPr>
          <a:xfrm>
            <a:off x="6601968" y="2267712"/>
            <a:ext cx="24688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shop (past)</a:t>
            </a:r>
            <a:endParaRPr lang="en-US" sz="1100" dirty="0"/>
          </a:p>
        </p:txBody>
      </p:sp>
      <p:sp>
        <p:nvSpPr>
          <p:cNvPr id="22" name="Text 19"/>
          <p:cNvSpPr txBox="1"/>
          <p:nvPr/>
        </p:nvSpPr>
        <p:spPr>
          <a:xfrm>
            <a:off x="548640" y="2286000"/>
            <a:ext cx="585216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ea typeface="Amiri" pitchFamily="2" charset="-78"/>
                <a:cs typeface="Amiri" pitchFamily="2" charset="-78"/>
              </a:rPr>
              <a:t>كُنْتُ أَعْمَلُ</a:t>
            </a:r>
            <a:pPr rtl="1" algn="ctr" indent="0" marL="0">
              <a:buNone/>
            </a:pPr>
            <a:r>
              <a:rPr lang="ar-SA" altLang="en-US" sz="2100" b="1" dirty="0">
                <a:solidFill>
                  <a:srgbClr val="1B3B6F"/>
                </a:solidFill>
                <a:latin typeface="Amiri" pitchFamily="2" charset="-78"/>
                <a:ea typeface="Amiri" pitchFamily="2" charset="-78"/>
                <a:cs typeface="Amiri" pitchFamily="2" charset="-78"/>
              </a:rPr>
              <a:t> فِي مَتْجَرٍ، </a:t>
            </a:r>
            <a:pPr rtl="1" algn="ctr" indent="0" marL="0">
              <a:buNone/>
            </a:pPr>
            <a:r>
              <a:rPr lang="ar-SA" altLang="en-US" sz="2100" b="1" dirty="0">
                <a:solidFill>
                  <a:srgbClr val="0E7C86"/>
                </a:solidFill>
                <a:latin typeface="Amiri" pitchFamily="2" charset="-78"/>
                <a:ea typeface="Amiri" pitchFamily="2" charset="-78"/>
                <a:cs typeface="Amiri" pitchFamily="2" charset="-78"/>
              </a:rPr>
              <a:t>لٰكِنَّنِي بَدَأْتُ</a:t>
            </a:r>
            <a:pPr rtl="1" algn="ctr" indent="0" marL="0">
              <a:buNone/>
            </a:pPr>
            <a:r>
              <a:rPr lang="ar-SA" altLang="en-US" sz="2100" b="1" dirty="0">
                <a:solidFill>
                  <a:srgbClr val="1B3B6F"/>
                </a:solidFill>
                <a:latin typeface="Amiri" pitchFamily="2" charset="-78"/>
                <a:ea typeface="Amiri" pitchFamily="2" charset="-78"/>
                <a:cs typeface="Amiri" pitchFamily="2" charset="-78"/>
              </a:rPr>
              <a:t> تَدْرِيبًا فِي مَكْتَبِ مُحَاسَبَةٍ.</a:t>
            </a:r>
            <a:endParaRPr lang="ar-SA" sz="2100" dirty="0"/>
          </a:p>
        </p:txBody>
      </p:sp>
      <p:sp>
        <p:nvSpPr>
          <p:cNvPr id="23" name="Text 20"/>
          <p:cNvSpPr txBox="1"/>
          <p:nvPr/>
        </p:nvSpPr>
        <p:spPr>
          <a:xfrm>
            <a:off x="502920" y="2706624"/>
            <a:ext cx="59436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used to work in a shop, but I started training in an accounting office.</a:t>
            </a:r>
            <a:endParaRPr lang="en-US" sz="95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7" name="Text 24"/>
          <p:cNvSpPr txBox="1"/>
          <p:nvPr/>
        </p:nvSpPr>
        <p:spPr>
          <a:xfrm>
            <a:off x="9253728" y="3054096"/>
            <a:ext cx="24048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journalism</a:t>
            </a:r>
            <a:endParaRPr lang="en-US" sz="1100" dirty="0"/>
          </a:p>
        </p:txBody>
      </p:sp>
      <p:sp>
        <p:nvSpPr>
          <p:cNvPr id="28" name="Text 25"/>
          <p:cNvSpPr txBox="1"/>
          <p:nvPr/>
        </p:nvSpPr>
        <p:spPr>
          <a:xfrm>
            <a:off x="6601968" y="3054096"/>
            <a:ext cx="24688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law (old plan)</a:t>
            </a:r>
            <a:endParaRPr lang="en-US" sz="1100" dirty="0"/>
          </a:p>
        </p:txBody>
      </p:sp>
      <p:sp>
        <p:nvSpPr>
          <p:cNvPr id="29" name="Text 26"/>
          <p:cNvSpPr txBox="1"/>
          <p:nvPr/>
        </p:nvSpPr>
        <p:spPr>
          <a:xfrm>
            <a:off x="548640" y="3072384"/>
            <a:ext cx="585216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ea typeface="Amiri" pitchFamily="2" charset="-78"/>
                <a:cs typeface="Amiri" pitchFamily="2" charset="-78"/>
              </a:rPr>
              <a:t>كُنْتُ سَأَدْرُسُ</a:t>
            </a:r>
            <a:pPr rtl="1" algn="ctr" indent="0" marL="0">
              <a:buNone/>
            </a:pPr>
            <a:r>
              <a:rPr lang="ar-SA" altLang="en-US" sz="2100" b="1" dirty="0">
                <a:solidFill>
                  <a:srgbClr val="1B3B6F"/>
                </a:solidFill>
                <a:latin typeface="Amiri" pitchFamily="2" charset="-78"/>
                <a:ea typeface="Amiri" pitchFamily="2" charset="-78"/>
                <a:cs typeface="Amiri" pitchFamily="2" charset="-78"/>
              </a:rPr>
              <a:t> القَانُونَ، </a:t>
            </a:r>
            <a:pPr rtl="1" algn="ctr" indent="0" marL="0">
              <a:buNone/>
            </a:pPr>
            <a:r>
              <a:rPr lang="ar-SA" altLang="en-US" sz="2100" b="1" dirty="0">
                <a:solidFill>
                  <a:srgbClr val="0E7C86"/>
                </a:solidFill>
                <a:latin typeface="Amiri" pitchFamily="2" charset="-78"/>
                <a:ea typeface="Amiri" pitchFamily="2" charset="-78"/>
                <a:cs typeface="Amiri" pitchFamily="2" charset="-78"/>
              </a:rPr>
              <a:t>ثُمَّ غَيَّرْتُ رَأْيِي</a:t>
            </a:r>
            <a:pPr rtl="1" algn="ctr" indent="0" marL="0">
              <a:buNone/>
            </a:pPr>
            <a:r>
              <a:rPr lang="ar-SA" altLang="en-US" sz="2100" b="1" dirty="0">
                <a:solidFill>
                  <a:srgbClr val="1B3B6F"/>
                </a:solidFill>
                <a:latin typeface="Amiri" pitchFamily="2" charset="-78"/>
                <a:ea typeface="Amiri" pitchFamily="2" charset="-78"/>
                <a:cs typeface="Amiri" pitchFamily="2" charset="-78"/>
              </a:rPr>
              <a:t> وَقَرَّرْتُ دِرَاسَةَ الصَّحَافَةِ.</a:t>
            </a:r>
            <a:endParaRPr lang="ar-SA" sz="2100" dirty="0"/>
          </a:p>
        </p:txBody>
      </p:sp>
      <p:sp>
        <p:nvSpPr>
          <p:cNvPr id="30" name="Text 27"/>
          <p:cNvSpPr txBox="1"/>
          <p:nvPr/>
        </p:nvSpPr>
        <p:spPr>
          <a:xfrm>
            <a:off x="502920" y="3493008"/>
            <a:ext cx="59436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was going to study law, then I changed my mind and decided to study journalism.</a:t>
            </a:r>
            <a:endParaRPr lang="en-US" sz="950" dirty="0"/>
          </a:p>
        </p:txBody>
      </p:sp>
      <p:sp>
        <p:nvSpPr>
          <p:cNvPr id="31" name="Shape 28"/>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4" name="Text 31"/>
          <p:cNvSpPr txBox="1"/>
          <p:nvPr/>
        </p:nvSpPr>
        <p:spPr>
          <a:xfrm>
            <a:off x="9253728" y="3840480"/>
            <a:ext cx="24048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a:t>
            </a:r>
            <a:endParaRPr lang="en-US" sz="1100" dirty="0"/>
          </a:p>
        </p:txBody>
      </p:sp>
      <p:sp>
        <p:nvSpPr>
          <p:cNvPr id="35" name="Text 32"/>
          <p:cNvSpPr txBox="1"/>
          <p:nvPr/>
        </p:nvSpPr>
        <p:spPr>
          <a:xfrm>
            <a:off x="6601968" y="3840480"/>
            <a:ext cx="24688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four</a:t>
            </a:r>
            <a:endParaRPr lang="en-US" sz="1100" dirty="0"/>
          </a:p>
        </p:txBody>
      </p:sp>
      <p:sp>
        <p:nvSpPr>
          <p:cNvPr id="36" name="Text 33"/>
          <p:cNvSpPr txBox="1"/>
          <p:nvPr/>
        </p:nvSpPr>
        <p:spPr>
          <a:xfrm>
            <a:off x="548640" y="3858768"/>
            <a:ext cx="58521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أَعْمَلُ مِنَ المَنْزِلِ ثَلَاثَةَ أَيَّامٍ، </a:t>
            </a:r>
            <a:pPr rtl="1" algn="ctr" indent="0" marL="0">
              <a:buNone/>
            </a:pPr>
            <a:r>
              <a:rPr lang="ar-SA" altLang="en-US" sz="2100" b="1" dirty="0">
                <a:solidFill>
                  <a:srgbClr val="D6336C"/>
                </a:solidFill>
                <a:latin typeface="Amiri" pitchFamily="2" charset="-78"/>
                <a:ea typeface="Amiri" pitchFamily="2" charset="-78"/>
                <a:cs typeface="Amiri" pitchFamily="2" charset="-78"/>
              </a:rPr>
              <a:t>لَا أَرْبَعَةَ</a:t>
            </a:r>
            <a:pPr rtl="1" algn="ctr" indent="0" marL="0">
              <a:buNone/>
            </a:pPr>
            <a:r>
              <a:rPr lang="ar-SA" altLang="en-US" sz="2100" b="1" dirty="0">
                <a:solidFill>
                  <a:srgbClr val="1B3B6F"/>
                </a:solidFill>
                <a:latin typeface="Amiri" pitchFamily="2" charset="-78"/>
                <a:cs typeface="Amiri" pitchFamily="2" charset="-78"/>
              </a:rPr>
              <a:t>.</a:t>
            </a:r>
            <a:endParaRPr lang="ar-SA" sz="2100" dirty="0"/>
          </a:p>
        </p:txBody>
      </p:sp>
      <p:sp>
        <p:nvSpPr>
          <p:cNvPr id="37" name="Text 34"/>
          <p:cNvSpPr txBox="1"/>
          <p:nvPr/>
        </p:nvSpPr>
        <p:spPr>
          <a:xfrm>
            <a:off x="502920" y="4279392"/>
            <a:ext cx="59436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work from home three days, not four.</a:t>
            </a:r>
            <a:endParaRPr lang="en-US" sz="950" dirty="0"/>
          </a:p>
        </p:txBody>
      </p:sp>
      <p:sp>
        <p:nvSpPr>
          <p:cNvPr id="38" name="Shape 35"/>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9" name="Text 36"/>
          <p:cNvSpPr txBox="1"/>
          <p:nvPr/>
        </p:nvSpPr>
        <p:spPr>
          <a:xfrm>
            <a:off x="9253728" y="4626864"/>
            <a:ext cx="24048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Saturday (after bal)</a:t>
            </a:r>
            <a:endParaRPr lang="en-US" sz="1100" dirty="0"/>
          </a:p>
        </p:txBody>
      </p:sp>
      <p:sp>
        <p:nvSpPr>
          <p:cNvPr id="40" name="Text 37"/>
          <p:cNvSpPr txBox="1"/>
          <p:nvPr/>
        </p:nvSpPr>
        <p:spPr>
          <a:xfrm>
            <a:off x="6601968" y="4626864"/>
            <a:ext cx="24688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Friday</a:t>
            </a:r>
            <a:endParaRPr lang="en-US" sz="1100" dirty="0"/>
          </a:p>
        </p:txBody>
      </p:sp>
      <p:sp>
        <p:nvSpPr>
          <p:cNvPr id="41" name="Text 38"/>
          <p:cNvSpPr txBox="1"/>
          <p:nvPr/>
        </p:nvSpPr>
        <p:spPr>
          <a:xfrm>
            <a:off x="548640" y="4645152"/>
            <a:ext cx="58521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لَا يَعْمَلُ يَوْمَ الجُمُعَةِ </a:t>
            </a:r>
            <a:pPr rtl="1" algn="ctr" indent="0" marL="0">
              <a:buNone/>
            </a:pPr>
            <a:r>
              <a:rPr lang="ar-SA" altLang="en-US" sz="2100" b="1" dirty="0">
                <a:solidFill>
                  <a:srgbClr val="0E7C86"/>
                </a:solidFill>
                <a:latin typeface="Amiri" pitchFamily="2" charset="-78"/>
                <a:ea typeface="Amiri" pitchFamily="2" charset="-78"/>
                <a:cs typeface="Amiri" pitchFamily="2" charset="-78"/>
              </a:rPr>
              <a:t>بَلْ</a:t>
            </a:r>
            <a:pPr rtl="1" algn="ctr" indent="0" marL="0">
              <a:buNone/>
            </a:pPr>
            <a:r>
              <a:rPr lang="ar-SA" altLang="en-US" sz="2100" b="1" dirty="0">
                <a:solidFill>
                  <a:srgbClr val="1B3B6F"/>
                </a:solidFill>
                <a:latin typeface="Amiri" pitchFamily="2" charset="-78"/>
                <a:ea typeface="Amiri" pitchFamily="2" charset="-78"/>
                <a:cs typeface="Amiri" pitchFamily="2" charset="-78"/>
              </a:rPr>
              <a:t> يَوْمَ السَّبْتِ.</a:t>
            </a:r>
            <a:endParaRPr lang="ar-SA" sz="2100" dirty="0"/>
          </a:p>
        </p:txBody>
      </p:sp>
      <p:sp>
        <p:nvSpPr>
          <p:cNvPr id="42" name="Text 39"/>
          <p:cNvSpPr txBox="1"/>
          <p:nvPr/>
        </p:nvSpPr>
        <p:spPr>
          <a:xfrm>
            <a:off x="502920" y="5065776"/>
            <a:ext cx="59436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does not work on Friday but on Saturday.</a:t>
            </a:r>
            <a:endParaRPr lang="en-US" sz="9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kuntu + present = “I used to …”; kuntu sa- + present = “I was going to …” — both are NOT the final answer.</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REPORTING AND ATTITUDE (WEBSITE RULES 1 AND 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Who said it — and how did they feel?</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قَالَ إِنَّهُ · يُفَضِّلُ · يَشْكُو</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HE SAID · DEVELOP</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قَالَ إِنَّهُ</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قَالَ إِنَّهُ يَعْمَلُ فِي مَكْتَبٍ.</a:t>
            </a:r>
            <a:endParaRPr lang="ar-SA" sz="31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said that he works in an office.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inna + -hu = that he.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SHE SAID · DEVELOP</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قَالَتْ إِنَّهَا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قَالَتْ إِنَّهَا سَتَدْرُسُ الصَّحَافَةَ.</a:t>
            </a:r>
            <a:endParaRPr lang="ar-SA" sz="27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She said that she will study journalism.</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qālat + innahā.</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ATTITUDE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يُفَضِّلُ · يَشْكُو مِنْ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يُفَضِّلُ السَّاعَاتِ المَرِنَةَ، وَيَشْكُو مِنْ طُولِ الطَّرِيقِ.</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prefers flexible hours and complains about the long journey.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Verbs show feelings.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Report a girl with qālat innahā.</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قَالَتْ إِنَّهَا تُحِبُّ الكِتَابَةَ.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قَالَ إِنَّهُ تُحِبُّ الكِتَابَةَ.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Listening discrimination and reported detail</a:t>
            </a:r>
            <a:endParaRPr lang="en-US" sz="21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ea typeface="Amiri" pitchFamily="2" charset="-78"/>
                <a:cs typeface="Amiri" pitchFamily="2" charset="-78"/>
              </a:rPr>
              <a:t>تَتَبُّعُ المُتَحَدِّثِ وَالتَّغْيِيرِ وَالتَّفَاصِيلِ</a:t>
            </a:r>
            <a:endParaRPr lang="ar-SA" sz="26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Reported statement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قَالَ إِنَّهُ / قَالَتْ إِنَّهَا</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قَالَ إِنَّهُ يَعْمَلُ فِي مَكْتَبٍ.   ·   قَالَتْ إِنَّهَا سَتَدْرُسُ الطِّبَّ.</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Change of plan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كَانَ سَـ... وَلٰكِنَّهُ قَرَّرَ أَنْ...</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كَانَ سَيَدْرُسُ القَانُونَ، وَلٰكِنَّهُ قَرَّرَ أَنْ يَدْرُسَ الإِعْلَامَ.</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Exact detail</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لَيْسَ ... بَلْ ...</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لَا يَعْمَلُ يَوْمَ الجُمُعَةِ بَلْ يَوْمَ السَّبْتِ.</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Attitude signal</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يُفَضِّلُ / يَشْكُو مِنْ / يَشْعُرُ بِـ</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يُفَضِّلُ السَّاعَاتِ المَرِنَةَ.   ·   يَشْكُو مِنْ طُولِ الطَّرِيقِ.</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كُنْتُ أَعْمَلُ فِي مَتْجَرٍ</a:t>
            </a:r>
            <a:pPr algn="l" indent="0" marL="0">
              <a:buNone/>
            </a:pPr>
            <a:r>
              <a:rPr lang="en-US" sz="1250" b="1" dirty="0">
                <a:solidFill>
                  <a:srgbClr val="1B3B6F"/>
                </a:solidFill>
                <a:latin typeface="Calibri" pitchFamily="34" charset="0"/>
                <a:cs typeface="Amiri" pitchFamily="2" charset="-78"/>
              </a:rPr>
              <a:t>, is the shop his job now?</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cannot know</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 it was his old job</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غَيَّرْتُ رَأْيِي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changed my mind</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gave my opinion</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decided early</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قَالَتْ ___ سَتَدْرُسُ الصَّحَافَةَ.</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إِنَّهُ</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إِنَّهَا</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ثَلَاثَةَ أَيَّامٍ، لَا أَرْبَعَةَ</a:t>
            </a:r>
            <a:pPr algn="l" indent="0" marL="0">
              <a:buNone/>
            </a:pPr>
            <a:r>
              <a:rPr lang="en-US" sz="1250" b="1" dirty="0">
                <a:solidFill>
                  <a:srgbClr val="1B3B6F"/>
                </a:solidFill>
                <a:latin typeface="Calibri" pitchFamily="34" charset="0"/>
                <a:cs typeface="Amiri" pitchFamily="2" charset="-78"/>
              </a:rPr>
              <a:t>, which number is the answer?</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seven</a:t>
            </a:r>
            <a:endParaRPr lang="en-US" sz="12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كُنْتُ أَعْمَلُ فِي مَتْجَرٍ</a:t>
            </a:r>
            <a:pPr algn="l" indent="0" marL="0">
              <a:buNone/>
            </a:pPr>
            <a:r>
              <a:rPr lang="en-US" sz="1250" b="1" dirty="0">
                <a:solidFill>
                  <a:srgbClr val="1B3B6F"/>
                </a:solidFill>
                <a:latin typeface="Calibri" pitchFamily="34" charset="0"/>
                <a:cs typeface="Amiri" pitchFamily="2" charset="-78"/>
              </a:rPr>
              <a:t>, is the shop his job now?</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 cannot know</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 — it was his old job</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kuntu aʿmalu = I used to work.</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غَيَّرْتُ رَأْيِي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changed my mind</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gave my opinion</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decided early</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Change signal.</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قَالَتْ ___ سَتَدْرُسُ الصَّحَافَةَ.</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إِنَّهُ</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إِنَّهَا</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said that she …</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ثَلَاثَةَ أَيَّامٍ، لَا أَرْبَعَةَ</a:t>
            </a:r>
            <a:pPr algn="l" indent="0" marL="0">
              <a:buNone/>
            </a:pPr>
            <a:r>
              <a:rPr lang="en-US" sz="1250" b="1" dirty="0">
                <a:solidFill>
                  <a:srgbClr val="1B3B6F"/>
                </a:solidFill>
                <a:latin typeface="Calibri" pitchFamily="34" charset="0"/>
                <a:cs typeface="Amiri" pitchFamily="2" charset="-78"/>
              </a:rPr>
              <a:t>, which number is the answer?</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a:t>
            </a:r>
            <a:endParaRPr lang="en-US" sz="125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seven</a:t>
            </a:r>
            <a:endParaRPr lang="en-US" sz="125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detail before “not four”.</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Watch me beat a change-of-plan distractor</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Predict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ea typeface="Amiri" pitchFamily="2" charset="-78"/>
                <a:cs typeface="Amiri" pitchFamily="2" charset="-78"/>
              </a:rPr>
              <a:t>مَاذَا قَرَّرَتْ أَنْ تَدْرُسَ؟</a:t>
            </a:r>
            <a:endParaRPr lang="ar-SA" sz="27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SUBJECT — her FINAL choice.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Listen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كُنْتُ سَأَدْرُسُ القَانُونَ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ثُمَّ غَيَّرْتُ رَأْيِي</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subjects!</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Reject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القَانُونَ</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Old plan: distractor.</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Verify</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وَ</a:t>
            </a:r>
            <a:pPr rtl="1" algn="ctr" indent="0" marL="0">
              <a:buNone/>
            </a:pPr>
            <a:r>
              <a:rPr lang="ar-SA" altLang="en-US" sz="2550" b="1" dirty="0">
                <a:solidFill>
                  <a:srgbClr val="0E7C86"/>
                </a:solidFill>
                <a:latin typeface="Amiri" pitchFamily="2" charset="-78"/>
                <a:ea typeface="Amiri" pitchFamily="2" charset="-78"/>
                <a:cs typeface="Amiri" pitchFamily="2" charset="-78"/>
              </a:rPr>
              <a:t>قَرَّرْتُ دِرَاسَةَ الصَّحَافَةِ</a:t>
            </a:r>
            <a:endParaRPr lang="ar-SA" sz="25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 decided” = final.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DISTRACTOR</a:t>
            </a:r>
            <a:endParaRPr lang="en-US" sz="800" dirty="0"/>
          </a:p>
        </p:txBody>
      </p:sp>
      <p:sp>
        <p:nvSpPr>
          <p:cNvPr id="47" name="Shape 43"/>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EVIDENCE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السُّؤَالُ يَطْلُبُ قَرَارَهَا النِّهَائِيَّ. سَمِعْتُ «</a:t>
            </a:r>
            <a:pPr rtl="1" algn="r" indent="0" marL="0">
              <a:lnSpc>
                <a:spcPct val="120000"/>
              </a:lnSpc>
              <a:buNone/>
            </a:pPr>
            <a:r>
              <a:rPr lang="ar-SA" altLang="en-US" sz="1550" b="1" dirty="0">
                <a:solidFill>
                  <a:srgbClr val="D6336C"/>
                </a:solidFill>
                <a:latin typeface="Amiri" pitchFamily="2" charset="-78"/>
                <a:ea typeface="Amiri" pitchFamily="2" charset="-78"/>
                <a:cs typeface="Amiri" pitchFamily="2" charset="-78"/>
              </a:rPr>
              <a:t>القَانُونَ</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وَ«</a:t>
            </a:r>
            <a:pPr rtl="1" algn="r" indent="0" marL="0">
              <a:lnSpc>
                <a:spcPct val="120000"/>
              </a:lnSpc>
              <a:buNone/>
            </a:pPr>
            <a:r>
              <a:rPr lang="ar-SA" altLang="en-US" sz="1550" b="1" dirty="0">
                <a:solidFill>
                  <a:srgbClr val="0E7C86"/>
                </a:solidFill>
                <a:latin typeface="Amiri" pitchFamily="2" charset="-78"/>
                <a:ea typeface="Amiri" pitchFamily="2" charset="-78"/>
                <a:cs typeface="Amiri" pitchFamily="2" charset="-78"/>
              </a:rPr>
              <a:t>الصَّحَافَةِ</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اِسْتَبْعَدْتُ القَانُونَ لِأَنَّهَا قَالَتْ «</a:t>
            </a:r>
            <a:pPr rtl="1" algn="r" indent="0" marL="0">
              <a:lnSpc>
                <a:spcPct val="120000"/>
              </a:lnSpc>
              <a:buNone/>
            </a:pPr>
            <a:r>
              <a:rPr lang="ar-SA" altLang="en-US" sz="1550" b="1" dirty="0">
                <a:solidFill>
                  <a:srgbClr val="0E7C86"/>
                </a:solidFill>
                <a:latin typeface="Amiri" pitchFamily="2" charset="-78"/>
                <a:ea typeface="Amiri" pitchFamily="2" charset="-78"/>
                <a:cs typeface="Amiri" pitchFamily="2" charset="-78"/>
              </a:rPr>
              <a:t>غَيَّرْتُ رَأْيِي</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قَالَتْ إِنَّهَا سَتَدْرُسُ الصَّحَافَةَ لِأَنَّهَا تُحِبُّ الكِتَابَةَ.</a:t>
            </a:r>
            <a:endParaRPr lang="ar-SA" sz="15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question asks for her final decision. I heard “law” and “journalism”. I eliminated law because she said “I changed my mind”. She said that she will study journalism because she loves writing.</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MODEL SENTENCES (TEACHER-WRITTEN ON THE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قَالَ إِنَّهُ يَعْمَلُ فِي مَكْتَبٍ.</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said that he works in an office.</a:t>
            </a:r>
            <a:endParaRPr lang="en-US" sz="1250" dirty="0"/>
          </a:p>
          <a:p>
            <a:pPr indent="0" marL="0">
              <a:buNone/>
            </a:pPr>
            <a:r>
              <a:rPr lang="en-US" sz="1050" i="1" dirty="0">
                <a:solidFill>
                  <a:srgbClr val="8A6D1E"/>
                </a:solidFill>
                <a:latin typeface="Calibri" pitchFamily="34" charset="0"/>
                <a:cs typeface="Amiri" pitchFamily="2" charset="-78"/>
              </a:rPr>
              <a:t>Report: qāla innahu.</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كَانَتْ سَتَدْرُسُ القَانُونَ، وَلٰكِنَّهَا قَرَّرَتْ دِرَاسَةَ الصَّحَافَةِ.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was going to study law, but decided to study journalism.</a:t>
            </a:r>
            <a:endParaRPr lang="en-US" sz="1250" dirty="0"/>
          </a:p>
          <a:p>
            <a:pPr indent="0" marL="0">
              <a:buNone/>
            </a:pPr>
            <a:r>
              <a:rPr lang="en-US" sz="1050" i="1" dirty="0">
                <a:solidFill>
                  <a:srgbClr val="8A6D1E"/>
                </a:solidFill>
                <a:latin typeface="Calibri" pitchFamily="34" charset="0"/>
                <a:cs typeface="Amiri" pitchFamily="2" charset="-78"/>
              </a:rPr>
              <a:t>Final decision after but.</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يَعْمَلُ مِنَ المَنْزِلِ ثَلَاثَةَ أَيَّامٍ، لَا أَرْبَعَةَ.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works from home three days, not four.</a:t>
            </a:r>
            <a:endParaRPr lang="en-US" sz="1250" dirty="0"/>
          </a:p>
          <a:p>
            <a:pPr indent="0" marL="0">
              <a:buNone/>
            </a:pPr>
            <a:r>
              <a:rPr lang="en-US" sz="1050" i="1" dirty="0">
                <a:solidFill>
                  <a:srgbClr val="8A6D1E"/>
                </a:solidFill>
                <a:latin typeface="Calibri" pitchFamily="34" charset="0"/>
                <a:cs typeface="Amiri" pitchFamily="2" charset="-78"/>
              </a:rPr>
              <a:t>Correction after lā.</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يُفَضِّلُ السَّاعَاتِ المَرِنَةَ.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prefers flexible hours.</a:t>
            </a:r>
            <a:endParaRPr lang="en-US" sz="1250" dirty="0"/>
          </a:p>
          <a:p>
            <a:pPr indent="0" marL="0">
              <a:buNone/>
            </a:pPr>
            <a:r>
              <a:rPr lang="en-US" sz="1050" i="1" dirty="0">
                <a:solidFill>
                  <a:srgbClr val="8A6D1E"/>
                </a:solidFill>
                <a:latin typeface="Calibri" pitchFamily="34" charset="0"/>
                <a:cs typeface="Amiri" pitchFamily="2" charset="-78"/>
              </a:rPr>
              <a:t>Attitude verb.</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Old plan or final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أَعْمَلُ فِي مَتْجَرٍ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سَأَدْرُسُ القَانُونَ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أَرْبَعَةَ أَيَّامٍ</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تَدْرِيبٌ فِي مَكْتَبِ مُحَاسَبَةٍ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قَرَّرْتُ دِرَاسَةَ الصَّحَافَةِ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ثَلَاثَةَ أَيَّامٍ</a:t>
            </a:r>
            <a:endParaRPr lang="ar-SA" sz="1800" dirty="0"/>
          </a:p>
        </p:txBody>
      </p:sp>
      <p:sp>
        <p:nvSpPr>
          <p:cNvPr id="27" name="Shape 24"/>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28" name="Shape 25"/>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29" name="Text 26"/>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First / old plan (distractor)</a:t>
            </a:r>
            <a:endParaRPr lang="en-US" sz="950" dirty="0"/>
          </a:p>
        </p:txBody>
      </p:sp>
      <p:sp>
        <p:nvSpPr>
          <p:cNvPr id="30" name="Shape 27"/>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1" name="Shape 28"/>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2" name="Text 29"/>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Final plan (answer)</a:t>
            </a:r>
            <a:endParaRPr lang="en-US" sz="9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First / old plan (distractor)</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أَعْمَلُ فِي مَتْجَرٍ</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كُنْتُ سَأَدْرُسُ القَانُونَ</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أَرْبَعَةَ أَيَّامٍ</a:t>
            </a:r>
            <a:endParaRPr lang="ar-SA" sz="1800" dirty="0"/>
          </a:p>
        </p:txBody>
      </p:sp>
      <p:sp>
        <p:nvSpPr>
          <p:cNvPr id="24" name="Shape 21"/>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5" name="Shape 22"/>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Final plan (answer)</a:t>
            </a:r>
            <a:endParaRPr lang="en-US" sz="950" dirty="0"/>
          </a:p>
        </p:txBody>
      </p:sp>
      <p:sp>
        <p:nvSpPr>
          <p:cNvPr id="27" name="Shape 24"/>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تَدْرِيبٌ فِي مَكْتَبِ مُحَاسَبَةٍ</a:t>
            </a:r>
            <a:endParaRPr lang="ar-SA" sz="1800" dirty="0"/>
          </a:p>
        </p:txBody>
      </p:sp>
      <p:sp>
        <p:nvSpPr>
          <p:cNvPr id="29" name="Shape 26"/>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قَرَّرْتُ دِرَاسَةَ الصَّحَافَةِ</a:t>
            </a:r>
            <a:endParaRPr lang="ar-SA" sz="1800" dirty="0"/>
          </a:p>
        </p:txBody>
      </p:sp>
      <p:sp>
        <p:nvSpPr>
          <p:cNvPr id="31" name="Shape 28"/>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ثَلَاثَةَ أَيَّامٍ</a:t>
            </a:r>
            <a:endParaRPr lang="ar-SA" sz="18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لَا يَعْمَلُ يَوْمَ الجُمُعَةِ بَلْ يَوْمَ السَّبْتِ</a:t>
            </a:r>
            <a:pPr algn="l" indent="0" marL="0">
              <a:buNone/>
            </a:pPr>
            <a:r>
              <a:rPr lang="en-US" sz="1250" b="1" dirty="0">
                <a:solidFill>
                  <a:srgbClr val="1B3B6F"/>
                </a:solidFill>
                <a:latin typeface="Calibri" pitchFamily="34" charset="0"/>
                <a:cs typeface="Amiri" pitchFamily="2" charset="-78"/>
              </a:rPr>
              <a:t>, which day does he work?</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Friday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neither</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Saturday</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shows a complaint?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يُفَضِّلُ</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يَشْكُو مِنْ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يَعْمَلُ</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do in the second listening?</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the questions</a:t>
            </a:r>
            <a:endParaRPr lang="en-US" sz="12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check change words, numbers and times</a:t>
            </a:r>
            <a:endParaRPr lang="en-US" sz="12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write every word</a:t>
            </a:r>
            <a:endParaRPr lang="en-US" sz="12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signals the FINAL decision?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سَأَ…</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أَعْمَلُ</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قَرَّرْتُ</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لَا يَعْمَلُ يَوْمَ الجُمُعَةِ بَلْ يَوْمَ السَّبْتِ</a:t>
            </a:r>
            <a:pPr algn="l" indent="0" marL="0">
              <a:buNone/>
            </a:pPr>
            <a:r>
              <a:rPr lang="en-US" sz="1250" b="1" dirty="0">
                <a:solidFill>
                  <a:srgbClr val="1B3B6F"/>
                </a:solidFill>
                <a:latin typeface="Calibri" pitchFamily="34" charset="0"/>
                <a:cs typeface="Amiri" pitchFamily="2" charset="-78"/>
              </a:rPr>
              <a:t>, which day does he work?</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Friday</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neither</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Saturday</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bal.</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shows a complaint?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يُفَضِّلُ</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يَشْكُو مِنْ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يَعْمَلُ</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yashkū min = complains about.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do in the second listening?</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the questions</a:t>
            </a:r>
            <a:endParaRPr lang="en-US" sz="125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check change words, numbers and times</a:t>
            </a:r>
            <a:endParaRPr lang="en-US" sz="125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write every word</a:t>
            </a:r>
            <a:endParaRPr lang="en-US" sz="125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strategy text.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signals the FINAL decision?</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كُنْتُ سَأَ…</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كُنْتُ أَعْمَلُ</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قَرَّرْتُ</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qarrartu = I decided.</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سَتَدْرُسُ المُتَحَدِّثَةُ القَانُونَ.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plan is final?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يَعْمَلُ مِنَ المَنْزِلِ أَرْبَعَةَ أَيَّامٍ.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“Three, not four”: which counts?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قَالَتْ إِنَّهُ تُحِبُّ الكِتَابَةَ.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female speaker: innahu or innahā?</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سَتَدْرُسُ المُتَحَدِّثَةُ القَانُونَ.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سَتَدْرُسُ المُتَحَدِّثَةُ الصَّحَافَةَ.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changed her mind: the final plan counts.</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يَعْمَلُ مِنَ المَنْزِلِ أَرْبَعَةَ أَيَّامٍ.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يَعْمَلُ مِنَ المَنْزِلِ ثَلَاثَةَ أَيَّامٍ.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“Three, not four”: the correction counts.</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قَالَتْ إِنَّهُ تُحِبُّ الكِتَابَةَ.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قَالَتْ إِنَّهَا تُحِبُّ الكِتَابَةَ.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female speaker → innahā.</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1 OF 3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Speaker 1: a new placement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speaker 1 work before?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shop</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an office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school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his new placement?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bank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accounting office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better for him?</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easier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pays more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more useful for his plan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he describe the new work?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harder but more useful</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easier and shorter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boring but well paid</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place? place? reason?</a:t>
            </a:r>
            <a:endParaRPr lang="en-US" sz="1250" dirty="0"/>
          </a:p>
          <a:p>
            <a:pPr algn="l" indent="0" marL="0">
              <a:buNone/>
            </a:pPr>
            <a:r>
              <a:rPr lang="en-US" sz="1250" dirty="0">
                <a:solidFill>
                  <a:srgbClr val="1E6B52"/>
                </a:solidFill>
                <a:latin typeface="Calibri" pitchFamily="34" charset="0"/>
                <a:cs typeface="Amiri" pitchFamily="2" charset="-78"/>
              </a:rPr>
              <a:t>Two workplaces are heard: which is NOW?</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كُنْتُ أَعْمَلُ فِي مَتْجَرٍ بَعْدَ المَدْرَسَةِ،</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used to work in a shop after school,</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لٰكِنَّنِي بَدَأْتُ تَدْرِيبًا فِي مَكْتَبِ مُحَاسَبَةٍ هٰذَا الشَّهْرَ.</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I started a placement in an accounting office this month.</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العَمَلُ أَصْعَبُ، وَلٰكِنَّهُ أَكْثَرُ فَائِدَةً لِخُطَّتِي.</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work is harder, but more useful for my plan.</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speaker 1 work before?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a shop</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an office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school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كُنْتُ أَعْمَلُ فِي مَتْجَرٍ</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his new placement?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shop</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bank</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accounting office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مَكْتَبِ مُحَاسَبَةٍ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better for him?</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easier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pays more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more useful for his plan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أَكْثَرُ فَائِدَةً لِخُطَّتِي</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he describe the new work?</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harder but more useful</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easier and shorter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boring but well paid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العَمَلُ أَصْعَبُ، وَلٰكِنَّهُ أَكْثَرُ فَائِدَةً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place? place? reason?</a:t>
            </a:r>
            <a:endParaRPr lang="en-US" sz="1250" dirty="0"/>
          </a:p>
          <a:p>
            <a:pPr algn="l" indent="0" marL="0">
              <a:buNone/>
            </a:pPr>
            <a:r>
              <a:rPr lang="en-US" sz="1250" dirty="0">
                <a:solidFill>
                  <a:srgbClr val="1E6B52"/>
                </a:solidFill>
                <a:latin typeface="Calibri" pitchFamily="34" charset="0"/>
                <a:cs typeface="Amiri" pitchFamily="2" charset="-78"/>
              </a:rPr>
              <a:t>Two workplaces are heard: which is NOW?</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2 OF 3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Speaker 2: a change of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speaker 2 going to study first?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law</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journalism</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medicine</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final choice?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law</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design</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journalism</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she choose it?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easier</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friend studies it</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loves writing</a:t>
            </a:r>
            <a:endParaRPr lang="en-US" sz="1250" dirty="0"/>
          </a:p>
        </p:txBody>
      </p:sp>
      <p:sp>
        <p:nvSpPr>
          <p:cNvPr id="54" name="Shape 51"/>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57" name="Text 54"/>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Two subjects are heard.</a:t>
            </a:r>
            <a:endParaRPr lang="en-US" sz="1250" dirty="0"/>
          </a:p>
          <a:p>
            <a:pPr algn="l" indent="0" marL="0">
              <a:buNone/>
            </a:pPr>
            <a:r>
              <a:rPr lang="en-US" sz="1250" dirty="0">
                <a:solidFill>
                  <a:srgbClr val="1E6B52"/>
                </a:solidFill>
                <a:latin typeface="Calibri" pitchFamily="34" charset="0"/>
                <a:cs typeface="Amiri" pitchFamily="2" charset="-78"/>
              </a:rPr>
              <a:t>Wait for “I changed my mind”.</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كُنْتُ سَأَدْرُسُ القَانُونَ،</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was going to study law,</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ثُمَّ غَيَّرْتُ رَأْيِي وَقَرَّرْتُ دِرَاسَةَ الصَّحَافَةِ</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then I changed my mind and decided to study journalism</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لِأَنَّنِي أُحِبُّ الكِتَابَةَ.</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I love writing.</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speaker 2 going to study first?</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law</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journalism</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medicine</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كُنْتُ سَأَدْرُسُ القَانُونَ</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final choice?</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law</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design</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journalism</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قَرَّرْتُ دِرَاسَةَ الصَّحَافَةِ</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she choose it?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easier</a:t>
            </a:r>
            <a:endParaRPr lang="en-US" sz="125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friend studies it</a:t>
            </a:r>
            <a:endParaRPr lang="en-US" sz="125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loves writing</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لِأَنَّنِي أُحِبُّ الكِتَابَةَ</a:t>
            </a:r>
            <a:endParaRPr lang="ar-SA" sz="1350" dirty="0"/>
          </a:p>
        </p:txBody>
      </p:sp>
      <p:sp>
        <p:nvSpPr>
          <p:cNvPr id="60" name="Shape 57"/>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63" name="Text 60"/>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Two subjects are heard.</a:t>
            </a:r>
            <a:endParaRPr lang="en-US" sz="1250" dirty="0"/>
          </a:p>
          <a:p>
            <a:pPr algn="l" indent="0" marL="0">
              <a:buNone/>
            </a:pPr>
            <a:r>
              <a:rPr lang="en-US" sz="1250" dirty="0">
                <a:solidFill>
                  <a:srgbClr val="1E6B52"/>
                </a:solidFill>
                <a:latin typeface="Calibri" pitchFamily="34" charset="0"/>
                <a:cs typeface="Amiri" pitchFamily="2" charset="-78"/>
              </a:rPr>
              <a:t>Wait for “I changed my mind”.</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3 OF 3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Speaker 3: working from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days does speaker 3 work from home?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five</a:t>
            </a:r>
            <a:endParaRPr lang="en-US" sz="1250" dirty="0"/>
          </a:p>
        </p:txBody>
      </p:sp>
      <p:sp>
        <p:nvSpPr>
          <p:cNvPr id="28" name="Shape 25"/>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it help him?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saves money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quieter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saves time</a:t>
            </a:r>
            <a:endParaRPr lang="en-US" sz="1250" dirty="0"/>
          </a:p>
        </p:txBody>
      </p:sp>
      <p:sp>
        <p:nvSpPr>
          <p:cNvPr id="41" name="Shape 38"/>
          <p:cNvSpPr/>
          <p:nvPr/>
        </p:nvSpPr>
        <p:spPr>
          <a:xfrm>
            <a:off x="8095488" y="1810512"/>
            <a:ext cx="3636264" cy="4498848"/>
          </a:xfrm>
          <a:prstGeom prst="roundRect">
            <a:avLst>
              <a:gd name="adj" fmla="val 2012"/>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717280" y="2020824"/>
            <a:ext cx="914400" cy="274320"/>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8717280" y="2020824"/>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44" name="Text 41"/>
          <p:cNvSpPr txBox="1"/>
          <p:nvPr/>
        </p:nvSpPr>
        <p:spPr>
          <a:xfrm>
            <a:off x="8296656" y="2450592"/>
            <a:ext cx="3270504" cy="3721608"/>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Two numbers are heard.</a:t>
            </a:r>
            <a:endParaRPr lang="en-US" sz="1250" dirty="0"/>
          </a:p>
          <a:p>
            <a:pPr algn="l" indent="0" marL="0">
              <a:buNone/>
            </a:pPr>
            <a:r>
              <a:rPr lang="en-US" sz="1250" dirty="0">
                <a:solidFill>
                  <a:srgbClr val="1E6B52"/>
                </a:solidFill>
                <a:latin typeface="Calibri" pitchFamily="34" charset="0"/>
                <a:cs typeface="Amiri" pitchFamily="2" charset="-78"/>
              </a:rPr>
              <a:t>Which one does he correct?</a:t>
            </a:r>
            <a:endParaRPr lang="en-US" sz="12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11274552" cy="2212848"/>
          </a:xfrm>
          <a:prstGeom prst="roundRect">
            <a:avLst>
              <a:gd name="adj" fmla="val 2066"/>
            </a:avLst>
          </a:prstGeom>
          <a:solidFill>
            <a:srgbClr val="FFFFFF"/>
          </a:solidFill>
          <a:ln w="9525">
            <a:solidFill>
              <a:srgbClr val="D8D0BF"/>
            </a:solidFill>
            <a:prstDash val="solid"/>
          </a:ln>
        </p:spPr>
      </p:sp>
      <p:sp>
        <p:nvSpPr>
          <p:cNvPr id="16" name="Text 13"/>
          <p:cNvSpPr txBox="1"/>
          <p:nvPr/>
        </p:nvSpPr>
        <p:spPr>
          <a:xfrm>
            <a:off x="4937760" y="1828800"/>
            <a:ext cx="6675120" cy="2176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أَعْمَلُ مِنَ المَنْزِلِ ثَلَاثَةَ أَيَّامٍ، لَا أَرْبَعَةَ،</a:t>
            </a:r>
            <a:endParaRPr lang="ar-SA" sz="2000" dirty="0"/>
          </a:p>
        </p:txBody>
      </p:sp>
      <p:sp>
        <p:nvSpPr>
          <p:cNvPr id="17" name="Text 14"/>
          <p:cNvSpPr txBox="1"/>
          <p:nvPr/>
        </p:nvSpPr>
        <p:spPr>
          <a:xfrm>
            <a:off x="640080" y="1828800"/>
            <a:ext cx="4160520" cy="2176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work from home three days, not four,</a:t>
            </a:r>
            <a:endParaRPr lang="en-US" sz="1250" dirty="0"/>
          </a:p>
        </p:txBody>
      </p:sp>
      <p:sp>
        <p:nvSpPr>
          <p:cNvPr id="18" name="Shape 15"/>
          <p:cNvSpPr/>
          <p:nvPr/>
        </p:nvSpPr>
        <p:spPr>
          <a:xfrm>
            <a:off x="457200" y="4096512"/>
            <a:ext cx="11274552" cy="2212848"/>
          </a:xfrm>
          <a:prstGeom prst="roundRect">
            <a:avLst>
              <a:gd name="adj" fmla="val 2066"/>
            </a:avLst>
          </a:prstGeom>
          <a:solidFill>
            <a:srgbClr val="F4F1EA"/>
          </a:solidFill>
          <a:ln w="9525">
            <a:solidFill>
              <a:srgbClr val="D8D0BF"/>
            </a:solidFill>
            <a:prstDash val="solid"/>
          </a:ln>
        </p:spPr>
      </p:sp>
      <p:sp>
        <p:nvSpPr>
          <p:cNvPr id="19" name="Text 16"/>
          <p:cNvSpPr txBox="1"/>
          <p:nvPr/>
        </p:nvSpPr>
        <p:spPr>
          <a:xfrm>
            <a:off x="4937760" y="4114800"/>
            <a:ext cx="6675120" cy="2176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وَهٰذَا يُسَاعِدُنِي عَلَى تَوْفِيرِ الوَقْتِ.</a:t>
            </a:r>
            <a:endParaRPr lang="ar-SA" sz="2000" dirty="0"/>
          </a:p>
        </p:txBody>
      </p:sp>
      <p:sp>
        <p:nvSpPr>
          <p:cNvPr id="20" name="Text 17"/>
          <p:cNvSpPr txBox="1"/>
          <p:nvPr/>
        </p:nvSpPr>
        <p:spPr>
          <a:xfrm>
            <a:off x="640080" y="4114800"/>
            <a:ext cx="4160520" cy="2176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this helps me save time.</a:t>
            </a:r>
            <a:endParaRPr lang="en-US" sz="1250" dirty="0"/>
          </a:p>
        </p:txBody>
      </p:sp>
      <p:sp>
        <p:nvSpPr>
          <p:cNvPr id="21" name="Text 1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3: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days does speaker 3 work from home?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five</a:t>
            </a:r>
            <a:endParaRPr lang="en-US" sz="1250" dirty="0"/>
          </a:p>
        </p:txBody>
      </p:sp>
      <p:sp>
        <p:nvSpPr>
          <p:cNvPr id="29" name="Text 26"/>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ثَلَاثَةَ أَيَّامٍ، لَا أَرْبَعَةَ</a:t>
            </a:r>
            <a:endParaRPr lang="ar-SA" sz="13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it help him?</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saves money</a:t>
            </a:r>
            <a:endParaRPr lang="en-US" sz="1250" dirty="0"/>
          </a:p>
        </p:txBody>
      </p:sp>
      <p:sp>
        <p:nvSpPr>
          <p:cNvPr id="37" name="Shape 34"/>
          <p:cNvSpPr/>
          <p:nvPr/>
        </p:nvSpPr>
        <p:spPr>
          <a:xfrm>
            <a:off x="4459224" y="2990088"/>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quieter</a:t>
            </a:r>
            <a:endParaRPr lang="en-US" sz="1250" dirty="0"/>
          </a:p>
        </p:txBody>
      </p:sp>
      <p:sp>
        <p:nvSpPr>
          <p:cNvPr id="40" name="Shape 37"/>
          <p:cNvSpPr/>
          <p:nvPr/>
        </p:nvSpPr>
        <p:spPr>
          <a:xfrm>
            <a:off x="4367784" y="341071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44728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saves time</a:t>
            </a:r>
            <a:endParaRPr lang="en-US" sz="1250" dirty="0"/>
          </a:p>
        </p:txBody>
      </p:sp>
      <p:sp>
        <p:nvSpPr>
          <p:cNvPr id="44" name="Text 41"/>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يُسَاعِدُنِي عَلَى تَوْفِيرِ الوَقْتِ</a:t>
            </a:r>
            <a:endParaRPr lang="ar-SA" sz="1350" dirty="0"/>
          </a:p>
        </p:txBody>
      </p:sp>
      <p:sp>
        <p:nvSpPr>
          <p:cNvPr id="45" name="Shape 42"/>
          <p:cNvSpPr/>
          <p:nvPr/>
        </p:nvSpPr>
        <p:spPr>
          <a:xfrm>
            <a:off x="8095488" y="1810512"/>
            <a:ext cx="3636264" cy="4498848"/>
          </a:xfrm>
          <a:prstGeom prst="roundRect">
            <a:avLst>
              <a:gd name="adj" fmla="val 2012"/>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717280" y="2020824"/>
            <a:ext cx="914400" cy="27432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8717280" y="2020824"/>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48" name="Text 45"/>
          <p:cNvSpPr txBox="1"/>
          <p:nvPr/>
        </p:nvSpPr>
        <p:spPr>
          <a:xfrm>
            <a:off x="8296656" y="2450592"/>
            <a:ext cx="3270504" cy="3721608"/>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Two numbers are heard.</a:t>
            </a:r>
            <a:endParaRPr lang="en-US" sz="1250" dirty="0"/>
          </a:p>
          <a:p>
            <a:pPr algn="l" indent="0" marL="0">
              <a:buNone/>
            </a:pPr>
            <a:r>
              <a:rPr lang="en-US" sz="1250" dirty="0">
                <a:solidFill>
                  <a:srgbClr val="1E6B52"/>
                </a:solidFill>
                <a:latin typeface="Calibri" pitchFamily="34" charset="0"/>
                <a:cs typeface="Amiri" pitchFamily="2" charset="-78"/>
              </a:rPr>
              <a:t>Which one does he correct?</a:t>
            </a:r>
            <a:endParaRPr lang="en-US" sz="12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Explain your listening evidence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يَعْمَلُ المُتَحَدِّثُ الأَوَّلُ الآنَ؟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قَرَّرَتِ المُتَحَدِّثَةُ الثَّانِيَةُ؟ وَلِمَاذَا؟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يَوْمًا يَعْمَلُ المُتَحَدِّثُ الثَّالِثُ مِنَ المَنْزِلِ؟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المُشَتِّتُ فِي كُلِّ نَصٍّ؟</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يَعْمَلُ الآنَ فِي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قَالَتْ إِنَّهَا سَتَدْرُسُ ___ لِأَنَّ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يَعْمَلُ مِنَ المَنْزِلِ ___ ، لَا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المُشَتِّتُ ___ لِأَنَّ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قَرَّرَتِ المُتَحَدِّثَةُ الثَّانِيَةُ أَنْ تَدْرُسَ؟</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did the second speaker decide to study?</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قَالَتْ إِنَّهَا سَتَدْرُسُ الصَّحَافَةَ.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She said that she will study journalism.</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 notes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note per speaker: the FINAL job / plan / number.</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Report each speaker (qāla innahu / qālat innahā) with the final detail and one reason.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independently controlled complex structures.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concise notes on all three speakers + the distractor in each text.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قَالَ إِنَّ العَمَلَ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said that the work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سَتَدْرُسُ ______ ، وَلٰكِنَّهَا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was going to study … but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قَالَتْ إِنَّهَا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said that she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المُشَتِّتُ ______ لِأَنَّ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distractor was … because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المُتَحَدِّثُ الأَوَّلُ يَتَدَرَّبُ الآنَ فِي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Speaker 1 now trains in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المُتَحَدِّثَةُ الثَّانِيَةُ سَتَدْرُسُ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Speaker 2 will study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المُتَحَدِّثُ الثَّالِثُ يَعْمَلُ مِنَ المَنْزِلِ ______ أَيَّامٍ.</a:t>
            </a:r>
            <a:endParaRPr lang="ar-SA" sz="155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Speaker 3 works from home … days.</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قَالَ إِنَّهُ  ·  قَالَتْ إِنَّهَا  ·  كَانَ يَعْمَلُ  ·  كَانَتْ سَتَدْرُسُ  ·  غَيَّرَتْ رَأْيَهَا  ·  قَرَّرَتْ  ·  لَا … بَلْ  ·  مَكْتَبُ مُحَاسَبَةٍ  ·  الصَّحَافَةُ  ·  ثَلَاثَةُ أَيَّامٍ  ·  مُشَتِّتٌ  ·  أَسْتَبْعِدُ</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concise notes reconstructing the speakers’ final jobs, plans, reasons and changed details.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Address every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two target structures from the grammar lesson.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evidence, reason or comparison.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Check agreement, verb patterns and spelling.</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يَعْمَلُ … وَلٰكِنَّهُ الآنَ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used to work … but now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غَيَّرَتْ رَأْيَهَا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she changed her mind</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أَكْثَرُ فَائِدَةً لِخُطَّتِهِ</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 useful for his plan</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يُسَاعِدُهُ عَلَى تَوْفِيرِ الوَقْتِ</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helps him save time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اِسْتَبْعَدْتُ … لِأَنَّ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eliminated … because …</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المُتَحَدِّثُ الأَوَّلُ: كَانَ يَعْمَلُ فِي مَتْجَرٍ، وَلٰكِنَّهُ الآنَ يَتَدَرَّبُ فِي مَكْتَبِ مُحَاسَبَةٍ. قَالَ إِنَّ العَمَلَ أَصْعَبُ وَلٰكِنَّهُ أَكْثَرُ فَائِدَةً لِخُطَّتِهِ. المُتَحَدِّثَةُ الثَّانِيَةُ: كَانَتْ سَتَدْرُسُ القَانُونَ، ثُمَّ قَرَّرَتْ دِرَاسَةَ الصَّحَافَةِ لِأَنَّهَا تُحِبُّ الكِتَابَةَ. المُتَحَدِّثُ الثَّالِثُ: يَعْمَلُ مِنَ المَنْزِلِ ثَلَاثَةَ أَيَّامٍ، لَا أَرْبَعَةَ، وَيَقُولُ إِنَّ هٰذَا يُوَفِّرُ الوَقْتَ. المُشَتِّتَاتُ: المَتْجَرُ، القَانُونُ، أَرْبَعَةُ أَيَّامٍ.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Speaker 1: he used to work in a shop, but now he is training in an accounting office. He said the work is harder but more useful for his plan. Speaker 2: she was going to study law, then decided to study journalism because she loves writing. Speaker 3: he works from home three days, not four, and says this saves time. Distractors: the shop, law, four days.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old plan vs a final plan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qāla innahu / qālat innahā</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corrected number</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distractors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labelled each question before listening.</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answers are the FINAL details.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reported with qāla innahu / qālat innahā.</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caught the correction after lā / bal.</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a distractor in each text.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قَالَ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يَعْمَلُ فِي مَكْتَبٍ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إِنَّهُ</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إِنَّهَا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أَنَّنِي</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often introduces the real answer?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كُنْتُ سَأَدْرُسُ</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was going to study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will study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study</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قَالَ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يَعْمَلُ فِي مَكْتَبٍ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إِنَّهُ</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إِنَّهَا</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أَنَّنِي</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said that he …</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often introduces the real answer?</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وَ</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بَلْ</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bal = but rather.</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كُنْتُ سَأَدْرُسُ</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was going to study</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will study</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study</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 old plan.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strategy notes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قَبْلَ الاِسْتِمَاعِ، اِقْرَأِ الأَسْئِلَةَ وَحَدِّدْ نَوْعَ التَّفْصِيلِ المَطْلُوبِ: هَلْ هُوَ مِهْنَةٌ أَمْ مَكَانٌ أَمْ سَبَبٌ أَمْ خُطَّةٌ؟ فِي الاِسْتِمَاعِ الأَوَّلِ، رَكِّزْ عَلَى المُتَحَدِّثِ وَالفِكْرَةِ العَامَّةِ. فِي الاِسْتِمَاعِ الثَّانِي، اِنْتَبِهْ إِلَى كَلِمَاتِ التَّغْيِيرِ مِثْلَ «لٰكِنْ» وَ«بَلْ» وَإِلَى الأَرْقَامِ وَالأَوْقَاتِ. لَا تَخْتَرْ أَوَّلَ كَلِمَةٍ تَسْمَعُهَا إِذَا صَحَّحَهَا المُتَحَدِّثُ بَعْدَ ذٰلِكَ.</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قَبْلَ الاِسْتِمَاعِ</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before listening</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حَدِّدْ</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identify</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نَوْعَ التَّفْصِيلِ</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type of detail</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رَكِّزْ عَلَى</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focus on</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الفِكْرَةِ العَامَّةِ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general idea</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اِنْتَبِهْ إِلَى</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pay attention to</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كَلِمَاتِ التَّغْيِيرِ</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change words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الأَرْقَامِ وَالأَوْقَاتِ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numbers and times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تَخْتَرْ</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do not choose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صَحَّحَهَا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corrected it</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identify before listening?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name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type of detail needed</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new word</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first listening for?</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numbers only</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spelling</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 and the general idea</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second listening for?</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change words, numbers and times</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accent</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new</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change signals are named?</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وَ</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ثُمَّ</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لٰكِنْ</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بَلْ</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فِي</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عَلَى</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not choose the first word you hear?</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 may correct it later</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always wrong</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too short</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purpose of the text?</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advertise a job</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describe a career</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give listening strategies</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identify before listening?</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speaker’s name</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type of detail needed</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new word</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نَوْعَ التَّفْصِيلِ المَطْلُوبِ</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first listening for?</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numbers only</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spelling</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speaker and the general idea</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المُتَحَدِّثِ وَالفِكْرَةِ العَامَّةِ</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second listening for?</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change words, numbers and times</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speaker’s accent</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new</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كَلِمَاتِ التَّغْيِيرِ … وَالأَرْقَامِ وَالأَوْقَاتِ</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change signals are named?</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وَ</a:t>
            </a:r>
            <a:pPr algn="l" indent="0" marL="0">
              <a:buNone/>
            </a:pPr>
            <a:r>
              <a:rPr lang="en-US" sz="1250" dirty="0">
                <a:solidFill>
                  <a:srgbClr val="9AA1AB"/>
                </a:solidFill>
                <a:latin typeface="Calibri" pitchFamily="34" charset="0"/>
                <a:cs typeface="Amiri" pitchFamily="2" charset="-78"/>
              </a:rPr>
              <a:t> and </a:t>
            </a:r>
            <a:pPr algn="l" indent="0" marL="0">
              <a:buNone/>
            </a:pPr>
            <a:r>
              <a:rPr lang="ar-SA" altLang="en-US" sz="1650" dirty="0">
                <a:solidFill>
                  <a:srgbClr val="9AA1AB"/>
                </a:solidFill>
                <a:latin typeface="Amiri" pitchFamily="2" charset="-78"/>
                <a:ea typeface="Amiri" pitchFamily="2" charset="-78"/>
                <a:cs typeface="Amiri" pitchFamily="2" charset="-78"/>
              </a:rPr>
              <a:t>ثُمَّ</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لٰكِنْ</a:t>
            </a:r>
            <a:pPr algn="l" indent="0" marL="0">
              <a:buNone/>
            </a:pPr>
            <a:r>
              <a:rPr lang="en-US" sz="1250" b="1" dirty="0">
                <a:solidFill>
                  <a:srgbClr val="1F2A37"/>
                </a:solidFill>
                <a:latin typeface="Calibri" pitchFamily="34" charset="0"/>
                <a:cs typeface="Amiri" pitchFamily="2" charset="-78"/>
              </a:rPr>
              <a:t> and </a:t>
            </a:r>
            <a:pPr algn="l" indent="0" marL="0">
              <a:buNone/>
            </a:pPr>
            <a:r>
              <a:rPr lang="ar-SA" altLang="en-US" sz="1650" b="1" dirty="0">
                <a:solidFill>
                  <a:srgbClr val="1F2A37"/>
                </a:solidFill>
                <a:latin typeface="Amiri" pitchFamily="2" charset="-78"/>
                <a:ea typeface="Amiri" pitchFamily="2" charset="-78"/>
                <a:cs typeface="Amiri" pitchFamily="2" charset="-78"/>
              </a:rPr>
              <a:t>بَلْ</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فِي</a:t>
            </a:r>
            <a:pPr algn="l" indent="0" marL="0">
              <a:buNone/>
            </a:pPr>
            <a:r>
              <a:rPr lang="en-US" sz="1250" dirty="0">
                <a:solidFill>
                  <a:srgbClr val="9AA1AB"/>
                </a:solidFill>
                <a:latin typeface="Calibri" pitchFamily="34" charset="0"/>
                <a:cs typeface="Amiri" pitchFamily="2" charset="-78"/>
              </a:rPr>
              <a:t> and </a:t>
            </a:r>
            <a:pPr algn="l" indent="0" marL="0">
              <a:buNone/>
            </a:pPr>
            <a:r>
              <a:rPr lang="ar-SA" altLang="en-US" sz="1650" dirty="0">
                <a:solidFill>
                  <a:srgbClr val="9AA1AB"/>
                </a:solidFill>
                <a:latin typeface="Amiri" pitchFamily="2" charset="-78"/>
                <a:ea typeface="Amiri" pitchFamily="2" charset="-78"/>
                <a:cs typeface="Amiri" pitchFamily="2" charset="-78"/>
              </a:rPr>
              <a:t>عَلَى</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«لٰكِنْ» وَ«بَلْ»</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not choose the first word you hear?</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speaker may correct it later</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always wrong</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too short</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صَحَّحَهَا المُتَحَدِّثُ</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purpose of the text?</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advertise a job</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describe a career</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to give listening strategies</a:t>
            </a:r>
            <a:endParaRPr lang="en-US" sz="120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Strategy notes.</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D3-L11: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D3-L11 · D3 Consolidation — Error Analysis and Assessment Preparation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مُرَاجَعَةٌ شَامِلَةٌ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complete review</a:t>
            </a:r>
            <a:pPr indent="0" marL="0">
              <a:buNone/>
            </a:pPr>
            <a:r>
              <a:rPr lang="ar-SA" sz="1000" i="1" dirty="0">
                <a:solidFill>
                  <a:srgbClr val="5A6472"/>
                </a:solidFill>
                <a:latin typeface="Calibri" pitchFamily="34" charset="0"/>
                <a:ea typeface="Amiri" pitchFamily="2" charset="-78"/>
                <a:cs typeface="Amiri" pitchFamily="2" charset="-78"/>
              </a:rPr>
              <a:t>  pl. مُرَاجَعَاتٌ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تَحْلِيلُ الأَخْطَاءِ</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error analysis</a:t>
            </a:r>
            <a:pPr indent="0" marL="0">
              <a:buNone/>
            </a:pPr>
            <a:r>
              <a:rPr lang="ar-SA" sz="1000" i="1" dirty="0">
                <a:solidFill>
                  <a:srgbClr val="5A6472"/>
                </a:solidFill>
                <a:latin typeface="Calibri" pitchFamily="34" charset="0"/>
                <a:ea typeface="Amiri" pitchFamily="2" charset="-78"/>
                <a:cs typeface="Amiri" pitchFamily="2" charset="-78"/>
              </a:rPr>
              <a:t>  sing. خَطَأٌ</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أَوْلَوِيَّةٌ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priority</a:t>
            </a:r>
            <a:pPr indent="0" marL="0">
              <a:buNone/>
            </a:pPr>
            <a:r>
              <a:rPr lang="ar-SA" sz="1000" i="1" dirty="0">
                <a:solidFill>
                  <a:srgbClr val="5A6472"/>
                </a:solidFill>
                <a:latin typeface="Calibri" pitchFamily="34" charset="0"/>
                <a:ea typeface="Amiri" pitchFamily="2" charset="-78"/>
                <a:cs typeface="Amiri" pitchFamily="2" charset="-78"/>
              </a:rPr>
              <a:t>  pl. أَوْلَوِيَّاتٌ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نُقْطَةُ قُوَّةٍ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strength</a:t>
            </a:r>
            <a:pPr indent="0" marL="0">
              <a:buNone/>
            </a:pPr>
            <a:r>
              <a:rPr lang="ar-SA" sz="1000" i="1" dirty="0">
                <a:solidFill>
                  <a:srgbClr val="5A6472"/>
                </a:solidFill>
                <a:latin typeface="Calibri" pitchFamily="34" charset="0"/>
                <a:ea typeface="Amiri" pitchFamily="2" charset="-78"/>
                <a:cs typeface="Amiri" pitchFamily="2" charset="-78"/>
              </a:rPr>
              <a:t>  pl. نِقَاطُ قُوَّةٍ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أُحَسِّنُ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improve</a:t>
            </a:r>
            <a:pPr indent="0" marL="0">
              <a:buNone/>
            </a:pPr>
            <a:r>
              <a:rPr lang="ar-SA" sz="1000" i="1" dirty="0">
                <a:solidFill>
                  <a:srgbClr val="5A6472"/>
                </a:solidFill>
                <a:latin typeface="Calibri" pitchFamily="34" charset="0"/>
                <a:ea typeface="Amiri" pitchFamily="2" charset="-78"/>
                <a:cs typeface="Amiri" pitchFamily="2" charset="-78"/>
              </a:rPr>
              <a:t>  يُحَسِّنُ 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Look back at D3-L01 to D3-L10: which grammar point do you find hardest? Bring one mistake you made.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أَصْعَبُ قَاعِدَةٍ لِي هِيَ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D3-L10: redo the listening; learn the five review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Report the three speakers in 6 sentences (qāla innahu / qālat innahā).</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concise reconstruction notes with distractors (80–100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D3-L11 · D3 Consolidation — Error Analysis and Assessment Preparation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تَرْسِيخُ الوَحْدَةِ — تَحْلِيلُ الأَخْطَاءِ</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the first detail is often a trap — wait for “but”, “then I changed my mind”, “not” and “bal”.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D3-L10 · Listening — Work and Career Conversations</dc:title>
  <dc:subject>PptxGenJS Presentation</dc:subject>
  <dc:creator>Al Madina Online School · Arabic Department</dc:creator>
  <cp:lastModifiedBy>Al Madina Online School · Arabic Department</cp:lastModifiedBy>
  <cp:revision>1</cp:revision>
  <dcterms:created xsi:type="dcterms:W3CDTF">2026-10-11T06:40:48Z</dcterms:created>
  <dcterms:modified xsi:type="dcterms:W3CDTF">2026-10-11T06:40:48Z</dcterms:modified>
</cp:coreProperties>
</file>