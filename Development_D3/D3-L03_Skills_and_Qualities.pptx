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D3-L03. The website lesson “Skills and Qualities — What Makes a Good Worker?”: vocabulary, grammar rules and quiz, patterns, common mistakes, sorter, listening, reading, speaking prompts and model, writing task and model, differentiation, final check and the lesson mission. Picture match: website visual game “Skills and Qualities — What Makes a Good Worker?”.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6 skills + 6 qualities (m. / f.) and “A doctor needs patience” (يَحْتَاجُ الطَّبِيبُ إِلَى الصَّبْرِ) + one quality with evidence. Develop: يَجِبُ أَنْ يَكُونَ … (adjective in -an) and يَسْتَطِيعُ أَنْ …. Stretch: two contrasting careers, shared skills, evidence for every quality.
• The D2 personality adjectives return as WORKER qualities (صَبُورٌ، مُتَعَاوِنٌ، مُجْتَهِدٌ) — students already know the m. / f. habit.
• Grammar link: يَجِبُ أَنْ + verb (-a) is from F4-L06 / F5-L10; NEW is يَكُونَ + adjective in -an (صَبُورًا / هَادِئَةً).
• Urdu bridge: مہارت، تجربہ (≠ خِبْرَةٌ by sound), قیادت، ذمہ دار.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D3-L02. Questions 3–4 retrieve D3-L02; question 5 retrieves D2-L01 (quality + evidence).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job NEEDS a skill; a worker MUST BE a quality — and you prove it with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مہارت، قیادت، امین are shared (al-Amīn, the Trustworthy). مسؤول is used in formal Urdu; everyday Urdu says ذمہ دار. الإِبْدَاعُ shares the root of بدیع (wonderful, original). خِبْرَةٌ (experience) is NOT Urdu خبر (news) — same root (to know), different meaning: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Skills (website vocabulary (1 of 2)). Hear → Say → See → Use. Transliteration is printed for Core students (cover it for Develop/Stretch).
Skills are NOUNS (what a job needs): يَحْتَاجُ إِلَى + these words. Many are verbal nouns (حَلٌّ = solving, إِدَارَةٌ = managing).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Skills (website vocabulary (2 of 2)). Hear → Say → See → Use. Transliteration is printed for Core students (cover it for Develop/Stretch).
Skills are NOUNS (what a job needs): يَحْتَاجُ إِلَى + these words. Many are verbal nouns (حَلٌّ = solving, إِدَارَةٌ = managing).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Worker qualities (website vocabulary (1 of 2)). Hear → Say → See → Use. Transliteration is printed for Core students (cover it for Develop/Stretch).
Qualities are ADJECTIVES (what a worker is): every card shows m. · f. · pl. أَمِينٌ has a broken plural: أُمَنَاءُ. مَوْثُوقٌ بِهِ: the pronoun changes too (بِهِ / بِهَا / 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Worker qualities (website vocabulary (2 of 2)). Hear → Say → See → Use. Transliteration is printed for Core students (cover it for Develop/Stretch).
Qualities are ADJECTIVES (what a worker is): every card shows m. · f. · pl. أَمِينٌ has a broken plural: أُمَنَاءُ. مَوْثُوقٌ بِهِ: the pronoun changes too (بِهِ / بِهَا / 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Reason and evidence (website vocabulary (1 of 2)). Hear → Say → See → Use. Transliteration is printed for Core students (cover it for Develop/Stretch).
FLEX: teach if time allows; otherwise these are on the website vocabulary tab for homework.
Reason and evidence (FLEX): the D3 connector list. Today: عَلَى سَبِيلِ المِثَالِ (for example) — the evidence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Reason and evidence (website vocabulary (2 of 2)). Hear → Say → See → Use. Transliteration is printed for Core students (cover it for Develop/Stretch).
FLEX: teach if time allows; otherwise these are on the website vocabulary tab for homework.
Reason and evidence (FLEX): the D3 connector list. Today: عَلَى سَبِيلِ المِثَالِ (for example) — the evidence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“Needs a skill” (يَحْتَاجُ إِلَى + مَصْدَرٍ / اسْمٍ) and “Must be” (يَجِبُ أَنْ يَكُونَ / تَكُونَ + صِفَةً: the verb agrees with the person; the predicate adjective is accusative). Website examples: يَحْتَاجُ الطَّبِيبُ إِلَى الصَّبْرِ · تَحْتَاجُ المُهَنْدِسَةُ إِلَى الدِّقَّةِ · يَجِبُ أَنْ يَكُونَ المُدَرِّسُ صَبُورًا · يَجِبُ أَنْ تَكُونَ المُمَرِّضَةُ هَادِئَةً.
Core can stay with rows 1–2 (يَحْتَاجُ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“Ability” (يَسْتَطِيعُ أَنْ + مُضَارِعٌ) and “Evidence” (support a quality with behaviour rather than a label alone). Website examples: يَسْتَطِيعُ أَنْ يَحُلَّ المُشْكِلَاتِ · تَسْتَطِيعُ أَنْ تَعْمَلَ ضِمْنَ فَرِيقٍ · هُوَ مَسْؤُولٌ لِأَنَّهُ يَحْتَرِمُ المَوَاعِيدَ · هِيَ مُتَعَاوِنَةٌ لِأَنَّهَا تُسَاعِدُ زُمَلَاءَهَا.
The error pair is teacher-chosen (the website common error for this lesson is generic): in Modern Standard Arabic يَحْتَاجُ normally takes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“التَّعْبِيرُ عَنِ المَهَارَاتِ وَالمُتَطَلَّبَاتِ”
• Needs a skill: Use يحتاج إلى before a skill or qualification.
• Must be: The verb agrees with the person; the predicate adjective is accusative.
• Ability: Use أن followed by a present-tense verb.
• Evidence: Support a quality with behaviour rather than a label alone.
Website common error: Do not drop إِلَى after يَحْتَاجُ, and do not leave the adjective after يَكُونَ / تَكُونَ in -un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reading text (doctor / programmer / teacher). Think aloud: “Skill (noun) or quality (adjective)? He or she? Where is my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Skills and Qualities — What Makes a Good Worker?”)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HE / SHE? (هُوَ / هِيَ and the -a ending in مُنَظَّمَةٌ). Other website cards: لَدَيْهَا مَهَارَاتُ تَوَاصُلٍ جَيِّدَةٌ · لَدَيْهِ مَهَارَاتٌ رَقْمِيَّةٌ · هِيَ طَمُوحَةٌ وَمُجْتَهِدَةٌ.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Skills and Qualities — What Makes a Good Worker?”)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HE / SHE? (هُوَ / هِيَ and the -a ending in مُنَظَّمَةٌ). Other website cards: لَدَيْهَا مَهَارَاتُ تَوَاصُلٍ جَيِّدَةٌ · لَدَيْهِ مَهَارَاتٌ رَقْمِيَّةٌ · هِيَ طَمُوحَةٌ وَمُجْتَهِدَةٌ.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Is it a skill (a noun a job needs) or a quality (an adjective describing the worker)?
Then build: يَحْتَاجُ إِلَى + a skill · يَجِبُ أَنْ يَكُونَ + a quality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Is it a skill (a noun a job needs) or a quality (an adjective describing the worker)?
Then build: يَحْتَاجُ إِلَى + a skill · يَجِبُ أَنْ يَكُونَ + a quality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6.
Listen 1: just listen. Listen 2: note answers. Then chat the letters.
Support: after the second listening, show the read-along slide (Arabic + English, line by line) for Core students.
SCRIPT (read aloud):
تَبْحَثُ شَرِكَةٌ عَنْ مُوَظَّفَةٍ لِخِدْمَةِ العُمَلَاءِ. يَجِبُ أَنْ تَكُونَ وَاثِقَةً وَصَبُورَةً، وَأَنْ تَسْتَطِيعَ حَلَّ المُشْكِلَاتِ بِسُرْعَةٍ. الخِبْرَةُ مُفِيدَةٌ، لٰكِنَّهَا لَيْسَتْ ضَرُورِيَّةً لِأَنَّ الشَّرِكَةَ تُقَدِّمُ تَدْرِيبًا. كَمَا أَنَّ إِجَادَةَ لُغَتَيْنِ تُعَدُّ مِيزَةً مُهِمَّةً.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أَهَمُّ صِفَةٍ فِيكَ؟ (And what is your most important quality?)
B: أَنَا مَسْؤُولٌ لِأَنَّنِي أُكْمِلُ وَاجِبَاتِي فِي الوَقْتِ. (I am responsible because I finish my homework on time.)
Teacher-written prompts and model (the website prompts are generic). Model continues: A: وَمَا أَهَمُّ صِفَةٍ فِيكَ؟ B: أَنَا مَسْؤُولٌ لِأَنَّنِي أُكْمِلُ وَاجِبَاتِي فِي الوَقْتِ. To a girl: مَا أَهَمُّ صِفَةٍ فِيكِ؟ — أَنَا مَسْؤُولَةٌ لِأَنَّنِي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Explain the qualities and skills needed for two contrasting careers.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Teacher-written model (the website model for this lesson is a placeholder). Evidence: تَحْتَاجُ المُمَرِّضَةُ إِلَى الصَّبْرِ · يَجِبُ أَنْ تَكُونَ هَادِئَةً · أَنْ تَسْتَطِيعَ العَمَلَ · مُنَظَّمًا وَصَبُورًا · تَحْتَاجَانِ (dual, Stretch) · لِأَنَّنِي أَسْتَطِيعُ أَنْ أُرَكِّزَ.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(D3-L04 · The Future Tense — Plans, Ambitions and Career Goals) will spend class time USING this language, so students prepare it tonight — short, simple, easy to access (school guidance: “Simple, Short, Interesting, Relevant, Easy to access”). The five words come from the website D3-L04 vocabulary (future plans).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Skills and Qualities — What Makes a Good Worker?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450" b="1" dirty="0">
                <a:solidFill>
                  <a:srgbClr val="D4AF37"/>
                </a:solidFill>
                <a:latin typeface="Amiri" pitchFamily="2" charset="-78"/>
                <a:ea typeface="Amiri" pitchFamily="2" charset="-78"/>
                <a:cs typeface="Amiri" pitchFamily="2" charset="-78"/>
              </a:rPr>
              <a:t>المَهَارَاتُ وَالمُؤَهِّلَاتُ — مَا الَّذِي يَجْعَلُ العَامِلَ جَيِّدًا؟</a:t>
            </a:r>
            <a:endParaRPr lang="ar-SA" sz="34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what a job needs (</a:t>
            </a:r>
            <a:pPr algn="l" indent="0" marL="0">
              <a:buNone/>
            </a:pPr>
            <a:r>
              <a:rPr lang="ar-SA" altLang="en-US" sz="1800" dirty="0">
                <a:solidFill>
                  <a:srgbClr val="C6D2E6"/>
                </a:solidFill>
                <a:latin typeface="Amiri" pitchFamily="2" charset="-78"/>
                <a:ea typeface="Amiri" pitchFamily="2" charset="-78"/>
                <a:cs typeface="Amiri" pitchFamily="2" charset="-78"/>
              </a:rPr>
              <a:t>يَحْتَاجُ إِلَى</a:t>
            </a:r>
            <a:pPr algn="l" indent="0" marL="0">
              <a:buNone/>
            </a:pPr>
            <a:r>
              <a:rPr lang="en-US" sz="1400" dirty="0">
                <a:solidFill>
                  <a:srgbClr val="C6D2E6"/>
                </a:solidFill>
                <a:latin typeface="Calibri" pitchFamily="34" charset="0"/>
                <a:cs typeface="Amiri" pitchFamily="2" charset="-78"/>
              </a:rPr>
              <a:t> …), what a worker must be (</a:t>
            </a:r>
            <a:pPr algn="l" indent="0" marL="0">
              <a:buNone/>
            </a:pPr>
            <a:r>
              <a:rPr lang="ar-SA" altLang="en-US" sz="1800" dirty="0">
                <a:solidFill>
                  <a:srgbClr val="C6D2E6"/>
                </a:solidFill>
                <a:latin typeface="Amiri" pitchFamily="2" charset="-78"/>
                <a:ea typeface="Amiri" pitchFamily="2" charset="-78"/>
                <a:cs typeface="Amiri" pitchFamily="2" charset="-78"/>
              </a:rPr>
              <a:t>يَجِبُ أَنْ يَكُونَ صَبُورًا</a:t>
            </a:r>
            <a:pPr algn="l" indent="0" marL="0">
              <a:buNone/>
            </a:pPr>
            <a:r>
              <a:rPr lang="en-US" sz="1400" dirty="0">
                <a:solidFill>
                  <a:srgbClr val="C6D2E6"/>
                </a:solidFill>
                <a:latin typeface="Calibri" pitchFamily="34" charset="0"/>
                <a:cs typeface="Amiri" pitchFamily="2" charset="-78"/>
              </a:rPr>
              <a:t>), what someone can do (</a:t>
            </a:r>
            <a:pPr algn="l" indent="0" marL="0">
              <a:buNone/>
            </a:pPr>
            <a:r>
              <a:rPr lang="ar-SA" altLang="en-US" sz="1800" dirty="0">
                <a:solidFill>
                  <a:srgbClr val="C6D2E6"/>
                </a:solidFill>
                <a:latin typeface="Amiri" pitchFamily="2" charset="-78"/>
                <a:ea typeface="Amiri" pitchFamily="2" charset="-78"/>
                <a:cs typeface="Amiri" pitchFamily="2" charset="-78"/>
              </a:rPr>
              <a:t>يَسْتَطِيعُ أَنْ</a:t>
            </a:r>
            <a:pPr algn="l" indent="0" marL="0">
              <a:buNone/>
            </a:pPr>
            <a:r>
              <a:rPr lang="en-US" sz="1400" dirty="0">
                <a:solidFill>
                  <a:srgbClr val="C6D2E6"/>
                </a:solidFill>
                <a:latin typeface="Calibri" pitchFamily="34" charset="0"/>
                <a:cs typeface="Amiri" pitchFamily="2" charset="-78"/>
              </a:rPr>
              <a:t> …), and prove a quality with behaviour.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D3-L03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Needs, must be, can — and evidence for every quality.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skills / qualities, fix and listen to a job advert.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خِبْرَةٌ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skill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القِيَادَةُ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responsibility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الشَّرِكَةُ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أَعْمَلُ فِيهَا كَبِيرَةٌ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modern office”?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 حَدِيثَةٌ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حَدِيثٌ</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 حَدِيثٌ</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girl.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صَبُورَةٌ لِأَنَّهَا تَسْتَمِعُ.</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صَبُورٌ لِأَنَّهُ يَسْتَمِعُ.</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صَبُورَةٌ لِأَنَّهُ تَسْتَمِعُ.</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خِبْرَةٌ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skill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experience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القِيَادَةُ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leadership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responsibility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organisation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الشَّرِكَةُ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أَعْمَلُ فِيهَا كَبِيرَةٌ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الَّذِينَ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D3-L02: feminine noun → allatī.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modern office”?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 حَدِيثَةٌ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مَكْتَبَةٌ حَدِيثٌ</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مَكْتَبٌ حَدِيثٌ</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D3-L02: the adjective agrees.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girl.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صَبُورَةٌ لِأَنَّهَا تَسْتَمِعُ.</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صَبُورٌ لِأَنَّهُ يَسْتَمِعُ.</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صَبُورَةٌ لِأَنَّهُ تَسْتَمِعُ.</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quality + evidence agree.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job NEEDS a skill; a worker MUST BE a quality — and you prove it with behaviour.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يَحْتَاجُ إِلَى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الصَّبْرِ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يَجِبُ أَنْ يَكُونَ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صَبُورًا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لِأَنَّهُ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يَسْتَمِعُ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key workplace skills and qualities (m. / f. / pl.).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a job needs with </a:t>
            </a:r>
            <a:pPr algn="l" indent="0" marL="0">
              <a:buNone/>
            </a:pPr>
            <a:r>
              <a:rPr lang="ar-SA" altLang="en-US" sz="1700" dirty="0">
                <a:solidFill>
                  <a:srgbClr val="1F2A37"/>
                </a:solidFill>
                <a:latin typeface="Amiri" pitchFamily="2" charset="-78"/>
                <a:ea typeface="Amiri" pitchFamily="2" charset="-78"/>
                <a:cs typeface="Amiri" pitchFamily="2" charset="-78"/>
              </a:rPr>
              <a:t>يَحْتَاجُ إِلَى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a worker must be (</a:t>
            </a:r>
            <a:pPr algn="l" indent="0" marL="0">
              <a:buNone/>
            </a:pPr>
            <a:r>
              <a:rPr lang="ar-SA" altLang="en-US" sz="1700" dirty="0">
                <a:solidFill>
                  <a:srgbClr val="1F2A37"/>
                </a:solidFill>
                <a:latin typeface="Amiri" pitchFamily="2" charset="-78"/>
                <a:ea typeface="Amiri" pitchFamily="2" charset="-78"/>
                <a:cs typeface="Amiri" pitchFamily="2" charset="-78"/>
              </a:rPr>
              <a:t>يَجِبُ أَنْ يَكُونَ</a:t>
            </a:r>
            <a:pPr algn="l" indent="0" marL="0">
              <a:buNone/>
            </a:pPr>
            <a:r>
              <a:rPr lang="en-US" sz="1300" dirty="0">
                <a:solidFill>
                  <a:srgbClr val="1F2A37"/>
                </a:solidFill>
                <a:latin typeface="Calibri" pitchFamily="34" charset="0"/>
                <a:cs typeface="Amiri" pitchFamily="2" charset="-78"/>
              </a:rPr>
              <a:t> + -an) and can do.</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Support every quality with evidence.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six skills and six qualities.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a job needs.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 worker must be and can do.</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prove a quality with behaviour.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the skills of two careers.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the skills they share.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Skills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Worker qualities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Reason and evidence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مَهَارَةٌ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‎مہارت‎ </a:t>
            </a:r>
            <a:pPr indent="0" marL="0">
              <a:buNone/>
            </a:pPr>
            <a:r>
              <a:rPr lang="en-US" sz="950" b="1" dirty="0">
                <a:solidFill>
                  <a:srgbClr val="2E8B57"/>
                </a:solidFill>
                <a:latin typeface="Calibri" pitchFamily="34" charset="0"/>
                <a:cs typeface="Amiri" pitchFamily="2" charset="-78"/>
              </a:rPr>
              <a:t> mahārat · skill</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القِيَادَةُ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‎قیادت‎ </a:t>
            </a:r>
            <a:pPr indent="0" marL="0">
              <a:buNone/>
            </a:pPr>
            <a:r>
              <a:rPr lang="en-US" sz="950" b="1" dirty="0">
                <a:solidFill>
                  <a:srgbClr val="2E8B57"/>
                </a:solidFill>
                <a:latin typeface="Calibri" pitchFamily="34" charset="0"/>
                <a:cs typeface="Amiri" pitchFamily="2" charset="-78"/>
              </a:rPr>
              <a:t> qiyādat · leadership</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مَسْؤُولٌ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‎مسؤول / ذمہ دار‎ </a:t>
            </a:r>
            <a:pPr indent="0" marL="0">
              <a:buNone/>
            </a:pPr>
            <a:r>
              <a:rPr lang="en-US" sz="950" b="1" dirty="0">
                <a:solidFill>
                  <a:srgbClr val="2E8B57"/>
                </a:solidFill>
                <a:latin typeface="Calibri" pitchFamily="34" charset="0"/>
                <a:cs typeface="Amiri" pitchFamily="2" charset="-78"/>
              </a:rPr>
              <a:t> masʾūl · responsible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الإِبْدَاعُ</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‎ایجاد / بدیع‎ </a:t>
            </a:r>
            <a:pPr indent="0" marL="0">
              <a:buNone/>
            </a:pPr>
            <a:r>
              <a:rPr lang="en-US" sz="950" b="1" dirty="0">
                <a:solidFill>
                  <a:srgbClr val="2E8B57"/>
                </a:solidFill>
                <a:latin typeface="Calibri" pitchFamily="34" charset="0"/>
                <a:cs typeface="Amiri" pitchFamily="2" charset="-78"/>
              </a:rPr>
              <a:t> badīʿ · creativity (root b-d-ʿ)</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أَمِينٌ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‎امین‎ </a:t>
            </a:r>
            <a:pPr indent="0" marL="0">
              <a:buNone/>
            </a:pPr>
            <a:r>
              <a:rPr lang="en-US" sz="950" b="1" dirty="0">
                <a:solidFill>
                  <a:srgbClr val="2E8B57"/>
                </a:solidFill>
                <a:latin typeface="Calibri" pitchFamily="34" charset="0"/>
                <a:cs typeface="Amiri" pitchFamily="2" charset="-78"/>
              </a:rPr>
              <a:t> amīn · trustworthy, honest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 المُشْكِلَاتِ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العَمَلُ الجَمَاعِيُّ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إِدَارَةُ الوَقْتِ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الإِبْدَاعُ</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1" name="Shape 4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المَرُونَةُ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القِيَادَةُ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الخِبْرَةُ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إِجَادَةُ اللُّغَاتِ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مَهَارَاتُ الحَاسُوبِ</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Worker qualities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مَسْؤُولٌ / مَسْؤُولَةٌ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responsible</a:t>
            </a:r>
            <a:endParaRPr lang="en-US" sz="1350" dirty="0"/>
          </a:p>
          <a:p>
            <a:pPr indent="0" marL="0">
              <a:buNone/>
            </a:pPr>
            <a:r>
              <a:rPr lang="en-US" sz="1100" i="1" dirty="0">
                <a:solidFill>
                  <a:srgbClr val="5A6472"/>
                </a:solidFill>
                <a:latin typeface="Calibri" pitchFamily="34" charset="0"/>
                <a:cs typeface="Amiri" pitchFamily="2" charset="-78"/>
              </a:rPr>
              <a:t>mas-ʾū-lun / mas-ʾū-la-tun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مُنَظَّمٌ / مُنَظَّمَةٌ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organised</a:t>
            </a:r>
            <a:endParaRPr lang="en-US" sz="1350" dirty="0"/>
          </a:p>
          <a:p>
            <a:pPr indent="0" marL="0">
              <a:buNone/>
            </a:pPr>
            <a:r>
              <a:rPr lang="en-US" sz="1100" i="1" dirty="0">
                <a:solidFill>
                  <a:srgbClr val="5A6472"/>
                </a:solidFill>
                <a:latin typeface="Calibri" pitchFamily="34" charset="0"/>
                <a:cs typeface="Amiri" pitchFamily="2" charset="-78"/>
              </a:rPr>
              <a:t>mu-naẓ-ẓa-mun / mu-naẓ-ẓa-ma-tun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مُبَادِرٌ / مُبَادِرَةٌ</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proactive</a:t>
            </a:r>
            <a:endParaRPr lang="en-US" sz="1350" dirty="0"/>
          </a:p>
          <a:p>
            <a:pPr indent="0" marL="0">
              <a:buNone/>
            </a:pPr>
            <a:r>
              <a:rPr lang="en-US" sz="1100" i="1" dirty="0">
                <a:solidFill>
                  <a:srgbClr val="5A6472"/>
                </a:solidFill>
                <a:latin typeface="Calibri" pitchFamily="34" charset="0"/>
                <a:cs typeface="Amiri" pitchFamily="2" charset="-78"/>
              </a:rPr>
              <a:t>mu-bā-di-run / mu-bā-di-ra-tun</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4" name="Text 9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مُبَادِرُونَ</a:t>
            </a:r>
            <a:endParaRPr lang="ar-SA" sz="150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مُبَادِرَةٌ</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مُبَادِرٌ</a:t>
            </a:r>
            <a:endParaRPr lang="ar-SA" sz="1500" dirty="0"/>
          </a:p>
        </p:txBody>
      </p:sp>
      <p:sp>
        <p:nvSpPr>
          <p:cNvPr id="101" name="Shape 9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2" name="Shape 99"/>
          <p:cNvSpPr/>
          <p:nvPr/>
        </p:nvSpPr>
        <p:spPr>
          <a:xfrm>
            <a:off x="566928" y="4261104"/>
            <a:ext cx="310896" cy="310896"/>
          </a:xfrm>
          <a:prstGeom prst="ellipse">
            <a:avLst/>
          </a:prstGeom>
          <a:solidFill>
            <a:srgbClr val="F4F1EA"/>
          </a:solidFill>
          <a:ln w="12700">
            <a:solidFill>
              <a:srgbClr val="F4F1EA"/>
            </a:solidFill>
            <a:prstDash val="solid"/>
          </a:ln>
        </p:spPr>
      </p:sp>
      <p:sp>
        <p:nvSpPr>
          <p:cNvPr id="103" name="Text 10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04" name="Shape 101"/>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5" name="Text 102"/>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مَوْثُوقٌ بِهِ / مَوْثُوقَةٌ بِهَا</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reliable</a:t>
            </a:r>
            <a:endParaRPr lang="en-US" sz="1350" dirty="0"/>
          </a:p>
          <a:p>
            <a:pPr indent="0" marL="0">
              <a:buNone/>
            </a:pPr>
            <a:r>
              <a:rPr lang="en-US" sz="1100" i="1" dirty="0">
                <a:solidFill>
                  <a:srgbClr val="5A6472"/>
                </a:solidFill>
                <a:latin typeface="Calibri" pitchFamily="34" charset="0"/>
                <a:cs typeface="Amiri" pitchFamily="2" charset="-78"/>
              </a:rPr>
              <a:t>maw-thū-qun bi-hi / maw-thū-qa-tun bi-hā</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مَوْثُوقٌ بِهِمْ</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3" name="Text 11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مَوْثُوقَةٌ بِهَا</a:t>
            </a:r>
            <a:endParaRPr lang="ar-SA" sz="150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مَوْثُوقٌ بِهِ</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Worker qualities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مَرِنٌ / مَرِنَةٌ</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flexible</a:t>
            </a:r>
            <a:endParaRPr lang="en-US" sz="1350" dirty="0"/>
          </a:p>
          <a:p>
            <a:pPr indent="0" marL="0">
              <a:buNone/>
            </a:pPr>
            <a:r>
              <a:rPr lang="en-US" sz="1100" i="1" dirty="0">
                <a:solidFill>
                  <a:srgbClr val="5A6472"/>
                </a:solidFill>
                <a:latin typeface="Calibri" pitchFamily="34" charset="0"/>
                <a:cs typeface="Amiri" pitchFamily="2" charset="-78"/>
              </a:rPr>
              <a:t>ma-ri-nun / ma-ri-na-tun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مَرِنُونَ</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مَرِنَةٌ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مَرِنٌ</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70" name="Shape 6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86" name="Shape 8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طَمُوحٌ / طَمُوحَةٌ</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ambitious</a:t>
            </a:r>
            <a:endParaRPr lang="en-US" sz="1350" dirty="0"/>
          </a:p>
          <a:p>
            <a:pPr indent="0" marL="0">
              <a:buNone/>
            </a:pPr>
            <a:r>
              <a:rPr lang="en-US" sz="1100" i="1" dirty="0">
                <a:solidFill>
                  <a:srgbClr val="5A6472"/>
                </a:solidFill>
                <a:latin typeface="Calibri" pitchFamily="34" charset="0"/>
                <a:cs typeface="Amiri" pitchFamily="2" charset="-78"/>
              </a:rPr>
              <a:t>ṭa-mū-ḥun / ṭa-mū-ḥa-tun</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طَمُوحُونَ</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طَمُوحَةٌ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طَمُوحٌ</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102" name="Shape 99"/>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4" name="Shape 10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5" name="Text 10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أَمِينٌ / أَمِينَةٌ</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a-mī-nun / a-mī-na-tun</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أُمَنَاءُ</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3" name="Text 11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أَمِينَةٌ</a:t>
            </a:r>
            <a:endParaRPr lang="ar-SA" sz="150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أَمِينٌ</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 and evidence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 and evidence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NEEDS AND MUST BE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Needs a skill · must be a quality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يَحْتَاجُ إِلَى · يَجِبُ أَنْ يَكُونَ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a man</a:t>
            </a:r>
            <a:endParaRPr lang="en-US" sz="1100" dirty="0"/>
          </a:p>
        </p:txBody>
      </p:sp>
      <p:sp>
        <p:nvSpPr>
          <p:cNvPr id="17" name="Text 14"/>
          <p:cNvSpPr txBox="1"/>
          <p:nvPr/>
        </p:nvSpPr>
        <p:spPr>
          <a:xfrm>
            <a:off x="339242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 a woman</a:t>
            </a:r>
            <a:endParaRPr lang="en-US" sz="1100" dirty="0"/>
          </a:p>
        </p:txBody>
      </p:sp>
      <p:sp>
        <p:nvSpPr>
          <p:cNvPr id="18" name="Text 15"/>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1695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يَحْتَاجُ الطَّبِيبُ </a:t>
            </a:r>
            <a:pPr rtl="1" algn="ctr" indent="0" marL="0">
              <a:buNone/>
            </a:pPr>
            <a:r>
              <a:rPr lang="ar-SA" altLang="en-US" sz="2100" b="1" dirty="0">
                <a:solidFill>
                  <a:srgbClr val="0E7C86"/>
                </a:solidFill>
                <a:latin typeface="Amiri" pitchFamily="2" charset="-78"/>
                <a:ea typeface="Amiri" pitchFamily="2" charset="-78"/>
                <a:cs typeface="Amiri" pitchFamily="2" charset="-78"/>
              </a:rPr>
              <a:t>إِلَى</a:t>
            </a:r>
            <a:pPr rtl="1" algn="ctr" indent="0" marL="0">
              <a:buNone/>
            </a:pPr>
            <a:r>
              <a:rPr lang="ar-SA" altLang="en-US" sz="2100" b="1" dirty="0">
                <a:solidFill>
                  <a:srgbClr val="1B3B6F"/>
                </a:solidFill>
                <a:latin typeface="Amiri" pitchFamily="2" charset="-78"/>
                <a:ea typeface="Amiri" pitchFamily="2" charset="-78"/>
                <a:cs typeface="Amiri" pitchFamily="2" charset="-78"/>
              </a:rPr>
              <a:t> الصَّبْرِ.</a:t>
            </a:r>
            <a:endParaRPr lang="ar-SA" sz="2100" dirty="0"/>
          </a:p>
        </p:txBody>
      </p:sp>
      <p:sp>
        <p:nvSpPr>
          <p:cNvPr id="21" name="Text 18"/>
          <p:cNvSpPr txBox="1"/>
          <p:nvPr/>
        </p:nvSpPr>
        <p:spPr>
          <a:xfrm>
            <a:off x="757123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doctor needs patience.</a:t>
            </a:r>
            <a:endParaRPr lang="en-US" sz="950" dirty="0"/>
          </a:p>
        </p:txBody>
      </p:sp>
      <p:sp>
        <p:nvSpPr>
          <p:cNvPr id="22" name="Text 19"/>
          <p:cNvSpPr txBox="1"/>
          <p:nvPr/>
        </p:nvSpPr>
        <p:spPr>
          <a:xfrm>
            <a:off x="341071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تَحْتَاجُ المُهَنْدِسَةُ </a:t>
            </a:r>
            <a:pPr rtl="1" algn="ctr" indent="0" marL="0">
              <a:buNone/>
            </a:pPr>
            <a:r>
              <a:rPr lang="ar-SA" altLang="en-US" sz="2100" b="1" dirty="0">
                <a:solidFill>
                  <a:srgbClr val="0E7C86"/>
                </a:solidFill>
                <a:latin typeface="Amiri" pitchFamily="2" charset="-78"/>
                <a:ea typeface="Amiri" pitchFamily="2" charset="-78"/>
                <a:cs typeface="Amiri" pitchFamily="2" charset="-78"/>
              </a:rPr>
              <a:t>إِلَى</a:t>
            </a:r>
            <a:pPr rtl="1" algn="ctr" indent="0" marL="0">
              <a:buNone/>
            </a:pPr>
            <a:r>
              <a:rPr lang="ar-SA" altLang="en-US" sz="2100" b="1" dirty="0">
                <a:solidFill>
                  <a:srgbClr val="1B3B6F"/>
                </a:solidFill>
                <a:latin typeface="Amiri" pitchFamily="2" charset="-78"/>
                <a:ea typeface="Amiri" pitchFamily="2" charset="-78"/>
                <a:cs typeface="Amiri" pitchFamily="2" charset="-78"/>
              </a:rPr>
              <a:t> الدِّقَّةِ.</a:t>
            </a:r>
            <a:endParaRPr lang="ar-SA" sz="2100" dirty="0"/>
          </a:p>
        </p:txBody>
      </p:sp>
      <p:sp>
        <p:nvSpPr>
          <p:cNvPr id="23" name="Text 20"/>
          <p:cNvSpPr txBox="1"/>
          <p:nvPr/>
        </p:nvSpPr>
        <p:spPr>
          <a:xfrm>
            <a:off x="336499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engineer needs accuracy.</a:t>
            </a:r>
            <a:endParaRPr lang="en-US" sz="950" dirty="0"/>
          </a:p>
        </p:txBody>
      </p:sp>
      <p:sp>
        <p:nvSpPr>
          <p:cNvPr id="24" name="Text 21"/>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needs + ilā + noun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61695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يَحْتَاجُ إِلَى </a:t>
            </a:r>
            <a:pPr rtl="1" algn="ctr" indent="0" marL="0">
              <a:buNone/>
            </a:pPr>
            <a:r>
              <a:rPr lang="ar-SA" altLang="en-US" sz="2100" b="1" dirty="0">
                <a:solidFill>
                  <a:srgbClr val="0E7C86"/>
                </a:solidFill>
                <a:latin typeface="Amiri" pitchFamily="2" charset="-78"/>
                <a:ea typeface="Amiri" pitchFamily="2" charset="-78"/>
                <a:cs typeface="Amiri" pitchFamily="2" charset="-78"/>
              </a:rPr>
              <a:t>مَهَارَاتِ الحَاسُوبِ</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9" name="Text 26"/>
          <p:cNvSpPr txBox="1"/>
          <p:nvPr/>
        </p:nvSpPr>
        <p:spPr>
          <a:xfrm>
            <a:off x="757123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needs computer skills</a:t>
            </a:r>
            <a:endParaRPr lang="en-US" sz="950" dirty="0"/>
          </a:p>
        </p:txBody>
      </p:sp>
      <p:sp>
        <p:nvSpPr>
          <p:cNvPr id="30" name="Text 27"/>
          <p:cNvSpPr txBox="1"/>
          <p:nvPr/>
        </p:nvSpPr>
        <p:spPr>
          <a:xfrm>
            <a:off x="341071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تَحْتَاجُ إِلَى </a:t>
            </a:r>
            <a:pPr rtl="1" algn="ctr" indent="0" marL="0">
              <a:buNone/>
            </a:pPr>
            <a:r>
              <a:rPr lang="ar-SA" altLang="en-US" sz="2100" b="1" dirty="0">
                <a:solidFill>
                  <a:srgbClr val="0E7C86"/>
                </a:solidFill>
                <a:latin typeface="Amiri" pitchFamily="2" charset="-78"/>
                <a:ea typeface="Amiri" pitchFamily="2" charset="-78"/>
                <a:cs typeface="Amiri" pitchFamily="2" charset="-78"/>
              </a:rPr>
              <a:t>العَمَلِ الجَمَاعِيِّ</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31" name="Text 28"/>
          <p:cNvSpPr txBox="1"/>
          <p:nvPr/>
        </p:nvSpPr>
        <p:spPr>
          <a:xfrm>
            <a:off x="336499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needs teamwork</a:t>
            </a:r>
            <a:endParaRPr lang="en-US" sz="950" dirty="0"/>
          </a:p>
        </p:txBody>
      </p:sp>
      <p:sp>
        <p:nvSpPr>
          <p:cNvPr id="32" name="Text 29"/>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skill noun</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61695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يَجِبُ أَنْ </a:t>
            </a:r>
            <a:pPr rtl="1" algn="ctr" indent="0" marL="0">
              <a:buNone/>
            </a:pPr>
            <a:r>
              <a:rPr lang="ar-SA" altLang="en-US" sz="2100" b="1" dirty="0">
                <a:solidFill>
                  <a:srgbClr val="1D5FBF"/>
                </a:solidFill>
                <a:latin typeface="Amiri" pitchFamily="2" charset="-78"/>
                <a:ea typeface="Amiri" pitchFamily="2" charset="-78"/>
                <a:cs typeface="Amiri" pitchFamily="2" charset="-78"/>
              </a:rPr>
              <a:t>يَكُونَ</a:t>
            </a:r>
            <a:pPr rtl="1" algn="ctr" indent="0" marL="0">
              <a:buNone/>
            </a:pPr>
            <a:r>
              <a:rPr lang="ar-SA" altLang="en-US" sz="2100" b="1" dirty="0">
                <a:solidFill>
                  <a:srgbClr val="1B3B6F"/>
                </a:solidFill>
                <a:latin typeface="Amiri" pitchFamily="2" charset="-78"/>
                <a:ea typeface="Amiri" pitchFamily="2" charset="-78"/>
                <a:cs typeface="Amiri" pitchFamily="2" charset="-78"/>
              </a:rPr>
              <a:t> المُدَرِّسُ </a:t>
            </a:r>
            <a:pPr rtl="1" algn="ctr" indent="0" marL="0">
              <a:buNone/>
            </a:pPr>
            <a:r>
              <a:rPr lang="ar-SA" altLang="en-US" sz="2100" b="1" dirty="0">
                <a:solidFill>
                  <a:srgbClr val="1D5FBF"/>
                </a:solidFill>
                <a:latin typeface="Amiri" pitchFamily="2" charset="-78"/>
                <a:ea typeface="Amiri" pitchFamily="2" charset="-78"/>
                <a:cs typeface="Amiri" pitchFamily="2" charset="-78"/>
              </a:rPr>
              <a:t>صَبُورًا</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37" name="Text 34"/>
          <p:cNvSpPr txBox="1"/>
          <p:nvPr/>
        </p:nvSpPr>
        <p:spPr>
          <a:xfrm>
            <a:off x="757123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teacher must be patient.</a:t>
            </a:r>
            <a:endParaRPr lang="en-US" sz="950" dirty="0"/>
          </a:p>
        </p:txBody>
      </p:sp>
      <p:sp>
        <p:nvSpPr>
          <p:cNvPr id="38" name="Text 35"/>
          <p:cNvSpPr txBox="1"/>
          <p:nvPr/>
        </p:nvSpPr>
        <p:spPr>
          <a:xfrm>
            <a:off x="341071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يَجِبُ أَنْ </a:t>
            </a:r>
            <a:pPr rtl="1" algn="ctr" indent="0" marL="0">
              <a:buNone/>
            </a:pPr>
            <a:r>
              <a:rPr lang="ar-SA" altLang="en-US" sz="2100" b="1" dirty="0">
                <a:solidFill>
                  <a:srgbClr val="D6336C"/>
                </a:solidFill>
                <a:latin typeface="Amiri" pitchFamily="2" charset="-78"/>
                <a:ea typeface="Amiri" pitchFamily="2" charset="-78"/>
                <a:cs typeface="Amiri" pitchFamily="2" charset="-78"/>
              </a:rPr>
              <a:t>تَكُونَ</a:t>
            </a:r>
            <a:pPr rtl="1" algn="ctr" indent="0" marL="0">
              <a:buNone/>
            </a:pPr>
            <a:r>
              <a:rPr lang="ar-SA" altLang="en-US" sz="2100" b="1" dirty="0">
                <a:solidFill>
                  <a:srgbClr val="1B3B6F"/>
                </a:solidFill>
                <a:latin typeface="Amiri" pitchFamily="2" charset="-78"/>
                <a:ea typeface="Amiri" pitchFamily="2" charset="-78"/>
                <a:cs typeface="Amiri" pitchFamily="2" charset="-78"/>
              </a:rPr>
              <a:t> المُمَرِّضَةُ </a:t>
            </a:r>
            <a:pPr rtl="1" algn="ctr" indent="0" marL="0">
              <a:buNone/>
            </a:pPr>
            <a:r>
              <a:rPr lang="ar-SA" altLang="en-US" sz="2100" b="1" dirty="0">
                <a:solidFill>
                  <a:srgbClr val="D6336C"/>
                </a:solidFill>
                <a:latin typeface="Amiri" pitchFamily="2" charset="-78"/>
                <a:ea typeface="Amiri" pitchFamily="2" charset="-78"/>
                <a:cs typeface="Amiri" pitchFamily="2" charset="-78"/>
              </a:rPr>
              <a:t>هَادِئَةً</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39" name="Text 36"/>
          <p:cNvSpPr txBox="1"/>
          <p:nvPr/>
        </p:nvSpPr>
        <p:spPr>
          <a:xfrm>
            <a:off x="336499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nurse must be calm.</a:t>
            </a:r>
            <a:endParaRPr lang="en-US" sz="950" dirty="0"/>
          </a:p>
        </p:txBody>
      </p:sp>
      <p:sp>
        <p:nvSpPr>
          <p:cNvPr id="40" name="Text 37"/>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yakūna / takūna + -an</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61695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يَجِبُ أَنْ يَكُونَ </a:t>
            </a:r>
            <a:pPr rtl="1" algn="ctr" indent="0" marL="0">
              <a:buNone/>
            </a:pPr>
            <a:r>
              <a:rPr lang="ar-SA" altLang="en-US" sz="2100" b="1" dirty="0">
                <a:solidFill>
                  <a:srgbClr val="1D5FBF"/>
                </a:solidFill>
                <a:latin typeface="Amiri" pitchFamily="2" charset="-78"/>
                <a:ea typeface="Amiri" pitchFamily="2" charset="-78"/>
                <a:cs typeface="Amiri" pitchFamily="2" charset="-78"/>
              </a:rPr>
              <a:t>مَسْؤُولًا</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43" name="Text 40"/>
          <p:cNvSpPr txBox="1"/>
          <p:nvPr/>
        </p:nvSpPr>
        <p:spPr>
          <a:xfrm>
            <a:off x="757123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must be responsible.</a:t>
            </a:r>
            <a:endParaRPr lang="en-US" sz="950" dirty="0"/>
          </a:p>
        </p:txBody>
      </p:sp>
      <p:sp>
        <p:nvSpPr>
          <p:cNvPr id="44" name="Text 41"/>
          <p:cNvSpPr txBox="1"/>
          <p:nvPr/>
        </p:nvSpPr>
        <p:spPr>
          <a:xfrm>
            <a:off x="341071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يَجِبُ أَنْ تَكُونَ </a:t>
            </a:r>
            <a:pPr rtl="1" algn="ctr" indent="0" marL="0">
              <a:buNone/>
            </a:pPr>
            <a:r>
              <a:rPr lang="ar-SA" altLang="en-US" sz="2100" b="1" dirty="0">
                <a:solidFill>
                  <a:srgbClr val="D6336C"/>
                </a:solidFill>
                <a:latin typeface="Amiri" pitchFamily="2" charset="-78"/>
                <a:ea typeface="Amiri" pitchFamily="2" charset="-78"/>
                <a:cs typeface="Amiri" pitchFamily="2" charset="-78"/>
              </a:rPr>
              <a:t>مُنَظَّمَةً</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45" name="Text 42"/>
          <p:cNvSpPr txBox="1"/>
          <p:nvPr/>
        </p:nvSpPr>
        <p:spPr>
          <a:xfrm>
            <a:off x="336499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must be organised.</a:t>
            </a:r>
            <a:endParaRPr lang="en-US" sz="950" dirty="0"/>
          </a:p>
        </p:txBody>
      </p:sp>
      <p:sp>
        <p:nvSpPr>
          <p:cNvPr id="46" name="Text 43"/>
          <p:cNvSpPr txBox="1"/>
          <p:nvPr/>
        </p:nvSpPr>
        <p:spPr>
          <a:xfrm>
            <a:off x="56692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-atan</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yakūna / takūna the adjective takes -an: ṣabūran, hādiʾatan (the same ending as yaʿmalu muḥāsiban in D3-L01).</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CAN DO, AND THE EVIDENCE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Can do · and prove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يَسْتَطِيعُ أَنْ · لِأَنَّهُ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ABILITY · DEVELOP</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يَسْتَطِيعُ أَنْ يَـ…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يَسْتَطِيعُ أَنْ يَحُلَّ المُشْكِلَاتِ.</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can solve problems.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present verb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SHE CAN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تَسْتَطِيعُ أَنْ تَـ…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تَسْتَطِيعُ أَنْ تَعْمَلَ ضِمْنَ فَرِيقٍ.</a:t>
            </a:r>
            <a:endParaRPr lang="ar-SA" sz="27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can work within a team.</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verbs agree: ta- … ta-.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CORE</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لِأَنَّهَا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هُوَ مَسْؤُولٌ لِأَنَّهُ يَحْتَرِمُ المَوَاعِيدَ.</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is responsible because he respects deadlines.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Behaviour, not a label.</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After yaḥtāju, use ilā.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يَحْتَاجُ الطَّبِيبُ إِلَى الصَّبْرِ.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ea typeface="Amiri" pitchFamily="2" charset="-78"/>
                <a:cs typeface="Amiri" pitchFamily="2" charset="-78"/>
              </a:rPr>
              <a:t>يَحْتَاجُ الطَّبِيبُ الصَّبْرَ.</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Requirement structures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التَّعْبِيرُ عَنِ المَهَارَاتِ وَالمُتَطَلَّبَاتِ</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Needs a skill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يَحْتَاجُ إِلَى + مَصْدَرٍ / اسْمٍ</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يَحْتَاجُ الطَّبِيبُ إِلَى الصَّبْرِ.   ·   تَحْتَاجُ المُهَنْدِسَةُ إِلَى الدِّقَّةِ.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Must be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يَجِبُ أَنْ يَكُونَ / تَكُونَ + صِفَةً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أَنْ يَكُونَ المُدَرِّسُ صَبُورًا.   ·   يَجِبُ أَنْ تَكُونَ المُمَرِّضَةُ هَادِئَةً.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Ability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يَسْتَطِيعُ أَنْ + مُضَارِع</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يَسْتَطِيعُ أَنْ يَحُلَّ المُشْكِلَاتِ.   ·   تَسْتَطِيعُ أَنْ تَعْمَلَ ضِمْنَ فَرِيقٍ.</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لِأَنَّهُ / لِأَنَّهَا + فِعْلٌ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مَسْؤُولٌ لِأَنَّهُ يَحْتَرِمُ المَوَاعِيدَ.   ·   هِيَ مُتَعَاوِنَةٌ لِأَنَّهَا تُسَاعِدُ زُمَلَاءَهَا.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يَحْتَاجُ الطَّبِيبُ ___ الصَّبْرِ.</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___ المُمَرِّضَةُ هَادِئَةً.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أَكُونَ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يَكُونَ المُدَرِّسُ ___ .</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صَبْرًا</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صَبُورًا</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صَبُورَةً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تَسْتَطِيعُ أَنْ ___ ضِمْنَ فَرِيقٍ.</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تَعْمَلُونَ</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يَحْتَاجُ الطَّبِيبُ ___ الصَّبْرِ.</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yaḥtāju ilā = needs.</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___ المُمَرِّضَةُ هَادِئَةً.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تَكُونَ</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يَكُونَ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أَكُونَ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nurse (f.) → takūna.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يَكُونَ المُدَرِّسُ ___ .</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صَبْرًا</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صَبُورًا</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صَبُورَةً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teacher + -an.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تَسْتَطِيعُ أَنْ ___ ضِمْنَ فَرِيقٍ.</a:t>
            </a:r>
            <a:endParaRPr lang="ar-SA" sz="15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تَعْمَلَ</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a:t>
            </a:r>
            <a:endParaRPr lang="ar-SA" sz="170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تَعْمَلُونَ</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can → an taʿmala.</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a good nurse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Needs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تَحْتَاجُ المُمَرِّضَةُ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إِلَى</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الصَّبْرِ وَالدِّقَّةِ.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Skill nouns after ilā.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Must be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يَجِبُ أَنْ </a:t>
            </a:r>
            <a:pPr rtl="1" algn="ctr" indent="0" marL="0">
              <a:buNone/>
            </a:pPr>
            <a:r>
              <a:rPr lang="ar-SA" altLang="en-US" sz="2700" b="1" dirty="0">
                <a:solidFill>
                  <a:srgbClr val="D6336C"/>
                </a:solidFill>
                <a:latin typeface="Amiri" pitchFamily="2" charset="-78"/>
                <a:ea typeface="Amiri" pitchFamily="2" charset="-78"/>
                <a:cs typeface="Amiri" pitchFamily="2" charset="-78"/>
              </a:rPr>
              <a:t>تَكُونَ</a:t>
            </a:r>
            <a:pPr rtl="1" algn="ctr" indent="0" marL="0">
              <a:buNone/>
            </a:pPr>
            <a:r>
              <a:rPr lang="ar-SA" altLang="en-US" sz="2700" b="1" dirty="0">
                <a:solidFill>
                  <a:srgbClr val="1B3B6F"/>
                </a:solidFill>
                <a:latin typeface="Amiri" pitchFamily="2" charset="-78"/>
                <a:cs typeface="Amiri" pitchFamily="2" charset="-78"/>
              </a:rPr>
              <a:t> </a:t>
            </a:r>
            <a:pPr rtl="1" algn="ctr" indent="0" marL="0">
              <a:buNone/>
            </a:pPr>
            <a:r>
              <a:rPr lang="ar-SA" altLang="en-US" sz="2700" b="1" dirty="0">
                <a:solidFill>
                  <a:srgbClr val="D6336C"/>
                </a:solidFill>
                <a:latin typeface="Amiri" pitchFamily="2" charset="-78"/>
                <a:ea typeface="Amiri" pitchFamily="2" charset="-78"/>
                <a:cs typeface="Amiri" pitchFamily="2" charset="-78"/>
              </a:rPr>
              <a:t>هَادِئَةً</a:t>
            </a:r>
            <a:pPr rtl="1" algn="ctr" indent="0" marL="0">
              <a:buNone/>
            </a:pPr>
            <a:r>
              <a:rPr lang="ar-SA" altLang="en-US" sz="2700" b="1" dirty="0">
                <a:solidFill>
                  <a:srgbClr val="1B3B6F"/>
                </a:solidFill>
                <a:latin typeface="Amiri" pitchFamily="2" charset="-78"/>
                <a:cs typeface="Amiri" pitchFamily="2" charset="-78"/>
              </a:rPr>
              <a:t>.</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 takūna + -atan.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تَسْتَطِيعُ أَنْ </a:t>
            </a:r>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تَعْمَلَ</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ضِمْنَ فَرِيقٍ.</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verb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Proof</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مُمَرِّضَتِي مَسْؤُولَةٌ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لِأَنَّهَا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تَحْتَرِمُ المَوَاعِيدَ.</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Quality + behaviour.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NEEDS / PROOF</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MUST BE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CAN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تَحْتَاجُ المُمَرِّضَةُ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الصَّبْرِ وَالدِّقَّةِ، وَيَجِبُ أَنْ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تَكُونَ</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هَادِئَةً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عِنْدَمَا يَكُونُ المَرِيضُ قَلِقًا. يَجِبُ أَيْضًا أَنْ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تَسْتَطِيعَ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العَمَلَ ضِمْنَ فَرِيقٍ لِأَنَّهَا تَعْمَلُ مَعَ الأَطِبَّاءِ. أَمَّا المُبَرْمِجُ فَيَحْتَاجُ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التَّفْكِيرِ المَنْطِقِيِّ، وَيَجِبُ أَنْ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يَكُونَ</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مُنَظَّمًا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خَالَتِي مُمَرِّضَةٌ مَسْؤُولَةٌ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لِأَنَّهَا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تَحْتَرِمُ المَوَاعِيدَ وَتُسَاعِدُ زُمَلَاءَهَا.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nurse needs patience and accuracy, and she must be calm when the patient is worried. She must also be able to work in a team because she works with doctors. As for a programmer, he needs logical thinking and he must be organised. My aunt is a responsible nurse because she respects appointments and helps her colleagues.</a:t>
            </a:r>
            <a:endParaRPr lang="en-US" sz="10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يَحْتَاجُ الطَّبِيبُ إِلَى الصَّبْرِ.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doctor needs patience.</a:t>
            </a:r>
            <a:endParaRPr lang="en-US" sz="1250" dirty="0"/>
          </a:p>
          <a:p>
            <a:pPr indent="0" marL="0">
              <a:buNone/>
            </a:pPr>
            <a:r>
              <a:rPr lang="en-US" sz="1050" i="1" dirty="0">
                <a:solidFill>
                  <a:srgbClr val="8A6D1E"/>
                </a:solidFill>
                <a:latin typeface="Calibri" pitchFamily="34" charset="0"/>
                <a:cs typeface="Amiri" pitchFamily="2" charset="-78"/>
              </a:rPr>
              <a:t>needs + ilā + skill noun.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يَجِبُ أَنْ يَكُونَ المُدَرِّسُ صَبُورًا.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teacher must be patient.</a:t>
            </a:r>
            <a:endParaRPr lang="en-US" sz="1250" dirty="0"/>
          </a:p>
          <a:p>
            <a:pPr indent="0" marL="0">
              <a:buNone/>
            </a:pPr>
            <a:r>
              <a:rPr lang="en-US" sz="1050" i="1" dirty="0">
                <a:solidFill>
                  <a:srgbClr val="8A6D1E"/>
                </a:solidFill>
                <a:latin typeface="Calibri" pitchFamily="34" charset="0"/>
                <a:cs typeface="Amiri" pitchFamily="2" charset="-78"/>
              </a:rPr>
              <a:t>yakūna + adjective (-an).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تَسْتَطِيعُ أَنْ تَعْمَلَ ضِمْنَ فَرِيقٍ.</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can work in a team.</a:t>
            </a:r>
            <a:endParaRPr lang="en-US" sz="1250" dirty="0"/>
          </a:p>
          <a:p>
            <a:pPr indent="0" marL="0">
              <a:buNone/>
            </a:pPr>
            <a:r>
              <a:rPr lang="en-US" sz="1050" i="1" dirty="0">
                <a:solidFill>
                  <a:srgbClr val="8A6D1E"/>
                </a:solidFill>
                <a:latin typeface="Calibri" pitchFamily="34" charset="0"/>
                <a:cs typeface="Amiri" pitchFamily="2" charset="-78"/>
              </a:rPr>
              <a:t>an + verb (-a).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مُتَعَاوِنَةٌ لِأَنَّهَا تُسَاعِدُ زُمَلَاءَهَا.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cooperative because she helps her colleagues.</a:t>
            </a:r>
            <a:endParaRPr lang="en-US" sz="1250" dirty="0"/>
          </a:p>
          <a:p>
            <a:pPr indent="0" marL="0">
              <a:buNone/>
            </a:pPr>
            <a:r>
              <a:rPr lang="en-US" sz="1050" i="1" dirty="0">
                <a:solidFill>
                  <a:srgbClr val="8A6D1E"/>
                </a:solidFill>
                <a:latin typeface="Calibri" pitchFamily="34" charset="0"/>
                <a:cs typeface="Amiri" pitchFamily="2" charset="-78"/>
              </a:rPr>
              <a:t>Quality + behaviour.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SKILLS AND QUALITIES — WHAT MAKES A GOOD WORKER?”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What is he / she good at? Match the picture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مَهَارَاتُ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teamwork</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solving problems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organised · on time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جَيِّدٌ فِي حَلِّ المُشْكِلَاتِ.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مُنَظَّمَةٌ وَتَحْتَرِمُ الوَقْتَ.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جَيِّدٌ فِي العَمَلِ الجَمَاعِيِّ.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مَهَارَاتُ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teamwork</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جَيِّدٌ فِي العَمَلِ الجَمَاعِيِّ.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good at teamwork.</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solving problems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جَيِّدٌ فِي حَلِّ المُشْكِلَاتِ.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good at problem solving.</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organised · on time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مُنَظَّمَةٌ وَتَحْتَرِمُ الوَقْتَ.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organised and respects time.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 or quality?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 المُشْكِلَاتِ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إِدَارَةُ الوَقْتِ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الدِّقَّةُ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العَمَلُ الجَمَاعِيُّ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مَسْؤُولٌ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مُنَظَّمَةٌ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صَبُورٌ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مُتَعَاوِنَةٌ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طَمُوحٌ</a:t>
            </a:r>
            <a:endParaRPr lang="ar-SA" sz="1800" dirty="0"/>
          </a:p>
        </p:txBody>
      </p:sp>
      <p:sp>
        <p:nvSpPr>
          <p:cNvPr id="33" name="Shape 30"/>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Skill (noun)</a:t>
            </a:r>
            <a:endParaRPr lang="en-US" sz="950" dirty="0"/>
          </a:p>
        </p:txBody>
      </p:sp>
      <p:sp>
        <p:nvSpPr>
          <p:cNvPr id="36" name="Shape 33"/>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Quality (adjective)</a:t>
            </a:r>
            <a:endParaRPr lang="en-US" sz="9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Skill (noun)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 المُشْكِلَاتِ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إِدَارَةُ الوَقْتِ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الدِّقَّةُ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العَمَلُ الجَمَاعِيُّ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Quality (adjective)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مَسْؤُولٌ</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مُنَظَّمَةٌ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صَبُورٌ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مُتَعَاوِنَةٌ</a:t>
            </a:r>
            <a:endParaRPr lang="ar-SA" sz="1800" dirty="0"/>
          </a:p>
        </p:txBody>
      </p:sp>
      <p:sp>
        <p:nvSpPr>
          <p:cNvPr id="37" name="Shape 34"/>
          <p:cNvSpPr/>
          <p:nvPr/>
        </p:nvSpPr>
        <p:spPr>
          <a:xfrm>
            <a:off x="594360" y="4425696"/>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طَمُوحٌ</a:t>
            </a:r>
            <a:endParaRPr lang="ar-SA"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SKILL (a noun)?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مُنَظَّمٌ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صَبُورٌ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حَلُّ المُشْكِلَاتِ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quality?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مَسْؤُولٌ جِدًّا.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مَسْؤُولٌ لِأَنَّهُ يَحْتَرِمُ المَوَاعِيدَ.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مَسْؤُولٌ وَمُنَظَّمٌ.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إِدَارَةُ الوَقْتِ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teamwork</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management</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أَمِينٌ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أُمَنَاءُ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أَمَانَةٌ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أَمِينَةٌ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SKILL (a noun)?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مُنَظَّمٌ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صَبُورٌ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حَلُّ المُشْكِلَاتِ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ḥall = solving (a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quality?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مَسْؤُولٌ جِدًّا.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مَسْؤُولٌ لِأَنَّهُ يَحْتَرِمُ المَوَاعِيدَ.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مَسْؤُولٌ وَمُنَظَّمٌ.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Quality + behaviour.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إِدَارَةُ الوَقْتِ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teamwork</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 management</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idāra = managing; waqt = time.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أَمِينٌ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أُمَنَاءُ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أَمَانَةٌ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أَمِينَةٌ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amīnatun (f.) · umanāʾ (pl.) · amāna = honesty.</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يَكُونَ المُدَرِّسُ صَبُورٌ.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yakūna: -un or -an?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يَكُونَ المُمَرِّضَةُ هَادِئَةً.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nurse is a woman: yakūna or takūna?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تَسْتَطِيعُ أَنْ يَعْمَلَ ضِمْنَ فَرِيقٍ.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can …: ya- or ta-?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يَكُونَ المُدَرِّسُ صَبُورٌ.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يَكُونَ المُدَرِّسُ صَبُورًا.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yakūna the adjective takes -an.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يَكُونَ المُمَرِّضَةُ هَادِئَةً.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تَكُونَ المُمَرِّضَةُ هَادِئَةً.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nurse is a woman → takūna.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تَسْتَطِيعُ أَنْ يَعْمَلَ ضِمْنَ فَرِيقٍ.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تَسْتَطِيعُ أَنْ تَعْمَلَ ضِمْنَ فَرِيقٍ.</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verbs agree with “she”.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makes a strong candidate?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job is advertised?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service (female employee)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nurse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programmer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qualities are needed?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calm and creative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ambitious and honest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confident and patient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she be able to do quickly?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reports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 to the manager</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solve problems</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experience essential?</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useful but not essential</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mentioned</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job is easy</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company provides training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salary is low</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an extra advantage?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speaking two languages well</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driving licence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 degree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خِدْمَةِ العُمَلَاءِ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وَاثِقَةً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الخِبْرَةُ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تَبْحَثُ شَرِكَةٌ عَنْ مُوَظَّفَةٍ لِخِدْمَةِ العُمَلَاءِ.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company is looking for a (female) customer-service employee.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تَكُونَ وَاثِقَةً وَصَبُورَةً،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must be confident and patient,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وَأَنْ تَسْتَطِيعَ حَلَّ المُشْكِلَاتِ بِسُرْعَةٍ.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able to solve problems quickly.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الخِبْرَةُ مُفِيدَةٌ، لٰكِنَّهَا لَيْسَتْ ضَرُورِيَّةً لِأَنَّ الشَّرِكَةَ تُقَدِّمُ تَدْرِيبًا.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 is useful but not essential, because the company provides training.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كَمَا أَنَّ إِجَادَةَ لُغَتَيْنِ تُعَدُّ مِيزَةً مُهِمَّةً.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Also, speaking two languages well is an important advantage.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job is advertised?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customer service (female employee)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nurse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programmer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مُوَظَّفَةٍ لِخِدْمَةِ العُمَلَاءِ</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qualities are needed?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calm and creative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ambitious and honest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confident and patient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وَاثِقَةً وَصَبُورَةً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she be able to do quickly?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reports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speak to the manager</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solve problems</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حَلَّ المُشْكِلَاتِ بِسُرْعَةٍ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experience essential?</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 — useful but not essential</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not mentioned</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لَيْسَتْ ضَرُورِيَّةً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job is easy</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company provides training</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salary is low</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الشَّرِكَةَ تُقَدِّمُ تَدْرِيبًا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an extra advantage?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speaking two languages well</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driving licence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 degree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إِجَادَةَ لُغَتَيْنِ</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خِدْمَةِ العُمَلَاءِ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وَاثِقَةً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الخِبْرَةُ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makes a good worker?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المَهَارَاتُ الَّتِي يَحْتَاجُ إِلَيْهَا الطَّبِيبُ؟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أَهَمُّ صِفَةٍ فِيكَ؟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يَجِبُ أَنْ يَكُونَ المُدَرِّسُ الجَيِّدُ؟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المَهَارَاتُ الَّتِي تَشْتَرِكُ فِيهَا كُلُّ المِهَنِ؟</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يَحْتَاجُ الطَّبِيبُ إِلَى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أَنَا ___ لِأَنَّنِي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يَجِبُ أَنْ يَكُونَ ___ وَ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كُلُّ المِهَنِ تَحْتَاجُ إِلَى ___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المَهَارَاتُ الَّتِي يَحْتَاجُ إِلَيْهَا المُدَرِّسُ؟</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skills does a teacher need?</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يَحْتَاجُ إِلَى التَّوَاصُلِ، وَيَجِبُ أَنْ يَكُونَ صَبُورًا وَمُنَظَّمًا.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needs communication, and he must be patient and organised.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One job: two skills (يَحْتَاجُ إِلَى), one quality, and one quality of yours with evidence.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jobs: needs, must be (-an) and can do, with evidence for each quality.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two contrasting careers, shared skills, and which suits you and why.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تَكُونَ المُمَرِّضَةُ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nurse must be calm.</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يَسْتَطِيعُ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can solve problems.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المُبَرْمِجُ فَيَحْتَاجُ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a programmer, he needs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تَحْتَاجُ المِهْنَتَانِ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jobs need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يَحْتَاجُ الـ ______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 needs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يَكُونَ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must be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لِأَنَّنِي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because I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يَحْتَاجُ إِلَى  ·  يَجِبُ أَنْ يَكُونَ  ·  تَكُونَ  ·  يَسْتَطِيعُ أَنْ  ·  الصَّبْرِ  ·  الدِّقَّةِ  ·  حَلِّ المُشْكِلَاتِ  ·  صَبُورًا  ·  مُنَظَّمَةً  ·  مَسْؤُولٌ  ·  لِأَنَّهُ  ·  عَلَى سَبِيلِ المِثَالِ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Explain the qualities and skills needed for two contrasting careers.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تَخْتَلِفُ المَهَارَاتُ مِنْ مِهْنَةٍ إِلَى أُخْرَى</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skills differ from one job to another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قُدْرَةٌ عَلَى الاِسْتِمَاعِ</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ability to listen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بِطُرُقٍ مُخْتَلِفَةٍ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different ways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تَشْتَرِكُ المِهَنُ فِي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jobs share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أَمِيلُ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drawn to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تَخْتَلِفُ المَهَارَاتُ المَطْلُوبَةُ مِنْ مِهْنَةٍ إِلَى أُخْرَى. تَحْتَاجُ المُمَرِّضَةُ إِلَى الصَّبْرِ وَالدِّقَّةِ، وَيَجِبُ أَنْ تَكُونَ هَادِئَةً عِنْدَمَا يَكُونُ المَرِيضُ قَلِقًا. كَمَا يَجِبُ أَنْ تَسْتَطِيعَ العَمَلَ ضِمْنَ فَرِيقٍ لِأَنَّهَا تَعْمَلُ مَعَ الأَطِبَّاءِ. أَمَّا المُبَرْمِجُ فَيَحْتَاجُ إِلَى التَّفْكِيرِ المَنْطِقِيِّ وَمَهَارَاتِ الحَاسُوبِ، وَيَجِبُ أَنْ يَكُونَ مُنَظَّمًا وَصَبُورًا عِنْدَ حَلِّ الأَخْطَاءِ. عَلَى الرَّغْمِ مِنْ أَنَّ المِهْنَتَيْنِ مُخْتَلِفَتَانِ، فَإِنَّهُمَا تَحْتَاجَانِ إِلَى التَّوَاصُلِ وَالمَسْؤُولِيَّةِ. أَنَا أَمِيلُ إِلَى البَرْمَجَةِ لِأَنَّنِي أَسْتَطِيعُ أَنْ أُرَكِّزَ طَوِيلًا وَأُحِبُّ حَلَّ المُشْكِلَاتِ.</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skills needed differ from one job to another. A nurse needs patience and accuracy, and she must be calm when a patient is worried. She must also be able to work in a team because she works with doctors. As for a programmer, he needs logical thinking and computer skills, and he must be organised and patient when fixing errors. Although the two jobs are different, they both need communication and responsibility. I am drawn to programming because I can concentrate for a long time and I love solving problems.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yaḥtāju ilā + skill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yakūna / takūna +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yastaṭīʿu an + verb</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quality with evidence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yaḥtāju ilā + a skill.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qualities agree (m. / f.).</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yakūna / takūna: -an.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quality has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skills two jobs share.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تَحْتَاجُ المُهَنْدِسَةُ إِلَى</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الدِّقَّةِ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دَقِيقَةٌ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دَقِيقًا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quality (adjective)?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العَمَلُ الجَمَاعِيُّ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مُتَعَاوِنٌ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إِدَارَةُ الوَقْتِ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يَسْتَطِيعُ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المُشْكِلَاتِ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تَحْتَاجُ المُهَنْدِسَةُ إِلَى</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الدِّقَّةِ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دَقِيقَةٌ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دَقِيقًا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skill noun after ilā.</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quality (adjective)?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العَمَلُ الجَمَاعِيُّ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مُتَعَاوِنٌ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إِدَارَةُ الوَقْتِ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mutaʿāwin = cooperative.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يَسْتَطِيعُ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المُشْكِلَاتِ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يَحُلَّ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تَحُلَّ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can → an yaḥulla.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for three careers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تَخْتَلِفُ المَهَارَاتُ المَطْلُوبَةُ مِنْ مِهْنَةٍ إِلَى أُخْرَى. فَالطَّبِيبُ يَحْتَاجُ إِلَى مَعْرِفَةٍ عِلْمِيَّةٍ وَقُدْرَةٍ عَلَى الاِسْتِمَاعِ لِلْمَرْضَى. أَمَّا المُبَرْمِجُ فَيَحْتَاجُ إِلَى التَّفْكِيرِ المَنْطِقِيِّ وَالصَّبْرِ عِنْدَ حَلِّ الأَخْطَاءِ. وَيَجِبُ أَنْ يَكُونَ المُدَرِّسُ مُنَظَّمًا وَقَادِرًا عَلَى شَرْحِ الأَفْكَارِ بِطُرُقٍ مُخْتَلِفَةٍ. وَمَعَ ذٰلِكَ، تَشْتَرِكُ المِهَنُ الثَّلَاثُ فِي أَهَمِّيَّةِ التَّوَاصُلِ وَالمَسْؤُولِيَّةِ.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تَخْتَلِفُ</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المَطْلُوبَةُ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required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مَعْرِفَةٍ عِلْمِيَّةٍ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scientific knowledge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قُدْرَةٍ عَلَى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ability to</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لِلْمَرْضَى</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patients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التَّفْكِيرِ المَنْطِقِيِّ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logical thinking</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حَلِّ الأَخْطَاءِ</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fixing errors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قَادِرًا عَلَى</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able to</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شَرْحِ الأَفْكَارِ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explaining ideas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تَشْتَرِكُ</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share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knowledge does a doctor need?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skills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scientific knowledge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business knowledge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 doctor be able to do with patients?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 them</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 them</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to them</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thinking does a programmer need?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logical thinking</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creative writing</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quick speaking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a programmer need patience?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meeting clients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fixing errors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travelling</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 teacher be able to do?</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explain ideas in different ways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repair computers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at night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things do all three jobs share?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salary and hours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and leadership</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communication and responsibility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knowledge does a doctor need?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computer skills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scientific knowledge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business knowledge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مَعْرِفَةٍ عِلْمِيَّةٍ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 doctor be able to do with patients?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 them</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 them</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 to them</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قُدْرَةٍ عَلَى الاِسْتِمَاعِ لِلْمَرْضَى</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thinking does a programmer need?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logical thinking</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creative writing</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quick speaking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التَّفْكِيرِ المَنْطِقِيِّ</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a programmer need patience?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meeting clients</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when fixing errors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travelling</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عِنْدَ حَلِّ الأَخْطَاءِ</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 teacher be able to do?</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explain ideas in different ways</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repair computers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 at night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شَرْحِ الأَفْكَارِ بِطُرُقٍ مُخْتَلِفَةٍ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things do all three jobs share?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salary and hours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and leadership</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communication and responsibility</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التَّوَاصُلِ وَالمَسْؤُولِيَّةِ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D3-L04 · The Future Tense — Plans, Ambitions and Career Goals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سَـ / سَوْفَ</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(future)</a:t>
            </a:r>
            <a:pPr indent="0" marL="0">
              <a:buNone/>
            </a:pPr>
            <a:r>
              <a:rPr lang="ar-SA" sz="1000" i="1" dirty="0">
                <a:solidFill>
                  <a:srgbClr val="5A6472"/>
                </a:solidFill>
                <a:latin typeface="Calibri" pitchFamily="34" charset="0"/>
                <a:ea typeface="Amiri" pitchFamily="2" charset="-78"/>
                <a:cs typeface="Amiri" pitchFamily="2" charset="-78"/>
              </a:rPr>
              <a:t>  سَأَدْرُسُ I will study</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أُرِيدُ أَنْ أُصْبِحَ</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want to become</a:t>
            </a:r>
            <a:pPr indent="0" marL="0">
              <a:buNone/>
            </a:pPr>
            <a:r>
              <a:rPr lang="ar-SA" sz="1000" i="1" dirty="0">
                <a:solidFill>
                  <a:srgbClr val="5A6472"/>
                </a:solidFill>
                <a:latin typeface="Calibri" pitchFamily="34" charset="0"/>
                <a:ea typeface="Amiri" pitchFamily="2" charset="-78"/>
                <a:cs typeface="Amiri" pitchFamily="2" charset="-78"/>
              </a:rPr>
              <a:t>  تُرِيدُ أَنْ تُصْبِحَ she</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المُسْتَقْبَلِ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the future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التَّخَرُّجِ</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after graduation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أُخَطِّطُ لِـ</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plan to</a:t>
            </a:r>
            <a:pPr indent="0" marL="0">
              <a:buNone/>
            </a:pPr>
            <a:r>
              <a:rPr lang="ar-SA" sz="1000" i="1" dirty="0">
                <a:solidFill>
                  <a:srgbClr val="5A6472"/>
                </a:solidFill>
                <a:latin typeface="Calibri" pitchFamily="34" charset="0"/>
                <a:ea typeface="Amiri" pitchFamily="2" charset="-78"/>
                <a:cs typeface="Amiri" pitchFamily="2" charset="-78"/>
              </a:rPr>
              <a:t>  يُخَطِّطُ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job would you like in the future?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المُسْتَقْبَلِ أُرِيدُ أَنْ أُصْبِحَ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6 skills and 6 qualities (m. / f.);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Two jobs in 80–100 words: needs, must be, can do, with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two contrasting careers and shared skills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D3-L04 · The Future Tense — Plans, Ambitions and Career Goals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المُسْتَقْبَلُ — الخُطَطُ وَالطُّمُوحَاتُ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needs + ilā — must be + -an — prove every quality with behaviour.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D3-L03 · Skills and Qualities — What Makes a Good Worker?</dc:title>
  <dc:subject>PptxGenJS Presentation</dc:subject>
  <dc:creator>Al Madina Online School · Arabic Department</dc:creator>
  <cp:lastModifiedBy>Al Madina Online School · Arabic Department</cp:lastModifiedBy>
  <cp:revision>1</cp:revision>
  <dcterms:created xsi:type="dcterms:W3CDTF">2026-10-11T06:40:43Z</dcterms:created>
  <dcterms:modified xsi:type="dcterms:W3CDTF">2026-10-11T06:40:43Z</dcterms:modified>
</cp:coreProperties>
</file>