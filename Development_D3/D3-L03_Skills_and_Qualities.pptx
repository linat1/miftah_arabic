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D3-L03.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D2 personality adjectives return as WORKER qualities (صَبُورٌ، مُتَعَاوِنٌ، مُجْتَهِدٌ) — students already know the m. / f. habit.
• Grammar link: يَجِبُ أَنْ + verb (-a) is from F4-L06 / F5-L10;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D3-L02. Questions 3–4 retrieve D3-L02; question 5 retrieves D2-L01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(1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(2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(D3-L04 · The Future Tense — Plans, Ambitions and Career Goals) will spend class time USING this language, so students prepare it tonight — short, simple, easy to access (school guidance: “Simple, Short, Interesting, Relevant, Easy to access”). The five words come from the website D3-L04 vocabulary (future plans).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Skills and Qualities — What Makes a Good Worker?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450" b="1" dirty="0">
                <a:solidFill>
                  <a:srgbClr val="D4AF37"/>
                </a:solidFill>
                <a:latin typeface="Amiri" pitchFamily="34" charset="0"/>
                <a:ea typeface="Amiri" pitchFamily="34" charset="-122"/>
                <a:cs typeface="Amiri" pitchFamily="34" charset="-120"/>
              </a:rPr>
              <a:t>المَهَارَاتُ وَالمُؤَهِّلَاتُ — مَا الَّذِي يَجْعَلُ العَامِلَ جَيِّدًا؟</a:t>
            </a:r>
            <a:endParaRPr lang="ar-SA" sz="3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what a job needs (</a:t>
            </a:r>
            <a:pPr algn="l" indent="0" marL="0">
              <a:buNone/>
            </a:pPr>
            <a:r>
              <a:rPr lang="ar-SA" altLang="en-US" sz="1800" dirty="0">
                <a:solidFill>
                  <a:srgbClr val="C6D2E6"/>
                </a:solidFill>
                <a:latin typeface="Amiri" pitchFamily="34" charset="0"/>
                <a:ea typeface="Amiri" pitchFamily="34" charset="-122"/>
                <a:cs typeface="Amiri" pitchFamily="34" charset="-120"/>
              </a:rPr>
              <a:t>يَحْتَاجُ إِلَى</a:t>
            </a:r>
            <a:pPr algn="l" indent="0" marL="0">
              <a:buNone/>
            </a:pPr>
            <a:r>
              <a:rPr lang="en-US" sz="1400" dirty="0">
                <a:solidFill>
                  <a:srgbClr val="C6D2E6"/>
                </a:solidFill>
                <a:latin typeface="Calibri" pitchFamily="34" charset="0"/>
                <a:ea typeface="Calibri" pitchFamily="34" charset="-122"/>
                <a:cs typeface="Calibri" pitchFamily="34" charset="-120"/>
              </a:rPr>
              <a:t> …), what a worker must be (</a:t>
            </a:r>
            <a:pPr algn="l" indent="0" marL="0">
              <a:buNone/>
            </a:pPr>
            <a:r>
              <a:rPr lang="ar-SA" altLang="en-US" sz="1800" dirty="0">
                <a:solidFill>
                  <a:srgbClr val="C6D2E6"/>
                </a:solidFill>
                <a:latin typeface="Amiri" pitchFamily="34" charset="0"/>
                <a:ea typeface="Amiri" pitchFamily="34" charset="-122"/>
                <a:cs typeface="Amiri" pitchFamily="34" charset="-120"/>
              </a:rPr>
              <a:t>يَجِبُ أَنْ يَكُونَ صَبُورًا</a:t>
            </a:r>
            <a:pPr algn="l" indent="0" marL="0">
              <a:buNone/>
            </a:pPr>
            <a:r>
              <a:rPr lang="en-US" sz="1400" dirty="0">
                <a:solidFill>
                  <a:srgbClr val="C6D2E6"/>
                </a:solidFill>
                <a:latin typeface="Calibri" pitchFamily="34" charset="0"/>
                <a:ea typeface="Calibri" pitchFamily="34" charset="-122"/>
                <a:cs typeface="Calibri" pitchFamily="34" charset="-120"/>
              </a:rPr>
              <a:t>), what someone can do (</a:t>
            </a:r>
            <a:pPr algn="l" indent="0" marL="0">
              <a:buNone/>
            </a:pPr>
            <a:r>
              <a:rPr lang="ar-SA" altLang="en-US" sz="1800" dirty="0">
                <a:solidFill>
                  <a:srgbClr val="C6D2E6"/>
                </a:solidFill>
                <a:latin typeface="Amiri" pitchFamily="34" charset="0"/>
                <a:ea typeface="Amiri" pitchFamily="34" charset="-122"/>
                <a:cs typeface="Amiri" pitchFamily="34" charset="-120"/>
              </a:rPr>
              <a:t>يَسْتَطِيعُ أَنْ</a:t>
            </a:r>
            <a:pPr algn="l" indent="0" marL="0">
              <a:buNone/>
            </a:pPr>
            <a:r>
              <a:rPr lang="en-US" sz="1400" dirty="0">
                <a:solidFill>
                  <a:srgbClr val="C6D2E6"/>
                </a:solidFill>
                <a:latin typeface="Calibri" pitchFamily="34" charset="0"/>
                <a:ea typeface="Calibri" pitchFamily="34" charset="-122"/>
                <a:cs typeface="Calibri" pitchFamily="34" charset="-120"/>
              </a:rPr>
              <a:t> …), and prove a quality with behaviour.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D3-L03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يَحْتَاجُ إِلَى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الصَّبْرِ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يَجِبُ أَنْ يَكُونَ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صَبُورًا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job needs with </a:t>
            </a:r>
            <a:pPr algn="l" indent="0" marL="0">
              <a:buNone/>
            </a:pPr>
            <a:r>
              <a:rPr lang="ar-SA" altLang="en-US" sz="1700" dirty="0">
                <a:solidFill>
                  <a:srgbClr val="1F2A37"/>
                </a:solidFill>
                <a:latin typeface="Amiri" pitchFamily="34" charset="0"/>
                <a:ea typeface="Amiri" pitchFamily="34" charset="-122"/>
                <a:cs typeface="Amiri" pitchFamily="34" charset="-120"/>
              </a:rPr>
              <a:t>يَحْتَاجُ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worker must be (</a:t>
            </a:r>
            <a:pPr algn="l" indent="0" marL="0">
              <a:buNone/>
            </a:pPr>
            <a:r>
              <a:rPr lang="ar-SA" altLang="en-US" sz="1700" dirty="0">
                <a:solidFill>
                  <a:srgbClr val="1F2A37"/>
                </a:solidFill>
                <a:latin typeface="Amiri" pitchFamily="34" charset="0"/>
                <a:ea typeface="Amiri" pitchFamily="34" charset="-122"/>
                <a:cs typeface="Amiri" pitchFamily="34" charset="-120"/>
              </a:rPr>
              <a:t>يَجِبُ أَنْ يَكُونَ</a:t>
            </a:r>
            <a:pPr algn="l" indent="0" marL="0">
              <a:buNone/>
            </a:pPr>
            <a:r>
              <a:rPr lang="en-US" sz="1300" dirty="0">
                <a:solidFill>
                  <a:srgbClr val="1F2A37"/>
                </a:solidFill>
                <a:latin typeface="Calibri" pitchFamily="34" charset="0"/>
                <a:ea typeface="Calibri" pitchFamily="34" charset="-122"/>
                <a:cs typeface="Calibri" pitchFamily="34" charset="-120"/>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‎قیادت‎ </a:t>
            </a:r>
            <a:pPr indent="0" marL="0">
              <a:buNone/>
            </a:pPr>
            <a:r>
              <a:rPr lang="en-US" sz="950" b="1" dirty="0">
                <a:solidFill>
                  <a:srgbClr val="2E8B57"/>
                </a:solidFill>
                <a:latin typeface="Calibri" pitchFamily="34" charset="0"/>
                <a:ea typeface="Calibri" pitchFamily="34" charset="-122"/>
                <a:cs typeface="Calibri" pitchFamily="34" charset="-120"/>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‎مسؤول / ذمہ دار‎ </a:t>
            </a:r>
            <a:pPr indent="0" marL="0">
              <a:buNone/>
            </a:pPr>
            <a:r>
              <a:rPr lang="en-US" sz="950" b="1" dirty="0">
                <a:solidFill>
                  <a:srgbClr val="2E8B57"/>
                </a:solidFill>
                <a:latin typeface="Calibri" pitchFamily="34" charset="0"/>
                <a:ea typeface="Calibri" pitchFamily="34" charset="-122"/>
                <a:cs typeface="Calibri" pitchFamily="34" charset="-120"/>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‎ایجاد / بدیع‎ </a:t>
            </a:r>
            <a:pPr indent="0" marL="0">
              <a:buNone/>
            </a:pPr>
            <a:r>
              <a:rPr lang="en-US" sz="950" b="1" dirty="0">
                <a:solidFill>
                  <a:srgbClr val="2E8B57"/>
                </a:solidFill>
                <a:latin typeface="Calibri" pitchFamily="34" charset="0"/>
                <a:ea typeface="Calibri" pitchFamily="34" charset="-122"/>
                <a:cs typeface="Calibri" pitchFamily="34" charset="-120"/>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‎امین‎ </a:t>
            </a:r>
            <a:pPr indent="0" marL="0">
              <a:buNone/>
            </a:pPr>
            <a:r>
              <a:rPr lang="en-US" sz="950" b="1" dirty="0">
                <a:solidFill>
                  <a:srgbClr val="2E8B57"/>
                </a:solidFill>
                <a:latin typeface="Calibri" pitchFamily="34" charset="0"/>
                <a:ea typeface="Calibri" pitchFamily="34" charset="-122"/>
                <a:cs typeface="Calibri" pitchFamily="34" charset="-120"/>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proactive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ambitious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الطَّبِيبُ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المُهَنْدِسَةُ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مَهَارَاتِ الحَاسُوبِ</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العَمَلِ الجَمَاعِيِّ</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يَكُونَ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المُدَرِّسُ </a:t>
            </a:r>
            <a:pPr rtl="1" algn="ctr" indent="0" marL="0">
              <a:buNone/>
            </a:pPr>
            <a:r>
              <a:rPr lang="ar-SA" altLang="en-US" sz="2100" b="1" dirty="0">
                <a:solidFill>
                  <a:srgbClr val="1D5FBF"/>
                </a:solidFill>
                <a:latin typeface="Amiri" pitchFamily="34" charset="0"/>
                <a:ea typeface="Amiri" pitchFamily="34" charset="-122"/>
                <a:cs typeface="Amiri" pitchFamily="34" charset="-120"/>
              </a:rPr>
              <a:t>صَبُورًا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المُمَرِّضَةُ </a:t>
            </a:r>
            <a:pPr rtl="1" algn="ctr" indent="0" marL="0">
              <a:buNone/>
            </a:pPr>
            <a:r>
              <a:rPr lang="ar-SA" altLang="en-US" sz="21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يَكُونَ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مَسْؤُولًا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تَكُونَ </a:t>
            </a:r>
            <a:pPr rtl="1" algn="ctr" indent="0" marL="0">
              <a:buNone/>
            </a:pPr>
            <a:r>
              <a:rPr lang="ar-SA" altLang="en-US" sz="2100" b="1" dirty="0">
                <a:solidFill>
                  <a:srgbClr val="D6336C"/>
                </a:solidFill>
                <a:latin typeface="Amiri" pitchFamily="34" charset="0"/>
                <a:ea typeface="Amiri" pitchFamily="34" charset="-122"/>
                <a:cs typeface="Amiri" pitchFamily="34" charset="-120"/>
              </a:rPr>
              <a:t>مُنَظَّمَةً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 takūna the adjective takes -an: ṣabūran, hādiʾatan (the same ending as yaʿmalu muḥāsiban in D3-L01).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تَحْتَاجُ المُمَرِّضَةُ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7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pPr rtl="1" algn="ctr" indent="0" marL="0">
              <a:buNone/>
            </a:pPr>
            <a:r>
              <a:rPr lang="ar-SA" altLang="en-US" sz="27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تَسْتَطِيعُ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تَعْمَلَ</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مُمَرِّضَتِي مَسْؤُولَةٌ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تَحْتَاجُ المُمَرِّضَةُ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الصَّبْرِ وَالدِّقَّةِ،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هَادِئَةً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عِنْدَمَا يَكُونُ المَرِيضُ قَلِقًا. يَجِبُ أَيْضًا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تَسْتَطِيعَ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التَّفْكِيرِ المَنْطِقِيِّ،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مُنَظَّمًا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خَالَتِي مُمَرِّضَةٌ مَسْؤُولَةٌ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doctor needs patience.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teacher must be patient.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can work in a team.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cooperative because she helps her colleagues.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Skills and Qualities — What Makes a Good Worker?</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يَحْتَاجُ إِلَيْهَا الطَّبِيبُ؟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صِفَةٍ فِيكَ؟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يَجِبُ أَنْ يَكُونَ المُدَرِّسُ الجَيِّدُ؟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تَشْتَرِكُ فِيهَا كُلُّ المِهَنِ؟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يَحْتَاجُ الطَّبِيبُ إِلَى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يَكُونَ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 المِهَنِ تَحْتَاجُ إِلَى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المَهَارَاتُ الَّتِي يَحْتَاجُ إِلَيْهَا المُدَرِّسُ؟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skills does a teacher need?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يَحْتَاجُ إِلَى التَّوَاصُلِ، وَيَجِبُ أَنْ يَكُونَ صَبُورًا وَمُنَظَّمًا.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needs communication, and he must be patient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D3-L04 · The Future Tense — Plans, Ambitions and Career Goals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(future)</a:t>
            </a:r>
            <a:pPr indent="0" marL="0">
              <a:buNone/>
            </a:pPr>
            <a:r>
              <a:rPr lang="en-US" sz="1000" i="1" dirty="0">
                <a:solidFill>
                  <a:srgbClr val="5A6472"/>
                </a:solidFill>
                <a:latin typeface="Calibri" pitchFamily="34" charset="0"/>
                <a:ea typeface="Calibri" pitchFamily="34" charset="-122"/>
                <a:cs typeface="Calibri" pitchFamily="34" charset="-120"/>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want to become</a:t>
            </a:r>
            <a:pPr indent="0" marL="0">
              <a:buNone/>
            </a:pPr>
            <a:r>
              <a:rPr lang="en-US" sz="1000" i="1" dirty="0">
                <a:solidFill>
                  <a:srgbClr val="5A6472"/>
                </a:solidFill>
                <a:latin typeface="Calibri" pitchFamily="34" charset="0"/>
                <a:ea typeface="Calibri" pitchFamily="34" charset="-122"/>
                <a:cs typeface="Calibri" pitchFamily="34" charset="-120"/>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future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graduation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plan to</a:t>
            </a:r>
            <a:pPr indent="0" marL="0">
              <a:buNone/>
            </a:pPr>
            <a:r>
              <a:rPr lang="en-US" sz="1000" i="1" dirty="0">
                <a:solidFill>
                  <a:srgbClr val="5A6472"/>
                </a:solidFill>
                <a:latin typeface="Calibri" pitchFamily="34" charset="0"/>
                <a:ea typeface="Calibri" pitchFamily="34" charset="-122"/>
                <a:cs typeface="Calibri" pitchFamily="34" charset="-120"/>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D3-L04 · The Future Tense — Plans, Ambitions and Career Goals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المُسْتَقْبَلُ — الخُطَطُ وَالطُّمُوحَاتُ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needs + ilā — must be + -an — prove every quality with behaviour.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D3-L03 · Skills and Qualities — What Makes a Good Worker?</dc:title>
  <dc:subject>PptxGenJS Presentation</dc:subject>
  <dc:creator>Al Madina Online School · Arabic Department</dc:creator>
  <cp:lastModifiedBy>Al Madina Online School · Arabic Department</cp:lastModifiedBy>
  <cp:revision>1</cp:revision>
  <dcterms:created xsi:type="dcterms:W3CDTF">2026-10-03T05:13:26Z</dcterms:created>
  <dcterms:modified xsi:type="dcterms:W3CDTF">2026-10-03T05:13:26Z</dcterms:modified>
</cp:coreProperties>
</file>