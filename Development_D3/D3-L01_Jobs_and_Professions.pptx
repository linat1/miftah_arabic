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D3-L01. The website lesson “Jobs and Professions — Vocabulary and Gender”: vocabulary, grammar rules and quiz, patterns, common mistakes, sorter, listening, reading, speaking prompts and model, writing task and model, differentiation, final check and the lesson mission. Picture match: website visual game “Jobs and Professions — Vocabulary and Gender”.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(D3 · Work and Careers). Core: 8 professions in BOTH forms + “He is … and works in …” (four accurate sentences). Develop: يَعْمَلُ + profession in -an and a reason for a job preference. Stretch: contrast two jobs (بَيْنَمَا / عَلَى الرَّغْمِ مِنْ أَنَّ) with one disadvantage.
• The D2 agreement habit carries straight over: هِيَ → profession + ـةٌ. NEW: after يَعْمَلُ / تَعْمَلُ the profession takes -an (مُحَاسِبًا / مُدَرِّسَةً).
• Careful: طَيَّارَةٌ is a female pilot but also means “aeroplane” (more often طَائِرَةٌ) — context decides.
• Sensitivity: some students’ parents may not work or may work in jobs not on the list — let them describe an invented family or “a person I know”.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D2-L12. Questions 3–4 retrieve D2-L01 (agreement, evidence). Question 5 previews today: the root d-r-s gives school, teacher and studying.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 “is” in Arabic: my father (is) an engineer. A woman’s job takes -atun.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طبیب (and طب = medicine), حساب / محاسب, مدرس / مدرسہ and صحافی / صحافت (journalism) are all shared. مِهْنَةٌ has no Urdu cognate — link it to پیشہ by meaning. Ask: what Urdu words do you know from the root ṭ-b-b, ḥ-s-b, d-r-s?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Professions (website vocabulary (1 of 2)). Hear → Say → See → Use. Transliteration is printed for Core students (cover it for Develop/Stretch).
Every card shows m. · f. · pl. Most feminines add ـةٌ. Note: مُحَامٍ → مُحَامِيَةٌ (the hidden yāʾ comes back); طَبِيبٌ has a broken plural أَطِبَّاءُ.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Professions (website vocabulary (2 of 2)). Hear → Say → See → Use. Transliteration is printed for Core students (cover it for Develop/Stretch).
Every card shows m. · f. · pl. Most feminines add ـةٌ. Note: مُحَامٍ → مُحَامِيَةٌ (the hidden yāʾ comes back); طَبِيبٌ has a broken plural أَطِبَّاءُ.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Workplaces (website vocabulary (1 of 2)). Hear → Say → See → Use. Transliteration is printed for Core students (cover it for Develop/Stretch).
Workplaces: the word AFTER فِي. عَنْ بُعْدٍ (remotely) and فِي الهَوَاءِ الطَّلْقِ (outdoors) answer “where?” without a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Workplaces (website vocabulary (2 of 2)). Hear → Say → See → Use. Transliteration is printed for Core students (cover it for Develop/Stretch).
Workplaces: the word AFTER فِي. عَنْ بُعْدٍ (remotely) and فِي الهَوَاءِ الطَّلْقِ (outdoors) answer “where?” without a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connections (website vocabulary). Hear → Say → See → Use. Transliteration is printed for Core students (cover it for Develop/Stretch).
FLEX: teach if time allows; otherwise these are on the website vocabulary tab for homework.
Connectors (FLEX): the same list repeats through D3 — the website lists them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“Profession gender” (مُهَنْدِسٌ ← مُهَنْدِسَةٌ: most profession nouns form the feminine with ة) and “Equational sentences” (المُبْتَدَأُ + الخَبَرُ: no “is” between a person and a profession). The plural column is teacher-added (the m / f / pl routine) — Core needs m. and f.
Website common error: “Do not insert يكون as ‘is’ in a present profession sentence.” (أَبِي يَكُونُ طَبِيبٌ ✗ → أَبِي طَبِيبٌ ✓)
Quick-fire: say a family member (أَخِي / أُخْتِي / عَمِّي / خَالَتِي) + a job; students say the correct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“Working as” (يَعْمَلُ / تَعْمَلُ + مِهْنَةً: “Use the indefinite profession after يعمل as a circumstantial description” — a ḥāl, so it takes the accusative -an) and “Workplace with في” (فِي before the workplace, not before the profession).
Examples (website): يَعْمَلُ عَمِّي مُحَاسِبًا. · تَعْمَلُ خَالَتِي مُدَرِّسَةً. · تَعْمَلُ المُحَامِيَةُ فِي المَحْكَمَةِ.
Core can avoid the -an form completely: هُوَ مُحَاسِبٌ وَيَعْمَلُ فِي شَرِكَةٍ (website target pattern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“التَّذْكِيرُ وَالتَّأْنِيثُ فِي أَسْمَاءِ المِهَنِ”
• Profession gender: Most profession nouns form the feminine with ة, but spelling and pronunciation must remain accurate.
• Equational sentences: In the present tense, Arabic does not use “is” between a person and a profession.
• Working as: Use the indefinite profession after يعمل as a circumstantial description.
• Workplace with في: Use في before the workplace, not before the profession.
Website common error: Do not insert يكون as “is” in a present profession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7,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writing model (first four sentences), built with a think-aloud: “Man or woman? Is / works as / works in? Where is my reason?” Note أَنْ أُصْبِحَ صَحَفِيًّا: after أُصْبِحَ (become) the job also takes -an — same as after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Jobs and Professions — Vocabulary and Gender”)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it is a WOMAN? (ـةٌ AND تَعْمَلُ). Other website cards: هُوَ مُعَلِّمٌ وَيَعْمَلُ فِي مَدْرَسَةٍ (مُعَلِّمٌ = مُدَرِّسٌ, both “teacher”), هِيَ مُحَامِيَةٌ, هُوَ مِيكَانِيكِيٌّ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Jobs and Professions — Vocabulary and Gender”)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shows it is a WOMAN? (ـةٌ AND تَعْمَلُ). Other website cards: هُوَ مُعَلِّمٌ وَيَعْمَلُ فِي مَدْرَسَةٍ (مُعَلِّمٌ = مُدَرِّسٌ, both “teacher”), هِيَ مُحَامِيَةٌ, هُوَ مِيكَانِيكِيٌّ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profession with its workplace aloud: المُهَنْدِسُ … فِي … · المُحَاسِبَةُ … فِي … · الصَّحَفِيُّ … فِي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pair each profession with its workplace aloud: المُهَنْدِسُ … فِي … · المُحَاسِبَةُ … فِي … · الصَّحَفِيُّ … فِي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أَنَا لَيْلَى. أَبِي مُهَنْدِسٌ وَيَعْمَلُ فِي شَرِكَةِ بِنَاءٍ، وَأُمِّي مُحَاسِبَةٌ فِي مَكْتَبٍ كَبِيرٍ. أَخِي الأَكْبَرُ يُرِيدُ أَنْ يُصْبِحَ طَيَّارًا، أَمَّا أُخْتِي فَهِيَ تَتَدَرَّبُ لِتُصْبِحَ مُمَرِّضَةً. فِي رَأْيِي، عَمَلُ أُمِّي دَقِيقٌ وَلٰكِنَّهُ مُجْهِدٌ.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تُحِبُّ عَمَلَهَا؟ (Does she like her work?)
B: نَعَمْ، لِأَنَّهُ مُجْزٍ وَيُسَاعِدُ الطُّلَّابَ. (Yes, because it is rewarding and helps students.)
Website prompts and model. Model continues: A: هَلْ تُحِبُّ عَمَلَهَا؟ (Does she like her work?) B: نَعَمْ، لِأَنَّهُ مُجْزٍ وَيُسَاعِدُ الطُّلَّابَ. (Yes, because it is rewarding and helps students.) Students may describe an invented family. To a girl: مَا المِهْنَةُ الَّتِي تُفَضِّلِينَهَا؟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100–120 Arabic words about professions in your family and a career you might choose.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مُهَنْدِسٌ، مُدَرِّسَةٌ، مُحَاسِبَةٌ، صَحَفِيًّا · فِي شَرِكَةِ بِنَاءٍ، فِي مَدْرَسَةٍ · لِأَنَّنِي أَسْتَمْتِعُ بِالكِتَابَةِ · عَلَى الرَّغْمِ مِنْ أَنَّ الصَّحَافَةَ قَدْ تَكُونُ مُجْهِدَةً (the disadvantage).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(D3-L02 · The Workplace — Environments and Work Conditions) will spend class time USING this language, so students prepare it tonight — short, simple, easy to access (school guidance: “Simple, Short, Interesting, Relevant, Easy to access”). The five words come from the website D3-L02 vocabulary (work conditions and benefits).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Jobs and Professions — Vocabulary and Gender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الوَظَائِفُ وَالمِهَنُ — المُفْرَدَاتُ وَالتَّذْكِيرُ وَالتَّأْنِيثُ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twelve professions in masculine, feminine and plural forms, say where people work (</a:t>
            </a:r>
            <a:pPr algn="l" indent="0" marL="0">
              <a:buNone/>
            </a:pPr>
            <a:r>
              <a:rPr lang="ar-SA" altLang="en-US" sz="1800" dirty="0">
                <a:solidFill>
                  <a:srgbClr val="C6D2E6"/>
                </a:solidFill>
                <a:latin typeface="Amiri" pitchFamily="2" charset="-78"/>
                <a:ea typeface="Amiri" pitchFamily="2" charset="-78"/>
                <a:cs typeface="Amiri" pitchFamily="2" charset="-78"/>
              </a:rPr>
              <a:t>فِي</a:t>
            </a:r>
            <a:pPr algn="l" indent="0" marL="0">
              <a:buNone/>
            </a:pPr>
            <a:r>
              <a:rPr lang="en-US" sz="1400" dirty="0">
                <a:solidFill>
                  <a:srgbClr val="C6D2E6"/>
                </a:solidFill>
                <a:latin typeface="Calibri" pitchFamily="34" charset="0"/>
                <a:cs typeface="Amiri" pitchFamily="2" charset="-78"/>
              </a:rPr>
              <a:t>), say what someone works as (</a:t>
            </a:r>
            <a:pPr algn="l" indent="0" marL="0">
              <a:buNone/>
            </a:pPr>
            <a:r>
              <a:rPr lang="ar-SA" altLang="en-US" sz="1800" dirty="0">
                <a:solidFill>
                  <a:srgbClr val="C6D2E6"/>
                </a:solidFill>
                <a:latin typeface="Amiri" pitchFamily="2" charset="-78"/>
                <a:ea typeface="Amiri" pitchFamily="2" charset="-78"/>
                <a:cs typeface="Amiri" pitchFamily="2" charset="-78"/>
              </a:rPr>
              <a:t>يَعْمَلُ مُحَاسِبًا</a:t>
            </a:r>
            <a:pPr algn="l" indent="0" marL="0">
              <a:buNone/>
            </a:pPr>
            <a:r>
              <a:rPr lang="en-US" sz="1400" dirty="0">
                <a:solidFill>
                  <a:srgbClr val="C6D2E6"/>
                </a:solidFill>
                <a:latin typeface="Calibri" pitchFamily="34" charset="0"/>
                <a:cs typeface="Amiri" pitchFamily="2" charset="-78"/>
              </a:rPr>
              <a:t>) and justify a job you would like.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D3-L01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Professions m. / f. / pl., then “is a …”, “works as a …” and “works in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profession / workplace,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target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أَتَدَرَّبُ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practise / train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improve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review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a girl.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مُجْتَهِدٌ.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مُجْتَهِدَةٌ.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مُجْتَهِدَةٌ.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helps”?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يُسَاعِدُ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 تُسَاعِدُ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تُسَاعِدُ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دِرَاسَةٌ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strength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target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أَتَدَرَّبُ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practise / train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improve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review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a girl.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مُجْتَهِدٌ.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مُجْتَهِدَةٌ.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مُجْتَهِدَةٌ.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she → -atun.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helps”?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يُسَاعِدُ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 تُسَاعِدُ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تُسَاعِدُ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 evidence connector.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دِرَاسَةٌ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root d-r-s: the place, the teacher, studying.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No “is” in Arabic: my father (is) an engineer. A woman’s job takes -atun.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أَبِي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مُهَنْدِسٌ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أُمِّي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مُهَنْدِسَةٌ</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تَعْمَلُ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مُدَرِّسَةً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twelve professions in masculine, feminine and plural forms.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someone is and where they work without adding “is”.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يَعْمَلُ / تَعْمَلُ</a:t>
            </a:r>
            <a:pPr algn="l" indent="0" marL="0">
              <a:buNone/>
            </a:pPr>
            <a:r>
              <a:rPr lang="en-US" sz="1300" dirty="0">
                <a:solidFill>
                  <a:srgbClr val="1F2A37"/>
                </a:solidFill>
                <a:latin typeface="Calibri" pitchFamily="34" charset="0"/>
                <a:cs typeface="Amiri" pitchFamily="2" charset="-78"/>
              </a:rPr>
              <a:t> + profession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justified job preference in connected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jobs for a man and a woman.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someone works.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someone works as (yaʿmalu muḥāsiban).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job preference.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jobs with a contrast.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one disadvantage of my chosen job.</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Professions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Workplaces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connections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‎طبیب‎ </a:t>
            </a:r>
            <a:pPr indent="0" marL="0">
              <a:buNone/>
            </a:pPr>
            <a:r>
              <a:rPr lang="en-US" sz="950" b="1" dirty="0">
                <a:solidFill>
                  <a:srgbClr val="2E8B57"/>
                </a:solidFill>
                <a:latin typeface="Calibri" pitchFamily="34" charset="0"/>
                <a:cs typeface="Amiri" pitchFamily="2" charset="-78"/>
              </a:rPr>
              <a:t> tabīb · doctor (as in tibb)</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مُحَاسِبٌ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‎محاسب / حساب‎ </a:t>
            </a:r>
            <a:pPr indent="0" marL="0">
              <a:buNone/>
            </a:pPr>
            <a:r>
              <a:rPr lang="en-US" sz="950" b="1" dirty="0">
                <a:solidFill>
                  <a:srgbClr val="2E8B57"/>
                </a:solidFill>
                <a:latin typeface="Calibri" pitchFamily="34" charset="0"/>
                <a:cs typeface="Amiri" pitchFamily="2" charset="-78"/>
              </a:rPr>
              <a:t> hisāb · account → accountant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مُدَرِّسٌ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‎مدرس / مدرسہ‎ </a:t>
            </a:r>
            <a:pPr indent="0" marL="0">
              <a:buNone/>
            </a:pPr>
            <a:r>
              <a:rPr lang="en-US" sz="950" b="1" dirty="0">
                <a:solidFill>
                  <a:srgbClr val="2E8B57"/>
                </a:solidFill>
                <a:latin typeface="Calibri" pitchFamily="34" charset="0"/>
                <a:cs typeface="Amiri" pitchFamily="2" charset="-78"/>
              </a:rPr>
              <a:t> mudarris · teacher (madrasa = school)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صَحَفِيٌّ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‎صحافی‎ </a:t>
            </a:r>
            <a:pPr indent="0" marL="0">
              <a:buNone/>
            </a:pPr>
            <a:r>
              <a:rPr lang="en-US" sz="950" b="1" dirty="0">
                <a:solidFill>
                  <a:srgbClr val="2E8B57"/>
                </a:solidFill>
                <a:latin typeface="Calibri" pitchFamily="34" charset="0"/>
                <a:cs typeface="Amiri" pitchFamily="2" charset="-78"/>
              </a:rPr>
              <a:t> sahāfī · journalist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مِهْنَةٌ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‎پیشہ‎ </a:t>
            </a:r>
            <a:pPr indent="0" marL="0">
              <a:buNone/>
            </a:pPr>
            <a:r>
              <a:rPr lang="en-US" sz="950" b="1" dirty="0">
                <a:solidFill>
                  <a:srgbClr val="2E8B57"/>
                </a:solidFill>
                <a:latin typeface="Calibri" pitchFamily="34" charset="0"/>
                <a:cs typeface="Amiri" pitchFamily="2" charset="-78"/>
              </a:rPr>
              <a:t> pesha · profession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engineer</a:t>
            </a:r>
            <a:endParaRPr lang="en-US" sz="1350" dirty="0"/>
          </a:p>
          <a:p>
            <a:pPr indent="0" marL="0">
              <a:buNone/>
            </a:pPr>
            <a:r>
              <a:rPr lang="en-US" sz="1100" i="1" dirty="0">
                <a:solidFill>
                  <a:srgbClr val="5A6472"/>
                </a:solidFill>
                <a:latin typeface="Calibri" pitchFamily="34" charset="0"/>
                <a:cs typeface="Amiri" pitchFamily="2" charset="-78"/>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مُحَامٍ / مُحَامِيَةٌ</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lawyer</a:t>
            </a:r>
            <a:endParaRPr lang="en-US" sz="1350" dirty="0"/>
          </a:p>
          <a:p>
            <a:pPr indent="0" marL="0">
              <a:buNone/>
            </a:pPr>
            <a:r>
              <a:rPr lang="en-US" sz="1100" i="1" dirty="0">
                <a:solidFill>
                  <a:srgbClr val="5A6472"/>
                </a:solidFill>
                <a:latin typeface="Calibri" pitchFamily="34" charset="0"/>
                <a:cs typeface="Amiri" pitchFamily="2" charset="-78"/>
              </a:rPr>
              <a:t>mu-ḥā-min / mu-ḥā-mi-ya-tun</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مُحَامُونَ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مُحَامِيَةٌ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4" name="Text 11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7" name="Text 11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مُبَرْمِجٌ / مُبَرْمِجَةٌ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programmer</a:t>
            </a:r>
            <a:endParaRPr lang="en-US" sz="1350" dirty="0"/>
          </a:p>
          <a:p>
            <a:pPr indent="0" marL="0">
              <a:buNone/>
            </a:pPr>
            <a:r>
              <a:rPr lang="en-US" sz="1100" i="1" dirty="0">
                <a:solidFill>
                  <a:srgbClr val="5A6472"/>
                </a:solidFill>
                <a:latin typeface="Calibri" pitchFamily="34" charset="0"/>
                <a:cs typeface="Amiri" pitchFamily="2" charset="-78"/>
              </a:rPr>
              <a:t>mu-bar-mi-jun / mu-bar-mi-ja-tun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مُحَاسِبٌ / مُحَاسِبَةٌ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accountant</a:t>
            </a:r>
            <a:endParaRPr lang="en-US" sz="1350" dirty="0"/>
          </a:p>
          <a:p>
            <a:pPr indent="0" marL="0">
              <a:buNone/>
            </a:pPr>
            <a:r>
              <a:rPr lang="en-US" sz="1100" i="1" dirty="0">
                <a:solidFill>
                  <a:srgbClr val="5A6472"/>
                </a:solidFill>
                <a:latin typeface="Calibri" pitchFamily="34" charset="0"/>
                <a:cs typeface="Amiri" pitchFamily="2" charset="-78"/>
              </a:rPr>
              <a:t>mu-ḥā-si-bun / mu-ḥā-si-ba-tun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مُصَمِّمٌ / مُصَمِّمَةٌ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designer</a:t>
            </a:r>
            <a:endParaRPr lang="en-US" sz="1350" dirty="0"/>
          </a:p>
          <a:p>
            <a:pPr indent="0" marL="0">
              <a:buNone/>
            </a:pPr>
            <a:r>
              <a:rPr lang="en-US" sz="1100" i="1" dirty="0">
                <a:solidFill>
                  <a:srgbClr val="5A6472"/>
                </a:solidFill>
                <a:latin typeface="Calibri" pitchFamily="34" charset="0"/>
                <a:cs typeface="Amiri" pitchFamily="2" charset="-78"/>
              </a:rPr>
              <a:t>mu-ṣam-mi-mun / mu-ṣam-mi-ma-tun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طَيَّارٌ / طَيَّارَةٌ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pilot</a:t>
            </a:r>
            <a:endParaRPr lang="en-US" sz="1350" dirty="0"/>
          </a:p>
          <a:p>
            <a:pPr indent="0" marL="0">
              <a:buNone/>
            </a:pPr>
            <a:r>
              <a:rPr lang="en-US" sz="1100" i="1" dirty="0">
                <a:solidFill>
                  <a:srgbClr val="5A6472"/>
                </a:solidFill>
                <a:latin typeface="Calibri" pitchFamily="34" charset="0"/>
                <a:cs typeface="Amiri" pitchFamily="2" charset="-78"/>
              </a:rPr>
              <a:t>ṭay-yā-run / ṭay-yā-ra-tun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شُرْطِيٌّ / شُرْطِيَّةٌ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police officer</a:t>
            </a:r>
            <a:endParaRPr lang="en-US" sz="1350" dirty="0"/>
          </a:p>
          <a:p>
            <a:pPr indent="0" marL="0">
              <a:buNone/>
            </a:pPr>
            <a:r>
              <a:rPr lang="en-US" sz="1100" i="1" dirty="0">
                <a:solidFill>
                  <a:srgbClr val="5A6472"/>
                </a:solidFill>
                <a:latin typeface="Calibri" pitchFamily="34" charset="0"/>
                <a:cs typeface="Amiri" pitchFamily="2" charset="-78"/>
              </a:rPr>
              <a:t>shur-ṭiy-yun / shur-ṭiy-ya-tun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0" name="Shape 97"/>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طَبَّاخٌ / طَبَّاخَةٌ</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chef</a:t>
            </a:r>
            <a:endParaRPr lang="en-US" sz="1350" dirty="0"/>
          </a:p>
          <a:p>
            <a:pPr indent="0" marL="0">
              <a:buNone/>
            </a:pPr>
            <a:r>
              <a:rPr lang="en-US" sz="1100" i="1" dirty="0">
                <a:solidFill>
                  <a:srgbClr val="5A6472"/>
                </a:solidFill>
                <a:latin typeface="Calibri" pitchFamily="34" charset="0"/>
                <a:cs typeface="Amiri" pitchFamily="2" charset="-78"/>
              </a:rPr>
              <a:t>ṭab-bā-khun / ṭab-bā-kha-tun</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6" name="Text 10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طَبَّاخُونَ</a:t>
            </a:r>
            <a:endParaRPr lang="ar-SA" sz="150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مَصْنَعٌ</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factory</a:t>
            </a:r>
            <a:endParaRPr lang="en-US" sz="1350" dirty="0"/>
          </a:p>
          <a:p>
            <a:pPr indent="0" marL="0">
              <a:buNone/>
            </a:pPr>
            <a:r>
              <a:rPr lang="en-US" sz="1100" i="1" dirty="0">
                <a:solidFill>
                  <a:srgbClr val="5A6472"/>
                </a:solidFill>
                <a:latin typeface="Calibri" pitchFamily="34" charset="0"/>
                <a:cs typeface="Amiri" pitchFamily="2" charset="-78"/>
              </a:rPr>
              <a:t>maṣ-na-ʿun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مُخْتَبَرٌ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laboratory</a:t>
            </a:r>
            <a:endParaRPr lang="en-US" sz="1350" dirty="0"/>
          </a:p>
          <a:p>
            <a:pPr indent="0" marL="0">
              <a:buNone/>
            </a:pPr>
            <a:r>
              <a:rPr lang="en-US" sz="1100" i="1" dirty="0">
                <a:solidFill>
                  <a:srgbClr val="5A6472"/>
                </a:solidFill>
                <a:latin typeface="Calibri" pitchFamily="34" charset="0"/>
                <a:cs typeface="Amiri" pitchFamily="2" charset="-78"/>
              </a:rPr>
              <a:t>mukh-ta-ba-run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مَحْكَمَةٌ</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court</a:t>
            </a:r>
            <a:endParaRPr lang="en-US" sz="1350" dirty="0"/>
          </a:p>
          <a:p>
            <a:pPr indent="0" marL="0">
              <a:buNone/>
            </a:pPr>
            <a:r>
              <a:rPr lang="en-US" sz="1100" i="1" dirty="0">
                <a:solidFill>
                  <a:srgbClr val="5A6472"/>
                </a:solidFill>
                <a:latin typeface="Calibri" pitchFamily="34" charset="0"/>
                <a:cs typeface="Amiri" pitchFamily="2" charset="-78"/>
              </a:rPr>
              <a:t>maḥ-ka-ma-tun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مَتْجَرٌ</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مَطَارٌ</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شَرِكَةٌ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company</a:t>
            </a:r>
            <a:endParaRPr lang="en-US" sz="1350" dirty="0"/>
          </a:p>
          <a:p>
            <a:pPr indent="0" marL="0">
              <a:buNone/>
            </a:pPr>
            <a:r>
              <a:rPr lang="en-US" sz="1100" i="1" dirty="0">
                <a:solidFill>
                  <a:srgbClr val="5A6472"/>
                </a:solidFill>
                <a:latin typeface="Calibri" pitchFamily="34" charset="0"/>
                <a:cs typeface="Amiri" pitchFamily="2" charset="-78"/>
              </a:rPr>
              <a:t>sha-ri-ka-tun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بِنَاءٍ</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building site</a:t>
            </a:r>
            <a:endParaRPr lang="en-US" sz="1350" dirty="0"/>
          </a:p>
          <a:p>
            <a:pPr indent="0" marL="0">
              <a:buNone/>
            </a:pPr>
            <a:r>
              <a:rPr lang="en-US" sz="1100" i="1" dirty="0">
                <a:solidFill>
                  <a:srgbClr val="5A6472"/>
                </a:solidFill>
                <a:latin typeface="Calibri" pitchFamily="34" charset="0"/>
                <a:cs typeface="Amiri" pitchFamily="2" charset="-78"/>
              </a:rPr>
              <a:t>maw-qi-ʿu bi-nā-ʾin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 بُعْدٍ</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remotely</a:t>
            </a:r>
            <a:endParaRPr lang="en-US" sz="1350" dirty="0"/>
          </a:p>
          <a:p>
            <a:pPr indent="0" marL="0">
              <a:buNone/>
            </a:pPr>
            <a:r>
              <a:rPr lang="en-US" sz="1100" i="1" dirty="0">
                <a:solidFill>
                  <a:srgbClr val="5A6472"/>
                </a:solidFill>
                <a:latin typeface="Calibri" pitchFamily="34" charset="0"/>
                <a:cs typeface="Amiri" pitchFamily="2" charset="-78"/>
              </a:rPr>
              <a:t>ʿan buʿ-din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الهَوَاءِ الطَّلْقِ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outdoors</a:t>
            </a:r>
            <a:endParaRPr lang="en-US" sz="1350" dirty="0"/>
          </a:p>
          <a:p>
            <a:pPr indent="0" marL="0">
              <a:buNone/>
            </a:pPr>
            <a:r>
              <a:rPr lang="en-US" sz="1100" i="1" dirty="0">
                <a:solidFill>
                  <a:srgbClr val="5A6472"/>
                </a:solidFill>
                <a:latin typeface="Calibri" pitchFamily="34" charset="0"/>
                <a:cs typeface="Amiri" pitchFamily="2" charset="-78"/>
              </a:rPr>
              <a:t>fī al-ha-wā-ʾi aṭ-ṭal-qi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connections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PROFESSION GENDER (WEBSITE RULE 1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is … She is … They are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هُوَ · هِيَ · 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a:t>
            </a:r>
            <a:pPr algn="ctr" indent="0" marL="0">
              <a:buNone/>
            </a:pPr>
            <a:r>
              <a:rPr lang="ar-SA" altLang="en-US" sz="1450" b="1" dirty="0">
                <a:solidFill>
                  <a:srgbClr val="FFFFFF"/>
                </a:solidFill>
                <a:latin typeface="Amiri" pitchFamily="2" charset="-78"/>
                <a:ea typeface="Amiri" pitchFamily="2" charset="-78"/>
                <a:cs typeface="Amiri" pitchFamily="2" charset="-78"/>
              </a:rPr>
              <a:t>هُوَ</a:t>
            </a:r>
            <a:endParaRPr lang="en-US" sz="1100" dirty="0"/>
          </a:p>
        </p:txBody>
      </p:sp>
      <p:sp>
        <p:nvSpPr>
          <p:cNvPr id="17" name="Text 14"/>
          <p:cNvSpPr txBox="1"/>
          <p:nvPr/>
        </p:nvSpPr>
        <p:spPr>
          <a:xfrm>
            <a:off x="61356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a:t>
            </a:r>
            <a:pPr algn="ctr" indent="0" marL="0">
              <a:buNone/>
            </a:pPr>
            <a:r>
              <a:rPr lang="ar-SA" altLang="en-US" sz="1450" b="1" dirty="0">
                <a:solidFill>
                  <a:srgbClr val="FFFFFF"/>
                </a:solidFill>
                <a:latin typeface="Amiri" pitchFamily="2" charset="-78"/>
                <a:ea typeface="Amiri" pitchFamily="2" charset="-78"/>
                <a:cs typeface="Amiri" pitchFamily="2" charset="-78"/>
              </a:rPr>
              <a:t>هِيَ</a:t>
            </a:r>
            <a:endParaRPr lang="en-US" sz="1100" dirty="0"/>
          </a:p>
        </p:txBody>
      </p:sp>
      <p:sp>
        <p:nvSpPr>
          <p:cNvPr id="18" name="Text 15"/>
          <p:cNvSpPr txBox="1"/>
          <p:nvPr/>
        </p:nvSpPr>
        <p:spPr>
          <a:xfrm>
            <a:off x="32095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 </a:t>
            </a:r>
            <a:pPr algn="ctr" indent="0" marL="0">
              <a:buNone/>
            </a:pPr>
            <a:r>
              <a:rPr lang="ar-SA" altLang="en-US" sz="1450" b="1" dirty="0">
                <a:solidFill>
                  <a:srgbClr val="FFFFFF"/>
                </a:solidFill>
                <a:latin typeface="Amiri" pitchFamily="2" charset="-78"/>
                <a:ea typeface="Amiri" pitchFamily="2" charset="-78"/>
                <a:cs typeface="Amiri" pitchFamily="2" charset="-78"/>
              </a:rPr>
              <a:t>هُمْ</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79992" y="2267712"/>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endParaRPr lang="ar-SA" sz="2600" dirty="0"/>
          </a:p>
        </p:txBody>
      </p:sp>
      <p:sp>
        <p:nvSpPr>
          <p:cNvPr id="22" name="Text 19"/>
          <p:cNvSpPr txBox="1"/>
          <p:nvPr/>
        </p:nvSpPr>
        <p:spPr>
          <a:xfrm>
            <a:off x="6153912"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23" name="Text 20"/>
          <p:cNvSpPr txBox="1"/>
          <p:nvPr/>
        </p:nvSpPr>
        <p:spPr>
          <a:xfrm>
            <a:off x="3227832"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مُهَنْدِسُ</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24" name="Text 21"/>
          <p:cNvSpPr txBox="1"/>
          <p:nvPr/>
        </p:nvSpPr>
        <p:spPr>
          <a:xfrm>
            <a:off x="56692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engineer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079992" y="300471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endParaRPr lang="ar-SA" sz="2600" dirty="0"/>
          </a:p>
        </p:txBody>
      </p:sp>
      <p:sp>
        <p:nvSpPr>
          <p:cNvPr id="29" name="Text 26"/>
          <p:cNvSpPr txBox="1"/>
          <p:nvPr/>
        </p:nvSpPr>
        <p:spPr>
          <a:xfrm>
            <a:off x="6153912"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0" name="Text 27"/>
          <p:cNvSpPr txBox="1"/>
          <p:nvPr/>
        </p:nvSpPr>
        <p:spPr>
          <a:xfrm>
            <a:off x="3227832"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مُمَرِّضُ</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1" name="Text 28"/>
          <p:cNvSpPr txBox="1"/>
          <p:nvPr/>
        </p:nvSpPr>
        <p:spPr>
          <a:xfrm>
            <a:off x="56692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nurse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079992" y="3741725"/>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endParaRPr lang="ar-SA" sz="2600" dirty="0"/>
          </a:p>
        </p:txBody>
      </p:sp>
      <p:sp>
        <p:nvSpPr>
          <p:cNvPr id="36" name="Text 33"/>
          <p:cNvSpPr txBox="1"/>
          <p:nvPr/>
        </p:nvSpPr>
        <p:spPr>
          <a:xfrm>
            <a:off x="6153912"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7" name="Text 34"/>
          <p:cNvSpPr txBox="1"/>
          <p:nvPr/>
        </p:nvSpPr>
        <p:spPr>
          <a:xfrm>
            <a:off x="3227832"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صَحَفِيُّ</a:t>
            </a:r>
            <a:pPr rtl="1" algn="ctr" indent="0" marL="0">
              <a:buNone/>
            </a:pPr>
            <a:r>
              <a:rPr lang="ar-SA" altLang="en-US" sz="2600" b="1" dirty="0">
                <a:solidFill>
                  <a:srgbClr val="0E7C86"/>
                </a:solidFill>
                <a:latin typeface="Amiri" pitchFamily="2" charset="-78"/>
                <a:ea typeface="Amiri" pitchFamily="2" charset="-78"/>
                <a:cs typeface="Amiri" pitchFamily="2" charset="-78"/>
              </a:rPr>
              <a:t>ونَ</a:t>
            </a:r>
            <a:endParaRPr lang="ar-SA" sz="2600" dirty="0"/>
          </a:p>
        </p:txBody>
      </p:sp>
      <p:sp>
        <p:nvSpPr>
          <p:cNvPr id="38" name="Text 35"/>
          <p:cNvSpPr txBox="1"/>
          <p:nvPr/>
        </p:nvSpPr>
        <p:spPr>
          <a:xfrm>
            <a:off x="56692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journalist</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079992" y="4478731"/>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a:t>
            </a:r>
            <a:endParaRPr lang="ar-SA" sz="2600" dirty="0"/>
          </a:p>
        </p:txBody>
      </p:sp>
      <p:sp>
        <p:nvSpPr>
          <p:cNvPr id="43" name="Text 40"/>
          <p:cNvSpPr txBox="1"/>
          <p:nvPr/>
        </p:nvSpPr>
        <p:spPr>
          <a:xfrm>
            <a:off x="6153912"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مُحَامِيَةٌ</a:t>
            </a:r>
            <a:endParaRPr lang="ar-SA" sz="2600" dirty="0"/>
          </a:p>
        </p:txBody>
      </p:sp>
      <p:sp>
        <p:nvSpPr>
          <p:cNvPr id="44" name="Text 41"/>
          <p:cNvSpPr txBox="1"/>
          <p:nvPr/>
        </p:nvSpPr>
        <p:spPr>
          <a:xfrm>
            <a:off x="3227832"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مُحَامُونَ</a:t>
            </a:r>
            <a:endParaRPr lang="ar-SA" sz="2600" dirty="0"/>
          </a:p>
        </p:txBody>
      </p:sp>
      <p:sp>
        <p:nvSpPr>
          <p:cNvPr id="45" name="Text 42"/>
          <p:cNvSpPr txBox="1"/>
          <p:nvPr/>
        </p:nvSpPr>
        <p:spPr>
          <a:xfrm>
            <a:off x="56692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lawyer (yāʾ returns)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079992" y="521573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طَبِيبٌ</a:t>
            </a:r>
            <a:endParaRPr lang="ar-SA" sz="2600" dirty="0"/>
          </a:p>
        </p:txBody>
      </p:sp>
      <p:sp>
        <p:nvSpPr>
          <p:cNvPr id="48" name="Text 45"/>
          <p:cNvSpPr txBox="1"/>
          <p:nvPr/>
        </p:nvSpPr>
        <p:spPr>
          <a:xfrm>
            <a:off x="6153912"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طَبِيبَ</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9" name="Text 46"/>
          <p:cNvSpPr txBox="1"/>
          <p:nvPr/>
        </p:nvSpPr>
        <p:spPr>
          <a:xfrm>
            <a:off x="3227832"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أَطِبَّاءُ</a:t>
            </a:r>
            <a:endParaRPr lang="ar-SA" sz="2600" dirty="0"/>
          </a:p>
        </p:txBody>
      </p:sp>
      <p:sp>
        <p:nvSpPr>
          <p:cNvPr id="50" name="Text 47"/>
          <p:cNvSpPr txBox="1"/>
          <p:nvPr/>
        </p:nvSpPr>
        <p:spPr>
          <a:xfrm>
            <a:off x="56692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doctor (broken plural)</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“is” in the present: </a:t>
            </a:r>
            <a:pPr algn="l" indent="0" marL="0">
              <a:buNone/>
            </a:pPr>
            <a:r>
              <a:rPr lang="ar-SA" altLang="en-US" sz="1500" b="1" dirty="0">
                <a:solidFill>
                  <a:srgbClr val="1B3B6F"/>
                </a:solidFill>
                <a:latin typeface="Amiri" pitchFamily="2" charset="-78"/>
                <a:ea typeface="Amiri" pitchFamily="2" charset="-78"/>
                <a:cs typeface="Amiri" pitchFamily="2" charset="-78"/>
              </a:rPr>
              <a:t>أَبِي طَبِيبٌ</a:t>
            </a:r>
            <a:pPr algn="l" indent="0" marL="0">
              <a:buNone/>
            </a:pPr>
            <a:r>
              <a:rPr lang="en-US" sz="1150" b="1" dirty="0">
                <a:solidFill>
                  <a:srgbClr val="1B3B6F"/>
                </a:solidFill>
                <a:latin typeface="Calibri" pitchFamily="34" charset="0"/>
                <a:cs typeface="Amiri" pitchFamily="2" charset="-78"/>
              </a:rPr>
              <a:t> = My father is a doctor. Never add yakūnu.</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WORKS AS / WORKS IN (WEBSITE RULES 3–4)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Works AS a … · works IN a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يَعْمَلُ مُحَاسِبًا فِي شَرِكَةٍ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IS · CORE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أُخْتِي صَحَفِيَّةٌ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أُخْتِي صَحَفِيَّةٌ.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sister is a journalist.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“is”, ending -un.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WORKS AS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يَعْمَلُ + -ًا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تَعْمَلُ خَالَتِي مُدَرِّسَةً.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aunt works as a teacher.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yaʿmalu: -an / -atan.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WORKS IN · CORE</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 مَكَانٍ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يَعْمَلُ الطَّبِيبُ فِي المُسْتَشْفَى.</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doctor works in the hospital.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fī before the PLACE only.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fī goes before the workplace, not the job.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يَعْمَلُ أَخِي مُحَاسِبًا فِي شَرِكَةٍ.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يَعْمَلُ أَخِي فِي مُحَاسِبٍ.</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and profession sentences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التَّذْكِيرُ وَالتَّأْنِيثُ فِي أَسْمَاءِ المِهَنِ</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Profession gender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مُهَنْدِسٌ ← مُهَنْدِسَةٌ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مُهَنْدِسٌ.   ·   هِيَ مُهَنْدِسَةٌ.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Equational sentences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المُبْتَدَأُ + الخَبَرُ</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أَبِي طَبِيبٌ.   ·   أُخْتِي صَحَفِيَّةٌ.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Working as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يَعْمَلُ / تَعْمَلُ + مِهْنَةً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يَعْمَلُ عَمِّي مُحَاسِبًا.   ·   تَعْمَلُ خَالَتِي مُدَرِّسَةً.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Workplace with </a:t>
            </a:r>
            <a:pPr algn="l" indent="0" marL="0">
              <a:buNone/>
            </a:pPr>
            <a:r>
              <a:rPr lang="ar-SA" altLang="en-US" sz="1650" b="1" dirty="0">
                <a:solidFill>
                  <a:srgbClr val="1B3B6F"/>
                </a:solidFill>
                <a:latin typeface="Amiri" pitchFamily="2" charset="-78"/>
                <a:ea typeface="Amiri" pitchFamily="2" charset="-78"/>
                <a:cs typeface="Amiri" pitchFamily="2" charset="-78"/>
              </a:rPr>
              <a:t>في</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يَعْمَلُ فِي + مَكَانٍ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يَعْمَلُ الطَّبِيبُ فِي المُسْتَشْفَى.   ·   تَعْمَلُ المُحَامِيَةُ فِي المَحْكَمَةِ.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مُبَرْمِجٌ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بَرْمَجَةٌ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طَبِيبًا</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يَعْمَلُ عَمِّي ___ شَرِكَةٍ.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female pilot.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طَيَّارَةٌ.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طَيَّارٌ.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طَيَّارَةٌ.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مُبَرْمِجٌ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مُبَرْمَجٌ</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بَرْمَجَةٌ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مُبَرْمِجَةٌ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profession is </a:t>
            </a:r>
            <a:pPr algn="l" indent="0" marL="0">
              <a:buNone/>
            </a:pPr>
            <a:r>
              <a:rPr lang="ar-SA" altLang="en-US" sz="1350" dirty="0">
                <a:solidFill>
                  <a:srgbClr val="8A6D1E"/>
                </a:solidFill>
                <a:latin typeface="Amiri" pitchFamily="2" charset="-78"/>
                <a:ea typeface="Amiri" pitchFamily="2" charset="-78"/>
                <a:cs typeface="Amiri" pitchFamily="2" charset="-78"/>
              </a:rPr>
              <a:t>مُبَرْمِجَةٌ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طَبِيبَةٌ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طَبِيبًا</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طَبِيبٌ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takes </a:t>
            </a:r>
            <a:pPr algn="l" indent="0" marL="0">
              <a:buNone/>
            </a:pPr>
            <a:r>
              <a:rPr lang="ar-SA" altLang="en-US" sz="1350" dirty="0">
                <a:solidFill>
                  <a:srgbClr val="8A6D1E"/>
                </a:solidFill>
                <a:latin typeface="Amiri" pitchFamily="2" charset="-78"/>
                <a:ea typeface="Amiri" pitchFamily="2" charset="-78"/>
                <a:cs typeface="Amiri" pitchFamily="2" charset="-78"/>
              </a:rPr>
              <a:t>طَبِيبَةٌ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يَعْمَلُ عَمِّي ___ شَرِكَةٍ.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with a workplace.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female pilot.</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طَيَّارَةٌ.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طَيَّارٌ.</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طَيَّارَةٌ.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طَيَّارَةٌ</a:t>
            </a:r>
            <a:pPr algn="l" indent="0" marL="0">
              <a:buNone/>
            </a:pPr>
            <a:r>
              <a:rPr lang="en-US" sz="1050" i="1" dirty="0">
                <a:solidFill>
                  <a:srgbClr val="8A6D1E"/>
                </a:solidFill>
                <a:latin typeface="Calibri" pitchFamily="34" charset="0"/>
                <a:cs typeface="Amiri" pitchFamily="2" charset="-78"/>
              </a:rPr>
              <a:t> is the feminine profession.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describe my family’s jobs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أَبِي </a:t>
            </a:r>
            <a:pPr rtl="1" algn="ctr" indent="0" marL="0">
              <a:buNone/>
            </a:pPr>
            <a:r>
              <a:rPr lang="ar-SA" altLang="en-US" sz="2800" b="1" dirty="0">
                <a:solidFill>
                  <a:srgbClr val="1D5FBF"/>
                </a:solidFill>
                <a:latin typeface="Amiri" pitchFamily="2" charset="-78"/>
                <a:ea typeface="Amiri" pitchFamily="2" charset="-78"/>
                <a:cs typeface="Amiri" pitchFamily="2" charset="-78"/>
              </a:rPr>
              <a:t>مُهَنْدِسٌ</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“is”.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Works 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وَيَعْمَلُ </a:t>
            </a:r>
            <a:pPr rtl="1" algn="ctr" indent="0" marL="0">
              <a:buNone/>
            </a:pPr>
            <a:r>
              <a:rPr lang="ar-SA" altLang="en-US" sz="2550" b="1" dirty="0">
                <a:solidFill>
                  <a:srgbClr val="0E7C86"/>
                </a:solidFill>
                <a:latin typeface="Amiri" pitchFamily="2" charset="-78"/>
                <a:ea typeface="Amiri" pitchFamily="2" charset="-78"/>
                <a:cs typeface="Amiri" pitchFamily="2" charset="-78"/>
              </a:rPr>
              <a:t>فِي</a:t>
            </a:r>
            <a:pPr rtl="1" algn="ctr" indent="0" marL="0">
              <a:buNone/>
            </a:pPr>
            <a:r>
              <a:rPr lang="ar-SA" altLang="en-US" sz="2550" b="1" dirty="0">
                <a:solidFill>
                  <a:srgbClr val="1B3B6F"/>
                </a:solidFill>
                <a:latin typeface="Amiri" pitchFamily="2" charset="-78"/>
                <a:ea typeface="Amiri" pitchFamily="2" charset="-78"/>
                <a:cs typeface="Amiri" pitchFamily="2" charset="-78"/>
              </a:rPr>
              <a:t> شَرِكَةِ بِنَاءٍ.</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 + the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Works as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تَعْمَلُ أُمِّي </a:t>
            </a:r>
            <a:pPr rtl="1" algn="ctr" indent="0" marL="0">
              <a:buNone/>
            </a:pPr>
            <a:r>
              <a:rPr lang="ar-SA" altLang="en-US" sz="2800" b="1" dirty="0">
                <a:solidFill>
                  <a:srgbClr val="D6336C"/>
                </a:solidFill>
                <a:latin typeface="Amiri" pitchFamily="2" charset="-78"/>
                <a:ea typeface="Amiri" pitchFamily="2" charset="-78"/>
                <a:cs typeface="Amiri" pitchFamily="2" charset="-78"/>
              </a:rPr>
              <a:t>مُحَاسِبَةً</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Woman → -a; after taʿmalu → -tan.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أُرِيدُ أَنْ أُصْبِحَ صَحَفِيًّا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لِأَنَّنِي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أُحِبُّ الكِتَابَةَ.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Preference + proof.</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PLACE / REASON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عَائِلَتِي مِهَنٌ مُتَنَوِّعَةٌ. وَالِدِي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مُهَنْدِسٌ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وَيَعْمَلُ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شَرِكَةِ بِنَاءٍ، بَيْنَمَا وَالِدَتِي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مُدَرِّسَةٌ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مَدْرَسَةٍ قَرِيبَةٍ. أُخْتِي الكُبْرَى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مُحَاسِبَةٌ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وَهِيَ تُحِبُّ عَمَلَهَا لِأَنَّهُ يَحْتَاجُ إِلَى الدِّقَّةِ. أَمَّا أَنَا فَأُرِيدُ أَنْ أُصْبِحَ صَحَفِيًّا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لِأَنَّنِي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أَسْتَمْتِعُ بِالكِتَابَةِ وَمُقَابَلَةِ النَّاسِ.</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There are varied professions in my family. My father is an engineer and works in a building company, whereas my mother is a teacher in a nearby school. My older sister is an accountant, and she loves her work because it needs precision. As for me, I want to become a journalist because I enjoy writing and meeting people.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مُهَنْدِسٌ وَيَعْمَلُ فِي شَرِكَةٍ.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an engineer and works in a company.</a:t>
            </a:r>
            <a:endParaRPr lang="en-US" sz="1250" dirty="0"/>
          </a:p>
          <a:p>
            <a:pPr indent="0" marL="0">
              <a:buNone/>
            </a:pPr>
            <a:r>
              <a:rPr lang="en-US" sz="1050" i="1" dirty="0">
                <a:solidFill>
                  <a:srgbClr val="8A6D1E"/>
                </a:solidFill>
                <a:latin typeface="Calibri" pitchFamily="34" charset="0"/>
                <a:cs typeface="Amiri" pitchFamily="2" charset="-78"/>
              </a:rPr>
              <a:t>Job, then fī + workplace.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مُمَرِّضَةٌ وَتَعْمَلُ فِي مُسْتَشْفًى.</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a nurse and works in a hospital.</a:t>
            </a:r>
            <a:endParaRPr lang="en-US" sz="1250" dirty="0"/>
          </a:p>
          <a:p>
            <a:pPr indent="0" marL="0">
              <a:buNone/>
            </a:pPr>
            <a:r>
              <a:rPr lang="en-US" sz="1050" i="1" dirty="0">
                <a:solidFill>
                  <a:srgbClr val="8A6D1E"/>
                </a:solidFill>
                <a:latin typeface="Calibri" pitchFamily="34" charset="0"/>
                <a:cs typeface="Amiri" pitchFamily="2" charset="-78"/>
              </a:rPr>
              <a:t>Feminine job and ta-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تَعْمَلُ خَالَتِي 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aunt works as a teacher.</a:t>
            </a:r>
            <a:endParaRPr lang="en-US" sz="1250" dirty="0"/>
          </a:p>
          <a:p>
            <a:pPr indent="0" marL="0">
              <a:buNone/>
            </a:pPr>
            <a:r>
              <a:rPr lang="en-US" sz="1050" i="1" dirty="0">
                <a:solidFill>
                  <a:srgbClr val="8A6D1E"/>
                </a:solidFill>
                <a:latin typeface="Calibri" pitchFamily="34" charset="0"/>
                <a:cs typeface="Amiri" pitchFamily="2" charset="-78"/>
              </a:rPr>
              <a:t>After taʿmalu: -atan.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أُفَضِّلُ مِهْنَةَ الطِّبِّ لِأَنَّهَا تُسَاعِدُ النَّاسَ.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medicine because it helps people.</a:t>
            </a:r>
            <a:endParaRPr lang="en-US" sz="1250" dirty="0"/>
          </a:p>
          <a:p>
            <a:pPr indent="0" marL="0">
              <a:buNone/>
            </a:pPr>
            <a:r>
              <a:rPr lang="en-US" sz="1050" i="1" dirty="0">
                <a:solidFill>
                  <a:srgbClr val="8A6D1E"/>
                </a:solidFill>
                <a:latin typeface="Calibri" pitchFamily="34" charset="0"/>
                <a:cs typeface="Amiri" pitchFamily="2" charset="-78"/>
              </a:rPr>
              <a:t>Preference + reason.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JOBS AND PROFESSIONS — VOCABULARY AND GENDER”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Who works where? Match the picture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المِهَنُ وَأَمَاكِنُ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 hospital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 · computer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cook · restaurant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مُبَرْمِجَةٌ وَتَعْمَلُ عَلَى الحَاسُوبِ.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طَبَّاخٌ وَيَعْمَلُ فِي مَطْعَمٍ.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طَبِيبَةٌ وَتَعْمَلُ فِي مُسْتَشْفًى.</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المِهَنُ وَأَمَاكِنُ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 hospital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طَبِيبَةٌ وَتَعْمَلُ فِي مُسْتَشْفًى.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doctor and works in a hospital.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programmer · computer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مُبَرْمِجَةٌ وَتَعْمَلُ عَلَى الحَاسُوبِ.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programmer and works on the computer.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cook · restaurant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طَبَّاخٌ وَيَعْمَلُ فِي مَطْعَمٍ.</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a cook and works in a restaurant.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Profession or workplace?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مُحَاسِبَةٌ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مَحْكَمَةٌ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صَحَفِيٌّ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27" name="Shape 24"/>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Profession</a:t>
            </a:r>
            <a:endParaRPr lang="en-US" sz="950" dirty="0"/>
          </a:p>
        </p:txBody>
      </p:sp>
      <p:sp>
        <p:nvSpPr>
          <p:cNvPr id="30" name="Shape 27"/>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Workplace</a:t>
            </a:r>
            <a:endParaRPr lang="en-US" sz="9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Profession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مُهَنْدِسٌ</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مُحَاسِبَةٌ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صَحَفِيٌّ</a:t>
            </a:r>
            <a:endParaRPr lang="ar-SA" sz="1800" dirty="0"/>
          </a:p>
        </p:txBody>
      </p:sp>
      <p:sp>
        <p:nvSpPr>
          <p:cNvPr id="24" name="Shape 21"/>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5" name="Shape 22"/>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Workplace</a:t>
            </a:r>
            <a:endParaRPr lang="en-US" sz="950" dirty="0"/>
          </a:p>
        </p:txBody>
      </p:sp>
      <p:sp>
        <p:nvSpPr>
          <p:cNvPr id="27" name="Shape 24"/>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29" name="Shape 26"/>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مَحْكَمَةٌ</a:t>
            </a:r>
            <a:endParaRPr lang="ar-SA" sz="1800" dirty="0"/>
          </a:p>
        </p:txBody>
      </p:sp>
      <p:sp>
        <p:nvSpPr>
          <p:cNvPr id="31" name="Shape 28"/>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مَطَارٌ</a:t>
            </a:r>
            <a:endParaRPr lang="ar-SA" sz="18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هُوَ مُهَنْدِسٌ.</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يَكُونُ مُهَنْدِسٌ.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مُهَنْدِسٌ.</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nurse work?</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مَحْكَمَةٍ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مُسْتَشْفًى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مَطَارٍ</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profession and workplace?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شَرِكَةٌ وَمُحَاسِبٌ.</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مُحَاسِبٌ وَيَعْمَلُ فِي شَرِكَةٍ.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 فِي مُحَاسِبٍ.</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 هُوَ مُهَنْدِسٌ.</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أَبِي يَكُونُ مُهَنْدِسٌ.</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أَبِي مُهَنْدِسٌ.</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equational sentence does not need “is”.</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nurse work?</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مَحْكَمَةٍ</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مُسْتَشْفًى</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مَطَارٍ</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nurse normally works in a hospital.</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profession and workplace?</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شَرِكَةٌ وَمُحَاسِبٌ.</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هُوَ مُحَاسِبٌ وَيَعْمَلُ فِي شَرِكَةٍ.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يَعْمَلُ فِي مُحَاسِبٍ.</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combines profession and workplace accurately.</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مُهَنْدِسٌ.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يَكُونُ طَبِيبٌ.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we need “is”?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يَعْمَلُ أَخِي فِي مُحَاسِبٍ.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fī before the job or the place?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مُهَنْدِسٌ.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مُهَنْدِسَةٌ.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profession agrees with a feminine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يَكُونُ طَبِيبٌ.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طَبِيبٌ.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present-tense “is” in Arabic.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يَعْمَلُ أَخِي فِي مُحَاسِبٍ.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يَعْمَلُ أَخِي مُحَاسِبًا فِي شَرِكَةٍ.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Job after yaʿmalu (-an); fī + the place.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which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father’s job?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pilot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work?</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airport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company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mother’s job?</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nurse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want to become?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pilot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sister training to become?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lawyer</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nurse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mother’s work described?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precise but tiring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easy and short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dangerous but exciting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مُهَنْدِسٌ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مُحَاسِبَةٌ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مُمَرِّضَةً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لَيْلَى. أَبِي مُهَنْدِسٌ وَيَعْمَلُ فِي شَرِكَةِ بِنَاءٍ،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Layla. My father is an engineer and works in a building company,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وَأُمِّي مُحَاسِبَةٌ فِي مَكْتَبٍ كَبِيرٍ.</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my mother is an accountant in a big office.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أَخِي الأَكْبَرُ يُرِيدُ أَنْ يُصْبِحَ طَيَّارًا،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older brother wants to become a pilot,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أُخْتِي فَهِيَ تَتَدَرَّبُ لِتُصْبِحَ مُمَرِّضَةً.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sister, she is training to become a nurse.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عَمَلُ أُمِّي دَقِيقٌ وَلٰكِنَّهُ مُجْهِدٌ.</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 my mother’s work is precise but tiring.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father’s job?</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engineer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accountant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pilot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is an engineer.</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work?</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airport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building company</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works for a building company.</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mother’s job?</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nurse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accountant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an accountant.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want to become?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pilot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doctor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journalist</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wants to become a pilot.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sister training to become?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lawyer</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nurse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training to become a nurse.</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mother’s work described?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precise but tiring</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easy and short</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dangerous but exciting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دَقِيقٌ وَلٰكِنَّهُ مُجْهِدٌ</a:t>
            </a:r>
            <a:pPr algn="l" indent="0" marL="0">
              <a:buNone/>
            </a:pPr>
            <a:r>
              <a:rPr lang="en-US" sz="1050" i="1" dirty="0">
                <a:solidFill>
                  <a:srgbClr val="8A6D1E"/>
                </a:solidFill>
                <a:latin typeface="Calibri" pitchFamily="34" charset="0"/>
                <a:cs typeface="Amiri" pitchFamily="2" charset="-78"/>
              </a:rPr>
              <a:t> means precise but tiring.</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مُهَنْدِسٌ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مُحَاسِبَةٌ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مُمَرِّضَةً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Describe professions and workplaces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مِهْنَةُ أَحَدِ أَفْرَادِ عَائِلَتِكَ؟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يَعْمَلُ؟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تُفَضِّلُهَا؟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لَا تُنَاسِبُكَ؟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أَبِي / أُمِّي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يَعْمَلُ / تَعْمَلُ فِي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مِهْنَةَ ___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تُنَاسِبُنِي مِهْنَةُ ___ لِأَنَّنِي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مِهْنَةُ وَالِدَتِكَ؟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mother’s job?</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وَالِدَتِي مُدَرِّسَةٌ وَتَعْمَلُ فِي مَدْرَسَةٍ ثَانَوِيَّةٍ.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mother is a teacher and works in a secondary school.</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accurate sentences with the frames: two family members, their jobs and workplaces.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professions, m. and f. forms, workplaces with fī, and a justified preference.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add a contrast between two jobs and one disadvantage of your choice.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عَمِّي ______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uncle works as a … (-an) in a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بَيْنَمَا خَالَتِي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my aunt is a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أُصْبِحَ ______ لِأَنَّنِي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become a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أَنَّهَا مُجْهِدَةٌ،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it is tiring,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 أُمِّي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 mother is a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works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a … (f.: -atun)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تَعْمَلُ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works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طَبِيبٌ / طَبِيبَةٌ  ·  مُهَنْدِسٌ  ·  مُدَرِّسَةٌ  ·  مُحَاسِبٌ  ·  صَحَفِيَّةٌ  ·  مُبَرْمِجٌ  ·  مُسْتَشْفًى  ·  شَرِكَةٌ  ·  مَكْتَبٌ  ·  لِأَنَّ  ·  بَيْنَمَا  ·  إِضَافَةً إِلَى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professions in your family and a career you might choose.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at least four professions.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masculine and feminine profession forms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State workplaces with </a:t>
            </a:r>
            <a:pPr algn="l" indent="0" marL="0">
              <a:buNone/>
            </a:pPr>
            <a:r>
              <a:rPr lang="ar-SA" altLang="en-US" sz="1550" dirty="0">
                <a:solidFill>
                  <a:srgbClr val="1F2A37"/>
                </a:solidFill>
                <a:latin typeface="Amiri" pitchFamily="2" charset="-78"/>
                <a:ea typeface="Amiri" pitchFamily="2" charset="-78"/>
                <a:cs typeface="Amiri" pitchFamily="2" charset="-78"/>
              </a:rPr>
              <a:t>في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justified preference and one disadvantage.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جَدِّي طَبِيبٌ مُتَقَاعِدٌ</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grandfather is a retired doctor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عَنْ بُعْدٍ</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works remotely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عَمَلُهُ مُرِنٌ، لٰكِنَّهُ يَحْتَاجُ إِلَى تَرْكِيزٍ</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work is flexible but needs concentration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أَمِيلُ إِلَى الصَّحَافَةِ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drawn to journalism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مِهْنَةٌ مُثِيرَةٌ وَمُهِمَّةٌ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exciting and important profession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مِهَنٌ مُتَنَوِّعَةٌ. وَالِدِي مُهَنْدِسٌ وَيَعْمَلُ فِي شَرِكَةِ بِنَاءٍ، بَيْنَمَا وَالِدَتِي مُدَرِّسَةٌ فِي مَدْرَسَةٍ قَرِيبَةٍ. أُخْتِي الكُبْرَى مُحَاسِبَةٌ، وَهِيَ تُحِبُّ عَمَلَهَا لِأَنَّهُ يَحْتَاجُ إِلَى الدِّقَّةِ. أَمَّا أَنَا فَأُرِيدُ أَنْ أُصْبِحَ صَحَفِيًّا لِأَنَّنِي أَسْتَمْتِعُ بِالكِتَابَةِ وَمُقَابَلَةِ النَّاسِ. عَلَى الرَّغْمِ مِنْ أَنَّ الصَّحَافَةَ قَدْ تَكُونُ مُجْهِدَةً، فَإِنَّهَا مِهْنَةٌ مُثِيرَةٌ وَمُهِمَّةٌ.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varied professions in my family. My father is an engineer and works in a building company, whereas my mother is a teacher in a nearby school. My older sister is an accountant; she loves her work because it needs precision. As for me, I want to become a journalist because I enjoy writing and meeting people. Although journalism can be tiring, it is an exciting and important profession.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professions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feminine profession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workplace with fī</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justified preference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Women’s jobs end in -atun.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“is” (yakūnu) in my sentences.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fī comes before the workplace only.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preference has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two jobs and gave a disadvantage.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دِرَاسَةٌ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profession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فِي مُبَرْمِجٍ.</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مُبَرْمِجٌ.</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يَكُونُ مُبَرْمِجٌ.</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المَحْكَمَةِ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المَطْعَمِ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المَطَارِ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of </a:t>
            </a:r>
            <a:pPr algn="l" indent="0" marL="0">
              <a:buNone/>
            </a:pPr>
            <a:r>
              <a:rPr lang="ar-SA" altLang="en-US" sz="1650" b="1" dirty="0">
                <a:solidFill>
                  <a:srgbClr val="1B3B6F"/>
                </a:solidFill>
                <a:latin typeface="Amiri" pitchFamily="2" charset="-78"/>
                <a:ea typeface="Amiri" pitchFamily="2" charset="-78"/>
                <a:cs typeface="Amiri" pitchFamily="2" charset="-78"/>
              </a:rPr>
              <a:t>مُدَرِّسٌ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مَدْرَسَةٌ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دِرَاسَةٌ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the female teacher.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complete profession sentence.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 فِي مُبَرْمِجٍ.</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أَخِي مُبَرْمِجٌ.</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أَخِي يَكُونُ مُبَرْمِجٌ.</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the accurate equational sentence.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 lawyer work?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المَحْكَمَةِ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المَطْعَمِ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المَطَارِ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lawyer works in a court.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of professions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يَعْمَلُ أَفْرَادُ عَائِلَتِي فِي مِهَنٍ مُخْتَلِفَةٍ. جَدِّي طَبِيبٌ مُتَقَاعِدٌ، وَخَالَتِي مُدَرِّسَةُ عُلُومٍ فِي مَدْرَسَةٍ ثَانَوِيَّةٍ. أَمَّا ابْنُ خَالِي فَهُوَ مُبَرْمِجٌ يَعْمَلُ عَنْ بُعْدٍ لِشَرِكَةٍ دَوْلِيَّةٍ. يَقُولُ إِنَّ عَمَلَهُ مُرِنٌ، لٰكِنَّهُ يَحْتَاجُ إِلَى تَرْكِيزٍ طَوِيلٍ. أَنَا أَمِيلُ إِلَى الصَّحَافَةِ لِأَنَّنِي أُحِبُّ الكِتَابَةَ وَمُقَابَلَةَ النَّاسِ.</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أَفْرَادُ عَائِلَتِي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 members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مِهَنٍ مُخْتَلِفَةٍ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different professions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مُتَقَاعِدٌ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retired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مُدَرِّسَةُ عُلُومٍ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science teacher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ثَانَوِيَّةٍ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secondary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ابْنُ خَالِي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cousin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شَرِكَةٍ دَوْلِيَّةٍ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international company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flexible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تَرْكِيزٍ طَوِيلٍ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 concentration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أَمِيلُ إِلَى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am inclined towards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retired?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grandfather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cousin</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aunt teach?</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cousin work?</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remotely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night</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he mention?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salary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flexibility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hours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his work require?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concentration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strength</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writer interested in journalism?</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alone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a uniform</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and meeting people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retired?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aunt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grandfather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cousin</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grandfather is a retired doctor.</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aunt teach?</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a science teacher.</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cousin work?</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remotely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outdoors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night</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works remotely.</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he mention?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high salary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flexibility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hours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his work is flexible.</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his work require?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long concentration</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physical strength</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requires prolonged concentration.</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writer interested in journalism?</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alone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a uniform</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writing and meeting people</a:t>
            </a:r>
            <a:endParaRPr lang="en-US" sz="12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likes writing and meeting people.</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profile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يُعَالِجُ المَرْضَى فِي المُسْتَشْفَى.</a:t>
            </a:r>
            <a:endParaRPr lang="ar-SA"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طَبِيبٌ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مُحَاسِبٌ</a:t>
            </a:r>
            <a:endParaRPr lang="ar-SA" sz="2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تَكْتُبُ الأَخْبَارَ وَتُجْرِي المُقَابَلَاتِ.</a:t>
            </a:r>
            <a:endParaRPr lang="ar-SA" sz="125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صَحَفِيَّةٌ</a:t>
            </a:r>
            <a:endParaRPr lang="ar-SA" sz="20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مُهَنْدِسَةٌ</a:t>
            </a:r>
            <a:endParaRPr lang="ar-SA" sz="2050" dirty="0"/>
          </a:p>
        </p:txBody>
      </p:sp>
      <p:sp>
        <p:nvSpPr>
          <p:cNvPr id="37" name="Shape 3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23504" y="1947672"/>
            <a:ext cx="310896" cy="310896"/>
          </a:xfrm>
          <a:prstGeom prst="ellipse">
            <a:avLst/>
          </a:prstGeom>
          <a:solidFill>
            <a:srgbClr val="1B3B6F"/>
          </a:solidFill>
          <a:ln w="12700">
            <a:solidFill>
              <a:srgbClr val="1B3B6F"/>
            </a:solidFill>
            <a:prstDash val="solid"/>
          </a:ln>
        </p:spPr>
      </p:sp>
      <p:sp>
        <p:nvSpPr>
          <p:cNvPr id="39" name="Text 3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0" name="Text 3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“My aunt is a lawyer.”</a:t>
            </a:r>
            <a:endParaRPr lang="en-US" sz="1250" dirty="0"/>
          </a:p>
        </p:txBody>
      </p:sp>
      <p:sp>
        <p:nvSpPr>
          <p:cNvPr id="41" name="Shape 38"/>
          <p:cNvSpPr/>
          <p:nvPr/>
        </p:nvSpPr>
        <p:spPr>
          <a:xfrm>
            <a:off x="8278368" y="25328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3" name="Text 4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خَالَتِي مُحَامٍ.</a:t>
            </a:r>
            <a:endParaRPr lang="ar-SA" sz="2050" dirty="0"/>
          </a:p>
        </p:txBody>
      </p:sp>
      <p:sp>
        <p:nvSpPr>
          <p:cNvPr id="44" name="Shape 41"/>
          <p:cNvSpPr/>
          <p:nvPr/>
        </p:nvSpPr>
        <p:spPr>
          <a:xfrm>
            <a:off x="8278368" y="2990088"/>
            <a:ext cx="256032" cy="256032"/>
          </a:xfrm>
          <a:prstGeom prst="ellipse">
            <a:avLst/>
          </a:prstGeom>
          <a:solidFill>
            <a:srgbClr val="F4F1EA"/>
          </a:solidFill>
          <a:ln w="12700">
            <a:solidFill>
              <a:srgbClr val="F4F1EA"/>
            </a:solidFill>
            <a:prstDash val="solid"/>
          </a:ln>
        </p:spPr>
      </p:sp>
      <p:sp>
        <p:nvSpPr>
          <p:cNvPr id="45" name="Text 4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6" name="Text 4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خَالَتِي مُحَامِيَةٌ.</a:t>
            </a:r>
            <a:endParaRPr lang="ar-SA" sz="2050" dirty="0"/>
          </a:p>
        </p:txBody>
      </p:sp>
      <p:sp>
        <p:nvSpPr>
          <p:cNvPr id="47" name="Shape 4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0" name="Text 47"/>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يَعْمَلُ ___ فِي المَطَارِ وَيَقُودُ الطَّائِرَةَ.</a:t>
            </a:r>
            <a:endParaRPr lang="ar-SA" sz="1250" dirty="0"/>
          </a:p>
        </p:txBody>
      </p:sp>
      <p:sp>
        <p:nvSpPr>
          <p:cNvPr id="51" name="Shape 48"/>
          <p:cNvSpPr/>
          <p:nvPr/>
        </p:nvSpPr>
        <p:spPr>
          <a:xfrm>
            <a:off x="640080" y="48737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الطَّبَّاخُ</a:t>
            </a:r>
            <a:endParaRPr lang="ar-SA" sz="2050" dirty="0"/>
          </a:p>
        </p:txBody>
      </p:sp>
      <p:sp>
        <p:nvSpPr>
          <p:cNvPr id="54" name="Shape 51"/>
          <p:cNvSpPr/>
          <p:nvPr/>
        </p:nvSpPr>
        <p:spPr>
          <a:xfrm>
            <a:off x="640080" y="53309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الطَّيَّارُ</a:t>
            </a:r>
            <a:endParaRPr lang="ar-SA" sz="2050" dirty="0"/>
          </a:p>
        </p:txBody>
      </p:sp>
      <p:sp>
        <p:nvSpPr>
          <p:cNvPr id="57" name="Shape 5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404360"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0" name="Text 5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61" name="Text 5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تَعْمَلُ أُخْتِي ___ .</a:t>
            </a:r>
            <a:endParaRPr lang="ar-SA" sz="1500" dirty="0"/>
          </a:p>
        </p:txBody>
      </p:sp>
      <p:sp>
        <p:nvSpPr>
          <p:cNvPr id="62" name="Shape 59"/>
          <p:cNvSpPr/>
          <p:nvPr/>
        </p:nvSpPr>
        <p:spPr>
          <a:xfrm>
            <a:off x="4459224"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a:t>
            </a:r>
            <a:endParaRPr lang="ar-SA" sz="2050" dirty="0"/>
          </a:p>
        </p:txBody>
      </p:sp>
      <p:sp>
        <p:nvSpPr>
          <p:cNvPr id="65" name="Shape 62"/>
          <p:cNvSpPr/>
          <p:nvPr/>
        </p:nvSpPr>
        <p:spPr>
          <a:xfrm>
            <a:off x="4459224"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مُبَرْمِجَةً</a:t>
            </a:r>
            <a:endParaRPr lang="ar-SA" sz="2050" dirty="0"/>
          </a:p>
        </p:txBody>
      </p:sp>
      <p:sp>
        <p:nvSpPr>
          <p:cNvPr id="68" name="Shape 65"/>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8223504"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71" name="Text 68"/>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accurate?</a:t>
            </a:r>
            <a:endParaRPr lang="en-US" sz="1250" dirty="0"/>
          </a:p>
        </p:txBody>
      </p:sp>
      <p:sp>
        <p:nvSpPr>
          <p:cNvPr id="72" name="Shape 69"/>
          <p:cNvSpPr/>
          <p:nvPr/>
        </p:nvSpPr>
        <p:spPr>
          <a:xfrm>
            <a:off x="8278368"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 فِي شَرِكَةٍ.</a:t>
            </a:r>
            <a:endParaRPr lang="ar-SA" sz="2050" dirty="0"/>
          </a:p>
        </p:txBody>
      </p:sp>
      <p:sp>
        <p:nvSpPr>
          <p:cNvPr id="75" name="Shape 72"/>
          <p:cNvSpPr/>
          <p:nvPr/>
        </p:nvSpPr>
        <p:spPr>
          <a:xfrm>
            <a:off x="8278368"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مُحَاسِبَةٌ فِي شَرِكَةٍ.</a:t>
            </a:r>
            <a:endParaRPr lang="ar-SA" sz="2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يُعَالِجُ المَرْضَى فِي المُسْتَشْفَى.</a:t>
            </a:r>
            <a:endParaRPr lang="ar-SA" sz="1250" dirty="0"/>
          </a:p>
        </p:txBody>
      </p:sp>
      <p:sp>
        <p:nvSpPr>
          <p:cNvPr id="20" name="Shape 18"/>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9"/>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طَبِيبٌ</a:t>
            </a:r>
            <a:endParaRPr lang="ar-SA" sz="2050" dirty="0"/>
          </a:p>
        </p:txBody>
      </p:sp>
      <p:sp>
        <p:nvSpPr>
          <p:cNvPr id="24" name="Shape 22"/>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مُحَاسِبٌ</a:t>
            </a:r>
            <a:endParaRPr lang="ar-SA" sz="2050" dirty="0"/>
          </a:p>
        </p:txBody>
      </p:sp>
      <p:sp>
        <p:nvSpPr>
          <p:cNvPr id="27" name="Text 25"/>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doctor treats patients in a hospital.</a:t>
            </a:r>
            <a:endParaRPr lang="en-US" sz="1050" dirty="0"/>
          </a:p>
        </p:txBody>
      </p:sp>
      <p:sp>
        <p:nvSpPr>
          <p:cNvPr id="28"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9"/>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تَكْتُبُ الأَخْبَارَ وَتُجْرِي المُقَابَلَاتِ.</a:t>
            </a:r>
            <a:endParaRPr lang="ar-SA" sz="1250" dirty="0"/>
          </a:p>
        </p:txBody>
      </p:sp>
      <p:sp>
        <p:nvSpPr>
          <p:cNvPr id="32" name="Shape 30"/>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3" name="Shape 31"/>
          <p:cNvSpPr/>
          <p:nvPr/>
        </p:nvSpPr>
        <p:spPr>
          <a:xfrm>
            <a:off x="4459224" y="2532888"/>
            <a:ext cx="256032" cy="256032"/>
          </a:xfrm>
          <a:prstGeom prst="ellipse">
            <a:avLst/>
          </a:prstGeom>
          <a:solidFill>
            <a:srgbClr val="2E8B57"/>
          </a:solidFill>
          <a:ln w="12700">
            <a:solidFill>
              <a:srgbClr val="2E8B57"/>
            </a:solidFill>
            <a:prstDash val="solid"/>
          </a:ln>
        </p:spPr>
      </p:sp>
      <p:sp>
        <p:nvSpPr>
          <p:cNvPr id="34"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5"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صَحَفِيَّةٌ</a:t>
            </a:r>
            <a:endParaRPr lang="ar-SA" sz="2050" dirty="0"/>
          </a:p>
        </p:txBody>
      </p:sp>
      <p:sp>
        <p:nvSpPr>
          <p:cNvPr id="36" name="Shape 34"/>
          <p:cNvSpPr/>
          <p:nvPr/>
        </p:nvSpPr>
        <p:spPr>
          <a:xfrm>
            <a:off x="4459224" y="2990088"/>
            <a:ext cx="256032" cy="256032"/>
          </a:xfrm>
          <a:prstGeom prst="ellipse">
            <a:avLst/>
          </a:prstGeom>
          <a:solidFill>
            <a:srgbClr val="C9CED6"/>
          </a:solidFill>
          <a:ln w="12700">
            <a:solidFill>
              <a:srgbClr val="C9CED6"/>
            </a:solidFill>
            <a:prstDash val="solid"/>
          </a:ln>
        </p:spPr>
      </p:sp>
      <p:sp>
        <p:nvSpPr>
          <p:cNvPr id="37"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مُهَنْدِسَةٌ</a:t>
            </a:r>
            <a:endParaRPr lang="ar-SA" sz="2050" dirty="0"/>
          </a:p>
        </p:txBody>
      </p:sp>
      <p:sp>
        <p:nvSpPr>
          <p:cNvPr id="39" name="Text 37"/>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journalist writes news and conducts interviews.</a:t>
            </a:r>
            <a:endParaRPr lang="en-US" sz="1050" dirty="0"/>
          </a:p>
        </p:txBody>
      </p:sp>
      <p:sp>
        <p:nvSpPr>
          <p:cNvPr id="40"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2"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3"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“My aunt is a lawyer.”</a:t>
            </a:r>
            <a:endParaRPr lang="en-US" sz="1250" dirty="0"/>
          </a:p>
        </p:txBody>
      </p:sp>
      <p:sp>
        <p:nvSpPr>
          <p:cNvPr id="44" name="Shape 42"/>
          <p:cNvSpPr/>
          <p:nvPr/>
        </p:nvSpPr>
        <p:spPr>
          <a:xfrm>
            <a:off x="8278368" y="253288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6"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خَالَتِي مُحَامٍ.</a:t>
            </a:r>
            <a:endParaRPr lang="ar-SA" sz="2050" dirty="0"/>
          </a:p>
        </p:txBody>
      </p:sp>
      <p:sp>
        <p:nvSpPr>
          <p:cNvPr id="47" name="Shape 45"/>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48" name="Shape 46"/>
          <p:cNvSpPr/>
          <p:nvPr/>
        </p:nvSpPr>
        <p:spPr>
          <a:xfrm>
            <a:off x="8278368" y="2990088"/>
            <a:ext cx="256032" cy="256032"/>
          </a:xfrm>
          <a:prstGeom prst="ellipse">
            <a:avLst/>
          </a:prstGeom>
          <a:solidFill>
            <a:srgbClr val="2E8B57"/>
          </a:solidFill>
          <a:ln w="12700">
            <a:solidFill>
              <a:srgbClr val="2E8B57"/>
            </a:solidFill>
            <a:prstDash val="solid"/>
          </a:ln>
        </p:spPr>
      </p:sp>
      <p:sp>
        <p:nvSpPr>
          <p:cNvPr id="49"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0"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خَالَتِي مُحَامِيَةٌ.</a:t>
            </a:r>
            <a:endParaRPr lang="ar-SA" sz="2050" dirty="0"/>
          </a:p>
        </p:txBody>
      </p:sp>
      <p:sp>
        <p:nvSpPr>
          <p:cNvPr id="51" name="Text 4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profession is </a:t>
            </a:r>
            <a:pPr algn="l" indent="0" marL="0">
              <a:buNone/>
            </a:pPr>
            <a:r>
              <a:rPr lang="ar-SA" altLang="en-US" sz="1350" dirty="0">
                <a:solidFill>
                  <a:srgbClr val="8A6D1E"/>
                </a:solidFill>
                <a:latin typeface="Amiri" pitchFamily="2" charset="-78"/>
                <a:ea typeface="Amiri" pitchFamily="2" charset="-78"/>
                <a:cs typeface="Amiri" pitchFamily="2" charset="-78"/>
              </a:rPr>
              <a:t>مُحَامِيَةٌ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2" name="Shape 5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1"/>
          <p:cNvSpPr/>
          <p:nvPr/>
        </p:nvSpPr>
        <p:spPr>
          <a:xfrm>
            <a:off x="585216" y="4288536"/>
            <a:ext cx="310896" cy="310896"/>
          </a:xfrm>
          <a:prstGeom prst="ellipse">
            <a:avLst/>
          </a:prstGeom>
          <a:solidFill>
            <a:srgbClr val="1B3B6F"/>
          </a:solidFill>
          <a:ln w="12700">
            <a:solidFill>
              <a:srgbClr val="1B3B6F"/>
            </a:solidFill>
            <a:prstDash val="solid"/>
          </a:ln>
        </p:spPr>
      </p:sp>
      <p:sp>
        <p:nvSpPr>
          <p:cNvPr id="54" name="Text 5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5" name="Text 53"/>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يَعْمَلُ ___ فِي المَطَارِ وَيَقُودُ الطَّائِرَةَ.</a:t>
            </a:r>
            <a:endParaRPr lang="ar-SA" sz="1250" dirty="0"/>
          </a:p>
        </p:txBody>
      </p:sp>
      <p:sp>
        <p:nvSpPr>
          <p:cNvPr id="56" name="Shape 54"/>
          <p:cNvSpPr/>
          <p:nvPr/>
        </p:nvSpPr>
        <p:spPr>
          <a:xfrm>
            <a:off x="640080" y="487375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8" name="Text 56"/>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الطَّبَّاخُ</a:t>
            </a:r>
            <a:endParaRPr lang="ar-SA" sz="2050" dirty="0"/>
          </a:p>
        </p:txBody>
      </p:sp>
      <p:sp>
        <p:nvSpPr>
          <p:cNvPr id="59" name="Shape 57"/>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640080" y="5330952"/>
            <a:ext cx="256032" cy="256032"/>
          </a:xfrm>
          <a:prstGeom prst="ellipse">
            <a:avLst/>
          </a:prstGeom>
          <a:solidFill>
            <a:srgbClr val="2E8B57"/>
          </a:solidFill>
          <a:ln w="12700">
            <a:solidFill>
              <a:srgbClr val="2E8B57"/>
            </a:solidFill>
            <a:prstDash val="solid"/>
          </a:ln>
        </p:spPr>
      </p:sp>
      <p:sp>
        <p:nvSpPr>
          <p:cNvPr id="61"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2"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الطَّيَّارُ</a:t>
            </a:r>
            <a:endParaRPr lang="ar-SA" sz="2050" dirty="0"/>
          </a:p>
        </p:txBody>
      </p:sp>
      <p:sp>
        <p:nvSpPr>
          <p:cNvPr id="63" name="Text 6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pilot flies the plane.</a:t>
            </a:r>
            <a:endParaRPr lang="en-US" sz="1050" dirty="0"/>
          </a:p>
        </p:txBody>
      </p:sp>
      <p:sp>
        <p:nvSpPr>
          <p:cNvPr id="64" name="Shape 6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7" name="Text 6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68" name="Text 6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تَعْمَلُ أُخْتِي ___ .</a:t>
            </a:r>
            <a:endParaRPr lang="ar-SA" sz="1500" dirty="0"/>
          </a:p>
        </p:txBody>
      </p:sp>
      <p:sp>
        <p:nvSpPr>
          <p:cNvPr id="69" name="Shape 67"/>
          <p:cNvSpPr/>
          <p:nvPr/>
        </p:nvSpPr>
        <p:spPr>
          <a:xfrm>
            <a:off x="4459224" y="4873752"/>
            <a:ext cx="256032" cy="256032"/>
          </a:xfrm>
          <a:prstGeom prst="ellipse">
            <a:avLst/>
          </a:prstGeom>
          <a:solidFill>
            <a:srgbClr val="C9CED6"/>
          </a:solidFill>
          <a:ln w="12700">
            <a:solidFill>
              <a:srgbClr val="C9CED6"/>
            </a:solidFill>
            <a:prstDash val="solid"/>
          </a:ln>
        </p:spPr>
      </p:sp>
      <p:sp>
        <p:nvSpPr>
          <p:cNvPr id="70" name="Text 68"/>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مُبَرْمِجٌ</a:t>
            </a:r>
            <a:endParaRPr lang="ar-SA" sz="2050" dirty="0"/>
          </a:p>
        </p:txBody>
      </p:sp>
      <p:sp>
        <p:nvSpPr>
          <p:cNvPr id="72" name="Shape 70"/>
          <p:cNvSpPr/>
          <p:nvPr/>
        </p:nvSpPr>
        <p:spPr>
          <a:xfrm>
            <a:off x="4367784" y="529437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4459224" y="533095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5"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مُبَرْمِجَةً</a:t>
            </a:r>
            <a:endParaRPr lang="ar-SA" sz="2050" dirty="0"/>
          </a:p>
        </p:txBody>
      </p:sp>
      <p:sp>
        <p:nvSpPr>
          <p:cNvPr id="76" name="Text 7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تعمل</a:t>
            </a:r>
            <a:pPr algn="l" indent="0" marL="0">
              <a:buNone/>
            </a:pPr>
            <a:r>
              <a:rPr lang="en-US" sz="1050" i="1" dirty="0">
                <a:solidFill>
                  <a:srgbClr val="8A6D1E"/>
                </a:solidFill>
                <a:latin typeface="Calibri" pitchFamily="34" charset="0"/>
                <a:cs typeface="Amiri" pitchFamily="2" charset="-78"/>
              </a:rPr>
              <a:t>, use the feminine accusative form.</a:t>
            </a:r>
            <a:endParaRPr lang="en-US" sz="1050" dirty="0"/>
          </a:p>
        </p:txBody>
      </p:sp>
      <p:sp>
        <p:nvSpPr>
          <p:cNvPr id="77" name="Shape 75"/>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8223504"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0" name="Text 78"/>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accurate?</a:t>
            </a:r>
            <a:endParaRPr lang="en-US" sz="1250" dirty="0"/>
          </a:p>
        </p:txBody>
      </p:sp>
      <p:sp>
        <p:nvSpPr>
          <p:cNvPr id="81" name="Shape 79"/>
          <p:cNvSpPr/>
          <p:nvPr/>
        </p:nvSpPr>
        <p:spPr>
          <a:xfrm>
            <a:off x="8278368" y="4873752"/>
            <a:ext cx="256032" cy="256032"/>
          </a:xfrm>
          <a:prstGeom prst="ellipse">
            <a:avLst/>
          </a:prstGeom>
          <a:solidFill>
            <a:srgbClr val="C9CED6"/>
          </a:solidFill>
          <a:ln w="12700">
            <a:solidFill>
              <a:srgbClr val="C9CED6"/>
            </a:solidFill>
            <a:prstDash val="solid"/>
          </a:ln>
        </p:spPr>
      </p:sp>
      <p:sp>
        <p:nvSpPr>
          <p:cNvPr id="82" name="Text 8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1"/>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أُمِّي مُحَاسِبٌ فِي شَرِكَةٍ.</a:t>
            </a:r>
            <a:endParaRPr lang="ar-SA" sz="2050" dirty="0"/>
          </a:p>
        </p:txBody>
      </p:sp>
      <p:sp>
        <p:nvSpPr>
          <p:cNvPr id="84" name="Shape 82"/>
          <p:cNvSpPr/>
          <p:nvPr/>
        </p:nvSpPr>
        <p:spPr>
          <a:xfrm>
            <a:off x="8186928" y="5294376"/>
            <a:ext cx="3453384" cy="347472"/>
          </a:xfrm>
          <a:prstGeom prst="roundRect">
            <a:avLst>
              <a:gd name="adj" fmla="val 15789"/>
            </a:avLst>
          </a:prstGeom>
          <a:solidFill>
            <a:srgbClr val="E6F4EC"/>
          </a:solidFill>
          <a:ln w="9525">
            <a:solidFill>
              <a:srgbClr val="2E8B57"/>
            </a:solidFill>
            <a:prstDash val="solid"/>
          </a:ln>
        </p:spPr>
      </p:sp>
      <p:sp>
        <p:nvSpPr>
          <p:cNvPr id="85" name="Shape 83"/>
          <p:cNvSpPr/>
          <p:nvPr/>
        </p:nvSpPr>
        <p:spPr>
          <a:xfrm>
            <a:off x="8278368" y="5330952"/>
            <a:ext cx="256032" cy="256032"/>
          </a:xfrm>
          <a:prstGeom prst="ellipse">
            <a:avLst/>
          </a:prstGeom>
          <a:solidFill>
            <a:srgbClr val="2E8B57"/>
          </a:solidFill>
          <a:ln w="12700">
            <a:solidFill>
              <a:srgbClr val="2E8B57"/>
            </a:solidFill>
            <a:prstDash val="solid"/>
          </a:ln>
        </p:spPr>
      </p:sp>
      <p:sp>
        <p:nvSpPr>
          <p:cNvPr id="86" name="Text 84"/>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5"/>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أُمِّي مُحَاسِبَةٌ فِي شَرِكَةٍ.</a:t>
            </a:r>
            <a:endParaRPr lang="ar-SA" sz="2050" dirty="0"/>
          </a:p>
        </p:txBody>
      </p:sp>
      <p:sp>
        <p:nvSpPr>
          <p:cNvPr id="88" name="Text 8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profession agrees with the feminine subject.</a:t>
            </a:r>
            <a:endParaRPr lang="en-US" sz="1050" dirty="0"/>
          </a:p>
        </p:txBody>
      </p:sp>
      <p:sp>
        <p:nvSpPr>
          <p:cNvPr id="89"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Jobs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D3-L02 · The Workplace — Environments and Work Conditions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دَوَامٌ كَامِلٌ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full-time work</a:t>
            </a:r>
            <a:pPr indent="0" marL="0">
              <a:buNone/>
            </a:pPr>
            <a:r>
              <a:rPr lang="ar-SA" sz="1000" i="1" dirty="0">
                <a:solidFill>
                  <a:srgbClr val="5A6472"/>
                </a:solidFill>
                <a:latin typeface="Calibri" pitchFamily="34" charset="0"/>
                <a:ea typeface="Amiri" pitchFamily="2" charset="-78"/>
                <a:cs typeface="Amiri" pitchFamily="2" charset="-78"/>
              </a:rPr>
              <a:t>  دَوَامٌ جُزْئِيٌّ part-time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salary</a:t>
            </a:r>
            <a:pPr indent="0" marL="0">
              <a:buNone/>
            </a:pPr>
            <a:r>
              <a:rPr lang="ar-SA" sz="1000" i="1" dirty="0">
                <a:solidFill>
                  <a:srgbClr val="5A6472"/>
                </a:solidFill>
                <a:latin typeface="Calibri" pitchFamily="34" charset="0"/>
                <a:ea typeface="Amiri" pitchFamily="2" charset="-78"/>
                <a:cs typeface="Amiri" pitchFamily="2" charset="-78"/>
              </a:rPr>
              <a:t>  pl. رَوَاتِبُ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مُجْهِدٌ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tiring</a:t>
            </a:r>
            <a:pPr indent="0" marL="0">
              <a:buNone/>
            </a:pPr>
            <a:r>
              <a:rPr lang="ar-SA" sz="1000" i="1" dirty="0">
                <a:solidFill>
                  <a:srgbClr val="5A6472"/>
                </a:solidFill>
                <a:latin typeface="Calibri" pitchFamily="34" charset="0"/>
                <a:ea typeface="Amiri" pitchFamily="2" charset="-78"/>
                <a:cs typeface="Amiri" pitchFamily="2" charset="-78"/>
              </a:rPr>
              <a:t>  f. مُجْهِدَةٌ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مُجْزٍ</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rewarding</a:t>
            </a:r>
            <a:pPr indent="0" marL="0">
              <a:buNone/>
            </a:pPr>
            <a:r>
              <a:rPr lang="ar-SA" sz="1000" i="1" dirty="0">
                <a:solidFill>
                  <a:srgbClr val="5A6472"/>
                </a:solidFill>
                <a:latin typeface="Calibri" pitchFamily="34" charset="0"/>
                <a:ea typeface="Amiri" pitchFamily="2" charset="-78"/>
                <a:cs typeface="Amiri" pitchFamily="2" charset="-78"/>
              </a:rPr>
              <a:t>  f. مُجْزِيَةٌ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فَرِيقُ عَمَلٍ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work team</a:t>
            </a:r>
            <a:pPr indent="0" marL="0">
              <a:buNone/>
            </a:pPr>
            <a:r>
              <a:rPr lang="ar-SA" sz="1000" i="1" dirty="0">
                <a:solidFill>
                  <a:srgbClr val="5A6472"/>
                </a:solidFill>
                <a:latin typeface="Calibri" pitchFamily="34" charset="0"/>
                <a:ea typeface="Amiri" pitchFamily="2" charset="-78"/>
                <a:cs typeface="Amiri" pitchFamily="2" charset="-78"/>
              </a:rPr>
              <a:t>  pl. فِرَقُ عَمَلٍ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job: is it tiring, rewarding, or both?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عَمَلُ الطَّبِيبِ مُجْهِدٌ وَلٰكِنَّهُ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D3-L01: redo the mission and sorter; learn 8 professions in m. and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 sentences about your family’s (or an invented family’s) jobs and workplaces.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with a contrast and a disadvantage.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D3-L02 · The Workplace — Environments and Work Conditions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بِيئَةُ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 “is” — a woman’s job takes -atun — fī goes before the place.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D3-L01 · Jobs and Professions — Vocabulary and Gender</dc:title>
  <dc:subject>PptxGenJS Presentation</dc:subject>
  <dc:creator>Al Madina Online School · Arabic Department</dc:creator>
  <cp:lastModifiedBy>Al Madina Online School · Arabic Department</cp:lastModifiedBy>
  <cp:revision>1</cp:revision>
  <dcterms:created xsi:type="dcterms:W3CDTF">2026-10-11T06:40:42Z</dcterms:created>
  <dcterms:modified xsi:type="dcterms:W3CDTF">2026-10-11T06:40:42Z</dcterms:modified>
</cp:coreProperties>
</file>