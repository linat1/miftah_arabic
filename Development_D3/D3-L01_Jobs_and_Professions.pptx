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D3-L01.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(D3 · Work and Careers). Core: 8 professions in BOTH forms + “He is … and works in …” (four accurate sentences). Develop: يَعْمَلُ + profession in -an and a reason for a job preference. Stretch: contrast two jobs (بَيْنَمَا / عَلَى الرَّغْمِ مِنْ أَنَّ) with one disadvantage.
• The D2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Questions 3–4 retrieve D2-L01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D3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(D3-L02 · The Workplace — Environments and Work Conditions) will spend class time USING this language, so students prepare it tonight — short, simple, easy to access (school guidance: “Simple, Short, Interesting, Relevant, Easy to access”). The five words come from the website D3-L02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Jobs and Professions — Vocabulary and Gender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الوَظَائِفُ وَالمِهَنُ — المُفْرَدَاتُ وَالتَّذْكِيرُ وَالتَّأْنِيثُ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Name twelve professions in masculine, feminine and plural forms, say where people work (</a:t>
            </a:r>
            <a:pPr algn="l" indent="0" marL="0">
              <a:buNone/>
            </a:pPr>
            <a:r>
              <a:rPr lang="ar-SA" altLang="en-US" sz="1800" dirty="0">
                <a:solidFill>
                  <a:srgbClr val="C6D2E6"/>
                </a:solidFill>
                <a:latin typeface="Amiri" pitchFamily="2" charset="-78"/>
                <a:ea typeface="Amiri" pitchFamily="2" charset="-78"/>
                <a:cs typeface="Amiri" pitchFamily="2" charset="-78"/>
              </a:rPr>
              <a:t>فِي</a:t>
            </a:r>
            <a:pPr algn="l" indent="0" marL="0">
              <a:buNone/>
            </a:pPr>
            <a:r>
              <a:rPr lang="en-US" sz="1400" dirty="0">
                <a:solidFill>
                  <a:srgbClr val="C6D2E6"/>
                </a:solidFill>
                <a:latin typeface="Calibri" pitchFamily="34" charset="0"/>
                <a:cs typeface="Amiri" pitchFamily="2" charset="-78"/>
              </a:rPr>
              <a:t>), say what someone works as (</a:t>
            </a:r>
            <a:pPr algn="l" indent="0" marL="0">
              <a:buNone/>
            </a:pPr>
            <a:r>
              <a:rPr lang="ar-SA" altLang="en-US" sz="1800" dirty="0">
                <a:solidFill>
                  <a:srgbClr val="C6D2E6"/>
                </a:solidFill>
                <a:latin typeface="Amiri" pitchFamily="2" charset="-78"/>
                <a:ea typeface="Amiri" pitchFamily="2" charset="-78"/>
                <a:cs typeface="Amiri" pitchFamily="2" charset="-78"/>
              </a:rPr>
              <a:t>يَعْمَلُ مُحَاسِبًا</a:t>
            </a:r>
            <a:pPr algn="l" indent="0" marL="0">
              <a:buNone/>
            </a:pPr>
            <a:r>
              <a:rPr lang="en-US" sz="1400" dirty="0">
                <a:solidFill>
                  <a:srgbClr val="C6D2E6"/>
                </a:solidFill>
                <a:latin typeface="Calibri" pitchFamily="34" charset="0"/>
                <a:cs typeface="Amiri" pitchFamily="2" charset="-78"/>
              </a:rPr>
              <a:t>) and justify a job you would like.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هَدَفٌ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أَتَدَرَّبُ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أَبِي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مُهَنْدِسٌ</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أُمِّي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مُهَنْدِسَةٌ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تَعْمَلُ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يَعْمَلُ / تَعْمَلُ</a:t>
            </a:r>
            <a:pPr algn="l" indent="0" marL="0">
              <a:buNone/>
            </a:pPr>
            <a:r>
              <a:rPr lang="en-US" sz="1300" dirty="0">
                <a:solidFill>
                  <a:srgbClr val="1F2A37"/>
                </a:solidFill>
                <a:latin typeface="Calibri" pitchFamily="34" charset="0"/>
                <a:cs typeface="Amiri" pitchFamily="2" charset="-78"/>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‎محاسب / حساب‎ </a:t>
            </a:r>
            <a:pPr indent="0" marL="0">
              <a:buNone/>
            </a:pPr>
            <a:r>
              <a:rPr lang="en-US" sz="950" b="1" dirty="0">
                <a:solidFill>
                  <a:srgbClr val="2E8B57"/>
                </a:solidFill>
                <a:latin typeface="Calibri" pitchFamily="34" charset="0"/>
                <a:cs typeface="Amiri" pitchFamily="2" charset="-78"/>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‎مدرس / مدرسہ‎ </a:t>
            </a:r>
            <a:pPr indent="0" marL="0">
              <a:buNone/>
            </a:pPr>
            <a:r>
              <a:rPr lang="en-US" sz="950" b="1" dirty="0">
                <a:solidFill>
                  <a:srgbClr val="2E8B57"/>
                </a:solidFill>
                <a:latin typeface="Calibri" pitchFamily="34" charset="0"/>
                <a:cs typeface="Amiri" pitchFamily="2" charset="-78"/>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‎صحافی‎ </a:t>
            </a:r>
            <a:pPr indent="0" marL="0">
              <a:buNone/>
            </a:pPr>
            <a:r>
              <a:rPr lang="en-US" sz="950" b="1" dirty="0">
                <a:solidFill>
                  <a:srgbClr val="2E8B57"/>
                </a:solidFill>
                <a:latin typeface="Calibri" pitchFamily="34" charset="0"/>
                <a:cs typeface="Amiri" pitchFamily="2" charset="-78"/>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‎پیشہ‎ </a:t>
            </a:r>
            <a:pPr indent="0" marL="0">
              <a:buNone/>
            </a:pPr>
            <a:r>
              <a:rPr lang="en-US" sz="950" b="1" dirty="0">
                <a:solidFill>
                  <a:srgbClr val="2E8B57"/>
                </a:solidFill>
                <a:latin typeface="Calibri" pitchFamily="34" charset="0"/>
                <a:cs typeface="Amiri" pitchFamily="2" charset="-78"/>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engineer</a:t>
            </a:r>
            <a:endParaRPr lang="en-US" sz="1350" dirty="0"/>
          </a:p>
          <a:p>
            <a:pPr indent="0" marL="0">
              <a:buNone/>
            </a:pPr>
            <a:r>
              <a:rPr lang="en-US" sz="1100" i="1" dirty="0">
                <a:solidFill>
                  <a:srgbClr val="5A6472"/>
                </a:solidFill>
                <a:latin typeface="Calibri" pitchFamily="34" charset="0"/>
                <a:cs typeface="Amiri" pitchFamily="2" charset="-78"/>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teacher</a:t>
            </a:r>
            <a:endParaRPr lang="en-US" sz="1350" dirty="0"/>
          </a:p>
          <a:p>
            <a:pPr indent="0" marL="0">
              <a:buNone/>
            </a:pPr>
            <a:r>
              <a:rPr lang="en-US" sz="1100" i="1" dirty="0">
                <a:solidFill>
                  <a:srgbClr val="5A6472"/>
                </a:solidFill>
                <a:latin typeface="Calibri" pitchFamily="34" charset="0"/>
                <a:cs typeface="Amiri" pitchFamily="2" charset="-78"/>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lawyer</a:t>
            </a:r>
            <a:endParaRPr lang="en-US" sz="1350" dirty="0"/>
          </a:p>
          <a:p>
            <a:pPr indent="0" marL="0">
              <a:buNone/>
            </a:pPr>
            <a:r>
              <a:rPr lang="en-US" sz="1100" i="1" dirty="0">
                <a:solidFill>
                  <a:srgbClr val="5A6472"/>
                </a:solidFill>
                <a:latin typeface="Calibri" pitchFamily="34" charset="0"/>
                <a:cs typeface="Amiri" pitchFamily="2" charset="-78"/>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journalist</a:t>
            </a:r>
            <a:endParaRPr lang="en-US" sz="1350" dirty="0"/>
          </a:p>
          <a:p>
            <a:pPr indent="0" marL="0">
              <a:buNone/>
            </a:pPr>
            <a:r>
              <a:rPr lang="en-US" sz="1100" i="1" dirty="0">
                <a:solidFill>
                  <a:srgbClr val="5A6472"/>
                </a:solidFill>
                <a:latin typeface="Calibri" pitchFamily="34" charset="0"/>
                <a:cs typeface="Amiri" pitchFamily="2" charset="-78"/>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programmer</a:t>
            </a:r>
            <a:endParaRPr lang="en-US" sz="1350" dirty="0"/>
          </a:p>
          <a:p>
            <a:pPr indent="0" marL="0">
              <a:buNone/>
            </a:pPr>
            <a:r>
              <a:rPr lang="en-US" sz="1100" i="1" dirty="0">
                <a:solidFill>
                  <a:srgbClr val="5A6472"/>
                </a:solidFill>
                <a:latin typeface="Calibri" pitchFamily="34" charset="0"/>
                <a:cs typeface="Amiri" pitchFamily="2" charset="-78"/>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accountant</a:t>
            </a:r>
            <a:endParaRPr lang="en-US" sz="1350" dirty="0"/>
          </a:p>
          <a:p>
            <a:pPr indent="0" marL="0">
              <a:buNone/>
            </a:pPr>
            <a:r>
              <a:rPr lang="en-US" sz="1100" i="1" dirty="0">
                <a:solidFill>
                  <a:srgbClr val="5A6472"/>
                </a:solidFill>
                <a:latin typeface="Calibri" pitchFamily="34" charset="0"/>
                <a:cs typeface="Amiri" pitchFamily="2" charset="-78"/>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designer</a:t>
            </a:r>
            <a:endParaRPr lang="en-US" sz="1350" dirty="0"/>
          </a:p>
          <a:p>
            <a:pPr indent="0" marL="0">
              <a:buNone/>
            </a:pPr>
            <a:r>
              <a:rPr lang="en-US" sz="1100" i="1" dirty="0">
                <a:solidFill>
                  <a:srgbClr val="5A6472"/>
                </a:solidFill>
                <a:latin typeface="Calibri" pitchFamily="34" charset="0"/>
                <a:cs typeface="Amiri" pitchFamily="2" charset="-78"/>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pilot</a:t>
            </a:r>
            <a:endParaRPr lang="en-US" sz="1350" dirty="0"/>
          </a:p>
          <a:p>
            <a:pPr indent="0" marL="0">
              <a:buNone/>
            </a:pPr>
            <a:r>
              <a:rPr lang="en-US" sz="1100" i="1" dirty="0">
                <a:solidFill>
                  <a:srgbClr val="5A6472"/>
                </a:solidFill>
                <a:latin typeface="Calibri" pitchFamily="34" charset="0"/>
                <a:cs typeface="Amiri" pitchFamily="2" charset="-78"/>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police officer</a:t>
            </a:r>
            <a:endParaRPr lang="en-US" sz="1350" dirty="0"/>
          </a:p>
          <a:p>
            <a:pPr indent="0" marL="0">
              <a:buNone/>
            </a:pPr>
            <a:r>
              <a:rPr lang="en-US" sz="1100" i="1" dirty="0">
                <a:solidFill>
                  <a:srgbClr val="5A6472"/>
                </a:solidFill>
                <a:latin typeface="Calibri" pitchFamily="34" charset="0"/>
                <a:cs typeface="Amiri" pitchFamily="2" charset="-78"/>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chef</a:t>
            </a:r>
            <a:endParaRPr lang="en-US" sz="1350" dirty="0"/>
          </a:p>
          <a:p>
            <a:pPr indent="0" marL="0">
              <a:buNone/>
            </a:pPr>
            <a:r>
              <a:rPr lang="en-US" sz="1100" i="1" dirty="0">
                <a:solidFill>
                  <a:srgbClr val="5A6472"/>
                </a:solidFill>
                <a:latin typeface="Calibri" pitchFamily="34" charset="0"/>
                <a:cs typeface="Amiri" pitchFamily="2" charset="-78"/>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office</a:t>
            </a:r>
            <a:endParaRPr lang="en-US" sz="1350" dirty="0"/>
          </a:p>
          <a:p>
            <a:pPr indent="0" marL="0">
              <a:buNone/>
            </a:pPr>
            <a:r>
              <a:rPr lang="en-US" sz="1100" i="1" dirty="0">
                <a:solidFill>
                  <a:srgbClr val="5A6472"/>
                </a:solidFill>
                <a:latin typeface="Calibri" pitchFamily="34" charset="0"/>
                <a:cs typeface="Amiri" pitchFamily="2" charset="-78"/>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factory</a:t>
            </a:r>
            <a:endParaRPr lang="en-US" sz="1350" dirty="0"/>
          </a:p>
          <a:p>
            <a:pPr indent="0" marL="0">
              <a:buNone/>
            </a:pPr>
            <a:r>
              <a:rPr lang="en-US" sz="1100" i="1" dirty="0">
                <a:solidFill>
                  <a:srgbClr val="5A6472"/>
                </a:solidFill>
                <a:latin typeface="Calibri" pitchFamily="34" charset="0"/>
                <a:cs typeface="Amiri" pitchFamily="2" charset="-78"/>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laboratory</a:t>
            </a:r>
            <a:endParaRPr lang="en-US" sz="1350" dirty="0"/>
          </a:p>
          <a:p>
            <a:pPr indent="0" marL="0">
              <a:buNone/>
            </a:pPr>
            <a:r>
              <a:rPr lang="en-US" sz="1100" i="1" dirty="0">
                <a:solidFill>
                  <a:srgbClr val="5A6472"/>
                </a:solidFill>
                <a:latin typeface="Calibri" pitchFamily="34" charset="0"/>
                <a:cs typeface="Amiri" pitchFamily="2" charset="-78"/>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court</a:t>
            </a:r>
            <a:endParaRPr lang="en-US" sz="1350" dirty="0"/>
          </a:p>
          <a:p>
            <a:pPr indent="0" marL="0">
              <a:buNone/>
            </a:pPr>
            <a:r>
              <a:rPr lang="en-US" sz="1100" i="1" dirty="0">
                <a:solidFill>
                  <a:srgbClr val="5A6472"/>
                </a:solidFill>
                <a:latin typeface="Calibri" pitchFamily="34" charset="0"/>
                <a:cs typeface="Amiri" pitchFamily="2" charset="-78"/>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shop</a:t>
            </a:r>
            <a:endParaRPr lang="en-US" sz="1350" dirty="0"/>
          </a:p>
          <a:p>
            <a:pPr indent="0" marL="0">
              <a:buNone/>
            </a:pPr>
            <a:r>
              <a:rPr lang="en-US" sz="1100" i="1" dirty="0">
                <a:solidFill>
                  <a:srgbClr val="5A6472"/>
                </a:solidFill>
                <a:latin typeface="Calibri" pitchFamily="34" charset="0"/>
                <a:cs typeface="Amiri" pitchFamily="2" charset="-78"/>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company</a:t>
            </a:r>
            <a:endParaRPr lang="en-US" sz="1350" dirty="0"/>
          </a:p>
          <a:p>
            <a:pPr indent="0" marL="0">
              <a:buNone/>
            </a:pPr>
            <a:r>
              <a:rPr lang="en-US" sz="1100" i="1" dirty="0">
                <a:solidFill>
                  <a:srgbClr val="5A6472"/>
                </a:solidFill>
                <a:latin typeface="Calibri" pitchFamily="34" charset="0"/>
                <a:cs typeface="Amiri" pitchFamily="2" charset="-78"/>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building site</a:t>
            </a:r>
            <a:endParaRPr lang="en-US" sz="1350" dirty="0"/>
          </a:p>
          <a:p>
            <a:pPr indent="0" marL="0">
              <a:buNone/>
            </a:pPr>
            <a:r>
              <a:rPr lang="en-US" sz="1100" i="1" dirty="0">
                <a:solidFill>
                  <a:srgbClr val="5A6472"/>
                </a:solidFill>
                <a:latin typeface="Calibri" pitchFamily="34" charset="0"/>
                <a:cs typeface="Amiri" pitchFamily="2" charset="-78"/>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remotely</a:t>
            </a:r>
            <a:endParaRPr lang="en-US" sz="1350" dirty="0"/>
          </a:p>
          <a:p>
            <a:pPr indent="0" marL="0">
              <a:buNone/>
            </a:pPr>
            <a:r>
              <a:rPr lang="en-US" sz="1100" i="1" dirty="0">
                <a:solidFill>
                  <a:srgbClr val="5A6472"/>
                </a:solidFill>
                <a:latin typeface="Calibri" pitchFamily="34" charset="0"/>
                <a:cs typeface="Amiri" pitchFamily="2" charset="-78"/>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outdoors</a:t>
            </a:r>
            <a:endParaRPr lang="en-US" sz="1350" dirty="0"/>
          </a:p>
          <a:p>
            <a:pPr indent="0" marL="0">
              <a:buNone/>
            </a:pPr>
            <a:r>
              <a:rPr lang="en-US" sz="1100" i="1" dirty="0">
                <a:solidFill>
                  <a:srgbClr val="5A6472"/>
                </a:solidFill>
                <a:latin typeface="Calibri" pitchFamily="34" charset="0"/>
                <a:cs typeface="Amiri" pitchFamily="2" charset="-78"/>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 </a:t>
            </a:r>
            <a:pPr algn="ctr" indent="0" marL="0">
              <a:buNone/>
            </a:pPr>
            <a:r>
              <a:rPr lang="ar-SA" altLang="en-US" sz="1450" b="1" dirty="0">
                <a:solidFill>
                  <a:srgbClr val="FFFFFF"/>
                </a:solidFill>
                <a:latin typeface="Amiri" pitchFamily="2" charset="-78"/>
                <a:ea typeface="Amiri" pitchFamily="2" charset="-78"/>
                <a:cs typeface="Amiri" pitchFamily="2" charset="-78"/>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 </a:t>
            </a:r>
            <a:pPr algn="ctr" indent="0" marL="0">
              <a:buNone/>
            </a:pPr>
            <a:r>
              <a:rPr lang="ar-SA" altLang="en-US" sz="1450" b="1" dirty="0">
                <a:solidFill>
                  <a:srgbClr val="FFFFFF"/>
                </a:solidFill>
                <a:latin typeface="Amiri" pitchFamily="2" charset="-78"/>
                <a:ea typeface="Amiri" pitchFamily="2" charset="-78"/>
                <a:cs typeface="Amiri" pitchFamily="2" charset="-78"/>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 </a:t>
            </a:r>
            <a:pPr algn="ctr" indent="0" marL="0">
              <a:buNone/>
            </a:pPr>
            <a:r>
              <a:rPr lang="ar-SA" altLang="en-US" sz="1450" b="1" dirty="0">
                <a:solidFill>
                  <a:srgbClr val="FFFFFF"/>
                </a:solidFill>
                <a:latin typeface="Amiri" pitchFamily="2" charset="-78"/>
                <a:ea typeface="Amiri" pitchFamily="2" charset="-78"/>
                <a:cs typeface="Amiri" pitchFamily="2" charset="-78"/>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مُهَنْدِسُ</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مُمَرِّضُ</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صَحَفِيُّ</a:t>
            </a:r>
            <a:pPr rtl="1" algn="ctr" indent="0" marL="0">
              <a:buNone/>
            </a:pPr>
            <a:r>
              <a:rPr lang="ar-SA" altLang="en-US" sz="2600" b="1" dirty="0">
                <a:solidFill>
                  <a:srgbClr val="0E7C86"/>
                </a:solidFill>
                <a:latin typeface="Amiri" pitchFamily="2" charset="-78"/>
                <a:ea typeface="Amiri" pitchFamily="2" charset="-78"/>
                <a:cs typeface="Amiri" pitchFamily="2" charset="-78"/>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طَبِيبَ</a:t>
            </a:r>
            <a:pPr rtl="1" algn="ctr" indent="0" marL="0">
              <a:buNone/>
            </a:pPr>
            <a:r>
              <a:rPr lang="ar-SA" altLang="en-US" sz="2600" b="1" dirty="0">
                <a:solidFill>
                  <a:srgbClr val="D6336C"/>
                </a:solidFill>
                <a:latin typeface="Amiri" pitchFamily="2" charset="-78"/>
                <a:ea typeface="Amiri" pitchFamily="2" charset="-78"/>
                <a:cs typeface="Amiri" pitchFamily="2" charset="-78"/>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“is” in the present: </a:t>
            </a:r>
            <a:pPr algn="l" indent="0" marL="0">
              <a:buNone/>
            </a:pPr>
            <a:r>
              <a:rPr lang="ar-SA" altLang="en-US" sz="1500" b="1" dirty="0">
                <a:solidFill>
                  <a:srgbClr val="1B3B6F"/>
                </a:solidFill>
                <a:latin typeface="Amiri" pitchFamily="2" charset="-78"/>
                <a:ea typeface="Amiri" pitchFamily="2" charset="-78"/>
                <a:cs typeface="Amiri" pitchFamily="2" charset="-78"/>
              </a:rPr>
              <a:t>أَبِي طَبِيبٌ</a:t>
            </a:r>
            <a:pPr algn="l" indent="0" marL="0">
              <a:buNone/>
            </a:pPr>
            <a:r>
              <a:rPr lang="en-US" sz="1150" b="1" dirty="0">
                <a:solidFill>
                  <a:srgbClr val="1B3B6F"/>
                </a:solidFill>
                <a:latin typeface="Calibri" pitchFamily="34" charset="0"/>
                <a:cs typeface="Amiri" pitchFamily="2" charset="-78"/>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Workplace with </a:t>
            </a:r>
            <a:pPr algn="l" indent="0" marL="0">
              <a:buNone/>
            </a:pPr>
            <a:r>
              <a:rPr lang="ar-SA" altLang="en-US" sz="1650" b="1" dirty="0">
                <a:solidFill>
                  <a:srgbClr val="1B3B6F"/>
                </a:solidFill>
                <a:latin typeface="Amiri" pitchFamily="2" charset="-78"/>
                <a:ea typeface="Amiri" pitchFamily="2" charset="-78"/>
                <a:cs typeface="Amiri" pitchFamily="2" charset="-78"/>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مُبَرْمِجٌ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ea typeface="Amiri" pitchFamily="2" charset="-78"/>
                <a:cs typeface="Amiri" pitchFamily="2" charset="-78"/>
              </a:rPr>
              <a:t>مُبَرْمِجَةٌ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طَبِيبَةٌ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طَيَّارَةٌ</a:t>
            </a:r>
            <a:pPr algn="l" indent="0" marL="0">
              <a:buNone/>
            </a:pPr>
            <a:r>
              <a:rPr lang="en-US" sz="1050" i="1" dirty="0">
                <a:solidFill>
                  <a:srgbClr val="8A6D1E"/>
                </a:solidFill>
                <a:latin typeface="Calibri" pitchFamily="34" charset="0"/>
                <a:cs typeface="Amiri" pitchFamily="2" charset="-78"/>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أَبِي </a:t>
            </a:r>
            <a:pPr rtl="1" algn="ctr" indent="0" marL="0">
              <a:buNone/>
            </a:pPr>
            <a:r>
              <a:rPr lang="ar-SA" altLang="en-US" sz="2800" b="1" dirty="0">
                <a:solidFill>
                  <a:srgbClr val="1D5FBF"/>
                </a:solidFill>
                <a:latin typeface="Amiri" pitchFamily="2" charset="-78"/>
                <a:ea typeface="Amiri" pitchFamily="2" charset="-78"/>
                <a:cs typeface="Amiri" pitchFamily="2" charset="-78"/>
              </a:rPr>
              <a:t>مُهَنْدِسٌ</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وَيَعْمَلُ </a:t>
            </a:r>
            <a:pPr rtl="1" algn="ctr" indent="0" marL="0">
              <a:buNone/>
            </a:pPr>
            <a:r>
              <a:rPr lang="ar-SA" altLang="en-US" sz="2550" b="1" dirty="0">
                <a:solidFill>
                  <a:srgbClr val="0E7C86"/>
                </a:solidFill>
                <a:latin typeface="Amiri" pitchFamily="2" charset="-78"/>
                <a:ea typeface="Amiri" pitchFamily="2" charset="-78"/>
                <a:cs typeface="Amiri" pitchFamily="2" charset="-78"/>
              </a:rPr>
              <a:t>فِي</a:t>
            </a:r>
            <a:pPr rtl="1" algn="ctr" indent="0" marL="0">
              <a:buNone/>
            </a:pPr>
            <a:r>
              <a:rPr lang="ar-SA" altLang="en-US" sz="2550" b="1" dirty="0">
                <a:solidFill>
                  <a:srgbClr val="1B3B6F"/>
                </a:solidFill>
                <a:latin typeface="Amiri" pitchFamily="2" charset="-78"/>
                <a:ea typeface="Amiri" pitchFamily="2" charset="-78"/>
                <a:cs typeface="Amiri" pitchFamily="2" charset="-78"/>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تَعْمَلُ أُمِّي </a:t>
            </a:r>
            <a:pPr rtl="1" algn="ctr" indent="0" marL="0">
              <a:buNone/>
            </a:pPr>
            <a:r>
              <a:rPr lang="ar-SA" altLang="en-US" sz="2800" b="1" dirty="0">
                <a:solidFill>
                  <a:srgbClr val="D6336C"/>
                </a:solidFill>
                <a:latin typeface="Amiri" pitchFamily="2" charset="-78"/>
                <a:ea typeface="Amiri" pitchFamily="2" charset="-78"/>
                <a:cs typeface="Amiri" pitchFamily="2" charset="-78"/>
              </a:rPr>
              <a:t>مُحَاسِبَةً</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أُرِيدُ أَنْ أُصْبِحَ صَحَفِيًّا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لِأَنَّنِي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عَائِلَتِي مِهَنٌ مُتَنَوِّعَةٌ. وَالِدِي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مُهَنْدِسٌ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وَيَعْمَلُ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شَرِكَةِ بِنَاءٍ، بَيْنَمَا وَالِدَتِي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مَدْرَسَةٍ قَرِيبَةٍ. أُخْتِي الكُبْرَى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مُحَاسِبَةٌ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an engineer and works in a company.</a:t>
            </a:r>
            <a:endParaRPr lang="en-US" sz="1250" dirty="0"/>
          </a:p>
          <a:p>
            <a:pPr indent="0" marL="0">
              <a:buNone/>
            </a:pPr>
            <a:r>
              <a:rPr lang="en-US" sz="1050" i="1" dirty="0">
                <a:solidFill>
                  <a:srgbClr val="8A6D1E"/>
                </a:solidFill>
                <a:latin typeface="Calibri" pitchFamily="34" charset="0"/>
                <a:cs typeface="Amiri" pitchFamily="2" charset="-78"/>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a nurse and works in a hospital.</a:t>
            </a:r>
            <a:endParaRPr lang="en-US" sz="1250" dirty="0"/>
          </a:p>
          <a:p>
            <a:pPr indent="0" marL="0">
              <a:buNone/>
            </a:pPr>
            <a:r>
              <a:rPr lang="en-US" sz="1050" i="1" dirty="0">
                <a:solidFill>
                  <a:srgbClr val="8A6D1E"/>
                </a:solidFill>
                <a:latin typeface="Calibri" pitchFamily="34" charset="0"/>
                <a:cs typeface="Amiri" pitchFamily="2" charset="-78"/>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aunt works as a teacher.</a:t>
            </a:r>
            <a:endParaRPr lang="en-US" sz="1250" dirty="0"/>
          </a:p>
          <a:p>
            <a:pPr indent="0" marL="0">
              <a:buNone/>
            </a:pPr>
            <a:r>
              <a:rPr lang="en-US" sz="1050" i="1" dirty="0">
                <a:solidFill>
                  <a:srgbClr val="8A6D1E"/>
                </a:solidFill>
                <a:latin typeface="Calibri" pitchFamily="34" charset="0"/>
                <a:cs typeface="Amiri" pitchFamily="2" charset="-78"/>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medicine because it helps people.</a:t>
            </a:r>
            <a:endParaRPr lang="en-US" sz="1250" dirty="0"/>
          </a:p>
          <a:p>
            <a:pPr indent="0" marL="0">
              <a:buNone/>
            </a:pPr>
            <a:r>
              <a:rPr lang="en-US" sz="1050" i="1" dirty="0">
                <a:solidFill>
                  <a:srgbClr val="8A6D1E"/>
                </a:solidFill>
                <a:latin typeface="Calibri" pitchFamily="34" charset="0"/>
                <a:cs typeface="Amiri" pitchFamily="2" charset="-78"/>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دَقِيقٌ وَلٰكِنَّهُ مُجْهِدٌ</a:t>
            </a:r>
            <a:pPr algn="l" indent="0" marL="0">
              <a:buNone/>
            </a:pPr>
            <a:r>
              <a:rPr lang="en-US" sz="1050" i="1" dirty="0">
                <a:solidFill>
                  <a:srgbClr val="8A6D1E"/>
                </a:solidFill>
                <a:latin typeface="Calibri" pitchFamily="34" charset="0"/>
                <a:cs typeface="Amiri" pitchFamily="2" charset="-78"/>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مُحَاسِبَةٌ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مُمَرِّضَةً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Describe professions and workplaces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مِهْنَةُ أَحَدِ أَفْرَادِ عَائِلَتِكَ؟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يَعْمَلُ؟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تُفَضِّلُهَا؟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المِهْنَةُ الَّتِي لَا تُنَاسِبُكَ؟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أَبِي / أُمِّي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يَعْمَلُ / تَعْمَلُ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مِهْنَةَ ___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 تُنَاسِبُنِي مِهْنَةُ ___ لِأَنَّنِي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مِهْنَةُ وَالِدَتِكَ؟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mother’s job?</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وَالِدَتِي مُدَرِّسَةٌ وَتَعْمَلُ فِي مَدْرَسَةٍ ثَانَوِيَّةٍ.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mother is a teacher and works in a secondary school.</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workplaces with </a:t>
            </a:r>
            <a:pPr algn="l" indent="0" marL="0">
              <a:buNone/>
            </a:pPr>
            <a:r>
              <a:rPr lang="ar-SA" altLang="en-US" sz="1550" dirty="0">
                <a:solidFill>
                  <a:srgbClr val="1F2A37"/>
                </a:solidFill>
                <a:latin typeface="Amiri" pitchFamily="2" charset="-78"/>
                <a:ea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of </a:t>
            </a:r>
            <a:pPr algn="l" indent="0" marL="0">
              <a:buNone/>
            </a:pPr>
            <a:r>
              <a:rPr lang="ar-SA" altLang="en-US" sz="1650" b="1" dirty="0">
                <a:solidFill>
                  <a:srgbClr val="1B3B6F"/>
                </a:solidFill>
                <a:latin typeface="Amiri" pitchFamily="2" charset="-78"/>
                <a:ea typeface="Amiri" pitchFamily="2" charset="-78"/>
                <a:cs typeface="Amiri" pitchFamily="2" charset="-78"/>
              </a:rPr>
              <a:t>مُدَرِّسٌ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مُدَرِّسَةٌ</a:t>
            </a:r>
            <a:pPr algn="l" indent="0" marL="0">
              <a:buNone/>
            </a:pPr>
            <a:r>
              <a:rPr lang="en-US" sz="1050" i="1" dirty="0">
                <a:solidFill>
                  <a:srgbClr val="8A6D1E"/>
                </a:solidFill>
                <a:latin typeface="Calibri" pitchFamily="34" charset="0"/>
                <a:cs typeface="Amiri" pitchFamily="2" charset="-78"/>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profession is </a:t>
            </a:r>
            <a:pPr algn="l" indent="0" marL="0">
              <a:buNone/>
            </a:pPr>
            <a:r>
              <a:rPr lang="ar-SA" altLang="en-US" sz="1350" dirty="0">
                <a:solidFill>
                  <a:srgbClr val="8A6D1E"/>
                </a:solidFill>
                <a:latin typeface="Amiri" pitchFamily="2" charset="-78"/>
                <a:ea typeface="Amiri" pitchFamily="2" charset="-78"/>
                <a:cs typeface="Amiri" pitchFamily="2" charset="-78"/>
              </a:rPr>
              <a:t>مُحَامِيَةٌ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تعمل</a:t>
            </a:r>
            <a:pPr algn="l" indent="0" marL="0">
              <a:buNone/>
            </a:pPr>
            <a:r>
              <a:rPr lang="en-US" sz="1050" i="1" dirty="0">
                <a:solidFill>
                  <a:srgbClr val="8A6D1E"/>
                </a:solidFill>
                <a:latin typeface="Calibri" pitchFamily="34" charset="0"/>
                <a:cs typeface="Amiri" pitchFamily="2" charset="-78"/>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D3-L01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D3-L02 · The Workplace — Environments and Work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full-time work</a:t>
            </a:r>
            <a:pPr indent="0" marL="0">
              <a:buNone/>
            </a:pPr>
            <a:r>
              <a:rPr lang="ar-SA" sz="1000" i="1" dirty="0">
                <a:solidFill>
                  <a:srgbClr val="5A6472"/>
                </a:solidFill>
                <a:latin typeface="Calibri" pitchFamily="34" charset="0"/>
                <a:ea typeface="Amiri" pitchFamily="2" charset="-78"/>
                <a:cs typeface="Amiri" pitchFamily="2" charset="-78"/>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salary</a:t>
            </a:r>
            <a:pPr indent="0" marL="0">
              <a:buNone/>
            </a:pPr>
            <a:r>
              <a:rPr lang="ar-SA" sz="1000" i="1" dirty="0">
                <a:solidFill>
                  <a:srgbClr val="5A6472"/>
                </a:solidFill>
                <a:latin typeface="Calibri" pitchFamily="34" charset="0"/>
                <a:ea typeface="Amiri" pitchFamily="2" charset="-78"/>
                <a:cs typeface="Amiri" pitchFamily="2" charset="-78"/>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tiring</a:t>
            </a:r>
            <a:pPr indent="0" marL="0">
              <a:buNone/>
            </a:pPr>
            <a:r>
              <a:rPr lang="ar-SA" sz="1000" i="1" dirty="0">
                <a:solidFill>
                  <a:srgbClr val="5A6472"/>
                </a:solidFill>
                <a:latin typeface="Calibri" pitchFamily="34" charset="0"/>
                <a:ea typeface="Amiri" pitchFamily="2" charset="-78"/>
                <a:cs typeface="Amiri" pitchFamily="2" charset="-78"/>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rewarding</a:t>
            </a:r>
            <a:pPr indent="0" marL="0">
              <a:buNone/>
            </a:pPr>
            <a:r>
              <a:rPr lang="ar-SA" sz="1000" i="1" dirty="0">
                <a:solidFill>
                  <a:srgbClr val="5A6472"/>
                </a:solidFill>
                <a:latin typeface="Calibri" pitchFamily="34" charset="0"/>
                <a:ea typeface="Amiri" pitchFamily="2" charset="-78"/>
                <a:cs typeface="Amiri" pitchFamily="2" charset="-78"/>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team</a:t>
            </a:r>
            <a:pPr indent="0" marL="0">
              <a:buNone/>
            </a:pPr>
            <a:r>
              <a:rPr lang="ar-SA" sz="1000" i="1" dirty="0">
                <a:solidFill>
                  <a:srgbClr val="5A6472"/>
                </a:solidFill>
                <a:latin typeface="Calibri" pitchFamily="34" charset="0"/>
                <a:ea typeface="Amiri" pitchFamily="2" charset="-78"/>
                <a:cs typeface="Amiri" pitchFamily="2" charset="-78"/>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D3-L01: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D3-L02 · The Workplace — Environments and Work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بِيئَةُ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 “is” — a woman’s job takes -atun — fī goes before the place.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D3-L01 · Jobs and Professions — Vocabulary and Gender</dc:title>
  <dc:subject>PptxGenJS Presentation</dc:subject>
  <dc:creator>Al Madina Online School · Arabic Department</dc:creator>
  <cp:lastModifiedBy>Al Madina Online School · Arabic Department</cp:lastModifiedBy>
  <cp:revision>1</cp:revision>
  <dcterms:created xsi:type="dcterms:W3CDTF">2026-10-11T06:40:42Z</dcterms:created>
  <dcterms:modified xsi:type="dcterms:W3CDTF">2026-10-11T06:40:42Z</dcterms:modified>
</cp:coreProperties>
</file>