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D3 Work and Careers › D3-L07. The website lesson “Arabic Proverbs and Values — Work Ethic and Success”: vocabulary, grammar rules and quiz, patterns, common mistakes, sorter, listening, reading, speaking prompts and model, writing task and model, differentiation, final check and the lesson mission. Picture match: website visual game “Arabic Proverbs and Values — Work Ethic and Success”.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learn three proverbs by heart (مَنْ جَدَّ وَجَدَ · الصَّبْرُ مِفْتَاحُ الفَرَجِ · الاِتِّحَادُ قُوَّةٌ) and match each to a situation. Develop: explain the meaning (يَعْنِي هٰذَا المَثَلُ أَنَّ …) and give advice with a command / prohibition. Stretch: apply two proverbs to real cases and justify (يَنْطَبِقُ … عَلَى … لِأَنَّ …).
• Commands return from F6-L08 (اِذْهَبْ / اِذْهَبِي): today with work verbs (اِجْتَهِدْ، اِجْتَهِدِي). NEW: prohibition لَا تَـ … (jussive, no final vowel).
• Islamic Studies link (teacher choice): the work value of إِتْقَانٌ is often linked to the hadith إِنَّ اللّٰهَ يُحِبُّ إِذَا عَمِلَ أَحَدُكُمْ عَمَلًا أَنْ يُتْقِنَهُ (reported by al-Bayhaqī and aṭ-Ṭabarānī). Present it as a hadith, not a proverb.
• Interpret, don’t translate word by word: الصَّبْرُ مِفْتَاحُ الفَرَجِ is literally “patience is the key to relief”.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D3-L06. Question 3 retrieves D3-L06; question 4 retrieves F6-L08 commands (needed today); question 5 retrieves D3-L03.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proverb gives advice in a few words. Explain the MESSAGE, then apply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almost every key word today is shared — صبر، علم، امانت، اتحاد، نور (and اتحاد میں برکت ہے “there is blessing in unity” is a close Urdu cousin of الاِتِّحَادُ قُوَّةٌ). Ask students for Urdu proverbs with the same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Proverbs (website vocabulary (1 of 2)). Hear → Say → See → Use. Transliteration is printed for Core students (cover it for Develop/Stretch).
Six proverbs + six VALUE nouns. Say each proverb, then its message in one English sentence. مَنْ جَدَّ وَجَدَ rhymes (jadda — wajada): a memory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Proverbs (website vocabulary (2 of 2)). Hear → Say → See → Use. Transliteration is printed for Core students (cover it for Develop/Stretch).
Six proverbs + six VALUE nouns. Say each proverb, then its message in one English sentence. مَنْ جَدَّ وَجَدَ rhymes (jadda — wajada): a memory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 values (website vocabulary (1 of 2)). Hear → Say → See → Use. Transliteration is printed for Core students (cover it for Develop/Stretch).
FLEX: teach if time allows; otherwise these are on the website vocabulary tab for homework.
Work values as adjectives (FLEX, review from D3-L03): every value noun has a person adjective — الأَمَانَةُ → أَمِينٌ، المَسْؤُولِيَّةُ → مَسْؤُولٌ.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Work values (website vocabulary (2 of 2)). Hear → Say → See → Use. Transliteration is printed for Core students (cover it for Develop/Stretch).
FLEX: teach if time allows; otherwise these are on the website vocabulary tab for homework.
Work values as adjectives (FLEX, review from D3-L03): every value noun has a person adjective — الأَمَانَةُ → أَمِينٌ، المَسْؤُولِيَّةُ → مَسْؤُولٌ.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Interpretation (website vocabulary (1 of 2)). Hear → Say → See → Use. Transliteration is printed for Core students (cover it for Develop/Stretch).
FLEX: teach if time allows; otherwise these are on the website vocabulary tab for homework.
Interpretation connectors (FLEX): today use لِأَنَّ and عَلَى سَبِيلِ المِثَالِ to justify a proverb.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Interpretation (website vocabulary (2 of 2)). Hear → Say → See → Use. Transliteration is printed for Core students (cover it for Develop/Stretch).
FLEX: teach if time allows; otherwise these are on the website vocabulary tab for homework.
Interpretation connectors (FLEX): today use لِأَنَّ and عَلَى سَبِيلِ المِثَالِ to justify a proverb.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“Positive command” (اِفْعَلْ / اِفْعَلِي: the imperative changes for masculine and feminine addressees) and “Negative command” (لَا + مُضَارِعٌ مَجْزُومٌ: لا الناهية with the jussive). Website examples: اِجْتَهِدْ فِي عَمَلِكَ · اِجْتَهِدِي فِي عَمَلِكِ · لَا تُؤَجِّلْ عَمَلَ اليَوْمِ · لَا تُهْمِلِي التَّفَاصِيلَ.
Link: F6-L08 directions (اِذْهَبْ / اِذْهَبِي / اِذْهَبُوا). Jussive = the present verb with no final -u: تُؤَجِّلُ → لَا تُؤَجِّلْ; a girl: تُؤَجِّلِينَ → لَا تُؤَجِّلِي (the -na drops). Group (Stretch): لَا تُؤَجِّلُوا.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“Meaning of a proverb” (يَعْنِي هٰذَا المَثَلُ أَنَّ …: interpret the message rather than translating each word only) and “Application” (يَنْطَبِقُ هٰذَا المَثَلُ عَلَى … لِأَنَّ …: connect the proverb to a realistic case and justify it). Website examples as shown.
Error pair teacher-chosen (the website common error is generic). In speech the difference is one vowel, but in meaning: لَا تُؤَجِّلُ (indicative) = “you don’t postpone” (a statement), لَا تُؤَجِّلْ = “don’t postpone!”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“فَهْمُ الأَمْثَالِ وَرَبْطُهَا بِالسُّلُوكِ”
• Positive command: The imperative changes for masculine and feminine addressees.
• Negative command: Use لا الناهية with the jussive.
• Meaning of a proverb: Interpret the message rather than translating each word only.
• Application: Connect the proverb to a realistic case and justify it.
Website common error: Do not translate a proverb word for word: explain its message (يَعْنِي … أَنَّ …), and use the jussive after لَا الناهية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reading text (“patience is important when facing a difficult project”). Steps: proverb → meaning → case → advice. لَا تَيْأَسْ (don’t despair) is a useful extra prohibition.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Arabic Proverbs and Values — Work Ethic and Success”)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which proverb matches each card? (الاِتِّحَادُ قُوَّةٌ → cooperation; مَنْ جَدَّ وَجَدَ → perseverance). Other website cards: مَنْ جَدَّ وَجَدَ · الأَمَانَةُ ضَرُورِيَّةٌ فِي العَمَلِ · التَّعَلُّمُ المُسْتَمِرُّ يُطَوِّرُ المَهَارَاتِ.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Arabic Proverbs and Values — Work Ethic and Success”)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which proverb matches each card? (الاِتِّحَادُ قُوَّةٌ → cooperation; مَنْ جَدَّ وَجَدَ → perseverance). Other website cards: مَنْ جَدَّ وَجَدَ · الأَمَانَةُ ضَرُورِيَّةٌ فِي العَمَلِ · التَّعَلُّمُ المُسْتَمِرُّ يُطَوِّرُ المَهَارَاتِ.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the proverbs and values: effort and patience, or teamwork and quality?
Then say which proverb you would give to (a) a student who gives up, (b) a group that argues.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the proverbs and values: effort and patience, or teamwork and quality?
Then say which proverb you would give to (a) a student who gives up, (b) a group that argues.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6. Develop / Stretch: all 6.
Listen 1: just listen. Listen 2: note answers. Then chat the letters.
Support: after the second listening, show the read-along slide (Arabic + English, line by line) for Core students.
SCRIPT (read aloud):
تَأَخَّرَ سَعِيدٌ فِي إِنْجَازِ مَشْرُوعِهِ لِأَنَّهُ كَانَ يُؤَجِّلُ العَمَلَ كُلَّ يَوْمٍ. فِي النِّهَايَةِ اضْطُرَّ إِلَى العَمَلِ بِسُرْعَةٍ وَارْتَكَبَ أَخْطَاءً كَثِيرَةً. نَصَحَهُ مُدَرِّسُهُ بِقَوْلِهِ: «لَا تُؤَجِّلْ عَمَلَ اليَوْمِ إِلَى الغَدِ». أَمَّا فَرِيقُ لَيْلَى فَقَدْ قَسَّمَ المَهَامَّ وَتَعَاوَنَ، فَنَجَحَ مَشْرُوعُهُمْ؛ وَهُنَا يَنْطَبِقُ مَثَلُ «الاِتِّحَادُ قُوَّةٌ».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عَلَى مَنْ يَنْطَبِقُ؟ (Who does it apply to?)
B: يَنْطَبِقُ عَلَى الطُّلَّابِ قَبْلَ الاِمْتِحَانَاتِ؛ لَا تُؤَجِّلُوا المُرَاجَعَةَ! (It applies to students before exams — don’t put off revision!)
Teacher-written prompts and model (the website prompts are generic). Model continues: A: عَلَى مَنْ يَنْطَبِقُ؟ B: يَنْطَبِقُ عَلَى الطُّلَّابِ قَبْلَ الاِمْتِحَانَاتِ؛ لَا تُؤَجِّلُوا المُرَاجَعَةَ! (to a group: -ū). To a girl: مَا المَثَلُ المُفَضَّلُ لَدَيْكِ؟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Explain two Arabic proverbs and apply each one to a work or study situation.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«مَنْ جَدَّ وَجَدَ» · وَيَعْنِي أَنَّ الجُهْدَ … · يَنْطَبِقُ … عَلَى الطُّلَّابِ لِأَنَّ … · «الاِتِّحَادُ قُوَّةٌ» · عَلَى سَبِيلِ المِثَالِ · اِجْتَهِدْ، وَلَا تُؤَجِّلْ.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(D3-L08 · Reading — Jobs and Career Texts) will spend class time USING this language, so students prepare it tonight — short, simple, easy to access (school guidance: “Simple, Short, Interesting, Relevant, Easy to access”). The five words come from the website D3-L08 vocabulary (job adverts and requirements).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D3-L07</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D3-L07</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Arabic Proverbs and Values — Work Ethic and Success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cs typeface="Amiri" pitchFamily="2" charset="-78"/>
              </a:rPr>
              <a:t>الأَمْثَالُ العَرَبِيَّةُ وَالقِيَمُ — أَخْلَاقِيَّاتُ العَمَلِ وَالنَّجَاحُ</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Learn six Arabic proverbs about work, explain what each one means (</a:t>
            </a:r>
            <a:pPr algn="l" indent="0" marL="0">
              <a:buNone/>
            </a:pPr>
            <a:r>
              <a:rPr lang="ar-SA" altLang="en-US" sz="1800" dirty="0">
                <a:solidFill>
                  <a:srgbClr val="C6D2E6"/>
                </a:solidFill>
                <a:latin typeface="Amiri" pitchFamily="2" charset="-78"/>
                <a:cs typeface="Amiri" pitchFamily="2" charset="-78"/>
              </a:rPr>
              <a:t>يَعْنِي هٰذَا المَثَلُ أَنَّ</a:t>
            </a:r>
            <a:pPr algn="l" indent="0" marL="0">
              <a:buNone/>
            </a:pPr>
            <a:r>
              <a:rPr lang="en-US" sz="1400" dirty="0">
                <a:solidFill>
                  <a:srgbClr val="C6D2E6"/>
                </a:solidFill>
                <a:latin typeface="Calibri" pitchFamily="34" charset="0"/>
                <a:cs typeface="Amiri" pitchFamily="2" charset="-78"/>
              </a:rPr>
              <a:t> …), apply it to a real situation (</a:t>
            </a:r>
            <a:pPr algn="l" indent="0" marL="0">
              <a:buNone/>
            </a:pPr>
            <a:r>
              <a:rPr lang="ar-SA" altLang="en-US" sz="1800" dirty="0">
                <a:solidFill>
                  <a:srgbClr val="C6D2E6"/>
                </a:solidFill>
                <a:latin typeface="Amiri" pitchFamily="2" charset="-78"/>
                <a:cs typeface="Amiri" pitchFamily="2" charset="-78"/>
              </a:rPr>
              <a:t>يَنْطَبِقُ … عَلَى</a:t>
            </a:r>
            <a:pPr algn="l" indent="0" marL="0">
              <a:buNone/>
            </a:pPr>
            <a:r>
              <a:rPr lang="en-US" sz="1400" dirty="0">
                <a:solidFill>
                  <a:srgbClr val="C6D2E6"/>
                </a:solidFill>
                <a:latin typeface="Calibri" pitchFamily="34" charset="0"/>
                <a:cs typeface="Amiri" pitchFamily="2" charset="-78"/>
              </a:rPr>
              <a:t> …) and give advice with commands and prohibitions.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D3-L07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D3-L07</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Six proverbs, what they mean, and advice with commands.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proverb → value, fix and listen: which proverb fits?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D3-L08.</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مَثَلٌ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example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proverb</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lesson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الإِتْقَانُ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mastery, doing a job well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discipline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honesty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الوَظِيفَةَ.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مَرْحَبًا يَا صَدِيقِي.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يَسُرُّنِي أَنْ أَتَقَدَّمَ لِلوَظِيفَةِ.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right” to a girl.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 يَمِينًا.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اِنْعَطِفُوا يَمِينًا.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اِنْعَطِفِي يَمِينًا.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“honest”?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أَمِينٌ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مُبَادِرٌ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مَرِنٌ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مَثَلٌ</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example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proverb</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lesson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(D3-L06).</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الإِتْقَانُ</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mastery, doing a job well</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discipline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honesty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(D3-L06).</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الوَظِيفَةَ.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مَرْحَبًا يَا صَدِيقِي.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يَسُرُّنِي أَنْ أَتَقَدَّمَ لِلوَظِيفَةِ.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D3-L06: formal register.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“turn right” to a girl.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اِنْعَطِفْ يَمِينًا.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اِنْعَطِفُوا يَمِينًا.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اِنْعَطِفِي يَمِينًا.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F6-L08: -ī for a girl.</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“honest”?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أَمِينٌ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مُبَادِرٌ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مَرِنٌ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D3-L03 qualities.</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proverb gives advice in a few words. Explain the MESSAGE, then apply it.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مَنْ جَدَّ وَجَدَ</a:t>
            </a:r>
            <a:pPr rtl="1" algn="ctr" indent="0" marL="0">
              <a:lnSpc>
                <a:spcPct val="120000"/>
              </a:lnSpc>
              <a:buNone/>
            </a:pPr>
            <a:r>
              <a:rPr lang="ar-SA" altLang="en-US" sz="1950" b="1" dirty="0">
                <a:solidFill>
                  <a:srgbClr val="1B3B6F"/>
                </a:solidFill>
                <a:latin typeface="Amiri" pitchFamily="2" charset="-78"/>
                <a:cs typeface="Amiri" pitchFamily="2" charset="-78"/>
              </a:rPr>
              <a:t> · يَعْنِي هٰذَا المَثَلُ </a:t>
            </a:r>
            <a:pPr rtl="1" algn="ctr" indent="0" marL="0">
              <a:lnSpc>
                <a:spcPct val="120000"/>
              </a:lnSpc>
              <a:buNone/>
            </a:pPr>
            <a:r>
              <a:rPr lang="ar-SA" altLang="en-US" sz="1950" b="1" dirty="0">
                <a:solidFill>
                  <a:srgbClr val="D6336C"/>
                </a:solidFill>
                <a:latin typeface="Amiri" pitchFamily="2" charset="-78"/>
                <a:cs typeface="Amiri" pitchFamily="2" charset="-78"/>
              </a:rPr>
              <a:t>أَنَّ</a:t>
            </a:r>
            <a:pPr rtl="1" algn="ctr" indent="0" marL="0">
              <a:lnSpc>
                <a:spcPct val="120000"/>
              </a:lnSpc>
              <a:buNone/>
            </a:pPr>
            <a:r>
              <a:rPr lang="ar-SA" altLang="en-US" sz="1950" b="1" dirty="0">
                <a:solidFill>
                  <a:srgbClr val="1B3B6F"/>
                </a:solidFill>
                <a:latin typeface="Amiri" pitchFamily="2" charset="-78"/>
                <a:cs typeface="Amiri" pitchFamily="2" charset="-78"/>
              </a:rPr>
              <a:t> الجُهْدَ يُؤَدِّي إِلَى النَّجَاحِ</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six Arabic proverbs about work and success.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a proverb’s message with </a:t>
            </a:r>
            <a:pPr algn="l" indent="0" marL="0">
              <a:buNone/>
            </a:pPr>
            <a:r>
              <a:rPr lang="ar-SA" altLang="en-US" sz="1700" dirty="0">
                <a:solidFill>
                  <a:srgbClr val="1F2A37"/>
                </a:solidFill>
                <a:latin typeface="Amiri" pitchFamily="2" charset="-78"/>
                <a:cs typeface="Amiri" pitchFamily="2" charset="-78"/>
              </a:rPr>
              <a:t>يَعْنِي هٰذَا المَثَلُ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Give advice with commands (</a:t>
            </a:r>
            <a:pPr algn="l" indent="0" marL="0">
              <a:buNone/>
            </a:pPr>
            <a:r>
              <a:rPr lang="ar-SA" altLang="en-US" sz="1700" dirty="0">
                <a:solidFill>
                  <a:srgbClr val="1F2A37"/>
                </a:solidFill>
                <a:latin typeface="Amiri" pitchFamily="2" charset="-78"/>
                <a:cs typeface="Amiri" pitchFamily="2" charset="-78"/>
              </a:rPr>
              <a:t>اِفْعَلْ / اِفْعَلِي</a:t>
            </a:r>
            <a:pPr algn="l" indent="0" marL="0">
              <a:buNone/>
            </a:pPr>
            <a:r>
              <a:rPr lang="en-US" sz="1300" dirty="0">
                <a:solidFill>
                  <a:srgbClr val="1F2A37"/>
                </a:solidFill>
                <a:latin typeface="Calibri" pitchFamily="34" charset="0"/>
                <a:cs typeface="Amiri" pitchFamily="2" charset="-78"/>
              </a:rPr>
              <a:t>) and prohibitions (</a:t>
            </a:r>
            <a:pPr algn="l" indent="0" marL="0">
              <a:buNone/>
            </a:pPr>
            <a:r>
              <a:rPr lang="ar-SA" altLang="en-US" sz="1700" dirty="0">
                <a:solidFill>
                  <a:srgbClr val="1F2A37"/>
                </a:solidFill>
                <a:latin typeface="Amiri" pitchFamily="2" charset="-78"/>
                <a:cs typeface="Amiri" pitchFamily="2" charset="-78"/>
              </a:rPr>
              <a:t>لَا تَفْعَلْ</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a proverb to a real work or study situation.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three proverbs and what they mean.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match a proverb to a situation.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a proverb with yaʿnī …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advice with do / don’t.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apply two proverbs to real cases.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my choice of proverb.</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Proverbs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Work values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Interpretation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صَبْرٌ</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‎صبر‎ </a:t>
            </a:r>
            <a:pPr indent="0" marL="0">
              <a:buNone/>
            </a:pPr>
            <a:r>
              <a:rPr lang="en-US" sz="950" b="1" dirty="0">
                <a:solidFill>
                  <a:srgbClr val="2E8B57"/>
                </a:solidFill>
                <a:latin typeface="Calibri" pitchFamily="34" charset="0"/>
                <a:cs typeface="Amiri" pitchFamily="2" charset="-78"/>
              </a:rPr>
              <a:t> sabr · patience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عِلْمٌ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‎علم‎ </a:t>
            </a:r>
            <a:pPr indent="0" marL="0">
              <a:buNone/>
            </a:pPr>
            <a:r>
              <a:rPr lang="en-US" sz="950" b="1" dirty="0">
                <a:solidFill>
                  <a:srgbClr val="2E8B57"/>
                </a:solidFill>
                <a:latin typeface="Calibri" pitchFamily="34" charset="0"/>
                <a:cs typeface="Amiri" pitchFamily="2" charset="-78"/>
              </a:rPr>
              <a:t> ʿilm · knowledge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أَمَانَةٌ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‎امانت‎ </a:t>
            </a:r>
            <a:pPr indent="0" marL="0">
              <a:buNone/>
            </a:pPr>
            <a:r>
              <a:rPr lang="en-US" sz="950" b="1" dirty="0">
                <a:solidFill>
                  <a:srgbClr val="2E8B57"/>
                </a:solidFill>
                <a:latin typeface="Calibri" pitchFamily="34" charset="0"/>
                <a:cs typeface="Amiri" pitchFamily="2" charset="-78"/>
              </a:rPr>
              <a:t> amānat · trust, honesty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اِتِّحَادٌ</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‎اتحاد‎ </a:t>
            </a:r>
            <a:pPr indent="0" marL="0">
              <a:buNone/>
            </a:pPr>
            <a:r>
              <a:rPr lang="en-US" sz="950" b="1" dirty="0">
                <a:solidFill>
                  <a:srgbClr val="2E8B57"/>
                </a:solidFill>
                <a:latin typeface="Calibri" pitchFamily="34" charset="0"/>
                <a:cs typeface="Amiri" pitchFamily="2" charset="-78"/>
              </a:rPr>
              <a:t> ittihād · unity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نُورٌ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‎نور‎ </a:t>
            </a:r>
            <a:pPr indent="0" marL="0">
              <a:buNone/>
            </a:pPr>
            <a:r>
              <a:rPr lang="en-US" sz="950" b="1" dirty="0">
                <a:solidFill>
                  <a:srgbClr val="2E8B57"/>
                </a:solidFill>
                <a:latin typeface="Calibri" pitchFamily="34" charset="0"/>
                <a:cs typeface="Amiri" pitchFamily="2" charset="-78"/>
              </a:rPr>
              <a:t> nūr · light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جَدَّ 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Whoever strives succeeds</a:t>
            </a:r>
            <a:endParaRPr lang="en-US" sz="1350" dirty="0"/>
          </a:p>
          <a:p>
            <a:pPr indent="0" marL="0">
              <a:buNone/>
            </a:pPr>
            <a:r>
              <a:rPr lang="en-US" sz="1100" i="1" dirty="0">
                <a:solidFill>
                  <a:srgbClr val="5A6472"/>
                </a:solidFill>
                <a:latin typeface="Calibri" pitchFamily="34" charset="0"/>
                <a:cs typeface="Amiri" pitchFamily="2" charset="-78"/>
              </a:rPr>
              <a:t>man jad-da wa-ja-da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الصَّبْرُ مِفْتَاحُ الفَرَجِ</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Patience is the key to relief</a:t>
            </a:r>
            <a:endParaRPr lang="en-US" sz="1350" dirty="0"/>
          </a:p>
          <a:p>
            <a:pPr indent="0" marL="0">
              <a:buNone/>
            </a:pPr>
            <a:r>
              <a:rPr lang="en-US" sz="1100" i="1" dirty="0">
                <a:solidFill>
                  <a:srgbClr val="5A6472"/>
                </a:solidFill>
                <a:latin typeface="Calibri" pitchFamily="34" charset="0"/>
                <a:cs typeface="Amiri" pitchFamily="2" charset="-78"/>
              </a:rPr>
              <a:t>aṣ-ṣab-ru mif-tā-ḥu al-fa-ra-ji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cs typeface="Amiri" pitchFamily="2" charset="-78"/>
              </a:rPr>
              <a:t>لَا تُؤَجِّلْ عَمَلَ اليَوْمِ إِلَى الغَدِ</a:t>
            </a:r>
            <a:endParaRPr lang="ar-SA" sz="255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not postpone today’s work</a:t>
            </a:r>
            <a:endParaRPr lang="en-US" sz="1350" dirty="0"/>
          </a:p>
          <a:p>
            <a:pPr indent="0" marL="0">
              <a:buNone/>
            </a:pPr>
            <a:r>
              <a:rPr lang="en-US" sz="1100" i="1" dirty="0">
                <a:solidFill>
                  <a:srgbClr val="5A6472"/>
                </a:solidFill>
                <a:latin typeface="Calibri" pitchFamily="34" charset="0"/>
                <a:cs typeface="Amiri" pitchFamily="2" charset="-78"/>
              </a:rPr>
              <a:t>lā tu-ʾaj-jil ʿa-ma-la al-yaw-mi i-lā al-gha-di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الاِتِّحَادُ قُوَّةٌ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Unity is strength</a:t>
            </a:r>
            <a:endParaRPr lang="en-US" sz="1350" dirty="0"/>
          </a:p>
          <a:p>
            <a:pPr indent="0" marL="0">
              <a:buNone/>
            </a:pPr>
            <a:r>
              <a:rPr lang="en-US" sz="1100" i="1" dirty="0">
                <a:solidFill>
                  <a:srgbClr val="5A6472"/>
                </a:solidFill>
                <a:latin typeface="Calibri" pitchFamily="34" charset="0"/>
                <a:cs typeface="Amiri" pitchFamily="2" charset="-78"/>
              </a:rPr>
              <a:t>alt-ti-ḥā-du quw-wa-tun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العِلْمُ نُورٌ</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Knowledge is light</a:t>
            </a:r>
            <a:endParaRPr lang="en-US" sz="1350" dirty="0"/>
          </a:p>
          <a:p>
            <a:pPr indent="0" marL="0">
              <a:buNone/>
            </a:pPr>
            <a:r>
              <a:rPr lang="en-US" sz="1100" i="1" dirty="0">
                <a:solidFill>
                  <a:srgbClr val="5A6472"/>
                </a:solidFill>
                <a:latin typeface="Calibri" pitchFamily="34" charset="0"/>
                <a:cs typeface="Amiri" pitchFamily="2" charset="-78"/>
              </a:rPr>
              <a:t>al-ʿil-mu nū-run</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الإِتْقَانُ أَسَاسُ النَّجَاحِ</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Mastery is the basis of success</a:t>
            </a:r>
            <a:endParaRPr lang="en-US" sz="1350" dirty="0"/>
          </a:p>
          <a:p>
            <a:pPr indent="0" marL="0">
              <a:buNone/>
            </a:pPr>
            <a:r>
              <a:rPr lang="en-US" sz="1100" i="1" dirty="0">
                <a:solidFill>
                  <a:srgbClr val="5A6472"/>
                </a:solidFill>
                <a:latin typeface="Calibri" pitchFamily="34" charset="0"/>
                <a:cs typeface="Amiri" pitchFamily="2" charset="-78"/>
              </a:rPr>
              <a:t>al-it-qā-nu a-sā-su an-na-jā-ḥi</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المُثَابَرَةُ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perseverance</a:t>
            </a:r>
            <a:endParaRPr lang="en-US" sz="1350" dirty="0"/>
          </a:p>
          <a:p>
            <a:pPr indent="0" marL="0">
              <a:buNone/>
            </a:pPr>
            <a:r>
              <a:rPr lang="en-US" sz="1100" i="1" dirty="0">
                <a:solidFill>
                  <a:srgbClr val="5A6472"/>
                </a:solidFill>
                <a:latin typeface="Calibri" pitchFamily="34" charset="0"/>
                <a:cs typeface="Amiri" pitchFamily="2" charset="-78"/>
              </a:rPr>
              <a:t>al-mu-thā-ba-ra-tu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الأَمَانَةُ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honesty/trustworthiness</a:t>
            </a:r>
            <a:endParaRPr lang="en-US" sz="1350" dirty="0"/>
          </a:p>
          <a:p>
            <a:pPr indent="0" marL="0">
              <a:buNone/>
            </a:pPr>
            <a:r>
              <a:rPr lang="en-US" sz="1100" i="1" dirty="0">
                <a:solidFill>
                  <a:srgbClr val="5A6472"/>
                </a:solidFill>
                <a:latin typeface="Calibri" pitchFamily="34" charset="0"/>
                <a:cs typeface="Amiri" pitchFamily="2" charset="-78"/>
              </a:rPr>
              <a:t>al-a-mā-na-tu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الاِنْضِبَاطُ</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discipline</a:t>
            </a:r>
            <a:endParaRPr lang="en-US" sz="1350" dirty="0"/>
          </a:p>
          <a:p>
            <a:pPr indent="0" marL="0">
              <a:buNone/>
            </a:pPr>
            <a:r>
              <a:rPr lang="en-US" sz="1100" i="1" dirty="0">
                <a:solidFill>
                  <a:srgbClr val="5A6472"/>
                </a:solidFill>
                <a:latin typeface="Calibri" pitchFamily="34" charset="0"/>
                <a:cs typeface="Amiri" pitchFamily="2" charset="-78"/>
              </a:rPr>
              <a:t>aln-ḍi-bā-ṭu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المَسْؤُولِيَّةُ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responsibility</a:t>
            </a:r>
            <a:endParaRPr lang="en-US" sz="1350" dirty="0"/>
          </a:p>
          <a:p>
            <a:pPr indent="0" marL="0">
              <a:buNone/>
            </a:pPr>
            <a:r>
              <a:rPr lang="en-US" sz="1100" i="1" dirty="0">
                <a:solidFill>
                  <a:srgbClr val="5A6472"/>
                </a:solidFill>
                <a:latin typeface="Calibri" pitchFamily="34" charset="0"/>
                <a:cs typeface="Amiri" pitchFamily="2" charset="-78"/>
              </a:rPr>
              <a:t>al-mas-ʾū-liy-ya-tu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التَّعَاوُنُ</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cooperation</a:t>
            </a:r>
            <a:endParaRPr lang="en-US" sz="1350" dirty="0"/>
          </a:p>
          <a:p>
            <a:pPr indent="0" marL="0">
              <a:buNone/>
            </a:pPr>
            <a:r>
              <a:rPr lang="en-US" sz="1100" i="1" dirty="0">
                <a:solidFill>
                  <a:srgbClr val="5A6472"/>
                </a:solidFill>
                <a:latin typeface="Calibri" pitchFamily="34" charset="0"/>
                <a:cs typeface="Amiri" pitchFamily="2" charset="-78"/>
              </a:rPr>
              <a:t>at-ta-ʿā-wu-nu</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الجَوْدَةُ</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quality</a:t>
            </a:r>
            <a:endParaRPr lang="en-US" sz="1350" dirty="0"/>
          </a:p>
          <a:p>
            <a:pPr indent="0" marL="0">
              <a:buNone/>
            </a:pPr>
            <a:r>
              <a:rPr lang="en-US" sz="1100" i="1" dirty="0">
                <a:solidFill>
                  <a:srgbClr val="5A6472"/>
                </a:solidFill>
                <a:latin typeface="Calibri" pitchFamily="34" charset="0"/>
                <a:cs typeface="Amiri" pitchFamily="2" charset="-78"/>
              </a:rPr>
              <a:t>al-jaw-da-tu</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 values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مَسْؤُولٌ / مَسْؤُولَةٌ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responsible</a:t>
            </a:r>
            <a:endParaRPr lang="en-US" sz="1350" dirty="0"/>
          </a:p>
          <a:p>
            <a:pPr indent="0" marL="0">
              <a:buNone/>
            </a:pPr>
            <a:r>
              <a:rPr lang="en-US" sz="1100" i="1" dirty="0">
                <a:solidFill>
                  <a:srgbClr val="5A6472"/>
                </a:solidFill>
                <a:latin typeface="Calibri" pitchFamily="34" charset="0"/>
                <a:cs typeface="Amiri" pitchFamily="2" charset="-78"/>
              </a:rPr>
              <a:t>mas-ʾū-lun / mas-ʾū-la-tun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مَسْؤُولُونَ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مَسْؤُولَةٌ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مَسْؤُولٌ</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مُنَظَّمٌ / مُنَظَّمَةٌ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organised</a:t>
            </a:r>
            <a:endParaRPr lang="en-US" sz="1350" dirty="0"/>
          </a:p>
          <a:p>
            <a:pPr indent="0" marL="0">
              <a:buNone/>
            </a:pPr>
            <a:r>
              <a:rPr lang="en-US" sz="1100" i="1" dirty="0">
                <a:solidFill>
                  <a:srgbClr val="5A6472"/>
                </a:solidFill>
                <a:latin typeface="Calibri" pitchFamily="34" charset="0"/>
                <a:cs typeface="Amiri" pitchFamily="2" charset="-78"/>
              </a:rPr>
              <a:t>mu-naẓ-ẓa-mun / mu-naẓ-ẓa-ma-tun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مُنَظَّمُونَ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مُنَظَّمَةٌ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مُنَظَّمٌ</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صَبُورٌ / صَبُورَةٌ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patient</a:t>
            </a:r>
            <a:endParaRPr lang="en-US" sz="1350" dirty="0"/>
          </a:p>
          <a:p>
            <a:pPr indent="0" marL="0">
              <a:buNone/>
            </a:pPr>
            <a:r>
              <a:rPr lang="en-US" sz="1100" i="1" dirty="0">
                <a:solidFill>
                  <a:srgbClr val="5A6472"/>
                </a:solidFill>
                <a:latin typeface="Calibri" pitchFamily="34" charset="0"/>
                <a:cs typeface="Amiri" pitchFamily="2" charset="-78"/>
              </a:rPr>
              <a:t>ṣa-bū-run / ṣa-bū-ra-tun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صَبُورٌ</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مُجْتَهِدٌ / مُجْتَهِدَةٌ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hard-working</a:t>
            </a:r>
            <a:endParaRPr lang="en-US" sz="1350" dirty="0"/>
          </a:p>
          <a:p>
            <a:pPr indent="0" marL="0">
              <a:buNone/>
            </a:pPr>
            <a:r>
              <a:rPr lang="en-US" sz="1100" i="1" dirty="0">
                <a:solidFill>
                  <a:srgbClr val="5A6472"/>
                </a:solidFill>
                <a:latin typeface="Calibri" pitchFamily="34" charset="0"/>
                <a:cs typeface="Amiri" pitchFamily="2" charset="-78"/>
              </a:rPr>
              <a:t>muj-ta-hi-dun / muj-ta-hi-da-tun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مُجْتَهِدٌ</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مُبَادِرٌ / مُبَادِرَةٌ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proactive</a:t>
            </a:r>
            <a:endParaRPr lang="en-US" sz="1350" dirty="0"/>
          </a:p>
          <a:p>
            <a:pPr indent="0" marL="0">
              <a:buNone/>
            </a:pPr>
            <a:r>
              <a:rPr lang="en-US" sz="1100" i="1" dirty="0">
                <a:solidFill>
                  <a:srgbClr val="5A6472"/>
                </a:solidFill>
                <a:latin typeface="Calibri" pitchFamily="34" charset="0"/>
                <a:cs typeface="Amiri" pitchFamily="2" charset="-78"/>
              </a:rPr>
              <a:t>mu-bā-di-run / mu-bā-di-ra-tun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مُبَادِرُونَ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مُبَادِرَةٌ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مُبَادِرٌ</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100" name="Shape 97"/>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مَوْثُوقٌ بِهِ / مَوْثُوقَةٌ بِهَا</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reliable</a:t>
            </a:r>
            <a:endParaRPr lang="en-US" sz="1350" dirty="0"/>
          </a:p>
          <a:p>
            <a:pPr indent="0" marL="0">
              <a:buNone/>
            </a:pPr>
            <a:r>
              <a:rPr lang="en-US" sz="1100" i="1" dirty="0">
                <a:solidFill>
                  <a:srgbClr val="5A6472"/>
                </a:solidFill>
                <a:latin typeface="Calibri" pitchFamily="34" charset="0"/>
                <a:cs typeface="Amiri" pitchFamily="2" charset="-78"/>
              </a:rPr>
              <a:t>maw-thū-qun bi-hi / maw-thū-qa-tun bi-hā</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6" name="Text 10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مَوْثُوقٌ بِهِمْ</a:t>
            </a:r>
            <a:endParaRPr lang="ar-SA" sz="150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مَوْثُوقَةٌ بِهَا</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مَوْثُوقٌ بِهِ</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 values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Shape 17"/>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وَاثِقٌ / وَاثِقَةٌ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confident</a:t>
            </a:r>
            <a:endParaRPr lang="en-US" sz="1350" dirty="0"/>
          </a:p>
          <a:p>
            <a:pPr indent="0" marL="0">
              <a:buNone/>
            </a:pPr>
            <a:r>
              <a:rPr lang="en-US" sz="1100" i="1" dirty="0">
                <a:solidFill>
                  <a:srgbClr val="5A6472"/>
                </a:solidFill>
                <a:latin typeface="Calibri" pitchFamily="34" charset="0"/>
                <a:cs typeface="Amiri" pitchFamily="2" charset="-78"/>
              </a:rPr>
              <a:t>wā-thi-qun / wā-thi-qa-tun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وَاثِقُونَ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وَاثِقَةٌ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وَاثِقٌ</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Text 35"/>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مُتَعَاوِنٌ / مُتَعَاوِنَةٌ</a:t>
            </a:r>
            <a:endParaRPr lang="ar-SA" sz="3000" dirty="0"/>
          </a:p>
        </p:txBody>
      </p:sp>
      <p:sp>
        <p:nvSpPr>
          <p:cNvPr id="39" name="Text 36"/>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cooperative</a:t>
            </a:r>
            <a:endParaRPr lang="en-US" sz="1350" dirty="0"/>
          </a:p>
          <a:p>
            <a:pPr indent="0" marL="0">
              <a:buNone/>
            </a:pPr>
            <a:r>
              <a:rPr lang="en-US" sz="1100" i="1" dirty="0">
                <a:solidFill>
                  <a:srgbClr val="5A6472"/>
                </a:solidFill>
                <a:latin typeface="Calibri" pitchFamily="34" charset="0"/>
                <a:cs typeface="Amiri" pitchFamily="2" charset="-78"/>
              </a:rPr>
              <a:t>mu-ta-ʿā-wi-nun / mu-ta-ʿā-wi-na-tun</a:t>
            </a:r>
            <a:endParaRPr lang="en-US" sz="1350" dirty="0"/>
          </a:p>
        </p:txBody>
      </p:sp>
      <p:sp>
        <p:nvSpPr>
          <p:cNvPr id="40" name="Shape 37"/>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2" name="Text 39"/>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مُتَعَاوِنُونَ</a:t>
            </a:r>
            <a:endParaRPr lang="ar-SA" sz="1500" dirty="0"/>
          </a:p>
        </p:txBody>
      </p:sp>
      <p:sp>
        <p:nvSpPr>
          <p:cNvPr id="43" name="Shape 40"/>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5" name="Text 42"/>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مُتَعَاوِنَةٌ</a:t>
            </a:r>
            <a:endParaRPr lang="ar-SA" sz="1500" dirty="0"/>
          </a:p>
        </p:txBody>
      </p:sp>
      <p:sp>
        <p:nvSpPr>
          <p:cNvPr id="46" name="Shape 43"/>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8" name="Text 45"/>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مُتَعَاوِنٌ</a:t>
            </a:r>
            <a:endParaRPr lang="ar-SA" sz="1500" dirty="0"/>
          </a:p>
        </p:txBody>
      </p:sp>
      <p:sp>
        <p:nvSpPr>
          <p:cNvPr id="49" name="Shape 4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66928" y="1920240"/>
            <a:ext cx="310896" cy="310896"/>
          </a:xfrm>
          <a:prstGeom prst="ellipse">
            <a:avLst/>
          </a:prstGeom>
          <a:solidFill>
            <a:srgbClr val="F4F1EA"/>
          </a:solidFill>
          <a:ln w="12700">
            <a:solidFill>
              <a:srgbClr val="F4F1EA"/>
            </a:solidFill>
            <a:prstDash val="solid"/>
          </a:ln>
        </p:spPr>
      </p:sp>
      <p:sp>
        <p:nvSpPr>
          <p:cNvPr id="51" name="Text 4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52" name="Shape 49"/>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مَرِنٌ / مَرِنَةٌ</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flexible</a:t>
            </a:r>
            <a:endParaRPr lang="en-US" sz="1350" dirty="0"/>
          </a:p>
          <a:p>
            <a:pPr indent="0" marL="0">
              <a:buNone/>
            </a:pPr>
            <a:r>
              <a:rPr lang="en-US" sz="1100" i="1" dirty="0">
                <a:solidFill>
                  <a:srgbClr val="5A6472"/>
                </a:solidFill>
                <a:latin typeface="Calibri" pitchFamily="34" charset="0"/>
                <a:cs typeface="Amiri" pitchFamily="2" charset="-78"/>
              </a:rPr>
              <a:t>ma-ri-nun / ma-ri-na-tun</a:t>
            </a:r>
            <a:endParaRPr lang="en-US" sz="1350" dirty="0"/>
          </a:p>
        </p:txBody>
      </p:sp>
      <p:sp>
        <p:nvSpPr>
          <p:cNvPr id="56" name="Shape 53"/>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مَرِنُونَ</a:t>
            </a:r>
            <a:endParaRPr lang="ar-SA" sz="1500" dirty="0"/>
          </a:p>
        </p:txBody>
      </p:sp>
      <p:sp>
        <p:nvSpPr>
          <p:cNvPr id="59" name="Shape 56"/>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1" name="Text 58"/>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مَرِنَةٌ</a:t>
            </a:r>
            <a:endParaRPr lang="ar-SA" sz="1500" dirty="0"/>
          </a:p>
        </p:txBody>
      </p:sp>
      <p:sp>
        <p:nvSpPr>
          <p:cNvPr id="62" name="Shape 59"/>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4" name="Text 61"/>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مَرِنٌ</a:t>
            </a:r>
            <a:endParaRPr lang="ar-SA" sz="1500" dirty="0"/>
          </a:p>
        </p:txBody>
      </p:sp>
      <p:sp>
        <p:nvSpPr>
          <p:cNvPr id="65" name="Shape 6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8211312"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68" name="Shape 65"/>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9" name="Text 66"/>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0" name="Text 67"/>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هَادِئٌ / هَادِئَةٌ</a:t>
            </a:r>
            <a:endParaRPr lang="ar-SA" sz="3000" dirty="0"/>
          </a:p>
        </p:txBody>
      </p:sp>
      <p:sp>
        <p:nvSpPr>
          <p:cNvPr id="71" name="Text 68"/>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calm</a:t>
            </a:r>
            <a:endParaRPr lang="en-US" sz="1350" dirty="0"/>
          </a:p>
          <a:p>
            <a:pPr indent="0" marL="0">
              <a:buNone/>
            </a:pPr>
            <a:r>
              <a:rPr lang="en-US" sz="1100" i="1" dirty="0">
                <a:solidFill>
                  <a:srgbClr val="5A6472"/>
                </a:solidFill>
                <a:latin typeface="Calibri" pitchFamily="34" charset="0"/>
                <a:cs typeface="Amiri" pitchFamily="2" charset="-78"/>
              </a:rPr>
              <a:t>hā-di-ʾun / hā-di-ʾa-tun</a:t>
            </a:r>
            <a:endParaRPr lang="en-US" sz="1350" dirty="0"/>
          </a:p>
        </p:txBody>
      </p:sp>
      <p:sp>
        <p:nvSpPr>
          <p:cNvPr id="72" name="Shape 69"/>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هَادِئُونَ</a:t>
            </a:r>
            <a:endParaRPr lang="ar-SA" sz="1500" dirty="0"/>
          </a:p>
        </p:txBody>
      </p:sp>
      <p:sp>
        <p:nvSpPr>
          <p:cNvPr id="75" name="Shape 72"/>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76" name="Text 73"/>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77" name="Text 74"/>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هَادِئَةٌ</a:t>
            </a:r>
            <a:endParaRPr lang="ar-SA" sz="1500" dirty="0"/>
          </a:p>
        </p:txBody>
      </p:sp>
      <p:sp>
        <p:nvSpPr>
          <p:cNvPr id="78" name="Shape 75"/>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هَادِئٌ</a:t>
            </a:r>
            <a:endParaRPr lang="ar-SA" sz="1500" dirty="0"/>
          </a:p>
        </p:txBody>
      </p:sp>
      <p:sp>
        <p:nvSpPr>
          <p:cNvPr id="81" name="Shape 7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2" name="Shape 79"/>
          <p:cNvSpPr/>
          <p:nvPr/>
        </p:nvSpPr>
        <p:spPr>
          <a:xfrm>
            <a:off x="4389120" y="4261104"/>
            <a:ext cx="310896" cy="310896"/>
          </a:xfrm>
          <a:prstGeom prst="ellipse">
            <a:avLst/>
          </a:prstGeom>
          <a:solidFill>
            <a:srgbClr val="F4F1EA"/>
          </a:solidFill>
          <a:ln w="12700">
            <a:solidFill>
              <a:srgbClr val="F4F1EA"/>
            </a:solidFill>
            <a:prstDash val="solid"/>
          </a:ln>
        </p:spPr>
      </p:sp>
      <p:sp>
        <p:nvSpPr>
          <p:cNvPr id="83" name="Text 8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84" name="Shape 81"/>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85" name="Text 82"/>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86" name="Text 8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طَمُوحٌ / طَمُوحَةٌ</a:t>
            </a:r>
            <a:endParaRPr lang="ar-SA" sz="3000" dirty="0"/>
          </a:p>
        </p:txBody>
      </p:sp>
      <p:sp>
        <p:nvSpPr>
          <p:cNvPr id="87" name="Text 8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ambitious</a:t>
            </a:r>
            <a:endParaRPr lang="en-US" sz="1350" dirty="0"/>
          </a:p>
          <a:p>
            <a:pPr indent="0" marL="0">
              <a:buNone/>
            </a:pPr>
            <a:r>
              <a:rPr lang="en-US" sz="1100" i="1" dirty="0">
                <a:solidFill>
                  <a:srgbClr val="5A6472"/>
                </a:solidFill>
                <a:latin typeface="Calibri" pitchFamily="34" charset="0"/>
                <a:cs typeface="Amiri" pitchFamily="2" charset="-78"/>
              </a:rPr>
              <a:t>ṭa-mū-ḥun / ṭa-mū-ḥa-tun</a:t>
            </a:r>
            <a:endParaRPr lang="en-US" sz="1350" dirty="0"/>
          </a:p>
        </p:txBody>
      </p:sp>
      <p:sp>
        <p:nvSpPr>
          <p:cNvPr id="88" name="Shape 8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9" name="Text 8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0" name="Text 8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طَمُوحُونَ</a:t>
            </a:r>
            <a:endParaRPr lang="ar-SA" sz="1500" dirty="0"/>
          </a:p>
        </p:txBody>
      </p:sp>
      <p:sp>
        <p:nvSpPr>
          <p:cNvPr id="91" name="Shape 8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92" name="Text 8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93" name="Text 9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طَمُوحَةٌ</a:t>
            </a:r>
            <a:endParaRPr lang="ar-SA" sz="1500" dirty="0"/>
          </a:p>
        </p:txBody>
      </p:sp>
      <p:sp>
        <p:nvSpPr>
          <p:cNvPr id="94" name="Shape 9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96" name="Text 9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طَمُوحٌ</a:t>
            </a:r>
            <a:endParaRPr lang="ar-SA" sz="1500" dirty="0"/>
          </a:p>
        </p:txBody>
      </p:sp>
      <p:sp>
        <p:nvSpPr>
          <p:cNvPr id="97" name="Shape 9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8" name="Shape 95"/>
          <p:cNvSpPr/>
          <p:nvPr/>
        </p:nvSpPr>
        <p:spPr>
          <a:xfrm>
            <a:off x="566928" y="4261104"/>
            <a:ext cx="310896" cy="310896"/>
          </a:xfrm>
          <a:prstGeom prst="ellipse">
            <a:avLst/>
          </a:prstGeom>
          <a:solidFill>
            <a:srgbClr val="F4F1EA"/>
          </a:solidFill>
          <a:ln w="12700">
            <a:solidFill>
              <a:srgbClr val="F4F1EA"/>
            </a:solidFill>
            <a:prstDash val="solid"/>
          </a:ln>
        </p:spPr>
      </p:sp>
      <p:sp>
        <p:nvSpPr>
          <p:cNvPr id="99" name="Text 9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100" name="Shape 97"/>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1" name="Text 98"/>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02" name="Text 9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أَمِينٌ / أَمِينَةٌ</a:t>
            </a:r>
            <a:endParaRPr lang="ar-SA" sz="3000" dirty="0"/>
          </a:p>
        </p:txBody>
      </p:sp>
      <p:sp>
        <p:nvSpPr>
          <p:cNvPr id="103" name="Text 10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honest</a:t>
            </a:r>
            <a:endParaRPr lang="en-US" sz="1350" dirty="0"/>
          </a:p>
          <a:p>
            <a:pPr indent="0" marL="0">
              <a:buNone/>
            </a:pPr>
            <a:r>
              <a:rPr lang="en-US" sz="1100" i="1" dirty="0">
                <a:solidFill>
                  <a:srgbClr val="5A6472"/>
                </a:solidFill>
                <a:latin typeface="Calibri" pitchFamily="34" charset="0"/>
                <a:cs typeface="Amiri" pitchFamily="2" charset="-78"/>
              </a:rPr>
              <a:t>a-mī-nun / a-mī-na-tun</a:t>
            </a:r>
            <a:endParaRPr lang="en-US" sz="1350" dirty="0"/>
          </a:p>
        </p:txBody>
      </p:sp>
      <p:sp>
        <p:nvSpPr>
          <p:cNvPr id="104" name="Shape 10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05" name="Text 10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6" name="Text 10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أُمَنَاءُ</a:t>
            </a:r>
            <a:endParaRPr lang="ar-SA" sz="1500" dirty="0"/>
          </a:p>
        </p:txBody>
      </p:sp>
      <p:sp>
        <p:nvSpPr>
          <p:cNvPr id="107" name="Shape 10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08" name="Text 10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9" name="Text 10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أَمِينَةٌ</a:t>
            </a:r>
            <a:endParaRPr lang="ar-SA" sz="1500" dirty="0"/>
          </a:p>
        </p:txBody>
      </p:sp>
      <p:sp>
        <p:nvSpPr>
          <p:cNvPr id="110" name="Shape 10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11" name="Text 10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12" name="Text 10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أَمِينٌ</a:t>
            </a:r>
            <a:endParaRPr lang="ar-SA" sz="15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Interpretation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Interpretation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DO AND DON’T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Advice: do · don’t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اِفْعَلْ · لَا تَفْعَلْ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57707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455371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girl</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 a boy</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61364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-ø · -ī</a:t>
            </a:r>
            <a:endParaRPr lang="en-US" sz="1100" dirty="0"/>
          </a:p>
        </p:txBody>
      </p:sp>
      <p:sp>
        <p:nvSpPr>
          <p:cNvPr id="21" name="Text 18"/>
          <p:cNvSpPr txBox="1"/>
          <p:nvPr/>
        </p:nvSpPr>
        <p:spPr>
          <a:xfrm>
            <a:off x="4572000"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اِجْتَهِدِي</a:t>
            </a:r>
            <a:pPr rtl="1" algn="ctr" indent="0" marL="0">
              <a:buNone/>
            </a:pPr>
            <a:r>
              <a:rPr lang="ar-SA" altLang="en-US" sz="2100" b="1" dirty="0">
                <a:solidFill>
                  <a:srgbClr val="1B3B6F"/>
                </a:solidFill>
                <a:latin typeface="Amiri" pitchFamily="2" charset="-78"/>
                <a:cs typeface="Amiri" pitchFamily="2" charset="-78"/>
              </a:rPr>
              <a:t> فِي عَمَلِكِ.</a:t>
            </a:r>
            <a:endParaRPr lang="ar-SA" sz="2100" dirty="0"/>
          </a:p>
        </p:txBody>
      </p:sp>
      <p:sp>
        <p:nvSpPr>
          <p:cNvPr id="22" name="Text 19"/>
          <p:cNvSpPr txBox="1"/>
          <p:nvPr/>
        </p:nvSpPr>
        <p:spPr>
          <a:xfrm>
            <a:off x="4526280"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Work hard at your job.</a:t>
            </a:r>
            <a:endParaRPr lang="en-US" sz="950" dirty="0"/>
          </a:p>
        </p:txBody>
      </p:sp>
      <p:sp>
        <p:nvSpPr>
          <p:cNvPr id="23" name="Text 20"/>
          <p:cNvSpPr txBox="1"/>
          <p:nvPr/>
        </p:nvSpPr>
        <p:spPr>
          <a:xfrm>
            <a:off x="548640" y="2286000"/>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اِجْتَهِدْ</a:t>
            </a:r>
            <a:pPr rtl="1" algn="ctr" indent="0" marL="0">
              <a:buNone/>
            </a:pPr>
            <a:r>
              <a:rPr lang="ar-SA" altLang="en-US" sz="2100" b="1" dirty="0">
                <a:solidFill>
                  <a:srgbClr val="1B3B6F"/>
                </a:solidFill>
                <a:latin typeface="Amiri" pitchFamily="2" charset="-78"/>
                <a:cs typeface="Amiri" pitchFamily="2" charset="-78"/>
              </a:rPr>
              <a:t> فِي عَمَلِكَ.</a:t>
            </a:r>
            <a:endParaRPr lang="ar-SA" sz="2100" dirty="0"/>
          </a:p>
        </p:txBody>
      </p:sp>
      <p:sp>
        <p:nvSpPr>
          <p:cNvPr id="24" name="Text 21"/>
          <p:cNvSpPr txBox="1"/>
          <p:nvPr/>
        </p:nvSpPr>
        <p:spPr>
          <a:xfrm>
            <a:off x="502920" y="2706624"/>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Work hard at your job.</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61364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-ø · -ī</a:t>
            </a:r>
            <a:endParaRPr lang="en-US" sz="1100" dirty="0"/>
          </a:p>
        </p:txBody>
      </p:sp>
      <p:sp>
        <p:nvSpPr>
          <p:cNvPr id="29" name="Text 26"/>
          <p:cNvSpPr txBox="1"/>
          <p:nvPr/>
        </p:nvSpPr>
        <p:spPr>
          <a:xfrm>
            <a:off x="4572000" y="3072384"/>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رَاجِعِي</a:t>
            </a:r>
            <a:pPr rtl="1" algn="ctr" indent="0" marL="0">
              <a:buNone/>
            </a:pPr>
            <a:r>
              <a:rPr lang="ar-SA" altLang="en-US" sz="2100" b="1" dirty="0">
                <a:solidFill>
                  <a:srgbClr val="1B3B6F"/>
                </a:solidFill>
                <a:latin typeface="Amiri" pitchFamily="2" charset="-78"/>
                <a:cs typeface="Amiri" pitchFamily="2" charset="-78"/>
              </a:rPr>
              <a:t> عَمَلَكِ.</a:t>
            </a:r>
            <a:endParaRPr lang="ar-SA" sz="2100" dirty="0"/>
          </a:p>
        </p:txBody>
      </p:sp>
      <p:sp>
        <p:nvSpPr>
          <p:cNvPr id="30" name="Text 27"/>
          <p:cNvSpPr txBox="1"/>
          <p:nvPr/>
        </p:nvSpPr>
        <p:spPr>
          <a:xfrm>
            <a:off x="4526280"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Check your work.</a:t>
            </a:r>
            <a:endParaRPr lang="en-US" sz="950" dirty="0"/>
          </a:p>
        </p:txBody>
      </p:sp>
      <p:sp>
        <p:nvSpPr>
          <p:cNvPr id="31" name="Text 28"/>
          <p:cNvSpPr txBox="1"/>
          <p:nvPr/>
        </p:nvSpPr>
        <p:spPr>
          <a:xfrm>
            <a:off x="548640" y="3072384"/>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رَاجِعْ</a:t>
            </a:r>
            <a:pPr rtl="1" algn="ctr" indent="0" marL="0">
              <a:buNone/>
            </a:pPr>
            <a:r>
              <a:rPr lang="ar-SA" altLang="en-US" sz="2100" b="1" dirty="0">
                <a:solidFill>
                  <a:srgbClr val="1B3B6F"/>
                </a:solidFill>
                <a:latin typeface="Amiri" pitchFamily="2" charset="-78"/>
                <a:cs typeface="Amiri" pitchFamily="2" charset="-78"/>
              </a:rPr>
              <a:t> عَمَلَكَ.</a:t>
            </a:r>
            <a:endParaRPr lang="ar-SA" sz="2100" dirty="0"/>
          </a:p>
        </p:txBody>
      </p:sp>
      <p:sp>
        <p:nvSpPr>
          <p:cNvPr id="32" name="Text 29"/>
          <p:cNvSpPr txBox="1"/>
          <p:nvPr/>
        </p:nvSpPr>
        <p:spPr>
          <a:xfrm>
            <a:off x="502920" y="3493008"/>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Check your work.</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861364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lā tu-…</a:t>
            </a:r>
            <a:endParaRPr lang="en-US" sz="1100" dirty="0"/>
          </a:p>
        </p:txBody>
      </p:sp>
      <p:sp>
        <p:nvSpPr>
          <p:cNvPr id="37" name="Text 34"/>
          <p:cNvSpPr txBox="1"/>
          <p:nvPr/>
        </p:nvSpPr>
        <p:spPr>
          <a:xfrm>
            <a:off x="4572000"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لَا تُؤَجِّلِي</a:t>
            </a:r>
            <a:pPr rtl="1" algn="ctr" indent="0" marL="0">
              <a:buNone/>
            </a:pPr>
            <a:r>
              <a:rPr lang="ar-SA" altLang="en-US" sz="2100" b="1" dirty="0">
                <a:solidFill>
                  <a:srgbClr val="1B3B6F"/>
                </a:solidFill>
                <a:latin typeface="Amiri" pitchFamily="2" charset="-78"/>
                <a:cs typeface="Amiri" pitchFamily="2" charset="-78"/>
              </a:rPr>
              <a:t> عَمَلَ اليَوْمِ.</a:t>
            </a:r>
            <a:endParaRPr lang="ar-SA" sz="2100" dirty="0"/>
          </a:p>
        </p:txBody>
      </p:sp>
      <p:sp>
        <p:nvSpPr>
          <p:cNvPr id="38" name="Text 35"/>
          <p:cNvSpPr txBox="1"/>
          <p:nvPr/>
        </p:nvSpPr>
        <p:spPr>
          <a:xfrm>
            <a:off x="4526280"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Don’t postpone today’s work.</a:t>
            </a:r>
            <a:endParaRPr lang="en-US" sz="950" dirty="0"/>
          </a:p>
        </p:txBody>
      </p:sp>
      <p:sp>
        <p:nvSpPr>
          <p:cNvPr id="39" name="Text 36"/>
          <p:cNvSpPr txBox="1"/>
          <p:nvPr/>
        </p:nvSpPr>
        <p:spPr>
          <a:xfrm>
            <a:off x="548640" y="3858768"/>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لَا تُؤَجِّلْ</a:t>
            </a:r>
            <a:pPr rtl="1" algn="ctr" indent="0" marL="0">
              <a:buNone/>
            </a:pPr>
            <a:r>
              <a:rPr lang="ar-SA" altLang="en-US" sz="2100" b="1" dirty="0">
                <a:solidFill>
                  <a:srgbClr val="1B3B6F"/>
                </a:solidFill>
                <a:latin typeface="Amiri" pitchFamily="2" charset="-78"/>
                <a:cs typeface="Amiri" pitchFamily="2" charset="-78"/>
              </a:rPr>
              <a:t> عَمَلَ اليَوْمِ.</a:t>
            </a:r>
            <a:endParaRPr lang="ar-SA" sz="2100" dirty="0"/>
          </a:p>
        </p:txBody>
      </p:sp>
      <p:sp>
        <p:nvSpPr>
          <p:cNvPr id="40" name="Text 37"/>
          <p:cNvSpPr txBox="1"/>
          <p:nvPr/>
        </p:nvSpPr>
        <p:spPr>
          <a:xfrm>
            <a:off x="502920" y="4279392"/>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Don’t postpone today’s work.</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61364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lā + jussive</a:t>
            </a:r>
            <a:endParaRPr lang="en-US" sz="1100" dirty="0"/>
          </a:p>
        </p:txBody>
      </p:sp>
      <p:sp>
        <p:nvSpPr>
          <p:cNvPr id="43" name="Text 40"/>
          <p:cNvSpPr txBox="1"/>
          <p:nvPr/>
        </p:nvSpPr>
        <p:spPr>
          <a:xfrm>
            <a:off x="4572000" y="4645152"/>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لَا تُهْمِلِي</a:t>
            </a:r>
            <a:pPr rtl="1" algn="ctr" indent="0" marL="0">
              <a:buNone/>
            </a:pPr>
            <a:r>
              <a:rPr lang="ar-SA" altLang="en-US" sz="2100" b="1" dirty="0">
                <a:solidFill>
                  <a:srgbClr val="1B3B6F"/>
                </a:solidFill>
                <a:latin typeface="Amiri" pitchFamily="2" charset="-78"/>
                <a:cs typeface="Amiri" pitchFamily="2" charset="-78"/>
              </a:rPr>
              <a:t> التَّفَاصِيلَ.</a:t>
            </a:r>
            <a:endParaRPr lang="ar-SA" sz="2100" dirty="0"/>
          </a:p>
        </p:txBody>
      </p:sp>
      <p:sp>
        <p:nvSpPr>
          <p:cNvPr id="44" name="Text 41"/>
          <p:cNvSpPr txBox="1"/>
          <p:nvPr/>
        </p:nvSpPr>
        <p:spPr>
          <a:xfrm>
            <a:off x="4526280" y="5065776"/>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Don’t neglect the details.</a:t>
            </a:r>
            <a:endParaRPr lang="en-US" sz="950" dirty="0"/>
          </a:p>
        </p:txBody>
      </p:sp>
      <p:sp>
        <p:nvSpPr>
          <p:cNvPr id="45" name="Text 42"/>
          <p:cNvSpPr txBox="1"/>
          <p:nvPr/>
        </p:nvSpPr>
        <p:spPr>
          <a:xfrm>
            <a:off x="548640" y="4645152"/>
            <a:ext cx="384048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لَا تُهْمِلْ</a:t>
            </a:r>
            <a:pPr rtl="1" algn="ctr" indent="0" marL="0">
              <a:buNone/>
            </a:pPr>
            <a:r>
              <a:rPr lang="ar-SA" altLang="en-US" sz="2100" b="1" dirty="0">
                <a:solidFill>
                  <a:srgbClr val="1B3B6F"/>
                </a:solidFill>
                <a:latin typeface="Amiri" pitchFamily="2" charset="-78"/>
                <a:cs typeface="Amiri" pitchFamily="2" charset="-78"/>
              </a:rPr>
              <a:t> التَّفَاصِيلَ.</a:t>
            </a:r>
            <a:endParaRPr lang="ar-SA" sz="2100" dirty="0"/>
          </a:p>
        </p:txBody>
      </p:sp>
      <p:sp>
        <p:nvSpPr>
          <p:cNvPr id="46" name="Text 43"/>
          <p:cNvSpPr txBox="1"/>
          <p:nvPr/>
        </p:nvSpPr>
        <p:spPr>
          <a:xfrm>
            <a:off x="502920" y="5065776"/>
            <a:ext cx="393192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Don’t neglect the details.</a:t>
            </a:r>
            <a:endParaRPr lang="en-US" sz="9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Notice -ka (your, boy) and -ki (your, girl) change too: ʿamalaka / ʿamalaki.</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EXPLAIN AND APPLY A PROVERB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it means · where it fits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يَعْنِي · يَنْطَبِقُ عَلَى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6B4C9A"/>
          </a:solidFill>
          <a:ln w="12700">
            <a:solidFill>
              <a:srgbClr val="6B4C9A"/>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PROVERB · CORE</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مَنْ جَدَّ وَجَدَ</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cs typeface="Amiri" pitchFamily="2" charset="-78"/>
              </a:rPr>
              <a:t>مَنْ جَدَّ وَجَدَ.</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Whoever strives, finds (success).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Learn it as a whole.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MEANING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يَعْنِي هٰذَا المَثَلُ أَنَّ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يَعْنِي هٰذَا المَثَلُ أَنَّ الجُهْدَ يُؤَدِّي إِلَى النَّجَاحِ.</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This proverb means that effort leads to success.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The message, not word for word.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0302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APPLY · STRETCH</a:t>
            </a:r>
            <a:endParaRPr lang="en-US" sz="850" dirty="0"/>
          </a:p>
        </p:txBody>
      </p:sp>
      <p:sp>
        <p:nvSpPr>
          <p:cNvPr id="34" name="Text 31"/>
          <p:cNvSpPr txBox="1"/>
          <p:nvPr/>
        </p:nvSpPr>
        <p:spPr>
          <a:xfrm>
            <a:off x="1943100"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يَنْطَبِقُ … عَلَى … لِأَنَّ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يَنْطَبِقُ «الاِتِّحَادُ قُوَّةٌ» عَلَى فَرِيقِ العَمَلِ لِأَنَّ التَّعَاوُنَ يُحَسِّنُ النَّتِيجَةَ.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“Unity is strength” applies to a work team because cooperation improves the result.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Case + reason.</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prohibition takes the jussive (no final -u).</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cs typeface="Amiri" pitchFamily="2" charset="-78"/>
              </a:rPr>
              <a:t>لَا تُؤَجِّلْ عَمَلَ اليَوْمِ.</a:t>
            </a:r>
            <a:endParaRPr lang="ar-SA" sz="18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B83227"/>
                </a:solidFill>
                <a:latin typeface="Amiri" pitchFamily="2" charset="-78"/>
                <a:cs typeface="Amiri" pitchFamily="2" charset="-78"/>
              </a:rPr>
              <a:t>لَا تُؤَجِّلُ عَمَلَ اليَوْمِ.</a:t>
            </a:r>
            <a:endParaRPr lang="ar-SA" sz="18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Commands, prohibitions and proverb interpretation</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فَهْمُ الأَمْثَالِ وَرَبْطُهَا بِالسُّلُوكِ</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Positive command</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اِفْعَلْ / اِفْعَلِي</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اِجْتَهِدْ فِي عَمَلِكَ.   ·   اِجْتَهِدِي فِي عَمَلِكِ.</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Negative command</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لَا + مُضَارِعٌ مَجْزُومٌ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لَا تُؤَجِّلْ عَمَلَ اليَوْمِ.   ·   لَا تُهْمِلِي التَّفَاصِيلَ.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Meaning of a proverb</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يَعْنِي هٰذَا المَثَلُ أَنَّ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يَعْنِي هٰذَا المَثَلُ أَنَّ الجُهْدَ يُؤَدِّي إِلَى النَّجَاحِ.</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Application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يَنْطَبِقُ هٰذَا المَثَلُ عَلَى ... لِأَنَّ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يَنْطَبِقُ «الاِتِّحَادُ قُوَّةٌ» عَلَى فَرِيقِ العَمَلِ لِأَنَّ التَّعَاوُنَ يُحَسِّنُ النَّتِيجَةَ.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“work hard” to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اِجْتَهِدْ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اِجْتَهِدُوا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اِجْتَهِدِي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prohibition (don’t …)?</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تُؤَجِّلْ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سَأُؤَجِّلُ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أُؤَجِّلُ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جَدَّ وَجَدَ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unity is strength</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whoever strives succeeds</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knowledge is light</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يَعْنِي هٰذَا المَثَلُ ___ الصَّبْرَ مُهِمٌّ.</a:t>
            </a:r>
            <a:endParaRPr lang="ar-SA" sz="150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لِأَنَّ</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“work hard” to a girl.</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اِجْتَهِدْ</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اِجْتَهِدُوا</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اِجْتَهِدِي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 a girl: -ī.</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prohibition (don’t …)?</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لَا تُؤَجِّلْ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سَأُؤَجِّلُ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أُؤَجِّلُ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lā + jussive.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جَدَّ وَجَدَ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unity is strength</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whoever strives succeeds</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knowledge is light</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jadda = strove; wajada = found.</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يَعْنِي هٰذَا المَثَلُ ___ الصَّبْرَ مُهِمٌّ.</a:t>
            </a:r>
            <a:endParaRPr lang="ar-SA" sz="150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لِأَنَّ</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yaʿnī … anna.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explain and apply a proverb</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Proverb</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a:t>
            </a:r>
            <a:pPr rtl="1" algn="ctr" indent="0" marL="0">
              <a:buNone/>
            </a:pPr>
            <a:r>
              <a:rPr lang="ar-SA" altLang="en-US" sz="2550" b="1" dirty="0">
                <a:solidFill>
                  <a:srgbClr val="1D5FBF"/>
                </a:solidFill>
                <a:latin typeface="Amiri" pitchFamily="2" charset="-78"/>
                <a:cs typeface="Amiri" pitchFamily="2" charset="-78"/>
              </a:rPr>
              <a:t>الصَّبْرُ مِفْتَاحُ الفَرَجِ</a:t>
            </a:r>
            <a:pPr rtl="1" algn="ctr" indent="0" marL="0">
              <a:buNone/>
            </a:pPr>
            <a:r>
              <a:rPr lang="ar-SA" altLang="en-US" sz="2550" b="1" dirty="0">
                <a:solidFill>
                  <a:srgbClr val="1B3B6F"/>
                </a:solidFill>
                <a:latin typeface="Amiri" pitchFamily="2" charset="-78"/>
                <a:cs typeface="Amiri" pitchFamily="2" charset="-78"/>
              </a:rPr>
              <a:t>»</a:t>
            </a:r>
            <a:endParaRPr lang="ar-SA" sz="25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Literally: patience is the key to relief.</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Meaning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يَعْنِي هٰذَا المَثَلُ </a:t>
            </a:r>
            <a:pPr rtl="1" algn="ctr" indent="0" marL="0">
              <a:lnSpc>
                <a:spcPct val="120000"/>
              </a:lnSpc>
              <a:buNone/>
            </a:pPr>
            <a:r>
              <a:rPr lang="ar-SA" altLang="en-US" sz="1750" b="1" dirty="0">
                <a:solidFill>
                  <a:srgbClr val="D6336C"/>
                </a:solidFill>
                <a:latin typeface="Amiri" pitchFamily="2" charset="-78"/>
                <a:cs typeface="Amiri" pitchFamily="2" charset="-78"/>
              </a:rPr>
              <a:t>أَنَّ</a:t>
            </a:r>
            <a:pPr rtl="1" algn="ctr" indent="0" marL="0">
              <a:lnSpc>
                <a:spcPct val="120000"/>
              </a:lnSpc>
              <a:buNone/>
            </a:pPr>
            <a:r>
              <a:rPr lang="ar-SA" altLang="en-US" sz="1750" b="1" dirty="0">
                <a:solidFill>
                  <a:srgbClr val="1B3B6F"/>
                </a:solidFill>
                <a:latin typeface="Amiri" pitchFamily="2" charset="-78"/>
                <a:cs typeface="Amiri" pitchFamily="2" charset="-78"/>
              </a:rPr>
              <a:t> الصَّبْرَ يُسَاعِدُنَا عَلَى حَلِّ المَشَاكِلِ.</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message.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Apply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cs typeface="Amiri" pitchFamily="2" charset="-78"/>
              </a:rPr>
              <a:t>يَنْطَبِقُ </a:t>
            </a:r>
            <a:pPr rtl="1" algn="ctr" indent="0" marL="0">
              <a:lnSpc>
                <a:spcPct val="120000"/>
              </a:lnSpc>
              <a:buNone/>
            </a:pPr>
            <a:r>
              <a:rPr lang="ar-SA" altLang="en-US" sz="1750" b="1" dirty="0">
                <a:solidFill>
                  <a:srgbClr val="0E7C86"/>
                </a:solidFill>
                <a:latin typeface="Amiri" pitchFamily="2" charset="-78"/>
                <a:cs typeface="Amiri" pitchFamily="2" charset="-78"/>
              </a:rPr>
              <a:t>عَلَى</a:t>
            </a:r>
            <a:pPr rtl="1" algn="ctr" indent="0" marL="0">
              <a:lnSpc>
                <a:spcPct val="120000"/>
              </a:lnSpc>
              <a:buNone/>
            </a:pPr>
            <a:r>
              <a:rPr lang="ar-SA" altLang="en-US" sz="1750" b="1" dirty="0">
                <a:solidFill>
                  <a:srgbClr val="1B3B6F"/>
                </a:solidFill>
                <a:latin typeface="Amiri" pitchFamily="2" charset="-78"/>
                <a:cs typeface="Amiri" pitchFamily="2" charset="-78"/>
              </a:rPr>
              <a:t> طَالِبٍ يُرَاجِعُ لِامْتِحَانٍ صَعْبٍ.</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real case.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Advice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D5FBF"/>
                </a:solidFill>
                <a:latin typeface="Amiri" pitchFamily="2" charset="-78"/>
                <a:cs typeface="Amiri" pitchFamily="2" charset="-78"/>
              </a:rPr>
              <a:t>لَا تَيْأَسْ</a:t>
            </a:r>
            <a:pPr rtl="1" algn="ctr" indent="0" marL="0">
              <a:lnSpc>
                <a:spcPct val="120000"/>
              </a:lnSpc>
              <a:buNone/>
            </a:pPr>
            <a:r>
              <a:rPr lang="ar-SA" altLang="en-US" sz="1900" b="1" dirty="0">
                <a:solidFill>
                  <a:srgbClr val="1B3B6F"/>
                </a:solidFill>
                <a:latin typeface="Amiri" pitchFamily="2" charset="-78"/>
                <a:cs typeface="Amiri" pitchFamily="2" charset="-78"/>
              </a:rPr>
              <a:t>، وَ</a:t>
            </a:r>
            <a:pPr rtl="1" algn="ctr" indent="0" marL="0">
              <a:lnSpc>
                <a:spcPct val="120000"/>
              </a:lnSpc>
              <a:buNone/>
            </a:pPr>
            <a:r>
              <a:rPr lang="ar-SA" altLang="en-US" sz="1900" b="1" dirty="0">
                <a:solidFill>
                  <a:srgbClr val="1D5FBF"/>
                </a:solidFill>
                <a:latin typeface="Amiri" pitchFamily="2" charset="-78"/>
                <a:cs typeface="Amiri" pitchFamily="2" charset="-78"/>
              </a:rPr>
              <a:t>اسْتَمِرَّ</a:t>
            </a:r>
            <a:pPr rtl="1" algn="ctr" indent="0" marL="0">
              <a:lnSpc>
                <a:spcPct val="120000"/>
              </a:lnSpc>
              <a:buNone/>
            </a:pPr>
            <a:r>
              <a:rPr lang="ar-SA" altLang="en-US" sz="1900" b="1" dirty="0">
                <a:solidFill>
                  <a:srgbClr val="1B3B6F"/>
                </a:solidFill>
                <a:latin typeface="Amiri" pitchFamily="2" charset="-78"/>
                <a:cs typeface="Amiri" pitchFamily="2" charset="-78"/>
              </a:rPr>
              <a:t> فِي العَمَلِ.</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Don’t … and do …</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PROVERB / ADVICE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MEANING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CASE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يَقُولُ المَثَلُ العَرَبِيُّ: «</a:t>
            </a:r>
            <a:pPr rtl="1" algn="r" indent="0" marL="0">
              <a:lnSpc>
                <a:spcPct val="120000"/>
              </a:lnSpc>
              <a:buNone/>
            </a:pPr>
            <a:r>
              <a:rPr lang="ar-SA" altLang="en-US" sz="1400" b="1" dirty="0">
                <a:solidFill>
                  <a:srgbClr val="1D5FBF"/>
                </a:solidFill>
                <a:latin typeface="Amiri" pitchFamily="2" charset="-78"/>
                <a:cs typeface="Amiri" pitchFamily="2" charset="-78"/>
              </a:rPr>
              <a:t>الصَّبْرُ مِفْتَاحُ الفَرَجِ</a:t>
            </a:r>
            <a:pPr rtl="1" algn="r" indent="0" marL="0">
              <a:lnSpc>
                <a:spcPct val="120000"/>
              </a:lnSpc>
              <a:buNone/>
            </a:pPr>
            <a:r>
              <a:rPr lang="ar-SA" altLang="en-US" sz="1400" b="1" dirty="0">
                <a:solidFill>
                  <a:srgbClr val="1B3B6F"/>
                </a:solidFill>
                <a:latin typeface="Amiri" pitchFamily="2" charset="-78"/>
                <a:cs typeface="Amiri" pitchFamily="2" charset="-78"/>
              </a:rPr>
              <a:t>». يَعْنِي هٰذَا المَثَلُ </a:t>
            </a:r>
            <a:pPr rtl="1" algn="r" indent="0" marL="0">
              <a:lnSpc>
                <a:spcPct val="120000"/>
              </a:lnSpc>
              <a:buNone/>
            </a:pPr>
            <a:r>
              <a:rPr lang="ar-SA" altLang="en-US" sz="1400" b="1" dirty="0">
                <a:solidFill>
                  <a:srgbClr val="D6336C"/>
                </a:solidFill>
                <a:latin typeface="Amiri" pitchFamily="2" charset="-78"/>
                <a:cs typeface="Amiri" pitchFamily="2" charset="-78"/>
              </a:rPr>
              <a:t>أَنَّ</a:t>
            </a:r>
            <a:pPr rtl="1" algn="r" indent="0" marL="0">
              <a:lnSpc>
                <a:spcPct val="120000"/>
              </a:lnSpc>
              <a:buNone/>
            </a:pPr>
            <a:r>
              <a:rPr lang="ar-SA" altLang="en-US" sz="1400" b="1" dirty="0">
                <a:solidFill>
                  <a:srgbClr val="1B3B6F"/>
                </a:solidFill>
                <a:latin typeface="Amiri" pitchFamily="2" charset="-78"/>
                <a:cs typeface="Amiri" pitchFamily="2" charset="-78"/>
              </a:rPr>
              <a:t> الصَّبْرَ يُسَاعِدُنَا عَلَى حَلِّ المَشَاكِلِ. يَنْطَبِقُ هٰذَا المَثَلُ </a:t>
            </a:r>
            <a:pPr rtl="1" algn="r" indent="0" marL="0">
              <a:lnSpc>
                <a:spcPct val="120000"/>
              </a:lnSpc>
              <a:buNone/>
            </a:pPr>
            <a:r>
              <a:rPr lang="ar-SA" altLang="en-US" sz="1400" b="1" dirty="0">
                <a:solidFill>
                  <a:srgbClr val="0E7C86"/>
                </a:solidFill>
                <a:latin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cs typeface="Amiri" pitchFamily="2" charset="-78"/>
              </a:rPr>
              <a:t> طَالِبٍ يُرَاجِعُ لِامْتِحَانٍ صَعْبٍ، لِأَنَّ النَّتِيجَةَ لَا تَظْهَرُ فَوْرًا. نَصِيحَتِي لَهُ: </a:t>
            </a:r>
            <a:pPr rtl="1" algn="r" indent="0" marL="0">
              <a:lnSpc>
                <a:spcPct val="120000"/>
              </a:lnSpc>
              <a:buNone/>
            </a:pPr>
            <a:r>
              <a:rPr lang="ar-SA" altLang="en-US" sz="1400" b="1" dirty="0">
                <a:solidFill>
                  <a:srgbClr val="1D5FBF"/>
                </a:solidFill>
                <a:latin typeface="Amiri" pitchFamily="2" charset="-78"/>
                <a:cs typeface="Amiri" pitchFamily="2" charset="-78"/>
              </a:rPr>
              <a:t>لَا تَيْأَسْ</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1D5FBF"/>
                </a:solidFill>
                <a:latin typeface="Amiri" pitchFamily="2" charset="-78"/>
                <a:cs typeface="Amiri" pitchFamily="2" charset="-78"/>
              </a:rPr>
              <a:t>وَاسْتَمِرَّ</a:t>
            </a:r>
            <a:pPr rtl="1" algn="r" indent="0" marL="0">
              <a:lnSpc>
                <a:spcPct val="120000"/>
              </a:lnSpc>
              <a:buNone/>
            </a:pPr>
            <a:r>
              <a:rPr lang="ar-SA" altLang="en-US" sz="1400" b="1" dirty="0">
                <a:solidFill>
                  <a:srgbClr val="1B3B6F"/>
                </a:solidFill>
                <a:latin typeface="Amiri" pitchFamily="2" charset="-78"/>
                <a:cs typeface="Amiri" pitchFamily="2" charset="-78"/>
              </a:rPr>
              <a:t> فِي العَمَلِ كُلَّ يَوْمٍ.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The Arabic proverb says: “Patience is the key to relief.” This proverb means that patience helps us solve problems. It applies to a student revising for a difficult exam, because the result does not appear immediately. My advice to him: don’t give up, and keep working every day.</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مَنْ جَدَّ وَجَدَ.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Whoever strives, succeeds.</a:t>
            </a:r>
            <a:endParaRPr lang="en-US" sz="1250" dirty="0"/>
          </a:p>
          <a:p>
            <a:pPr indent="0" marL="0">
              <a:buNone/>
            </a:pPr>
            <a:r>
              <a:rPr lang="en-US" sz="1050" i="1" dirty="0">
                <a:solidFill>
                  <a:srgbClr val="8A6D1E"/>
                </a:solidFill>
                <a:latin typeface="Calibri" pitchFamily="34" charset="0"/>
                <a:cs typeface="Amiri" pitchFamily="2" charset="-78"/>
              </a:rPr>
              <a:t>Effort → success.</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يَعْنِي هٰذَا المَثَلُ أَنَّ الجُهْدَ يُؤَدِّي إِلَى النَّجَاحِ.</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proverb means that effort leads to success.</a:t>
            </a:r>
            <a:endParaRPr lang="en-US" sz="1250" dirty="0"/>
          </a:p>
          <a:p>
            <a:pPr indent="0" marL="0">
              <a:buNone/>
            </a:pPr>
            <a:r>
              <a:rPr lang="en-US" sz="1050" i="1" dirty="0">
                <a:solidFill>
                  <a:srgbClr val="8A6D1E"/>
                </a:solidFill>
                <a:latin typeface="Calibri" pitchFamily="34" charset="0"/>
                <a:cs typeface="Amiri" pitchFamily="2" charset="-78"/>
              </a:rPr>
              <a:t>Explain the message.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لَا تُؤَجِّلْ عَمَلَ اليَوْمِ إِلَى الغَدِ.</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Don’t put off today’s work until tomorrow.</a:t>
            </a:r>
            <a:endParaRPr lang="en-US" sz="1250" dirty="0"/>
          </a:p>
          <a:p>
            <a:pPr indent="0" marL="0">
              <a:buNone/>
            </a:pPr>
            <a:r>
              <a:rPr lang="en-US" sz="1050" i="1" dirty="0">
                <a:solidFill>
                  <a:srgbClr val="8A6D1E"/>
                </a:solidFill>
                <a:latin typeface="Calibri" pitchFamily="34" charset="0"/>
                <a:cs typeface="Amiri" pitchFamily="2" charset="-78"/>
              </a:rPr>
              <a:t>lā + jussive.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يَنْطَبِقُ «الاِتِّحَادُ قُوَّةٌ» عَلَى فَرِيقِ العَمَلِ.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“Unity is strength” applies to a work team.</a:t>
            </a:r>
            <a:endParaRPr lang="en-US" sz="1250" dirty="0"/>
          </a:p>
          <a:p>
            <a:pPr indent="0" marL="0">
              <a:buNone/>
            </a:pPr>
            <a:r>
              <a:rPr lang="en-US" sz="1050" i="1" dirty="0">
                <a:solidFill>
                  <a:srgbClr val="8A6D1E"/>
                </a:solidFill>
                <a:latin typeface="Calibri" pitchFamily="34" charset="0"/>
                <a:cs typeface="Amiri" pitchFamily="2" charset="-78"/>
              </a:rPr>
              <a:t>Apply to a case.</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ARABIC PROVERBS AND VALUES — WORK ETHIC AND SUCCESS”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value?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time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working together</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keep trying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التَّعَاوُنُ يُسَاعِدُ الفَرِيقَ.</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المُثَابَرَةُ تُؤَدِّي إِلَى النَّجَاحِ.</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الاِلْتِزَامُ بِالوَقْتِ مُهِمٌّ.</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 time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الاِلْتِزَامُ بِالوَقْتِ مُهِمٌّ.</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Punctuality is important.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working together</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التَّعَاوُنُ يُسَاعِدُ الفَرِيقَ.</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Cooperation helps the team.</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keep trying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المُثَابَرَةُ تُؤَدِّي إِلَى النَّجَاحِ.</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Perseverance leads to success.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value does it teach?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جَدَّ وَجَدَ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الصَّبْرُ مِفْتَاحُ الفَرَجِ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تُؤَجِّلْ عَمَلَ اليَوْمِ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المُثَابَرَةُ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الاِتِّحَادُ قُوَّةٌ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الإِتْقَانُ أَسَاسُ النَّجَاحِ</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التَّعَاوُنُ</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الجَوْدَةُ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Effort and patience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Teamwork and quality</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Effort and patience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مَنْ جَدَّ وَجَدَ</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الصَّبْرُ مِفْتَاحُ الفَرَجِ</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لَا تُؤَجِّلْ عَمَلَ اليَوْمِ</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المُثَابَرَةُ</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Teamwork and quality</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الاِتِّحَادُ قُوَّةٌ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الإِتْقَانُ أَسَاسُ النَّجَاحِ</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التَّعَاوُنُ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الجَوْدَةُ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fits a team that cooperates?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العِلْمُ نُورٌ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الصَّبْرُ مِفْتَاحُ الفَرَجِ</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الاِتِّحَادُ قُوَّةٌ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الاِنْضِبَاطُ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perseverance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discipline</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quality</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يَنْطَبِقُ هٰذَا المَثَلُ ___ فَرِيقِ العَمَلِ.</a:t>
            </a:r>
            <a:endParaRPr lang="ar-SA" sz="15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value adjective matches </a:t>
            </a:r>
            <a:pPr algn="l" indent="0" marL="0">
              <a:buNone/>
            </a:pPr>
            <a:r>
              <a:rPr lang="ar-SA" altLang="en-US" sz="1650" b="1" dirty="0">
                <a:solidFill>
                  <a:srgbClr val="1B3B6F"/>
                </a:solidFill>
                <a:latin typeface="Amiri" pitchFamily="2" charset="-78"/>
                <a:cs typeface="Amiri" pitchFamily="2" charset="-78"/>
              </a:rPr>
              <a:t>الأَمَانَةُ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مُنَظَّمٌ</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طَمُوحٌ</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أَمِينٌ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fits a team that cooperates?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العِلْمُ نُورٌ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الصَّبْرُ مِفْتَاحُ الفَرَجِ</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الاِتِّحَادُ قُوَّةٌ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Unity is strength.</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الاِنْضِبَاطُ</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perseverance</a:t>
            </a:r>
            <a:endParaRPr lang="en-US" sz="125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discipline</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quality</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work value.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يَنْطَبِقُ هٰذَا المَثَلُ ___ فَرِيقِ العَمَلِ.</a:t>
            </a:r>
            <a:endParaRPr lang="ar-SA" sz="15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عَلَى</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yanṭabiqu ʿalā = applies to.</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value adjective matches </a:t>
            </a:r>
            <a:pPr algn="l" indent="0" marL="0">
              <a:buNone/>
            </a:pPr>
            <a:r>
              <a:rPr lang="ar-SA" altLang="en-US" sz="1650" b="1" dirty="0">
                <a:solidFill>
                  <a:srgbClr val="1B3B6F"/>
                </a:solidFill>
                <a:latin typeface="Amiri" pitchFamily="2" charset="-78"/>
                <a:cs typeface="Amiri" pitchFamily="2" charset="-78"/>
              </a:rPr>
              <a:t>الأَمَانَةُ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مُنَظَّمٌ</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طَمُوحٌ</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أَمِينٌ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amāna → amīn.</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اِجْتَهِدْ فِي عَمَلِكِ يَا مَرْيَمُ.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girl: which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لَا تُؤَجِّلُ عَمَلَ اليَوْمِ إِلَى الغَدِ.</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Statement or advice? -u or no vowel?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يَعْنِي هٰذَا المَثَلُ الجُهْدُ يُؤَدِّي إِلَى النَّجَاحِ.</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missing before the clause?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اِجْتَهِدْ فِي عَمَلِكِ يَا مَرْيَمُ.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اِجْتَهِدِي فِي عَمَلِكِ يَا مَرْيَمُ.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-ī on the command.</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لَا تُؤَجِّلُ عَمَلَ اليَوْمِ إِلَى الغَدِ.</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لَا تُؤَجِّلْ عَمَلَ اليَوْمِ إِلَى الغَدِ.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prohibition takes the jussive.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يَعْنِي هٰذَا المَثَلُ الجُهْدُ يُؤَدِّي إِلَى النَّجَاحِ.</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200" b="1" dirty="0">
                <a:solidFill>
                  <a:srgbClr val="1E6B52"/>
                </a:solidFill>
                <a:latin typeface="Amiri" pitchFamily="2" charset="-78"/>
                <a:cs typeface="Amiri" pitchFamily="2" charset="-78"/>
              </a:rPr>
              <a:t>يَعْنِي هٰذَا المَثَلُ أَنَّ الجُهْدَ يُؤَدِّي إِلَى النَّجَاحِ.</a:t>
            </a:r>
            <a:endParaRPr lang="ar-SA" sz="22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Add anna before the clause.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proverb fits?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Saeed late finishing his project?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put off the work every day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ill</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lost his notes</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when he rushed?</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finished early</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won a prize</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made many mistakes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did his teacher use?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whoever strives succeeds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knowledge is light</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don’t put off today’s work until tomorrow</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Layla’s team do?</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shared the tasks and cooperated</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worked alone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asked the teacher to help</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result?</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project was late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project succeeded</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argued</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fits Layla’s team?</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unity is strength</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patience is the key to relief</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whoever strives succeeds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يُؤَجِّلُ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لَا تُؤَجِّلْ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الاِتِّحَادُ</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تَأَخَّرَ سَعِيدٌ فِي إِنْجَازِ مَشْرُوعِهِ لِأَنَّهُ كَانَ يُؤَجِّلُ العَمَلَ كُلَّ يَوْمٍ.</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Saeed was late finishing his project because he used to put off the work every day.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النِّهَايَةِ اضْطُرَّ إِلَى العَمَلِ بِسُرْعَةٍ وَارْتَكَبَ أَخْطَاءً كَثِيرَةً.</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end he had to work quickly and made many mistakes.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نَصَحَهُ مُدَرِّسُهُ بِقَوْلِهِ: «لَا تُؤَجِّلْ عَمَلَ اليَوْمِ إِلَى الغَدِ».</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teacher advised him: “Don’t put off today’s work until tomorrow.”</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أَمَّا فَرِيقُ لَيْلَى فَقَدْ قَسَّمَ المَهَامَّ وَتَعَاوَنَ، فَنَجَحَ مَشْرُوعُهُمْ؛</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 for Layla’s team, they divided the tasks and cooperated, so their project succeeded;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وَهُنَا يَنْطَبِقُ مَثَلُ «الاِتِّحَادُ قُوَّةٌ».</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here the proverb “Unity is strength” applies.</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was Saeed late finishing his project?</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put off the work every day</a:t>
            </a:r>
            <a:endParaRPr lang="en-US" sz="11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was ill</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lost his notes</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كَانَ يُؤَجِّلُ العَمَلَ كُلَّ يَوْمٍ</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when he rushed?</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finished early</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won a prize</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made many mistakes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ارْتَكَبَ أَخْطَاءً كَثِيرَةً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did his teacher use?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whoever strives succeeds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knowledge is light</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don’t put off today’s work until tomorrow</a:t>
            </a:r>
            <a:endParaRPr lang="en-US" sz="11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تُؤَجِّلْ عَمَلَ اليَوْمِ إِلَى الغَدِ</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Layla’s team do?</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shared the tasks and cooperated</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worked alone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asked the teacher to help</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قَسَّمَ المَهَامَّ وَتَعَاوَنَ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result?</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their project was late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their project succeeded</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argued</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فَنَجَحَ مَشْرُوعُهُمْ</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fits Layla’s team?</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unity is strength</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patience is the key to relief</a:t>
            </a:r>
            <a:endParaRPr lang="en-US" sz="120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whoever strives succeeds</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الاِتِّحَادُ قُوَّةٌ</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6.</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يُؤَجِّلُ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لَا تُؤَجِّلْ</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الاِتِّحَادُ</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proverb do you live by?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المَثَلُ المُفَضَّلُ لَدَيْكَ؟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يَعْنِي هٰذَا المَثَلُ؟</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مَنْ يَنْطَبِقُ هٰذَا المَثَلُ؟</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نَصِيحَتُكَ لِطَالِبٍ يُؤَجِّلُ وَاجِبَاتِهِ؟</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المَثَلُ المُفَضَّلُ لَدَيَّ هُوَ «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يَعْنِي هٰذَا المَثَلُ أَنَّ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يَنْطَبِقُ عَلَى ___ لِأَنَّ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 ___ ، وَ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 المَثَلُ المُفَضَّلُ لَدَيْكَ؟</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favourite proverb?</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«مَنْ جَدَّ وَجَدَ»، لِأَنَّهُ يَعْنِي أَنَّ الجُهْدَ يُؤَدِّي إِلَى النَّجَاحِ.</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“Whoever strives succeeds”, because it means effort leads to success.</a:t>
            </a:r>
            <a:endParaRPr lang="en-US" sz="9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One proverb: say it, give its meaning, one situation, one piece of advice (do / don’t).</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proverbs with yaʿnī … anna, one case each, and advice.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explain two proverbs and apply each to a real work or study situation, with justification.</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أَمَّا المَثَلُ الثَّانِي فَهُوَ «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the second proverb, it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because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عَلَى سَبِيلِ المِثَالِ،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For example,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النَّجَاحُ لَا يَأْتِي بِالحَظِّ وَحْدَهُ.</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Success does not come by luck alone.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يَقُولُ المَثَلُ العَرَبِيُّ: «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Arabic proverb says: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يَعْنِي هٰذَا المَثَلُ أَنَّ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proverb means that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يَنْطَبِقُ عَلَى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applies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نَصِيحَتِي: اِجْتَهِدْ، وَلَا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advice: work hard and don’t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مَنْ جَدَّ وَجَدَ  ·  الصَّبْرُ مِفْتَاحُ الفَرَجِ  ·  الاِتِّحَادُ قُوَّةٌ  ·  يَعْنِي … أَنَّ  ·  يَنْطَبِقُ عَلَى  ·  اِجْتَهِدْ  ·  اِجْتَهِدِي  ·  لَا تُؤَجِّلْ  ·  لَا تُهْمِلْ  ·  المُثَابَرَةُ  ·  الأَمَانَةُ  ·  الإِتْقَانُ</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Explain two Arabic proverbs and apply each one to a work or study situation.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أَخْلَاقِيَّاتُ العَمَلِ</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work ethics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يُخْفِي خَطَأَهُ</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does not hide his mistake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يُرَاجِعُ عَمَلَهُ قَبْلَ أَنْ يُسَلِّمَهُ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checks his work before handing it in</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لَا يَأْتِي بِالحَظِّ وَحْدَهُ</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does not come by luck alone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عِنْدَ مُوَاجَهَةِ مَشْرُوعٍ صَعْبٍ</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when facing a difficult project</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فِي اللُّغَةِ العَرَبِيَّةِ أَمْثَالٌ كَثِيرَةٌ عَنِ العَمَلِ وَالنَّجَاحِ. المَثَلُ الأَوَّلُ هُوَ «مَنْ جَدَّ وَجَدَ»، وَيَعْنِي أَنَّ الجُهْدَ يُؤَدِّي إِلَى النَّجَاحِ، وَأَنَّ النَّجَاحَ لَا يَأْتِي بِالحَظِّ وَحْدَهُ. يَنْطَبِقُ هٰذَا المَثَلُ عَلَى الطُّلَّابِ قَبْلَ الاِمْتِحَانَاتِ، لِأَنَّ المُرَاجَعَةَ المُنْتَظِمَةَ تُحَسِّنُ النَّتَائِجَ. أَمَّا المَثَلُ الثَّانِي فَهُوَ «الاِتِّحَادُ قُوَّةٌ»، وَيَعْنِي أَنَّ التَّعَاوُنَ يَجْعَلُ الفَرِيقَ أَقْوَى. عَلَى سَبِيلِ المِثَالِ، نَجَحَ مَشْرُوعُ فَرِيقِنَا لِأَنَّنَا قَسَّمْنَا المَهَامَّ. نَصِيحَتِي لِكُلِّ طَالِبٍ: اِجْتَهِدْ، وَلَا تُؤَجِّلْ عَمَلَ اليَوْمِ إِلَى الغَدِ.</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Arabic has many proverbs about work and success. The first proverb is “Whoever strives succeeds”: it means that effort leads to success, and that success does not come by luck alone. It applies to students before exams, because regular revision improves results. The second proverb is “Unity is strength”: it means that cooperation makes a team stronger. For example, our team’s project succeeded because we divided the tasks. My advice to every student: work hard, and don’t put off today’s work until tomorrow.</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proverb in quotation marks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yaʿnī … anna</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yanṭabiqu ʿalā + a case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command and a prohibition</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a proverb accurately.</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command fits the listener (boy / girl).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explained the message with anna.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prohibition is jussive (no final -u).</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proverb has a real case and a reason.</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“don’t neglect” to a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تُهْمِلِي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تُهْمِلْ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تُهْمِلُوا</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is about not postponing work?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العِلْمُ نُورٌ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لَا تُؤَجِّلْ عَمَلَ اليَوْمِ إِلَى الغَدِ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الاِتِّحَادُ قُوَّةٌ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explains a proverb?</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يَعْنِي هٰذَا المَثَلُ أَنَّ التَّعَاوُنَ يُقَوِّي الفَرِيقَ.</a:t>
            </a:r>
            <a:endParaRPr lang="ar-SA" sz="15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هٰذَا مَثَلٌ جَمِيلٌ.</a:t>
            </a:r>
            <a:endParaRPr lang="ar-SA" sz="15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cs typeface="Amiri" pitchFamily="2" charset="-78"/>
              </a:rPr>
              <a:t>أُحِبُّ هٰذَا المَثَلَ.</a:t>
            </a:r>
            <a:endParaRPr lang="ar-SA" sz="15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Give “don’t neglect” to a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لَا تُهْمِلِي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تُهْمِلْ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لَا تُهْمِلُوا</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 lā tuhmilī.</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proverb is about not postponing work?</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العِلْمُ نُورٌ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لَا تُؤَجِّلْ عَمَلَ اليَوْمِ إِلَى الغَدِ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الاِتِّحَادُ قُوَّةٌ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Today / tomorrow.</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explains a proverb?</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يَعْنِي هٰذَا المَثَلُ أَنَّ التَّعَاوُنَ يُقَوِّي الفَرِيقَ.</a:t>
            </a:r>
            <a:endParaRPr lang="ar-SA" sz="15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هٰذَا مَثَلٌ جَمِيلٌ.</a:t>
            </a:r>
            <a:endParaRPr lang="ar-SA" sz="15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cs typeface="Amiri" pitchFamily="2" charset="-78"/>
              </a:rPr>
              <a:t>أُحِبُّ هٰذَا المَثَلَ.</a:t>
            </a:r>
            <a:endParaRPr lang="ar-SA" sz="15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yaʿnī … anna + message.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 values in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لَا تَقْتَصِرُ أَخْلَاقِيَّاتُ العَمَلِ عَلَى الحُضُورِ فِي المَوْعِدِ، بَلْ تَشْمَلُ الأَمَانَةَ وَالإِتْقَانَ وَتَحَمُّلَ المَسْؤُولِيَّةِ. فَالعَامِلُ الأَمِينُ لَا يُخْفِي خَطَأَهُ، وَالعَامِلُ المُتْقِنُ يُرَاجِعُ عَمَلَهُ قَبْلَ أَنْ يُسَلِّمَهُ. وَيُذَكِّرُنَا مَثَلُ «مَنْ جَدَّ وَجَدَ» بِأَنَّ النَّجَاحَ لَا يَأْتِي بِالحَظِّ وَحْدَهُ. كَمَا أَنَّ «الصَّبْرَ مِفْتَاحُ الفَرَجِ» مُهِمٌّ عِنْدَ مُوَاجَهَةِ مَشْرُوعٍ صَعْبٍ.</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تَقْتَصِرُ عَلَى</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limited to</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أَخْلَاقِيَّاتُ العَمَلِ</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work ethics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الحُضُورِ فِي المَوْعِدِ</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arriving on time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تَشْمَلُ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includes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تَحَمُّلَ المَسْؤُولِيَّةِ</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taking responsibility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لَا يُخْفِي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does not hide</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المُتْقِنُ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skilled / careful one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يُسَلِّمَهُ</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hands it in</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بِالحَظِّ وَحْدَهُ</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by luck alone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مُوَاجَهَةِ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facing</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work values are named?</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speed, money and fame</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honesty, mastery and responsibility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luck, patience and leadership</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honest worker NOT do?</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arrive on time</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his work</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hide his mistake</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careful worker do?</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reviews his work before handing it in</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works very fast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asks others to check it</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جَدَّ وَجَدَ</a:t>
            </a:r>
            <a:pPr algn="l" indent="0" marL="0">
              <a:buNone/>
            </a:pPr>
            <a:r>
              <a:rPr lang="en-US" sz="1250" b="1" dirty="0">
                <a:solidFill>
                  <a:srgbClr val="1B3B6F"/>
                </a:solidFill>
                <a:latin typeface="Calibri" pitchFamily="34" charset="0"/>
                <a:cs typeface="Amiri" pitchFamily="2" charset="-78"/>
              </a:rPr>
              <a:t> remind us?</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luck is everything</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success does not come by luck alone</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is not important</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patience important?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facing a difficult project</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on holiday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when the work is easy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message?</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punctuality is the only value</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proverbs are old-fashioned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 ethics are more than arriving on time</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three work values are named?</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speed, money and fame</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honesty, mastery and responsibility</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luck, patience and leadership</a:t>
            </a:r>
            <a:endParaRPr lang="en-US" sz="11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الأَمَانَةَ وَالإِتْقَانَ وَتَحَمُّلَ المَسْؤُولِيَّةِ</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an honest worker NOT do?</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arrive on time</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check his work</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hide his mistake</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يُخْفِي خَطَأَهُ</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 careful worker do?</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reviews his work before handing it in</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works very fast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asks others to check it</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يُرَاجِعُ عَمَلَهُ قَبْلَ أَنْ يُسَلِّمَهُ</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مَنْ جَدَّ وَجَدَ</a:t>
            </a:r>
            <a:pPr algn="l" indent="0" marL="0">
              <a:buNone/>
            </a:pPr>
            <a:r>
              <a:rPr lang="en-US" sz="1250" b="1" dirty="0">
                <a:solidFill>
                  <a:srgbClr val="1B3B6F"/>
                </a:solidFill>
                <a:latin typeface="Calibri" pitchFamily="34" charset="0"/>
                <a:cs typeface="Amiri" pitchFamily="2" charset="-78"/>
              </a:rPr>
              <a:t> remind us?</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luck is everything</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success does not come by luck alone</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 is not important</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يَأْتِي بِالحَظِّ وَحْدَهُ</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is patience important?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when facing a difficult project</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on holiday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when the work is easy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عِنْدَ مُوَاجَهَةِ مَشْرُوعٍ صَعْبٍ</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main message?</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punctuality is the only value</a:t>
            </a:r>
            <a:endParaRPr lang="en-US" sz="120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proverbs are old-fashioned</a:t>
            </a:r>
            <a:endParaRPr lang="en-US" sz="120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work ethics are more than arriving on time</a:t>
            </a:r>
            <a:endParaRPr lang="en-US" sz="11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لَا تَقْتَصِرُ … عَلَى الحُضُورِ فِي المَوْعِدِ</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D3-L07 · Proverbs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D3-L08: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D3-L07</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D3-L08 · Reading — Jobs and Career Texts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مُتَطَلَّبَاتُ الوَظِيفَةِ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job requirements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المُؤَهِّلَاتُ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qualifications</a:t>
            </a:r>
            <a:pPr indent="0" marL="0">
              <a:buNone/>
            </a:pPr>
            <a:r>
              <a:rPr lang="en-US" sz="1000" i="1" dirty="0">
                <a:solidFill>
                  <a:srgbClr val="5A6472"/>
                </a:solidFill>
                <a:latin typeface="Calibri" pitchFamily="34" charset="0"/>
                <a:cs typeface="Amiri" pitchFamily="2" charset="-78"/>
              </a:rPr>
              <a:t>  sing. مُؤَهِّلٌ</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يُشْتَرَطُ</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is required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مَرْجِعٌ</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reference</a:t>
            </a:r>
            <a:pPr indent="0" marL="0">
              <a:buNone/>
            </a:pPr>
            <a:r>
              <a:rPr lang="en-US" sz="1000" i="1" dirty="0">
                <a:solidFill>
                  <a:srgbClr val="5A6472"/>
                </a:solidFill>
                <a:latin typeface="Calibri" pitchFamily="34" charset="0"/>
                <a:cs typeface="Amiri" pitchFamily="2" charset="-78"/>
              </a:rPr>
              <a:t>  pl. مَرَاجِعُ</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إِجَادَةُ اللُّغَاتِ</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language proficiency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job advert you have seen. What did it ask for? Write two requirements.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يُشْتَرَطُ … · المُؤَهِّلَاتُ: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three proverbs by heart with their meanings; write the 4-frame paragraph for one.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Two proverbs (80–100 words) with meaning, case and advice.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explain and apply two proverbs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D3-L07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50" b="1" dirty="0">
                <a:solidFill>
                  <a:srgbClr val="FFFFFF"/>
                </a:solidFill>
                <a:latin typeface="Cambria" pitchFamily="34" charset="0"/>
                <a:cs typeface="Amiri" pitchFamily="2" charset="-78"/>
              </a:rPr>
              <a:t>D3-L08 · Reading — Jobs and Career Texts</a:t>
            </a:r>
            <a:endParaRPr lang="en-US" sz="23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القِرَاءَةُ — نُصُوصُ الوَظَائِفِ</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proverb → meaning (anna) → real case → advice: do (-ī for a girl) / don’t (lā + jussive).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D3-L07 · Arabic Proverbs and Values — Work Ethic and Success</dc:title>
  <dc:subject>PptxGenJS Presentation</dc:subject>
  <dc:creator>Al Madina Online School · Arabic Department</dc:creator>
  <cp:lastModifiedBy>Al Madina Online School · Arabic Department</cp:lastModifiedBy>
  <cp:revision>1</cp:revision>
  <dcterms:created xsi:type="dcterms:W3CDTF">2026-10-11T06:40:46Z</dcterms:created>
  <dcterms:modified xsi:type="dcterms:W3CDTF">2026-10-11T06:40:46Z</dcterms:modified>
</cp:coreProperties>
</file>