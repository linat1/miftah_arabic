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D3-L10 (Listening — Work and Career Conversations) — new practice tasks built on the lesson’s own word bank and grammar (listening traps in career talk: a change of mind (kuntu sa-… thumma ghayyartu raʾyī) — the FINAL plan counts; corrections after lā / bal; WHO is speaking (anā / akhī / ukhtī); attitude words (mutaḥammis · qaliq · mutaraddid); future vs past).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if the guest is a woman: غَيَّرَتْ رَأْيَهَا · دَرَسَتْ · تَعْمَلُ · سَتَفْتَحُ مَطْعَمَهَا · هِيَ مُتَحَمِّسَةٌ. Report in the third person: change every verb to ya- / ta- and every -ī to -hu / -hā.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 Work and Career Conversations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أَسْتَمِعُ إِلَى خُطَطِ العَمَلِ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listening-and-speaking practice in pairs: one reads a short career monologue aloud, the other catches the final plan after a change of mind, the corrected detail after </a:t>
            </a:r>
            <a:pPr algn="l" indent="0" marL="0">
              <a:buNone/>
            </a:pPr>
            <a:r>
              <a:rPr lang="ar-SA" altLang="en-US" sz="1550" dirty="0">
                <a:solidFill>
                  <a:srgbClr val="C6D2E6"/>
                </a:solidFill>
                <a:latin typeface="Amiri" pitchFamily="2" charset="-78"/>
                <a:ea typeface="Amiri" pitchFamily="2" charset="-78"/>
                <a:cs typeface="Amiri" pitchFamily="2" charset="-78"/>
              </a:rPr>
              <a:t>بَلْ</a:t>
            </a:r>
            <a:pPr algn="l" indent="0" marL="0">
              <a:buNone/>
            </a:pPr>
            <a:r>
              <a:rPr lang="en-US" sz="1200" dirty="0">
                <a:solidFill>
                  <a:srgbClr val="C6D2E6"/>
                </a:solidFill>
                <a:latin typeface="Calibri" pitchFamily="34" charset="0"/>
                <a:cs typeface="Amiri" pitchFamily="2" charset="-78"/>
              </a:rPr>
              <a:t>, who is speaking, and the speaker’s attitude. Then they build, fix and write a monologue with traps for a partner.</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D3-L10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Plans and ambitions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سَأَدْرُسُ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أُصْبِحَ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أُخَطِّطُ لِـ</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Linking and attitude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 أَتَدَرَّبُ</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التَّخَرُّجِ</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final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الخُطَّةُ النِّهَائِيَّةُ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was going to study engineering, then I changed my mind — I will study medicine.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كُنْتُ سَأَدْرُسُ الهَنْدَسَةَ، ثُمَّ غَيَّرْتُ رَأْيِي، وَسَأَدْرُسُ الطِّبَّ.</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the final plan is medicine, not engineering.</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الخُطَّةُ النِّهَائِيَّةُ: الطِّبُّ، لَا الهَنْدَسَةُ.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 won’t study in London, but in Manchester.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وَلَنْ أَدْرُسَ فِي لَنْدَنَ، بَلْ فِي مَانْشِسْتَرَ.</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 = the correction: Manchester.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«بَلْ» = التَّصْحِيحُ: مَانْشِسْتَرُ.</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 wants to be a pilot; as for me, I’m a bit undecided.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أَخِي يُرِيدُ أَنْ يَعْمَلَ طَيَّارًا، أَمَّا أَنَا فَمُتَرَدِّدٌ قَلِيلًا.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pilot is the brother, and the speaker’s attitude: undecided.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الطَّيَّارُ هُوَ الأَخُ، وَمَوْقِفُ المُتَكَلِّمِ: مُتَرَدِّدٌ.</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invents a change of mind; B must catch the FINAL plan.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Catch it — the Leader reads, the Speaker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المَقْهَى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الخُطَّةُ القَدِيمَةُ</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المَكْتَبَةِ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was going to work in a café, then found a job in a library.” — Where will he work?</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كُنْتُ سَأَعْمَلُ فِي مَقْهًى هٰذَا الصَّيْفَ، ثُمَّ وَجَدْتُ عَمَلًا فِي مَكْتَبَةٍ. — أَيْنَ سَيَعْمَلُ؟</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Key word: </a:t>
            </a:r>
            <a:pPr algn="l" indent="0" marL="0">
              <a:buNone/>
            </a:pPr>
            <a:r>
              <a:rPr lang="ar-SA" altLang="en-US" sz="1450" dirty="0">
                <a:solidFill>
                  <a:srgbClr val="5A6472"/>
                </a:solidFill>
                <a:latin typeface="Amiri" pitchFamily="2" charset="-78"/>
                <a:ea typeface="Amiri" pitchFamily="2" charset="-78"/>
                <a:cs typeface="Amiri" pitchFamily="2" charset="-78"/>
              </a:rPr>
              <a:t>بَلْ</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interview isn’t Monday, but Wednesday.” — When?</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المُقَابَلَةُ لَيْسَتْ يَوْمَ الإِثْنَيْنِ، بَلْ يَوْمَ الأَرْبِعَاءِ. — مَتَى المُقَابَلَةُ؟</a:t>
            </a:r>
            <a:endParaRPr lang="ar-SA" sz="13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المُتَحَمِّسَةُ</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الأُخْتُ</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“My sister is excited about university, whereas I am worried.” — How does the speaker feel?</a:t>
            </a:r>
            <a:endParaRPr lang="en-US" sz="105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أُخْتِي مُتَحَمِّسَةٌ لِلْجَامِعَةِ، بَيْنَمَا أَنَا قَلِقٌ. — كَيْفَ يَشْعُرُ المُتَكَلِّمُ؟</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vs future</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سَيَدْرُسُ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worked two years in a bank; now I will start studying design.” — What now?</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عَمِلْتُ سَنَتَيْنِ فِي البَنْكِ، وَالآنَ سَأَبْدَأُ دِرَاسَةَ التَّصْمِيمِ. — مَاذَا سَيَفْعَلُ الآنَ؟</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السَّبَبُ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salary is high, but the hours are very long, so I refused.” — Did he accept?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الرَّاتِبُ مُرْتَفِعٌ، وَلٰكِنَّ السَّاعَاتِ طَوِيلَةٌ جِدًّا، لِذٰلِكَ رَفَضْتُ. — هَلْ قَبِلَ العَمَلَ؟</a:t>
            </a:r>
            <a:endParaRPr lang="ar-SA" sz="13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the careers podcast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بُودْكَاسْتُ المِهَنِ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التَّغْيِيرُ ← غَيَّرَ رَأْيَهُ مِنْ … إِلَى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Summarise the change.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كُنْتُ أُرِيدُ أَنْ أَعْمَلَ مُحَامِيًا، ثُمَّ اكْتَشَفْتُ حُبِّي لِلطَّبْخِ.</a:t>
            </a:r>
            <a:endParaRPr lang="ar-SA" sz="16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التَّصْحِيحُ ← دَرَسَ فِي … لَا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the correction.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دَرَسْتُ فِي مَعْهَدٍ لِلطَّبْخِ، لَا فِي الجَامِعَةِ.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vs future.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الآنَ أَعْمَلُ فِي فُنْدُقٍ، وَفِي المُسْتَقْبَلِ سَأَفْتَحُ مَطْعَمِي.</a:t>
            </a:r>
            <a:endParaRPr lang="ar-SA" sz="165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Attitude + evidence.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شُعُورُ الضَّيْفِ فِي رَأْيِكَ؟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listener who summarises · Leader = the podcast guest.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One minute: my plan — with a change of mind</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خُطَّتِي مَعَ تَغْيِيرٍ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550" b="1" dirty="0">
                <a:solidFill>
                  <a:srgbClr val="1B3B6F"/>
                </a:solidFill>
                <a:latin typeface="Calibri" pitchFamily="34" charset="0"/>
                <a:cs typeface="Amiri" pitchFamily="2" charset="-78"/>
              </a:rPr>
              <a:t>⏱  Speak for one minute — your partner catches the final plan</a:t>
            </a:r>
            <a:endParaRPr lang="en-US" sz="15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career plans. Include one change of mind and one correction. The Leader writes the FINAL plan and names the traps.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future plans; the Leader writes them.</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كُنْتُ سَأَدْرُسُ … ثُمَّ غَيَّرْتُ رَأْيِي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a:t>
            </a:r>
            <a:pPr algn="l" indent="0" marL="0">
              <a:buNone/>
            </a:pPr>
            <a:r>
              <a:rPr lang="ar-SA" altLang="en-US" sz="1500" dirty="0">
                <a:solidFill>
                  <a:srgbClr val="1F2A37"/>
                </a:solidFill>
                <a:latin typeface="Amiri" pitchFamily="2" charset="-78"/>
                <a:ea typeface="Amiri" pitchFamily="2" charset="-78"/>
                <a:cs typeface="Amiri" pitchFamily="2" charset="-78"/>
              </a:rPr>
              <a:t>بَلْ</a:t>
            </a:r>
            <a:pPr algn="l" indent="0" marL="0">
              <a:buNone/>
            </a:pPr>
            <a:r>
              <a:rPr lang="en-US" sz="1150" dirty="0">
                <a:solidFill>
                  <a:srgbClr val="1F2A37"/>
                </a:solidFill>
                <a:latin typeface="Calibri" pitchFamily="34" charset="0"/>
                <a:cs typeface="Amiri" pitchFamily="2" charset="-78"/>
              </a:rPr>
              <a:t> correction, another person’s plan, and your attitude.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was going to study law, then I changed my mind.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كُنْتُ سَأَدْرُسُ</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سَأَدْرُسُ كُنْتُ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القَانُونَ،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القَانُونُ،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غَيَّرْتُ رَأْيِي.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أُغَيِّرُ رَأْيِي.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meeting isn’t at nine, but at ten.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الاجْتِمَاعُ</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لَيْسَتِ الاجْتِمَاعُ</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التَّاسِعَةِ،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تِسْعَةٍ،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 فِي العَاشِرَةِ.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 فِي عَشَرَةٍ.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 excited, whereas his sister is worried.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مُتَحَمِّسٌ،</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مُتَحَمِّسَةٌ،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أُخْتُهُ قَلِقَةٌ.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أُخْتُهُ قَلِقٌ.</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was going to study law, then I changed my mind.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Was going to = </a:t>
            </a:r>
            <a:pPr algn="l" indent="0" marL="0">
              <a:buNone/>
            </a:pPr>
            <a:r>
              <a:rPr lang="ar-SA" altLang="en-US" sz="1350" dirty="0">
                <a:solidFill>
                  <a:srgbClr val="5A6472"/>
                </a:solidFill>
                <a:latin typeface="Amiri" pitchFamily="2" charset="-78"/>
                <a:ea typeface="Amiri" pitchFamily="2" charset="-78"/>
                <a:cs typeface="Amiri" pitchFamily="2" charset="-78"/>
              </a:rPr>
              <a:t>كُنْتُ</a:t>
            </a:r>
            <a:pPr algn="l" indent="0" marL="0">
              <a:buNone/>
            </a:pPr>
            <a:r>
              <a:rPr lang="en-US" sz="1050" i="1" dirty="0">
                <a:solidFill>
                  <a:srgbClr val="5A6472"/>
                </a:solidFill>
                <a:latin typeface="Calibri" pitchFamily="34" charset="0"/>
                <a:cs typeface="Amiri" pitchFamily="2" charset="-78"/>
              </a:rPr>
              <a:t> + sa- verb; then a past verb.</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كُنْتُ سَأَدْرُسُ القَانُونَ، ثُمَّ غَيَّرْتُ رَأْيِي.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meeting isn’t at nine, but at ten.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اجْتِمَاعٌ</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لَيْسَ</a:t>
            </a:r>
            <a:pPr algn="l" indent="0" marL="0">
              <a:buNone/>
            </a:pPr>
            <a:r>
              <a:rPr lang="en-US" sz="1050" i="1" dirty="0">
                <a:solidFill>
                  <a:srgbClr val="5A6472"/>
                </a:solidFill>
                <a:latin typeface="Calibri" pitchFamily="34" charset="0"/>
                <a:cs typeface="Amiri" pitchFamily="2" charset="-78"/>
              </a:rPr>
              <a:t>; correction with </a:t>
            </a:r>
            <a:pPr algn="l" indent="0" marL="0">
              <a:buNone/>
            </a:pPr>
            <a:r>
              <a:rPr lang="ar-SA" altLang="en-US" sz="1350" dirty="0">
                <a:solidFill>
                  <a:srgbClr val="5A6472"/>
                </a:solidFill>
                <a:latin typeface="Amiri" pitchFamily="2" charset="-78"/>
                <a:ea typeface="Amiri" pitchFamily="2" charset="-78"/>
                <a:cs typeface="Amiri" pitchFamily="2" charset="-78"/>
              </a:rPr>
              <a:t>بَلْ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لَيْسَ الاجْتِمَاعُ فِي التَّاسِعَةِ، بَلْ فِي العَاشِرَةِ.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 excited, whereas his sister is worried.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Each attitude word agrees with its own person.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مُتَحَمِّسٌ، بَيْنَمَا أُخْتُهُ قَلِقَةٌ.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600" b="1" dirty="0">
                <a:solidFill>
                  <a:srgbClr val="B83227"/>
                </a:solidFill>
                <a:latin typeface="Amiri" pitchFamily="2" charset="-78"/>
                <a:ea typeface="Amiri" pitchFamily="2" charset="-78"/>
                <a:cs typeface="Amiri" pitchFamily="2" charset="-78"/>
              </a:rPr>
              <a:t>«كُنْتُ سَأَعْمَلُ فِي بَنْكٍ، ثُمَّ اخْتَرْتُ التَّعْلِيمَ.» ← سَيَعْمَلُ فِي بَنْكٍ.</a:t>
            </a:r>
            <a:endParaRPr lang="ar-SA" sz="26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Old plan or final plan?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2900" b="1" dirty="0">
                <a:solidFill>
                  <a:srgbClr val="B83227"/>
                </a:solidFill>
                <a:latin typeface="Amiri" pitchFamily="2" charset="-78"/>
                <a:ea typeface="Amiri" pitchFamily="2" charset="-78"/>
                <a:cs typeface="Amiri" pitchFamily="2" charset="-78"/>
              </a:rPr>
              <a:t>«أَخِي سَيُصْبِحُ مُمَرِّضًا، وَأَنَا مُهَنْدِسًا.» ← المُتَكَلِّمُ مُمَرِّضٌ.</a:t>
            </a:r>
            <a:endParaRPr lang="ar-SA" sz="29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a:t>
            </a:r>
            <a:pPr algn="l" indent="0" marL="0">
              <a:buNone/>
            </a:pPr>
            <a:r>
              <a:rPr lang="ar-SA" altLang="en-US" sz="1700" dirty="0">
                <a:solidFill>
                  <a:srgbClr val="5A6472"/>
                </a:solidFill>
                <a:latin typeface="Amiri" pitchFamily="2" charset="-78"/>
                <a:ea typeface="Amiri" pitchFamily="2" charset="-78"/>
                <a:cs typeface="Amiri" pitchFamily="2" charset="-78"/>
              </a:rPr>
              <a:t>أَنَا</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«عَمِلْتُ فِي مَطْعَمٍ.» ← سَيَعْمَلُ فِي مَطْعَمٍ.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«كُنْتُ سَأَعْمَلُ فِي بَنْكٍ، ثُمَّ اخْتَرْتُ التَّعْلِيمَ.» ← سَيَعْمَلُ فِي بَنْكٍ.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سَيَعْمَلُ فِي التَّعْلِيمِ.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plan after </a:t>
            </a:r>
            <a:pPr algn="l" indent="0" marL="0">
              <a:buNone/>
            </a:pPr>
            <a:r>
              <a:rPr lang="ar-SA" altLang="en-US" sz="1500" b="1" dirty="0">
                <a:solidFill>
                  <a:srgbClr val="1B3B6F"/>
                </a:solidFill>
                <a:latin typeface="Amiri" pitchFamily="2" charset="-78"/>
                <a:ea typeface="Amiri" pitchFamily="2" charset="-78"/>
                <a:cs typeface="Amiri" pitchFamily="2" charset="-78"/>
              </a:rPr>
              <a:t>ثُمَّ غَيَّرْتُ / اخْتَرْتُ</a:t>
            </a:r>
            <a:pPr algn="l" indent="0" marL="0">
              <a:buNone/>
            </a:pPr>
            <a:r>
              <a:rPr lang="en-US" sz="1150" b="1" dirty="0">
                <a:solidFill>
                  <a:srgbClr val="1B3B6F"/>
                </a:solidFill>
                <a:latin typeface="Calibri" pitchFamily="34" charset="0"/>
                <a:cs typeface="Amiri" pitchFamily="2" charset="-78"/>
              </a:rPr>
              <a:t> is the final one.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«أَخِي سَيُصْبِحُ مُمَرِّضًا، وَأَنَا مُهَنْدِسًا.» ← المُتَكَلِّمُ مُمَرِّضٌ.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المُتَكَلِّمُ سَيُصْبِحُ مُهَنْدِسًا.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أَنَا</a:t>
            </a:r>
            <a:pPr algn="l" indent="0" marL="0">
              <a:buNone/>
            </a:pPr>
            <a:r>
              <a:rPr lang="en-US" sz="1150" b="1" dirty="0">
                <a:solidFill>
                  <a:srgbClr val="1B3B6F"/>
                </a:solidFill>
                <a:latin typeface="Calibri" pitchFamily="34" charset="0"/>
                <a:cs typeface="Amiri" pitchFamily="2" charset="-78"/>
              </a:rPr>
              <a:t> = the speaker.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«عَمِلْتُ فِي مَطْعَمٍ.» ← سَيَعْمَلُ فِي مَطْعَمٍ.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عَمِلَ فِي مَطْعَمٍ (فِي المَاضِي).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 future — check the verb form.</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المَاضِي عَمِلْتُ ______ ، وَالآنَ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past I worked …, and now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أَسْئِلَةٌ: ١) مَاذَا سَيَدْرُسُ؟ ٢) أَيْنَ؟ ٣) كَيْفَ يَشْعُرُ؟</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Questions: 1) What will he study? 2) Where? 3) How does he feel?</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كُنْتُ سَأَدْرُسُ ______ ، ثُمَّ غَيَّرْتُ رَأْيِي، وَسَأَدْرُسُ ______ .</a:t>
            </a:r>
            <a:endParaRPr lang="ar-SA" sz="13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was going to study …, then changed my mind — I will study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______ فِي ______ ، بَلْ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won’t … in …, but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______ فَيُرِيدُ / فَتُرِيدُ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 he / she wants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(attitude),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كُنْتُ سَأَدْرُسُ  ·  غَيَّرْتُ رَأْيِي  ·  لَيْسَ … بَلْ …  ·  أَمَّا … فَ…  ·  بَيْنَمَا  ·  مُتَحَمِّسٌ · قَلِقٌ  ·  مُتَرَدِّدٌ  ·  نَتِيجَةً لِذٰلِكَ</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career monologue with traps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حَدِيثٌ عَنِ المِهْنَةِ فِيهِ فِخَاخٌ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monologue (about 60–80 words) about your career plans for a listening test. Include: • one change of mind (</a:t>
            </a:r>
            <a:pPr algn="l" indent="0" marL="0">
              <a:buNone/>
            </a:pPr>
            <a:r>
              <a:rPr lang="ar-SA" altLang="en-US" sz="1450" b="1" dirty="0">
                <a:solidFill>
                  <a:srgbClr val="1F2A37"/>
                </a:solidFill>
                <a:latin typeface="Amiri" pitchFamily="2" charset="-78"/>
                <a:ea typeface="Amiri" pitchFamily="2" charset="-78"/>
                <a:cs typeface="Amiri" pitchFamily="2" charset="-78"/>
              </a:rPr>
              <a:t>كُنْتُ سَأَدْرُسُ … ثُمَّ غَيَّرْتُ رَأْيِي</a:t>
            </a:r>
            <a:pPr algn="l" indent="0" marL="0">
              <a:buNone/>
            </a:pPr>
            <a:r>
              <a:rPr lang="en-US" sz="1100" b="1" dirty="0">
                <a:solidFill>
                  <a:srgbClr val="1F2A37"/>
                </a:solidFill>
                <a:latin typeface="Calibri" pitchFamily="34" charset="0"/>
                <a:cs typeface="Amiri" pitchFamily="2" charset="-78"/>
              </a:rPr>
              <a:t>) • one correction with </a:t>
            </a:r>
            <a:pPr algn="l" indent="0" marL="0">
              <a:buNone/>
            </a:pPr>
            <a:r>
              <a:rPr lang="ar-SA" altLang="en-US" sz="1450" b="1" dirty="0">
                <a:solidFill>
                  <a:srgbClr val="1F2A37"/>
                </a:solidFill>
                <a:latin typeface="Amiri" pitchFamily="2" charset="-78"/>
                <a:ea typeface="Amiri" pitchFamily="2" charset="-78"/>
                <a:cs typeface="Amiri" pitchFamily="2" charset="-78"/>
              </a:rPr>
              <a:t>بَلْ</a:t>
            </a:r>
            <a:pPr algn="l" indent="0" marL="0">
              <a:buNone/>
            </a:pPr>
            <a:r>
              <a:rPr lang="en-US" sz="1100" b="1" dirty="0">
                <a:solidFill>
                  <a:srgbClr val="1F2A37"/>
                </a:solidFill>
                <a:latin typeface="Calibri" pitchFamily="34" charset="0"/>
                <a:cs typeface="Amiri" pitchFamily="2" charset="-78"/>
              </a:rPr>
              <a:t> • one other person’s plan • past experience and future plans • your attitude (</a:t>
            </a:r>
            <a:pPr algn="l" indent="0" marL="0">
              <a:buNone/>
            </a:pPr>
            <a:r>
              <a:rPr lang="ar-SA" altLang="en-US" sz="1450" b="1" dirty="0">
                <a:solidFill>
                  <a:srgbClr val="1F2A37"/>
                </a:solidFill>
                <a:latin typeface="Amiri" pitchFamily="2" charset="-78"/>
                <a:ea typeface="Amiri" pitchFamily="2" charset="-78"/>
                <a:cs typeface="Amiri" pitchFamily="2" charset="-78"/>
              </a:rPr>
              <a:t>مُتَحَمِّسٌ / قَلِقٌ / مُتَرَدِّدٌ</a:t>
            </a:r>
            <a:pPr algn="l" indent="0" marL="0">
              <a:buNone/>
            </a:pPr>
            <a:r>
              <a:rPr lang="en-US" sz="1100" b="1" dirty="0">
                <a:solidFill>
                  <a:srgbClr val="1F2A37"/>
                </a:solidFill>
                <a:latin typeface="Calibri" pitchFamily="34" charset="0"/>
                <a:cs typeface="Amiri" pitchFamily="2" charset="-78"/>
              </a:rPr>
              <a:t>). Then write three questions. Read it to your partner.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سَأَعْمَلُ … ثُمَّ غَيَّرْتُ رَأْيِي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going to work … then changed my mind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 بَلْ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 but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أَخِي / أُخْتِي فَ…</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my brother / sister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مُتَحَمِّسٌ / مُتَحَمِّسَةٌ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excited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the FINAL plan, not the first one heard?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corrections with </a:t>
            </a:r>
            <a:pPr algn="l" indent="0" marL="0">
              <a:buNone/>
            </a:pPr>
            <a:r>
              <a:rPr lang="ar-SA" altLang="en-US" sz="1450" dirty="0">
                <a:solidFill>
                  <a:srgbClr val="5A6472"/>
                </a:solidFill>
                <a:latin typeface="Amiri" pitchFamily="2" charset="-78"/>
                <a:ea typeface="Amiri" pitchFamily="2" charset="-78"/>
                <a:cs typeface="Amiri" pitchFamily="2" charset="-78"/>
              </a:rPr>
              <a:t>بَلْ</a:t>
            </a:r>
            <a:pPr algn="l" indent="0" marL="0">
              <a:buNone/>
            </a:pPr>
            <a:r>
              <a:rPr lang="en-US" sz="1100" dirty="0">
                <a:solidFill>
                  <a:srgbClr val="5A6472"/>
                </a:solidFill>
                <a:latin typeface="Calibri" pitchFamily="34" charset="0"/>
                <a:cs typeface="Amiri" pitchFamily="2" charset="-78"/>
              </a:rPr>
              <a:t>, who is speaking and the attitude?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رَأْيَهُ مِنَ المُحَامَاةِ إِلَى الطَّبْخِ.</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changed his mind from law to cooking.</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كُنْتُ أُرِيدُ أَنْ أَعْمَلَ مُحَامِيًا، ثُمَّ اكْتَشَفْتُ حُبِّي لِلطَّبْخِ.</a:t>
            </a:r>
            <a:endParaRPr lang="ar-SA" sz="155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 فِي مَعْهَدٍ لِلطَّبْخِ، لَا فِي الجَامِعَةِ.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studied at a cookery institute, not at university.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دَرَسْتُ فِي مَعْهَدٍ لِلطَّبْخِ، لَا فِي الجَامِعَةِ.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يَعْمَلُ الآنَ فِي فُنْدُقٍ، وَسَيَفْتَحُ مَطْعَمَهُ فِي المُسْتَقْبَلِ.</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works in a hotel now, and will open his own restaurant in future.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الآنَ أَعْمَلُ فِي فُنْدُقٍ، وَفِي المُسْتَقْبَلِ سَأَفْتَحُ مَطْعَمِي.</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مُتَحَمِّسٌ جِدًّا، وَالدَّلِيلُ أَنَّهُ يَتَكَلَّمُ عَنْ «حُبِّهِ» لِلطَّبْخِ.</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very enthusiastic — the evidence is that he talks about his “love” of cooking.</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شُعُورُ الضَّيْفِ فِي رَأْيِكَ؟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كُنْتُ سَأَدْرُسُ المُحَاسَبَةَ، ثُمَّ غَيَّرْتُ رَأْيِي، وَسَأَدْرُسُ التَّصْمِيمَ الجِرَافِيكِيَّ. لَنْ أَدْرُسَ فِي الجَامِعَةِ، بَلْ فِي مَعْهَدٍ مِهَنِيٍّ قَرِيبٍ. فِي الصَّيْفِ المَاضِي عَمِلْتُ فِي مَطْبَعَةِ عَمِّي، وَنَتِيجَةً لِذٰلِكَ أَحْبَبْتُ التَّصْمِيمَ. أَمَّا أُخْتِي فَتُرِيدُ أَنْ تُصْبِحَ مُحَاسِبَةً. أَنَا مُتَحَمِّسٌ جِدًّا، وَلٰكِنَّ أَبِي قَلِقٌ قَلِيلًا.</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أَسْئِلَةٌ: ١) مَاذَا سَيَدْرُسُ؟ ٢) أَيْنَ سَيَدْرُسُ؟ ٣) مَنْ يُرِيدُ أَنْ يُصْبِحَ مُحَاسِبًا؟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was going to study accountancy, then I changed my mind — I will study graphic design. I won’t study at university, but at a nearby vocational college. Last summer I worked at my uncle’s print shop, and as a result I fell in love with design. As for my sister, she wants to become an accountant. I am very excited, but my father is a bit worried. Questions: 1) What will he study? 2) Where will he study? 3) Who wants to become an accountant?”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 غَيَّرْتُ رَأْيِي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بَلْ فِي مَعْهَدٍ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أُخْتِي فَتُرِيدُ</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مُتَحَمِّسٌ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D3-L11 · D3 Consolidation — Error Analysis and Assessment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الثَّالِثَةِ — تَحْلِيلُ الأَخْطَاءِ وَالاِسْتِعْدَادُ لِلتَّقْيِيمِ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D3-L10 · Practice Room — Listening — Work and Career Conversations</dc:title>
  <dc:subject>PptxGenJS Presentation</dc:subject>
  <dc:creator>Al Madina Online School · Arabic Department</dc:creator>
  <cp:lastModifiedBy>Al Madina Online School · Arabic Department</cp:lastModifiedBy>
  <cp:revision>1</cp:revision>
  <dcterms:created xsi:type="dcterms:W3CDTF">2026-10-25T18:20:57Z</dcterms:created>
  <dcterms:modified xsi:type="dcterms:W3CDTF">2026-10-25T18:20:57Z</dcterms:modified>
</cp:coreProperties>
</file>