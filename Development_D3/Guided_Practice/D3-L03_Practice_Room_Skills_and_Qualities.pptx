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D3-L03 (Skills and Qualities — What Makes a Good Worker?) — new practice tasks built on the lesson’s own word bank and grammar (needs: yaḥtāju ilā + noun (yaḥtāju al-ṭabību ilā al-ṣabri); must: yajibu an yakūna + adjective in -an (ṣabūran / ṣabūratan); can: yastaṭīʿu an + verb in -a; proving a quality with behaviour (mathalan, ʿindamā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D3-L03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to a girl: تُرِيدِينَ · مَهَارَاتُكِ · مَسْؤُولَةٌ · لَسْتُ صَبُورَةً. yajibu an yakūna / takūna + adjective in -an; yastaṭīʿu an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D3-L03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Skills and Qualities — What Makes a Good Worker?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المَهَارَاتُ وَالصِّفَاتُ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about job skills: say the skills and qualities, act a short dialogue, answer question cards, do a role-play card for a volunteer position, give a one-minute talk about the skills a job needs, then build, fix and write a “my skills” profile with evidence.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D3-L03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Qualities (m. / 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أَمِينٌ / أَمِينَةٌ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a-mī-nun / a-mī-na-tun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أُمَنَاءُ</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a good teacher need?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إِلَامَ يَحْتَاجُ المُعَلِّمُ الجَيِّدُ؟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a good teacher need?</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إِلَامَ يَحْتَاجُ المُعَلِّمُ الجَيِّدُ؟</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needs communication skills and time management.</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يَحْتَاجُ إِلَى مَهَارَةِ التَّوَاصُلِ وَإِدَارَةِ الوَقْتِ.</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must he be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وَكَيْفَ يَجِبُ أَنْ يَكُونَ؟</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must be patient and organised.</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يَكُونَ صَبُورًا وَمُنَظَّمًا.</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are you organised?</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وَأَنْتَ، هَلْ أَنْتَ مُنَظَّمٌ؟</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For example, I can plan my whole week on Sunday.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مَثَلًا، أَسْتَطِيعُ أَنْ أُخَطِّطَ أُسْبُوعِي كُلَّهُ يَوْمَ الأَحَدِ.</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talk about a female job (</a:t>
            </a:r>
            <a:pPr algn="l" indent="0" marL="0">
              <a:buNone/>
            </a:pPr>
            <a:r>
              <a:rPr lang="ar-SA" altLang="en-US" sz="1500" b="1" dirty="0">
                <a:solidFill>
                  <a:srgbClr val="1B3B6F"/>
                </a:solidFill>
                <a:latin typeface="Amiri" pitchFamily="2" charset="-78"/>
                <a:ea typeface="Amiri" pitchFamily="2" charset="-78"/>
                <a:cs typeface="Amiri" pitchFamily="2" charset="-78"/>
              </a:rPr>
              <a:t>مُمَرِّضَةٌ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يَجِبُ أَنْ تَكُونَ صَبُورَةً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يَحْتَاجُ إِلَى … وَ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a doctor need?</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إِلَامَ يَحْتَاجُ الطَّبِيبُ؟</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المَرْضَى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تَكُونَ … وَ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a nurse (f.) be like?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يَجِبُ أَنْ تَكُونَ المُمَرِّضَةُ؟</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عِنْدَمَا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أَقْوَى مَهَارَةٍ عِنْدِي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strongest skill?</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أَقْوَى مَهَارَةٍ عِنْدَكَ؟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لِذٰلِكَ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أَسْتَطِيعُ أَنْ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can you do well?</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تَسْتَطِيعُ أَنْ تَفْعَلَ جَيِّدًا؟</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فِي فَرِيقِ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لِأَنَّ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teamwork important?</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العَمَلُ الجَمَاعِيُّ مُهِمٌّ؟</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applying to volunteer at a summer camp</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مُتَطَوِّعٌ فِي مُخَيَّمٍ صَيْفِيٍّ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لِأَنَّنِي أُحِبُّ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أَنْ تَتَطَوَّعَ؟</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مَهَارَاتِي ← عِنْدِي مَهَارَةُ … وَ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skills.</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مَهَارَاتُكَ؟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Quality + evidence.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أَنْتَ مَسْؤُولٌ؟ أَعْطِنِي مِثَالًا.</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weakness + improvement.</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نُقْطَةُ ضَعْفِكَ؟</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volunteer applicant · Leader = the camp leader.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One minute: what does this job need?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تَحْتَاجُ هٰذِهِ الوَظِيفَةُ؟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names a job (</a:t>
            </a:r>
            <a:pPr algn="l" indent="0" marL="0">
              <a:buNone/>
            </a:pPr>
            <a:r>
              <a:rPr lang="ar-SA" altLang="en-US" sz="1750" dirty="0">
                <a:solidFill>
                  <a:srgbClr val="1F2A37"/>
                </a:solidFill>
                <a:latin typeface="Amiri" pitchFamily="2" charset="-78"/>
                <a:ea typeface="Amiri" pitchFamily="2" charset="-78"/>
                <a:cs typeface="Amiri" pitchFamily="2" charset="-78"/>
              </a:rPr>
              <a:t>طَبِيبٌ</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طَيَّارَةٌ</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شُرْطِيٌّ</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مُدَرِّسَةٌ</a:t>
            </a:r>
            <a:pPr algn="l" indent="0" marL="0">
              <a:buNone/>
            </a:pPr>
            <a:r>
              <a:rPr lang="en-US" sz="1350" dirty="0">
                <a:solidFill>
                  <a:srgbClr val="1F2A37"/>
                </a:solidFill>
                <a:latin typeface="Calibri" pitchFamily="34" charset="0"/>
                <a:cs typeface="Amiri" pitchFamily="2" charset="-78"/>
              </a:rPr>
              <a:t> …). Talk for one minute: what it needs, what the worker must be, and do YOU have these skills?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يَحْتَاجُ إِلَى</a:t>
            </a:r>
            <a:pPr algn="l" indent="0" marL="0">
              <a:buNone/>
            </a:pPr>
            <a:r>
              <a:rPr lang="en-US" sz="1150" dirty="0">
                <a:solidFill>
                  <a:srgbClr val="1F2A37"/>
                </a:solidFill>
                <a:latin typeface="Calibri" pitchFamily="34" charset="0"/>
                <a:cs typeface="Amiri" pitchFamily="2" charset="-78"/>
              </a:rPr>
              <a:t> … + two skills.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يَجِبُ أَنْ يَكُونَ / تَكُونَ</a:t>
            </a:r>
            <a:pPr algn="l" indent="0" marL="0">
              <a:buNone/>
            </a:pPr>
            <a:r>
              <a:rPr lang="en-US" sz="1150" dirty="0">
                <a:solidFill>
                  <a:srgbClr val="1F2A37"/>
                </a:solidFill>
                <a:latin typeface="Calibri" pitchFamily="34" charset="0"/>
                <a:cs typeface="Amiri" pitchFamily="2" charset="-78"/>
              </a:rPr>
              <a:t> + two qualities (with -an).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own skills with evidence (</a:t>
            </a:r>
            <a:pPr algn="l" indent="0" marL="0">
              <a:buNone/>
            </a:pPr>
            <a:r>
              <a:rPr lang="ar-SA" altLang="en-US" sz="1500" dirty="0">
                <a:solidFill>
                  <a:srgbClr val="1F2A37"/>
                </a:solidFill>
                <a:latin typeface="Amiri" pitchFamily="2" charset="-78"/>
                <a:ea typeface="Amiri" pitchFamily="2" charset="-78"/>
                <a:cs typeface="Amiri" pitchFamily="2" charset="-78"/>
              </a:rPr>
              <a:t>أَسْتَطِيعُ أَنْ … مَثَلًا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An engineer needs accuracy.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يَحْتَاجُ المُهَنْدِسُ</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يَحْتَاجُ المُهَنْدِسَ</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الدِّقَّةِ.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الدِّقَّةُ.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 nurse (f.) must be patient.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تَكُونَ المُمَرِّضَةُ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يَكُونَ المُمَرِّضَةُ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صَبُورَةً.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صَبُورَةٌ.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can manage my time well.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أَسْتَطِيعُ</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أَسْتَطِيعَ</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أُدِيرَ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أُدِيرُ</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وَقْتِي جَيِّدًا.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وَقْتِي جَيِّدٌ.</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An engineer needs accuracy.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يَحْتَاجُ إِلَى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يَحْتَاجُ المُهَنْدِسُ إِلَى الدِّقَّةِ.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 nurse (f.) must be patient.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تَكُونَ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i="1" dirty="0">
                <a:solidFill>
                  <a:srgbClr val="5A6472"/>
                </a:solidFill>
                <a:latin typeface="Calibri" pitchFamily="34" charset="0"/>
                <a:cs typeface="Amiri" pitchFamily="2" charset="-78"/>
              </a:rPr>
              <a:t>-type verb → adjective in -an.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تَكُونَ المُمَرِّضَةُ صَبُورَةً.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can manage my time well.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جَيِّدًا</a:t>
            </a:r>
            <a:pPr algn="l" indent="0" marL="0">
              <a:buNone/>
            </a:pPr>
            <a:r>
              <a:rPr lang="en-US" sz="1050" i="1" dirty="0">
                <a:solidFill>
                  <a:srgbClr val="5A6472"/>
                </a:solidFill>
                <a:latin typeface="Calibri" pitchFamily="34" charset="0"/>
                <a:cs typeface="Amiri" pitchFamily="2" charset="-78"/>
              </a:rPr>
              <a:t> is an adverb.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أَسْتَطِيعُ أَنْ أُدِيرَ وَقْتِي جَيِّدًا.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يَكُونَ مُنَظَّمٌ.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يَكُونَ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يَحْتَاجُ الطَّيَّارُ الدِّقَّةَ.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مَسْؤُولٌ.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Prove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يَكُونَ مُنَظَّمٌ.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يَكُونَ مُنَظَّمًا.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كَانَ / يَكُونَ</a:t>
            </a:r>
            <a:pPr algn="l" indent="0" marL="0">
              <a:buNone/>
            </a:pPr>
            <a:r>
              <a:rPr lang="en-US" sz="1150" b="1" dirty="0">
                <a:solidFill>
                  <a:srgbClr val="1B3B6F"/>
                </a:solidFill>
                <a:latin typeface="Calibri" pitchFamily="34" charset="0"/>
                <a:cs typeface="Amiri" pitchFamily="2" charset="-78"/>
              </a:rPr>
              <a:t> → adjective in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يَحْتَاجُ الطَّيَّارُ الدِّقَّةَ.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يَحْتَاجُ الطَّيَّارُ إِلَى الدِّقَّةِ.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يَحْتَاجُ إِلَى …</a:t>
            </a:r>
            <a:endParaRPr lang="ar-SA" sz="14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مَسْؤُولٌ.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مَسْؤُولٌ؛ مَثَلًا، أَعْتَنِي بِأَخِي كُلَّ يَوْمٍ.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quality needs a behaviour as evidence.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يَجِبُ أَنْ يَكُونَ المُوَظَّفُ ______ ، لِأَنَّ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employee must be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نُقْطَةُ ضَعْفِي ______ ، وَلٰكِنَّنِي سَأُحَاوِلُ أَنْ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weakness is …, but I will try to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أَهْتَمُّ بِعَمَلِ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interested in the job of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هٰذَا العَمَلُ إِلَى ______ وَ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job needs … and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مَثَلًا،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for example,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أَسْتَطِيعُ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can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مَهَارَةُ التَّوَاصُلِ  ·  حَلُّ المُشْكِلَاتِ  ·  العَمَلُ الجَمَاعِيُّ  ·  إِدَارَةُ الوَقْتِ  ·  مَسْؤُولٌ · مَسْؤُولَةٌ  ·  مُنَظَّمٌ · مُنَظَّمَةٌ  ·  يَحْتَاجُ إِلَى  ·  يَجِبُ أَنْ يَكُونَ صَبُورًا</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skills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مَهَارَاتِي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skills profile (about 60–80 words) for a careers website. Include: • a job you are interested in and what it needs (</a:t>
            </a:r>
            <a:pPr algn="l" indent="0" marL="0">
              <a:buNone/>
            </a:pPr>
            <a:r>
              <a:rPr lang="ar-SA" altLang="en-US" sz="1500" b="1" dirty="0">
                <a:solidFill>
                  <a:srgbClr val="1F2A37"/>
                </a:solidFill>
                <a:latin typeface="Amiri" pitchFamily="2" charset="-78"/>
                <a:ea typeface="Amiri" pitchFamily="2" charset="-78"/>
                <a:cs typeface="Amiri" pitchFamily="2" charset="-78"/>
              </a:rPr>
              <a:t>يَحْتَاجُ إِلَى</a:t>
            </a:r>
            <a:pPr algn="l" indent="0" marL="0">
              <a:buNone/>
            </a:pPr>
            <a:r>
              <a:rPr lang="en-US" sz="1150" b="1" dirty="0">
                <a:solidFill>
                  <a:srgbClr val="1F2A37"/>
                </a:solidFill>
                <a:latin typeface="Calibri" pitchFamily="34" charset="0"/>
                <a:cs typeface="Amiri" pitchFamily="2" charset="-78"/>
              </a:rPr>
              <a:t> …) • what the worker must be (</a:t>
            </a:r>
            <a:pPr algn="l" indent="0" marL="0">
              <a:buNone/>
            </a:pPr>
            <a:r>
              <a:rPr lang="ar-SA" altLang="en-US" sz="1500" b="1" dirty="0">
                <a:solidFill>
                  <a:srgbClr val="1F2A37"/>
                </a:solidFill>
                <a:latin typeface="Amiri" pitchFamily="2" charset="-78"/>
                <a:ea typeface="Amiri" pitchFamily="2" charset="-78"/>
                <a:cs typeface="Amiri" pitchFamily="2" charset="-78"/>
              </a:rPr>
              <a:t>يَجِبُ أَنْ يَكُونَ</a:t>
            </a:r>
            <a:pPr algn="l" indent="0" marL="0">
              <a:buNone/>
            </a:pPr>
            <a:r>
              <a:rPr lang="en-US" sz="1150" b="1" dirty="0">
                <a:solidFill>
                  <a:srgbClr val="1F2A37"/>
                </a:solidFill>
                <a:latin typeface="Calibri" pitchFamily="34" charset="0"/>
                <a:cs typeface="Amiri" pitchFamily="2" charset="-78"/>
              </a:rPr>
              <a:t> …) • three skills or qualities YOU have, each with evidence • one weakness and how you will improve it.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تَحْتَاجُ هٰذِهِ الوَظِيفَةُ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job needs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يَكُونَ / تَكُونَ …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must be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أَسْتَطِيعُ أَنْ … ؛ مَثَلًا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can …; for example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نُقْطَةُ ضَعْفِي … وَلٰكِنَّنِي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weakness is … but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يَحْتَاجُ إِلَى</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يَجِبُ أَنْ يَكُونَ</a:t>
            </a:r>
            <a:pPr algn="l" indent="0" marL="0">
              <a:buNone/>
            </a:pPr>
            <a:r>
              <a:rPr lang="en-US" sz="1100" dirty="0">
                <a:solidFill>
                  <a:srgbClr val="5A6472"/>
                </a:solidFill>
                <a:latin typeface="Calibri" pitchFamily="34" charset="0"/>
                <a:cs typeface="Amiri" pitchFamily="2" charset="-78"/>
              </a:rPr>
              <a:t> + -an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prove every quality with a real behaviour?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أُحِبُّ الأَطْفَالَ، وَأُرِيدُ أَنْ أَكْسِبَ خِبْرَةً.</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love children, and I want to gain experience.</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أَنْ تَتَطَوَّعَ؟</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مَهَارَةُ التَّوَاصُلِ، وَأَسْتَطِيعُ أَنْ أَحُلَّ المُشْكِلَاتِ.</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communication skills, and I can solve problems.</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مَهَارَاتُكَ؟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مَثَلًا أَعْتَنِي بِأَخِي الصَّغِيرِ كُلَّ يَوْمٍ بَعْدَ المَدْرَسَةِ.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 for example, I look after my little brother every day after school.</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أَنْتَ مَسْؤُولٌ؟ أَعْطِنِي مِثَالًا.</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أَحْيَانًا لَسْتُ صَبُورًا، وَلٰكِنَّنِي أُحَاوِلُ أَنْ أَتَنَفَّسَ وَأَهْدَأَ.</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I’m not patient, but I try to breathe and calm down.</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نُقْطَةُ ضَعْفِكَ؟</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أَهْتَمُّ بِعَمَلِ الصَّيْدَلِيِّ. يَحْتَاجُ هٰذَا العَمَلُ إِلَى الدِّقَّةِ وَمَهَارَةِ التَّوَاصُلِ، وَيَجِبُ أَنْ يَكُونَ الصَّيْدَلِيُّ أَمِينًا وَمَسْؤُولًا، لِأَنَّ الأَدْوِيَةَ خَطِيرَةٌ. أَنَا دَقِيقٌ جِدًّا؛ مَثَلًا، أُرَاجِعُ وَاجِبَاتِي مَرَّتَيْنِ قَبْلَ أَنْ أُسَلِّمَهَا. أَسْتَطِيعُ أَنْ أَتَوَاصَلَ مَعَ النَّاسِ بِسُهُولَةٍ، لِأَنَّنِي أَعْمَلُ فِي دُكَّانِ عَمِّي يَوْمَ السَّبْتِ. كَمَا أَنَّنِي أُحِبُّ العَمَلَ الجَمَاعِيَّ. نُقْطَةُ ضَعْفِي أَنَّنِي بَطِيءٌ أَحْيَانًا، وَلٰكِنَّنِي سَأُحَاوِلُ أَنْ أُدِيرَ وَقْتِي أَفْضَلَ.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interested in the pharmacist’s job. This job needs accuracy and communication skills, and the pharmacist must be honest and responsible, because medicines are dangerous. I am very accurate; for example, I check my homework twice before I hand it in. I can communicate with people easily, because I work in my uncle’s shop on Saturdays. I also love teamwork. My weakness is that I am sometimes slow, but I will try to manage my time better.”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يَحْتَاجُ هٰذَا العَمَلُ إِلَى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يَكُونَ الصَّيْدَلِيُّ أَمِينًا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أَسْتَطِيعُ أَنْ أَتَوَاصَلَ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نُقْطَةُ ضَعْفِي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D3-L04 · The Future Tense — Plans, Ambitions and Career Goals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المُسْتَقْبَلُ — الخُطَطُ وَالطُّمُوحَاتُ وَالأَهْدَافُ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D3-L03 · Practice Room — Skills and Qualities — What Makes a Good Worker?</dc:title>
  <dc:subject>PptxGenJS Presentation</dc:subject>
  <dc:creator>Al Madina Online School · Arabic Department</dc:creator>
  <cp:lastModifiedBy>Al Madina Online School · Arabic Department</cp:lastModifiedBy>
  <cp:revision>1</cp:revision>
  <dcterms:created xsi:type="dcterms:W3CDTF">2026-10-25T18:34:27Z</dcterms:created>
  <dcterms:modified xsi:type="dcterms:W3CDTF">2026-10-25T18:34:27Z</dcterms:modified>
</cp:coreProperties>
</file>