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D3-L03 (Skills and Qualities — What Makes a Good Worker?) — new practice tasks built on the lesson’s own word bank and grammar (needs: yaḥtāju ilā + noun (yaḥtāju al-ṭabību ilā al-ṣabri); must: yajibu an yakūna + adjective in -an (ṣabūran / ṣabūratan); can: yastaṭīʿu an + verb in -a; proving a quality with behaviour (mathalan, ʿindamā …)).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D3-L03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FADED SUPPORT: tasks 1–2 show the plan (question word → first words); students write their own plan for 3–4. Everyone is Speaker once. To a girl the Leader says: to a girl: تُرِيدِينَ · مَهَارَاتُكِ · مَسْؤُولَةٌ · لَسْتُ صَبُورَةً. yajibu an yakūna / takūna + adjective in -an; yastaṭīʿu an + verb in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(40–50 words). Develop: 60–80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(58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D3  ·  D3-L03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D3-L03</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Skills and Qualities — What Makes a Good Worker?</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المَهَارَاتُ وَالصِّفَاتُ</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250" dirty="0">
                <a:solidFill>
                  <a:srgbClr val="C6D2E6"/>
                </a:solidFill>
                <a:latin typeface="Calibri" pitchFamily="34" charset="0"/>
                <a:cs typeface="Amiri" pitchFamily="2" charset="-78"/>
              </a:rPr>
              <a:t>Students run their own speaking and writing practice about job skills: say the skills and qualities, act a short dialogue, answer question cards, do a role-play card for a volunteer position, give a one-minute talk about the skills a job needs, then build, fix and write a “my skills” profile with evidence.</a:t>
            </a:r>
            <a:endParaRPr lang="en-US" sz="125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D3-L03 · Development D3 · Work and Careers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D3 › D3-L03</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D3-L03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D3-L03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D3-L03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D3-L03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D3-L03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D3-L03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D3-L03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D3-L03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D3-L03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Skills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D3-L03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مَهَارَةُ التَّوَاصُلِ</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communication skill</a:t>
            </a:r>
            <a:endParaRPr lang="en-US" sz="1350" dirty="0"/>
          </a:p>
          <a:p>
            <a:pPr indent="0" marL="0">
              <a:buNone/>
            </a:pPr>
            <a:r>
              <a:rPr lang="en-US" sz="1100" i="1" dirty="0">
                <a:solidFill>
                  <a:srgbClr val="5A6472"/>
                </a:solidFill>
                <a:latin typeface="Calibri" pitchFamily="34" charset="0"/>
                <a:cs typeface="Amiri" pitchFamily="2" charset="-78"/>
              </a:rPr>
              <a:t>ma-hā-ra-tu at-ta-wā-ṣu-li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حَلُّ المُشْكِلَاتِ</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problem solving</a:t>
            </a:r>
            <a:endParaRPr lang="en-US" sz="1350" dirty="0"/>
          </a:p>
          <a:p>
            <a:pPr indent="0" marL="0">
              <a:buNone/>
            </a:pPr>
            <a:r>
              <a:rPr lang="en-US" sz="1100" i="1" dirty="0">
                <a:solidFill>
                  <a:srgbClr val="5A6472"/>
                </a:solidFill>
                <a:latin typeface="Calibri" pitchFamily="34" charset="0"/>
                <a:cs typeface="Amiri" pitchFamily="2" charset="-78"/>
              </a:rPr>
              <a:t>ḥal-lu al-mush-ki-lā-ti</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العَمَلُ الجَمَاعِيُّ</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teamwork</a:t>
            </a:r>
            <a:endParaRPr lang="en-US" sz="1350" dirty="0"/>
          </a:p>
          <a:p>
            <a:pPr indent="0" marL="0">
              <a:buNone/>
            </a:pPr>
            <a:r>
              <a:rPr lang="en-US" sz="1100" i="1" dirty="0">
                <a:solidFill>
                  <a:srgbClr val="5A6472"/>
                </a:solidFill>
                <a:latin typeface="Calibri" pitchFamily="34" charset="0"/>
                <a:cs typeface="Amiri" pitchFamily="2" charset="-78"/>
              </a:rPr>
              <a:t>al-ʿa-ma-lu al-ja-mā-ʿiy-yu</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إِدَارَةُ الوَقْتِ</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time management</a:t>
            </a:r>
            <a:endParaRPr lang="en-US" sz="1350" dirty="0"/>
          </a:p>
          <a:p>
            <a:pPr indent="0" marL="0">
              <a:buNone/>
            </a:pPr>
            <a:r>
              <a:rPr lang="en-US" sz="1100" i="1" dirty="0">
                <a:solidFill>
                  <a:srgbClr val="5A6472"/>
                </a:solidFill>
                <a:latin typeface="Calibri" pitchFamily="34" charset="0"/>
                <a:cs typeface="Amiri" pitchFamily="2" charset="-78"/>
              </a:rPr>
              <a:t>i-dā-ra-tu al-waq-ti</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الدِّقَّةُ</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accuracy</a:t>
            </a:r>
            <a:endParaRPr lang="en-US" sz="1350" dirty="0"/>
          </a:p>
          <a:p>
            <a:pPr indent="0" marL="0">
              <a:buNone/>
            </a:pPr>
            <a:r>
              <a:rPr lang="en-US" sz="1100" i="1" dirty="0">
                <a:solidFill>
                  <a:srgbClr val="5A6472"/>
                </a:solidFill>
                <a:latin typeface="Calibri" pitchFamily="34" charset="0"/>
                <a:cs typeface="Amiri" pitchFamily="2" charset="-78"/>
              </a:rPr>
              <a:t>ad-diq-qa-tu</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الخِبْرَةُ</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experience</a:t>
            </a:r>
            <a:endParaRPr lang="en-US" sz="1350" dirty="0"/>
          </a:p>
          <a:p>
            <a:pPr indent="0" marL="0">
              <a:buNone/>
            </a:pPr>
            <a:r>
              <a:rPr lang="en-US" sz="1100" i="1" dirty="0">
                <a:solidFill>
                  <a:srgbClr val="5A6472"/>
                </a:solidFill>
                <a:latin typeface="Calibri" pitchFamily="34" charset="0"/>
                <a:cs typeface="Amiri" pitchFamily="2" charset="-78"/>
              </a:rPr>
              <a:t>al-khib-ra-tu</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D3-L03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Qualities (m. / f.)</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D3-L03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مَسْؤُولٌ / مَسْؤُولَةٌ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responsible</a:t>
            </a:r>
            <a:endParaRPr lang="en-US" sz="1350" dirty="0"/>
          </a:p>
          <a:p>
            <a:pPr indent="0" marL="0">
              <a:buNone/>
            </a:pPr>
            <a:r>
              <a:rPr lang="en-US" sz="1100" i="1" dirty="0">
                <a:solidFill>
                  <a:srgbClr val="5A6472"/>
                </a:solidFill>
                <a:latin typeface="Calibri" pitchFamily="34" charset="0"/>
                <a:cs typeface="Amiri" pitchFamily="2" charset="-78"/>
              </a:rPr>
              <a:t>mas-ʾū-lun / mas-ʾū-la-tun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مَسْؤُولُونَ</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مَسْؤُولَةٌ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مَسْؤُولٌ</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6" name="Shape 33"/>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مُنَظَّمٌ / مُنَظَّمَةٌ</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organised</a:t>
            </a:r>
            <a:endParaRPr lang="en-US" sz="1350" dirty="0"/>
          </a:p>
          <a:p>
            <a:pPr indent="0" marL="0">
              <a:buNone/>
            </a:pPr>
            <a:r>
              <a:rPr lang="en-US" sz="1100" i="1" dirty="0">
                <a:solidFill>
                  <a:srgbClr val="5A6472"/>
                </a:solidFill>
                <a:latin typeface="Calibri" pitchFamily="34" charset="0"/>
                <a:cs typeface="Amiri" pitchFamily="2" charset="-78"/>
              </a:rPr>
              <a:t>mu-naẓ-ẓa-mun / mu-naẓ-ẓa-ma-tun</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4" name="Text 41"/>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مُنَظَّمُونَ</a:t>
            </a:r>
            <a:endParaRPr lang="ar-SA" sz="150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7" name="Text 44"/>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مُنَظَّمَةٌ</a:t>
            </a:r>
            <a:endParaRPr lang="ar-SA" sz="150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مُنَظَّمٌ</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54" name="Shape 51"/>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6" name="Shape 5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صَبُورٌ / صَبُورَةٌ</a:t>
            </a:r>
            <a:endParaRPr lang="ar-SA" sz="3000" dirty="0"/>
          </a:p>
        </p:txBody>
      </p:sp>
      <p:sp>
        <p:nvSpPr>
          <p:cNvPr id="59" name="Text 56"/>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patient</a:t>
            </a:r>
            <a:endParaRPr lang="en-US" sz="1350" dirty="0"/>
          </a:p>
          <a:p>
            <a:pPr indent="0" marL="0">
              <a:buNone/>
            </a:pPr>
            <a:r>
              <a:rPr lang="en-US" sz="1100" i="1" dirty="0">
                <a:solidFill>
                  <a:srgbClr val="5A6472"/>
                </a:solidFill>
                <a:latin typeface="Calibri" pitchFamily="34" charset="0"/>
                <a:cs typeface="Amiri" pitchFamily="2" charset="-78"/>
              </a:rPr>
              <a:t>ṣa-bū-run / ṣa-bū-ra-tun</a:t>
            </a:r>
            <a:endParaRPr lang="en-US" sz="1350" dirty="0"/>
          </a:p>
        </p:txBody>
      </p:sp>
      <p:sp>
        <p:nvSpPr>
          <p:cNvPr id="60" name="Shape 57"/>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2" name="Text 59"/>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صَبُورُونَ</a:t>
            </a:r>
            <a:endParaRPr lang="ar-SA" sz="1500" dirty="0"/>
          </a:p>
        </p:txBody>
      </p:sp>
      <p:sp>
        <p:nvSpPr>
          <p:cNvPr id="63" name="Shape 60"/>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5" name="Text 62"/>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صَبُورَةٌ</a:t>
            </a:r>
            <a:endParaRPr lang="ar-SA" sz="1500" dirty="0"/>
          </a:p>
        </p:txBody>
      </p:sp>
      <p:sp>
        <p:nvSpPr>
          <p:cNvPr id="66" name="Shape 63"/>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8" name="Text 65"/>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صَبُورٌ</a:t>
            </a:r>
            <a:endParaRPr lang="ar-SA" sz="1500" dirty="0"/>
          </a:p>
        </p:txBody>
      </p:sp>
      <p:sp>
        <p:nvSpPr>
          <p:cNvPr id="69" name="Shape 6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8211312" y="4261104"/>
            <a:ext cx="310896" cy="310896"/>
          </a:xfrm>
          <a:prstGeom prst="ellipse">
            <a:avLst/>
          </a:prstGeom>
          <a:solidFill>
            <a:srgbClr val="F4F1EA"/>
          </a:solidFill>
          <a:ln w="12700">
            <a:solidFill>
              <a:srgbClr val="F4F1EA"/>
            </a:solidFill>
            <a:prstDash val="solid"/>
          </a:ln>
        </p:spPr>
      </p:sp>
      <p:sp>
        <p:nvSpPr>
          <p:cNvPr id="71" name="Text 6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72" name="Shape 69"/>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73" name="Text 70"/>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74" name="Shape 71"/>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75" name="Text 72"/>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6" name="Text 73"/>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وَاثِقٌ / وَاثِقَةٌ</a:t>
            </a:r>
            <a:endParaRPr lang="ar-SA" sz="3000" dirty="0"/>
          </a:p>
        </p:txBody>
      </p:sp>
      <p:sp>
        <p:nvSpPr>
          <p:cNvPr id="77" name="Text 74"/>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confident</a:t>
            </a:r>
            <a:endParaRPr lang="en-US" sz="1350" dirty="0"/>
          </a:p>
          <a:p>
            <a:pPr indent="0" marL="0">
              <a:buNone/>
            </a:pPr>
            <a:r>
              <a:rPr lang="en-US" sz="1100" i="1" dirty="0">
                <a:solidFill>
                  <a:srgbClr val="5A6472"/>
                </a:solidFill>
                <a:latin typeface="Calibri" pitchFamily="34" charset="0"/>
                <a:cs typeface="Amiri" pitchFamily="2" charset="-78"/>
              </a:rPr>
              <a:t>wā-thi-qun / wā-thi-qa-tun</a:t>
            </a:r>
            <a:endParaRPr lang="en-US" sz="1350" dirty="0"/>
          </a:p>
        </p:txBody>
      </p:sp>
      <p:sp>
        <p:nvSpPr>
          <p:cNvPr id="78" name="Shape 75"/>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80" name="Text 77"/>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وَاثِقُونَ</a:t>
            </a:r>
            <a:endParaRPr lang="ar-SA" sz="1500" dirty="0"/>
          </a:p>
        </p:txBody>
      </p:sp>
      <p:sp>
        <p:nvSpPr>
          <p:cNvPr id="81" name="Shape 78"/>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82" name="Text 79"/>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83" name="Text 80"/>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وَاثِقَةٌ</a:t>
            </a:r>
            <a:endParaRPr lang="ar-SA" sz="1500" dirty="0"/>
          </a:p>
        </p:txBody>
      </p:sp>
      <p:sp>
        <p:nvSpPr>
          <p:cNvPr id="84" name="Shape 81"/>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6" name="Text 83"/>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وَاثِقٌ</a:t>
            </a:r>
            <a:endParaRPr lang="ar-SA" sz="1500" dirty="0"/>
          </a:p>
        </p:txBody>
      </p:sp>
      <p:sp>
        <p:nvSpPr>
          <p:cNvPr id="87" name="Shape 8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8" name="Shape 85"/>
          <p:cNvSpPr/>
          <p:nvPr/>
        </p:nvSpPr>
        <p:spPr>
          <a:xfrm>
            <a:off x="4389120" y="4261104"/>
            <a:ext cx="310896" cy="310896"/>
          </a:xfrm>
          <a:prstGeom prst="ellipse">
            <a:avLst/>
          </a:prstGeom>
          <a:solidFill>
            <a:srgbClr val="F4F1EA"/>
          </a:solidFill>
          <a:ln w="12700">
            <a:solidFill>
              <a:srgbClr val="F4F1EA"/>
            </a:solidFill>
            <a:prstDash val="solid"/>
          </a:ln>
        </p:spPr>
      </p:sp>
      <p:sp>
        <p:nvSpPr>
          <p:cNvPr id="89" name="Text 8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90" name="Shape 87"/>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91" name="Text 88"/>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92" name="Shape 89"/>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93" name="Text 90"/>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94" name="Text 91"/>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مُتَعَاوِنٌ / مُتَعَاوِنَةٌ</a:t>
            </a:r>
            <a:endParaRPr lang="ar-SA" sz="3000" dirty="0"/>
          </a:p>
        </p:txBody>
      </p:sp>
      <p:sp>
        <p:nvSpPr>
          <p:cNvPr id="95" name="Text 92"/>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cooperative</a:t>
            </a:r>
            <a:endParaRPr lang="en-US" sz="1350" dirty="0"/>
          </a:p>
          <a:p>
            <a:pPr indent="0" marL="0">
              <a:buNone/>
            </a:pPr>
            <a:r>
              <a:rPr lang="en-US" sz="1100" i="1" dirty="0">
                <a:solidFill>
                  <a:srgbClr val="5A6472"/>
                </a:solidFill>
                <a:latin typeface="Calibri" pitchFamily="34" charset="0"/>
                <a:cs typeface="Amiri" pitchFamily="2" charset="-78"/>
              </a:rPr>
              <a:t>mu-ta-ʿā-wi-nun / mu-ta-ʿā-wi-na-tun</a:t>
            </a:r>
            <a:endParaRPr lang="en-US" sz="1350" dirty="0"/>
          </a:p>
        </p:txBody>
      </p:sp>
      <p:sp>
        <p:nvSpPr>
          <p:cNvPr id="96" name="Shape 93"/>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97" name="Text 94"/>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98" name="Text 95"/>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مُتَعَاوِنُونَ</a:t>
            </a:r>
            <a:endParaRPr lang="ar-SA" sz="1500" dirty="0"/>
          </a:p>
        </p:txBody>
      </p:sp>
      <p:sp>
        <p:nvSpPr>
          <p:cNvPr id="99" name="Shape 96"/>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100" name="Text 97"/>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101" name="Text 98"/>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مُتَعَاوِنَةٌ</a:t>
            </a:r>
            <a:endParaRPr lang="ar-SA" sz="1500" dirty="0"/>
          </a:p>
        </p:txBody>
      </p:sp>
      <p:sp>
        <p:nvSpPr>
          <p:cNvPr id="102" name="Shape 99"/>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103" name="Text 100"/>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104" name="Text 101"/>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مُتَعَاوِنٌ</a:t>
            </a:r>
            <a:endParaRPr lang="ar-SA" sz="1500" dirty="0"/>
          </a:p>
        </p:txBody>
      </p:sp>
      <p:sp>
        <p:nvSpPr>
          <p:cNvPr id="105" name="Shape 10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06" name="Shape 103"/>
          <p:cNvSpPr/>
          <p:nvPr/>
        </p:nvSpPr>
        <p:spPr>
          <a:xfrm>
            <a:off x="566928" y="4261104"/>
            <a:ext cx="310896" cy="310896"/>
          </a:xfrm>
          <a:prstGeom prst="ellipse">
            <a:avLst/>
          </a:prstGeom>
          <a:solidFill>
            <a:srgbClr val="F4F1EA"/>
          </a:solidFill>
          <a:ln w="12700">
            <a:solidFill>
              <a:srgbClr val="F4F1EA"/>
            </a:solidFill>
            <a:prstDash val="solid"/>
          </a:ln>
        </p:spPr>
      </p:sp>
      <p:sp>
        <p:nvSpPr>
          <p:cNvPr id="107" name="Text 10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108" name="Shape 105"/>
          <p:cNvSpPr/>
          <p:nvPr/>
        </p:nvSpPr>
        <p:spPr>
          <a:xfrm>
            <a:off x="960120" y="4279392"/>
            <a:ext cx="896112" cy="256032"/>
          </a:xfrm>
          <a:prstGeom prst="roundRect">
            <a:avLst>
              <a:gd name="adj" fmla="val 50000"/>
            </a:avLst>
          </a:prstGeom>
          <a:solidFill>
            <a:srgbClr val="EFE7D2"/>
          </a:solidFill>
          <a:ln w="12700">
            <a:solidFill>
              <a:srgbClr val="EFE7D2"/>
            </a:solidFill>
            <a:prstDash val="solid"/>
          </a:ln>
        </p:spPr>
      </p:sp>
      <p:sp>
        <p:nvSpPr>
          <p:cNvPr id="109" name="Text 106"/>
          <p:cNvSpPr txBox="1"/>
          <p:nvPr/>
        </p:nvSpPr>
        <p:spPr>
          <a:xfrm>
            <a:off x="960120"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110" name="Shape 107"/>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111" name="Text 108"/>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112" name="Text 109"/>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أَمِينٌ / أَمِينَةٌ</a:t>
            </a:r>
            <a:endParaRPr lang="ar-SA" sz="3000" dirty="0"/>
          </a:p>
        </p:txBody>
      </p:sp>
      <p:sp>
        <p:nvSpPr>
          <p:cNvPr id="113" name="Text 110"/>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honest</a:t>
            </a:r>
            <a:endParaRPr lang="en-US" sz="1350" dirty="0"/>
          </a:p>
          <a:p>
            <a:pPr indent="0" marL="0">
              <a:buNone/>
            </a:pPr>
            <a:r>
              <a:rPr lang="en-US" sz="1100" i="1" dirty="0">
                <a:solidFill>
                  <a:srgbClr val="5A6472"/>
                </a:solidFill>
                <a:latin typeface="Calibri" pitchFamily="34" charset="0"/>
                <a:cs typeface="Amiri" pitchFamily="2" charset="-78"/>
              </a:rPr>
              <a:t>a-mī-nun / a-mī-na-tun</a:t>
            </a:r>
            <a:endParaRPr lang="en-US" sz="1350" dirty="0"/>
          </a:p>
        </p:txBody>
      </p:sp>
      <p:sp>
        <p:nvSpPr>
          <p:cNvPr id="114" name="Shape 111"/>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115" name="Text 112"/>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116" name="Text 113"/>
          <p:cNvSpPr txBox="1"/>
          <p:nvPr/>
        </p:nvSpPr>
        <p:spPr>
          <a:xfrm>
            <a:off x="294436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أُمَنَاءُ</a:t>
            </a:r>
            <a:endParaRPr lang="ar-SA" sz="1500" dirty="0"/>
          </a:p>
        </p:txBody>
      </p:sp>
      <p:sp>
        <p:nvSpPr>
          <p:cNvPr id="117" name="Shape 114"/>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118" name="Text 115"/>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119" name="Text 116"/>
          <p:cNvSpPr txBox="1"/>
          <p:nvPr/>
        </p:nvSpPr>
        <p:spPr>
          <a:xfrm>
            <a:off x="179222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أَمِينَةٌ</a:t>
            </a:r>
            <a:endParaRPr lang="ar-SA" sz="1500" dirty="0"/>
          </a:p>
        </p:txBody>
      </p:sp>
      <p:sp>
        <p:nvSpPr>
          <p:cNvPr id="120" name="Shape 117"/>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121" name="Text 118"/>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122" name="Text 119"/>
          <p:cNvSpPr txBox="1"/>
          <p:nvPr/>
        </p:nvSpPr>
        <p:spPr>
          <a:xfrm>
            <a:off x="64008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أَمِينٌ</a:t>
            </a:r>
            <a:endParaRPr lang="ar-SA" sz="1500" dirty="0"/>
          </a:p>
        </p:txBody>
      </p:sp>
      <p:sp>
        <p:nvSpPr>
          <p:cNvPr id="123" name="Text 12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D3-L03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does a good teacher need?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إِلَامَ يَحْتَاجُ المُعَلِّمُ الجَيِّدُ؟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D3-L03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does a good teacher need?</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إِلَامَ يَحْتَاجُ المُعَلِّمُ الجَيِّدُ؟</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 needs communication skills and time management.</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يَحْتَاجُ إِلَى مَهَارَةِ التَّوَاصُلِ وَإِدَارَةِ الوَقْتِ.</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what must he be like?</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وَكَيْفَ يَجِبُ أَنْ يَكُونَ؟</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 must be patient and organised.</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يَجِبُ أَنْ يَكُونَ صَبُورًا وَمُنَظَّمًا.</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you — are you organised?</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وَأَنْتَ، هَلْ أَنْتَ مُنَظَّمٌ؟</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 For example, I can plan my whole week on Sunday.</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نَعَمْ! مَثَلًا، أَسْتَطِيعُ أَنْ أُخَطِّطَ أُسْبُوعِي كُلَّهُ يَوْمَ الأَحَدِ.</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talk about a female job (</a:t>
            </a:r>
            <a:pPr algn="l" indent="0" marL="0">
              <a:buNone/>
            </a:pPr>
            <a:r>
              <a:rPr lang="ar-SA" altLang="en-US" sz="1500" b="1" dirty="0">
                <a:solidFill>
                  <a:srgbClr val="1B3B6F"/>
                </a:solidFill>
                <a:latin typeface="Amiri" pitchFamily="2" charset="-78"/>
                <a:ea typeface="Amiri" pitchFamily="2" charset="-78"/>
                <a:cs typeface="Amiri" pitchFamily="2" charset="-78"/>
              </a:rPr>
              <a:t>مُمَرِّضَةٌ</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يَجِبُ أَنْ تَكُونَ صَبُورَةً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D3-L03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Answer in a full sentence — then add more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D3-L03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لِأَنَّهُ …</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يَحْتَاجُ إِلَى … وَ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does a doctor need?</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إِلَامَ يَحْتَاجُ الطَّبِيبُ؟</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 المَرْضَى …</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يَجِبُ أَنْ تَكُونَ … وَ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must a nurse (f.) be like?</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يَجِبُ أَنْ تَكُونَ المُمَرِّضَةُ؟</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مَثَلًا عِنْدَمَا …</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أَقْوَى مَهَارَةٍ عِنْدِي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your strongest skill?</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أَقْوَى مَهَارَةٍ عِنْدَكَ؟</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لِذٰلِكَ …</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أَسْتَطِيعُ أَنْ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can you do well?</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تَسْتَطِيعُ أَنْ تَفْعَلَ جَيِّدًا؟</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مَثَلًا فِي فَرِيقِ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نَعَمْ، لِأَنَّ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Is teamwork important?</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العَمَلُ الجَمَاعِيُّ مُهِمٌّ؟</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D3-L03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4 · ROLE-PLAY CARD · PLANS FOR TASKS 1–2 ARE GIVEN — PLAN 3–4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Role-play card — applying to volunteer at a summer camp</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مُتَطَوِّعٌ فِي مُخَيَّمٍ صَيْفِيٍّ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D3-L03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لِمَاذَا ← لِأَنَّنِي أُحِبُّ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Reason.</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لِمَاذَا تُرِيدُ أَنْ تَتَطَوَّعَ؟</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مَهَارَاتِي ← عِنْدِي مَهَارَةُ … وَ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skills.</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مَهَارَاتُكَ؟</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93608" y="3840480"/>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Quality + evidence.</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أَنْتَ مَسْؤُولٌ؟ أَعْطِنِي مِثَالًا.</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8293608" y="4626864"/>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weakness + improvement.</a:t>
            </a:r>
            <a:endParaRPr lang="en-US" sz="1100" dirty="0"/>
          </a:p>
        </p:txBody>
      </p:sp>
      <p:sp>
        <p:nvSpPr>
          <p:cNvPr id="42" name="Text 39"/>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وَمَا نُقْطَةُ ضَعْفِكَ؟</a:t>
            </a:r>
            <a:endParaRPr lang="ar-SA" sz="1700" dirty="0"/>
          </a:p>
        </p:txBody>
      </p:sp>
      <p:sp>
        <p:nvSpPr>
          <p:cNvPr id="43" name="Text 40"/>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a volunteer applicant · Leader = the camp leader. Write the plan for tasks 3–4 in your book first. Task ! is a surprise — the Leader reads it without warning. Then swap roles.</a:t>
            </a:r>
            <a:endParaRPr lang="en-US" sz="11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D3-L03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One minute: what does this job need?</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مَاذَا تَحْتَاجُ هٰذِهِ الوَظِيفَةُ؟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D3-L03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names a job (</a:t>
            </a:r>
            <a:pPr algn="l" indent="0" marL="0">
              <a:buNone/>
            </a:pPr>
            <a:r>
              <a:rPr lang="ar-SA" altLang="en-US" sz="1750" dirty="0">
                <a:solidFill>
                  <a:srgbClr val="1F2A37"/>
                </a:solidFill>
                <a:latin typeface="Amiri" pitchFamily="2" charset="-78"/>
                <a:ea typeface="Amiri" pitchFamily="2" charset="-78"/>
                <a:cs typeface="Amiri" pitchFamily="2" charset="-78"/>
              </a:rPr>
              <a:t>طَبِيبٌ</a:t>
            </a:r>
            <a:pPr algn="l" indent="0" marL="0">
              <a:buNone/>
            </a:pPr>
            <a:r>
              <a:rPr lang="en-US" sz="1350" dirty="0">
                <a:solidFill>
                  <a:srgbClr val="1F2A37"/>
                </a:solidFill>
                <a:latin typeface="Calibri" pitchFamily="34" charset="0"/>
                <a:cs typeface="Amiri" pitchFamily="2" charset="-78"/>
              </a:rPr>
              <a:t> · </a:t>
            </a:r>
            <a:pPr algn="l" indent="0" marL="0">
              <a:buNone/>
            </a:pPr>
            <a:r>
              <a:rPr lang="ar-SA" altLang="en-US" sz="1750" dirty="0">
                <a:solidFill>
                  <a:srgbClr val="1F2A37"/>
                </a:solidFill>
                <a:latin typeface="Amiri" pitchFamily="2" charset="-78"/>
                <a:ea typeface="Amiri" pitchFamily="2" charset="-78"/>
                <a:cs typeface="Amiri" pitchFamily="2" charset="-78"/>
              </a:rPr>
              <a:t>طَيَّارَةٌ</a:t>
            </a:r>
            <a:pPr algn="l" indent="0" marL="0">
              <a:buNone/>
            </a:pPr>
            <a:r>
              <a:rPr lang="en-US" sz="1350" dirty="0">
                <a:solidFill>
                  <a:srgbClr val="1F2A37"/>
                </a:solidFill>
                <a:latin typeface="Calibri" pitchFamily="34" charset="0"/>
                <a:cs typeface="Amiri" pitchFamily="2" charset="-78"/>
              </a:rPr>
              <a:t> · </a:t>
            </a:r>
            <a:pPr algn="l" indent="0" marL="0">
              <a:buNone/>
            </a:pPr>
            <a:r>
              <a:rPr lang="ar-SA" altLang="en-US" sz="1750" dirty="0">
                <a:solidFill>
                  <a:srgbClr val="1F2A37"/>
                </a:solidFill>
                <a:latin typeface="Amiri" pitchFamily="2" charset="-78"/>
                <a:ea typeface="Amiri" pitchFamily="2" charset="-78"/>
                <a:cs typeface="Amiri" pitchFamily="2" charset="-78"/>
              </a:rPr>
              <a:t>شُرْطِيٌّ</a:t>
            </a:r>
            <a:pPr algn="l" indent="0" marL="0">
              <a:buNone/>
            </a:pPr>
            <a:r>
              <a:rPr lang="en-US" sz="1350" dirty="0">
                <a:solidFill>
                  <a:srgbClr val="1F2A37"/>
                </a:solidFill>
                <a:latin typeface="Calibri" pitchFamily="34" charset="0"/>
                <a:cs typeface="Amiri" pitchFamily="2" charset="-78"/>
              </a:rPr>
              <a:t> · </a:t>
            </a:r>
            <a:pPr algn="l" indent="0" marL="0">
              <a:buNone/>
            </a:pPr>
            <a:r>
              <a:rPr lang="ar-SA" altLang="en-US" sz="1750" dirty="0">
                <a:solidFill>
                  <a:srgbClr val="1F2A37"/>
                </a:solidFill>
                <a:latin typeface="Amiri" pitchFamily="2" charset="-78"/>
                <a:ea typeface="Amiri" pitchFamily="2" charset="-78"/>
                <a:cs typeface="Amiri" pitchFamily="2" charset="-78"/>
              </a:rPr>
              <a:t>مُدَرِّسَةٌ</a:t>
            </a:r>
            <a:pPr algn="l" indent="0" marL="0">
              <a:buNone/>
            </a:pPr>
            <a:r>
              <a:rPr lang="en-US" sz="1350" dirty="0">
                <a:solidFill>
                  <a:srgbClr val="1F2A37"/>
                </a:solidFill>
                <a:latin typeface="Calibri" pitchFamily="34" charset="0"/>
                <a:cs typeface="Amiri" pitchFamily="2" charset="-78"/>
              </a:rPr>
              <a:t> …). Talk for one minute: what it needs, what the worker must be, and do YOU have these skills?</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2" charset="-78"/>
                <a:ea typeface="Amiri" pitchFamily="2" charset="-78"/>
                <a:cs typeface="Amiri" pitchFamily="2" charset="-78"/>
              </a:rPr>
              <a:t>يَحْتَاجُ إِلَى</a:t>
            </a:r>
            <a:pPr algn="l" indent="0" marL="0">
              <a:buNone/>
            </a:pPr>
            <a:r>
              <a:rPr lang="en-US" sz="1150" dirty="0">
                <a:solidFill>
                  <a:srgbClr val="1F2A37"/>
                </a:solidFill>
                <a:latin typeface="Calibri" pitchFamily="34" charset="0"/>
                <a:cs typeface="Amiri" pitchFamily="2" charset="-78"/>
              </a:rPr>
              <a:t> … + two skills.</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يَجِبُ أَنْ يَكُونَ / تَكُونَ</a:t>
            </a:r>
            <a:pPr algn="l" indent="0" marL="0">
              <a:buNone/>
            </a:pPr>
            <a:r>
              <a:rPr lang="en-US" sz="1150" dirty="0">
                <a:solidFill>
                  <a:srgbClr val="1F2A37"/>
                </a:solidFill>
                <a:latin typeface="Calibri" pitchFamily="34" charset="0"/>
                <a:cs typeface="Amiri" pitchFamily="2" charset="-78"/>
              </a:rPr>
              <a:t> + two qualities (with -an).</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your own skills with evidence (</a:t>
            </a:r>
            <a:pPr algn="l" indent="0" marL="0">
              <a:buNone/>
            </a:pPr>
            <a:r>
              <a:rPr lang="ar-SA" altLang="en-US" sz="1500" dirty="0">
                <a:solidFill>
                  <a:srgbClr val="1F2A37"/>
                </a:solidFill>
                <a:latin typeface="Amiri" pitchFamily="2" charset="-78"/>
                <a:ea typeface="Amiri" pitchFamily="2" charset="-78"/>
                <a:cs typeface="Amiri" pitchFamily="2" charset="-78"/>
              </a:rPr>
              <a:t>أَسْتَطِيعُ أَنْ … مَثَلًا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D3-L03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D3-L03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An engineer needs accuracy.</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يَحْتَاجُ المُهَنْدِسُ</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يَحْتَاجُ المُهَنْدِسَ</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إِلَى</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عَلَى</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الدِّقَّةِ.</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الدِّقَّةُ.</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A nurse (f.) must be patient.</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يَجِبُ أَنْ</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يَجِبُ</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تَكُونَ المُمَرِّضَةُ</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يَكُونَ المُمَرِّضَةُ</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صَبُورَةً.</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صَبُورَةٌ.</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can manage my time well.</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أَسْتَطِيعُ</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أَسْتَطِيعَ</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أُدِيرَ</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أُدِيرُ</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وَقْتِي جَيِّدًا.</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وَقْتِي جَيِّدٌ.</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D3-L03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D3-L03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An engineer needs accuracy.</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يَحْتَاجُ إِلَى</a:t>
            </a:r>
            <a:pPr algn="l" indent="0" marL="0">
              <a:buNone/>
            </a:pPr>
            <a:r>
              <a:rPr lang="en-US" sz="1050" i="1" dirty="0">
                <a:solidFill>
                  <a:srgbClr val="5A6472"/>
                </a:solidFill>
                <a:latin typeface="Calibri" pitchFamily="34" charset="0"/>
                <a:cs typeface="Amiri" pitchFamily="2" charset="-78"/>
              </a:rPr>
              <a:t> + genitive.</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يَحْتَاجُ المُهَنْدِسُ إِلَى الدِّقَّةِ.</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A nurse (f.) must be patient.</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She → </a:t>
            </a:r>
            <a:pPr algn="l" indent="0" marL="0">
              <a:buNone/>
            </a:pPr>
            <a:r>
              <a:rPr lang="ar-SA" altLang="en-US" sz="1350" dirty="0">
                <a:solidFill>
                  <a:srgbClr val="5A6472"/>
                </a:solidFill>
                <a:latin typeface="Amiri" pitchFamily="2" charset="-78"/>
                <a:ea typeface="Amiri" pitchFamily="2" charset="-78"/>
                <a:cs typeface="Amiri" pitchFamily="2" charset="-78"/>
              </a:rPr>
              <a:t>تَكُونَ</a:t>
            </a:r>
            <a:pPr algn="l" indent="0" marL="0">
              <a:buNone/>
            </a:pPr>
            <a:r>
              <a:rPr lang="en-US" sz="1050" i="1" dirty="0">
                <a:solidFill>
                  <a:srgbClr val="5A6472"/>
                </a:solidFill>
                <a:latin typeface="Calibri" pitchFamily="34" charset="0"/>
                <a:cs typeface="Amiri" pitchFamily="2" charset="-78"/>
              </a:rPr>
              <a:t>; </a:t>
            </a:r>
            <a:pPr algn="l" indent="0" marL="0">
              <a:buNone/>
            </a:pPr>
            <a:r>
              <a:rPr lang="ar-SA" altLang="en-US" sz="1350" dirty="0">
                <a:solidFill>
                  <a:srgbClr val="5A6472"/>
                </a:solidFill>
                <a:latin typeface="Amiri" pitchFamily="2" charset="-78"/>
                <a:ea typeface="Amiri" pitchFamily="2" charset="-78"/>
                <a:cs typeface="Amiri" pitchFamily="2" charset="-78"/>
              </a:rPr>
              <a:t>كَانَ</a:t>
            </a:r>
            <a:pPr algn="l" indent="0" marL="0">
              <a:buNone/>
            </a:pPr>
            <a:r>
              <a:rPr lang="en-US" sz="1050" i="1" dirty="0">
                <a:solidFill>
                  <a:srgbClr val="5A6472"/>
                </a:solidFill>
                <a:latin typeface="Calibri" pitchFamily="34" charset="0"/>
                <a:cs typeface="Amiri" pitchFamily="2" charset="-78"/>
              </a:rPr>
              <a:t>-type verb → adjective in -an.</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يَجِبُ أَنْ تَكُونَ المُمَرِّضَةُ صَبُورَةً.</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can manage my time well.</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أَنْ</a:t>
            </a:r>
            <a:pPr algn="l" indent="0" marL="0">
              <a:buNone/>
            </a:pPr>
            <a:r>
              <a:rPr lang="en-US" sz="1050" i="1" dirty="0">
                <a:solidFill>
                  <a:srgbClr val="5A6472"/>
                </a:solidFill>
                <a:latin typeface="Calibri" pitchFamily="34" charset="0"/>
                <a:cs typeface="Amiri" pitchFamily="2" charset="-78"/>
              </a:rPr>
              <a:t> + -a; </a:t>
            </a:r>
            <a:pPr algn="l" indent="0" marL="0">
              <a:buNone/>
            </a:pPr>
            <a:r>
              <a:rPr lang="ar-SA" altLang="en-US" sz="1350" dirty="0">
                <a:solidFill>
                  <a:srgbClr val="5A6472"/>
                </a:solidFill>
                <a:latin typeface="Amiri" pitchFamily="2" charset="-78"/>
                <a:ea typeface="Amiri" pitchFamily="2" charset="-78"/>
                <a:cs typeface="Amiri" pitchFamily="2" charset="-78"/>
              </a:rPr>
              <a:t>جَيِّدًا</a:t>
            </a:r>
            <a:pPr algn="l" indent="0" marL="0">
              <a:buNone/>
            </a:pPr>
            <a:r>
              <a:rPr lang="en-US" sz="1050" i="1" dirty="0">
                <a:solidFill>
                  <a:srgbClr val="5A6472"/>
                </a:solidFill>
                <a:latin typeface="Calibri" pitchFamily="34" charset="0"/>
                <a:cs typeface="Amiri" pitchFamily="2" charset="-78"/>
              </a:rPr>
              <a:t> is an adverb.</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أَسْتَطِيعُ أَنْ أُدِيرَ وَقْتِي جَيِّدًا.</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D3-L03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D3-L03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يَجِبُ أَنْ يَكُونَ مُنَظَّمٌ.</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a:t>
            </a:r>
            <a:pPr algn="l" indent="0" marL="0">
              <a:buNone/>
            </a:pPr>
            <a:r>
              <a:rPr lang="ar-SA" altLang="en-US" sz="1700" dirty="0">
                <a:solidFill>
                  <a:srgbClr val="5A6472"/>
                </a:solidFill>
                <a:latin typeface="Amiri" pitchFamily="2" charset="-78"/>
                <a:ea typeface="Amiri" pitchFamily="2" charset="-78"/>
                <a:cs typeface="Amiri" pitchFamily="2" charset="-78"/>
              </a:rPr>
              <a:t>يَكُونَ</a:t>
            </a:r>
            <a:pPr algn="l" indent="0" marL="0">
              <a:buNone/>
            </a:pPr>
            <a:r>
              <a:rPr lang="en-US" sz="1300" i="1" dirty="0">
                <a:solidFill>
                  <a:srgbClr val="5A6472"/>
                </a:solidFill>
                <a:latin typeface="Calibri" pitchFamily="34" charset="0"/>
                <a:cs typeface="Amiri" pitchFamily="2" charset="-78"/>
              </a:rPr>
              <a:t> …</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يَحْتَاجُ الطَّيَّارُ الدِّقَّةَ.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Missing preposition.</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algn="l" indent="0" marL="0">
              <a:buNone/>
            </a:pPr>
            <a:r>
              <a:rPr lang="ar-SA" altLang="en-US" sz="3900" b="1" dirty="0">
                <a:solidFill>
                  <a:srgbClr val="B83227"/>
                </a:solidFill>
                <a:latin typeface="Amiri" pitchFamily="2" charset="-78"/>
                <a:ea typeface="Amiri" pitchFamily="2" charset="-78"/>
                <a:cs typeface="Amiri" pitchFamily="2" charset="-78"/>
              </a:rPr>
              <a:t>أَنَا مَسْؤُولٌ</a:t>
            </a:r>
            <a:pPr algn="l" indent="0" marL="0">
              <a:buNone/>
            </a:pPr>
            <a:r>
              <a:rPr lang="en-US" sz="3000" b="1" dirty="0">
                <a:solidFill>
                  <a:srgbClr val="B83227"/>
                </a:solidFill>
                <a:latin typeface="Calibri" pitchFamily="34" charset="0"/>
                <a:cs typeface="Amiri" pitchFamily="2" charset="-78"/>
              </a:rPr>
              <a:t>. (no proof)</a:t>
            </a:r>
            <a:endParaRPr lang="en-US"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Prove it!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D3-L03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D3-L03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يَجِبُ أَنْ يَكُونَ مُنَظَّمٌ.</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يَجِبُ أَنْ يَكُونَ مُنَظَّمًا.</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كَانَ / يَكُونَ</a:t>
            </a:r>
            <a:pPr algn="l" indent="0" marL="0">
              <a:buNone/>
            </a:pPr>
            <a:r>
              <a:rPr lang="en-US" sz="1150" b="1" dirty="0">
                <a:solidFill>
                  <a:srgbClr val="1B3B6F"/>
                </a:solidFill>
                <a:latin typeface="Calibri" pitchFamily="34" charset="0"/>
                <a:cs typeface="Amiri" pitchFamily="2" charset="-78"/>
              </a:rPr>
              <a:t> → adjective in -an.</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يَحْتَاجُ الطَّيَّارُ الدِّقَّةَ.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يَحْتَاجُ الطَّيَّارُ إِلَى الدِّقَّةِ.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rtl="1" algn="r" indent="0" marL="0">
              <a:buNone/>
            </a:pPr>
            <a:r>
              <a:rPr lang="ar-SA" altLang="en-US" sz="1450" dirty="0">
                <a:solidFill>
                  <a:srgbClr val="1B3B6F"/>
                </a:solidFill>
                <a:latin typeface="Amiri" pitchFamily="2" charset="-78"/>
                <a:ea typeface="Amiri" pitchFamily="2" charset="-78"/>
                <a:cs typeface="Amiri" pitchFamily="2" charset="-78"/>
              </a:rPr>
              <a:t>يَحْتَاجُ إِلَى …</a:t>
            </a:r>
            <a:endParaRPr lang="ar-SA" sz="14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algn="l" indent="0" marL="0">
              <a:buNone/>
            </a:pPr>
            <a:r>
              <a:rPr lang="ar-SA" altLang="en-US" sz="2350" dirty="0">
                <a:solidFill>
                  <a:srgbClr val="B83227"/>
                </a:solidFill>
                <a:latin typeface="Amiri" pitchFamily="2" charset="-78"/>
                <a:ea typeface="Amiri" pitchFamily="2" charset="-78"/>
                <a:cs typeface="Amiri" pitchFamily="2" charset="-78"/>
              </a:rPr>
              <a:t>أَنَا مَسْؤُولٌ</a:t>
            </a:r>
            <a:pPr algn="l" indent="0" marL="0">
              <a:buNone/>
            </a:pPr>
            <a:r>
              <a:rPr lang="en-US" sz="1800" dirty="0">
                <a:solidFill>
                  <a:srgbClr val="B83227"/>
                </a:solidFill>
                <a:latin typeface="Calibri" pitchFamily="34" charset="0"/>
                <a:cs typeface="Amiri" pitchFamily="2" charset="-78"/>
              </a:rPr>
              <a:t>. (no proof)</a:t>
            </a:r>
            <a:endParaRPr lang="en-US"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أَنَا مَسْؤُولٌ؛ مَثَلًا، أَعْتَنِي بِأَخِي كُلَّ يَوْمٍ.</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Every quality needs a behaviour as evidence.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D3-L03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D3-L03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2" charset="-78"/>
                <a:ea typeface="Amiri" pitchFamily="2" charset="-78"/>
                <a:cs typeface="Amiri" pitchFamily="2" charset="-78"/>
              </a:rPr>
              <a:t>يَجِبُ أَنْ يَكُونَ المُوَظَّفُ ______ ، لِأَنَّ ______ .</a:t>
            </a:r>
            <a:endParaRPr lang="ar-SA" sz="165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employee must be …, because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500" b="1" dirty="0">
                <a:solidFill>
                  <a:srgbClr val="1B3B6F"/>
                </a:solidFill>
                <a:latin typeface="Amiri" pitchFamily="2" charset="-78"/>
                <a:ea typeface="Amiri" pitchFamily="2" charset="-78"/>
                <a:cs typeface="Amiri" pitchFamily="2" charset="-78"/>
              </a:rPr>
              <a:t>نُقْطَةُ ضَعْفِي ______ ، وَلٰكِنَّنِي سَأُحَاوِلُ أَنْ ______ .</a:t>
            </a:r>
            <a:endParaRPr lang="ar-SA" sz="15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weakness is …, but I will try to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أَهْتَمُّ بِعَمَلِ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am interested in the job of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يَحْتَاجُ هٰذَا العَمَلُ إِلَى ______ وَ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job needs … and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أَنَا ______ ؛ مَثَلًا،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am …; for example,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أَسْتَطِيعُ أَنْ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can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algn="l" indent="0" marL="0">
              <a:buNone/>
            </a:pPr>
            <a:r>
              <a:rPr lang="ar-SA" altLang="en-US" sz="2000" b="1" dirty="0">
                <a:solidFill>
                  <a:srgbClr val="1B3B6F"/>
                </a:solidFill>
                <a:latin typeface="Amiri" pitchFamily="2" charset="-78"/>
                <a:ea typeface="Amiri" pitchFamily="2" charset="-78"/>
                <a:cs typeface="Amiri" pitchFamily="2" charset="-78"/>
              </a:rPr>
              <a:t>مَهَارَةُ التَّوَاصُلِ</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حَلُّ المُشْكِلَاتِ</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العَمَلُ الجَمَاعِيُّ</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إِدَارَةُ الوَقْتِ</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مَسْؤُولٌ</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مَسْؤُولَةٌ</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مُنَظَّمٌ</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مُنَظَّمَةٌ</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يَحْتَاجُ إِلَى</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يَجِبُ أَنْ يَكُونَ</a:t>
            </a:r>
            <a:pPr algn="l" indent="0" marL="0">
              <a:buNone/>
            </a:pPr>
            <a:r>
              <a:rPr lang="en-US" sz="1550" b="1" dirty="0">
                <a:solidFill>
                  <a:srgbClr val="1B3B6F"/>
                </a:solidFill>
                <a:latin typeface="Calibri" pitchFamily="34" charset="0"/>
                <a:cs typeface="Amiri" pitchFamily="2" charset="-78"/>
              </a:rPr>
              <a:t> + -an</a:t>
            </a:r>
            <a:endParaRPr lang="en-US" sz="15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D3-L03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skills profile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مَلَفُّ مَهَارَاتِي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D3-L03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Write a skills profile (about 60–80 words) for a careers website. Include: • a job you are interested in and what it needs (</a:t>
            </a:r>
            <a:pPr algn="l" indent="0" marL="0">
              <a:buNone/>
            </a:pPr>
            <a:r>
              <a:rPr lang="ar-SA" altLang="en-US" sz="1500" b="1" dirty="0">
                <a:solidFill>
                  <a:srgbClr val="1F2A37"/>
                </a:solidFill>
                <a:latin typeface="Amiri" pitchFamily="2" charset="-78"/>
                <a:ea typeface="Amiri" pitchFamily="2" charset="-78"/>
                <a:cs typeface="Amiri" pitchFamily="2" charset="-78"/>
              </a:rPr>
              <a:t>يَحْتَاجُ إِلَى</a:t>
            </a:r>
            <a:pPr algn="l" indent="0" marL="0">
              <a:buNone/>
            </a:pPr>
            <a:r>
              <a:rPr lang="en-US" sz="1150" b="1" dirty="0">
                <a:solidFill>
                  <a:srgbClr val="1F2A37"/>
                </a:solidFill>
                <a:latin typeface="Calibri" pitchFamily="34" charset="0"/>
                <a:cs typeface="Amiri" pitchFamily="2" charset="-78"/>
              </a:rPr>
              <a:t> …) • what the worker must be (</a:t>
            </a:r>
            <a:pPr algn="l" indent="0" marL="0">
              <a:buNone/>
            </a:pPr>
            <a:r>
              <a:rPr lang="ar-SA" altLang="en-US" sz="1500" b="1" dirty="0">
                <a:solidFill>
                  <a:srgbClr val="1F2A37"/>
                </a:solidFill>
                <a:latin typeface="Amiri" pitchFamily="2" charset="-78"/>
                <a:ea typeface="Amiri" pitchFamily="2" charset="-78"/>
                <a:cs typeface="Amiri" pitchFamily="2" charset="-78"/>
              </a:rPr>
              <a:t>يَجِبُ أَنْ يَكُونَ</a:t>
            </a:r>
            <a:pPr algn="l" indent="0" marL="0">
              <a:buNone/>
            </a:pPr>
            <a:r>
              <a:rPr lang="en-US" sz="1150" b="1" dirty="0">
                <a:solidFill>
                  <a:srgbClr val="1F2A37"/>
                </a:solidFill>
                <a:latin typeface="Calibri" pitchFamily="34" charset="0"/>
                <a:cs typeface="Amiri" pitchFamily="2" charset="-78"/>
              </a:rPr>
              <a:t> …) • three skills or qualities YOU have, each with evidence • one weakness and how you will improve it.</a:t>
            </a:r>
            <a:endParaRPr lang="en-US" sz="11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تَحْتَاجُ هٰذِهِ الوَظِيفَةُ إِلَى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this job needs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يَجِبُ أَنْ يَكُونَ / تَكُونَ …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he / she must be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أَسْتَطِيعُ أَنْ … ؛ مَثَلًا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can …; for example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نُقْطَةُ ضَعْفِي … وَلٰكِنَّنِي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weakness is … but I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D3-L03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D3-L03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a:t>
            </a:r>
            <a:pPr algn="l" indent="0" marL="0">
              <a:buNone/>
            </a:pPr>
            <a:r>
              <a:rPr lang="ar-SA" altLang="en-US" sz="1450" dirty="0">
                <a:solidFill>
                  <a:srgbClr val="5A6472"/>
                </a:solidFill>
                <a:latin typeface="Amiri" pitchFamily="2" charset="-78"/>
                <a:ea typeface="Amiri" pitchFamily="2" charset="-78"/>
                <a:cs typeface="Amiri" pitchFamily="2" charset="-78"/>
              </a:rPr>
              <a:t>يَحْتَاجُ إِلَى</a:t>
            </a:r>
            <a:pPr algn="l" indent="0" marL="0">
              <a:buNone/>
            </a:pPr>
            <a:r>
              <a:rPr lang="en-US" sz="1100" dirty="0">
                <a:solidFill>
                  <a:srgbClr val="5A6472"/>
                </a:solidFill>
                <a:latin typeface="Calibri" pitchFamily="34" charset="0"/>
                <a:cs typeface="Amiri" pitchFamily="2" charset="-78"/>
              </a:rPr>
              <a:t> and </a:t>
            </a:r>
            <a:pPr algn="l" indent="0" marL="0">
              <a:buNone/>
            </a:pPr>
            <a:r>
              <a:rPr lang="ar-SA" altLang="en-US" sz="1450" dirty="0">
                <a:solidFill>
                  <a:srgbClr val="5A6472"/>
                </a:solidFill>
                <a:latin typeface="Amiri" pitchFamily="2" charset="-78"/>
                <a:ea typeface="Amiri" pitchFamily="2" charset="-78"/>
                <a:cs typeface="Amiri" pitchFamily="2" charset="-78"/>
              </a:rPr>
              <a:t>يَجِبُ أَنْ يَكُونَ</a:t>
            </a:r>
            <a:pPr algn="l" indent="0" marL="0">
              <a:buNone/>
            </a:pPr>
            <a:r>
              <a:rPr lang="en-US" sz="1100" dirty="0">
                <a:solidFill>
                  <a:srgbClr val="5A6472"/>
                </a:solidFill>
                <a:latin typeface="Calibri" pitchFamily="34" charset="0"/>
                <a:cs typeface="Amiri" pitchFamily="2" charset="-78"/>
              </a:rPr>
              <a:t> + -an correctly?</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prove every quality with a real behaviour?</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D3-L03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D3-L03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لِأَنَّنِي أُحِبُّ الأَطْفَالَ، وَأُرِيدُ أَنْ أَكْسِبَ خِبْرَةً.</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Because I love children, and I want to gain experience.</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لِمَاذَا تُرِيدُ أَنْ تَتَطَوَّعَ؟</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عِنْدِي مَهَارَةُ التَّوَاصُلِ، وَأَسْتَطِيعُ أَنْ أَحُلَّ المُشْكِلَاتِ.</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have communication skills, and I can solve problems.</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مَهَارَاتُكَ؟</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نَعَمْ، مَثَلًا أَعْتَنِي بِأَخِي الصَّغِيرِ كُلَّ يَوْمٍ بَعْدَ المَدْرَسَةِ.</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Yes — for example, I look after my little brother every day after school.</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أَنْتَ مَسْؤُولٌ؟ أَعْطِنِي مِثَالًا.</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أَحْيَانًا لَسْتُ صَبُورًا، وَلٰكِنَّنِي أُحَاوِلُ أَنْ أَتَنَفَّسَ وَأَهْدَأَ.</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Sometimes I’m not patient, but I try to breathe and calm down.</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وَمَا نُقْطَةُ ضَعْفِكَ؟</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D3-L03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D3-L03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أَهْتَمُّ بِعَمَلِ الصَّيْدَلِيِّ. يَحْتَاجُ هٰذَا العَمَلُ إِلَى الدِّقَّةِ وَمَهَارَةِ التَّوَاصُلِ، وَيَجِبُ أَنْ يَكُونَ الصَّيْدَلِيُّ أَمِينًا وَمَسْؤُولًا، لِأَنَّ الأَدْوِيَةَ خَطِيرَةٌ. أَنَا دَقِيقٌ جِدًّا؛ مَثَلًا، أُرَاجِعُ وَاجِبَاتِي مَرَّتَيْنِ قَبْلَ أَنْ أُسَلِّمَهَا. أَسْتَطِيعُ أَنْ أَتَوَاصَلَ مَعَ النَّاسِ بِسُهُولَةٍ، لِأَنَّنِي أَعْمَلُ فِي دُكَّانِ عَمِّي يَوْمَ السَّبْتِ. كَمَا أَنَّنِي أُحِبُّ العَمَلَ الجَمَاعِيَّ. نُقْطَةُ ضَعْفِي أَنَّنِي بَطِيءٌ أَحْيَانًا، وَلٰكِنَّنِي سَأُحَاوِلُ أَنْ أُدِيرَ وَقْتِي أَفْضَلَ.</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am interested in the pharmacist’s job. This job needs accuracy and communication skills, and the pharmacist must be honest and responsible, because medicines are dangerous. I am very accurate; for example, I check my homework twice before I hand it in. I can communicate with people easily, because I work in my uncle’s shop on Saturdays. I also love teamwork. My weakness is that I am sometimes slow, but I will try to manage my time better.”</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يَحْتَاجُ هٰذَا العَمَلُ إِلَى</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يَجِبُ أَنْ يَكُونَ الصَّيْدَلِيُّ أَمِينًا</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أَسْتَطِيعُ أَنْ أَتَوَاصَلَ</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نُقْطَةُ ضَعْفِي</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D3-L03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D3-L03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D3-L03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D3-L04 · The Future Tense — Plans, Ambitions and Career Goals</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المُسْتَقْبَلُ — الخُطَطُ وَالطُّمُوحَاتُ وَالأَهْدَافُ المِهْنِيَّةُ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D3-L03 · Practice Room — Skills and Qualities — What Makes a Good Worker?</dc:title>
  <dc:subject>PptxGenJS Presentation</dc:subject>
  <dc:creator>Al Madina Online School · Arabic Department</dc:creator>
  <cp:lastModifiedBy>Al Madina Online School · Arabic Department</cp:lastModifiedBy>
  <cp:revision>1</cp:revision>
  <dcterms:created xsi:type="dcterms:W3CDTF">2026-10-25T18:15:08Z</dcterms:created>
  <dcterms:modified xsi:type="dcterms:W3CDTF">2026-10-25T18:15:08Z</dcterms:modified>
</cp:coreProperties>
</file>