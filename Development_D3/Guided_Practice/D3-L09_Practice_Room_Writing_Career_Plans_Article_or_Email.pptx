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D3-L09 (Writing — Career Plans Article or Email) — new practice tasks built on the lesson’s own word bank and grammar (four-paragraph plan: ambition + reason · skills + evidence · route in sequence (awwalan … thumma … baʿda al-takharruji …) · challenge + concession; future (sa- / sawfa / lan); purpose (li-kay); condition (idhā najaḥtu); connectors (iḍāfatan ilā dhālika · natījatan li-dhālika · ʿalā al-raghmi min anna)).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D3-L09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FADED SUPPORT: tasks 1–2 show the plan (question word → first words); students write their own plan for 3–4. Everyone is Speaker once. To a girl the Leader says: to a girl writer: كَتَبْتِ أَنَّكِ مُنَظَّمَةٌ · أَعْطِي · أَضِيفِي. Feedback = strength + evidence check + one correction.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(40–50 words). Develop: 60–80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(68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D3  ·  D3-L09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D3-L09</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Writing — Career Plans Article or Email</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خُطَطِي وَطُمُوحَاتِي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200" dirty="0">
                <a:solidFill>
                  <a:srgbClr val="C6D2E6"/>
                </a:solidFill>
                <a:latin typeface="Calibri" pitchFamily="34" charset="0"/>
                <a:cs typeface="Amiri" pitchFamily="2" charset="-78"/>
              </a:rPr>
              <a:t>Students run their own writing workshop with speaking first: say the career-writing toolkit, act a planning dialogue, plan each paragraph aloud with cards, do a role-play card giving peer feedback on a draft, rehearse their article aloud for one minute, then build, fix and write a four-paragraph career-plan article.</a:t>
            </a:r>
            <a:endParaRPr lang="en-US" sz="12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D3-L09 · Development D3 · Work and Careers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D3 › D3-L09</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D3-L09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D3-L09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D3-L09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D3-L09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D3-L09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D3-L09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D3-L09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D3-L09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D3-L09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Future and ambition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D3-L09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سَأَدْرُسُ</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will study</a:t>
            </a:r>
            <a:endParaRPr lang="en-US" sz="1350" dirty="0"/>
          </a:p>
          <a:p>
            <a:pPr indent="0" marL="0">
              <a:buNone/>
            </a:pPr>
            <a:r>
              <a:rPr lang="en-US" sz="1100" i="1" dirty="0">
                <a:solidFill>
                  <a:srgbClr val="5A6472"/>
                </a:solidFill>
                <a:latin typeface="Calibri" pitchFamily="34" charset="0"/>
                <a:cs typeface="Amiri" pitchFamily="2" charset="-78"/>
              </a:rPr>
              <a:t>sa-ʾad-ru-su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أَطْمَحُ إِلَى أَنْ</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aspire to</a:t>
            </a:r>
            <a:endParaRPr lang="en-US" sz="1350" dirty="0"/>
          </a:p>
          <a:p>
            <a:pPr indent="0" marL="0">
              <a:buNone/>
            </a:pPr>
            <a:r>
              <a:rPr lang="en-US" sz="1100" i="1" dirty="0">
                <a:solidFill>
                  <a:srgbClr val="5A6472"/>
                </a:solidFill>
                <a:latin typeface="Calibri" pitchFamily="34" charset="0"/>
                <a:cs typeface="Amiri" pitchFamily="2" charset="-78"/>
              </a:rPr>
              <a:t>aṭ-ma-ḥu i-lā an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أَنْوِي أَنْ</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intend to</a:t>
            </a:r>
            <a:endParaRPr lang="en-US" sz="1350" dirty="0"/>
          </a:p>
          <a:p>
            <a:pPr indent="0" marL="0">
              <a:buNone/>
            </a:pPr>
            <a:r>
              <a:rPr lang="en-US" sz="1100" i="1" dirty="0">
                <a:solidFill>
                  <a:srgbClr val="5A6472"/>
                </a:solidFill>
                <a:latin typeface="Calibri" pitchFamily="34" charset="0"/>
                <a:cs typeface="Amiri" pitchFamily="2" charset="-78"/>
              </a:rPr>
              <a:t>an-wī an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بَعْدَ التَّخَرُّجِ</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after graduation</a:t>
            </a:r>
            <a:endParaRPr lang="en-US" sz="1350" dirty="0"/>
          </a:p>
          <a:p>
            <a:pPr indent="0" marL="0">
              <a:buNone/>
            </a:pPr>
            <a:r>
              <a:rPr lang="en-US" sz="1100" i="1" dirty="0">
                <a:solidFill>
                  <a:srgbClr val="5A6472"/>
                </a:solidFill>
                <a:latin typeface="Calibri" pitchFamily="34" charset="0"/>
                <a:cs typeface="Amiri" pitchFamily="2" charset="-78"/>
              </a:rPr>
              <a:t>baʿ-da at-ta-khar-ru-ji</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لِكَيْ</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order to</a:t>
            </a:r>
            <a:endParaRPr lang="en-US" sz="1350" dirty="0"/>
          </a:p>
          <a:p>
            <a:pPr indent="0" marL="0">
              <a:buNone/>
            </a:pPr>
            <a:r>
              <a:rPr lang="en-US" sz="1100" i="1" dirty="0">
                <a:solidFill>
                  <a:srgbClr val="5A6472"/>
                </a:solidFill>
                <a:latin typeface="Calibri" pitchFamily="34" charset="0"/>
                <a:cs typeface="Amiri" pitchFamily="2" charset="-78"/>
              </a:rPr>
              <a:t>li-kay</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إِذَا نَجَحْتُ</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if I succeed</a:t>
            </a:r>
            <a:endParaRPr lang="en-US" sz="1350" dirty="0"/>
          </a:p>
          <a:p>
            <a:pPr indent="0" marL="0">
              <a:buNone/>
            </a:pPr>
            <a:r>
              <a:rPr lang="en-US" sz="1100" i="1" dirty="0">
                <a:solidFill>
                  <a:srgbClr val="5A6472"/>
                </a:solidFill>
                <a:latin typeface="Calibri" pitchFamily="34" charset="0"/>
                <a:cs typeface="Amiri" pitchFamily="2" charset="-78"/>
              </a:rPr>
              <a:t>i-dhā na-jaḥ-tu</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D3-L09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Connectors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D3-L09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لِأَنَّ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because</a:t>
            </a:r>
            <a:endParaRPr lang="en-US" sz="1350" dirty="0"/>
          </a:p>
          <a:p>
            <a:pPr indent="0" marL="0">
              <a:buNone/>
            </a:pPr>
            <a:r>
              <a:rPr lang="en-US" sz="1100" i="1" dirty="0">
                <a:solidFill>
                  <a:srgbClr val="5A6472"/>
                </a:solidFill>
                <a:latin typeface="Calibri" pitchFamily="34" charset="0"/>
                <a:cs typeface="Amiri" pitchFamily="2" charset="-78"/>
              </a:rPr>
              <a:t>li-ʾan-na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لِذٰلِكَ</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therefore</a:t>
            </a:r>
            <a:endParaRPr lang="en-US" sz="1350" dirty="0"/>
          </a:p>
          <a:p>
            <a:pPr indent="0" marL="0">
              <a:buNone/>
            </a:pPr>
            <a:r>
              <a:rPr lang="en-US" sz="1100" i="1" dirty="0">
                <a:solidFill>
                  <a:srgbClr val="5A6472"/>
                </a:solidFill>
                <a:latin typeface="Calibri" pitchFamily="34" charset="0"/>
                <a:cs typeface="Amiri" pitchFamily="2" charset="-78"/>
              </a:rPr>
              <a:t>li-dhā-li-ka</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عَلَى الرَّغْمِ مِنْ أَنَّ</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although</a:t>
            </a:r>
            <a:endParaRPr lang="en-US" sz="1350" dirty="0"/>
          </a:p>
          <a:p>
            <a:pPr indent="0" marL="0">
              <a:buNone/>
            </a:pPr>
            <a:r>
              <a:rPr lang="en-US" sz="1100" i="1" dirty="0">
                <a:solidFill>
                  <a:srgbClr val="5A6472"/>
                </a:solidFill>
                <a:latin typeface="Calibri" pitchFamily="34" charset="0"/>
                <a:cs typeface="Amiri" pitchFamily="2" charset="-78"/>
              </a:rPr>
              <a:t>ʿa-lā ar-ragh-mi min an-na</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إِضَافَةً إِلَى ذٰلِكَ</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addition</a:t>
            </a:r>
            <a:endParaRPr lang="en-US" sz="1350" dirty="0"/>
          </a:p>
          <a:p>
            <a:pPr indent="0" marL="0">
              <a:buNone/>
            </a:pPr>
            <a:r>
              <a:rPr lang="en-US" sz="1100" i="1" dirty="0">
                <a:solidFill>
                  <a:srgbClr val="5A6472"/>
                </a:solidFill>
                <a:latin typeface="Calibri" pitchFamily="34" charset="0"/>
                <a:cs typeface="Amiri" pitchFamily="2" charset="-78"/>
              </a:rPr>
              <a:t>i-ḍā-fa-tan i-lā dhā-li-ka</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عَلَى سَبِيلِ المِثَالِ</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 example</a:t>
            </a:r>
            <a:endParaRPr lang="en-US" sz="1350" dirty="0"/>
          </a:p>
          <a:p>
            <a:pPr indent="0" marL="0">
              <a:buNone/>
            </a:pPr>
            <a:r>
              <a:rPr lang="en-US" sz="1100" i="1" dirty="0">
                <a:solidFill>
                  <a:srgbClr val="5A6472"/>
                </a:solidFill>
                <a:latin typeface="Calibri" pitchFamily="34" charset="0"/>
                <a:cs typeface="Amiri" pitchFamily="2" charset="-78"/>
              </a:rPr>
              <a:t>ʿa-lā sa-bī-li al-mi-thā-li</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نَتِيجَةً لِذٰلِكَ</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as a result</a:t>
            </a:r>
            <a:endParaRPr lang="en-US" sz="1350" dirty="0"/>
          </a:p>
          <a:p>
            <a:pPr indent="0" marL="0">
              <a:buNone/>
            </a:pPr>
            <a:r>
              <a:rPr lang="en-US" sz="1100" i="1" dirty="0">
                <a:solidFill>
                  <a:srgbClr val="5A6472"/>
                </a:solidFill>
                <a:latin typeface="Calibri" pitchFamily="34" charset="0"/>
                <a:cs typeface="Amiri" pitchFamily="2" charset="-78"/>
              </a:rPr>
              <a:t>na-tī-ja-tan li-dhā-li-ka</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D3-L09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Planning four paragraphs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نُخَطِّطُ أَرْبَعَ فِقْرَاتٍ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D3-L09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ambition in paragraph one?</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مَا طُمُوحُكَ فِي الفِقْرَةِ الأُولَى؟</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aspire to become a pilot, because I love travelling.</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أَطْمَحُ إِلَى أَنْ أُصْبِحَ طَيَّارًا، لِأَنَّنِي أُحِبُّ السَّفَرَ.</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your skills?</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وَمَهَارَاتُكَ؟</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am calm and precise; for example, I solve physics problems quickly.</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أَنَا هَادِئٌ وَدَقِيقٌ؛ عَلَى سَبِيلِ المِثَالِ، أَحْلُّ مَسَائِلَ الفِيزِيَاءِ بِسُرْعَةٍ.</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the route? And the challenge?</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وَالطَّرِيقُ؟ وَالتَّحَدِّي؟</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First I will study physics, then join a flight academy. Although training is expensive, I will look for a scholarship.</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lnSpc>
                <a:spcPct val="120000"/>
              </a:lnSpc>
              <a:buNone/>
            </a:pPr>
            <a:r>
              <a:rPr lang="ar-SA" altLang="en-US" sz="1200" b="1" dirty="0">
                <a:solidFill>
                  <a:srgbClr val="1B3B6F"/>
                </a:solidFill>
                <a:latin typeface="Amiri" pitchFamily="2" charset="-78"/>
                <a:ea typeface="Amiri" pitchFamily="2" charset="-78"/>
                <a:cs typeface="Amiri" pitchFamily="2" charset="-78"/>
              </a:rPr>
              <a:t>أَوَّلًا سَأَدْرُسُ الفِيزِيَاءَ، ثُمَّ سَأَلْتَحِقُ بِأَكَادِيمِيَّةِ طَيَرَانٍ. عَلَى الرَّغْمِ مِنْ أَنَّ التَّدْرِيبَ غَالٍ، فَإِنَّنِي سَأَبْحَثُ عَنْ مِنْحَةٍ.</a:t>
            </a:r>
            <a:endParaRPr lang="ar-SA" sz="12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plan YOUR four paragraphs aloud the same way.</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D3-L09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Plan aloud — one card per paragraph</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D3-L09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مُنْذُ أَنْ كُنْتُ صَغِيرًا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أَطْمَحُ إِلَى أَنْ … لِأَنَّ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 What is your ambition? Why?</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¶١ مَا طُمُوحُكَ؟ وَلِمَاذَا؟</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إِضَافَةً إِلَى ذٰلِكَ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أَنَا … ؛ عَلَى سَبِيلِ المِثَالِ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 Your skills? Give evidence.</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¶٢ مَا مَهَارَاتُكَ؟ أَعْطِ دَلِيلًا.</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بَعْدَ التَّخَرُّجِ سَوْفَ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أَوَّلًا سَأَدْرُسُ … ثُمَّ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 Your steps, in order?</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¶٣ مَا خُطُوَاتُكَ بِالتَّرْتِيبِ؟</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عَلَى الرَّغْمِ مِنْ أَنَّ … فَإِنَّ …</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التَّحَدِّي هُوَ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What is the challenge?</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¶٤ مَا التَّحَدِّي؟</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نَتِيجَةً لِذٰلِكَ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إِذَا نَجَحْتُ، فَسَوْفَ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do you end the article?</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تَخْتِمُ المَقَالَةَ؟</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D3-L09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4 · ROLE-PLAY CARD · PLANS FOR TASKS 1–2 ARE GIVEN — PLAN 3–4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Role-play card — feedback on a partner’s career article</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تَغْذِيَةٌ رَاجِعَةٌ عَلَى مَقَالَةٍ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D3-L09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¶١ ← نَعَمْ، الطُّمُوحُ وَاضِحٌ، وَلٰكِنْ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Comment on ¶1.</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الفِقْرَةُ الأُولَى وَاضِحَةٌ؟</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دَلِيلٌ ← أَيْنَ الدَّلِيلُ عَلَى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Ask for evidence.</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وَالمَهَارَاتُ؟</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Correct a future error.</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هُنَاكَ أَخْطَاءٌ فِي المُسْتَقْبَلِ؟</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Praise one sentence.</a:t>
            </a:r>
            <a:endParaRPr lang="en-US" sz="1100" dirty="0"/>
          </a:p>
        </p:txBody>
      </p:sp>
      <p:sp>
        <p:nvSpPr>
          <p:cNvPr id="42" name="Text 39"/>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أَفْضَلُ جُمْلَةٍ فِي مَقَالَتِي؟</a:t>
            </a:r>
            <a:endParaRPr lang="ar-SA" sz="1700" dirty="0"/>
          </a:p>
        </p:txBody>
      </p:sp>
      <p:sp>
        <p:nvSpPr>
          <p:cNvPr id="43" name="Text 40"/>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the reviewer · Leader = the writer. Write the plan for tasks 3–4 in your book first. Task ! is a surprise — the Leader reads it without warning. Then swap roles.</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D3-L09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minute: say your article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أَقُولُ مَقَالَتِي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D3-L09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Speak your four paragraphs aloud for one minute from your plan. Your partner ticks: ambition · evidence · sequence · concession.</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One sentence per paragraph.</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evidence in ¶2 and sequence words in ¶3.</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 concession in ¶4 and a condition to finish.</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D3-L09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D3-L09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In addition, I am good at languages.</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إِضَافَةً إِلَى ذٰلِكَ،</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لِذٰلِكَ،</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أَنَا مَاهِرٌ</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أَنَا مَاهِرًا</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اللُّغَاتِ.</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بِاللُّغَاتُ.</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First I will study, then I will train.</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أَوَّلًا سَأَدْرُسُ،</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أَوَّلًا دَرَسْتُ،</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ثُمَّ</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سَأَتَدَرَّبُ.</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أَتَدَرَّبَ.</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As a result, I will get a good job.</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نَتِيجَةً لِذٰلِكَ،</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عَلَى سَبِيلِ المِثَالِ،</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سَأَحْصُلُ عَلَى</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سَأَحْصُلُ</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وَظِيفَةٍ جَيِّدَةٍ.</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وَظِيفَةً جَيِّدَةً.</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D3-L09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D3-L09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In addition, I am good at languages.</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addition = </a:t>
            </a:r>
            <a:pPr algn="l" indent="0" marL="0">
              <a:buNone/>
            </a:pPr>
            <a:r>
              <a:rPr lang="ar-SA" altLang="en-US" sz="1350" dirty="0">
                <a:solidFill>
                  <a:srgbClr val="5A6472"/>
                </a:solidFill>
                <a:latin typeface="Amiri" pitchFamily="2" charset="-78"/>
                <a:ea typeface="Amiri" pitchFamily="2" charset="-78"/>
                <a:cs typeface="Amiri" pitchFamily="2" charset="-78"/>
              </a:rPr>
              <a:t>إِضَافَةً إِلَى ذٰلِكَ</a:t>
            </a:r>
            <a:pPr algn="l" indent="0" marL="0">
              <a:buNone/>
            </a:pPr>
            <a:r>
              <a:rPr lang="en-US" sz="1050" i="1" dirty="0">
                <a:solidFill>
                  <a:srgbClr val="5A6472"/>
                </a:solidFill>
                <a:latin typeface="Calibri" pitchFamily="34" charset="0"/>
                <a:cs typeface="Amiri" pitchFamily="2" charset="-78"/>
              </a:rPr>
              <a:t>; predicate -un.</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إِضَافَةً إِلَى ذٰلِكَ، أَنَا مَاهِرٌ فِي اللُّغَاتِ.</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First I will study, then I will train.</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Sequence in the future: sa- … </a:t>
            </a:r>
            <a:pPr algn="l" indent="0" marL="0">
              <a:buNone/>
            </a:pPr>
            <a:r>
              <a:rPr lang="ar-SA" altLang="en-US" sz="1350" dirty="0">
                <a:solidFill>
                  <a:srgbClr val="5A6472"/>
                </a:solidFill>
                <a:latin typeface="Amiri" pitchFamily="2" charset="-78"/>
                <a:ea typeface="Amiri" pitchFamily="2" charset="-78"/>
                <a:cs typeface="Amiri" pitchFamily="2" charset="-78"/>
              </a:rPr>
              <a:t>ثُمَّ</a:t>
            </a:r>
            <a:pPr algn="l" indent="0" marL="0">
              <a:buNone/>
            </a:pPr>
            <a:r>
              <a:rPr lang="en-US" sz="1050" i="1" dirty="0">
                <a:solidFill>
                  <a:srgbClr val="5A6472"/>
                </a:solidFill>
                <a:latin typeface="Calibri" pitchFamily="34" charset="0"/>
                <a:cs typeface="Amiri" pitchFamily="2" charset="-78"/>
              </a:rPr>
              <a:t> sa- …</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أَوَّلًا سَأَدْرُسُ، ثُمَّ سَأَتَدَرَّبُ.</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As a result, I will get a good job.</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حَصَلَ عَلَى</a:t>
            </a:r>
            <a:pPr algn="l" indent="0" marL="0">
              <a:buNone/>
            </a:pPr>
            <a:r>
              <a:rPr lang="en-US" sz="1050" i="1" dirty="0">
                <a:solidFill>
                  <a:srgbClr val="5A6472"/>
                </a:solidFill>
                <a:latin typeface="Calibri" pitchFamily="34" charset="0"/>
                <a:cs typeface="Amiri" pitchFamily="2" charset="-78"/>
              </a:rPr>
              <a:t> + genitive.</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نَتِيجَةً لِذٰلِكَ، سَأَحْصُلُ عَلَى وَظِيفَةٍ جَيِّدَةٍ.</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D3-L09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D3-L09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سَوْفَ لَا أَتْرُكُ حُلْمِي.</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Negative future.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أَنَا مُنَظَّمٌ. أَنَا دَقِيقٌ. أَنَا صَبُورٌ.</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Join and prove.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عَلَى الرَّغْمِ مِنْ أَنَّ الطَّرِيقُ طَوِيلٌ، سَأُحَاوِلُ.</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Two things to fix.</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D3-L09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D3-L09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سَوْفَ لَا أَتْرُكُ حُلْمِي.</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لَنْ أَتْرُكَ حُلْمِي.</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لَنْ</a:t>
            </a:r>
            <a:pPr algn="l" indent="0" marL="0">
              <a:buNone/>
            </a:pPr>
            <a:r>
              <a:rPr lang="en-US" sz="1150" b="1" dirty="0">
                <a:solidFill>
                  <a:srgbClr val="1B3B6F"/>
                </a:solidFill>
                <a:latin typeface="Calibri" pitchFamily="34" charset="0"/>
                <a:cs typeface="Amiri" pitchFamily="2" charset="-78"/>
              </a:rPr>
              <a:t> + -a.</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أَنَا مُنَظَّمٌ. أَنَا دَقِيقٌ. أَنَا صَبُورٌ.</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E6B52"/>
                </a:solidFill>
                <a:latin typeface="Amiri" pitchFamily="2" charset="-78"/>
                <a:ea typeface="Amiri" pitchFamily="2" charset="-78"/>
                <a:cs typeface="Amiri" pitchFamily="2" charset="-78"/>
              </a:rPr>
              <a:t>أَنَا مُنَظَّمٌ وَدَقِيقٌ؛ عَلَى سَبِيلِ المِثَالِ، أُخَطِّطُ دُرُوسِي كُلَّ أُسْبُوعٍ.</a:t>
            </a:r>
            <a:endParaRPr lang="ar-SA" sz="21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Connectors + evidence.</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عَلَى الرَّغْمِ مِنْ أَنَّ الطَّرِيقُ طَوِيلٌ، سَأُحَاوِلُ.</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lnSpc>
                <a:spcPct val="120000"/>
              </a:lnSpc>
              <a:buNone/>
            </a:pPr>
            <a:r>
              <a:rPr lang="ar-SA" altLang="en-US" sz="2100" b="1" dirty="0">
                <a:solidFill>
                  <a:srgbClr val="1E6B52"/>
                </a:solidFill>
                <a:latin typeface="Amiri" pitchFamily="2" charset="-78"/>
                <a:ea typeface="Amiri" pitchFamily="2" charset="-78"/>
                <a:cs typeface="Amiri" pitchFamily="2" charset="-78"/>
              </a:rPr>
              <a:t>عَلَى الرَّغْمِ مِنْ أَنَّ الطَّرِيقَ طَوِيلٌ، فَإِنَّنِي سَأُحَاوِلُ.</a:t>
            </a:r>
            <a:endParaRPr lang="ar-SA" sz="21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 + -a; answer with </a:t>
            </a:r>
            <a:pPr algn="l" indent="0" marL="0">
              <a:buNone/>
            </a:pPr>
            <a:r>
              <a:rPr lang="ar-SA" altLang="en-US" sz="1500" b="1" dirty="0">
                <a:solidFill>
                  <a:srgbClr val="1B3B6F"/>
                </a:solidFill>
                <a:latin typeface="Amiri" pitchFamily="2" charset="-78"/>
                <a:ea typeface="Amiri" pitchFamily="2" charset="-78"/>
                <a:cs typeface="Amiri" pitchFamily="2" charset="-78"/>
              </a:rPr>
              <a:t>فَإِنَّ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D3-L09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D3-L09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عَلَى الرَّغْمِ مِنْ أَنَّ ______ ، فَإِنَّنِي ______ .</a:t>
            </a:r>
            <a:endParaRPr lang="ar-SA" sz="17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Although …, I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إِذَا نَجَحْتُ، فَسَوْفَ ______ ؛ نَتِيجَةً لِذٰلِكَ ______ .</a:t>
            </a:r>
            <a:endParaRPr lang="ar-SA" sz="155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If I succeed, I will …; as a result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¶١ أَطْمَحُ إِلَى أَنْ أُصْبِحَ ______ ، لِأَنَّ ______ .</a:t>
            </a:r>
            <a:endParaRPr lang="ar-SA" sz="16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I aspire to become …, because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¶٢ أَنَا ______ ؛ عَلَى سَبِيلِ المِثَالِ، ______ .</a:t>
            </a:r>
            <a:endParaRPr lang="ar-SA" sz="16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I am …; for example,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¶٣ أَوَّلًا سَأَدْرُسُ ______ ، ثُمَّ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First I will study …, then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¶٤ التَّحَدِّي هُوَ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¶4 The challenge is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أَطْمَحُ إِلَى أَنْ  ·  أَنْوِي أَنْ  ·  سَأَدْرُسُ · سَوْفَ أَتَدَرَّبُ  ·  بَعْدَ التَّخَرُّجِ  ·  إِضَافَةً إِلَى ذٰلِكَ  ·  عَلَى سَبِيلِ المِثَالِ  ·  نَتِيجَةً لِذٰلِكَ  ·  عَلَى الرَّغْمِ مِنْ أَنَّ</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D3-L09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A career-plan article in four paragraphs</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مَقَالَةٌ عَنْ خُطَطِي المِهَنِيَّةِ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D3-L09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00" b="1" dirty="0">
                <a:solidFill>
                  <a:srgbClr val="1F2A37"/>
                </a:solidFill>
                <a:latin typeface="Calibri" pitchFamily="34" charset="0"/>
                <a:cs typeface="Amiri" pitchFamily="2" charset="-78"/>
              </a:rPr>
              <a:t>Write an article (about 70–90 words) in four paragraphs for a careers magazine. ¶1 ambition + two reasons. ¶2 two skills with evidence. ¶3 your route in order (</a:t>
            </a:r>
            <a:pPr algn="l" indent="0" marL="0">
              <a:buNone/>
            </a:pPr>
            <a:r>
              <a:rPr lang="ar-SA" altLang="en-US" sz="1700" b="1" dirty="0">
                <a:solidFill>
                  <a:srgbClr val="1F2A37"/>
                </a:solidFill>
                <a:latin typeface="Amiri" pitchFamily="2" charset="-78"/>
                <a:ea typeface="Amiri" pitchFamily="2" charset="-78"/>
                <a:cs typeface="Amiri" pitchFamily="2" charset="-78"/>
              </a:rPr>
              <a:t>أَوَّلًا … ثُمَّ … بَعْدَ التَّخَرُّجِ</a:t>
            </a:r>
            <a:pPr algn="l" indent="0" marL="0">
              <a:buNone/>
            </a:pPr>
            <a:r>
              <a:rPr lang="en-US" sz="1300" b="1" dirty="0">
                <a:solidFill>
                  <a:srgbClr val="1F2A37"/>
                </a:solidFill>
                <a:latin typeface="Calibri" pitchFamily="34" charset="0"/>
                <a:cs typeface="Amiri" pitchFamily="2" charset="-78"/>
              </a:rPr>
              <a:t> …). ¶4 a challenge + a concession, and a condition to finish.</a:t>
            </a:r>
            <a:endParaRPr lang="en-US" sz="13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أَطْمَحُ إِلَى أَنْ أُصْبِحَ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aspire to become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عَلَى سَبِيلِ المِثَالِ … · إِضَافَةً إِلَى ذٰلِكَ …</a:t>
            </a:r>
            <a:endParaRPr lang="ar-SA" sz="175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for example … · in addition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أَوَّلًا … ثُمَّ … بَعْدَ التَّخَرُّجِ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first … then … after graduating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عَلَى الرَّغْمِ مِنْ أَنَّ … فَإِنَّنِي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although …, I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D3-L09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D3-L09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four clear paragraphs, each with its job?</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evidence, a sequence, a concession and a condition?</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D3-L09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D3-L09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نَعَمْ، الطُّمُوحُ وَاضِحٌ، وَلٰكِنْ أَضِفْ سَبَبًا ثَانِيًا.</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Yes, the ambition is clear, but add a second reason.</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الفِقْرَةُ الأُولَى وَاضِحَةٌ؟</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كَتَبْتَ أَنَّكَ مُنَظَّمٌ، وَلٰكِنْ أَيْنَ الدَّلِيلُ؟ أَعْطِ مِثَالًا.</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You wrote that you are organised, but where is the evidence? Give an example.</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وَالمَهَارَاتُ؟</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كَتَبْتَ «سَوْفَ لَا أَعْمَلُ»، وَالصَّوَابُ «لَنْ أَعْمَلَ».</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You wrote “sawfa lā aʿmalu”; the correct form is “lan aʿmala”.</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هُنَاكَ أَخْطَاءٌ فِي المُسْتَقْبَلِ؟</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جُمْلَةُ «عَلَى الرَّغْمِ مِنْ أَنَّ الطَّرِيقَ طَوِيلٌ، فَإِنَّنِي لَنْ أَسْتَسْلِمَ» مُمْتَازَةٌ!</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 sentence “Although the road is long, I won’t give up” is excellent!</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أَفْضَلُ جُمْلَةٍ فِي مَقَالَتِي؟</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D3-L09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D3-L09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أَطْمَحُ إِلَى أَنْ أُصْبِحَ طَبِيبَةَ أَطْفَالٍ، لِأَنَّنِي أُحِبُّ الأَطْفَالَ، وَلِأَنَّ أُمِّي مُمَرِّضَةٌ وَأَلْهَمَتْنِي.</a:t>
            </a:r>
            <a:endParaRPr lang="ar-SA" sz="2300" dirty="0"/>
          </a:p>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أَنَا صَبُورَةٌ وَمُجْتَهِدَةٌ؛ عَلَى سَبِيلِ المِثَالِ، أُدَرِّسُ أَبْنَاءَ جِيرَانِنَا كُلَّ سَبْتٍ. إِضَافَةً إِلَى ذٰلِكَ، أَنَا قَوِيَّةٌ فِي الأَحْيَاءِ.</a:t>
            </a:r>
            <a:endParaRPr lang="ar-SA" sz="2300" dirty="0"/>
          </a:p>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أَوَّلًا سَأَدْرُسُ الكِيمْيَاءَ وَالأَحْيَاءَ، ثُمَّ سَأَدْرُسُ الطِّبَّ فِي الجَامِعَةِ. بَعْدَ التَّخَرُّجِ سَوْفَ أَتَدَرَّبُ فِي مُسْتَشْفًى لِلْأَطْفَالِ.</a:t>
            </a:r>
            <a:endParaRPr lang="ar-SA" sz="2300" dirty="0"/>
          </a:p>
          <a:p>
            <a:pPr rtl="1" algn="r" indent="0" marL="0">
              <a:lnSpc>
                <a:spcPct val="120000"/>
              </a:lnSpc>
              <a:buNone/>
            </a:pPr>
            <a:r>
              <a:rPr lang="ar-SA" altLang="en-US" sz="2300" dirty="0">
                <a:solidFill>
                  <a:srgbClr val="1F2A37"/>
                </a:solidFill>
                <a:latin typeface="Amiri" pitchFamily="2" charset="-78"/>
                <a:ea typeface="Amiri" pitchFamily="2" charset="-78"/>
                <a:cs typeface="Amiri" pitchFamily="2" charset="-78"/>
              </a:rPr>
              <a:t>عَلَى الرَّغْمِ مِنْ أَنَّ الطَّرِيقَ طَوِيلٌ وَصَعْبٌ، فَإِنَّنِي لَنْ أَسْتَسْلِمَ. إِذَا نَجَحْتُ، فَسَوْفَ أَعْمَلُ فِي قَرْيَةِ جَدِّي، لِكَيْ أُسَاعِدَ العَائِلَاتِ هُنَاكَ.</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aspire to become a children’s doctor, because I love children and because my mother is a nurse and inspired me. I am patient and hard-working; for example, I tutor our neighbours’ children every Saturday. In addition, I am strong in biology. First I will study chemistry and biology, then medicine at university. After graduating I will train in a children’s hospital. Although the road is long and hard, I won’t give up. If I succeed, I will work in my grandfather’s village, to help the families there.”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أَطْمَحُ إِلَى أَنْ أُصْبِحَ</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عَلَى سَبِيلِ المِثَالِ</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أَوَّلًا سَأَدْرُسُ</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فَإِنَّنِي لَنْ أَسْتَسْلِمَ</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D3-L09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D3-L09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D3-L09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850" b="1" dirty="0">
                <a:solidFill>
                  <a:srgbClr val="FFFFFF"/>
                </a:solidFill>
                <a:latin typeface="Cambria" pitchFamily="34" charset="0"/>
                <a:cs typeface="Amiri" pitchFamily="2" charset="-78"/>
              </a:rPr>
              <a:t>D3-L10 · Listening — Work and Career Conversations</a:t>
            </a:r>
            <a:endParaRPr lang="en-US" sz="18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الاِسْتِمَاعُ — مُحَادَثَاتُ العَمَلِ وَالمَسِيرَةِ المِهَنِيَّةِ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D3-L09 · Practice Room — Writing — Career Plans Article or Email</dc:title>
  <dc:subject>PptxGenJS Presentation</dc:subject>
  <dc:creator>Al Madina Online School · Arabic Department</dc:creator>
  <cp:lastModifiedBy>Al Madina Online School · Arabic Department</cp:lastModifiedBy>
  <cp:revision>1</cp:revision>
  <dcterms:created xsi:type="dcterms:W3CDTF">2026-10-25T18:20:02Z</dcterms:created>
  <dcterms:modified xsi:type="dcterms:W3CDTF">2026-10-25T18:20:02Z</dcterms:modified>
</cp:coreProperties>
</file>