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D3-L07 (Arabic Proverbs and Values — Work Ethic and Success) — new practice tasks built on the lesson’s own word bank and grammar (explaining a proverb: yaʿnī hādhā al-mathalu anna …; applying it: yanṭabiqu hādhā al-mathalu ʿalā …; advice with the imperative (ijtahid · iṣbir) and the prohibition lā + jussive (lā tuʾajjil · lā tastaslim); values nouns (al-muthābara · al-amāna · al-inḍibāṭ)).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D3-L07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to a girl friend: ابْدَئِي · لَا تُؤَجِّلِي · رَاجِعِي · خُذِي. Imperative for advice; lā + jussive for “don’t” (lā tuʾajjil).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(60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D3-L07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Arabic Proverbs and Values — Work Ethic and Success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الأَمْثَالُ وَالقِيَمُ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speaking and writing practice with six Arabic work proverbs: say each proverb and its meaning, act a short dialogue applying one, answer question cards, do a role-play card advising a friend before exams, give a one-minute talk on a proverb, then build, fix and write a short reflection on a proverb and a real situation.</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D3-L07 · Development D3 · Work and Careers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proverbs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جَدَّ وَجَدَ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Whoever strives succeeds</a:t>
            </a:r>
            <a:endParaRPr lang="en-US" sz="1350" dirty="0"/>
          </a:p>
          <a:p>
            <a:pPr indent="0" marL="0">
              <a:buNone/>
            </a:pPr>
            <a:r>
              <a:rPr lang="en-US" sz="1100" i="1" dirty="0">
                <a:solidFill>
                  <a:srgbClr val="5A6472"/>
                </a:solidFill>
                <a:latin typeface="Calibri" pitchFamily="34" charset="0"/>
                <a:cs typeface="Amiri" pitchFamily="2" charset="-78"/>
              </a:rPr>
              <a:t>man jad-da wa-ja-da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الصَّبْرُ مِفْتَاحُ الفَرَجِ</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Patience is the key to relief</a:t>
            </a:r>
            <a:endParaRPr lang="en-US" sz="1350" dirty="0"/>
          </a:p>
          <a:p>
            <a:pPr indent="0" marL="0">
              <a:buNone/>
            </a:pPr>
            <a:r>
              <a:rPr lang="en-US" sz="1100" i="1" dirty="0">
                <a:solidFill>
                  <a:srgbClr val="5A6472"/>
                </a:solidFill>
                <a:latin typeface="Calibri" pitchFamily="34" charset="0"/>
                <a:cs typeface="Amiri" pitchFamily="2" charset="-78"/>
              </a:rPr>
              <a:t>aṣ-ṣab-ru mif-tā-ḥu al-fa-ra-ji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لَا تُؤَجِّلْ عَمَلَ اليَوْمِ إِلَى الغَدِ</a:t>
            </a:r>
            <a:endParaRPr lang="ar-SA" sz="255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 not postpone today’s work</a:t>
            </a:r>
            <a:endParaRPr lang="en-US" sz="1350" dirty="0"/>
          </a:p>
          <a:p>
            <a:pPr indent="0" marL="0">
              <a:buNone/>
            </a:pPr>
            <a:r>
              <a:rPr lang="en-US" sz="1100" i="1" dirty="0">
                <a:solidFill>
                  <a:srgbClr val="5A6472"/>
                </a:solidFill>
                <a:latin typeface="Calibri" pitchFamily="34" charset="0"/>
                <a:cs typeface="Amiri" pitchFamily="2" charset="-78"/>
              </a:rPr>
              <a:t>lā tu-ʾaj-jil ʿa-ma-la al-yaw-mi i-lā al-gha-di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الاِتِّحَادُ قُوَّةٌ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Unity is strength</a:t>
            </a:r>
            <a:endParaRPr lang="en-US" sz="1350" dirty="0"/>
          </a:p>
          <a:p>
            <a:pPr indent="0" marL="0">
              <a:buNone/>
            </a:pPr>
            <a:r>
              <a:rPr lang="en-US" sz="1100" i="1" dirty="0">
                <a:solidFill>
                  <a:srgbClr val="5A6472"/>
                </a:solidFill>
                <a:latin typeface="Calibri" pitchFamily="34" charset="0"/>
                <a:cs typeface="Amiri" pitchFamily="2" charset="-78"/>
              </a:rPr>
              <a:t>alt-ti-ḥā-du quw-wa-tun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العِلْمُ نُورٌ</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Knowledge is light</a:t>
            </a:r>
            <a:endParaRPr lang="en-US" sz="1350" dirty="0"/>
          </a:p>
          <a:p>
            <a:pPr indent="0" marL="0">
              <a:buNone/>
            </a:pPr>
            <a:r>
              <a:rPr lang="en-US" sz="1100" i="1" dirty="0">
                <a:solidFill>
                  <a:srgbClr val="5A6472"/>
                </a:solidFill>
                <a:latin typeface="Calibri" pitchFamily="34" charset="0"/>
                <a:cs typeface="Amiri" pitchFamily="2" charset="-78"/>
              </a:rPr>
              <a:t>al-ʿil-mu nū-run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الإِتْقَانُ أَسَاسُ النَّجَاحِ</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Mastery is the basis of success</a:t>
            </a:r>
            <a:endParaRPr lang="en-US" sz="1350" dirty="0"/>
          </a:p>
          <a:p>
            <a:pPr indent="0" marL="0">
              <a:buNone/>
            </a:pPr>
            <a:r>
              <a:rPr lang="en-US" sz="1100" i="1" dirty="0">
                <a:solidFill>
                  <a:srgbClr val="5A6472"/>
                </a:solidFill>
                <a:latin typeface="Calibri" pitchFamily="34" charset="0"/>
                <a:cs typeface="Amiri" pitchFamily="2" charset="-78"/>
              </a:rPr>
              <a:t>al-it-qā-nu a-sā-su an-na-jā-ḥi</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Work values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المُثَابَرَةُ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perseverance</a:t>
            </a:r>
            <a:endParaRPr lang="en-US" sz="1350" dirty="0"/>
          </a:p>
          <a:p>
            <a:pPr indent="0" marL="0">
              <a:buNone/>
            </a:pPr>
            <a:r>
              <a:rPr lang="en-US" sz="1100" i="1" dirty="0">
                <a:solidFill>
                  <a:srgbClr val="5A6472"/>
                </a:solidFill>
                <a:latin typeface="Calibri" pitchFamily="34" charset="0"/>
                <a:cs typeface="Amiri" pitchFamily="2" charset="-78"/>
              </a:rPr>
              <a:t>al-mu-thā-ba-ra-tu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الأَمَانَةُ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honesty/trustworthiness</a:t>
            </a:r>
            <a:endParaRPr lang="en-US" sz="1350" dirty="0"/>
          </a:p>
          <a:p>
            <a:pPr indent="0" marL="0">
              <a:buNone/>
            </a:pPr>
            <a:r>
              <a:rPr lang="en-US" sz="1100" i="1" dirty="0">
                <a:solidFill>
                  <a:srgbClr val="5A6472"/>
                </a:solidFill>
                <a:latin typeface="Calibri" pitchFamily="34" charset="0"/>
                <a:cs typeface="Amiri" pitchFamily="2" charset="-78"/>
              </a:rPr>
              <a:t>al-a-mā-na-tu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الاِنْضِبَاطُ</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discipline</a:t>
            </a:r>
            <a:endParaRPr lang="en-US" sz="1350" dirty="0"/>
          </a:p>
          <a:p>
            <a:pPr indent="0" marL="0">
              <a:buNone/>
            </a:pPr>
            <a:r>
              <a:rPr lang="en-US" sz="1100" i="1" dirty="0">
                <a:solidFill>
                  <a:srgbClr val="5A6472"/>
                </a:solidFill>
                <a:latin typeface="Calibri" pitchFamily="34" charset="0"/>
                <a:cs typeface="Amiri" pitchFamily="2" charset="-78"/>
              </a:rPr>
              <a:t>aln-ḍi-bā-ṭu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المَسْؤُولِيَّةُ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responsibility</a:t>
            </a:r>
            <a:endParaRPr lang="en-US" sz="1350" dirty="0"/>
          </a:p>
          <a:p>
            <a:pPr indent="0" marL="0">
              <a:buNone/>
            </a:pPr>
            <a:r>
              <a:rPr lang="en-US" sz="1100" i="1" dirty="0">
                <a:solidFill>
                  <a:srgbClr val="5A6472"/>
                </a:solidFill>
                <a:latin typeface="Calibri" pitchFamily="34" charset="0"/>
                <a:cs typeface="Amiri" pitchFamily="2" charset="-78"/>
              </a:rPr>
              <a:t>al-mas-ʾū-liy-ya-tu</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التَّعَاوُنُ</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cooperation</a:t>
            </a:r>
            <a:endParaRPr lang="en-US" sz="1350" dirty="0"/>
          </a:p>
          <a:p>
            <a:pPr indent="0" marL="0">
              <a:buNone/>
            </a:pPr>
            <a:r>
              <a:rPr lang="en-US" sz="1100" i="1" dirty="0">
                <a:solidFill>
                  <a:srgbClr val="5A6472"/>
                </a:solidFill>
                <a:latin typeface="Calibri" pitchFamily="34" charset="0"/>
                <a:cs typeface="Amiri" pitchFamily="2" charset="-78"/>
              </a:rPr>
              <a:t>at-ta-ʿā-wu-nu</a:t>
            </a:r>
            <a:endParaRPr lang="en-US" sz="1350" dirty="0"/>
          </a:p>
        </p:txBody>
      </p:sp>
      <p:sp>
        <p:nvSpPr>
          <p:cNvPr id="48" name="Shape 4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66928"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1" name="Text 4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الجَوْدَةُ</a:t>
            </a:r>
            <a:endParaRPr lang="ar-SA" sz="3000" dirty="0"/>
          </a:p>
        </p:txBody>
      </p:sp>
      <p:sp>
        <p:nvSpPr>
          <p:cNvPr id="52" name="Text 4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quality</a:t>
            </a:r>
            <a:endParaRPr lang="en-US" sz="1350" dirty="0"/>
          </a:p>
          <a:p>
            <a:pPr indent="0" marL="0">
              <a:buNone/>
            </a:pPr>
            <a:r>
              <a:rPr lang="en-US" sz="1100" i="1" dirty="0">
                <a:solidFill>
                  <a:srgbClr val="5A6472"/>
                </a:solidFill>
                <a:latin typeface="Calibri" pitchFamily="34" charset="0"/>
                <a:cs typeface="Amiri" pitchFamily="2" charset="-78"/>
              </a:rPr>
              <a:t>al-jaw-da-tu</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proverb fits?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أَيُّ مَثَلٍ يُنَاسِبُ؟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brother studied every day for a year, and finally passed his driving test!</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أَخِي دَرَسَ كُلَّ يَوْمٍ لِمُدَّةِ سَنَةٍ، وَأَخِيرًا نَجَحَ فِي امْتِحَانِ القِيَادَةِ!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That’s like the proverb: “Whoever strives, succeeds.”</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هٰذَا مِثْلُ المَثَلِ: «مَنْ جَدَّ وَجَدَ».</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it mean exactly?</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مَاذَا يَعْنِي بِالضَّبْطِ؟</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proverb means that a hard-working person reaches their goal.</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يَعْنِي هٰذَا المَثَلُ أَنَّ الإِنْسَانَ المُجْتَهِدَ يَصِلُ إِلَى هَدَفِهِ.</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I always put off my homework…</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وَأَنَا أُؤَجِّلُ وَاجِبَاتِي دَائِمًا…</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Then: “Don’t put off today’s work until tomorrow”! Start now.</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إِذَنْ: «لَا تُؤَجِّلْ عَمَلَ اليَوْمِ إِلَى الغَدِ»! ابْدَأِ الآنَ.</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 tells a REAL situation; B chooses the right proverb and explains it.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Proverb cards — explain it, apply it</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مَثَلًا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يَعْنِي هٰذَا المَثَلُ أَنَّ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“Patience is the key to relief” mean?</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يَعْنِي «الصَّبْرُ مِفْتَاحُ الفَرَجِ»؟</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 فَرِيقِ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نَقُولُهُ عِنْدَمَا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 we say “Unity is strength”?</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نَقُولُ «الاتِّحَادُ قُوَّةٌ»؟</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56648" y="3741725"/>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يَنْطَبِقُ عَلَيَّ لِأَنَّ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Does “Knowledge is light” apply to your life?</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يَنْطَبِقُ «العِلْمُ نُورٌ» عَلَى حَيَاتِكَ؟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رَأْيِي … أَهَمُّ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value matters more at work: honesty or discipline?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أَيُّ قِيمَةٍ أَهَمُّ فِي العَمَلِ: الأَمَانَةُ أَمِ الانْضِبَاطُ؟</a:t>
            </a:r>
            <a:endParaRPr lang="ar-SA" sz="155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تَذَكَّرْ: «مَنْ جَدَّ وَجَدَ»</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تَسْتَسْلِمْ!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Advise a friend who wants to give up.</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انْصَحْ صَدِيقًا يُرِيدُ أَنْ يَسْتَسْلِمَ.</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Role-play card — a friend is stressed before exams</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صَدِيقٌ قَلِقٌ قَبْلَ الامْتِحَانَاتِ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نَصِيحَةٌ ← ابْدَأْ … ، وَلَا تُؤَجِّلْ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Advice (imperative).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عِنْدِي خَمْسَةُ امْتِحَانَاتٍ وَلَمْ أَبْدَأِ المُرَاجَعَةَ!</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مَثَلٌ ← «الصَّبْرُ مِفْتَاحُ الفَرَجِ» يَعْنِي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proverb + meaning.</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وَلٰكِنَّنِي مُتْعَبٌ جِدًّا.</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practical plan.</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أُنَظِّمُ وَقْتِي؟</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with a proverb.</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نُرَاجِعُ مَعًا؟</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supportive friend · Leader = a stressed friend.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my favourite proverb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مَثَلِي المُفَضَّلُ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Choose one proverb. Talk for one minute: say it, explain what it means, apply it to a real situation, and give advice.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proverb + </a:t>
            </a:r>
            <a:pPr algn="l" indent="0" marL="0">
              <a:buNone/>
            </a:pPr>
            <a:r>
              <a:rPr lang="ar-SA" altLang="en-US" sz="1500" dirty="0">
                <a:solidFill>
                  <a:srgbClr val="1F2A37"/>
                </a:solidFill>
                <a:latin typeface="Amiri" pitchFamily="2" charset="-78"/>
                <a:ea typeface="Amiri" pitchFamily="2" charset="-78"/>
                <a:cs typeface="Amiri" pitchFamily="2" charset="-78"/>
              </a:rPr>
              <a:t>يَعْنِي هٰذَا المَثَلُ 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real example (</a:t>
            </a:r>
            <a:pPr algn="l" indent="0" marL="0">
              <a:buNone/>
            </a:pPr>
            <a:r>
              <a:rPr lang="ar-SA" altLang="en-US" sz="1500" dirty="0">
                <a:solidFill>
                  <a:srgbClr val="1F2A37"/>
                </a:solidFill>
                <a:latin typeface="Amiri" pitchFamily="2" charset="-78"/>
                <a:ea typeface="Amiri" pitchFamily="2" charset="-78"/>
                <a:cs typeface="Amiri" pitchFamily="2" charset="-78"/>
              </a:rPr>
              <a:t>يَنْطَبِقُ عَلَى</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advice with an imperative and a prohibition, and a value noun.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This proverb means that patience is important.</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يَعْنِي هٰذَا المَثَلُ</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يَعْنِي هٰذِهِ المَثَلُ</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الصَّبْرَ</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الصَّبْرُ</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مُهِمٌّ.</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مُهِمًّا.</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Don’t give up!</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لَنْ</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تَسْتَسْلِمْ</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تَسْتَسْلِمُ</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أَبَدًا!</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أَبَدٌ!</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This proverb applies to my brother.</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يَنْطَبِقُ</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تَنْطَبِقُ</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 المَثَلُ</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 المَثَلَ</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أَخِي.</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 أَخِي.</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This proverb means that patience is important.</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مَثَلٌ</a:t>
            </a:r>
            <a:pPr algn="l" indent="0" marL="0">
              <a:buNone/>
            </a:pPr>
            <a:r>
              <a:rPr lang="en-US" sz="1050" i="1" dirty="0">
                <a:solidFill>
                  <a:srgbClr val="5A6472"/>
                </a:solidFill>
                <a:latin typeface="Calibri" pitchFamily="34" charset="0"/>
                <a:cs typeface="Amiri" pitchFamily="2" charset="-78"/>
              </a:rPr>
              <a:t> (m.) → </a:t>
            </a:r>
            <a:pPr algn="l" indent="0" marL="0">
              <a:buNone/>
            </a:pPr>
            <a:r>
              <a:rPr lang="ar-SA" altLang="en-US" sz="1350" dirty="0">
                <a:solidFill>
                  <a:srgbClr val="5A6472"/>
                </a:solidFill>
                <a:latin typeface="Amiri" pitchFamily="2" charset="-78"/>
                <a:ea typeface="Amiri" pitchFamily="2" charset="-78"/>
                <a:cs typeface="Amiri" pitchFamily="2" charset="-78"/>
              </a:rPr>
              <a:t>هٰذَا</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-a; predicate -un.</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يَعْنِي هٰذَا المَثَلُ أَنَّ الصَّبْرَ مُهِمٌّ.</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Don’t give up!</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Prohibition = </a:t>
            </a:r>
            <a:pPr algn="l" indent="0" marL="0">
              <a:buNone/>
            </a:pPr>
            <a:r>
              <a:rPr lang="ar-SA" altLang="en-US" sz="1350" dirty="0">
                <a:solidFill>
                  <a:srgbClr val="5A6472"/>
                </a:solidFill>
                <a:latin typeface="Amiri" pitchFamily="2" charset="-78"/>
                <a:ea typeface="Amiri" pitchFamily="2" charset="-78"/>
                <a:cs typeface="Amiri" pitchFamily="2" charset="-78"/>
              </a:rPr>
              <a:t>لَا</a:t>
            </a:r>
            <a:pPr algn="l" indent="0" marL="0">
              <a:buNone/>
            </a:pPr>
            <a:r>
              <a:rPr lang="en-US" sz="1050" i="1" dirty="0">
                <a:solidFill>
                  <a:srgbClr val="5A6472"/>
                </a:solidFill>
                <a:latin typeface="Calibri" pitchFamily="34" charset="0"/>
                <a:cs typeface="Amiri" pitchFamily="2" charset="-78"/>
              </a:rPr>
              <a:t> + jussive (sukūn).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لَا تَسْتَسْلِمْ أَبَدًا!</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This proverb applies to my brother.</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يَنْطَبِقُ … عَلَى</a:t>
            </a:r>
            <a:pPr algn="l" indent="0" marL="0">
              <a:buNone/>
            </a:pPr>
            <a:r>
              <a:rPr lang="en-US" sz="1050" i="1" dirty="0">
                <a:solidFill>
                  <a:srgbClr val="5A6472"/>
                </a:solidFill>
                <a:latin typeface="Calibri" pitchFamily="34" charset="0"/>
                <a:cs typeface="Amiri" pitchFamily="2" charset="-78"/>
              </a:rPr>
              <a:t> …</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يَنْطَبِقُ هٰذَا المَثَلُ عَلَى أَخِي.</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لَا تُؤَجِّلُ عَمَلَكَ.</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Prohibition ending.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يَعْنِي المَثَلُ أَنَّ العِلْمُ نُورٌ.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يَنْطَبِقُ المَثَلُ فِي أُخْتِي.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لَا تُؤَجِّلُ عَمَلَكَ.</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لَا تُؤَجِّلْ عَمَلَكَ.</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لَا</a:t>
            </a:r>
            <a:pPr algn="l" indent="0" marL="0">
              <a:buNone/>
            </a:pPr>
            <a:r>
              <a:rPr lang="en-US" sz="1150" b="1" dirty="0">
                <a:solidFill>
                  <a:srgbClr val="1B3B6F"/>
                </a:solidFill>
                <a:latin typeface="Calibri" pitchFamily="34" charset="0"/>
                <a:cs typeface="Amiri" pitchFamily="2" charset="-78"/>
              </a:rPr>
              <a:t> (don’t) + jussive: </a:t>
            </a:r>
            <a:pPr algn="l" indent="0" marL="0">
              <a:buNone/>
            </a:pPr>
            <a:r>
              <a:rPr lang="ar-SA" altLang="en-US" sz="1500" b="1" dirty="0">
                <a:solidFill>
                  <a:srgbClr val="1B3B6F"/>
                </a:solidFill>
                <a:latin typeface="Amiri" pitchFamily="2" charset="-78"/>
                <a:ea typeface="Amiri" pitchFamily="2" charset="-78"/>
                <a:cs typeface="Amiri" pitchFamily="2" charset="-78"/>
              </a:rPr>
              <a:t>تُؤَجِّلْ</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يَعْنِي المَثَلُ أَنَّ العِلْمُ نُورٌ.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يَعْنِي المَثَلُ أَنَّ العِلْمَ نُورٌ.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noun in -a.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يَنْطَبِقُ المَثَلُ فِي أُخْتِي.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يَنْطَبِقُ المَثَلُ عَلَى أُخْتِي.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يَنْطَبِقُ عَلَى …</a:t>
            </a:r>
            <a:endParaRPr lang="ar-SA" sz="14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مُهِمَّةٌ فِي العَمَلِ، لِأَنَّ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important at work, because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فِي العَامِ المَاضِي ______ ، وَفِي النِّهَايَةِ ______ .</a:t>
            </a:r>
            <a:endParaRPr lang="ar-SA" sz="14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Last year …, and in the end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مَثَلِي المُفَضَّلُ: «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favourite proverb: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يَعْنِي هٰذَا المَثَلُ أَنَّ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proverb means that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يَنْطَبِقُ عَلَى ______ ، لِأَنَّ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applies to …, because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نَصِيحَتِي: ______ ، وَلَا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advice: …, and don’t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مَنْ جَدَّ وَجَدَ  ·  الصَّبْرُ مِفْتَاحُ الفَرَجِ  ·  الاتِّحَادُ قُوَّةٌ  ·  العِلْمُ نُورٌ  ·  المُثَابَرَةُ · الأَمَانَةُ  ·  الانْضِبَاطُ  ·  اجْتَهِدْ · اصْبِرْ  ·  لَا تُؤَجِّلْ · لَا تَسْتَسْلِمْ</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proverb in real life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مَثَلٌ فِي الحَيَاةِ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reflection (about 60–80 words) for the school magazine’s “Values” page. Include: • one proverb and what it means (</a:t>
            </a:r>
            <a:pPr algn="l" indent="0" marL="0">
              <a:buNone/>
            </a:pPr>
            <a:r>
              <a:rPr lang="ar-SA" altLang="en-US" sz="1450" b="1" dirty="0">
                <a:solidFill>
                  <a:srgbClr val="1F2A37"/>
                </a:solidFill>
                <a:latin typeface="Amiri" pitchFamily="2" charset="-78"/>
                <a:ea typeface="Amiri" pitchFamily="2" charset="-78"/>
                <a:cs typeface="Amiri" pitchFamily="2" charset="-78"/>
              </a:rPr>
              <a:t>يَعْنِي هٰذَا المَثَلُ أَنَّ</a:t>
            </a:r>
            <a:pPr algn="l" indent="0" marL="0">
              <a:buNone/>
            </a:pPr>
            <a:r>
              <a:rPr lang="en-US" sz="1100" b="1" dirty="0">
                <a:solidFill>
                  <a:srgbClr val="1F2A37"/>
                </a:solidFill>
                <a:latin typeface="Calibri" pitchFamily="34" charset="0"/>
                <a:cs typeface="Amiri" pitchFamily="2" charset="-78"/>
              </a:rPr>
              <a:t> …) • a real situation it applies to (in the past) • one value (</a:t>
            </a:r>
            <a:pPr algn="l" indent="0" marL="0">
              <a:buNone/>
            </a:pPr>
            <a:r>
              <a:rPr lang="ar-SA" altLang="en-US" sz="1450" b="1" dirty="0">
                <a:solidFill>
                  <a:srgbClr val="1F2A37"/>
                </a:solidFill>
                <a:latin typeface="Amiri" pitchFamily="2" charset="-78"/>
                <a:ea typeface="Amiri" pitchFamily="2" charset="-78"/>
                <a:cs typeface="Amiri" pitchFamily="2" charset="-78"/>
              </a:rPr>
              <a:t>المُثَابَرَةُ / الأَمَانَةُ / الانْضِبَاطُ</a:t>
            </a:r>
            <a:pPr algn="l" indent="0" marL="0">
              <a:buNone/>
            </a:pPr>
            <a:r>
              <a:rPr lang="en-US" sz="1100" b="1" dirty="0">
                <a:solidFill>
                  <a:srgbClr val="1F2A37"/>
                </a:solidFill>
                <a:latin typeface="Calibri" pitchFamily="34" charset="0"/>
                <a:cs typeface="Amiri" pitchFamily="2" charset="-78"/>
              </a:rPr>
              <a:t>) and why it matters at work • advice with an imperative and a prohibition.</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يَعْنِي هٰذَا المَثَلُ 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proverb means that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يَنْطَبِقُ هٰذَا المَثَلُ عَلَى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proverb applies to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مُهِمَّةٌ فِي العَمَلِ لِأَنَّ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matters at work because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اجْتَهِدْ … وَلَا تَسْتَسْلِمْ</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work hard … and don’t give up</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explain one proverb with </a:t>
            </a:r>
            <a:pPr algn="l" indent="0" marL="0">
              <a:buNone/>
            </a:pPr>
            <a:r>
              <a:rPr lang="ar-SA" altLang="en-US" sz="1450" dirty="0">
                <a:solidFill>
                  <a:srgbClr val="5A6472"/>
                </a:solidFill>
                <a:latin typeface="Amiri" pitchFamily="2" charset="-78"/>
                <a:ea typeface="Amiri" pitchFamily="2" charset="-78"/>
                <a:cs typeface="Amiri" pitchFamily="2" charset="-78"/>
              </a:rPr>
              <a:t>يَعْنِي … أَنَّ</a:t>
            </a:r>
            <a:pPr algn="l" indent="0" marL="0">
              <a:buNone/>
            </a:pPr>
            <a:r>
              <a:rPr lang="en-US" sz="1100" dirty="0">
                <a:solidFill>
                  <a:srgbClr val="5A6472"/>
                </a:solidFill>
                <a:latin typeface="Calibri" pitchFamily="34" charset="0"/>
                <a:cs typeface="Amiri" pitchFamily="2" charset="-78"/>
              </a:rPr>
              <a:t> + noun in -a?</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apply it to a real situation and advise with </a:t>
            </a:r>
            <a:pPr algn="l" indent="0" marL="0">
              <a:buNone/>
            </a:pPr>
            <a:r>
              <a:rPr lang="ar-SA" altLang="en-US" sz="1450" dirty="0">
                <a:solidFill>
                  <a:srgbClr val="5A6472"/>
                </a:solidFill>
                <a:latin typeface="Amiri" pitchFamily="2" charset="-78"/>
                <a:ea typeface="Amiri" pitchFamily="2" charset="-78"/>
                <a:cs typeface="Amiri" pitchFamily="2" charset="-78"/>
              </a:rPr>
              <a:t>لَا</a:t>
            </a:r>
            <a:pPr algn="l" indent="0" marL="0">
              <a:buNone/>
            </a:pPr>
            <a:r>
              <a:rPr lang="en-US" sz="1100" dirty="0">
                <a:solidFill>
                  <a:srgbClr val="5A6472"/>
                </a:solidFill>
                <a:latin typeface="Calibri" pitchFamily="34" charset="0"/>
                <a:cs typeface="Amiri" pitchFamily="2" charset="-78"/>
              </a:rPr>
              <a:t> + jussive?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ابْدَأِ اليَوْمَ، وَلَا تُؤَجِّلْ عَمَلَ اليَوْمِ إِلَى الغَدِ!</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Start today, and don’t put off today’s work until tomorrow!</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عِنْدِي خَمْسَةُ امْتِحَانَاتٍ وَلَمْ أَبْدَأِ المُرَاجَعَةَ!</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أَفْهَمُ. «الصَّبْرُ مِفْتَاحُ الفَرَجِ»: يَعْنِي أَنَّ التَّعَبَ سَيَنْتَهِي قَرِيبًا.</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understand. “Patience is the key to relief” — it means the tiredness will end soon.</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وَلٰكِنَّنِي مُتْعَبٌ جِدًّا.</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رَاجِعْ سَاعَتَيْنِ كُلَّ يَوْمٍ، وَخُذِ اسْتِرَاحَةً قَصِيرَةً بَعْدَ كُلِّ سَاعَةٍ.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Revise two hours every day, and take a short break after every hour.</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أُنَظِّمُ وَقْتِي؟</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فِكْرَةٌ مُمْتَازَةٌ! «الاتِّحَادُ قُوَّةٌ» — نَلْتَقِي غَدًا فِي المَكْتَبَةِ.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Excellent idea! “Unity is strength” — let’s meet tomorrow in the library.</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نُرَاجِعُ مَعًا؟</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مَثَلِي المُفَضَّلُ: «مَنْ جَدَّ وَجَدَ». يَعْنِي هٰذَا المَثَلُ أَنَّ الإِنْسَانَ الَّذِي يَعْمَلُ بِجِدٍّ يَصِلُ إِلَى هَدَفِهِ. يَنْطَبِقُ هٰذَا المَثَلُ عَلَى أُمِّي؛ فِي العَامِ المَاضِي دَرَسَتِ التَّمْرِيضَ فِي المَسَاءِ بَعْدَ عَمَلِهَا، وَفِي النِّهَايَةِ حَصَلَتْ عَلَى وَظِيفَةٍ جَدِيدَةٍ. المُثَابَرَةُ مُهِمَّةٌ فِي العَمَلِ، لِأَنَّ النَّجَاحَ لَا يَأْتِي بِسُرْعَةٍ. نَصِيحَتِي لِكُلِّ طَالِبٍ: اجْتَهِدْ وَنَظِّمْ وَقْتَكَ، وَلَا تُؤَجِّلْ عَمَلَ اليَوْمِ إِلَى الغَدِ، وَلَا تَسْتَسْلِمْ أَبَدًا.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favourite proverb is “Whoever strives, succeeds.” This proverb means that a person who works hard reaches their goal. It applies to my mother: last year she studied nursing in the evenings after work, and in the end she got a new job. Perseverance matters at work, because success doesn’t come quickly. My advice to every student: work hard and organise your time, don’t put off today’s work until tomorrow, and never give up.”</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يَعْنِي هٰذَا المَثَلُ أَنَّ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يَنْطَبِقُ هٰذَا المَثَلُ عَلَى</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المُثَابَرَةُ مُهِمَّةٌ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وَلَا تَسْتَسْلِمْ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50" b="1" dirty="0">
                <a:solidFill>
                  <a:srgbClr val="FFFFFF"/>
                </a:solidFill>
                <a:latin typeface="Cambria" pitchFamily="34" charset="0"/>
                <a:cs typeface="Amiri" pitchFamily="2" charset="-78"/>
              </a:rPr>
              <a:t>D3-L08 · Reading — Jobs and Career Texts</a:t>
            </a:r>
            <a:endParaRPr lang="en-US" sz="23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القِرَاءَةُ — نُصُوصُ الوَظَائِفِ وَالمَسِيرَةِ المِهَنِيَّةِ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D3-L07 · Practice Room — Arabic Proverbs and Values — Work Ethic and Success</dc:title>
  <dc:subject>PptxGenJS Presentation</dc:subject>
  <dc:creator>Al Madina Online School · Arabic Department</dc:creator>
  <cp:lastModifiedBy>Al Madina Online School · Arabic Department</cp:lastModifiedBy>
  <cp:revision>1</cp:revision>
  <dcterms:created xsi:type="dcterms:W3CDTF">2026-10-25T18:19:55Z</dcterms:created>
  <dcterms:modified xsi:type="dcterms:W3CDTF">2026-10-25T18:19:55Z</dcterms:modified>
</cp:coreProperties>
</file>