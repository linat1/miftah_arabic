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D3-L12 (Review and Unit Assessment: Work and Careers) — new practice tasks built on the lesson’s own word bank and grammar (D3 review: jobs m. / f. / pl. and yaʿmalu + -an; workplace adjectives and min mazāyāhu anna; yaḥtāju ilā · yajibu an yakūna + -an · yastaṭīʿu an; future sa- / sawfa / lan + -a; li-kay; idhā … fa-sawfa; formal application phrases; proverbs with yaʿnī 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manager to a girl: تَقَدَّمْتِ · لَدَيْكِ · قُوَّتِكِ · سَتَكُونِينَ · أَنَا مُبْدِعَةٌ. This card mixes every D3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 Work and Careers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review of the whole D3 unit: recall twelve key D3 expressions, act a mixed dialogue, answer mixed exam-style cards, do a full role-play card, give a one-minute talk, then build, fix and write an exam-style email about work and plans — and set one target for D4.</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D3-L12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D3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تَعْمَلُ مُهَنْدِسَةً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works as an engineer</a:t>
            </a:r>
            <a:endParaRPr lang="en-US" sz="1350" dirty="0"/>
          </a:p>
          <a:p>
            <a:pPr indent="0" marL="0">
              <a:buNone/>
            </a:pPr>
            <a:r>
              <a:rPr lang="en-US" sz="1100" i="1" dirty="0">
                <a:solidFill>
                  <a:srgbClr val="5A6472"/>
                </a:solidFill>
                <a:latin typeface="Calibri" pitchFamily="34" charset="0"/>
                <a:cs typeface="Amiri" pitchFamily="2" charset="-78"/>
              </a:rPr>
              <a:t>taʿ-ma-lu mu-han-di-sa-tan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سَاعَاتٌ مَرِنَةٌ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 hours</a:t>
            </a:r>
            <a:endParaRPr lang="en-US" sz="1350" dirty="0"/>
          </a:p>
          <a:p>
            <a:pPr indent="0" marL="0">
              <a:buNone/>
            </a:pPr>
            <a:r>
              <a:rPr lang="en-US" sz="1100" i="1" dirty="0">
                <a:solidFill>
                  <a:srgbClr val="5A6472"/>
                </a:solidFill>
                <a:latin typeface="Calibri" pitchFamily="34" charset="0"/>
                <a:cs typeface="Amiri" pitchFamily="2" charset="-78"/>
              </a:rPr>
              <a:t>sā-ʿā-tun ma-ri-na-tun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مَزَايَاهُ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is that</a:t>
            </a:r>
            <a:endParaRPr lang="en-US" sz="1350" dirty="0"/>
          </a:p>
          <a:p>
            <a:pPr indent="0" marL="0">
              <a:buNone/>
            </a:pPr>
            <a:r>
              <a:rPr lang="en-US" sz="1100" i="1" dirty="0">
                <a:solidFill>
                  <a:srgbClr val="5A6472"/>
                </a:solidFill>
                <a:latin typeface="Calibri" pitchFamily="34" charset="0"/>
                <a:cs typeface="Amiri" pitchFamily="2" charset="-78"/>
              </a:rPr>
              <a:t>min ma-zā-yā-hu 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يَحْتَاجُ إِلَى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 it needs</a:t>
            </a:r>
            <a:endParaRPr lang="en-US" sz="1350" dirty="0"/>
          </a:p>
          <a:p>
            <a:pPr indent="0" marL="0">
              <a:buNone/>
            </a:pPr>
            <a:r>
              <a:rPr lang="en-US" sz="1100" i="1" dirty="0">
                <a:solidFill>
                  <a:srgbClr val="5A6472"/>
                </a:solidFill>
                <a:latin typeface="Calibri" pitchFamily="34" charset="0"/>
                <a:cs typeface="Amiri" pitchFamily="2" charset="-78"/>
              </a:rPr>
              <a:t>yaḥ-tā-ju i-lā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يَكُونَ صَبُورًا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must be patient</a:t>
            </a:r>
            <a:endParaRPr lang="en-US" sz="1350" dirty="0"/>
          </a:p>
          <a:p>
            <a:pPr indent="0" marL="0">
              <a:buNone/>
            </a:pPr>
            <a:r>
              <a:rPr lang="en-US" sz="1100" i="1" dirty="0">
                <a:solidFill>
                  <a:srgbClr val="5A6472"/>
                </a:solidFill>
                <a:latin typeface="Calibri" pitchFamily="34" charset="0"/>
                <a:cs typeface="Amiri" pitchFamily="2" charset="-78"/>
              </a:rPr>
              <a:t>ya-ji-bu an ya-kū-na ṣa-bū-ran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D3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 أَعْمَلَ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won’t work</a:t>
            </a:r>
            <a:endParaRPr lang="en-US" sz="1350" dirty="0"/>
          </a:p>
          <a:p>
            <a:pPr indent="0" marL="0">
              <a:buNone/>
            </a:pPr>
            <a:r>
              <a:rPr lang="en-US" sz="1100" i="1" dirty="0">
                <a:solidFill>
                  <a:srgbClr val="5A6472"/>
                </a:solidFill>
                <a:latin typeface="Calibri" pitchFamily="34" charset="0"/>
                <a:cs typeface="Amiri" pitchFamily="2" charset="-78"/>
              </a:rPr>
              <a:t>lan aʿ-ma-la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أُصْبِحَ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 become</a:t>
            </a:r>
            <a:endParaRPr lang="en-US" sz="1350" dirty="0"/>
          </a:p>
          <a:p>
            <a:pPr indent="0" marL="0">
              <a:buNone/>
            </a:pPr>
            <a:r>
              <a:rPr lang="en-US" sz="1100" i="1" dirty="0">
                <a:solidFill>
                  <a:srgbClr val="5A6472"/>
                </a:solidFill>
                <a:latin typeface="Calibri" pitchFamily="34" charset="0"/>
                <a:cs typeface="Amiri" pitchFamily="2" charset="-78"/>
              </a:rPr>
              <a:t>li-kay uṣ-bi-ḥa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تَلْمَذَةٌ مِهَنِيَّةٌ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سَبَقَ لِي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previously</a:t>
            </a:r>
            <a:endParaRPr lang="en-US" sz="1350" dirty="0"/>
          </a:p>
          <a:p>
            <a:pPr indent="0" marL="0">
              <a:buNone/>
            </a:pPr>
            <a:r>
              <a:rPr lang="en-US" sz="1100" i="1" dirty="0">
                <a:solidFill>
                  <a:srgbClr val="5A6472"/>
                </a:solidFill>
                <a:latin typeface="Calibri" pitchFamily="34" charset="0"/>
                <a:cs typeface="Amiri" pitchFamily="2" charset="-78"/>
              </a:rPr>
              <a:t>sa-ba-qa lī 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يُشْتَرَطُ · يُفَضَّلُ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required · preferred</a:t>
            </a:r>
            <a:endParaRPr lang="en-US" sz="1350" dirty="0"/>
          </a:p>
          <a:p>
            <a:pPr indent="0" marL="0">
              <a:buNone/>
            </a:pPr>
            <a:r>
              <a:rPr lang="en-US" sz="1100" i="1" dirty="0">
                <a:solidFill>
                  <a:srgbClr val="5A6472"/>
                </a:solidFill>
                <a:latin typeface="Calibri" pitchFamily="34" charset="0"/>
                <a:cs typeface="Amiri" pitchFamily="2" charset="-78"/>
              </a:rPr>
              <a:t>yush-ta-ra-ṭu · yu-faḍ-ḍa-lu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جَدَّ وَجَدَ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whoever strives, succeeds</a:t>
            </a:r>
            <a:endParaRPr lang="en-US" sz="1350" dirty="0"/>
          </a:p>
          <a:p>
            <a:pPr indent="0" marL="0">
              <a:buNone/>
            </a:pPr>
            <a:r>
              <a:rPr lang="en-US" sz="1100" i="1" dirty="0">
                <a:solidFill>
                  <a:srgbClr val="5A6472"/>
                </a:solidFill>
                <a:latin typeface="Calibri" pitchFamily="34" charset="0"/>
                <a:cs typeface="Amiri" pitchFamily="2" charset="-78"/>
              </a:rPr>
              <a:t>man jad-da wa-ja-da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D3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sister do?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تَعْمَلُ أُخْتُكَ؟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works as an engineer in a modern company, and one advantage is that the hours are flexible.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تَعْمَلُ مُهَنْدِسَةً فِي شَرِكَةٍ حَدِيثَةٍ، وَمِنْ مَزَايَا عَمَلِهَا أَنَّ السَّاعَاتِ مَرِنَةٌ.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What do you want to become?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وَأَنْتَ؟ مَاذَا تُرِيدُ أَنْ تُصْبِحَ؟</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aspire to become a teacher. This job needs patience, and I am patient.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أَطْمَحُ إِلَى أَنْ أُصْبِحَ مُعَلِّمًا. يَحْتَاجُ هٰذَا العَمَلُ إِلَى الصَّبْرِ، وَأَنَا صَبُورٌ.</a:t>
            </a:r>
            <a:endParaRPr lang="ar-SA" sz="19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plan?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خُطَّتُكَ؟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study at university to get a degree, and I won’t give up — “Whoever strives, succeeds”!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سَأَدْرُسُ فِي الجَامِعَةِ لِكَيْ أَحْصُلَ عَلَى شَهَادَةٍ، وَلَنْ أَسْتَسْلِمَ — «مَنْ جَدَّ وَجَدَ»!</a:t>
            </a:r>
            <a:endParaRPr lang="ar-SA" sz="19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with YOUR life — then ask your partner the same three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Mixed exam cards — one from each part of D3</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مَزَايَاهُ 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 / تَعْمَلُ …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relative’s job and workplace.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عَمَلَ أَحَدِ أَقَارِبِكَ وَمَكَانَ عَمَلِهِ.</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وَيَجِبُ أَنْ يَكُونَ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يَحْتَاجُ العَامِلُ إِلَى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skills matter at work?</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المَهَارَاتُ المُهِمَّةُ فِي العَمَلِ؟</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أَطْمَحُ إِلَى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ambition?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طُمُوحُكَ؟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أَرْخَصُ / أَقْصَرُ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لِأَنَّهُ / لِأَنَّهَا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University or vocational training?</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الجَامِعَةُ أَمِ التَّدْرِيبُ المِهَنِيُّ؟</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يَنْطَبِقُ عَلَى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يَعْنِي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proverb do you like?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المَثَلُ الَّذِي يُعْجِبُكَ؟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interview for a summer internship</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تَدْرِيبٍ 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لِأَنَّنِي أَطْمَحُ إِلَى 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 ambition.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تَقَدَّمْتَ لِهٰذَا التَّدْرِيبِ؟</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 سَبَقَ لِي 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Experience.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لَدَيْكَ خِبْرَةٌ؟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Strength + evidence.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نُقْطَةُ قُوَّتِكَ؟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condition.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سَتَكُونُ بَعْدَ خَمْسِ سَنَوَاتٍ؟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applicant · Leader = the company manager.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D3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work and your future. The Coach ticks: job agreement · </a:t>
            </a:r>
            <a:pPr algn="l" indent="0" marL="0">
              <a:buNone/>
            </a:pPr>
            <a:r>
              <a:rPr lang="ar-SA" altLang="en-US" sz="1750" dirty="0">
                <a:solidFill>
                  <a:srgbClr val="1F2A37"/>
                </a:solidFill>
                <a:latin typeface="Amiri" pitchFamily="2" charset="-78"/>
                <a:ea typeface="Amiri" pitchFamily="2" charset="-78"/>
                <a:cs typeface="Amiri" pitchFamily="2" charset="-78"/>
              </a:rPr>
              <a:t>يَعْمَلُ</a:t>
            </a:r>
            <a:pPr algn="l" indent="0" marL="0">
              <a:buNone/>
            </a:pPr>
            <a:r>
              <a:rPr lang="en-US" sz="1350" dirty="0">
                <a:solidFill>
                  <a:srgbClr val="1F2A37"/>
                </a:solidFill>
                <a:latin typeface="Calibri" pitchFamily="34" charset="0"/>
                <a:cs typeface="Amiri" pitchFamily="2" charset="-78"/>
              </a:rPr>
              <a:t> + -an · advantage with </a:t>
            </a:r>
            <a:pPr algn="l" indent="0" marL="0">
              <a:buNone/>
            </a:pPr>
            <a:r>
              <a:rPr lang="ar-SA" altLang="en-US" sz="1750" dirty="0">
                <a:solidFill>
                  <a:srgbClr val="1F2A37"/>
                </a:solidFill>
                <a:latin typeface="Amiri" pitchFamily="2" charset="-78"/>
                <a:ea typeface="Amiri" pitchFamily="2" charset="-78"/>
                <a:cs typeface="Amiri" pitchFamily="2" charset="-78"/>
              </a:rPr>
              <a:t>أَنَّ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يَحْتَاجُ إِلَى</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يَجِبُ أَنْ يَكُونَ</a:t>
            </a:r>
            <a:pPr algn="l" indent="0" marL="0">
              <a:buNone/>
            </a:pPr>
            <a:r>
              <a:rPr lang="en-US" sz="1350" dirty="0">
                <a:solidFill>
                  <a:srgbClr val="1F2A37"/>
                </a:solidFill>
                <a:latin typeface="Calibri" pitchFamily="34" charset="0"/>
                <a:cs typeface="Amiri" pitchFamily="2" charset="-78"/>
              </a:rPr>
              <a:t> · future · </a:t>
            </a:r>
            <a:pPr algn="l" indent="0" marL="0">
              <a:buNone/>
            </a:pPr>
            <a:r>
              <a:rPr lang="ar-SA" altLang="en-US" sz="1750" dirty="0">
                <a:solidFill>
                  <a:srgbClr val="1F2A37"/>
                </a:solidFill>
                <a:latin typeface="Amiri" pitchFamily="2" charset="-78"/>
                <a:ea typeface="Amiri" pitchFamily="2" charset="-78"/>
                <a:cs typeface="Amiri" pitchFamily="2" charset="-78"/>
              </a:rPr>
              <a:t>لَنْ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لِكَيْ</a:t>
            </a:r>
            <a:pPr algn="l" indent="0" marL="0">
              <a:buNone/>
            </a:pPr>
            <a:r>
              <a:rPr lang="en-US" sz="1350" dirty="0">
                <a:solidFill>
                  <a:srgbClr val="1F2A37"/>
                </a:solidFill>
                <a:latin typeface="Calibri" pitchFamily="34" charset="0"/>
                <a:cs typeface="Amiri" pitchFamily="2" charset="-78"/>
              </a:rPr>
              <a:t> · proverb.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Seven structures, with evidence for one quality.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nine, including an </a:t>
            </a:r>
            <a:pPr algn="l" indent="0" marL="0">
              <a:buNone/>
            </a:pPr>
            <a:r>
              <a:rPr lang="ar-SA" altLang="en-US" sz="1500" dirty="0">
                <a:solidFill>
                  <a:srgbClr val="1F2A37"/>
                </a:solidFill>
                <a:latin typeface="Amiri" pitchFamily="2" charset="-78"/>
                <a:ea typeface="Amiri" pitchFamily="2" charset="-78"/>
                <a:cs typeface="Amiri" pitchFamily="2" charset="-78"/>
              </a:rPr>
              <a:t>إِذَا</a:t>
            </a:r>
            <a:pPr algn="l" indent="0" marL="0">
              <a:buNone/>
            </a:pPr>
            <a:r>
              <a:rPr lang="en-US" sz="1150" dirty="0">
                <a:solidFill>
                  <a:srgbClr val="1F2A37"/>
                </a:solidFill>
                <a:latin typeface="Calibri" pitchFamily="34" charset="0"/>
                <a:cs typeface="Amiri" pitchFamily="2" charset="-78"/>
              </a:rPr>
              <a:t> condition.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cousin (f.) works as a pilot.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ابْنَةُ خَالِي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خَالِي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طَيَّارَةً.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طَيَّارَةٌ.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 doctor must be accurate.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يَكُونَ الطَّبِيبُ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يَكُونُ الطَّبِيبُ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دَقِيقًا.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دَقِيقٌ.</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will train so that I gain experience.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أَتَدَرَّبُ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لَا أَتَدَرَّبُ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أَكْسِبَ خِبْرَةً.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أَكْسِبُ خِبْرَةٌ.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cousin (f.) works as a pilot.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تَعْمَلُ</a:t>
            </a:r>
            <a:pPr algn="l" indent="0" marL="0">
              <a:buNone/>
            </a:pPr>
            <a:r>
              <a:rPr lang="en-US" sz="1050" i="1" dirty="0">
                <a:solidFill>
                  <a:srgbClr val="5A6472"/>
                </a:solidFill>
                <a:latin typeface="Calibri" pitchFamily="34" charset="0"/>
                <a:cs typeface="Amiri" pitchFamily="2" charset="-78"/>
              </a:rPr>
              <a:t> + job in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ابْنَةُ خَالِي تَعْمَلُ طَيَّارَةً.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 doctor must be accurate.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 يَكُونَ</a:t>
            </a:r>
            <a:pPr algn="l" indent="0" marL="0">
              <a:buNone/>
            </a:pPr>
            <a:r>
              <a:rPr lang="en-US" sz="1050" i="1" dirty="0">
                <a:solidFill>
                  <a:srgbClr val="5A6472"/>
                </a:solidFill>
                <a:latin typeface="Calibri" pitchFamily="34" charset="0"/>
                <a:cs typeface="Amiri" pitchFamily="2" charset="-78"/>
              </a:rPr>
              <a:t> + adjective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يَكُونَ الطَّبِيبُ دَقِيقًا.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will train so that I gain experience.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-a; object → </a:t>
            </a:r>
            <a:pPr algn="l" indent="0" marL="0">
              <a:buNone/>
            </a:pPr>
            <a:r>
              <a:rPr lang="ar-SA" altLang="en-US" sz="1350" dirty="0">
                <a:solidFill>
                  <a:srgbClr val="5A6472"/>
                </a:solidFill>
                <a:latin typeface="Amiri" pitchFamily="2" charset="-78"/>
                <a:ea typeface="Amiri" pitchFamily="2" charset="-78"/>
                <a:cs typeface="Amiri" pitchFamily="2" charset="-78"/>
              </a:rPr>
              <a:t>خِبْرَةً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سَوْفَ أَتَدَرَّبُ لِكَيْ أَكْسِبَ خِبْرَةً.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تَعْمَلُ مُدَرِّسٌ فِي مَدْرَسَةٍ كَبِيرٍ.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 لَا أَدْرُسُ الطِّبَّ لِأَنَّهُ يَحْتَاجُ الصَّبْرَ.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يَسُرُّنِي أَنْ أَتَقَدَّمُ وَأَنَا مُنَاسِبٌ</a:t>
            </a:r>
            <a:pPr algn="l" indent="0" marL="0">
              <a:buNone/>
            </a:pPr>
            <a:r>
              <a:rPr lang="en-US" sz="3000" b="1" dirty="0">
                <a:solidFill>
                  <a:srgbClr val="B83227"/>
                </a:solidFill>
                <a:latin typeface="Calibri" pitchFamily="34" charset="0"/>
                <a:cs typeface="Amiri" pitchFamily="2" charset="-78"/>
              </a:rPr>
              <a:t>. (f. writer)</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تَعْمَلُ مُدَرِّسٌ فِي مَدْرَسَةٍ كَبِيرٍ.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تَعْمَلُ مُدَرِّسَةً فِي مَدْرَسَةٍ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f. + -an; </a:t>
            </a:r>
            <a:pPr algn="l" indent="0" marL="0">
              <a:buNone/>
            </a:pPr>
            <a:r>
              <a:rPr lang="ar-SA" altLang="en-US" sz="1500" b="1" dirty="0">
                <a:solidFill>
                  <a:srgbClr val="1B3B6F"/>
                </a:solidFill>
                <a:latin typeface="Amiri" pitchFamily="2" charset="-78"/>
                <a:ea typeface="Amiri" pitchFamily="2" charset="-78"/>
                <a:cs typeface="Amiri" pitchFamily="2" charset="-78"/>
              </a:rPr>
              <a:t>مَدْرَسَةٌ</a:t>
            </a:r>
            <a:pPr algn="l" indent="0" marL="0">
              <a:buNone/>
            </a:pPr>
            <a:r>
              <a:rPr lang="en-US" sz="1150" b="1" dirty="0">
                <a:solidFill>
                  <a:srgbClr val="1B3B6F"/>
                </a:solidFill>
                <a:latin typeface="Calibri" pitchFamily="34" charset="0"/>
                <a:cs typeface="Amiri" pitchFamily="2" charset="-78"/>
              </a:rPr>
              <a:t> (f.) → </a:t>
            </a:r>
            <a:pPr algn="l" indent="0" marL="0">
              <a:buNone/>
            </a:pPr>
            <a:r>
              <a:rPr lang="ar-SA" altLang="en-US" sz="1500" b="1" dirty="0">
                <a:solidFill>
                  <a:srgbClr val="1B3B6F"/>
                </a:solidFill>
                <a:latin typeface="Amiri" pitchFamily="2" charset="-78"/>
                <a:ea typeface="Amiri" pitchFamily="2" charset="-78"/>
                <a:cs typeface="Amiri" pitchFamily="2" charset="-78"/>
              </a:rPr>
              <a:t>كَبِيرَةٍ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سَوْفَ لَا أَدْرُسُ الطِّبَّ لِأَنَّهُ يَحْتَاجُ الصَّبْرَ.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أَدْرُسَ الطِّبَّ لِأَنَّهُ يَحْتَاجُ إِلَى الصَّبْرِ.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 </a:t>
            </a:r>
            <a:pPr algn="l" indent="0" marL="0">
              <a:buNone/>
            </a:pPr>
            <a:r>
              <a:rPr lang="ar-SA" altLang="en-US" sz="1500" b="1" dirty="0">
                <a:solidFill>
                  <a:srgbClr val="1B3B6F"/>
                </a:solidFill>
                <a:latin typeface="Amiri" pitchFamily="2" charset="-78"/>
                <a:ea typeface="Amiri" pitchFamily="2" charset="-78"/>
                <a:cs typeface="Amiri" pitchFamily="2" charset="-78"/>
              </a:rPr>
              <a:t>يَحْتَاجُ 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يَسُرُّنِي أَنْ أَتَقَدَّمُ وَأَنَا مُنَاسِبٌ</a:t>
            </a:r>
            <a:pPr algn="l" indent="0" marL="0">
              <a:buNone/>
            </a:pPr>
            <a:r>
              <a:rPr lang="en-US" sz="1800" dirty="0">
                <a:solidFill>
                  <a:srgbClr val="B83227"/>
                </a:solidFill>
                <a:latin typeface="Calibri" pitchFamily="34" charset="0"/>
                <a:cs typeface="Amiri" pitchFamily="2" charset="-78"/>
              </a:rPr>
              <a:t>. (f. writer)</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يَسُرُّنِي أَنْ أَتَقَدَّمَ، وَأَنَا مُنَاسِبَةٌ.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 female writer → </a:t>
            </a:r>
            <a:pPr algn="l" indent="0" marL="0">
              <a:buNone/>
            </a:pPr>
            <a:r>
              <a:rPr lang="ar-SA" altLang="en-US" sz="1500" b="1" dirty="0">
                <a:solidFill>
                  <a:srgbClr val="1B3B6F"/>
                </a:solidFill>
                <a:latin typeface="Amiri" pitchFamily="2" charset="-78"/>
                <a:ea typeface="Amiri" pitchFamily="2" charset="-78"/>
                <a:cs typeface="Amiri" pitchFamily="2" charset="-78"/>
              </a:rPr>
              <a:t>مُنَاسِبَةٌ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يَجِبُ أَنْ يَكُونَ ______ ، وَأَنَا ______ ؛ مَثَلًا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must be …, and I am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يَعْمَلُ / تَعْمَلُ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works as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أَطْمَحُ إِلَى أَنْ أُصْبِحَ ______ ، وَيَحْتَاجُ هٰذَا العَمَلُ إِلَى ______ .</a:t>
            </a:r>
            <a:endParaRPr lang="ar-SA" sz="12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become …, and this job needs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______ لِكَيْ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study … in order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الرَّاتِبُ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salary is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يَعْمَلُ / تَعْمَلُ</a:t>
            </a:r>
            <a:pPr algn="l" indent="0" marL="0">
              <a:buNone/>
            </a:pPr>
            <a:r>
              <a:rPr lang="en-US" sz="1550" b="1" dirty="0">
                <a:solidFill>
                  <a:srgbClr val="1B3B6F"/>
                </a:solidFill>
                <a:latin typeface="Calibri" pitchFamily="34" charset="0"/>
                <a:cs typeface="Amiri" pitchFamily="2" charset="-78"/>
              </a:rPr>
              <a:t> + -an  ·  </a:t>
            </a:r>
            <a:pPr algn="l" indent="0" marL="0">
              <a:buNone/>
            </a:pPr>
            <a:r>
              <a:rPr lang="ar-SA" altLang="en-US" sz="2000" b="1" dirty="0">
                <a:solidFill>
                  <a:srgbClr val="1B3B6F"/>
                </a:solidFill>
                <a:latin typeface="Amiri" pitchFamily="2" charset="-78"/>
                <a:ea typeface="Amiri" pitchFamily="2" charset="-78"/>
                <a:cs typeface="Amiri" pitchFamily="2" charset="-78"/>
              </a:rPr>
              <a:t>مِنْ مَزَايَاهُ أَنَّ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يَحْتَاجُ إِلَى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يَجِبُ أَنْ يَكُونَ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أَطْمَحُ إِلَى أَنْ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سَأَدْرُسُ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لَنْ</a:t>
            </a:r>
            <a:pPr algn="l" indent="0" marL="0">
              <a:buNone/>
            </a:pPr>
            <a:r>
              <a:rPr lang="en-US" sz="1550" b="1" dirty="0">
                <a:solidFill>
                  <a:srgbClr val="1B3B6F"/>
                </a:solidFill>
                <a:latin typeface="Calibri" pitchFamily="34" charset="0"/>
                <a:cs typeface="Amiri" pitchFamily="2" charset="-78"/>
              </a:rPr>
              <a:t> + -a  ·  </a:t>
            </a:r>
            <a:pPr algn="l" indent="0" marL="0">
              <a:buNone/>
            </a:pPr>
            <a:r>
              <a:rPr lang="ar-SA" altLang="en-US" sz="2000" b="1" dirty="0">
                <a:solidFill>
                  <a:srgbClr val="1B3B6F"/>
                </a:solidFill>
                <a:latin typeface="Amiri" pitchFamily="2" charset="-78"/>
                <a:ea typeface="Amiri" pitchFamily="2" charset="-78"/>
                <a:cs typeface="Amiri" pitchFamily="2" charset="-78"/>
              </a:rPr>
              <a:t>لِكَيْ</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إِذَا</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عَلَى الرَّغْمِ مِنْ أَنَّ</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Exam-style email: work and my future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رِسَالَةٌ بِأُسْلُوبِ الامْتِحَانِ: العَمَلُ وَمُسْتَقْبَلِي</a:t>
            </a:r>
            <a:endParaRPr lang="ar-SA" sz="22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pen-friend asks about work and your future. Write an email (about 70–90 words). Answer ALL four bullets: • the job of someone in your family and where they work • the job you would like and the skills it needs • your plan to get there (study / training) • your opinion: is a high salary the most important thing?</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 / تَعْمَلُ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works as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أَطْمَحُ إِلَى أَنْ … ؛ يَحْتَاجُ هٰذَا العَمَلُ إِلَى …</a:t>
            </a:r>
            <a:endParaRPr lang="ar-SA" sz="16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 this job needs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 لِكَيْ … · لَنْ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study … in order to … · I won’t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 عَلَى الرَّغْمِ مِنْ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 although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with correct job forms?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يَحْتَاجُ إِلَى</a:t>
            </a:r>
            <a:pPr algn="l" indent="0" marL="0">
              <a:buNone/>
            </a:pPr>
            <a:r>
              <a:rPr lang="en-US" sz="1100" dirty="0">
                <a:solidFill>
                  <a:srgbClr val="5A6472"/>
                </a:solidFill>
                <a:latin typeface="Calibri" pitchFamily="34" charset="0"/>
                <a:cs typeface="Amiri" pitchFamily="2" charset="-78"/>
              </a:rPr>
              <a:t>, future with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evidence and a concession?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أَطْمَحُ إِلَى أَنْ أَعْمَلَ فِي التَّسْوِيقِ، وَأُرِيدُ خِبْرَةً عَمَلِيَّةً.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aspire to work in marketing, and I want practical experience.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تَقَدَّمْتَ لِهٰذَا التَّدْرِيبِ؟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صَمَّمْتُ إِعْلَانَاتٍ لِحَفْلَةِ المَدْرَسَةِ.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previously designed adverts for the school event.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لَدَيْكَ خِبْرَةٌ؟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مُبْدِعٌ؛ مَثَلًا، فَازَ مُلْصَقِي بِالجَائِزَةِ الأُولَى فِي مُسَابَقَةٍ.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creative; for example, my poster won first prize in a competition.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نُقْطَةُ قُوَّتِكَ؟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نَجَحْتُ فِي الجَامِعَةِ، فَسَوْفَ أَعْمَلُ فِي شَرِكَةٍ مِثْلِ شَرِكَتِكُمْ.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succeed at university, I will work in a company like yours.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سَتَكُونُ بَعْدَ خَمْسِ سَنَوَاتٍ؟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مَرْحَبًا يَا عُمَرُ،</a:t>
            </a:r>
            <a:endParaRPr lang="ar-SA" sz="2050" dirty="0"/>
          </a:p>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خَالِي يَعْمَلُ مُحَاسِبًا فِي بَنْكٍ كَبِيرٍ، وَمِنْ مَزَايَا عَمَلِهِ أَنَّ الرَّاتِبَ مُرْتَفِعٌ. أَمَّا أَنَا فَأَطْمَحُ إِلَى أَنْ أُصْبِحَ مُصَمِّمَ أَلْعَابٍ. يَحْتَاجُ هٰذَا العَمَلُ إِلَى الإِبْدَاعِ وَحَلِّ المُشْكِلَاتِ، وَأَنَا مُبْدِعٌ؛ مَثَلًا، صَمَّمْتُ لُعْبَةً لِمَشْرُوعِ المَدْرَسَةِ. سَأَدْرُسُ عُلُومَ الحَاسُوبِ لِكَيْ أَتَعَلَّمَ البَرْمَجَةَ، ثُمَّ سَأَتَدَرَّبُ فِي شَرِكَةٍ. فِي رَأْيِي الرَّاتِبُ مُهِمٌّ، وَلٰكِنَّهُ لَيْسَ الأَهَمَّ. عَلَى الرَّغْمِ مِنْ أَنَّ المَالَ ضَرُورِيٌّ، فَإِنَّ حُبَّ العَمَلِ أَهَمُّ.</a:t>
            </a:r>
            <a:endParaRPr lang="ar-SA" sz="2050" dirty="0"/>
          </a:p>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صَدِيقُكَ، يَاسِرٌ</a:t>
            </a:r>
            <a:endParaRPr lang="ar-SA" sz="20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Omar, my uncle works as an accountant in a big bank, and one advantage of his job is that the salary is high. As for me, I aspire to become a game designer. This job needs creativity and problem-solving, and I am creative; for example, I designed a game for a school project. I will study computer science in order to learn programming, then I will train at a company. In my opinion the salary is important, but it isn’t the most important thing. Although money is necessary, loving your work matters more. Your friend, Yasser.”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يَعْمَلُ مُحَاسِبًا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يَحْتَاجُ هٰذَا العَمَلُ إِلَى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أَتَعَلَّمَ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 حُبَّ العَمَلِ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D3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D4 in your book, e.g. “I will write </a:t>
            </a:r>
            <a:pPr algn="l" indent="0" marL="0">
              <a:buNone/>
            </a:pPr>
            <a:r>
              <a:rPr lang="ar-SA" altLang="en-US" sz="1700" b="1" dirty="0">
                <a:solidFill>
                  <a:srgbClr val="FFFFFF"/>
                </a:solidFill>
                <a:latin typeface="Amiri" pitchFamily="2" charset="-78"/>
                <a:ea typeface="Amiri" pitchFamily="2" charset="-78"/>
                <a:cs typeface="Amiri" pitchFamily="2" charset="-78"/>
              </a:rPr>
              <a:t>لَنْ</a:t>
            </a:r>
            <a:pPr algn="l" indent="0" marL="0">
              <a:buNone/>
            </a:pPr>
            <a:r>
              <a:rPr lang="en-US" sz="1300" b="1" dirty="0">
                <a:solidFill>
                  <a:srgbClr val="FFFFFF"/>
                </a:solidFill>
                <a:latin typeface="Calibri" pitchFamily="34" charset="0"/>
                <a:cs typeface="Amiri" pitchFamily="2" charset="-78"/>
              </a:rPr>
              <a:t> + -a, never </a:t>
            </a:r>
            <a:pPr algn="l" indent="0" marL="0">
              <a:buNone/>
            </a:pPr>
            <a:r>
              <a:rPr lang="ar-SA" altLang="en-US" sz="1700" b="1" dirty="0">
                <a:solidFill>
                  <a:srgbClr val="FFFFFF"/>
                </a:solidFill>
                <a:latin typeface="Amiri" pitchFamily="2" charset="-78"/>
                <a:ea typeface="Amiri" pitchFamily="2" charset="-78"/>
                <a:cs typeface="Amiri" pitchFamily="2" charset="-78"/>
              </a:rPr>
              <a:t>سَوْفَ لَا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D3-L12 · Practice Room — Review and Unit Assessment: Work and Careers</dc:title>
  <dc:subject>PptxGenJS Presentation</dc:subject>
  <dc:creator>Al Madina Online School · Arabic Department</dc:creator>
  <cp:lastModifiedBy>Al Madina Online School · Arabic Department</cp:lastModifiedBy>
  <cp:revision>1</cp:revision>
  <dcterms:created xsi:type="dcterms:W3CDTF">2026-10-25T18:22:37Z</dcterms:created>
  <dcterms:modified xsi:type="dcterms:W3CDTF">2026-10-25T18:22:37Z</dcterms:modified>
</cp:coreProperties>
</file>