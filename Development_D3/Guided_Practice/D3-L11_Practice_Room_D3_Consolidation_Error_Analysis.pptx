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D3-L11 (D3 Consolidation — Error Analysis and Assessment Preparation) — new practice tasks built on the lesson’s own word bank and grammar (four audits: (1) agreement — job m. / f. / pl., adjectives, non-human plural; (2) verb + preposition — yaḥtāju ilā · ḥaṣala ʿalā · yaʿmalu fī · aṭmaḥu ilā; (3) future — sa- / sawfa / lan + -a; (4) evidence — every claim needs mathalan / li-anna; routine: diagnose → explain the rule → repair).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D3-L11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examiner to a girl: تُرِيدِينَهَا · سَتَصِلِينَ · هَدَفِكِ · مُبَرْمِجَةً · قَوِيَّةٌ · وَاثِقَةٌ. The Coach runs all four audits on the candidate’s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(63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D3-L11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D3 Consolidation — Error Analysis and Assessment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تَحْلِيلُ الأَخْطَاءِ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50" dirty="0">
                <a:solidFill>
                  <a:srgbClr val="C6D2E6"/>
                </a:solidFill>
                <a:latin typeface="Calibri" pitchFamily="34" charset="0"/>
                <a:cs typeface="Amiri" pitchFamily="2" charset="-78"/>
              </a:rPr>
              <a:t>Students run their own consolidation of the whole D3 unit: say the jobs in all forms, act a “spot my mistake” dialogue, run the four audits on spoken answers, do a role-play card as examiner and candidate, give a one-minute talk that the Coach audits, then build, fix and write an improved version of a weak student text.</a:t>
            </a:r>
            <a:endParaRPr lang="en-US" sz="11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D3-L11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Jobs (m. / f.)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engineer</a:t>
            </a:r>
            <a:endParaRPr lang="en-US" sz="1350" dirty="0"/>
          </a:p>
          <a:p>
            <a:pPr indent="0" marL="0">
              <a:buNone/>
            </a:pPr>
            <a:r>
              <a:rPr lang="en-US" sz="1100" i="1" dirty="0">
                <a:solidFill>
                  <a:srgbClr val="5A6472"/>
                </a:solidFill>
                <a:latin typeface="Calibri" pitchFamily="34" charset="0"/>
                <a:cs typeface="Amiri" pitchFamily="2" charset="-78"/>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teacher</a:t>
            </a:r>
            <a:endParaRPr lang="en-US" sz="1350" dirty="0"/>
          </a:p>
          <a:p>
            <a:pPr indent="0" marL="0">
              <a:buNone/>
            </a:pPr>
            <a:r>
              <a:rPr lang="en-US" sz="1100" i="1" dirty="0">
                <a:solidFill>
                  <a:srgbClr val="5A6472"/>
                </a:solidFill>
                <a:latin typeface="Calibri" pitchFamily="34" charset="0"/>
                <a:cs typeface="Amiri" pitchFamily="2" charset="-78"/>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مُحَامٍ / مُحَامِيَةٌ</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lawyer</a:t>
            </a:r>
            <a:endParaRPr lang="en-US" sz="1350" dirty="0"/>
          </a:p>
          <a:p>
            <a:pPr indent="0" marL="0">
              <a:buNone/>
            </a:pPr>
            <a:r>
              <a:rPr lang="en-US" sz="1100" i="1" dirty="0">
                <a:solidFill>
                  <a:srgbClr val="5A6472"/>
                </a:solidFill>
                <a:latin typeface="Calibri" pitchFamily="34" charset="0"/>
                <a:cs typeface="Amiri" pitchFamily="2" charset="-78"/>
              </a:rPr>
              <a:t>mu-ḥā-min / mu-ḥā-mi-ya-tun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مُحَامُونَ</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مُحَامِيَةٌ</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صَحَفِيٌّ / صَحَفِيَّةٌ</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journalist</a:t>
            </a:r>
            <a:endParaRPr lang="en-US" sz="1350" dirty="0"/>
          </a:p>
          <a:p>
            <a:pPr indent="0" marL="0">
              <a:buNone/>
            </a:pPr>
            <a:r>
              <a:rPr lang="en-US" sz="1100" i="1" dirty="0">
                <a:solidFill>
                  <a:srgbClr val="5A6472"/>
                </a:solidFill>
                <a:latin typeface="Calibri" pitchFamily="34" charset="0"/>
                <a:cs typeface="Amiri" pitchFamily="2" charset="-78"/>
              </a:rPr>
              <a:t>ṣa-ḥa-fiy-yun / ṣa-ḥa-fiy-ya-tun</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صَحَفِيُّونَ</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صَحَفِيَّةٌ</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Jobs (m. / 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مُبَرْمِجٌ / مُبَرْمِجَةٌ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programmer</a:t>
            </a:r>
            <a:endParaRPr lang="en-US" sz="1350" dirty="0"/>
          </a:p>
          <a:p>
            <a:pPr indent="0" marL="0">
              <a:buNone/>
            </a:pPr>
            <a:r>
              <a:rPr lang="en-US" sz="1100" i="1" dirty="0">
                <a:solidFill>
                  <a:srgbClr val="5A6472"/>
                </a:solidFill>
                <a:latin typeface="Calibri" pitchFamily="34" charset="0"/>
                <a:cs typeface="Amiri" pitchFamily="2" charset="-78"/>
              </a:rPr>
              <a:t>mu-bar-mi-jun / mu-bar-mi-ja-tun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مُحَاسِبٌ / مُحَاسِبَةٌ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accountant</a:t>
            </a:r>
            <a:endParaRPr lang="en-US" sz="1350" dirty="0"/>
          </a:p>
          <a:p>
            <a:pPr indent="0" marL="0">
              <a:buNone/>
            </a:pPr>
            <a:r>
              <a:rPr lang="en-US" sz="1100" i="1" dirty="0">
                <a:solidFill>
                  <a:srgbClr val="5A6472"/>
                </a:solidFill>
                <a:latin typeface="Calibri" pitchFamily="34" charset="0"/>
                <a:cs typeface="Amiri" pitchFamily="2" charset="-78"/>
              </a:rPr>
              <a:t>mu-ḥā-si-bun / mu-ḥā-si-ba-tun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مُصَمِّمٌ / مُصَمِّمَةٌ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designer</a:t>
            </a:r>
            <a:endParaRPr lang="en-US" sz="1350" dirty="0"/>
          </a:p>
          <a:p>
            <a:pPr indent="0" marL="0">
              <a:buNone/>
            </a:pPr>
            <a:r>
              <a:rPr lang="en-US" sz="1100" i="1" dirty="0">
                <a:solidFill>
                  <a:srgbClr val="5A6472"/>
                </a:solidFill>
                <a:latin typeface="Calibri" pitchFamily="34" charset="0"/>
                <a:cs typeface="Amiri" pitchFamily="2" charset="-78"/>
              </a:rPr>
              <a:t>mu-ṣam-mi-mun / mu-ṣam-mi-ma-tun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طَيَّارٌ / طَيَّارَةٌ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pilot</a:t>
            </a:r>
            <a:endParaRPr lang="en-US" sz="1350" dirty="0"/>
          </a:p>
          <a:p>
            <a:pPr indent="0" marL="0">
              <a:buNone/>
            </a:pPr>
            <a:r>
              <a:rPr lang="en-US" sz="1100" i="1" dirty="0">
                <a:solidFill>
                  <a:srgbClr val="5A6472"/>
                </a:solidFill>
                <a:latin typeface="Calibri" pitchFamily="34" charset="0"/>
                <a:cs typeface="Amiri" pitchFamily="2" charset="-78"/>
              </a:rPr>
              <a:t>ṭay-yā-run / ṭay-yā-ra-tun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شُرْطِيٌّ / شُرْطِيَّةٌ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police officer</a:t>
            </a:r>
            <a:endParaRPr lang="en-US" sz="1350" dirty="0"/>
          </a:p>
          <a:p>
            <a:pPr indent="0" marL="0">
              <a:buNone/>
            </a:pPr>
            <a:r>
              <a:rPr lang="en-US" sz="1100" i="1" dirty="0">
                <a:solidFill>
                  <a:srgbClr val="5A6472"/>
                </a:solidFill>
                <a:latin typeface="Calibri" pitchFamily="34" charset="0"/>
                <a:cs typeface="Amiri" pitchFamily="2" charset="-78"/>
              </a:rPr>
              <a:t>shur-ṭiy-yun / shur-ṭiy-ya-tun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طَبَّاخٌ / طَبَّاخَةٌ</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chef</a:t>
            </a:r>
            <a:endParaRPr lang="en-US" sz="1350" dirty="0"/>
          </a:p>
          <a:p>
            <a:pPr indent="0" marL="0">
              <a:buNone/>
            </a:pPr>
            <a:r>
              <a:rPr lang="en-US" sz="1100" i="1" dirty="0">
                <a:solidFill>
                  <a:srgbClr val="5A6472"/>
                </a:solidFill>
                <a:latin typeface="Calibri" pitchFamily="34" charset="0"/>
                <a:cs typeface="Amiri" pitchFamily="2" charset="-78"/>
              </a:rPr>
              <a:t>ṭab-bā-khun / ṭab-bā-kha-tun</a:t>
            </a:r>
            <a:endParaRPr lang="en-US" sz="1350" dirty="0"/>
          </a:p>
        </p:txBody>
      </p:sp>
      <p:sp>
        <p:nvSpPr>
          <p:cNvPr id="106" name="Shape 103"/>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8" name="Text 105"/>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طَبَّاخُونَ</a:t>
            </a:r>
            <a:endParaRPr lang="ar-SA" sz="1500" dirty="0"/>
          </a:p>
        </p:txBody>
      </p:sp>
      <p:sp>
        <p:nvSpPr>
          <p:cNvPr id="109" name="Shape 106"/>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0" name="Text 107"/>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1" name="Text 108"/>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طَبَّاخَةٌ</a:t>
            </a:r>
            <a:endParaRPr lang="ar-SA" sz="1500" dirty="0"/>
          </a:p>
        </p:txBody>
      </p:sp>
      <p:sp>
        <p:nvSpPr>
          <p:cNvPr id="112" name="Shape 109"/>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4" name="Text 111"/>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a:t>
            </a:r>
            <a:endParaRPr lang="ar-SA" sz="1500" dirty="0"/>
          </a:p>
        </p:txBody>
      </p:sp>
      <p:sp>
        <p:nvSpPr>
          <p:cNvPr id="115" name="Text 11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Diagnose, explain, repair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شَخِّصْ، اشْرَحْ، 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sentence: “My mum is an engineer (m.) in a big (m.) company.”</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جُمْلَتِي: «أُمِّي مُهَنْدِسٌ فِي شَرِكَةٍ كَبِيرٍ».</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Diagnosis: two agreement errors.</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تَشْخِيصٌ: خَطَآنِ فِي التَّطَابُقِ.</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لِمَاذَا؟</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the mother is feminine, and the company is feminine too.</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لِأَنَّ الأُمَّ مُؤَنَّثَةٌ، وَالشَّرِكَةَ مُؤَنَّثَةٌ أَيْضًا.</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“My mum is an engineer (f.) in a big (f.) company.”</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إِذَنْ: «أُمِّي مُهَنْدِسَةٌ فِي شَرِكَةٍ كَبِيرَةٍ».</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Excellent! Now add evidence: “… because she designs bridges.”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مُمْتَازٌ! وَالآنَ أَضِفْ دَلِيلًا: «… لِأَنَّهَا تُصَمِّمُ الجُسُورَ».</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A says a sentence with ONE hidden error; B diagnoses, explains and repairs.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Audit cards — answer, then your partner audits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56648" y="2267712"/>
            <a:ext cx="1901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Coach: m. / f. / pl. all correct?</a:t>
            </a:r>
            <a:endParaRPr lang="en-US" sz="11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أَبِي … / أُمِّي … / عَمَّايَ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your family members do?</a:t>
            </a:r>
            <a:endParaRPr lang="en-US" sz="1100" dirty="0"/>
          </a:p>
        </p:txBody>
      </p:sp>
      <p:sp>
        <p:nvSpPr>
          <p:cNvPr id="25" name="Text 22"/>
          <p:cNvSpPr txBox="1"/>
          <p:nvPr/>
        </p:nvSpPr>
        <p:spPr>
          <a:xfrm>
            <a:off x="1069848" y="2267712"/>
            <a:ext cx="33832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مَاذَا يَعْمَلُ أَفْرَادُ عَائِلَتِكَ؟</a:t>
            </a:r>
            <a:pPr algn="l" indent="0" marL="0">
              <a:buNone/>
            </a:pPr>
            <a:r>
              <a:rPr lang="en-US" sz="1100" dirty="0">
                <a:solidFill>
                  <a:srgbClr val="5A6472"/>
                </a:solidFill>
                <a:latin typeface="Calibri" pitchFamily="34" charset="0"/>
                <a:cs typeface="Amiri" pitchFamily="2" charset="-78"/>
              </a:rPr>
              <a:t> (Audit 1: agreement)</a:t>
            </a:r>
            <a:endParaRPr lang="en-US" sz="11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56648" y="3004718"/>
            <a:ext cx="1901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Coach: </a:t>
            </a:r>
            <a:pPr algn="l" indent="0" marL="0">
              <a:buNone/>
            </a:pPr>
            <a:r>
              <a:rPr lang="ar-SA" altLang="en-US" sz="1450" dirty="0">
                <a:solidFill>
                  <a:srgbClr val="5A6472"/>
                </a:solidFill>
                <a:latin typeface="Amiri" pitchFamily="2" charset="-78"/>
                <a:ea typeface="Amiri" pitchFamily="2" charset="-78"/>
                <a:cs typeface="Amiri" pitchFamily="2" charset="-78"/>
              </a:rPr>
              <a:t>إِلَى</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عَلَى</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فِي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تَحْتَاجُ إِلَى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your dream job need?</a:t>
            </a:r>
            <a:endParaRPr lang="en-US" sz="1100" dirty="0"/>
          </a:p>
        </p:txBody>
      </p:sp>
      <p:sp>
        <p:nvSpPr>
          <p:cNvPr id="33" name="Text 30"/>
          <p:cNvSpPr txBox="1"/>
          <p:nvPr/>
        </p:nvSpPr>
        <p:spPr>
          <a:xfrm>
            <a:off x="1069848" y="3004718"/>
            <a:ext cx="33832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إِلَامَ تَحْتَاجُ وَظِيفَةُ أَحْلَامِكَ؟</a:t>
            </a:r>
            <a:pPr algn="l" indent="0" marL="0">
              <a:buNone/>
            </a:pPr>
            <a:r>
              <a:rPr lang="en-US" sz="1100" dirty="0">
                <a:solidFill>
                  <a:srgbClr val="5A6472"/>
                </a:solidFill>
                <a:latin typeface="Calibri" pitchFamily="34" charset="0"/>
                <a:cs typeface="Amiri" pitchFamily="2" charset="-78"/>
              </a:rPr>
              <a:t> (Audit 2: prepositions)</a:t>
            </a:r>
            <a:endParaRPr lang="en-US" sz="11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56648" y="3741725"/>
            <a:ext cx="1901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Coach: </a:t>
            </a:r>
            <a:pPr algn="l" indent="0" marL="0">
              <a:buNone/>
            </a:pPr>
            <a:r>
              <a:rPr lang="ar-SA" altLang="en-US" sz="1450" dirty="0">
                <a:solidFill>
                  <a:srgbClr val="5A6472"/>
                </a:solidFill>
                <a:latin typeface="Amiri" pitchFamily="2" charset="-78"/>
                <a:ea typeface="Amiri" pitchFamily="2" charset="-78"/>
                <a:cs typeface="Amiri" pitchFamily="2" charset="-78"/>
              </a:rPr>
              <a:t>لَنْ</a:t>
            </a:r>
            <a:pPr algn="l" indent="0" marL="0">
              <a:buNone/>
            </a:pPr>
            <a:r>
              <a:rPr lang="en-US" sz="1100" dirty="0">
                <a:solidFill>
                  <a:srgbClr val="5A6472"/>
                </a:solidFill>
                <a:latin typeface="Calibri" pitchFamily="34" charset="0"/>
                <a:cs typeface="Amiri" pitchFamily="2" charset="-78"/>
              </a:rPr>
              <a:t> + -a?</a:t>
            </a:r>
            <a:endParaRPr lang="en-US" sz="11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سَأَدْرُسُ … / سَوْفَ … / لَنْ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plans after school?</a:t>
            </a:r>
            <a:endParaRPr lang="en-US" sz="1100" dirty="0"/>
          </a:p>
        </p:txBody>
      </p:sp>
      <p:sp>
        <p:nvSpPr>
          <p:cNvPr id="41" name="Text 38"/>
          <p:cNvSpPr txBox="1"/>
          <p:nvPr/>
        </p:nvSpPr>
        <p:spPr>
          <a:xfrm>
            <a:off x="1069848" y="3741725"/>
            <a:ext cx="33832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مَا خُطَطُكَ بَعْدَ المَدْرَسَةِ؟</a:t>
            </a:r>
            <a:pPr algn="l" indent="0" marL="0">
              <a:buNone/>
            </a:pPr>
            <a:r>
              <a:rPr lang="en-US" sz="1100" dirty="0">
                <a:solidFill>
                  <a:srgbClr val="5A6472"/>
                </a:solidFill>
                <a:latin typeface="Calibri" pitchFamily="34" charset="0"/>
                <a:cs typeface="Amiri" pitchFamily="2" charset="-78"/>
              </a:rPr>
              <a:t> (Audit 3: future)</a:t>
            </a:r>
            <a:endParaRPr lang="en-US" sz="11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56648" y="4478731"/>
            <a:ext cx="1901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Coach: is there real evidence?</a:t>
            </a:r>
            <a:endParaRPr lang="en-US" sz="11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مَثَلًا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you a responsible person?</a:t>
            </a:r>
            <a:endParaRPr lang="en-US" sz="1100" dirty="0"/>
          </a:p>
        </p:txBody>
      </p:sp>
      <p:sp>
        <p:nvSpPr>
          <p:cNvPr id="49" name="Text 46"/>
          <p:cNvSpPr txBox="1"/>
          <p:nvPr/>
        </p:nvSpPr>
        <p:spPr>
          <a:xfrm>
            <a:off x="1069848" y="4478731"/>
            <a:ext cx="33832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هَلْ أَنْتَ شَخْصٌ مَسْؤُولٌ؟</a:t>
            </a:r>
            <a:pPr algn="l" indent="0" marL="0">
              <a:buNone/>
            </a:pPr>
            <a:r>
              <a:rPr lang="en-US" sz="1100" dirty="0">
                <a:solidFill>
                  <a:srgbClr val="5A6472"/>
                </a:solidFill>
                <a:latin typeface="Calibri" pitchFamily="34" charset="0"/>
                <a:cs typeface="Amiri" pitchFamily="2" charset="-78"/>
              </a:rPr>
              <a:t> (Audit 4: evidence)</a:t>
            </a:r>
            <a:endParaRPr lang="en-US" sz="11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عَلَى الرَّغْمِ مِنْ أَنَّ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رَأْيِي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think of working from home?</a:t>
            </a:r>
            <a:endParaRPr lang="en-US" sz="1100" dirty="0"/>
          </a:p>
        </p:txBody>
      </p:sp>
      <p:sp>
        <p:nvSpPr>
          <p:cNvPr id="55" name="Text 52"/>
          <p:cNvSpPr txBox="1"/>
          <p:nvPr/>
        </p:nvSpPr>
        <p:spPr>
          <a:xfrm>
            <a:off x="1069848" y="5215738"/>
            <a:ext cx="33832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مَا رَأْيُكَ فِي العَمَلِ مِنَ البَيْتِ؟</a:t>
            </a:r>
            <a:pPr algn="l" indent="0" marL="0">
              <a:buNone/>
            </a:pPr>
            <a:r>
              <a:rPr lang="en-US" sz="1100" dirty="0">
                <a:solidFill>
                  <a:srgbClr val="5A6472"/>
                </a:solidFill>
                <a:latin typeface="Calibri" pitchFamily="34" charset="0"/>
                <a:cs typeface="Amiri" pitchFamily="2" charset="-78"/>
              </a:rPr>
              <a:t> (All four)</a:t>
            </a:r>
            <a:endParaRPr lang="en-US" sz="11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Role-play card — the D3 speaking test (practice)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اخْتِبَارُ 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الوَظِيفَةُ ← أُرِيدُ أَنْ أُصْبِحَ … لِأَنَّ … وَ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Job + two reasons.</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الوَظِيفَةُ الَّتِي تُرِيدُهَا؟ وَلِمَاذَا؟</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المَهَارَاتُ ← يَحْتَاجُ إِلَى … ؛ وَأَنَا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Skills + evidence.</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المَهَارَاتُ الَّتِي يَحْتَاجُ إِلَيْهَا؟</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Route in the future.</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سَتَصِلُ إِلَى هَدَفِكَ؟</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Challenge + concession.</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 التَّحَدِّي الأَكْبَرُ؟</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candidate · Leader = the examiner.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 audited!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دَقِيقَةٌ مَعَ التَّدْقِيقِ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about work and your future. The Coach keeps four columns (agreement · prepositions · future · evidence) and ticks or crosses each sentence.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Zero agreement errors.</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Zero errors in agreement and future.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 four audits clean — and evidence for every claim.</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two sisters are nurses in the hospital.</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أُخْتَايَ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مُمَرِّضَتَانِ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مُمَرِّضَاتٌ</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المُسْتَشْفَى.</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المُسْتَشْفَى الكَبِيرَةِ.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got a scholarship.</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حَصَلْتُ</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أَحْصُلُ</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مِنْحَةٍ دِرَاسِيَّةٍ.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مِنْحَةٌ دِرَاسِيَّةٌ.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won’t travel, because my family needs me.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لَنْ أُسَافِرَ،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لَنْ أُسَافِرُ،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أُسْرَتِي تَحْتَاجُ إِلَيَّ.</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أُسْرَتِي يَحْتَاجُ إِلَيَّ.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two sisters are nurses in the hospital.</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Two sisters → dual </a:t>
            </a:r>
            <a:pPr algn="l" indent="0" marL="0">
              <a:buNone/>
            </a:pPr>
            <a:r>
              <a:rPr lang="ar-SA" altLang="en-US" sz="1350" dirty="0">
                <a:solidFill>
                  <a:srgbClr val="5A6472"/>
                </a:solidFill>
                <a:latin typeface="Amiri" pitchFamily="2" charset="-78"/>
                <a:ea typeface="Amiri" pitchFamily="2" charset="-78"/>
                <a:cs typeface="Amiri" pitchFamily="2" charset="-78"/>
              </a:rPr>
              <a:t>مُمَرِّضَتَانِ</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مُسْتَشْفًى</a:t>
            </a:r>
            <a:pPr algn="l" indent="0" marL="0">
              <a:buNone/>
            </a:pPr>
            <a:r>
              <a:rPr lang="en-US" sz="1050" i="1" dirty="0">
                <a:solidFill>
                  <a:srgbClr val="5A6472"/>
                </a:solidFill>
                <a:latin typeface="Calibri" pitchFamily="34" charset="0"/>
                <a:cs typeface="Amiri" pitchFamily="2" charset="-78"/>
              </a:rPr>
              <a:t> is masculine.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أُخْتَايَ مُمَرِّضَتَانِ فِي المُسْتَشْفَى.</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got a scholarship.</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حَصَلَ عَلَى</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حَصَلْتُ عَلَى مِنْحَةٍ دِرَاسِيَّةٍ.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won’t travel, because my family needs me.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لَنْ</a:t>
            </a:r>
            <a:pPr algn="l" indent="0" marL="0">
              <a:buNone/>
            </a:pPr>
            <a:r>
              <a:rPr lang="en-US" sz="1050" i="1" dirty="0">
                <a:solidFill>
                  <a:srgbClr val="5A6472"/>
                </a:solidFill>
                <a:latin typeface="Calibri" pitchFamily="34" charset="0"/>
                <a:cs typeface="Amiri" pitchFamily="2" charset="-78"/>
              </a:rPr>
              <a:t> + -a; </a:t>
            </a:r>
            <a:pPr algn="l" indent="0" marL="0">
              <a:buNone/>
            </a:pPr>
            <a:r>
              <a:rPr lang="ar-SA" altLang="en-US" sz="1350" dirty="0">
                <a:solidFill>
                  <a:srgbClr val="5A6472"/>
                </a:solidFill>
                <a:latin typeface="Amiri" pitchFamily="2" charset="-78"/>
                <a:ea typeface="Amiri" pitchFamily="2" charset="-78"/>
                <a:cs typeface="Amiri" pitchFamily="2" charset="-78"/>
              </a:rPr>
              <a:t>أُسْرَةٌ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تَحْتَاجُ</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لَنْ أُسَافِرَ، لِأَنَّ أُسْرَتِي تَحْتَاجُ إِلَيَّ.</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خَالَتِي تَعْمَلُ مُحَامِيٌ فِي مَكْتَبٍ صَغِيرَةٍ.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Audit 1 — two errors.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يَحْتَاجُ الطَّبِيبُ الصَّبْرَ وَسَوْفَ لَا أَعْمَلُ فِي البَنْكِ.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Audits 2 and 3.</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مُجْتَهِدٌ وَمَسْؤُولٌ وَمُنَظَّمٌ.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Audit 4.</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خَالَتِي تَعْمَلُ مُحَامِيٌ فِي مَكْتَبٍ صَغِيرَةٍ.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خَالَتِي تَعْمَلُ مُحَامِيَةً فِي مَكْتَبٍ صَغِيرٍ.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Job: f. + accusative; </a:t>
            </a:r>
            <a:pPr algn="l" indent="0" marL="0">
              <a:buNone/>
            </a:pPr>
            <a:r>
              <a:rPr lang="ar-SA" altLang="en-US" sz="1500" b="1" dirty="0">
                <a:solidFill>
                  <a:srgbClr val="1B3B6F"/>
                </a:solidFill>
                <a:latin typeface="Amiri" pitchFamily="2" charset="-78"/>
                <a:ea typeface="Amiri" pitchFamily="2" charset="-78"/>
                <a:cs typeface="Amiri" pitchFamily="2" charset="-78"/>
              </a:rPr>
              <a:t>مَكْتَبٌ</a:t>
            </a:r>
            <a:pPr algn="l" indent="0" marL="0">
              <a:buNone/>
            </a:pPr>
            <a:r>
              <a:rPr lang="en-US" sz="1150" b="1" dirty="0">
                <a:solidFill>
                  <a:srgbClr val="1B3B6F"/>
                </a:solidFill>
                <a:latin typeface="Calibri" pitchFamily="34" charset="0"/>
                <a:cs typeface="Amiri" pitchFamily="2" charset="-78"/>
              </a:rPr>
              <a:t> (m.) → </a:t>
            </a:r>
            <a:pPr algn="l" indent="0" marL="0">
              <a:buNone/>
            </a:pPr>
            <a:r>
              <a:rPr lang="ar-SA" altLang="en-US" sz="1500" b="1" dirty="0">
                <a:solidFill>
                  <a:srgbClr val="1B3B6F"/>
                </a:solidFill>
                <a:latin typeface="Amiri" pitchFamily="2" charset="-78"/>
                <a:ea typeface="Amiri" pitchFamily="2" charset="-78"/>
                <a:cs typeface="Amiri" pitchFamily="2" charset="-78"/>
              </a:rPr>
              <a:t>صَغِيرٍ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يَحْتَاجُ الطَّبِيبُ الصَّبْرَ وَسَوْفَ لَا أَعْمَلُ فِي البَنْكِ.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يَحْتَاجُ الطَّبِيبُ إِلَى الصَّبْرِ، وَلَنْ أَعْمَلَ فِي البَنْكِ.</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يَحْتَاجُ إِلَى</a:t>
            </a:r>
            <a:pPr algn="l" indent="0" marL="0">
              <a:buNone/>
            </a:pPr>
            <a:r>
              <a:rPr lang="en-US" sz="1150" b="1" dirty="0">
                <a:solidFill>
                  <a:srgbClr val="1B3B6F"/>
                </a:solidFill>
                <a:latin typeface="Calibri" pitchFamily="34" charset="0"/>
                <a:cs typeface="Amiri" pitchFamily="2" charset="-78"/>
              </a:rPr>
              <a:t>; won’t = </a:t>
            </a:r>
            <a:pPr algn="l" indent="0" marL="0">
              <a:buNone/>
            </a:pPr>
            <a:r>
              <a:rPr lang="ar-SA" altLang="en-US" sz="1500" b="1" dirty="0">
                <a:solidFill>
                  <a:srgbClr val="1B3B6F"/>
                </a:solidFill>
                <a:latin typeface="Amiri" pitchFamily="2" charset="-78"/>
                <a:ea typeface="Amiri" pitchFamily="2" charset="-78"/>
                <a:cs typeface="Amiri" pitchFamily="2" charset="-78"/>
              </a:rPr>
              <a:t>لَنْ</a:t>
            </a:r>
            <a:pPr algn="l" indent="0" marL="0">
              <a:buNone/>
            </a:pPr>
            <a:r>
              <a:rPr lang="en-US" sz="1150" b="1" dirty="0">
                <a:solidFill>
                  <a:srgbClr val="1B3B6F"/>
                </a:solidFill>
                <a:latin typeface="Calibri" pitchFamily="34" charset="0"/>
                <a:cs typeface="Amiri" pitchFamily="2" charset="-78"/>
              </a:rPr>
              <a:t> +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مُجْتَهِدٌ وَمَسْؤُولٌ وَمُنَظَّمٌ.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مُجْتَهِدٌ؛ مَثَلًا، أُرَاجِعُ كُلَّ يَوْمٍ سَاعَتَيْنِ.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quality with evidence beats three without.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سَأَدْرُسُ ______ ، ثُمَّ سَوْفَ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study …, then I will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عَلَى الرَّغْمِ مِنْ أَنَّ ______ ، فَإِنَّنِي ______ .</a:t>
            </a:r>
            <a:endParaRPr lang="ar-SA" sz="17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I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تَعْمَلُ / يَعْمَلُ ______ فِي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works as … in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أَعْمَلَ ______ ، لِأَنَّ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won’t work as …, because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أُصْبِحَ ______ ، لِأَنَّ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become …, because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مَثَلًا،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for example,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طَبِيبٌ · طَبِيبَةٌ  ·  مُهَنْدِسٌ · مُهَنْدِسَةٌ  ·  مُحَامٍ · مُحَامِيَةٌ  ·  مُبَرْمِجٌ · مُبَرْمِجَةٌ  ·  يَحْتَاجُ إِلَى · حَصَلَ عَلَى  ·  سَأَدْرُسُ · سَوْفَ · لَنْ أَعْمَلَ  ·  مَثَلًا · لِأَنَّ  ·  عَلَى الرَّغْمِ مِنْ أَنَّ</a:t>
            </a:r>
            <a:endParaRPr lang="ar-SA" sz="15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a weak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حَسِّنِ 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Weak text: «</a:t>
            </a:r>
            <a:pPr algn="l" indent="0" marL="0">
              <a:buNone/>
            </a:pPr>
            <a:r>
              <a:rPr lang="ar-SA" altLang="en-US" sz="1650" b="1" dirty="0">
                <a:solidFill>
                  <a:srgbClr val="1F2A37"/>
                </a:solidFill>
                <a:latin typeface="Amiri" pitchFamily="2" charset="-78"/>
                <a:ea typeface="Amiri" pitchFamily="2" charset="-78"/>
                <a:cs typeface="Amiri" pitchFamily="2" charset="-78"/>
              </a:rPr>
              <a:t>أُمِّي طَبِيبٌ</a:t>
            </a:r>
            <a:pPr algn="l" indent="0" marL="0">
              <a:buNone/>
            </a:pPr>
            <a:r>
              <a:rPr lang="en-US" sz="1250" b="1" dirty="0">
                <a:solidFill>
                  <a:srgbClr val="1F2A37"/>
                </a:solidFill>
                <a:latin typeface="Calibri" pitchFamily="34" charset="0"/>
                <a:cs typeface="Amiri" pitchFamily="2" charset="-78"/>
              </a:rPr>
              <a:t>. </a:t>
            </a:r>
            <a:pPr algn="l" indent="0" marL="0">
              <a:buNone/>
            </a:pPr>
            <a:r>
              <a:rPr lang="ar-SA" altLang="en-US" sz="1650" b="1" dirty="0">
                <a:solidFill>
                  <a:srgbClr val="1F2A37"/>
                </a:solidFill>
                <a:latin typeface="Amiri" pitchFamily="2" charset="-78"/>
                <a:ea typeface="Amiri" pitchFamily="2" charset="-78"/>
                <a:cs typeface="Amiri" pitchFamily="2" charset="-78"/>
              </a:rPr>
              <a:t>هِيَ تَعْمَلُ مُسْتَشْفًى</a:t>
            </a:r>
            <a:pPr algn="l" indent="0" marL="0">
              <a:buNone/>
            </a:pPr>
            <a:r>
              <a:rPr lang="en-US" sz="1250" b="1" dirty="0">
                <a:solidFill>
                  <a:srgbClr val="1F2A37"/>
                </a:solidFill>
                <a:latin typeface="Calibri" pitchFamily="34" charset="0"/>
                <a:cs typeface="Amiri" pitchFamily="2" charset="-78"/>
              </a:rPr>
              <a:t>. </a:t>
            </a:r>
            <a:pPr algn="l" indent="0" marL="0">
              <a:buNone/>
            </a:pPr>
            <a:r>
              <a:rPr lang="ar-SA" altLang="en-US" sz="1650" b="1" dirty="0">
                <a:solidFill>
                  <a:srgbClr val="1F2A37"/>
                </a:solidFill>
                <a:latin typeface="Amiri" pitchFamily="2" charset="-78"/>
                <a:ea typeface="Amiri" pitchFamily="2" charset="-78"/>
                <a:cs typeface="Amiri" pitchFamily="2" charset="-78"/>
              </a:rPr>
              <a:t>أَنَا سَوْفَ لَا أَعْمَلُ طَبِيبٌ</a:t>
            </a:r>
            <a:pPr algn="l" indent="0" marL="0">
              <a:buNone/>
            </a:pPr>
            <a:r>
              <a:rPr lang="en-US" sz="1250" b="1" dirty="0">
                <a:solidFill>
                  <a:srgbClr val="1F2A37"/>
                </a:solidFill>
                <a:latin typeface="Calibri" pitchFamily="34" charset="0"/>
                <a:cs typeface="Amiri" pitchFamily="2" charset="-78"/>
              </a:rPr>
              <a:t>. </a:t>
            </a:r>
            <a:pPr algn="l" indent="0" marL="0">
              <a:buNone/>
            </a:pPr>
            <a:r>
              <a:rPr lang="ar-SA" altLang="en-US" sz="1650" b="1" dirty="0">
                <a:solidFill>
                  <a:srgbClr val="1F2A37"/>
                </a:solidFill>
                <a:latin typeface="Amiri" pitchFamily="2" charset="-78"/>
                <a:ea typeface="Amiri" pitchFamily="2" charset="-78"/>
                <a:cs typeface="Amiri" pitchFamily="2" charset="-78"/>
              </a:rPr>
              <a:t>أُرِيدُ مُهَنْدِسٌ لِأَنَّهُ جَيِّدٌ</a:t>
            </a:r>
            <a:pPr algn="l" indent="0" marL="0">
              <a:buNone/>
            </a:pPr>
            <a:r>
              <a:rPr lang="en-US" sz="1250" b="1" dirty="0">
                <a:solidFill>
                  <a:srgbClr val="1F2A37"/>
                </a:solidFill>
                <a:latin typeface="Calibri" pitchFamily="34" charset="0"/>
                <a:cs typeface="Amiri" pitchFamily="2" charset="-78"/>
              </a:rPr>
              <a:t>. </a:t>
            </a:r>
            <a:pPr algn="l" indent="0" marL="0">
              <a:buNone/>
            </a:pPr>
            <a:r>
              <a:rPr lang="ar-SA" altLang="en-US" sz="1650" b="1" dirty="0">
                <a:solidFill>
                  <a:srgbClr val="1F2A37"/>
                </a:solidFill>
                <a:latin typeface="Amiri" pitchFamily="2" charset="-78"/>
                <a:ea typeface="Amiri" pitchFamily="2" charset="-78"/>
                <a:cs typeface="Amiri" pitchFamily="2" charset="-78"/>
              </a:rPr>
              <a:t>أَنَا ذَكِيٌّ</a:t>
            </a:r>
            <a:pPr algn="l" indent="0" marL="0">
              <a:buNone/>
            </a:pPr>
            <a:r>
              <a:rPr lang="en-US" sz="1250" b="1" dirty="0">
                <a:solidFill>
                  <a:srgbClr val="1F2A37"/>
                </a:solidFill>
                <a:latin typeface="Calibri" pitchFamily="34" charset="0"/>
                <a:cs typeface="Amiri" pitchFamily="2" charset="-78"/>
              </a:rPr>
              <a:t>.» Rewrite it (about 60–80 words) about YOUR family and plans: fix all four audits, add reasons and evidence, a future route, and a concession.</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تَعْمَلُ …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works as …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أَعْمَلَ … لِأَنَّ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won’t work as … because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أُصْبِحَ … ؛ مَثَلًا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become …; for example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 فَإِنَّنِي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 I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fix every agreement error (job, adjective, verb)?</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 all four audits — prepositions, future and evidence too?</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أُصْبِحَ مُبَرْمِجًا، لِأَنَّنِي أُحِبُّ الحَاسُوبَ، وَلِأَنَّ الرَّاتِبَ جَيِّدٌ.</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to become a programmer, because I love computers and the salary is good.</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الوَظِيفَةُ الَّتِي تُرِيدُهَا؟ وَلِمَاذَا؟</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 إِلَى حَلِّ المُشْكِلَاتِ، وَأَنَا قَوِيٌّ فِيهِ؛ مَثَلًا، صَمَّمْتُ لُعْبَةً صَغِيرَةً.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needs problem-solving, and I’m strong at it — for example, I designed a small game.</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المَهَارَاتُ الَّتِي يَحْتَاجُ إِلَيْهَا؟</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سَأَدْرُسُ عُلُومَ الحَاسُوبِ، ثُمَّ سَأَتَدَرَّبُ فِي شَرِكَةٍ، وَلَنْ أَتَوَقَّفَ عَنِ التَّعَلُّمِ.</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study computer science, then train at a company, and I won’t stop learning.</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سَتَصِلُ إِلَى هَدَفِكَ؟</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المُنَافَسَةُ كَبِيرَةٌ، وَلٰكِنْ عَلَى الرَّغْمِ مِنْ ذٰلِكَ، فَإِنَّنِي وَاثِقٌ مِنْ نَفْسِي.</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competition is big, but despite that, I am confident in myself.</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 التَّحَدِّي الأَكْبَرُ؟</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أُمِّي طَبِيبَةٌ، وَتَعْمَلُ فِي مُسْتَشْفًى كَبِيرٍ فِي مَدِينَتِنَا. هِيَ تُحِبُّ عَمَلَهَا، وَلٰكِنَّ سَاعَاتِهَا طَوِيلَةٌ جِدًّا. لِذٰلِكَ لَنْ أَعْمَلَ طَبِيبًا، لِأَنَّنِي أُرِيدُ وَقْتًا أَكْثَرَ مَعَ أُسْرَتِي. أُرِيدُ أَنْ أُصْبِحَ مُهَنْدِسًا مَدَنِيًّا، لِأَنَّنِي أُحِبُّ الرِّيَاضِيَّاتِ وَالبِنَاءَ. أَنَا دَقِيقٌ؛ مَثَلًا، بَنَيْتُ نَمُوذَجَ جِسْرٍ لِمَشْرُوعِ العُلُومِ وَحَصَلْتُ عَلَى جَائِزَةٍ. سَأَدْرُسُ الهَنْدَسَةَ فِي الجَامِعَةِ، ثُمَّ سَوْفَ أَتَدَرَّبُ فِي شَرِكَةِ بِنَاءٍ. عَلَى الرَّغْمِ مِنْ أَنَّ الدِّرَاسَةَ صَعْبَةٌ، فَإِنَّنِي مُسْتَعِدٌّ.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mother is a doctor and works in a big hospital in our city. She loves her job, but her hours are very long. So I won’t work as a doctor, because I want more time with my family. I want to become a civil engineer, because I love maths and building. I am precise; for example, I built a model bridge for my science project and won a prize. I will study engineering at university, then I will train at a construction company. Although the course is hard, I am ready.”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أُمِّي طَبِيبَةٌ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لَنْ أَعْمَلَ طَبِيبًا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وَحَصَلْتُ عَلَى جَائِزَةٍ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فَإِنَّنِي مُسْتَعِدٌّ</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D3-L12 · Review and Unit Assessment: Work and Careers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D3-L11 · Practice Room — D3 Consolidation — Error Analysis and Assessment Preparation</dc:title>
  <dc:subject>PptxGenJS Presentation</dc:subject>
  <dc:creator>Al Madina Online School · Arabic Department</dc:creator>
  <cp:lastModifiedBy>Al Madina Online School · Arabic Department</cp:lastModifiedBy>
  <cp:revision>1</cp:revision>
  <dcterms:created xsi:type="dcterms:W3CDTF">2026-10-25T18:34:30Z</dcterms:created>
  <dcterms:modified xsi:type="dcterms:W3CDTF">2026-10-25T18:34:30Z</dcterms:modified>
</cp:coreProperties>
</file>