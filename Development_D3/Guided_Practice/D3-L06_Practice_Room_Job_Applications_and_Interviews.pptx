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D3-L06 (Job Applications and Interviews — CV, Skills and Future Plans) — new practice tasks built on the lesson’s own word bank and grammar (formal opening: yasurrunī an ataqaddama li-waẓīfati …; experience: ladayya khibratun fī … · sabaqa lī an + verb in -a; suitability: aʿtaqidu annanī munāsibun / munāsibatun li-hādhihi al-waẓīfa li-anna …; a strength with evidence; a formal close: maʿa fāʾiqi al-iḥtirām).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D3-L06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manager to a girl: تَقَدَّمْتِ · عَمِلْتِ · مَهَارَاتُكِ · تَسْتَطِيعِينَ · مُنَاسِبَةٌ · مُتَاحَةٌ. Formal register: ladayya / sabaqa lī an / aʿtaqidu annanī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(63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D3-L06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Job Applications and Interviews — CV, Skills and Future Plans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طَلَبُ العَمَلِ وَالمُقَابَلَةُ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run their own speaking and writing practice for job applications: say the application phrases, act a short interview, answer interview cards, do a role-play card for a Saturday job interview, give a one-minute “why me?” pitch, then build, fix and write a formal cover letter.</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D3-L06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Applying for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سِيَرٌ ذَاتِيَّةٌ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تَغْطِيَةٍ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 letter</a:t>
            </a:r>
            <a:endParaRPr lang="en-US" sz="1350" dirty="0"/>
          </a:p>
          <a:p>
            <a:pPr indent="0" marL="0">
              <a:buNone/>
            </a:pPr>
            <a:r>
              <a:rPr lang="en-US" sz="1100" i="1" dirty="0">
                <a:solidFill>
                  <a:srgbClr val="5A6472"/>
                </a:solidFill>
                <a:latin typeface="Calibri" pitchFamily="34" charset="0"/>
                <a:cs typeface="Amiri" pitchFamily="2" charset="-78"/>
              </a:rPr>
              <a:t>ri-sā-la-tu tagh-ṭi-ya-tin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 وَظِيفَةٍ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application</a:t>
            </a:r>
            <a:endParaRPr lang="en-US" sz="1350" dirty="0"/>
          </a:p>
          <a:p>
            <a:pPr indent="0" marL="0">
              <a:buNone/>
            </a:pPr>
            <a:r>
              <a:rPr lang="en-US" sz="1100" i="1" dirty="0">
                <a:solidFill>
                  <a:srgbClr val="5A6472"/>
                </a:solidFill>
                <a:latin typeface="Calibri" pitchFamily="34" charset="0"/>
                <a:cs typeface="Amiri" pitchFamily="2" charset="-78"/>
              </a:rPr>
              <a:t>ṭa-la-bu wa-ẓī-fa-tin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طَلَبَاتُ وَظَائِفَ</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إِعْلَانُ وَظِيفَةٍ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advert</a:t>
            </a:r>
            <a:endParaRPr lang="en-US" sz="1350" dirty="0"/>
          </a:p>
          <a:p>
            <a:pPr indent="0" marL="0">
              <a:buNone/>
            </a:pPr>
            <a:r>
              <a:rPr lang="en-US" sz="1100" i="1" dirty="0">
                <a:solidFill>
                  <a:srgbClr val="5A6472"/>
                </a:solidFill>
                <a:latin typeface="Calibri" pitchFamily="34" charset="0"/>
                <a:cs typeface="Amiri" pitchFamily="2" charset="-78"/>
              </a:rPr>
              <a:t>iʿ-lā-nu wa-ẓī-fa-tin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 شَخْصِيَّةٌ</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مُقَابَلَاتٌ</a:t>
            </a:r>
            <a:endParaRPr lang="ar-SA" sz="150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سَابِقَةٌ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previous experience</a:t>
            </a:r>
            <a:endParaRPr lang="en-US" sz="1350" dirty="0"/>
          </a:p>
          <a:p>
            <a:pPr indent="0" marL="0">
              <a:buNone/>
            </a:pPr>
            <a:r>
              <a:rPr lang="en-US" sz="1100" i="1" dirty="0">
                <a:solidFill>
                  <a:srgbClr val="5A6472"/>
                </a:solidFill>
                <a:latin typeface="Calibri" pitchFamily="34" charset="0"/>
                <a:cs typeface="Amiri" pitchFamily="2" charset="-78"/>
              </a:rPr>
              <a:t>khib-ra-tun sā-bi-qa-tun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language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نِقَاطُ قُوَّةٍ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ضَعْفٍ</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weakness</a:t>
            </a:r>
            <a:endParaRPr lang="en-US" sz="1350" dirty="0"/>
          </a:p>
          <a:p>
            <a:pPr indent="0" marL="0">
              <a:buNone/>
            </a:pPr>
            <a:r>
              <a:rPr lang="en-US" sz="1100" i="1" dirty="0">
                <a:solidFill>
                  <a:srgbClr val="5A6472"/>
                </a:solidFill>
                <a:latin typeface="Calibri" pitchFamily="34" charset="0"/>
                <a:cs typeface="Amiri" pitchFamily="2" charset="-78"/>
              </a:rPr>
              <a:t>nuq-ṭa-tu ḍaʿ-fin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يَسُرُّنِي أَنْ أَتَقَدَّمَ</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pleased to apply</a:t>
            </a:r>
            <a:endParaRPr lang="en-US" sz="1350" dirty="0"/>
          </a:p>
          <a:p>
            <a:pPr indent="0" marL="0">
              <a:buNone/>
            </a:pPr>
            <a:r>
              <a:rPr lang="en-US" sz="1100" i="1" dirty="0">
                <a:solidFill>
                  <a:srgbClr val="5A6472"/>
                </a:solidFill>
                <a:latin typeface="Calibri" pitchFamily="34" charset="0"/>
                <a:cs typeface="Amiri" pitchFamily="2" charset="-78"/>
              </a:rPr>
              <a:t>ya-sur-ru-nī an a-ta-qad-da-ma</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مَرْجِعٌ / تَزْكِيَةٌ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reference</a:t>
            </a:r>
            <a:endParaRPr lang="en-US" sz="1350" dirty="0"/>
          </a:p>
          <a:p>
            <a:pPr indent="0" marL="0">
              <a:buNone/>
            </a:pPr>
            <a:r>
              <a:rPr lang="en-US" sz="1100" i="1" dirty="0">
                <a:solidFill>
                  <a:srgbClr val="5A6472"/>
                </a:solidFill>
                <a:latin typeface="Calibri" pitchFamily="34" charset="0"/>
                <a:cs typeface="Amiri" pitchFamily="2" charset="-78"/>
              </a:rPr>
              <a:t>mar-ji-ʿun / taz-ki-ya-tun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الوَظِيفَةِ</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al-wa-ẓī-fa-ti</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Text 5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مُنَاسِبٌ لِهٰذِهِ الوَظِيفَةِ</a:t>
            </a:r>
            <a:endParaRPr lang="ar-SA" sz="3000" dirty="0"/>
          </a:p>
        </p:txBody>
      </p:sp>
      <p:sp>
        <p:nvSpPr>
          <p:cNvPr id="55" name="Text 5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suitable for this job</a:t>
            </a:r>
            <a:endParaRPr lang="en-US" sz="1350" dirty="0"/>
          </a:p>
          <a:p>
            <a:pPr indent="0" marL="0">
              <a:buNone/>
            </a:pPr>
            <a:r>
              <a:rPr lang="en-US" sz="1100" i="1" dirty="0">
                <a:solidFill>
                  <a:srgbClr val="5A6472"/>
                </a:solidFill>
                <a:latin typeface="Calibri" pitchFamily="34" charset="0"/>
                <a:cs typeface="Amiri" pitchFamily="2" charset="-78"/>
              </a:rPr>
              <a:t>a-nā mu-nā-si-bun li-hā-dhi-hi al-wa-ẓī-fa-ti</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short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قَصِيرَةٌ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Welcome. Why did you apply for this job?</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أَهْلًا وَسَهْلًا. لِمَاذَا تَقَدَّمْتِ لِهٰذِهِ الوَظِيفَةِ؟</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 love books, and I think I am suitable for working in the library.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لِأَنَّنِي أُحِبُّ الكُتُبَ، وَأَعْتَقِدُ أَنَّنِي مُنَاسِبَةٌ لِلْعَمَلِ فِي المَكْتَبَةِ.</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previous experience?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لَدَيْكِ خِبْرَةٌ سَابِقَةٌ؟</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 have previously volunteered in the school library for a whole year.</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نَعَمْ، سَبَقَ لِي أَنْ تَطَوَّعْتُ فِي مَكْتَبَةِ المَدْرَسَةِ سَنَةً كَامِلَةً.</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strength?</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نُقْطَةُ قُوَّتِكِ؟</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very organised; for example, I arranged all the library books by subject.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مُنَظَّمَةٌ جِدًّا؛ مَثَلًا، رَتَّبْتُ كُتُبَ المَكْتَبَةِ كُلَّهَا حَسَبَ المَوْضُوعِ.</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the applicant is a BOY — change every -ki and every feminine adjective.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Interview cards — answer formally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lnSpc>
                <a:spcPct val="120000"/>
              </a:lnSpc>
              <a:buNone/>
            </a:pPr>
            <a:r>
              <a:rPr lang="ar-SA" altLang="en-US" sz="1350" b="1" dirty="0">
                <a:solidFill>
                  <a:srgbClr val="1B3B6F"/>
                </a:solidFill>
                <a:latin typeface="Amiri" pitchFamily="2" charset="-78"/>
                <a:ea typeface="Amiri" pitchFamily="2" charset="-78"/>
                <a:cs typeface="Amiri" pitchFamily="2" charset="-78"/>
              </a:rPr>
              <a:t>… وَأَهْتَمُّ بِالرِّيَاضَةِ / بِالقِرَاءَةِ</a:t>
            </a:r>
            <a:endParaRPr lang="ar-SA" sz="135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 وَعُمْرِي … ، وَأَدْرُسُ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عَرِّفْنَا بِنَفْسِكَ.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وَأُرِيدُ أَنْ أَكْسِبَ خِبْرَةً</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لِأَنَّنِي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want this job?</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تُرِيدُ هٰذِهِ الوَظِيفَةَ؟</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لِمُدَّةِ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سَبَقَ لِي أَنْ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previous experience?</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لَدَيْكَ خِبْرَةٌ سَابِقَةٌ؟</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أَمَّا نُقْطَةُ ضَعْفِي فَ…</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نُقْطَةُ قُوَّتِي … ؛ مَثَلًا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strength and your weakness?</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نُقْطَةُ قُوَّتِكَ وَنُقْطَةُ ضَعْفِكَ؟</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لِأَنَّنِي أَطْمَحُ إِلَى أَنْ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سَأَكُونُ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see yourself in five years?</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تَرَى نَفْسَكَ بَعْدَ خَمْسِ سَنَوَاتٍ؟</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Role-play card — a Saturday job at a sports shop</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عَمَلٌ يَوْمَ السَّبْتِ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لِأَنَّنِي أُحِبُّ … وَأَعْتَقِدُ أَنَّنِي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 interest.</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تَقَدَّمْتَ لِهٰذَا العَمَلِ؟</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 سَبَقَ لِي أَنْ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Experience.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عَمِلْتَ مَعَ الزَّبَائِنِ مِنْ قَبْلُ؟</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skills + evidence.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مَهَارَاتُكَ؟</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politely.</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تَسْتَطِيعُ أَنْ تَعْمَلَ يَوْمَ الأَحَدِ أَيْضًا؟</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applicant · Leader = the shop manager.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“Why 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لِمَاذَا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Pitch yourself for a job of your choice for one minute: who you are, why this job, experience, two strengths with evidence, and your plans.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you are + why this job + one strength.</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سَبَقَ لِي أَنْ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أَعْتَقِدُ أَنَّنِي مُنَاسِبٌ / مُنَاسِبَةٌ</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evidence for two strengths, a weakness you are improving, and a future plan.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pleased to apply for the job of assistant.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يَسُرُّنِي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يَسُرُّنِيَ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أَتَقَدَّمَ</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أَتَقَدَّمُ</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لِوَظِيفَةِ مُسَاعِدٍ.</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لِوَظِيفَةُ مُسَاعِدٌ.</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have previously worked in a café.</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سَبَقَ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سَوْفَ</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 أَنْ</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عَمِلْتُ فِي مَقْهًى.</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أَعْمَلُ فِي مَقْهًى.</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think I am suitable (f.) for this job.</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أَعْتَقِدُ</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أَعْتَقِدَ</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أَنَّنِي مُنَاسِبَةٌ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أَنَّنِي مُنَاسِبٌ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لِهٰذِهِ الوَظِيفَةِ.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لِهٰذَا الوَظِيفَةِ.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pleased to apply for the job of assistant.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a:t>
            </a:r>
            <a:pPr algn="l" indent="0" marL="0">
              <a:buNone/>
            </a:pPr>
            <a:r>
              <a:rPr lang="ar-SA" altLang="en-US" sz="1350" dirty="0">
                <a:solidFill>
                  <a:srgbClr val="5A6472"/>
                </a:solidFill>
                <a:latin typeface="Amiri" pitchFamily="2" charset="-78"/>
                <a:ea typeface="Amiri" pitchFamily="2" charset="-78"/>
                <a:cs typeface="Amiri" pitchFamily="2" charset="-78"/>
              </a:rPr>
              <a:t>لِ</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يَسُرُّنِي أَنْ أَتَقَدَّمَ لِوَظِيفَةِ مُسَاعِدٍ.</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have previously worked in a café.</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سَبَقَ لِي أَنْ</a:t>
            </a:r>
            <a:pPr algn="l" indent="0" marL="0">
              <a:buNone/>
            </a:pPr>
            <a:r>
              <a:rPr lang="en-US" sz="1050" i="1" dirty="0">
                <a:solidFill>
                  <a:srgbClr val="5A6472"/>
                </a:solidFill>
                <a:latin typeface="Calibri" pitchFamily="34" charset="0"/>
                <a:cs typeface="Amiri" pitchFamily="2" charset="-78"/>
              </a:rPr>
              <a:t> + past = I have done … before.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سَبَقَ لِي أَنْ عَمِلْتُ فِي مَقْهًى.</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think I am suitable (f.) for this job.</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Female speaker → </a:t>
            </a:r>
            <a:pPr algn="l" indent="0" marL="0">
              <a:buNone/>
            </a:pPr>
            <a:r>
              <a:rPr lang="ar-SA" altLang="en-US" sz="1350" dirty="0">
                <a:solidFill>
                  <a:srgbClr val="5A6472"/>
                </a:solidFill>
                <a:latin typeface="Amiri" pitchFamily="2" charset="-78"/>
                <a:ea typeface="Amiri" pitchFamily="2" charset="-78"/>
                <a:cs typeface="Amiri" pitchFamily="2" charset="-78"/>
              </a:rPr>
              <a:t>مُنَاسِبَةٌ</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وَظِيفَةٌ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هٰذِهِ</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أَعْتَقِدُ أَنَّنِي مُنَاسِبَةٌ لِهٰذِهِ الوَظِيفَةِ.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يَسُرُّنِي أَنْ أَتَقَدَّمُ لِلْوَظِيفَةِ.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لَدَيَّ خِبْرَةٌ مَعَ الحَاسُوبِ.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Experience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مُنَظَّمٌ.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Prove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يَسُرُّنِي أَنْ أَتَقَدَّمُ لِلْوَظِيفَةِ.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يَسُرُّنِي أَنْ أَتَقَدَّمَ لِلْوَظِيفَةِ.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لَدَيَّ خِبْرَةٌ مَعَ الحَاسُوبِ.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لَدَيَّ خِبْرَةٌ فِي الحَاسُوبِ.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خِبْرَةٌ فِي …</a:t>
            </a:r>
            <a:endParaRPr lang="ar-SA" sz="14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مُنَظَّمٌ.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مُنَظَّمٌ؛ مَثَلًا، أُخَطِّطُ أُسْبُوعِي كُلَّ أَحَدٍ.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strength needs evidence.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نُقْطَةُ قُوَّتِي ______ ؛ مَثَلًا،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strength is …; 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أَنَا مُتَاحٌ / مُتَاحَةٌ ______ ، وَأَتَطَلَّعُ إِلَى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available …, and I look forward to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حَضْرَةَ المُدِيرِ المُحْتَرَمِ،</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Dear Manager,</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يَسُرُّنِي أَنْ أَتَقَدَّمَ لِوَظِيفَةِ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pleased to apply for the job of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سَبَقَ لِي 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previously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أَعْتَقِدُ أَنَّنِي مُنَاسِبٌ / مُنَاسِبَةٌ لِأَنَّ ______ .</a:t>
            </a:r>
            <a:endParaRPr lang="ar-SA" sz="175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believe I am suitable because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سِيرَةٌ ذَاتِيَّةٌ  ·  رِسَالَةُ تَغْطِيَةٍ  ·  خِبْرَةٌ سَابِقَةٌ  ·  نُقْطَةُ قُوَّةٍ  ·  يَسُرُّنِي أَنْ أَتَقَدَّمَ  ·  سَبَقَ لِي أَنْ  ·  أَعْتَقِدُ أَنَّنِي  ·  مَعَ فَائِقِ الاحْتِرَامِ</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formal cover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تَغْطِيَةٍ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saw an advert for a summer job at a children’s club. Write a formal cover letter (about 60–80 words). Include: • a formal opening and the job you are applying for • your experience (</a:t>
            </a:r>
            <a:pPr algn="l" indent="0" marL="0">
              <a:buNone/>
            </a:pPr>
            <a:r>
              <a:rPr lang="ar-SA" altLang="en-US" sz="1450" b="1" dirty="0">
                <a:solidFill>
                  <a:srgbClr val="1F2A37"/>
                </a:solidFill>
                <a:latin typeface="Amiri" pitchFamily="2" charset="-78"/>
                <a:ea typeface="Amiri" pitchFamily="2" charset="-78"/>
                <a:cs typeface="Amiri" pitchFamily="2" charset="-78"/>
              </a:rPr>
              <a:t>سَبَقَ لِي أَنْ</a:t>
            </a:r>
            <a:pPr algn="l" indent="0" marL="0">
              <a:buNone/>
            </a:pPr>
            <a:r>
              <a:rPr lang="en-US" sz="1100" b="1" dirty="0">
                <a:solidFill>
                  <a:srgbClr val="1F2A37"/>
                </a:solidFill>
                <a:latin typeface="Calibri" pitchFamily="34" charset="0"/>
                <a:cs typeface="Amiri" pitchFamily="2" charset="-78"/>
              </a:rPr>
              <a:t> …) • two skills or strengths with evidence • why you are suitable (</a:t>
            </a:r>
            <a:pPr algn="l" indent="0" marL="0">
              <a:buNone/>
            </a:pPr>
            <a:r>
              <a:rPr lang="ar-SA" altLang="en-US" sz="1450" b="1" dirty="0">
                <a:solidFill>
                  <a:srgbClr val="1F2A37"/>
                </a:solidFill>
                <a:latin typeface="Amiri" pitchFamily="2" charset="-78"/>
                <a:ea typeface="Amiri" pitchFamily="2" charset="-78"/>
                <a:cs typeface="Amiri" pitchFamily="2" charset="-78"/>
              </a:rPr>
              <a:t>أَعْتَقِدُ أَنَّنِي</a:t>
            </a:r>
            <a:pPr algn="l" indent="0" marL="0">
              <a:buNone/>
            </a:pPr>
            <a:r>
              <a:rPr lang="en-US" sz="1100" b="1" dirty="0">
                <a:solidFill>
                  <a:srgbClr val="1F2A37"/>
                </a:solidFill>
                <a:latin typeface="Calibri" pitchFamily="34" charset="0"/>
                <a:cs typeface="Amiri" pitchFamily="2" charset="-78"/>
              </a:rPr>
              <a:t> …) • your availability and a formal close.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حَضْرَةَ المُدِيرِ المُحْتَرَمِ،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Manager,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يَسُرُّنِي أَنْ أَتَقَدَّمَ لِوَظِيفَةِ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pleased to apply for the job of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سَبَقَ لِي أَنْ … · لَدَيَّ خِبْرَةٌ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previously … · I have experience in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فَائِقِ الاحْتِرَامِ،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Yours faithfully,</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 formal opening and close, and say which job you want?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سَبَقَ لِي أَنْ</a:t>
            </a:r>
            <a:pPr algn="l" indent="0" marL="0">
              <a:buNone/>
            </a:pPr>
            <a:r>
              <a:rPr lang="en-US" sz="1100" dirty="0">
                <a:solidFill>
                  <a:srgbClr val="5A6472"/>
                </a:solidFill>
                <a:latin typeface="Calibri" pitchFamily="34" charset="0"/>
                <a:cs typeface="Amiri" pitchFamily="2" charset="-78"/>
              </a:rPr>
              <a:t>, </a:t>
            </a:r>
            <a:pPr algn="l" indent="0" marL="0">
              <a:buNone/>
            </a:pPr>
            <a:r>
              <a:rPr lang="ar-SA" altLang="en-US" sz="1450" dirty="0">
                <a:solidFill>
                  <a:srgbClr val="5A6472"/>
                </a:solidFill>
                <a:latin typeface="Amiri" pitchFamily="2" charset="-78"/>
                <a:ea typeface="Amiri" pitchFamily="2" charset="-78"/>
                <a:cs typeface="Amiri" pitchFamily="2" charset="-78"/>
              </a:rPr>
              <a:t>أَعْتَقِدُ أَنَّنِي</a:t>
            </a:r>
            <a:pPr algn="l" indent="0" marL="0">
              <a:buNone/>
            </a:pPr>
            <a:r>
              <a:rPr lang="en-US" sz="1100" dirty="0">
                <a:solidFill>
                  <a:srgbClr val="5A6472"/>
                </a:solidFill>
                <a:latin typeface="Calibri" pitchFamily="34" charset="0"/>
                <a:cs typeface="Amiri" pitchFamily="2" charset="-78"/>
              </a:rPr>
              <a:t> … and evidence for each strength?</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أُحِبُّ الرِّيَاضَةَ، وَأَعْتَقِدُ أَنَّنِي مُنَاسِبٌ لِهٰذَا العَمَلِ.</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 love sport, and I believe I am suitable for this job.</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تَقَدَّمْتَ لِهٰذَا العَمَلِ؟</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سَبَقَ لِي أَنْ عَمِلْتُ فِي سُوقِ المَدْرَسَةِ الخَيْرِيِّ.</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have worked at the school charity market before.</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عَمِلْتَ مَعَ الزَّبَائِنِ مِنْ قَبْلُ؟</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مَهَارَةُ التَّوَاصُلِ، وَأُجِيدُ اللُّغَتَيْنِ العَرَبِيَّةَ وَالإِنْجِلِيزِيَّةَ.</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communication skills, and I speak Arabic and English well.</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مَهَارَاتُكَ؟</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لِلْأَسَفِ لَا، لِأَنَّنِي أُرَاجِعُ دُرُوسِي يَوْمَ الأَحَدِ، وَلٰكِنَّنِي مُتَاحٌ فِي العُطَلِ.</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Unfortunately not, because I revise on Sundays, but I am available in the holidays.</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تَسْتَطِيعُ أَنْ تَعْمَلَ يَوْمَ الأَحَدِ أَيْضًا؟</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حَضْرَةَ المُدِيرِ المُحْتَرَمِ،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يَسُرُّنِي أَنْ أَتَقَدَّمَ لِوَظِيفَةِ مُسَاعِدٍ فِي نَادِي الأَطْفَالِ الصَّيْفِيِّ. سَبَقَ لِي أَنْ تَطَوَّعْتُ فِي حَضَانَةٍ قَرِيبَةٍ مِنْ بَيْتِي لِمُدَّةِ سِتَّةِ أَشْهُرٍ. لَدَيَّ مَهَارَةُ التَّوَاصُلِ، وَأَنَا صَبُورٌ جِدًّا؛ مَثَلًا، أُسَاعِدُ إِخْوَتِي الصِّغَارَ فِي وَاجِبَاتِهِمْ كُلَّ يَوْمٍ. أَعْتَقِدُ أَنَّنِي مُنَاسِبٌ لِهٰذِهِ الوَظِيفَةِ، لِأَنَّنِي نَشِيطٌ وَمَسْؤُولٌ وَأُحِبُّ الأَلْعَابَ الجَمَاعِيَّةَ. أَنَا مُتَاحٌ طُوَالَ شَهْرَيْ يُولْيُو وَأُغُسْطُسَ، وَأَتَطَلَّعُ إِلَى المُقَابَلَةِ.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فَائِقِ الاحْتِرَامِ،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بِلَالٌ أَحْمَدُ</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Manager, I am pleased to apply for the job of assistant at the children’s summer club. I have previously volunteered at a nursery near my home for six months. I have communication skills, and I am very patient; for example, I help my younger siblings with their homework every day. I believe I am suitable for this job, because I am energetic, responsible and love team games. I am available throughout July and August, and I look forward to the interview. Yours faithfully, Bilal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يَسُرُّنِي أَنْ أَتَقَدَّمَ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سَبَقَ لِي أَنْ تَطَوَّعْتُ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أَعْتَقِدُ أَنَّنِي مُنَاسِبٌ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فَائِقِ الاحْتِرَامِ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D3-L06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D3-L07 · Arabic Proverbs and Values — Work Ethic and Success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الأَمْثَالُ العَرَبِيَّةُ وَالقِيَمُ — أَخْلَاقِيَّاتُ العَمَلِ وَالنَّجَاحُ</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D3-L06 · Practice Room — Job Applications and Interviews — CV, Skills and Future Plans</dc:title>
  <dc:subject>PptxGenJS Presentation</dc:subject>
  <dc:creator>Al Madina Online School · Arabic Department</dc:creator>
  <cp:lastModifiedBy>Al Madina Online School · Arabic Department</cp:lastModifiedBy>
  <cp:revision>1</cp:revision>
  <dcterms:created xsi:type="dcterms:W3CDTF">2026-10-25T18:34:29Z</dcterms:created>
  <dcterms:modified xsi:type="dcterms:W3CDTF">2026-10-25T18:34:29Z</dcterms:modified>
</cp:coreProperties>
</file>