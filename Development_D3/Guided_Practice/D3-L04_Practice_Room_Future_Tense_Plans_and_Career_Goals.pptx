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D3-L04 (The Future Tense — Plans, Ambitions and Career Goals) — new practice tasks built on the lesson’s own word bank and grammar (future with sa- (sa-adrusu) and sawfa (sawfa atadarrabu); negative future lan + verb in -a; ambition: aṭmaḥu ilā an · anwī an · urīdu an uṣbiḥa + noun in -an; purpose: li-kay / ḥattā + verb in -a; condition: idhā najaḥtu, fa-sa- …).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D3-L04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to a girl: طُمُوحُكِ · خُطَّتُكِ · تَحْصُلِي · أُصْبِحَ مُهَنْدِسَةً مِعْمَارِيَّةً. uṣbiḥa + job in -an; lan + verb in -a (lan astaslima).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D3-L04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The Future Tense — Plans, Ambitions and Career Goals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خُطَطِي لِلْمُسْتَقْبَلِ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run their own speaking and writing practice about future plans: say the future phrases, act a short dialogue, answer question cards, do a role-play card with a careers adviser, give a one-minute “my next ten years” talk, then build, fix and write a career-plan post with purposes and conditions.</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D3-L04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plans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سَأَدْرُسُ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سَتَدْرُسُ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سَيَدْرُسُ</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سَأَدْرُسُ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 أَتَدَرَّبُ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تَتَدَرَّبُ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يَتَدَرَّبُ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أَتَدَرَّبُ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أُصْبِحَ</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تُرِيدُ أَنْ تُصْبِحَ</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يُرِيدُ أَنْ يُصْبِحَ</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أُصْبِحَ</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 أَنْ</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تَطْمَحُ</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يَطْمَحُ</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أَطْمَحُ</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تَنْوِي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يَنْوِي</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أَنْوِي</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أُخَطِّطُ لِـ</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تُخَطِّطُ</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يُخَطِّطُ</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أُخَطِّطُ</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plans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نَجَحْتُ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المُحْتَمَلِ أَنْ</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will you do after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سَتَفْعَلِينَ بَعْدَ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you do after secondary school?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سَتَفْعَلِينَ بَعْدَ المَدْرَسَةِ الثَّانَوِيَّةِ؟</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study pharmacy at university.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سَأَدْرُسُ الصَّيْدَلَةَ فِي الجَامِعَةِ.</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pharmacy?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لِمَاذَا الصَّيْدَلَةُ؟</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 aspire to become a pharmacist, to help people.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لِأَنَّنِي أَطْمَحُ إِلَى أَنْ أُصْبِحَ صَيْدَلَانِيَّةً، لِكَيْ أُسَاعِدَ النَّاسَ.</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after graduation?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وَبَعْدَ التَّخَرُّجِ؟</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I succeed, I will work in a nearby pharmacy, and I won’t travel far from my family.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إِذَا نَجَحْتُ، فَسَوْفَ أَعْمَلُ فِي صَيْدَلِيَّةٍ قَرِيبَةٍ، وَلَنْ أُسَافِرَ بَعِيدًا عَنْ أُسْرَتِي.</a:t>
            </a:r>
            <a:endParaRPr lang="ar-SA" sz="19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give YOUR real plan — one sa-, one sawfa, one lan.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سَأَدْرُسُ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you study in the future?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سَتَدْرُسُ فِي المُسْتَقْبَلِ؟</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أَنْ أُصْبِحَ … ← طَيَّارًا / طَيَّارَةً</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want to become?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تُرِيدُ أَنْ تُصْبِحَ؟</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لَنْ أَعْمَلَ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you never do in your job?</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لَنْ تَفْعَلَهُ أَبَدًا فِي عَمَلِكَ؟</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مَعَ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نَجَحْتُ، فَسَأُسَافِرُ / فَسَوْفَ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you do if you pass your exams?</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سَتَفْعَلُ إِذَا نَجَحْتَ فِي امْتِحَانَاتِكَ؟</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وَمِنَ المُحْتَمَلِ أَنْ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سَأَكُونُ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will you be in ten years?</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سَتَكُونُ بَعْدَ عَشْرِ سَنَوَاتٍ؟</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Role-play card — meeting the careers adviser</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 مُسْتَشَارِ المِهَنِ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طُمُوحِي ← أَطْمَحُ إِلَى أَنْ أُصْبِحَ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Ambition.</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طُمُوحُكَ؟</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خُطَّتِي ← سَأَدْرُسُ … ثُمَّ سَوْفَ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future steps.</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خُطَّتُكَ لِلسَّنَتَيْنِ القَادِمَتَيْنِ؟</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 with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الفَنُّ؟</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B.</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وَإِذَا لَمْ تَحْصُلْ عَلَى الدَّرَجَاتِ المَطْلُوبَةِ؟</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Year 11 student · Leader = the careers adviser.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my next ten years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السَّنَوَاتُ العَشْرُ القَادِمَةُ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your plans: study, training, job, where you will live — with at least five future verbs.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future verbs (sa- or </a:t>
            </a:r>
            <a:pPr algn="l" indent="0" marL="0">
              <a:buNone/>
            </a:pPr>
            <a:r>
              <a:rPr lang="ar-SA" altLang="en-US" sz="1500" dirty="0">
                <a:solidFill>
                  <a:srgbClr val="1F2A37"/>
                </a:solidFill>
                <a:latin typeface="Amiri" pitchFamily="2" charset="-78"/>
                <a:ea typeface="Amiri" pitchFamily="2" charset="-78"/>
                <a:cs typeface="Amiri" pitchFamily="2" charset="-78"/>
              </a:rPr>
              <a:t>سَوْفَ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أَطْمَحُ إِلَى أَنْ</a:t>
            </a:r>
            <a:pPr algn="l" indent="0" marL="0">
              <a:buNone/>
            </a:pPr>
            <a:r>
              <a:rPr lang="en-US" sz="1150" dirty="0">
                <a:solidFill>
                  <a:srgbClr val="1F2A37"/>
                </a:solidFill>
                <a:latin typeface="Calibri" pitchFamily="34" charset="0"/>
                <a:cs typeface="Amiri" pitchFamily="2" charset="-78"/>
              </a:rPr>
              <a:t> … and a purpose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إِذَا … فَسَوْفَ</a:t>
            </a:r>
            <a:pPr algn="l" indent="0" marL="0">
              <a:buNone/>
            </a:pPr>
            <a:r>
              <a:rPr lang="en-US" sz="1150" dirty="0">
                <a:solidFill>
                  <a:srgbClr val="1F2A37"/>
                </a:solidFill>
                <a:latin typeface="Calibri" pitchFamily="34" charset="0"/>
                <a:cs typeface="Amiri" pitchFamily="2" charset="-78"/>
              </a:rPr>
              <a:t> … , a negative future (</a:t>
            </a:r>
            <a:pPr algn="l" indent="0" marL="0">
              <a:buNone/>
            </a:pPr>
            <a:r>
              <a:rPr lang="ar-SA" altLang="en-US" sz="1500" dirty="0">
                <a:solidFill>
                  <a:srgbClr val="1F2A37"/>
                </a:solidFill>
                <a:latin typeface="Amiri" pitchFamily="2" charset="-78"/>
                <a:ea typeface="Amiri" pitchFamily="2" charset="-78"/>
                <a:cs typeface="Amiri" pitchFamily="2" charset="-78"/>
              </a:rPr>
              <a:t>لَنْ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مِنَ المُحْتَمَلِ 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will study medicine so that I become a doctor.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سَأَدْرُسُ الطِّبَّ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دَرَسْتُ الطِّبَّ</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أُصْبِحَ طَبِيبًا.</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أُصْبِحُ طَبِيبٌ.</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won’t work in an office.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أَعْمَلَ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أَعْمَلُ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مَكْتَبٍ.</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مَكْتَبٌ.</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If I succeed, I will travel to Jordan.</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نَجَحْتُ،</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أَنْجَحُ،</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سَوْفَ لَا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أُسَافِرُ إِلَى الأُرْدُنِّ.</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أُسَافِرَ إِلَى الأُرْدُنِّ.</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will study medicine so that I become a doctor.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Future sa-;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-a; </a:t>
            </a:r>
            <a:pPr algn="l" indent="0" marL="0">
              <a:buNone/>
            </a:pPr>
            <a:r>
              <a:rPr lang="ar-SA" altLang="en-US" sz="1350" dirty="0">
                <a:solidFill>
                  <a:srgbClr val="5A6472"/>
                </a:solidFill>
                <a:latin typeface="Amiri" pitchFamily="2" charset="-78"/>
                <a:ea typeface="Amiri" pitchFamily="2" charset="-78"/>
                <a:cs typeface="Amiri" pitchFamily="2" charset="-78"/>
              </a:rPr>
              <a:t>أُصْبِحَ</a:t>
            </a:r>
            <a:pPr algn="l" indent="0" marL="0">
              <a:buNone/>
            </a:pPr>
            <a:r>
              <a:rPr lang="en-US" sz="1050" i="1" dirty="0">
                <a:solidFill>
                  <a:srgbClr val="5A6472"/>
                </a:solidFill>
                <a:latin typeface="Calibri" pitchFamily="34" charset="0"/>
                <a:cs typeface="Amiri" pitchFamily="2" charset="-78"/>
              </a:rPr>
              <a:t> + -an.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سَأَدْرُسُ الطِّبَّ لِكَيْ أُصْبِحَ طَبِيبًا.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won’t work in an office.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Negative future = </a:t>
            </a:r>
            <a:pPr algn="l" indent="0" marL="0">
              <a:buNone/>
            </a:pPr>
            <a:r>
              <a:rPr lang="ar-SA" altLang="en-US" sz="1350" dirty="0">
                <a:solidFill>
                  <a:srgbClr val="5A6472"/>
                </a:solidFill>
                <a:latin typeface="Amiri" pitchFamily="2" charset="-78"/>
                <a:ea typeface="Amiri" pitchFamily="2" charset="-78"/>
                <a:cs typeface="Amiri" pitchFamily="2" charset="-78"/>
              </a:rPr>
              <a:t>لَنْ</a:t>
            </a:r>
            <a:pPr algn="l" indent="0" marL="0">
              <a:buNone/>
            </a:pPr>
            <a:r>
              <a:rPr lang="en-US" sz="1050" i="1" dirty="0">
                <a:solidFill>
                  <a:srgbClr val="5A6472"/>
                </a:solidFill>
                <a:latin typeface="Calibri" pitchFamily="34" charset="0"/>
                <a:cs typeface="Amiri" pitchFamily="2" charset="-78"/>
              </a:rPr>
              <a:t> + verb in -a.</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لَنْ أَعْمَلَ فِي مَكْتَبٍ.</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If I succeed, I will travel to Jordan.</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إِذَا</a:t>
            </a:r>
            <a:pPr algn="l" indent="0" marL="0">
              <a:buNone/>
            </a:pPr>
            <a:r>
              <a:rPr lang="en-US" sz="1050" i="1" dirty="0">
                <a:solidFill>
                  <a:srgbClr val="5A6472"/>
                </a:solidFill>
                <a:latin typeface="Calibri" pitchFamily="34" charset="0"/>
                <a:cs typeface="Amiri" pitchFamily="2" charset="-78"/>
              </a:rPr>
              <a:t> + past; answer with fa- + future.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إِذَا نَجَحْتُ، فَسَوْفَ أُسَافِرُ إِلَى الأُرْدُنِّ.</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سَوْفَ لَا أَعْمَلُ فِي البَنْكِ.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Negative future.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أَنْ أُصْبِحَ مُهَنْدِسٌ.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أُصْبِحَ</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أَطْمَحُ أَنْ أَدْرُسَ فِي الخَارِجِ.</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سَوْفَ لَا أَعْمَلُ فِي البَنْكِ.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لَنْ أَعْمَلَ فِي البَنْكِ.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Won’t = </a:t>
            </a:r>
            <a:pPr algn="l" indent="0" marL="0">
              <a:buNone/>
            </a:pPr>
            <a:r>
              <a:rPr lang="ar-SA" altLang="en-US" sz="1500" b="1" dirty="0">
                <a:solidFill>
                  <a:srgbClr val="1B3B6F"/>
                </a:solidFill>
                <a:latin typeface="Amiri" pitchFamily="2" charset="-78"/>
                <a:ea typeface="Amiri" pitchFamily="2" charset="-78"/>
                <a:cs typeface="Amiri" pitchFamily="2" charset="-78"/>
              </a:rPr>
              <a:t>لَنْ</a:t>
            </a:r>
            <a:pPr algn="l" indent="0" marL="0">
              <a:buNone/>
            </a:pPr>
            <a:r>
              <a:rPr lang="en-US" sz="1150" b="1" dirty="0">
                <a:solidFill>
                  <a:srgbClr val="1B3B6F"/>
                </a:solidFill>
                <a:latin typeface="Calibri" pitchFamily="34" charset="0"/>
                <a:cs typeface="Amiri" pitchFamily="2" charset="-78"/>
              </a:rPr>
              <a:t> + -a (not </a:t>
            </a:r>
            <a:pPr algn="l" indent="0" marL="0">
              <a:buNone/>
            </a:pPr>
            <a:r>
              <a:rPr lang="ar-SA" altLang="en-US" sz="1500" b="1" dirty="0">
                <a:solidFill>
                  <a:srgbClr val="1B3B6F"/>
                </a:solidFill>
                <a:latin typeface="Amiri" pitchFamily="2" charset="-78"/>
                <a:ea typeface="Amiri" pitchFamily="2" charset="-78"/>
                <a:cs typeface="Amiri" pitchFamily="2" charset="-78"/>
              </a:rPr>
              <a:t>سَوْفَ لَا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أَنْ أُصْبِحَ مُهَنْدِسٌ.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أَنْ أُصْبِحَ مُهَنْدِسًا.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أُصْبِحَ</a:t>
            </a:r>
            <a:pPr algn="l" indent="0" marL="0">
              <a:buNone/>
            </a:pPr>
            <a:r>
              <a:rPr lang="en-US" sz="1150" b="1" dirty="0">
                <a:solidFill>
                  <a:srgbClr val="1B3B6F"/>
                </a:solidFill>
                <a:latin typeface="Calibri" pitchFamily="34" charset="0"/>
                <a:cs typeface="Amiri" pitchFamily="2" charset="-78"/>
              </a:rPr>
              <a:t> +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أَطْمَحُ أَنْ أَدْرُسَ فِي الخَارِجِ.</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أَطْمَحُ إِلَى أَنْ أَدْرُسَ فِي الخَارِجِ.</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أَطْمَحُ إِلَى أَنْ …</a:t>
            </a:r>
            <a:endParaRPr lang="ar-SA" sz="14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نَجَحْتُ، فَسَوْفَ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succeed, I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وَإِذَا لَمْ أَنْجَحْ،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if I don’t succeed,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أُصْبِحَ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become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______ فِي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study … 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سَوْفَ ______ لِكَيْ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will … in order to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______ ، لِأَنَّ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won’t …, because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algn="l" indent="0" marL="0">
              <a:buNone/>
            </a:pPr>
            <a:r>
              <a:rPr lang="ar-SA" altLang="en-US" sz="2000" b="1" dirty="0">
                <a:solidFill>
                  <a:srgbClr val="1B3B6F"/>
                </a:solidFill>
                <a:latin typeface="Amiri" pitchFamily="2" charset="-78"/>
                <a:ea typeface="Amiri" pitchFamily="2" charset="-78"/>
                <a:cs typeface="Amiri" pitchFamily="2" charset="-78"/>
              </a:rPr>
              <a:t>سَأَدْرُسُ</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سَوْفَ أَتَدَرَّبُ</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أُرِيدُ أَنْ أُصْبِحَ</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أَطْمَحُ إِلَى أَنْ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أَنْوِي أَنْ</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بَعْدَ التَّخَرُّجِ</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لِكَيْ</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حَتَّى</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لَنْ</a:t>
            </a:r>
            <a:pPr algn="l" indent="0" marL="0">
              <a:buNone/>
            </a:pPr>
            <a:r>
              <a:rPr lang="en-US" sz="1550" b="1" dirty="0">
                <a:solidFill>
                  <a:srgbClr val="1B3B6F"/>
                </a:solidFill>
                <a:latin typeface="Calibri" pitchFamily="34" charset="0"/>
                <a:cs typeface="Amiri" pitchFamily="2" charset="-78"/>
              </a:rPr>
              <a:t> + -a</a:t>
            </a:r>
            <a:endParaRPr lang="en-US" sz="15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post: my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مَنْشُورٌ: 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post (about 60–80 words) for a careers forum about your plans. Include: • your ambition (</a:t>
            </a:r>
            <a:pPr algn="l" indent="0" marL="0">
              <a:buNone/>
            </a:pPr>
            <a:r>
              <a:rPr lang="ar-SA" altLang="en-US" sz="1750" b="1" dirty="0">
                <a:solidFill>
                  <a:srgbClr val="1F2A37"/>
                </a:solidFill>
                <a:latin typeface="Amiri" pitchFamily="2" charset="-78"/>
                <a:ea typeface="Amiri" pitchFamily="2" charset="-78"/>
                <a:cs typeface="Amiri" pitchFamily="2" charset="-78"/>
              </a:rPr>
              <a:t>أَطْمَحُ إِلَى أَنْ</a:t>
            </a:r>
            <a:pPr algn="l" indent="0" marL="0">
              <a:buNone/>
            </a:pPr>
            <a:r>
              <a:rPr lang="en-US" sz="1350" b="1" dirty="0">
                <a:solidFill>
                  <a:srgbClr val="1F2A37"/>
                </a:solidFill>
                <a:latin typeface="Calibri" pitchFamily="34" charset="0"/>
                <a:cs typeface="Amiri" pitchFamily="2" charset="-78"/>
              </a:rPr>
              <a:t> …) • three future steps with sa- / </a:t>
            </a:r>
            <a:pPr algn="l" indent="0" marL="0">
              <a:buNone/>
            </a:pPr>
            <a:r>
              <a:rPr lang="ar-SA" altLang="en-US" sz="1750" b="1" dirty="0">
                <a:solidFill>
                  <a:srgbClr val="1F2A37"/>
                </a:solidFill>
                <a:latin typeface="Amiri" pitchFamily="2" charset="-78"/>
                <a:ea typeface="Amiri" pitchFamily="2" charset="-78"/>
                <a:cs typeface="Amiri" pitchFamily="2" charset="-78"/>
              </a:rPr>
              <a:t>سَوْفَ</a:t>
            </a:r>
            <a:pPr algn="l" indent="0" marL="0">
              <a:buNone/>
            </a:pPr>
            <a:r>
              <a:rPr lang="en-US" sz="1350" b="1" dirty="0">
                <a:solidFill>
                  <a:srgbClr val="1F2A37"/>
                </a:solidFill>
                <a:latin typeface="Calibri" pitchFamily="34" charset="0"/>
                <a:cs typeface="Amiri" pitchFamily="2" charset="-78"/>
              </a:rPr>
              <a:t> • two purposes (</a:t>
            </a:r>
            <a:pPr algn="l" indent="0" marL="0">
              <a:buNone/>
            </a:pPr>
            <a:r>
              <a:rPr lang="ar-SA" altLang="en-US" sz="1750" b="1" dirty="0">
                <a:solidFill>
                  <a:srgbClr val="1F2A37"/>
                </a:solidFill>
                <a:latin typeface="Amiri" pitchFamily="2" charset="-78"/>
                <a:ea typeface="Amiri" pitchFamily="2" charset="-78"/>
                <a:cs typeface="Amiri" pitchFamily="2" charset="-78"/>
              </a:rPr>
              <a:t>لِكَيْ / حَتَّى</a:t>
            </a:r>
            <a:pPr algn="l" indent="0" marL="0">
              <a:buNone/>
            </a:pPr>
            <a:r>
              <a:rPr lang="en-US" sz="1350" b="1" dirty="0">
                <a:solidFill>
                  <a:srgbClr val="1F2A37"/>
                </a:solidFill>
                <a:latin typeface="Calibri" pitchFamily="34" charset="0"/>
                <a:cs typeface="Amiri" pitchFamily="2" charset="-78"/>
              </a:rPr>
              <a:t>) • one negative (</a:t>
            </a:r>
            <a:pPr algn="l" indent="0" marL="0">
              <a:buNone/>
            </a:pPr>
            <a:r>
              <a:rPr lang="ar-SA" altLang="en-US" sz="1750" b="1" dirty="0">
                <a:solidFill>
                  <a:srgbClr val="1F2A37"/>
                </a:solidFill>
                <a:latin typeface="Amiri" pitchFamily="2" charset="-78"/>
                <a:ea typeface="Amiri" pitchFamily="2" charset="-78"/>
                <a:cs typeface="Amiri" pitchFamily="2" charset="-78"/>
              </a:rPr>
              <a:t>لَنْ</a:t>
            </a:r>
            <a:pPr algn="l" indent="0" marL="0">
              <a:buNone/>
            </a:pPr>
            <a:r>
              <a:rPr lang="en-US" sz="1350" b="1" dirty="0">
                <a:solidFill>
                  <a:srgbClr val="1F2A37"/>
                </a:solidFill>
                <a:latin typeface="Calibri" pitchFamily="34" charset="0"/>
                <a:cs typeface="Amiri" pitchFamily="2" charset="-78"/>
              </a:rPr>
              <a:t> …) • a condition (</a:t>
            </a:r>
            <a:pPr algn="l" indent="0" marL="0">
              <a:buNone/>
            </a:pPr>
            <a:r>
              <a:rPr lang="ar-SA" altLang="en-US" sz="1750" b="1" dirty="0">
                <a:solidFill>
                  <a:srgbClr val="1F2A37"/>
                </a:solidFill>
                <a:latin typeface="Amiri" pitchFamily="2" charset="-78"/>
                <a:ea typeface="Amiri" pitchFamily="2" charset="-78"/>
                <a:cs typeface="Amiri" pitchFamily="2" charset="-78"/>
              </a:rPr>
              <a:t>إِذَا … فَسَوْفَ</a:t>
            </a:r>
            <a:pPr algn="l" indent="0" marL="0">
              <a:buNone/>
            </a:pPr>
            <a:r>
              <a:rPr lang="en-US" sz="1350" b="1" dirty="0">
                <a:solidFill>
                  <a:srgbClr val="1F2A37"/>
                </a:solidFill>
                <a:latin typeface="Calibri" pitchFamily="34" charset="0"/>
                <a:cs typeface="Amiri" pitchFamily="2" charset="-78"/>
              </a:rPr>
              <a:t> …) or Plan 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أُصْبِحَ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aspire to become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سَأَدْرُسُ … ثُمَّ سَوْفَ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study … then I will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 · حَتَّى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order to … · so that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نَجَحْتُ، فَسَأُ…</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succeed, I will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sa- / </a:t>
            </a:r>
            <a:pPr algn="l" indent="0" marL="0">
              <a:buNone/>
            </a:pPr>
            <a:r>
              <a:rPr lang="ar-SA" altLang="en-US" sz="1450" dirty="0">
                <a:solidFill>
                  <a:srgbClr val="5A6472"/>
                </a:solidFill>
                <a:latin typeface="Amiri" pitchFamily="2" charset="-78"/>
                <a:ea typeface="Amiri" pitchFamily="2" charset="-78"/>
                <a:cs typeface="Amiri" pitchFamily="2" charset="-78"/>
              </a:rPr>
              <a:t>سَوْفَ</a:t>
            </a:r>
            <a:pPr algn="l" indent="0" marL="0">
              <a:buNone/>
            </a:pPr>
            <a:r>
              <a:rPr lang="en-US" sz="1100" dirty="0">
                <a:solidFill>
                  <a:srgbClr val="5A6472"/>
                </a:solidFill>
                <a:latin typeface="Calibri" pitchFamily="34" charset="0"/>
                <a:cs typeface="Amiri" pitchFamily="2" charset="-78"/>
              </a:rPr>
              <a:t> for at least three plans?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لَنْ</a:t>
            </a:r>
            <a:pPr algn="l" indent="0" marL="0">
              <a:buNone/>
            </a:pPr>
            <a:r>
              <a:rPr lang="en-US" sz="1100" dirty="0">
                <a:solidFill>
                  <a:srgbClr val="5A6472"/>
                </a:solidFill>
                <a:latin typeface="Calibri" pitchFamily="34" charset="0"/>
                <a:cs typeface="Amiri" pitchFamily="2" charset="-78"/>
              </a:rPr>
              <a:t> + -a,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 + -a and an </a:t>
            </a:r>
            <a:pPr algn="l" indent="0" marL="0">
              <a:buNone/>
            </a:pPr>
            <a:r>
              <a:rPr lang="ar-SA" altLang="en-US" sz="1450" dirty="0">
                <a:solidFill>
                  <a:srgbClr val="5A6472"/>
                </a:solidFill>
                <a:latin typeface="Amiri" pitchFamily="2" charset="-78"/>
                <a:ea typeface="Amiri" pitchFamily="2" charset="-78"/>
                <a:cs typeface="Amiri" pitchFamily="2" charset="-78"/>
              </a:rPr>
              <a:t>إِذَا</a:t>
            </a:r>
            <a:pPr algn="l" indent="0" marL="0">
              <a:buNone/>
            </a:pPr>
            <a:r>
              <a:rPr lang="en-US" sz="1100" dirty="0">
                <a:solidFill>
                  <a:srgbClr val="5A6472"/>
                </a:solidFill>
                <a:latin typeface="Calibri" pitchFamily="34" charset="0"/>
                <a:cs typeface="Amiri" pitchFamily="2" charset="-78"/>
              </a:rPr>
              <a:t> condition correctly?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أَطْمَحُ إِلَى أَنْ أُصْبِحَ مُهَنْدِسًا مِعْمَارِيًّا.</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aspire to become an architect.</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طُمُوحُكَ؟</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الرِّيَاضِيَّاتِ وَالفَنَّ، ثُمَّ سَوْفَ أَتَقَدَّمُ إِلَى الجَامِعَةِ.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study maths and art, then I will apply to university.</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خُطَّتُكَ لِلسَّنَتَيْنِ القَادِمَتَيْنِ؟</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أَتَعَلَّمَ الرَّسْمَ وَالتَّصْمِيمَ، فَهُمَا مُهِمَّانِ لِلْمِعْمَارِيِّ.</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learn drawing and design — they are important for an architect.</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الفَنُّ؟</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فِي مَعْهَدٍ مِهَنِيٍّ أَوَّلًا، وَلَنْ أَسْتَسْلِمَ.</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study at a vocational college first, and I won’t give up.</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لَمْ تَحْصُلْ عَلَى الدَّرَجَاتِ المَطْلُوبَةِ؟</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أَطْمَحُ إِلَى أَنْ أُصْبِحَ مُبَرْمِجَةً فِي شَرِكَةٍ كَبِيرَةٍ. فِي السَّنَتَيْنِ القَادِمَتَيْنِ سَأَدْرُسُ الرِّيَاضِيَّاتِ وَعُلُومَ الحَاسُوبِ، لِكَيْ أَدْخُلَ كُلِّيَّةً جَيِّدَةً. بَعْدَ التَّخَرُّجِ سَوْفَ أَتَدَرَّبُ فِي شَرِكَةٍ مُدَّةَ سَنَةٍ، حَتَّى أَكْسِبَ خِبْرَةً عَمَلِيَّةً. أَنْوِي أَنْ أُصَمِّمَ تَطْبِيقَاتٍ تُسَاعِدُ الطُّلَّابَ. لَنْ أَعْمَلَ فِي وَظِيفَةٍ مُمِلَّةٍ، لِأَنَّنِي أُحِبُّ الإِبْدَاعَ. إِذَا نَجَحْتُ، فَسَوْفَ أَفْتَحُ شَرِكَتِي الخَاصَّةَ يَوْمًا مَا. وَإِذَا لَمْ أَنْجَحْ، سَأُحَاوِلُ مَرَّةً أُخْرَى!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aspire to become a programmer in a big company. In the next two years I will study maths and computer science, so that I get into a good college. After graduating I will train in a company for a year, so that I gain practical experience. I intend to design apps that help students. I won’t work in a boring job, because I love creativity. If I succeed, I will open my own company one day. And if I don’t succeed, I will try again!”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أَطْمَحُ إِلَى أَنْ أُصْبِحَ</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أَدْخُلَ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لَنْ أَعْمَلَ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نَجَحْتُ، فَسَوْفَ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D3-L05 · Education and Training — Routes to a Career</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التَّعْلِيمُ وَالتَّدْرِيبُ — طُرُقٌ إِلَى المَسِيرَةِ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D3-L04 · Practice Room — The Future Tense — Plans, Ambitions and Career Goals</dc:title>
  <dc:subject>PptxGenJS Presentation</dc:subject>
  <dc:creator>Al Madina Online School · Arabic Department</dc:creator>
  <cp:lastModifiedBy>Al Madina Online School · Arabic Department</cp:lastModifiedBy>
  <cp:revision>1</cp:revision>
  <dcterms:created xsi:type="dcterms:W3CDTF">2026-10-25T18:16:00Z</dcterms:created>
  <dcterms:modified xsi:type="dcterms:W3CDTF">2026-10-25T18:16:00Z</dcterms:modified>
</cp:coreProperties>
</file>