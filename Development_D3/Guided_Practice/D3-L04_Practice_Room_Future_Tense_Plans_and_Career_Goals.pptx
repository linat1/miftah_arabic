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D3-L04 (The Future Tense — Plans, Ambitions and Career Goals) — new practice tasks built on the lesson’s own word bank and grammar (future with sa- (sa-adrusu) and sawfa (sawfa atadarrabu); negative future lan + verb in -a; ambition: aṭmaḥu ilā an · anwī an · urīdu an uṣbiḥa + noun in -an; purpose: li-kay / ḥattā + verb in -a; condition: idhā najaḥtu, fa-sa- …).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D3-L04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to a girl: طُمُوحُكِ · خُطَّتُكِ · تَحْصُلِي · أُصْبِحَ مُهَنْدِسَةً مِعْمَارِيَّةً. uṣbiḥa + job in -an; lan + verb in -a (lan astaslima).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(59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D3  ·  D3-L04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D3-L04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The Future Tense — Plans, Ambitions and Career Goals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خُطَطِي لِلْمُسْتَقْبَلِ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50" dirty="0">
                <a:solidFill>
                  <a:srgbClr val="C6D2E6"/>
                </a:solidFill>
                <a:latin typeface="Calibri" pitchFamily="34" charset="0"/>
                <a:cs typeface="Amiri" pitchFamily="2" charset="-78"/>
              </a:rPr>
              <a:t>Students run their own speaking and writing practice about future plans: say the future phrases, act a short dialogue, answer question cards, do a role-play card with a careers adviser, give a one-minute “my next ten years” talk, then build, fix and write a career-plan post with purposes and conditions.</a:t>
            </a:r>
            <a:endParaRPr lang="en-US" sz="12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D3-L04 · Development D3 · Work and Careers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D3 › D3-L04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Future plans (1)</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سَأَدْرُسُ</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will study</a:t>
            </a:r>
            <a:endParaRPr lang="en-US" sz="1350" dirty="0"/>
          </a:p>
          <a:p>
            <a:pPr indent="0" marL="0">
              <a:buNone/>
            </a:pPr>
            <a:r>
              <a:rPr lang="en-US" sz="1100" i="1" dirty="0">
                <a:solidFill>
                  <a:srgbClr val="5A6472"/>
                </a:solidFill>
                <a:latin typeface="Calibri" pitchFamily="34" charset="0"/>
                <a:cs typeface="Amiri" pitchFamily="2" charset="-78"/>
              </a:rPr>
              <a:t>sa-ʾad-ru-su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سَتَدْرُسُ</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سَيَدْرُسُ</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سَأَدْرُسُ</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سَوْفَ أَتَدَرَّبُ</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will train</a:t>
            </a:r>
            <a:endParaRPr lang="en-US" sz="1350" dirty="0"/>
          </a:p>
          <a:p>
            <a:pPr indent="0" marL="0">
              <a:buNone/>
            </a:pPr>
            <a:r>
              <a:rPr lang="en-US" sz="1100" i="1" dirty="0">
                <a:solidFill>
                  <a:srgbClr val="5A6472"/>
                </a:solidFill>
                <a:latin typeface="Calibri" pitchFamily="34" charset="0"/>
                <a:cs typeface="Amiri" pitchFamily="2" charset="-78"/>
              </a:rPr>
              <a:t>saw-fa a-ta-dar-ra-bu</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سَوْفَ تَتَدَرَّبُ</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سَوْفَ يَتَدَرَّبُ</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سَوْفَ أَتَدَرَّبُ</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أُرِيدُ أَنْ أُصْبِحَ</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want to become</a:t>
            </a:r>
            <a:endParaRPr lang="en-US" sz="1350" dirty="0"/>
          </a:p>
          <a:p>
            <a:pPr indent="0" marL="0">
              <a:buNone/>
            </a:pPr>
            <a:r>
              <a:rPr lang="en-US" sz="1100" i="1" dirty="0">
                <a:solidFill>
                  <a:srgbClr val="5A6472"/>
                </a:solidFill>
                <a:latin typeface="Calibri" pitchFamily="34" charset="0"/>
                <a:cs typeface="Amiri" pitchFamily="2" charset="-78"/>
              </a:rPr>
              <a:t>u-rī-du an uṣ-bi-ḥa</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تُرِيدُ أَنْ تُصْبِحَ</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يُرِيدُ أَنْ يُصْبِحَ</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أُرِيدُ أَنْ أُصْبِحَ</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2" name="Shape 69"/>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74" name="Shape 7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أَطْمَحُ إِلَى أَنْ</a:t>
            </a:r>
            <a:endParaRPr lang="ar-SA" sz="3000" dirty="0"/>
          </a:p>
        </p:txBody>
      </p:sp>
      <p:sp>
        <p:nvSpPr>
          <p:cNvPr id="77" name="Text 7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aspire to</a:t>
            </a:r>
            <a:endParaRPr lang="en-US" sz="1350" dirty="0"/>
          </a:p>
          <a:p>
            <a:pPr indent="0" marL="0">
              <a:buNone/>
            </a:pPr>
            <a:r>
              <a:rPr lang="en-US" sz="1100" i="1" dirty="0">
                <a:solidFill>
                  <a:srgbClr val="5A6472"/>
                </a:solidFill>
                <a:latin typeface="Calibri" pitchFamily="34" charset="0"/>
                <a:cs typeface="Amiri" pitchFamily="2" charset="-78"/>
              </a:rPr>
              <a:t>aṭ-ma-ḥu i-lā an</a:t>
            </a:r>
            <a:endParaRPr lang="en-US" sz="1350" dirty="0"/>
          </a:p>
        </p:txBody>
      </p:sp>
      <p:sp>
        <p:nvSpPr>
          <p:cNvPr id="78" name="Shape 75"/>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80" name="Text 77"/>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تَطْمَحُ</a:t>
            </a:r>
            <a:endParaRPr lang="ar-SA" sz="1500" dirty="0"/>
          </a:p>
        </p:txBody>
      </p:sp>
      <p:sp>
        <p:nvSpPr>
          <p:cNvPr id="81" name="Shape 78"/>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83" name="Text 80"/>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يَطْمَحُ</a:t>
            </a:r>
            <a:endParaRPr lang="ar-SA" sz="1500" dirty="0"/>
          </a:p>
        </p:txBody>
      </p:sp>
      <p:sp>
        <p:nvSpPr>
          <p:cNvPr id="84" name="Shape 81"/>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86" name="Text 83"/>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أَطْمَحُ</a:t>
            </a:r>
            <a:endParaRPr lang="ar-SA" sz="1500" dirty="0"/>
          </a:p>
        </p:txBody>
      </p:sp>
      <p:sp>
        <p:nvSpPr>
          <p:cNvPr id="87" name="Shape 8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4389120" y="4261104"/>
            <a:ext cx="310896" cy="310896"/>
          </a:xfrm>
          <a:prstGeom prst="ellipse">
            <a:avLst/>
          </a:prstGeom>
          <a:solidFill>
            <a:srgbClr val="F4F1EA"/>
          </a:solidFill>
          <a:ln w="12700">
            <a:solidFill>
              <a:srgbClr val="F4F1EA"/>
            </a:solidFill>
            <a:prstDash val="solid"/>
          </a:ln>
        </p:spPr>
      </p:sp>
      <p:sp>
        <p:nvSpPr>
          <p:cNvPr id="89" name="Text 8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90" name="Shape 87"/>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91" name="Text 88"/>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92" name="Shape 8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93" name="Text 9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4" name="Text 9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أَنْوِي أَنْ</a:t>
            </a:r>
            <a:endParaRPr lang="ar-SA" sz="3000" dirty="0"/>
          </a:p>
        </p:txBody>
      </p:sp>
      <p:sp>
        <p:nvSpPr>
          <p:cNvPr id="95" name="Text 9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intend to</a:t>
            </a:r>
            <a:endParaRPr lang="en-US" sz="1350" dirty="0"/>
          </a:p>
          <a:p>
            <a:pPr indent="0" marL="0">
              <a:buNone/>
            </a:pPr>
            <a:r>
              <a:rPr lang="en-US" sz="1100" i="1" dirty="0">
                <a:solidFill>
                  <a:srgbClr val="5A6472"/>
                </a:solidFill>
                <a:latin typeface="Calibri" pitchFamily="34" charset="0"/>
                <a:cs typeface="Amiri" pitchFamily="2" charset="-78"/>
              </a:rPr>
              <a:t>an-wī an</a:t>
            </a:r>
            <a:endParaRPr lang="en-US" sz="1350" dirty="0"/>
          </a:p>
        </p:txBody>
      </p:sp>
      <p:sp>
        <p:nvSpPr>
          <p:cNvPr id="96" name="Shape 93"/>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98" name="Text 95"/>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تَنْوِي</a:t>
            </a:r>
            <a:endParaRPr lang="ar-SA" sz="1500" dirty="0"/>
          </a:p>
        </p:txBody>
      </p:sp>
      <p:sp>
        <p:nvSpPr>
          <p:cNvPr id="99" name="Shape 96"/>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101" name="Text 98"/>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يَنْوِي</a:t>
            </a:r>
            <a:endParaRPr lang="ar-SA" sz="1500" dirty="0"/>
          </a:p>
        </p:txBody>
      </p:sp>
      <p:sp>
        <p:nvSpPr>
          <p:cNvPr id="102" name="Shape 99"/>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104" name="Text 101"/>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أَنْوِي</a:t>
            </a:r>
            <a:endParaRPr lang="ar-SA" sz="1500" dirty="0"/>
          </a:p>
        </p:txBody>
      </p:sp>
      <p:sp>
        <p:nvSpPr>
          <p:cNvPr id="105" name="Shape 10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566928" y="4261104"/>
            <a:ext cx="310896" cy="310896"/>
          </a:xfrm>
          <a:prstGeom prst="ellipse">
            <a:avLst/>
          </a:prstGeom>
          <a:solidFill>
            <a:srgbClr val="F4F1EA"/>
          </a:solidFill>
          <a:ln w="12700">
            <a:solidFill>
              <a:srgbClr val="F4F1EA"/>
            </a:solidFill>
            <a:prstDash val="solid"/>
          </a:ln>
        </p:spPr>
      </p:sp>
      <p:sp>
        <p:nvSpPr>
          <p:cNvPr id="107" name="Text 10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08" name="Shape 105"/>
          <p:cNvSpPr/>
          <p:nvPr/>
        </p:nvSpPr>
        <p:spPr>
          <a:xfrm>
            <a:off x="960120" y="4279392"/>
            <a:ext cx="1020470" cy="256032"/>
          </a:xfrm>
          <a:prstGeom prst="roundRect">
            <a:avLst>
              <a:gd name="adj" fmla="val 50000"/>
            </a:avLst>
          </a:prstGeom>
          <a:solidFill>
            <a:srgbClr val="EFE7D2"/>
          </a:solidFill>
          <a:ln w="12700">
            <a:solidFill>
              <a:srgbClr val="EFE7D2"/>
            </a:solidFill>
            <a:prstDash val="solid"/>
          </a:ln>
        </p:spPr>
      </p:sp>
      <p:sp>
        <p:nvSpPr>
          <p:cNvPr id="109" name="Text 106"/>
          <p:cNvSpPr txBox="1"/>
          <p:nvPr/>
        </p:nvSpPr>
        <p:spPr>
          <a:xfrm>
            <a:off x="960120"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110" name="Shape 10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111" name="Text 10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112" name="Text 10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أُخَطِّطُ لِـ</a:t>
            </a:r>
            <a:endParaRPr lang="ar-SA" sz="3000" dirty="0"/>
          </a:p>
        </p:txBody>
      </p:sp>
      <p:sp>
        <p:nvSpPr>
          <p:cNvPr id="113" name="Text 11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plan to</a:t>
            </a:r>
            <a:endParaRPr lang="en-US" sz="1350" dirty="0"/>
          </a:p>
          <a:p>
            <a:pPr indent="0" marL="0">
              <a:buNone/>
            </a:pPr>
            <a:r>
              <a:rPr lang="en-US" sz="1100" i="1" dirty="0">
                <a:solidFill>
                  <a:srgbClr val="5A6472"/>
                </a:solidFill>
                <a:latin typeface="Calibri" pitchFamily="34" charset="0"/>
                <a:cs typeface="Amiri" pitchFamily="2" charset="-78"/>
              </a:rPr>
              <a:t>u-khaṭ-ṭi-ṭu li</a:t>
            </a:r>
            <a:endParaRPr lang="en-US" sz="1350" dirty="0"/>
          </a:p>
        </p:txBody>
      </p:sp>
      <p:sp>
        <p:nvSpPr>
          <p:cNvPr id="114" name="Shape 111"/>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15" name="Text 112"/>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116" name="Text 113"/>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تُخَطِّطُ</a:t>
            </a:r>
            <a:endParaRPr lang="ar-SA" sz="1500" dirty="0"/>
          </a:p>
        </p:txBody>
      </p:sp>
      <p:sp>
        <p:nvSpPr>
          <p:cNvPr id="117" name="Shape 114"/>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8" name="Text 115"/>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119" name="Text 116"/>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يُخَطِّطُ</a:t>
            </a:r>
            <a:endParaRPr lang="ar-SA" sz="1500" dirty="0"/>
          </a:p>
        </p:txBody>
      </p:sp>
      <p:sp>
        <p:nvSpPr>
          <p:cNvPr id="120" name="Shape 117"/>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21" name="Text 118"/>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122" name="Text 119"/>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أُخَطِّطُ</a:t>
            </a:r>
            <a:endParaRPr lang="ar-SA" sz="1500" dirty="0"/>
          </a:p>
        </p:txBody>
      </p:sp>
      <p:sp>
        <p:nvSpPr>
          <p:cNvPr id="123" name="Text 12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Future plans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بَعْدَ التَّخَرُّجِ</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after graduation</a:t>
            </a:r>
            <a:endParaRPr lang="en-US" sz="1350" dirty="0"/>
          </a:p>
          <a:p>
            <a:pPr indent="0" marL="0">
              <a:buNone/>
            </a:pPr>
            <a:r>
              <a:rPr lang="en-US" sz="1100" i="1" dirty="0">
                <a:solidFill>
                  <a:srgbClr val="5A6472"/>
                </a:solidFill>
                <a:latin typeface="Calibri" pitchFamily="34" charset="0"/>
                <a:cs typeface="Amiri" pitchFamily="2" charset="-78"/>
              </a:rPr>
              <a:t>baʿ-da at-ta-khar-ru-ji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المُسْتَقْبَلِ</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the future</a:t>
            </a:r>
            <a:endParaRPr lang="en-US" sz="1350" dirty="0"/>
          </a:p>
          <a:p>
            <a:pPr indent="0" marL="0">
              <a:buNone/>
            </a:pPr>
            <a:r>
              <a:rPr lang="en-US" sz="1100" i="1" dirty="0">
                <a:solidFill>
                  <a:srgbClr val="5A6472"/>
                </a:solidFill>
                <a:latin typeface="Calibri" pitchFamily="34" charset="0"/>
                <a:cs typeface="Amiri" pitchFamily="2" charset="-78"/>
              </a:rPr>
              <a:t>fī al-mus-taq-ba-li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لِكَيْ</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order to</a:t>
            </a:r>
            <a:endParaRPr lang="en-US" sz="1350" dirty="0"/>
          </a:p>
          <a:p>
            <a:pPr indent="0" marL="0">
              <a:buNone/>
            </a:pPr>
            <a:r>
              <a:rPr lang="en-US" sz="1100" i="1" dirty="0">
                <a:solidFill>
                  <a:srgbClr val="5A6472"/>
                </a:solidFill>
                <a:latin typeface="Calibri" pitchFamily="34" charset="0"/>
                <a:cs typeface="Amiri" pitchFamily="2" charset="-78"/>
              </a:rPr>
              <a:t>li-kay</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إِذَا نَجَحْتُ</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if I succeed</a:t>
            </a:r>
            <a:endParaRPr lang="en-US" sz="1350" dirty="0"/>
          </a:p>
          <a:p>
            <a:pPr indent="0" marL="0">
              <a:buNone/>
            </a:pPr>
            <a:r>
              <a:rPr lang="en-US" sz="1100" i="1" dirty="0">
                <a:solidFill>
                  <a:srgbClr val="5A6472"/>
                </a:solidFill>
                <a:latin typeface="Calibri" pitchFamily="34" charset="0"/>
                <a:cs typeface="Amiri" pitchFamily="2" charset="-78"/>
              </a:rPr>
              <a:t>i-dhā na-jaḥ-tu</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Text 4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حَتَّى</a:t>
            </a:r>
            <a:endParaRPr lang="ar-SA" sz="3000" dirty="0"/>
          </a:p>
        </p:txBody>
      </p:sp>
      <p:sp>
        <p:nvSpPr>
          <p:cNvPr id="47" name="Text 4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 that</a:t>
            </a:r>
            <a:endParaRPr lang="en-US" sz="1350" dirty="0"/>
          </a:p>
          <a:p>
            <a:pPr indent="0" marL="0">
              <a:buNone/>
            </a:pPr>
            <a:r>
              <a:rPr lang="en-US" sz="1100" i="1" dirty="0">
                <a:solidFill>
                  <a:srgbClr val="5A6472"/>
                </a:solidFill>
                <a:latin typeface="Calibri" pitchFamily="34" charset="0"/>
                <a:cs typeface="Amiri" pitchFamily="2" charset="-78"/>
              </a:rPr>
              <a:t>ḥat-tā</a:t>
            </a:r>
            <a:endParaRPr lang="en-US" sz="1350" dirty="0"/>
          </a:p>
        </p:txBody>
      </p:sp>
      <p:sp>
        <p:nvSpPr>
          <p:cNvPr id="48" name="Shape 4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66928"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1" name="Text 4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المُحْتَمَلِ أَنْ</a:t>
            </a:r>
            <a:endParaRPr lang="ar-SA" sz="3000" dirty="0"/>
          </a:p>
        </p:txBody>
      </p:sp>
      <p:sp>
        <p:nvSpPr>
          <p:cNvPr id="52" name="Text 4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likely that</a:t>
            </a:r>
            <a:endParaRPr lang="en-US" sz="1350" dirty="0"/>
          </a:p>
          <a:p>
            <a:pPr indent="0" marL="0">
              <a:buNone/>
            </a:pPr>
            <a:r>
              <a:rPr lang="en-US" sz="1100" i="1" dirty="0">
                <a:solidFill>
                  <a:srgbClr val="5A6472"/>
                </a:solidFill>
                <a:latin typeface="Calibri" pitchFamily="34" charset="0"/>
                <a:cs typeface="Amiri" pitchFamily="2" charset="-78"/>
              </a:rPr>
              <a:t>mi-na al-muḥ-ta-ma-li an</a:t>
            </a:r>
            <a:endParaRPr lang="en-US" sz="13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will you do after school?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سَتَفْعَلِينَ بَعْدَ المَدْرَسَةِ؟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will you do after secondary school?</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مَاذَا سَتَفْعَلِينَ بَعْدَ المَدْرَسَةِ الثَّانَوِيَّةِ؟</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will study pharmacy at university.</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سَأَدْرُسُ الصَّيْدَلَةَ فِي الجَامِعَةِ.</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pharmacy?</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لِمَاذَا الصَّيْدَلَةُ؟</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Because I aspire to become a pharmacist, to help people.</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لِأَنَّنِي أَطْمَحُ إِلَى أَنْ أُصْبِحَ صَيْدَلَانِيَّةً، لِكَيْ أُسَاعِدَ النَّاسَ.</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after graduation?</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وَبَعْدَ التَّخَرُّجِ؟</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If I succeed, I will work in a nearby pharmacy, and I won’t travel far from my family.</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إِذَا نَجَحْتُ، فَسَوْفَ أَعْمَلُ فِي صَيْدَلِيَّةٍ قَرِيبَةٍ، وَلَنْ أُسَافِرَ بَعِيدًا عَنْ أُسْرَتِي.</a:t>
            </a:r>
            <a:endParaRPr lang="ar-SA" sz="195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give YOUR real plan — one sa-, one sawfa, one lan.</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سَأَدْرُسُ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will you study in the future?</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سَتَدْرُسُ فِي المُسْتَقْبَلِ؟</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لِكَيْ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أُرِيدُ أَنْ أُصْبِحَ … ← طَيَّارًا / طَيَّارَةً</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want to become?</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تُرِيدُ أَنْ تُصْبِحَ؟</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لَنْ أَعْمَلَ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will you never do in your job?</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الَّذِي لَنْ تَفْعَلَهُ أَبَدًا فِي عَمَلِكَ؟</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مَعَ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إِذَا نَجَحْتُ، فَسَأُسَافِرُ / فَسَوْفَ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will you do if you pass your exams?</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سَتَفْعَلُ إِذَا نَجَحْتَ فِي امْتِحَانَاتِكَ؟</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وَمِنَ المُحْتَمَلِ أَنْ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سَأَكُونُ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will you be in ten years?</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سَتَكُونُ بَعْدَ عَشْرِ سَنَوَاتٍ؟</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Role-play card — meeting the careers adviser</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مَعَ مُسْتَشَارِ المِهَنِ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طُمُوحِي ← أَطْمَحُ إِلَى أَنْ أُصْبِحَ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Ambition.</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طُمُوحُكَ؟</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خُطَّتِي ← سَأَدْرُسُ … ثُمَّ سَوْفَ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future steps.</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 خُطَّتُكَ لِلسَّنَتَيْنِ القَادِمَتَيْنِ؟</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Purpose with </a:t>
            </a:r>
            <a:pPr algn="l" indent="0" marL="0">
              <a:buNone/>
            </a:pPr>
            <a:r>
              <a:rPr lang="ar-SA" altLang="en-US" sz="1450" dirty="0">
                <a:solidFill>
                  <a:srgbClr val="5A6472"/>
                </a:solidFill>
                <a:latin typeface="Amiri" pitchFamily="2" charset="-78"/>
                <a:ea typeface="Amiri" pitchFamily="2" charset="-78"/>
                <a:cs typeface="Amiri" pitchFamily="2" charset="-78"/>
              </a:rPr>
              <a:t>لِكَيْ</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الفَنُّ؟</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Plan B.</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وَإِذَا لَمْ تَحْصُلْ عَلَى الدَّرَجَاتِ المَطْلُوبَةِ؟</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a Year 11 student · Leader = the careers adviser.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my next ten years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السَّنَوَاتُ العَشْرُ القَادِمَةُ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about your plans: study, training, job, where you will live — with at least five future verbs.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Five future verbs (sa- or </a:t>
            </a:r>
            <a:pPr algn="l" indent="0" marL="0">
              <a:buNone/>
            </a:pPr>
            <a:r>
              <a:rPr lang="ar-SA" altLang="en-US" sz="1500" dirty="0">
                <a:solidFill>
                  <a:srgbClr val="1F2A37"/>
                </a:solidFill>
                <a:latin typeface="Amiri" pitchFamily="2" charset="-78"/>
                <a:ea typeface="Amiri" pitchFamily="2" charset="-78"/>
                <a:cs typeface="Amiri" pitchFamily="2" charset="-78"/>
              </a:rPr>
              <a:t>سَوْفَ</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أَطْمَحُ إِلَى أَنْ</a:t>
            </a:r>
            <a:pPr algn="l" indent="0" marL="0">
              <a:buNone/>
            </a:pPr>
            <a:r>
              <a:rPr lang="en-US" sz="1150" dirty="0">
                <a:solidFill>
                  <a:srgbClr val="1F2A37"/>
                </a:solidFill>
                <a:latin typeface="Calibri" pitchFamily="34" charset="0"/>
                <a:cs typeface="Amiri" pitchFamily="2" charset="-78"/>
              </a:rPr>
              <a:t> … and a purpose (</a:t>
            </a:r>
            <a:pPr algn="l" indent="0" marL="0">
              <a:buNone/>
            </a:pPr>
            <a:r>
              <a:rPr lang="ar-SA" altLang="en-US" sz="1500" dirty="0">
                <a:solidFill>
                  <a:srgbClr val="1F2A37"/>
                </a:solidFill>
                <a:latin typeface="Amiri" pitchFamily="2" charset="-78"/>
                <a:ea typeface="Amiri" pitchFamily="2" charset="-78"/>
                <a:cs typeface="Amiri" pitchFamily="2" charset="-78"/>
              </a:rPr>
              <a:t>لِكَيْ</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إِذَا … فَسَوْفَ</a:t>
            </a:r>
            <a:pPr algn="l" indent="0" marL="0">
              <a:buNone/>
            </a:pPr>
            <a:r>
              <a:rPr lang="en-US" sz="1150" dirty="0">
                <a:solidFill>
                  <a:srgbClr val="1F2A37"/>
                </a:solidFill>
                <a:latin typeface="Calibri" pitchFamily="34" charset="0"/>
                <a:cs typeface="Amiri" pitchFamily="2" charset="-78"/>
              </a:rPr>
              <a:t> … , a negative future (</a:t>
            </a:r>
            <a:pPr algn="l" indent="0" marL="0">
              <a:buNone/>
            </a:pPr>
            <a:r>
              <a:rPr lang="ar-SA" altLang="en-US" sz="1500" dirty="0">
                <a:solidFill>
                  <a:srgbClr val="1F2A37"/>
                </a:solidFill>
                <a:latin typeface="Amiri" pitchFamily="2" charset="-78"/>
                <a:ea typeface="Amiri" pitchFamily="2" charset="-78"/>
                <a:cs typeface="Amiri" pitchFamily="2" charset="-78"/>
              </a:rPr>
              <a:t>لَنْ</a:t>
            </a:r>
            <a:pPr algn="l" indent="0" marL="0">
              <a:buNone/>
            </a:pPr>
            <a:r>
              <a:rPr lang="en-US" sz="1150" dirty="0">
                <a:solidFill>
                  <a:srgbClr val="1F2A37"/>
                </a:solidFill>
                <a:latin typeface="Calibri" pitchFamily="34" charset="0"/>
                <a:cs typeface="Amiri" pitchFamily="2" charset="-78"/>
              </a:rPr>
              <a:t> …) and </a:t>
            </a:r>
            <a:pPr algn="l" indent="0" marL="0">
              <a:buNone/>
            </a:pPr>
            <a:r>
              <a:rPr lang="ar-SA" altLang="en-US" sz="1500" dirty="0">
                <a:solidFill>
                  <a:srgbClr val="1F2A37"/>
                </a:solidFill>
                <a:latin typeface="Amiri" pitchFamily="2" charset="-78"/>
                <a:ea typeface="Amiri" pitchFamily="2" charset="-78"/>
                <a:cs typeface="Amiri" pitchFamily="2" charset="-78"/>
              </a:rPr>
              <a:t>مِنَ المُحْتَمَلِ أَنْ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will study medicine so that I become a doctor.</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سَأَدْرُسُ الطِّبَّ</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دَرَسْتُ الطِّبَّ</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لِكَيْ</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أُصْبِحَ طَبِيبًا.</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أُصْبِحُ طَبِيبٌ.</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won’t work in an office.</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لَنْ</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لَا</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أَعْمَلَ</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أَعْمَلُ</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مَكْتَبٍ.</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مَكْتَبٌ.</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If I succeed, I will travel to Jordan.</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إِذَا نَجَحْتُ،</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إِذَا أَنْجَحُ،</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فَسَوْفَ</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سَوْفَ لَا</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أُسَافِرُ إِلَى الأُرْدُنِّ.</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أُسَافِرَ إِلَى الأُرْدُنِّ.</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will study medicine so that I become a doctor.</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Future sa-; </a:t>
            </a:r>
            <a:pPr algn="l" indent="0" marL="0">
              <a:buNone/>
            </a:pPr>
            <a:r>
              <a:rPr lang="ar-SA" altLang="en-US" sz="1350" dirty="0">
                <a:solidFill>
                  <a:srgbClr val="5A6472"/>
                </a:solidFill>
                <a:latin typeface="Amiri" pitchFamily="2" charset="-78"/>
                <a:ea typeface="Amiri" pitchFamily="2" charset="-78"/>
                <a:cs typeface="Amiri" pitchFamily="2" charset="-78"/>
              </a:rPr>
              <a:t>لِكَيْ</a:t>
            </a:r>
            <a:pPr algn="l" indent="0" marL="0">
              <a:buNone/>
            </a:pPr>
            <a:r>
              <a:rPr lang="en-US" sz="1050" i="1" dirty="0">
                <a:solidFill>
                  <a:srgbClr val="5A6472"/>
                </a:solidFill>
                <a:latin typeface="Calibri" pitchFamily="34" charset="0"/>
                <a:cs typeface="Amiri" pitchFamily="2" charset="-78"/>
              </a:rPr>
              <a:t> + -a; </a:t>
            </a:r>
            <a:pPr algn="l" indent="0" marL="0">
              <a:buNone/>
            </a:pPr>
            <a:r>
              <a:rPr lang="ar-SA" altLang="en-US" sz="1350" dirty="0">
                <a:solidFill>
                  <a:srgbClr val="5A6472"/>
                </a:solidFill>
                <a:latin typeface="Amiri" pitchFamily="2" charset="-78"/>
                <a:ea typeface="Amiri" pitchFamily="2" charset="-78"/>
                <a:cs typeface="Amiri" pitchFamily="2" charset="-78"/>
              </a:rPr>
              <a:t>أُصْبِحَ</a:t>
            </a:r>
            <a:pPr algn="l" indent="0" marL="0">
              <a:buNone/>
            </a:pPr>
            <a:r>
              <a:rPr lang="en-US" sz="1050" i="1" dirty="0">
                <a:solidFill>
                  <a:srgbClr val="5A6472"/>
                </a:solidFill>
                <a:latin typeface="Calibri" pitchFamily="34" charset="0"/>
                <a:cs typeface="Amiri" pitchFamily="2" charset="-78"/>
              </a:rPr>
              <a:t> + -an.</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سَأَدْرُسُ الطِّبَّ لِكَيْ أُصْبِحَ طَبِيبًا.</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won’t work in an office.</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Negative future = </a:t>
            </a:r>
            <a:pPr algn="l" indent="0" marL="0">
              <a:buNone/>
            </a:pPr>
            <a:r>
              <a:rPr lang="ar-SA" altLang="en-US" sz="1350" dirty="0">
                <a:solidFill>
                  <a:srgbClr val="5A6472"/>
                </a:solidFill>
                <a:latin typeface="Amiri" pitchFamily="2" charset="-78"/>
                <a:ea typeface="Amiri" pitchFamily="2" charset="-78"/>
                <a:cs typeface="Amiri" pitchFamily="2" charset="-78"/>
              </a:rPr>
              <a:t>لَنْ</a:t>
            </a:r>
            <a:pPr algn="l" indent="0" marL="0">
              <a:buNone/>
            </a:pPr>
            <a:r>
              <a:rPr lang="en-US" sz="1050" i="1" dirty="0">
                <a:solidFill>
                  <a:srgbClr val="5A6472"/>
                </a:solidFill>
                <a:latin typeface="Calibri" pitchFamily="34" charset="0"/>
                <a:cs typeface="Amiri" pitchFamily="2" charset="-78"/>
              </a:rPr>
              <a:t> + verb in -a.</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لَنْ أَعْمَلَ فِي مَكْتَبٍ.</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If I succeed, I will travel to Jordan.</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إِذَا</a:t>
            </a:r>
            <a:pPr algn="l" indent="0" marL="0">
              <a:buNone/>
            </a:pPr>
            <a:r>
              <a:rPr lang="en-US" sz="1050" i="1" dirty="0">
                <a:solidFill>
                  <a:srgbClr val="5A6472"/>
                </a:solidFill>
                <a:latin typeface="Calibri" pitchFamily="34" charset="0"/>
                <a:cs typeface="Amiri" pitchFamily="2" charset="-78"/>
              </a:rPr>
              <a:t> + past; answer with fa- + future.</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إِذَا نَجَحْتُ، فَسَوْفَ أُسَافِرُ إِلَى الأُرْدُنِّ.</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سَوْفَ لَا أَعْمَلُ فِي البَنْكِ.</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Negative future.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أُرِيدُ أَنْ أُصْبِحَ مُهَنْدِسٌ.</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أُصْبِحَ</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أَطْمَحُ أَنْ أَدْرُسَ فِي الخَارِجِ.</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Missing preposition.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سَوْفَ لَا أَعْمَلُ فِي البَنْكِ.</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لَنْ أَعْمَلَ فِي البَنْكِ.</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Won’t = </a:t>
            </a:r>
            <a:pPr algn="l" indent="0" marL="0">
              <a:buNone/>
            </a:pPr>
            <a:r>
              <a:rPr lang="ar-SA" altLang="en-US" sz="1500" b="1" dirty="0">
                <a:solidFill>
                  <a:srgbClr val="1B3B6F"/>
                </a:solidFill>
                <a:latin typeface="Amiri" pitchFamily="2" charset="-78"/>
                <a:ea typeface="Amiri" pitchFamily="2" charset="-78"/>
                <a:cs typeface="Amiri" pitchFamily="2" charset="-78"/>
              </a:rPr>
              <a:t>لَنْ</a:t>
            </a:r>
            <a:pPr algn="l" indent="0" marL="0">
              <a:buNone/>
            </a:pPr>
            <a:r>
              <a:rPr lang="en-US" sz="1150" b="1" dirty="0">
                <a:solidFill>
                  <a:srgbClr val="1B3B6F"/>
                </a:solidFill>
                <a:latin typeface="Calibri" pitchFamily="34" charset="0"/>
                <a:cs typeface="Amiri" pitchFamily="2" charset="-78"/>
              </a:rPr>
              <a:t> + -a (not </a:t>
            </a:r>
            <a:pPr algn="l" indent="0" marL="0">
              <a:buNone/>
            </a:pPr>
            <a:r>
              <a:rPr lang="ar-SA" altLang="en-US" sz="1500" b="1" dirty="0">
                <a:solidFill>
                  <a:srgbClr val="1B3B6F"/>
                </a:solidFill>
                <a:latin typeface="Amiri" pitchFamily="2" charset="-78"/>
                <a:ea typeface="Amiri" pitchFamily="2" charset="-78"/>
                <a:cs typeface="Amiri" pitchFamily="2" charset="-78"/>
              </a:rPr>
              <a:t>سَوْفَ لَا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أُرِيدُ أَنْ أُصْبِحَ مُهَنْدِسٌ.</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أُرِيدُ أَنْ أُصْبِحَ مُهَنْدِسًا.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أُصْبِحَ</a:t>
            </a:r>
            <a:pPr algn="l" indent="0" marL="0">
              <a:buNone/>
            </a:pPr>
            <a:r>
              <a:rPr lang="en-US" sz="1150" b="1" dirty="0">
                <a:solidFill>
                  <a:srgbClr val="1B3B6F"/>
                </a:solidFill>
                <a:latin typeface="Calibri" pitchFamily="34" charset="0"/>
                <a:cs typeface="Amiri" pitchFamily="2" charset="-78"/>
              </a:rPr>
              <a:t> + accusative.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أَطْمَحُ أَنْ أَدْرُسَ فِي الخَارِجِ.</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أَطْمَحُ إِلَى أَنْ أَدْرُسَ فِي الخَارِجِ.</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أَطْمَحُ إِلَى أَنْ …</a:t>
            </a:r>
            <a:endParaRPr lang="ar-SA" sz="14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نَجَحْتُ، فَسَوْفَ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I succeed, I will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وَإِذَا لَمْ أَنْجَحْ،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if I don’t succeed,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أَطْمَحُ إِلَى أَنْ أُصْبِحَ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aspire to become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سَأَدْرُسُ ______ فِي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will study … at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ثُمَّ سَوْفَ ______ لِكَيْ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Then I will … in order to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لَنْ ______ ، لِأَنَّ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won’t …, because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سَأَدْرُسُ  ·  سَوْفَ أَتَدَرَّبُ  ·  أُرِيدُ أَنْ أُصْبِحَ  ·  أَطْمَحُ إِلَى أَنْ  ·  أَنْوِي أَنْ  ·  بَعْدَ التَّخَرُّجِ  ·  لِكَيْ · حَتَّى  ·  لَنْ أَعْمَلَ</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post: my career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مَنْشُورٌ: خُطَّتِي المِهَنِيَّةُ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post (about 60–80 words) for a careers forum about your plans. Include: • your ambition (</a:t>
            </a:r>
            <a:pPr algn="l" indent="0" marL="0">
              <a:buNone/>
            </a:pPr>
            <a:r>
              <a:rPr lang="ar-SA" altLang="en-US" sz="1750" b="1" dirty="0">
                <a:solidFill>
                  <a:srgbClr val="1F2A37"/>
                </a:solidFill>
                <a:latin typeface="Amiri" pitchFamily="2" charset="-78"/>
                <a:ea typeface="Amiri" pitchFamily="2" charset="-78"/>
                <a:cs typeface="Amiri" pitchFamily="2" charset="-78"/>
              </a:rPr>
              <a:t>أَطْمَحُ إِلَى أَنْ</a:t>
            </a:r>
            <a:pPr algn="l" indent="0" marL="0">
              <a:buNone/>
            </a:pPr>
            <a:r>
              <a:rPr lang="en-US" sz="1350" b="1" dirty="0">
                <a:solidFill>
                  <a:srgbClr val="1F2A37"/>
                </a:solidFill>
                <a:latin typeface="Calibri" pitchFamily="34" charset="0"/>
                <a:cs typeface="Amiri" pitchFamily="2" charset="-78"/>
              </a:rPr>
              <a:t> …) • three future steps with sa- / </a:t>
            </a:r>
            <a:pPr algn="l" indent="0" marL="0">
              <a:buNone/>
            </a:pPr>
            <a:r>
              <a:rPr lang="ar-SA" altLang="en-US" sz="1750" b="1" dirty="0">
                <a:solidFill>
                  <a:srgbClr val="1F2A37"/>
                </a:solidFill>
                <a:latin typeface="Amiri" pitchFamily="2" charset="-78"/>
                <a:ea typeface="Amiri" pitchFamily="2" charset="-78"/>
                <a:cs typeface="Amiri" pitchFamily="2" charset="-78"/>
              </a:rPr>
              <a:t>سَوْفَ</a:t>
            </a:r>
            <a:pPr algn="l" indent="0" marL="0">
              <a:buNone/>
            </a:pPr>
            <a:r>
              <a:rPr lang="en-US" sz="1350" b="1" dirty="0">
                <a:solidFill>
                  <a:srgbClr val="1F2A37"/>
                </a:solidFill>
                <a:latin typeface="Calibri" pitchFamily="34" charset="0"/>
                <a:cs typeface="Amiri" pitchFamily="2" charset="-78"/>
              </a:rPr>
              <a:t> • two purposes (</a:t>
            </a:r>
            <a:pPr algn="l" indent="0" marL="0">
              <a:buNone/>
            </a:pPr>
            <a:r>
              <a:rPr lang="ar-SA" altLang="en-US" sz="1750" b="1" dirty="0">
                <a:solidFill>
                  <a:srgbClr val="1F2A37"/>
                </a:solidFill>
                <a:latin typeface="Amiri" pitchFamily="2" charset="-78"/>
                <a:ea typeface="Amiri" pitchFamily="2" charset="-78"/>
                <a:cs typeface="Amiri" pitchFamily="2" charset="-78"/>
              </a:rPr>
              <a:t>لِكَيْ / حَتَّى</a:t>
            </a:r>
            <a:pPr algn="l" indent="0" marL="0">
              <a:buNone/>
            </a:pPr>
            <a:r>
              <a:rPr lang="en-US" sz="1350" b="1" dirty="0">
                <a:solidFill>
                  <a:srgbClr val="1F2A37"/>
                </a:solidFill>
                <a:latin typeface="Calibri" pitchFamily="34" charset="0"/>
                <a:cs typeface="Amiri" pitchFamily="2" charset="-78"/>
              </a:rPr>
              <a:t>) • one negative (</a:t>
            </a:r>
            <a:pPr algn="l" indent="0" marL="0">
              <a:buNone/>
            </a:pPr>
            <a:r>
              <a:rPr lang="ar-SA" altLang="en-US" sz="1750" b="1" dirty="0">
                <a:solidFill>
                  <a:srgbClr val="1F2A37"/>
                </a:solidFill>
                <a:latin typeface="Amiri" pitchFamily="2" charset="-78"/>
                <a:ea typeface="Amiri" pitchFamily="2" charset="-78"/>
                <a:cs typeface="Amiri" pitchFamily="2" charset="-78"/>
              </a:rPr>
              <a:t>لَنْ</a:t>
            </a:r>
            <a:pPr algn="l" indent="0" marL="0">
              <a:buNone/>
            </a:pPr>
            <a:r>
              <a:rPr lang="en-US" sz="1350" b="1" dirty="0">
                <a:solidFill>
                  <a:srgbClr val="1F2A37"/>
                </a:solidFill>
                <a:latin typeface="Calibri" pitchFamily="34" charset="0"/>
                <a:cs typeface="Amiri" pitchFamily="2" charset="-78"/>
              </a:rPr>
              <a:t> …) • a condition (</a:t>
            </a:r>
            <a:pPr algn="l" indent="0" marL="0">
              <a:buNone/>
            </a:pPr>
            <a:r>
              <a:rPr lang="ar-SA" altLang="en-US" sz="1750" b="1" dirty="0">
                <a:solidFill>
                  <a:srgbClr val="1F2A37"/>
                </a:solidFill>
                <a:latin typeface="Amiri" pitchFamily="2" charset="-78"/>
                <a:ea typeface="Amiri" pitchFamily="2" charset="-78"/>
                <a:cs typeface="Amiri" pitchFamily="2" charset="-78"/>
              </a:rPr>
              <a:t>إِذَا … فَسَوْفَ</a:t>
            </a:r>
            <a:pPr algn="l" indent="0" marL="0">
              <a:buNone/>
            </a:pPr>
            <a:r>
              <a:rPr lang="en-US" sz="1350" b="1" dirty="0">
                <a:solidFill>
                  <a:srgbClr val="1F2A37"/>
                </a:solidFill>
                <a:latin typeface="Calibri" pitchFamily="34" charset="0"/>
                <a:cs typeface="Amiri" pitchFamily="2" charset="-78"/>
              </a:rPr>
              <a:t> …) or Plan B.</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أَطْمَحُ إِلَى أَنْ أُصْبِحَ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aspire to become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سَأَدْرُسُ … ثُمَّ سَوْفَ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study … then I will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لِكَيْ … · حَتَّى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order to … · so that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نَجَحْتُ، فَسَأُ…</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if I succeed, I will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sa- / </a:t>
            </a:r>
            <a:pPr algn="l" indent="0" marL="0">
              <a:buNone/>
            </a:pPr>
            <a:r>
              <a:rPr lang="ar-SA" altLang="en-US" sz="1450" dirty="0">
                <a:solidFill>
                  <a:srgbClr val="5A6472"/>
                </a:solidFill>
                <a:latin typeface="Amiri" pitchFamily="2" charset="-78"/>
                <a:ea typeface="Amiri" pitchFamily="2" charset="-78"/>
                <a:cs typeface="Amiri" pitchFamily="2" charset="-78"/>
              </a:rPr>
              <a:t>سَوْفَ</a:t>
            </a:r>
            <a:pPr algn="l" indent="0" marL="0">
              <a:buNone/>
            </a:pPr>
            <a:r>
              <a:rPr lang="en-US" sz="1100" dirty="0">
                <a:solidFill>
                  <a:srgbClr val="5A6472"/>
                </a:solidFill>
                <a:latin typeface="Calibri" pitchFamily="34" charset="0"/>
                <a:cs typeface="Amiri" pitchFamily="2" charset="-78"/>
              </a:rPr>
              <a:t> for at least three plans?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لَنْ</a:t>
            </a:r>
            <a:pPr algn="l" indent="0" marL="0">
              <a:buNone/>
            </a:pPr>
            <a:r>
              <a:rPr lang="en-US" sz="1100" dirty="0">
                <a:solidFill>
                  <a:srgbClr val="5A6472"/>
                </a:solidFill>
                <a:latin typeface="Calibri" pitchFamily="34" charset="0"/>
                <a:cs typeface="Amiri" pitchFamily="2" charset="-78"/>
              </a:rPr>
              <a:t> + -a, </a:t>
            </a:r>
            <a:pPr algn="l" indent="0" marL="0">
              <a:buNone/>
            </a:pPr>
            <a:r>
              <a:rPr lang="ar-SA" altLang="en-US" sz="1450" dirty="0">
                <a:solidFill>
                  <a:srgbClr val="5A6472"/>
                </a:solidFill>
                <a:latin typeface="Amiri" pitchFamily="2" charset="-78"/>
                <a:ea typeface="Amiri" pitchFamily="2" charset="-78"/>
                <a:cs typeface="Amiri" pitchFamily="2" charset="-78"/>
              </a:rPr>
              <a:t>لِكَيْ</a:t>
            </a:r>
            <a:pPr algn="l" indent="0" marL="0">
              <a:buNone/>
            </a:pPr>
            <a:r>
              <a:rPr lang="en-US" sz="1100" dirty="0">
                <a:solidFill>
                  <a:srgbClr val="5A6472"/>
                </a:solidFill>
                <a:latin typeface="Calibri" pitchFamily="34" charset="0"/>
                <a:cs typeface="Amiri" pitchFamily="2" charset="-78"/>
              </a:rPr>
              <a:t> + -a and an </a:t>
            </a:r>
            <a:pPr algn="l" indent="0" marL="0">
              <a:buNone/>
            </a:pPr>
            <a:r>
              <a:rPr lang="ar-SA" altLang="en-US" sz="1450" dirty="0">
                <a:solidFill>
                  <a:srgbClr val="5A6472"/>
                </a:solidFill>
                <a:latin typeface="Amiri" pitchFamily="2" charset="-78"/>
                <a:ea typeface="Amiri" pitchFamily="2" charset="-78"/>
                <a:cs typeface="Amiri" pitchFamily="2" charset="-78"/>
              </a:rPr>
              <a:t>إِذَا</a:t>
            </a:r>
            <a:pPr algn="l" indent="0" marL="0">
              <a:buNone/>
            </a:pPr>
            <a:r>
              <a:rPr lang="en-US" sz="1100" dirty="0">
                <a:solidFill>
                  <a:srgbClr val="5A6472"/>
                </a:solidFill>
                <a:latin typeface="Calibri" pitchFamily="34" charset="0"/>
                <a:cs typeface="Amiri" pitchFamily="2" charset="-78"/>
              </a:rPr>
              <a:t> condition correctly?</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أَطْمَحُ إِلَى أَنْ أُصْبِحَ مُهَنْدِسًا مِعْمَارِيًّا.</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aspire to become an architect.</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طُمُوحُكَ؟</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سَأَدْرُسُ الرِّيَاضِيَّاتِ وَالفَنَّ، ثُمَّ سَوْفَ أَتَقَدَّمُ إِلَى الجَامِعَةِ.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will study maths and art, then I will apply to university.</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 خُطَّتُكَ لِلسَّنَتَيْنِ القَادِمَتَيْنِ؟</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لِكَيْ أَتَعَلَّمَ الرَّسْمَ وَالتَّصْمِيمَ، فَهُمَا مُهِمَّانِ لِلْمِعْمَارِيِّ.</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To learn drawing and design — they are important for an architect.</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الفَنُّ؟</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سَأَدْرُسُ فِي مَعْهَدٍ مِهَنِيٍّ أَوَّلًا، وَلَنْ أَسْتَسْلِمَ.</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will study at a vocational college first, and I won’t give up.</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وَإِذَا لَمْ تَحْصُلْ عَلَى الدَّرَجَاتِ المَطْلُوبَةِ؟</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أَطْمَحُ إِلَى أَنْ أُصْبِحَ مُبَرْمِجَةً فِي شَرِكَةٍ كَبِيرَةٍ. فِي السَّنَتَيْنِ القَادِمَتَيْنِ سَأَدْرُسُ الرِّيَاضِيَّاتِ وَعُلُومَ الحَاسُوبِ، لِكَيْ أَدْخُلَ كُلِّيَّةً جَيِّدَةً. بَعْدَ التَّخَرُّجِ سَوْفَ أَتَدَرَّبُ فِي شَرِكَةٍ مُدَّةَ سَنَةٍ، حَتَّى أَكْسِبَ خِبْرَةً عَمَلِيَّةً. أَنْوِي أَنْ أُصَمِّمَ تَطْبِيقَاتٍ تُسَاعِدُ الطُّلَّابَ. لَنْ أَعْمَلَ فِي وَظِيفَةٍ مُمِلَّةٍ، لِأَنَّنِي أُحِبُّ الإِبْدَاعَ. إِذَا نَجَحْتُ، فَسَوْفَ أَفْتَحُ شَرِكَتِي الخَاصَّةَ يَوْمًا مَا. وَإِذَا لَمْ أَنْجَحْ، سَأُحَاوِلُ مَرَّةً أُخْرَى!</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aspire to become a programmer in a big company. In the next two years I will study maths and computer science, so that I get into a good college. After graduating I will train in a company for a year, so that I gain practical experience. I intend to design apps that help students. I won’t work in a boring job, because I love creativity. If I succeed, I will open my own company one day. And if I don’t succeed, I will try again!”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أَطْمَحُ إِلَى أَنْ أُصْبِحَ</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لِكَيْ أَدْخُلَ</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لَنْ أَعْمَلَ</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إِذَا نَجَحْتُ، فَسَوْفَ</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D3-L04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D3-L04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50" b="1" dirty="0">
                <a:solidFill>
                  <a:srgbClr val="FFFFFF"/>
                </a:solidFill>
                <a:latin typeface="Cambria" pitchFamily="34" charset="0"/>
                <a:cs typeface="Amiri" pitchFamily="2" charset="-78"/>
              </a:rPr>
              <a:t>D3-L05 · Education and Training — Routes to a Career</a:t>
            </a:r>
            <a:endParaRPr lang="en-US" sz="18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التَّعْلِيمُ وَالتَّدْرِيبُ — طُرُقٌ إِلَى المَسِيرَةِ المِهَنِيَّةِ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D3-L04 · Practice Room — The Future Tense — Plans, Ambitions and Career Goals</dc:title>
  <dc:subject>PptxGenJS Presentation</dc:subject>
  <dc:creator>Al Madina Online School · Arabic Department</dc:creator>
  <cp:lastModifiedBy>Al Madina Online School · Arabic Department</cp:lastModifiedBy>
  <cp:revision>1</cp:revision>
  <dcterms:created xsi:type="dcterms:W3CDTF">2026-10-25T18:34:28Z</dcterms:created>
  <dcterms:modified xsi:type="dcterms:W3CDTF">2026-10-25T18:34:28Z</dcterms:modified>
</cp:coreProperties>
</file>