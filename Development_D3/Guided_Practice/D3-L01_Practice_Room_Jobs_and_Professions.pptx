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D3-L01 (Jobs and Professions — Vocabulary and Gender) — new practice tasks built on the lesson’s own word bank and grammar (professions in three forms (ṭabībun · ṭabībatun · aṭibbāʾu / ṭabībātun); place with fī (yaʿmalu fī mustashfā); “works as” with the accusative (yaʿmalu muḥāsiban · taʿmalu muhandisatan); a job I would like: urīdu an aʿmala … li-anna …).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D3-L01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FADED SUPPORT: tasks 1–2 show the plan (question word → first words); students write their own plan for 3–4. Everyone is Speaker once. To a girl the Leader says: adviser to a girl: وَالِدَاكِ · يُعْجِبُكِ · تُرِيدِينَ · أُمِّكِ. yaʿmalu + job in the accusative (ṣaḥafiyyan) · ṭabībatu asnān = dentist (f.).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(40–50 words). Develop: 60–80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(62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D3  ·  D3-L01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D3-L01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Jobs and Professions — Vocabulary and Gender</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الوَظَائِفُ وَالمِهَنُ</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100" dirty="0">
                <a:solidFill>
                  <a:srgbClr val="C6D2E6"/>
                </a:solidFill>
                <a:latin typeface="Calibri" pitchFamily="34" charset="0"/>
                <a:cs typeface="Amiri" pitchFamily="2" charset="-78"/>
              </a:rPr>
              <a:t>Students run their own speaking and writing practice with jobs: say each job in masculine, feminine and plural, act a short dialogue about family jobs, answer question cards, do a role-play card at a careers fair, give a one-minute talk about jobs in their family, then build, fix and write a paragraph about family jobs and their own dream job.</a:t>
            </a:r>
            <a:endParaRPr lang="en-US" sz="11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D3-L01 · Development D3 · Work and Careers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D3 › D3-L01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Jobs (m. / 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96112"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طَبِيبٌ / طَبِيبَةٌ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doctor</a:t>
            </a:r>
            <a:endParaRPr lang="en-US" sz="1350" dirty="0"/>
          </a:p>
          <a:p>
            <a:pPr indent="0" marL="0">
              <a:buNone/>
            </a:pPr>
            <a:r>
              <a:rPr lang="en-US" sz="1100" i="1" dirty="0">
                <a:solidFill>
                  <a:srgbClr val="5A6472"/>
                </a:solidFill>
                <a:latin typeface="Calibri" pitchFamily="34" charset="0"/>
                <a:cs typeface="Amiri" pitchFamily="2" charset="-78"/>
              </a:rPr>
              <a:t>ṭa-bī-bun / ṭa-bī-ba-tun</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أَطِبَّاءُ</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طَبِيبٌ</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مُهَنْدِسٌ / مُهَنْدِسَةٌ</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engineer</a:t>
            </a:r>
            <a:endParaRPr lang="en-US" sz="1350" dirty="0"/>
          </a:p>
          <a:p>
            <a:pPr indent="0" marL="0">
              <a:buNone/>
            </a:pPr>
            <a:r>
              <a:rPr lang="en-US" sz="1100" i="1" dirty="0">
                <a:solidFill>
                  <a:srgbClr val="5A6472"/>
                </a:solidFill>
                <a:latin typeface="Calibri" pitchFamily="34" charset="0"/>
                <a:cs typeface="Amiri" pitchFamily="2" charset="-78"/>
              </a:rPr>
              <a:t>mu-han-di-sun / mu-han-di-sa-tun</a:t>
            </a:r>
            <a:endParaRPr lang="en-US" sz="1350" dirty="0"/>
          </a:p>
        </p:txBody>
      </p:sp>
      <p:sp>
        <p:nvSpPr>
          <p:cNvPr id="42" name="Shape 39"/>
          <p:cNvSpPr/>
          <p:nvPr/>
        </p:nvSpPr>
        <p:spPr>
          <a:xfrm>
            <a:off x="6720840"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77570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4" name="Text 41"/>
          <p:cNvSpPr txBox="1"/>
          <p:nvPr/>
        </p:nvSpPr>
        <p:spPr>
          <a:xfrm>
            <a:off x="676656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مُهَنْدِسُونَ</a:t>
            </a:r>
            <a:endParaRPr lang="ar-SA" sz="1500" dirty="0"/>
          </a:p>
        </p:txBody>
      </p:sp>
      <p:sp>
        <p:nvSpPr>
          <p:cNvPr id="45" name="Shape 42"/>
          <p:cNvSpPr/>
          <p:nvPr/>
        </p:nvSpPr>
        <p:spPr>
          <a:xfrm>
            <a:off x="5568696"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5623560"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47" name="Text 44"/>
          <p:cNvSpPr txBox="1"/>
          <p:nvPr/>
        </p:nvSpPr>
        <p:spPr>
          <a:xfrm>
            <a:off x="5614416"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مُهَنْدِسَةٌ</a:t>
            </a:r>
            <a:endParaRPr lang="ar-SA" sz="1500" dirty="0"/>
          </a:p>
        </p:txBody>
      </p:sp>
      <p:sp>
        <p:nvSpPr>
          <p:cNvPr id="48" name="Shape 45"/>
          <p:cNvSpPr/>
          <p:nvPr/>
        </p:nvSpPr>
        <p:spPr>
          <a:xfrm>
            <a:off x="4416552"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447141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0" name="Text 47"/>
          <p:cNvSpPr txBox="1"/>
          <p:nvPr/>
        </p:nvSpPr>
        <p:spPr>
          <a:xfrm>
            <a:off x="446227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مُهَنْدِسٌ</a:t>
            </a:r>
            <a:endParaRPr lang="ar-SA" sz="1500" dirty="0"/>
          </a:p>
        </p:txBody>
      </p:sp>
      <p:sp>
        <p:nvSpPr>
          <p:cNvPr id="51" name="Shape 4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566928" y="1920240"/>
            <a:ext cx="310896" cy="310896"/>
          </a:xfrm>
          <a:prstGeom prst="ellipse">
            <a:avLst/>
          </a:prstGeom>
          <a:solidFill>
            <a:srgbClr val="F4F1EA"/>
          </a:solidFill>
          <a:ln w="12700">
            <a:solidFill>
              <a:srgbClr val="F4F1EA"/>
            </a:solidFill>
            <a:prstDash val="solid"/>
          </a:ln>
        </p:spPr>
      </p:sp>
      <p:sp>
        <p:nvSpPr>
          <p:cNvPr id="53" name="Text 5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4" name="Shape 51"/>
          <p:cNvSpPr/>
          <p:nvPr/>
        </p:nvSpPr>
        <p:spPr>
          <a:xfrm>
            <a:off x="960120" y="1938528"/>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960120"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 / مُدَرِّسَةٌ</a:t>
            </a:r>
            <a:endParaRPr lang="ar-SA" sz="3000" dirty="0"/>
          </a:p>
        </p:txBody>
      </p:sp>
      <p:sp>
        <p:nvSpPr>
          <p:cNvPr id="59" name="Text 5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teacher</a:t>
            </a:r>
            <a:endParaRPr lang="en-US" sz="1350" dirty="0"/>
          </a:p>
          <a:p>
            <a:pPr indent="0" marL="0">
              <a:buNone/>
            </a:pPr>
            <a:r>
              <a:rPr lang="en-US" sz="1100" i="1" dirty="0">
                <a:solidFill>
                  <a:srgbClr val="5A6472"/>
                </a:solidFill>
                <a:latin typeface="Calibri" pitchFamily="34" charset="0"/>
                <a:cs typeface="Amiri" pitchFamily="2" charset="-78"/>
              </a:rPr>
              <a:t>mu-dar-ri-sun / mu-dar-ri-sa-tun</a:t>
            </a:r>
            <a:endParaRPr lang="en-US" sz="1350" dirty="0"/>
          </a:p>
        </p:txBody>
      </p:sp>
      <p:sp>
        <p:nvSpPr>
          <p:cNvPr id="60" name="Shape 57"/>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2" name="Text 59"/>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مُدَرِّسُونَ</a:t>
            </a:r>
            <a:endParaRPr lang="ar-SA" sz="1500" dirty="0"/>
          </a:p>
        </p:txBody>
      </p:sp>
      <p:sp>
        <p:nvSpPr>
          <p:cNvPr id="63" name="Shape 60"/>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مُدَرِّسَةٌ</a:t>
            </a:r>
            <a:endParaRPr lang="ar-SA" sz="1500" dirty="0"/>
          </a:p>
        </p:txBody>
      </p:sp>
      <p:sp>
        <p:nvSpPr>
          <p:cNvPr id="66" name="Shape 63"/>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8" name="Text 65"/>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مُدَرِّسٌ</a:t>
            </a:r>
            <a:endParaRPr lang="ar-SA" sz="1500" dirty="0"/>
          </a:p>
        </p:txBody>
      </p:sp>
      <p:sp>
        <p:nvSpPr>
          <p:cNvPr id="69" name="Shape 66"/>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8211312"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72" name="Shape 69"/>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74" name="Shape 71"/>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75" name="Text 72"/>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6" name="Text 73"/>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مُمَرِّضٌ / مُمَرِّضَةٌ</a:t>
            </a:r>
            <a:endParaRPr lang="ar-SA" sz="3000" dirty="0"/>
          </a:p>
        </p:txBody>
      </p:sp>
      <p:sp>
        <p:nvSpPr>
          <p:cNvPr id="77" name="Text 74"/>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nurse</a:t>
            </a:r>
            <a:endParaRPr lang="en-US" sz="1350" dirty="0"/>
          </a:p>
          <a:p>
            <a:pPr indent="0" marL="0">
              <a:buNone/>
            </a:pPr>
            <a:r>
              <a:rPr lang="en-US" sz="1100" i="1" dirty="0">
                <a:solidFill>
                  <a:srgbClr val="5A6472"/>
                </a:solidFill>
                <a:latin typeface="Calibri" pitchFamily="34" charset="0"/>
                <a:cs typeface="Amiri" pitchFamily="2" charset="-78"/>
              </a:rPr>
              <a:t>mu-mar-ri-ḍun / mu-mar-ri-ḍa-tun</a:t>
            </a:r>
            <a:endParaRPr lang="en-US" sz="1350" dirty="0"/>
          </a:p>
        </p:txBody>
      </p:sp>
      <p:sp>
        <p:nvSpPr>
          <p:cNvPr id="78" name="Shape 75"/>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79" name="Text 76"/>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0" name="Text 77"/>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مُمَرِّضُونَ</a:t>
            </a:r>
            <a:endParaRPr lang="ar-SA" sz="1500" dirty="0"/>
          </a:p>
        </p:txBody>
      </p:sp>
      <p:sp>
        <p:nvSpPr>
          <p:cNvPr id="81" name="Shape 78"/>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3" name="Text 80"/>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مُمَرِّضَةٌ</a:t>
            </a:r>
            <a:endParaRPr lang="ar-SA" sz="1500" dirty="0"/>
          </a:p>
        </p:txBody>
      </p:sp>
      <p:sp>
        <p:nvSpPr>
          <p:cNvPr id="84" name="Shape 81"/>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86" name="Text 83"/>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مُمَرِّضٌ</a:t>
            </a:r>
            <a:endParaRPr lang="ar-SA" sz="1500" dirty="0"/>
          </a:p>
        </p:txBody>
      </p:sp>
      <p:sp>
        <p:nvSpPr>
          <p:cNvPr id="87" name="Shape 8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8" name="Shape 85"/>
          <p:cNvSpPr/>
          <p:nvPr/>
        </p:nvSpPr>
        <p:spPr>
          <a:xfrm>
            <a:off x="4389120" y="4261104"/>
            <a:ext cx="310896" cy="310896"/>
          </a:xfrm>
          <a:prstGeom prst="ellipse">
            <a:avLst/>
          </a:prstGeom>
          <a:solidFill>
            <a:srgbClr val="F4F1EA"/>
          </a:solidFill>
          <a:ln w="12700">
            <a:solidFill>
              <a:srgbClr val="F4F1EA"/>
            </a:solidFill>
            <a:prstDash val="solid"/>
          </a:ln>
        </p:spPr>
      </p:sp>
      <p:sp>
        <p:nvSpPr>
          <p:cNvPr id="89" name="Text 8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90" name="Shape 87"/>
          <p:cNvSpPr/>
          <p:nvPr/>
        </p:nvSpPr>
        <p:spPr>
          <a:xfrm>
            <a:off x="4782312" y="4279392"/>
            <a:ext cx="896112" cy="256032"/>
          </a:xfrm>
          <a:prstGeom prst="roundRect">
            <a:avLst>
              <a:gd name="adj" fmla="val 50000"/>
            </a:avLst>
          </a:prstGeom>
          <a:solidFill>
            <a:srgbClr val="EFE7D2"/>
          </a:solidFill>
          <a:ln w="12700">
            <a:solidFill>
              <a:srgbClr val="EFE7D2"/>
            </a:solidFill>
            <a:prstDash val="solid"/>
          </a:ln>
        </p:spPr>
      </p:sp>
      <p:sp>
        <p:nvSpPr>
          <p:cNvPr id="91" name="Text 88"/>
          <p:cNvSpPr txBox="1"/>
          <p:nvPr/>
        </p:nvSpPr>
        <p:spPr>
          <a:xfrm>
            <a:off x="4782312"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92" name="Shape 89"/>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93" name="Text 90"/>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94" name="Text 91"/>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صَحَفِيٌّ / صَحَفِيَّةٌ</a:t>
            </a:r>
            <a:endParaRPr lang="ar-SA" sz="3000" dirty="0"/>
          </a:p>
        </p:txBody>
      </p:sp>
      <p:sp>
        <p:nvSpPr>
          <p:cNvPr id="95" name="Text 92"/>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journalist</a:t>
            </a:r>
            <a:endParaRPr lang="en-US" sz="1350" dirty="0"/>
          </a:p>
          <a:p>
            <a:pPr indent="0" marL="0">
              <a:buNone/>
            </a:pPr>
            <a:r>
              <a:rPr lang="en-US" sz="1100" i="1" dirty="0">
                <a:solidFill>
                  <a:srgbClr val="5A6472"/>
                </a:solidFill>
                <a:latin typeface="Calibri" pitchFamily="34" charset="0"/>
                <a:cs typeface="Amiri" pitchFamily="2" charset="-78"/>
              </a:rPr>
              <a:t>ṣa-ḥa-fiy-yun / ṣa-ḥa-fiy-ya-tun</a:t>
            </a:r>
            <a:endParaRPr lang="en-US" sz="1350" dirty="0"/>
          </a:p>
        </p:txBody>
      </p:sp>
      <p:sp>
        <p:nvSpPr>
          <p:cNvPr id="96" name="Shape 93"/>
          <p:cNvSpPr/>
          <p:nvPr/>
        </p:nvSpPr>
        <p:spPr>
          <a:xfrm>
            <a:off x="6720840" y="5779008"/>
            <a:ext cx="1060704" cy="438912"/>
          </a:xfrm>
          <a:prstGeom prst="roundRect">
            <a:avLst>
              <a:gd name="adj" fmla="val 10417"/>
            </a:avLst>
          </a:prstGeom>
          <a:solidFill>
            <a:srgbClr val="F4F1EA"/>
          </a:solidFill>
          <a:ln w="9525">
            <a:solidFill>
              <a:srgbClr val="F4F1EA"/>
            </a:solidFill>
            <a:prstDash val="solid"/>
          </a:ln>
        </p:spPr>
      </p:sp>
      <p:sp>
        <p:nvSpPr>
          <p:cNvPr id="97" name="Text 94"/>
          <p:cNvSpPr txBox="1"/>
          <p:nvPr/>
        </p:nvSpPr>
        <p:spPr>
          <a:xfrm>
            <a:off x="677570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98" name="Text 95"/>
          <p:cNvSpPr txBox="1"/>
          <p:nvPr/>
        </p:nvSpPr>
        <p:spPr>
          <a:xfrm>
            <a:off x="676656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صَحَفِيُّونَ</a:t>
            </a:r>
            <a:endParaRPr lang="ar-SA" sz="1500" dirty="0"/>
          </a:p>
        </p:txBody>
      </p:sp>
      <p:sp>
        <p:nvSpPr>
          <p:cNvPr id="99" name="Shape 96"/>
          <p:cNvSpPr/>
          <p:nvPr/>
        </p:nvSpPr>
        <p:spPr>
          <a:xfrm>
            <a:off x="5568696" y="5779008"/>
            <a:ext cx="1060704" cy="438912"/>
          </a:xfrm>
          <a:prstGeom prst="roundRect">
            <a:avLst>
              <a:gd name="adj" fmla="val 10417"/>
            </a:avLst>
          </a:prstGeom>
          <a:solidFill>
            <a:srgbClr val="F4F1EA"/>
          </a:solidFill>
          <a:ln w="9525">
            <a:solidFill>
              <a:srgbClr val="F4F1EA"/>
            </a:solidFill>
            <a:prstDash val="solid"/>
          </a:ln>
        </p:spPr>
      </p:sp>
      <p:sp>
        <p:nvSpPr>
          <p:cNvPr id="100" name="Text 97"/>
          <p:cNvSpPr txBox="1"/>
          <p:nvPr/>
        </p:nvSpPr>
        <p:spPr>
          <a:xfrm>
            <a:off x="5623560"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01" name="Text 98"/>
          <p:cNvSpPr txBox="1"/>
          <p:nvPr/>
        </p:nvSpPr>
        <p:spPr>
          <a:xfrm>
            <a:off x="5614416"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صَحَفِيَّةٌ</a:t>
            </a:r>
            <a:endParaRPr lang="ar-SA" sz="1500" dirty="0"/>
          </a:p>
        </p:txBody>
      </p:sp>
      <p:sp>
        <p:nvSpPr>
          <p:cNvPr id="102" name="Shape 99"/>
          <p:cNvSpPr/>
          <p:nvPr/>
        </p:nvSpPr>
        <p:spPr>
          <a:xfrm>
            <a:off x="4416552" y="5779008"/>
            <a:ext cx="1060704" cy="438912"/>
          </a:xfrm>
          <a:prstGeom prst="roundRect">
            <a:avLst>
              <a:gd name="adj" fmla="val 10417"/>
            </a:avLst>
          </a:prstGeom>
          <a:solidFill>
            <a:srgbClr val="F4F1EA"/>
          </a:solidFill>
          <a:ln w="9525">
            <a:solidFill>
              <a:srgbClr val="F4F1EA"/>
            </a:solidFill>
            <a:prstDash val="solid"/>
          </a:ln>
        </p:spPr>
      </p:sp>
      <p:sp>
        <p:nvSpPr>
          <p:cNvPr id="103" name="Text 100"/>
          <p:cNvSpPr txBox="1"/>
          <p:nvPr/>
        </p:nvSpPr>
        <p:spPr>
          <a:xfrm>
            <a:off x="447141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04" name="Text 101"/>
          <p:cNvSpPr txBox="1"/>
          <p:nvPr/>
        </p:nvSpPr>
        <p:spPr>
          <a:xfrm>
            <a:off x="446227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صَحَفِيٌّ</a:t>
            </a:r>
            <a:endParaRPr lang="ar-SA" sz="1500" dirty="0"/>
          </a:p>
        </p:txBody>
      </p:sp>
      <p:sp>
        <p:nvSpPr>
          <p:cNvPr id="105" name="Shape 102"/>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6" name="Shape 103"/>
          <p:cNvSpPr/>
          <p:nvPr/>
        </p:nvSpPr>
        <p:spPr>
          <a:xfrm>
            <a:off x="566928" y="4261104"/>
            <a:ext cx="310896" cy="310896"/>
          </a:xfrm>
          <a:prstGeom prst="ellipse">
            <a:avLst/>
          </a:prstGeom>
          <a:solidFill>
            <a:srgbClr val="F4F1EA"/>
          </a:solidFill>
          <a:ln w="12700">
            <a:solidFill>
              <a:srgbClr val="F4F1EA"/>
            </a:solidFill>
            <a:prstDash val="solid"/>
          </a:ln>
        </p:spPr>
      </p:sp>
      <p:sp>
        <p:nvSpPr>
          <p:cNvPr id="107" name="Text 104"/>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08" name="Shape 105"/>
          <p:cNvSpPr/>
          <p:nvPr/>
        </p:nvSpPr>
        <p:spPr>
          <a:xfrm>
            <a:off x="960120" y="4279392"/>
            <a:ext cx="896112" cy="256032"/>
          </a:xfrm>
          <a:prstGeom prst="roundRect">
            <a:avLst>
              <a:gd name="adj" fmla="val 50000"/>
            </a:avLst>
          </a:prstGeom>
          <a:solidFill>
            <a:srgbClr val="EFE7D2"/>
          </a:solidFill>
          <a:ln w="12700">
            <a:solidFill>
              <a:srgbClr val="EFE7D2"/>
            </a:solidFill>
            <a:prstDash val="solid"/>
          </a:ln>
        </p:spPr>
      </p:sp>
      <p:sp>
        <p:nvSpPr>
          <p:cNvPr id="109" name="Text 106"/>
          <p:cNvSpPr txBox="1"/>
          <p:nvPr/>
        </p:nvSpPr>
        <p:spPr>
          <a:xfrm>
            <a:off x="960120"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110" name="Shape 107"/>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111" name="Text 108"/>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112" name="Text 109"/>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مُحَاسِبٌ / مُحَاسِبَةٌ</a:t>
            </a:r>
            <a:endParaRPr lang="ar-SA" sz="3000" dirty="0"/>
          </a:p>
        </p:txBody>
      </p:sp>
      <p:sp>
        <p:nvSpPr>
          <p:cNvPr id="113" name="Text 110"/>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accountant</a:t>
            </a:r>
            <a:endParaRPr lang="en-US" sz="1350" dirty="0"/>
          </a:p>
          <a:p>
            <a:pPr indent="0" marL="0">
              <a:buNone/>
            </a:pPr>
            <a:r>
              <a:rPr lang="en-US" sz="1100" i="1" dirty="0">
                <a:solidFill>
                  <a:srgbClr val="5A6472"/>
                </a:solidFill>
                <a:latin typeface="Calibri" pitchFamily="34" charset="0"/>
                <a:cs typeface="Amiri" pitchFamily="2" charset="-78"/>
              </a:rPr>
              <a:t>mu-ḥā-si-bun / mu-ḥā-si-ba-tun</a:t>
            </a:r>
            <a:endParaRPr lang="en-US" sz="1350" dirty="0"/>
          </a:p>
        </p:txBody>
      </p:sp>
      <p:sp>
        <p:nvSpPr>
          <p:cNvPr id="114" name="Shape 111"/>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115" name="Text 112"/>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116" name="Text 113"/>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مُحَاسِبُونَ</a:t>
            </a:r>
            <a:endParaRPr lang="ar-SA" sz="1500" dirty="0"/>
          </a:p>
        </p:txBody>
      </p:sp>
      <p:sp>
        <p:nvSpPr>
          <p:cNvPr id="117" name="Shape 114"/>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118" name="Text 115"/>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119" name="Text 116"/>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مُحَاسِبَةٌ</a:t>
            </a:r>
            <a:endParaRPr lang="ar-SA" sz="1500" dirty="0"/>
          </a:p>
        </p:txBody>
      </p:sp>
      <p:sp>
        <p:nvSpPr>
          <p:cNvPr id="120" name="Shape 117"/>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121" name="Text 118"/>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122" name="Text 119"/>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مُحَاسِبٌ</a:t>
            </a:r>
            <a:endParaRPr lang="ar-SA" sz="1500" dirty="0"/>
          </a:p>
        </p:txBody>
      </p:sp>
      <p:sp>
        <p:nvSpPr>
          <p:cNvPr id="123" name="Text 12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Workplaces and linking</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مُسْتَشْفًى</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a:t>
            </a:r>
            <a:endParaRPr lang="en-US" sz="1350" dirty="0"/>
          </a:p>
          <a:p>
            <a:pPr indent="0" marL="0">
              <a:buNone/>
            </a:pPr>
            <a:r>
              <a:rPr lang="en-US" sz="1100" i="1" dirty="0">
                <a:solidFill>
                  <a:srgbClr val="5A6472"/>
                </a:solidFill>
                <a:latin typeface="Calibri" pitchFamily="34" charset="0"/>
                <a:cs typeface="Amiri" pitchFamily="2" charset="-78"/>
              </a:rPr>
              <a:t>mus-tash-fan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a:t>
            </a:r>
            <a:endParaRPr lang="en-US" sz="1350" dirty="0"/>
          </a:p>
          <a:p>
            <a:pPr indent="0" marL="0">
              <a:buNone/>
            </a:pPr>
            <a:r>
              <a:rPr lang="en-US" sz="1100" i="1" dirty="0">
                <a:solidFill>
                  <a:srgbClr val="5A6472"/>
                </a:solidFill>
                <a:latin typeface="Calibri" pitchFamily="34" charset="0"/>
                <a:cs typeface="Amiri" pitchFamily="2" charset="-78"/>
              </a:rPr>
              <a:t>mad-ra-sa-tun</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مَكْتَبٌ</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office</a:t>
            </a:r>
            <a:endParaRPr lang="en-US" sz="1350" dirty="0"/>
          </a:p>
          <a:p>
            <a:pPr indent="0" marL="0">
              <a:buNone/>
            </a:pPr>
            <a:r>
              <a:rPr lang="en-US" sz="1100" i="1" dirty="0">
                <a:solidFill>
                  <a:srgbClr val="5A6472"/>
                </a:solidFill>
                <a:latin typeface="Calibri" pitchFamily="34" charset="0"/>
                <a:cs typeface="Amiri" pitchFamily="2" charset="-78"/>
              </a:rPr>
              <a:t>mak-ta-bun</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شَرِكَةٌ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company</a:t>
            </a:r>
            <a:endParaRPr lang="en-US" sz="1350" dirty="0"/>
          </a:p>
          <a:p>
            <a:pPr indent="0" marL="0">
              <a:buNone/>
            </a:pPr>
            <a:r>
              <a:rPr lang="en-US" sz="1100" i="1" dirty="0">
                <a:solidFill>
                  <a:srgbClr val="5A6472"/>
                </a:solidFill>
                <a:latin typeface="Calibri" pitchFamily="34" charset="0"/>
                <a:cs typeface="Amiri" pitchFamily="2" charset="-78"/>
              </a:rPr>
              <a:t>sha-ri-ka-tun</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لِأَنَّ</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because</a:t>
            </a:r>
            <a:endParaRPr lang="en-US" sz="1350" dirty="0"/>
          </a:p>
          <a:p>
            <a:pPr indent="0" marL="0">
              <a:buNone/>
            </a:pPr>
            <a:r>
              <a:rPr lang="en-US" sz="1100" i="1" dirty="0">
                <a:solidFill>
                  <a:srgbClr val="5A6472"/>
                </a:solidFill>
                <a:latin typeface="Calibri" pitchFamily="34" charset="0"/>
                <a:cs typeface="Amiri" pitchFamily="2" charset="-78"/>
              </a:rPr>
              <a:t>li-ʾan-na</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بَيْنَمَا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whereas</a:t>
            </a:r>
            <a:endParaRPr lang="en-US" sz="1350" dirty="0"/>
          </a:p>
          <a:p>
            <a:pPr indent="0" marL="0">
              <a:buNone/>
            </a:pPr>
            <a:r>
              <a:rPr lang="en-US" sz="1100" i="1" dirty="0">
                <a:solidFill>
                  <a:srgbClr val="5A6472"/>
                </a:solidFill>
                <a:latin typeface="Calibri" pitchFamily="34" charset="0"/>
                <a:cs typeface="Amiri" pitchFamily="2" charset="-78"/>
              </a:rPr>
              <a:t>bay-na-mā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 your parents do?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مَاذَا يَعْمَلُ وَالِدَاكَ؟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your father do?</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مَاذَا يَعْمَلُ أَبُوكَ؟</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father works as an accountant in a big company.</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أَبِي يَعْمَلُ مُحَاسِبًا فِي شَرِكَةٍ كَبِيرَةٍ.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your mother?</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وَأُمُّكَ؟</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My mother is a nurse; she works in the children’s hospital.</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أُمِّي مُمَرِّضَةٌ؛ تَعْمَلُ فِي مُسْتَشْفَى الأَطْفَالِ.</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And you, what do you want to do?</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وَأَنْتَ، مَاذَا تُرِيدُ أَنْ تَعْمَلَ؟</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I want to work as an engineer, because I love maths and building.</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أُرِيدُ أَنْ أَعْمَلَ مُهَنْدِسًا، لِأَنَّنِي أُحِبُّ الرِّيَاضِيَّاتِ وَالبِنَاءَ.</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give YOUR family’s jobs — then change B into a girl (</a:t>
            </a:r>
            <a:pPr algn="l" indent="0" marL="0">
              <a:buNone/>
            </a:pPr>
            <a:r>
              <a:rPr lang="ar-SA" altLang="en-US" sz="1500" b="1" dirty="0">
                <a:solidFill>
                  <a:srgbClr val="1B3B6F"/>
                </a:solidFill>
                <a:latin typeface="Amiri" pitchFamily="2" charset="-78"/>
                <a:ea typeface="Amiri" pitchFamily="2" charset="-78"/>
                <a:cs typeface="Amiri" pitchFamily="2" charset="-78"/>
              </a:rPr>
              <a:t>مُهَنْدِسَةً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فِي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خَالِي يَعْمَلُ … / خَالَتِي تَعْمَلُ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does one of your relatives do?</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يَعْمَلُ أَحَدُ أَقَارِبِكَ؟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بَيْنَمَا تَعْمَلُ المُمَرِّضَاتُ فِي …</a:t>
            </a:r>
            <a:endParaRPr lang="ar-SA" sz="14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يَعْمَلُ المُدَرِّسُونَ 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 teachers and nurses work?</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يَعْمَلُ المُدَرِّسُونَ وَالمُمَرِّضَاتُ؟</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فِي رَأْيِي عَمَلُ … صَعْبٌ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job is hard, in your opinion?</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الوَظِيفَةُ الصَّعْبَةُ فِي رَأْيِكَ؟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أُفَضِّلُ أَنْ أَعْمَلَ فِي …</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نَعَمْ / لَا، لِأَنَّ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 you want to work in an office?</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تُرِيدُ أَنْ تَعْمَلَ فِي مَكْتَبٍ؟</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لِأَنَّنِي …</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أُرِيدُ أَنْ أَعْمَلَ … ← طَبِيبًا / طَبِيبَةً</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dream job?</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وَظِيفَةُ أَحْلَامِكَ؟</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34" b="1" spc="150" kern="0" dirty="0">
                <a:solidFill>
                  <a:srgbClr val="1E6B52"/>
                </a:solidFill>
                <a:latin typeface="Calibri" pitchFamily="34" charset="0"/>
                <a:cs typeface="Amiri" pitchFamily="2" charset="-78"/>
              </a:rPr>
              <a:t>STEP 4 · ROLE-PLAY CARD · PLANS FOR TASKS 1–2 ARE GIVEN — PLAN 3–4 YOURSELF</a:t>
            </a:r>
            <a:endParaRPr lang="en-US" sz="934"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Role-play card — at a careers fair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فِي مَعْرِضِ الوَظَائِفِ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وَالِدَايَ ← أَبِي يَعْمَلُ … ، وَأُمِّي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Two family jobs.</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أَهْلًا! مَاذَا يَعْمَلُ وَالِدَاكَ؟</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مَجَالٌ ← يُعْجِبُنِي عَمَلُ … لِأَنَّ …</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job + why.</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مَجَالٍ يُعْجِبُكَ؟</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93608" y="3840480"/>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Workplace.</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وَأَيْنَ تُرِيدُ أَنْ تَعْمَلَ؟</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8293608" y="4626864"/>
            <a:ext cx="336499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the surprise question.</a:t>
            </a:r>
            <a:endParaRPr lang="en-US" sz="1100" dirty="0"/>
          </a:p>
        </p:txBody>
      </p:sp>
      <p:sp>
        <p:nvSpPr>
          <p:cNvPr id="42" name="Text 39"/>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هَلْ تُفَكِّرُ فِي عَمَلِ أُمِّكَ أَيْضًا؟</a:t>
            </a:r>
            <a:endParaRPr lang="ar-SA" sz="1700" dirty="0"/>
          </a:p>
        </p:txBody>
      </p:sp>
      <p:sp>
        <p:nvSpPr>
          <p:cNvPr id="43" name="Text 40"/>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 !</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Speaker = a student visitor · Leader = a careers adviser. Write the plan for tasks 3–4 in your book first. Task ! is a surprise — the Leader reads it without warning. Then swap roles.</a:t>
            </a:r>
            <a:endParaRPr lang="en-US" sz="11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ONE MINUTE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One minute: jobs in my family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الوَظَائِفُ فِي عَائِلَتِي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one minute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one minute about the jobs of four people in your family and the job you would like.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Four people + job + place (</a:t>
            </a:r>
            <a:pPr algn="l" indent="0" marL="0">
              <a:buNone/>
            </a:pPr>
            <a:r>
              <a:rPr lang="ar-SA" altLang="en-US" sz="1500" dirty="0">
                <a:solidFill>
                  <a:srgbClr val="1F2A37"/>
                </a:solidFill>
                <a:latin typeface="Amiri" pitchFamily="2" charset="-78"/>
                <a:ea typeface="Amiri" pitchFamily="2" charset="-78"/>
                <a:cs typeface="Amiri" pitchFamily="2" charset="-78"/>
              </a:rPr>
              <a:t>فِي</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a:r>
            <a:pPr algn="l" indent="0" marL="0">
              <a:buNone/>
            </a:pPr>
            <a:r>
              <a:rPr lang="ar-SA" altLang="en-US" sz="1500" dirty="0">
                <a:solidFill>
                  <a:srgbClr val="1F2A37"/>
                </a:solidFill>
                <a:latin typeface="Amiri" pitchFamily="2" charset="-78"/>
                <a:ea typeface="Amiri" pitchFamily="2" charset="-78"/>
                <a:cs typeface="Amiri" pitchFamily="2" charset="-78"/>
              </a:rPr>
              <a:t>يَعْمَلُ / تَعْمَلُ</a:t>
            </a:r>
            <a:pPr algn="l" indent="0" marL="0">
              <a:buNone/>
            </a:pPr>
            <a:r>
              <a:rPr lang="en-US" sz="1150" dirty="0">
                <a:solidFill>
                  <a:srgbClr val="1F2A37"/>
                </a:solidFill>
                <a:latin typeface="Calibri" pitchFamily="34" charset="0"/>
                <a:cs typeface="Amiri" pitchFamily="2" charset="-78"/>
              </a:rPr>
              <a:t> + job in the accusative, and one plural.</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your dream job with two reasons and a comparison (</a:t>
            </a:r>
            <a:pPr algn="l" indent="0" marL="0">
              <a:buNone/>
            </a:pPr>
            <a:r>
              <a:rPr lang="ar-SA" altLang="en-US" sz="1500" dirty="0">
                <a:solidFill>
                  <a:srgbClr val="1F2A37"/>
                </a:solidFill>
                <a:latin typeface="Amiri" pitchFamily="2" charset="-78"/>
                <a:ea typeface="Amiri" pitchFamily="2" charset="-78"/>
                <a:cs typeface="Amiri" pitchFamily="2" charset="-78"/>
              </a:rPr>
              <a:t>بَيْنَمَا</a:t>
            </a:r>
            <a:pPr algn="l" indent="0" marL="0">
              <a:buNone/>
            </a:pPr>
            <a:r>
              <a:rPr lang="en-US" sz="1150" dirty="0">
                <a:solidFill>
                  <a:srgbClr val="1F2A37"/>
                </a:solidFill>
                <a:latin typeface="Calibri" pitchFamily="34" charset="0"/>
                <a:cs typeface="Amiri" pitchFamily="2" charset="-78"/>
              </a:rPr>
              <a:t>).</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 لِذٰلِكَ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 so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الخِتَامِ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to finish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aunt works as an engineer.</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تَعْمَلُ خَالَتِي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يَعْمَلُ خَالَتِي</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مُهَنْدِسَةً</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مُهَنْدِسَةٌ</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شَرِكَةٍ.</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شَرِكَةٌ.</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The nurses (f.) work in the hospital.</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تَعْمَلُ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يَعْمَلُونَ</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المُمَرِّضَاتُ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المُمَرِّضُونَ</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المُسْتَشْفَى.</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المُسْتَشْفَى.</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want to work as a journalist.</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 أَنْ</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أُرِيدُ</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أَعْمَلَ</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أَعْمَلُ</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صَحَفِيًّا.</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صَحَفِيٌّ.</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aunt works as an engineer.</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تَعْمَلُ</a:t>
            </a:r>
            <a:pPr algn="l" indent="0" marL="0">
              <a:buNone/>
            </a:pPr>
            <a:r>
              <a:rPr lang="en-US" sz="1050" i="1" dirty="0">
                <a:solidFill>
                  <a:srgbClr val="5A6472"/>
                </a:solidFill>
                <a:latin typeface="Calibri" pitchFamily="34" charset="0"/>
                <a:cs typeface="Amiri" pitchFamily="2" charset="-78"/>
              </a:rPr>
              <a:t>; “as” → accusative </a:t>
            </a:r>
            <a:pPr algn="l" indent="0" marL="0">
              <a:buNone/>
            </a:pPr>
            <a:r>
              <a:rPr lang="ar-SA" altLang="en-US" sz="1350" dirty="0">
                <a:solidFill>
                  <a:srgbClr val="5A6472"/>
                </a:solidFill>
                <a:latin typeface="Amiri" pitchFamily="2" charset="-78"/>
                <a:ea typeface="Amiri" pitchFamily="2" charset="-78"/>
                <a:cs typeface="Amiri" pitchFamily="2" charset="-78"/>
              </a:rPr>
              <a:t>مُهَنْدِسَةً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تَعْمَلُ خَالَتِي مُهَنْدِسَةً فِي شَرِكَةٍ.</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The nurses (f.) work in the hospital.</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verb before its subject stays singular (feminine here); f. plural ends in -ātu.</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تَعْمَلُ المُمَرِّضَاتُ فِي المُسْتَشْفَى.</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want to work as a journalist.</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 -a; job after </a:t>
            </a:r>
            <a:pPr algn="l" indent="0" marL="0">
              <a:buNone/>
            </a:pPr>
            <a:r>
              <a:rPr lang="ar-SA" altLang="en-US" sz="1350" dirty="0">
                <a:solidFill>
                  <a:srgbClr val="5A6472"/>
                </a:solidFill>
                <a:latin typeface="Amiri" pitchFamily="2" charset="-78"/>
                <a:ea typeface="Amiri" pitchFamily="2" charset="-78"/>
                <a:cs typeface="Amiri" pitchFamily="2" charset="-78"/>
              </a:rPr>
              <a:t>أَعْمَلَ</a:t>
            </a:r>
            <a:pPr algn="l" indent="0" marL="0">
              <a:buNone/>
            </a:pPr>
            <a:r>
              <a:rPr lang="en-US" sz="1050" i="1" dirty="0">
                <a:solidFill>
                  <a:srgbClr val="5A6472"/>
                </a:solidFill>
                <a:latin typeface="Calibri" pitchFamily="34" charset="0"/>
                <a:cs typeface="Amiri" pitchFamily="2" charset="-78"/>
              </a:rPr>
              <a:t> → accusative.</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أُرِيدُ أَنْ أَعْمَلَ صَحَفِيًّا.</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أُمِّي طَبِيبٌ فِي المُسْتَشْفَى.</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Mother → ?</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أَبِي يَعْمَلُ مُحَاسِبٌ.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“works as” …</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المُهَنْدِسُونَ يَعْمَلُ فِي المَكْتَبِ.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Subject first → verb agrees.</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أُمِّي طَبِيبٌ فِي المُسْتَشْفَى.</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أُمِّي طَبِيبَةٌ فِي المُسْتَشْفَى.</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Feminine job: </a:t>
            </a:r>
            <a:pPr algn="l" indent="0" marL="0">
              <a:buNone/>
            </a:pPr>
            <a:r>
              <a:rPr lang="ar-SA" altLang="en-US" sz="1500" b="1" dirty="0">
                <a:solidFill>
                  <a:srgbClr val="1B3B6F"/>
                </a:solidFill>
                <a:latin typeface="Amiri" pitchFamily="2" charset="-78"/>
                <a:ea typeface="Amiri" pitchFamily="2" charset="-78"/>
                <a:cs typeface="Amiri" pitchFamily="2" charset="-78"/>
              </a:rPr>
              <a:t>طَبِيبَةٌ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أَبِي يَعْمَلُ مُحَاسِبٌ.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أَبِي يَعْمَلُ مُحَاسِبًا.</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يَعْمَلُ</a:t>
            </a:r>
            <a:pPr algn="l" indent="0" marL="0">
              <a:buNone/>
            </a:pPr>
            <a:r>
              <a:rPr lang="en-US" sz="1150" b="1" dirty="0">
                <a:solidFill>
                  <a:srgbClr val="1B3B6F"/>
                </a:solidFill>
                <a:latin typeface="Calibri" pitchFamily="34" charset="0"/>
                <a:cs typeface="Amiri" pitchFamily="2" charset="-78"/>
              </a:rPr>
              <a:t> + job in the accusative.</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المُهَنْدِسُونَ يَعْمَلُ فِي المَكْتَبِ.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المُهَنْدِسُونَ يَعْمَلُونَ فِي المَكْتَبِ.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Plural subject before the verb → </a:t>
            </a:r>
            <a:pPr algn="l" indent="0" marL="0">
              <a:buNone/>
            </a:pPr>
            <a:r>
              <a:rPr lang="ar-SA" altLang="en-US" sz="1500" b="1" dirty="0">
                <a:solidFill>
                  <a:srgbClr val="1B3B6F"/>
                </a:solidFill>
                <a:latin typeface="Amiri" pitchFamily="2" charset="-78"/>
                <a:ea typeface="Amiri" pitchFamily="2" charset="-78"/>
                <a:cs typeface="Amiri" pitchFamily="2" charset="-78"/>
              </a:rPr>
              <a:t>يَعْمَلُونَ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 بَيْنَمَا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أُرِيدُ أَنْ أَعْمَلَ ______ ، لِأَنَّ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want to work as …, because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أَبِي يَعْمَلُ ______ فِي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father works as … in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أُمِّي ______ ، وَتَعْمَلُ فِي ______ .</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mother is a …, and works in …</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وَ ______ ______ .</a:t>
            </a:r>
            <a:endParaRPr lang="ar-SA" sz="180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and … are … (plural)</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أَعْمَلَ ______ ، لِأَنَّ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want to work as …, because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algn="l" indent="0" marL="0">
              <a:buNone/>
            </a:pPr>
            <a:r>
              <a:rPr lang="ar-SA" altLang="en-US" sz="2000" b="1" dirty="0">
                <a:solidFill>
                  <a:srgbClr val="1B3B6F"/>
                </a:solidFill>
                <a:latin typeface="Amiri" pitchFamily="2" charset="-78"/>
                <a:ea typeface="Amiri" pitchFamily="2" charset="-78"/>
                <a:cs typeface="Amiri" pitchFamily="2" charset="-78"/>
              </a:rPr>
              <a:t>طَبِيبٌ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طَبِيبَةٌ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مُهَنْدِسٌ</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مُهَنْدِسَةٌ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مُدَرِّسٌ</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مُدَرِّسَةٌ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مُمَرِّضٌ</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مُمَرِّضَةٌ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مُحَاسِبٌ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مُحَاسِبَةٌ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مُسْتَشْفًى</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مَكْتَبٌ</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شَرِكَةٌ</a:t>
            </a:r>
            <a:pPr algn="l" indent="0" marL="0">
              <a:buNone/>
            </a:pPr>
            <a:r>
              <a:rPr lang="en-US" sz="1550" b="1" dirty="0">
                <a:solidFill>
                  <a:srgbClr val="1B3B6F"/>
                </a:solidFill>
                <a:latin typeface="Calibri" pitchFamily="34" charset="0"/>
                <a:cs typeface="Amiri" pitchFamily="2" charset="-78"/>
              </a:rPr>
              <a:t>  ·  </a:t>
            </a:r>
            <a:pPr algn="l" indent="0" marL="0">
              <a:buNone/>
            </a:pPr>
            <a:r>
              <a:rPr lang="ar-SA" altLang="en-US" sz="2000" b="1" dirty="0">
                <a:solidFill>
                  <a:srgbClr val="1B3B6F"/>
                </a:solidFill>
                <a:latin typeface="Amiri" pitchFamily="2" charset="-78"/>
                <a:ea typeface="Amiri" pitchFamily="2" charset="-78"/>
                <a:cs typeface="Amiri" pitchFamily="2" charset="-78"/>
              </a:rPr>
              <a:t>يَعْمَلُ / تَعْمَلُ</a:t>
            </a:r>
            <a:pPr algn="l" indent="0" marL="0">
              <a:buNone/>
            </a:pPr>
            <a:r>
              <a:rPr lang="en-US" sz="1550" b="1" dirty="0">
                <a:solidFill>
                  <a:srgbClr val="1B3B6F"/>
                </a:solidFill>
                <a:latin typeface="Calibri" pitchFamily="34" charset="0"/>
                <a:cs typeface="Amiri" pitchFamily="2" charset="-78"/>
              </a:rPr>
              <a:t> + -an  ·  </a:t>
            </a:r>
            <a:pPr algn="l" indent="0" marL="0">
              <a:buNone/>
            </a:pPr>
            <a:r>
              <a:rPr lang="ar-SA" altLang="en-US" sz="2000" b="1" dirty="0">
                <a:solidFill>
                  <a:srgbClr val="1B3B6F"/>
                </a:solidFill>
                <a:latin typeface="Amiri" pitchFamily="2" charset="-78"/>
                <a:ea typeface="Amiri" pitchFamily="2" charset="-78"/>
                <a:cs typeface="Amiri" pitchFamily="2" charset="-78"/>
              </a:rPr>
              <a:t>بَيْنَمَا</a:t>
            </a:r>
            <a:endParaRPr lang="en-US" sz="15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60–80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00" b="1" dirty="0">
                <a:solidFill>
                  <a:srgbClr val="1B3B6F"/>
                </a:solidFill>
                <a:latin typeface="Cambria" pitchFamily="34" charset="0"/>
                <a:cs typeface="Amiri" pitchFamily="2" charset="-78"/>
              </a:rPr>
              <a:t>Jobs in my family — and my dream job</a:t>
            </a:r>
            <a:endParaRPr lang="en-US" sz="25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وَظَائِفُ عَائِلَتِي وَوَظِيفَةُ أَحْلَامِي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206197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206197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DIRECTED TASK</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Write a paragraph (about 60–80 words) for a class display. Include: • the jobs and workplaces of three relatives (male and female) • one </a:t>
            </a:r>
            <a:pPr algn="l" indent="0" marL="0">
              <a:buNone/>
            </a:pPr>
            <a:r>
              <a:rPr lang="ar-SA" altLang="en-US" sz="1500" b="1" dirty="0">
                <a:solidFill>
                  <a:srgbClr val="1F2A37"/>
                </a:solidFill>
                <a:latin typeface="Amiri" pitchFamily="2" charset="-78"/>
                <a:ea typeface="Amiri" pitchFamily="2" charset="-78"/>
                <a:cs typeface="Amiri" pitchFamily="2" charset="-78"/>
              </a:rPr>
              <a:t>يَعْمَلُ / تَعْمَلُ</a:t>
            </a:r>
            <a:pPr algn="l" indent="0" marL="0">
              <a:buNone/>
            </a:pPr>
            <a:r>
              <a:rPr lang="en-US" sz="1150" b="1" dirty="0">
                <a:solidFill>
                  <a:srgbClr val="1F2A37"/>
                </a:solidFill>
                <a:latin typeface="Calibri" pitchFamily="34" charset="0"/>
                <a:cs typeface="Amiri" pitchFamily="2" charset="-78"/>
              </a:rPr>
              <a:t> + job in the accusative • one plural (e.g. </a:t>
            </a:r>
            <a:pPr algn="l" indent="0" marL="0">
              <a:buNone/>
            </a:pPr>
            <a:r>
              <a:rPr lang="ar-SA" altLang="en-US" sz="1500" b="1" dirty="0">
                <a:solidFill>
                  <a:srgbClr val="1F2A37"/>
                </a:solidFill>
                <a:latin typeface="Amiri" pitchFamily="2" charset="-78"/>
                <a:ea typeface="Amiri" pitchFamily="2" charset="-78"/>
                <a:cs typeface="Amiri" pitchFamily="2" charset="-78"/>
              </a:rPr>
              <a:t>أَعْمَامِي مُهَنْدِسُونَ</a:t>
            </a:r>
            <a:pPr algn="l" indent="0" marL="0">
              <a:buNone/>
            </a:pPr>
            <a:r>
              <a:rPr lang="en-US" sz="1150" b="1" dirty="0">
                <a:solidFill>
                  <a:srgbClr val="1F2A37"/>
                </a:solidFill>
                <a:latin typeface="Calibri" pitchFamily="34" charset="0"/>
                <a:cs typeface="Amiri" pitchFamily="2" charset="-78"/>
              </a:rPr>
              <a:t>) • your dream job with two reasons • a contrast with </a:t>
            </a:r>
            <a:pPr algn="l" indent="0" marL="0">
              <a:buNone/>
            </a:pPr>
            <a:r>
              <a:rPr lang="ar-SA" altLang="en-US" sz="1500" b="1" dirty="0">
                <a:solidFill>
                  <a:srgbClr val="1F2A37"/>
                </a:solidFill>
                <a:latin typeface="Amiri" pitchFamily="2" charset="-78"/>
                <a:ea typeface="Amiri" pitchFamily="2" charset="-78"/>
                <a:cs typeface="Amiri" pitchFamily="2" charset="-78"/>
              </a:rPr>
              <a:t>بَيْنَمَا</a:t>
            </a:r>
            <a:pPr algn="l" indent="0" marL="0">
              <a:buNone/>
            </a:pPr>
            <a:r>
              <a:rPr lang="en-US" sz="1150" b="1" dirty="0">
                <a:solidFill>
                  <a:srgbClr val="1F2A37"/>
                </a:solidFill>
                <a:latin typeface="Calibri" pitchFamily="34" charset="0"/>
                <a:cs typeface="Amiri" pitchFamily="2" charset="-78"/>
              </a:rPr>
              <a:t>.</a:t>
            </a:r>
            <a:endParaRPr lang="en-US" sz="11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the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Linking words: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ثُمَّ</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 </a:t>
            </a:r>
            <a:pPr algn="l" indent="0" marL="0">
              <a:buNone/>
            </a:pPr>
            <a:r>
              <a:rPr lang="ar-SA" altLang="en-US" sz="1550" dirty="0">
                <a:solidFill>
                  <a:srgbClr val="1F2A37"/>
                </a:solidFill>
                <a:latin typeface="Amiri" pitchFamily="2" charset="-78"/>
                <a:ea typeface="Amiri" pitchFamily="2" charset="-78"/>
                <a:cs typeface="Amiri" pitchFamily="2" charset="-78"/>
              </a:rPr>
              <a:t>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opinion with a reason.</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يَعْمَلُ … مُحَاسِبًا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works as an accountant in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تَعْمَلُ … مُمَرِّضَةً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works as a nurse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أُرِيدُ أَنْ أَعْمَلَ …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want to work as …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 بَيْنَمَا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whereas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each job in the right form (m. / f. / pl.) with a workplace?</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a:t>
            </a:r>
            <a:pPr algn="l" indent="0" marL="0">
              <a:buNone/>
            </a:pPr>
            <a:r>
              <a:rPr lang="ar-SA" altLang="en-US" sz="1450" dirty="0">
                <a:solidFill>
                  <a:srgbClr val="5A6472"/>
                </a:solidFill>
                <a:latin typeface="Amiri" pitchFamily="2" charset="-78"/>
                <a:ea typeface="Amiri" pitchFamily="2" charset="-78"/>
                <a:cs typeface="Amiri" pitchFamily="2" charset="-78"/>
              </a:rPr>
              <a:t>يَعْمَلُ / تَعْمَلُ</a:t>
            </a:r>
            <a:pPr algn="l" indent="0" marL="0">
              <a:buNone/>
            </a:pPr>
            <a:r>
              <a:rPr lang="en-US" sz="1100" dirty="0">
                <a:solidFill>
                  <a:srgbClr val="5A6472"/>
                </a:solidFill>
                <a:latin typeface="Calibri" pitchFamily="34" charset="0"/>
                <a:cs typeface="Amiri" pitchFamily="2" charset="-78"/>
              </a:rPr>
              <a:t> + job in the accusative and justify your dream job?</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more than one tense and give an opinion with a reason?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أَبِي يَعْمَلُ صَحَفِيًّا، وَأُمِّي طَبِيبَةُ أَسْنَانٍ.</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My father works as a journalist, and my mother is a dentist.</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أَهْلًا! مَاذَا يَعْمَلُ وَالِدَاكَ؟</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يُعْجِبُنِي عَمَلُ المُبَرْمِجِ، لِأَنَّنِي أُحِبُّ الحَاسُوبَ.</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like the programmer’s job, because I love computers.</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أَيُّ مَجَالٍ يُعْجِبُكَ؟</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أُرِيدُ أَنْ أَعْمَلَ فِي شَرِكَةٍ حَدِيثَةٍ، أَوْ مِنَ البَيْتِ.</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want to work in a modern company, or from home.</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وَأَيْنَ تُرِيدُ أَنْ تَعْمَلَ؟</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لَا، لِأَنَّنِي لَا أُحِبُّ الدَّمَ! بَيْنَمَا أُخْتِي تُرِيدُ أَنْ تَعْمَلَ طَبِيبَةً.</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No, because I don’t like blood! Whereas my sister wants to work as a doctor.</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هَلْ تُفَكِّرُ فِي عَمَلِ أُمِّكَ أَيْضًا؟</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عَائِلَتِي وَظَائِفُ مُخْتَلِفَةٌ. أَبِي يَعْمَلُ مُحَاسِبًا فِي شَرِكَةٍ لِلسَّيَّارَاتِ، وَأُمِّي مُدَرِّسَةٌ فِي مَدْرَسَةٍ ابْتِدَائِيَّةٍ. عَمَّايَ مُهَنْدِسَانِ، وَيَعْمَلَانِ فِي مَشَارِيعِ البِنَاءِ. أَمَّا خَالَتِي فَتَعْمَلُ صَحَفِيَّةً فِي جَرِيدَةٍ مَشْهُورَةٍ. أُرِيدُ أَنْ أَعْمَلَ طَبِيبًا فِي المُسْتَقْبَلِ، لِأَنَّنِي أُحِبُّ العُلُومَ، وَلِأَنَّنِي أُرِيدُ أَنْ أُسَاعِدَ المَرْضَى. أَخِي يُحِبُّ الحَاسُوبَ كَثِيرًا، بَيْنَمَا أُحِبُّ أَنَا العَمَلَ مَعَ النَّاسِ. لَا أُرِيدُ أَنْ أَعْمَلَ فِي مَكْتَبٍ، لِأَنَّهُ مُمِلٌّ فِي رَأْيِي.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family has different jobs. My father works as an accountant in a car company, and my mother is a teacher in a primary school. My two uncles are engineers and work on building projects. As for my aunt, she works as a journalist on a famous newspaper. I want to work as a doctor in the future, because I love science and I want to help sick people. My brother loves computers a lot, whereas I love working with people. I don’t want to work in an office, because I think it is boring.”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يَعْمَلُ مُحَاسِبًا</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عَمَّايَ مُهَنْدِسَانِ</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فَتَعْمَلُ صَحَفِيَّةً</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بَيْنَمَا أُحِبُّ</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D3-L01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D3 · Work and Careers · D3-L01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more than one tense and gave opinions with reasons.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D3-L01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650" b="1" dirty="0">
                <a:solidFill>
                  <a:srgbClr val="FFFFFF"/>
                </a:solidFill>
                <a:latin typeface="Cambria" pitchFamily="34" charset="0"/>
                <a:cs typeface="Amiri" pitchFamily="2" charset="-78"/>
              </a:rPr>
              <a:t>D3-L02 · The Workplace — Environments and Work Conditions</a:t>
            </a:r>
            <a:endParaRPr lang="en-US" sz="1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بِيئَةُ العَمَلِ — الأَمَاكِنُ وَظُرُوفُ العَمَلِ</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D3-L01 · Practice Room — Jobs and Professions — Vocabulary and Gender</dc:title>
  <dc:subject>PptxGenJS Presentation</dc:subject>
  <dc:creator>Al Madina Online School · Arabic Department</dc:creator>
  <cp:lastModifiedBy>Al Madina Online School · Arabic Department</cp:lastModifiedBy>
  <cp:revision>1</cp:revision>
  <dcterms:created xsi:type="dcterms:W3CDTF">2026-10-25T18:13:43Z</dcterms:created>
  <dcterms:modified xsi:type="dcterms:W3CDTF">2026-10-25T18:13:43Z</dcterms:modified>
</cp:coreProperties>
</file>