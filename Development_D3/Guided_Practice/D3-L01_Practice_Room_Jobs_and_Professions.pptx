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PRACTICE ROOM AT A GLANCE — one combined lesson (speaking, then writing), 55–60 minutes: about 6 minutes in the main room, about 45 minutes in breakout rooms of two or three, about 6 minutes back together.
0–2 Welcome · 2–5 How the room works · ROOMS, Part A Speaking: Step 1 Word warm-up (5) · Step 2 Say the model dialogue (5) · Step 3 Question cards (7) · Step 4 Role-play card (7) · Step 5 Short talk (4) · Part B Writing: Step 6 Sentence builder (4) · Step 7 Spot and fix (3) · Step 8 Write your text (12) + buddy check (3) · back in the main room: Check yourself (4) · Self-check + close (2).
PURPOSE: students practise the lesson’s language ON THEIR OWN with a clear structure. The teacher visits each room (about 3 minutes per room), listens, reads one piece of writing per student and gives one live correction.
CONTENT: D3-L01 (Jobs and Professions — Vocabulary and Gender) — new practice tasks built on the lesson’s own word bank and grammar (professions in three forms (ṭabībun · ṭabībatun · aṭibbāʾu / ṭabībātun); place with fī (yaʿmalu fī mustashfā); “works as” with the accusative (yaʿmalu muḥāsiban · taʿmalu muhandisatan); a job I would like: urīdu an aʿmala … li-anna …).
SET-UP: rooms of two or three (same-level rooms keep the routes simple). Share this deck or its PDF in the chat so every room can follow the steps. Each student writes in their own book or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 Part A is speaking, Part B is writing. The step number is always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ROOM WORKS (3 min, main room). Model the roles quickly with two volunteers using one question from Step 3. Stress: the Coach is kind and specific. Then open the breakout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(5 min in rooms). The two word slides that follow come from the D3-L01 lesson. Teacher: visit the first room straight away to model the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the Leader picks the English, the Speaker gives the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(5 min). The dialogue models today’s language in a real exchange.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(7 min). The starter column is support, not the answer: students finish it with their OWN information. Coach listens for the key structure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4 (7 min). FADED SUPPORT: tasks 1–2 show the plan (question word → first words); students write their own plan for 3–4. Everyone is Speaker once. To a girl the Leader says: adviser to a girl: وَالِدَاكِ · يُعْجِبُكِ · تُرِيدِينَ · أُمِّكِ. yaʿmalu + job in the accusative (ṣaḥafiyyan) · ṭabībatu asnān = dentist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(4 min). A short talk builds fluency and confidence.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support. Core: use the Core frames for every sentence. Develop: use the Develop frames only if stuck. Stretch: no frames — add a reason, a time phrase and one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(10 min writing). Core: frames for every bullet (40–50 words). Develop: 60–80 words, frames only if stuck. Stretch: no frames, add reasons and another time frame. Teacher visits rooms and reads ONE sentence per student.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(62 words). CHECK YOURSELF (2 min). Find each bullet point in the model.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D3  ·  D3-L01 · PRACTICE ROOM</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D3-L01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Practice Room — Jobs and Professions — Vocabulary and Gender</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غُرْفَةُ التَّدَرُّبِ — الوَظَائِفُ وَالمِهَنُ</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100" dirty="0">
                <a:solidFill>
                  <a:srgbClr val="C6D2E6"/>
                </a:solidFill>
                <a:latin typeface="Calibri" pitchFamily="34" charset="0"/>
                <a:cs typeface="Amiri" pitchFamily="2" charset="-78"/>
              </a:rPr>
              <a:t>Students run their own speaking and writing practice with jobs: say each job in masculine, feminine and plural, act a short dialogue about family jobs, answer question cards, do a role-play card at a careers fair, give a one-minute talk about jobs in their family, then build, fix and write a paragraph about family jobs and their own dream job.</a:t>
            </a:r>
            <a:endParaRPr lang="en-US" sz="11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D3-L01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D3 › D3-L01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 · practice room</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Speaking + writing practice room</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ROOM PLAN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Speak first, then write — you run it yourselves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 · practice room</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2F6FB0"/>
          </a:solidFill>
          <a:ln w="12700">
            <a:solidFill>
              <a:srgbClr val="2F6FB0"/>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1–2: word warm-up · say the model dialogue.</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الكَلِمَاتُ وَالحِوَارُ</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3–5: question cards · role-play card · short talk.</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2F6FB0"/>
          </a:solidFill>
          <a:ln w="12700">
            <a:solidFill>
              <a:srgbClr val="2F6FB0"/>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6–7: sentence builder · spot and fix.</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ابْنِ وَصَحِّحْ</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15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 8: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ROOM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Everybody speaks in every step and everybody writes their own text. Swap roles after each task. If you finish early, do the step again with the Stretch route.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BEFORE THE ROOMS · HOW YOUR ROOM WORKS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Three roles — then write alone, check together</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نَعْمَلُ فِي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 · practice room</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ROLES (SWAP AFTER EVERY TASK)</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LEADER — opens the next step, keeps the time and reads the questions.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SPEAKER — answers in Arabic, in a full sentence. Think for a few seconds, then speak.</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COACH — listens, checks with the slide, then says one thing that went well and one thing to improve. (In a pair, the Leader is also the Coach.)</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WRITING (Part B): everyone writes their OWN text; then swap with a buddy and check.</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USEFUL ROOM PHRASES</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دَوْرُكَ! / دَوْرُكِ!</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Your turn! (m. / f.)</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عَفْوًا، أَعِدْ مِنْ فَضْلِكَ.</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Sorry, repeat please.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لَحْظَةً، أُفَكِّرُ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moment, I’m thinking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A · STEP 1 · WORD WARM-UP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Say it — then use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قُلْهَا وَاسْتَعْمِلْهَا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Word ping-pong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Leader says a word in ENGLISH from the next two slides. The Speaker says it in ARABIC. The Coach checks the Arabic (and the ending) on the slide.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Leader: say 4 English words; Speaker answers in Arabic.</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checks the word on the slide.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roles — new words each time.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each word in a short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a:t>
            </a:r>
            <a:pPr algn="l" indent="0" marL="0">
              <a:buNone/>
            </a:pPr>
            <a:r>
              <a:rPr lang="ar-SA" altLang="en-US" sz="1500" dirty="0">
                <a:solidFill>
                  <a:srgbClr val="1F2A37"/>
                </a:solidFill>
                <a:latin typeface="Amiri" pitchFamily="2" charset="-78"/>
                <a:ea typeface="Amiri" pitchFamily="2" charset="-78"/>
                <a:cs typeface="Amiri" pitchFamily="2" charset="-78"/>
              </a:rPr>
              <a:t>أَنَا … / عِنْدِي … / هٰذَا</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Give the feminine or plural form too, then a sentence with two words.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أَعِدْ مِنْ فَضْلِكَ / أَعِيدِي</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repeat please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أَحْسَنْتَ! / أَحْسَنْتِ!</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well done! (m. / f.)</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بِبُطْءٍ مِنْ فَضْلِكَ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slowly, please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(1)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Jobs (m. / f.)</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طَبِيبٌ / طَبِيبَةٌ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doctor</a:t>
            </a:r>
            <a:endParaRPr lang="en-US" sz="1350" dirty="0"/>
          </a:p>
          <a:p>
            <a:pPr indent="0" marL="0">
              <a:buNone/>
            </a:pPr>
            <a:r>
              <a:rPr lang="en-US" sz="1100" i="1" dirty="0">
                <a:solidFill>
                  <a:srgbClr val="5A6472"/>
                </a:solidFill>
                <a:latin typeface="Calibri" pitchFamily="34" charset="0"/>
                <a:cs typeface="Amiri" pitchFamily="2" charset="-78"/>
              </a:rPr>
              <a:t>ṭa-bī-bun / ṭa-bī-ba-tun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أَطِبَّاءُ</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طَبِيبَةٌ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طَبِيبٌ</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مُهَنْدِسٌ / مُهَنْدِسَةٌ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engineer</a:t>
            </a:r>
            <a:endParaRPr lang="en-US" sz="1350" dirty="0"/>
          </a:p>
          <a:p>
            <a:pPr indent="0" marL="0">
              <a:buNone/>
            </a:pPr>
            <a:r>
              <a:rPr lang="en-US" sz="1100" i="1" dirty="0">
                <a:solidFill>
                  <a:srgbClr val="5A6472"/>
                </a:solidFill>
                <a:latin typeface="Calibri" pitchFamily="34" charset="0"/>
                <a:cs typeface="Amiri" pitchFamily="2" charset="-78"/>
              </a:rPr>
              <a:t>mu-han-di-sun / mu-han-di-sa-tun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مُهَنْدِسُونَ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مُهَنْدِسَةٌ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مُهَنْدِسٌ</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مُدَرِّسٌ / مُدَرِّسَةٌ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teacher</a:t>
            </a:r>
            <a:endParaRPr lang="en-US" sz="1350" dirty="0"/>
          </a:p>
          <a:p>
            <a:pPr indent="0" marL="0">
              <a:buNone/>
            </a:pPr>
            <a:r>
              <a:rPr lang="en-US" sz="1100" i="1" dirty="0">
                <a:solidFill>
                  <a:srgbClr val="5A6472"/>
                </a:solidFill>
                <a:latin typeface="Calibri" pitchFamily="34" charset="0"/>
                <a:cs typeface="Amiri" pitchFamily="2" charset="-78"/>
              </a:rPr>
              <a:t>mu-dar-ri-sun / mu-dar-ri-sa-tun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مُدَرِّسُونَ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مُدَرِّسَةٌ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مُدَرِّسٌ</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مُمَرِّضٌ / مُمَرِّضَةٌ</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nurse</a:t>
            </a:r>
            <a:endParaRPr lang="en-US" sz="1350" dirty="0"/>
          </a:p>
          <a:p>
            <a:pPr indent="0" marL="0">
              <a:buNone/>
            </a:pPr>
            <a:r>
              <a:rPr lang="en-US" sz="1100" i="1" dirty="0">
                <a:solidFill>
                  <a:srgbClr val="5A6472"/>
                </a:solidFill>
                <a:latin typeface="Calibri" pitchFamily="34" charset="0"/>
                <a:cs typeface="Amiri" pitchFamily="2" charset="-78"/>
              </a:rPr>
              <a:t>mu-mar-ri-ḍun / mu-mar-ri-ḍa-tun</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0" name="Text 7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مُمَرِّضُونَ</a:t>
            </a:r>
            <a:endParaRPr lang="ar-SA" sz="150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مُمَرِّضَةٌ</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مُمَرِّضٌ</a:t>
            </a:r>
            <a:endParaRPr lang="ar-SA" sz="1500" dirty="0"/>
          </a:p>
        </p:txBody>
      </p:sp>
      <p:sp>
        <p:nvSpPr>
          <p:cNvPr id="87" name="Shape 8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4389120"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90" name="Shape 87"/>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92" name="Shape 8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4" name="Text 9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صَحَفِيٌّ / صَحَفِيَّةٌ</a:t>
            </a:r>
            <a:endParaRPr lang="ar-SA" sz="3000" dirty="0"/>
          </a:p>
        </p:txBody>
      </p:sp>
      <p:sp>
        <p:nvSpPr>
          <p:cNvPr id="95" name="Text 9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journalist</a:t>
            </a:r>
            <a:endParaRPr lang="en-US" sz="1350" dirty="0"/>
          </a:p>
          <a:p>
            <a:pPr indent="0" marL="0">
              <a:buNone/>
            </a:pPr>
            <a:r>
              <a:rPr lang="en-US" sz="1100" i="1" dirty="0">
                <a:solidFill>
                  <a:srgbClr val="5A6472"/>
                </a:solidFill>
                <a:latin typeface="Calibri" pitchFamily="34" charset="0"/>
                <a:cs typeface="Amiri" pitchFamily="2" charset="-78"/>
              </a:rPr>
              <a:t>ṣa-ḥa-fiy-yun / ṣa-ḥa-fiy-ya-tun</a:t>
            </a:r>
            <a:endParaRPr lang="en-US" sz="1350" dirty="0"/>
          </a:p>
        </p:txBody>
      </p:sp>
      <p:sp>
        <p:nvSpPr>
          <p:cNvPr id="96" name="Shape 93"/>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8" name="Text 95"/>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صَحَفِيُّونَ</a:t>
            </a:r>
            <a:endParaRPr lang="ar-SA" sz="1500" dirty="0"/>
          </a:p>
        </p:txBody>
      </p:sp>
      <p:sp>
        <p:nvSpPr>
          <p:cNvPr id="99" name="Shape 96"/>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1" name="Text 98"/>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صَحَفِيَّةٌ</a:t>
            </a:r>
            <a:endParaRPr lang="ar-SA" sz="1500" dirty="0"/>
          </a:p>
        </p:txBody>
      </p:sp>
      <p:sp>
        <p:nvSpPr>
          <p:cNvPr id="102" name="Shape 99"/>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4" name="Text 101"/>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صَحَفِيٌّ</a:t>
            </a:r>
            <a:endParaRPr lang="ar-SA" sz="1500" dirty="0"/>
          </a:p>
        </p:txBody>
      </p:sp>
      <p:sp>
        <p:nvSpPr>
          <p:cNvPr id="105" name="Shape 10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566928" y="4261104"/>
            <a:ext cx="310896" cy="310896"/>
          </a:xfrm>
          <a:prstGeom prst="ellipse">
            <a:avLst/>
          </a:prstGeom>
          <a:solidFill>
            <a:srgbClr val="F4F1EA"/>
          </a:solidFill>
          <a:ln w="12700">
            <a:solidFill>
              <a:srgbClr val="F4F1EA"/>
            </a:solidFill>
            <a:prstDash val="solid"/>
          </a:ln>
        </p:spPr>
      </p:sp>
      <p:sp>
        <p:nvSpPr>
          <p:cNvPr id="107" name="Text 10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08" name="Shape 105"/>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9" name="Text 106"/>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10" name="Shape 10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11" name="Text 10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112" name="Text 10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مُحَاسِبٌ / مُحَاسِبَةٌ</a:t>
            </a:r>
            <a:endParaRPr lang="ar-SA" sz="3000" dirty="0"/>
          </a:p>
        </p:txBody>
      </p:sp>
      <p:sp>
        <p:nvSpPr>
          <p:cNvPr id="113" name="Text 11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accountant</a:t>
            </a:r>
            <a:endParaRPr lang="en-US" sz="1350" dirty="0"/>
          </a:p>
          <a:p>
            <a:pPr indent="0" marL="0">
              <a:buNone/>
            </a:pPr>
            <a:r>
              <a:rPr lang="en-US" sz="1100" i="1" dirty="0">
                <a:solidFill>
                  <a:srgbClr val="5A6472"/>
                </a:solidFill>
                <a:latin typeface="Calibri" pitchFamily="34" charset="0"/>
                <a:cs typeface="Amiri" pitchFamily="2" charset="-78"/>
              </a:rPr>
              <a:t>mu-ḥā-si-bun / mu-ḥā-si-ba-tun</a:t>
            </a:r>
            <a:endParaRPr lang="en-US" sz="1350" dirty="0"/>
          </a:p>
        </p:txBody>
      </p:sp>
      <p:sp>
        <p:nvSpPr>
          <p:cNvPr id="114" name="Shape 11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16" name="Text 113"/>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مُحَاسِبُونَ</a:t>
            </a:r>
            <a:endParaRPr lang="ar-SA" sz="1500" dirty="0"/>
          </a:p>
        </p:txBody>
      </p:sp>
      <p:sp>
        <p:nvSpPr>
          <p:cNvPr id="117" name="Shape 11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8" name="Text 11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9" name="Text 11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مُحَاسِبَةٌ</a:t>
            </a:r>
            <a:endParaRPr lang="ar-SA" sz="1500" dirty="0"/>
          </a:p>
        </p:txBody>
      </p:sp>
      <p:sp>
        <p:nvSpPr>
          <p:cNvPr id="120" name="Shape 11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21" name="Text 11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22" name="Text 11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مُحَاسِبٌ</a:t>
            </a:r>
            <a:endParaRPr lang="ar-SA" sz="1500" dirty="0"/>
          </a:p>
        </p:txBody>
      </p:sp>
      <p:sp>
        <p:nvSpPr>
          <p:cNvPr id="123" name="Text 1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(2)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Workplaces and linking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مُسْتَشْفًى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hospital</a:t>
            </a:r>
            <a:endParaRPr lang="en-US" sz="1350" dirty="0"/>
          </a:p>
          <a:p>
            <a:pPr indent="0" marL="0">
              <a:buNone/>
            </a:pPr>
            <a:r>
              <a:rPr lang="en-US" sz="1100" i="1" dirty="0">
                <a:solidFill>
                  <a:srgbClr val="5A6472"/>
                </a:solidFill>
                <a:latin typeface="Calibri" pitchFamily="34" charset="0"/>
                <a:cs typeface="Amiri" pitchFamily="2" charset="-78"/>
              </a:rPr>
              <a:t>mus-tash-fan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مَدْرَسَةٌ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school</a:t>
            </a:r>
            <a:endParaRPr lang="en-US" sz="1350" dirty="0"/>
          </a:p>
          <a:p>
            <a:pPr indent="0" marL="0">
              <a:buNone/>
            </a:pPr>
            <a:r>
              <a:rPr lang="en-US" sz="1100" i="1" dirty="0">
                <a:solidFill>
                  <a:srgbClr val="5A6472"/>
                </a:solidFill>
                <a:latin typeface="Calibri" pitchFamily="34" charset="0"/>
                <a:cs typeface="Amiri" pitchFamily="2" charset="-78"/>
              </a:rPr>
              <a:t>mad-ra-sa-tun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مَكْتَبٌ</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office</a:t>
            </a:r>
            <a:endParaRPr lang="en-US" sz="1350" dirty="0"/>
          </a:p>
          <a:p>
            <a:pPr indent="0" marL="0">
              <a:buNone/>
            </a:pPr>
            <a:r>
              <a:rPr lang="en-US" sz="1100" i="1" dirty="0">
                <a:solidFill>
                  <a:srgbClr val="5A6472"/>
                </a:solidFill>
                <a:latin typeface="Calibri" pitchFamily="34" charset="0"/>
                <a:cs typeface="Amiri" pitchFamily="2" charset="-78"/>
              </a:rPr>
              <a:t>mak-ta-bun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شَرِكَةٌ</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company</a:t>
            </a:r>
            <a:endParaRPr lang="en-US" sz="1350" dirty="0"/>
          </a:p>
          <a:p>
            <a:pPr indent="0" marL="0">
              <a:buNone/>
            </a:pPr>
            <a:r>
              <a:rPr lang="en-US" sz="1100" i="1" dirty="0">
                <a:solidFill>
                  <a:srgbClr val="5A6472"/>
                </a:solidFill>
                <a:latin typeface="Calibri" pitchFamily="34" charset="0"/>
                <a:cs typeface="Amiri" pitchFamily="2" charset="-78"/>
              </a:rPr>
              <a:t>sha-ri-ka-tun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STEP 2 · SAY THE MODEL DIALOGUE · READ IT, THEN SAY IT WITHOUT LOOKING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do your parents do?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مَاذَا يَعْمَلُ وَالِدَاكَ؟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does your father do?</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مَاذَا يَعْمَلُ أَبُوكَ؟</a:t>
            </a:r>
            <a:endParaRPr lang="ar-SA" sz="20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father works as an accountant in a big company.</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أَبِي يَعْمَلُ مُحَاسِبًا فِي شَرِكَةٍ كَبِيرَةٍ.</a:t>
            </a:r>
            <a:endParaRPr lang="ar-SA" sz="20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your mother?</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وَأُمُّكَ؟</a:t>
            </a:r>
            <a:endParaRPr lang="ar-SA" sz="20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mother is a nurse; she works in the children’s hospital.</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أُمِّي مُمَرِّضَةٌ؛ تَعْمَلُ فِي مُسْتَشْفَى الأَطْفَالِ.</a:t>
            </a:r>
            <a:endParaRPr lang="ar-SA" sz="20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you, what do you want to do?</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وَأَنْتَ، مَاذَا تُرِيدُ أَنْ تَعْمَلَ؟</a:t>
            </a:r>
            <a:endParaRPr lang="ar-SA" sz="20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want to work as an engineer, because I love maths and building.</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أُرِيدُ أَنْ أَعْمَلَ مُهَنْدِسًا، لِأَنَّنِي أُحِبُّ الرِّيَاضِيَّاتِ وَالبِنَاءَ.</a:t>
            </a:r>
            <a:endParaRPr lang="ar-SA" sz="20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Round 1: read it in pairs. Round 2: swap letters. Round 3: give YOUR family’s jobs — then change B into a girl (</a:t>
            </a:r>
            <a:pPr algn="l" indent="0" marL="0">
              <a:buNone/>
            </a:pPr>
            <a:r>
              <a:rPr lang="ar-SA" altLang="en-US" sz="1500" b="1" dirty="0">
                <a:solidFill>
                  <a:srgbClr val="1B3B6F"/>
                </a:solidFill>
                <a:latin typeface="Amiri" pitchFamily="2" charset="-78"/>
                <a:ea typeface="Amiri" pitchFamily="2" charset="-78"/>
                <a:cs typeface="Amiri" pitchFamily="2" charset="-78"/>
              </a:rPr>
              <a:t>مُهَنْدِسَةً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3 · QUESTION CARDS · THE LEADER ASKS, THE SPEAKER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Answer in a full sentence — then add more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وَأَجْوِبَةٌ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38360" y="2267712"/>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فِي …</a:t>
            </a:r>
            <a:endParaRPr lang="ar-SA" sz="1500" dirty="0"/>
          </a:p>
        </p:txBody>
      </p:sp>
      <p:sp>
        <p:nvSpPr>
          <p:cNvPr id="23" name="Text 20"/>
          <p:cNvSpPr txBox="1"/>
          <p:nvPr/>
        </p:nvSpPr>
        <p:spPr>
          <a:xfrm>
            <a:off x="6995160" y="2267712"/>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خَالِي يَعْمَلُ … / خَالَتِي تَعْمَلُ …</a:t>
            </a:r>
            <a:endParaRPr lang="ar-SA" sz="1600" dirty="0"/>
          </a:p>
        </p:txBody>
      </p:sp>
      <p:sp>
        <p:nvSpPr>
          <p:cNvPr id="24" name="Text 21"/>
          <p:cNvSpPr txBox="1"/>
          <p:nvPr/>
        </p:nvSpPr>
        <p:spPr>
          <a:xfrm>
            <a:off x="463600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does one of your relatives do?</a:t>
            </a:r>
            <a:endParaRPr lang="en-US" sz="1100" dirty="0"/>
          </a:p>
        </p:txBody>
      </p:sp>
      <p:sp>
        <p:nvSpPr>
          <p:cNvPr id="25" name="Text 22"/>
          <p:cNvSpPr txBox="1"/>
          <p:nvPr/>
        </p:nvSpPr>
        <p:spPr>
          <a:xfrm>
            <a:off x="1051560" y="2267712"/>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يَعْمَلُ أَحَدُ أَقَارِبِكَ؟</a:t>
            </a:r>
            <a:endParaRPr lang="ar-SA" sz="1700" dirty="0"/>
          </a:p>
        </p:txBody>
      </p:sp>
      <p:sp>
        <p:nvSpPr>
          <p:cNvPr id="26" name="Text 23"/>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38360" y="3004718"/>
            <a:ext cx="1901952" cy="682142"/>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بَيْنَمَا تَعْمَلُ المُمَرِّضَاتُ فِي …</a:t>
            </a:r>
            <a:endParaRPr lang="ar-SA" sz="1400" dirty="0"/>
          </a:p>
        </p:txBody>
      </p:sp>
      <p:sp>
        <p:nvSpPr>
          <p:cNvPr id="31" name="Text 28"/>
          <p:cNvSpPr txBox="1"/>
          <p:nvPr/>
        </p:nvSpPr>
        <p:spPr>
          <a:xfrm>
            <a:off x="6995160" y="300471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يَعْمَلُ المُدَرِّسُونَ فِي …</a:t>
            </a:r>
            <a:endParaRPr lang="ar-SA" sz="1600" dirty="0"/>
          </a:p>
        </p:txBody>
      </p:sp>
      <p:sp>
        <p:nvSpPr>
          <p:cNvPr id="32" name="Text 29"/>
          <p:cNvSpPr txBox="1"/>
          <p:nvPr/>
        </p:nvSpPr>
        <p:spPr>
          <a:xfrm>
            <a:off x="463600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do teachers and nurses work?</a:t>
            </a:r>
            <a:endParaRPr lang="en-US" sz="1100" dirty="0"/>
          </a:p>
        </p:txBody>
      </p:sp>
      <p:sp>
        <p:nvSpPr>
          <p:cNvPr id="33" name="Text 30"/>
          <p:cNvSpPr txBox="1"/>
          <p:nvPr/>
        </p:nvSpPr>
        <p:spPr>
          <a:xfrm>
            <a:off x="1051560" y="300471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يَعْمَلُ المُدَرِّسُونَ وَالمُمَرِّضَاتُ؟</a:t>
            </a:r>
            <a:endParaRPr lang="ar-SA" sz="1700" dirty="0"/>
          </a:p>
        </p:txBody>
      </p:sp>
      <p:sp>
        <p:nvSpPr>
          <p:cNvPr id="34" name="Text 31"/>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738360" y="3741725"/>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 …</a:t>
            </a:r>
            <a:endParaRPr lang="ar-SA" sz="1500" dirty="0"/>
          </a:p>
        </p:txBody>
      </p:sp>
      <p:sp>
        <p:nvSpPr>
          <p:cNvPr id="39" name="Text 36"/>
          <p:cNvSpPr txBox="1"/>
          <p:nvPr/>
        </p:nvSpPr>
        <p:spPr>
          <a:xfrm>
            <a:off x="6995160" y="3741725"/>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رَأْيِي عَمَلُ … صَعْبٌ …</a:t>
            </a:r>
            <a:endParaRPr lang="ar-SA" sz="1600" dirty="0"/>
          </a:p>
        </p:txBody>
      </p:sp>
      <p:sp>
        <p:nvSpPr>
          <p:cNvPr id="40" name="Text 37"/>
          <p:cNvSpPr txBox="1"/>
          <p:nvPr/>
        </p:nvSpPr>
        <p:spPr>
          <a:xfrm>
            <a:off x="463600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job is hard, in your opinion?</a:t>
            </a:r>
            <a:endParaRPr lang="en-US" sz="1100" dirty="0"/>
          </a:p>
        </p:txBody>
      </p:sp>
      <p:sp>
        <p:nvSpPr>
          <p:cNvPr id="41" name="Text 38"/>
          <p:cNvSpPr txBox="1"/>
          <p:nvPr/>
        </p:nvSpPr>
        <p:spPr>
          <a:xfrm>
            <a:off x="1051560" y="3741725"/>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الوَظِيفَةُ الصَّعْبَةُ فِي رَأْيِكَ؟</a:t>
            </a:r>
            <a:endParaRPr lang="ar-SA" sz="1700" dirty="0"/>
          </a:p>
        </p:txBody>
      </p:sp>
      <p:sp>
        <p:nvSpPr>
          <p:cNvPr id="42" name="Text 39"/>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738360" y="4478731"/>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أُفَضِّلُ أَنْ أَعْمَلَ فِي …</a:t>
            </a:r>
            <a:endParaRPr lang="ar-SA" sz="1500" dirty="0"/>
          </a:p>
        </p:txBody>
      </p:sp>
      <p:sp>
        <p:nvSpPr>
          <p:cNvPr id="47" name="Text 44"/>
          <p:cNvSpPr txBox="1"/>
          <p:nvPr/>
        </p:nvSpPr>
        <p:spPr>
          <a:xfrm>
            <a:off x="6995160" y="4478731"/>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نَعَمْ / لَا، لِأَنَّ …</a:t>
            </a:r>
            <a:endParaRPr lang="ar-SA" sz="1600" dirty="0"/>
          </a:p>
        </p:txBody>
      </p:sp>
      <p:sp>
        <p:nvSpPr>
          <p:cNvPr id="48" name="Text 45"/>
          <p:cNvSpPr txBox="1"/>
          <p:nvPr/>
        </p:nvSpPr>
        <p:spPr>
          <a:xfrm>
            <a:off x="463600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want to work in an office?</a:t>
            </a:r>
            <a:endParaRPr lang="en-US" sz="1100" dirty="0"/>
          </a:p>
        </p:txBody>
      </p:sp>
      <p:sp>
        <p:nvSpPr>
          <p:cNvPr id="49" name="Text 46"/>
          <p:cNvSpPr txBox="1"/>
          <p:nvPr/>
        </p:nvSpPr>
        <p:spPr>
          <a:xfrm>
            <a:off x="1051560" y="4478731"/>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تُرِيدُ أَنْ تَعْمَلَ فِي مَكْتَبٍ؟</a:t>
            </a:r>
            <a:endParaRPr lang="ar-SA" sz="1700" dirty="0"/>
          </a:p>
        </p:txBody>
      </p:sp>
      <p:sp>
        <p:nvSpPr>
          <p:cNvPr id="50" name="Text 47"/>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738360" y="521573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لِأَنَّنِي …</a:t>
            </a:r>
            <a:endParaRPr lang="ar-SA" sz="1500" dirty="0"/>
          </a:p>
        </p:txBody>
      </p:sp>
      <p:sp>
        <p:nvSpPr>
          <p:cNvPr id="53" name="Text 50"/>
          <p:cNvSpPr txBox="1"/>
          <p:nvPr/>
        </p:nvSpPr>
        <p:spPr>
          <a:xfrm>
            <a:off x="6995160" y="521573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أُرِيدُ أَنْ أَعْمَلَ … ← طَبِيبًا / طَبِيبَةً</a:t>
            </a:r>
            <a:endParaRPr lang="ar-SA" sz="1600" dirty="0"/>
          </a:p>
        </p:txBody>
      </p:sp>
      <p:sp>
        <p:nvSpPr>
          <p:cNvPr id="54" name="Text 51"/>
          <p:cNvSpPr txBox="1"/>
          <p:nvPr/>
        </p:nvSpPr>
        <p:spPr>
          <a:xfrm>
            <a:off x="463600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dream job?</a:t>
            </a:r>
            <a:endParaRPr lang="en-US" sz="1100" dirty="0"/>
          </a:p>
        </p:txBody>
      </p:sp>
      <p:sp>
        <p:nvSpPr>
          <p:cNvPr id="55" name="Text 52"/>
          <p:cNvSpPr txBox="1"/>
          <p:nvPr/>
        </p:nvSpPr>
        <p:spPr>
          <a:xfrm>
            <a:off x="1051560" y="521573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وَظِيفَةُ أَحْلَامِكَ؟</a:t>
            </a:r>
            <a:endParaRPr lang="ar-SA" sz="1700" dirty="0"/>
          </a:p>
        </p:txBody>
      </p:sp>
      <p:sp>
        <p:nvSpPr>
          <p:cNvPr id="56" name="Text 53"/>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Each Speaker answers every question. Core: a full sentence from the starter. Develop: add the “more” part. Stretch: add a reason with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 second detail. Swap after each question.</a:t>
            </a:r>
            <a:endParaRPr lang="en-US" sz="110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4 · ROLE-PLAY CARD · PLANS FOR TASKS 1–2 ARE GIVEN — PLAN 3–4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Role-play card — at a careers fair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مَعْرِضِ الوَظَائِفِ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275320" y="2267712"/>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وَالِدَايَ ← أَبِي يَعْمَلُ … ، وَأُمِّي …</a:t>
            </a:r>
            <a:endParaRPr lang="ar-SA" sz="1600" dirty="0"/>
          </a:p>
        </p:txBody>
      </p:sp>
      <p:sp>
        <p:nvSpPr>
          <p:cNvPr id="22" name="Text 19"/>
          <p:cNvSpPr txBox="1"/>
          <p:nvPr/>
        </p:nvSpPr>
        <p:spPr>
          <a:xfrm>
            <a:off x="500176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family jobs.</a:t>
            </a:r>
            <a:endParaRPr lang="en-US" sz="1100" dirty="0"/>
          </a:p>
        </p:txBody>
      </p:sp>
      <p:sp>
        <p:nvSpPr>
          <p:cNvPr id="23" name="Text 20"/>
          <p:cNvSpPr txBox="1"/>
          <p:nvPr/>
        </p:nvSpPr>
        <p:spPr>
          <a:xfrm>
            <a:off x="1051560" y="2267712"/>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أَهْلًا! مَاذَا يَعْمَلُ وَالِدَاكَ؟</a:t>
            </a:r>
            <a:endParaRPr lang="ar-SA" sz="1700" dirty="0"/>
          </a:p>
        </p:txBody>
      </p:sp>
      <p:sp>
        <p:nvSpPr>
          <p:cNvPr id="24" name="Text 21"/>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75320" y="3054096"/>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مَجَالٌ ← يُعْجِبُنِي عَمَلُ … لِأَنَّ …</a:t>
            </a:r>
            <a:endParaRPr lang="ar-SA" sz="1600" dirty="0"/>
          </a:p>
        </p:txBody>
      </p:sp>
      <p:sp>
        <p:nvSpPr>
          <p:cNvPr id="29" name="Text 26"/>
          <p:cNvSpPr txBox="1"/>
          <p:nvPr/>
        </p:nvSpPr>
        <p:spPr>
          <a:xfrm>
            <a:off x="500176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job + why.</a:t>
            </a:r>
            <a:endParaRPr lang="en-US" sz="1100" dirty="0"/>
          </a:p>
        </p:txBody>
      </p:sp>
      <p:sp>
        <p:nvSpPr>
          <p:cNvPr id="30" name="Text 27"/>
          <p:cNvSpPr txBox="1"/>
          <p:nvPr/>
        </p:nvSpPr>
        <p:spPr>
          <a:xfrm>
            <a:off x="1051560" y="3054096"/>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 مَجَالٍ يُعْجِبُكَ؟</a:t>
            </a:r>
            <a:endParaRPr lang="ar-SA" sz="1700" dirty="0"/>
          </a:p>
        </p:txBody>
      </p:sp>
      <p:sp>
        <p:nvSpPr>
          <p:cNvPr id="31" name="Text 28"/>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293608" y="3840480"/>
            <a:ext cx="3364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Workplace.</a:t>
            </a:r>
            <a:endParaRPr lang="en-US" sz="1100" dirty="0"/>
          </a:p>
        </p:txBody>
      </p:sp>
      <p:sp>
        <p:nvSpPr>
          <p:cNvPr id="37" name="Text 34"/>
          <p:cNvSpPr txBox="1"/>
          <p:nvPr/>
        </p:nvSpPr>
        <p:spPr>
          <a:xfrm>
            <a:off x="1051560" y="3840480"/>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وَأَيْنَ تُرِيدُ أَنْ تَعْمَلَ؟</a:t>
            </a:r>
            <a:endParaRPr lang="ar-SA" sz="1700" dirty="0"/>
          </a:p>
        </p:txBody>
      </p:sp>
      <p:sp>
        <p:nvSpPr>
          <p:cNvPr id="38" name="Text 35"/>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293608" y="4626864"/>
            <a:ext cx="3364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the surprise question.</a:t>
            </a:r>
            <a:endParaRPr lang="en-US" sz="1100" dirty="0"/>
          </a:p>
        </p:txBody>
      </p:sp>
      <p:sp>
        <p:nvSpPr>
          <p:cNvPr id="42" name="Text 39"/>
          <p:cNvSpPr txBox="1"/>
          <p:nvPr/>
        </p:nvSpPr>
        <p:spPr>
          <a:xfrm>
            <a:off x="1051560" y="4626864"/>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تُفَكِّرُ فِي عَمَلِ أُمِّكَ أَيْضًا؟</a:t>
            </a:r>
            <a:endParaRPr lang="ar-SA" sz="1700" dirty="0"/>
          </a:p>
        </p:txBody>
      </p:sp>
      <p:sp>
        <p:nvSpPr>
          <p:cNvPr id="43" name="Text 40"/>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a student visitor · Leader = a careers adviser. Write the plan for tasks 3–4 in your book first. Task ! is a surprise — the Leader reads it without warning. Then swap roles.</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5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minute: jobs in my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الوَظَائِفُ فِي عَائِلَتِي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5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no stopping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one minute about the jobs of four people in your family and the job you would like.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3–4 key words,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Leader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until everyone has spoken.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Four people + job + place (</a:t>
            </a:r>
            <a:pPr algn="l" indent="0" marL="0">
              <a:buNone/>
            </a:pPr>
            <a:r>
              <a:rPr lang="ar-SA" altLang="en-US" sz="1500" dirty="0">
                <a:solidFill>
                  <a:srgbClr val="1F2A37"/>
                </a:solidFill>
                <a:latin typeface="Amiri" pitchFamily="2" charset="-78"/>
                <a:ea typeface="Amiri" pitchFamily="2" charset="-78"/>
                <a:cs typeface="Amiri" pitchFamily="2" charset="-78"/>
              </a:rPr>
              <a:t>فِي</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Use </a:t>
            </a:r>
            <a:pPr algn="l" indent="0" marL="0">
              <a:buNone/>
            </a:pPr>
            <a:r>
              <a:rPr lang="ar-SA" altLang="en-US" sz="1500" dirty="0">
                <a:solidFill>
                  <a:srgbClr val="1F2A37"/>
                </a:solidFill>
                <a:latin typeface="Amiri" pitchFamily="2" charset="-78"/>
                <a:ea typeface="Amiri" pitchFamily="2" charset="-78"/>
                <a:cs typeface="Amiri" pitchFamily="2" charset="-78"/>
              </a:rPr>
              <a:t>يَعْمَلُ / تَعْمَلُ</a:t>
            </a:r>
            <a:pPr algn="l" indent="0" marL="0">
              <a:buNone/>
            </a:pPr>
            <a:r>
              <a:rPr lang="en-US" sz="1150" dirty="0">
                <a:solidFill>
                  <a:srgbClr val="1F2A37"/>
                </a:solidFill>
                <a:latin typeface="Calibri" pitchFamily="34" charset="0"/>
                <a:cs typeface="Amiri" pitchFamily="2" charset="-78"/>
              </a:rPr>
              <a:t> + job in the accusative, and one plural.</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your dream job with two reasons and a comparison (</a:t>
            </a:r>
            <a:pPr algn="l" indent="0" marL="0">
              <a:buNone/>
            </a:pPr>
            <a:r>
              <a:rPr lang="ar-SA" altLang="en-US" sz="1500" dirty="0">
                <a:solidFill>
                  <a:srgbClr val="1F2A37"/>
                </a:solidFill>
                <a:latin typeface="Amiri" pitchFamily="2" charset="-78"/>
                <a:ea typeface="Amiri" pitchFamily="2" charset="-78"/>
                <a:cs typeface="Amiri" pitchFamily="2" charset="-78"/>
              </a:rPr>
              <a:t>بَيْنَمَا</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B · STEP 6 · SENTENCE BUILDER · CHOOSE A OR B IN EACH COLUMN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 · practice room</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My aunt works as an engineer.</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تَعْمَلُ خَالَتِي</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يَعْمَلُ خَالَتِي</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مُهَنْدِسَةً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مُهَنْدِسَةٌ</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شَرِكَةٍ.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شَرِكَةٌ.</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nurses (f.) work in the hospital.</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تَعْمَلُ</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يَعْمَلُونَ</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المُمَرِّضَاتُ</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المُمَرِّضُونَ</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المُسْتَشْفَى.</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إِلَى المُسْتَشْفَى.</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want to work as a journalist.</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أُرِيدُ أَنْ</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أُرِيدُ</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أَعْمَلَ</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أَعْمَلُ</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صَحَفِيًّا.</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صَحَفِيٌّ.</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6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 · practice room</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My aunt works as an engineer.</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 </a:t>
            </a:r>
            <a:pPr algn="l" indent="0" marL="0">
              <a:buNone/>
            </a:pPr>
            <a:r>
              <a:rPr lang="ar-SA" altLang="en-US" sz="1350" dirty="0">
                <a:solidFill>
                  <a:srgbClr val="5A6472"/>
                </a:solidFill>
                <a:latin typeface="Amiri" pitchFamily="2" charset="-78"/>
                <a:ea typeface="Amiri" pitchFamily="2" charset="-78"/>
                <a:cs typeface="Amiri" pitchFamily="2" charset="-78"/>
              </a:rPr>
              <a:t>تَعْمَلُ</a:t>
            </a:r>
            <a:pPr algn="l" indent="0" marL="0">
              <a:buNone/>
            </a:pPr>
            <a:r>
              <a:rPr lang="en-US" sz="1050" i="1" dirty="0">
                <a:solidFill>
                  <a:srgbClr val="5A6472"/>
                </a:solidFill>
                <a:latin typeface="Calibri" pitchFamily="34" charset="0"/>
                <a:cs typeface="Amiri" pitchFamily="2" charset="-78"/>
              </a:rPr>
              <a:t>; “as” → accusative </a:t>
            </a:r>
            <a:pPr algn="l" indent="0" marL="0">
              <a:buNone/>
            </a:pPr>
            <a:r>
              <a:rPr lang="ar-SA" altLang="en-US" sz="1350" dirty="0">
                <a:solidFill>
                  <a:srgbClr val="5A6472"/>
                </a:solidFill>
                <a:latin typeface="Amiri" pitchFamily="2" charset="-78"/>
                <a:ea typeface="Amiri" pitchFamily="2" charset="-78"/>
                <a:cs typeface="Amiri" pitchFamily="2" charset="-78"/>
              </a:rPr>
              <a:t>مُهَنْدِسَةً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تَعْمَلُ خَالَتِي مُهَنْدِسَةً فِي شَرِكَةٍ.</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nurses (f.) work in the hospital.</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verb before its subject stays singular (feminine here); f. plural ends in -ātu.</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تَعْمَلُ المُمَرِّضَاتُ فِي المُسْتَشْفَى.</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want to work as a journalist.</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أَنْ</a:t>
            </a:r>
            <a:pPr algn="l" indent="0" marL="0">
              <a:buNone/>
            </a:pPr>
            <a:r>
              <a:rPr lang="en-US" sz="1050" i="1" dirty="0">
                <a:solidFill>
                  <a:srgbClr val="5A6472"/>
                </a:solidFill>
                <a:latin typeface="Calibri" pitchFamily="34" charset="0"/>
                <a:cs typeface="Amiri" pitchFamily="2" charset="-78"/>
              </a:rPr>
              <a:t> + -a; job after </a:t>
            </a:r>
            <a:pPr algn="l" indent="0" marL="0">
              <a:buNone/>
            </a:pPr>
            <a:r>
              <a:rPr lang="ar-SA" altLang="en-US" sz="1350" dirty="0">
                <a:solidFill>
                  <a:srgbClr val="5A6472"/>
                </a:solidFill>
                <a:latin typeface="Amiri" pitchFamily="2" charset="-78"/>
                <a:ea typeface="Amiri" pitchFamily="2" charset="-78"/>
                <a:cs typeface="Amiri" pitchFamily="2" charset="-78"/>
              </a:rPr>
              <a:t>أَعْمَلَ</a:t>
            </a:r>
            <a:pPr algn="l" indent="0" marL="0">
              <a:buNone/>
            </a:pPr>
            <a:r>
              <a:rPr lang="en-US" sz="1050" i="1" dirty="0">
                <a:solidFill>
                  <a:srgbClr val="5A6472"/>
                </a:solidFill>
                <a:latin typeface="Calibri" pitchFamily="34" charset="0"/>
                <a:cs typeface="Amiri" pitchFamily="2" charset="-78"/>
              </a:rPr>
              <a:t> → accusative.</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أُرِيدُ أَنْ أَعْمَلَ صَحَفِيًّا.</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7 · SPOT AND FIX · MISTAKES STUDENTS OFTEN MAKE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أُمِّي طَبِيبٌ فِي المُسْتَشْفَى.</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Mother → ?</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أَبِي يَعْمَلُ مُحَاسِبٌ.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“works as”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المُهَنْدِسُونَ يَعْمَلُ فِي المَكْتَبِ.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Subject first → verb agrees.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أُمِّي طَبِيبٌ فِي المُسْتَشْفَى.</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أُمِّي طَبِيبَةٌ فِي المُسْتَشْفَى.</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job: </a:t>
            </a:r>
            <a:pPr algn="l" indent="0" marL="0">
              <a:buNone/>
            </a:pPr>
            <a:r>
              <a:rPr lang="ar-SA" altLang="en-US" sz="1500" b="1" dirty="0">
                <a:solidFill>
                  <a:srgbClr val="1B3B6F"/>
                </a:solidFill>
                <a:latin typeface="Amiri" pitchFamily="2" charset="-78"/>
                <a:ea typeface="Amiri" pitchFamily="2" charset="-78"/>
                <a:cs typeface="Amiri" pitchFamily="2" charset="-78"/>
              </a:rPr>
              <a:t>طَبِيبَةٌ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أَبِي يَعْمَلُ مُحَاسِبٌ.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أَبِي يَعْمَلُ مُحَاسِبًا.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يَعْمَلُ</a:t>
            </a:r>
            <a:pPr algn="l" indent="0" marL="0">
              <a:buNone/>
            </a:pPr>
            <a:r>
              <a:rPr lang="en-US" sz="1150" b="1" dirty="0">
                <a:solidFill>
                  <a:srgbClr val="1B3B6F"/>
                </a:solidFill>
                <a:latin typeface="Calibri" pitchFamily="34" charset="0"/>
                <a:cs typeface="Amiri" pitchFamily="2" charset="-78"/>
              </a:rPr>
              <a:t> + job in the accusative.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المُهَنْدِسُونَ يَعْمَلُ فِي المَكْتَبِ.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المُهَنْدِسُونَ يَعْمَلُونَ فِي المَكْتَبِ.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Plural subject before the verb → </a:t>
            </a:r>
            <a:pPr algn="l" indent="0" marL="0">
              <a:buNone/>
            </a:pPr>
            <a:r>
              <a:rPr lang="ar-SA" altLang="en-US" sz="1500" b="1" dirty="0">
                <a:solidFill>
                  <a:srgbClr val="1B3B6F"/>
                </a:solidFill>
                <a:latin typeface="Amiri" pitchFamily="2" charset="-78"/>
                <a:ea typeface="Amiri" pitchFamily="2" charset="-78"/>
                <a:cs typeface="Amiri" pitchFamily="2" charset="-78"/>
              </a:rPr>
              <a:t>يَعْمَلُونَ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 · practice room</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 بَيْنَمَا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whereas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أُرِيدُ أَنْ أَعْمَلَ ______ ، لِأَنَّ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don’t want to work as …, because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أَبِي يَعْمَلُ ______ فِي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father works as … in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أُمِّي ______ ، وَتَعْمَلُ فِي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mother is a …, and works in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وَ ______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and … are … (plural)</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أَنْ أَعْمَلَ ______ ، لِأَنَّ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want to work as …, because …</a:t>
            </a:r>
            <a:endParaRPr lang="en-US" sz="1050" dirty="0"/>
          </a:p>
        </p:txBody>
      </p:sp>
      <p:sp>
        <p:nvSpPr>
          <p:cNvPr id="33" name="Shape 30"/>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5" name="Text 32"/>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طَبِيبٌ · طَبِيبَةٌ  ·  مُهَنْدِسٌ · مُهَنْدِسَةٌ  ·  مُدَرِّسٌ · مُدَرِّسَةٌ  ·  مُمَرِّضٌ · مُمَرِّضَةٌ  ·  مُحَاسِبٌ · مُحَاسِبَةٌ  ·  مُسْتَشْفًى · مَكْتَبٌ · شَرِكَةٌ  ·  يَعْمَلُ طَبِيبًا · تَعْمَلُ طَبِيبَةً  ·  بَيْنَمَا</a:t>
            </a:r>
            <a:endParaRPr lang="ar-SA" sz="16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Jobs in my family — and my dream job</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وَظَائِفُ عَائِلَتِي وَوَظِيفَةُ أَحْلَامِي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 · practice room</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Write a paragraph (about 60–80 words) for a class display. Include: • the jobs and workplaces of three relatives (male and female) • one </a:t>
            </a:r>
            <a:pPr algn="l" indent="0" marL="0">
              <a:buNone/>
            </a:pPr>
            <a:r>
              <a:rPr lang="ar-SA" altLang="en-US" sz="1500" b="1" dirty="0">
                <a:solidFill>
                  <a:srgbClr val="1F2A37"/>
                </a:solidFill>
                <a:latin typeface="Amiri" pitchFamily="2" charset="-78"/>
                <a:ea typeface="Amiri" pitchFamily="2" charset="-78"/>
                <a:cs typeface="Amiri" pitchFamily="2" charset="-78"/>
              </a:rPr>
              <a:t>يَعْمَلُ / تَعْمَلُ</a:t>
            </a:r>
            <a:pPr algn="l" indent="0" marL="0">
              <a:buNone/>
            </a:pPr>
            <a:r>
              <a:rPr lang="en-US" sz="1150" b="1" dirty="0">
                <a:solidFill>
                  <a:srgbClr val="1F2A37"/>
                </a:solidFill>
                <a:latin typeface="Calibri" pitchFamily="34" charset="0"/>
                <a:cs typeface="Amiri" pitchFamily="2" charset="-78"/>
              </a:rPr>
              <a:t> + job in the accusative • one plural (e.g. </a:t>
            </a:r>
            <a:pPr algn="l" indent="0" marL="0">
              <a:buNone/>
            </a:pPr>
            <a:r>
              <a:rPr lang="ar-SA" altLang="en-US" sz="1500" b="1" dirty="0">
                <a:solidFill>
                  <a:srgbClr val="1F2A37"/>
                </a:solidFill>
                <a:latin typeface="Amiri" pitchFamily="2" charset="-78"/>
                <a:ea typeface="Amiri" pitchFamily="2" charset="-78"/>
                <a:cs typeface="Amiri" pitchFamily="2" charset="-78"/>
              </a:rPr>
              <a:t>أَعْمَامِي مُهَنْدِسُونَ</a:t>
            </a:r>
            <a:pPr algn="l" indent="0" marL="0">
              <a:buNone/>
            </a:pPr>
            <a:r>
              <a:rPr lang="en-US" sz="1150" b="1" dirty="0">
                <a:solidFill>
                  <a:srgbClr val="1F2A37"/>
                </a:solidFill>
                <a:latin typeface="Calibri" pitchFamily="34" charset="0"/>
                <a:cs typeface="Amiri" pitchFamily="2" charset="-78"/>
              </a:rPr>
              <a:t>) • your dream job with two reasons • a contrast with </a:t>
            </a:r>
            <a:pPr algn="l" indent="0" marL="0">
              <a:buNone/>
            </a:pPr>
            <a:r>
              <a:rPr lang="ar-SA" altLang="en-US" sz="1500" b="1" dirty="0">
                <a:solidFill>
                  <a:srgbClr val="1F2A37"/>
                </a:solidFill>
                <a:latin typeface="Amiri" pitchFamily="2" charset="-78"/>
                <a:ea typeface="Amiri" pitchFamily="2" charset="-78"/>
                <a:cs typeface="Amiri" pitchFamily="2" charset="-78"/>
              </a:rPr>
              <a:t>بَيْنَمَا</a:t>
            </a:r>
            <a:pPr algn="l" indent="0" marL="0">
              <a:buNone/>
            </a:pPr>
            <a:r>
              <a:rPr lang="en-US" sz="1150" b="1" dirty="0">
                <a:solidFill>
                  <a:srgbClr val="1F2A37"/>
                </a:solidFill>
                <a:latin typeface="Calibri" pitchFamily="34" charset="0"/>
                <a:cs typeface="Amiri" pitchFamily="2" charset="-78"/>
              </a:rPr>
              <a:t>.</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right tense for each bullet.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يَعْمَلُ … مُحَاسِبًا فِي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works as an accountant in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تَعْمَلُ … مُمَرِّضَةً فِي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works as a nurse in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أَنْ أَعْمَلَ … لِأَنَّ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want to work as … because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بَيْنَمَا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whereas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each job in the right form (m. / f. / pl.) with a workplace?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يَعْمَلُ / تَعْمَلُ</a:t>
            </a:r>
            <a:pPr algn="l" indent="0" marL="0">
              <a:buNone/>
            </a:pPr>
            <a:r>
              <a:rPr lang="en-US" sz="1100" dirty="0">
                <a:solidFill>
                  <a:srgbClr val="5A6472"/>
                </a:solidFill>
                <a:latin typeface="Calibri" pitchFamily="34" charset="0"/>
                <a:cs typeface="Amiri" pitchFamily="2" charset="-78"/>
              </a:rPr>
              <a:t> + job in the accusative and justify your dream job?</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800600" y="2286000"/>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أَبِي يَعْمَلُ صَحَفِيًّا، وَأُمِّي طَبِيبَةُ أَسْنَانٍ.</a:t>
            </a:r>
            <a:endParaRPr lang="ar-SA" sz="1800" dirty="0"/>
          </a:p>
        </p:txBody>
      </p:sp>
      <p:sp>
        <p:nvSpPr>
          <p:cNvPr id="21" name="Text 18"/>
          <p:cNvSpPr txBox="1"/>
          <p:nvPr/>
        </p:nvSpPr>
        <p:spPr>
          <a:xfrm>
            <a:off x="4754880" y="2706624"/>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father works as a journalist, and my mother is a dentist.</a:t>
            </a:r>
            <a:endParaRPr lang="en-US" sz="950" dirty="0"/>
          </a:p>
        </p:txBody>
      </p:sp>
      <p:sp>
        <p:nvSpPr>
          <p:cNvPr id="22" name="Text 19"/>
          <p:cNvSpPr txBox="1"/>
          <p:nvPr/>
        </p:nvSpPr>
        <p:spPr>
          <a:xfrm>
            <a:off x="1051560"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أَهْلًا! مَاذَا يَعْمَلُ وَالِدَاكَ؟</a:t>
            </a:r>
            <a:endParaRPr lang="ar-SA" sz="1600" dirty="0"/>
          </a:p>
        </p:txBody>
      </p:sp>
      <p:sp>
        <p:nvSpPr>
          <p:cNvPr id="23" name="Text 20"/>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4800600" y="3072384"/>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يُعْجِبُنِي عَمَلُ المُبَرْمِجِ، لِأَنَّنِي أُحِبُّ الحَاسُوبَ.</a:t>
            </a:r>
            <a:endParaRPr lang="ar-SA" sz="1800" dirty="0"/>
          </a:p>
        </p:txBody>
      </p:sp>
      <p:sp>
        <p:nvSpPr>
          <p:cNvPr id="26" name="Text 23"/>
          <p:cNvSpPr txBox="1"/>
          <p:nvPr/>
        </p:nvSpPr>
        <p:spPr>
          <a:xfrm>
            <a:off x="4754880" y="3493008"/>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like the programmer’s job, because I love computers.</a:t>
            </a:r>
            <a:endParaRPr lang="en-US" sz="950" dirty="0"/>
          </a:p>
        </p:txBody>
      </p:sp>
      <p:sp>
        <p:nvSpPr>
          <p:cNvPr id="27" name="Text 24"/>
          <p:cNvSpPr txBox="1"/>
          <p:nvPr/>
        </p:nvSpPr>
        <p:spPr>
          <a:xfrm>
            <a:off x="1051560"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 مَجَالٍ يُعْجِبُكَ؟</a:t>
            </a:r>
            <a:endParaRPr lang="ar-SA" sz="1600" dirty="0"/>
          </a:p>
        </p:txBody>
      </p:sp>
      <p:sp>
        <p:nvSpPr>
          <p:cNvPr id="28" name="Text 25"/>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800600" y="3858768"/>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أَنْ أَعْمَلَ فِي شَرِكَةٍ حَدِيثَةٍ، أَوْ مِنَ البَيْتِ.</a:t>
            </a:r>
            <a:endParaRPr lang="ar-SA" sz="1800" dirty="0"/>
          </a:p>
        </p:txBody>
      </p:sp>
      <p:sp>
        <p:nvSpPr>
          <p:cNvPr id="31" name="Text 28"/>
          <p:cNvSpPr txBox="1"/>
          <p:nvPr/>
        </p:nvSpPr>
        <p:spPr>
          <a:xfrm>
            <a:off x="4754880" y="4279392"/>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want to work in a modern company, or from home.</a:t>
            </a:r>
            <a:endParaRPr lang="en-US" sz="950" dirty="0"/>
          </a:p>
        </p:txBody>
      </p:sp>
      <p:sp>
        <p:nvSpPr>
          <p:cNvPr id="32" name="Text 29"/>
          <p:cNvSpPr txBox="1"/>
          <p:nvPr/>
        </p:nvSpPr>
        <p:spPr>
          <a:xfrm>
            <a:off x="1051560"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وَأَيْنَ تُرِيدُ أَنْ تَعْمَلَ؟</a:t>
            </a:r>
            <a:endParaRPr lang="ar-SA" sz="1600" dirty="0"/>
          </a:p>
        </p:txBody>
      </p:sp>
      <p:sp>
        <p:nvSpPr>
          <p:cNvPr id="33" name="Text 30"/>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5" name="Text 32"/>
          <p:cNvSpPr txBox="1"/>
          <p:nvPr/>
        </p:nvSpPr>
        <p:spPr>
          <a:xfrm>
            <a:off x="4800600" y="4645152"/>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لِأَنَّنِي لَا أُحِبُّ الدَّمَ! بَيْنَمَا أُخْتِي تُرِيدُ أَنْ تَعْمَلَ طَبِيبَةً.</a:t>
            </a:r>
            <a:endParaRPr lang="ar-SA" sz="1800" dirty="0"/>
          </a:p>
        </p:txBody>
      </p:sp>
      <p:sp>
        <p:nvSpPr>
          <p:cNvPr id="36" name="Text 33"/>
          <p:cNvSpPr txBox="1"/>
          <p:nvPr/>
        </p:nvSpPr>
        <p:spPr>
          <a:xfrm>
            <a:off x="4754880" y="5065776"/>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No, because I don’t like blood! Whereas my sister wants to work as a doctor.</a:t>
            </a:r>
            <a:endParaRPr lang="en-US" sz="950" dirty="0"/>
          </a:p>
        </p:txBody>
      </p:sp>
      <p:sp>
        <p:nvSpPr>
          <p:cNvPr id="37" name="Text 34"/>
          <p:cNvSpPr txBox="1"/>
          <p:nvPr/>
        </p:nvSpPr>
        <p:spPr>
          <a:xfrm>
            <a:off x="1051560" y="4626864"/>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تُفَكِّرُ فِي عَمَلِ أُمِّكَ أَيْضًا؟</a:t>
            </a:r>
            <a:endParaRPr lang="ar-SA" sz="1600" dirty="0"/>
          </a:p>
        </p:txBody>
      </p:sp>
      <p:sp>
        <p:nvSpPr>
          <p:cNvPr id="38" name="Text 35"/>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Choose one phrase you did not use and say it aloud.</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 · practice room</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عَائِلَتِي وَظَائِفُ مُخْتَلِفَةٌ. أَبِي يَعْمَلُ مُحَاسِبًا فِي شَرِكَةٍ لِلسَّيَّارَاتِ، وَأُمِّي مُدَرِّسَةٌ فِي مَدْرَسَةٍ ابْتِدَائِيَّةٍ. عَمَّايَ مُهَنْدِسَانِ، وَيَعْمَلَانِ فِي مَشَارِيعِ البِنَاءِ. أَمَّا خَالَتِي فَتَعْمَلُ صَحَفِيَّةً فِي جَرِيدَةٍ مَشْهُورَةٍ. أُرِيدُ أَنْ أَعْمَلَ طَبِيبًا فِي المُسْتَقْبَلِ، لِأَنَّنِي أُحِبُّ العُلُومَ، وَلِأَنَّنِي أُرِيدُ أَنْ أُسَاعِدَ المَرْضَى. أَخِي يُحِبُّ الحَاسُوبَ كَثِيرًا، بَيْنَمَا أُحِبُّ أَنَا العَمَلَ مَعَ النَّاسِ. لَا أُرِيدُ أَنْ أَعْمَلَ فِي مَكْتَبٍ، لِأَنَّهُ مُمِلٌّ فِي رَأْيِي.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family has different jobs. My father works as an accountant in a car company, and my mother is a teacher in a primary school. My two uncles are engineers and work on building projects. As for my aunt, she works as a journalist on a famous newspaper. I want to work as a doctor in the future, because I love science and I want to help sick people. My brother loves computers a lot, whereas I love working with people. I don’t want to work in an office, because I think it is boring.”</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يَعْمَلُ مُحَاسِبًا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عَمَّايَ مُهَنْدِسَانِ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فَتَعْمَلُ صَحَفِيَّةً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بَيْنَمَا أُحِبُّ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 · practice room</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questions and the role-play tasks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today’s key structure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D3-L01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practised it yourselves!</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D3-L02 · The Workplace — Environments and Work Conditions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بِيئَةُ العَمَلِ — الأَمَاكِنُ وَظُرُوفُ العَمَلِ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say it, then write it — full sentences, every time.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D3-L01 · Practice Room — Jobs and Professions — Vocabulary and Gender</dc:title>
  <dc:subject>PptxGenJS Presentation</dc:subject>
  <dc:creator>Al Madina Online School · Arabic Department</dc:creator>
  <cp:lastModifiedBy>Al Madina Online School · Arabic Department</cp:lastModifiedBy>
  <cp:revision>1</cp:revision>
  <dcterms:created xsi:type="dcterms:W3CDTF">2026-10-25T18:34:27Z</dcterms:created>
  <dcterms:modified xsi:type="dcterms:W3CDTF">2026-10-25T18:34:27Z</dcterms:modified>
</cp:coreProperties>
</file>