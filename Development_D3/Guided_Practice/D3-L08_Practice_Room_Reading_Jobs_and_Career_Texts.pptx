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D3-L08 (Reading — Jobs and Career Texts) — new practice tasks built on the lesson’s own word bank and grammar (advert passives: yushtaraṭu (it is required) · yuṭlabu (is wanted) · yufaḍḍalu (is preferred); tracking reference (alladhī / allatī · -hu / -hā); inference you can prove from the text (yabdū anna … · al-dalīlu anna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تَفَضَّلِي · عِنْدَكِ · تُرْسِلِينَ طَلَبَكِ · مُوَظَّفَةِ اسْتِقْبَالٍ. yushtaraṭu = required · yufaḍḍalu = preferred (not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 Jobs and Career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أَقْرَأُ إِعْلَانَ وَظِيفَةٍ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reading-and-speaking practice with job adverts: read an advert aloud, decode what is required, wanted and preferred, track who “who / -hā” refers to, and make an inference with evidence. They do a role-play card phoning about an advert, give a one-minute “am I a good match?” talk, then build, fix and write their own job advert.</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D3-L08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Applications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إِعْلَانُ وَظِيفَةٍ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advert</a:t>
            </a:r>
            <a:endParaRPr lang="en-US" sz="1350" dirty="0"/>
          </a:p>
          <a:p>
            <a:pPr indent="0" marL="0">
              <a:buNone/>
            </a:pPr>
            <a:r>
              <a:rPr lang="en-US" sz="1100" i="1" dirty="0">
                <a:solidFill>
                  <a:srgbClr val="5A6472"/>
                </a:solidFill>
                <a:latin typeface="Calibri" pitchFamily="34" charset="0"/>
                <a:cs typeface="Amiri" pitchFamily="2" charset="-78"/>
              </a:rPr>
              <a:t>iʿ-lā-nu wa-ẓī-fa-tin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سَابِقَةٌ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previous experience</a:t>
            </a:r>
            <a:endParaRPr lang="en-US" sz="1350" dirty="0"/>
          </a:p>
          <a:p>
            <a:pPr indent="0" marL="0">
              <a:buNone/>
            </a:pPr>
            <a:r>
              <a:rPr lang="en-US" sz="1100" i="1" dirty="0">
                <a:solidFill>
                  <a:srgbClr val="5A6472"/>
                </a:solidFill>
                <a:latin typeface="Calibri" pitchFamily="34" charset="0"/>
                <a:cs typeface="Amiri" pitchFamily="2" charset="-78"/>
              </a:rPr>
              <a:t>khib-ra-tun sā-bi-qa-tun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مُتَطَلَّبَاتُ الوَظِيفَةِ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al-wa-ẓī-fa-ti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المُؤَهِّلَاتُ</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Requirements and skills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إِجَادَةُ اللُّغَاتِ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مَهَارَاتُ الحَاسُوبِ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تَغْطِيَةٍ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 letter</a:t>
            </a:r>
            <a:endParaRPr lang="en-US" sz="1350" dirty="0"/>
          </a:p>
          <a:p>
            <a:pPr indent="0" marL="0">
              <a:buNone/>
            </a:pPr>
            <a:r>
              <a:rPr lang="en-US" sz="1100" i="1" dirty="0">
                <a:solidFill>
                  <a:srgbClr val="5A6472"/>
                </a:solidFill>
                <a:latin typeface="Calibri" pitchFamily="34" charset="0"/>
                <a:cs typeface="Amiri" pitchFamily="2" charset="-78"/>
              </a:rPr>
              <a:t>ri-sā-la-tu tagh-ṭi-ya-tin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 وَظِيفَةٍ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application</a:t>
            </a:r>
            <a:endParaRPr lang="en-US" sz="1350" dirty="0"/>
          </a:p>
          <a:p>
            <a:pPr indent="0" marL="0">
              <a:buNone/>
            </a:pPr>
            <a:r>
              <a:rPr lang="en-US" sz="1100" i="1" dirty="0">
                <a:solidFill>
                  <a:srgbClr val="5A6472"/>
                </a:solidFill>
                <a:latin typeface="Calibri" pitchFamily="34" charset="0"/>
                <a:cs typeface="Amiri" pitchFamily="2" charset="-78"/>
              </a:rPr>
              <a:t>ṭa-la-bu wa-ẓī-fa-tin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 شَخْصِيَّةٌ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44" name="Shape 4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7" name="Text 4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مَرْجِعٌ / تَزْكِيَةٌ</a:t>
            </a:r>
            <a:endParaRPr lang="ar-SA" sz="3000" dirty="0"/>
          </a:p>
        </p:txBody>
      </p:sp>
      <p:sp>
        <p:nvSpPr>
          <p:cNvPr id="48" name="Text 4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reference</a:t>
            </a:r>
            <a:endParaRPr lang="en-US" sz="1350" dirty="0"/>
          </a:p>
          <a:p>
            <a:pPr indent="0" marL="0">
              <a:buNone/>
            </a:pPr>
            <a:r>
              <a:rPr lang="en-US" sz="1100" i="1" dirty="0">
                <a:solidFill>
                  <a:srgbClr val="5A6472"/>
                </a:solidFill>
                <a:latin typeface="Calibri" pitchFamily="34" charset="0"/>
                <a:cs typeface="Amiri" pitchFamily="2" charset="-78"/>
              </a:rPr>
              <a:t>mar-ji-ʿun / taz-ki-ya-tun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the advert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نَقْرَأُ الإِعْلَانَ مَعًا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“Wanted: an assistant in a family restaurant. Age 16 or over required.”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«يُطْلَبُ مُسَاعِدٌ فِي مَطْعَمٍ عَائِلِيٍّ. يُشْتَرَطُ العُمْرُ ١٦ سَنَةً فَأَكْثَرَ.»</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age is a requirement. You are sixteen, so you fit.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العُمْرُ شَرْطٌ. عُمْرُكَ سِتَّ عَشْرَةَ سَنَةً، فَأَنْتَ مُنَاسِبٌ.</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“Someone with customer-service experience is preferred.”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«يُفَضَّلُ مَنْ لَدَيْهِ خِبْرَةٌ فِي خِدْمَةِ الزَّبَائِنِ.»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means: not essential, but useful.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«يُفَضَّلُ» يَعْنِي: لَيْسَ ضَرُورِيًّا، وَلٰكِنَّهُ مُفِيدٌ.</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restaurant, which opened this year, is looking for a cheerful person.”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«المَطْعَمُ الَّذِي افْتُتِحَ هٰذَا العَامَ يَبْحَثُ عَنْ شَخْصٍ مَرِحٍ.»</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seems the restaurant is new — the evidence is “opened this year”.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يَبْدُو أَنَّ المَطْعَمَ جَدِيدٌ؛ الدَّلِيلُ «افْتُتِحَ هٰذَا العَامَ».</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B reads a line from another advert; A says required / preferred / inference.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Advert detective — read, decode, prove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شَرْطٌ أَسَاسِيٌّ</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«يُشْتَرَطُ» يَعْنِي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proficiency is required.” — Is it essential?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«يُشْتَرَطُ إِجَادَةُ اللُّغَةِ الإِنْجِلِيزِيَّةِ.» — هَلْ هٰذَا ضَرُورِيٌّ؟</a:t>
            </a:r>
            <a:endParaRPr lang="ar-SA" sz="14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لَيْسَتْ ضَرُورِيَّةً، وَلٰكِنَّ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driving licence is preferred.” — Do you need one?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«يُفَضَّلُ مَنْ لَدَيْهِ رُخْصَةُ قِيَادَةٍ.» — هَلْ تَحْتَاجُ إِلَيْهَا؟</a:t>
            </a:r>
            <a:endParaRPr lang="ar-SA" sz="15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Clue: </a:t>
            </a:r>
            <a:pPr algn="l" indent="0" marL="0">
              <a:buNone/>
            </a:pPr>
            <a:r>
              <a:rPr lang="ar-SA" altLang="en-US" sz="1450" dirty="0">
                <a:solidFill>
                  <a:srgbClr val="5A6472"/>
                </a:solidFill>
                <a:latin typeface="Amiri" pitchFamily="2" charset="-78"/>
                <a:ea typeface="Amiri" pitchFamily="2" charset="-78"/>
                <a:cs typeface="Amiri" pitchFamily="2" charset="-78"/>
              </a:rPr>
              <a:t>الَّتِي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الشَّرِكَةُ</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الشَّرِكَةُ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“The company, which was founded in Dubai, seeks a designer.” — What was founded in Dubai?</a:t>
            </a:r>
            <a:endParaRPr lang="en-US" sz="105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«الشَّرِكَةُ الَّتِي تَأَسَّسَتْ فِي دُبَيٍّ تَبْحَثُ عَنْ مُصَمِّمٍ.» — مَا الَّذِي تَأَسَّسَ فِي دُبَيٍّ؟</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الدَّلِيلُ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يَبْدُو أَنَّ العَمَلَ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“Hours 6 pm to midnight.” — Inference?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«سَاعَاتُ العَمَلِ مِنَ السَّادِسَةِ مَسَاءً إِلَى مُنْتَصَفِ اللَّيْلِ.» — مَا الاسْتِنْتَاجُ؟</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لَيْسَ لَدَيَّ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أَعْتَقِدُ أَنَّنِي …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you suitable for this job?</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أَنْتَ مُنَاسِبٌ لِهٰذِهِ الوَظِيفَةِ؟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phoning about an advert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اتِّصَالٌ بِشَأْنِ إِعْلَانٍ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السَّبَبُ ← قَرَأْتُ إِعْلَانَ وَظِيفَةِ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why you are calling.</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فُنْدُقُ النَّخْلَةِ، تَفَضَّلْ.</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هَلْ يُشْتَرَطُ …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a requirement.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هَلْ عِنْدَكَ سُؤَالٌ؟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have.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لَا، وَلٰكِنْ يُفَضَّلُ مَنْ يَتَكَلَّمُ لُغَتَيْنِ.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تُرْسِلُ طَلَبَكَ؟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job seeker · Leader = the hotel receptionist.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am I a good match?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أَنَا مُنَاسِبٌ؟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invents a short advert (job, two requirements, one preference). Talk for one minute: what is required, what is preferred, and whether you are a good match — with evidence.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what is required and what is preferred.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Match each requirement to yourself (</a:t>
            </a:r>
            <a:pPr algn="l" indent="0" marL="0">
              <a:buNone/>
            </a:pPr>
            <a:r>
              <a:rPr lang="ar-SA" altLang="en-US" sz="1500" dirty="0">
                <a:solidFill>
                  <a:srgbClr val="1F2A37"/>
                </a:solidFill>
                <a:latin typeface="Amiri" pitchFamily="2" charset="-78"/>
                <a:ea typeface="Amiri" pitchFamily="2" charset="-78"/>
                <a:cs typeface="Amiri" pitchFamily="2" charset="-78"/>
              </a:rPr>
              <a:t>لَدَيَّ … / لَيْسَ لَدَيَّ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an inference about the job (</a:t>
            </a:r>
            <a:pPr algn="l" indent="0" marL="0">
              <a:buNone/>
            </a:pPr>
            <a:r>
              <a:rPr lang="ar-SA" altLang="en-US" sz="1500" dirty="0">
                <a:solidFill>
                  <a:srgbClr val="1F2A37"/>
                </a:solidFill>
                <a:latin typeface="Amiri" pitchFamily="2" charset="-78"/>
                <a:ea typeface="Amiri" pitchFamily="2" charset="-78"/>
                <a:cs typeface="Amiri" pitchFamily="2" charset="-78"/>
              </a:rPr>
              <a:t>يَبْدُو أَنَّ</a:t>
            </a:r>
            <a:pPr algn="l" indent="0" marL="0">
              <a:buNone/>
            </a:pPr>
            <a:r>
              <a:rPr lang="en-US" sz="1150" dirty="0">
                <a:solidFill>
                  <a:srgbClr val="1F2A37"/>
                </a:solidFill>
                <a:latin typeface="Calibri" pitchFamily="34" charset="0"/>
                <a:cs typeface="Amiri" pitchFamily="2" charset="-78"/>
              </a:rPr>
              <a:t> …) and a decision.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Experience in sales is required.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تُشْتَرَطُ</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يَشْتَرِطُ</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خِبْرَةٌ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خِبْرَةً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المَبِيعَاتِ.</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المَبِيعَاتِ.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seems that the job is tiring.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يَبْدُو</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يَبْدُوا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العَمَلَ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العَمَلُ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مُجْهِدٌ.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مُجْهِدًا.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company that is looking for a designer is in Dubai.</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الشَّرِكَةُ الَّتِي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الشَّرِكَةُ الَّذِي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تَبْحَثُ عَنْ مُصَمِّمٍ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يَبْحَثُ عَنْ مُصَمِّمٍ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دُبَيٍّ.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دُبَيٌّ.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Experience in sales is required.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verb + subject in -un; </a:t>
            </a:r>
            <a:pPr algn="l" indent="0" marL="0">
              <a:buNone/>
            </a:pPr>
            <a:r>
              <a:rPr lang="ar-SA" altLang="en-US" sz="1350" dirty="0">
                <a:solidFill>
                  <a:srgbClr val="5A6472"/>
                </a:solidFill>
                <a:latin typeface="Amiri" pitchFamily="2" charset="-78"/>
                <a:ea typeface="Amiri" pitchFamily="2" charset="-78"/>
                <a:cs typeface="Amiri" pitchFamily="2" charset="-78"/>
              </a:rPr>
              <a:t>خِبْرَةٌ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تُشْتَرَطُ</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تُشْتَرَطُ خِبْرَةٌ فِي المَبِيعَاتِ.</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seems that the job is tiring.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predicate -un.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يَبْدُو أَنَّ العَمَلَ مُجْهِدٌ.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company that is looking for a designer is in Dubai.</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شَرِكَةٌ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الَّتِي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تَبْحَثُ</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الشَّرِكَةُ الَّتِي تَبْحَثُ عَنْ مُصَمِّمٍ فِي دُبَيٍّ.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«يُفَضَّلُ» يَعْنِي ضَرُورِيٌّ.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Preferred or required?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الوَظِيفَةُ الَّذِي فِي الإِعْلَانِ …</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وَظِيفَةٌ</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العَمَلُ لَيْلِيٌّ</a:t>
            </a:r>
            <a:pPr algn="l" indent="0" marL="0">
              <a:buNone/>
            </a:pPr>
            <a:r>
              <a:rPr lang="en-US" sz="3000" b="1" dirty="0">
                <a:solidFill>
                  <a:srgbClr val="B83227"/>
                </a:solidFill>
                <a:latin typeface="Calibri" pitchFamily="34" charset="0"/>
                <a:cs typeface="Amiri" pitchFamily="2" charset="-78"/>
              </a:rPr>
              <a:t>. (no evidence)</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Prove your inference.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«يُفَضَّلُ» يَعْنِي ضَرُورِيٌّ.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«يُفَضَّلُ» يَعْنِي مُفِيدٌ وَلٰكِنَّهُ لَيْسَ ضَرُورِيًّا.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a:t>
            </a:r>
            <a:pPr algn="l" indent="0" marL="0">
              <a:buNone/>
            </a:pPr>
            <a:r>
              <a:rPr lang="ar-SA" altLang="en-US" sz="1500" b="1" dirty="0">
                <a:solidFill>
                  <a:srgbClr val="1B3B6F"/>
                </a:solidFill>
                <a:latin typeface="Amiri" pitchFamily="2" charset="-78"/>
                <a:ea typeface="Amiri" pitchFamily="2" charset="-78"/>
                <a:cs typeface="Amiri" pitchFamily="2" charset="-78"/>
              </a:rPr>
              <a:t>يُشْتَرَطُ</a:t>
            </a:r>
            <a:pPr algn="l" indent="0" marL="0">
              <a:buNone/>
            </a:pPr>
            <a:r>
              <a:rPr lang="en-US" sz="1150" b="1" dirty="0">
                <a:solidFill>
                  <a:srgbClr val="1B3B6F"/>
                </a:solidFill>
                <a:latin typeface="Calibri" pitchFamily="34" charset="0"/>
                <a:cs typeface="Amiri" pitchFamily="2" charset="-78"/>
              </a:rPr>
              <a:t> means essential.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الوَظِيفَةُ الَّذِي فِي الإِعْلَانِ …</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الوَظِيفَةُ الَّتِي فِي الإِعْلَانِ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الَّتِي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العَمَلُ لَيْلِيٌّ</a:t>
            </a:r>
            <a:pPr algn="l" indent="0" marL="0">
              <a:buNone/>
            </a:pPr>
            <a:r>
              <a:rPr lang="en-US" sz="1800" dirty="0">
                <a:solidFill>
                  <a:srgbClr val="B83227"/>
                </a:solidFill>
                <a:latin typeface="Calibri" pitchFamily="34" charset="0"/>
                <a:cs typeface="Amiri" pitchFamily="2" charset="-78"/>
              </a:rPr>
              <a:t>. (no evidence)</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يَبْدُو أَنَّ العَمَلَ لَيْلِيٌّ؛ الدَّلِيلُ أَنَّ السَّاعَاتِ حَتَّى مُنْتَصَفِ اللَّيْلِ.</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Inference + quote from the text.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______ الَّذِي / الَّتِي ______ يَبْحَثُ / تَبْحَثُ عَنْ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which … is looking for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لِلتَّقَدُّمِ أَرْسِلْ ______ إِلَى ______ قَبْلَ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apply, send … to … before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يُطْلَبُ ______ لِلْعَمَلِ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wanted to work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يُشْتَرَطُ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required.</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يُفَضَّلُ مَنْ لَدَيْهِ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Someone with … is preferred.</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سَاعَاتُ العَمَلِ ______ ، وَالرَّاتِبُ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hours are …, and the salary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إِعْلَانُ وَظِيفَةٍ  ·  يُطْلَبُ · يُشْتَرَطُ  ·  يُفَضَّلُ  ·  مُتَطَلَّبَاتُ الوَظِيفَةِ  ·  خِبْرَةٌ سَابِقَةٌ  ·  إِجَادَةُ اللُّغَاتِ  ·  مَهَارَاتُ الحَاسُوبِ  ·  سِيرَةٌ ذَاتِيَّةٌ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Write a job advert — then check a partner</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إِعْلَانَ وَظِيفَةٍ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job advert (about 60–80 words) for a summer job you invent. Include: • the job and the workplace (with </a:t>
            </a:r>
            <a:pPr algn="l" indent="0" marL="0">
              <a:buNone/>
            </a:pPr>
            <a:r>
              <a:rPr lang="ar-SA" altLang="en-US" sz="1450" b="1" dirty="0">
                <a:solidFill>
                  <a:srgbClr val="1F2A37"/>
                </a:solidFill>
                <a:latin typeface="Amiri" pitchFamily="2" charset="-78"/>
                <a:ea typeface="Amiri" pitchFamily="2" charset="-78"/>
                <a:cs typeface="Amiri" pitchFamily="2" charset="-78"/>
              </a:rPr>
              <a:t>الَّذِي / الَّتِي</a:t>
            </a:r>
            <a:pPr algn="l" indent="0" marL="0">
              <a:buNone/>
            </a:pPr>
            <a:r>
              <a:rPr lang="en-US" sz="1100" b="1" dirty="0">
                <a:solidFill>
                  <a:srgbClr val="1F2A37"/>
                </a:solidFill>
                <a:latin typeface="Calibri" pitchFamily="34" charset="0"/>
                <a:cs typeface="Amiri" pitchFamily="2" charset="-78"/>
              </a:rPr>
              <a:t>) • two requirements (</a:t>
            </a:r>
            <a:pPr algn="l" indent="0" marL="0">
              <a:buNone/>
            </a:pPr>
            <a:r>
              <a:rPr lang="ar-SA" altLang="en-US" sz="1450" b="1" dirty="0">
                <a:solidFill>
                  <a:srgbClr val="1F2A37"/>
                </a:solidFill>
                <a:latin typeface="Amiri" pitchFamily="2" charset="-78"/>
                <a:ea typeface="Amiri" pitchFamily="2" charset="-78"/>
                <a:cs typeface="Amiri" pitchFamily="2" charset="-78"/>
              </a:rPr>
              <a:t>يُشْتَرَطُ</a:t>
            </a:r>
            <a:pPr algn="l" indent="0" marL="0">
              <a:buNone/>
            </a:pPr>
            <a:r>
              <a:rPr lang="en-US" sz="1100" b="1" dirty="0">
                <a:solidFill>
                  <a:srgbClr val="1F2A37"/>
                </a:solidFill>
                <a:latin typeface="Calibri" pitchFamily="34" charset="0"/>
                <a:cs typeface="Amiri" pitchFamily="2" charset="-78"/>
              </a:rPr>
              <a:t> …) • one preference (</a:t>
            </a:r>
            <a:pPr algn="l" indent="0" marL="0">
              <a:buNone/>
            </a:pPr>
            <a:r>
              <a:rPr lang="ar-SA" altLang="en-US" sz="1450" b="1" dirty="0">
                <a:solidFill>
                  <a:srgbClr val="1F2A37"/>
                </a:solidFill>
                <a:latin typeface="Amiri" pitchFamily="2" charset="-78"/>
                <a:ea typeface="Amiri" pitchFamily="2" charset="-78"/>
                <a:cs typeface="Amiri" pitchFamily="2" charset="-78"/>
              </a:rPr>
              <a:t>يُفَضَّلُ</a:t>
            </a:r>
            <a:pPr algn="l" indent="0" marL="0">
              <a:buNone/>
            </a:pPr>
            <a:r>
              <a:rPr lang="en-US" sz="1100" b="1" dirty="0">
                <a:solidFill>
                  <a:srgbClr val="1F2A37"/>
                </a:solidFill>
                <a:latin typeface="Calibri" pitchFamily="34" charset="0"/>
                <a:cs typeface="Amiri" pitchFamily="2" charset="-78"/>
              </a:rPr>
              <a:t> …) • hours and salary • how to apply. Swap with a partner: they read it and say if they are a good match, with evidence.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يُطْلَبُ … لِلْعَمَلِ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wanted to work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يُشْتَرَطُ … · تُشْتَرَطُ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required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يُفَضَّلُ مَنْ لَدَيْهِ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someone with … is preferred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لِلتَّقَدُّمِ أَرْسِلْ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apply, send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apart </a:t>
            </a:r>
            <a:pPr algn="l" indent="0" marL="0">
              <a:buNone/>
            </a:pPr>
            <a:r>
              <a:rPr lang="ar-SA" altLang="en-US" sz="1450" dirty="0">
                <a:solidFill>
                  <a:srgbClr val="5A6472"/>
                </a:solidFill>
                <a:latin typeface="Amiri" pitchFamily="2" charset="-78"/>
                <a:ea typeface="Amiri" pitchFamily="2" charset="-78"/>
                <a:cs typeface="Amiri" pitchFamily="2" charset="-78"/>
              </a:rPr>
              <a:t>يُشْتَرَطُ</a:t>
            </a:r>
            <a:pPr algn="l" indent="0" marL="0">
              <a:buNone/>
            </a:pPr>
            <a:r>
              <a:rPr lang="en-US" sz="1100" dirty="0">
                <a:solidFill>
                  <a:srgbClr val="5A6472"/>
                </a:solidFill>
                <a:latin typeface="Calibri" pitchFamily="34" charset="0"/>
                <a:cs typeface="Amiri" pitchFamily="2" charset="-78"/>
              </a:rPr>
              <a:t> (required) and </a:t>
            </a:r>
            <a:pPr algn="l" indent="0" marL="0">
              <a:buNone/>
            </a:pPr>
            <a:r>
              <a:rPr lang="ar-SA" altLang="en-US" sz="1450" dirty="0">
                <a:solidFill>
                  <a:srgbClr val="5A6472"/>
                </a:solidFill>
                <a:latin typeface="Amiri" pitchFamily="2" charset="-78"/>
                <a:ea typeface="Amiri" pitchFamily="2" charset="-78"/>
                <a:cs typeface="Amiri" pitchFamily="2" charset="-78"/>
              </a:rPr>
              <a:t>يُفَضَّلُ</a:t>
            </a:r>
            <a:pPr algn="l" indent="0" marL="0">
              <a:buNone/>
            </a:pPr>
            <a:r>
              <a:rPr lang="en-US" sz="1100" dirty="0">
                <a:solidFill>
                  <a:srgbClr val="5A6472"/>
                </a:solidFill>
                <a:latin typeface="Calibri" pitchFamily="34" charset="0"/>
                <a:cs typeface="Amiri" pitchFamily="2" charset="-78"/>
              </a:rPr>
              <a:t> (preferred)?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track </a:t>
            </a:r>
            <a:pPr algn="l" indent="0" marL="0">
              <a:buNone/>
            </a:pPr>
            <a:r>
              <a:rPr lang="ar-SA" altLang="en-US" sz="1450" dirty="0">
                <a:solidFill>
                  <a:srgbClr val="5A6472"/>
                </a:solidFill>
                <a:latin typeface="Amiri" pitchFamily="2" charset="-78"/>
                <a:ea typeface="Amiri" pitchFamily="2" charset="-78"/>
                <a:cs typeface="Amiri" pitchFamily="2" charset="-78"/>
              </a:rPr>
              <a:t>الَّذِي / الَّتِي</a:t>
            </a:r>
            <a:pPr algn="l" indent="0" marL="0">
              <a:buNone/>
            </a:pPr>
            <a:r>
              <a:rPr lang="en-US" sz="1100" dirty="0">
                <a:solidFill>
                  <a:srgbClr val="5A6472"/>
                </a:solidFill>
                <a:latin typeface="Calibri" pitchFamily="34" charset="0"/>
                <a:cs typeface="Amiri" pitchFamily="2" charset="-78"/>
              </a:rPr>
              <a:t> and support an inference with evidence?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قَرَأْتُ إِعْلَانَ وَظِيفَةِ مُوَظَّفِ اسْتِقْبَالٍ.</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Hello, I read the advert for the receptionist job.</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فُنْدُقُ النَّخْلَةِ، تَفَضَّلْ.</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تُشْتَرَطُ خِبْرَةٌ سَابِقَةٌ؟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 previous experience required?</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هَلْ عِنْدَكَ سُؤَالٌ؟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مُمْتَازٌ، أَتَكَلَّمُ العَرَبِيَّةَ وَالإِنْجِلِيزِيَّةَ بِطَلَاقَةٍ.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Excellent, I speak Arabic and English fluently.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وَلٰكِنْ يُفَضَّلُ مَنْ يَتَكَلَّمُ لُغَتَيْنِ.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سَأُرْسِلُ سِيرَتِي الذَّاتِيَّةَ وَرِسَالَةَ تَغْطِيَةٍ بِالبَرِيدِ الإِلِكْتِرُونِيِّ اليَوْمَ.</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send my CV and a cover letter by email today.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تُرْسِلُ طَلَبَكَ؟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يُطْلَبُ مُسَاعِدٌ أَوْ مُسَاعِدَةٌ لِلْعَمَلِ فِي حَدِيقَةِ الحَيَوَانَاتِ الَّتِي افْتُتِحَتْ فِي وَسَطِ المَدِينَةِ. يُشْتَرَطُ العُمْرُ سِتَّ عَشْرَةَ سَنَةً فَأَكْثَرَ، وَتُشْتَرَطُ مَهَارَةُ التَّوَاصُلِ مَعَ الأَطْفَالِ. يُفَضَّلُ مَنْ لَدَيْهِ خِبْرَةٌ فِي العِنَايَةِ بِالحَيَوَانَاتِ، وَمَنْ يُجِيدُ لُغَتَيْنِ. سَاعَاتُ العَمَلِ مِنَ التَّاسِعَةِ صَبَاحًا إِلَى الثَّالِثَةِ، خَمْسَةَ أَيَّامٍ فِي الأُسْبُوعِ، وَالرَّاتِبُ جَيِّدٌ. لِلتَّقَدُّمِ أَرْسِلْ سِيرَتَكَ الذَّاتِيَّةَ وَرِسَالَةَ تَغْطِيَةٍ قَصِيرَةً إِلَى البَرِيدِ الإِلِكْتِرُونِيِّ قَبْلَ نِهَايَةِ الشَّهْرِ.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“Wanted: a male or female assistant to work at the zoo which opened in the city centre. Age 16 or over is required, and communication skills with children are required. Someone with experience caring for animals, and who speaks two languages, is preferred. Hours are 9 am to 3 pm, five days a week, and the salary is good. To apply, send your CV and a short cover letter by email before the end of the month.”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افْتُتِحَتْ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يُشْتَرَطُ العُمْرُ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يُفَضَّلُ مَنْ لَدَيْهِ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لِلتَّقَدُّمِ أَرْسِلْ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D3-L09 · Writing — Career Plans Article or Email</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خُطَطِي وَطُمُوحَاتِي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D3-L08 · Practice Room — Reading — Jobs and Career Texts</dc:title>
  <dc:subject>PptxGenJS Presentation</dc:subject>
  <dc:creator>Al Madina Online School · Arabic Department</dc:creator>
  <cp:lastModifiedBy>Al Madina Online School · Arabic Department</cp:lastModifiedBy>
  <cp:revision>1</cp:revision>
  <dcterms:created xsi:type="dcterms:W3CDTF">2026-10-25T18:19:56Z</dcterms:created>
  <dcterms:modified xsi:type="dcterms:W3CDTF">2026-10-25T18:19:56Z</dcterms:modified>
</cp:coreProperties>
</file>