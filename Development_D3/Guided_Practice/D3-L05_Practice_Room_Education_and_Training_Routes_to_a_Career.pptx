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D3-L05 (Education and Training — Routes to a Career) — new practice tasks built on the lesson’s own word bank and grammar (routes: university · college · vocational institute · apprenticeship · training course; the route to a goal: li-kay uṣbiḥa … yajibu an …; condition: idhā ḥaṣaltu ʿalā … fa-sawfa …; comparing routes (aqṣaru min · arkhaṣu min · akthar ʿamaliyyatan); a balanced judgement).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تُرِيدِينَ · تَعْرِفِينَ · فَكَّرْتِ · مُصَمِّمَةَ أَزْيَاءٍ. The route: li-kay uṣbiḥa … yajibu an … · comparing routes with afʿalu / akthar +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Education and Training — Routes to a Career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طُرُقٌ إِلَى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routes into work: say the education and training words, act a short dialogue comparing routes, answer question cards, do a role-play card at a college open day, give a one-minute talk comparing two routes, then build, fix and write a balanced comparison of university and an apprenticeship.</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D3-L05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Routes into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جَامِعَةٌ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جَامِعَاتٌ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كُلِّيَّاتٌ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مَعْهَدٌ مِهَنِيٌّ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مَعَاهِدُ مِهَنِيَّةٌ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مِهَنِيٌّ</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عَمَلِيٌّ</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تَلْمَذَةٌ مِهَنِيَّةٌ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Requirements and support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شَهَادَاتٌ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دَوْرَةٌ تَدْرِيبِيَّةٌ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training course</a:t>
            </a:r>
            <a:endParaRPr lang="en-US" sz="1350" dirty="0"/>
          </a:p>
          <a:p>
            <a:pPr indent="0" marL="0">
              <a:buNone/>
            </a:pPr>
            <a:r>
              <a:rPr lang="en-US" sz="1100" i="1" dirty="0">
                <a:solidFill>
                  <a:srgbClr val="5A6472"/>
                </a:solidFill>
                <a:latin typeface="Calibri" pitchFamily="34" charset="0"/>
                <a:cs typeface="Amiri" pitchFamily="2" charset="-78"/>
              </a:rPr>
              <a:t>daw-ra-tun tad-rī-biy-ya-tun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دَوْرَاتٌ تَدْرِيبِيَّةٌ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مِنْحَةٌ دِرَاسِيَّةٌ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مِنَحٌ دِرَاسِيَّةٌ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القَبُولِ</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al-qa-bū-li</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عَمَلِيَّةٌ</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مَسَارٌ أَكَادِيمِيٌّ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route</a:t>
            </a:r>
            <a:endParaRPr lang="en-US" sz="1350" dirty="0"/>
          </a:p>
          <a:p>
            <a:pPr indent="0" marL="0">
              <a:buNone/>
            </a:pPr>
            <a:r>
              <a:rPr lang="en-US" sz="1100" i="1" dirty="0">
                <a:solidFill>
                  <a:srgbClr val="5A6472"/>
                </a:solidFill>
                <a:latin typeface="Calibri" pitchFamily="34" charset="0"/>
                <a:cs typeface="Amiri" pitchFamily="2" charset="-78"/>
              </a:rPr>
              <a:t>ma-sā-run a-kā-dī-miy-yun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University or apprenticeship?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الجَامِعَةُ أَمِ التَّلْمَذَةُ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go to university?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سَتَذْهَبُ إِلَى الجَامِعَةِ؟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know yet. I’m thinking about an apprenticeship.</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أَعْرِفُ بَعْدُ. أُفَكِّرُ فِي تَلْمَذَةٍ مِهَنِيَّةٍ.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is shorter and cheaper, and I gain work experience and a wage.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لِأَنَّهَا أَقْصَرُ وَأَرْخَصُ، وَأَكْسِبُ خِبْرَةً عَمَلِيَّةً وَرَاتِبًا.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a university degree is important for some jobs.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وَلٰكِنَّ الشَّهَادَةَ الجَامِعِيَّةَ مُهِمَّةٌ لِبَعْضِ الوَظَائِفِ.</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To become a doctor I must study at university; but to become an electrician, training is better.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صَحِيحٌ. لِكَيْ أُصْبِحَ طَبِيبًا يَجِبُ أَنْ أَدْرُسَ فِي الجَامِعَةِ، أَمَّا لِكَيْ أُصْبِحَ كَهْرَبَائِيًّا فَالتَّدْرِيبُ أَفْضَلُ.</a:t>
            </a:r>
            <a:endParaRPr lang="ar-SA" sz="14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choose YOUR route and defend it — your partner argues for the other route.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لِكَيْ أُصْبِحَ … يَجِبُ 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route to your dream job?</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الطَّرِيقُ إِلَى وَظِيفَةِ أَحْلَامِكَ؟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مَزَايَا الجَامِعَةِ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advantages of university?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الجَامِعَةِ؟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لِأَنَّهُ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a work placement useful?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التَّدْرِيبُ العَمَلِيُّ مُفِيدٌ؟</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الكِيمْيَاءِ وَ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يَحْصُلَ الطَّالِبُ عَلَى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entry requirements for medicine?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مُتَطَلَّبَاتُ القَبُولِ فِي كُلِّيَّةِ الطِّبِّ؟</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حَصَلْتُ عَلَى مِنْحَةٍ، فَسَوْفَ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do if you get a scholarship?</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إِذَا حَصَلْتَ عَلَى مِنْحَةٍ دِرَاسِيَّةٍ؟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at a college open day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مَفْتُوحٌ فِي الكُلِّيَّةِ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الدَّوْرَةُ ← أُرِيدُ أَنْ أَدْرُسَ … لِكَيْ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Course + goal.</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دَوْرَةٍ تُرِيدُ أَنْ تَدْرُسَ؟</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لَا، مَا الدَّرَجَاتُ المَطْلُوبَةُ؟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requirements.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تَعْرِفُ مُتَطَلَّبَاتِ القَبُولِ؟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 plan.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نَطْلُبُ خَمْسَ شَهَادَاتٍ، وَمَلَفًّا فَنِّيًّا.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the routes.</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فَكَّرْتَ فِي التَّلْمَذَةِ المِهَنِيَّةِ بَدَلًا مِنْ ذٰلِكَ؟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visitor · Leader = a college tutor.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two routes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Compare two routes (e.g. university vs apprenticeship) for one minute, then say which you would choose for YOUR dream job.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advantages of each route.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comparatives (</a:t>
            </a:r>
            <a:pPr algn="l" indent="0" marL="0">
              <a:buNone/>
            </a:pPr>
            <a:r>
              <a:rPr lang="ar-SA" altLang="en-US" sz="1500" dirty="0">
                <a:solidFill>
                  <a:srgbClr val="1F2A37"/>
                </a:solidFill>
                <a:latin typeface="Amiri" pitchFamily="2" charset="-78"/>
                <a:ea typeface="Amiri" pitchFamily="2" charset="-78"/>
                <a:cs typeface="Amiri" pitchFamily="2" charset="-78"/>
              </a:rPr>
              <a:t>أَقْصَرُ</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أَرْخَصُ</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أَكْثَرُ عَمَلِيَّةً</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لِكَيْ أُصْبِحَ … يَجِبُ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condition (</a:t>
            </a:r>
            <a:pPr algn="l" indent="0" marL="0">
              <a:buNone/>
            </a:pPr>
            <a:r>
              <a:rPr lang="ar-SA" altLang="en-US" sz="1500" dirty="0">
                <a:solidFill>
                  <a:srgbClr val="1F2A37"/>
                </a:solidFill>
                <a:latin typeface="Amiri" pitchFamily="2" charset="-78"/>
                <a:ea typeface="Amiri" pitchFamily="2" charset="-78"/>
                <a:cs typeface="Amiri" pitchFamily="2" charset="-78"/>
              </a:rPr>
              <a:t>إِذَا … فَسَوْفَ</a:t>
            </a:r>
            <a:pPr algn="l" indent="0" marL="0">
              <a:buNone/>
            </a:pPr>
            <a:r>
              <a:rPr lang="en-US" sz="1150" dirty="0">
                <a:solidFill>
                  <a:srgbClr val="1F2A37"/>
                </a:solidFill>
                <a:latin typeface="Calibri" pitchFamily="34" charset="0"/>
                <a:cs typeface="Amiri" pitchFamily="2" charset="-78"/>
              </a:rPr>
              <a:t> …) and a balanced judgement.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To become a lawyer, I must study law.</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أُصْبِحَ مُحَامِيًا،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أُصْبِحُ مُحَامٍ،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القَانُونَ.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القَانُونَ.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 apprenticeship is cheaper than university.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التَّلْمَذَةُ المِهَنِيَّةُ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التَّلْمَذَةَ المِهَنِيَّةَ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الجَامِعَةِ.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الجَامِعَةُ.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get the grades, I will go to college.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حَصَلْتُ عَلَى</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أَحْصُلُ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الدَّرَجَاتِ،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الدَّرَجَاتُ،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أَذْهَبُ إِلَى الكُلِّيَّةِ.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أَذْهَبَ إِلَى الكُلِّيَّةِ.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To become a lawyer, I must study law.</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 / 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أُصْبِحَ</a:t>
            </a:r>
            <a:pPr algn="l" indent="0" marL="0">
              <a:buNone/>
            </a:pPr>
            <a:r>
              <a:rPr lang="en-US" sz="1050" i="1" dirty="0">
                <a:solidFill>
                  <a:srgbClr val="5A6472"/>
                </a:solidFill>
                <a:latin typeface="Calibri" pitchFamily="34" charset="0"/>
                <a:cs typeface="Amiri" pitchFamily="2" charset="-78"/>
              </a:rPr>
              <a:t> + -an (</a:t>
            </a:r>
            <a:pPr algn="l" indent="0" marL="0">
              <a:buNone/>
            </a:pPr>
            <a:r>
              <a:rPr lang="ar-SA" altLang="en-US" sz="1350" dirty="0">
                <a:solidFill>
                  <a:srgbClr val="5A6472"/>
                </a:solidFill>
                <a:latin typeface="Amiri" pitchFamily="2" charset="-78"/>
                <a:ea typeface="Amiri" pitchFamily="2" charset="-78"/>
                <a:cs typeface="Amiri" pitchFamily="2" charset="-78"/>
              </a:rPr>
              <a:t>مُحَامِيًا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لِكَيْ أُصْبِحَ مُحَامِيًا، يَجِبُ أَنْ أَدْرُسَ القَانُونَ.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 apprenticeship is cheaper than university.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no feminine ending;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التَّلْمَذَةُ المِهَنِيَّةُ أَرْخَصُ مِنَ الجَامِعَةِ.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get the grades, I will go to college.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a:t>
            </a:r>
            <a:pPr algn="l" indent="0" marL="0">
              <a:buNone/>
            </a:pPr>
            <a:r>
              <a:rPr lang="ar-SA" altLang="en-US" sz="1350" dirty="0">
                <a:solidFill>
                  <a:srgbClr val="5A6472"/>
                </a:solidFill>
                <a:latin typeface="Amiri" pitchFamily="2" charset="-78"/>
                <a:ea typeface="Amiri" pitchFamily="2" charset="-78"/>
                <a:cs typeface="Amiri" pitchFamily="2" charset="-78"/>
              </a:rPr>
              <a:t>حَصَلَ عَلَى</a:t>
            </a:r>
            <a:pPr algn="l" indent="0" marL="0">
              <a:buNone/>
            </a:pPr>
            <a:r>
              <a:rPr lang="en-US" sz="1050" i="1" dirty="0">
                <a:solidFill>
                  <a:srgbClr val="5A6472"/>
                </a:solidFill>
                <a:latin typeface="Calibri" pitchFamily="34" charset="0"/>
                <a:cs typeface="Amiri" pitchFamily="2" charset="-78"/>
              </a:rPr>
              <a:t> + genitive; fa- + future.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حَصَلْتُ عَلَى الدَّرَجَاتِ، فَسَوْفَ أَذْهَبُ إِلَى الكُلِّيَّةِ.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أُصْبِحُ مُهَنْدِسًا يَجِبُ أَنْ 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verbs after particles.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الجَامِعَةُ أَغْلَى مِنَ التَّدْرِيبُ.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مِنْ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حَصَلْتُ الشَّهَادَةَ.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أُصْبِحُ مُهَنْدِسًا يَجِبُ أَنْ 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أُصْبِحَ مُهَنْدِسًا يَجِبُ أَنْ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لِكَيْ / 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الجَامِعَةُ أَغْلَى مِنَ التَّدْرِيبُ.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الجَامِعَةُ أَغْلَى مِنَ التَّدْرِيبِ.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حَصَلْتُ الشَّهَادَةَ.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حَصَلْتُ عَلَى الشَّهَادَةِ.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حَصَلَ عَلَى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حَصَلْتُ عَلَى ______ ، فَسَوْفَ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get …, I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الجَامِعَةِ 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university is that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أَمَّا التَّلْمَذَةُ المِهَنِيَّةُ فَهِيَ ______ مِنَ الجَامِعَةِ.</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apprenticeship is … than university.</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أُصْبِحَ ______ ، يَجِبُ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become …, I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جَامِعَةٌ · كُلِّيَّةٌ  ·  مَعْهَدٌ مِهَنِيٌّ  ·  تَلْمَذَةٌ مِهَنِيَّةٌ  ·  تَدْرِيبٌ عَمَلِيٌّ  ·  شَهَادَةٌ · دَوْرَةٌ تَدْرِيبِيَّةٌ  ·  مِنْحَةٌ دِرَاسِيَّةٌ  ·  خِبْرَةٌ عَمَلِيَّةٌ  ·  أَقْصَرُ · أَرْخَصُ · أَغْلَى</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University or apprenticeship? A balanced view</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الجَامِعَةُ أَمِ التَّلْمَذَةُ؟ رَأْيٌ مُتَوَازِنٌ</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balanced paragraph (about 60–80 words) for a school careers newsletter. Include: • two advantages of university and two of an apprenticeship or training • two comparatives • the route to YOUR dream job (</a:t>
            </a:r>
            <a:pPr algn="l" indent="0" marL="0">
              <a:buNone/>
            </a:pPr>
            <a:r>
              <a:rPr lang="ar-SA" altLang="en-US" sz="1450" b="1" dirty="0">
                <a:solidFill>
                  <a:srgbClr val="1F2A37"/>
                </a:solidFill>
                <a:latin typeface="Amiri" pitchFamily="2" charset="-78"/>
                <a:ea typeface="Amiri" pitchFamily="2" charset="-78"/>
                <a:cs typeface="Amiri" pitchFamily="2" charset="-78"/>
              </a:rPr>
              <a:t>لِكَيْ أُصْبِحَ … يَجِبُ أَنْ</a:t>
            </a:r>
            <a:pPr algn="l" indent="0" marL="0">
              <a:buNone/>
            </a:pPr>
            <a:r>
              <a:rPr lang="en-US" sz="1100" b="1" dirty="0">
                <a:solidFill>
                  <a:srgbClr val="1F2A37"/>
                </a:solidFill>
                <a:latin typeface="Calibri" pitchFamily="34" charset="0"/>
                <a:cs typeface="Amiri" pitchFamily="2" charset="-78"/>
              </a:rPr>
              <a:t> …) • a condition (</a:t>
            </a:r>
            <a:pPr algn="l" indent="0" marL="0">
              <a:buNone/>
            </a:pPr>
            <a:r>
              <a:rPr lang="ar-SA" altLang="en-US" sz="1450" b="1" dirty="0">
                <a:solidFill>
                  <a:srgbClr val="1F2A37"/>
                </a:solidFill>
                <a:latin typeface="Amiri" pitchFamily="2" charset="-78"/>
                <a:ea typeface="Amiri" pitchFamily="2" charset="-78"/>
                <a:cs typeface="Amiri" pitchFamily="2" charset="-78"/>
              </a:rPr>
              <a:t>إِذَا … فَسَوْفَ</a:t>
            </a:r>
            <a:pPr algn="l" indent="0" marL="0">
              <a:buNone/>
            </a:pPr>
            <a:r>
              <a:rPr lang="en-US" sz="1100" b="1" dirty="0">
                <a:solidFill>
                  <a:srgbClr val="1F2A37"/>
                </a:solidFill>
                <a:latin typeface="Calibri" pitchFamily="34" charset="0"/>
                <a:cs typeface="Amiri" pitchFamily="2" charset="-78"/>
              </a:rPr>
              <a:t> …) • your conclusion.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of … is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أَقْصَرُ / أَرْخَصُ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shorter / cheaper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أُصْبِحَ … يَجِبُ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become … I must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النِّهَايَةِ، الطَّرِيقُ الأَفْضَلُ يَعْتَمِدُ عَلَى …</a:t>
            </a:r>
            <a:endParaRPr lang="ar-SA" sz="16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the best route depends 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advantages of two routes and the route to your own job?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comparatives, </a:t>
            </a:r>
            <a:pPr algn="l" indent="0" marL="0">
              <a:buNone/>
            </a:pPr>
            <a:r>
              <a:rPr lang="ar-SA" altLang="en-US" sz="1450" dirty="0">
                <a:solidFill>
                  <a:srgbClr val="5A6472"/>
                </a:solidFill>
                <a:latin typeface="Amiri" pitchFamily="2" charset="-78"/>
                <a:ea typeface="Amiri" pitchFamily="2" charset="-78"/>
                <a:cs typeface="Amiri" pitchFamily="2" charset="-78"/>
              </a:rPr>
              <a:t>لِكَيْ … يَجِبُ أَنْ</a:t>
            </a:r>
            <a:pPr algn="l" indent="0" marL="0">
              <a:buNone/>
            </a:pPr>
            <a:r>
              <a:rPr lang="en-US" sz="1100" dirty="0">
                <a:solidFill>
                  <a:srgbClr val="5A6472"/>
                </a:solidFill>
                <a:latin typeface="Calibri" pitchFamily="34" charset="0"/>
                <a:cs typeface="Amiri" pitchFamily="2" charset="-78"/>
              </a:rPr>
              <a:t> … and an </a:t>
            </a:r>
            <a:pPr algn="l" indent="0" marL="0">
              <a:buNone/>
            </a:pPr>
            <a:r>
              <a:rPr lang="ar-SA" altLang="en-US" sz="1450" dirty="0">
                <a:solidFill>
                  <a:srgbClr val="5A6472"/>
                </a:solidFill>
                <a:latin typeface="Amiri" pitchFamily="2" charset="-78"/>
                <a:ea typeface="Amiri" pitchFamily="2" charset="-78"/>
                <a:cs typeface="Amiri" pitchFamily="2" charset="-78"/>
              </a:rPr>
              <a:t>إِذَا</a:t>
            </a:r>
            <a:pPr algn="l" indent="0" marL="0">
              <a:buNone/>
            </a:pPr>
            <a:r>
              <a:rPr lang="en-US" sz="1100" dirty="0">
                <a:solidFill>
                  <a:srgbClr val="5A6472"/>
                </a:solidFill>
                <a:latin typeface="Calibri" pitchFamily="34" charset="0"/>
                <a:cs typeface="Amiri" pitchFamily="2" charset="-78"/>
              </a:rPr>
              <a:t> condition?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أَدْرُسَ التَّصْمِيمَ لِكَيْ أُصْبِحَ مُصَمِّمَ أَزْيَاءٍ.</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study design so that I become a fashion designer.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دَوْرَةٍ تُرِيدُ أَنْ تَدْرُسَ؟</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تَمَامًا. مَا الدَّرَجَاتُ المَطْلُوبَةُ، مِنْ فَضْلِكَ؟</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exactly. What grades are needed, please?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تَعْرِفُ مُتَطَلَّبَاتِ القَبُولِ؟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مُمْتَازٌ! سَأُحَضِّرُ مَلَفًّا بِرُسُومَاتِي هٰذَا الصَّيْفَ.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Excellent! I will prepare a portfolio of my drawings this summer.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نَطْلُبُ خَمْسَ شَهَادَاتٍ، وَمَلَفًّا فَنِّيًّا.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هِيَ أَرْخَصُ، وَلٰكِنَّ الدَّوْرَةَ هُنَا أَكْثَرُ إِبْدَاعًا، لِذٰلِكَ أُفَضِّلُهَا.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it is cheaper, but the course here is more creative, so I prefer it.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فَكَّرْتَ فِي التَّلْمَذَةِ المِهَنِيَّةِ بَدَلًا مِنْ ذٰلِكَ؟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مِنْ مَزَايَا الجَامِعَةِ أَنَّ الشَّهَادَةَ مُهِمَّةٌ لِوَظَائِفَ كَثِيرَةٍ، وَأَنَّ الطَّالِبَ يَتَعَلَّمُ كَثِيرًا مِنَ الأَسَاتِذَةِ. أَمَّا التَّلْمَذَةُ المِهَنِيَّةُ فَهِيَ أَقْصَرُ وَأَرْخَصُ مِنَ الجَامِعَةِ، كَمَا أَنَّ المُتَدَرِّبَ يَكْسِبُ رَاتِبًا وَخِبْرَةً عَمَلِيَّةً. لِكَيْ أُصْبِحَ مُعَلِّمَةَ عُلُومٍ، يَجِبُ أَنْ أَدْرُسَ فِي الجَامِعَةِ أَرْبَعَ سَنَوَاتٍ. إِذَا حَصَلْتُ عَلَى مِنْحَةٍ دِرَاسِيَّةٍ، فَسَوْفَ أَدْرُسُ فِي جَامِعَةِ لَنْدَنَ. عَلَى الرَّغْمِ مِنْ أَنَّ الجَامِعَةَ غَالِيَةٌ، فَإِنَّهَا الطَّرِيقُ الوَحِيدُ إِلَى وَظِيفَتِي. فِي النِّهَايَةِ، الطَّرِيقُ الأَفْضَلُ يَعْتَمِدُ عَلَى الوَظِيفَةِ.</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“One advantage of university is that the degree matters for many jobs, and students learn a lot from lecturers. An apprenticeship is shorter and cheaper than university, and the apprentice earns a wage and practical experience. To become a science teacher, I must study at university for four years. If I get a scholarship, I will study at a London university. Although university is expensive, it is the only route to my job. In the end, the best route depends on the job.”</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الجَامِعَةِ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أَقْصَرُ وَأَرْخَصُ مِنَ الجَامِعَةِ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أُصْبِحَ</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حَصَلْتُ عَلَى مِنْحَةٍ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D3-L06 · Job Applications and Interviews — CV, Skills and Future Plans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طَلَبَاتُ العَمَلِ وَالمُقَابَلَاتُ — السِّيرَةُ الذَّاتِيَّةُ وَالمَهَارَاتُ وَالخُطَطُ</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D3-L05 · Practice Room — Education and Training — Routes to a Career</dc:title>
  <dc:subject>PptxGenJS Presentation</dc:subject>
  <dc:creator>Al Madina Online School · Arabic Department</dc:creator>
  <cp:lastModifiedBy>Al Madina Online School · Arabic Department</cp:lastModifiedBy>
  <cp:revision>1</cp:revision>
  <dcterms:created xsi:type="dcterms:W3CDTF">2026-10-25T18:17:35Z</dcterms:created>
  <dcterms:modified xsi:type="dcterms:W3CDTF">2026-10-25T18:17:35Z</dcterms:modified>
</cp:coreProperties>
</file>