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D3-L02 (The Workplace — Environments and Work Conditions) — new practice tasks built on the lesson’s own word bank and grammar (noun + agreeing adjective (maktabun ḥadīthun · bīʾatun āminatun · sāʿātun marinatun); alladhī / allatī for the job or place; advantages and disadvantages: min mazāyā … anna … · min ʿuyūbi … anna …; contrast with wa-lākinna / baynamā).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رَأْيُكِ · تُرِيدِينَ · سَتَفْعَلِينَ. Advantage / disadvantage with anna: al-ʿamala fīhi mujhidun.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Workplace — Environments and Work Conditions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بِيئَةُ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work conditions: say the conditions words, act a short dialogue, answer question cards, do a role-play card comparing two summer jobs, give a one-minute advantages-and-disadvantages talk, then build, fix and write a comparison of two jobs.</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D3-L02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 conditions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دَوَامٌ كَامِلٌ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full-time work</a:t>
            </a:r>
            <a:endParaRPr lang="en-US" sz="1350" dirty="0"/>
          </a:p>
          <a:p>
            <a:pPr indent="0" marL="0">
              <a:buNone/>
            </a:pPr>
            <a:r>
              <a:rPr lang="en-US" sz="1100" i="1" dirty="0">
                <a:solidFill>
                  <a:srgbClr val="5A6472"/>
                </a:solidFill>
                <a:latin typeface="Calibri" pitchFamily="34" charset="0"/>
                <a:cs typeface="Amiri" pitchFamily="2" charset="-78"/>
              </a:rPr>
              <a:t>da-wā-mun kā-mi-lun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دَوَامٌ جُزْئِيٌّ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part-time work</a:t>
            </a:r>
            <a:endParaRPr lang="en-US" sz="1350" dirty="0"/>
          </a:p>
          <a:p>
            <a:pPr indent="0" marL="0">
              <a:buNone/>
            </a:pPr>
            <a:r>
              <a:rPr lang="en-US" sz="1100" i="1" dirty="0">
                <a:solidFill>
                  <a:srgbClr val="5A6472"/>
                </a:solidFill>
                <a:latin typeface="Calibri" pitchFamily="34" charset="0"/>
                <a:cs typeface="Amiri" pitchFamily="2" charset="-78"/>
              </a:rPr>
              <a:t>da-wā-mun juz-ʾiy-yun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سَاعَاتٌ مَرِنَةٌ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 hours</a:t>
            </a:r>
            <a:endParaRPr lang="en-US" sz="1350" dirty="0"/>
          </a:p>
          <a:p>
            <a:pPr indent="0" marL="0">
              <a:buNone/>
            </a:pPr>
            <a:r>
              <a:rPr lang="en-US" sz="1100" i="1" dirty="0">
                <a:solidFill>
                  <a:srgbClr val="5A6472"/>
                </a:solidFill>
                <a:latin typeface="Calibri" pitchFamily="34" charset="0"/>
                <a:cs typeface="Amiri" pitchFamily="2" charset="-78"/>
              </a:rPr>
              <a:t>sā-ʿā-tun ma-ri-na-tun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رَاتِبٌ مُرْتَفِعٌ</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 salary</a:t>
            </a:r>
            <a:endParaRPr lang="en-US" sz="1350" dirty="0"/>
          </a:p>
          <a:p>
            <a:pPr indent="0" marL="0">
              <a:buNone/>
            </a:pPr>
            <a:r>
              <a:rPr lang="en-US" sz="1100" i="1" dirty="0">
                <a:solidFill>
                  <a:srgbClr val="5A6472"/>
                </a:solidFill>
                <a:latin typeface="Calibri" pitchFamily="34" charset="0"/>
                <a:cs typeface="Amiri" pitchFamily="2" charset="-78"/>
              </a:rPr>
              <a:t>rā-ti-bun mur-ta-fi-ʿun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رَاتِبٌ مُنْخَفِضٌ</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low salary</a:t>
            </a:r>
            <a:endParaRPr lang="en-US" sz="1350" dirty="0"/>
          </a:p>
          <a:p>
            <a:pPr indent="0" marL="0">
              <a:buNone/>
            </a:pPr>
            <a:r>
              <a:rPr lang="en-US" sz="1100" i="1" dirty="0">
                <a:solidFill>
                  <a:srgbClr val="5A6472"/>
                </a:solidFill>
                <a:latin typeface="Calibri" pitchFamily="34" charset="0"/>
                <a:cs typeface="Amiri" pitchFamily="2" charset="-78"/>
              </a:rPr>
              <a:t>rā-ti-bun mun-kha-fi-ḍun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 مُجْهِدٌ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tiring work</a:t>
            </a:r>
            <a:endParaRPr lang="en-US" sz="1350" dirty="0"/>
          </a:p>
          <a:p>
            <a:pPr indent="0" marL="0">
              <a:buNone/>
            </a:pPr>
            <a:r>
              <a:rPr lang="en-US" sz="1100" i="1" dirty="0">
                <a:solidFill>
                  <a:srgbClr val="5A6472"/>
                </a:solidFill>
                <a:latin typeface="Calibri" pitchFamily="34" charset="0"/>
                <a:cs typeface="Amiri" pitchFamily="2" charset="-78"/>
              </a:rPr>
              <a:t>ʿa-ma-lun muj-hi-dun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 مُجْزٍ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rewarding work</a:t>
            </a:r>
            <a:endParaRPr lang="en-US" sz="1350" dirty="0"/>
          </a:p>
          <a:p>
            <a:pPr indent="0" marL="0">
              <a:buNone/>
            </a:pPr>
            <a:r>
              <a:rPr lang="en-US" sz="1100" i="1" dirty="0">
                <a:solidFill>
                  <a:srgbClr val="5A6472"/>
                </a:solidFill>
                <a:latin typeface="Calibri" pitchFamily="34" charset="0"/>
                <a:cs typeface="Amiri" pitchFamily="2" charset="-78"/>
              </a:rPr>
              <a:t>ʿa-ma-lun muj-zin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بِيئَةٌ آمِنَةٌ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safe environment</a:t>
            </a:r>
            <a:endParaRPr lang="en-US" sz="1350" dirty="0"/>
          </a:p>
          <a:p>
            <a:pPr indent="0" marL="0">
              <a:buNone/>
            </a:pPr>
            <a:r>
              <a:rPr lang="en-US" sz="1100" i="1" dirty="0">
                <a:solidFill>
                  <a:srgbClr val="5A6472"/>
                </a:solidFill>
                <a:latin typeface="Calibri" pitchFamily="34" charset="0"/>
                <a:cs typeface="Amiri" pitchFamily="2" charset="-78"/>
              </a:rPr>
              <a:t>bī-ʾa-tun ā-mi-na-tun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فَرِيقُ عَمَلٍ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team</a:t>
            </a:r>
            <a:endParaRPr lang="en-US" sz="1350" dirty="0"/>
          </a:p>
          <a:p>
            <a:pPr indent="0" marL="0">
              <a:buNone/>
            </a:pPr>
            <a:r>
              <a:rPr lang="en-US" sz="1100" i="1" dirty="0">
                <a:solidFill>
                  <a:srgbClr val="5A6472"/>
                </a:solidFill>
                <a:latin typeface="Calibri" pitchFamily="34" charset="0"/>
                <a:cs typeface="Amiri" pitchFamily="2" charset="-78"/>
              </a:rPr>
              <a:t>fa-rī-qu ʿa-ma-lin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your job good?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عَمَلُكِ جَيِّدٌ؟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your sister work?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تَعْمَلُ أُخْتُكَ؟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works in a modern office in the city centre.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تَعْمَلُ فِي مَكْتَبٍ حَدِيثٍ فِي وَسَطِ المَدِينَةِ.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does she like her job?</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تُحِبُّ عَمَلَهَا؟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one advantage is that the hours are flexible and the salary is high.</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مِنْ مَزَايَاهُ أَنَّ السَّاعَاتِ مَرِنَةٌ وَالرَّاتِبَ مُرْتَفِعٌ.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it have disadvantages?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لَهُ عُيُوبٌ؟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disadvantage is that it’s tiring, but the team is very nice.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عُيُوبِهِ أَنَّهُ مُجْهِدٌ، وَلٰكِنَّ فَرِيقَ العَمَلِ لَطِيفٌ جِدًّا.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 REAL job of someone you know — one advantage, one disadvantage.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وَفِيهِ / وَفِيهَا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 تَعْمَلُ فِي … ، وَالمَكَانُ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one of your parents work? What is the place like?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يَعْمَلُ أَحَدُ وَالِدَيْكَ؟ كَيْفَ المَكَانُ؟</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دَوَامًا … لِأَنَّ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Full-time or part-time?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دَوَامًا كَامِلًا أَمْ جُزْئِيًّا؟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 أَهَمُّ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matters more: salary or environment?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الأَهَمُّ: الرَّاتِبُ أَمْ بِيئَةُ العَمَلِ؟</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السَّاعَاتِ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عَمَلُ … مُجْهِدٌ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tiring job.</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عَمَلًا مُجْهِدًا.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الوَظِيفَةُ الَّتِي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job has flexible hours?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الوَظِيفَةُ الَّتِي فِيهَا سَاعَاتٌ مَرِنَةٌ؟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Role-play card — choosing a summer job</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عَمَلٌ صَيْفِيٌّ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أُفَضِّلُ العَمَلَ فِي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 reason.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هُنَاكَ عَمَلَانِ: فِي مَقْهًى أَوْ فِي مَكْتَبَةٍ. مَا رَأْيُكَ؟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 صَحِيحٌ، وَلٰكِنَّ العَمَلَ فِيهِ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 a disadvantage.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 المَقْهَى يَدْفَعُ أَكْثَرَ.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Part-time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تُرِيدُ أَنْ تَعْمَلَ؟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بِالرَّاتِبِ؟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friend choosing with you.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One minute: pros and cons of a job</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مَزَايَا وَعُيُوبٌ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job. Talk for one minute about the workplace, two advantages and two disadvantages, then your verdict.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Place + two agreeing adjectives + one advantage.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مَزَايَاهُ أَنَّ … / مِنْ عُيُوبِهِ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contrast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with a second job and a verdict.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works in a safe environment.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بِيئَةٍ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بِيئَةٌ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آمِنَةٍ.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advantage is that the hours are flexible.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مَزَايَاهُ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مَزَايَاهَا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السَّاعَاتِ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السَّاعَاتُ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مَرِنَةٌ.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مَرِنُونَ.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salary is high, but the work is tiring.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الرَّاتِبُ مُرْتَفِعٌ،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الرَّاتِبُ مُرْتَفِعَةٌ،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العَمَلَ مُجْهِدٌ.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العَمَلُ مُجْهِدٌ.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works in a safe environment.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بِيئَةٌ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آمِنَةٍ</a:t>
            </a:r>
            <a:pPr algn="l" indent="0" marL="0">
              <a:buNone/>
            </a:pPr>
            <a:r>
              <a:rPr lang="en-US" sz="1050" i="1" dirty="0">
                <a:solidFill>
                  <a:srgbClr val="5A6472"/>
                </a:solidFill>
                <a:latin typeface="Calibri" pitchFamily="34" charset="0"/>
                <a:cs typeface="Amiri" pitchFamily="2" charset="-78"/>
              </a:rPr>
              <a:t>, genitive after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فِي بِيئَةٍ آمِنَةٍ.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advantage is that the hours are flexible.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العَمَلُ</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مَزَايَاهُ</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non-human plural → f. sg.</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مَزَايَاهُ أَنَّ السَّاعَاتِ مَرِنَةٌ.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salary is high, but the work is tiring.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وَلٰكِنَّ</a:t>
            </a:r>
            <a:pPr algn="l" indent="0" marL="0">
              <a:buNone/>
            </a:pPr>
            <a:r>
              <a:rPr lang="en-US" sz="1050" i="1" dirty="0">
                <a:solidFill>
                  <a:srgbClr val="5A6472"/>
                </a:solidFill>
                <a:latin typeface="Calibri" pitchFamily="34" charset="0"/>
                <a:cs typeface="Amiri" pitchFamily="2" charset="-78"/>
              </a:rPr>
              <a:t> + noun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الرَّاتِبُ مُرْتَفِعٌ، وَلٰكِنَّ العَمَلَ مُجْهِدٌ.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يَعْمَلُ فِي مَكْتَبٍ حَدِيثَةٍ.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مَكْتَبٌ</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عُيُوبِهِ أَنَّ الرَّاتِبُ مُنْخَفِضٌ.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الوَظِيفَةُ الَّذِي أُحِبُّهَا …</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وَظِيفَةٌ</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يَعْمَلُ فِي مَكْتَبٍ حَدِيثَةٍ.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يَعْمَلُ فِي مَكْتَبٍ حَدِيثٍ.</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noun → masculine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عُيُوبِهِ أَنَّ الرَّاتِبُ مُنْخَفِضٌ.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عُيُوبِهِ أَنَّ الرَّاتِبَ مُنْخَفِضٌ.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الوَظِيفَةُ الَّذِي أُحِبُّهَا …</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الوَظِيفَةُ الَّتِي أُحِبُّهَا …</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الَّتِي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العَمَلُ الَّذِي أُرِيدُهُ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job I want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الطَّبِيبُ فِي ______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doctor works in a …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 عَمَلِهِ 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his job is that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عُيُوبِهِ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دَوَامٌ كَامِلٌ · جُزْئِيٌّ  ·  سَاعَاتٌ مَرِنَةٌ  ·  رَاتِبٌ مُرْتَفِعٌ · مُنْخَفِضٌ  ·  عَمَلٌ مُجْهِدٌ · مُجْزٍ  ·  بِيئَةٌ آمِنَةٌ  ·  فَرِيقُ عَمَلٍ  ·  مِنْ مَزَايَاهُ أَنَّ  ·  مِنْ عُيُوبِهِ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jobs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مُقَارَنَةٌ بَيْنَ وَظِيفَتَيْنِ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comparison (about 60–80 words) of two jobs or workplaces for a careers blog. Include: • the workplace of each, with agreeing adjectives • two advantages (</a:t>
            </a:r>
            <a:pPr algn="l" indent="0" marL="0">
              <a:buNone/>
            </a:pPr>
            <a:r>
              <a:rPr lang="ar-SA" altLang="en-US" sz="1500" b="1" dirty="0">
                <a:solidFill>
                  <a:srgbClr val="1F2A37"/>
                </a:solidFill>
                <a:latin typeface="Amiri" pitchFamily="2" charset="-78"/>
                <a:ea typeface="Amiri" pitchFamily="2" charset="-78"/>
                <a:cs typeface="Amiri" pitchFamily="2" charset="-78"/>
              </a:rPr>
              <a:t>مِنْ مَزَايَاهُ أَنَّ</a:t>
            </a:r>
            <a:pPr algn="l" indent="0" marL="0">
              <a:buNone/>
            </a:pPr>
            <a:r>
              <a:rPr lang="en-US" sz="1150" b="1" dirty="0">
                <a:solidFill>
                  <a:srgbClr val="1F2A37"/>
                </a:solidFill>
                <a:latin typeface="Calibri" pitchFamily="34" charset="0"/>
                <a:cs typeface="Amiri" pitchFamily="2" charset="-78"/>
              </a:rPr>
              <a:t> …) • two disadvantages (</a:t>
            </a:r>
            <a:pPr algn="l" indent="0" marL="0">
              <a:buNone/>
            </a:pPr>
            <a:r>
              <a:rPr lang="ar-SA" altLang="en-US" sz="1500" b="1" dirty="0">
                <a:solidFill>
                  <a:srgbClr val="1F2A37"/>
                </a:solidFill>
                <a:latin typeface="Amiri" pitchFamily="2" charset="-78"/>
                <a:ea typeface="Amiri" pitchFamily="2" charset="-78"/>
                <a:cs typeface="Amiri" pitchFamily="2" charset="-78"/>
              </a:rPr>
              <a:t>مِنْ عُيُوبِهِ أَنَّ</a:t>
            </a:r>
            <a:pPr algn="l" indent="0" marL="0">
              <a:buNone/>
            </a:pPr>
            <a:r>
              <a:rPr lang="en-US" sz="1150" b="1" dirty="0">
                <a:solidFill>
                  <a:srgbClr val="1F2A37"/>
                </a:solidFill>
                <a:latin typeface="Calibri" pitchFamily="34" charset="0"/>
                <a:cs typeface="Amiri" pitchFamily="2" charset="-78"/>
              </a:rPr>
              <a:t> …) • a contrast with </a:t>
            </a:r>
            <a:pPr algn="l" indent="0" marL="0">
              <a:buNone/>
            </a:pPr>
            <a:r>
              <a:rPr lang="ar-SA" altLang="en-US" sz="1500" b="1" dirty="0">
                <a:solidFill>
                  <a:srgbClr val="1F2A37"/>
                </a:solidFill>
                <a:latin typeface="Amiri" pitchFamily="2" charset="-78"/>
                <a:ea typeface="Amiri" pitchFamily="2" charset="-78"/>
                <a:cs typeface="Amiri" pitchFamily="2" charset="-78"/>
              </a:rPr>
              <a:t>بَيْنَمَا</a:t>
            </a:r>
            <a:pPr algn="l" indent="0" marL="0">
              <a:buNone/>
            </a:pPr>
            <a:r>
              <a:rPr lang="en-US" sz="1150" b="1" dirty="0">
                <a:solidFill>
                  <a:srgbClr val="1F2A37"/>
                </a:solidFill>
                <a:latin typeface="Calibri" pitchFamily="34" charset="0"/>
                <a:cs typeface="Amiri" pitchFamily="2" charset="-78"/>
              </a:rPr>
              <a:t> • which job you prefer and why.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 فِي مَكَانٍ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works in a … place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مَزَايَاهُ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advantage is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عُيُوبِهِ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agree with its noun?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advantages and disadvantages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 noun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العَمَلَ فِي المَكْتَبَةِ، لِأَنَّ البِيئَةَ هَادِئَةٌ.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working in the library, because the environment is quiet.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هُنَاكَ عَمَلَانِ: فِي مَقْهًى أَوْ فِي مَكْتَبَةٍ. مَا رَأْيُكَ؟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وَلٰكِنَّ العَمَلَ فِيهِ مُجْهِدٌ وَالسَّاعَاتِ طَوِيلَةٌ.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True, but the work there is tiring and the hours are long.</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 المَقْهَى يَدْفَعُ أَكْثَرَ.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دَوَامًا جُزْئِيًّا، عِشْرِينَ سَاعَةً فَقَطْ، لِكَيْ أُرَاجِعَ أَيْضًا.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part-time, only twenty hours, so I can revise too.</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سَاعَةً تُرِيدُ أَنْ تَعْمَلَ؟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سَأَدَّخِرُ نِصْفَهُ، وَسَأَشْتَرِي حَاسُوبًا جَدِيدًا بِالبَاقِي.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save half, and buy a new computer with the rest.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سَتَفْعَلُ بِالرَّاتِبِ؟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سَأُقَارِنُ بَيْنَ عَمَلِ المُمَرِّضِ وَعَمَلِ المُبَرْمِجِ. يَعْمَلُ المُمَرِّضُ فِي مُسْتَشْفًى كَبِيرٍ وَمُزْدَحِمٍ. مِنْ مَزَايَا عَمَلِهِ أَنَّهُ مُجْزٍ جِدًّا، لِأَنَّهُ يُسَاعِدُ المَرْضَى. وَلٰكِنْ مِنْ عُيُوبِهِ أَنَّ السَّاعَاتِ طَوِيلَةٌ وَالعَمَلَ مُجْهِدٌ. أَمَّا المُبَرْمِجُ فَيَعْمَلُ فِي مَكْتَبٍ حَدِيثٍ هَادِئٍ، وَمِنْ مَزَايَا عَمَلِهِ أَنَّ السَّاعَاتِ مَرِنَةٌ وَالرَّاتِبَ مُرْتَفِعٌ. المُمَرِّضُ يَتَحَرَّكُ طُولَ اليَوْمِ، بَيْنَمَا يَجْلِسُ المُبَرْمِجُ أَمَامَ الحَاسُوبِ. أُفَضِّلُ عَمَلَ المُبَرْمِجِ، لِأَنَّنِي أُحِبُّ التِّكْنُولُوجِيَا وَالهُدُوءَ.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compare a nurse’s job and a programmer’s job. A nurse works in a big, busy hospital. One advantage of the job is that it is very rewarding, because he helps patients. But one disadvantage is that the hours are long and the work is tiring. As for the programmer, he works in a quiet, modern office, and the advantages are that the hours are flexible and the salary is high. The nurse moves all day, whereas the programmer sits in front of a computer. I prefer the programmer’s job, because I love technology and calm.”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عَمَلِهِ أَنَّهُ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عُيُوبِهِ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مَكْتَبٍ حَدِيثٍ هَادِئٍ</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يَجْلِسُ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D3-L03 · Skills and Qualities — What Makes a Good Worker?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المَهَارَاتُ وَالمُؤَهِّلَاتُ — مَا الَّذِي يَجْعَلُ العَامِلَ جَيِّدًا؟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D3-L02 · Practice Room — The Workplace — Environments and Work Conditions</dc:title>
  <dc:subject>PptxGenJS Presentation</dc:subject>
  <dc:creator>Al Madina Online School · Arabic Department</dc:creator>
  <cp:lastModifiedBy>Al Madina Online School · Arabic Department</cp:lastModifiedBy>
  <cp:revision>1</cp:revision>
  <dcterms:created xsi:type="dcterms:W3CDTF">2026-10-25T18:15:07Z</dcterms:created>
  <dcterms:modified xsi:type="dcterms:W3CDTF">2026-10-25T18:15:07Z</dcterms:modified>
</cp:coreProperties>
</file>