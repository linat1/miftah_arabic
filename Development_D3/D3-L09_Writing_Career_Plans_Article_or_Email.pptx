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D3-L09. The website lesson “Writing — Career Plans Article or Email”: vocabulary, grammar rules and quiz, patterns, common mistakes, sorter, listening, reading, speaking prompts and model, writing task and model, differentiation, final check and the lesson mission. Picture match: website visual game “Writing — Career Plans Article or Email”.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60–80-word response with one frame per paragraph (all four points covered). Develop: 120–140 words, four paragraphs, sequencers and one reference expression. Stretch: add a concession (عَلَى الرَّغْمِ مِنْ أَنَّ … فَإِنَّ …) and improve the first draft with a self-audit.
• Lesson shape (like F6-L09): 8 min plan from the listening (Huda’s four-part plan) · 15 min draft · 7 min review with the checklist · 5 min improve two sentences.
• The four paragraphs reuse every D3 lesson: L04 (sa-, li-kay), L03 (skills + evidence), L05 (routes, idhā), L02 / L05 (pros and cons).
• The website reading text (Samira’s email) IS the model answer — use it in I Do and Feedback.
• TEACHER-WRITTEN ITEMS: on the website this lesson’s mission, sorter, mistakes, grammar, final, listening, reading, speaking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D3-L08. Questions 3–5 retrieve D3-L04 (purpose), D3-L05 (condition) and D3-L06 (evidence) — the building blocks of today’s text.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paragraphs, four jobs: ambition · evidence · route ·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خلاصہ، مستعد are shared. CAREFUL: Urdu فقرہ usually means a sentence or phrase; Arabic فِقْرَةٌ is a paragraph. صعوبت is formal Urdu; everyday Urdu says مشکل (and Arabic مُشْكِلَةٌ = a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plans (website vocabulary (1 of 2)). Hear → Say → See → Use. Transliteration is printed for Core students (cover it for Develop/Stretch).
FLEX: teach if time allows; otherwise these are on the website vocabulary tab for homework.
Career plans (FLEX): review from D3-L04 — paragraph 1 (ambition) and paragraph 3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plans (website vocabulary (2 of 2)). Hear → Say → See → Use. Transliteration is printed for Core students (cover it for Develop/Stretch).
FLEX: teach if time allows; otherwise these are on the website vocabulary tab for homework.
Career plans (FLEX): review from D3-L04 — paragraph 1 (ambition) and paragraph 3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(1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(2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applications (website vocabulary (3 of 3)). Hear → Say → See → Use. Transliteration is printed for Core students (cover it for Develop/Stretch).
FLEX: teach if time allows; otherwise these are on the website vocabulary tab for homework.
Skills (FLEX): review from D3-L03 / L06 — paragraph 2 needs one skill AND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(website vocabulary (1 of 2)). Hear → Say → See → Use. Transliteration is printed for Core students (cover it for Develop/Stretch).
Cohesion: the connectors that hold the text together. Each one has a job: reason (لِأَنَّ), result (لِذٰلِكَ، نَتِيجَةً لِذٰلِكَ), example (عَلَى سَبِيلِ المِثَالِ), adding (إِضَافَةً إِلَى ذٰلِكَ), concession (عَلَى الرَّغْمِ مِنْ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(website vocabulary (2 of 2)). Hear → Say → See → Use. Transliteration is printed for Core students (cover it for Develop/Stretch).
Cohesion: the connectors that hold the text together. Each one has a job: reason (لِأَنَّ), result (لِذٰلِكَ، نَتِيجَةً لِذٰلِكَ), example (عَلَى سَبِيلِ المِثَالِ), adding (إِضَافَةً إِلَى ذٰلِكَ), concession (عَلَى الرَّغْمِ مِنْ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“Paragraph focus” (فِكْرَةٌ رَئِيسِيَّةٌ + تَفْصِيلٌ + سَبَبٌ: each paragraph should develop one main point) and the website listening (Huda’s four-part plan: the career + reason · skills + example · study and training plan · a possible difficulty and how to overcome it).
Website example: أَطْمَحُ إِلَى العَمَلِ فِي الطِّبِّ. سَأَدْرُسُ العُلُومَ لِأَنَّهَا أَسَاسُ هٰذَا المَجَالِ.
Word target (website): 120–140 words (Develop / Stretch); Core 60–80.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“Controlled sequence” (use sequencing to organise plans, not to join unrelated ideas), “Reference without repetition” (هٰذَا المَجَالُ / هٰذِهِ المِهْنَةُ / فِيهِ) and “Concession” (acknowledge a difficulty before defending the choice). Website examples as shown.
The error pair is teacher-chosen (the website common error is generic). With “I”: فَإِنَّنِي (fa-innanī) — as in the model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“بِنَاءُ مَقَالٍ أَوْ رِسَالَةٍ مُتَرَابِطَةٍ”
• Paragraph focus: Each paragraph should develop one main point.
• Controlled sequence: Use sequencing to organise plans, not to join unrelated ideas.
• Reference without repetition: Use reference expressions to avoid repeating the same noun.
• Concession: Acknowledge a difficulty before defending the choice.
Website common error: Do not join unrelated ideas with أَوَّلًا / ثُمَّ, and do not repeat the same noun in every sentence — use هٰذَا المَجَالُ / هٰذِهِ المِهْنَةُ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improve cycle on paragraph 1, then the website model email (reading text) in the copy box. Students label the four jobs in it. Note: the website model is ≈ 75 words — a strong Core / Develop model; Develop extends it to 120–140 with paragraph 4 and a reference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sentence belongs in one paragraph of the career article.
Then put the four paragraphs in order and read the text aloud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sentence belongs in one paragraph of the career article.
Then put the four paragraphs in order and read the text aloud as a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then copy Huda’s four-part plan as your own plan.
Listen 1: just listen. Listen 2: note answers. Then chat the letters.
Support: after the second listening, show the read-along slide (Arabic + English, line by line) for Core students.
SCRIPT (read aloud):
تُخَطِّطُ هُدَى لِكِتَابَةِ مَقَالٍ عَنْ مُسْتَقْبَلِهَا. فِي الفِقْرَةِ الأُولَى سَتُعَرِّفُ المِهْنَةَ الَّتِي تُفَضِّلُهَا وَسَتَشْرَحُ سَبَبَ اخْتِيَارِهَا. ثُمَّ سَتَذْكُرُ المَهَارَاتِ الَّتِي تَمْلِكُهَا مَعَ مِثَالٍ. فِي الفِقْرَةِ الثَّالِثَةِ سَتُوَضِّحُ خُطَّةَ الدِّرَاسَةِ وَالتَّدْرِيبِ. وَفِي النِّهَايَةِ سَتَعْرِضُ صُعُوبَةً مُحْتَمَلَةً وَكَيْفَ سَتَتَغَلَّبُ عَلَيْهَا.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الصُّعُوبَةُ؟ (And the difficulty?)
B: عَلَى الرَّغْمِ مِنْ أَنَّ الدِّرَاسَةَ طَوِيلَةٌ، فَإِنَّنِي مُسْتَعِدٌّ. (Although the studies are long, I am ready.)
Oral rehearsal before drafting (teacher-written prompts following Huda’s four-part plan; the website prompts are generic). Pairs: 60 seconds each; the partner ticks the four parts heard. To a girl: مَا المِهْنَةُ الَّتِي تَطْمَحِينَ إِلَيْهَا؟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120–140-word article or email about your career ambition, evidence, route and challenges.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This is the WEBSITE model email (the reading text). Evidence: أَطْمَحُ إِلَى أَنْ أُصْبِحَ … لِأَنَّنِي … · وَالدَّلِيلُ عَلَى ذٰلِكَ أَنَّنِي قُدْتُ … · بَعْدَ التَّخَرُّجِ سَأَدْرُسُ … ثُمَّ سَأَبْحَثُ … · عَلَى الرَّغْمِ مِنْ أَنَّ … فَإِنَّنِي مُسْتَعِدَّةٌ. ≈ 75 words: Develop must add a reference expression and more detail to reach 120–140.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(D3-L10 · Listening — Work and Career Conversations) will spend class time USING this language, so students prepare it tonight — short, simple, easy to access (school guidance: “Simple, Short, Interesting, Relevant, Easy to access”). The five words are the listening-strategy words for D3-L10 (as in D1-L10 and F6-L10); the website D3-L10 vocabulary is review.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Writing — Career Plans Article or Email</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خُطَطِي وَطُمُوحَاتِي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draft and improve a 120–140-word career article or email in four paragraphs: ambition + reason · skills + evidence · route (sequenced) · challenge + concession — using the whole D3 toolkit.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D3-L09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Paragraph focus, sequence, reference and concession.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sentences into paragraphs, fix cohesion slips and turn Huda’s spoken plan into notes.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email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article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step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خُطْوَةٌ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step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goal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introduces the purpose of a step?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فَسَأَدْرُسُ الهَنْدَسَةَ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وَالدَّلِيلُ عَلَى ذٰلِكَ أَنَّنِي قُدْتُ مَشْرُوعًا.</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 جَيِّدَةٌ.</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أُحِبُّ العُلُومَ.</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email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article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step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خُطْوَةٌ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step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goal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introduces the purpose of a step?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فَسَأَدْرُسُ الهَنْدَسَةَ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D3-L05: idhā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وَالدَّلِيلُ عَلَى ذٰلِكَ أَنَّنِي قُدْتُ مَشْرُوعًا.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جَيِّدَةٌ.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العُلُومَ.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D3-L06.</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Four paragraphs, four jobs: ambition · evidence · route · challenge.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أَطْمَحُ إِلَى … · وَالدَّلِيلُ عَلَى ذٰلِكَ … · أَوَّلًا … ثُمَّ … · عَلَى الرَّغْمِ مِنْ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four-paragraph career text with one main point per paragraph.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Sequence a route with </a:t>
            </a:r>
            <a:pPr algn="l" indent="0" marL="0">
              <a:buNone/>
            </a:pPr>
            <a:r>
              <a:rPr lang="ar-SA" altLang="en-US" sz="1700" dirty="0">
                <a:solidFill>
                  <a:srgbClr val="1F2A37"/>
                </a:solidFill>
                <a:latin typeface="Amiri" pitchFamily="34" charset="0"/>
                <a:ea typeface="Amiri" pitchFamily="34" charset="-122"/>
                <a:cs typeface="Amiri" pitchFamily="34" charset="-120"/>
              </a:rPr>
              <a:t>أَوَّلًا / ثُمَّ / بَعْدَ ذٰلِكَ / أَخِيرًا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Avoid repetition with </a:t>
            </a:r>
            <a:pPr algn="l" indent="0" marL="0">
              <a:buNone/>
            </a:pPr>
            <a:r>
              <a:rPr lang="ar-SA" altLang="en-US" sz="1700" dirty="0">
                <a:solidFill>
                  <a:srgbClr val="1F2A37"/>
                </a:solidFill>
                <a:latin typeface="Amiri" pitchFamily="34" charset="0"/>
                <a:ea typeface="Amiri" pitchFamily="34" charset="-122"/>
                <a:cs typeface="Amiri" pitchFamily="34" charset="-120"/>
              </a:rPr>
              <a:t>هٰذَا المَجَالُ / هٰذِهِ المِهْنَةُ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Acknowledge a difficulty with a concession and defend your choice.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cover all four points.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60–80 accurate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four focused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sequence my route and avoid repetition.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concession (although … still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improve my draft with a self-audit.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Career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and applications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Cohesion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فِقْرَةٌ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‎فقرہ‎ </a:t>
            </a:r>
            <a:pPr indent="0" marL="0">
              <a:buNone/>
            </a:pPr>
            <a:r>
              <a:rPr lang="en-US" sz="950" b="1" dirty="0">
                <a:solidFill>
                  <a:srgbClr val="2E8B57"/>
                </a:solidFill>
                <a:latin typeface="Calibri" pitchFamily="34" charset="0"/>
                <a:ea typeface="Calibri" pitchFamily="34" charset="-122"/>
                <a:cs typeface="Calibri" pitchFamily="34" charset="-120"/>
              </a:rPr>
              <a:t> fiqra · Urdu: sentence · Arabic: paragraph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‎مستعد‎ </a:t>
            </a:r>
            <a:pPr indent="0" marL="0">
              <a:buNone/>
            </a:pPr>
            <a:r>
              <a:rPr lang="en-US" sz="950" b="1" dirty="0">
                <a:solidFill>
                  <a:srgbClr val="2E8B57"/>
                </a:solidFill>
                <a:latin typeface="Calibri" pitchFamily="34" charset="0"/>
                <a:ea typeface="Calibri" pitchFamily="34" charset="-122"/>
                <a:cs typeface="Calibri" pitchFamily="34" charset="-120"/>
              </a:rPr>
              <a:t> mustaʿid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صُعُوبَةٌ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‎صعوبت / مشکل‎ </a:t>
            </a:r>
            <a:pPr indent="0" marL="0">
              <a:buNone/>
            </a:pPr>
            <a:r>
              <a:rPr lang="en-US" sz="950" b="1" dirty="0">
                <a:solidFill>
                  <a:srgbClr val="2E8B57"/>
                </a:solidFill>
                <a:latin typeface="Calibri" pitchFamily="34" charset="0"/>
                <a:ea typeface="Calibri" pitchFamily="34" charset="-122"/>
                <a:cs typeface="Calibri" pitchFamily="34" charset="-120"/>
              </a:rPr>
              <a:t> mushkil · difficulty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plans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plans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applications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applications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applications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سِيرَةٌ ذَاتِيَّةٌ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CV</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sī-ra-tun dhā-tiy-ya-tun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تَغْطِيَةٍ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cover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 tagh-ṭi-ya-tin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 وَظِيفَةٍ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application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 wa-ẓī-fa-tin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إِعْلَانُ وَظِيفَةٍ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advert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iʿ-lā-nu wa-ẓī-fa-tin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 شَخْصِيَّةٌ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 shakh-ṣiy-ya-tun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مَرْجِعٌ / تَزْكِيَةٌ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mar-ji-ʿun / taz-ki-ya-tun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Cohesion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Cohesion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40</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41</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FOCUS · PART 1 · FOUR PARAGRAPHS, FOUR JOBS (WEBSITE RULE 1 + HUDA’S PLAN)</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main point per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فِكْرَةٌ رَئِيسِيَّةٌ لِكُلِّ فِقْرَةٍ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D3 lesson</a:t>
            </a:r>
            <a:endParaRPr lang="en-US" sz="1100" dirty="0"/>
          </a:p>
        </p:txBody>
      </p:sp>
      <p:sp>
        <p:nvSpPr>
          <p:cNvPr id="17" name="Text 14"/>
          <p:cNvSpPr txBox="1"/>
          <p:nvPr/>
        </p:nvSpPr>
        <p:spPr>
          <a:xfrm>
            <a:off x="30906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L01 · L04</a:t>
            </a:r>
            <a:endParaRPr lang="en-US" sz="1100" dirty="0"/>
          </a:p>
        </p:txBody>
      </p:sp>
      <p:sp>
        <p:nvSpPr>
          <p:cNvPr id="21" name="Text 18"/>
          <p:cNvSpPr txBox="1"/>
          <p:nvPr/>
        </p:nvSpPr>
        <p:spPr>
          <a:xfrm>
            <a:off x="3108960" y="2267712"/>
            <a:ext cx="6217920" cy="731520"/>
          </a:xfrm>
          <a:prstGeom prst="rect">
            <a:avLst/>
          </a:prstGeom>
          <a:noFill/>
          <a:ln/>
        </p:spPr>
        <p:txBody>
          <a:bodyPr wrap="square" lIns="0" tIns="0" rIns="0" bIns="0" rtlCol="0" anchor="ctr"/>
          <a:lstStyle/>
          <a:p>
            <a:pPr rtl="1" algn="ctr" indent="0" marL="0">
              <a:buNone/>
            </a:pPr>
            <a:r>
              <a:rPr lang="ar-SA" altLang="en-US" sz="1750" b="1" dirty="0">
                <a:solidFill>
                  <a:srgbClr val="1D5FBF"/>
                </a:solidFill>
                <a:latin typeface="Amiri" pitchFamily="34" charset="0"/>
                <a:ea typeface="Amiri" pitchFamily="34" charset="-122"/>
                <a:cs typeface="Amiri" pitchFamily="34" charset="-120"/>
              </a:rPr>
              <a:t>أَطْمَحُ إِلَى أَنْ</a:t>
            </a:r>
            <a:pPr rtl="1" algn="ctr" indent="0" marL="0">
              <a:buNone/>
            </a:pPr>
            <a:r>
              <a:rPr lang="ar-SA" altLang="en-US" sz="1750" b="1" dirty="0">
                <a:solidFill>
                  <a:srgbClr val="1B3B6F"/>
                </a:solidFill>
                <a:latin typeface="Amiri" pitchFamily="34" charset="0"/>
                <a:ea typeface="Amiri" pitchFamily="34" charset="-122"/>
                <a:cs typeface="Amiri" pitchFamily="34" charset="-120"/>
              </a:rPr>
              <a:t> أُصْبِحَ مُهَنْدِسَةَ بِيئَةٍ </a:t>
            </a:r>
            <a:pPr rtl="1" algn="ctr" indent="0" marL="0">
              <a:buNone/>
            </a:pPr>
            <a:r>
              <a:rPr lang="ar-SA" altLang="en-US" sz="1750" b="1" dirty="0">
                <a:solidFill>
                  <a:srgbClr val="0E7C86"/>
                </a:solidFill>
                <a:latin typeface="Amiri" pitchFamily="34" charset="0"/>
                <a:ea typeface="Amiri" pitchFamily="34" charset="-122"/>
                <a:cs typeface="Amiri" pitchFamily="34" charset="-120"/>
              </a:rPr>
              <a:t>لِأَنَّنِي</a:t>
            </a:r>
            <a:pPr rtl="1" algn="ctr" indent="0" marL="0">
              <a:buNone/>
            </a:pPr>
            <a:r>
              <a:rPr lang="ar-SA" altLang="en-US" sz="1750" b="1" dirty="0">
                <a:solidFill>
                  <a:srgbClr val="1B3B6F"/>
                </a:solidFill>
                <a:latin typeface="Amiri" pitchFamily="34" charset="0"/>
                <a:ea typeface="Amiri" pitchFamily="34" charset="-122"/>
                <a:cs typeface="Amiri" pitchFamily="34" charset="-120"/>
              </a:rPr>
              <a:t> أُرِيدُ أَنْ أُسَاهِمَ فِي حَلِّ مُشْكِلَاتِ التَّلَوُّثِ.</a:t>
            </a:r>
            <a:endParaRPr lang="ar-SA" sz="175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ambition + reason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L03 · L06</a:t>
            </a:r>
            <a:endParaRPr lang="en-US" sz="1100" dirty="0"/>
          </a:p>
        </p:txBody>
      </p:sp>
      <p:sp>
        <p:nvSpPr>
          <p:cNvPr id="27" name="Text 24"/>
          <p:cNvSpPr txBox="1"/>
          <p:nvPr/>
        </p:nvSpPr>
        <p:spPr>
          <a:xfrm>
            <a:off x="3108960" y="3054096"/>
            <a:ext cx="6217920" cy="731520"/>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34" charset="0"/>
                <a:ea typeface="Amiri" pitchFamily="34" charset="-122"/>
                <a:cs typeface="Amiri" pitchFamily="34" charset="-120"/>
              </a:rPr>
              <a:t>أَنَا جَيِّدَةٌ فِي العُلُومِ، </a:t>
            </a:r>
            <a:pPr rtl="1" algn="ctr" indent="0" marL="0">
              <a:buNone/>
            </a:pPr>
            <a:r>
              <a:rPr lang="ar-SA" altLang="en-US" sz="2050" b="1" dirty="0">
                <a:solidFill>
                  <a:srgbClr val="0E7C86"/>
                </a:solidFill>
                <a:latin typeface="Amiri" pitchFamily="34" charset="0"/>
                <a:ea typeface="Amiri" pitchFamily="34" charset="-122"/>
                <a:cs typeface="Amiri" pitchFamily="34" charset="-120"/>
              </a:rPr>
              <a:t>وَالدَّلِيلُ عَلَى ذٰلِكَ</a:t>
            </a:r>
            <a:pPr rtl="1" algn="ctr" indent="0" marL="0">
              <a:buNone/>
            </a:pPr>
            <a:r>
              <a:rPr lang="ar-SA" altLang="en-US" sz="2050" b="1" dirty="0">
                <a:solidFill>
                  <a:srgbClr val="1B3B6F"/>
                </a:solidFill>
                <a:latin typeface="Amiri" pitchFamily="34" charset="0"/>
                <a:ea typeface="Amiri" pitchFamily="34" charset="-122"/>
                <a:cs typeface="Amiri" pitchFamily="34" charset="-120"/>
              </a:rPr>
              <a:t> أَنَّنِي قُدْتُ مَشْرُوعًا مَدْرَسِيًّا.</a:t>
            </a:r>
            <a:endParaRPr lang="ar-SA" sz="205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skills + evidence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L04 · L05</a:t>
            </a:r>
            <a:endParaRPr lang="en-US" sz="1100" dirty="0"/>
          </a:p>
        </p:txBody>
      </p:sp>
      <p:sp>
        <p:nvSpPr>
          <p:cNvPr id="33" name="Text 30"/>
          <p:cNvSpPr txBox="1"/>
          <p:nvPr/>
        </p:nvSpPr>
        <p:spPr>
          <a:xfrm>
            <a:off x="3108960" y="3840480"/>
            <a:ext cx="6217920" cy="731520"/>
          </a:xfrm>
          <a:prstGeom prst="rect">
            <a:avLst/>
          </a:prstGeom>
          <a:noFill/>
          <a:ln/>
        </p:spPr>
        <p:txBody>
          <a:bodyPr wrap="square" lIns="0" tIns="0" rIns="0" bIns="0" rtlCol="0" anchor="ctr"/>
          <a:lstStyle/>
          <a:p>
            <a:pPr rtl="1" algn="ctr" indent="0" marL="0">
              <a:buNone/>
            </a:pPr>
            <a:r>
              <a:rPr lang="ar-SA" altLang="en-US" sz="1850" b="1" dirty="0">
                <a:solidFill>
                  <a:srgbClr val="D6336C"/>
                </a:solidFill>
                <a:latin typeface="Amiri" pitchFamily="34" charset="0"/>
                <a:ea typeface="Amiri" pitchFamily="34" charset="-122"/>
                <a:cs typeface="Amiri" pitchFamily="34" charset="-120"/>
              </a:rPr>
              <a:t>أَوَّلًا</a:t>
            </a:r>
            <a:pPr rtl="1" algn="ctr" indent="0" marL="0">
              <a:buNone/>
            </a:pPr>
            <a:r>
              <a:rPr lang="ar-SA" altLang="en-US" sz="1850" b="1" dirty="0">
                <a:solidFill>
                  <a:srgbClr val="1B3B6F"/>
                </a:solidFill>
                <a:latin typeface="Amiri" pitchFamily="34" charset="0"/>
                <a:ea typeface="Amiri" pitchFamily="34" charset="-122"/>
                <a:cs typeface="Amiri" pitchFamily="34" charset="-120"/>
              </a:rPr>
              <a:t> سَأُكْمِلُ دِرَاسَتِي، </a:t>
            </a:r>
            <a:pPr rtl="1" algn="ctr" indent="0" marL="0">
              <a:buNone/>
            </a:pPr>
            <a:r>
              <a:rPr lang="ar-SA" altLang="en-US" sz="1850" b="1" dirty="0">
                <a:solidFill>
                  <a:srgbClr val="D6336C"/>
                </a:solidFill>
                <a:latin typeface="Amiri" pitchFamily="34" charset="0"/>
                <a:ea typeface="Amiri" pitchFamily="34" charset="-122"/>
                <a:cs typeface="Amiri" pitchFamily="34" charset="-120"/>
              </a:rPr>
              <a:t>ثُمَّ</a:t>
            </a:r>
            <a:pPr rtl="1" algn="ctr" indent="0" marL="0">
              <a:buNone/>
            </a:pPr>
            <a:r>
              <a:rPr lang="ar-SA" altLang="en-US" sz="1850" b="1" dirty="0">
                <a:solidFill>
                  <a:srgbClr val="1B3B6F"/>
                </a:solidFill>
                <a:latin typeface="Amiri" pitchFamily="34" charset="0"/>
                <a:ea typeface="Amiri" pitchFamily="34" charset="-122"/>
                <a:cs typeface="Amiri" pitchFamily="34" charset="-120"/>
              </a:rPr>
              <a:t> سَأَدْرُسُ الهَنْدَسَةَ، </a:t>
            </a:r>
            <a:pPr rtl="1" algn="ctr" indent="0" marL="0">
              <a:buNone/>
            </a:pPr>
            <a:r>
              <a:rPr lang="ar-SA" altLang="en-US" sz="1850" b="1" dirty="0">
                <a:solidFill>
                  <a:srgbClr val="D6336C"/>
                </a:solidFill>
                <a:latin typeface="Amiri" pitchFamily="34" charset="0"/>
                <a:ea typeface="Amiri" pitchFamily="34" charset="-122"/>
                <a:cs typeface="Amiri" pitchFamily="34" charset="-120"/>
              </a:rPr>
              <a:t>بَعْدَ ذٰلِكَ</a:t>
            </a:r>
            <a:pPr rtl="1" algn="ctr" indent="0" marL="0">
              <a:buNone/>
            </a:pPr>
            <a:r>
              <a:rPr lang="ar-SA" altLang="en-US" sz="1850" b="1" dirty="0">
                <a:solidFill>
                  <a:srgbClr val="1B3B6F"/>
                </a:solidFill>
                <a:latin typeface="Amiri" pitchFamily="34" charset="0"/>
                <a:ea typeface="Amiri" pitchFamily="34" charset="-122"/>
                <a:cs typeface="Amiri" pitchFamily="34" charset="-120"/>
              </a:rPr>
              <a:t> سَأَبْحَثُ عَنْ تَدْرِيبٍ عَمَلِيٍّ.</a:t>
            </a:r>
            <a:endParaRPr lang="ar-SA" sz="1850" dirty="0"/>
          </a:p>
        </p:txBody>
      </p:sp>
      <p:sp>
        <p:nvSpPr>
          <p:cNvPr id="34" name="Text 31"/>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route (sequenced)</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L05 · today</a:t>
            </a:r>
            <a:endParaRPr lang="en-US" sz="1100" dirty="0"/>
          </a:p>
        </p:txBody>
      </p:sp>
      <p:sp>
        <p:nvSpPr>
          <p:cNvPr id="39" name="Text 36"/>
          <p:cNvSpPr txBox="1"/>
          <p:nvPr/>
        </p:nvSpPr>
        <p:spPr>
          <a:xfrm>
            <a:off x="3108960" y="4626864"/>
            <a:ext cx="621792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عَلَى الرَّغْمِ مِنْ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الطَّرِيقَ طَوِيلٌ، </a:t>
            </a:r>
            <a:pPr rtl="1" algn="ctr" indent="0" marL="0">
              <a:buNone/>
            </a:pPr>
            <a:r>
              <a:rPr lang="ar-SA" altLang="en-US" sz="2100" b="1" dirty="0">
                <a:solidFill>
                  <a:srgbClr val="0E7C86"/>
                </a:solidFill>
                <a:latin typeface="Amiri" pitchFamily="34" charset="0"/>
                <a:ea typeface="Amiri" pitchFamily="34" charset="-122"/>
                <a:cs typeface="Amiri" pitchFamily="34" charset="-120"/>
              </a:rPr>
              <a:t>فَإِنَّنِي</a:t>
            </a:r>
            <a:pPr rtl="1" algn="ctr" indent="0" marL="0">
              <a:buNone/>
            </a:pPr>
            <a:r>
              <a:rPr lang="ar-SA" altLang="en-US" sz="2100" b="1" dirty="0">
                <a:solidFill>
                  <a:srgbClr val="1B3B6F"/>
                </a:solidFill>
                <a:latin typeface="Amiri" pitchFamily="34" charset="0"/>
                <a:ea typeface="Amiri" pitchFamily="34" charset="-122"/>
                <a:cs typeface="Amiri" pitchFamily="34" charset="-120"/>
              </a:rPr>
              <a:t> مُسْتَعِدَّةٌ لِلْعَمَلِ بِجِدٍّ.</a:t>
            </a:r>
            <a:endParaRPr lang="ar-SA" sz="2100" dirty="0"/>
          </a:p>
        </p:txBody>
      </p:sp>
      <p:sp>
        <p:nvSpPr>
          <p:cNvPr id="40" name="Text 37"/>
          <p:cNvSpPr txBox="1"/>
          <p:nvPr/>
        </p:nvSpPr>
        <p:spPr>
          <a:xfrm>
            <a:off x="566928"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challenge + concession</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These four sentences come from the website model email (Samira’s friend). Keep the jobs, change the content.</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2 · SEQUENCE, REFERENCE, CONCESSION (WEBSITE RULES 2–4)</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Glue the text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SEQUENCE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أَوَّلًا · ثُمَّ · بَعْدَ ذٰلِكَ · أَخِيرًا</a:t>
            </a:r>
            <a:endParaRPr lang="ar-SA" sz="14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أَوَّلًا سَأُكْمِلُ دِرَاسَتِي، ثُمَّ سَأَتَدَرَّبُ.</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First I will finish my studies, then I will train.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For steps of a plan only.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REFERENCE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هٰذَا المَجَالُ · هٰذِهِ المِهْنَةُ</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أُحِبُّ الهَنْدَسَةَ. هٰذَا المَجَالُ يَجْمَعُ بَيْنَ العِلْمِ وَالإِبْدَاعِ.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love engineering. This field combines science and creativity.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Don’t repeat the 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CONCESSION · STRETCH</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34" charset="0"/>
                <a:ea typeface="Amiri" pitchFamily="34" charset="-122"/>
                <a:cs typeface="Amiri" pitchFamily="34" charset="-120"/>
              </a:rPr>
              <a:t>عَلَى الرَّغْمِ مِنْ أَنَّ … فَإِنَّ …</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الرَّغْمِ مِنْ أَنَّ التَّدْرِيبَ طَوِيلٌ، فَإِنَّ المِهْنَةَ مُجْزِيَةٌ.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Although the training is long, the job is rewarding.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Admit, then defend.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After fa-inna the noun takes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فَإِنَّ المِهْنَةَ مُجْزِيَةٌ.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فَإِنَّ المِهْنَةُ مُجْزِيَةٌ.</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Paragraph architecture and cohesion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بِنَاءُ مَقَالٍ أَوْ رِسَالَةٍ مُتَرَابِطَةٍ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Paragraph focus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فِكْرَةٌ رَئِيسِيَّةٌ + تَفْصِيلٌ + سَبَبٌ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أَطْمَحُ إِلَى العَمَلِ فِي الطِّبِّ. سَأَدْرُسُ العُلُومَ لِأَنَّهَا أَسَاسُ هٰذَا المَجَالِ.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Controlled sequence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أَوَّلًا، ثُمَّ، بَعْدَ ذٰلِكَ، أَخِيرًا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أَوَّلًا سَأُكْمِلُ دِرَاسَتِي، ثُمَّ سَأَتَدَرَّبُ.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Reference without repetition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هٰذَا المَجَالُ / هٰذِهِ المِهْنَةُ / فِيهِ</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الهَنْدَسَةَ. هٰذَا المَجَالُ يَجْمَعُ بَيْنَ العِلْمِ وَالإِبْدَاعِ.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Concession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عَلَى الرَّغْمِ مِنْ أَنَّ ... فَإِنَّ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عَلَى الرَّغْمِ مِنْ أَنَّ التَّدْرِيبَ طَوِيلٌ، فَإِنَّ المِهْنَةَ مُجْزِيَةٌ.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main points should one paragraph develop?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many as possible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starts the FIRST step of a plan?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Replace the repeated noun:</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الطِّبَّ. ___ يُسَاعِدُ النَّاسَ.</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المِهْنَةُ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المَجَالُ</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gives an example?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main points should one paragraph develop?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many as possible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rule: one main point.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starts the FIRST step of a plan?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awwalan = firstly.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Replace the repeated noun:</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الطِّبَّ. ___ يُسَاعِدُ النَّاسَ.</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المِهْنَةُ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المَجَالُ</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al-ṭibb = a field (m.).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gives an example?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 سَبِيلِ المِثَالِ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لِذٰلِكَ</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example.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plan, draft and improve one paragraph</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مُهَنْدِسَةُ بِيئَةٍ · التَّلَوُّثُ</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Draft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أُرِيدُ أَنْ أُصْبِحَ مُهَنْدِسَةً. أُحِبُّ الهَنْدَسَةَ.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Simple, repetitive.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Improve · range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أَطْمَحُ إِلَى أَنْ</a:t>
            </a:r>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أُصْبِحَ مُهَنْدِسَةَ بِيئَةٍ </a:t>
            </a:r>
            <a:pPr rtl="1" algn="ct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لِأَنَّنِي</a:t>
            </a:r>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أُرِيدُ أَنْ أُسَاهِمَ فِي حَلِّ مُشْكِلَاتِ التَّلَوُّثِ.</a:t>
            </a:r>
            <a:endParaRPr lang="ar-SA" sz="1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Ambition + reason.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Improve · reference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هٰذَا المَجَالُ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يَجْمَعُ بَيْنَ العِلْمِ وَالإِبْدَاعِ.</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repeated noun.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AMBITION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REASON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عَزِيزَتِي سَمِيرَةُ، سَأَلْتِنِي عَنْ خُطَطِي بَعْدَ المَدْرَسَةِ.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أَطْمَحُ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أُصْبِحَ مُهَنْدِسَةَ بِيئَةٍ لِأَنَّنِي أُرِيدُ أَنْ أُسَاهِمَ فِي حَلِّ مُشْكِلَاتِ التَّلَوُّثِ. أَنَا جَيِّدَةٌ فِي العُلُومِ وَالعَمَلِ الجَمَاعِيِّ،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وَالدَّلِيلُ عَلَى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أَنَّنِي قُدْتُ مَشْرُوعًا مَدْرَسِيًّا عَنْ إِعَادَةِ التَّدْوِيرِ. بَعْدَ التَّخَرُّجِ سَأَدْرُسُ الهَنْدَسَةَ، ثُمَّ سَأَبْحَثُ عَنْ تَدْرِيبٍ عَمَلِيٍّ.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عَلَى الرَّغْمِ مِنْ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الطَّرِيقَ طَوِيلٌ، فَإِنَّنِي مُسْتَعِدَّةٌ لِلْعَمَلِ بِجِدٍّ.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ea typeface="Calibri" pitchFamily="34" charset="-122"/>
                <a:cs typeface="Calibri" pitchFamily="34" charset="-120"/>
              </a:rPr>
              <a:t>Dear Samira, you asked me about my plans after school. I aspire to become an environmental engineer because I want to help solve pollution problems. I am good at science and teamwork; the proof is that I led a school project on recycling. After graduating I will study engineering, then I will look for a work placement. Although the road is long, I am ready to work hard.</a:t>
            </a:r>
            <a:endParaRPr lang="en-US" sz="9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أَطْمَحُ إِلَى العَمَلِ فِي الطِّبِّ.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aspire to work in medicine.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Paragraph 1: ambition.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سَأَدْرُسُ العُلُومَ لِأَنَّهَا أَسَاسُ هٰذَا المَجَالِ.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science because it is the basis of this field.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 + reference.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أَوَّلًا سَأُكْمِلُ دِرَاسَتِي، ثُمَّ سَأَتَدَرَّبُ.</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First I will finish my studies, then I will train.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Sequence the route.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عَلَى الرَّغْمِ مِنْ أَنَّ التَّدْرِيبَ طَوِيلٌ، فَإِنَّ المِهْنَةَ مُجْزِيَةٌ.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Although the training is long, the job is rewarding.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أَنْ أُصْبِحَ طَبِيبَةً.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أَنْ أُسَاعِدَ النَّاسَ.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صَبُورَةٌ وَمُنَظَّمَةٌ.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وَالدَّلِيلُ عَلَى ذٰلِكَ أَنَّنِي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أَوَّلًا سَأَدْرُسُ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 سَأَلْتَحِقُ بِالجَامِعَةِ.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عَلَى الرَّغْمِ مِنْ أَنَّ الطَّرِيقَ طَوِيلٌ …</a:t>
            </a:r>
            <a:endParaRPr lang="ar-SA" sz="17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فَإِنَّنِي مُسْتَعِدَّةٌ.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Ambition</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Skills + evidence</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Route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Challenge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Ambition</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أَنْ أُصْبِحَ طَبِيبَةً.</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أَنْ أُسَاعِدَ النَّاسَ.</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Skills + evidence</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صَبُورَةٌ وَمُنَظَّمَةٌ.</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وَالدَّلِيلُ عَلَى ذٰلِكَ أَنَّنِي …</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Route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أَوَّلًا سَأَدْرُسُ العُلُومَ.</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 سَأَلْتَحِقُ بِالجَامِعَةِ.</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Challenge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عَلَى الرَّغْمِ مِنْ أَنَّ الطَّرِيقَ طَوِيلٌ …</a:t>
            </a:r>
            <a:endParaRPr lang="ar-SA" sz="15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فَإِنَّنِي مُسْتَعِدَّةٌ.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عَلَى الرَّغْمِ مِنْ أَنَّ التَّدْرِيبَ طَوِيلٌ، ___ المِهْنَةَ مُجْزِيَةٌ.</a:t>
            </a:r>
            <a:endParaRPr lang="ar-SA" sz="10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فَإِنَّ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gives a result?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word target for Develop / Stretch?</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40–60 words</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120–140 words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300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review order?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 only</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 then nothing</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meaning, organisation, grammar, spelling</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عَلَى الرَّغْمِ مِنْ أَنَّ التَّدْرِيبَ طَوِيلٌ، ___ المِهْنَةَ مُجْزِيَةٌ.</a:t>
            </a:r>
            <a:endParaRPr lang="ar-SA" sz="10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فَإِنَّ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Concession: … fa-inna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gives a result?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لِذٰلِكَ</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أَنَّ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 a result.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word target for Develop / Stretch?</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40–60 words</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120–140 words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300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task.</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review order?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spelling only</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word count, then nothing</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meaning, organisation, grammar, spelling</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routine as F6-L09.</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الهَنْدَسَةَ. الهَنْدَسَةُ مُمْتِعَةٌ. الهَنْدَسَةُ مُهِمَّةٌ.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Can you replace the repeated noun?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أَوَّلًا أُحِبُّ القِرَاءَةَ، ثُمَّ الطَّقْسُ جَمِيلٌ.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these ideas form steps?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عَلَى الرَّغْمِ مِنَ الطَّرِيقُ طَوِيلٌ، أَنَا مُسْتَعِدٌّ.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follows ʿalā al-raghmi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أُحِبُّ الهَنْدَسَةَ. الهَنْدَسَةُ مُمْتِعَةٌ. الهَنْدَسَةُ مُهِمَّةٌ.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الهَنْدَسَةَ. هٰذَا المَجَالُ مُمْتِعٌ وَمُهِمٌّ.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 reference expression; avoid repetition.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أَوَّلًا أُحِبُّ القِرَاءَةَ، ثُمَّ الطَّقْسُ جَمِيلٌ.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أَوَّلًا سَأُكْمِلُ دِرَاسَتِي، ثُمَّ سَأَتَدَرَّبُ.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Sequencers organise steps, not random ideas.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عَلَى الرَّغْمِ مِنَ الطَّرِيقُ طَوِيلٌ، أَنَا مُسْتَعِدٌّ.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34" charset="0"/>
                <a:ea typeface="Amiri" pitchFamily="34" charset="-122"/>
                <a:cs typeface="Amiri" pitchFamily="34" charset="-120"/>
              </a:rPr>
              <a:t>عَلَى الرَّغْمِ مِنْ أَنَّ الطَّرِيقَ طَوِيلٌ، فَإِنَّنِي مُسْتَعِدٌّ.</a:t>
            </a:r>
            <a:endParaRPr lang="ar-SA" sz="21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 anna + clause, then fa-inna.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Planning a career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Huda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article about her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email to a company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paragraph one about?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skills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difficulty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job she prefers and why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 with her skills?</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photo</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example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paragraph three about?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study and training plan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family</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salary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ending include?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thank-you</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possible difficulty and how to overcome it</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list of jobs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parts does her plan have?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fill a four-box plan: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ambition · skills · route · challenge.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تُخَطِّطُ هُدَى لِكِتَابَةِ مَقَالٍ عَنْ مُسْتَقْبَلِهَا.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is planning to write an article about her future.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الفِقْرَةِ الأُولَى سَتُعَرِّفُ المِهْنَةَ الَّتِي تُفَضِّلُهَا وَسَتَشْرَحُ سَبَبَ اخْتِيَارِهَا.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paragraph she will introduce the job she prefers and explain why she chose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ثُمَّ سَتَذْكُرُ المَهَارَاتِ الَّتِي تَمْلِكُهَا مَعَ مِثَالٍ.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Then she will mention the skills she has, with an example.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الفِقْرَةِ الثَّالِثَةِ سَتُوَضِّحُ خُطَّةَ الدِّرَاسَةِ وَالتَّدْرِيبِ.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third paragraph she will explain her study and training plan.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النِّهَايَةِ سَتَعْرِضُ صُعُوبَةً مُحْتَمَلَةً وَكَيْفَ سَتَتَغَلَّبُ عَلَيْهَا.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at the end she will present a possible difficulty and how she will overcome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Huda write?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an article about her future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email to a company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CV</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مَقَالٍ عَنْ مُسْتَقْبَلِهَا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paragraph one about?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skills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difficulty</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job she prefers and why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المِهْنَةَ الَّتِي تُفَضِّلُهَا … سَبَبَ اخْتِيَارِهَا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go with her skills?</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photo</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example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المَهَارَاتِ … مَعَ مِثَالٍ</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paragraph three about?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study and training plan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family</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salary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خُطَّةَ الدِّرَاسَةِ وَالتَّدْرِيبِ</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ending include?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thank-you</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possible difficulty and how to overcome it</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list of jobs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صُعُوبَةً مُحْتَمَلَةً وَكَيْفَ سَتَتَغَلَّبُ عَلَيْهَا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parts does her plan have?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 then · third · 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and fill a four-box plan: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ambition · skills · route · challenge.</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Oral rehearsal: my career plan in four parts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تَطْمَحُ إِلَيْهَا؟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مَهَارَاتُكَ؟ وَمَا الدَّلِيلُ؟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خُطْوَاتُ خُطَّتِكَ؟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الصُّعُوبَةُ المُحْتَمَلَةُ؟ وَكَيْفَ سَتَتَغَلَّبُ عَلَيْهَا؟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أَطْمَحُ إِلَى أَنْ أُصْبِحَ ___ لِأَنَّنِي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أَنَا ___ ، وَالدَّلِيلُ عَلَى ذٰلِكَ أَنَّنِي ___ .</a:t>
            </a:r>
            <a:endParaRPr lang="ar-SA" sz="14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أَوَّلًا ___ ، ثُمَّ ___ ، بَعْدَ ذٰلِكَ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المِهْنَةُ الَّتِي تَطْمَحُ إِلَيْهَا؟ وَلِمَاذَا؟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career do you aspire to? Why?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أَطْمَحُ إِلَى أَنْ أُصْبِحَ طَبِيبًا لِأَنَّنِي أُرِيدُ أَنْ أُسَاعِدَ النَّاسَ.</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aspire to become a doctor because I want to help people.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60–80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frame per paragraph: ambition + reason, one skill + evidence, two steps, one difficulty.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120–140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focused paragraphs, sequencers, one reference expression, checked with the routine.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concession and an “if I succeed …” condition; improve your first draft with a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المَجَالُ يَجْمَعُ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field combines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سَأَبْحَثُ عَنْ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will look for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إِذَا نَجَحْتُ، فَسَـ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if I succeed,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الصُّعُوبَاتِ المُحْتَمَلَةِ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possible difficulty is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أَطْمَحُ إِلَى أَنْ أُصْبِحَ ______ لِأَنَّنِي ______ .</a:t>
            </a:r>
            <a:endParaRPr lang="ar-SA" sz="17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become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أَنَا جَيِّدٌ فِي ______ ، وَالدَّلِيلُ عَلَى ذٰلِكَ أَنَّنِي ______ .</a:t>
            </a:r>
            <a:endParaRPr lang="ar-SA" sz="13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good at …; the proof is that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سَـ ______ ، ثُمَّ سَـ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I will …, then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الرَّغْمِ مِنْ أَنَّ الطَّرِيقَ طَوِيلٌ، فَإِنَّنِي مُسْتَعِدٌّ.</a:t>
            </a:r>
            <a:endParaRPr lang="ar-SA" sz="16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the road is long, I am ready.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أَطْمَحُ إِلَى أَنْ  ·  لِأَنَّنِي  ·  وَالدَّلِيلُ عَلَى ذٰلِكَ  ·  أَوَّلًا  ·  ثُمَّ  ·  بَعْدَ ذٰلِكَ  ·  أَخِيرًا  ·  هٰذَا المَجَالُ  ·  هٰذِهِ المِهْنَةُ  ·  لِكَيْ  ·  إِذَا نَجَحْتُ  ·  عَلَى الرَّغْمِ مِنْ أَنَّ … فَإِنَّ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120–140-word article or email about your career ambition, evidence, route and challenges.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سَأَلْتِنِي عَنْ خُطَطِي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 asked me about my plans (to a girl)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أُسَاهِمَ فِي حَلِّ مُشْكِلَاتِ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contribute to solving … problems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قُدْتُ مَشْرُوعًا مَدْرَسِيًّا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led a school project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مُسْتَعِدَّةٌ لِلْعَمَلِ بِجِدٍّ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ready to work hard (f.)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سَأَتَغَلَّبُ عَلَى هٰذِهِ الصُّعُوبَةِ بِـ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overcome this difficulty by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أَطْمَحُ إِلَى العَمَلِ فِي الطِّبِّ. سَأَدْرُسُ العُلُومَ لِأَنَّهَا أَسَاسُ هٰذَا المَجَالِ. أَوَّلًا سَأُكْمِلُ دِرَاسَتِي، ثُمَّ سَأَتَدَرَّبُ. أُحِبُّ الهَنْدَسَةَ. هٰذَا المَجَالُ يَجْمَعُ بَيْنَ العِلْمِ وَالإِبْدَاعِ. عَلَى الرَّغْمِ مِنْ أَنَّ التَّدْرِيبَ طَوِيلٌ، فَإِنَّ المِهْنَةَ مُجْزِيَةٌ. فِي رَأْيِي، يَجِبُ أَنْ يَكُونَ القَرَارُ مَبْنِيًّا عَلَى المَهَارَاتِ وَالأَهْدَافِ. عَلَى سَبِيلِ المِثَالِ، أَسْتَطِيعُ أَنْ أُقَدِّمَ دَلِيلًا مِنْ خِبْرَتِي، ثُمَّ أُوَضِّحُ الخُطْوَةَ التَّالِيَةَ. وَمَعَ ذٰلِكَ، سَأَرَاعِي التَّحَدِّيَاتِ وَأَخْتَارُ خُطَّةً وَاقِعِيَّةً.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Samira, you asked me about my plans after school. I aspire to become an environmental engineer because I want to help solve pollution problems. I am good at science and teamwork; the proof is that I led a school project on recycling. After graduating I will study engineering, then I will look for a work placement.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ambition + reason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skill with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sequenced route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concession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All four points are covered.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future verbs have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main point per paragraph.</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reference expression (this field).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concession uses ʿalā al-raghmi min anna … fa-inna.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goes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skills and 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route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difficulty</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سَأُكْمِلُ دِرَاسَتِي، ثُمَّ سَأَتَدَرَّبُ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concession?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عَلَى الرَّغْمِ مِنْ أَنَّ الطَّرِيقَ طَوِيلٌ، فَإِنَّنِي مُسْتَعِدٌّ.</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الطَّرِيقُ طَوِيلٌ.</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أَنَا مُسْتَعِدٌّ.</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goes in paragraph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skills and evidence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route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difficulty</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Huda’s plan.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سَأُكْمِلُ دِرَاسَتِي، ثُمَّ سَأَتَدَرَّبُ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أَوَّلًا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لِذٰلِكَ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 then …</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concession?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عَلَى الرَّغْمِ مِنْ أَنَّ الطَّرِيقَ طَوِيلٌ، فَإِنَّنِي مُسْتَعِدٌّ.</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الطَّرِيقُ طَوِيلٌ.</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أَنَا مُسْتَعِدٌّ.</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Admit, then defend.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Model career email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عَزِيزَتِي سَمِيرَةُ، سَأَلْتِنِي عَنْ خُطَطِي بَعْدَ المَدْرَسَةِ. 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عَزِيزَتِي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dear (to a girl)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سَأَلْتِنِي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asked 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مُهَنْدِسَةَ بِيئَةٍ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environmental engineer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أُسَاهِمَ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contribute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التَّلَوُّثِ</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pollution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قُدْتُ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مَشْرُوعًا مَدْرَسِيًّا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school project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التَّدْوِيرِ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recycling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التَّخَرُّجِ</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graduating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مُسْتَعِدَّةٌ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career does the writer want?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high salary</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help solve pollution problems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strengths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 and design</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leadership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is given?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won a prize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led a school recycling project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a certificate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future steps are planned?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 engineering, then a work placement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then study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 then university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admit a difficulty?</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says it is easy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mention one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although the road is long, she is ready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career does the writer want?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doctor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environmental engineer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مُهَنْدِسَةَ بِيئَةٍ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a high salary</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help solve pollution problems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أُسَاهِمَ فِي حَلِّ مُشْكِلَاتِ التَّلَوُّثِ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strengths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and teamwork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maths and design</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leadership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جَيِّدَةٌ فِي العُلُومِ وَالعَمَلِ الجَمَاعِيِّ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is given?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won a prize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led a school recycling project</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a certificate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قُدْتُ مَشْرُوعًا مَدْرَسِيًّا عَنْ إِعَادَةِ التَّدْوِيرِ</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future steps are planned?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study engineering, then a work placement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then study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 then university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الهَنْدَسَةَ، ثُمَّ سَأَبْحَثُ عَنْ تَدْرِيبٍ</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admit a difficulty?</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says it is easy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mention one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although the road is long, she is ready</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الرَّغْمِ مِنْ أَنَّ الطَّرِيقَ طَوِيلٌ</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D3-L10 · Listening — Work and Career Conversations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أَتَوَقَّعُ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predict</a:t>
            </a:r>
            <a:pPr indent="0" marL="0">
              <a:buNone/>
            </a:pPr>
            <a:r>
              <a:rPr lang="en-US" sz="1000" i="1" dirty="0">
                <a:solidFill>
                  <a:srgbClr val="5A6472"/>
                </a:solidFill>
                <a:latin typeface="Calibri" pitchFamily="34" charset="0"/>
                <a:ea typeface="Calibri" pitchFamily="34" charset="-122"/>
                <a:cs typeface="Calibri" pitchFamily="34" charset="-120"/>
              </a:rPr>
              <a:t>  يَتَوَقَّعُ 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أَسْتَبْعِدُ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eliminate</a:t>
            </a:r>
            <a:pPr indent="0" marL="0">
              <a:buNone/>
            </a:pPr>
            <a:r>
              <a:rPr lang="en-US" sz="1000" i="1" dirty="0">
                <a:solidFill>
                  <a:srgbClr val="5A6472"/>
                </a:solidFill>
                <a:latin typeface="Calibri" pitchFamily="34" charset="0"/>
                <a:ea typeface="Calibri" pitchFamily="34" charset="-122"/>
                <a:cs typeface="Calibri" pitchFamily="34" charset="-120"/>
              </a:rPr>
              <a:t>  يَسْتَبْعِدُ 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أَتَحَقَّقُ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verify</a:t>
            </a:r>
            <a:pPr indent="0" marL="0">
              <a:buNone/>
            </a:pPr>
            <a:r>
              <a:rPr lang="en-US" sz="1000" i="1" dirty="0">
                <a:solidFill>
                  <a:srgbClr val="5A6472"/>
                </a:solidFill>
                <a:latin typeface="Calibri" pitchFamily="34" charset="0"/>
                <a:ea typeface="Calibri" pitchFamily="34" charset="-122"/>
                <a:cs typeface="Calibri" pitchFamily="34" charset="-120"/>
              </a:rPr>
              <a:t>  يَتَحَقَّقُ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Finish your final draft. Then: what is the hardest part of a listening test for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أَصْعَبُ شَيْءٍ فِي الاِسْتِمَاعِ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60–80-word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120–140-word article or email,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140-word version + a short self-audit of three improvements you made.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D3-L10 · Listening — Work and Career Conversations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مُحَادَثَاتُ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paragraphs, four jobs — sequence your route — avoid repetition — admit, then defend.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D3-L09 · Writing — Career Plans Article or Email</dc:title>
  <dc:subject>PptxGenJS Presentation</dc:subject>
  <dc:creator>Al Madina Online School · Arabic Department</dc:creator>
  <cp:lastModifiedBy>Al Madina Online School · Arabic Department</cp:lastModifiedBy>
  <cp:revision>1</cp:revision>
  <dcterms:created xsi:type="dcterms:W3CDTF">2026-10-03T05:29:03Z</dcterms:created>
  <dcterms:modified xsi:type="dcterms:W3CDTF">2026-10-03T05:29:03Z</dcterms:modified>
</cp:coreProperties>
</file>