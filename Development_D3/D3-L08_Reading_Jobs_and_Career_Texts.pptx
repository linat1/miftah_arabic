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D3-L08. The website lesson “Reading — Jobs and Career Texts”: vocabulary, grammar rules and quiz, patterns, common mistakes, sorter, listening, reading, speaking prompts and model, writing task and model, differentiation, final check and the lesson mission. Picture match: website visual game “Reading — Jobs and Career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website’s three short texts (an advert, a message, an article) are the main You Do task.
• Core: the advert words (يُشْتَرَطُ = is required, يُفَضَّلُ = is preferred) and questions 1–3. Develop: reference tracking (الَّذِي / الَّتِي, ـهَا) and all 6 questions. Stretch: an inference with evidence (يَدُلُّ هٰذَا عَلَى أَنَّ …) and the written reply to an advert.
• Reading routine on every text: (1) What TYPE of text is it? (2) Underline the requirement words. (3) Circle every pronoun and draw an arrow to its noun.
• Builds on D3-L02 (الَّذِي / الَّتِي) and D3-L06 (applications).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D3-L07. Questions 3–4 retrieve D3-L02 and D3-L06; question 5 previews today’s pronoun reference.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just find a word — find WHO or WHAT it refers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شرط (condition — also “a bet” in Urdu) → يُشْتَرَطُ (it is made a condition = required). اعلان، مقالہ، دلیل are shared. خبیر appears in Urdu religious language (اللہ خبیر ہے); everyday Urdu says ماہر for an expert.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Job adverts (website vocabulary (1 of 2)). Hear → Say → See → Use. Transliteration is printed for Core students (cover it for Develop/Stretch).
FLEX: teach if time allows; otherwise these are on the website vocabulary tab for homework.
Application words (FLEX): review from D3-L06 — you will meet them in all three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Job adverts (website vocabulary (2 of 2)). Hear → Say → See → Use. Transliteration is printed for Core students (cover it for Develop/Stretch).
FLEX: teach if time allows; otherwise these are on the website vocabulary tab for homework.
Application words (FLEX): review from D3-L06 — you will meet them in all three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Requirements (website vocabulary (1 of 2)). Hear → Say → See → Use. Transliteration is printed for Core students (cover it for Develop/Stretch).
Requirements: these are what an advert asks for. In adverts they come after يُشْتَرَطُ / يُطْلَبُ / يُفَضَّلُ.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Requirements (website vocabulary (2 of 2)). Hear → Say → See → Use. Transliteration is printed for Core students (cover it for Develop/Stretch).
Requirements: these are what an advert asks for. In adverts they come after يُشْتَرَطُ / يُطْلَبُ / يُفَضَّلُ.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signals (website vocabulary (1 of 2)). Hear → Say → See → Use. Transliteration is printed for Core students (cover it for Develop/Stretch).
FLEX: teach if time allows; otherwise these are on the website vocabulary tab for homework.
Reading signals (FLEX): لٰكِنَّ, لِذٰلِكَ and نَتِيجَةً لِذٰلِكَ often hide the answer to a “why”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signals (website vocabulary (2 of 2)). Hear → Say → See → Use. Transliteration is printed for Core students (cover it for Develop/Stretch).
FLEX: teach if time allows; otherwise these are on the website vocabulary tab for homework.
Reading signals (FLEX): لٰكِنَّ, لِذٰلِكَ and نَتِيجَةً لِذٰلِكَ often hide the answer to a “why”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“Required passive” (يُشْتَرَطُ / يُطْلَبُ + اسْمٌ: passive forms are common in adverts and formal texts). Website examples: يُشْتَرَطُ إِجَادَةُ اللُّغَةِ العَرَبِيَّةِ · يُطْلَبُ خِبْرَةٌ سَابِقَةٌ. Rows 3–5 are from the website listening and reading texts.
Exam tip: “required” vs “preferred” is a classic distractor — a preferred quality is NOT a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“Relative reference” (track the noun a relative pronoun refers to), “Pronoun reference” (identify the nearest LOGICAL antecedent, not merely the nearest noun) and “Inference” (an inference must be supported by a specific phrase). Website examples: المُتَقَدِّمُ الَّذِي يَمْلِكُ خِبْرَةً · المَهَارَةُ الَّتِي نَحْتَاجُ إِلَيْهَا · تُقَدِّمُ الشَّرِكَةُ تَدْرِيبًا لِمُوَظَّفِيهَا · أَرْسَلَتْ سَلْمَى سِيرَتَهَا · ذُكِرَتْ سَاعَاتٌ مَرِنَةٌ؛ يَدُلُّ هٰذَا عَلَى أَنَّ …
Why not “the training”? تَدْرِيبٌ is masculine (it would need -hu), and a company has employees, training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“فَكُّ الإِحَالَةِ وَفَهْمُ شُرُوطِ الإِعْلَانِ”
• Required passive: Passive forms are common in adverts and formal texts.
• Relative reference: Track the noun that a relative pronoun refers to.
• Pronoun reference: Identify the nearest logical antecedent, not merely the nearest noun.
• Inference: An inference must be supported by a specific phrase.
Website common error: Do not link a pronoun to the nearest noun automatically — choose the logical one — and do not treat يُفَضَّلُ (preferred) as a requirement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think-aloud on the website reading texts (the advert and the message). Students copy the four-step routine: type → requirement → reference →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Does the advert REQUIRE this from you, or OFFER it to you?
Then underline the signal word: requirements come after يُشْتَرَطُ / يُطْلَبُ; offers after نُقَدِّمُ / تُقَدِّمُ.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Does the advert REQUIRE this from you, or OFFER it to you?
Then underline the signal word: requirements come after يُشْتَرَطُ / يُطْلَبُ; offers after نُقَدِّمُ / تُقَدِّمُ.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 then say which requirement is NOT needed.
Listen 1: just listen. Listen 2: note answers. Then chat the letters.
Support: after the second listening, show the read-along slide (Arabic + English, line by line) for Core students.
SCRIPT (read aloud):
مَرْحَبًا، هٰذِهِ رِسَالَةٌ مِنْ مَرْكَزِ النُّورِ. نَبْحَثُ عَنْ مُسَاعِدٍ لِلْعَمَلِ يَوْمَيِ السَّبْتِ وَالأَحَدِ مِنَ العَاشِرَةِ إِلَى الرَّابِعَةِ. يُشْتَرَطُ أَنْ يَكُونَ المُتَقَدِّمُ مُنَظَّمًا وَأَنْ يُجِيدَ اسْتِخْدَامَ الحَاسُوبِ. لَا تُشْتَرَطُ الخِبْرَةُ، لِأَنَّنَا نُقَدِّمُ تَدْرِيبًا فِي الأُسْبُوعِ الأَوَّلِ. أَرْسِلُوا السِّيرَةَ الذَّاتِيَّةَ قَبْلَ يَوْمِ الخَمِيسِ.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website’s three career texts (an advert, a message, an article). First read: label each text type. Second read: underline requirement words and circle every pronoun.
Core: questions 1–3. Develop: all 6. Stretch: then the reply to the advert.
(Questions are teacher-written: the website questions for these texts are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حُبُّ القِرَاءَةِ شَرْطٌ؟ (Is loving reading a condition?)
B: لَا، لِأَنَّ الإِعْلَانَ يَقُولُ «يُفَضَّلُ»، وَلَيْسَ «يُشْتَرَطُ». (No, because the advert says “is preferred”, not “is required”.)
Teacher-written prompts and model (the website prompts are generic). Students explain HOW they read. Model continues: A: هَلْ حُبُّ القِرَاءَةِ شَرْطٌ؟ B: لَا، لِأَنَّ الإِعْلَانَ يَقُولُ «يُفَضَّلُ»، وَلَيْسَ «يُشْتَرَطُ».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Respond to a job advert, using exact requirements from the text as evidence of your suitability.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قَرَأْتُ فِي إِعْلَانِكُمْ أَنَّهُ يُشْتَرَطُ … · وَالدَّلِيلُ عَلَى ذٰلِكَ · كَمَا يُشْتَرَطُ … · لَيْسَتْ لَدَيَّ خِبْرَةٌ … وَلٰكِنَّ الإِعْلَانَ يَذْكُرُ … · قَبْلَ يَوْمِ الخَمِيسِ (the deadline from the listening).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(D3-L09 · Writing — Career Plans Article or Email) will spend class time USING this language, so students prepare it tonight — short, simple, easy to access (school guidance: “Simple, Short, Interesting, Relevant, Easy to access”). The five words prepare the website D3-L09 writing lesson (a career-plan article or email).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ea typeface="Cambria" pitchFamily="34" charset="-122"/>
                <a:cs typeface="Cambria" pitchFamily="34" charset="-120"/>
              </a:rPr>
              <a:t>Reading — Jobs and Career Texts</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الوَظَائِفِ وَالمَسِيرَةِ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like an examiner: decode advert language (</a:t>
            </a:r>
            <a:pPr algn="l" indent="0" marL="0">
              <a:buNone/>
            </a:pPr>
            <a:r>
              <a:rPr lang="ar-SA" altLang="en-US" sz="1800" dirty="0">
                <a:solidFill>
                  <a:srgbClr val="C6D2E6"/>
                </a:solidFill>
                <a:latin typeface="Amiri" pitchFamily="34" charset="0"/>
                <a:ea typeface="Amiri" pitchFamily="34" charset="-122"/>
                <a:cs typeface="Amiri" pitchFamily="34" charset="-120"/>
              </a:rPr>
              <a:t>يُشْتَرَطُ</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يُطْلَبُ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يُفَضَّلُ</a:t>
            </a:r>
            <a:pPr algn="l" indent="0" marL="0">
              <a:buNone/>
            </a:pPr>
            <a:r>
              <a:rPr lang="en-US" sz="1400" dirty="0">
                <a:solidFill>
                  <a:srgbClr val="C6D2E6"/>
                </a:solidFill>
                <a:latin typeface="Calibri" pitchFamily="34" charset="0"/>
                <a:ea typeface="Calibri" pitchFamily="34" charset="-122"/>
                <a:cs typeface="Calibri" pitchFamily="34" charset="-120"/>
              </a:rPr>
              <a:t>), track who “who / which” and “-hā / -hu” refer to, and make an inference you can prove from the text.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D3-L08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Advert language, reference tracking and inference.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requirements / offers, fix reference errors, then a voicemail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preferred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offered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مَرْجِعٌ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requirement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qualification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الوَظِيفَةَ.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جَيِّدٌ.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يَسُرُّنِي أَنْ أَتَقَدَّمَ لِلوَظِيفَةِ.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سِيرَتُهَا</a:t>
            </a:r>
            <a:pPr algn="l" indent="0" marL="0">
              <a:buNone/>
            </a:pPr>
            <a:r>
              <a:rPr lang="en-US" sz="1250" b="1" dirty="0">
                <a:solidFill>
                  <a:srgbClr val="1B3B6F"/>
                </a:solidFill>
                <a:latin typeface="Calibri" pitchFamily="34" charset="0"/>
                <a:ea typeface="Calibri" pitchFamily="34" charset="-122"/>
                <a:cs typeface="Calibri" pitchFamily="34" charset="-120"/>
              </a:rPr>
              <a:t>, whose CV is 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preferred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offered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مَرْجِعٌ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requirement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qualification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الوَظِيفَةَ.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جَيِّدٌ.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يَسُرُّنِي أَنْ أَتَقَدَّمَ لِلوَظِيفَةِ.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سِيرَتُهَا</a:t>
            </a:r>
            <a:pPr algn="l" indent="0" marL="0">
              <a:buNone/>
            </a:pPr>
            <a:r>
              <a:rPr lang="en-US" sz="1250" b="1" dirty="0">
                <a:solidFill>
                  <a:srgbClr val="1B3B6F"/>
                </a:solidFill>
                <a:latin typeface="Calibri" pitchFamily="34" charset="0"/>
                <a:ea typeface="Calibri" pitchFamily="34" charset="-122"/>
                <a:cs typeface="Calibri" pitchFamily="34" charset="-120"/>
              </a:rPr>
              <a:t>, whose CV is it?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-hā = 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Don’t just find a word — find WHO or WHAT it refers to.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أَرْسَلَتْ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سَلْمَى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سِيرَتَهَا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المُتَقَدِّمُ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الَّذِي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يَمْلِكُ خِبْرَةً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requirement language in job adverts.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what </a:t>
            </a:r>
            <a:pPr algn="l" indent="0" marL="0">
              <a:buNone/>
            </a:pPr>
            <a:r>
              <a:rPr lang="ar-SA" altLang="en-US" sz="1700" dirty="0">
                <a:solidFill>
                  <a:srgbClr val="1F2A37"/>
                </a:solidFill>
                <a:latin typeface="Amiri" pitchFamily="34" charset="0"/>
                <a:ea typeface="Amiri" pitchFamily="34" charset="-122"/>
                <a:cs typeface="Amiri" pitchFamily="34" charset="-120"/>
              </a:rPr>
              <a:t>الَّذِي / الَّتِي / الَّذِينَ</a:t>
            </a:r>
            <a:pPr algn="l" indent="0" marL="0">
              <a:buNone/>
            </a:pPr>
            <a:r>
              <a:rPr lang="en-US" sz="1300" dirty="0">
                <a:solidFill>
                  <a:srgbClr val="1F2A37"/>
                </a:solidFill>
                <a:latin typeface="Calibri" pitchFamily="34" charset="0"/>
                <a:ea typeface="Calibri" pitchFamily="34" charset="-122"/>
                <a:cs typeface="Calibri" pitchFamily="34" charset="-120"/>
              </a:rPr>
              <a:t> refer to.</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attached pronouns (</a:t>
            </a:r>
            <a:pPr algn="l" indent="0" marL="0">
              <a:buNone/>
            </a:pPr>
            <a:r>
              <a:rPr lang="ar-SA" altLang="en-US" sz="1700" dirty="0">
                <a:solidFill>
                  <a:srgbClr val="1F2A37"/>
                </a:solidFill>
                <a:latin typeface="Amiri" pitchFamily="34" charset="0"/>
                <a:ea typeface="Amiri" pitchFamily="34" charset="-122"/>
                <a:cs typeface="Amiri" pitchFamily="34" charset="-120"/>
              </a:rPr>
              <a:t>ـهُ / ـهَا / ـهُمْ</a:t>
            </a:r>
            <a:pPr algn="l" indent="0" marL="0">
              <a:buNone/>
            </a:pPr>
            <a:r>
              <a:rPr lang="en-US" sz="1300" dirty="0">
                <a:solidFill>
                  <a:srgbClr val="1F2A37"/>
                </a:solidFill>
                <a:latin typeface="Calibri" pitchFamily="34" charset="0"/>
                <a:ea typeface="Calibri" pitchFamily="34" charset="-122"/>
                <a:cs typeface="Calibri" pitchFamily="34" charset="-120"/>
              </a:rPr>
              <a:t>) to the right noun.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an inference supported by a phrase from the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requirements in an advert.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three detail questions.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pronoun refers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track allaḏī / allatī / allaḏīna.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make an inference with evidence.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reply to an advert using its exact requirements.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Job adverts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Requirements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signals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شَرْطٌ / يُشْتَرَطُ</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‎شرط‎ </a:t>
            </a:r>
            <a:pPr indent="0" marL="0">
              <a:buNone/>
            </a:pPr>
            <a:r>
              <a:rPr lang="en-US" sz="950" b="1" dirty="0">
                <a:solidFill>
                  <a:srgbClr val="2E8B57"/>
                </a:solidFill>
                <a:latin typeface="Calibri" pitchFamily="34" charset="0"/>
                <a:ea typeface="Calibri" pitchFamily="34" charset="-122"/>
                <a:cs typeface="Calibri" pitchFamily="34" charset="-120"/>
              </a:rPr>
              <a:t> shart · condition → is required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إِعْلَانٌ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‎اعلان‎ </a:t>
            </a:r>
            <a:pPr indent="0" marL="0">
              <a:buNone/>
            </a:pPr>
            <a:r>
              <a:rPr lang="en-US" sz="950" b="1" dirty="0">
                <a:solidFill>
                  <a:srgbClr val="2E8B57"/>
                </a:solidFill>
                <a:latin typeface="Calibri" pitchFamily="34" charset="0"/>
                <a:ea typeface="Calibri" pitchFamily="34" charset="-122"/>
                <a:cs typeface="Calibri" pitchFamily="34" charset="-120"/>
              </a:rPr>
              <a:t> eʿlān · announcement → advert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essay, article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 / يَدُلُّ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proof → indicates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خَبِيرٌ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‎خبیر / ماہر‎ </a:t>
            </a:r>
            <a:pPr indent="0" marL="0">
              <a:buNone/>
            </a:pPr>
            <a:r>
              <a:rPr lang="en-US" sz="950" b="1" dirty="0">
                <a:solidFill>
                  <a:srgbClr val="2E8B57"/>
                </a:solidFill>
                <a:latin typeface="Calibri" pitchFamily="34" charset="0"/>
                <a:ea typeface="Calibri" pitchFamily="34" charset="-122"/>
                <a:cs typeface="Calibri" pitchFamily="34" charset="-120"/>
              </a:rPr>
              <a:t> khabīr · expert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Job adverts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سِيرَةٌ ذَاتِيَّةٌ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CV</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sī-ra-tun dhā-tiy-ya-tun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تَغْطِيَةٍ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cover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 tagh-ṭi-ya-tin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 وَظِيفَةٍ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application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 wa-ẓī-fa-tin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إِعْلَانُ وَظِيفَةٍ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advert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iʿ-lā-nu wa-ẓī-fa-tin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 شَخْصِيَّةٌ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mu-qā-ba-la-tun shakh-ṣiy-ya-tun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مَرْجِعٌ / تَزْكِيَةٌ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mar-ji-ʿun / taz-ki-ya-tun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Job adverts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سَابِقَةٌ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previous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sā-bi-qa-tun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الوَظِيفَةِ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al-wa-ẓī-fa-ti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ضَعْفٍ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weakness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ḍaʿ-fin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 مُنَاسِبٌ لِهٰذِهِ الوَظِيفَةِ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suitable for this job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 mu-nā-si-bun li-hā-dhi-hi al-wa-ẓī-fa-ti</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يَسُرُّنِي أَنْ أَتَقَدَّمَ</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pleased to apply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ya-sur-ru-nī an a-ta-qad-da-ma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Requirements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Requirements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7" name="Shape 4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signals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signals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ADVERT LANGUAGE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does the advert ask for?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يُشْتَرَطُ · يُطْلَبُ · يُفَضَّلُ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Strength</a:t>
            </a:r>
            <a:endParaRPr lang="en-US" sz="1100" dirty="0"/>
          </a:p>
        </p:txBody>
      </p:sp>
      <p:sp>
        <p:nvSpPr>
          <p:cNvPr id="17" name="Text 14"/>
          <p:cNvSpPr txBox="1"/>
          <p:nvPr/>
        </p:nvSpPr>
        <p:spPr>
          <a:xfrm>
            <a:off x="63825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Advert 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must have</a:t>
            </a:r>
            <a:endParaRPr lang="en-US" sz="1100" dirty="0"/>
          </a:p>
        </p:txBody>
      </p:sp>
      <p:sp>
        <p:nvSpPr>
          <p:cNvPr id="21" name="Text 18"/>
          <p:cNvSpPr txBox="1"/>
          <p:nvPr/>
        </p:nvSpPr>
        <p:spPr>
          <a:xfrm>
            <a:off x="641908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required</a:t>
            </a:r>
            <a:endParaRPr lang="en-US" sz="1100" dirty="0"/>
          </a:p>
        </p:txBody>
      </p:sp>
      <p:sp>
        <p:nvSpPr>
          <p:cNvPr id="22" name="Text 19"/>
          <p:cNvSpPr txBox="1"/>
          <p:nvPr/>
        </p:nvSpPr>
        <p:spPr>
          <a:xfrm>
            <a:off x="548640" y="2286000"/>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يُشْتَرَطُ</a:t>
            </a:r>
            <a:pPr rtl="1" algn="ctr" indent="0" marL="0">
              <a:buNone/>
            </a:pPr>
            <a:r>
              <a:rPr lang="ar-SA" altLang="en-US" sz="1950" b="1" dirty="0">
                <a:solidFill>
                  <a:srgbClr val="1B3B6F"/>
                </a:solidFill>
                <a:latin typeface="Amiri" pitchFamily="34" charset="0"/>
                <a:ea typeface="Amiri" pitchFamily="34" charset="-122"/>
                <a:cs typeface="Amiri" pitchFamily="34" charset="-120"/>
              </a:rPr>
              <a:t> إِجَادَةُ اللُّغَةِ العَرَبِيَّةِ.</a:t>
            </a:r>
            <a:endParaRPr lang="ar-SA" sz="1950" dirty="0"/>
          </a:p>
        </p:txBody>
      </p:sp>
      <p:sp>
        <p:nvSpPr>
          <p:cNvPr id="23" name="Text 20"/>
          <p:cNvSpPr txBox="1"/>
          <p:nvPr/>
        </p:nvSpPr>
        <p:spPr>
          <a:xfrm>
            <a:off x="502920" y="2676997"/>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Fluent Arabic is required.</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must have</a:t>
            </a:r>
            <a:endParaRPr lang="en-US" sz="1100" dirty="0"/>
          </a:p>
        </p:txBody>
      </p:sp>
      <p:sp>
        <p:nvSpPr>
          <p:cNvPr id="28" name="Text 25"/>
          <p:cNvSpPr txBox="1"/>
          <p:nvPr/>
        </p:nvSpPr>
        <p:spPr>
          <a:xfrm>
            <a:off x="641908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requested</a:t>
            </a:r>
            <a:endParaRPr lang="en-US" sz="1100" dirty="0"/>
          </a:p>
        </p:txBody>
      </p:sp>
      <p:sp>
        <p:nvSpPr>
          <p:cNvPr id="29" name="Text 26"/>
          <p:cNvSpPr txBox="1"/>
          <p:nvPr/>
        </p:nvSpPr>
        <p:spPr>
          <a:xfrm>
            <a:off x="548640" y="3023006"/>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يُطْلَبُ</a:t>
            </a:r>
            <a:pPr rtl="1" algn="ctr" indent="0" marL="0">
              <a:buNone/>
            </a:pPr>
            <a:r>
              <a:rPr lang="ar-SA" altLang="en-US" sz="1950" b="1" dirty="0">
                <a:solidFill>
                  <a:srgbClr val="1B3B6F"/>
                </a:solidFill>
                <a:latin typeface="Amiri" pitchFamily="34" charset="0"/>
                <a:ea typeface="Amiri" pitchFamily="34" charset="-122"/>
                <a:cs typeface="Amiri" pitchFamily="34" charset="-120"/>
              </a:rPr>
              <a:t> خِبْرَةٌ سَابِقَةٌ.</a:t>
            </a:r>
            <a:endParaRPr lang="ar-SA" sz="1950" dirty="0"/>
          </a:p>
        </p:txBody>
      </p:sp>
      <p:sp>
        <p:nvSpPr>
          <p:cNvPr id="30" name="Text 27"/>
          <p:cNvSpPr txBox="1"/>
          <p:nvPr/>
        </p:nvSpPr>
        <p:spPr>
          <a:xfrm>
            <a:off x="502920" y="3414004"/>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Previous experience is requested.</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nice to have</a:t>
            </a:r>
            <a:endParaRPr lang="en-US" sz="1100" dirty="0"/>
          </a:p>
        </p:txBody>
      </p:sp>
      <p:sp>
        <p:nvSpPr>
          <p:cNvPr id="35" name="Text 32"/>
          <p:cNvSpPr txBox="1"/>
          <p:nvPr/>
        </p:nvSpPr>
        <p:spPr>
          <a:xfrm>
            <a:off x="641908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preferred</a:t>
            </a:r>
            <a:endParaRPr lang="en-US" sz="1100" dirty="0"/>
          </a:p>
        </p:txBody>
      </p:sp>
      <p:sp>
        <p:nvSpPr>
          <p:cNvPr id="36" name="Text 33"/>
          <p:cNvSpPr txBox="1"/>
          <p:nvPr/>
        </p:nvSpPr>
        <p:spPr>
          <a:xfrm>
            <a:off x="548640" y="3760013"/>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يُفَضَّلُ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المُتَقَدِّمُ الَّذِي يُحِبُّ القِرَاءَةَ.</a:t>
            </a:r>
            <a:endParaRPr lang="ar-SA" sz="1950" dirty="0"/>
          </a:p>
        </p:txBody>
      </p:sp>
      <p:sp>
        <p:nvSpPr>
          <p:cNvPr id="37" name="Text 34"/>
          <p:cNvSpPr txBox="1"/>
          <p:nvPr/>
        </p:nvSpPr>
        <p:spPr>
          <a:xfrm>
            <a:off x="502920" y="4151010"/>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 applicant who loves reading is preferred.</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needed</a:t>
            </a:r>
            <a:endParaRPr lang="en-US" sz="1100" dirty="0"/>
          </a:p>
        </p:txBody>
      </p:sp>
      <p:sp>
        <p:nvSpPr>
          <p:cNvPr id="42" name="Text 39"/>
          <p:cNvSpPr txBox="1"/>
          <p:nvPr/>
        </p:nvSpPr>
        <p:spPr>
          <a:xfrm>
            <a:off x="641908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required</a:t>
            </a:r>
            <a:endParaRPr lang="en-US" sz="1100" dirty="0"/>
          </a:p>
        </p:txBody>
      </p:sp>
      <p:sp>
        <p:nvSpPr>
          <p:cNvPr id="43" name="Text 40"/>
          <p:cNvSpPr txBox="1"/>
          <p:nvPr/>
        </p:nvSpPr>
        <p:spPr>
          <a:xfrm>
            <a:off x="548640" y="4497019"/>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لَا تُشْتَرَطُ</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الخِبْرَةُ.</a:t>
            </a:r>
            <a:endParaRPr lang="ar-SA" sz="1950" dirty="0"/>
          </a:p>
        </p:txBody>
      </p:sp>
      <p:sp>
        <p:nvSpPr>
          <p:cNvPr id="44" name="Text 41"/>
          <p:cNvSpPr txBox="1"/>
          <p:nvPr/>
        </p:nvSpPr>
        <p:spPr>
          <a:xfrm>
            <a:off x="502920" y="4888017"/>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Experience is not required.</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D3-L03</a:t>
            </a:r>
            <a:endParaRPr lang="en-US" sz="1100" dirty="0"/>
          </a:p>
        </p:txBody>
      </p:sp>
      <p:sp>
        <p:nvSpPr>
          <p:cNvPr id="47" name="Text 44"/>
          <p:cNvSpPr txBox="1"/>
          <p:nvPr/>
        </p:nvSpPr>
        <p:spPr>
          <a:xfrm>
            <a:off x="641908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must be + -an</a:t>
            </a:r>
            <a:endParaRPr lang="en-US" sz="1100" dirty="0"/>
          </a:p>
        </p:txBody>
      </p:sp>
      <p:sp>
        <p:nvSpPr>
          <p:cNvPr id="48" name="Text 45"/>
          <p:cNvSpPr txBox="1"/>
          <p:nvPr/>
        </p:nvSpPr>
        <p:spPr>
          <a:xfrm>
            <a:off x="548640" y="5234026"/>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يُشْتَرَطُ أَنْ يَكُونَ المُتَقَدِّمُ مُنَظَّمًا.</a:t>
            </a:r>
            <a:endParaRPr lang="ar-SA" sz="1950" dirty="0"/>
          </a:p>
        </p:txBody>
      </p:sp>
      <p:sp>
        <p:nvSpPr>
          <p:cNvPr id="49" name="Text 46"/>
          <p:cNvSpPr txBox="1"/>
          <p:nvPr/>
        </p:nvSpPr>
        <p:spPr>
          <a:xfrm>
            <a:off x="502920" y="5625023"/>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applicant must be organised.</a:t>
            </a:r>
            <a:endParaRPr lang="en-US" sz="9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verbs start with yu- and have -a- in the middle: yushtaraṭu, yuṭlabu, yufaḍḍalu = “is …ed”.</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REFERENCE AND INFERENCE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or what? How do you know?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الإِحَالَةُ · الاِسْتِنْتَاجُ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WHO / WHICH · DEVELOP</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الَّذِي · الَّتِي · الَّذِينَ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المَهَارَةُ الَّتِي نَحْتَاجُ إِلَيْهَا</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skill (which) we need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allatī → the skill (f.).</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PRONOUN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ـهُ · ـهَا · ـهُمْ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تُقَدِّمُ الشَّرِكَةُ تَدْرِيبًا لِمُوَظَّفِيهَا.</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company offers training to its employees.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-hā → the company, not the training.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يَدُلُّ هٰذَا عَلَى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ذُكِرَتْ سَاعَاتٌ مَرِنَةٌ؛ يَدُلُّ هٰذَا عَلَى أَنَّ الوَظِيفَةَ قَدْ تُنَاسِبُ الطُّلَّابَ.</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Flexible hours are mentioned; this suggests the job may suit students.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Phrase → conclusion.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company (f.) has the employees: -hā, not -hu.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تُقَدِّمُ الشَّرِكَةُ تَدْرِيبًا لِمُوَظَّفِيهَا.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تُقَدِّمُ الشَّرِكَةُ تَدْرِيبًا لِمُوَظَّفِيهِ.</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Reading reference and requirement language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فَكُّ الإِحَالَةِ وَفَهْمُ شُرُوطِ الإِعْلَانِ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Required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يُشْتَرَطُ / يُطْلَبُ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يُشْتَرَطُ إِجَادَةُ اللُّغَةِ العَرَبِيَّةِ.   ·   يُطْلَبُ خِبْرَةٌ سَابِقَةٌ.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Relative reference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الَّذِي / الَّتِي / الَّذِينَ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المُتَقَدِّمُ الَّذِي يَمْلِكُ خِبْرَةً   ·   المَهَارَةُ الَّتِي نَحْتَاجُ إِلَيْهَا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Pronoun reference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ـهُ / ـهَا / ـهُمْ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تُقَدِّمُ الشَّرِكَةُ تَدْرِيبًا لِمُوَظَّفِيهَا.   ·   أَرْسَلَتْ سَلْمَى سِيرَتَهَا.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يَدُلُّ هٰذَا عَلَى 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ذُكِرَتْ سَاعَاتٌ مَرِنَةٌ؛ يَدُلُّ هٰذَا عَلَى أَنَّ الوَظِيفَةَ قَدْ تُنَاسِبُ الطُّلَّابَ.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 in an advert?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preferred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offered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المُتَقَدِّمُ ___ يَمْلِكُ خِبْرَةً.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أَرْسَلَتْ سَلْمَى سِيرَتَهَا</a:t>
            </a:r>
            <a:pPr algn="l" indent="0" marL="0">
              <a:buNone/>
            </a:pPr>
            <a:r>
              <a:rPr lang="en-US" sz="1250" b="1" dirty="0">
                <a:solidFill>
                  <a:srgbClr val="1B3B6F"/>
                </a:solidFill>
                <a:latin typeface="Calibri" pitchFamily="34" charset="0"/>
                <a:ea typeface="Calibri" pitchFamily="34" charset="-122"/>
                <a:cs typeface="Calibri" pitchFamily="34" charset="-120"/>
              </a:rPr>
              <a:t>, who does -hā refer to?</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CV</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تُقَدِّمُ الشَّرِكَةُ تَدْرِيبًا لِمُوَظَّفِيهَا</a:t>
            </a:r>
            <a:pPr algn="l" indent="0" marL="0">
              <a:buNone/>
            </a:pPr>
            <a:r>
              <a:rPr lang="en-US" sz="1250" b="1" dirty="0">
                <a:solidFill>
                  <a:srgbClr val="1B3B6F"/>
                </a:solidFill>
                <a:latin typeface="Calibri" pitchFamily="34" charset="0"/>
                <a:ea typeface="Calibri" pitchFamily="34" charset="-122"/>
                <a:cs typeface="Calibri" pitchFamily="34" charset="-120"/>
              </a:rPr>
              <a:t>, -hā refers to …</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training</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employees</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 in an advert?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preferred</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offered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shart = condition.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المُتَقَدِّمُ ___ يَمْلِكُ خِبْرَةً.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singular → allaḏī.</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أَرْسَلَتْ سَلْمَى سِيرَتَهَا</a:t>
            </a:r>
            <a:pPr algn="l" indent="0" marL="0">
              <a:buNone/>
            </a:pPr>
            <a:r>
              <a:rPr lang="en-US" sz="1250" b="1" dirty="0">
                <a:solidFill>
                  <a:srgbClr val="1B3B6F"/>
                </a:solidFill>
                <a:latin typeface="Calibri" pitchFamily="34" charset="0"/>
                <a:ea typeface="Calibri" pitchFamily="34" charset="-122"/>
                <a:cs typeface="Calibri" pitchFamily="34" charset="-120"/>
              </a:rPr>
              <a:t>, who does -hā refer to?</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company</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CV</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own CV.</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تُقَدِّمُ الشَّرِكَةُ تَدْرِيبًا لِمُوَظَّفِيهَا</a:t>
            </a:r>
            <a:pPr algn="l" indent="0" marL="0">
              <a:buNone/>
            </a:pPr>
            <a:r>
              <a:rPr lang="en-US" sz="1250" b="1" dirty="0">
                <a:solidFill>
                  <a:srgbClr val="1B3B6F"/>
                </a:solidFill>
                <a:latin typeface="Calibri" pitchFamily="34" charset="0"/>
                <a:ea typeface="Calibri" pitchFamily="34" charset="-122"/>
                <a:cs typeface="Calibri" pitchFamily="34" charset="-120"/>
              </a:rPr>
              <a:t>, -hā refers to …</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company</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training</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employees</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company’s employees.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read an advert like an examiner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Text type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إِعْلَانٌ: تُعْلِنُ مَكْتَبَةُ المَدِينَةِ …</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advert → look for requirements.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Requirement?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يُفَضَّلُ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المُتَقَدِّمُ الَّذِي يُحِبُّ القِرَاءَةَ.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Preferred, NOT required.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Reference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لِذٰلِكَ </a:t>
            </a:r>
            <a:pPr rtl="1" algn="ctr" indent="0" marL="0">
              <a:buNone/>
            </a:pPr>
            <a:r>
              <a:rPr lang="ar-SA" altLang="en-US" sz="2550" b="1" dirty="0">
                <a:solidFill>
                  <a:srgbClr val="D6336C"/>
                </a:solidFill>
                <a:latin typeface="Amiri" pitchFamily="34" charset="0"/>
                <a:ea typeface="Amiri" pitchFamily="34" charset="-122"/>
                <a:cs typeface="Amiri" pitchFamily="34" charset="-120"/>
              </a:rPr>
              <a:t>سَأُرْسِلُهَا</a:t>
            </a:r>
            <a:pPr rtl="1" algn="ctr" indent="0" marL="0">
              <a:buNone/>
            </a:pPr>
            <a:r>
              <a:rPr lang="ar-SA" altLang="en-US" sz="2550" b="1" dirty="0">
                <a:solidFill>
                  <a:srgbClr val="1B3B6F"/>
                </a:solidFill>
                <a:latin typeface="Amiri" pitchFamily="34" charset="0"/>
                <a:ea typeface="Amiri" pitchFamily="34" charset="-122"/>
                <a:cs typeface="Amiri" pitchFamily="34" charset="-120"/>
              </a:rPr>
              <a:t> اليَوْمَ.</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-hā = shahādatī, my certificate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Inference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يَدُلُّ هٰذَا عَلَى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المَكْتَبَةَ تَهْتَمُّ بِالزُّوَّارِ.</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Proof: </a:t>
            </a:r>
            <a:pPr algn="l" indent="0" marL="0">
              <a:buNone/>
            </a:pPr>
            <a:r>
              <a:rPr lang="ar-SA" altLang="en-US" sz="1500" dirty="0">
                <a:solidFill>
                  <a:srgbClr val="1F2A37"/>
                </a:solidFill>
                <a:latin typeface="Amiri" pitchFamily="34" charset="0"/>
                <a:ea typeface="Amiri" pitchFamily="34" charset="-122"/>
                <a:cs typeface="Amiri" pitchFamily="34" charset="-120"/>
              </a:rPr>
              <a:t>يَتَعَامَلُ بِلُطْفٍ</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ADVERT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REFERENCE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النَّصُّ الأَوَّلُ إِعْلَانٌ.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يُفَضَّلُ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المُتَقَدِّمُ الَّذِي يُحِبُّ القِرَاءَةَ، وَلٰكِنَّ ذٰلِكَ لَيْسَ شَرْطًا. فِي الرِّسَالَةِ، يَعُودُ الضَّمِيرُ فِي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سَأُرْسِلُهَا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إِلَى «شَهَادَتِي».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يَدُلُّ هٰذَا عَلَى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الكَاتِبَ أَرْسَلَ طَلَبًا نَاقِصًا.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first text is an advert. An applicant who loves reading is preferred, but that is not a condition. In the message, the pronoun in “I will send it” refers to “my certificate”. This suggests that the writer sent an incomplete application.</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يُشْتَرَطُ إِجَادَةُ اللُّغَةِ العَرَبِيَّةِ.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Fluent Arabic is required.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Required (passive).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يُفَضَّلُ المُتَقَدِّمُ الَّذِي يُحِبُّ القِرَاءَةَ.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An applicant who loves reading is preferred.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Preferred ≠ required.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يَعُودُ الضَّمِيرُ «هَا» إِلَى الشَّهَادَةِ.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pronoun “-hā” refers to the certificate.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Reference sentence.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يَدُلُّ هٰذَا عَلَى أَنَّ الوَظِيفَةَ تُنَاسِبُ الطُّلَّابَ.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suggests the job suits students.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Inference +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Requirement or offer?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يُشْتَرَطُ إِجَادَةُ الحَاسُوبِ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يُطْلَبُ خِبْرَةٌ سَابِقَةٌ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يَكُونَ مُنَظَّمًا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إِجَادَةُ لُغَتَيْنِ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نُقَدِّمُ تَدْرِيبًا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مَرِنَةٌ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جَيِّدٌ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إِجَازَةٌ سَنَوِيَّةٌ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 job requires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The employer offers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 job requires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يُشْتَرَطُ إِجَادَةُ الحَاسُوبِ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يُطْلَبُ خِبْرَةٌ سَابِقَةٌ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يَكُونَ مُنَظَّمًا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إِجَادَةُ لُغَتَيْنِ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The employer offers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نُقَدِّمُ تَدْرِيبًا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مَرِنَةٌ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جَيِّدٌ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إِجَازَةٌ سَنَوِيَّةٌ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 سَابِقَةٌ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طَلَبْتُ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يُطْلَبُ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المُتَقَدِّمُونَ ___ يُحِبُّونَ القِرَاءَةَ.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an inference?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السَّاعَاتُ مَرِنَةٌ.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يَدُلُّ هٰذَا عَلَى أَنَّ الوَظِيفَةَ تُنَاسِبُ الطُّلَّابَ.</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يُطْلَبُ مُسَاعِدٌ.</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يُفَضَّلُ</a:t>
            </a:r>
            <a:pPr algn="l" indent="0" marL="0">
              <a:buNone/>
            </a:pPr>
            <a:r>
              <a:rPr lang="en-US" sz="1250" b="1" dirty="0">
                <a:solidFill>
                  <a:srgbClr val="1B3B6F"/>
                </a:solidFill>
                <a:latin typeface="Calibri" pitchFamily="34" charset="0"/>
                <a:ea typeface="Calibri" pitchFamily="34" charset="-122"/>
                <a:cs typeface="Calibri" pitchFamily="34" charset="-120"/>
              </a:rPr>
              <a:t> mean in an advert?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forbidden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preferred</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 سَابِقَةٌ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طَلَبْتُ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يُطْلَبُ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yuṭlabu = is requested.</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المُتَقَدِّمُونَ ___ يُحِبُّونَ القِرَاءَةَ.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الَّذِينَ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people → allaḏīna.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an inference?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السَّاعَاتُ مَرِنَةٌ.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يَدُلُّ هٰذَا عَلَى أَنَّ الوَظِيفَةَ تُنَاسِبُ الطُّلَّابَ.</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يُطْلَبُ مُسَاعِدٌ.</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conclusion from evidence.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يُفَضَّلُ</a:t>
            </a:r>
            <a:pPr algn="l" indent="0" marL="0">
              <a:buNone/>
            </a:pPr>
            <a:r>
              <a:rPr lang="en-US" sz="1250" b="1" dirty="0">
                <a:solidFill>
                  <a:srgbClr val="1B3B6F"/>
                </a:solidFill>
                <a:latin typeface="Calibri" pitchFamily="34" charset="0"/>
                <a:ea typeface="Calibri" pitchFamily="34" charset="-122"/>
                <a:cs typeface="Calibri" pitchFamily="34" charset="-120"/>
              </a:rPr>
              <a:t> mean in an advert?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required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forbidden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 preferred</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Nice to have.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المُتَقَدِّمَةُ الَّذِي تُحِبُّ القِرَاءَةَ.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female applicant: allaḏī or allatī?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أَرْسَلَتْ سَلْمَى سِيرَتَهُ.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Whose CV? -hu or -hā?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يُشْتَرَطُ أَنْ يَكُونَ المُتَقَدِّمُ مُنَظَّمٌ.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yakūna: -un or -an?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المُتَقَدِّمَةُ الَّذِي تُحِبُّ القِرَاءَةَ.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المُتَقَدِّمَةُ الَّتِي تُحِبُّ القِرَاءَةَ.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female applicant → allatī.</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أَرْسَلَتْ سَلْمَى سِيرَتَهُ.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أَرْسَلَتْ سَلْمَى سِيرَتَهَا.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Salma’s own CV → -hā.</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يُشْتَرَطُ أَنْ يَكُونَ المُتَقَدِّمُ مُنَظَّمٌ.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يُشْتَرَطُ أَنْ يَكُونَ المُتَقَدِّمُ مُنَظَّمًا.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Job advert voicemail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days is the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and Sunday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and Saturday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to Friday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hours?</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9:00 to 5:00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10:00 to 2:00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10:00 to 4:00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quality is required?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being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being confident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being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technical skill is required?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a computer well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French</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required?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two years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training is given in the first week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mentioned</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deadline for the CV?</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Thursday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Saturday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السَّبْتِ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العَاشِرَةِ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الخَمِيسِ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هٰذِهِ رِسَالَةٌ مِنْ مَرْكَزِ النُّورِ.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this is a message from Al-Nour Centre.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نَبْحَثُ عَنْ مُسَاعِدٍ لِلْعَمَلِ يَوْمَيِ السَّبْتِ وَالأَحَدِ مِنَ العَاشِرَةِ إِلَى الرَّابِعَةِ.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are looking for an assistant to work on Saturdays and Sundays from ten to four.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يُشْتَرَطُ أَنْ يَكُونَ المُتَقَدِّمُ مُنَظَّمًا وَأَنْ يُجِيدَ اسْتِخْدَامَ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applicant must be organised and good at using a computer.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تُشْتَرَطُ الخِبْرَةُ، لِأَنَّنَا نُقَدِّمُ تَدْرِيبًا فِي الأُسْبُوعِ الأَوَّلِ.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 is not required, because we provide training in the first week.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أَرْسِلُوا السِّيرَةَ الذَّاتِيَّةَ قَبْلَ يَوْمِ الخَمِيسِ.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Send your CV before Thursday.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days is the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Saturday and Sunday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 and Saturday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 to Friday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السَّبْتِ وَالأَحَدِ</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hours?</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9:00 to 5:00</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10:00 to 2:00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10:00 to 4:00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العَاشِرَةِ إِلَى الرَّابِعَةِ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quality is required?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being creative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being confident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being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يَكُونَ المُتَقَدِّمُ مُنَظَّمًا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technical skill is required?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a computer well</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speaking French</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يُجِيدَ اسْتِخْدَامَ الحَاسُوبِ</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required?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two years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 training is given in the first week</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not mentioned</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تُشْتَرَطُ الخِبْرَةُ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deadline for the CV?</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Thursday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Saturday</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يَوْمِ الخَمِيسِ</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السَّبْتِ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العَاشِرَةِ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الخَمِيسِ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career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تُعْلِنُ مَكْتَبَةُ المَدِينَةِ عَنْ حَاجَتِهَا إِلَى مُسَاعِدٍ فِي فَتْرَةِ المَسَاءِ. يُفَضَّلُ المُتَقَدِّمُ الَّذِي يُحِبُّ القِرَاءَةَ وَيَتَعَامَلُ بِلُطْفٍ مَعَ الزُّوَّارِ. رِسَالَةٌ: أَرْسَلْتُ طَلَبِي أَمْسِ، وَلٰكِنَّنِي نَسِيتُ أَنْ أُرْفِقَ شَهَادَتِي؛ لِذٰلِكَ سَأُرْسِلُهَا اليَوْمَ. مَقَالٌ: يَرَى الخُبَرَاءُ أَنَّ مَهَارَاتِ التَّوَاصُلِ سَتَبْقَى مُهِمَّةً حَتَّى فِي الوَظَائِفِ التِّقْنِيَّةِ.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تُعْلِنُ</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announces</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حَاجَتِهَا إِلَى</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need for</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فَتْرَةِ المَسَاءِ</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evening shift</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يُفَضَّلُ</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preferred</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بِلُطْفٍ</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kindly</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أَرْسَلْتُ طَلَبِي</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sent my application</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نَسِيتُ</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forgot</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أُرْفِقَ</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attach</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الخُبَرَاءُ</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experts</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سَتَبْقَى</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remain</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shift does the library advertise?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morning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evening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weekend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applicant is preferred?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with a degree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who speaks two languages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who loves reading</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applicant treat visitors?</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kindly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message writer forget?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send the application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attach the certificate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write a CV</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سَأُرْسِلُهَا</a:t>
            </a:r>
            <a:pPr algn="l" indent="0" marL="0">
              <a:buNone/>
            </a:pPr>
            <a:r>
              <a:rPr lang="en-US" sz="1250" b="1" dirty="0">
                <a:solidFill>
                  <a:srgbClr val="1B3B6F"/>
                </a:solidFill>
                <a:latin typeface="Calibri" pitchFamily="34" charset="0"/>
                <a:ea typeface="Calibri" pitchFamily="34" charset="-122"/>
                <a:cs typeface="Calibri" pitchFamily="34" charset="-120"/>
              </a:rPr>
              <a:t>, what does -hā refer to?</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certificate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application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According to experts, what will stay important?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skills only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previous experience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communication skills, even in tech jobs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shift does the library advertise?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morning</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evening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weekend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فَتْرَةِ المَسَاءِ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applicant is preferred?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with a degree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one who speaks two languages</a:t>
            </a:r>
            <a:endParaRPr lang="en-US" sz="11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who loves reading</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يُفَضَّلُ المُتَقَدِّمُ الَّذِي يُحِبُّ القِرَاءَةَ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applicant treat visitors?</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kindly</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quickly</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يَتَعَامَلُ بِلُطْفٍ مَعَ الزُّوَّارِ</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message writer forget?</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send the application</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attach the certificate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write a CV</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نَسِيتُ أَنْ أُرْفِقَ شَهَادَتِي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سَأُرْسِلُهَا</a:t>
            </a:r>
            <a:pPr algn="l" indent="0" marL="0">
              <a:buNone/>
            </a:pPr>
            <a:r>
              <a:rPr lang="en-US" sz="1250" b="1" dirty="0">
                <a:solidFill>
                  <a:srgbClr val="1B3B6F"/>
                </a:solidFill>
                <a:latin typeface="Calibri" pitchFamily="34" charset="0"/>
                <a:ea typeface="Calibri" pitchFamily="34" charset="-122"/>
                <a:cs typeface="Calibri" pitchFamily="34" charset="-120"/>
              </a:rPr>
              <a:t>, what does -hā refer to?</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certificate</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application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library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نَسِيتُ أَنْ أُرْفِقَ شَهَادَتِي</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According to experts, what will stay important?</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skills only</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previous experience</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communication skills, even in tech jobs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مَهَارَاتِ التَّوَاصُلِ سَتَبْقَى مُهِمَّةً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your reading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نَوْعُ النَّصِّ الأَوَّلِ؟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حُبُّ القِرَاءَةِ شَرْطٌ؟ كَيْفَ تَعْرِفُ؟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مَاذَا يَعُودُ الضَّمِيرُ فِي «سَأُرْسِلُهَا»؟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تَسْتَنْتِجُ مِنَ المَقَالِ؟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النَّصُّ الأَوَّلُ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لِأَنَّ الإِعْلَانَ يَقُولُ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يَعُودُ الضَّمِيرُ إِلَى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يَدُلُّ هٰذَا عَلَى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نَوْعُ النَّصِّ الأَوَّلِ؟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type is the first text?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إِعْلَانُ وَظِيفَةٍ مِنْ مَكْتَبَةِ المَدِينَةِ.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is a job advert from the city library.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Answer the advert: formal opening, two requirements you meet (yushtaraṭu …, wa-anā …), close.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Reply to the Al-Nour advert, quoting two exact requirements and giving evidence for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respond to the advert using its exact requirements as evidence, and address the missing experience.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يُشْتَرَطُ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advert also requires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وَلَدَيَّ مَهَارَاتٌ جَيِّدَةٌ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I have good skills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لَيْسَتْ لَدَيَّ خِبْرَةٌ سَابِقَةٌ، وَلٰكِنَّ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no previous experience,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وَالدَّلِيلُ عَلَى ذٰلِكَ 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proof is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يَسُرُّنِي أَنْ أَتَقَدَّمَ لِـ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pleased to apply for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قَرَأْتُ فِي إِعْلَانِكُمْ أَنَّهُ يُشْتَرَطُ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in your advert that … is required.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I am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سَأُرْسِلُ سِيرَتِي الذَّاتِيَّةَ قَبْلَ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send my CV before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يُشْتَرَطُ  ·  يُطْلَبُ  ·  يُفَضَّلُ  ·  لَا تُشْتَرَطُ  ·  مُنَظَّمٌ  ·  اسْتِخْدَامُ الحَاسُوبِ  ·  خِبْرَةٌ سَابِقَةٌ  ·  تَدْرِيبٌ  ·  سِيرَتِي الذَّاتِيَّةُ  ·  الَّذِي  ·  الَّتِي  ·  يَدُلُّ هٰذَا عَلَى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Respond to a job advert, using exact requirements from the text as evidence of your suitability.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تُعْلِنُ … عَنْ حَاجَتِهَا إِلَى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announces its need for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فَتْرَةِ المَسَاءِ</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evening shift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يَتَعَامَلُ بِلُطْفٍ مَعَ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deals kindly with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نَسِيتُ أَنْ أُرْفِقَ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forgot to attach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الخُبَرَاءُ أَنَّ</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experts believe that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السَّادَةُ فِي مَرْكَزِ النُّورِ المُحْتَرَمُونَ، يَسُرُّنِي أَنْ أَتَقَدَّمَ لِوَظِيفَةِ المُسَاعِدِ فِي نِهَايَةِ الأُسْبُوعِ. قَرَأْتُ فِي إِعْلَانِكُمْ أَنَّهُ يُشْتَرَطُ أَنْ يَكُونَ المُتَقَدِّمُ مُنَظَّمًا، وَأَنَا مُنَظَّمٌ؛ وَالدَّلِيلُ عَلَى ذٰلِكَ أَنَّنِي أُخَطِّطُ لِدِرَاسَتِي كُلَّ أُسْبُوعٍ. كَمَا يُشْتَرَطُ أَنْ يُجِيدَ المُتَقَدِّمُ اسْتِخْدَامَ الحَاسُوبِ، وَلَدَيَّ مَهَارَاتٌ جَيِّدَةٌ فِي البَرْمَجَةِ وَالطِّبَاعَةِ. لَيْسَتْ لَدَيَّ خِبْرَةٌ سَابِقَةٌ، وَلٰكِنَّ الإِعْلَانَ يَذْكُرُ أَنَّكُمْ تُقَدِّمُونَ تَدْرِيبًا فِي الأُسْبُوعِ الأَوَّلِ. سَأُرْسِلُ سِيرَتِي الذَّاتِيَّةَ قَبْلَ يَوْمِ الخَمِيسِ. مَعَ خَالِصِ التَّحِيَّاتِ.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Al-Nour Centre, I am pleased to apply for the weekend assistant post. I read in your advert that the applicant must be organised, and I am organised: the proof is that I plan my studies every week. The advert also requires good computer use, and I have good skills in programming and typing. I have no previous experience, but the advert says that you provide training in the first week. I will send my CV before Thursday. With best regards.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exact requirement quoted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 for a requirement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missing requirement addressed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formal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found the requirement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confuse “preferred” with “required”.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linked each pronoun to the right noun.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tracked allaḏī / allatī / allaḏīna.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inference quotes a phrase from the 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تُشْتَرَطُ الخِبْرَةُ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 is not required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 is required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 is preferred</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المَهَارَةُ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نَحْتَاجُ إِلَيْهَا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سَأُرْسِلُهَا</a:t>
            </a:r>
            <a:pPr algn="l" indent="0" marL="0">
              <a:buNone/>
            </a:pPr>
            <a:r>
              <a:rPr lang="en-US" sz="1250" b="1" dirty="0">
                <a:solidFill>
                  <a:srgbClr val="1B3B6F"/>
                </a:solidFill>
                <a:latin typeface="Calibri" pitchFamily="34" charset="0"/>
                <a:ea typeface="Calibri" pitchFamily="34" charset="-122"/>
                <a:cs typeface="Calibri" pitchFamily="34" charset="-120"/>
              </a:rPr>
              <a:t> (the message), -hā refers to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certificate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visitor</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تُشْتَرَطُ الخِبْرَةُ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experience is not required</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experience is required</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experience is preferred</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 not.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المَهَارَةُ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نَحْتَاجُ إِلَيْهَا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الَّذِي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الَّذِينَ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mahāra (f.) → allatī.</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سَأُرْسِلُهَا</a:t>
            </a:r>
            <a:pPr algn="l" indent="0" marL="0">
              <a:buNone/>
            </a:pPr>
            <a:r>
              <a:rPr lang="en-US" sz="1250" b="1" dirty="0">
                <a:solidFill>
                  <a:srgbClr val="1B3B6F"/>
                </a:solidFill>
                <a:latin typeface="Calibri" pitchFamily="34" charset="0"/>
                <a:ea typeface="Calibri" pitchFamily="34" charset="-122"/>
                <a:cs typeface="Calibri" pitchFamily="34" charset="-120"/>
              </a:rPr>
              <a:t> (the message), -hā refers to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certificate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library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visitor</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nasītu an urfiqa shahādatī.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D3-L09 · Writing — Career Plans Article or Email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article</a:t>
            </a:r>
            <a:pPr indent="0" marL="0">
              <a:buNone/>
            </a:pPr>
            <a:r>
              <a:rPr lang="en-US" sz="1000" i="1" dirty="0">
                <a:solidFill>
                  <a:srgbClr val="5A6472"/>
                </a:solidFill>
                <a:latin typeface="Calibri" pitchFamily="34" charset="0"/>
                <a:ea typeface="Calibri" pitchFamily="34" charset="-122"/>
                <a:cs typeface="Calibri" pitchFamily="34" charset="-120"/>
              </a:rPr>
              <a:t>  pl. مَقَالَاتٌ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 إِلِكْتُرُونِيَّةٌ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email</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step</a:t>
            </a:r>
            <a:pPr indent="0" marL="0">
              <a:buNone/>
            </a:pPr>
            <a:r>
              <a:rPr lang="en-US" sz="1000" i="1" dirty="0">
                <a:solidFill>
                  <a:srgbClr val="5A6472"/>
                </a:solidFill>
                <a:latin typeface="Calibri" pitchFamily="34" charset="0"/>
                <a:ea typeface="Calibri" pitchFamily="34" charset="-122"/>
                <a:cs typeface="Calibri" pitchFamily="34" charset="-120"/>
              </a:rPr>
              <a:t>  pl. خُطُوَاتٌ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المُحْتَمَلِ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likely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أَنْوِي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intend to</a:t>
            </a:r>
            <a:pPr indent="0" marL="0">
              <a:buNone/>
            </a:pPr>
            <a:r>
              <a:rPr lang="en-US" sz="1000" i="1" dirty="0">
                <a:solidFill>
                  <a:srgbClr val="5A6472"/>
                </a:solidFill>
                <a:latin typeface="Calibri" pitchFamily="34" charset="0"/>
                <a:ea typeface="Calibri" pitchFamily="34" charset="-122"/>
                <a:cs typeface="Calibri" pitchFamily="34" charset="-120"/>
              </a:rPr>
              <a:t>  يَنْوِي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three steps of your own career route (just notes).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الخُطْوَةُ الأُولَى: … · الثَّانِيَةُ: … · الثَّالِثَةُ: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advert words (</a:t>
            </a:r>
            <a:pPr algn="l" indent="0" marL="0">
              <a:buNone/>
            </a:pPr>
            <a:r>
              <a:rPr lang="ar-SA" altLang="en-US" sz="1550" dirty="0">
                <a:solidFill>
                  <a:srgbClr val="1F2A37"/>
                </a:solidFill>
                <a:latin typeface="Amiri" pitchFamily="34" charset="0"/>
                <a:ea typeface="Amiri" pitchFamily="34" charset="-122"/>
                <a:cs typeface="Amiri" pitchFamily="34" charset="-120"/>
              </a:rPr>
              <a:t>يُشْتَرَطُ، يُطْلَبُ، يُفَضَّلُ</a:t>
            </a:r>
            <a:pPr algn="l" indent="0" marL="0">
              <a:buNone/>
            </a:pPr>
            <a:r>
              <a:rPr lang="en-US" sz="1200" dirty="0">
                <a:solidFill>
                  <a:srgbClr val="1F2A37"/>
                </a:solidFill>
                <a:latin typeface="Calibri" pitchFamily="34" charset="0"/>
                <a:ea typeface="Calibri" pitchFamily="34" charset="-122"/>
                <a:cs typeface="Calibri" pitchFamily="34" charset="-120"/>
              </a:rPr>
              <a:t>);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Reply to the Al-Nour advert in 80–100 words, quoting two requirements.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respond to a job advert using its exact requirements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D3-L09 · Writing — Career Plans Article or Email</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مَقَالٌ أَوْ رِسَالَةٌ عَنِ الخُطَطِ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required ≠ preferred — link every pronoun to its LOGICAL noun — prove every inference.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D3-L08 · Reading — Jobs and Career Texts</dc:title>
  <dc:subject>PptxGenJS Presentation</dc:subject>
  <dc:creator>Al Madina Online School · Arabic Department</dc:creator>
  <cp:lastModifiedBy>Al Madina Online School · Arabic Department</cp:lastModifiedBy>
  <cp:revision>1</cp:revision>
  <dcterms:created xsi:type="dcterms:W3CDTF">2026-10-03T05:26:43Z</dcterms:created>
  <dcterms:modified xsi:type="dcterms:W3CDTF">2026-10-03T05:26:43Z</dcterms:modified>
</cp:coreProperties>
</file>