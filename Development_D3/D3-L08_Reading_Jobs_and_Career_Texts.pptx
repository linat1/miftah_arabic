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D3 Work and Careers › D3-L08. The website lesson “Reading — Jobs and Career Texts”: vocabulary, grammar rules and quiz, patterns, common mistakes, sorter, listening, reading, speaking prompts and model, writing task and model, differentiation, final check and the lesson mission. Picture match: website visual game “Reading — Jobs and Career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READING-SKILLS lesson: the website’s three short texts (an advert, a message, an article) are the main You Do task.
• Core: the advert words (يُشْتَرَطُ = is required, يُفَضَّلُ = is preferred) and questions 1–3. Develop: reference tracking (الَّذِي / الَّتِي, ـهَا) and all 6 questions. Stretch: an inference with evidence (يَدُلُّ هٰذَا عَلَى أَنَّ …) and the written reply to an advert.
• Reading routine on every text: (1) What TYPE of text is it? (2) Underline the requirement words. (3) Circle every pronoun and draw an arrow to its noun.
• Builds on D3-L02 (الَّذِي / الَّتِي) and D3-L06 (applications).
• TEACHER-WRITTEN ITEMS: on the website this lesson’s mission, sorter, mistakes, grammar, final, listening,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D3-L07. Questions 3–4 retrieve D3-L02 and D3-L06; question 5 previews today’s pronoun reference.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Don’t just find a word — find WHO or WHAT it refers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شرط (condition — also “a bet” in Urdu) → يُشْتَرَطُ (it is made a condition = required). اعلان، مقالہ، دلیل are shared. خبیر appears in Urdu religious language (اللہ خبیر ہے); everyday Urdu says ماہر for an expert.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Job adverts (website vocabulary (1 of 2)). Hear → Say → See → Use. Transliteration is printed for Core students (cover it for Develop/Stretch).
FLEX: teach if time allows; otherwise these are on the website vocabulary tab for homework.
Application words (FLEX): review from D3-L06 — you will meet them in all three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Job adverts (website vocabulary (2 of 2)). Hear → Say → See → Use. Transliteration is printed for Core students (cover it for Develop/Stretch).
FLEX: teach if time allows; otherwise these are on the website vocabulary tab for homework.
Application words (FLEX): review from D3-L06 — you will meet them in all three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Requirements (website vocabulary (1 of 2)). Hear → Say → See → Use. Transliteration is printed for Core students (cover it for Develop/Stretch).
Requirements: these are what an advert asks for. In adverts they come after يُشْتَرَطُ / يُطْلَبُ / يُفَضَّلُ.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Requirements (website vocabulary (2 of 2)). Hear → Say → See → Use. Transliteration is printed for Core students (cover it for Develop/Stretch).
Requirements: these are what an advert asks for. In adverts they come after يُشْتَرَطُ / يُطْلَبُ / يُفَضَّلُ.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Reading signals (website vocabulary (1 of 2)). Hear → Say → See → Use. Transliteration is printed for Core students (cover it for Develop/Stretch).
FLEX: teach if time allows; otherwise these are on the website vocabulary tab for homework.
Reading signals (FLEX): لٰكِنَّ, لِذٰلِكَ and نَتِيجَةً لِذٰلِكَ often hide the answer to a “why”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Reading signals (website vocabulary (2 of 2)). Hear → Say → See → Use. Transliteration is printed for Core students (cover it for Develop/Stretch).
FLEX: teach if time allows; otherwise these are on the website vocabulary tab for homework.
Reading signals (FLEX): لٰكِنَّ, لِذٰلِكَ and نَتِيجَةً لِذٰلِكَ often hide the answer to a “why”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“Required passive” (يُشْتَرَطُ / يُطْلَبُ + اسْمٌ: passive forms are common in adverts and formal texts). Website examples: يُشْتَرَطُ إِجَادَةُ اللُّغَةِ العَرَبِيَّةِ · يُطْلَبُ خِبْرَةٌ سَابِقَةٌ. Rows 3–5 are from the website listening and reading texts.
Exam tip: “required” vs “preferred” is a classic distractor — a preferred quality is NOT a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“Relative reference” (track the noun a relative pronoun refers to), “Pronoun reference” (identify the nearest LOGICAL antecedent, not merely the nearest noun) and “Inference” (an inference must be supported by a specific phrase). Website examples: المُتَقَدِّمُ الَّذِي يَمْلِكُ خِبْرَةً · المَهَارَةُ الَّتِي نَحْتَاجُ إِلَيْهَا · تُقَدِّمُ الشَّرِكَةُ تَدْرِيبًا لِمُوَظَّفِيهَا · أَرْسَلَتْ سَلْمَى سِيرَتَهَا · ذُكِرَتْ سَاعَاتٌ مَرِنَةٌ؛ يَدُلُّ هٰذَا عَلَى أَنَّ …
Why not “the training”? تَدْرِيبٌ is masculine (it would need -hu), and a company has employees, training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“فَكُّ الإِحَالَةِ وَفَهْمُ شُرُوطِ الإِعْلَانِ”
• Required passive: Passive forms are common in adverts and formal texts.
• Relative reference: Track the noun that a relative pronoun refers to.
• Pronoun reference: Identify the nearest logical antecedent, not merely the nearest noun.
• Inference: An inference must be supported by a specific phrase.
Website common error: Do not link a pronoun to the nearest noun automatically — choose the logical one — and do not treat يُفَضَّلُ (preferred) as a requirement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5,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think-aloud on the website reading texts (the advert and the message). Students copy the four-step routine: type → requirement → reference →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Does the advert REQUIRE this from you, or OFFER it to you?
Then underline the signal word: requirements come after يُشْتَرَطُ / يُطْلَبُ; offers after نُقَدِّمُ / تُقَدِّمُ.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Does the advert REQUIRE this from you, or OFFER it to you?
Then underline the signal word: requirements come after يُشْتَرَطُ / يُطْلَبُ; offers after نُقَدِّمُ / تُقَدِّمُ.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4,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6. Develop / Stretch: all 6 — then say which requirement is NOT needed.
Listen 1: just listen. Listen 2: note answers. Then chat the letters.
Support: after the second listening, show the read-along slide (Arabic + English, line by line) for Core students.
SCRIPT (read aloud):
مَرْحَبًا، هٰذِهِ رِسَالَةٌ مِنْ مَرْكَزِ النُّورِ. نَبْحَثُ عَنْ مُسَاعِدٍ لِلْعَمَلِ يَوْمَيِ السَّبْتِ وَالأَحَدِ مِنَ العَاشِرَةِ إِلَى الرَّابِعَةِ. يُشْتَرَطُ أَنْ يَكُونَ المُتَقَدِّمُ مُنَظَّمًا وَأَنْ يُجِيدَ اسْتِخْدَامَ الحَاسُوبِ. لَا تُشْتَرَطُ الخِبْرَةُ، لِأَنَّنَا نُقَدِّمُ تَدْرِيبًا فِي الأُسْبُوعِ الأَوَّلِ. أَرْسِلُوا السِّيرَةَ الذَّاتِيَّةَ قَبْلَ يَوْمِ الخَمِيسِ.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READING (main task): the website’s three career texts (an advert, a message, an article). First read: label each text type. Second read: underline requirement words and circle every pronoun.
Core: questions 1–3. Develop: all 6. Stretch: then the reply to the advert.
(Questions are teacher-written: the website questions for these texts are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هَلْ حُبُّ القِرَاءَةِ شَرْطٌ؟ (Is loving reading a condition?)
B: لَا، لِأَنَّ الإِعْلَانَ يَقُولُ «يُفَضَّلُ»، وَلَيْسَ «يُشْتَرَطُ». (No, because the advert says “is preferred”, not “is required”.)
Teacher-written prompts and model (the website prompts are generic). Students explain HOW they read. Model continues: A: هَلْ حُبُّ القِرَاءَةِ شَرْطٌ؟ B: لَا، لِأَنَّ الإِعْلَانَ يَقُولُ «يُفَضَّلُ»، وَلَيْسَ «يُشْتَرَطُ».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Respond to a job advert, using exact requirements from the text as evidence of your suitability.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Teacher-written model (the website model for this lesson is a placeholder). Evidence: قَرَأْتُ فِي إِعْلَانِكُمْ أَنَّهُ يُشْتَرَطُ … · وَالدَّلِيلُ عَلَى ذٰلِكَ · كَمَا يُشْتَرَطُ … · لَيْسَتْ لَدَيَّ خِبْرَةٌ … وَلٰكِنَّ الإِعْلَانَ يَذْكُرُ … · قَبْلَ يَوْمِ الخَمِيسِ (the deadline from the listening).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(D3-L09 · Writing — Career Plans Article or Email) will spend class time USING this language, so students prepare it tonight — short, simple, easy to access (school guidance: “Simple, Short, Interesting, Relevant, Easy to access”). The five words prepare the website D3-L09 writing lesson (a career-plan article or email).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350" b="1" dirty="0">
                <a:solidFill>
                  <a:srgbClr val="FFFFFF"/>
                </a:solidFill>
                <a:latin typeface="Cambria" pitchFamily="34" charset="0"/>
                <a:cs typeface="Amiri" pitchFamily="2" charset="-78"/>
              </a:rPr>
              <a:t>Reading — Jobs and Career Texts</a:t>
            </a:r>
            <a:endParaRPr lang="en-US" sz="33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القِرَاءَةُ — نُصُوصُ الوَظَائِفِ وَالمَسِيرَةِ المِهَنِيَّةِ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like an examiner: decode advert language (</a:t>
            </a:r>
            <a:pPr algn="l" indent="0" marL="0">
              <a:buNone/>
            </a:pPr>
            <a:r>
              <a:rPr lang="ar-SA" altLang="en-US" sz="1800" dirty="0">
                <a:solidFill>
                  <a:srgbClr val="C6D2E6"/>
                </a:solidFill>
                <a:latin typeface="Amiri" pitchFamily="2" charset="-78"/>
                <a:cs typeface="Amiri" pitchFamily="2" charset="-78"/>
              </a:rPr>
              <a:t>يُشْتَرَطُ</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يُطْلَبُ</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يُفَضَّلُ</a:t>
            </a:r>
            <a:pPr algn="l" indent="0" marL="0">
              <a:buNone/>
            </a:pPr>
            <a:r>
              <a:rPr lang="en-US" sz="1400" dirty="0">
                <a:solidFill>
                  <a:srgbClr val="C6D2E6"/>
                </a:solidFill>
                <a:latin typeface="Calibri" pitchFamily="34" charset="0"/>
                <a:cs typeface="Amiri" pitchFamily="2" charset="-78"/>
              </a:rPr>
              <a:t>), track who “who / which” and “-hā / -hu” refer to, and make an inference you can prove from the text.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D3-L08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Advert language, reference tracking and inference.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requirements / offers, fix reference errors, then a voicemail advert.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D3-L09.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يُشْتَرَطُ</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preferred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required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offered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مَرْجِعٌ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reference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requirement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qualification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الشَّرِكَةُ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أَعْمَلُ فِيهَا كَبِيرَةٌ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الَّذِينَ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formal opening?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أُرِيدُ الوَظِيفَةَ.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جَيِّدٌ.</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يَسُرُّنِي أَنْ أَتَقَدَّمَ لِلوَظِيفَةِ.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سِيرَتُهَا</a:t>
            </a:r>
            <a:pPr algn="l" indent="0" marL="0">
              <a:buNone/>
            </a:pPr>
            <a:r>
              <a:rPr lang="en-US" sz="1250" b="1" dirty="0">
                <a:solidFill>
                  <a:srgbClr val="1B3B6F"/>
                </a:solidFill>
                <a:latin typeface="Calibri" pitchFamily="34" charset="0"/>
                <a:cs typeface="Amiri" pitchFamily="2" charset="-78"/>
              </a:rPr>
              <a:t>, whose CV is it?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mine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يُشْتَرَطُ</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 preferred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is required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 offered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مَرْجِعٌ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reference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requirement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qualification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الشَّرِكَةُ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أَعْمَلُ فِيهَا كَبِيرَةٌ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الَّذِي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الَّذِينَ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الَّتِي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D3-L02: allatī.</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formal opening?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أُرِيدُ الوَظِيفَةَ.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جَيِّدٌ.</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يَسُرُّنِي أَنْ أَتَقَدَّمَ لِلوَظِيفَةِ.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D3-L06.</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سِيرَتُهَا</a:t>
            </a:r>
            <a:pPr algn="l" indent="0" marL="0">
              <a:buNone/>
            </a:pPr>
            <a:r>
              <a:rPr lang="en-US" sz="1250" b="1" dirty="0">
                <a:solidFill>
                  <a:srgbClr val="1B3B6F"/>
                </a:solidFill>
                <a:latin typeface="Calibri" pitchFamily="34" charset="0"/>
                <a:cs typeface="Amiri" pitchFamily="2" charset="-78"/>
              </a:rPr>
              <a:t>, whose CV is it?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hers</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mine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-hā = her.</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Don’t just find a word — find WHO or WHAT it refers to.</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أَرْسَلَتْ </a:t>
            </a:r>
            <a:pPr rtl="1" algn="ctr" indent="0" marL="0">
              <a:lnSpc>
                <a:spcPct val="120000"/>
              </a:lnSpc>
              <a:buNone/>
            </a:pPr>
            <a:r>
              <a:rPr lang="ar-SA" altLang="en-US" sz="1950" b="1" dirty="0">
                <a:solidFill>
                  <a:srgbClr val="D6336C"/>
                </a:solidFill>
                <a:latin typeface="Amiri" pitchFamily="2" charset="-78"/>
                <a:cs typeface="Amiri" pitchFamily="2" charset="-78"/>
              </a:rPr>
              <a:t>سَلْمَى</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D6336C"/>
                </a:solidFill>
                <a:latin typeface="Amiri" pitchFamily="2" charset="-78"/>
                <a:cs typeface="Amiri" pitchFamily="2" charset="-78"/>
              </a:rPr>
              <a:t>سِيرَتَهَا</a:t>
            </a:r>
            <a:pPr rtl="1" algn="ctr" indent="0" marL="0">
              <a:lnSpc>
                <a:spcPct val="120000"/>
              </a:lnSpc>
              <a:buNone/>
            </a:pPr>
            <a:r>
              <a:rPr lang="ar-SA" altLang="en-US" sz="1950" b="1" dirty="0">
                <a:solidFill>
                  <a:srgbClr val="1B3B6F"/>
                </a:solidFill>
                <a:latin typeface="Amiri" pitchFamily="2" charset="-78"/>
                <a:cs typeface="Amiri" pitchFamily="2" charset="-78"/>
              </a:rPr>
              <a:t> · المُتَقَدِّمُ </a:t>
            </a:r>
            <a:pPr rtl="1" algn="ctr" indent="0" marL="0">
              <a:lnSpc>
                <a:spcPct val="120000"/>
              </a:lnSpc>
              <a:buNone/>
            </a:pPr>
            <a:r>
              <a:rPr lang="ar-SA" altLang="en-US" sz="1950" b="1" dirty="0">
                <a:solidFill>
                  <a:srgbClr val="1D5FBF"/>
                </a:solidFill>
                <a:latin typeface="Amiri" pitchFamily="2" charset="-78"/>
                <a:cs typeface="Amiri" pitchFamily="2" charset="-78"/>
              </a:rPr>
              <a:t>الَّذِي</a:t>
            </a:r>
            <a:pPr rtl="1" algn="ctr" indent="0" marL="0">
              <a:lnSpc>
                <a:spcPct val="120000"/>
              </a:lnSpc>
              <a:buNone/>
            </a:pPr>
            <a:r>
              <a:rPr lang="ar-SA" altLang="en-US" sz="1950" b="1" dirty="0">
                <a:solidFill>
                  <a:srgbClr val="1B3B6F"/>
                </a:solidFill>
                <a:latin typeface="Amiri" pitchFamily="2" charset="-78"/>
                <a:cs typeface="Amiri" pitchFamily="2" charset="-78"/>
              </a:rPr>
              <a:t> يَمْلِكُ خِبْرَةً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requirement language in job adverts.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Track what </a:t>
            </a:r>
            <a:pPr algn="l" indent="0" marL="0">
              <a:buNone/>
            </a:pPr>
            <a:r>
              <a:rPr lang="ar-SA" altLang="en-US" sz="1700" dirty="0">
                <a:solidFill>
                  <a:srgbClr val="1F2A37"/>
                </a:solidFill>
                <a:latin typeface="Amiri" pitchFamily="2" charset="-78"/>
                <a:cs typeface="Amiri" pitchFamily="2" charset="-78"/>
              </a:rPr>
              <a:t>الَّذِي / الَّتِي / الَّذِينَ</a:t>
            </a:r>
            <a:pPr algn="l" indent="0" marL="0">
              <a:buNone/>
            </a:pPr>
            <a:r>
              <a:rPr lang="en-US" sz="1300" dirty="0">
                <a:solidFill>
                  <a:srgbClr val="1F2A37"/>
                </a:solidFill>
                <a:latin typeface="Calibri" pitchFamily="34" charset="0"/>
                <a:cs typeface="Amiri" pitchFamily="2" charset="-78"/>
              </a:rPr>
              <a:t> refer to.</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Track attached pronouns (</a:t>
            </a:r>
            <a:pPr algn="l" indent="0" marL="0">
              <a:buNone/>
            </a:pPr>
            <a:r>
              <a:rPr lang="ar-SA" altLang="en-US" sz="1700" dirty="0">
                <a:solidFill>
                  <a:srgbClr val="1F2A37"/>
                </a:solidFill>
                <a:latin typeface="Amiri" pitchFamily="2" charset="-78"/>
                <a:cs typeface="Amiri" pitchFamily="2" charset="-78"/>
              </a:rPr>
              <a:t>ـهُ / ـهَا / ـهُمْ</a:t>
            </a:r>
            <a:pPr algn="l" indent="0" marL="0">
              <a:buNone/>
            </a:pPr>
            <a:r>
              <a:rPr lang="en-US" sz="1300" dirty="0">
                <a:solidFill>
                  <a:srgbClr val="1F2A37"/>
                </a:solidFill>
                <a:latin typeface="Calibri" pitchFamily="34" charset="0"/>
                <a:cs typeface="Amiri" pitchFamily="2" charset="-78"/>
              </a:rPr>
              <a:t>) to the right noun.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an inference supported by a phrase from the text.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the requirements in an advert.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three detail questions.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a pronoun refers to.</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track allaḏī / allatī / allaḏīna.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make an inference with evidence.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reply to an advert using its exact requirements.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Job adverts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Requirements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Reading signals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شَرْطٌ / يُشْتَرَطُ</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‎شرط‎ </a:t>
            </a:r>
            <a:pPr indent="0" marL="0">
              <a:buNone/>
            </a:pPr>
            <a:r>
              <a:rPr lang="en-US" sz="950" b="1" dirty="0">
                <a:solidFill>
                  <a:srgbClr val="2E8B57"/>
                </a:solidFill>
                <a:latin typeface="Calibri" pitchFamily="34" charset="0"/>
                <a:cs typeface="Amiri" pitchFamily="2" charset="-78"/>
              </a:rPr>
              <a:t> shart · condition → is required</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إِعْلَانٌ</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‎اعلان‎ </a:t>
            </a:r>
            <a:pPr indent="0" marL="0">
              <a:buNone/>
            </a:pPr>
            <a:r>
              <a:rPr lang="en-US" sz="950" b="1" dirty="0">
                <a:solidFill>
                  <a:srgbClr val="2E8B57"/>
                </a:solidFill>
                <a:latin typeface="Calibri" pitchFamily="34" charset="0"/>
                <a:cs typeface="Amiri" pitchFamily="2" charset="-78"/>
              </a:rPr>
              <a:t> eʿlān · announcement → advert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مَقَالٌ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‎مقالہ‎ </a:t>
            </a:r>
            <a:pPr indent="0" marL="0">
              <a:buNone/>
            </a:pPr>
            <a:r>
              <a:rPr lang="en-US" sz="950" b="1" dirty="0">
                <a:solidFill>
                  <a:srgbClr val="2E8B57"/>
                </a:solidFill>
                <a:latin typeface="Calibri" pitchFamily="34" charset="0"/>
                <a:cs typeface="Amiri" pitchFamily="2" charset="-78"/>
              </a:rPr>
              <a:t> maqāla · essay, article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دَلِيلٌ / يَدُلُّ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proof → indicates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خَبِيرٌ</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‎خبیر / ماہر‎ </a:t>
            </a:r>
            <a:pPr indent="0" marL="0">
              <a:buNone/>
            </a:pPr>
            <a:r>
              <a:rPr lang="en-US" sz="950" b="1" dirty="0">
                <a:solidFill>
                  <a:srgbClr val="2E8B57"/>
                </a:solidFill>
                <a:latin typeface="Calibri" pitchFamily="34" charset="0"/>
                <a:cs typeface="Amiri" pitchFamily="2" charset="-78"/>
              </a:rPr>
              <a:t> khabīr · expert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Job adverts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سِيرَةٌ ذَاتِيَّةٌ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CV</a:t>
            </a:r>
            <a:endParaRPr lang="en-US" sz="1350" dirty="0"/>
          </a:p>
          <a:p>
            <a:pPr indent="0" marL="0">
              <a:buNone/>
            </a:pPr>
            <a:r>
              <a:rPr lang="en-US" sz="1100" i="1" dirty="0">
                <a:solidFill>
                  <a:srgbClr val="5A6472"/>
                </a:solidFill>
                <a:latin typeface="Calibri" pitchFamily="34" charset="0"/>
                <a:cs typeface="Amiri" pitchFamily="2" charset="-78"/>
              </a:rPr>
              <a:t>sī-ra-tun dhā-tiy-ya-tun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رِسَالَةُ تَغْطِيَةٍ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cover letter</a:t>
            </a:r>
            <a:endParaRPr lang="en-US" sz="1350" dirty="0"/>
          </a:p>
          <a:p>
            <a:pPr indent="0" marL="0">
              <a:buNone/>
            </a:pPr>
            <a:r>
              <a:rPr lang="en-US" sz="1100" i="1" dirty="0">
                <a:solidFill>
                  <a:srgbClr val="5A6472"/>
                </a:solidFill>
                <a:latin typeface="Calibri" pitchFamily="34" charset="0"/>
                <a:cs typeface="Amiri" pitchFamily="2" charset="-78"/>
              </a:rPr>
              <a:t>ri-sā-la-tu tagh-ṭi-ya-tin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طَلَبُ وَظِيفَةٍ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application</a:t>
            </a:r>
            <a:endParaRPr lang="en-US" sz="1350" dirty="0"/>
          </a:p>
          <a:p>
            <a:pPr indent="0" marL="0">
              <a:buNone/>
            </a:pPr>
            <a:r>
              <a:rPr lang="en-US" sz="1100" i="1" dirty="0">
                <a:solidFill>
                  <a:srgbClr val="5A6472"/>
                </a:solidFill>
                <a:latin typeface="Calibri" pitchFamily="34" charset="0"/>
                <a:cs typeface="Amiri" pitchFamily="2" charset="-78"/>
              </a:rPr>
              <a:t>ṭa-la-bu wa-ẓī-fa-tin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إِعْلَانُ وَظِيفَةٍ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advert</a:t>
            </a:r>
            <a:endParaRPr lang="en-US" sz="1350" dirty="0"/>
          </a:p>
          <a:p>
            <a:pPr indent="0" marL="0">
              <a:buNone/>
            </a:pPr>
            <a:r>
              <a:rPr lang="en-US" sz="1100" i="1" dirty="0">
                <a:solidFill>
                  <a:srgbClr val="5A6472"/>
                </a:solidFill>
                <a:latin typeface="Calibri" pitchFamily="34" charset="0"/>
                <a:cs typeface="Amiri" pitchFamily="2" charset="-78"/>
              </a:rPr>
              <a:t>iʿ-lā-nu wa-ẓī-fa-tin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مُقَابَلَةٌ شَخْصِيَّةٌ</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interview</a:t>
            </a:r>
            <a:endParaRPr lang="en-US" sz="1350" dirty="0"/>
          </a:p>
          <a:p>
            <a:pPr indent="0" marL="0">
              <a:buNone/>
            </a:pPr>
            <a:r>
              <a:rPr lang="en-US" sz="1100" i="1" dirty="0">
                <a:solidFill>
                  <a:srgbClr val="5A6472"/>
                </a:solidFill>
                <a:latin typeface="Calibri" pitchFamily="34" charset="0"/>
                <a:cs typeface="Amiri" pitchFamily="2" charset="-78"/>
              </a:rPr>
              <a:t>mu-qā-ba-la-tun shakh-ṣiy-ya-tun</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مَرْجِعٌ / تَزْكِيَةٌ</a:t>
            </a:r>
            <a:endParaRPr lang="ar-SA" sz="30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reference</a:t>
            </a:r>
            <a:endParaRPr lang="en-US" sz="1350" dirty="0"/>
          </a:p>
          <a:p>
            <a:pPr indent="0" marL="0">
              <a:buNone/>
            </a:pPr>
            <a:r>
              <a:rPr lang="en-US" sz="1100" i="1" dirty="0">
                <a:solidFill>
                  <a:srgbClr val="5A6472"/>
                </a:solidFill>
                <a:latin typeface="Calibri" pitchFamily="34" charset="0"/>
                <a:cs typeface="Amiri" pitchFamily="2" charset="-78"/>
              </a:rPr>
              <a:t>mar-ji-ʿun / taz-ki-ya-tun</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Job adverts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خِبْرَةٌ سَابِقَةٌ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previous experience</a:t>
            </a:r>
            <a:endParaRPr lang="en-US" sz="1350" dirty="0"/>
          </a:p>
          <a:p>
            <a:pPr indent="0" marL="0">
              <a:buNone/>
            </a:pPr>
            <a:r>
              <a:rPr lang="en-US" sz="1100" i="1" dirty="0">
                <a:solidFill>
                  <a:srgbClr val="5A6472"/>
                </a:solidFill>
                <a:latin typeface="Calibri" pitchFamily="34" charset="0"/>
                <a:cs typeface="Amiri" pitchFamily="2" charset="-78"/>
              </a:rPr>
              <a:t>khib-ra-tun sā-bi-qa-tun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مُتَطَلَّبَاتُ الوَظِيفَةِ</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requirements</a:t>
            </a:r>
            <a:endParaRPr lang="en-US" sz="1350" dirty="0"/>
          </a:p>
          <a:p>
            <a:pPr indent="0" marL="0">
              <a:buNone/>
            </a:pPr>
            <a:r>
              <a:rPr lang="en-US" sz="1100" i="1" dirty="0">
                <a:solidFill>
                  <a:srgbClr val="5A6472"/>
                </a:solidFill>
                <a:latin typeface="Calibri" pitchFamily="34" charset="0"/>
                <a:cs typeface="Amiri" pitchFamily="2" charset="-78"/>
              </a:rPr>
              <a:t>mu-ta-ṭal-la-bā-tu al-wa-ẓī-fa-ti</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نُقْطَةُ قُوَّةٍ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strength</a:t>
            </a:r>
            <a:endParaRPr lang="en-US" sz="1350" dirty="0"/>
          </a:p>
          <a:p>
            <a:pPr indent="0" marL="0">
              <a:buNone/>
            </a:pPr>
            <a:r>
              <a:rPr lang="en-US" sz="1100" i="1" dirty="0">
                <a:solidFill>
                  <a:srgbClr val="5A6472"/>
                </a:solidFill>
                <a:latin typeface="Calibri" pitchFamily="34" charset="0"/>
                <a:cs typeface="Amiri" pitchFamily="2" charset="-78"/>
              </a:rPr>
              <a:t>nuq-ṭa-tu quw-wa-tin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نُقْطَةُ ضَعْفٍ</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weakness</a:t>
            </a:r>
            <a:endParaRPr lang="en-US" sz="1350" dirty="0"/>
          </a:p>
          <a:p>
            <a:pPr indent="0" marL="0">
              <a:buNone/>
            </a:pPr>
            <a:r>
              <a:rPr lang="en-US" sz="1100" i="1" dirty="0">
                <a:solidFill>
                  <a:srgbClr val="5A6472"/>
                </a:solidFill>
                <a:latin typeface="Calibri" pitchFamily="34" charset="0"/>
                <a:cs typeface="Amiri" pitchFamily="2" charset="-78"/>
              </a:rPr>
              <a:t>nuq-ṭa-tu ḍaʿ-fin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أَنَا مُنَاسِبٌ لِهٰذِهِ الوَظِيفَةِ</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suitable for this job</a:t>
            </a:r>
            <a:endParaRPr lang="en-US" sz="1350" dirty="0"/>
          </a:p>
          <a:p>
            <a:pPr indent="0" marL="0">
              <a:buNone/>
            </a:pPr>
            <a:r>
              <a:rPr lang="en-US" sz="1100" i="1" dirty="0">
                <a:solidFill>
                  <a:srgbClr val="5A6472"/>
                </a:solidFill>
                <a:latin typeface="Calibri" pitchFamily="34" charset="0"/>
                <a:cs typeface="Amiri" pitchFamily="2" charset="-78"/>
              </a:rPr>
              <a:t>a-nā mu-nā-si-bun li-hā-dhi-hi al-wa-ẓī-fa-ti</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يَسُرُّنِي أَنْ أَتَقَدَّمَ</a:t>
            </a:r>
            <a:endParaRPr lang="ar-SA" sz="30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pleased to apply</a:t>
            </a:r>
            <a:endParaRPr lang="en-US" sz="1350" dirty="0"/>
          </a:p>
          <a:p>
            <a:pPr indent="0" marL="0">
              <a:buNone/>
            </a:pPr>
            <a:r>
              <a:rPr lang="en-US" sz="1100" i="1" dirty="0">
                <a:solidFill>
                  <a:srgbClr val="5A6472"/>
                </a:solidFill>
                <a:latin typeface="Calibri" pitchFamily="34" charset="0"/>
                <a:cs typeface="Amiri" pitchFamily="2" charset="-78"/>
              </a:rPr>
              <a:t>ya-sur-ru-nī an a-ta-qad-da-ma</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Requirements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مَهَارَةُ التَّوَاصُلِ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communication skill</a:t>
            </a:r>
            <a:endParaRPr lang="en-US" sz="1350" dirty="0"/>
          </a:p>
          <a:p>
            <a:pPr indent="0" marL="0">
              <a:buNone/>
            </a:pPr>
            <a:r>
              <a:rPr lang="en-US" sz="1100" i="1" dirty="0">
                <a:solidFill>
                  <a:srgbClr val="5A6472"/>
                </a:solidFill>
                <a:latin typeface="Calibri" pitchFamily="34" charset="0"/>
                <a:cs typeface="Amiri" pitchFamily="2" charset="-78"/>
              </a:rPr>
              <a:t>ma-hā-ra-tu at-ta-wā-ṣu-li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حَلُّ المُشْكِلَاتِ</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problem solving</a:t>
            </a:r>
            <a:endParaRPr lang="en-US" sz="1350" dirty="0"/>
          </a:p>
          <a:p>
            <a:pPr indent="0" marL="0">
              <a:buNone/>
            </a:pPr>
            <a:r>
              <a:rPr lang="en-US" sz="1100" i="1" dirty="0">
                <a:solidFill>
                  <a:srgbClr val="5A6472"/>
                </a:solidFill>
                <a:latin typeface="Calibri" pitchFamily="34" charset="0"/>
                <a:cs typeface="Amiri" pitchFamily="2" charset="-78"/>
              </a:rPr>
              <a:t>ḥal-lu al-mush-ki-lā-ti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العَمَلُ الجَمَاعِيُّ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teamwork</a:t>
            </a:r>
            <a:endParaRPr lang="en-US" sz="1350" dirty="0"/>
          </a:p>
          <a:p>
            <a:pPr indent="0" marL="0">
              <a:buNone/>
            </a:pPr>
            <a:r>
              <a:rPr lang="en-US" sz="1100" i="1" dirty="0">
                <a:solidFill>
                  <a:srgbClr val="5A6472"/>
                </a:solidFill>
                <a:latin typeface="Calibri" pitchFamily="34" charset="0"/>
                <a:cs typeface="Amiri" pitchFamily="2" charset="-78"/>
              </a:rPr>
              <a:t>al-ʿa-ma-lu al-ja-mā-ʿiy-yu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إِدَارَةُ الوَقْتِ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management</a:t>
            </a:r>
            <a:endParaRPr lang="en-US" sz="1350" dirty="0"/>
          </a:p>
          <a:p>
            <a:pPr indent="0" marL="0">
              <a:buNone/>
            </a:pPr>
            <a:r>
              <a:rPr lang="en-US" sz="1100" i="1" dirty="0">
                <a:solidFill>
                  <a:srgbClr val="5A6472"/>
                </a:solidFill>
                <a:latin typeface="Calibri" pitchFamily="34" charset="0"/>
                <a:cs typeface="Amiri" pitchFamily="2" charset="-78"/>
              </a:rPr>
              <a:t>i-dā-ra-tu al-waq-ti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الإِبْدَاعُ</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creativity</a:t>
            </a:r>
            <a:endParaRPr lang="en-US" sz="1350" dirty="0"/>
          </a:p>
          <a:p>
            <a:pPr indent="0" marL="0">
              <a:buNone/>
            </a:pPr>
            <a:r>
              <a:rPr lang="en-US" sz="1100" i="1" dirty="0">
                <a:solidFill>
                  <a:srgbClr val="5A6472"/>
                </a:solidFill>
                <a:latin typeface="Calibri" pitchFamily="34" charset="0"/>
                <a:cs typeface="Amiri" pitchFamily="2" charset="-78"/>
              </a:rPr>
              <a:t>al-ib-dā-ʿu</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الدِّقَّةُ</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Requirements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المَرُونَةُ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adaptability</a:t>
            </a:r>
            <a:endParaRPr lang="en-US" sz="1350" dirty="0"/>
          </a:p>
          <a:p>
            <a:pPr indent="0" marL="0">
              <a:buNone/>
            </a:pPr>
            <a:r>
              <a:rPr lang="en-US" sz="1100" i="1" dirty="0">
                <a:solidFill>
                  <a:srgbClr val="5A6472"/>
                </a:solidFill>
                <a:latin typeface="Calibri" pitchFamily="34" charset="0"/>
                <a:cs typeface="Amiri" pitchFamily="2" charset="-78"/>
              </a:rPr>
              <a:t>al-ma-rū-na-tu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القِيَادَةُ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leadership</a:t>
            </a:r>
            <a:endParaRPr lang="en-US" sz="1350" dirty="0"/>
          </a:p>
          <a:p>
            <a:pPr indent="0" marL="0">
              <a:buNone/>
            </a:pPr>
            <a:r>
              <a:rPr lang="en-US" sz="1100" i="1" dirty="0">
                <a:solidFill>
                  <a:srgbClr val="5A6472"/>
                </a:solidFill>
                <a:latin typeface="Calibri" pitchFamily="34" charset="0"/>
                <a:cs typeface="Amiri" pitchFamily="2" charset="-78"/>
              </a:rPr>
              <a:t>al-qi-yā-da-tu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الخِبْرَةُ</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experience</a:t>
            </a:r>
            <a:endParaRPr lang="en-US" sz="1350" dirty="0"/>
          </a:p>
          <a:p>
            <a:pPr indent="0" marL="0">
              <a:buNone/>
            </a:pPr>
            <a:r>
              <a:rPr lang="en-US" sz="1100" i="1" dirty="0">
                <a:solidFill>
                  <a:srgbClr val="5A6472"/>
                </a:solidFill>
                <a:latin typeface="Calibri" pitchFamily="34" charset="0"/>
                <a:cs typeface="Amiri" pitchFamily="2" charset="-78"/>
              </a:rPr>
              <a:t>al-khib-ra-tu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3" name="Shape 3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المُؤَهِّلَاتُ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qualifications</a:t>
            </a:r>
            <a:endParaRPr lang="en-US" sz="1350" dirty="0"/>
          </a:p>
          <a:p>
            <a:pPr indent="0" marL="0">
              <a:buNone/>
            </a:pPr>
            <a:r>
              <a:rPr lang="en-US" sz="1100" i="1" dirty="0">
                <a:solidFill>
                  <a:srgbClr val="5A6472"/>
                </a:solidFill>
                <a:latin typeface="Calibri" pitchFamily="34" charset="0"/>
                <a:cs typeface="Amiri" pitchFamily="2" charset="-78"/>
              </a:rPr>
              <a:t>al-mu-ʾah-hi-lā-tu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Shape 3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إِجَادَةُ اللُّغَاتِ</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 proficiency</a:t>
            </a:r>
            <a:endParaRPr lang="en-US" sz="1350" dirty="0"/>
          </a:p>
          <a:p>
            <a:pPr indent="0" marL="0">
              <a:buNone/>
            </a:pPr>
            <a:r>
              <a:rPr lang="en-US" sz="1100" i="1" dirty="0">
                <a:solidFill>
                  <a:srgbClr val="5A6472"/>
                </a:solidFill>
                <a:latin typeface="Calibri" pitchFamily="34" charset="0"/>
                <a:cs typeface="Amiri" pitchFamily="2" charset="-78"/>
              </a:rPr>
              <a:t>i-jā-da-tu all-lu-ghā-ti</a:t>
            </a:r>
            <a:endParaRPr lang="en-US" sz="1350" dirty="0"/>
          </a:p>
        </p:txBody>
      </p:sp>
      <p:sp>
        <p:nvSpPr>
          <p:cNvPr id="44" name="Shape 4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66928"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7" name="Shape 4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مَهَارَاتُ الحَاسُوبِ</a:t>
            </a:r>
            <a:endParaRPr lang="ar-SA" sz="30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 skills</a:t>
            </a:r>
            <a:endParaRPr lang="en-US" sz="1350" dirty="0"/>
          </a:p>
          <a:p>
            <a:pPr indent="0" marL="0">
              <a:buNone/>
            </a:pPr>
            <a:r>
              <a:rPr lang="en-US" sz="1100" i="1" dirty="0">
                <a:solidFill>
                  <a:srgbClr val="5A6472"/>
                </a:solidFill>
                <a:latin typeface="Calibri" pitchFamily="34" charset="0"/>
                <a:cs typeface="Amiri" pitchFamily="2" charset="-78"/>
              </a:rPr>
              <a:t>ma-hā-rā-tu al-ḥā-sū-bi</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signals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وَلٰكِنَّ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بَيْنَمَا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الرَّغْمِ مِنْ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إِضَافَةً إِلَى ذٰلِكَ</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i-ḍā-fa-tan i-lā dhā-li-ka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signals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جِهَةٍ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جِهَةٍ أُخْرَى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رَأْيِي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سَبِيلِ المِثَالِ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نَتِيجَةً لِذٰلِكَ</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بِهَدَفِ</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the aim of</a:t>
            </a:r>
            <a:endParaRPr lang="en-US" sz="1350" dirty="0"/>
          </a:p>
          <a:p>
            <a:pPr indent="0" marL="0">
              <a:buNone/>
            </a:pPr>
            <a:r>
              <a:rPr lang="en-US" sz="1100" i="1" dirty="0">
                <a:solidFill>
                  <a:srgbClr val="5A6472"/>
                </a:solidFill>
                <a:latin typeface="Calibri" pitchFamily="34" charset="0"/>
                <a:cs typeface="Amiri" pitchFamily="2" charset="-78"/>
              </a:rPr>
              <a:t>bi-ha-da-fi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ADVERT LANGUAGE (WEBSITE RULE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does the advert ask for?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يُشْتَرَطُ · يُطْلَبُ · يُفَضَّلُ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Strength</a:t>
            </a:r>
            <a:endParaRPr lang="en-US" sz="1100" dirty="0"/>
          </a:p>
        </p:txBody>
      </p:sp>
      <p:sp>
        <p:nvSpPr>
          <p:cNvPr id="17" name="Text 14"/>
          <p:cNvSpPr txBox="1"/>
          <p:nvPr/>
        </p:nvSpPr>
        <p:spPr>
          <a:xfrm>
            <a:off x="638251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5705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Advert phrase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must have</a:t>
            </a:r>
            <a:endParaRPr lang="en-US" sz="1100" dirty="0"/>
          </a:p>
        </p:txBody>
      </p:sp>
      <p:sp>
        <p:nvSpPr>
          <p:cNvPr id="21" name="Text 18"/>
          <p:cNvSpPr txBox="1"/>
          <p:nvPr/>
        </p:nvSpPr>
        <p:spPr>
          <a:xfrm>
            <a:off x="641908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required</a:t>
            </a:r>
            <a:endParaRPr lang="en-US" sz="1100" dirty="0"/>
          </a:p>
        </p:txBody>
      </p:sp>
      <p:sp>
        <p:nvSpPr>
          <p:cNvPr id="22" name="Text 19"/>
          <p:cNvSpPr txBox="1"/>
          <p:nvPr/>
        </p:nvSpPr>
        <p:spPr>
          <a:xfrm>
            <a:off x="548640" y="2286000"/>
            <a:ext cx="566928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يُشْتَرَطُ</a:t>
            </a:r>
            <a:pPr rtl="1" algn="ctr" indent="0" marL="0">
              <a:buNone/>
            </a:pPr>
            <a:r>
              <a:rPr lang="ar-SA" altLang="en-US" sz="1950" b="1" dirty="0">
                <a:solidFill>
                  <a:srgbClr val="1B3B6F"/>
                </a:solidFill>
                <a:latin typeface="Amiri" pitchFamily="2" charset="-78"/>
                <a:cs typeface="Amiri" pitchFamily="2" charset="-78"/>
              </a:rPr>
              <a:t> إِجَادَةُ اللُّغَةِ العَرَبِيَّةِ.</a:t>
            </a:r>
            <a:endParaRPr lang="ar-SA" sz="1950" dirty="0"/>
          </a:p>
        </p:txBody>
      </p:sp>
      <p:sp>
        <p:nvSpPr>
          <p:cNvPr id="23" name="Text 20"/>
          <p:cNvSpPr txBox="1"/>
          <p:nvPr/>
        </p:nvSpPr>
        <p:spPr>
          <a:xfrm>
            <a:off x="502920" y="2676997"/>
            <a:ext cx="57607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Fluent Arabic is required.</a:t>
            </a:r>
            <a:endParaRPr lang="en-US" sz="95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must have</a:t>
            </a:r>
            <a:endParaRPr lang="en-US" sz="1100" dirty="0"/>
          </a:p>
        </p:txBody>
      </p:sp>
      <p:sp>
        <p:nvSpPr>
          <p:cNvPr id="28" name="Text 25"/>
          <p:cNvSpPr txBox="1"/>
          <p:nvPr/>
        </p:nvSpPr>
        <p:spPr>
          <a:xfrm>
            <a:off x="6419088" y="300471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requested</a:t>
            </a:r>
            <a:endParaRPr lang="en-US" sz="1100" dirty="0"/>
          </a:p>
        </p:txBody>
      </p:sp>
      <p:sp>
        <p:nvSpPr>
          <p:cNvPr id="29" name="Text 26"/>
          <p:cNvSpPr txBox="1"/>
          <p:nvPr/>
        </p:nvSpPr>
        <p:spPr>
          <a:xfrm>
            <a:off x="548640" y="3023006"/>
            <a:ext cx="566928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يُطْلَبُ</a:t>
            </a:r>
            <a:pPr rtl="1" algn="ctr" indent="0" marL="0">
              <a:buNone/>
            </a:pPr>
            <a:r>
              <a:rPr lang="ar-SA" altLang="en-US" sz="1950" b="1" dirty="0">
                <a:solidFill>
                  <a:srgbClr val="1B3B6F"/>
                </a:solidFill>
                <a:latin typeface="Amiri" pitchFamily="2" charset="-78"/>
                <a:cs typeface="Amiri" pitchFamily="2" charset="-78"/>
              </a:rPr>
              <a:t> خِبْرَةٌ سَابِقَةٌ.</a:t>
            </a:r>
            <a:endParaRPr lang="ar-SA" sz="1950" dirty="0"/>
          </a:p>
        </p:txBody>
      </p:sp>
      <p:sp>
        <p:nvSpPr>
          <p:cNvPr id="30" name="Text 27"/>
          <p:cNvSpPr txBox="1"/>
          <p:nvPr/>
        </p:nvSpPr>
        <p:spPr>
          <a:xfrm>
            <a:off x="502920" y="3414004"/>
            <a:ext cx="57607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Previous experience is requested.</a:t>
            </a:r>
            <a:endParaRPr lang="en-US" sz="95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nice to have</a:t>
            </a:r>
            <a:endParaRPr lang="en-US" sz="1100" dirty="0"/>
          </a:p>
        </p:txBody>
      </p:sp>
      <p:sp>
        <p:nvSpPr>
          <p:cNvPr id="35" name="Text 32"/>
          <p:cNvSpPr txBox="1"/>
          <p:nvPr/>
        </p:nvSpPr>
        <p:spPr>
          <a:xfrm>
            <a:off x="6419088" y="3741725"/>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preferred</a:t>
            </a:r>
            <a:endParaRPr lang="en-US" sz="1100" dirty="0"/>
          </a:p>
        </p:txBody>
      </p:sp>
      <p:sp>
        <p:nvSpPr>
          <p:cNvPr id="36" name="Text 33"/>
          <p:cNvSpPr txBox="1"/>
          <p:nvPr/>
        </p:nvSpPr>
        <p:spPr>
          <a:xfrm>
            <a:off x="548640" y="3760013"/>
            <a:ext cx="566928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cs typeface="Amiri" pitchFamily="2" charset="-78"/>
              </a:rPr>
              <a:t>يُفَضَّلُ</a:t>
            </a:r>
            <a:pPr rtl="1" algn="ctr" indent="0" marL="0">
              <a:buNone/>
            </a:pPr>
            <a:r>
              <a:rPr lang="ar-SA" altLang="en-US" sz="1950" b="1" dirty="0">
                <a:solidFill>
                  <a:srgbClr val="1B3B6F"/>
                </a:solidFill>
                <a:latin typeface="Amiri" pitchFamily="2" charset="-78"/>
                <a:cs typeface="Amiri" pitchFamily="2" charset="-78"/>
              </a:rPr>
              <a:t> المُتَقَدِّمُ الَّذِي يُحِبُّ القِرَاءَةَ.</a:t>
            </a:r>
            <a:endParaRPr lang="ar-SA" sz="1950" dirty="0"/>
          </a:p>
        </p:txBody>
      </p:sp>
      <p:sp>
        <p:nvSpPr>
          <p:cNvPr id="37" name="Text 34"/>
          <p:cNvSpPr txBox="1"/>
          <p:nvPr/>
        </p:nvSpPr>
        <p:spPr>
          <a:xfrm>
            <a:off x="502920" y="4151010"/>
            <a:ext cx="57607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 applicant who loves reading is preferred.</a:t>
            </a:r>
            <a:endParaRPr lang="en-US" sz="95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 needed</a:t>
            </a:r>
            <a:endParaRPr lang="en-US" sz="1100" dirty="0"/>
          </a:p>
        </p:txBody>
      </p:sp>
      <p:sp>
        <p:nvSpPr>
          <p:cNvPr id="42" name="Text 39"/>
          <p:cNvSpPr txBox="1"/>
          <p:nvPr/>
        </p:nvSpPr>
        <p:spPr>
          <a:xfrm>
            <a:off x="6419088" y="4478731"/>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 required</a:t>
            </a:r>
            <a:endParaRPr lang="en-US" sz="1100" dirty="0"/>
          </a:p>
        </p:txBody>
      </p:sp>
      <p:sp>
        <p:nvSpPr>
          <p:cNvPr id="43" name="Text 40"/>
          <p:cNvSpPr txBox="1"/>
          <p:nvPr/>
        </p:nvSpPr>
        <p:spPr>
          <a:xfrm>
            <a:off x="548640" y="4497019"/>
            <a:ext cx="566928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cs typeface="Amiri" pitchFamily="2" charset="-78"/>
              </a:rPr>
              <a:t>لَا تُشْتَرَطُ</a:t>
            </a:r>
            <a:pPr rtl="1" algn="ctr" indent="0" marL="0">
              <a:buNone/>
            </a:pPr>
            <a:r>
              <a:rPr lang="ar-SA" altLang="en-US" sz="1950" b="1" dirty="0">
                <a:solidFill>
                  <a:srgbClr val="1B3B6F"/>
                </a:solidFill>
                <a:latin typeface="Amiri" pitchFamily="2" charset="-78"/>
                <a:cs typeface="Amiri" pitchFamily="2" charset="-78"/>
              </a:rPr>
              <a:t> الخِبْرَةُ.</a:t>
            </a:r>
            <a:endParaRPr lang="ar-SA" sz="1950" dirty="0"/>
          </a:p>
        </p:txBody>
      </p:sp>
      <p:sp>
        <p:nvSpPr>
          <p:cNvPr id="44" name="Text 41"/>
          <p:cNvSpPr txBox="1"/>
          <p:nvPr/>
        </p:nvSpPr>
        <p:spPr>
          <a:xfrm>
            <a:off x="502920" y="4888017"/>
            <a:ext cx="57607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Experience is not required.</a:t>
            </a:r>
            <a:endParaRPr lang="en-US" sz="95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D3-L03</a:t>
            </a:r>
            <a:endParaRPr lang="en-US" sz="1100" dirty="0"/>
          </a:p>
        </p:txBody>
      </p:sp>
      <p:sp>
        <p:nvSpPr>
          <p:cNvPr id="47" name="Text 44"/>
          <p:cNvSpPr txBox="1"/>
          <p:nvPr/>
        </p:nvSpPr>
        <p:spPr>
          <a:xfrm>
            <a:off x="6419088" y="521573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must be + -an</a:t>
            </a:r>
            <a:endParaRPr lang="en-US" sz="1100" dirty="0"/>
          </a:p>
        </p:txBody>
      </p:sp>
      <p:sp>
        <p:nvSpPr>
          <p:cNvPr id="48" name="Text 45"/>
          <p:cNvSpPr txBox="1"/>
          <p:nvPr/>
        </p:nvSpPr>
        <p:spPr>
          <a:xfrm>
            <a:off x="548640" y="5234026"/>
            <a:ext cx="56692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يُشْتَرَطُ أَنْ يَكُونَ المُتَقَدِّمُ مُنَظَّمًا.</a:t>
            </a:r>
            <a:endParaRPr lang="ar-SA" sz="1950" dirty="0"/>
          </a:p>
        </p:txBody>
      </p:sp>
      <p:sp>
        <p:nvSpPr>
          <p:cNvPr id="49" name="Text 46"/>
          <p:cNvSpPr txBox="1"/>
          <p:nvPr/>
        </p:nvSpPr>
        <p:spPr>
          <a:xfrm>
            <a:off x="502920" y="5625023"/>
            <a:ext cx="57607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applicant must be organised.</a:t>
            </a:r>
            <a:endParaRPr lang="en-US" sz="95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Passive verbs start with yu- and have -a- in the middle: yushtaraṭu, yuṭlabu, yufaḍḍalu = “is …ed”.</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REFERENCE AND INFERENCE (WEBSITE RULES 2–4)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or what? How do you know?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الإِحَالَةُ · الاِسْتِنْتَاجُ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7145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7145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WHO / WHICH · DEVELOP</a:t>
            </a:r>
            <a:endParaRPr lang="en-US" sz="850" dirty="0"/>
          </a:p>
        </p:txBody>
      </p:sp>
      <p:sp>
        <p:nvSpPr>
          <p:cNvPr id="18" name="Text 15"/>
          <p:cNvSpPr txBox="1"/>
          <p:nvPr/>
        </p:nvSpPr>
        <p:spPr>
          <a:xfrm>
            <a:off x="9992868" y="1874520"/>
            <a:ext cx="16017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الَّذِي · الَّتِي · الَّذِينَ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cs typeface="Amiri" pitchFamily="2" charset="-78"/>
              </a:rPr>
              <a:t>المَهَارَةُ الَّتِي نَحْتَاجُ إِلَيْهَا</a:t>
            </a:r>
            <a:endParaRPr lang="ar-SA" sz="27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skill (which) we need</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allatī → the skill (f.).</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PRONOUN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ـهُ · ـهَا · ـهُمْ</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cs typeface="Amiri" pitchFamily="2" charset="-78"/>
              </a:rPr>
              <a:t>تُقَدِّمُ الشَّرِكَةُ تَدْرِيبًا لِمُوَظَّفِيهَا.</a:t>
            </a:r>
            <a:endParaRPr lang="ar-SA" sz="23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company offers training to its employees.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-hā → the company, not the training.</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INFERENCE · STRETCH</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يَدُلُّ هٰذَا عَلَى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ذُكِرَتْ سَاعَاتٌ مَرِنَةٌ؛ يَدُلُّ هٰذَا عَلَى أَنَّ الوَظِيفَةَ قَدْ تُنَاسِبُ الطُّلَّابَ.</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Flexible hours are mentioned; this suggests the job may suit students.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Phrase → conclusion.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The company (f.) has the employees: -hā, not -hu.</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تُقَدِّمُ الشَّرِكَةُ تَدْرِيبًا لِمُوَظَّفِيهَا.</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تُقَدِّمُ الشَّرِكَةُ تَدْرِيبًا لِمُوَظَّفِيهِ.</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reference and requirement language</a:t>
            </a:r>
            <a:endParaRPr lang="en-US" sz="21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فَكُّ الإِحَالَةِ وَفَهْمُ شُرُوطِ الإِعْلَانِ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Required passive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يُشْتَرَطُ / يُطْلَبُ + اسْمٌ</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يُشْتَرَطُ إِجَادَةُ اللُّغَةِ العَرَبِيَّةِ.   ·   يُطْلَبُ خِبْرَةٌ سَابِقَةٌ.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Relative reference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الَّذِي / الَّتِي / الَّذِينَ</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المُتَقَدِّمُ الَّذِي يَمْلِكُ خِبْرَةً   ·   المَهَارَةُ الَّتِي نَحْتَاجُ إِلَيْهَا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Pronoun reference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ـهُ / ـهَا / ـهُمْ</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تُقَدِّمُ الشَّرِكَةُ تَدْرِيبًا لِمُوَظَّفِيهَا.   ·   أَرْسَلَتْ سَلْمَى سِيرَتَهَا.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Inference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يَدُلُّ هٰذَا عَلَى أَنَّ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ذُكِرَتْ سَاعَاتٌ مَرِنَةٌ؛ يَدُلُّ هٰذَا عَلَى أَنَّ الوَظِيفَةَ قَدْ تُنَاسِبُ الطُّلَّابَ.</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يُشْتَرَطُ</a:t>
            </a:r>
            <a:pPr algn="l" indent="0" marL="0">
              <a:buNone/>
            </a:pPr>
            <a:r>
              <a:rPr lang="en-US" sz="1250" b="1" dirty="0">
                <a:solidFill>
                  <a:srgbClr val="1B3B6F"/>
                </a:solidFill>
                <a:latin typeface="Calibri" pitchFamily="34" charset="0"/>
                <a:cs typeface="Amiri" pitchFamily="2" charset="-78"/>
              </a:rPr>
              <a:t> mean in an advert?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preferred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offered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required</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المُتَقَدِّمُ ___ يَمْلِكُ خِبْرَةً.</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الَّذِي</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الَّتِي</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الَّذِينَ</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أَرْسَلَتْ سَلْمَى سِيرَتَهَا</a:t>
            </a:r>
            <a:pPr algn="l" indent="0" marL="0">
              <a:buNone/>
            </a:pPr>
            <a:r>
              <a:rPr lang="en-US" sz="1250" b="1" dirty="0">
                <a:solidFill>
                  <a:srgbClr val="1B3B6F"/>
                </a:solidFill>
                <a:latin typeface="Calibri" pitchFamily="34" charset="0"/>
                <a:cs typeface="Amiri" pitchFamily="2" charset="-78"/>
              </a:rPr>
              <a:t>, who does -hā refer to?</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company</a:t>
            </a:r>
            <a:endParaRPr lang="en-US" sz="12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a:t>
            </a:r>
            <a:endParaRPr lang="en-US" sz="12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CV</a:t>
            </a:r>
            <a:endParaRPr lang="en-US" sz="12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تُقَدِّمُ الشَّرِكَةُ تَدْرِيبًا لِمُوَظَّفِيهَا</a:t>
            </a:r>
            <a:pPr algn="l" indent="0" marL="0">
              <a:buNone/>
            </a:pPr>
            <a:r>
              <a:rPr lang="en-US" sz="1250" b="1" dirty="0">
                <a:solidFill>
                  <a:srgbClr val="1B3B6F"/>
                </a:solidFill>
                <a:latin typeface="Calibri" pitchFamily="34" charset="0"/>
                <a:cs typeface="Amiri" pitchFamily="2" charset="-78"/>
              </a:rPr>
              <a:t>, -hā refers to …</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company</a:t>
            </a:r>
            <a:endParaRPr lang="en-US" sz="12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training</a:t>
            </a:r>
            <a:endParaRPr lang="en-US" sz="12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employees</a:t>
            </a:r>
            <a:endParaRPr lang="en-US" sz="12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يُشْتَرَطُ</a:t>
            </a:r>
            <a:pPr algn="l" indent="0" marL="0">
              <a:buNone/>
            </a:pPr>
            <a:r>
              <a:rPr lang="en-US" sz="1250" b="1" dirty="0">
                <a:solidFill>
                  <a:srgbClr val="1B3B6F"/>
                </a:solidFill>
                <a:latin typeface="Calibri" pitchFamily="34" charset="0"/>
                <a:cs typeface="Amiri" pitchFamily="2" charset="-78"/>
              </a:rPr>
              <a:t> mean in an advert?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 preferred</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 offered</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is required</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shart = condition.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المُتَقَدِّمُ ___ يَمْلِكُ خِبْرَةً.</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الَّذِي</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الَّتِي</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الَّذِينَ</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singular → allaḏī.</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أَرْسَلَتْ سَلْمَى سِيرَتَهَا</a:t>
            </a:r>
            <a:pPr algn="l" indent="0" marL="0">
              <a:buNone/>
            </a:pPr>
            <a:r>
              <a:rPr lang="en-US" sz="1250" b="1" dirty="0">
                <a:solidFill>
                  <a:srgbClr val="1B3B6F"/>
                </a:solidFill>
                <a:latin typeface="Calibri" pitchFamily="34" charset="0"/>
                <a:cs typeface="Amiri" pitchFamily="2" charset="-78"/>
              </a:rPr>
              <a:t>, who does -hā refer to?</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company</a:t>
            </a:r>
            <a:endParaRPr lang="en-US" sz="125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Salma</a:t>
            </a:r>
            <a:endParaRPr lang="en-US" sz="125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CV</a:t>
            </a:r>
            <a:endParaRPr lang="en-US" sz="125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own CV.</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تُقَدِّمُ الشَّرِكَةُ تَدْرِيبًا لِمُوَظَّفِيهَا</a:t>
            </a:r>
            <a:pPr algn="l" indent="0" marL="0">
              <a:buNone/>
            </a:pPr>
            <a:r>
              <a:rPr lang="en-US" sz="1250" b="1" dirty="0">
                <a:solidFill>
                  <a:srgbClr val="1B3B6F"/>
                </a:solidFill>
                <a:latin typeface="Calibri" pitchFamily="34" charset="0"/>
                <a:cs typeface="Amiri" pitchFamily="2" charset="-78"/>
              </a:rPr>
              <a:t>, -hā refers to …</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company</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training</a:t>
            </a:r>
            <a:endParaRPr lang="en-US" sz="125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employees</a:t>
            </a:r>
            <a:endParaRPr lang="en-US" sz="125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company’s employees.</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Watch me read an advert like an examiner</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Text type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cs typeface="Amiri" pitchFamily="2" charset="-78"/>
              </a:rPr>
              <a:t>إِعْلَانٌ: تُعْلِنُ مَكْتَبَةُ المَدِينَةِ …</a:t>
            </a:r>
            <a:endParaRPr lang="ar-SA" sz="1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advert → look for requirements.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Requirement?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cs typeface="Amiri" pitchFamily="2" charset="-78"/>
              </a:rPr>
              <a:t>يُفَضَّلُ</a:t>
            </a:r>
            <a:pPr rtl="1" algn="ctr" indent="0" marL="0">
              <a:lnSpc>
                <a:spcPct val="120000"/>
              </a:lnSpc>
              <a:buNone/>
            </a:pPr>
            <a:r>
              <a:rPr lang="ar-SA" altLang="en-US" sz="1750" b="1" dirty="0">
                <a:solidFill>
                  <a:srgbClr val="1B3B6F"/>
                </a:solidFill>
                <a:latin typeface="Amiri" pitchFamily="2" charset="-78"/>
                <a:cs typeface="Amiri" pitchFamily="2" charset="-78"/>
              </a:rPr>
              <a:t> المُتَقَدِّمُ الَّذِي يُحِبُّ القِرَاءَةَ.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Preferred, NOT required.</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Reference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لِذٰلِكَ </a:t>
            </a:r>
            <a:pPr rtl="1" algn="ctr" indent="0" marL="0">
              <a:buNone/>
            </a:pPr>
            <a:r>
              <a:rPr lang="ar-SA" altLang="en-US" sz="2550" b="1" dirty="0">
                <a:solidFill>
                  <a:srgbClr val="D6336C"/>
                </a:solidFill>
                <a:latin typeface="Amiri" pitchFamily="2" charset="-78"/>
                <a:cs typeface="Amiri" pitchFamily="2" charset="-78"/>
              </a:rPr>
              <a:t>سَأُرْسِلُهَا</a:t>
            </a:r>
            <a:pPr rtl="1" algn="ctr" indent="0" marL="0">
              <a:buNone/>
            </a:pPr>
            <a:r>
              <a:rPr lang="ar-SA" altLang="en-US" sz="2550" b="1" dirty="0">
                <a:solidFill>
                  <a:srgbClr val="1B3B6F"/>
                </a:solidFill>
                <a:latin typeface="Amiri" pitchFamily="2" charset="-78"/>
                <a:cs typeface="Amiri" pitchFamily="2" charset="-78"/>
              </a:rPr>
              <a:t> اليَوْمَ.</a:t>
            </a:r>
            <a:endParaRPr lang="ar-SA" sz="25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-hā = shahādatī, my certificate (f.).</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Inference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يَدُلُّ هٰذَا عَلَى أَنَّ</a:t>
            </a:r>
            <a:pPr rtl="1" algn="ctr" indent="0" marL="0">
              <a:lnSpc>
                <a:spcPct val="120000"/>
              </a:lnSpc>
              <a:buNone/>
            </a:pPr>
            <a:r>
              <a:rPr lang="ar-SA" altLang="en-US" sz="1750" b="1" dirty="0">
                <a:solidFill>
                  <a:srgbClr val="1B3B6F"/>
                </a:solidFill>
                <a:latin typeface="Amiri" pitchFamily="2" charset="-78"/>
                <a:cs typeface="Amiri" pitchFamily="2" charset="-78"/>
              </a:rPr>
              <a:t> المَكْتَبَةَ تَهْتَمُّ بِالزُّوَّارِ.</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Proof: </a:t>
            </a:r>
            <a:pPr algn="l" indent="0" marL="0">
              <a:buNone/>
            </a:pPr>
            <a:r>
              <a:rPr lang="ar-SA" altLang="en-US" sz="1500" dirty="0">
                <a:solidFill>
                  <a:srgbClr val="1F2A37"/>
                </a:solidFill>
                <a:latin typeface="Amiri" pitchFamily="2" charset="-78"/>
                <a:cs typeface="Amiri" pitchFamily="2" charset="-78"/>
              </a:rPr>
              <a:t>يَتَعَامَلُ بِلُطْفٍ</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ADVERT WORD</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REFERENCE</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INFERENCE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النَّصُّ الأَوَّلُ إِعْلَانٌ. </a:t>
            </a:r>
            <a:pPr rtl="1" algn="r" indent="0" marL="0">
              <a:lnSpc>
                <a:spcPct val="120000"/>
              </a:lnSpc>
              <a:buNone/>
            </a:pPr>
            <a:r>
              <a:rPr lang="ar-SA" altLang="en-US" sz="1400" b="1" dirty="0">
                <a:solidFill>
                  <a:srgbClr val="1D5FBF"/>
                </a:solidFill>
                <a:latin typeface="Amiri" pitchFamily="2" charset="-78"/>
                <a:cs typeface="Amiri" pitchFamily="2" charset="-78"/>
              </a:rPr>
              <a:t>يُفَضَّلُ</a:t>
            </a:r>
            <a:pPr rtl="1" algn="r" indent="0" marL="0">
              <a:lnSpc>
                <a:spcPct val="120000"/>
              </a:lnSpc>
              <a:buNone/>
            </a:pPr>
            <a:r>
              <a:rPr lang="ar-SA" altLang="en-US" sz="1400" b="1" dirty="0">
                <a:solidFill>
                  <a:srgbClr val="1B3B6F"/>
                </a:solidFill>
                <a:latin typeface="Amiri" pitchFamily="2" charset="-78"/>
                <a:cs typeface="Amiri" pitchFamily="2" charset="-78"/>
              </a:rPr>
              <a:t> المُتَقَدِّمُ الَّذِي يُحِبُّ القِرَاءَةَ، وَلٰكِنَّ ذٰلِكَ لَيْسَ شَرْطًا. فِي الرِّسَالَةِ، يَعُودُ الضَّمِيرُ فِي «</a:t>
            </a:r>
            <a:pPr rtl="1" algn="r" indent="0" marL="0">
              <a:lnSpc>
                <a:spcPct val="120000"/>
              </a:lnSpc>
              <a:buNone/>
            </a:pPr>
            <a:r>
              <a:rPr lang="ar-SA" altLang="en-US" sz="1400" b="1" dirty="0">
                <a:solidFill>
                  <a:srgbClr val="D6336C"/>
                </a:solidFill>
                <a:latin typeface="Amiri" pitchFamily="2" charset="-78"/>
                <a:cs typeface="Amiri" pitchFamily="2" charset="-78"/>
              </a:rPr>
              <a:t>سَأُرْسِلُهَا</a:t>
            </a:r>
            <a:pPr rtl="1" algn="r" indent="0" marL="0">
              <a:lnSpc>
                <a:spcPct val="120000"/>
              </a:lnSpc>
              <a:buNone/>
            </a:pPr>
            <a:r>
              <a:rPr lang="ar-SA" altLang="en-US" sz="1400" b="1" dirty="0">
                <a:solidFill>
                  <a:srgbClr val="1B3B6F"/>
                </a:solidFill>
                <a:latin typeface="Amiri" pitchFamily="2" charset="-78"/>
                <a:cs typeface="Amiri" pitchFamily="2" charset="-78"/>
              </a:rPr>
              <a:t>» إِلَى «شَهَادَتِي». </a:t>
            </a:r>
            <a:pPr rtl="1" algn="r" indent="0" marL="0">
              <a:lnSpc>
                <a:spcPct val="120000"/>
              </a:lnSpc>
              <a:buNone/>
            </a:pPr>
            <a:r>
              <a:rPr lang="ar-SA" altLang="en-US" sz="1400" b="1" dirty="0">
                <a:solidFill>
                  <a:srgbClr val="0E7C86"/>
                </a:solidFill>
                <a:latin typeface="Amiri" pitchFamily="2" charset="-78"/>
                <a:cs typeface="Amiri" pitchFamily="2" charset="-78"/>
              </a:rPr>
              <a:t>يَدُلُّ هٰذَا عَلَى أَنَّ</a:t>
            </a:r>
            <a:pPr rtl="1" algn="r" indent="0" marL="0">
              <a:lnSpc>
                <a:spcPct val="120000"/>
              </a:lnSpc>
              <a:buNone/>
            </a:pPr>
            <a:r>
              <a:rPr lang="ar-SA" altLang="en-US" sz="1400" b="1" dirty="0">
                <a:solidFill>
                  <a:srgbClr val="1B3B6F"/>
                </a:solidFill>
                <a:latin typeface="Amiri" pitchFamily="2" charset="-78"/>
                <a:cs typeface="Amiri" pitchFamily="2" charset="-78"/>
              </a:rPr>
              <a:t> الكَاتِبَ أَرْسَلَ طَلَبًا نَاقِصًا.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first text is an advert. An applicant who loves reading is preferred, but that is not a condition. In the message, the pronoun in “I will send it” refers to “my certificate”. This suggests that the writer sent an incomplete application.</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يُشْتَرَطُ إِجَادَةُ اللُّغَةِ العَرَبِيَّةِ.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Fluent Arabic is required.</a:t>
            </a:r>
            <a:endParaRPr lang="en-US" sz="1250" dirty="0"/>
          </a:p>
          <a:p>
            <a:pPr indent="0" marL="0">
              <a:buNone/>
            </a:pPr>
            <a:r>
              <a:rPr lang="en-US" sz="1050" i="1" dirty="0">
                <a:solidFill>
                  <a:srgbClr val="8A6D1E"/>
                </a:solidFill>
                <a:latin typeface="Calibri" pitchFamily="34" charset="0"/>
                <a:cs typeface="Amiri" pitchFamily="2" charset="-78"/>
              </a:rPr>
              <a:t>Required (passive).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يُفَضَّلُ المُتَقَدِّمُ الَّذِي يُحِبُّ القِرَاءَةَ.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An applicant who loves reading is preferred.</a:t>
            </a:r>
            <a:endParaRPr lang="en-US" sz="1250" dirty="0"/>
          </a:p>
          <a:p>
            <a:pPr indent="0" marL="0">
              <a:buNone/>
            </a:pPr>
            <a:r>
              <a:rPr lang="en-US" sz="1050" i="1" dirty="0">
                <a:solidFill>
                  <a:srgbClr val="8A6D1E"/>
                </a:solidFill>
                <a:latin typeface="Calibri" pitchFamily="34" charset="0"/>
                <a:cs typeface="Amiri" pitchFamily="2" charset="-78"/>
              </a:rPr>
              <a:t>Preferred ≠ required.</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يَعُودُ الضَّمِيرُ «هَا» إِلَى الشَّهَادَةِ.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pronoun “-hā” refers to the certificate.</a:t>
            </a:r>
            <a:endParaRPr lang="en-US" sz="1250" dirty="0"/>
          </a:p>
          <a:p>
            <a:pPr indent="0" marL="0">
              <a:buNone/>
            </a:pPr>
            <a:r>
              <a:rPr lang="en-US" sz="1050" i="1" dirty="0">
                <a:solidFill>
                  <a:srgbClr val="8A6D1E"/>
                </a:solidFill>
                <a:latin typeface="Calibri" pitchFamily="34" charset="0"/>
                <a:cs typeface="Amiri" pitchFamily="2" charset="-78"/>
              </a:rPr>
              <a:t>Reference sentence.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يَدُلُّ هٰذَا عَلَى أَنَّ الوَظِيفَةَ تُنَاسِبُ الطُّلَّابَ.</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suggests the job suits students.</a:t>
            </a:r>
            <a:endParaRPr lang="en-US" sz="1250" dirty="0"/>
          </a:p>
          <a:p>
            <a:pPr indent="0" marL="0">
              <a:buNone/>
            </a:pPr>
            <a:r>
              <a:rPr lang="en-US" sz="1050" i="1" dirty="0">
                <a:solidFill>
                  <a:srgbClr val="8A6D1E"/>
                </a:solidFill>
                <a:latin typeface="Calibri" pitchFamily="34" charset="0"/>
                <a:cs typeface="Amiri" pitchFamily="2" charset="-78"/>
              </a:rPr>
              <a:t>Inference + evidence.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Requirement or offer?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يُشْتَرَطُ إِجَادَةُ الحَاسُوبِ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يُطْلَبُ خِبْرَةٌ سَابِقَةٌ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يَكُونَ مُنَظَّمًا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إِجَادَةُ لُغَتَيْنِ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نُقَدِّمُ تَدْرِيبًا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سَاعَاتٌ مَرِنَةٌ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رَاتِبٌ جَيِّدٌ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إِجَازَةٌ سَنَوِيَّةٌ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The job requires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The employer offers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The job requires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يُشْتَرَطُ إِجَادَةُ الحَاسُوبِ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يُطْلَبُ خِبْرَةٌ سَابِقَةٌ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يَكُونَ مُنَظَّمًا</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إِجَادَةُ لُغَتَيْنِ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The employer offers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نُقَدِّمُ تَدْرِيبًا</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سَاعَاتٌ مَرِنَةٌ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رَاتِبٌ جَيِّدٌ</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إِجَازَةٌ سَنَوِيَّةٌ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4,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خِبْرَةٌ سَابِقَةٌ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طَلَبْتُ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طَالِبٌ</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يُطْلَبُ</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المُتَقَدِّمُونَ ___ يُحِبُّونَ القِرَاءَةَ.</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الَّذِي</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الَّذِينَ</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الَّتِي</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an inference?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السَّاعَاتُ مَرِنَةٌ.</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يَدُلُّ هٰذَا عَلَى أَنَّ الوَظِيفَةَ تُنَاسِبُ الطُّلَّابَ.</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يُطْلَبُ مُسَاعِدٌ.</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يُفَضَّلُ</a:t>
            </a:r>
            <a:pPr algn="l" indent="0" marL="0">
              <a:buNone/>
            </a:pPr>
            <a:r>
              <a:rPr lang="en-US" sz="1250" b="1" dirty="0">
                <a:solidFill>
                  <a:srgbClr val="1B3B6F"/>
                </a:solidFill>
                <a:latin typeface="Calibri" pitchFamily="34" charset="0"/>
                <a:cs typeface="Amiri" pitchFamily="2" charset="-78"/>
              </a:rPr>
              <a:t> mean in an advert?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required</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forbidden</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preferred</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خِبْرَةٌ سَابِقَةٌ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طَلَبْتُ</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طَالِبٌ</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يُطْلَبُ</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yuṭlabu = is requested.</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المُتَقَدِّمُونَ ___ يُحِبُّونَ القِرَاءَةَ.</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الَّذِي</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الَّذِينَ</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الَّتِي</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 people → allaḏīna.</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an inference?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السَّاعَاتُ مَرِنَةٌ.</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يَدُلُّ هٰذَا عَلَى أَنَّ الوَظِيفَةَ تُنَاسِبُ الطُّلَّابَ.</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يُطْلَبُ مُسَاعِدٌ.</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conclusion from evidence.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يُفَضَّلُ</a:t>
            </a:r>
            <a:pPr algn="l" indent="0" marL="0">
              <a:buNone/>
            </a:pPr>
            <a:r>
              <a:rPr lang="en-US" sz="1250" b="1" dirty="0">
                <a:solidFill>
                  <a:srgbClr val="1B3B6F"/>
                </a:solidFill>
                <a:latin typeface="Calibri" pitchFamily="34" charset="0"/>
                <a:cs typeface="Amiri" pitchFamily="2" charset="-78"/>
              </a:rPr>
              <a:t> mean in an advert?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 required</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 forbidden</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is preferred</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Nice to have.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42</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المُتَقَدِّمَةُ الَّذِي تُحِبُّ القِرَاءَةَ.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female applicant: allaḏī or allatī?</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أَرْسَلَتْ سَلْمَى سِيرَتَهُ.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Whose CV? -hu or -hā?</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يُشْتَرَطُ أَنْ يَكُونَ المُتَقَدِّمُ مُنَظَّمٌ.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yakūna: -un or -an?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42</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المُتَقَدِّمَةُ الَّذِي تُحِبُّ القِرَاءَةَ.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المُتَقَدِّمَةُ الَّتِي تُحِبُّ القِرَاءَةَ.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female applicant → allatī.</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أَرْسَلَتْ سَلْمَى سِيرَتَهُ.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أَرْسَلَتْ سَلْمَى سِيرَتَهَا.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Salma’s own CV → -hā.</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يُشْتَرَطُ أَنْ يَكُونَ المُتَقَدِّمُ مُنَظَّمٌ.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يُشْتَرَطُ أَنْ يَكُونَ المُتَقَدِّمُ مُنَظَّمًا.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yakūna: -an.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Job advert voicemail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days is the job?</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Saturday and Sunday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Friday and Saturday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 to Friday</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hours?</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9:00 to 5:00</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10:00 to 2:00</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10:00 to 4:00</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quality is required?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being creative</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being confident</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being organised</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technical skill is required?</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a computer well</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driving</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speaking French</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experience required?</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two years</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training is given in the first week</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not mentioned</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deadline for the CV?</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Thursday</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Saturday</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week</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السَّبْتِ</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العَاشِرَةِ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الخَمِيسِ</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42</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مَرْحَبًا، هٰذِهِ رِسَالَةٌ مِنْ مَرْكَزِ النُّورِ.</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Hello, this is a message from Al-Nour Centre.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نَبْحَثُ عَنْ مُسَاعِدٍ لِلْعَمَلِ يَوْمَيِ السَّبْتِ وَالأَحَدِ مِنَ العَاشِرَةِ إِلَى الرَّابِعَةِ.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are looking for an assistant to work on Saturdays and Sundays from ten to four.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يُشْتَرَطُ أَنْ يَكُونَ المُتَقَدِّمُ مُنَظَّمًا وَأَنْ يُجِيدَ اسْتِخْدَامَ الحَاسُوبِ.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applicant must be organised and good at using a computer.</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تُشْتَرَطُ الخِبْرَةُ، لِأَنَّنَا نُقَدِّمُ تَدْرِيبًا فِي الأُسْبُوعِ الأَوَّلِ.</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Experience is not required, because we provide training in the first week.</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أَرْسِلُوا السِّيرَةَ الذَّاتِيَّةَ قَبْلَ يَوْمِ الخَمِيسِ.</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Send your CV before Thursday.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42</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days is the job?</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Saturday and Sunday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Friday and Saturday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Monday to Friday</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يَوْمَيِ السَّبْتِ وَالأَحَدِ</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hours?</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9:00 to 5:00</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10:00 to 2:00</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10:00 to 4:00</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العَاشِرَةِ إِلَى الرَّابِعَةِ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quality is required?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being creative</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being confident</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being organised</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أَنْ يَكُونَ المُتَقَدِّمُ مُنَظَّمًا</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technical skill is required?</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using a computer well</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driving</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speaking French</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أَنْ يُجِيدَ اسْتِخْدَامَ الحَاسُوبِ</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experience required?</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two years</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no — training is given in the first week</a:t>
            </a:r>
            <a:endParaRPr lang="en-US" sz="11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not mentioned</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تُشْتَرَطُ الخِبْرَةُ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deadline for the CV?</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before Thursday</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 Saturday</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week</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قَبْلَ يَوْمِ الخَمِيسِ</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السَّبْتِ</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العَاشِرَةِ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الخَمِيسِ</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42</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READING · READ THE WHOLE TEXT ONCE, THEN HUNT FOR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career texts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إِعْلَانٌ: تُعْلِنُ مَكْتَبَةُ المَدِينَةِ عَنْ حَاجَتِهَا إِلَى مُسَاعِدٍ فِي فَتْرَةِ المَسَاءِ. يُفَضَّلُ المُتَقَدِّمُ الَّذِي يُحِبُّ القِرَاءَةَ وَيَتَعَامَلُ بِلُطْفٍ مَعَ الزُّوَّارِ. رِسَالَةٌ: أَرْسَلْتُ طَلَبِي أَمْسِ، وَلٰكِنَّنِي نَسِيتُ أَنْ أُرْفِقَ شَهَادَتِي؛ لِذٰلِكَ سَأُرْسِلُهَا اليَوْمَ. مَقَالٌ: يَرَى الخُبَرَاءُ أَنَّ مَهَارَاتِ التَّوَاصُلِ سَتَبْقَى مُهِمَّةً حَتَّى فِي الوَظَائِفِ التِّقْنِيَّةِ.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تُعْلِنُ</a:t>
            </a:r>
            <a:endParaRPr lang="ar-SA" sz="160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announces</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حَاجَتِهَا إِلَى</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need for</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فَتْرَةِ المَسَاءِ</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evening shift</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يُفَضَّلُ</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preferred</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بِلُطْفٍ</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kindly</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أَرْسَلْتُ طَلَبِي</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sent my application</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نَسِيتُ</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forgot</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أُرْفِقَ</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attach</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الخُبَرَاءُ</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experts</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سَتَبْقَى</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will remain</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42</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shift does the library advertise?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morning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evening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weekend</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applicant is preferred?</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with a degree</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who speaks two languages</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who loves reading</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the applicant treat visitors?</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kindly</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quickly</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formally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message writer forget?</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send the application</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attach the certificate</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write a CV</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سَأُرْسِلُهَا</a:t>
            </a:r>
            <a:pPr algn="l" indent="0" marL="0">
              <a:buNone/>
            </a:pPr>
            <a:r>
              <a:rPr lang="en-US" sz="1250" b="1" dirty="0">
                <a:solidFill>
                  <a:srgbClr val="1B3B6F"/>
                </a:solidFill>
                <a:latin typeface="Calibri" pitchFamily="34" charset="0"/>
                <a:cs typeface="Amiri" pitchFamily="2" charset="-78"/>
              </a:rPr>
              <a:t>, what does -hā refer to?</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certificate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application</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library</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According to experts, what will stay important?</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skills only</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previous experience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communication skills, even in tech jobs</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5" name="Text 92"/>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42</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FEEDBACK · READING ANSWERS WITH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shift does the library advertise?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morning</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evening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weekend</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فَتْرَةِ المَسَاءِ</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applicant is preferred?</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with a degree</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one who speaks two languages</a:t>
            </a:r>
            <a:endParaRPr lang="en-US" sz="11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 who loves reading</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يُفَضَّلُ المُتَقَدِّمُ الَّذِي يُحِبُّ القِرَاءَةَ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the applicant treat visitors?</a:t>
            </a:r>
            <a:endParaRPr lang="en-US" sz="1250" dirty="0"/>
          </a:p>
        </p:txBody>
      </p:sp>
      <p:sp>
        <p:nvSpPr>
          <p:cNvPr id="49" name="Shape 46"/>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368796"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kindly</a:t>
            </a:r>
            <a:endParaRPr lang="en-US" sz="1250" dirty="0"/>
          </a:p>
        </p:txBody>
      </p:sp>
      <p:sp>
        <p:nvSpPr>
          <p:cNvPr id="53" name="Shape 50"/>
          <p:cNvSpPr/>
          <p:nvPr/>
        </p:nvSpPr>
        <p:spPr>
          <a:xfrm>
            <a:off x="6368796"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quickly</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formally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يَتَعَامَلُ بِلُطْفٍ مَعَ الزُّوَّارِ</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message writer forget?</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send the application</a:t>
            </a:r>
            <a:endParaRPr lang="en-US" sz="1250" dirty="0"/>
          </a:p>
        </p:txBody>
      </p:sp>
      <p:sp>
        <p:nvSpPr>
          <p:cNvPr id="67" name="Shape 64"/>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9233154" y="286207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attach the certificate</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write a CV</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نَسِيتُ أَنْ أُرْفِقَ شَهَادَتِي</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سَأُرْسِلُهَا</a:t>
            </a:r>
            <a:pPr algn="l" indent="0" marL="0">
              <a:buNone/>
            </a:pPr>
            <a:r>
              <a:rPr lang="en-US" sz="1250" b="1" dirty="0">
                <a:solidFill>
                  <a:srgbClr val="1B3B6F"/>
                </a:solidFill>
                <a:latin typeface="Calibri" pitchFamily="34" charset="0"/>
                <a:cs typeface="Amiri" pitchFamily="2" charset="-78"/>
              </a:rPr>
              <a:t>, what does -hā refer to?</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certificate</a:t>
            </a:r>
            <a:endParaRPr lang="en-US" sz="125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application</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library</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نَسِيتُ أَنْ أُرْفِقَ شَهَادَتِي</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According to experts, what will stay important?</a:t>
            </a:r>
            <a:endParaRPr lang="en-US" sz="12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computer skills only</a:t>
            </a:r>
            <a:endParaRPr lang="en-US" sz="1250" dirty="0"/>
          </a:p>
        </p:txBody>
      </p:sp>
      <p:sp>
        <p:nvSpPr>
          <p:cNvPr id="97" name="Shape 94"/>
          <p:cNvSpPr/>
          <p:nvPr/>
        </p:nvSpPr>
        <p:spPr>
          <a:xfrm>
            <a:off x="350443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previous experience</a:t>
            </a:r>
            <a:endParaRPr lang="en-US" sz="1250" dirty="0"/>
          </a:p>
        </p:txBody>
      </p:sp>
      <p:sp>
        <p:nvSpPr>
          <p:cNvPr id="100" name="Shape 97"/>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350443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communication skills, even in tech jobs</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مَهَارَاتِ التَّوَاصُلِ سَتَبْقَى مُهِمَّةً</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7" name="Text 10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Explain your reading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نَوْعُ النَّصِّ الأَوَّلِ؟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حُبُّ القِرَاءَةِ شَرْطٌ؟ كَيْفَ تَعْرِفُ؟</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إِلَى مَاذَا يَعُودُ الضَّمِيرُ فِي «سَأُرْسِلُهَا»؟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تَسْتَنْتِجُ مِنَ المَقَالِ؟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النَّصُّ الأَوَّلُ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لَا، لِأَنَّ الإِعْلَانَ يَقُولُ «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يَعُودُ الضَّمِيرُ إِلَى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يَدُلُّ هٰذَا عَلَى 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نَوْعُ النَّصِّ الأَوَّلِ؟</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type is the first text?</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هُوَ إِعْلَانُ وَظِيفَةٍ مِنْ مَكْتَبَةِ المَدِينَةِ.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It is a job advert from the city library.</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42</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Answer the advert: formal opening, two requirements you meet (yushtaraṭu …, wa-anā …), close.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Reply to the Al-Nour advert, quoting two exact requirements and giving evidence for each.</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respond to the advert using its exact requirements as evidence, and address the missing experience.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42</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كَمَا يُشْتَرَطُ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advert also requires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وَلَدَيَّ مَهَارَاتٌ جَيِّدَةٌ فِي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I have good skills in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لَيْسَتْ لَدَيَّ خِبْرَةٌ سَابِقَةٌ، وَلٰكِنَّ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no previous experience, but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وَالدَّلِيلُ عَلَى ذٰلِكَ أَنَّنِي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proof is that I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يَسُرُّنِي أَنْ أَتَقَدَّمَ لِـ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pleased to apply for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قَرَأْتُ فِي إِعْلَانِكُمْ أَنَّهُ يُشْتَرَطُ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read in your advert that … is required.</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وَأَنَا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I am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سَأُرْسِلُ سِيرَتِي الذَّاتِيَّةَ قَبْلَ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send my CV before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يُشْتَرَطُ  ·  يُطْلَبُ  ·  يُفَضَّلُ  ·  لَا تُشْتَرَطُ  ·  مُنَظَّمٌ  ·  اسْتِخْدَامُ الحَاسُوبِ  ·  خِبْرَةٌ سَابِقَةٌ  ·  تَدْرِيبٌ  ·  سِيرَتِي الذَّاتِيَّةُ  ·  الَّذِي  ·  الَّتِي  ·  يَدُلُّ هٰذَا عَلَى أَنَّ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42</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Respond to a job advert, using exact requirements from the text as evidence of your suitability.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تُعْلِنُ … عَنْ حَاجَتِهَا إِلَى</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announces its need for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فَتْرَةِ المَسَاءِ</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evening shift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يَتَعَامَلُ بِلُطْفٍ مَعَ</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deals kindly with</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نَسِيتُ أَنْ أُرْفِقَ</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forgot to attach</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يَرَى الخُبَرَاءُ أَنَّ</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experts believe that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42</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السَّادَةُ فِي مَرْكَزِ النُّورِ المُحْتَرَمُونَ، يَسُرُّنِي أَنْ أَتَقَدَّمَ لِوَظِيفَةِ المُسَاعِدِ فِي نِهَايَةِ الأُسْبُوعِ. قَرَأْتُ فِي إِعْلَانِكُمْ أَنَّهُ يُشْتَرَطُ أَنْ يَكُونَ المُتَقَدِّمُ مُنَظَّمًا، وَأَنَا مُنَظَّمٌ؛ وَالدَّلِيلُ عَلَى ذٰلِكَ أَنَّنِي أُخَطِّطُ لِدِرَاسَتِي كُلَّ أُسْبُوعٍ. كَمَا يُشْتَرَطُ أَنْ يُجِيدَ المُتَقَدِّمُ اسْتِخْدَامَ الحَاسُوبِ، وَلَدَيَّ مَهَارَاتٌ جَيِّدَةٌ فِي البَرْمَجَةِ وَالطِّبَاعَةِ. لَيْسَتْ لَدَيَّ خِبْرَةٌ سَابِقَةٌ، وَلٰكِنَّ الإِعْلَانَ يَذْكُرُ أَنَّكُمْ تُقَدِّمُونَ تَدْرِيبًا فِي الأُسْبُوعِ الأَوَّلِ. سَأُرْسِلُ سِيرَتِي الذَّاتِيَّةَ قَبْلَ يَوْمِ الخَمِيسِ. مَعَ خَالِصِ التَّحِيَّاتِ.</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Al-Nour Centre, I am pleased to apply for the weekend assistant post. I read in your advert that the applicant must be organised, and I am organised: the proof is that I plan my studies every week. The advert also requires good computer use, and I have good skills in programming and typing. I have no previous experience, but the advert says that you provide training in the first week. I will send my CV before Thursday. With best regards.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exact requirement quoted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evidence for a requirement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missing requirement addressed</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formal close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42</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found the requirement words.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confuse “preferred” with “required”.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linked each pronoun to the right noun.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tracked allaḏī / allatī / allaḏīna.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inference quotes a phrase from the text.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42</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لَا تُشْتَرَطُ الخِبْرَةُ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experience is not required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experience is required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experience is preferred</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المَهَارَةُ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نَحْتَاجُ إِلَيْهَا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الَّذِينَ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سَأُرْسِلُهَا</a:t>
            </a:r>
            <a:pPr algn="l" indent="0" marL="0">
              <a:buNone/>
            </a:pPr>
            <a:r>
              <a:rPr lang="en-US" sz="1250" b="1" dirty="0">
                <a:solidFill>
                  <a:srgbClr val="1B3B6F"/>
                </a:solidFill>
                <a:latin typeface="Calibri" pitchFamily="34" charset="0"/>
                <a:cs typeface="Amiri" pitchFamily="2" charset="-78"/>
              </a:rPr>
              <a:t> (the message), -hā refers to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certificate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library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visitor</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42</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لَا تُشْتَرَطُ الخِبْرَةُ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experience is not required</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experience is required</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experience is preferred</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 = not.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المَهَارَةُ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نَحْتَاجُ إِلَيْهَا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الَّذِي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الَّتِي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الَّذِينَ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mahāra (f.) → allatī.</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سَأُرْسِلُهَا</a:t>
            </a:r>
            <a:pPr algn="l" indent="0" marL="0">
              <a:buNone/>
            </a:pPr>
            <a:r>
              <a:rPr lang="en-US" sz="1250" b="1" dirty="0">
                <a:solidFill>
                  <a:srgbClr val="1B3B6F"/>
                </a:solidFill>
                <a:latin typeface="Calibri" pitchFamily="34" charset="0"/>
                <a:cs typeface="Amiri" pitchFamily="2" charset="-78"/>
              </a:rPr>
              <a:t> (the message), -hā refers to …</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my certificate</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library</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visitor</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nasītu an urfiqa shahādatī.</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42</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D3-L09: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D3-L09 · Writing — Career Plans Article or Email</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مَقَالٌ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article</a:t>
            </a:r>
            <a:pPr indent="0" marL="0">
              <a:buNone/>
            </a:pPr>
            <a:r>
              <a:rPr lang="en-US" sz="1000" i="1" dirty="0">
                <a:solidFill>
                  <a:srgbClr val="5A6472"/>
                </a:solidFill>
                <a:latin typeface="Calibri" pitchFamily="34" charset="0"/>
                <a:cs typeface="Amiri" pitchFamily="2" charset="-78"/>
              </a:rPr>
              <a:t>  pl. مَقَالَاتٌ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رِسَالَةٌ إِلِكْتُرُونِيَّةٌ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email</a:t>
            </a:r>
            <a:pPr indent="0" marL="0">
              <a:buNone/>
            </a:pPr>
            <a:r>
              <a:rPr lang="en-US" sz="1000" i="1" dirty="0">
                <a:solidFill>
                  <a:srgbClr val="5A6472"/>
                </a:solidFill>
                <a:latin typeface="Calibri" pitchFamily="34" charset="0"/>
                <a:cs typeface="Amiri" pitchFamily="2" charset="-78"/>
              </a:rPr>
              <a:t>  pl. رَسَائِلُ</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خُطْوَةٌ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step</a:t>
            </a:r>
            <a:pPr indent="0" marL="0">
              <a:buNone/>
            </a:pPr>
            <a:r>
              <a:rPr lang="en-US" sz="1000" i="1" dirty="0">
                <a:solidFill>
                  <a:srgbClr val="5A6472"/>
                </a:solidFill>
                <a:latin typeface="Calibri" pitchFamily="34" charset="0"/>
                <a:cs typeface="Amiri" pitchFamily="2" charset="-78"/>
              </a:rPr>
              <a:t>  pl. خُطُوَاتٌ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 المُحْتَمَلِ 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is likely that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أَنْوِي أَنْ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intend to</a:t>
            </a:r>
            <a:pPr indent="0" marL="0">
              <a:buNone/>
            </a:pPr>
            <a:r>
              <a:rPr lang="en-US" sz="1000" i="1" dirty="0">
                <a:solidFill>
                  <a:srgbClr val="5A6472"/>
                </a:solidFill>
                <a:latin typeface="Calibri" pitchFamily="34" charset="0"/>
                <a:cs typeface="Amiri" pitchFamily="2" charset="-78"/>
              </a:rPr>
              <a:t>  يَنْوِي 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Plan three steps of your own career route (just notes).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الخُطْوَةُ الأُولَى: … · الثَّانِيَةُ: … · الثَّالِثَةُ: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advert words (</a:t>
            </a:r>
            <a:pPr algn="l" indent="0" marL="0">
              <a:buNone/>
            </a:pPr>
            <a:r>
              <a:rPr lang="ar-SA" altLang="en-US" sz="1550" dirty="0">
                <a:solidFill>
                  <a:srgbClr val="1F2A37"/>
                </a:solidFill>
                <a:latin typeface="Amiri" pitchFamily="2" charset="-78"/>
                <a:cs typeface="Amiri" pitchFamily="2" charset="-78"/>
              </a:rPr>
              <a:t>يُشْتَرَطُ، يُطْلَبُ، يُفَضَّلُ</a:t>
            </a:r>
            <a:pPr algn="l" indent="0" marL="0">
              <a:buNone/>
            </a:pPr>
            <a:r>
              <a:rPr lang="en-US" sz="1200" dirty="0">
                <a:solidFill>
                  <a:srgbClr val="1F2A37"/>
                </a:solidFill>
                <a:latin typeface="Calibri" pitchFamily="34" charset="0"/>
                <a:cs typeface="Amiri" pitchFamily="2" charset="-78"/>
              </a:rPr>
              <a:t>); redo reading questions 1–3.</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Reply to the Al-Nour advert in 80–100 words, quoting two requirements.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respond to a job advert using its exact requirements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42</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D3-L09 · Writing — Career Plans Article or Email</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الكِتَابَةُ — مَقَالٌ أَوْ رِسَالَةٌ عَنِ الخُطَطِ المِهَنِيَّةِ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required ≠ preferred — link every pronoun to its LOGICAL noun — prove every inference.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D3-L08 · Reading — Jobs and Career Texts</dc:title>
  <dc:subject>PptxGenJS Presentation</dc:subject>
  <dc:creator>Al Madina Online School · Arabic Department</dc:creator>
  <cp:lastModifiedBy>Al Madina Online School · Arabic Department</cp:lastModifiedBy>
  <cp:revision>1</cp:revision>
  <dcterms:created xsi:type="dcterms:W3CDTF">2026-10-11T06:40:46Z</dcterms:created>
  <dcterms:modified xsi:type="dcterms:W3CDTF">2026-10-11T06:40:46Z</dcterms:modified>
</cp:coreProperties>
</file>