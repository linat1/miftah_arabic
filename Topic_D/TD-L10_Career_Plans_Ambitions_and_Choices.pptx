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D · TD-L10 — Career Plans, Ambitions and Choices. Website: Advanced Topics › Topic D (The World of Work) › Lesson 10.
The website builds this lesson on the D3-L04 lesson engine, with the Topic focus “Explain ambitions and evaluate how choices may shape the future.” (grammar: Future; hopes; conditional sentences; skills: Speaking · Writing) and the application challenge “Career pathway pitch”. This deck follows the same engine, re-sequenced for Topic D: lesson references now point to Topic D codes (lessons outside Topic D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D Work and Careers › TD-L10. The website lesson “The Future Tense — Plans, Ambitions and Career Goals”: vocabulary, grammar rules and quiz, patterns, common mistakes, sorter, listening, reading, speaking prompts and model, writing task and model, differentiation, final check and the lesson mission. Picture match: website visual game “The Future Tense — Plans, Ambitions and Career Goals”.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سَـ + the present verb for I / he / she (سَأَدْرُسُ · سَيَدْرُسُ · سَتَدْرُسُ) and أُرِيدُ أَنْ أُصْبِحَ … (job in -an, TD-L06). Develop: سَوْفَ, أَطْمَحُ إِلَى أَنْ and one purpose (لِكَيْ). Stretch: a three-step route with a purpose for each step and a condition (إِذَا نَجَحْتُ …).
• The future is EASY: no new verb forms — just add سَـ (attached) or سَوْفَ (separate) to the present tense students know from D1.
• After لِكَيْ / حَتَّى / أَنْ the verb ends in -a (أَنْجَحَ), the same as after يَجِبُ أَنْ (Topic D, TD-L08).
• Vocabulary group 2 (education routes) prepares TD-L05 — FLEX today.
• TEACHER-WRITTEN ITEMS: on the website this lesson’s mission, sorter, mistakes, grammar, final, listening, reading, speaking, writing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TD-L08. Questions 3–4 retrieve TD-L08; question 5 retrieves the D1 present tense (the base of the future).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future = sa- or sawfa + the present verb you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مستقبل، ہدف، نیت are shared (niyya → أَنْوِي, I intend). CAREFUL: Urdu طمع means greed; Arabic طُمُوحٌ / أَطْمَحُ means ambition / I aspire — a positive word! خُطَّةٌ has no Urdu cognate: link it to منصوبہ.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Future plans (website vocabulary (1 of 2)). Hear → Say → See → Use. Transliteration is printed for Core students (cover it for Develop/Stretch).
Every verb card shows I · he · she: only the first letter changes (a- / ya- / ta-), and sa- stays in front. لِكَيْ / حَتَّى (in order to / so that) are followed by a verb ending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Future plans (website vocabulary (2 of 2)). Hear → Say → See → Use. Transliteration is printed for Core students (cover it for Develop/Stretch).
Every verb card shows I · he · she: only the first letter changes (a- / ya- / ta-), and sa- stays in front. لِكَيْ / حَتَّى (in order to / so that) are followed by a verb ending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Education routes (website vocabulary (1 of 2)). Hear → Say → See → Use. Transliteration is printed for Core students (cover it for Develop/Stretch).
FLEX: teach if time allows; otherwise these are on the website vocabulary tab for homework.
Education routes (FLEX today — taught in TD-L05): useful for the “route” part of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Education routes (website vocabulary (2 of 2)). Hear → Say → See → Use. Transliteration is printed for Core students (cover it for Develop/Stretch).
FLEX: teach if time allows; otherwise these are on the website vocabulary tab for homework.
Education routes (FLEX today — taught in TD-L05): useful for the “route” part of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Career language (website vocabulary (1 of 2)). Hear → Say → See → Use. Transliteration is printed for Core students (cover it for Develop/Stretch).
FLEX: teach if time allows; otherwise these are on the website vocabulary tab for homework.
Career language (FLEX): review from TD-L08 — the skills you will develop.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Career language (website vocabulary (2 of 2)). Hear → Say → See → Use. Transliteration is printed for Core students (cover it for Develop/Stretch).
FLEX: teach if time allows; otherwise these are on the website vocabulary tab for homework.
Career language (FLEX): review from TD-L08 — the skills you will develop.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“Near or planned future” (سَـ + المُضَارِعُ: attach سـ directly to the present verb) and “Future with سوف” (a separate word; may sound more deliberate or formal). Website examples: سَأَدْرُسُ الطِّبَّ · سَأَعْمَلُ فِي الخَارِجِ · سَوْفَ أَتَدَرَّبُ فِي شَرِكَةٍ · سَوْفَ أَكْتَسِبُ خِبْرَةً.
Here sa- is coloured as a separate prefix ON PURPOSE: it is a whole prefix, so colouring it does not split a letter. Negative future (Stretch, teacher addition): لَنْ + verb (-a): لَنْ أَعْمَلَ فِي مَكْتَبٍ (I will not work in an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“Ambition” (أَطْمَحُ إِلَى أَنْ + مُضَارِعٌ) and “Purpose” (لِكَيْ / حَتَّى + مُضَارِعٌ مَنْصُوبٌ: a purpose connector followed by a subjunctive verb). Website examples: أَطْمَحُ إِلَى أَنْ أُصْبِحَ مُهَنْدِسًا · أَطْمَحُ إِلَى أَنْ أُدِيرَ شَرِكَةً · سَأَدْرُسُ بِجِدٍّ لِكَيْ أَنْجَحَ · سَأَتَدَرَّبُ حَتَّى أَكْتَسِبَ خِبْرَةً.
The error pair is teacher-chosen (the website common error is generic). CAREFUL: حَتَّى also means “until” (D1: حَتَّى السَّابِعَةِ) — here it means “so that”, followed by a verb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“السِّينُ وَسَوْفَ وَالتَّعْبِيرُ عَنِ الغَرَضِ”
• Near or planned future: Attach سـ directly to the present verb.
• Future with سوف: سوف is a separate word and may sound more deliberate or formal.
• Ambition: Use إلى أن before the intended action.
• Purpose: Use a purpose connector followed by a subjunctive verb.
Website common error: Do not use سَـ and سَوْفَ together, and do not forget the -a ending after أَنْ / لِكَيْ / حَتَّى (teacher wording: the website common error for this lesson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teacher-written model built on the website rules and listening (Omar wants to become an engineer). Think aloud: “When? (sa- / sawfa) Why? (li-kay / ḥattā +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(“Career Plan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“Career Plan”: study → doctor (li + subjunctive), web development, languages.
Website feedback lines: Study goal and career match. · The computer and web indicate web development. · The career plan uses languages internationally.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(“Career Plan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“Career Plan”: study → doctor (li + subjunctive), web development, languages.
Website feedback lines: Study goal and career match. · The computer and web indicate web development. · The career plan uses languages internationally.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The Future Tense — Plans, Ambitions and Career Goals”)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letter shows the FUTURE? (sa-). Other website cards: سَأَدْرُسُ الطِّبَّ فِي المُسْتَقْبَلِ · سَأَدْرُسُ فِي الجَامِعَةِ · أَطْمَحُ إِلَى وَظِيفَةٍ نَاجِحَةٍ (note: ilā + a NOUN here, no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The Future Tense — Plans, Ambitions and Career Goals”)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letter shows the FUTURE? (sa-). Other website cards: سَأَدْرُسُ الطِّبَّ فِي المُسْتَقْبَلِ · سَأَدْرُسُ فِي الجَامِعَةِ · أَطْمَحُ إِلَى وَظِيفَةٍ نَاجِحَةٍ (note: ilā + a NOUN here, no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Is the verb about the future or the present?
Then change every present verb into the future (add sa-) and say it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Is the verb about the future or the present?
Then change every present verb into the future (add sa-) and say it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5. Develop / Stretch: all 6.
Listen 1: just listen. Listen 2: note answers. Then chat the letters.
Support: after the second listening, show the read-along slide (Arabic + English, line by line) for Core students.
SCRIPT (read aloud):
يُرِيدُ عُمَرُ أَنْ يُصْبِحَ مُهَنْدِسًا، لِذٰلِكَ سَيَدْرُسُ الرِّيَاضِيَّاتِ وَالفِيزِيَاءَ فِي الجَامِعَةِ. أَمَّا هِنْدٌ فَسَوْفَ تَلْتَحِقُ بِدَوْرَةٍ فِي التَّصْمِيمِ لِكَيْ تَبْنِيَ مَلَفَّ أَعْمَالٍ. وَيُخَطِّطُ يُوسُفُ لِلتَّدَرُّبِ فِي مُسْتَشْفًى حَتَّى يَتَأَكَّدَ مِنْ أَنَّ التَّمْرِيضَ يُنَاسِبُهُ.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 APPLICATION CHALLENGE (5 min — it takes the speaking-rehearsal slot; the website speaking slide after it is FLEX) — from the website Topic page: “Present a future study/work plan with ambitions, qualifications and reasons, then answer a partner question about an alternative route.”
Website Topic D challenge “Career pathway pitch”. Purpose: لِ + subjunctive (لِأُصْبِحَ). Conditional with a negative: إِذَا لَمْ + jussive (أَنْجَحْ), result with فَسَـ.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D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وَلِمَاذَا؟ (And why?)
B: لِأَنَّنِي أَطْمَحُ إِلَى أَنْ أُصْبِحَ مُبَرْمِجًا، وَسَأَتَدَرَّبُ فِي شَرِكَةٍ لِكَيْ أَكْتَسِبَ خِبْرَةً. (Because I aspire to become a programmer, and I will train in a company to gain experience.)
Teacher-written prompts and model (the website prompts are generic). Model continues: A: وَلِمَاذَا؟ B: لِأَنَّنِي أَطْمَحُ إِلَى أَنْ أُصْبِحَ مُبَرْمِجًا، وَسَأَتَدَرَّبُ فِي شَرِكَةٍ لِكَيْ أَكْتَسِبَ خِبْرَةً. To a girl: مَاذَا سَتَدْرُسِينَ؟ · مَاذَا تُرِيدِينَ أَنْ تُصْبِحِي؟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independently controlled complex structures.
Website writing task (Stretch): Write about your future career plan, the route you will follow and the purpose of each step.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Teacher-written model (the website model for this lesson is a placeholder). Evidence: أَطْمَحُ إِلَى أَنْ أُصْبِحَ · سَأَدْرُسُ، سَوْفَ أَبْحَثُ، سَأَتَعَلَّمُ · لِكَيْ أَكْتَسِبَ، حَتَّى أَسْتَطِيعَ · إِذَا نَجَحْتُ … فَسَأَعْمَلُ.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(TD-L11 · Topic D Integrated Communication Workshop) will spend class time USING this language, so students prepare it tonight — short, simple, easy to access (school guidance: “Simple, Short, Interesting, Relevant, Easy to access”). The five words come from the website TD-L05 vocabulary (education and training routes).
Follow-up: the next Do Now tests two of these words (Flipped Learning: keep it short AND follow up).
Homework by route (website tasks). No internet? Students copy the five words from this slide into their book now.
TOPIC D: the five words are the ones the TD-L11 Do Now tests (preparation list of the website D3-L10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TD-L10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050" b="1" dirty="0">
                <a:solidFill>
                  <a:srgbClr val="FFFFFF"/>
                </a:solidFill>
                <a:latin typeface="Cambria" pitchFamily="34" charset="0"/>
                <a:cs typeface="Amiri" pitchFamily="2" charset="-78"/>
              </a:rPr>
              <a:t>Career Plans, Ambitions and Choices</a:t>
            </a:r>
            <a:endParaRPr lang="en-US" sz="30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الخُطَطُ المِهْنِيَّةُ وَالطُّمُوحَاتُ وَالخِيَارَاتُ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Explain ambitions and evaluate how choices may shape the future.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TD-L10 · Advanced Topic D · The World of Work</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ar-SA" altLang="en-US" sz="1550" dirty="0">
                <a:solidFill>
                  <a:srgbClr val="1F2A37"/>
                </a:solidFill>
                <a:latin typeface="Amiri" pitchFamily="2" charset="-78"/>
                <a:cs typeface="Amiri" pitchFamily="2" charset="-78"/>
              </a:rPr>
              <a:t>سَـ / سَوْفَ</a:t>
            </a:r>
            <a:pPr algn="ctr" indent="0" marL="0">
              <a:buNone/>
            </a:pPr>
            <a:r>
              <a:rPr lang="en-US" sz="1200" dirty="0">
                <a:solidFill>
                  <a:srgbClr val="1F2A37"/>
                </a:solidFill>
                <a:latin typeface="Calibri" pitchFamily="34" charset="0"/>
                <a:cs typeface="Amiri" pitchFamily="2" charset="-78"/>
              </a:rPr>
              <a:t>, ambition, and purpose.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future / not future, fix and listen to three career plans.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TD-L11.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بَعْدَ التَّخَرُّجِ</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future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graduation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school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أُخَطِّطُ لِـ</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plan to</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want to</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need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يَحْتَاجُ الطَّبِيبُ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الصَّبْرِ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يَجِبُ أَنْ يَكُونَ المُدَرِّسُ</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صَبُورٌ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صَبُورَةً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صَبُورًا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study”?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أَدْرُسُ</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يَدْرُسُ</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تَدْرُسُ</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بَعْدَ التَّخَرُّجِ</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future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graduation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before school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(TD-L08).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أُخَطِّطُ لِـ</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plan to</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want to</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need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(TD-L08).</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يَحْتَاجُ الطَّبِيبُ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الصَّبْرِ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TD-L08: yaḥtāju ilā.</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يَجِبُ أَنْ يَكُونَ المُدَرِّسُ</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صَبُورٌ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صَبُورَةً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صَبُورًا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TD-L08: -an after yakūna.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study”?</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أَدْرُسُ</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يَدْرُسُ</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تَدْرُسُ</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 a- = I.</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future = sa- or sawfa + the present verb you already know.</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300" b="1" dirty="0">
                <a:solidFill>
                  <a:srgbClr val="0E7C86"/>
                </a:solidFill>
                <a:latin typeface="Amiri" pitchFamily="2" charset="-78"/>
                <a:cs typeface="Amiri" pitchFamily="2" charset="-78"/>
              </a:rPr>
              <a:t>سَأَدْرُسُ</a:t>
            </a:r>
            <a:pPr rtl="1" algn="ctr" indent="0" marL="0">
              <a:lnSpc>
                <a:spcPct val="120000"/>
              </a:lnSpc>
              <a:buNone/>
            </a:pPr>
            <a:r>
              <a:rPr lang="ar-SA" altLang="en-US" sz="2300" b="1" dirty="0">
                <a:solidFill>
                  <a:srgbClr val="1B3B6F"/>
                </a:solidFill>
                <a:latin typeface="Amiri" pitchFamily="2" charset="-78"/>
                <a:cs typeface="Amiri" pitchFamily="2" charset="-78"/>
              </a:rPr>
              <a:t> · </a:t>
            </a:r>
            <a:pPr rtl="1" algn="ctr" indent="0" marL="0">
              <a:lnSpc>
                <a:spcPct val="120000"/>
              </a:lnSpc>
              <a:buNone/>
            </a:pPr>
            <a:r>
              <a:rPr lang="ar-SA" altLang="en-US" sz="2300" b="1" dirty="0">
                <a:solidFill>
                  <a:srgbClr val="0E7C86"/>
                </a:solidFill>
                <a:latin typeface="Amiri" pitchFamily="2" charset="-78"/>
                <a:cs typeface="Amiri" pitchFamily="2" charset="-78"/>
              </a:rPr>
              <a:t>سَوْفَ</a:t>
            </a:r>
            <a:pPr rtl="1" algn="ctr" indent="0" marL="0">
              <a:lnSpc>
                <a:spcPct val="120000"/>
              </a:lnSpc>
              <a:buNone/>
            </a:pPr>
            <a:r>
              <a:rPr lang="ar-SA" altLang="en-US" sz="2300" b="1" dirty="0">
                <a:solidFill>
                  <a:srgbClr val="1B3B6F"/>
                </a:solidFill>
                <a:latin typeface="Amiri" pitchFamily="2" charset="-78"/>
                <a:cs typeface="Amiri" pitchFamily="2" charset="-78"/>
              </a:rPr>
              <a:t> أَتَدَرَّبُ · لِكَيْ </a:t>
            </a:r>
            <a:pPr rtl="1" algn="ctr" indent="0" marL="0">
              <a:lnSpc>
                <a:spcPct val="120000"/>
              </a:lnSpc>
              <a:buNone/>
            </a:pPr>
            <a:r>
              <a:rPr lang="ar-SA" altLang="en-US" sz="2300" b="1" dirty="0">
                <a:solidFill>
                  <a:srgbClr val="1D5FBF"/>
                </a:solidFill>
                <a:latin typeface="Amiri" pitchFamily="2" charset="-78"/>
                <a:cs typeface="Amiri" pitchFamily="2" charset="-78"/>
              </a:rPr>
              <a:t>أَنْجَحَ</a:t>
            </a:r>
            <a:endParaRPr lang="ar-SA" sz="23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future with </a:t>
            </a:r>
            <a:pPr algn="l" indent="0" marL="0">
              <a:buNone/>
            </a:pPr>
            <a:r>
              <a:rPr lang="ar-SA" altLang="en-US" sz="1700" dirty="0">
                <a:solidFill>
                  <a:srgbClr val="1F2A37"/>
                </a:solidFill>
                <a:latin typeface="Amiri" pitchFamily="2" charset="-78"/>
                <a:cs typeface="Amiri" pitchFamily="2" charset="-78"/>
              </a:rPr>
              <a:t>سَـ</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cs typeface="Amiri" pitchFamily="2" charset="-78"/>
              </a:rPr>
              <a:t>سَوْفَ</a:t>
            </a:r>
            <a:pPr algn="l" indent="0" marL="0">
              <a:buNone/>
            </a:pPr>
            <a:r>
              <a:rPr lang="en-US" sz="1300" dirty="0">
                <a:solidFill>
                  <a:srgbClr val="1F2A37"/>
                </a:solidFill>
                <a:latin typeface="Calibri" pitchFamily="34" charset="0"/>
                <a:cs typeface="Amiri" pitchFamily="2" charset="-78"/>
              </a:rPr>
              <a:t> for I, he and she.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State an ambition with </a:t>
            </a:r>
            <a:pPr algn="l" indent="0" marL="0">
              <a:buNone/>
            </a:pPr>
            <a:r>
              <a:rPr lang="ar-SA" altLang="en-US" sz="1700" dirty="0">
                <a:solidFill>
                  <a:srgbClr val="1F2A37"/>
                </a:solidFill>
                <a:latin typeface="Amiri" pitchFamily="2" charset="-78"/>
                <a:cs typeface="Amiri" pitchFamily="2" charset="-78"/>
              </a:rPr>
              <a:t>أُرِيدُ أَنْ / أَطْمَحُ إِلَى أَنْ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the purpose of a step with </a:t>
            </a:r>
            <a:pPr algn="l" indent="0" marL="0">
              <a:buNone/>
            </a:pPr>
            <a:r>
              <a:rPr lang="ar-SA" altLang="en-US" sz="1700" dirty="0">
                <a:solidFill>
                  <a:srgbClr val="1F2A37"/>
                </a:solidFill>
                <a:latin typeface="Amiri" pitchFamily="2" charset="-78"/>
                <a:cs typeface="Amiri" pitchFamily="2" charset="-78"/>
              </a:rPr>
              <a:t>لِكَيْ / حَتَّى</a:t>
            </a:r>
            <a:pPr algn="l" indent="0" marL="0">
              <a:buNone/>
            </a:pPr>
            <a:r>
              <a:rPr lang="en-US" sz="1300" dirty="0">
                <a:solidFill>
                  <a:srgbClr val="1F2A37"/>
                </a:solidFill>
                <a:latin typeface="Calibri" pitchFamily="34" charset="0"/>
                <a:cs typeface="Amiri" pitchFamily="2" charset="-78"/>
              </a:rPr>
              <a:t> + verb (-a).</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a career plan in connected steps.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I will study and do.</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I want to become.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sawfa and state an ambition.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the purpose of a step.</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describe a three-step career route.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a condition (if I succeed …).</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Future plans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Education routes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Career language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مُسْتَقْبَلٌ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‎مستقبل‎ </a:t>
            </a:r>
            <a:pPr indent="0" marL="0">
              <a:buNone/>
            </a:pPr>
            <a:r>
              <a:rPr lang="en-US" sz="950" b="1" dirty="0">
                <a:solidFill>
                  <a:srgbClr val="2E8B57"/>
                </a:solidFill>
                <a:latin typeface="Calibri" pitchFamily="34" charset="0"/>
                <a:cs typeface="Amiri" pitchFamily="2" charset="-78"/>
              </a:rPr>
              <a:t> mustaqbil · future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خُطَّةٌ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‎خاکہ / منصوبہ‎ </a:t>
            </a:r>
            <a:pPr indent="0" marL="0">
              <a:buNone/>
            </a:pPr>
            <a:r>
              <a:rPr lang="en-US" sz="950" b="1" dirty="0">
                <a:solidFill>
                  <a:srgbClr val="2E8B57"/>
                </a:solidFill>
                <a:latin typeface="Calibri" pitchFamily="34" charset="0"/>
                <a:cs typeface="Amiri" pitchFamily="2" charset="-78"/>
              </a:rPr>
              <a:t> mansūba · plan (meaning only)</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هَدَفٌ</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‎ہدف‎ </a:t>
            </a:r>
            <a:pPr indent="0" marL="0">
              <a:buNone/>
            </a:pPr>
            <a:r>
              <a:rPr lang="en-US" sz="950" b="1" dirty="0">
                <a:solidFill>
                  <a:srgbClr val="2E8B57"/>
                </a:solidFill>
                <a:latin typeface="Calibri" pitchFamily="34" charset="0"/>
                <a:cs typeface="Amiri" pitchFamily="2" charset="-78"/>
              </a:rPr>
              <a:t> hadaf · target, goal</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أَطْمَحُ</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‎طمع‎ </a:t>
            </a:r>
            <a:pPr indent="0" marL="0">
              <a:buNone/>
            </a:pPr>
            <a:r>
              <a:rPr lang="en-US" sz="950" b="1" dirty="0">
                <a:solidFill>
                  <a:srgbClr val="2E8B57"/>
                </a:solidFill>
                <a:latin typeface="Calibri" pitchFamily="34" charset="0"/>
                <a:cs typeface="Amiri" pitchFamily="2" charset="-78"/>
              </a:rPr>
              <a:t> tamaʿ · Urdu: greed · Arabic: ambition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نِيَّةٌ / أَنْوِي</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‎نیت‎ </a:t>
            </a:r>
            <a:pPr indent="0" marL="0">
              <a:buNone/>
            </a:pPr>
            <a:r>
              <a:rPr lang="en-US" sz="950" b="1" dirty="0">
                <a:solidFill>
                  <a:srgbClr val="2E8B57"/>
                </a:solidFill>
                <a:latin typeface="Calibri" pitchFamily="34" charset="0"/>
                <a:cs typeface="Amiri" pitchFamily="2" charset="-78"/>
              </a:rPr>
              <a:t> niyyat · intention → I intend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Future plans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سَأَدْرُسُ</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study</a:t>
            </a:r>
            <a:endParaRPr lang="en-US" sz="1350" dirty="0"/>
          </a:p>
          <a:p>
            <a:pPr indent="0" marL="0">
              <a:buNone/>
            </a:pPr>
            <a:r>
              <a:rPr lang="en-US" sz="1100" i="1" dirty="0">
                <a:solidFill>
                  <a:srgbClr val="5A6472"/>
                </a:solidFill>
                <a:latin typeface="Calibri" pitchFamily="34" charset="0"/>
                <a:cs typeface="Amiri" pitchFamily="2" charset="-78"/>
              </a:rPr>
              <a:t>sa-ʾad-ru-su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سَتَدْرُسُ</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سَيَدْرُسُ</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سَأَدْرُسُ</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سَوْفَ أَتَدَرَّبُ</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train</a:t>
            </a:r>
            <a:endParaRPr lang="en-US" sz="1350" dirty="0"/>
          </a:p>
          <a:p>
            <a:pPr indent="0" marL="0">
              <a:buNone/>
            </a:pPr>
            <a:r>
              <a:rPr lang="en-US" sz="1100" i="1" dirty="0">
                <a:solidFill>
                  <a:srgbClr val="5A6472"/>
                </a:solidFill>
                <a:latin typeface="Calibri" pitchFamily="34" charset="0"/>
                <a:cs typeface="Amiri" pitchFamily="2" charset="-78"/>
              </a:rPr>
              <a:t>saw-fa a-ta-dar-ra-bu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سَوْفَ تَتَدَرَّبُ</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سَوْفَ يَتَدَرَّبُ</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سَوْفَ أَتَدَرَّبُ</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أُرِيدُ أَنْ أُصْبِحَ</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want to become</a:t>
            </a:r>
            <a:endParaRPr lang="en-US" sz="1350" dirty="0"/>
          </a:p>
          <a:p>
            <a:pPr indent="0" marL="0">
              <a:buNone/>
            </a:pPr>
            <a:r>
              <a:rPr lang="en-US" sz="1100" i="1" dirty="0">
                <a:solidFill>
                  <a:srgbClr val="5A6472"/>
                </a:solidFill>
                <a:latin typeface="Calibri" pitchFamily="34" charset="0"/>
                <a:cs typeface="Amiri" pitchFamily="2" charset="-78"/>
              </a:rPr>
              <a:t>u-rī-du an uṣ-bi-ḥa</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تُرِيدُ أَنْ تُصْبِحَ</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يُرِيدُ أَنْ يُصْبِحَ</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أُرِيدُ أَنْ أُصْبِحَ</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أَطْمَحُ إِلَى أَنْ</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aspire to</a:t>
            </a:r>
            <a:endParaRPr lang="en-US" sz="1350" dirty="0"/>
          </a:p>
          <a:p>
            <a:pPr indent="0" marL="0">
              <a:buNone/>
            </a:pPr>
            <a:r>
              <a:rPr lang="en-US" sz="1100" i="1" dirty="0">
                <a:solidFill>
                  <a:srgbClr val="5A6472"/>
                </a:solidFill>
                <a:latin typeface="Calibri" pitchFamily="34" charset="0"/>
                <a:cs typeface="Amiri" pitchFamily="2" charset="-78"/>
              </a:rPr>
              <a:t>aṭ-ma-ḥu i-lā an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تَطْمَحُ</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يَطْمَحُ</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أَطْمَحُ</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أَنْوِي أَنْ</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intend to</a:t>
            </a:r>
            <a:endParaRPr lang="en-US" sz="1350" dirty="0"/>
          </a:p>
          <a:p>
            <a:pPr indent="0" marL="0">
              <a:buNone/>
            </a:pPr>
            <a:r>
              <a:rPr lang="en-US" sz="1100" i="1" dirty="0">
                <a:solidFill>
                  <a:srgbClr val="5A6472"/>
                </a:solidFill>
                <a:latin typeface="Calibri" pitchFamily="34" charset="0"/>
                <a:cs typeface="Amiri" pitchFamily="2" charset="-78"/>
              </a:rPr>
              <a:t>an-wī an</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98" name="Text 9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تَنْوِي</a:t>
            </a:r>
            <a:endParaRPr lang="ar-SA" sz="150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يَنْوِي</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أَنْوِي</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8" name="Shape 105"/>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109" name="Text 106"/>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110" name="Shape 10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11" name="Text 10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2" name="Text 10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أُخَطِّطُ لِـ</a:t>
            </a:r>
            <a:endParaRPr lang="ar-SA" sz="3000" dirty="0"/>
          </a:p>
        </p:txBody>
      </p:sp>
      <p:sp>
        <p:nvSpPr>
          <p:cNvPr id="113" name="Text 11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plan to</a:t>
            </a:r>
            <a:endParaRPr lang="en-US" sz="1350" dirty="0"/>
          </a:p>
          <a:p>
            <a:pPr indent="0" marL="0">
              <a:buNone/>
            </a:pPr>
            <a:r>
              <a:rPr lang="en-US" sz="1100" i="1" dirty="0">
                <a:solidFill>
                  <a:srgbClr val="5A6472"/>
                </a:solidFill>
                <a:latin typeface="Calibri" pitchFamily="34" charset="0"/>
                <a:cs typeface="Amiri" pitchFamily="2" charset="-78"/>
              </a:rPr>
              <a:t>u-khaṭ-ṭi-ṭu li</a:t>
            </a:r>
            <a:endParaRPr lang="en-US" sz="1350" dirty="0"/>
          </a:p>
        </p:txBody>
      </p:sp>
      <p:sp>
        <p:nvSpPr>
          <p:cNvPr id="114" name="Shape 11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116" name="Text 113"/>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تُخَطِّطُ</a:t>
            </a:r>
            <a:endParaRPr lang="ar-SA" sz="1500" dirty="0"/>
          </a:p>
        </p:txBody>
      </p:sp>
      <p:sp>
        <p:nvSpPr>
          <p:cNvPr id="117" name="Shape 11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8" name="Text 11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119" name="Text 11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يُخَطِّطُ</a:t>
            </a:r>
            <a:endParaRPr lang="ar-SA" sz="1500" dirty="0"/>
          </a:p>
        </p:txBody>
      </p:sp>
      <p:sp>
        <p:nvSpPr>
          <p:cNvPr id="120" name="Shape 11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21" name="Text 11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122" name="Text 11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أُخَطِّطُ</a:t>
            </a:r>
            <a:endParaRPr lang="ar-SA" sz="1500" dirty="0"/>
          </a:p>
        </p:txBody>
      </p:sp>
      <p:sp>
        <p:nvSpPr>
          <p:cNvPr id="123" name="Text 1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Future plans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بَعْدَ التَّخَرُّجِ</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graduation</a:t>
            </a:r>
            <a:endParaRPr lang="en-US" sz="1350" dirty="0"/>
          </a:p>
          <a:p>
            <a:pPr indent="0" marL="0">
              <a:buNone/>
            </a:pPr>
            <a:r>
              <a:rPr lang="en-US" sz="1100" i="1" dirty="0">
                <a:solidFill>
                  <a:srgbClr val="5A6472"/>
                </a:solidFill>
                <a:latin typeface="Calibri" pitchFamily="34" charset="0"/>
                <a:cs typeface="Amiri" pitchFamily="2" charset="-78"/>
              </a:rPr>
              <a:t>baʿ-da at-ta-khar-ru-ji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المُسْتَقْبَلِ</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future</a:t>
            </a:r>
            <a:endParaRPr lang="en-US" sz="1350" dirty="0"/>
          </a:p>
          <a:p>
            <a:pPr indent="0" marL="0">
              <a:buNone/>
            </a:pPr>
            <a:r>
              <a:rPr lang="en-US" sz="1100" i="1" dirty="0">
                <a:solidFill>
                  <a:srgbClr val="5A6472"/>
                </a:solidFill>
                <a:latin typeface="Calibri" pitchFamily="34" charset="0"/>
                <a:cs typeface="Amiri" pitchFamily="2" charset="-78"/>
              </a:rPr>
              <a:t>fī al-mus-taq-ba-li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لِكَيْ</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حَتَّى</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 that</a:t>
            </a:r>
            <a:endParaRPr lang="en-US" sz="1350" dirty="0"/>
          </a:p>
          <a:p>
            <a:pPr indent="0" marL="0">
              <a:buNone/>
            </a:pPr>
            <a:r>
              <a:rPr lang="en-US" sz="1100" i="1" dirty="0">
                <a:solidFill>
                  <a:srgbClr val="5A6472"/>
                </a:solidFill>
                <a:latin typeface="Calibri" pitchFamily="34" charset="0"/>
                <a:cs typeface="Amiri" pitchFamily="2" charset="-78"/>
              </a:rPr>
              <a:t>ḥat-tā</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المُحْتَمَلِ أَنْ</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likely that</a:t>
            </a:r>
            <a:endParaRPr lang="en-US" sz="1350" dirty="0"/>
          </a:p>
          <a:p>
            <a:pPr indent="0" marL="0">
              <a:buNone/>
            </a:pPr>
            <a:r>
              <a:rPr lang="en-US" sz="1100" i="1" dirty="0">
                <a:solidFill>
                  <a:srgbClr val="5A6472"/>
                </a:solidFill>
                <a:latin typeface="Calibri" pitchFamily="34" charset="0"/>
                <a:cs typeface="Amiri" pitchFamily="2" charset="-78"/>
              </a:rPr>
              <a:t>mi-na al-muḥ-ta-ma-li an</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9" name="Shape 4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إِذَا نَجَحْتُ</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I succeed</a:t>
            </a:r>
            <a:endParaRPr lang="en-US" sz="1350" dirty="0"/>
          </a:p>
          <a:p>
            <a:pPr indent="0" marL="0">
              <a:buNone/>
            </a:pPr>
            <a:r>
              <a:rPr lang="en-US" sz="1100" i="1" dirty="0">
                <a:solidFill>
                  <a:srgbClr val="5A6472"/>
                </a:solidFill>
                <a:latin typeface="Calibri" pitchFamily="34" charset="0"/>
                <a:cs typeface="Amiri" pitchFamily="2" charset="-78"/>
              </a:rPr>
              <a:t>i-dhā na-jaḥ-tu</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Education routes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جَامِعَةٌ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university</a:t>
            </a:r>
            <a:endParaRPr lang="en-US" sz="1350" dirty="0"/>
          </a:p>
          <a:p>
            <a:pPr indent="0" marL="0">
              <a:buNone/>
            </a:pPr>
            <a:r>
              <a:rPr lang="en-US" sz="1100" i="1" dirty="0">
                <a:solidFill>
                  <a:srgbClr val="5A6472"/>
                </a:solidFill>
                <a:latin typeface="Calibri" pitchFamily="34" charset="0"/>
                <a:cs typeface="Amiri" pitchFamily="2" charset="-78"/>
              </a:rPr>
              <a:t>jā-mi-ʿa-tun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كُلِّيَّةٌ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college</a:t>
            </a:r>
            <a:endParaRPr lang="en-US" sz="1350" dirty="0"/>
          </a:p>
          <a:p>
            <a:pPr indent="0" marL="0">
              <a:buNone/>
            </a:pPr>
            <a:r>
              <a:rPr lang="en-US" sz="1100" i="1" dirty="0">
                <a:solidFill>
                  <a:srgbClr val="5A6472"/>
                </a:solidFill>
                <a:latin typeface="Calibri" pitchFamily="34" charset="0"/>
                <a:cs typeface="Amiri" pitchFamily="2" charset="-78"/>
              </a:rPr>
              <a:t>kul-liy-ya-tun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مَعْهَدٌ مِهَنِيٌّ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vocational institute</a:t>
            </a:r>
            <a:endParaRPr lang="en-US" sz="1350" dirty="0"/>
          </a:p>
          <a:p>
            <a:pPr indent="0" marL="0">
              <a:buNone/>
            </a:pPr>
            <a:r>
              <a:rPr lang="en-US" sz="1100" i="1" dirty="0">
                <a:solidFill>
                  <a:srgbClr val="5A6472"/>
                </a:solidFill>
                <a:latin typeface="Calibri" pitchFamily="34" charset="0"/>
                <a:cs typeface="Amiri" pitchFamily="2" charset="-78"/>
              </a:rPr>
              <a:t>maʿ-ha-dun mi-ha-niy-yun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تَدْرِيبٌ مِهَنِيٌّ</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vocational training</a:t>
            </a:r>
            <a:endParaRPr lang="en-US" sz="1350" dirty="0"/>
          </a:p>
          <a:p>
            <a:pPr indent="0" marL="0">
              <a:buNone/>
            </a:pPr>
            <a:r>
              <a:rPr lang="en-US" sz="1100" i="1" dirty="0">
                <a:solidFill>
                  <a:srgbClr val="5A6472"/>
                </a:solidFill>
                <a:latin typeface="Calibri" pitchFamily="34" charset="0"/>
                <a:cs typeface="Amiri" pitchFamily="2" charset="-78"/>
              </a:rPr>
              <a:t>tad-rī-bun mi-ha-niy-yun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تَدْرِيبٌ عَمَلِيٌّ</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work placement</a:t>
            </a:r>
            <a:endParaRPr lang="en-US" sz="1350" dirty="0"/>
          </a:p>
          <a:p>
            <a:pPr indent="0" marL="0">
              <a:buNone/>
            </a:pPr>
            <a:r>
              <a:rPr lang="en-US" sz="1100" i="1" dirty="0">
                <a:solidFill>
                  <a:srgbClr val="5A6472"/>
                </a:solidFill>
                <a:latin typeface="Calibri" pitchFamily="34" charset="0"/>
                <a:cs typeface="Amiri" pitchFamily="2" charset="-78"/>
              </a:rPr>
              <a:t>tad-rī-bun ʿa-ma-liy-yun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تَلْمَذَةٌ مِهَنِيَّةٌ</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apprenticeship</a:t>
            </a:r>
            <a:endParaRPr lang="en-US" sz="1350" dirty="0"/>
          </a:p>
          <a:p>
            <a:pPr indent="0" marL="0">
              <a:buNone/>
            </a:pPr>
            <a:r>
              <a:rPr lang="en-US" sz="1100" i="1" dirty="0">
                <a:solidFill>
                  <a:srgbClr val="5A6472"/>
                </a:solidFill>
                <a:latin typeface="Calibri" pitchFamily="34" charset="0"/>
                <a:cs typeface="Amiri" pitchFamily="2" charset="-78"/>
              </a:rPr>
              <a:t>tal-ma-dha-tun mi-ha-niy-ya-tun</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Education routes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شَهَادَةٌ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certificate/degree</a:t>
            </a:r>
            <a:endParaRPr lang="en-US" sz="1350" dirty="0"/>
          </a:p>
          <a:p>
            <a:pPr indent="0" marL="0">
              <a:buNone/>
            </a:pPr>
            <a:r>
              <a:rPr lang="en-US" sz="1100" i="1" dirty="0">
                <a:solidFill>
                  <a:srgbClr val="5A6472"/>
                </a:solidFill>
                <a:latin typeface="Calibri" pitchFamily="34" charset="0"/>
                <a:cs typeface="Amiri" pitchFamily="2" charset="-78"/>
              </a:rPr>
              <a:t>sha-hā-da-tun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دَوْرَةٌ تَدْرِيبِيَّةٌ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training course</a:t>
            </a:r>
            <a:endParaRPr lang="en-US" sz="1350" dirty="0"/>
          </a:p>
          <a:p>
            <a:pPr indent="0" marL="0">
              <a:buNone/>
            </a:pPr>
            <a:r>
              <a:rPr lang="en-US" sz="1100" i="1" dirty="0">
                <a:solidFill>
                  <a:srgbClr val="5A6472"/>
                </a:solidFill>
                <a:latin typeface="Calibri" pitchFamily="34" charset="0"/>
                <a:cs typeface="Amiri" pitchFamily="2" charset="-78"/>
              </a:rPr>
              <a:t>daw-ra-tun tad-rī-biy-ya-tun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مِنْحَةٌ دِرَاسِيَّةٌ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scholarship</a:t>
            </a:r>
            <a:endParaRPr lang="en-US" sz="1350" dirty="0"/>
          </a:p>
          <a:p>
            <a:pPr indent="0" marL="0">
              <a:buNone/>
            </a:pPr>
            <a:r>
              <a:rPr lang="en-US" sz="1100" i="1" dirty="0">
                <a:solidFill>
                  <a:srgbClr val="5A6472"/>
                </a:solidFill>
                <a:latin typeface="Calibri" pitchFamily="34" charset="0"/>
                <a:cs typeface="Amiri" pitchFamily="2" charset="-78"/>
              </a:rPr>
              <a:t>min-ḥa-tun di-rā-siy-ya-tun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مُتَطَلَّبَاتُ القَبُولِ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entry requirements</a:t>
            </a:r>
            <a:endParaRPr lang="en-US" sz="1350" dirty="0"/>
          </a:p>
          <a:p>
            <a:pPr indent="0" marL="0">
              <a:buNone/>
            </a:pPr>
            <a:r>
              <a:rPr lang="en-US" sz="1100" i="1" dirty="0">
                <a:solidFill>
                  <a:srgbClr val="5A6472"/>
                </a:solidFill>
                <a:latin typeface="Calibri" pitchFamily="34" charset="0"/>
                <a:cs typeface="Amiri" pitchFamily="2" charset="-78"/>
              </a:rPr>
              <a:t>mu-ta-ṭal-la-bā-tu al-qa-bū-li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خِبْرَةٌ عَمَلِيَّةٌ</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work experience</a:t>
            </a:r>
            <a:endParaRPr lang="en-US" sz="1350" dirty="0"/>
          </a:p>
          <a:p>
            <a:pPr indent="0" marL="0">
              <a:buNone/>
            </a:pPr>
            <a:r>
              <a:rPr lang="en-US" sz="1100" i="1" dirty="0">
                <a:solidFill>
                  <a:srgbClr val="5A6472"/>
                </a:solidFill>
                <a:latin typeface="Calibri" pitchFamily="34" charset="0"/>
                <a:cs typeface="Amiri" pitchFamily="2" charset="-78"/>
              </a:rPr>
              <a:t>khib-ra-tun ʿa-ma-liy-ya-tun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مَسَارٌ أَكَادِيمِيٌّ</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academic route</a:t>
            </a:r>
            <a:endParaRPr lang="en-US" sz="1350" dirty="0"/>
          </a:p>
          <a:p>
            <a:pPr indent="0" marL="0">
              <a:buNone/>
            </a:pPr>
            <a:r>
              <a:rPr lang="en-US" sz="1100" i="1" dirty="0">
                <a:solidFill>
                  <a:srgbClr val="5A6472"/>
                </a:solidFill>
                <a:latin typeface="Calibri" pitchFamily="34" charset="0"/>
                <a:cs typeface="Amiri" pitchFamily="2" charset="-78"/>
              </a:rPr>
              <a:t>ma-sā-run a-kā-dī-miy-yun</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Career language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مَهَارَةُ التَّوَاصُلِ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communication skill</a:t>
            </a:r>
            <a:endParaRPr lang="en-US" sz="1350" dirty="0"/>
          </a:p>
          <a:p>
            <a:pPr indent="0" marL="0">
              <a:buNone/>
            </a:pPr>
            <a:r>
              <a:rPr lang="en-US" sz="1100" i="1" dirty="0">
                <a:solidFill>
                  <a:srgbClr val="5A6472"/>
                </a:solidFill>
                <a:latin typeface="Calibri" pitchFamily="34" charset="0"/>
                <a:cs typeface="Amiri" pitchFamily="2" charset="-78"/>
              </a:rPr>
              <a:t>ma-hā-ra-tu at-ta-wā-ṣu-li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حَلُّ المُشْكِلَاتِ</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problem solving</a:t>
            </a:r>
            <a:endParaRPr lang="en-US" sz="1350" dirty="0"/>
          </a:p>
          <a:p>
            <a:pPr indent="0" marL="0">
              <a:buNone/>
            </a:pPr>
            <a:r>
              <a:rPr lang="en-US" sz="1100" i="1" dirty="0">
                <a:solidFill>
                  <a:srgbClr val="5A6472"/>
                </a:solidFill>
                <a:latin typeface="Calibri" pitchFamily="34" charset="0"/>
                <a:cs typeface="Amiri" pitchFamily="2" charset="-78"/>
              </a:rPr>
              <a:t>ḥal-lu al-mush-ki-lā-ti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العَمَلُ الجَمَاعِيُّ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teamwork</a:t>
            </a:r>
            <a:endParaRPr lang="en-US" sz="1350" dirty="0"/>
          </a:p>
          <a:p>
            <a:pPr indent="0" marL="0">
              <a:buNone/>
            </a:pPr>
            <a:r>
              <a:rPr lang="en-US" sz="1100" i="1" dirty="0">
                <a:solidFill>
                  <a:srgbClr val="5A6472"/>
                </a:solidFill>
                <a:latin typeface="Calibri" pitchFamily="34" charset="0"/>
                <a:cs typeface="Amiri" pitchFamily="2" charset="-78"/>
              </a:rPr>
              <a:t>al-ʿa-ma-lu al-ja-mā-ʿiy-yu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إِدَارَةُ الوَقْتِ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time management</a:t>
            </a:r>
            <a:endParaRPr lang="en-US" sz="1350" dirty="0"/>
          </a:p>
          <a:p>
            <a:pPr indent="0" marL="0">
              <a:buNone/>
            </a:pPr>
            <a:r>
              <a:rPr lang="en-US" sz="1100" i="1" dirty="0">
                <a:solidFill>
                  <a:srgbClr val="5A6472"/>
                </a:solidFill>
                <a:latin typeface="Calibri" pitchFamily="34" charset="0"/>
                <a:cs typeface="Amiri" pitchFamily="2" charset="-78"/>
              </a:rPr>
              <a:t>i-dā-ra-tu al-waq-ti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الإِبْدَاعُ</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creativity</a:t>
            </a:r>
            <a:endParaRPr lang="en-US" sz="1350" dirty="0"/>
          </a:p>
          <a:p>
            <a:pPr indent="0" marL="0">
              <a:buNone/>
            </a:pPr>
            <a:r>
              <a:rPr lang="en-US" sz="1100" i="1" dirty="0">
                <a:solidFill>
                  <a:srgbClr val="5A6472"/>
                </a:solidFill>
                <a:latin typeface="Calibri" pitchFamily="34" charset="0"/>
                <a:cs typeface="Amiri" pitchFamily="2" charset="-78"/>
              </a:rPr>
              <a:t>al-ib-dā-ʿu</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الدِّقَّةُ</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Career language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المَرُونَةُ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adaptability</a:t>
            </a:r>
            <a:endParaRPr lang="en-US" sz="1350" dirty="0"/>
          </a:p>
          <a:p>
            <a:pPr indent="0" marL="0">
              <a:buNone/>
            </a:pPr>
            <a:r>
              <a:rPr lang="en-US" sz="1100" i="1" dirty="0">
                <a:solidFill>
                  <a:srgbClr val="5A6472"/>
                </a:solidFill>
                <a:latin typeface="Calibri" pitchFamily="34" charset="0"/>
                <a:cs typeface="Amiri" pitchFamily="2" charset="-78"/>
              </a:rPr>
              <a:t>al-ma-rū-na-tu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القِيَادَةُ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leadership</a:t>
            </a:r>
            <a:endParaRPr lang="en-US" sz="1350" dirty="0"/>
          </a:p>
          <a:p>
            <a:pPr indent="0" marL="0">
              <a:buNone/>
            </a:pPr>
            <a:r>
              <a:rPr lang="en-US" sz="1100" i="1" dirty="0">
                <a:solidFill>
                  <a:srgbClr val="5A6472"/>
                </a:solidFill>
                <a:latin typeface="Calibri" pitchFamily="34" charset="0"/>
                <a:cs typeface="Amiri" pitchFamily="2" charset="-78"/>
              </a:rPr>
              <a:t>al-qi-yā-da-tu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الخِبْرَةُ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experience</a:t>
            </a:r>
            <a:endParaRPr lang="en-US" sz="1350" dirty="0"/>
          </a:p>
          <a:p>
            <a:pPr indent="0" marL="0">
              <a:buNone/>
            </a:pPr>
            <a:r>
              <a:rPr lang="en-US" sz="1100" i="1" dirty="0">
                <a:solidFill>
                  <a:srgbClr val="5A6472"/>
                </a:solidFill>
                <a:latin typeface="Calibri" pitchFamily="34" charset="0"/>
                <a:cs typeface="Amiri" pitchFamily="2" charset="-78"/>
              </a:rPr>
              <a:t>al-khib-ra-tu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المُؤَهِّلَاتُ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qualifications</a:t>
            </a:r>
            <a:endParaRPr lang="en-US" sz="1350" dirty="0"/>
          </a:p>
          <a:p>
            <a:pPr indent="0" marL="0">
              <a:buNone/>
            </a:pPr>
            <a:r>
              <a:rPr lang="en-US" sz="1100" i="1" dirty="0">
                <a:solidFill>
                  <a:srgbClr val="5A6472"/>
                </a:solidFill>
                <a:latin typeface="Calibri" pitchFamily="34" charset="0"/>
                <a:cs typeface="Amiri" pitchFamily="2" charset="-78"/>
              </a:rPr>
              <a:t>al-mu-ʾah-hi-lā-tu</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إِجَادَةُ اللُّغَاتِ</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 proficiency</a:t>
            </a:r>
            <a:endParaRPr lang="en-US" sz="1350" dirty="0"/>
          </a:p>
          <a:p>
            <a:pPr indent="0" marL="0">
              <a:buNone/>
            </a:pPr>
            <a:r>
              <a:rPr lang="en-US" sz="1100" i="1" dirty="0">
                <a:solidFill>
                  <a:srgbClr val="5A6472"/>
                </a:solidFill>
                <a:latin typeface="Calibri" pitchFamily="34" charset="0"/>
                <a:cs typeface="Amiri" pitchFamily="2" charset="-78"/>
              </a:rPr>
              <a:t>i-jā-da-tu all-lu-ghā-ti</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مَهَارَاتُ الحَاسُوبِ</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computer skills</a:t>
            </a:r>
            <a:endParaRPr lang="en-US" sz="1350" dirty="0"/>
          </a:p>
          <a:p>
            <a:pPr indent="0" marL="0">
              <a:buNone/>
            </a:pPr>
            <a:r>
              <a:rPr lang="en-US" sz="1100" i="1" dirty="0">
                <a:solidFill>
                  <a:srgbClr val="5A6472"/>
                </a:solidFill>
                <a:latin typeface="Calibri" pitchFamily="34" charset="0"/>
                <a:cs typeface="Amiri" pitchFamily="2" charset="-78"/>
              </a:rPr>
              <a:t>ma-hā-rā-tu al-ḥā-sū-bi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FOCUS · PART 1 · THE FUTURE WITH SA- AND SAWFA (WEBSITE RULES 1–2)</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Present + sa- = future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سَـ · سَوْفَ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06170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7" name="Text 14"/>
          <p:cNvSpPr txBox="1"/>
          <p:nvPr/>
        </p:nvSpPr>
        <p:spPr>
          <a:xfrm>
            <a:off x="59527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Future with sa-</a:t>
            </a:r>
            <a:endParaRPr lang="en-US" sz="1100" dirty="0"/>
          </a:p>
        </p:txBody>
      </p:sp>
      <p:sp>
        <p:nvSpPr>
          <p:cNvPr id="18" name="Text 15"/>
          <p:cNvSpPr txBox="1"/>
          <p:nvPr/>
        </p:nvSpPr>
        <p:spPr>
          <a:xfrm>
            <a:off x="266090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Future with sawfa</a:t>
            </a:r>
            <a:endParaRPr lang="en-US" sz="1100" dirty="0"/>
          </a:p>
        </p:txBody>
      </p:sp>
      <p:sp>
        <p:nvSpPr>
          <p:cNvPr id="19" name="Text 16"/>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079992" y="2267712"/>
            <a:ext cx="25603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أَدْرُسُ</a:t>
            </a:r>
            <a:endParaRPr lang="ar-SA" sz="2400" dirty="0"/>
          </a:p>
        </p:txBody>
      </p:sp>
      <p:sp>
        <p:nvSpPr>
          <p:cNvPr id="22" name="Text 19"/>
          <p:cNvSpPr txBox="1"/>
          <p:nvPr/>
        </p:nvSpPr>
        <p:spPr>
          <a:xfrm>
            <a:off x="5971032" y="2267712"/>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سَ</a:t>
            </a:r>
            <a:pPr rtl="1" algn="ctr" indent="0" marL="0">
              <a:buNone/>
            </a:pPr>
            <a:r>
              <a:rPr lang="ar-SA" altLang="en-US" sz="2400" b="1" dirty="0">
                <a:solidFill>
                  <a:srgbClr val="1B3B6F"/>
                </a:solidFill>
                <a:latin typeface="Amiri" pitchFamily="2" charset="-78"/>
                <a:cs typeface="Amiri" pitchFamily="2" charset="-78"/>
              </a:rPr>
              <a:t>أَدْرُسُ</a:t>
            </a:r>
            <a:endParaRPr lang="ar-SA" sz="2400" dirty="0"/>
          </a:p>
        </p:txBody>
      </p:sp>
      <p:sp>
        <p:nvSpPr>
          <p:cNvPr id="23" name="Text 20"/>
          <p:cNvSpPr txBox="1"/>
          <p:nvPr/>
        </p:nvSpPr>
        <p:spPr>
          <a:xfrm>
            <a:off x="2679192" y="2267712"/>
            <a:ext cx="310896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سَوْفَ</a:t>
            </a:r>
            <a:pPr rtl="1" algn="ctr" indent="0" marL="0">
              <a:buNone/>
            </a:pPr>
            <a:r>
              <a:rPr lang="ar-SA" altLang="en-US" sz="2400" b="1" dirty="0">
                <a:solidFill>
                  <a:srgbClr val="1B3B6F"/>
                </a:solidFill>
                <a:latin typeface="Amiri" pitchFamily="2" charset="-78"/>
                <a:cs typeface="Amiri" pitchFamily="2" charset="-78"/>
              </a:rPr>
              <a:t> أَدْرُسُ</a:t>
            </a:r>
            <a:endParaRPr lang="ar-SA" sz="2400" dirty="0"/>
          </a:p>
        </p:txBody>
      </p:sp>
      <p:sp>
        <p:nvSpPr>
          <p:cNvPr id="24" name="Text 21"/>
          <p:cNvSpPr txBox="1"/>
          <p:nvPr/>
        </p:nvSpPr>
        <p:spPr>
          <a:xfrm>
            <a:off x="566928" y="2267712"/>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079992" y="3054096"/>
            <a:ext cx="25603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يَعْمَلُ</a:t>
            </a:r>
            <a:endParaRPr lang="ar-SA" sz="2400" dirty="0"/>
          </a:p>
        </p:txBody>
      </p:sp>
      <p:sp>
        <p:nvSpPr>
          <p:cNvPr id="29" name="Text 26"/>
          <p:cNvSpPr txBox="1"/>
          <p:nvPr/>
        </p:nvSpPr>
        <p:spPr>
          <a:xfrm>
            <a:off x="5971032" y="3054096"/>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سَ</a:t>
            </a:r>
            <a:pPr rtl="1" algn="ctr" indent="0" marL="0">
              <a:buNone/>
            </a:pPr>
            <a:r>
              <a:rPr lang="ar-SA" altLang="en-US" sz="2400" b="1" dirty="0">
                <a:solidFill>
                  <a:srgbClr val="1B3B6F"/>
                </a:solidFill>
                <a:latin typeface="Amiri" pitchFamily="2" charset="-78"/>
                <a:cs typeface="Amiri" pitchFamily="2" charset="-78"/>
              </a:rPr>
              <a:t>يَعْمَلُ</a:t>
            </a:r>
            <a:endParaRPr lang="ar-SA" sz="2400" dirty="0"/>
          </a:p>
        </p:txBody>
      </p:sp>
      <p:sp>
        <p:nvSpPr>
          <p:cNvPr id="30" name="Text 27"/>
          <p:cNvSpPr txBox="1"/>
          <p:nvPr/>
        </p:nvSpPr>
        <p:spPr>
          <a:xfrm>
            <a:off x="2679192" y="3054096"/>
            <a:ext cx="310896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سَوْفَ</a:t>
            </a:r>
            <a:pPr rtl="1" algn="ctr" indent="0" marL="0">
              <a:buNone/>
            </a:pPr>
            <a:r>
              <a:rPr lang="ar-SA" altLang="en-US" sz="2400" b="1" dirty="0">
                <a:solidFill>
                  <a:srgbClr val="1B3B6F"/>
                </a:solidFill>
                <a:latin typeface="Amiri" pitchFamily="2" charset="-78"/>
                <a:cs typeface="Amiri" pitchFamily="2" charset="-78"/>
              </a:rPr>
              <a:t> يَعْمَلُ</a:t>
            </a:r>
            <a:endParaRPr lang="ar-SA" sz="2400" dirty="0"/>
          </a:p>
        </p:txBody>
      </p:sp>
      <p:sp>
        <p:nvSpPr>
          <p:cNvPr id="31" name="Text 28"/>
          <p:cNvSpPr txBox="1"/>
          <p:nvPr/>
        </p:nvSpPr>
        <p:spPr>
          <a:xfrm>
            <a:off x="566928" y="3054096"/>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079992" y="3840480"/>
            <a:ext cx="25603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تَتَدَرَّبُ</a:t>
            </a:r>
            <a:endParaRPr lang="ar-SA" sz="2400" dirty="0"/>
          </a:p>
        </p:txBody>
      </p:sp>
      <p:sp>
        <p:nvSpPr>
          <p:cNvPr id="36" name="Text 33"/>
          <p:cNvSpPr txBox="1"/>
          <p:nvPr/>
        </p:nvSpPr>
        <p:spPr>
          <a:xfrm>
            <a:off x="5971032" y="3840480"/>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سَ</a:t>
            </a:r>
            <a:pPr rtl="1" algn="ctr" indent="0" marL="0">
              <a:buNone/>
            </a:pPr>
            <a:r>
              <a:rPr lang="ar-SA" altLang="en-US" sz="2400" b="1" dirty="0">
                <a:solidFill>
                  <a:srgbClr val="1B3B6F"/>
                </a:solidFill>
                <a:latin typeface="Amiri" pitchFamily="2" charset="-78"/>
                <a:cs typeface="Amiri" pitchFamily="2" charset="-78"/>
              </a:rPr>
              <a:t>تَتَدَرَّبُ</a:t>
            </a:r>
            <a:endParaRPr lang="ar-SA" sz="2400" dirty="0"/>
          </a:p>
        </p:txBody>
      </p:sp>
      <p:sp>
        <p:nvSpPr>
          <p:cNvPr id="37" name="Text 34"/>
          <p:cNvSpPr txBox="1"/>
          <p:nvPr/>
        </p:nvSpPr>
        <p:spPr>
          <a:xfrm>
            <a:off x="2679192" y="3840480"/>
            <a:ext cx="310896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سَوْفَ</a:t>
            </a:r>
            <a:pPr rtl="1" algn="ctr" indent="0" marL="0">
              <a:buNone/>
            </a:pPr>
            <a:r>
              <a:rPr lang="ar-SA" altLang="en-US" sz="2400" b="1" dirty="0">
                <a:solidFill>
                  <a:srgbClr val="1B3B6F"/>
                </a:solidFill>
                <a:latin typeface="Amiri" pitchFamily="2" charset="-78"/>
                <a:cs typeface="Amiri" pitchFamily="2" charset="-78"/>
              </a:rPr>
              <a:t> تَتَدَرَّبُ</a:t>
            </a:r>
            <a:endParaRPr lang="ar-SA" sz="2400" dirty="0"/>
          </a:p>
        </p:txBody>
      </p:sp>
      <p:sp>
        <p:nvSpPr>
          <p:cNvPr id="38" name="Text 35"/>
          <p:cNvSpPr txBox="1"/>
          <p:nvPr/>
        </p:nvSpPr>
        <p:spPr>
          <a:xfrm>
            <a:off x="566928" y="3840480"/>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079992" y="4626864"/>
            <a:ext cx="25603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نُسَافِرُ</a:t>
            </a:r>
            <a:endParaRPr lang="ar-SA" sz="2400" dirty="0"/>
          </a:p>
        </p:txBody>
      </p:sp>
      <p:sp>
        <p:nvSpPr>
          <p:cNvPr id="43" name="Text 40"/>
          <p:cNvSpPr txBox="1"/>
          <p:nvPr/>
        </p:nvSpPr>
        <p:spPr>
          <a:xfrm>
            <a:off x="5971032" y="4626864"/>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سَ</a:t>
            </a:r>
            <a:pPr rtl="1" algn="ctr" indent="0" marL="0">
              <a:buNone/>
            </a:pPr>
            <a:r>
              <a:rPr lang="ar-SA" altLang="en-US" sz="2400" b="1" dirty="0">
                <a:solidFill>
                  <a:srgbClr val="1B3B6F"/>
                </a:solidFill>
                <a:latin typeface="Amiri" pitchFamily="2" charset="-78"/>
                <a:cs typeface="Amiri" pitchFamily="2" charset="-78"/>
              </a:rPr>
              <a:t>نُسَافِرُ</a:t>
            </a:r>
            <a:endParaRPr lang="ar-SA" sz="2400" dirty="0"/>
          </a:p>
        </p:txBody>
      </p:sp>
      <p:sp>
        <p:nvSpPr>
          <p:cNvPr id="44" name="Text 41"/>
          <p:cNvSpPr txBox="1"/>
          <p:nvPr/>
        </p:nvSpPr>
        <p:spPr>
          <a:xfrm>
            <a:off x="2679192" y="4626864"/>
            <a:ext cx="310896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سَوْفَ</a:t>
            </a:r>
            <a:pPr rtl="1" algn="ctr" indent="0" marL="0">
              <a:buNone/>
            </a:pPr>
            <a:r>
              <a:rPr lang="ar-SA" altLang="en-US" sz="2400" b="1" dirty="0">
                <a:solidFill>
                  <a:srgbClr val="1B3B6F"/>
                </a:solidFill>
                <a:latin typeface="Amiri" pitchFamily="2" charset="-78"/>
                <a:cs typeface="Amiri" pitchFamily="2" charset="-78"/>
              </a:rPr>
              <a:t> نُسَافِرُ</a:t>
            </a:r>
            <a:endParaRPr lang="ar-SA" sz="2400" dirty="0"/>
          </a:p>
        </p:txBody>
      </p:sp>
      <p:sp>
        <p:nvSpPr>
          <p:cNvPr id="45" name="Text 42"/>
          <p:cNvSpPr txBox="1"/>
          <p:nvPr/>
        </p:nvSpPr>
        <p:spPr>
          <a:xfrm>
            <a:off x="566928" y="4626864"/>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t>
            </a:r>
            <a:endParaRPr lang="en-US" sz="1100" dirty="0"/>
          </a:p>
        </p:txBody>
      </p:sp>
      <p:sp>
        <p:nvSpPr>
          <p:cNvPr id="46" name="Text 4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sa- is joined to the verb; sawfa is a separate word (more deliberate / formal). Same meaning: will.</a:t>
            </a:r>
            <a:endParaRPr lang="en-US" sz="11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AMBITION AND PURPOSE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 aim for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أَطْمَحُ إِلَى أَنْ · لِكَيْ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1E7B4F"/>
          </a:solidFill>
          <a:ln w="12700">
            <a:solidFill>
              <a:srgbClr val="1E7B4F"/>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WANT · CORE</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أُرِيدُ أَنْ أُصْبِحَ</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أُرِيدُ أَنْ أُصْبِحَ مُهَنْدِسًا.</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want to become an engineer.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Job after uṣbiḥa: -an.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AMBITION · DEVELOP</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أَطْمَحُ إِلَى أَنْ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أَطْمَحُ إِلَى أَنْ أُدِيرَ شَرِكَةً.</a:t>
            </a:r>
            <a:endParaRPr lang="ar-SA" sz="30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aspire to run a company.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ilā an + verb (-a).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PURPOSE · DEVELOP</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لِكَيْ · حَتَّى</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سَأَدْرُسُ بِجِدٍّ لِكَيْ أَنْجَحَ.</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will study hard in order to succeed.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Verb after li-kay ends in -a.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sa- is joined to the verb.</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سَأَدْرُسُ الطِّبَّ.</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سَ أَدْرُسُ الطِّبَّ.</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Future tense and purpose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السِّينُ وَسَوْفَ وَالتَّعْبِيرُ عَنِ الغَرَضِ</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Near or planned future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سَـ + المُضَارِع</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سَأَدْرُسُ الطِّبَّ.   ·   سَأَعْمَلُ فِي الخَارِجِ.</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Future with </a:t>
            </a:r>
            <a:pPr algn="l" indent="0" marL="0">
              <a:buNone/>
            </a:pPr>
            <a:r>
              <a:rPr lang="ar-SA" altLang="en-US" sz="1650" b="1" dirty="0">
                <a:solidFill>
                  <a:srgbClr val="1B3B6F"/>
                </a:solidFill>
                <a:latin typeface="Amiri" pitchFamily="2" charset="-78"/>
                <a:cs typeface="Amiri" pitchFamily="2" charset="-78"/>
              </a:rPr>
              <a:t>سوف</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سَوْفَ + المُضَارِع</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سَوْفَ أَتَدَرَّبُ فِي شَرِكَةٍ.   ·   سَوْفَ أَكْتَسِبُ خِبْرَةً.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Ambition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أَطْمَحُ إِلَى أَنْ + مُضَارِع</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أَطْمَحُ إِلَى أَنْ أُصْبِحَ مُهَنْدِسًا.   ·   أَطْمَحُ إِلَى أَنْ أُدِيرَ شَرِكَةً.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Purpose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لِكَيْ / حَتَّى + مُضَارِعٌ مَنْصُوبٌ</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سَأَدْرُسُ بِجِدٍّ لِكَيْ أَنْجَحَ.   ·   سَأَتَدَرَّبُ حَتَّى أَكْتَسِبَ خِبْرَةً.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will study”?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أَدْرُسُ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دَرَسْتُ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سَأَدْرُسُ</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تَتَدَرَّبُ هِنْدٌ فِي شَرِكَةٍ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سَوْفَ</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قَدْ</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future for “he works”.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سَتَعْمَلُ</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سَيَعْمَلُ</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سَأَعْمَلُ</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سَأَدْرُسُ بِجِدٍّ لِكَيْ ___ .</a:t>
            </a:r>
            <a:endParaRPr lang="ar-SA" sz="150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أَنْجَحَ</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نَجَحْتُ</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سَأَنْجَحُ</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will study”?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أَدْرُسُ</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دَرَسْتُ</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سَأَدْرُسُ</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 + adrusu.</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تَتَدَرَّبُ هِنْدٌ فِي شَرِكَةٍ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سَوْفَ</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قَدْ</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sawfa = will.</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future for “he works”.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سَتَعْمَلُ</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سَيَعْمَلُ</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سَأَعْمَلُ</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 sa-ya-.</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سَأَدْرُسُ بِجِدٍّ لِكَيْ ___ .</a:t>
            </a:r>
            <a:endParaRPr lang="ar-SA" sz="150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أَنْجَحَ</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نَجَحْتُ</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سَأَنْجَحُ</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li-kay: present verb in -a.</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plan a career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Ambition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cs typeface="Amiri" pitchFamily="2" charset="-78"/>
              </a:rPr>
              <a:t>أَطْمَحُ إِلَى أَنْ </a:t>
            </a:r>
            <a:pPr rtl="1" algn="ctr" indent="0" marL="0">
              <a:lnSpc>
                <a:spcPct val="120000"/>
              </a:lnSpc>
              <a:buNone/>
            </a:pPr>
            <a:r>
              <a:rPr lang="ar-SA" altLang="en-US" sz="2000" b="1" dirty="0">
                <a:solidFill>
                  <a:srgbClr val="1D5FBF"/>
                </a:solidFill>
                <a:latin typeface="Amiri" pitchFamily="2" charset="-78"/>
                <a:cs typeface="Amiri" pitchFamily="2" charset="-78"/>
              </a:rPr>
              <a:t>أُصْبِحَ</a:t>
            </a:r>
            <a:pPr rtl="1" algn="ctr" indent="0" marL="0">
              <a:lnSpc>
                <a:spcPct val="120000"/>
              </a:lnSpc>
              <a:buNone/>
            </a:pPr>
            <a:r>
              <a:rPr lang="ar-SA" altLang="en-US" sz="2000" b="1" dirty="0">
                <a:solidFill>
                  <a:srgbClr val="1B3B6F"/>
                </a:solidFill>
                <a:latin typeface="Amiri" pitchFamily="2" charset="-78"/>
                <a:cs typeface="Amiri" pitchFamily="2" charset="-78"/>
              </a:rPr>
              <a:t> مُهَنْدِسًا.</a:t>
            </a:r>
            <a:endParaRPr lang="ar-SA" sz="20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ilā an + verb (-a).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Step 1</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0E7C86"/>
                </a:solidFill>
                <a:latin typeface="Amiri" pitchFamily="2" charset="-78"/>
                <a:cs typeface="Amiri" pitchFamily="2" charset="-78"/>
              </a:rPr>
              <a:t>سَ</a:t>
            </a:r>
            <a:pPr rtl="1" algn="ctr" indent="0" marL="0">
              <a:lnSpc>
                <a:spcPct val="120000"/>
              </a:lnSpc>
              <a:buNone/>
            </a:pPr>
            <a:r>
              <a:rPr lang="ar-SA" altLang="en-US" sz="1800" b="1" dirty="0">
                <a:solidFill>
                  <a:srgbClr val="1B3B6F"/>
                </a:solidFill>
                <a:latin typeface="Amiri" pitchFamily="2" charset="-78"/>
                <a:cs typeface="Amiri" pitchFamily="2" charset="-78"/>
              </a:rPr>
              <a:t>أَدْرُسُ الرِّيَاضِيَّاتِ فِي الجَامِعَةِ.</a:t>
            </a:r>
            <a:endParaRPr lang="ar-SA" sz="1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 + present.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Step 2 + why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سَوْفَ</a:t>
            </a:r>
            <a:pPr rtl="1" algn="ctr" indent="0" marL="0">
              <a:lnSpc>
                <a:spcPct val="120000"/>
              </a:lnSpc>
              <a:buNone/>
            </a:pPr>
            <a:r>
              <a:rPr lang="ar-SA" altLang="en-US" sz="1750" b="1" dirty="0">
                <a:solidFill>
                  <a:srgbClr val="1B3B6F"/>
                </a:solidFill>
                <a:latin typeface="Amiri" pitchFamily="2" charset="-78"/>
                <a:cs typeface="Amiri" pitchFamily="2" charset="-78"/>
              </a:rPr>
              <a:t> أَتَدَرَّبُ فِي شَرِكَةٍ </a:t>
            </a:r>
            <a:pPr rtl="1" algn="ctr" indent="0" marL="0">
              <a:lnSpc>
                <a:spcPct val="120000"/>
              </a:lnSpc>
              <a:buNone/>
            </a:pPr>
            <a:r>
              <a:rPr lang="ar-SA" altLang="en-US" sz="1750" b="1" dirty="0">
                <a:solidFill>
                  <a:srgbClr val="D6336C"/>
                </a:solidFill>
                <a:latin typeface="Amiri" pitchFamily="2" charset="-78"/>
                <a:cs typeface="Amiri" pitchFamily="2" charset="-78"/>
              </a:rPr>
              <a:t>لِكَيْ</a:t>
            </a:r>
            <a:pPr rtl="1" algn="ctr" indent="0" marL="0">
              <a:lnSpc>
                <a:spcPct val="120000"/>
              </a:lnSpc>
              <a:buNone/>
            </a:pPr>
            <a:r>
              <a:rPr lang="ar-SA" altLang="en-US" sz="1750" b="1" dirty="0">
                <a:solidFill>
                  <a:srgbClr val="1B3B6F"/>
                </a:solidFill>
                <a:latin typeface="Amiri" pitchFamily="2" charset="-78"/>
                <a:cs typeface="Amiri" pitchFamily="2" charset="-78"/>
              </a:rPr>
              <a:t> أَكْتَسِبَ خِبْرَةً.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Purpose: li-kay + -a.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Condition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cs typeface="Amiri" pitchFamily="2" charset="-78"/>
              </a:rPr>
              <a:t>إِذَا نَجَحْتُ، </a:t>
            </a:r>
            <a:pPr rtl="1" algn="ctr" indent="0" marL="0">
              <a:lnSpc>
                <a:spcPct val="120000"/>
              </a:lnSpc>
              <a:buNone/>
            </a:pPr>
            <a:r>
              <a:rPr lang="ar-SA" altLang="en-US" sz="1850" b="1" dirty="0">
                <a:solidFill>
                  <a:srgbClr val="0E7C86"/>
                </a:solidFill>
                <a:latin typeface="Amiri" pitchFamily="2" charset="-78"/>
                <a:cs typeface="Amiri" pitchFamily="2" charset="-78"/>
              </a:rPr>
              <a:t>سَ</a:t>
            </a:r>
            <a:pPr rtl="1" algn="ctr" indent="0" marL="0">
              <a:lnSpc>
                <a:spcPct val="120000"/>
              </a:lnSpc>
              <a:buNone/>
            </a:pPr>
            <a:r>
              <a:rPr lang="ar-SA" altLang="en-US" sz="1850" b="1" dirty="0">
                <a:solidFill>
                  <a:srgbClr val="1B3B6F"/>
                </a:solidFill>
                <a:latin typeface="Amiri" pitchFamily="2" charset="-78"/>
                <a:cs typeface="Amiri" pitchFamily="2" charset="-78"/>
              </a:rPr>
              <a:t>أَعْمَلُ فِي الخَارِجِ.</a:t>
            </a:r>
            <a:endParaRPr lang="ar-SA" sz="18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If I succeed → sa-.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FUTURE</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AMBITION</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PURPOSE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فِي المُسْتَقْبَلِ أَطْمَحُ إِلَى أَنْ </a:t>
            </a:r>
            <a:pPr rtl="1" algn="r" indent="0" marL="0">
              <a:lnSpc>
                <a:spcPct val="120000"/>
              </a:lnSpc>
              <a:buNone/>
            </a:pPr>
            <a:r>
              <a:rPr lang="ar-SA" altLang="en-US" sz="1400" b="1" dirty="0">
                <a:solidFill>
                  <a:srgbClr val="1D5FBF"/>
                </a:solidFill>
                <a:latin typeface="Amiri" pitchFamily="2" charset="-78"/>
                <a:cs typeface="Amiri" pitchFamily="2" charset="-78"/>
              </a:rPr>
              <a:t>أُصْبِحَ</a:t>
            </a:r>
            <a:pPr rtl="1" algn="r" indent="0" marL="0">
              <a:lnSpc>
                <a:spcPct val="120000"/>
              </a:lnSpc>
              <a:buNone/>
            </a:pPr>
            <a:r>
              <a:rPr lang="ar-SA" altLang="en-US" sz="1400" b="1" dirty="0">
                <a:solidFill>
                  <a:srgbClr val="1B3B6F"/>
                </a:solidFill>
                <a:latin typeface="Amiri" pitchFamily="2" charset="-78"/>
                <a:cs typeface="Amiri" pitchFamily="2" charset="-78"/>
              </a:rPr>
              <a:t> مُهَنْدِسًا. بَعْدَ المَدْرَسَةِ </a:t>
            </a:r>
            <a:pPr rtl="1" algn="r" indent="0" marL="0">
              <a:lnSpc>
                <a:spcPct val="120000"/>
              </a:lnSpc>
              <a:buNone/>
            </a:pPr>
            <a:r>
              <a:rPr lang="ar-SA" altLang="en-US" sz="1400" b="1" dirty="0">
                <a:solidFill>
                  <a:srgbClr val="0E7C86"/>
                </a:solidFill>
                <a:latin typeface="Amiri" pitchFamily="2" charset="-78"/>
                <a:cs typeface="Amiri" pitchFamily="2" charset="-78"/>
              </a:rPr>
              <a:t>سَ</a:t>
            </a:r>
            <a:pPr rtl="1" algn="r" indent="0" marL="0">
              <a:lnSpc>
                <a:spcPct val="120000"/>
              </a:lnSpc>
              <a:buNone/>
            </a:pPr>
            <a:r>
              <a:rPr lang="ar-SA" altLang="en-US" sz="1400" b="1" dirty="0">
                <a:solidFill>
                  <a:srgbClr val="1B3B6F"/>
                </a:solidFill>
                <a:latin typeface="Amiri" pitchFamily="2" charset="-78"/>
                <a:cs typeface="Amiri" pitchFamily="2" charset="-78"/>
              </a:rPr>
              <a:t>أَدْرُسُ الرِّيَاضِيَّاتِ وَالفِيزِيَاءَ فِي الجَامِعَةِ، ثُمَّ </a:t>
            </a:r>
            <a:pPr rtl="1" algn="r" indent="0" marL="0">
              <a:lnSpc>
                <a:spcPct val="120000"/>
              </a:lnSpc>
              <a:buNone/>
            </a:pPr>
            <a:r>
              <a:rPr lang="ar-SA" altLang="en-US" sz="1400" b="1" dirty="0">
                <a:solidFill>
                  <a:srgbClr val="0E7C86"/>
                </a:solidFill>
                <a:latin typeface="Amiri" pitchFamily="2" charset="-78"/>
                <a:cs typeface="Amiri" pitchFamily="2" charset="-78"/>
              </a:rPr>
              <a:t>سَوْفَ</a:t>
            </a:r>
            <a:pPr rtl="1" algn="r" indent="0" marL="0">
              <a:lnSpc>
                <a:spcPct val="120000"/>
              </a:lnSpc>
              <a:buNone/>
            </a:pPr>
            <a:r>
              <a:rPr lang="ar-SA" altLang="en-US" sz="1400" b="1" dirty="0">
                <a:solidFill>
                  <a:srgbClr val="1B3B6F"/>
                </a:solidFill>
                <a:latin typeface="Amiri" pitchFamily="2" charset="-78"/>
                <a:cs typeface="Amiri" pitchFamily="2" charset="-78"/>
              </a:rPr>
              <a:t> أَتَدَرَّبُ فِي شَرِكَةِ بِنَاءٍ </a:t>
            </a:r>
            <a:pPr rtl="1" algn="r" indent="0" marL="0">
              <a:lnSpc>
                <a:spcPct val="120000"/>
              </a:lnSpc>
              <a:buNone/>
            </a:pPr>
            <a:r>
              <a:rPr lang="ar-SA" altLang="en-US" sz="1400" b="1" dirty="0">
                <a:solidFill>
                  <a:srgbClr val="D6336C"/>
                </a:solidFill>
                <a:latin typeface="Amiri" pitchFamily="2" charset="-78"/>
                <a:cs typeface="Amiri" pitchFamily="2" charset="-78"/>
              </a:rPr>
              <a:t>لِكَيْ</a:t>
            </a:r>
            <a:pPr rtl="1" algn="r" indent="0" marL="0">
              <a:lnSpc>
                <a:spcPct val="120000"/>
              </a:lnSpc>
              <a:buNone/>
            </a:pPr>
            <a:r>
              <a:rPr lang="ar-SA" altLang="en-US" sz="1400" b="1" dirty="0">
                <a:solidFill>
                  <a:srgbClr val="1B3B6F"/>
                </a:solidFill>
                <a:latin typeface="Amiri" pitchFamily="2" charset="-78"/>
                <a:cs typeface="Amiri" pitchFamily="2" charset="-78"/>
              </a:rPr>
              <a:t> أَكْتَسِبَ خِبْرَةً عَمَلِيَّةً. إِذَا نَجَحْتُ، </a:t>
            </a:r>
            <a:pPr rtl="1" algn="r" indent="0" marL="0">
              <a:lnSpc>
                <a:spcPct val="120000"/>
              </a:lnSpc>
              <a:buNone/>
            </a:pPr>
            <a:r>
              <a:rPr lang="ar-SA" altLang="en-US" sz="1400" b="1" dirty="0">
                <a:solidFill>
                  <a:srgbClr val="0E7C86"/>
                </a:solidFill>
                <a:latin typeface="Amiri" pitchFamily="2" charset="-78"/>
                <a:cs typeface="Amiri" pitchFamily="2" charset="-78"/>
              </a:rPr>
              <a:t>سَ</a:t>
            </a:r>
            <a:pPr rtl="1" algn="r" indent="0" marL="0">
              <a:lnSpc>
                <a:spcPct val="120000"/>
              </a:lnSpc>
              <a:buNone/>
            </a:pPr>
            <a:r>
              <a:rPr lang="ar-SA" altLang="en-US" sz="1400" b="1" dirty="0">
                <a:solidFill>
                  <a:srgbClr val="1B3B6F"/>
                </a:solidFill>
                <a:latin typeface="Amiri" pitchFamily="2" charset="-78"/>
                <a:cs typeface="Amiri" pitchFamily="2" charset="-78"/>
              </a:rPr>
              <a:t>أَعْمَلُ فِي الخَارِجِ </a:t>
            </a:r>
            <a:pPr rtl="1" algn="r" indent="0" marL="0">
              <a:lnSpc>
                <a:spcPct val="120000"/>
              </a:lnSpc>
              <a:buNone/>
            </a:pPr>
            <a:r>
              <a:rPr lang="ar-SA" altLang="en-US" sz="1400" b="1" dirty="0">
                <a:solidFill>
                  <a:srgbClr val="D6336C"/>
                </a:solidFill>
                <a:latin typeface="Amiri" pitchFamily="2" charset="-78"/>
                <a:cs typeface="Amiri" pitchFamily="2" charset="-78"/>
              </a:rPr>
              <a:t>حَتَّى</a:t>
            </a:r>
            <a:pPr rtl="1" algn="r" indent="0" marL="0">
              <a:lnSpc>
                <a:spcPct val="120000"/>
              </a:lnSpc>
              <a:buNone/>
            </a:pPr>
            <a:r>
              <a:rPr lang="ar-SA" altLang="en-US" sz="1400" b="1" dirty="0">
                <a:solidFill>
                  <a:srgbClr val="1B3B6F"/>
                </a:solidFill>
                <a:latin typeface="Amiri" pitchFamily="2" charset="-78"/>
                <a:cs typeface="Amiri" pitchFamily="2" charset="-78"/>
              </a:rPr>
              <a:t> أَتَعَلَّمَ مِنْ مُهَنْدِسِينَ مِنْ ثَقَافَاتٍ مُخْتَلِفَةٍ.</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In the future I aspire to become an engineer. After school I will study mathematics and physics at university, then I will train in a building company in order to gain practical experience. If I succeed, I will work abroad so that I learn from engineers from different cultures.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MODEL SENTENCES (TEACHER-WRITTEN ON THE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سَأَدْرُسُ الطِّبَّ فِي الجَامِعَةِ.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study medicine at university.</a:t>
            </a:r>
            <a:endParaRPr lang="en-US" sz="1250" dirty="0"/>
          </a:p>
          <a:p>
            <a:pPr indent="0" marL="0">
              <a:buNone/>
            </a:pPr>
            <a:r>
              <a:rPr lang="en-US" sz="1050" i="1" dirty="0">
                <a:solidFill>
                  <a:srgbClr val="8A6D1E"/>
                </a:solidFill>
                <a:latin typeface="Calibri" pitchFamily="34" charset="0"/>
                <a:cs typeface="Amiri" pitchFamily="2" charset="-78"/>
              </a:rPr>
              <a:t>sa- joined to the verb.</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سَوْفَ تَتَدَرَّبُ هِنْدٌ فِي شَرِكَةٍ.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Hind will train in a company.</a:t>
            </a:r>
            <a:endParaRPr lang="en-US" sz="1250" dirty="0"/>
          </a:p>
          <a:p>
            <a:pPr indent="0" marL="0">
              <a:buNone/>
            </a:pPr>
            <a:r>
              <a:rPr lang="en-US" sz="1050" i="1" dirty="0">
                <a:solidFill>
                  <a:srgbClr val="8A6D1E"/>
                </a:solidFill>
                <a:latin typeface="Calibri" pitchFamily="34" charset="0"/>
                <a:cs typeface="Amiri" pitchFamily="2" charset="-78"/>
              </a:rPr>
              <a:t>sawfa + she-verb (ta-).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أَطْمَحُ إِلَى أَنْ أُصْبِحَ مُهَنْدِسًا.</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aspire to become an engineer.</a:t>
            </a:r>
            <a:endParaRPr lang="en-US" sz="1250" dirty="0"/>
          </a:p>
          <a:p>
            <a:pPr indent="0" marL="0">
              <a:buNone/>
            </a:pPr>
            <a:r>
              <a:rPr lang="en-US" sz="1050" i="1" dirty="0">
                <a:solidFill>
                  <a:srgbClr val="8A6D1E"/>
                </a:solidFill>
                <a:latin typeface="Calibri" pitchFamily="34" charset="0"/>
                <a:cs typeface="Amiri" pitchFamily="2" charset="-78"/>
              </a:rPr>
              <a:t>ilā an + verb; job in -an.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سَأَتَدَرَّبُ حَتَّى أَكْتَسِبَ خِبْرَةً.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train so that I gain experience.</a:t>
            </a:r>
            <a:endParaRPr lang="en-US" sz="1250" dirty="0"/>
          </a:p>
          <a:p>
            <a:pPr indent="0" marL="0">
              <a:buNone/>
            </a:pPr>
            <a:r>
              <a:rPr lang="en-US" sz="1050" i="1" dirty="0">
                <a:solidFill>
                  <a:srgbClr val="8A6D1E"/>
                </a:solidFill>
                <a:latin typeface="Calibri" pitchFamily="34" charset="0"/>
                <a:cs typeface="Amiri" pitchFamily="2" charset="-78"/>
              </a:rPr>
              <a:t>Purpose + verb (-a).</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“CAREER PLAN (TOPIC GAME)”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الْمِهْنَةِ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21740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2" name="Shape 18"/>
          <p:cNvSpPr/>
          <p:nvPr/>
        </p:nvSpPr>
        <p:spPr>
          <a:xfrm>
            <a:off x="940612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4" name="Shape 19"/>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5"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6" name="Text 20"/>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study → doctor</a:t>
            </a:r>
            <a:endParaRPr lang="en-US" sz="1100" dirty="0"/>
          </a:p>
        </p:txBody>
      </p:sp>
      <p:sp>
        <p:nvSpPr>
          <p:cNvPr id="27" name="Shape 21"/>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4404360" y="1938528"/>
            <a:ext cx="365760" cy="365760"/>
          </a:xfrm>
          <a:prstGeom prst="ellipse">
            <a:avLst/>
          </a:prstGeom>
          <a:solidFill>
            <a:srgbClr val="1B3B6F"/>
          </a:solidFill>
          <a:ln w="12700">
            <a:solidFill>
              <a:srgbClr val="1B3B6F"/>
            </a:solidFill>
            <a:prstDash val="solid"/>
          </a:ln>
        </p:spPr>
      </p:sp>
      <p:sp>
        <p:nvSpPr>
          <p:cNvPr id="29" name="Text 23"/>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0" name="Shape 24"/>
          <p:cNvSpPr/>
          <p:nvPr/>
        </p:nvSpPr>
        <p:spPr>
          <a:xfrm>
            <a:off x="499262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5175504" y="2249424"/>
            <a:ext cx="649224" cy="649224"/>
          </a:xfrm>
          <a:prstGeom prst="rect">
            <a:avLst/>
          </a:prstGeom>
        </p:spPr>
      </p:pic>
      <p:sp>
        <p:nvSpPr>
          <p:cNvPr id="32" name="Shape 25"/>
          <p:cNvSpPr/>
          <p:nvPr/>
        </p:nvSpPr>
        <p:spPr>
          <a:xfrm>
            <a:off x="6181344" y="2066544"/>
            <a:ext cx="1014984" cy="1014984"/>
          </a:xfrm>
          <a:prstGeom prst="ellipse">
            <a:avLst/>
          </a:prstGeom>
          <a:solidFill>
            <a:srgbClr val="F4F1EA"/>
          </a:solidFill>
          <a:ln w="12700">
            <a:solidFill>
              <a:srgbClr val="F4F1EA"/>
            </a:solidFill>
            <a:prstDash val="solid"/>
          </a:ln>
        </p:spPr>
      </p:sp>
      <p:pic>
        <p:nvPicPr>
          <p:cNvPr id="33" name="Image 4" descr="preencoded.png">    </p:cNvPr>
          <p:cNvPicPr>
            <a:picLocks noChangeAspect="1"/>
          </p:cNvPicPr>
          <p:nvPr/>
        </p:nvPicPr>
        <p:blipFill>
          <a:blip r:embed="rId5"/>
          <a:stretch>
            <a:fillRect/>
          </a:stretch>
        </p:blipFill>
        <p:spPr>
          <a:xfrm>
            <a:off x="6364224" y="2249424"/>
            <a:ext cx="649224" cy="649224"/>
          </a:xfrm>
          <a:prstGeom prst="rect">
            <a:avLst/>
          </a:prstGeom>
        </p:spPr>
      </p:pic>
      <p:sp>
        <p:nvSpPr>
          <p:cNvPr id="34"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web development</a:t>
            </a:r>
            <a:endParaRPr lang="en-US" sz="1100" dirty="0"/>
          </a:p>
        </p:txBody>
      </p:sp>
      <p:sp>
        <p:nvSpPr>
          <p:cNvPr id="35" name="Shape 27"/>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28"/>
          <p:cNvSpPr/>
          <p:nvPr/>
        </p:nvSpPr>
        <p:spPr>
          <a:xfrm>
            <a:off x="585216" y="1938528"/>
            <a:ext cx="365760" cy="365760"/>
          </a:xfrm>
          <a:prstGeom prst="ellipse">
            <a:avLst/>
          </a:prstGeom>
          <a:solidFill>
            <a:srgbClr val="1B3B6F"/>
          </a:solidFill>
          <a:ln w="12700">
            <a:solidFill>
              <a:srgbClr val="1B3B6F"/>
            </a:solidFill>
            <a:prstDash val="solid"/>
          </a:ln>
        </p:spPr>
      </p:sp>
      <p:sp>
        <p:nvSpPr>
          <p:cNvPr id="37" name="Text 29"/>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8" name="Shape 30"/>
          <p:cNvSpPr/>
          <p:nvPr/>
        </p:nvSpPr>
        <p:spPr>
          <a:xfrm>
            <a:off x="117348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40" name="Shape 31"/>
          <p:cNvSpPr/>
          <p:nvPr/>
        </p:nvSpPr>
        <p:spPr>
          <a:xfrm>
            <a:off x="2362200" y="2066544"/>
            <a:ext cx="1014984" cy="1014984"/>
          </a:xfrm>
          <a:prstGeom prst="ellipse">
            <a:avLst/>
          </a:prstGeom>
          <a:solidFill>
            <a:srgbClr val="F4F1EA"/>
          </a:solidFill>
          <a:ln w="12700">
            <a:solidFill>
              <a:srgbClr val="F4F1EA"/>
            </a:solidFill>
            <a:prstDash val="solid"/>
          </a:ln>
        </p:spPr>
      </p:sp>
      <p:pic>
        <p:nvPicPr>
          <p:cNvPr id="41"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42" name="Text 32"/>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languages</a:t>
            </a:r>
            <a:endParaRPr lang="en-US" sz="1100" dirty="0"/>
          </a:p>
        </p:txBody>
      </p:sp>
      <p:sp>
        <p:nvSpPr>
          <p:cNvPr id="43" name="Shape 33"/>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4" name="Shape 34"/>
          <p:cNvSpPr/>
          <p:nvPr/>
        </p:nvSpPr>
        <p:spPr>
          <a:xfrm>
            <a:off x="11247120" y="3831336"/>
            <a:ext cx="292608" cy="292608"/>
          </a:xfrm>
          <a:prstGeom prst="ellipse">
            <a:avLst/>
          </a:prstGeom>
          <a:solidFill>
            <a:srgbClr val="2F6FB0"/>
          </a:solidFill>
          <a:ln w="12700">
            <a:solidFill>
              <a:srgbClr val="2F6FB0"/>
            </a:solidFill>
            <a:prstDash val="solid"/>
          </a:ln>
        </p:spPr>
      </p:sp>
      <p:sp>
        <p:nvSpPr>
          <p:cNvPr id="45" name="Text 35"/>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6" name="Text 36"/>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أَطْمَحُ إِلَى الْعَمَلِ فِي مَجَالِ تَطْوِيرِ الْمَوَاقِعِ.</a:t>
            </a:r>
            <a:endParaRPr lang="ar-SA" sz="2000" dirty="0"/>
          </a:p>
        </p:txBody>
      </p:sp>
      <p:sp>
        <p:nvSpPr>
          <p:cNvPr id="47" name="Shape 37"/>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8" name="Shape 38"/>
          <p:cNvSpPr/>
          <p:nvPr/>
        </p:nvSpPr>
        <p:spPr>
          <a:xfrm>
            <a:off x="11247120" y="4398264"/>
            <a:ext cx="292608" cy="292608"/>
          </a:xfrm>
          <a:prstGeom prst="ellipse">
            <a:avLst/>
          </a:prstGeom>
          <a:solidFill>
            <a:srgbClr val="2F6FB0"/>
          </a:solidFill>
          <a:ln w="12700">
            <a:solidFill>
              <a:srgbClr val="2F6FB0"/>
            </a:solidFill>
            <a:prstDash val="solid"/>
          </a:ln>
        </p:spPr>
      </p:sp>
      <p:sp>
        <p:nvSpPr>
          <p:cNvPr id="49" name="Text 39"/>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50" name="Text 40"/>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أَرْغَبُ فِي عَمَلٍ يَسْتَعْمِلُ اللُّغَاتِ وَالتَّوَاصُلَ الدَّوْلِيَّ.</a:t>
            </a:r>
            <a:endParaRPr lang="ar-SA" sz="2000" dirty="0"/>
          </a:p>
        </p:txBody>
      </p:sp>
      <p:sp>
        <p:nvSpPr>
          <p:cNvPr id="51" name="Shape 41"/>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2" name="Shape 42"/>
          <p:cNvSpPr/>
          <p:nvPr/>
        </p:nvSpPr>
        <p:spPr>
          <a:xfrm>
            <a:off x="11247120" y="4965192"/>
            <a:ext cx="292608" cy="292608"/>
          </a:xfrm>
          <a:prstGeom prst="ellipse">
            <a:avLst/>
          </a:prstGeom>
          <a:solidFill>
            <a:srgbClr val="2F6FB0"/>
          </a:solidFill>
          <a:ln w="12700">
            <a:solidFill>
              <a:srgbClr val="2F6FB0"/>
            </a:solidFill>
            <a:prstDash val="solid"/>
          </a:ln>
        </p:spPr>
      </p:sp>
      <p:sp>
        <p:nvSpPr>
          <p:cNvPr id="53" name="Text 43"/>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4" name="Text 44"/>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أُرِيدُ أَنْ أَدْرُسَ الطِّبَّ لِأُصْبِحَ طَبِيبَةً.</a:t>
            </a:r>
            <a:endParaRPr lang="ar-SA" sz="2000" dirty="0"/>
          </a:p>
        </p:txBody>
      </p:sp>
      <p:sp>
        <p:nvSpPr>
          <p:cNvPr id="55" name="Text 45"/>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6" name="Text 46"/>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7"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الْمِهْنَةِ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21740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2" name="Shape 18"/>
          <p:cNvSpPr/>
          <p:nvPr/>
        </p:nvSpPr>
        <p:spPr>
          <a:xfrm>
            <a:off x="940612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4" name="Shape 19"/>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5"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6" name="Text 20"/>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study → doctor</a:t>
            </a:r>
            <a:endParaRPr lang="en-US" sz="1100" dirty="0"/>
          </a:p>
        </p:txBody>
      </p:sp>
      <p:sp>
        <p:nvSpPr>
          <p:cNvPr id="27" name="Shape 21"/>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11256264" y="3785616"/>
            <a:ext cx="329184" cy="329184"/>
          </a:xfrm>
          <a:prstGeom prst="ellipse">
            <a:avLst/>
          </a:prstGeom>
          <a:solidFill>
            <a:srgbClr val="2E8B57"/>
          </a:solidFill>
          <a:ln w="12700">
            <a:solidFill>
              <a:srgbClr val="2E8B57"/>
            </a:solidFill>
            <a:prstDash val="solid"/>
          </a:ln>
        </p:spPr>
      </p:sp>
      <p:sp>
        <p:nvSpPr>
          <p:cNvPr id="29" name="Text 23"/>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0" name="Text 24"/>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أُرِيدُ أَنْ أَدْرُسَ الطِّبَّ لِأُصْبِحَ طَبِيبَةً.</a:t>
            </a:r>
            <a:endParaRPr lang="ar-SA" sz="2200" dirty="0"/>
          </a:p>
        </p:txBody>
      </p:sp>
      <p:sp>
        <p:nvSpPr>
          <p:cNvPr id="31" name="Text 25"/>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want to study medicine to become a doctor.</a:t>
            </a:r>
            <a:endParaRPr lang="en-US" sz="1200" dirty="0"/>
          </a:p>
        </p:txBody>
      </p:sp>
      <p:sp>
        <p:nvSpPr>
          <p:cNvPr id="32" name="Shape 26"/>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27"/>
          <p:cNvSpPr/>
          <p:nvPr/>
        </p:nvSpPr>
        <p:spPr>
          <a:xfrm>
            <a:off x="4404360" y="1938528"/>
            <a:ext cx="365760" cy="365760"/>
          </a:xfrm>
          <a:prstGeom prst="ellipse">
            <a:avLst/>
          </a:prstGeom>
          <a:solidFill>
            <a:srgbClr val="1B3B6F"/>
          </a:solidFill>
          <a:ln w="12700">
            <a:solidFill>
              <a:srgbClr val="1B3B6F"/>
            </a:solidFill>
            <a:prstDash val="solid"/>
          </a:ln>
        </p:spPr>
      </p:sp>
      <p:sp>
        <p:nvSpPr>
          <p:cNvPr id="34" name="Text 28"/>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5" name="Shape 29"/>
          <p:cNvSpPr/>
          <p:nvPr/>
        </p:nvSpPr>
        <p:spPr>
          <a:xfrm>
            <a:off x="499262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5175504" y="2249424"/>
            <a:ext cx="649224" cy="649224"/>
          </a:xfrm>
          <a:prstGeom prst="rect">
            <a:avLst/>
          </a:prstGeom>
        </p:spPr>
      </p:pic>
      <p:sp>
        <p:nvSpPr>
          <p:cNvPr id="37" name="Shape 30"/>
          <p:cNvSpPr/>
          <p:nvPr/>
        </p:nvSpPr>
        <p:spPr>
          <a:xfrm>
            <a:off x="6181344" y="2066544"/>
            <a:ext cx="1014984" cy="1014984"/>
          </a:xfrm>
          <a:prstGeom prst="ellipse">
            <a:avLst/>
          </a:prstGeom>
          <a:solidFill>
            <a:srgbClr val="F4F1EA"/>
          </a:solidFill>
          <a:ln w="12700">
            <a:solidFill>
              <a:srgbClr val="F4F1EA"/>
            </a:solidFill>
            <a:prstDash val="solid"/>
          </a:ln>
        </p:spPr>
      </p:sp>
      <p:pic>
        <p:nvPicPr>
          <p:cNvPr id="38" name="Image 4" descr="preencoded.png">    </p:cNvPr>
          <p:cNvPicPr>
            <a:picLocks noChangeAspect="1"/>
          </p:cNvPicPr>
          <p:nvPr/>
        </p:nvPicPr>
        <p:blipFill>
          <a:blip r:embed="rId5"/>
          <a:stretch>
            <a:fillRect/>
          </a:stretch>
        </p:blipFill>
        <p:spPr>
          <a:xfrm>
            <a:off x="6364224" y="2249424"/>
            <a:ext cx="649224" cy="649224"/>
          </a:xfrm>
          <a:prstGeom prst="rect">
            <a:avLst/>
          </a:prstGeom>
        </p:spPr>
      </p:pic>
      <p:sp>
        <p:nvSpPr>
          <p:cNvPr id="39" name="Text 3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web development</a:t>
            </a:r>
            <a:endParaRPr lang="en-US" sz="1100" dirty="0"/>
          </a:p>
        </p:txBody>
      </p:sp>
      <p:sp>
        <p:nvSpPr>
          <p:cNvPr id="40" name="Shape 32"/>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Shape 33"/>
          <p:cNvSpPr/>
          <p:nvPr/>
        </p:nvSpPr>
        <p:spPr>
          <a:xfrm>
            <a:off x="7437120" y="3785616"/>
            <a:ext cx="329184" cy="329184"/>
          </a:xfrm>
          <a:prstGeom prst="ellipse">
            <a:avLst/>
          </a:prstGeom>
          <a:solidFill>
            <a:srgbClr val="2E8B57"/>
          </a:solidFill>
          <a:ln w="12700">
            <a:solidFill>
              <a:srgbClr val="2E8B57"/>
            </a:solidFill>
            <a:prstDash val="solid"/>
          </a:ln>
        </p:spPr>
      </p:sp>
      <p:sp>
        <p:nvSpPr>
          <p:cNvPr id="42" name="Text 34"/>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3" name="Text 35"/>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أَطْمَحُ إِلَى الْعَمَلِ فِي مَجَالِ تَطْوِيرِ الْمَوَاقِعِ.</a:t>
            </a:r>
            <a:endParaRPr lang="ar-SA" sz="2200" dirty="0"/>
          </a:p>
        </p:txBody>
      </p:sp>
      <p:sp>
        <p:nvSpPr>
          <p:cNvPr id="44" name="Text 36"/>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aspire to work in web development.</a:t>
            </a:r>
            <a:endParaRPr lang="en-US" sz="1200" dirty="0"/>
          </a:p>
        </p:txBody>
      </p:sp>
      <p:sp>
        <p:nvSpPr>
          <p:cNvPr id="45" name="Shape 37"/>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38"/>
          <p:cNvSpPr/>
          <p:nvPr/>
        </p:nvSpPr>
        <p:spPr>
          <a:xfrm>
            <a:off x="585216" y="1938528"/>
            <a:ext cx="365760" cy="365760"/>
          </a:xfrm>
          <a:prstGeom prst="ellipse">
            <a:avLst/>
          </a:prstGeom>
          <a:solidFill>
            <a:srgbClr val="1B3B6F"/>
          </a:solidFill>
          <a:ln w="12700">
            <a:solidFill>
              <a:srgbClr val="1B3B6F"/>
            </a:solidFill>
            <a:prstDash val="solid"/>
          </a:ln>
        </p:spPr>
      </p:sp>
      <p:sp>
        <p:nvSpPr>
          <p:cNvPr id="47" name="Text 39"/>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8" name="Shape 40"/>
          <p:cNvSpPr/>
          <p:nvPr/>
        </p:nvSpPr>
        <p:spPr>
          <a:xfrm>
            <a:off x="117348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50" name="Shape 41"/>
          <p:cNvSpPr/>
          <p:nvPr/>
        </p:nvSpPr>
        <p:spPr>
          <a:xfrm>
            <a:off x="2362200" y="2066544"/>
            <a:ext cx="1014984" cy="1014984"/>
          </a:xfrm>
          <a:prstGeom prst="ellipse">
            <a:avLst/>
          </a:prstGeom>
          <a:solidFill>
            <a:srgbClr val="F4F1EA"/>
          </a:solidFill>
          <a:ln w="12700">
            <a:solidFill>
              <a:srgbClr val="F4F1EA"/>
            </a:solidFill>
            <a:prstDash val="solid"/>
          </a:ln>
        </p:spPr>
      </p:sp>
      <p:pic>
        <p:nvPicPr>
          <p:cNvPr id="51"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52" name="Text 42"/>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languages</a:t>
            </a:r>
            <a:endParaRPr lang="en-US" sz="1100" dirty="0"/>
          </a:p>
        </p:txBody>
      </p:sp>
      <p:sp>
        <p:nvSpPr>
          <p:cNvPr id="53" name="Shape 43"/>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4" name="Shape 44"/>
          <p:cNvSpPr/>
          <p:nvPr/>
        </p:nvSpPr>
        <p:spPr>
          <a:xfrm>
            <a:off x="3617976" y="3785616"/>
            <a:ext cx="329184" cy="329184"/>
          </a:xfrm>
          <a:prstGeom prst="ellipse">
            <a:avLst/>
          </a:prstGeom>
          <a:solidFill>
            <a:srgbClr val="2E8B57"/>
          </a:solidFill>
          <a:ln w="12700">
            <a:solidFill>
              <a:srgbClr val="2E8B57"/>
            </a:solidFill>
            <a:prstDash val="solid"/>
          </a:ln>
        </p:spPr>
      </p:sp>
      <p:sp>
        <p:nvSpPr>
          <p:cNvPr id="55" name="Text 45"/>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6" name="Text 46"/>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أَرْغَبُ فِي عَمَلٍ يَسْتَعْمِلُ اللُّغَاتِ وَالتَّوَاصُلَ الدَّوْلِيَّ.</a:t>
            </a:r>
            <a:endParaRPr lang="ar-SA" sz="2200" dirty="0"/>
          </a:p>
        </p:txBody>
      </p:sp>
      <p:sp>
        <p:nvSpPr>
          <p:cNvPr id="57" name="Text 47"/>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would like a job that uses languages and international communication.</a:t>
            </a:r>
            <a:endParaRPr lang="en-US" sz="1200" dirty="0"/>
          </a:p>
        </p:txBody>
      </p:sp>
      <p:sp>
        <p:nvSpPr>
          <p:cNvPr id="58"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THE FUTURE TENSE — PLANS, AMBITIONS AND CAREER GOALS”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will I do?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خُطَطُ المُسْتَقْبَلِ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programmer</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travel abroad</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develop skills</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سَأُطَوِّرُ مَهَارَاتِي.</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سَأَعْمَلُ مُبَرْمِجًا.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سَأُسَافِرُ إِلَى الخَارِجِ.</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خُطَطُ المُسْتَقْبَلِ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programmer</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سَأَعْمَلُ مُبَرْمِجًا.</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will work as a programmer.</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travel abroad</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سَأُسَافِرُ إِلَى الخَارِجِ.</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will travel abroad.</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develop skills</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سَأُطَوِّرُ مَهَارَاتِي.</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will develop my skills.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Future or present?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سَأَدْرُسُ الطِّبَّ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سَوْفَ يَتَدَرَّبُ</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سَتَعْمَلُ فِي الخَارِجِ</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سَنُسَافِرُ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أَدْرُسُ العُلُومَ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يَعْمَلُ فِي مَكْتَبٍ</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تَتَدَرَّبُ الآنَ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نَسْكُنُ فِي لَنْدَنَ</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Future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Future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سَأَدْرُسُ الطِّبَّ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سَوْفَ يَتَدَرَّبُ</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سَتَعْمَلُ فِي الخَارِجِ</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سَنُسَافِرُ</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أَدْرُسُ العُلُومَ</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يَعْمَلُ فِي مَكْتَبٍ</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تَتَدَرَّبُ الآنَ</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نَسْكُنُ فِي لَنْدَنَ</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أَطْمَحُ ___ أَنْ أُصْبِحَ طَبِيبًا.</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gives a purpose?</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لٰكِنَّ</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بَيْنَمَا</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أَنْوِي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succeed in</a:t>
            </a:r>
            <a:endParaRPr lang="en-US" sz="12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intend to</a:t>
            </a:r>
            <a:endParaRPr lang="en-US" sz="12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need to</a:t>
            </a:r>
            <a:endParaRPr lang="en-US" sz="12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1" name="Text 58"/>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أُرِيدُ أَنْ أُصْبِحَ ___ .</a:t>
            </a:r>
            <a:endParaRPr lang="ar-SA" sz="150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مُهَنْدِسٌ</a:t>
            </a:r>
            <a:endParaRPr lang="ar-SA" sz="20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مُهَنْدِسِينَ</a:t>
            </a:r>
            <a:endParaRPr lang="ar-SA" sz="20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مُهَنْدِسًا</a:t>
            </a:r>
            <a:endParaRPr lang="ar-SA" sz="20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أَطْمَحُ ___ أَنْ أُصْبِحَ طَبِيبًا.</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aṭmaḥu ilā an …</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gives a purpose?</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لٰكِنَّ</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لِكَيْ</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بَيْنَمَا</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li-kay = in order to.</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أَنْوِي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succeed in</a:t>
            </a:r>
            <a:endParaRPr lang="en-US" sz="125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intend to</a:t>
            </a:r>
            <a:endParaRPr lang="en-US" sz="125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need to</a:t>
            </a:r>
            <a:endParaRPr lang="en-US" sz="125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niyya = intention.</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7" name="Text 64"/>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أُرِيدُ أَنْ أُصْبِحَ ___ .</a:t>
            </a:r>
            <a:endParaRPr lang="ar-SA" sz="150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مُهَنْدِسٌ</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مُهَنْدِسِينَ</a:t>
            </a:r>
            <a:endParaRPr lang="ar-SA" sz="17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مُهَنْدِسًا</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Job after uṣbiḥa: -an.</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سَوْفَ سَأَدْرُسُ الطِّبَّ.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sa- or sawfa: both?</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أَطْمَحُ إِلَى أَنْ أُصْبِحُ مُهَنْدِسًا.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an: -u or -a?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سَتَدْرُسُ عُمَرُ الهَنْدَسَةَ.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Omar = he: which prefix?</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سَوْفَ سَأَدْرُسُ الطِّبَّ.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سَوْفَ أَدْرُسُ الطِّبَّ.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sa- OR sawfa, not both.</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أَطْمَحُ إِلَى أَنْ أُصْبِحُ مُهَنْدِسًا.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أَطْمَحُ إِلَى أَنْ أُصْبِحَ مُهَنْدِسًا.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an the verb ends in -a.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سَتَدْرُسُ عُمَرُ الهَنْدَسَةَ.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سَيَدْرُسُ عُمَرُ الهَنْدَسَةَ.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Omar is “he” → sa-ya-.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career plans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Omar want to become?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engineer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doctor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designer</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Omar study at university?</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medicine</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computing</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maths and physics</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Hind join?</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nursing course</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language course</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design course</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will she join it?</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build a portfolio</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find a job abroad</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meet friends</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Yusuf plan to train?</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school</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hospital</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bank</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Yusuf want to check?</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nursing suits him</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salary is high</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hours are short</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مُهَنْدِسًا</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التَّصْمِيمِ</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مُسْتَشْفًى</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يُرِيدُ عُمَرُ أَنْ يُصْبِحَ مُهَنْدِسًا،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Omar wants to become an engineer,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لِذٰلِكَ سَيَدْرُسُ الرِّيَاضِيَّاتِ وَالفِيزِيَاءَ فِي الجَامِعَةِ.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he will study maths and physics at university.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هِنْدٌ فَسَوْفَ تَلْتَحِقُ بِدَوْرَةٍ فِي التَّصْمِيمِ لِكَيْ تَبْنِيَ مَلَفَّ أَعْمَالٍ.</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Hind, she will join a design course in order to build a portfolio.</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وَيُخَطِّطُ يُوسُفُ لِلتَّدَرُّبِ فِي مُسْتَشْفًى</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Yusuf plans to train in a hospital</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حَتَّى يَتَأَكَّدَ مِنْ أَنَّ التَّمْرِيضَ يُنَاسِبُهُ.</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that he can make sure nursing suits him.</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Omar want to become?</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engineer</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doctor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designer</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يُرِيدُ عُمَرُ أَنْ يُصْبِحَ مُهَنْدِسًا</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Omar study at university?</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medicine</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computing</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maths and physics</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سَيَدْرُسُ الرِّيَاضِيَّاتِ وَالفِيزِيَاءَ</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Hind join?</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nursing course</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language course</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design course</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سَوْفَ تَلْتَحِقُ بِدَوْرَةٍ فِي التَّصْمِيمِ</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will she join it?</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build a portfolio</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find a job abroad</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meet friends</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لِكَيْ تَبْنِيَ مَلَفَّ أَعْمَالٍ</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Yusuf plan to train?</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school</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a hospital</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bank</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لِلتَّدَرُّبِ فِي مُسْتَشْفًى</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Yusuf want to check?</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nursing suits him</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 salary is high</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 hours are short</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حَتَّى يَتَأَكَّدَ مِنْ أَنَّ التَّمْرِيضَ يُنَاسِبُهُ</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مُهَنْدِسًا</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التَّصْمِيمِ</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مُسْتَشْفًى</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D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Career pathway pitch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D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Career pathway pitch</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Present a future study/work plan with ambitions, qualifications and reasons, then answer a partner question about an alternative route.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Plan a one-minute pitch: ambition → study / qualification → reason.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Present it to a partner (on the mic, by invitation, or recorded).</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partner asks: “And if that does not work?” (wa-idhā lam …?)</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Answer with an alternative route using a conditional.</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sentences: “urīdu an aṣbaḥa …” + one reason.</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Future with sa- / sawfa and a purpose (li-uṣbiḥa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pitch with a hope (aṭmaḥu ilā …) and a conditional alternative (idhā lam … fa-sa-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أَطْمَحُ إِلَى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aspire to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سَأَدْرُسُ … لِأُصْبِحَ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will study … to become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إِذَا لَمْ أَنْجَحْ فِي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if I do not succeed in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فَسَأَخْتَارُ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then I will choose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career plans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سَتَدْرُسُ بَعْدَ المَدْرَسَةِ؟</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تُرِيدُ أَنْ تُصْبِحَ فِي المُسْتَقْبَلِ؟</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لِمَاذَا تُرِيدُ هٰذِهِ المِهْنَةَ؟</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خُطَّتُكَ إِذَا لَمْ تَنْجَحْ فِي الخُطَّةِ الأُولَى؟</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سَأَدْرُسُ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أُرِيدُ أَنْ أُصْبِحَ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أَطْمَحُ إِلَى ذٰلِكَ لِأَنَّ ___ ، وَسَوْفَ ___ لِكَيْ ___ .</a:t>
            </a:r>
            <a:endParaRPr lang="ar-SA" sz="13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إِذَا لَمْ أَنْجَحْ، سَوْفَ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سَتَفْعَلُ بَعْدَ المَدْرَسَةِ؟</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will you do after school?</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سَأَدْرُسُ عُلُومَ الحَاسُوبِ فِي الجَامِعَةِ.</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will study computer science at university.</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What you want to become, two things you will do (sa-), and one reason.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Ambition + route (sa- / sawfa) + a purpose (li-kay / ḥattā) for two steps.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independently controlled complex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your plan, the route and the purpose of EACH step, plus “if I succeed …”.</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أَطْمَحُ إِلَى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aspire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سَوْفَ أَتَدَرَّبُ فِي ______ لِكَيْ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train in … in order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سَأَتَعَلَّمُ ______ حَتَّى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learn … so that I can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إِذَا نَجَحْتُ، سَـ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succeed, I will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المُسْتَقْبَلِ أُرِيدُ أَنْ أُصْبِحَ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future I want to become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بَعْدَ المَدْرَسَةِ سَأَدْرُسُ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school I will study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ثُمَّ سَأَعْمَلُ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I will work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لِأَنَّنِي أُحِبُّ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because I love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سَأَدْرُسُ  ·  سَأَعْمَلُ  ·  سَوْفَ أَتَدَرَّبُ  ·  أُرِيدُ أَنْ أُصْبِحَ  ·  أَطْمَحُ إِلَى أَنْ  ·  أَنْوِي أَنْ  ·  لِكَيْ  ·  حَتَّى  ·  أَكْتَسِبَ خِبْرَةً  ·  بَعْدَ التَّخَرُّجِ  ·  فِي المُسْتَقْبَلِ  ·  إِذَا نَجَحْتُ</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about your future career plan, the route you will follow and the purpose of each step.</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Address every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two target structures from the grammar lesson.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evidence, reason or comparison.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agreement, verb patterns and spelling.</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مَجَالِ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field of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أَبْحَثُ عَنْ تَدْرِيبٍ عَمَلِيٍّ</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look for a work placement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أُطَوِّرُ مَهَارَاتِي فِي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develop my skills in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قَدْ أُؤَسِّسُ شَرِكَتِي الخَاصَّةَ يَوْمًا مَا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may found my own company one day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الرَّغْمِ مِنْ أَنَّ الطَّرِيقَ طَوِيلٌ</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although the road is long</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المُسْتَقْبَلِ أَطْمَحُ إِلَى أَنْ أُصْبِحَ مُهَنْدِسًا لِأَنَّنِي أُحِبُّ الرِّيَاضِيَّاتِ وَحَلَّ المُشْكِلَاتِ. بَعْدَ المَدْرَسَةِ سَأَدْرُسُ الهَنْدَسَةَ فِي الجَامِعَةِ، وَسَوْفَ أَبْحَثُ عَنْ تَدْرِيبٍ عَمَلِيٍّ فِي شَرِكَةِ بِنَاءٍ لِكَيْ أَكْتَسِبَ خِبْرَةً. كَمَا سَأَتَعَلَّمُ لُغَةً أَجْنَبِيَّةً حَتَّى أَسْتَطِيعَ العَمَلَ مَعَ فَرِيقٍ دَوْلِيٍّ. إِذَا نَجَحْتُ فِي هٰذِهِ الخُطَّةِ، فَسَأَعْمَلُ فِي الخَارِجِ لِمُدَّةِ سَنَتَيْنِ. عَلَى الرَّغْمِ مِنْ أَنَّ الطَّرِيقَ طَوِيلٌ، فَإِنَّنِي مُسْتَعِدٌّ لِلْعَمَلِ بِجِدٍّ.</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the future I aspire to become an engineer because I love maths and solving problems. After school I will study engineering at university, and I will look for a work placement in a building company in order to gain experience. I will also learn a foreign language so that I can work with an international team. If I succeed in this plan, I will work abroad for two years. Although the road is long, I am ready to work hard.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ambition (aṭmaḥu ilā an)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sa- and sawfa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li-kay / ḥattā + verb (-a)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condition (if I succeed)</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future verbs start with sa- or sawfa.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job after uṣbiḥa ends in -an.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an / li-kay / ḥattā: verb in -a.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step has a purpose.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 condition (if I succeed).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future for “she studies”.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سَتَدْرُسُ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سَيَدْرُسُ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سَأَدْرُسُ</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 purpose?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سَأَتَدَرَّبُ فِي شَرِكَةٍ.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سَأَتَدَرَّبُ حَتَّى أَكْتَسِبَ خِبْرَةً.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تَدَرَّبْتُ أَمْسِ.</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أَطْمَحُ إِلَى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شَرِكَةً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أُدِيرَ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أَدَرْتُ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سَأُدِيرُ</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future for “she studies”.</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سَتَدْرُسُ</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سَيَدْرُسُ</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سَأَدْرُسُ</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 sa-ta-.</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 purpose?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سَأَتَدَرَّبُ فِي شَرِكَةٍ.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سَأَتَدَرَّبُ حَتَّى أَكْتَسِبَ خِبْرَةً.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تَدَرَّبْتُ أَمْسِ.</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ḥattā + verb (-a) = so that.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أَطْمَحُ إِلَى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شَرِكَةً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أُدِيرَ</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أَدَرْتُ</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سَأُدِيرُ</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an: present verb in -a.</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five-year plan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المُسْتَقْبَلِ أَطْمَحُ إِلَى أَنْ أَعْمَلَ فِي مَجَالِ الأَمْنِ السِّيبْرَانِيِّ. بَعْدَ إِنْهَاءِ المَدْرَسَةِ سَأَدْرُسُ عُلُومَ الحَاسُوبِ، وَسَوْفَ أَبْحَثُ أَيْضًا عَنْ تَدْرِيبٍ عَمَلِيٍّ فِي شَرِكَةٍ تِقْنِيَّةٍ. أُرِيدُ أَنْ أَطَوِّرَ مَهَارَاتِي فِي البَرْمَجَةِ وَحَلِّ المُشْكِلَاتِ لِكَيْ أَحْمِيَ البَيَانَاتِ. إِذَا نَجَحْتُ فِي هٰذِهِ الخُطَّةِ، فَسَأَعْمَلُ فِي فَرِيقٍ دَوْلِيٍّ وَقَدْ أُؤَسِّسُ شَرِكَتِي الخَاصَّةَ يَوْمًا مَا.</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مَجَالِ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field of</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الأَمْنِ السِّيبْرَانِيِّ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cyber security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إِنْهَاءِ المَدْرَسَةِ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finishing school</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عُلُومَ الحَاسُوبِ</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computer science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تَدْرِيبٍ عَمَلِيٍّ</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work placement</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شَرِكَةٍ تِقْنِيَّةٍ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tech company</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أُطَوِّرَ</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develop</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أَحْمِيَ البَيَانَاتِ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protect data</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فَرِيقٍ دَوْلِيٍّ</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international team</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أُؤَسِّسُ</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found / set up</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field interests the writer?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medicine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cyber security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journalism</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writer study?</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engineering</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computer science</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practical step is planned?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work placement in a tech company</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year abroad</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part-time job in a shop</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skills will be developed?</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leadership and design</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programming and problem solving</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languages and teamwork</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purpose of these skills?</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protect data</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earn more money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travel</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long-term possibility is mentioned?</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becoming a teacher</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retiring early</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founding a company one day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field interests the writer?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medicine</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cyber security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journalism</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الأَمْنِ السِّيبْرَانِيِّ</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writer study?</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engineering</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languages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computer science</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سَأَدْرُسُ عُلُومَ الحَاسُوبِ</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practical step is planned?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work placement in a tech company</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year abroad</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part-time job in a shop</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تَدْرِيبٍ عَمَلِيٍّ فِي شَرِكَةٍ تِقْنِيَّةٍ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skills will be developed?</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leadership and design</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programming and problem solving</a:t>
            </a:r>
            <a:endParaRPr lang="en-US" sz="11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languages and teamwork</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البَرْمَجَةِ وَحَلِّ المُشْكِلَاتِ</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purpose of these skills?</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protect data</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earn more money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travel</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لِكَيْ أَحْمِيَ البَيَانَاتِ</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long-term possibility is mentioned?</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becoming a teacher</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retiring early</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founding a company one day</a:t>
            </a:r>
            <a:endParaRPr lang="en-US" sz="120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قَدْ أُؤَسِّسُ شَرِكَتِي الخَاصَّةَ</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Career Plans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TD-L11: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TD-L11 · Topic D Integrated Communication Workshop</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مُرَاجَعَةٌ شَامِلَةٌ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complete review</a:t>
            </a:r>
            <a:pPr indent="0" marL="0">
              <a:buNone/>
            </a:pPr>
            <a:r>
              <a:rPr lang="en-US" sz="1000" i="1" dirty="0">
                <a:solidFill>
                  <a:srgbClr val="5A6472"/>
                </a:solidFill>
                <a:latin typeface="Calibri" pitchFamily="34" charset="0"/>
                <a:cs typeface="Amiri" pitchFamily="2" charset="-78"/>
              </a:rPr>
              <a:t>  pl. مُرَاجَعَاتٌ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تَحْلِيلُ الأَخْطَاءِ</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error analysis</a:t>
            </a:r>
            <a:pPr indent="0" marL="0">
              <a:buNone/>
            </a:pPr>
            <a:r>
              <a:rPr lang="en-US" sz="1000" i="1" dirty="0">
                <a:solidFill>
                  <a:srgbClr val="5A6472"/>
                </a:solidFill>
                <a:latin typeface="Calibri" pitchFamily="34" charset="0"/>
                <a:cs typeface="Amiri" pitchFamily="2" charset="-78"/>
              </a:rPr>
              <a:t>  sing. خَطَأٌ</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أَوْلَوِيَّةٌ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priority</a:t>
            </a:r>
            <a:pPr indent="0" marL="0">
              <a:buNone/>
            </a:pPr>
            <a:r>
              <a:rPr lang="en-US" sz="1000" i="1" dirty="0">
                <a:solidFill>
                  <a:srgbClr val="5A6472"/>
                </a:solidFill>
                <a:latin typeface="Calibri" pitchFamily="34" charset="0"/>
                <a:cs typeface="Amiri" pitchFamily="2" charset="-78"/>
              </a:rPr>
              <a:t>  pl. أَوْلَوِيَّاتٌ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نُقْطَةُ قُوَّةٍ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strength</a:t>
            </a:r>
            <a:pPr indent="0" marL="0">
              <a:buNone/>
            </a:pPr>
            <a:r>
              <a:rPr lang="en-US" sz="1000" i="1" dirty="0">
                <a:solidFill>
                  <a:srgbClr val="5A6472"/>
                </a:solidFill>
                <a:latin typeface="Calibri" pitchFamily="34" charset="0"/>
                <a:cs typeface="Amiri" pitchFamily="2" charset="-78"/>
              </a:rPr>
              <a:t>  pl. نِقَاطُ قُوَّةٍ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أُحَسِّنُ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improve</a:t>
            </a:r>
            <a:pPr indent="0" marL="0">
              <a:buNone/>
            </a:pPr>
            <a:r>
              <a:rPr lang="en-US" sz="1000" i="1" dirty="0">
                <a:solidFill>
                  <a:srgbClr val="5A6472"/>
                </a:solidFill>
                <a:latin typeface="Calibri" pitchFamily="34" charset="0"/>
                <a:cs typeface="Amiri" pitchFamily="2" charset="-78"/>
              </a:rPr>
              <a:t>  يُحَسِّنُ 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Look back at TD-L06 to D3-L10 (website): which grammar point do you find hardest? Bring one mistake you made.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أَصْعَبُ قَاعِدَةٍ لِي هِيَ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Change 6 present sentences into the future (sa- / sawfa); write 5 sentences from the frames.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your plan in 80–100 words with li-kay / ḥattā.</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your career route with the purpose of each step (100–120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TD-L11 · Topic D Integrated Communication Workshop</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التَّوَاصُلِ المُتَكَامِلِ لِلْمِحْوَرِ 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revise the Topic D words for the workshop.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TD-L10 · Career Plans, Ambitions and Choices</dc:title>
  <dc:subject>PptxGenJS Presentation</dc:subject>
  <dc:creator>Al Madina Online School · Arabic Department</dc:creator>
  <cp:lastModifiedBy>Al Madina Online School · Arabic Department</cp:lastModifiedBy>
  <cp:revision>1</cp:revision>
  <dcterms:created xsi:type="dcterms:W3CDTF">2026-10-11T06:44:12Z</dcterms:created>
  <dcterms:modified xsi:type="dcterms:W3CDTF">2026-10-11T06:44:12Z</dcterms:modified>
</cp:coreProperties>
</file>