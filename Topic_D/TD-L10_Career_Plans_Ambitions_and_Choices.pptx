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TD-L10 — Career Plans, Ambitions and Choices. Website: Advanced Topics › Topic D (The World of Work) › Lesson 10.
The website builds this lesson on the D3-L04 lesson engine, with the Topic focus “Explain ambitions and evaluate how choices may shape the future.” (grammar: Future; hopes; conditional sentences; skills: Speaking · Writing) and the application challenge “Career pathway pitch”.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TD-L10.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TD-L06).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(Topic D, TD-L08).
• Vocabulary group 2 (education routes) prepares TD-L05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TD-L08. Questions 3–4 retrieve TD-L08;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“Present a future study/work plan with ambitions, qualifications and reasons, then answer a partner question about an alternative route.”
Website Topic D challenge “Career pathway pitch”. Purpose: لِ + subjunctive (لِأُصْبِحَ). Conditional with a negative: إِذَا لَمْ + jussive (أَنْجَحْ), result with فَسَـ.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(TD-L11 · Topic D Integrated Communication Workshop) will spend class time USING this language, so students prepare it tonight — short, simple, easy to access (school guidance: “Simple, Short, Interesting, Relevant, Easy to access”). The five words come from the website TD-L05 vocabulary (education and training routes).
Follow-up: the next Do Now tests two of these words (Flipped Learning: keep it short AND follow up).
Homework by route (website tasks). No internet? Students copy the five words from this slide into their book now.
TOPIC D: the five words are the ones the TD-L11 Do Now tests (preparation list of the website D3-L10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Career Plans, Ambitions and Choices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الخُطَطُ المِهْنِيَّةُ وَالطُّمُوحَاتُ وَالخِيَارَاتُ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ambitions and evaluate how choices may shape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TD-L10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2" charset="-78"/>
                <a:ea typeface="Amiri" pitchFamily="2" charset="-78"/>
                <a:cs typeface="Amiri" pitchFamily="2" charset="-78"/>
              </a:rPr>
              <a:t>سَـ / سَوْفَ</a:t>
            </a:r>
            <a:pPr algn="ctr" indent="0" marL="0">
              <a:buNone/>
            </a:pPr>
            <a:r>
              <a:rPr lang="en-US" sz="1200" dirty="0">
                <a:solidFill>
                  <a:srgbClr val="1F2A37"/>
                </a:solidFill>
                <a:latin typeface="Calibri" pitchFamily="34" charset="0"/>
                <a:cs typeface="Amiri" pitchFamily="2" charset="-78"/>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بَعْدَ التَّخَرُّجِ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أُخَطِّطُ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 يَكُونَ المُدَرِّسُ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بَعْدَ التَّخَرُّجِ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أُخَطِّطُ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 يَكُونَ المُدَرِّسُ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سَأَدْرُسُ</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سَوْفَ</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أَتَدَرَّبُ · لِكَيْ </a:t>
            </a:r>
            <a:pPr rtl="1" algn="ctr" indent="0" marL="0">
              <a:lnSpc>
                <a:spcPct val="120000"/>
              </a:lnSpc>
              <a:buNone/>
            </a:pPr>
            <a:r>
              <a:rPr lang="ar-SA" altLang="en-US" sz="2300" b="1" dirty="0">
                <a:solidFill>
                  <a:srgbClr val="1D5FBF"/>
                </a:solidFill>
                <a:latin typeface="Amiri" pitchFamily="2" charset="-78"/>
                <a:ea typeface="Amiri" pitchFamily="2" charset="-78"/>
                <a:cs typeface="Amiri" pitchFamily="2" charset="-78"/>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future with </a:t>
            </a:r>
            <a:pPr algn="l" indent="0" marL="0">
              <a:buNone/>
            </a:pPr>
            <a:r>
              <a:rPr lang="ar-SA" altLang="en-US" sz="1700" dirty="0">
                <a:solidFill>
                  <a:srgbClr val="1F2A37"/>
                </a:solidFill>
                <a:latin typeface="Amiri" pitchFamily="2" charset="-78"/>
                <a:ea typeface="Amiri" pitchFamily="2" charset="-78"/>
                <a:cs typeface="Amiri" pitchFamily="2" charset="-78"/>
              </a:rPr>
              <a:t>سَـ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سَوْفَ</a:t>
            </a:r>
            <a:pPr algn="l" indent="0" marL="0">
              <a:buNone/>
            </a:pPr>
            <a:r>
              <a:rPr lang="en-US" sz="1300" dirty="0">
                <a:solidFill>
                  <a:srgbClr val="1F2A37"/>
                </a:solidFill>
                <a:latin typeface="Calibri" pitchFamily="34" charset="0"/>
                <a:cs typeface="Amiri" pitchFamily="2" charset="-78"/>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an ambition with </a:t>
            </a:r>
            <a:pPr algn="l" indent="0" marL="0">
              <a:buNone/>
            </a:pPr>
            <a:r>
              <a:rPr lang="ar-SA" altLang="en-US" sz="1700" dirty="0">
                <a:solidFill>
                  <a:srgbClr val="1F2A37"/>
                </a:solidFill>
                <a:latin typeface="Amiri" pitchFamily="2" charset="-78"/>
                <a:ea typeface="Amiri" pitchFamily="2" charset="-78"/>
                <a:cs typeface="Amiri" pitchFamily="2" charset="-78"/>
              </a:rPr>
              <a:t>أُرِيدُ أَنْ / أَطْمَحُ إِلَى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purpose of a step with </a:t>
            </a:r>
            <a:pPr algn="l" indent="0" marL="0">
              <a:buNone/>
            </a:pPr>
            <a:r>
              <a:rPr lang="ar-SA" altLang="en-US" sz="1700" dirty="0">
                <a:solidFill>
                  <a:srgbClr val="1F2A37"/>
                </a:solidFill>
                <a:latin typeface="Amiri" pitchFamily="2" charset="-78"/>
                <a:ea typeface="Amiri" pitchFamily="2" charset="-78"/>
                <a:cs typeface="Amiri" pitchFamily="2" charset="-78"/>
              </a:rPr>
              <a:t>لِكَيْ / حَتَّى</a:t>
            </a:r>
            <a:pPr algn="l" indent="0" marL="0">
              <a:buNone/>
            </a:pPr>
            <a:r>
              <a:rPr lang="en-US" sz="1300" dirty="0">
                <a:solidFill>
                  <a:srgbClr val="1F2A37"/>
                </a:solidFill>
                <a:latin typeface="Calibri" pitchFamily="34" charset="0"/>
                <a:cs typeface="Amiri" pitchFamily="2" charset="-78"/>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‎خاکہ / منصوبہ‎ </a:t>
            </a:r>
            <a:pPr indent="0" marL="0">
              <a:buNone/>
            </a:pPr>
            <a:r>
              <a:rPr lang="en-US" sz="950" b="1" dirty="0">
                <a:solidFill>
                  <a:srgbClr val="2E8B57"/>
                </a:solidFill>
                <a:latin typeface="Calibri" pitchFamily="34" charset="0"/>
                <a:cs typeface="Amiri" pitchFamily="2" charset="-78"/>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‎ہدف‎ </a:t>
            </a:r>
            <a:pPr indent="0" marL="0">
              <a:buNone/>
            </a:pPr>
            <a:r>
              <a:rPr lang="en-US" sz="950" b="1" dirty="0">
                <a:solidFill>
                  <a:srgbClr val="2E8B57"/>
                </a:solidFill>
                <a:latin typeface="Calibri" pitchFamily="34" charset="0"/>
                <a:cs typeface="Amiri" pitchFamily="2" charset="-78"/>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‎طمع‎ </a:t>
            </a:r>
            <a:pPr indent="0" marL="0">
              <a:buNone/>
            </a:pPr>
            <a:r>
              <a:rPr lang="en-US" sz="950" b="1" dirty="0">
                <a:solidFill>
                  <a:srgbClr val="2E8B57"/>
                </a:solidFill>
                <a:latin typeface="Calibri" pitchFamily="34" charset="0"/>
                <a:cs typeface="Amiri" pitchFamily="2" charset="-78"/>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‎نیت‎ </a:t>
            </a:r>
            <a:pPr indent="0" marL="0">
              <a:buNone/>
            </a:pPr>
            <a:r>
              <a:rPr lang="en-US" sz="950" b="1" dirty="0">
                <a:solidFill>
                  <a:srgbClr val="2E8B57"/>
                </a:solidFill>
                <a:latin typeface="Calibri" pitchFamily="34" charset="0"/>
                <a:cs typeface="Amiri" pitchFamily="2" charset="-78"/>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training course</a:t>
            </a:r>
            <a:endParaRPr lang="en-US" sz="1350" dirty="0"/>
          </a:p>
          <a:p>
            <a:pPr indent="0" marL="0">
              <a:buNone/>
            </a:pPr>
            <a:r>
              <a:rPr lang="en-US" sz="1100" i="1" dirty="0">
                <a:solidFill>
                  <a:srgbClr val="5A6472"/>
                </a:solidFill>
                <a:latin typeface="Calibri" pitchFamily="34" charset="0"/>
                <a:cs typeface="Amiri" pitchFamily="2" charset="-78"/>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route</a:t>
            </a:r>
            <a:endParaRPr lang="en-US" sz="1350" dirty="0"/>
          </a:p>
          <a:p>
            <a:pPr indent="0" marL="0">
              <a:buNone/>
            </a:pPr>
            <a:r>
              <a:rPr lang="en-US" sz="1100" i="1" dirty="0">
                <a:solidFill>
                  <a:srgbClr val="5A6472"/>
                </a:solidFill>
                <a:latin typeface="Calibri" pitchFamily="34" charset="0"/>
                <a:cs typeface="Amiri" pitchFamily="2" charset="-78"/>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Future with </a:t>
            </a:r>
            <a:pPr algn="l" indent="0" marL="0">
              <a:buNone/>
            </a:pPr>
            <a:r>
              <a:rPr lang="ar-SA" altLang="en-US" sz="1650" b="1" dirty="0">
                <a:solidFill>
                  <a:srgbClr val="1B3B6F"/>
                </a:solidFill>
                <a:latin typeface="Amiri" pitchFamily="2" charset="-78"/>
                <a:ea typeface="Amiri" pitchFamily="2" charset="-78"/>
                <a:cs typeface="Amiri" pitchFamily="2" charset="-78"/>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تَتَدَرَّبُ هِنْدٌ فِي 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تَتَدَرَّبُ هِنْدٌ فِي 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أَطْمَحُ إِلَى أَنْ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سَوْفَ</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أَتَدَرَّبُ فِي شَرِكَةٍ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لِكَيْ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إِذَا نَجَحْتُ،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المُسْتَقْبَلِ أَطْمَحُ إِلَى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أُصْبِحَ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مُهَنْدِسًا. بَعْدَ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سَوْفَ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أَتَدَرَّبُ فِي شَرِكَةِ بِنَاءٍ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أَكْتَسِبَ خِبْرَةً عَمَلِيَّةً. إِذَا نَجَحْتُ،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أَعْمَلُ فِي الخَارِجِ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حَتَّى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medicine at university.</a:t>
            </a:r>
            <a:endParaRPr lang="en-US" sz="1250" dirty="0"/>
          </a:p>
          <a:p>
            <a:pPr indent="0" marL="0">
              <a:buNone/>
            </a:pPr>
            <a:r>
              <a:rPr lang="en-US" sz="1050" i="1" dirty="0">
                <a:solidFill>
                  <a:srgbClr val="8A6D1E"/>
                </a:solidFill>
                <a:latin typeface="Calibri" pitchFamily="34" charset="0"/>
                <a:cs typeface="Amiri" pitchFamily="2" charset="-78"/>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Hind will train in a company.</a:t>
            </a:r>
            <a:endParaRPr lang="en-US" sz="1250" dirty="0"/>
          </a:p>
          <a:p>
            <a:pPr indent="0" marL="0">
              <a:buNone/>
            </a:pPr>
            <a:r>
              <a:rPr lang="en-US" sz="1050" i="1" dirty="0">
                <a:solidFill>
                  <a:srgbClr val="8A6D1E"/>
                </a:solidFill>
                <a:latin typeface="Calibri" pitchFamily="34" charset="0"/>
                <a:cs typeface="Amiri" pitchFamily="2" charset="-78"/>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aspire to become an engineer.</a:t>
            </a:r>
            <a:endParaRPr lang="en-US" sz="1250" dirty="0"/>
          </a:p>
          <a:p>
            <a:pPr indent="0" marL="0">
              <a:buNone/>
            </a:pPr>
            <a:r>
              <a:rPr lang="en-US" sz="1050" i="1" dirty="0">
                <a:solidFill>
                  <a:srgbClr val="8A6D1E"/>
                </a:solidFill>
                <a:latin typeface="Calibri" pitchFamily="34" charset="0"/>
                <a:cs typeface="Amiri" pitchFamily="2" charset="-78"/>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train so that I gain experience.</a:t>
            </a:r>
            <a:endParaRPr lang="en-US" sz="1250" dirty="0"/>
          </a:p>
          <a:p>
            <a:pPr indent="0" marL="0">
              <a:buNone/>
            </a:pPr>
            <a:r>
              <a:rPr lang="en-US" sz="1050" i="1" dirty="0">
                <a:solidFill>
                  <a:srgbClr val="8A6D1E"/>
                </a:solidFill>
                <a:latin typeface="Calibri" pitchFamily="34" charset="0"/>
                <a:cs typeface="Amiri" pitchFamily="2" charset="-78"/>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“CAREER PLAN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doctor</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web development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أَطْمَحُ إِلَى الْعَمَلِ فِي مَجَالِ تَطْوِيرِ الْمَوَاقِعِ.</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أَرْغَبُ فِي عَمَلٍ يَسْتَعْمِلُ اللُّغَاتِ وَالتَّوَاصُلَ الدَّوْلِيَّ.</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أَنْ أَدْرُسَ الطِّبَّ لِأُصْبِحَ طَبِيبَةً.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doctor</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أَنْ أَدْرُسَ الطِّبَّ لِأُصْبِحَ طَبِيبَةً.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want to study medicine to become a doctor.</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web development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أَطْمَحُ إِلَى الْعَمَلِ فِي مَجَالِ تَطْوِيرِ الْمَوَاقِعِ.</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aspire to work in web development.</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أَرْغَبُ فِي عَمَلٍ يَسْتَعْمِلُ اللُّغَاتِ وَالتَّوَاصُلَ الدَّوْلِيَّ.</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a job that uses languages and international communication.</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التَّصْمِيمِ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مُسْتَشْفًى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التَّصْمِيمِ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مُسْتَشْفًى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pathway pitch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Career pathway pitch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a future study/work plan with ambitions, qualifications and reasons, then answer a partner question about an alternative route.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 a one-minute pitch: ambition → study / qualification → reason.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 it to a partner (on the mic, by invitation, or recorded).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partner asks: “And if that does not work?” (wa-idhā lam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with an alternative route using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“urīdu an aṣbaḥa …” +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with sa- / sawfa and a purpose (li-uṣbiḥa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pitch with a hope (aṭmaḥu ilā …) and a conditional alternative (idhā lam … fa-sa-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أَطْمَحُ إِلَى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aspire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سَأَدْرُسُ … لِأُصْبِحَ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will study … to become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إِذَا لَمْ أَنْجَحْ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I do not succeed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فَسَأَخْتَارُ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then I will choose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career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سَتَدْرُسُ بَعْدَ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تُرِيدُ أَنْ تُصْبِحَ فِي المُسْتَقْبَلِ؟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تُرِيدُ هٰذِهِ المِهْنَةَ؟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إِذَا لَمْ تَنْجَحْ فِي الخُطَّةِ الأُولَى؟</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سَأَدْرُسُ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أَنْ أُصْبِحَ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أَطْمَحُ إِلَى ذٰلِكَ لِأَنَّ ___ ، وَسَوْفَ ___ لِكَيْ ___ .</a:t>
            </a:r>
            <a:endParaRPr lang="ar-SA" sz="13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لَمْ أَنْجَحْ، سَوْفَ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سَتَفْعَلُ بَعْدَ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do after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سَأَدْرُسُ عُلُومَ الحَاسُوبِ فِي الجَامِعَةِ.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study computer science at university.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TD-L11 · Topic D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complete review</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error analysis</a:t>
            </a:r>
            <a:pPr indent="0" marL="0">
              <a:buNone/>
            </a:pPr>
            <a:r>
              <a:rPr lang="ar-SA" sz="1000" i="1" dirty="0">
                <a:solidFill>
                  <a:srgbClr val="5A6472"/>
                </a:solidFill>
                <a:latin typeface="Calibri" pitchFamily="34" charset="0"/>
                <a:ea typeface="Amiri" pitchFamily="2" charset="-78"/>
                <a:cs typeface="Amiri" pitchFamily="2" charset="-78"/>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priority</a:t>
            </a:r>
            <a:pPr indent="0" marL="0">
              <a:buNone/>
            </a:pPr>
            <a:r>
              <a:rPr lang="ar-SA" sz="1000" i="1" dirty="0">
                <a:solidFill>
                  <a:srgbClr val="5A6472"/>
                </a:solidFill>
                <a:latin typeface="Calibri" pitchFamily="34" charset="0"/>
                <a:ea typeface="Amiri" pitchFamily="2" charset="-78"/>
                <a:cs typeface="Amiri" pitchFamily="2" charset="-78"/>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ar-SA" sz="1000" i="1" dirty="0">
                <a:solidFill>
                  <a:srgbClr val="5A6472"/>
                </a:solidFill>
                <a:latin typeface="Calibri" pitchFamily="34" charset="0"/>
                <a:ea typeface="Amiri" pitchFamily="2" charset="-78"/>
                <a:cs typeface="Amiri" pitchFamily="2" charset="-78"/>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improve</a:t>
            </a:r>
            <a:pPr indent="0" marL="0">
              <a:buNone/>
            </a:pPr>
            <a:r>
              <a:rPr lang="ar-SA" sz="1000" i="1" dirty="0">
                <a:solidFill>
                  <a:srgbClr val="5A6472"/>
                </a:solidFill>
                <a:latin typeface="Calibri" pitchFamily="34" charset="0"/>
                <a:ea typeface="Amiri" pitchFamily="2" charset="-78"/>
                <a:cs typeface="Amiri" pitchFamily="2" charset="-78"/>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TD-L06 to D3-L10 (website):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TD-L11 · Topic D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التَّوَاصُلِ المُتَكَامِلِ لِلْمِحْوَرِ 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the Topic D words for the workshop.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TD-L10 · Career Plans, Ambitions and Choices</dc:title>
  <dc:subject>PptxGenJS Presentation</dc:subject>
  <dc:creator>Al Madina Online School · Arabic Department</dc:creator>
  <cp:lastModifiedBy>Al Madina Online School · Arabic Department</cp:lastModifiedBy>
  <cp:revision>1</cp:revision>
  <dcterms:created xsi:type="dcterms:W3CDTF">2026-10-11T06:44:12Z</dcterms:created>
  <dcterms:modified xsi:type="dcterms:W3CDTF">2026-10-11T06:44:12Z</dcterms:modified>
</cp:coreProperties>
</file>