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TD-L08 — Personal Qualities and Professional Skills. Website: Advanced Topics › Topic D (The World of Work) › Lesson 8.
The website builds this lesson on the D3-L03 lesson engine, with the Topic focus “Match strengths and qualities to roles and support judgements with evidence.” (grammar: Adjective agreement; relative clauses; لأنّ; skills: Speaking · Writing) and the application challenge “Candidate skills match”.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TD-L08.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earlier work personality adjectives return as WORKER qualities (صَبُورٌ، مُتَعَاوِنٌ، مُجْتَهِدٌ) — students already know the m. / f. habit.
• Grammar link: يَجِبُ أَنْ + verb (-a) is from F4-L06 (website) / F5-L10 (website);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TD-L07. Questions 3–4 retrieve TD-L07; question 5 retrieves D2-L01 (website)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(1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(2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“Match personal qualities and professional skills to different jobs. Every match must be justified with evidence from a short candidate profile.”
Website Topic D challenge “Candidate skills match”. Candidates: سَارَةُ: صَبُورَةٌ وَتُحِبُّ الأَطْفَالَ · يُوسُفُ: يُجِيدُ الحَاسُوبَ وَدَقِيقٌ · مَرْيَمُ: اجْتِمَاعِيَّةٌ وَتَتَكَلَّمُ ثَلَاثَ لُغَاتٍ. Jobs: مُعَلِّمَةٌ · مُبَرْمِجٌ · مُوَظَّفَةُ اسْتِقْبَالٍ فِي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(TD-L09 · Applications and Interviews) will spend class time USING this language, so students prepare it tonight — short, simple, easy to access (school guidance: “Simple, Short, Interesting, Relevant, Easy to access”). The five words come from the website TD-L10 vocabulary (future plans).
Follow-up: the next Do Now tests two of these words (Flipped Learning: keep it short AND follow up).
Homework by route (website tasks). No internet? Students copy the five words from this slide into their book now.
TOPIC D: the five words are the ones the TD-L09 Do Now tests (preparation list of the website D3-L05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Personal Qualities and Professional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الصِّفَاتُ الشَّخْصِيَّةُ وَالمَهَارَاتُ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Match strengths and qualities to roles and support judgements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TD-L08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TD-L07: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TD-L07: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(website):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يَحْتَاجُ إِلَى </a:t>
            </a:r>
            <a:pPr rtl="1" algn="ctr" indent="0" marL="0">
              <a:lnSpc>
                <a:spcPct val="120000"/>
              </a:lnSpc>
              <a:buNone/>
            </a:pPr>
            <a:r>
              <a:rPr lang="ar-SA" altLang="en-US" sz="1950" b="1" dirty="0">
                <a:solidFill>
                  <a:srgbClr val="0E7C86"/>
                </a:solidFill>
                <a:latin typeface="Amiri" pitchFamily="2" charset="-78"/>
                <a:cs typeface="Amiri" pitchFamily="2" charset="-78"/>
              </a:rPr>
              <a:t>الصَّبْرِ</a:t>
            </a:r>
            <a:pPr rtl="1" algn="ctr" indent="0" marL="0">
              <a:lnSpc>
                <a:spcPct val="120000"/>
              </a:lnSpc>
              <a:buNone/>
            </a:pPr>
            <a:r>
              <a:rPr lang="ar-SA" altLang="en-US" sz="1950" b="1" dirty="0">
                <a:solidFill>
                  <a:srgbClr val="1B3B6F"/>
                </a:solidFill>
                <a:latin typeface="Amiri" pitchFamily="2" charset="-78"/>
                <a:cs typeface="Amiri" pitchFamily="2" charset="-78"/>
              </a:rPr>
              <a:t> · يَجِبُ أَنْ يَكُونَ </a:t>
            </a:r>
            <a:pPr rtl="1" algn="ctr" indent="0" marL="0">
              <a:lnSpc>
                <a:spcPct val="120000"/>
              </a:lnSpc>
              <a:buNone/>
            </a:pPr>
            <a:r>
              <a:rPr lang="ar-SA" altLang="en-US" sz="1950" b="1" dirty="0">
                <a:solidFill>
                  <a:srgbClr val="1D5FBF"/>
                </a:solidFill>
                <a:latin typeface="Amiri" pitchFamily="2" charset="-78"/>
                <a:cs typeface="Amiri" pitchFamily="2" charset="-78"/>
              </a:rPr>
              <a:t>صَبُورًا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cs typeface="Amiri" pitchFamily="2" charset="-78"/>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job needs with </a:t>
            </a:r>
            <a:pPr algn="l" indent="0" marL="0">
              <a:buNone/>
            </a:pPr>
            <a:r>
              <a:rPr lang="ar-SA" altLang="en-US" sz="1700" dirty="0">
                <a:solidFill>
                  <a:srgbClr val="1F2A37"/>
                </a:solidFill>
                <a:latin typeface="Amiri" pitchFamily="2" charset="-78"/>
                <a:cs typeface="Amiri" pitchFamily="2" charset="-78"/>
              </a:rPr>
              <a:t>يَحْتَاجُ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worker must be (</a:t>
            </a:r>
            <a:pPr algn="l" indent="0" marL="0">
              <a:buNone/>
            </a:pPr>
            <a:r>
              <a:rPr lang="ar-SA" altLang="en-US" sz="1700" dirty="0">
                <a:solidFill>
                  <a:srgbClr val="1F2A37"/>
                </a:solidFill>
                <a:latin typeface="Amiri" pitchFamily="2" charset="-78"/>
                <a:cs typeface="Amiri" pitchFamily="2" charset="-78"/>
              </a:rPr>
              <a:t>يَجِبُ أَنْ يَكُونَ</a:t>
            </a:r>
            <a:pPr algn="l" indent="0" marL="0">
              <a:buNone/>
            </a:pPr>
            <a:r>
              <a:rPr lang="en-US" sz="1300" dirty="0">
                <a:solidFill>
                  <a:srgbClr val="1F2A37"/>
                </a:solidFill>
                <a:latin typeface="Calibri" pitchFamily="34" charset="0"/>
                <a:cs typeface="Amiri" pitchFamily="2" charset="-78"/>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‎قیادت‎ </a:t>
            </a:r>
            <a:pPr indent="0" marL="0">
              <a:buNone/>
            </a:pPr>
            <a:r>
              <a:rPr lang="en-US" sz="950" b="1" dirty="0">
                <a:solidFill>
                  <a:srgbClr val="2E8B57"/>
                </a:solidFill>
                <a:latin typeface="Calibri" pitchFamily="34" charset="0"/>
                <a:cs typeface="Amiri" pitchFamily="2" charset="-78"/>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‎مسؤول / ذمہ دار‎ </a:t>
            </a:r>
            <a:pPr indent="0" marL="0">
              <a:buNone/>
            </a:pPr>
            <a:r>
              <a:rPr lang="en-US" sz="950" b="1" dirty="0">
                <a:solidFill>
                  <a:srgbClr val="2E8B57"/>
                </a:solidFill>
                <a:latin typeface="Calibri" pitchFamily="34" charset="0"/>
                <a:cs typeface="Amiri" pitchFamily="2" charset="-78"/>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‎ایجاد / بدیع‎ </a:t>
            </a:r>
            <a:pPr indent="0" marL="0">
              <a:buNone/>
            </a:pPr>
            <a:r>
              <a:rPr lang="en-US" sz="950" b="1" dirty="0">
                <a:solidFill>
                  <a:srgbClr val="2E8B57"/>
                </a:solidFill>
                <a:latin typeface="Calibri" pitchFamily="34" charset="0"/>
                <a:cs typeface="Amiri" pitchFamily="2" charset="-78"/>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‎امین‎ </a:t>
            </a:r>
            <a:pPr indent="0" marL="0">
              <a:buNone/>
            </a:pPr>
            <a:r>
              <a:rPr lang="en-US" sz="950" b="1" dirty="0">
                <a:solidFill>
                  <a:srgbClr val="2E8B57"/>
                </a:solidFill>
                <a:latin typeface="Calibri" pitchFamily="34" charset="0"/>
                <a:cs typeface="Amiri" pitchFamily="2" charset="-78"/>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a:t>
            </a:r>
            <a:endParaRPr lang="en-US" sz="1350" dirty="0"/>
          </a:p>
          <a:p>
            <a:pPr indent="0" marL="0">
              <a:buNone/>
            </a:pPr>
            <a:r>
              <a:rPr lang="en-US" sz="1100" i="1" dirty="0">
                <a:solidFill>
                  <a:srgbClr val="5A6472"/>
                </a:solidFill>
                <a:latin typeface="Calibri" pitchFamily="34" charset="0"/>
                <a:cs typeface="Amiri" pitchFamily="2" charset="-78"/>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proactive</a:t>
            </a:r>
            <a:endParaRPr lang="en-US" sz="1350" dirty="0"/>
          </a:p>
          <a:p>
            <a:pPr indent="0" marL="0">
              <a:buNone/>
            </a:pPr>
            <a:r>
              <a:rPr lang="en-US" sz="1100" i="1" dirty="0">
                <a:solidFill>
                  <a:srgbClr val="5A6472"/>
                </a:solidFill>
                <a:latin typeface="Calibri" pitchFamily="34" charset="0"/>
                <a:cs typeface="Amiri" pitchFamily="2" charset="-78"/>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reliable</a:t>
            </a:r>
            <a:endParaRPr lang="en-US" sz="1350" dirty="0"/>
          </a:p>
          <a:p>
            <a:pPr indent="0" marL="0">
              <a:buNone/>
            </a:pPr>
            <a:r>
              <a:rPr lang="en-US" sz="1100" i="1" dirty="0">
                <a:solidFill>
                  <a:srgbClr val="5A6472"/>
                </a:solidFill>
                <a:latin typeface="Calibri" pitchFamily="34" charset="0"/>
                <a:cs typeface="Amiri" pitchFamily="2" charset="-78"/>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a:t>
            </a:r>
            <a:endParaRPr lang="en-US" sz="1350" dirty="0"/>
          </a:p>
          <a:p>
            <a:pPr indent="0" marL="0">
              <a:buNone/>
            </a:pPr>
            <a:r>
              <a:rPr lang="en-US" sz="1100" i="1" dirty="0">
                <a:solidFill>
                  <a:srgbClr val="5A6472"/>
                </a:solidFill>
                <a:latin typeface="Calibri" pitchFamily="34" charset="0"/>
                <a:cs typeface="Amiri" pitchFamily="2" charset="-78"/>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ambitious</a:t>
            </a:r>
            <a:endParaRPr lang="en-US" sz="1350" dirty="0"/>
          </a:p>
          <a:p>
            <a:pPr indent="0" marL="0">
              <a:buNone/>
            </a:pPr>
            <a:r>
              <a:rPr lang="en-US" sz="1100" i="1" dirty="0">
                <a:solidFill>
                  <a:srgbClr val="5A6472"/>
                </a:solidFill>
                <a:latin typeface="Calibri" pitchFamily="34" charset="0"/>
                <a:cs typeface="Amiri" pitchFamily="2" charset="-78"/>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يَحْتَاجُ الطَّبِيبُ </a:t>
            </a:r>
            <a:pPr rtl="1" algn="ctr" indent="0" marL="0">
              <a:buNone/>
            </a:pPr>
            <a:r>
              <a:rPr lang="ar-SA" altLang="en-US" sz="2100" b="1" dirty="0">
                <a:solidFill>
                  <a:srgbClr val="0E7C86"/>
                </a:solidFill>
                <a:latin typeface="Amiri" pitchFamily="2" charset="-78"/>
                <a:cs typeface="Amiri" pitchFamily="2" charset="-78"/>
              </a:rPr>
              <a:t>إِلَى</a:t>
            </a:r>
            <a:pPr rtl="1" algn="ctr" indent="0" marL="0">
              <a:buNone/>
            </a:pPr>
            <a:r>
              <a:rPr lang="ar-SA" altLang="en-US" sz="2100" b="1" dirty="0">
                <a:solidFill>
                  <a:srgbClr val="1B3B6F"/>
                </a:solidFill>
                <a:latin typeface="Amiri" pitchFamily="2" charset="-78"/>
                <a:cs typeface="Amiri" pitchFamily="2" charset="-78"/>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تَحْتَاجُ المُهَنْدِسَةُ </a:t>
            </a:r>
            <a:pPr rtl="1" algn="ctr" indent="0" marL="0">
              <a:buNone/>
            </a:pPr>
            <a:r>
              <a:rPr lang="ar-SA" altLang="en-US" sz="2100" b="1" dirty="0">
                <a:solidFill>
                  <a:srgbClr val="0E7C86"/>
                </a:solidFill>
                <a:latin typeface="Amiri" pitchFamily="2" charset="-78"/>
                <a:cs typeface="Amiri" pitchFamily="2" charset="-78"/>
              </a:rPr>
              <a:t>إِلَى</a:t>
            </a:r>
            <a:pPr rtl="1" algn="ctr" indent="0" marL="0">
              <a:buNone/>
            </a:pPr>
            <a:r>
              <a:rPr lang="ar-SA" altLang="en-US" sz="2100" b="1" dirty="0">
                <a:solidFill>
                  <a:srgbClr val="1B3B6F"/>
                </a:solidFill>
                <a:latin typeface="Amiri" pitchFamily="2" charset="-78"/>
                <a:cs typeface="Amiri" pitchFamily="2" charset="-78"/>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يَحْتَاجُ إِلَى </a:t>
            </a:r>
            <a:pPr rtl="1" algn="ctr" indent="0" marL="0">
              <a:buNone/>
            </a:pPr>
            <a:r>
              <a:rPr lang="ar-SA" altLang="en-US" sz="2100" b="1" dirty="0">
                <a:solidFill>
                  <a:srgbClr val="0E7C86"/>
                </a:solidFill>
                <a:latin typeface="Amiri" pitchFamily="2" charset="-78"/>
                <a:cs typeface="Amiri" pitchFamily="2" charset="-78"/>
              </a:rPr>
              <a:t>مَهَارَاتِ الحَاسُوبِ</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تَحْتَاجُ إِلَى </a:t>
            </a:r>
            <a:pPr rtl="1" algn="ctr" indent="0" marL="0">
              <a:buNone/>
            </a:pPr>
            <a:r>
              <a:rPr lang="ar-SA" altLang="en-US" sz="2100" b="1" dirty="0">
                <a:solidFill>
                  <a:srgbClr val="0E7C86"/>
                </a:solidFill>
                <a:latin typeface="Amiri" pitchFamily="2" charset="-78"/>
                <a:cs typeface="Amiri" pitchFamily="2" charset="-78"/>
              </a:rPr>
              <a:t>العَمَلِ الجَمَاعِيِّ</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a:t>
            </a:r>
            <a:pPr rtl="1" algn="ctr" indent="0" marL="0">
              <a:buNone/>
            </a:pPr>
            <a:r>
              <a:rPr lang="ar-SA" altLang="en-US" sz="2100" b="1" dirty="0">
                <a:solidFill>
                  <a:srgbClr val="1D5FBF"/>
                </a:solidFill>
                <a:latin typeface="Amiri" pitchFamily="2" charset="-78"/>
                <a:cs typeface="Amiri" pitchFamily="2" charset="-78"/>
              </a:rPr>
              <a:t>يَكُونَ</a:t>
            </a:r>
            <a:pPr rtl="1" algn="ctr" indent="0" marL="0">
              <a:buNone/>
            </a:pPr>
            <a:r>
              <a:rPr lang="ar-SA" altLang="en-US" sz="2100" b="1" dirty="0">
                <a:solidFill>
                  <a:srgbClr val="1B3B6F"/>
                </a:solidFill>
                <a:latin typeface="Amiri" pitchFamily="2" charset="-78"/>
                <a:cs typeface="Amiri" pitchFamily="2" charset="-78"/>
              </a:rPr>
              <a:t> المُدَرِّسُ </a:t>
            </a:r>
            <a:pPr rtl="1" algn="ctr" indent="0" marL="0">
              <a:buNone/>
            </a:pPr>
            <a:r>
              <a:rPr lang="ar-SA" altLang="en-US" sz="2100" b="1" dirty="0">
                <a:solidFill>
                  <a:srgbClr val="1D5FBF"/>
                </a:solidFill>
                <a:latin typeface="Amiri" pitchFamily="2" charset="-78"/>
                <a:cs typeface="Amiri" pitchFamily="2" charset="-78"/>
              </a:rPr>
              <a:t>صَبُورًا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a:t>
            </a:r>
            <a:pPr rtl="1" algn="ctr" indent="0" marL="0">
              <a:buNone/>
            </a:pPr>
            <a:r>
              <a:rPr lang="ar-SA" altLang="en-US" sz="2100" b="1" dirty="0">
                <a:solidFill>
                  <a:srgbClr val="D6336C"/>
                </a:solidFill>
                <a:latin typeface="Amiri" pitchFamily="2" charset="-78"/>
                <a:cs typeface="Amiri" pitchFamily="2" charset="-78"/>
              </a:rPr>
              <a:t>تَكُونَ</a:t>
            </a:r>
            <a:pPr rtl="1" algn="ctr" indent="0" marL="0">
              <a:buNone/>
            </a:pPr>
            <a:r>
              <a:rPr lang="ar-SA" altLang="en-US" sz="2100" b="1" dirty="0">
                <a:solidFill>
                  <a:srgbClr val="1B3B6F"/>
                </a:solidFill>
                <a:latin typeface="Amiri" pitchFamily="2" charset="-78"/>
                <a:cs typeface="Amiri" pitchFamily="2" charset="-78"/>
              </a:rPr>
              <a:t> المُمَرِّضَةُ </a:t>
            </a:r>
            <a:pPr rtl="1" algn="ctr" indent="0" marL="0">
              <a:buNone/>
            </a:pPr>
            <a:r>
              <a:rPr lang="ar-SA" altLang="en-US" sz="2100" b="1" dirty="0">
                <a:solidFill>
                  <a:srgbClr val="D6336C"/>
                </a:solidFill>
                <a:latin typeface="Amiri" pitchFamily="2" charset="-78"/>
                <a:cs typeface="Amiri" pitchFamily="2" charset="-78"/>
              </a:rPr>
              <a:t>هَادِئَةً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يَكُونَ </a:t>
            </a:r>
            <a:pPr rtl="1" algn="ctr" indent="0" marL="0">
              <a:buNone/>
            </a:pPr>
            <a:r>
              <a:rPr lang="ar-SA" altLang="en-US" sz="2100" b="1" dirty="0">
                <a:solidFill>
                  <a:srgbClr val="1D5FBF"/>
                </a:solidFill>
                <a:latin typeface="Amiri" pitchFamily="2" charset="-78"/>
                <a:cs typeface="Amiri" pitchFamily="2" charset="-78"/>
              </a:rPr>
              <a:t>مَسْؤُولًا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تَكُونَ </a:t>
            </a:r>
            <a:pPr rtl="1" algn="ctr" indent="0" marL="0">
              <a:buNone/>
            </a:pPr>
            <a:r>
              <a:rPr lang="ar-SA" altLang="en-US" sz="2100" b="1" dirty="0">
                <a:solidFill>
                  <a:srgbClr val="D6336C"/>
                </a:solidFill>
                <a:latin typeface="Amiri" pitchFamily="2" charset="-78"/>
                <a:cs typeface="Amiri" pitchFamily="2" charset="-78"/>
              </a:rPr>
              <a:t>مُنَظَّمَةً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 takūna the adjective takes -an: ṣabūran, hādiʾatan (the same ending as yaʿmalu muḥāsiban in TD-L06).</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cs typeface="Amiri" pitchFamily="2" charset="-78"/>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تَحْتَاجُ المُمَرِّضَةُ </a:t>
            </a:r>
            <a:pPr rtl="1" algn="ctr" indent="0" marL="0">
              <a:lnSpc>
                <a:spcPct val="120000"/>
              </a:lnSpc>
              <a:buNone/>
            </a:pPr>
            <a:r>
              <a:rPr lang="ar-SA" altLang="en-US" sz="1750" b="1" dirty="0">
                <a:solidFill>
                  <a:srgbClr val="0E7C86"/>
                </a:solidFill>
                <a:latin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cs typeface="Amiri" pitchFamily="2" charset="-78"/>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يَجِبُ أَنْ </a:t>
            </a:r>
            <a:pPr rtl="1" algn="ctr" indent="0" marL="0">
              <a:buNone/>
            </a:pPr>
            <a:r>
              <a:rPr lang="ar-SA" altLang="en-US" sz="2700" b="1" dirty="0">
                <a:solidFill>
                  <a:srgbClr val="D6336C"/>
                </a:solidFill>
                <a:latin typeface="Amiri" pitchFamily="2" charset="-78"/>
                <a:cs typeface="Amiri" pitchFamily="2" charset="-78"/>
              </a:rPr>
              <a:t>تَكُونَ</a:t>
            </a:r>
            <a:pPr rtl="1" algn="ctr" indent="0" marL="0">
              <a:buNone/>
            </a:pPr>
            <a:r>
              <a:rPr lang="ar-SA" altLang="en-US" sz="2700" b="1" dirty="0">
                <a:solidFill>
                  <a:srgbClr val="1B3B6F"/>
                </a:solidFill>
                <a:latin typeface="Amiri" pitchFamily="2" charset="-78"/>
                <a:cs typeface="Amiri" pitchFamily="2" charset="-78"/>
              </a:rPr>
              <a:t> </a:t>
            </a:r>
            <a:pPr rtl="1" algn="ctr" indent="0" marL="0">
              <a:buNone/>
            </a:pPr>
            <a:r>
              <a:rPr lang="ar-SA" altLang="en-US" sz="2700" b="1" dirty="0">
                <a:solidFill>
                  <a:srgbClr val="D6336C"/>
                </a:solidFill>
                <a:latin typeface="Amiri" pitchFamily="2" charset="-78"/>
                <a:cs typeface="Amiri" pitchFamily="2" charset="-78"/>
              </a:rPr>
              <a:t>هَادِئَةً</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تَسْتَطِيعُ أَنْ </a:t>
            </a:r>
            <a:pPr rtl="1" algn="ctr" indent="0" marL="0">
              <a:lnSpc>
                <a:spcPct val="120000"/>
              </a:lnSpc>
              <a:buNone/>
            </a:pPr>
            <a:r>
              <a:rPr lang="ar-SA" altLang="en-US" sz="2000" b="1" dirty="0">
                <a:solidFill>
                  <a:srgbClr val="1D5FBF"/>
                </a:solidFill>
                <a:latin typeface="Amiri" pitchFamily="2" charset="-78"/>
                <a:cs typeface="Amiri" pitchFamily="2" charset="-78"/>
              </a:rPr>
              <a:t>تَعْمَلَ</a:t>
            </a:r>
            <a:pPr rtl="1" algn="ctr" indent="0" marL="0">
              <a:lnSpc>
                <a:spcPct val="120000"/>
              </a:lnSpc>
              <a:buNone/>
            </a:pPr>
            <a:r>
              <a:rPr lang="ar-SA" altLang="en-US" sz="2000" b="1" dirty="0">
                <a:solidFill>
                  <a:srgbClr val="1B3B6F"/>
                </a:solidFill>
                <a:latin typeface="Amiri" pitchFamily="2" charset="-78"/>
                <a:cs typeface="Amiri" pitchFamily="2" charset="-78"/>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مُمَرِّضَتِي مَسْؤُولَةٌ </a:t>
            </a:r>
            <a:pPr rtl="1" algn="ctr" indent="0" marL="0">
              <a:lnSpc>
                <a:spcPct val="120000"/>
              </a:lnSpc>
              <a:buNone/>
            </a:pPr>
            <a:r>
              <a:rPr lang="ar-SA" altLang="en-US" sz="1750" b="1" dirty="0">
                <a:solidFill>
                  <a:srgbClr val="0E7C86"/>
                </a:solidFill>
                <a:latin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cs typeface="Amiri" pitchFamily="2" charset="-78"/>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تَحْتَاجُ المُمَرِّضَةُ </a:t>
            </a:r>
            <a:pPr rtl="1" algn="r" indent="0" marL="0">
              <a:lnSpc>
                <a:spcPct val="120000"/>
              </a:lnSpc>
              <a:buNone/>
            </a:pPr>
            <a:r>
              <a:rPr lang="ar-SA" altLang="en-US" sz="1400" b="1" dirty="0">
                <a:solidFill>
                  <a:srgbClr val="0E7C86"/>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الصَّبْرِ وَالدِّقَّةِ، وَيَجِبُ أَنْ </a:t>
            </a:r>
            <a:pPr rtl="1" algn="r" indent="0" marL="0">
              <a:lnSpc>
                <a:spcPct val="120000"/>
              </a:lnSpc>
              <a:buNone/>
            </a:pPr>
            <a:r>
              <a:rPr lang="ar-SA" altLang="en-US" sz="1400" b="1" dirty="0">
                <a:solidFill>
                  <a:srgbClr val="D6336C"/>
                </a:solidFill>
                <a:latin typeface="Amiri" pitchFamily="2" charset="-78"/>
                <a:cs typeface="Amiri" pitchFamily="2" charset="-78"/>
              </a:rPr>
              <a:t>تَكُونَ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cs typeface="Amiri" pitchFamily="2" charset="-78"/>
              </a:rPr>
              <a:t>هَادِئَةً</a:t>
            </a:r>
            <a:pPr rtl="1" algn="r" indent="0" marL="0">
              <a:lnSpc>
                <a:spcPct val="120000"/>
              </a:lnSpc>
              <a:buNone/>
            </a:pPr>
            <a:r>
              <a:rPr lang="ar-SA" altLang="en-US" sz="1400" b="1" dirty="0">
                <a:solidFill>
                  <a:srgbClr val="1B3B6F"/>
                </a:solidFill>
                <a:latin typeface="Amiri" pitchFamily="2" charset="-78"/>
                <a:cs typeface="Amiri" pitchFamily="2" charset="-78"/>
              </a:rPr>
              <a:t> عِنْدَمَا يَكُونُ المَرِيضُ قَلِقًا. يَجِبُ أَيْضًا أَنْ </a:t>
            </a:r>
            <a:pPr rtl="1" algn="r" indent="0" marL="0">
              <a:lnSpc>
                <a:spcPct val="120000"/>
              </a:lnSpc>
              <a:buNone/>
            </a:pPr>
            <a:r>
              <a:rPr lang="ar-SA" altLang="en-US" sz="1400" b="1" dirty="0">
                <a:solidFill>
                  <a:srgbClr val="1D5FBF"/>
                </a:solidFill>
                <a:latin typeface="Amiri" pitchFamily="2" charset="-78"/>
                <a:cs typeface="Amiri" pitchFamily="2" charset="-78"/>
              </a:rPr>
              <a:t>تَسْتَطِيعَ</a:t>
            </a:r>
            <a:pPr rtl="1" algn="r" indent="0" marL="0">
              <a:lnSpc>
                <a:spcPct val="120000"/>
              </a:lnSpc>
              <a:buNone/>
            </a:pPr>
            <a:r>
              <a:rPr lang="ar-SA" altLang="en-US" sz="1400" b="1" dirty="0">
                <a:solidFill>
                  <a:srgbClr val="1B3B6F"/>
                </a:solidFill>
                <a:latin typeface="Amiri" pitchFamily="2" charset="-78"/>
                <a:cs typeface="Amiri" pitchFamily="2" charset="-78"/>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التَّفْكِيرِ المَنْطِقِيِّ، وَيَجِبُ أَنْ </a:t>
            </a:r>
            <a:pPr rtl="1" algn="r" indent="0" marL="0">
              <a:lnSpc>
                <a:spcPct val="120000"/>
              </a:lnSpc>
              <a:buNone/>
            </a:pPr>
            <a:r>
              <a:rPr lang="ar-SA" altLang="en-US" sz="1400" b="1" dirty="0">
                <a:solidFill>
                  <a:srgbClr val="D6336C"/>
                </a:solidFill>
                <a:latin typeface="Amiri" pitchFamily="2" charset="-78"/>
                <a:cs typeface="Amiri" pitchFamily="2" charset="-78"/>
              </a:rPr>
              <a:t>يَكُونَ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cs typeface="Amiri" pitchFamily="2" charset="-78"/>
              </a:rPr>
              <a:t>مُنَظَّمًا</a:t>
            </a:r>
            <a:pPr rtl="1" algn="r" indent="0" marL="0">
              <a:lnSpc>
                <a:spcPct val="120000"/>
              </a:lnSpc>
              <a:buNone/>
            </a:pPr>
            <a:r>
              <a:rPr lang="ar-SA" altLang="en-US" sz="1400" b="1" dirty="0">
                <a:solidFill>
                  <a:srgbClr val="1B3B6F"/>
                </a:solidFill>
                <a:latin typeface="Amiri" pitchFamily="2" charset="-78"/>
                <a:cs typeface="Amiri" pitchFamily="2" charset="-78"/>
              </a:rPr>
              <a:t>. خَالَتِي مُمَرِّضَةٌ مَسْؤُولَةٌ </a:t>
            </a:r>
            <a:pPr rtl="1" algn="r" indent="0" marL="0">
              <a:lnSpc>
                <a:spcPct val="120000"/>
              </a:lnSpc>
              <a:buNone/>
            </a:pPr>
            <a:r>
              <a:rPr lang="ar-SA" altLang="en-US" sz="1400" b="1" dirty="0">
                <a:solidFill>
                  <a:srgbClr val="0E7C86"/>
                </a:solidFill>
                <a:latin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cs typeface="Amiri" pitchFamily="2" charset="-78"/>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doctor needs patience.</a:t>
            </a:r>
            <a:endParaRPr lang="en-US" sz="1250" dirty="0"/>
          </a:p>
          <a:p>
            <a:pPr indent="0" marL="0">
              <a:buNone/>
            </a:pPr>
            <a:r>
              <a:rPr lang="en-US" sz="1050" i="1" dirty="0">
                <a:solidFill>
                  <a:srgbClr val="8A6D1E"/>
                </a:solidFill>
                <a:latin typeface="Calibri" pitchFamily="34" charset="0"/>
                <a:cs typeface="Amiri" pitchFamily="2" charset="-78"/>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teacher must be patient.</a:t>
            </a:r>
            <a:endParaRPr lang="en-US" sz="1250" dirty="0"/>
          </a:p>
          <a:p>
            <a:pPr indent="0" marL="0">
              <a:buNone/>
            </a:pPr>
            <a:r>
              <a:rPr lang="en-US" sz="1050" i="1" dirty="0">
                <a:solidFill>
                  <a:srgbClr val="8A6D1E"/>
                </a:solidFill>
                <a:latin typeface="Calibri" pitchFamily="34" charset="0"/>
                <a:cs typeface="Amiri" pitchFamily="2" charset="-78"/>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can work in a team.</a:t>
            </a:r>
            <a:endParaRPr lang="en-US" sz="1250" dirty="0"/>
          </a:p>
          <a:p>
            <a:pPr indent="0" marL="0">
              <a:buNone/>
            </a:pPr>
            <a:r>
              <a:rPr lang="en-US" sz="1050" i="1" dirty="0">
                <a:solidFill>
                  <a:srgbClr val="8A6D1E"/>
                </a:solidFill>
                <a:latin typeface="Calibri" pitchFamily="34" charset="0"/>
                <a:cs typeface="Amiri" pitchFamily="2" charset="-78"/>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cooperative because she helps her colleagues.</a:t>
            </a:r>
            <a:endParaRPr lang="en-US" sz="1250" dirty="0"/>
          </a:p>
          <a:p>
            <a:pPr indent="0" marL="0">
              <a:buNone/>
            </a:pPr>
            <a:r>
              <a:rPr lang="en-US" sz="1050" i="1" dirty="0">
                <a:solidFill>
                  <a:srgbClr val="8A6D1E"/>
                </a:solidFill>
                <a:latin typeface="Calibri" pitchFamily="34" charset="0"/>
                <a:cs typeface="Amiri" pitchFamily="2" charset="-78"/>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“SKILL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communication</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6"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8"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a:t>
            </a:r>
            <a:endParaRPr lang="en-US" sz="1100" dirty="0"/>
          </a:p>
        </p:txBody>
      </p:sp>
      <p:sp>
        <p:nvSpPr>
          <p:cNvPr id="39"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لَدَيَّ مَهَارَاتُ تَوَاصُلٍ جَيِّدَةٌ.</a:t>
            </a:r>
            <a:endParaRPr lang="ar-SA" sz="2000" dirty="0"/>
          </a:p>
        </p:txBody>
      </p:sp>
      <p:sp>
        <p:nvSpPr>
          <p:cNvPr id="43"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مُنَظَّمٌ وَأَحْتَرِمُ الْمَوَاعِيدَ.</a:t>
            </a:r>
            <a:endParaRPr lang="ar-SA" sz="2000" dirty="0"/>
          </a:p>
        </p:txBody>
      </p:sp>
      <p:sp>
        <p:nvSpPr>
          <p:cNvPr id="47"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مُتَعَاوِنٌ وَأُجِيدُ الْعَمَلَ ضِمْنَ فَرِيقٍ.</a:t>
            </a:r>
            <a:endParaRPr lang="ar-SA" sz="2000" dirty="0"/>
          </a:p>
        </p:txBody>
      </p:sp>
      <p:sp>
        <p:nvSpPr>
          <p:cNvPr id="51"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أَنَا مُتَعَاوِنٌ وَأُجِيدُ الْعَمَلَ ضِمْنَ فَرِيقٍ.</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cooperative and good at working in a team.</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communication</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لَدَيَّ مَهَارَاتُ تَوَاصُلٍ جَيِّدَةٌ.</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good communication skills.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6"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8"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a:t>
            </a:r>
            <a:endParaRPr lang="en-US" sz="1100" dirty="0"/>
          </a:p>
        </p:txBody>
      </p:sp>
      <p:sp>
        <p:nvSpPr>
          <p:cNvPr id="49"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مُنَظَّمٌ وَأَحْتَرِمُ الْمَوَاعِيدَ.</a:t>
            </a:r>
            <a:endParaRPr lang="ar-SA" sz="2200" dirty="0"/>
          </a:p>
        </p:txBody>
      </p:sp>
      <p:sp>
        <p:nvSpPr>
          <p:cNvPr id="53"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organised and punctual.</a:t>
            </a:r>
            <a:endParaRPr lang="en-US" sz="1200" dirty="0"/>
          </a:p>
        </p:txBody>
      </p:sp>
      <p:sp>
        <p:nvSpPr>
          <p:cNvPr id="54"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Candidate skills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Candidate skills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personal qualities and professional skills to different jobs. Every match must be justified with evidence from a short candidate profile.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three short candidate profiles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each candidate to one of three jobs.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each match with evidence from the profile (li-annahu / li-annahā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Vote: which match has the strongest evidence?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the cards; one reason: “li-annahu munaẓẓam”.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matches, each with evidence and adjective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Matches with a relative clause and a counter-point (lākinnahu yaḥtāju ilā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هِيَ مُنَاسِبَةٌ لِلْوَظِيفَةِ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she is suitable for the job</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لِأَنَّهُ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he / she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الدَّلِيلُ عَلَى ذٰلِكَ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evidence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يَحْتَاجُ إِلَى تَطْوِيرِ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needs to develop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good worker?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المَهَارَاتُ الَّتِي يَحْتَاجُ إِلَيْهَا الطَّبِيبُ؟</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صِفَةٍ فِيكَ؟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يَجِبُ أَنْ يَكُونَ المُدَرِّسُ الجَيِّدُ؟</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المَهَارَاتُ الَّتِي تَشْتَرِكُ فِيهَا كُلُّ المِهَنِ؟</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يَحْتَاجُ الطَّبِيبُ إِلَى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أَنَا ___ لِأَنَّنِي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أَنْ يَكُونَ ___ وَ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كُلُّ المِهَنِ تَحْتَاجُ إِلَى ___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المَهَارَاتُ الَّتِي يَحْتَاجُ إِلَيْهَا المُدَرِّسُ؟</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skills does a teacher need?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يَحْتَاجُ إِلَى التَّوَاصُلِ، وَيَجِبُ أَنْ يَكُونَ صَبُورًا وَمُنَظَّمًا.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needs communication, and he must be patient and organised.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TD-L09 · Applications and Interviews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CV</a:t>
            </a:r>
            <a:pPr indent="0" marL="0">
              <a:buNone/>
            </a:pPr>
            <a:r>
              <a:rPr lang="en-US" sz="1000" i="1" dirty="0">
                <a:solidFill>
                  <a:srgbClr val="5A6472"/>
                </a:solidFill>
                <a:latin typeface="Calibri" pitchFamily="34" charset="0"/>
                <a:cs typeface="Amiri" pitchFamily="2" charset="-78"/>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cover letter</a:t>
            </a:r>
            <a:pPr indent="0" marL="0">
              <a:buNone/>
            </a:pPr>
            <a:r>
              <a:rPr lang="en-US" sz="1000" i="1" dirty="0">
                <a:solidFill>
                  <a:srgbClr val="5A6472"/>
                </a:solidFill>
                <a:latin typeface="Calibri" pitchFamily="34" charset="0"/>
                <a:cs typeface="Amiri" pitchFamily="2" charset="-78"/>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interview</a:t>
            </a:r>
            <a:pPr indent="0" marL="0">
              <a:buNone/>
            </a:pPr>
            <a:r>
              <a:rPr lang="en-US" sz="1000" i="1" dirty="0">
                <a:solidFill>
                  <a:srgbClr val="5A6472"/>
                </a:solidFill>
                <a:latin typeface="Calibri" pitchFamily="34" charset="0"/>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job advert</a:t>
            </a:r>
            <a:pPr indent="0" marL="0">
              <a:buNone/>
            </a:pPr>
            <a:r>
              <a:rPr lang="en-US" sz="1000" i="1" dirty="0">
                <a:solidFill>
                  <a:srgbClr val="5A6472"/>
                </a:solidFill>
                <a:latin typeface="Calibri" pitchFamily="34" charset="0"/>
                <a:cs typeface="Amiri" pitchFamily="2" charset="-78"/>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weakness</a:t>
            </a:r>
            <a:pPr indent="0" marL="0">
              <a:buNone/>
            </a:pPr>
            <a:r>
              <a:rPr lang="en-US" sz="1000" i="1" dirty="0">
                <a:solidFill>
                  <a:srgbClr val="5A6472"/>
                </a:solidFill>
                <a:latin typeface="Calibri" pitchFamily="34" charset="0"/>
                <a:cs typeface="Amiri" pitchFamily="2" charset="-78"/>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TD-L09 · Applications and Interviews</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طَلَبَاتُ التَّوْظِيفِ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TD-L09.</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TD-L08 · Personal Qualities and Professional Skills</dc:title>
  <dc:subject>PptxGenJS Presentation</dc:subject>
  <dc:creator>Al Madina Online School · Arabic Department</dc:creator>
  <cp:lastModifiedBy>Al Madina Online School · Arabic Department</cp:lastModifiedBy>
  <cp:revision>1</cp:revision>
  <dcterms:created xsi:type="dcterms:W3CDTF">2026-10-11T06:44:10Z</dcterms:created>
  <dcterms:modified xsi:type="dcterms:W3CDTF">2026-10-11T06:44:10Z</dcterms:modified>
</cp:coreProperties>
</file>