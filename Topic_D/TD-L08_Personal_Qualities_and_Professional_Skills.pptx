
<file path=[Content_Types].xml><?xml version="1.0" encoding="utf-8"?>
<Types xmlns="http://schemas.openxmlformats.org/package/2006/content-types">
  <Default Extension="fntdata" ContentType="application/x-fontdata"/>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Lst>
  <p:notesMasterIdLst>
    <p:notesMasterId r:id="rId49"/>
  </p:notesMasterIdLst>
  <p:sldSz cx="12192000" cy="6858000"/>
  <p:notesSz cx="6858000" cy="12192000"/>
  <p:embeddedFontLst>
    <p:embeddedFont>
      <p:font typeface="Amiri" pitchFamily="2" charset="-78"/>
      <p:regular r:id="rIdFont1"/>
      <p:bold r:id="rIdFont2"/>
    </p:embeddedFont>
  </p:embeddedFontLst>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notesMaster" Target="notesMasters/notesMaster1.xml"/><Relationship Id="rId50" Type="http://schemas.openxmlformats.org/officeDocument/2006/relationships/presProps" Target="presProps.xml"/><Relationship Id="rId51" Type="http://schemas.openxmlformats.org/officeDocument/2006/relationships/viewProps" Target="viewProps.xml"/><Relationship Id="rId52" Type="http://schemas.openxmlformats.org/officeDocument/2006/relationships/theme" Target="theme/theme1.xml"/><Relationship Id="rId53" Type="http://schemas.openxmlformats.org/officeDocument/2006/relationships/tableStyles" Target="tableStyles.xml"/><Relationship Id="rIdFont1" Type="http://schemas.openxmlformats.org/officeDocument/2006/relationships/font" Target="fonts/font1.fntdata"/><Relationship Id="rIdFont2" Type="http://schemas.openxmlformats.org/officeDocument/2006/relationships/font" Target="fonts/font2.fntdata"/></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cs typeface="Amiri" pitchFamily="2" charset="-78"/>
      </a:defRPr>
    </a:lvl1pPr>
    <a:lvl2pPr marL="457200" algn="l" defTabSz="914400" rtl="0" eaLnBrk="1" latinLnBrk="0" hangingPunct="1">
      <a:defRPr sz="1200" kern="1200">
        <a:solidFill>
          <a:schemeClr val="tx1"/>
        </a:solidFill>
        <a:latin typeface="+mn-lt"/>
        <a:cs typeface="Amiri" pitchFamily="2" charset="-78"/>
      </a:defRPr>
    </a:lvl2pPr>
    <a:lvl3pPr marL="914400" algn="l" defTabSz="914400" rtl="0" eaLnBrk="1" latinLnBrk="0" hangingPunct="1">
      <a:defRPr sz="1200" kern="1200">
        <a:solidFill>
          <a:schemeClr val="tx1"/>
        </a:solidFill>
        <a:latin typeface="+mn-lt"/>
        <a:cs typeface="Amiri" pitchFamily="2" charset="-78"/>
      </a:defRPr>
    </a:lvl3pPr>
    <a:lvl4pPr marL="1371600" algn="l" defTabSz="914400" rtl="0" eaLnBrk="1" latinLnBrk="0" hangingPunct="1">
      <a:defRPr sz="1200" kern="1200">
        <a:solidFill>
          <a:schemeClr val="tx1"/>
        </a:solidFill>
        <a:latin typeface="+mn-lt"/>
        <a:cs typeface="Amiri" pitchFamily="2" charset="-78"/>
      </a:defRPr>
    </a:lvl4pPr>
    <a:lvl5pPr marL="1828800" algn="l" defTabSz="914400" rtl="0" eaLnBrk="1" latinLnBrk="0" hangingPunct="1">
      <a:defRPr sz="1200" kern="1200">
        <a:solidFill>
          <a:schemeClr val="tx1"/>
        </a:solidFill>
        <a:latin typeface="+mn-lt"/>
        <a:cs typeface="Amiri" pitchFamily="2" charset="-78"/>
      </a:defRPr>
    </a:lvl5pPr>
    <a:lvl6pPr marL="2286000" algn="l" defTabSz="914400" rtl="0" eaLnBrk="1" latinLnBrk="0" hangingPunct="1">
      <a:defRPr sz="1200" kern="1200">
        <a:solidFill>
          <a:schemeClr val="tx1"/>
        </a:solidFill>
        <a:latin typeface="+mn-lt"/>
        <a:cs typeface="Amiri" pitchFamily="2" charset="-78"/>
      </a:defRPr>
    </a:lvl6pPr>
    <a:lvl7pPr marL="2743200" algn="l" defTabSz="914400" rtl="0" eaLnBrk="1" latinLnBrk="0" hangingPunct="1">
      <a:defRPr sz="1200" kern="1200">
        <a:solidFill>
          <a:schemeClr val="tx1"/>
        </a:solidFill>
        <a:latin typeface="+mn-lt"/>
        <a:cs typeface="Amiri" pitchFamily="2" charset="-78"/>
      </a:defRPr>
    </a:lvl7pPr>
    <a:lvl8pPr marL="3200400" algn="l" defTabSz="914400" rtl="0" eaLnBrk="1" latinLnBrk="0" hangingPunct="1">
      <a:defRPr sz="1200" kern="1200">
        <a:solidFill>
          <a:schemeClr val="tx1"/>
        </a:solidFill>
        <a:latin typeface="+mn-lt"/>
        <a:cs typeface="Amiri" pitchFamily="2" charset="-78"/>
      </a:defRPr>
    </a:lvl8pPr>
    <a:lvl9pPr marL="3657600" algn="l" defTabSz="914400" rtl="0" eaLnBrk="1" latinLnBrk="0" hangingPunct="1">
      <a:defRPr sz="1200" kern="1200">
        <a:solidFill>
          <a:schemeClr val="tx1"/>
        </a:solidFill>
        <a:latin typeface="+mn-lt"/>
        <a:cs typeface="Amiri" pitchFamily="2" charset="-78"/>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ADVANCED TOPIC D · TD-L08 — Personal Qualities and Professional Skills. Website: Advanced Topics › Topic D (The World of Work) › Lesson 8.
The website builds this lesson on the D3-L03 lesson engine, with the Topic focus “Match strengths and qualities to roles and support judgements with evidence.” (grammar: Adjective agreement; relative clauses; لأنّ; skills: Speaking · Writing) and the application challenge “Candidate skills match”. This deck follows the same engine, re-sequenced for Topic D: lesson references now point to Topic D codes (lessons outside Topic D keep their website code), and the challenge is added before the speaking task.
No year group: Topic lessons are taught to any class following the Advanced Topics route.
LESSON AT A GLANCE — planned for 56 minutes, leaving about 4 minutes for Teams delays.
0–1 Welcome · 1–2 Lesson map · 2–9 Do Now + answers · 9–10 Objectives · 10–17 Key words · 17–23 Grammar · 23–25 Quick check · 25–28 I Do · 28–37 We Do · 37–49 You Do (speaking 3 + writing 9, with live feedback) · 49–54 Feedback (model, self-check, exit ticket) · 54–56 Preparation for next lesson.
FLEX slides are optional. Use them if the class is moving quickly; otherwise the same activities are on the website for homework.
Content source: Miftah Arabic website, Pathways › Development › Topic D Work and Careers › TD-L08. The website lesson “Skills and Qualities — What Makes a Good Worker?”: vocabulary, grammar rules and quiz, patterns, common mistakes, sorter, listening, reading, speaking prompts and model, writing task and model, differentiation, final check and the lesson mission. Picture match: website visual game “Skills and Qualities — What Makes a Good Worker?”.
All vocabulary, grammar rules, quizzes, the listening script, the reading text, speaking prompts and model answers come from those pages, so students meet the same language in class and at home. Anything teacher-made (Core scaffolds, riddles, translations) is labelled in the notes.
SUPPORT FOR THIS CLASS (Arabic not yet secure; mixed levels):
• Core: 6 skills + 6 qualities (m. / f.) and “A doctor needs patience” (يَحْتَاجُ الطَّبِيبُ إِلَى الصَّبْرِ) + one quality with evidence. Develop: يَجِبُ أَنْ يَكُونَ … (adjective in -an) and يَسْتَطِيعُ أَنْ …. Stretch: two contrasting careers, shared skills, evidence for every quality.
• The earlier work personality adjectives return as WORKER qualities (صَبُورٌ، مُتَعَاوِنٌ، مُجْتَهِدٌ) — students already know the m. / f. habit.
• Grammar link: يَجِبُ أَنْ + verb (-a) is from F4-L06 (website) / F5-L10 (website); NEW is يَكُونَ + adjective in -an (صَبُورًا / هَادِئَةً).
• Urdu bridge: مہارت، تجربہ (≠ خِبْرَةٌ by sound), قیادت، ذمہ دار.
• TEACHER-WRITTEN ITEMS: on the website this lesson’s mission, sorter, mistakes, grammar, final, listening, reading, speaking, writing items are generic placeholders, so the deck uses teacher-written questions and translations built on the website’s own script and text (flagged for the website editor).
• Colour code (same as all Miftah lessons): WHO = blue, MEANING = purple, ENDING = pink, PATTERN = orange, KEY WORD = teal.
• SEND “automatic doors”: lesson map, chunked tasks, read-along scripts with English, cover-the-text reading and “pass” for reading aloud are built in for everyone, so no one is singled out.
ROUTES: Core (green) = students whose Arabic is not yet secure; Develop (amber) = on track; Stretch (red) = confident. Same objective for everyone — the task changes, not the goal (EAL Guide: adapt the task, not the objective).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MAP (30 seconds) — SEND training: “absolute predictability”. Show the whole journey so students know what is coming and when they will be asked to speak or write. Point to the green box: using the Core supports is normal and expected (“automatic doors”).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(5 min independent + 2 min going through answers).
Questions 1–2 test two of the five words prepared at home at the end of TD-L07. Questions 3–4 retrieve TD-L07; question 5 retrieves D2-L01 (website) (quality + evidence).
• Students work silently. Answers go in the chat as five letters only when the timer ends.
• Core students may answer in English and use their book.
• While they work: register, note late joiners, note anyone not attempting (Self-Management).
• Go THROUGH the answers on the next slide — ask one student (after thinking time) to explain WHY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(2 min). Reveal and ask “why?” for each (● 10s think → named student, warned in advance).
Key idea for today (bottom-right card): A job NEEDS a skill; a worker MUST BE a quality — and you prove it with behaviour.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OBJECTIVES (1 min).
Left: the lesson objectives exactly as they appear on the website.
Right: the same objectives broken into three routes. Everyone starts with Core; most students reach Develop; confident students aim for Stretch. Students decide privately which route they are aiming for (● Think 10s) — revisit in Feedback.
The route statements turn the website objectives into this lesson’s concrete targets.
EAL: read the Core statements aloud, pointing to the Arabic as you say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KEY WORDS — HOW TO TEACH EACH GROUP (EAL pre-teaching routine, 7 min)
1. HEAR IT: say the word twice, clearly, with a gesture where possible.
2. SAY IT: choral repetition — “I say, you say” — then two volunteers.
3. SEE IT: point out the part of the word that carries today’s grammar (colour code).
4. USE IT: quick check — “Type the NUMBER of the word that means …” in the chat.
Transliteration is printed for Core students. Develop/Stretch students should cover it and read the Arabic.
FLEX groups are for fast classes or homework — every word is on the website vocabulary tab.
URDU BRIDGE: مہارت، قیادت، امین are shared (al-Amīn, the Trustworthy). مسؤول is used in formal Urdu; everyday Urdu says ذمہ دار. الإِبْدَاعُ shares the root of بدیع (wonderful, original). خِبْرَةٌ (experience) is NOT Urdu خبر (news) — same root (to know), different meaning: careful!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KEY WORDS — Skills (website vocabulary (1 of 2)). Hear → Say → See → Use. Transliteration is printed for Core students (cover it for Develop/Stretch).
Skills are NOUNS (what a job needs): يَحْتَاجُ إِلَى + these words. Many are verbal nouns (حَلٌّ = solving, إِدَارَةٌ = managing).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KEY WORDS — Skills (website vocabulary (2 of 2)). Hear → Say → See → Use. Transliteration is printed for Core students (cover it for Develop/Stretch).
Skills are NOUNS (what a job needs): يَحْتَاجُ إِلَى + these words. Many are verbal nouns (حَلٌّ = solving, إِدَارَةٌ = managing).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KEY WORDS — Worker qualities (website vocabulary (1 of 2)). Hear → Say → See → Use. Transliteration is printed for Core students (cover it for Develop/Stretch).
Qualities are ADJECTIVES (what a worker is): every card shows m. · f. · pl. أَمِينٌ has a broken plural: أُمَنَاءُ. مَوْثُوقٌ بِهِ: the pronoun changes too (بِهِ / بِهَا / بِهِمْ).</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KEY WORDS — Worker qualities (website vocabulary (2 of 2)). Hear → Say → See → Use. Transliteration is printed for Core students (cover it for Develop/Stretch).
Qualities are ADJECTIVES (what a worker is): every card shows m. · f. · pl. أَمِينٌ has a broken plural: أُمَنَاءُ. مَوْثُوقٌ بِهِ: the pronoun changes too (بِهِ / بِهَا / بِهِمْ).</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KEY WORDS — Reason and evidence (website vocabulary (1 of 2)). Hear → Say → See → Use. Transliteration is printed for Core students (cover it for Develop/Stretch).
FLEX: teach if time allows; otherwise these are on the website vocabulary tab for homework.
Reason and evidence (FLEX): the Topic D connector list. Today: عَلَى سَبِيلِ المِثَالِ (for example) — the evidence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KEY WORDS — Reason and evidence (website vocabulary (2 of 2)). Hear → Say → See → Use. Transliteration is printed for Core students (cover it for Develop/Stretch).
FLEX: teach if time allows; otherwise these are on the website vocabulary tab for homework.
Reason and evidence (FLEX): the Topic D connector list. Today: عَلَى سَبِيلِ المِثَالِ (for example) — the evidence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GRAMMAR PART 1 — website rules “Needs a skill” (يَحْتَاجُ إِلَى + مَصْدَرٍ / اسْمٍ) and “Must be” (يَجِبُ أَنْ يَكُونَ / تَكُونَ + صِفَةً: the verb agrees with the person; the predicate adjective is accusative). Website examples: يَحْتَاجُ الطَّبِيبُ إِلَى الصَّبْرِ · تَحْتَاجُ المُهَنْدِسَةُ إِلَى الدِّقَّةِ · يَجِبُ أَنْ يَكُونَ المُدَرِّسُ صَبُورًا · يَجِبُ أَنْ تَكُونَ المُمَرِّضَةُ هَادِئَةً.
Core can stay with rows 1–2 (يَحْتَاجُ إِلَى).</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GRAMMAR PART 2 — website rules “Ability” (يَسْتَطِيعُ أَنْ + مُضَارِعٌ) and “Evidence” (support a quality with behaviour rather than a label alone). Website examples: يَسْتَطِيعُ أَنْ يَحُلَّ المُشْكِلَاتِ · تَسْتَطِيعُ أَنْ تَعْمَلَ ضِمْنَ فَرِيقٍ · هُوَ مَسْؤُولٌ لِأَنَّهُ يَحْتَرِمُ المَوَاعِيدَ · هِيَ مُتَعَاوِنَةٌ لِأَنَّهَا تُسَاعِدُ زُمَلَاءَهَا.
The error pair is teacher-chosen (the website common error for this lesson is generic): in Modern Standard Arabic يَحْتَاجُ normally takes إِلَى.</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WEBSITE GRAMMAR RULES AND EXAMPLES (FLEX — revision or homework). Website overview: “التَّعْبِيرُ عَنِ المَهَارَاتِ وَالمُتَطَلَّبَاتِ”
• Needs a skill: Use يحتاج إلى before a skill or qualification.
• Must be: The verb agrees with the person; the predicate adjective is accusative.
• Ability: Use أن followed by a present-tense verb.
• Evidence: Support a quality with behaviour rather than a label alone.
Website common error: Do not drop إِلَى after يَحْتَاجُ, and do not leave the adjective after يَكُونَ / تَكُونَ in -un (teacher wording: the website common error for this lesson is generic).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FOR UNDERSTANDING (2 min) — website grammar quiz questions 1, 2, 3, 5.
● Think 20s silently → everyone types four letters in chat together on “3-2-1-go”. “Show me” alternative: A/B/C fingers to camera (EAL: show, not tell).
Read the chat: if more than a quarter of the class misses a question, re-teach that rule with its grammar slide before moving on (Live feedback: correct misconceptions immediately).
Use the results to confirm routes for the You Do task.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Ask “Who can build on that?” (+) — a student explains why one wrong option is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DO (3 min) — teacher-written model built on the website rules and reading text (doctor / programmer / teacher). Think aloud: “Skill (noun) or quality (adjective)? He or she? Where is my proof?”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SENTENCES (1 min) — website patterns. Students copy TWO that are useful for them.
• Core: copy one and change one word. • Develop: copy two and change the subject. • Stretch: combine two into one longer sentence with a connector.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the website’s interactive lesson game (“Skill Match (Topic game)”) as a whole-class picture match (2 min). The sentences are the website game sentences; the pictures are icons standing in for the website images.
● 20s: look at each picture and find ONE key word you know in each sentence → type “1_ 2_ 3_” in the chat.
This is the most accessible task in the lesson — use it to build confidence before independent work. Core students read the sentence aloud after the answer is revealed (by invitation).
TOPIC D GAME “Skill Match”: teamwork, communication, organisation and punctuality.
Website feedback lines: The visual shows teamwork. · The speech bubbles represent communication. · The clock and tick show punctual organisation.
FLEX: use it after the model sentences if the class is secure, or as the next lesson’s warm-up.
This is the website TOPIC game for this lesson (Advanced Topics page), not the pathway game.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the website’s interactive lesson game (“Skill Match (Topic game)”) as a whole-class picture match (2 min). The sentences are the website game sentences; the pictures are icons standing in for the website images.
● 20s: look at each picture and find ONE key word you know in each sentence → type “1_ 2_ 3_” in the chat.
This is the most accessible task in the lesson — use it to build confidence before independent work. Core students read the sentence aloud after the answer is revealed (by invitation).
TOPIC D GAME “Skill Match”: teamwork, communication, organisation and punctuality.
Website feedback lines: The visual shows teamwork. · The speech bubbles represent communication. · The clock and tick show punctual organisation.
FLEX: use it after the model sentences if the class is secure, or as the next lesson’s warm-up.
This is the website TOPIC game for this lesson (Advanced Topics page), not the pathway game.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 DO — the website’s interactive lesson game (“Visual game — Skills and Qualities — What Makes a Good Worker?”) as a whole-class picture match (2 min). The sentences are the website game sentences; the pictures are icons standing in for the website images.
● 20s: look at each picture and find ONE key word you know in each sentence → type “1_ 2_ 3_” in the chat.
This is the most accessible task in the lesson — use it to build confidence before independent work. Core students read the sentence aloud after the answer is revealed (by invitation).
Website visual game (3 of 6). Ask: which word shows HE / SHE? (هُوَ / هِيَ and the -a ending in مُنَظَّمَةٌ). Other website cards: لَدَيْهَا مَهَارَاتُ تَوَاصُلٍ جَيِّدَةٌ · لَدَيْهِ مَهَارَاتٌ رَقْمِيَّةٌ · هِيَ طَمُوحَةٌ وَمُجْتَهِدَةٌ.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 DO — the website’s interactive lesson game (“Visual game — Skills and Qualities — What Makes a Good Worker?”) as a whole-class picture match (2 min). The sentences are the website game sentences; the pictures are icons standing in for the website images.
● 20s: look at each picture and find ONE key word you know in each sentence → type “1_ 2_ 3_” in the chat.
This is the most accessible task in the lesson — use it to build confidence before independent work. Core students read the sentence aloud after the answer is revealed (by invitation).
Website visual game (3 of 6). Ask: which word shows HE / SHE? (هُوَ / هِيَ and the -a ending in مُنَظَّمَةٌ). Other website cards: لَدَيْهَا مَهَارَاتُ تَوَاصُلٍ جَيِّدَةٌ · لَدَيْهِ مَهَارَاتٌ رَقْمِيَّةٌ · هِيَ طَمُوحَةٌ وَمُجْتَهِدَةٌ.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 DO — website sorter (2 min). Website instruction: Is it a skill (a noun a job needs) or a quality (an adjective describing the worker)?
Then build: يَحْتَاجُ إِلَى + a skill · يَجِبُ أَنْ يَكُونَ + a quality (-an).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 DO — website sorter (2 min). Website instruction: Is it a skill (a noun a job needs) or a quality (an adjective describing the worker)?
Then build: يَحْتَاجُ إِلَى + a skill · يَجِبُ أَنْ يَكُونَ + a quality (-an).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quiz questions 4, 6, 7, 8 (FLEX, 2 min). If time is short these are homework on the website.
“Show me” alternative: students hold up A/B/C fingers to camera.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link each to the grammar rule or vocabulary card it tests.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LISTENING (4 min) — website script. Read it aloud yourself, twice, at natural speed with pauses.
Before listening: students read the questions (● 30s). Core: questions 1, 2 and 4. Develop / Stretch: all 6.
Listen 1: just listen. Listen 2: note answers. Then chat the letters.
Support: after the second listening, show the read-along slide (Arabic + English, line by line) for Core students.
SCRIPT (read aloud):
تَبْحَثُ شَرِكَةٌ عَنْ مُوَظَّفَةٍ لِخِدْمَةِ العُمَلَاءِ. يَجِبُ أَنْ تَكُونَ وَاثِقَةً وَصَبُورَةً، وَأَنْ تَسْتَطِيعَ حَلَّ المُشْكِلَاتِ بِسُرْعَةٍ. الخِبْرَةُ مُفِيدَةٌ، لٰكِنَّهَا لَيْسَتْ ضَرُورِيَّةً لِأَنَّ الشَّرِكَةَ تُقَدِّمُ تَدْرِيبًا. كَمَا أَنَّ إِجَادَةَ لُغَتَيْنِ تُعَدُّ مِيزَةً مُهِمَّةً.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READ-ALONG (Core support) — show AFTER the second listening. The Arabic is the website script, line by line; the English is a teacher translation.
Read it once more while Core students follow. Annotate the words that gave each answer.
Stretch: cover the English column and translate one line aloud.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answers. For each, ask “Which Arabic words gave you the answer?” — the evidence line is under each card.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TOPIC D APPLICATION CHALLENGE (5 min — it takes the speaking-rehearsal slot; the website speaking slide after it is FLEX) — from the website Topic page: “Match personal qualities and professional skills to different jobs. Every match must be justified with evidence from a short candidate profile.”
Website Topic D challenge “Candidate skills match”. Candidates: سَارَةُ: صَبُورَةٌ وَتُحِبُّ الأَطْفَالَ · يُوسُفُ: يُجِيدُ الحَاسُوبَ وَدَقِيقٌ · مَرْيَمُ: اجْتِمَاعِيَّةٌ وَتَتَكَلَّمُ ثَلَاثَ لُغَاتٍ. Jobs: مُعَلِّمَةٌ · مُبَرْمِجٌ · مُوَظَّفَةُ اسْتِقْبَالٍ فِي فُنْدُقٍ.</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FLEX — the Topic D challenge before this slide is the main speaking task; use these website prompts if time allows or as homework rehearsal.
SPEAKING REHEARSAL (3 min) — website speaking prompts. No breakout rooms (saves setup time).
Sequence: ● 10s think → ↔ 45s everyone rehearses their answer aloud with mic muted → ◎ pairs on open mic: name two students (warned in advance); A asks, B answers; the rest of the class types one follow-up question in chat (+ / ?) → ↺ one student summarises the answer they heard.
Routes: Core uses the Core prompt and stem; Develop the Develop prompts; Stretch the last prompt.
Model (website) at the bottom — read it with a confident student first. The website model continues:
A: وَمَا أَهَمُّ صِفَةٍ فِيكَ؟ (And what is your most important quality?)
B: أَنَا مَسْؤُولٌ لِأَنَّنِي أُكْمِلُ وَاجِبَاتِي فِي الوَقْتِ. (I am responsible because I finish my homework on time.)
Teacher-written prompts and model (the website prompts are generic). Model continues: A: وَمَا أَهَمُّ صِفَةٍ فِيكَ؟ B: أَنَا مَسْؤُولٌ لِأَنَّنِي أُكْمِلُ وَاجِبَاتِي فِي الوَقْتِ. To a girl: مَا أَهَمُّ صِفَةٍ فِيكِ؟ — أَنَا مَسْؤُولَةٌ لِأَنَّنِي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DO (9 min writing). Steer routes using the Do Now and quick-check results.
Website differentiation tasks: Core — Secure the main vocabulary and produce four accurate sentences using the taught frame. · Develop — Combine description, grammar and a reason in connected answers. · Stretch — Add comparison, contrast, precise evidence and independently controlled complex structures.
Website writing task (Stretch): Explain the qualities and skills needed for two contrasting careers.
LIVE FEEDBACK: students post their first two sentences in the chat (or OneNote) after 3 minutes. Scan and correct misconceptions immediately — use private chat for individual corrections (Behaviour: quiet, individual).
Work with the less able: stay with Core students for the first 3 minutes; Develop/Stretch continue independently. SEND: chunk the Core task — “two sentences, then show me”.
Extension (fast finishers): the reading on the Extension slides. Pastoral: Self-Management point for students who work without prompting.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on screen during writing — Core students complete the frames on the right; Develop students use the frames on the left.
Frames and word bank use only this lesson’s website language (EAL: sentence frame + word bank scaffold; same objective, adapted task).
EAL Band A–B students: complete three frames, then copy and adapt one model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Stretch students work from this slide. Checklist = website writing checklist; phrase bank = phrases from the website model, reading text and listening script. Live feedback for Stretch: check the target structures appear and are accurate.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FEEDBACK (1 min) — website model answer, with an English translation for Core students.
Students find in the model (● 20s → ◎) the four items on the chips. Teacher-written model (the website model for this lesson is a placeholder). Evidence: تَحْتَاجُ المُمَرِّضَةُ إِلَى الصَّبْرِ · يَجِبُ أَنْ تَكُونَ هَادِئَةً · أَنْ تَسْتَطِيعَ العَمَلَ · مُنَظَّمًا وَصَبُورًا · تَحْتَاجَانِ (dual, Stretch) · لِأَنَّنِي أَسْتَطِيعُ أَنْ أُرَكِّزَ.
Then each student chooses ONE thing from the model to add to their own writing (specific, actionable feedback on the success criteria).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(2 min) — 3 of the website’s 4 end-of-lesson questions (“Final self-marking check”). The rest are on the website for homework.
Anyone scoring low → Core route next lesson and a check-in during the Do Now. Record Pastoral Tracker points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reveal. Students self-mark and type their score out of 3 in the chat.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EXTENSION — website reading text. For fast finishers during You Do, or Stretch homework. “You don’t need every word; find the words the question asks about.”
The green key-words panel is a teacher-made glossary so Develop students can also attempt it.
SEND reading strategy (Toolkit 1): cover the text with a piece of paper and uncover one sentence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Reading questions from the website. The detective steps follow the SEND “modular reading” strategy: read one part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from the website, with the evidence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PREPARATION — flipped learning (2 min to explain).
Next lesson (TD-L09 · Applications and Interviews) will spend class time USING this language, so students prepare it tonight — short, simple, easy to access (school guidance: “Simple, Short, Interesting, Relevant, Easy to access”). The five words come from the website TD-L10 vocabulary (future plans).
Follow-up: the next Do Now tests two of these words (Flipped Learning: keep it short AND follow up).
Homework by route (website tasks). No internet? Students copy the five words from this slide into their book now.
TOPIC D: the five words are the ones the TD-L09 Do Now tests (preparation list of the website D3-L05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cs typeface="Amiri" pitchFamily="2" charset="-78"/>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cs typeface="Amiri" pitchFamily="2" charset="-78"/>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cs typeface="Amiri" pitchFamily="2" charset="-78"/>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cs typeface="Amiri" pitchFamily="2" charset="-78"/>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9pPr>
    </p:bodyStyle>
    <p:otherStyle>
      <a:defPPr>
        <a:defRPr lang="en-US"/>
      </a:defPPr>
      <a:lvl1pPr marL="0" algn="l" defTabSz="914400" rtl="0" eaLnBrk="1" latinLnBrk="0" hangingPunct="1">
        <a:defRPr sz="1800" kern="1200">
          <a:solidFill>
            <a:schemeClr val="tx1"/>
          </a:solidFill>
          <a:latin typeface="+mn-lt"/>
          <a:cs typeface="Amiri" pitchFamily="2" charset="-78"/>
        </a:defRPr>
      </a:lvl1pPr>
      <a:lvl2pPr marL="457200" algn="l" defTabSz="914400" rtl="0" eaLnBrk="1" latinLnBrk="0" hangingPunct="1">
        <a:defRPr sz="1800" kern="1200">
          <a:solidFill>
            <a:schemeClr val="tx1"/>
          </a:solidFill>
          <a:latin typeface="+mn-lt"/>
          <a:cs typeface="Amiri" pitchFamily="2" charset="-78"/>
        </a:defRPr>
      </a:lvl2pPr>
      <a:lvl3pPr marL="914400" algn="l" defTabSz="914400" rtl="0" eaLnBrk="1" latinLnBrk="0" hangingPunct="1">
        <a:defRPr sz="1800" kern="1200">
          <a:solidFill>
            <a:schemeClr val="tx1"/>
          </a:solidFill>
          <a:latin typeface="+mn-lt"/>
          <a:cs typeface="Amiri" pitchFamily="2" charset="-78"/>
        </a:defRPr>
      </a:lvl3pPr>
      <a:lvl4pPr marL="1371600" algn="l" defTabSz="914400" rtl="0" eaLnBrk="1" latinLnBrk="0" hangingPunct="1">
        <a:defRPr sz="1800" kern="1200">
          <a:solidFill>
            <a:schemeClr val="tx1"/>
          </a:solidFill>
          <a:latin typeface="+mn-lt"/>
          <a:cs typeface="Amiri" pitchFamily="2" charset="-78"/>
        </a:defRPr>
      </a:lvl4pPr>
      <a:lvl5pPr marL="1828800" algn="l" defTabSz="914400" rtl="0" eaLnBrk="1" latinLnBrk="0" hangingPunct="1">
        <a:defRPr sz="1800" kern="1200">
          <a:solidFill>
            <a:schemeClr val="tx1"/>
          </a:solidFill>
          <a:latin typeface="+mn-lt"/>
          <a:cs typeface="Amiri" pitchFamily="2" charset="-78"/>
        </a:defRPr>
      </a:lvl5pPr>
      <a:lvl6pPr marL="2286000" algn="l" defTabSz="914400" rtl="0" eaLnBrk="1" latinLnBrk="0" hangingPunct="1">
        <a:defRPr sz="1800" kern="1200">
          <a:solidFill>
            <a:schemeClr val="tx1"/>
          </a:solidFill>
          <a:latin typeface="+mn-lt"/>
          <a:cs typeface="Amiri" pitchFamily="2" charset="-78"/>
        </a:defRPr>
      </a:lvl6pPr>
      <a:lvl7pPr marL="2743200" algn="l" defTabSz="914400" rtl="0" eaLnBrk="1" latinLnBrk="0" hangingPunct="1">
        <a:defRPr sz="1800" kern="1200">
          <a:solidFill>
            <a:schemeClr val="tx1"/>
          </a:solidFill>
          <a:latin typeface="+mn-lt"/>
          <a:cs typeface="Amiri" pitchFamily="2" charset="-78"/>
        </a:defRPr>
      </a:lvl7pPr>
      <a:lvl8pPr marL="3200400" algn="l" defTabSz="914400" rtl="0" eaLnBrk="1" latinLnBrk="0" hangingPunct="1">
        <a:defRPr sz="1800" kern="1200">
          <a:solidFill>
            <a:schemeClr val="tx1"/>
          </a:solidFill>
          <a:latin typeface="+mn-lt"/>
          <a:cs typeface="Amiri" pitchFamily="2" charset="-78"/>
        </a:defRPr>
      </a:lvl8pPr>
      <a:lvl9pPr marL="3657600" algn="l" defTabSz="914400" rtl="0" eaLnBrk="1" latinLnBrk="0" hangingPunct="1">
        <a:defRPr sz="1800" kern="1200">
          <a:solidFill>
            <a:schemeClr val="tx1"/>
          </a:solidFill>
          <a:latin typeface="+mn-lt"/>
          <a:cs typeface="Amiri" pitchFamily="2" charset="-78"/>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image" Target="../media/image-21-2.png"/><Relationship Id="rId3" Type="http://schemas.openxmlformats.org/officeDocument/2006/relationships/image" Target="../media/image-21-3.png"/><Relationship Id="rId4" Type="http://schemas.openxmlformats.org/officeDocument/2006/relationships/image" Target="../media/image-21-4.png"/><Relationship Id="rId5" Type="http://schemas.openxmlformats.org/officeDocument/2006/relationships/image" Target="../media/image-21-5.png"/><Relationship Id="rId6" Type="http://schemas.openxmlformats.org/officeDocument/2006/relationships/slideLayout" Target="../slideLayouts/slideLayout1.xml"/><Relationship Id="rId7"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image" Target="../media/image-22-2.png"/><Relationship Id="rId3" Type="http://schemas.openxmlformats.org/officeDocument/2006/relationships/image" Target="../media/image-22-3.png"/><Relationship Id="rId4" Type="http://schemas.openxmlformats.org/officeDocument/2006/relationships/image" Target="../media/image-22-4.png"/><Relationship Id="rId5" Type="http://schemas.openxmlformats.org/officeDocument/2006/relationships/image" Target="../media/image-22-5.png"/><Relationship Id="rId6" Type="http://schemas.openxmlformats.org/officeDocument/2006/relationships/slideLayout" Target="../slideLayouts/slideLayout1.xml"/><Relationship Id="rId7"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image" Target="../media/image-23-2.png"/><Relationship Id="rId3" Type="http://schemas.openxmlformats.org/officeDocument/2006/relationships/image" Target="../media/image-23-3.png"/><Relationship Id="rId4" Type="http://schemas.openxmlformats.org/officeDocument/2006/relationships/image" Target="../media/image-23-4.png"/><Relationship Id="rId5" Type="http://schemas.openxmlformats.org/officeDocument/2006/relationships/image" Target="../media/image-23-5.png"/><Relationship Id="rId6" Type="http://schemas.openxmlformats.org/officeDocument/2006/relationships/image" Target="../media/image-23-6.png"/><Relationship Id="rId7" Type="http://schemas.openxmlformats.org/officeDocument/2006/relationships/slideLayout" Target="../slideLayouts/slideLayout1.xml"/><Relationship Id="rId8"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image" Target="../media/image-24-2.png"/><Relationship Id="rId3" Type="http://schemas.openxmlformats.org/officeDocument/2006/relationships/image" Target="../media/image-24-3.png"/><Relationship Id="rId4" Type="http://schemas.openxmlformats.org/officeDocument/2006/relationships/image" Target="../media/image-24-4.png"/><Relationship Id="rId5" Type="http://schemas.openxmlformats.org/officeDocument/2006/relationships/image" Target="../media/image-24-5.png"/><Relationship Id="rId6" Type="http://schemas.openxmlformats.org/officeDocument/2006/relationships/image" Target="../media/image-24-6.png"/><Relationship Id="rId7" Type="http://schemas.openxmlformats.org/officeDocument/2006/relationships/slideLayout" Target="../slideLayouts/slideLayout1.xml"/><Relationship Id="rId8"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1.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1.xml"/><Relationship Id="rId3" Type="http://schemas.openxmlformats.org/officeDocument/2006/relationships/notesSlide" Target="../notesSlides/notesSlide47.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2" charset="-78"/>
                <a:ea typeface="Amiri" pitchFamily="2" charset="-78"/>
                <a:cs typeface="Amiri" pitchFamily="2" charset="-78"/>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cs typeface="Amiri" pitchFamily="2" charset="-78"/>
              </a:rPr>
              <a:t>Al Madina Online School</a:t>
            </a:r>
            <a:endParaRPr lang="en-US" sz="1400" dirty="0"/>
          </a:p>
          <a:p>
            <a:pPr indent="0" marL="0">
              <a:buNone/>
            </a:pPr>
            <a:r>
              <a:rPr lang="en-US" sz="800" b="1" spc="200" kern="0" dirty="0">
                <a:solidFill>
                  <a:srgbClr val="D4AF37"/>
                </a:solidFill>
                <a:latin typeface="Calibri" pitchFamily="34" charset="0"/>
                <a:cs typeface="Amiri" pitchFamily="2" charset="-78"/>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cs typeface="Amiri" pitchFamily="2" charset="-78"/>
              </a:rPr>
              <a:t>CAMBRIDGE IGCSE ARABIC 0544  ·  ADVANCED TOPIC D  ·  TD-L08</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cs typeface="Amiri" pitchFamily="2" charset="-78"/>
              </a:rPr>
              <a:t>TD-L08</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2650" b="1" dirty="0">
                <a:solidFill>
                  <a:srgbClr val="FFFFFF"/>
                </a:solidFill>
                <a:latin typeface="Cambria" pitchFamily="34" charset="0"/>
                <a:cs typeface="Amiri" pitchFamily="2" charset="-78"/>
              </a:rPr>
              <a:t>Personal Qualities and Professional Skills</a:t>
            </a:r>
            <a:endParaRPr lang="en-US" sz="265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2" charset="-78"/>
                <a:ea typeface="Amiri" pitchFamily="2" charset="-78"/>
                <a:cs typeface="Amiri" pitchFamily="2" charset="-78"/>
              </a:rPr>
              <a:t>الصِّفَاتُ الشَّخْصِيَّةُ وَالمَهَارَاتُ المِهْنِيَّةُ</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cs typeface="Amiri" pitchFamily="2" charset="-78"/>
              </a:rPr>
              <a:t>Match strengths and qualities to roles and support judgements with evidence.</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LESSON</a:t>
            </a:r>
            <a:endParaRPr lang="en-US" sz="850" dirty="0"/>
          </a:p>
          <a:p>
            <a:pPr indent="0" marL="0">
              <a:buNone/>
            </a:pPr>
            <a:r>
              <a:rPr lang="en-US" sz="1200" b="1" dirty="0">
                <a:solidFill>
                  <a:srgbClr val="FFFFFF"/>
                </a:solidFill>
                <a:latin typeface="Calibri" pitchFamily="34" charset="0"/>
                <a:cs typeface="Amiri" pitchFamily="2" charset="-78"/>
              </a:rPr>
              <a:t>TD-L08 · Advanced Topic D · The World of Work</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DURATION</a:t>
            </a:r>
            <a:endParaRPr lang="en-US" sz="850" dirty="0"/>
          </a:p>
          <a:p>
            <a:pPr indent="0" marL="0">
              <a:buNone/>
            </a:pPr>
            <a:r>
              <a:rPr lang="en-US" sz="1200" b="1" dirty="0">
                <a:solidFill>
                  <a:srgbClr val="FFFFFF"/>
                </a:solidFill>
                <a:latin typeface="Calibri" pitchFamily="34" charset="0"/>
                <a:cs typeface="Amiri" pitchFamily="2" charset="-78"/>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LEVEL</a:t>
            </a:r>
            <a:endParaRPr lang="en-US" sz="850" dirty="0"/>
          </a:p>
          <a:p>
            <a:pPr indent="0" marL="0">
              <a:buNone/>
            </a:pPr>
            <a:r>
              <a:rPr lang="en-US" sz="1200" b="1" dirty="0">
                <a:solidFill>
                  <a:srgbClr val="FFFFFF"/>
                </a:solidFill>
                <a:latin typeface="Calibri" pitchFamily="34" charset="0"/>
                <a:cs typeface="Amiri" pitchFamily="2" charset="-78"/>
              </a:rPr>
              <a:t>Topic D · A2 → B1</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ON THE WEBSITE</a:t>
            </a:r>
            <a:endParaRPr lang="en-US" sz="850" dirty="0"/>
          </a:p>
          <a:p>
            <a:pPr indent="0" marL="0">
              <a:buNone/>
            </a:pPr>
            <a:r>
              <a:rPr lang="en-US" sz="1200" b="1" dirty="0">
                <a:solidFill>
                  <a:srgbClr val="FFFFFF"/>
                </a:solidFill>
                <a:latin typeface="Calibri" pitchFamily="34" charset="0"/>
                <a:cs typeface="Amiri" pitchFamily="2" charset="-78"/>
              </a:rPr>
              <a:t>Advanced Topics › Topic D › TD-L08</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TD-L08 · Skills</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D · The World of Work · TD-L08</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Camera on</a:t>
            </a:r>
            <a:endParaRPr lang="en-US" sz="1500" dirty="0"/>
          </a:p>
          <a:p>
            <a:pPr indent="0" marL="0">
              <a:buNone/>
            </a:pPr>
            <a:r>
              <a:rPr lang="en-US" sz="1150" dirty="0">
                <a:solidFill>
                  <a:srgbClr val="5A6472"/>
                </a:solidFill>
                <a:latin typeface="Calibri" pitchFamily="34" charset="0"/>
                <a:cs typeface="Amiri" pitchFamily="2" charset="-78"/>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Mic muted</a:t>
            </a:r>
            <a:endParaRPr lang="en-US" sz="1500" dirty="0"/>
          </a:p>
          <a:p>
            <a:pPr indent="0" marL="0">
              <a:buNone/>
            </a:pPr>
            <a:r>
              <a:rPr lang="en-US" sz="1150" dirty="0">
                <a:solidFill>
                  <a:srgbClr val="5A6472"/>
                </a:solidFill>
                <a:latin typeface="Calibri" pitchFamily="34" charset="0"/>
                <a:cs typeface="Amiri" pitchFamily="2" charset="-78"/>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Chat for learning</a:t>
            </a:r>
            <a:endParaRPr lang="en-US" sz="1500" dirty="0"/>
          </a:p>
          <a:p>
            <a:pPr indent="0" marL="0">
              <a:buNone/>
            </a:pPr>
            <a:r>
              <a:rPr lang="en-US" sz="1150" dirty="0">
                <a:solidFill>
                  <a:srgbClr val="5A6472"/>
                </a:solidFill>
                <a:latin typeface="Calibri" pitchFamily="34" charset="0"/>
                <a:cs typeface="Amiri" pitchFamily="2" charset="-78"/>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Raise your hand</a:t>
            </a:r>
            <a:endParaRPr lang="en-US" sz="1500" dirty="0"/>
          </a:p>
          <a:p>
            <a:pPr indent="0" marL="0">
              <a:buNone/>
            </a:pPr>
            <a:r>
              <a:rPr lang="en-US" sz="1150" dirty="0">
                <a:solidFill>
                  <a:srgbClr val="5A6472"/>
                </a:solidFill>
                <a:latin typeface="Calibri" pitchFamily="34" charset="0"/>
                <a:cs typeface="Amiri" pitchFamily="2" charset="-78"/>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Think</a:t>
            </a:r>
            <a:endParaRPr lang="en-US" sz="1400" dirty="0"/>
          </a:p>
          <a:p>
            <a:pPr indent="0" marL="0">
              <a:buNone/>
            </a:pPr>
            <a:r>
              <a:rPr lang="en-US" sz="1100" dirty="0">
                <a:solidFill>
                  <a:srgbClr val="5A6472"/>
                </a:solidFill>
                <a:latin typeface="Calibri" pitchFamily="34" charset="0"/>
                <a:cs typeface="Amiri" pitchFamily="2" charset="-78"/>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Rehearse</a:t>
            </a:r>
            <a:endParaRPr lang="en-US" sz="1400" dirty="0"/>
          </a:p>
          <a:p>
            <a:pPr indent="0" marL="0">
              <a:buNone/>
            </a:pPr>
            <a:r>
              <a:rPr lang="en-US" sz="1100" dirty="0">
                <a:solidFill>
                  <a:srgbClr val="5A6472"/>
                </a:solidFill>
                <a:latin typeface="Calibri" pitchFamily="34" charset="0"/>
                <a:cs typeface="Amiri" pitchFamily="2" charset="-78"/>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Build</a:t>
            </a:r>
            <a:endParaRPr lang="en-US" sz="1400" dirty="0"/>
          </a:p>
          <a:p>
            <a:pPr indent="0" marL="0">
              <a:buNone/>
            </a:pPr>
            <a:r>
              <a:rPr lang="en-US" sz="1100" dirty="0">
                <a:solidFill>
                  <a:srgbClr val="5A6472"/>
                </a:solidFill>
                <a:latin typeface="Calibri" pitchFamily="34" charset="0"/>
                <a:cs typeface="Amiri" pitchFamily="2" charset="-78"/>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Challenge</a:t>
            </a:r>
            <a:endParaRPr lang="en-US" sz="1400" dirty="0"/>
          </a:p>
          <a:p>
            <a:pPr indent="0" marL="0">
              <a:buNone/>
            </a:pPr>
            <a:r>
              <a:rPr lang="en-US" sz="1100" dirty="0">
                <a:solidFill>
                  <a:srgbClr val="5A6472"/>
                </a:solidFill>
                <a:latin typeface="Calibri" pitchFamily="34" charset="0"/>
                <a:cs typeface="Amiri" pitchFamily="2" charset="-78"/>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Share</a:t>
            </a:r>
            <a:endParaRPr lang="en-US" sz="1400" dirty="0"/>
          </a:p>
          <a:p>
            <a:pPr indent="0" marL="0">
              <a:buNone/>
            </a:pPr>
            <a:r>
              <a:rPr lang="en-US" sz="1100" dirty="0">
                <a:solidFill>
                  <a:srgbClr val="5A6472"/>
                </a:solidFill>
                <a:latin typeface="Calibri" pitchFamily="34" charset="0"/>
                <a:cs typeface="Amiri" pitchFamily="2" charset="-78"/>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Summarise</a:t>
            </a:r>
            <a:endParaRPr lang="en-US" sz="1400" dirty="0"/>
          </a:p>
          <a:p>
            <a:pPr indent="0" marL="0">
              <a:buNone/>
            </a:pPr>
            <a:r>
              <a:rPr lang="en-US" sz="1100" dirty="0">
                <a:solidFill>
                  <a:srgbClr val="5A6472"/>
                </a:solidFill>
                <a:latin typeface="Calibri" pitchFamily="34" charset="0"/>
                <a:cs typeface="Amiri" pitchFamily="2" charset="-78"/>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cs typeface="Amiri" pitchFamily="2" charset="-78"/>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 / 47</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TD-L08 ·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TODAY’S LESSON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lesson today,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خَرِيطَةُ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D · The World of Work · TD-L08</a:t>
            </a:r>
            <a:endParaRPr lang="en-US" sz="850" dirty="0"/>
          </a:p>
        </p:txBody>
      </p:sp>
      <p:sp>
        <p:nvSpPr>
          <p:cNvPr id="15" name="Shape 12"/>
          <p:cNvSpPr/>
          <p:nvPr/>
        </p:nvSpPr>
        <p:spPr>
          <a:xfrm>
            <a:off x="45720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281466" cy="566928"/>
          </a:xfrm>
          <a:prstGeom prst="roundRect">
            <a:avLst>
              <a:gd name="adj" fmla="val 9677"/>
            </a:avLst>
          </a:prstGeom>
          <a:solidFill>
            <a:srgbClr val="0E7C86"/>
          </a:solidFill>
          <a:ln w="12700">
            <a:solidFill>
              <a:srgbClr val="0E7C86"/>
            </a:solidFill>
            <a:prstDash val="solid"/>
          </a:ln>
        </p:spPr>
      </p:sp>
      <p:sp>
        <p:nvSpPr>
          <p:cNvPr id="17" name="Text 14"/>
          <p:cNvSpPr txBox="1"/>
          <p:nvPr/>
        </p:nvSpPr>
        <p:spPr>
          <a:xfrm>
            <a:off x="60350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DO NOW</a:t>
            </a:r>
            <a:endParaRPr lang="en-US" sz="1000" dirty="0"/>
          </a:p>
        </p:txBody>
      </p:sp>
      <p:sp>
        <p:nvSpPr>
          <p:cNvPr id="18" name="Text 15"/>
          <p:cNvSpPr txBox="1"/>
          <p:nvPr/>
        </p:nvSpPr>
        <p:spPr>
          <a:xfrm>
            <a:off x="60350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7 min</a:t>
            </a:r>
            <a:endParaRPr lang="en-US" sz="1000" dirty="0"/>
          </a:p>
        </p:txBody>
      </p:sp>
      <p:sp>
        <p:nvSpPr>
          <p:cNvPr id="19" name="Shape 16"/>
          <p:cNvSpPr/>
          <p:nvPr/>
        </p:nvSpPr>
        <p:spPr>
          <a:xfrm>
            <a:off x="1006493"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00649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1</a:t>
            </a:r>
            <a:endParaRPr lang="en-US" sz="1300" dirty="0"/>
          </a:p>
        </p:txBody>
      </p:sp>
      <p:sp>
        <p:nvSpPr>
          <p:cNvPr id="21" name="Text 18"/>
          <p:cNvSpPr txBox="1"/>
          <p:nvPr/>
        </p:nvSpPr>
        <p:spPr>
          <a:xfrm>
            <a:off x="58521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Retrieval quiz on your own, then we check together.</a:t>
            </a:r>
            <a:endParaRPr lang="en-US" sz="1200" dirty="0"/>
          </a:p>
        </p:txBody>
      </p:sp>
      <p:sp>
        <p:nvSpPr>
          <p:cNvPr id="22" name="Text 19"/>
          <p:cNvSpPr txBox="1"/>
          <p:nvPr/>
        </p:nvSpPr>
        <p:spPr>
          <a:xfrm>
            <a:off x="54864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0E7C86"/>
                </a:solidFill>
                <a:latin typeface="Amiri" pitchFamily="2" charset="-78"/>
                <a:ea typeface="Amiri" pitchFamily="2" charset="-78"/>
                <a:cs typeface="Amiri" pitchFamily="2" charset="-78"/>
              </a:rPr>
              <a:t>اِبْدَأِ الآنَ</a:t>
            </a:r>
            <a:endParaRPr lang="ar-SA" sz="1500" dirty="0"/>
          </a:p>
        </p:txBody>
      </p:sp>
      <p:sp>
        <p:nvSpPr>
          <p:cNvPr id="23" name="Shape 20"/>
          <p:cNvSpPr/>
          <p:nvPr/>
        </p:nvSpPr>
        <p:spPr>
          <a:xfrm>
            <a:off x="2086138"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195866" y="1938528"/>
            <a:ext cx="1281466" cy="566928"/>
          </a:xfrm>
          <a:prstGeom prst="roundRect">
            <a:avLst>
              <a:gd name="adj" fmla="val 9677"/>
            </a:avLst>
          </a:prstGeom>
          <a:solidFill>
            <a:srgbClr val="1B3B6F"/>
          </a:solidFill>
          <a:ln w="12700">
            <a:solidFill>
              <a:srgbClr val="1B3B6F"/>
            </a:solidFill>
            <a:prstDash val="solid"/>
          </a:ln>
        </p:spPr>
      </p:sp>
      <p:sp>
        <p:nvSpPr>
          <p:cNvPr id="25" name="Text 22"/>
          <p:cNvSpPr txBox="1"/>
          <p:nvPr/>
        </p:nvSpPr>
        <p:spPr>
          <a:xfrm>
            <a:off x="2232442"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TEACHER INSTRUCTION</a:t>
            </a:r>
            <a:endParaRPr lang="en-US" sz="1000" dirty="0"/>
          </a:p>
        </p:txBody>
      </p:sp>
      <p:sp>
        <p:nvSpPr>
          <p:cNvPr id="26" name="Text 23"/>
          <p:cNvSpPr txBox="1"/>
          <p:nvPr/>
        </p:nvSpPr>
        <p:spPr>
          <a:xfrm>
            <a:off x="2232442"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14 min</a:t>
            </a:r>
            <a:endParaRPr lang="en-US" sz="1000" dirty="0"/>
          </a:p>
        </p:txBody>
      </p:sp>
      <p:sp>
        <p:nvSpPr>
          <p:cNvPr id="27" name="Shape 24"/>
          <p:cNvSpPr/>
          <p:nvPr/>
        </p:nvSpPr>
        <p:spPr>
          <a:xfrm>
            <a:off x="2635431"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263543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2</a:t>
            </a:r>
            <a:endParaRPr lang="en-US" sz="1300" dirty="0"/>
          </a:p>
        </p:txBody>
      </p:sp>
      <p:sp>
        <p:nvSpPr>
          <p:cNvPr id="29" name="Text 26"/>
          <p:cNvSpPr txBox="1"/>
          <p:nvPr/>
        </p:nvSpPr>
        <p:spPr>
          <a:xfrm>
            <a:off x="2214154"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Needs, must be, can — and evidence for every quality.</a:t>
            </a:r>
            <a:endParaRPr lang="en-US" sz="1200" dirty="0"/>
          </a:p>
        </p:txBody>
      </p:sp>
      <p:sp>
        <p:nvSpPr>
          <p:cNvPr id="30" name="Text 27"/>
          <p:cNvSpPr txBox="1"/>
          <p:nvPr/>
        </p:nvSpPr>
        <p:spPr>
          <a:xfrm>
            <a:off x="2177578"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كَلِمَاتٌ وَقَوَاعِدُ</a:t>
            </a:r>
            <a:endParaRPr lang="ar-SA" sz="1500" dirty="0"/>
          </a:p>
        </p:txBody>
      </p:sp>
      <p:sp>
        <p:nvSpPr>
          <p:cNvPr id="31" name="Shape 28"/>
          <p:cNvSpPr/>
          <p:nvPr/>
        </p:nvSpPr>
        <p:spPr>
          <a:xfrm>
            <a:off x="3715077"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3824805" y="1938528"/>
            <a:ext cx="1281466" cy="566928"/>
          </a:xfrm>
          <a:prstGeom prst="roundRect">
            <a:avLst>
              <a:gd name="adj" fmla="val 9677"/>
            </a:avLst>
          </a:prstGeom>
          <a:solidFill>
            <a:srgbClr val="6B4C9A"/>
          </a:solidFill>
          <a:ln w="12700">
            <a:solidFill>
              <a:srgbClr val="6B4C9A"/>
            </a:solidFill>
            <a:prstDash val="solid"/>
          </a:ln>
        </p:spPr>
      </p:sp>
      <p:sp>
        <p:nvSpPr>
          <p:cNvPr id="33" name="Text 30"/>
          <p:cNvSpPr txBox="1"/>
          <p:nvPr/>
        </p:nvSpPr>
        <p:spPr>
          <a:xfrm>
            <a:off x="3861381"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I DO</a:t>
            </a:r>
            <a:endParaRPr lang="en-US" sz="1000" dirty="0"/>
          </a:p>
        </p:txBody>
      </p:sp>
      <p:sp>
        <p:nvSpPr>
          <p:cNvPr id="34" name="Text 31"/>
          <p:cNvSpPr txBox="1"/>
          <p:nvPr/>
        </p:nvSpPr>
        <p:spPr>
          <a:xfrm>
            <a:off x="3861381"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3 min</a:t>
            </a:r>
            <a:endParaRPr lang="en-US" sz="1000" dirty="0"/>
          </a:p>
        </p:txBody>
      </p:sp>
      <p:sp>
        <p:nvSpPr>
          <p:cNvPr id="35" name="Shape 32"/>
          <p:cNvSpPr/>
          <p:nvPr/>
        </p:nvSpPr>
        <p:spPr>
          <a:xfrm>
            <a:off x="4264370"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4264370"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3</a:t>
            </a:r>
            <a:endParaRPr lang="en-US" sz="1300" dirty="0"/>
          </a:p>
        </p:txBody>
      </p:sp>
      <p:sp>
        <p:nvSpPr>
          <p:cNvPr id="37" name="Text 34"/>
          <p:cNvSpPr txBox="1"/>
          <p:nvPr/>
        </p:nvSpPr>
        <p:spPr>
          <a:xfrm>
            <a:off x="3843093"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Watch me build one sentence. Copy it into your book.</a:t>
            </a:r>
            <a:endParaRPr lang="en-US" sz="1200" dirty="0"/>
          </a:p>
        </p:txBody>
      </p:sp>
      <p:sp>
        <p:nvSpPr>
          <p:cNvPr id="38" name="Text 35"/>
          <p:cNvSpPr txBox="1"/>
          <p:nvPr/>
        </p:nvSpPr>
        <p:spPr>
          <a:xfrm>
            <a:off x="3806517"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6B4C9A"/>
                </a:solidFill>
                <a:latin typeface="Amiri" pitchFamily="2" charset="-78"/>
                <a:ea typeface="Amiri" pitchFamily="2" charset="-78"/>
                <a:cs typeface="Amiri" pitchFamily="2" charset="-78"/>
              </a:rPr>
              <a:t>شَاهِدْ</a:t>
            </a:r>
            <a:endParaRPr lang="ar-SA" sz="1500" dirty="0"/>
          </a:p>
        </p:txBody>
      </p:sp>
      <p:sp>
        <p:nvSpPr>
          <p:cNvPr id="39" name="Shape 36"/>
          <p:cNvSpPr/>
          <p:nvPr/>
        </p:nvSpPr>
        <p:spPr>
          <a:xfrm>
            <a:off x="5344015"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453743" y="1938528"/>
            <a:ext cx="1281466" cy="566928"/>
          </a:xfrm>
          <a:prstGeom prst="roundRect">
            <a:avLst>
              <a:gd name="adj" fmla="val 9677"/>
            </a:avLst>
          </a:prstGeom>
          <a:solidFill>
            <a:srgbClr val="2F6FB0"/>
          </a:solidFill>
          <a:ln w="12700">
            <a:solidFill>
              <a:srgbClr val="2F6FB0"/>
            </a:solidFill>
            <a:prstDash val="solid"/>
          </a:ln>
        </p:spPr>
      </p:sp>
      <p:sp>
        <p:nvSpPr>
          <p:cNvPr id="41" name="Text 38"/>
          <p:cNvSpPr txBox="1"/>
          <p:nvPr/>
        </p:nvSpPr>
        <p:spPr>
          <a:xfrm>
            <a:off x="5490319"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WE DO</a:t>
            </a:r>
            <a:endParaRPr lang="en-US" sz="1000" dirty="0"/>
          </a:p>
        </p:txBody>
      </p:sp>
      <p:sp>
        <p:nvSpPr>
          <p:cNvPr id="42" name="Text 39"/>
          <p:cNvSpPr txBox="1"/>
          <p:nvPr/>
        </p:nvSpPr>
        <p:spPr>
          <a:xfrm>
            <a:off x="5490319"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9 min</a:t>
            </a:r>
            <a:endParaRPr lang="en-US" sz="1000" dirty="0"/>
          </a:p>
        </p:txBody>
      </p:sp>
      <p:sp>
        <p:nvSpPr>
          <p:cNvPr id="43" name="Shape 40"/>
          <p:cNvSpPr/>
          <p:nvPr/>
        </p:nvSpPr>
        <p:spPr>
          <a:xfrm>
            <a:off x="5893308"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4</a:t>
            </a:r>
            <a:endParaRPr lang="en-US" sz="1300" dirty="0"/>
          </a:p>
        </p:txBody>
      </p:sp>
      <p:sp>
        <p:nvSpPr>
          <p:cNvPr id="45" name="Text 42"/>
          <p:cNvSpPr txBox="1"/>
          <p:nvPr/>
        </p:nvSpPr>
        <p:spPr>
          <a:xfrm>
            <a:off x="5472031"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Picture match, sort skills / qualities, fix and listen to a job advert.</a:t>
            </a:r>
            <a:endParaRPr lang="en-US" sz="1200" dirty="0"/>
          </a:p>
        </p:txBody>
      </p:sp>
      <p:sp>
        <p:nvSpPr>
          <p:cNvPr id="46" name="Text 43"/>
          <p:cNvSpPr txBox="1"/>
          <p:nvPr/>
        </p:nvSpPr>
        <p:spPr>
          <a:xfrm>
            <a:off x="5435455"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2F6FB0"/>
                </a:solidFill>
                <a:latin typeface="Amiri" pitchFamily="2" charset="-78"/>
                <a:ea typeface="Amiri" pitchFamily="2" charset="-78"/>
                <a:cs typeface="Amiri" pitchFamily="2" charset="-78"/>
              </a:rPr>
              <a:t>مَعًا</a:t>
            </a:r>
            <a:endParaRPr lang="ar-SA" sz="1500" dirty="0"/>
          </a:p>
        </p:txBody>
      </p:sp>
      <p:sp>
        <p:nvSpPr>
          <p:cNvPr id="47" name="Shape 44"/>
          <p:cNvSpPr/>
          <p:nvPr/>
        </p:nvSpPr>
        <p:spPr>
          <a:xfrm>
            <a:off x="6972953"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7082681" y="1938528"/>
            <a:ext cx="1281466" cy="566928"/>
          </a:xfrm>
          <a:prstGeom prst="roundRect">
            <a:avLst>
              <a:gd name="adj" fmla="val 9677"/>
            </a:avLst>
          </a:prstGeom>
          <a:solidFill>
            <a:srgbClr val="1E6B52"/>
          </a:solidFill>
          <a:ln w="12700">
            <a:solidFill>
              <a:srgbClr val="1E6B52"/>
            </a:solidFill>
            <a:prstDash val="solid"/>
          </a:ln>
        </p:spPr>
      </p:sp>
      <p:sp>
        <p:nvSpPr>
          <p:cNvPr id="49" name="Text 46"/>
          <p:cNvSpPr txBox="1"/>
          <p:nvPr/>
        </p:nvSpPr>
        <p:spPr>
          <a:xfrm>
            <a:off x="7119257"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50" name="Text 47"/>
          <p:cNvSpPr txBox="1"/>
          <p:nvPr/>
        </p:nvSpPr>
        <p:spPr>
          <a:xfrm>
            <a:off x="7119257"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12 min</a:t>
            </a:r>
            <a:endParaRPr lang="en-US" sz="1000" dirty="0"/>
          </a:p>
        </p:txBody>
      </p:sp>
      <p:sp>
        <p:nvSpPr>
          <p:cNvPr id="51" name="Shape 48"/>
          <p:cNvSpPr/>
          <p:nvPr/>
        </p:nvSpPr>
        <p:spPr>
          <a:xfrm>
            <a:off x="7522246"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7522246"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5</a:t>
            </a:r>
            <a:endParaRPr lang="en-US" sz="1300" dirty="0"/>
          </a:p>
        </p:txBody>
      </p:sp>
      <p:sp>
        <p:nvSpPr>
          <p:cNvPr id="53" name="Text 50"/>
          <p:cNvSpPr txBox="1"/>
          <p:nvPr/>
        </p:nvSpPr>
        <p:spPr>
          <a:xfrm>
            <a:off x="7100969"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Speak first, then write on your route.</a:t>
            </a:r>
            <a:endParaRPr lang="en-US" sz="1200" dirty="0"/>
          </a:p>
        </p:txBody>
      </p:sp>
      <p:sp>
        <p:nvSpPr>
          <p:cNvPr id="54" name="Text 51"/>
          <p:cNvSpPr txBox="1"/>
          <p:nvPr/>
        </p:nvSpPr>
        <p:spPr>
          <a:xfrm>
            <a:off x="7064393"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ea typeface="Amiri" pitchFamily="2" charset="-78"/>
                <a:cs typeface="Amiri" pitchFamily="2" charset="-78"/>
              </a:rPr>
              <a:t>وَحْدَكَ</a:t>
            </a:r>
            <a:endParaRPr lang="ar-SA" sz="1500" dirty="0"/>
          </a:p>
        </p:txBody>
      </p:sp>
      <p:sp>
        <p:nvSpPr>
          <p:cNvPr id="55" name="Shape 52"/>
          <p:cNvSpPr/>
          <p:nvPr/>
        </p:nvSpPr>
        <p:spPr>
          <a:xfrm>
            <a:off x="8601891"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8711619" y="1938528"/>
            <a:ext cx="1281466" cy="566928"/>
          </a:xfrm>
          <a:prstGeom prst="roundRect">
            <a:avLst>
              <a:gd name="adj" fmla="val 9677"/>
            </a:avLst>
          </a:prstGeom>
          <a:solidFill>
            <a:srgbClr val="8A6D1E"/>
          </a:solidFill>
          <a:ln w="12700">
            <a:solidFill>
              <a:srgbClr val="8A6D1E"/>
            </a:solidFill>
            <a:prstDash val="solid"/>
          </a:ln>
        </p:spPr>
      </p:sp>
      <p:sp>
        <p:nvSpPr>
          <p:cNvPr id="57" name="Text 54"/>
          <p:cNvSpPr txBox="1"/>
          <p:nvPr/>
        </p:nvSpPr>
        <p:spPr>
          <a:xfrm>
            <a:off x="8748195"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FEEDBACK</a:t>
            </a:r>
            <a:endParaRPr lang="en-US" sz="1000" dirty="0"/>
          </a:p>
        </p:txBody>
      </p:sp>
      <p:sp>
        <p:nvSpPr>
          <p:cNvPr id="58" name="Text 55"/>
          <p:cNvSpPr txBox="1"/>
          <p:nvPr/>
        </p:nvSpPr>
        <p:spPr>
          <a:xfrm>
            <a:off x="8748195"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5 min</a:t>
            </a:r>
            <a:endParaRPr lang="en-US" sz="1000" dirty="0"/>
          </a:p>
        </p:txBody>
      </p:sp>
      <p:sp>
        <p:nvSpPr>
          <p:cNvPr id="59" name="Shape 56"/>
          <p:cNvSpPr/>
          <p:nvPr/>
        </p:nvSpPr>
        <p:spPr>
          <a:xfrm>
            <a:off x="9151185" y="2651760"/>
            <a:ext cx="402336" cy="402336"/>
          </a:xfrm>
          <a:prstGeom prst="ellipse">
            <a:avLst/>
          </a:prstGeom>
          <a:solidFill>
            <a:srgbClr val="F4F1EA"/>
          </a:solidFill>
          <a:ln w="12700">
            <a:solidFill>
              <a:srgbClr val="F4F1EA"/>
            </a:solidFill>
            <a:prstDash val="solid"/>
          </a:ln>
        </p:spPr>
      </p:sp>
      <p:sp>
        <p:nvSpPr>
          <p:cNvPr id="60" name="Text 57"/>
          <p:cNvSpPr txBox="1"/>
          <p:nvPr/>
        </p:nvSpPr>
        <p:spPr>
          <a:xfrm>
            <a:off x="915118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6</a:t>
            </a:r>
            <a:endParaRPr lang="en-US" sz="1300" dirty="0"/>
          </a:p>
        </p:txBody>
      </p:sp>
      <p:sp>
        <p:nvSpPr>
          <p:cNvPr id="61" name="Text 58"/>
          <p:cNvSpPr txBox="1"/>
          <p:nvPr/>
        </p:nvSpPr>
        <p:spPr>
          <a:xfrm>
            <a:off x="8729907"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Compare with a model and complete the exit ticket.</a:t>
            </a:r>
            <a:endParaRPr lang="en-US" sz="1200" dirty="0"/>
          </a:p>
        </p:txBody>
      </p:sp>
      <p:sp>
        <p:nvSpPr>
          <p:cNvPr id="62" name="Text 59"/>
          <p:cNvSpPr txBox="1"/>
          <p:nvPr/>
        </p:nvSpPr>
        <p:spPr>
          <a:xfrm>
            <a:off x="8693331"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2" charset="-78"/>
                <a:ea typeface="Amiri" pitchFamily="2" charset="-78"/>
                <a:cs typeface="Amiri" pitchFamily="2" charset="-78"/>
              </a:rPr>
              <a:t>قَيِّمْ عَمَلَكَ</a:t>
            </a:r>
            <a:endParaRPr lang="ar-SA" sz="1500" dirty="0"/>
          </a:p>
        </p:txBody>
      </p:sp>
      <p:sp>
        <p:nvSpPr>
          <p:cNvPr id="63" name="Shape 60"/>
          <p:cNvSpPr/>
          <p:nvPr/>
        </p:nvSpPr>
        <p:spPr>
          <a:xfrm>
            <a:off x="1023083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10340558" y="1938528"/>
            <a:ext cx="1281466" cy="566928"/>
          </a:xfrm>
          <a:prstGeom prst="roundRect">
            <a:avLst>
              <a:gd name="adj" fmla="val 9677"/>
            </a:avLst>
          </a:prstGeom>
          <a:solidFill>
            <a:srgbClr val="C45A3C"/>
          </a:solidFill>
          <a:ln w="12700">
            <a:solidFill>
              <a:srgbClr val="C45A3C"/>
            </a:solidFill>
            <a:prstDash val="solid"/>
          </a:ln>
        </p:spPr>
      </p:sp>
      <p:sp>
        <p:nvSpPr>
          <p:cNvPr id="65" name="Text 62"/>
          <p:cNvSpPr txBox="1"/>
          <p:nvPr/>
        </p:nvSpPr>
        <p:spPr>
          <a:xfrm>
            <a:off x="1037713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PREPARATION</a:t>
            </a:r>
            <a:endParaRPr lang="en-US" sz="1000" dirty="0"/>
          </a:p>
        </p:txBody>
      </p:sp>
      <p:sp>
        <p:nvSpPr>
          <p:cNvPr id="66" name="Text 63"/>
          <p:cNvSpPr txBox="1"/>
          <p:nvPr/>
        </p:nvSpPr>
        <p:spPr>
          <a:xfrm>
            <a:off x="1037713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2 min</a:t>
            </a:r>
            <a:endParaRPr lang="en-US" sz="1000" dirty="0"/>
          </a:p>
        </p:txBody>
      </p:sp>
      <p:sp>
        <p:nvSpPr>
          <p:cNvPr id="67" name="Shape 64"/>
          <p:cNvSpPr/>
          <p:nvPr/>
        </p:nvSpPr>
        <p:spPr>
          <a:xfrm>
            <a:off x="10780123" y="2651760"/>
            <a:ext cx="402336" cy="402336"/>
          </a:xfrm>
          <a:prstGeom prst="ellipse">
            <a:avLst/>
          </a:prstGeom>
          <a:solidFill>
            <a:srgbClr val="F4F1EA"/>
          </a:solidFill>
          <a:ln w="12700">
            <a:solidFill>
              <a:srgbClr val="F4F1EA"/>
            </a:solidFill>
            <a:prstDash val="solid"/>
          </a:ln>
        </p:spPr>
      </p:sp>
      <p:sp>
        <p:nvSpPr>
          <p:cNvPr id="68" name="Text 65"/>
          <p:cNvSpPr txBox="1"/>
          <p:nvPr/>
        </p:nvSpPr>
        <p:spPr>
          <a:xfrm>
            <a:off x="1078012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7</a:t>
            </a:r>
            <a:endParaRPr lang="en-US" sz="1300" dirty="0"/>
          </a:p>
        </p:txBody>
      </p:sp>
      <p:sp>
        <p:nvSpPr>
          <p:cNvPr id="69" name="Text 66"/>
          <p:cNvSpPr txBox="1"/>
          <p:nvPr/>
        </p:nvSpPr>
        <p:spPr>
          <a:xfrm>
            <a:off x="1035884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Get ready at home for TD-L09.</a:t>
            </a:r>
            <a:endParaRPr lang="en-US" sz="1200" dirty="0"/>
          </a:p>
        </p:txBody>
      </p:sp>
      <p:sp>
        <p:nvSpPr>
          <p:cNvPr id="70" name="Text 67"/>
          <p:cNvSpPr txBox="1"/>
          <p:nvPr/>
        </p:nvSpPr>
        <p:spPr>
          <a:xfrm>
            <a:off x="1032227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C45A3C"/>
                </a:solidFill>
                <a:latin typeface="Amiri" pitchFamily="2" charset="-78"/>
                <a:ea typeface="Amiri" pitchFamily="2" charset="-78"/>
                <a:cs typeface="Amiri" pitchFamily="2" charset="-78"/>
              </a:rPr>
              <a:t>اِسْتَعِدَّ</a:t>
            </a:r>
            <a:endParaRPr lang="ar-SA" sz="1500" dirty="0"/>
          </a:p>
        </p:txBody>
      </p:sp>
      <p:sp>
        <p:nvSpPr>
          <p:cNvPr id="71" name="Shape 68"/>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2" name="Text 69"/>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IF ARABIC FEELS HARD TODAY</a:t>
            </a:r>
            <a:endParaRPr lang="en-US" sz="1000" dirty="0"/>
          </a:p>
        </p:txBody>
      </p:sp>
      <p:sp>
        <p:nvSpPr>
          <p:cNvPr id="73" name="Text 70"/>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Look for the green CORE boxes: they give you transliteration, English meanings and sentence frames. You never need every word — find the key word first. You can answer in the chat, in English, or by holding up A / B / C to your camera.</a:t>
            </a:r>
            <a:endParaRPr lang="en-US" sz="1250" dirty="0"/>
          </a:p>
        </p:txBody>
      </p:sp>
      <p:sp>
        <p:nvSpPr>
          <p:cNvPr id="74" name="Text 7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 / 47</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TD-L08 · Skills</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ON YOUR OWN · 5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Retrieval: what do you remember?</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اِبْدَأِ الآنَ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D · The World of Work · TD-L08</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خِبْرَةٌ</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skill</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experience</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leadership</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القِيَادَةُ</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leadership</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responsibility</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organisation</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a:t>
            </a:r>
            <a:pPr algn="l" indent="0" marL="0">
              <a:buNone/>
            </a:pPr>
            <a:r>
              <a:rPr lang="ar-SA" altLang="en-US" sz="1650" b="1" dirty="0">
                <a:solidFill>
                  <a:srgbClr val="1B3B6F"/>
                </a:solidFill>
                <a:latin typeface="Amiri" pitchFamily="2" charset="-78"/>
                <a:ea typeface="Amiri" pitchFamily="2" charset="-78"/>
                <a:cs typeface="Amiri" pitchFamily="2" charset="-78"/>
              </a:rPr>
              <a:t>الشَّرِكَةُ</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ea typeface="Amiri" pitchFamily="2" charset="-78"/>
                <a:cs typeface="Amiri" pitchFamily="2" charset="-78"/>
              </a:rPr>
              <a:t>أَعْمَلُ فِيهَا كَبِيرَةٌ</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الَّذِي</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الَّذِينَ</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الَّتِي</a:t>
            </a:r>
            <a:endParaRPr lang="ar-SA" sz="20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means “a modern office”?</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مَكْتَبٌ حَدِيثَةٌ</a:t>
            </a:r>
            <a:endParaRPr lang="ar-SA" sz="20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مَكْتَبَةٌ حَدِيثٌ</a:t>
            </a:r>
            <a:endParaRPr lang="ar-SA" sz="20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مَكْتَبٌ حَدِيثٌ</a:t>
            </a:r>
            <a:endParaRPr lang="ar-SA" sz="20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sentence about a girl.</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هِيَ صَبُورَةٌ لِأَنَّهَا تَسْتَمِعُ.</a:t>
            </a:r>
            <a:endParaRPr lang="ar-SA" sz="20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هِيَ صَبُورٌ لِأَنَّهُ يَسْتَمِعُ.</a:t>
            </a:r>
            <a:endParaRPr lang="ar-SA" sz="20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هِيَ صَبُورَةٌ لِأَنَّهُ تَسْتَمِعُ.</a:t>
            </a:r>
            <a:endParaRPr lang="ar-SA" sz="2050" dirty="0"/>
          </a:p>
        </p:txBody>
      </p:sp>
      <p:sp>
        <p:nvSpPr>
          <p:cNvPr id="80" name="Shape 77"/>
          <p:cNvSpPr/>
          <p:nvPr/>
        </p:nvSpPr>
        <p:spPr>
          <a:xfrm>
            <a:off x="8095488" y="4151376"/>
            <a:ext cx="3636264" cy="2157984"/>
          </a:xfrm>
          <a:prstGeom prst="roundRect">
            <a:avLst>
              <a:gd name="adj" fmla="val 3390"/>
            </a:avLst>
          </a:prstGeom>
          <a:solidFill>
            <a:srgbClr val="E8F4F5"/>
          </a:solidFill>
          <a:ln w="9525">
            <a:solidFill>
              <a:srgbClr val="9CCFD4"/>
            </a:solidFill>
            <a:prstDash val="solid"/>
          </a:ln>
          <a:effectLst>
            <a:outerShdw sx="100000" sy="100000" kx="0" ky="0" algn="bl" rotWithShape="0" blurRad="50800" dist="19050" dir="5400000">
              <a:srgbClr val="000000">
                <a:alpha val="10000"/>
              </a:srgbClr>
            </a:outerShdw>
          </a:effectLst>
        </p:spPr>
      </p:sp>
      <p:sp>
        <p:nvSpPr>
          <p:cNvPr id="81" name="Text 78"/>
          <p:cNvSpPr txBox="1"/>
          <p:nvPr/>
        </p:nvSpPr>
        <p:spPr>
          <a:xfrm>
            <a:off x="8296656" y="4471416"/>
            <a:ext cx="3270504" cy="274320"/>
          </a:xfrm>
          <a:prstGeom prst="rect">
            <a:avLst/>
          </a:prstGeom>
          <a:noFill/>
          <a:ln/>
        </p:spPr>
        <p:txBody>
          <a:bodyPr wrap="square" lIns="0" tIns="0" rIns="0" bIns="0" rtlCol="0" anchor="ctr"/>
          <a:lstStyle/>
          <a:p>
            <a:pPr algn="l" indent="0" marL="0">
              <a:buNone/>
            </a:pPr>
            <a:r>
              <a:rPr lang="en-US" sz="1100" b="1" spc="200" kern="0" dirty="0">
                <a:solidFill>
                  <a:srgbClr val="0E7C86"/>
                </a:solidFill>
                <a:latin typeface="Calibri" pitchFamily="34" charset="0"/>
                <a:cs typeface="Amiri" pitchFamily="2" charset="-78"/>
              </a:rPr>
              <a:t>HOW TO ANSWER</a:t>
            </a:r>
            <a:endParaRPr lang="en-US" sz="1100" dirty="0"/>
          </a:p>
        </p:txBody>
      </p:sp>
      <p:sp>
        <p:nvSpPr>
          <p:cNvPr id="82" name="Text 79"/>
          <p:cNvSpPr txBox="1"/>
          <p:nvPr/>
        </p:nvSpPr>
        <p:spPr>
          <a:xfrm>
            <a:off x="8296656" y="4754880"/>
            <a:ext cx="3270504" cy="82296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cs typeface="Amiri" pitchFamily="2" charset="-78"/>
              </a:rPr>
              <a:t>Work on your own in silence.</a:t>
            </a:r>
            <a:endParaRPr lang="en-US" sz="1350" dirty="0"/>
          </a:p>
          <a:p>
            <a:pPr algn="l" indent="0" marL="0">
              <a:buNone/>
            </a:pPr>
            <a:r>
              <a:rPr lang="en-US" sz="1350" dirty="0">
                <a:solidFill>
                  <a:srgbClr val="1F2A37"/>
                </a:solidFill>
                <a:latin typeface="Calibri" pitchFamily="34" charset="0"/>
                <a:cs typeface="Amiri" pitchFamily="2" charset="-78"/>
              </a:rPr>
              <a:t>When the timer ends, type in the chat:</a:t>
            </a:r>
            <a:endParaRPr lang="en-US" sz="1350" dirty="0"/>
          </a:p>
        </p:txBody>
      </p:sp>
      <p:sp>
        <p:nvSpPr>
          <p:cNvPr id="83" name="Text 80"/>
          <p:cNvSpPr txBox="1"/>
          <p:nvPr/>
        </p:nvSpPr>
        <p:spPr>
          <a:xfrm>
            <a:off x="8296656" y="5522976"/>
            <a:ext cx="3270504" cy="310896"/>
          </a:xfrm>
          <a:prstGeom prst="rect">
            <a:avLst/>
          </a:prstGeom>
          <a:noFill/>
          <a:ln/>
        </p:spPr>
        <p:txBody>
          <a:bodyPr wrap="square" lIns="0" tIns="0" rIns="0" bIns="0" rtlCol="0" anchor="ctr"/>
          <a:lstStyle/>
          <a:p>
            <a:pPr algn="l" indent="0" marL="0">
              <a:buNone/>
            </a:pPr>
            <a:r>
              <a:rPr lang="en-US" sz="1400" b="1" dirty="0">
                <a:solidFill>
                  <a:srgbClr val="1B3B6F"/>
                </a:solidFill>
                <a:latin typeface="Consolas" pitchFamily="34" charset="0"/>
                <a:cs typeface="Amiri" pitchFamily="2" charset="-78"/>
              </a:rPr>
              <a:t>1_  2_  3_  4_  5_</a:t>
            </a:r>
            <a:endParaRPr lang="en-US" sz="1400" dirty="0"/>
          </a:p>
        </p:txBody>
      </p:sp>
      <p:sp>
        <p:nvSpPr>
          <p:cNvPr id="84" name="Text 81"/>
          <p:cNvSpPr txBox="1"/>
          <p:nvPr/>
        </p:nvSpPr>
        <p:spPr>
          <a:xfrm>
            <a:off x="8296656" y="5742432"/>
            <a:ext cx="3270504" cy="402336"/>
          </a:xfrm>
          <a:prstGeom prst="rect">
            <a:avLst/>
          </a:prstGeom>
          <a:noFill/>
          <a:ln/>
        </p:spPr>
        <p:txBody>
          <a:bodyPr wrap="square" lIns="0" tIns="0" rIns="0" bIns="0" rtlCol="0" anchor="ctr"/>
          <a:lstStyle/>
          <a:p>
            <a:pPr algn="l" indent="0" marL="0">
              <a:buNone/>
            </a:pPr>
            <a:r>
              <a:rPr lang="en-US" sz="1800" b="1" dirty="0">
                <a:solidFill>
                  <a:srgbClr val="0E7C86"/>
                </a:solidFill>
                <a:latin typeface="Calibri" pitchFamily="34" charset="0"/>
                <a:cs typeface="Amiri" pitchFamily="2" charset="-78"/>
              </a:rPr>
              <a:t>⏱  5 : 00</a:t>
            </a:r>
            <a:endParaRPr lang="en-US" sz="180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 / 47</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TD-L08 · Skills</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ANSWERS AND REASONS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Let’s check — and explain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D · The World of Work · TD-L08</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خِبْرَةٌ</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skill</a:t>
            </a:r>
            <a:endParaRPr lang="en-US" sz="125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experience</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leadership</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Prepared at home (TD-L07).</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القِيَادَةُ</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34" name="Shape 31"/>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4459224"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7" name="Text 34"/>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leadership</a:t>
            </a:r>
            <a:endParaRPr lang="en-US" sz="1250" dirty="0"/>
          </a:p>
        </p:txBody>
      </p:sp>
      <p:sp>
        <p:nvSpPr>
          <p:cNvPr id="38" name="Shape 35"/>
          <p:cNvSpPr/>
          <p:nvPr/>
        </p:nvSpPr>
        <p:spPr>
          <a:xfrm>
            <a:off x="4459224"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responsibility</a:t>
            </a:r>
            <a:endParaRPr lang="en-US" sz="125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organisation</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Prepared at home (TD-L07).</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a:t>
            </a:r>
            <a:pPr algn="l" indent="0" marL="0">
              <a:buNone/>
            </a:pPr>
            <a:r>
              <a:rPr lang="ar-SA" altLang="en-US" sz="1650" b="1" dirty="0">
                <a:solidFill>
                  <a:srgbClr val="1B3B6F"/>
                </a:solidFill>
                <a:latin typeface="Amiri" pitchFamily="2" charset="-78"/>
                <a:ea typeface="Amiri" pitchFamily="2" charset="-78"/>
                <a:cs typeface="Amiri" pitchFamily="2" charset="-78"/>
              </a:rPr>
              <a:t>الشَّرِكَةُ</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ea typeface="Amiri" pitchFamily="2" charset="-78"/>
                <a:cs typeface="Amiri" pitchFamily="2" charset="-78"/>
              </a:rPr>
              <a:t>أَعْمَلُ فِيهَا كَبِيرَةٌ</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الَّذِي</a:t>
            </a:r>
            <a:endParaRPr lang="ar-SA" sz="170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الَّذِينَ</a:t>
            </a:r>
            <a:endParaRPr lang="ar-SA" sz="170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الَّتِي</a:t>
            </a:r>
            <a:endParaRPr lang="ar-SA" sz="170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TD-L07: feminine noun → allatī.</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means “a modern office”?</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مَكْتَبٌ حَدِيثَةٌ</a:t>
            </a:r>
            <a:endParaRPr lang="ar-SA" sz="1700" dirty="0"/>
          </a:p>
        </p:txBody>
      </p:sp>
      <p:sp>
        <p:nvSpPr>
          <p:cNvPr id="67" name="Shape 64"/>
          <p:cNvSpPr/>
          <p:nvPr/>
        </p:nvSpPr>
        <p:spPr>
          <a:xfrm>
            <a:off x="640080" y="5202936"/>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9" name="Text 66"/>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مَكْتَبَةٌ حَدِيثٌ</a:t>
            </a:r>
            <a:endParaRPr lang="ar-SA" sz="1700" dirty="0"/>
          </a:p>
        </p:txBody>
      </p:sp>
      <p:sp>
        <p:nvSpPr>
          <p:cNvPr id="70" name="Shape 67"/>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1" name="Shape 68"/>
          <p:cNvSpPr/>
          <p:nvPr/>
        </p:nvSpPr>
        <p:spPr>
          <a:xfrm>
            <a:off x="640080" y="5574792"/>
            <a:ext cx="256032" cy="256032"/>
          </a:xfrm>
          <a:prstGeom prst="ellipse">
            <a:avLst/>
          </a:prstGeom>
          <a:solidFill>
            <a:srgbClr val="2E8B57"/>
          </a:solidFill>
          <a:ln w="12700">
            <a:solidFill>
              <a:srgbClr val="2E8B57"/>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مَكْتَبٌ حَدِيثٌ</a:t>
            </a:r>
            <a:endParaRPr lang="ar-SA" sz="170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TD-L07: the adjective agrees.</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sentence about a girl.</a:t>
            </a:r>
            <a:endParaRPr lang="en-US" sz="1250" dirty="0"/>
          </a:p>
        </p:txBody>
      </p:sp>
      <p:sp>
        <p:nvSpPr>
          <p:cNvPr id="79" name="Shape 76"/>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0" name="Shape 77"/>
          <p:cNvSpPr/>
          <p:nvPr/>
        </p:nvSpPr>
        <p:spPr>
          <a:xfrm>
            <a:off x="4459224" y="4831080"/>
            <a:ext cx="256032" cy="256032"/>
          </a:xfrm>
          <a:prstGeom prst="ellipse">
            <a:avLst/>
          </a:prstGeom>
          <a:solidFill>
            <a:srgbClr val="2E8B57"/>
          </a:solidFill>
          <a:ln w="12700">
            <a:solidFill>
              <a:srgbClr val="2E8B57"/>
            </a:solidFill>
            <a:prstDash val="solid"/>
          </a:ln>
        </p:spPr>
      </p:sp>
      <p:sp>
        <p:nvSpPr>
          <p:cNvPr id="81" name="Text 78"/>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2" name="Text 79"/>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هِيَ صَبُورَةٌ لِأَنَّهَا تَسْتَمِعُ.</a:t>
            </a:r>
            <a:endParaRPr lang="ar-SA" sz="1700" dirty="0"/>
          </a:p>
        </p:txBody>
      </p:sp>
      <p:sp>
        <p:nvSpPr>
          <p:cNvPr id="83" name="Shape 80"/>
          <p:cNvSpPr/>
          <p:nvPr/>
        </p:nvSpPr>
        <p:spPr>
          <a:xfrm>
            <a:off x="4459224" y="5202936"/>
            <a:ext cx="256032" cy="256032"/>
          </a:xfrm>
          <a:prstGeom prst="ellipse">
            <a:avLst/>
          </a:prstGeom>
          <a:solidFill>
            <a:srgbClr val="C9CED6"/>
          </a:solidFill>
          <a:ln w="12700">
            <a:solidFill>
              <a:srgbClr val="C9CED6"/>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هِيَ صَبُورٌ لِأَنَّهُ يَسْتَمِعُ.</a:t>
            </a:r>
            <a:endParaRPr lang="ar-SA" sz="170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هِيَ صَبُورَةٌ لِأَنَّهُ تَسْتَمِعُ.</a:t>
            </a:r>
            <a:endParaRPr lang="ar-SA" sz="170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D2-L01 (website): quality + evidence agree.</a:t>
            </a:r>
            <a:endParaRPr lang="en-US" sz="1050" dirty="0"/>
          </a:p>
        </p:txBody>
      </p:sp>
      <p:sp>
        <p:nvSpPr>
          <p:cNvPr id="90" name="Shape 87"/>
          <p:cNvSpPr/>
          <p:nvPr/>
        </p:nvSpPr>
        <p:spPr>
          <a:xfrm>
            <a:off x="8095488" y="4151376"/>
            <a:ext cx="3636264" cy="2157984"/>
          </a:xfrm>
          <a:prstGeom prst="roundRect">
            <a:avLst>
              <a:gd name="adj" fmla="val 3390"/>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91" name="Text 88"/>
          <p:cNvSpPr txBox="1"/>
          <p:nvPr/>
        </p:nvSpPr>
        <p:spPr>
          <a:xfrm>
            <a:off x="8278368" y="4279392"/>
            <a:ext cx="3270504" cy="256032"/>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cs typeface="Amiri" pitchFamily="2" charset="-78"/>
              </a:rPr>
              <a:t>THE KEY IDEA FOR TODAY</a:t>
            </a:r>
            <a:endParaRPr lang="en-US" sz="1000" dirty="0"/>
          </a:p>
        </p:txBody>
      </p:sp>
      <p:sp>
        <p:nvSpPr>
          <p:cNvPr id="92" name="Text 89"/>
          <p:cNvSpPr txBox="1"/>
          <p:nvPr/>
        </p:nvSpPr>
        <p:spPr>
          <a:xfrm>
            <a:off x="8278368" y="4553712"/>
            <a:ext cx="3270504" cy="640080"/>
          </a:xfrm>
          <a:prstGeom prst="rect">
            <a:avLst/>
          </a:prstGeom>
          <a:noFill/>
          <a:ln/>
        </p:spPr>
        <p:txBody>
          <a:bodyPr wrap="square" lIns="0" tIns="0" rIns="0" bIns="0" rtlCol="0" anchor="t"/>
          <a:lstStyle/>
          <a:p>
            <a:pPr algn="l" indent="0" marL="0">
              <a:buNone/>
            </a:pPr>
            <a:r>
              <a:rPr lang="en-US" sz="1300" b="1" dirty="0">
                <a:solidFill>
                  <a:srgbClr val="1F2A37"/>
                </a:solidFill>
                <a:latin typeface="Calibri" pitchFamily="34" charset="0"/>
                <a:cs typeface="Amiri" pitchFamily="2" charset="-78"/>
              </a:rPr>
              <a:t>A job NEEDS a skill; a worker MUST BE a quality — and you prove it with behaviour.</a:t>
            </a:r>
            <a:endParaRPr lang="en-US" sz="1300" dirty="0"/>
          </a:p>
        </p:txBody>
      </p:sp>
      <p:sp>
        <p:nvSpPr>
          <p:cNvPr id="93" name="Text 90"/>
          <p:cNvSpPr txBox="1"/>
          <p:nvPr/>
        </p:nvSpPr>
        <p:spPr>
          <a:xfrm>
            <a:off x="8278368" y="5202936"/>
            <a:ext cx="3270504" cy="1014984"/>
          </a:xfrm>
          <a:prstGeom prst="rect">
            <a:avLst/>
          </a:prstGeom>
          <a:noFill/>
          <a:ln/>
        </p:spPr>
        <p:txBody>
          <a:bodyPr wrap="square" lIns="0" tIns="0" rIns="0" bIns="0" rtlCol="0" anchor="ctr"/>
          <a:lstStyle/>
          <a:p>
            <a:pPr rtl="1" algn="ctr" indent="0" marL="0">
              <a:lnSpc>
                <a:spcPct val="120000"/>
              </a:lnSpc>
              <a:buNone/>
            </a:pPr>
            <a:r>
              <a:rPr lang="ar-SA" altLang="en-US" sz="1950" b="1" dirty="0">
                <a:solidFill>
                  <a:srgbClr val="1B3B6F"/>
                </a:solidFill>
                <a:latin typeface="Amiri" pitchFamily="2" charset="-78"/>
                <a:ea typeface="Amiri" pitchFamily="2" charset="-78"/>
                <a:cs typeface="Amiri" pitchFamily="2" charset="-78"/>
              </a:rPr>
              <a:t>يَحْتَاجُ إِلَى </a:t>
            </a:r>
            <a:pPr rtl="1" algn="ctr" indent="0" marL="0">
              <a:lnSpc>
                <a:spcPct val="120000"/>
              </a:lnSpc>
              <a:buNone/>
            </a:pPr>
            <a:r>
              <a:rPr lang="ar-SA" altLang="en-US" sz="1950" b="1" dirty="0">
                <a:solidFill>
                  <a:srgbClr val="0E7C86"/>
                </a:solidFill>
                <a:latin typeface="Amiri" pitchFamily="2" charset="-78"/>
                <a:ea typeface="Amiri" pitchFamily="2" charset="-78"/>
                <a:cs typeface="Amiri" pitchFamily="2" charset="-78"/>
              </a:rPr>
              <a:t>الصَّبْرِ</a:t>
            </a:r>
            <a:pPr rtl="1" algn="ctr" indent="0" marL="0">
              <a:lnSpc>
                <a:spcPct val="120000"/>
              </a:lnSpc>
              <a:buNone/>
            </a:pPr>
            <a:r>
              <a:rPr lang="ar-SA" altLang="en-US" sz="1950" b="1" dirty="0">
                <a:solidFill>
                  <a:srgbClr val="1B3B6F"/>
                </a:solidFill>
                <a:latin typeface="Amiri" pitchFamily="2" charset="-78"/>
                <a:ea typeface="Amiri" pitchFamily="2" charset="-78"/>
                <a:cs typeface="Amiri" pitchFamily="2" charset="-78"/>
              </a:rPr>
              <a:t> · يَجِبُ أَنْ يَكُونَ </a:t>
            </a:r>
            <a:pPr rtl="1" algn="ctr" indent="0" marL="0">
              <a:lnSpc>
                <a:spcPct val="120000"/>
              </a:lnSpc>
              <a:buNone/>
            </a:pPr>
            <a:r>
              <a:rPr lang="ar-SA" altLang="en-US" sz="1950" b="1" dirty="0">
                <a:solidFill>
                  <a:srgbClr val="1D5FBF"/>
                </a:solidFill>
                <a:latin typeface="Amiri" pitchFamily="2" charset="-78"/>
                <a:ea typeface="Amiri" pitchFamily="2" charset="-78"/>
                <a:cs typeface="Amiri" pitchFamily="2" charset="-78"/>
              </a:rPr>
              <a:t>صَبُورًا</a:t>
            </a:r>
            <a:pPr rtl="1" algn="ctr" indent="0" marL="0">
              <a:lnSpc>
                <a:spcPct val="120000"/>
              </a:lnSpc>
              <a:buNone/>
            </a:pPr>
            <a:r>
              <a:rPr lang="ar-SA" altLang="en-US" sz="1950" b="1" dirty="0">
                <a:solidFill>
                  <a:srgbClr val="1B3B6F"/>
                </a:solidFill>
                <a:latin typeface="Amiri" pitchFamily="2" charset="-78"/>
                <a:cs typeface="Amiri" pitchFamily="2" charset="-78"/>
              </a:rPr>
              <a:t> · </a:t>
            </a:r>
            <a:pPr rtl="1" algn="ctr" indent="0" marL="0">
              <a:lnSpc>
                <a:spcPct val="120000"/>
              </a:lnSpc>
              <a:buNone/>
            </a:pPr>
            <a:r>
              <a:rPr lang="ar-SA" altLang="en-US" sz="1950" b="1" dirty="0">
                <a:solidFill>
                  <a:srgbClr val="D6336C"/>
                </a:solidFill>
                <a:latin typeface="Amiri" pitchFamily="2" charset="-78"/>
                <a:ea typeface="Amiri" pitchFamily="2" charset="-78"/>
                <a:cs typeface="Amiri" pitchFamily="2" charset="-78"/>
              </a:rPr>
              <a:t>لِأَنَّهُ</a:t>
            </a:r>
            <a:pPr rtl="1" algn="ctr" indent="0" marL="0">
              <a:lnSpc>
                <a:spcPct val="120000"/>
              </a:lnSpc>
              <a:buNone/>
            </a:pPr>
            <a:r>
              <a:rPr lang="ar-SA" altLang="en-US" sz="1950" b="1" dirty="0">
                <a:solidFill>
                  <a:srgbClr val="1B3B6F"/>
                </a:solidFill>
                <a:latin typeface="Amiri" pitchFamily="2" charset="-78"/>
                <a:ea typeface="Amiri" pitchFamily="2" charset="-78"/>
                <a:cs typeface="Amiri" pitchFamily="2" charset="-78"/>
              </a:rPr>
              <a:t> يَسْتَمِعُ</a:t>
            </a:r>
            <a:endParaRPr lang="ar-SA" sz="195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5 / 47</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TD-L08 · Skills</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LESSON OBJECTIVES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Objectives and success criteria</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الأَهْدَافُ وَمَعَايِيرُ النَّجَاحِ</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D · The World of Work · TD-L08</a:t>
            </a:r>
            <a:endParaRPr lang="en-US" sz="850" dirty="0"/>
          </a:p>
        </p:txBody>
      </p:sp>
      <p:sp>
        <p:nvSpPr>
          <p:cNvPr id="15" name="Shape 12"/>
          <p:cNvSpPr/>
          <p:nvPr/>
        </p:nvSpPr>
        <p:spPr>
          <a:xfrm>
            <a:off x="457200" y="1810512"/>
            <a:ext cx="4663440" cy="4315968"/>
          </a:xfrm>
          <a:prstGeom prst="roundRect">
            <a:avLst>
              <a:gd name="adj" fmla="val 1695"/>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20240"/>
            <a:ext cx="2743200" cy="292608"/>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TODAY YOU WILL</a:t>
            </a:r>
            <a:endParaRPr lang="en-US" sz="1100" dirty="0"/>
          </a:p>
        </p:txBody>
      </p:sp>
      <p:sp>
        <p:nvSpPr>
          <p:cNvPr id="17" name="Text 14"/>
          <p:cNvSpPr txBox="1"/>
          <p:nvPr/>
        </p:nvSpPr>
        <p:spPr>
          <a:xfrm>
            <a:off x="2834640" y="1874520"/>
            <a:ext cx="2103120" cy="365760"/>
          </a:xfrm>
          <a:prstGeom prst="rect">
            <a:avLst/>
          </a:prstGeom>
          <a:noFill/>
          <a:ln/>
        </p:spPr>
        <p:txBody>
          <a:bodyPr wrap="square" lIns="0" tIns="0" rIns="0" bIns="0" rtlCol="0" anchor="ctr"/>
          <a:lstStyle/>
          <a:p>
            <a:pPr rtl="1" algn="r" indent="0" marL="0">
              <a:buNone/>
            </a:pPr>
            <a:r>
              <a:rPr lang="ar-SA" altLang="en-US" sz="1600" dirty="0">
                <a:solidFill>
                  <a:srgbClr val="8A6D1E"/>
                </a:solidFill>
                <a:latin typeface="Amiri" pitchFamily="2" charset="-78"/>
                <a:ea typeface="Amiri" pitchFamily="2" charset="-78"/>
                <a:cs typeface="Amiri" pitchFamily="2" charset="-78"/>
              </a:rPr>
              <a:t>سَتَتَعَلَّمُ اليَوْمَ</a:t>
            </a:r>
            <a:endParaRPr lang="ar-SA" sz="1600" dirty="0"/>
          </a:p>
        </p:txBody>
      </p:sp>
      <p:sp>
        <p:nvSpPr>
          <p:cNvPr id="18" name="Shape 15"/>
          <p:cNvSpPr/>
          <p:nvPr/>
        </p:nvSpPr>
        <p:spPr>
          <a:xfrm>
            <a:off x="685800" y="23957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685800" y="2395728"/>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1</a:t>
            </a:r>
            <a:endParaRPr lang="en-US" sz="1200" dirty="0"/>
          </a:p>
        </p:txBody>
      </p:sp>
      <p:sp>
        <p:nvSpPr>
          <p:cNvPr id="20" name="Text 17"/>
          <p:cNvSpPr txBox="1"/>
          <p:nvPr/>
        </p:nvSpPr>
        <p:spPr>
          <a:xfrm>
            <a:off x="1188720" y="2286000"/>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Name key workplace skills and qualities (m. / f. / pl.).</a:t>
            </a:r>
            <a:endParaRPr lang="en-US" sz="1300" dirty="0"/>
          </a:p>
        </p:txBody>
      </p:sp>
      <p:sp>
        <p:nvSpPr>
          <p:cNvPr id="21" name="Shape 18"/>
          <p:cNvSpPr/>
          <p:nvPr/>
        </p:nvSpPr>
        <p:spPr>
          <a:xfrm>
            <a:off x="685800" y="3291840"/>
            <a:ext cx="365760" cy="365760"/>
          </a:xfrm>
          <a:prstGeom prst="ellipse">
            <a:avLst/>
          </a:prstGeom>
          <a:solidFill>
            <a:srgbClr val="1B3B6F"/>
          </a:solidFill>
          <a:ln w="12700">
            <a:solidFill>
              <a:srgbClr val="1B3B6F"/>
            </a:solidFill>
            <a:prstDash val="solid"/>
          </a:ln>
        </p:spPr>
      </p:sp>
      <p:sp>
        <p:nvSpPr>
          <p:cNvPr id="22" name="Text 19"/>
          <p:cNvSpPr txBox="1"/>
          <p:nvPr/>
        </p:nvSpPr>
        <p:spPr>
          <a:xfrm>
            <a:off x="685800" y="3291840"/>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2</a:t>
            </a:r>
            <a:endParaRPr lang="en-US" sz="1200" dirty="0"/>
          </a:p>
        </p:txBody>
      </p:sp>
      <p:sp>
        <p:nvSpPr>
          <p:cNvPr id="23" name="Text 20"/>
          <p:cNvSpPr txBox="1"/>
          <p:nvPr/>
        </p:nvSpPr>
        <p:spPr>
          <a:xfrm>
            <a:off x="1188720" y="3182112"/>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Say what a job needs with </a:t>
            </a:r>
            <a:pPr algn="l" indent="0" marL="0">
              <a:buNone/>
            </a:pPr>
            <a:r>
              <a:rPr lang="ar-SA" altLang="en-US" sz="1700" dirty="0">
                <a:solidFill>
                  <a:srgbClr val="1F2A37"/>
                </a:solidFill>
                <a:latin typeface="Amiri" pitchFamily="2" charset="-78"/>
                <a:ea typeface="Amiri" pitchFamily="2" charset="-78"/>
                <a:cs typeface="Amiri" pitchFamily="2" charset="-78"/>
              </a:rPr>
              <a:t>يَحْتَاجُ إِلَى</a:t>
            </a:r>
            <a:pPr algn="l" indent="0" marL="0">
              <a:buNone/>
            </a:pPr>
            <a:r>
              <a:rPr lang="en-US" sz="1300" dirty="0">
                <a:solidFill>
                  <a:srgbClr val="1F2A37"/>
                </a:solidFill>
                <a:latin typeface="Calibri" pitchFamily="34" charset="0"/>
                <a:cs typeface="Amiri" pitchFamily="2" charset="-78"/>
              </a:rPr>
              <a:t>.</a:t>
            </a:r>
            <a:endParaRPr lang="en-US" sz="1300" dirty="0"/>
          </a:p>
        </p:txBody>
      </p:sp>
      <p:sp>
        <p:nvSpPr>
          <p:cNvPr id="24" name="Shape 21"/>
          <p:cNvSpPr/>
          <p:nvPr/>
        </p:nvSpPr>
        <p:spPr>
          <a:xfrm>
            <a:off x="685800" y="4187952"/>
            <a:ext cx="365760" cy="365760"/>
          </a:xfrm>
          <a:prstGeom prst="ellipse">
            <a:avLst/>
          </a:prstGeom>
          <a:solidFill>
            <a:srgbClr val="1B3B6F"/>
          </a:solidFill>
          <a:ln w="12700">
            <a:solidFill>
              <a:srgbClr val="1B3B6F"/>
            </a:solidFill>
            <a:prstDash val="solid"/>
          </a:ln>
        </p:spPr>
      </p:sp>
      <p:sp>
        <p:nvSpPr>
          <p:cNvPr id="25" name="Text 22"/>
          <p:cNvSpPr txBox="1"/>
          <p:nvPr/>
        </p:nvSpPr>
        <p:spPr>
          <a:xfrm>
            <a:off x="685800" y="4187952"/>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3</a:t>
            </a:r>
            <a:endParaRPr lang="en-US" sz="1200" dirty="0"/>
          </a:p>
        </p:txBody>
      </p:sp>
      <p:sp>
        <p:nvSpPr>
          <p:cNvPr id="26" name="Text 23"/>
          <p:cNvSpPr txBox="1"/>
          <p:nvPr/>
        </p:nvSpPr>
        <p:spPr>
          <a:xfrm>
            <a:off x="1188720" y="4078224"/>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Say what a worker must be (</a:t>
            </a:r>
            <a:pPr algn="l" indent="0" marL="0">
              <a:buNone/>
            </a:pPr>
            <a:r>
              <a:rPr lang="ar-SA" altLang="en-US" sz="1700" dirty="0">
                <a:solidFill>
                  <a:srgbClr val="1F2A37"/>
                </a:solidFill>
                <a:latin typeface="Amiri" pitchFamily="2" charset="-78"/>
                <a:ea typeface="Amiri" pitchFamily="2" charset="-78"/>
                <a:cs typeface="Amiri" pitchFamily="2" charset="-78"/>
              </a:rPr>
              <a:t>يَجِبُ أَنْ يَكُونَ</a:t>
            </a:r>
            <a:pPr algn="l" indent="0" marL="0">
              <a:buNone/>
            </a:pPr>
            <a:r>
              <a:rPr lang="en-US" sz="1300" dirty="0">
                <a:solidFill>
                  <a:srgbClr val="1F2A37"/>
                </a:solidFill>
                <a:latin typeface="Calibri" pitchFamily="34" charset="0"/>
                <a:cs typeface="Amiri" pitchFamily="2" charset="-78"/>
              </a:rPr>
              <a:t> + -an) and can do.</a:t>
            </a:r>
            <a:endParaRPr lang="en-US" sz="1300" dirty="0"/>
          </a:p>
        </p:txBody>
      </p:sp>
      <p:sp>
        <p:nvSpPr>
          <p:cNvPr id="27" name="Shape 24"/>
          <p:cNvSpPr/>
          <p:nvPr/>
        </p:nvSpPr>
        <p:spPr>
          <a:xfrm>
            <a:off x="685800" y="5084064"/>
            <a:ext cx="365760" cy="365760"/>
          </a:xfrm>
          <a:prstGeom prst="ellipse">
            <a:avLst/>
          </a:prstGeom>
          <a:solidFill>
            <a:srgbClr val="1B3B6F"/>
          </a:solidFill>
          <a:ln w="12700">
            <a:solidFill>
              <a:srgbClr val="1B3B6F"/>
            </a:solidFill>
            <a:prstDash val="solid"/>
          </a:ln>
        </p:spPr>
      </p:sp>
      <p:sp>
        <p:nvSpPr>
          <p:cNvPr id="28" name="Text 25"/>
          <p:cNvSpPr txBox="1"/>
          <p:nvPr/>
        </p:nvSpPr>
        <p:spPr>
          <a:xfrm>
            <a:off x="685800" y="5084064"/>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4</a:t>
            </a:r>
            <a:endParaRPr lang="en-US" sz="1200" dirty="0"/>
          </a:p>
        </p:txBody>
      </p:sp>
      <p:sp>
        <p:nvSpPr>
          <p:cNvPr id="29" name="Text 26"/>
          <p:cNvSpPr txBox="1"/>
          <p:nvPr/>
        </p:nvSpPr>
        <p:spPr>
          <a:xfrm>
            <a:off x="1188720" y="4974336"/>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Support every quality with evidence.</a:t>
            </a:r>
            <a:endParaRPr lang="en-US" sz="1300" dirty="0"/>
          </a:p>
        </p:txBody>
      </p:sp>
      <p:sp>
        <p:nvSpPr>
          <p:cNvPr id="30" name="Shape 27"/>
          <p:cNvSpPr/>
          <p:nvPr/>
        </p:nvSpPr>
        <p:spPr>
          <a:xfrm>
            <a:off x="5349240" y="1810512"/>
            <a:ext cx="6382512" cy="1353312"/>
          </a:xfrm>
          <a:prstGeom prst="roundRect">
            <a:avLst>
              <a:gd name="adj" fmla="val 5405"/>
            </a:avLst>
          </a:prstGeom>
          <a:solidFill>
            <a:srgbClr val="E9F5EE"/>
          </a:solidFill>
          <a:ln w="9525">
            <a:solidFill>
              <a:srgbClr val="2E8B57"/>
            </a:solidFill>
            <a:prstDash val="solid"/>
          </a:ln>
        </p:spPr>
      </p:sp>
      <p:sp>
        <p:nvSpPr>
          <p:cNvPr id="31" name="Shape 28"/>
          <p:cNvSpPr/>
          <p:nvPr/>
        </p:nvSpPr>
        <p:spPr>
          <a:xfrm>
            <a:off x="5532120" y="1947672"/>
            <a:ext cx="1143000" cy="292608"/>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5532120" y="194767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CORE</a:t>
            </a:r>
            <a:endParaRPr lang="en-US" sz="950" dirty="0"/>
          </a:p>
        </p:txBody>
      </p:sp>
      <p:sp>
        <p:nvSpPr>
          <p:cNvPr id="33" name="Text 30"/>
          <p:cNvSpPr txBox="1"/>
          <p:nvPr/>
        </p:nvSpPr>
        <p:spPr>
          <a:xfrm>
            <a:off x="6766560" y="1947672"/>
            <a:ext cx="1828800" cy="292608"/>
          </a:xfrm>
          <a:prstGeom prst="rect">
            <a:avLst/>
          </a:prstGeom>
          <a:noFill/>
          <a:ln/>
        </p:spPr>
        <p:txBody>
          <a:bodyPr wrap="square" lIns="0" tIns="0" rIns="0" bIns="0" rtlCol="0" anchor="ctr"/>
          <a:lstStyle/>
          <a:p>
            <a:pPr algn="l" indent="0" marL="0">
              <a:buNone/>
            </a:pPr>
            <a:r>
              <a:rPr lang="en-US" sz="1050" b="1" i="1" dirty="0">
                <a:solidFill>
                  <a:srgbClr val="2E8B57"/>
                </a:solidFill>
                <a:latin typeface="Calibri" pitchFamily="34" charset="0"/>
                <a:cs typeface="Amiri" pitchFamily="2" charset="-78"/>
              </a:rPr>
              <a:t>Everyone</a:t>
            </a:r>
            <a:endParaRPr lang="en-US" sz="1050" dirty="0"/>
          </a:p>
        </p:txBody>
      </p:sp>
      <p:sp>
        <p:nvSpPr>
          <p:cNvPr id="34" name="Text 31"/>
          <p:cNvSpPr txBox="1"/>
          <p:nvPr/>
        </p:nvSpPr>
        <p:spPr>
          <a:xfrm>
            <a:off x="5532120" y="228600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I can name six skills and six qualities.</a:t>
            </a:r>
            <a:endParaRPr lang="en-US" sz="1300" dirty="0"/>
          </a:p>
        </p:txBody>
      </p:sp>
      <p:sp>
        <p:nvSpPr>
          <p:cNvPr id="35" name="Text 32"/>
          <p:cNvSpPr txBox="1"/>
          <p:nvPr/>
        </p:nvSpPr>
        <p:spPr>
          <a:xfrm>
            <a:off x="5532120" y="269748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I can say what a job needs.</a:t>
            </a:r>
            <a:endParaRPr lang="en-US" sz="1300" dirty="0"/>
          </a:p>
        </p:txBody>
      </p:sp>
      <p:sp>
        <p:nvSpPr>
          <p:cNvPr id="36" name="Shape 33"/>
          <p:cNvSpPr/>
          <p:nvPr/>
        </p:nvSpPr>
        <p:spPr>
          <a:xfrm>
            <a:off x="5349240" y="3273552"/>
            <a:ext cx="6382512" cy="1353312"/>
          </a:xfrm>
          <a:prstGeom prst="roundRect">
            <a:avLst>
              <a:gd name="adj" fmla="val 5405"/>
            </a:avLst>
          </a:prstGeom>
          <a:solidFill>
            <a:srgbClr val="FCF1E0"/>
          </a:solidFill>
          <a:ln w="9525">
            <a:solidFill>
              <a:srgbClr val="C9780A"/>
            </a:solidFill>
            <a:prstDash val="solid"/>
          </a:ln>
        </p:spPr>
      </p:sp>
      <p:sp>
        <p:nvSpPr>
          <p:cNvPr id="37" name="Shape 34"/>
          <p:cNvSpPr/>
          <p:nvPr/>
        </p:nvSpPr>
        <p:spPr>
          <a:xfrm>
            <a:off x="5532120" y="3410712"/>
            <a:ext cx="1143000" cy="292608"/>
          </a:xfrm>
          <a:prstGeom prst="roundRect">
            <a:avLst>
              <a:gd name="adj" fmla="val 50000"/>
            </a:avLst>
          </a:prstGeom>
          <a:solidFill>
            <a:srgbClr val="C9780A"/>
          </a:solidFill>
          <a:ln w="12700">
            <a:solidFill>
              <a:srgbClr val="C9780A"/>
            </a:solidFill>
            <a:prstDash val="solid"/>
          </a:ln>
        </p:spPr>
      </p:sp>
      <p:sp>
        <p:nvSpPr>
          <p:cNvPr id="38" name="Text 35"/>
          <p:cNvSpPr txBox="1"/>
          <p:nvPr/>
        </p:nvSpPr>
        <p:spPr>
          <a:xfrm>
            <a:off x="5532120" y="341071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DEVELOP</a:t>
            </a:r>
            <a:endParaRPr lang="en-US" sz="950" dirty="0"/>
          </a:p>
        </p:txBody>
      </p:sp>
      <p:sp>
        <p:nvSpPr>
          <p:cNvPr id="39" name="Text 36"/>
          <p:cNvSpPr txBox="1"/>
          <p:nvPr/>
        </p:nvSpPr>
        <p:spPr>
          <a:xfrm>
            <a:off x="6766560" y="3410712"/>
            <a:ext cx="1828800" cy="292608"/>
          </a:xfrm>
          <a:prstGeom prst="rect">
            <a:avLst/>
          </a:prstGeom>
          <a:noFill/>
          <a:ln/>
        </p:spPr>
        <p:txBody>
          <a:bodyPr wrap="square" lIns="0" tIns="0" rIns="0" bIns="0" rtlCol="0" anchor="ctr"/>
          <a:lstStyle/>
          <a:p>
            <a:pPr algn="l" indent="0" marL="0">
              <a:buNone/>
            </a:pPr>
            <a:r>
              <a:rPr lang="en-US" sz="1050" b="1" i="1" dirty="0">
                <a:solidFill>
                  <a:srgbClr val="C9780A"/>
                </a:solidFill>
                <a:latin typeface="Calibri" pitchFamily="34" charset="0"/>
                <a:cs typeface="Amiri" pitchFamily="2" charset="-78"/>
              </a:rPr>
              <a:t>Most of us</a:t>
            </a:r>
            <a:endParaRPr lang="en-US" sz="1050" dirty="0"/>
          </a:p>
        </p:txBody>
      </p:sp>
      <p:sp>
        <p:nvSpPr>
          <p:cNvPr id="40" name="Text 37"/>
          <p:cNvSpPr txBox="1"/>
          <p:nvPr/>
        </p:nvSpPr>
        <p:spPr>
          <a:xfrm>
            <a:off x="5532120" y="374904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I can say what a worker must be and can do.</a:t>
            </a:r>
            <a:endParaRPr lang="en-US" sz="1300" dirty="0"/>
          </a:p>
        </p:txBody>
      </p:sp>
      <p:sp>
        <p:nvSpPr>
          <p:cNvPr id="41" name="Text 38"/>
          <p:cNvSpPr txBox="1"/>
          <p:nvPr/>
        </p:nvSpPr>
        <p:spPr>
          <a:xfrm>
            <a:off x="5532120" y="416052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I can prove a quality with behaviour.</a:t>
            </a:r>
            <a:endParaRPr lang="en-US" sz="1300" dirty="0"/>
          </a:p>
        </p:txBody>
      </p:sp>
      <p:sp>
        <p:nvSpPr>
          <p:cNvPr id="42" name="Shape 39"/>
          <p:cNvSpPr/>
          <p:nvPr/>
        </p:nvSpPr>
        <p:spPr>
          <a:xfrm>
            <a:off x="5349240" y="4736592"/>
            <a:ext cx="6382512" cy="1353312"/>
          </a:xfrm>
          <a:prstGeom prst="roundRect">
            <a:avLst>
              <a:gd name="adj" fmla="val 5405"/>
            </a:avLst>
          </a:prstGeom>
          <a:solidFill>
            <a:srgbClr val="FBEAEA"/>
          </a:solidFill>
          <a:ln w="9525">
            <a:solidFill>
              <a:srgbClr val="B83227"/>
            </a:solidFill>
            <a:prstDash val="solid"/>
          </a:ln>
        </p:spPr>
      </p:sp>
      <p:sp>
        <p:nvSpPr>
          <p:cNvPr id="43" name="Shape 40"/>
          <p:cNvSpPr/>
          <p:nvPr/>
        </p:nvSpPr>
        <p:spPr>
          <a:xfrm>
            <a:off x="5532120" y="4873752"/>
            <a:ext cx="1143000" cy="292608"/>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5532120" y="487375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STRETCH</a:t>
            </a:r>
            <a:endParaRPr lang="en-US" sz="950" dirty="0"/>
          </a:p>
        </p:txBody>
      </p:sp>
      <p:sp>
        <p:nvSpPr>
          <p:cNvPr id="45" name="Text 42"/>
          <p:cNvSpPr txBox="1"/>
          <p:nvPr/>
        </p:nvSpPr>
        <p:spPr>
          <a:xfrm>
            <a:off x="6766560" y="4873752"/>
            <a:ext cx="1828800" cy="292608"/>
          </a:xfrm>
          <a:prstGeom prst="rect">
            <a:avLst/>
          </a:prstGeom>
          <a:noFill/>
          <a:ln/>
        </p:spPr>
        <p:txBody>
          <a:bodyPr wrap="square" lIns="0" tIns="0" rIns="0" bIns="0" rtlCol="0" anchor="ctr"/>
          <a:lstStyle/>
          <a:p>
            <a:pPr algn="l" indent="0" marL="0">
              <a:buNone/>
            </a:pPr>
            <a:r>
              <a:rPr lang="en-US" sz="1050" b="1" i="1" dirty="0">
                <a:solidFill>
                  <a:srgbClr val="B83227"/>
                </a:solidFill>
                <a:latin typeface="Calibri" pitchFamily="34" charset="0"/>
                <a:cs typeface="Amiri" pitchFamily="2" charset="-78"/>
              </a:rPr>
              <a:t>Aim high</a:t>
            </a:r>
            <a:endParaRPr lang="en-US" sz="1050" dirty="0"/>
          </a:p>
        </p:txBody>
      </p:sp>
      <p:sp>
        <p:nvSpPr>
          <p:cNvPr id="46" name="Text 43"/>
          <p:cNvSpPr txBox="1"/>
          <p:nvPr/>
        </p:nvSpPr>
        <p:spPr>
          <a:xfrm>
            <a:off x="5532120" y="521208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I can compare the skills of two careers.</a:t>
            </a:r>
            <a:endParaRPr lang="en-US" sz="1300" dirty="0"/>
          </a:p>
        </p:txBody>
      </p:sp>
      <p:sp>
        <p:nvSpPr>
          <p:cNvPr id="47" name="Text 44"/>
          <p:cNvSpPr txBox="1"/>
          <p:nvPr/>
        </p:nvSpPr>
        <p:spPr>
          <a:xfrm>
            <a:off x="5532120" y="562356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I can name the skills they share.</a:t>
            </a:r>
            <a:endParaRPr lang="en-US" sz="130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6 / 47</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8412480" y="1005840"/>
            <a:ext cx="4754880" cy="4754880"/>
          </a:xfrm>
          <a:prstGeom prst="ellipse">
            <a:avLst/>
          </a:prstGeom>
          <a:solidFill>
            <a:srgbClr val="22477F"/>
          </a:solidFill>
          <a:ln w="12700">
            <a:solidFill>
              <a:srgbClr val="22477F"/>
            </a:solidFill>
            <a:prstDash val="solid"/>
          </a:ln>
        </p:spPr>
      </p:sp>
      <p:sp>
        <p:nvSpPr>
          <p:cNvPr id="3" name="Shape 1"/>
          <p:cNvSpPr/>
          <p:nvPr/>
        </p:nvSpPr>
        <p:spPr>
          <a:xfrm>
            <a:off x="457200" y="1097280"/>
            <a:ext cx="3108960" cy="365760"/>
          </a:xfrm>
          <a:prstGeom prst="roundRect">
            <a:avLst>
              <a:gd name="adj" fmla="val 50000"/>
            </a:avLst>
          </a:prstGeom>
          <a:solidFill>
            <a:srgbClr val="D4AF37"/>
          </a:solidFill>
          <a:ln w="12700">
            <a:solidFill>
              <a:srgbClr val="D4AF37"/>
            </a:solidFill>
            <a:prstDash val="solid"/>
          </a:ln>
        </p:spPr>
      </p:sp>
      <p:sp>
        <p:nvSpPr>
          <p:cNvPr id="4" name="Text 2"/>
          <p:cNvSpPr txBox="1"/>
          <p:nvPr/>
        </p:nvSpPr>
        <p:spPr>
          <a:xfrm>
            <a:off x="457200" y="1097280"/>
            <a:ext cx="3108960" cy="365760"/>
          </a:xfrm>
          <a:prstGeom prst="rect">
            <a:avLst/>
          </a:prstGeom>
          <a:noFill/>
          <a:ln/>
        </p:spPr>
        <p:txBody>
          <a:bodyPr wrap="square" lIns="0" tIns="0" rIns="0" bIns="0" rtlCol="0" anchor="ctr"/>
          <a:lstStyle/>
          <a:p>
            <a:pPr algn="ctr" indent="0" marL="0">
              <a:buNone/>
            </a:pPr>
            <a:r>
              <a:rPr lang="en-US" sz="1000" b="1" spc="100" kern="0" dirty="0">
                <a:solidFill>
                  <a:srgbClr val="0D1F3C"/>
                </a:solidFill>
                <a:latin typeface="Calibri" pitchFamily="34" charset="0"/>
                <a:cs typeface="Amiri" pitchFamily="2" charset="-78"/>
              </a:rPr>
              <a:t>TEACHER INSTRUCTION · 7 MIN</a:t>
            </a:r>
            <a:endParaRPr lang="en-US" sz="1000" dirty="0"/>
          </a:p>
        </p:txBody>
      </p:sp>
      <p:sp>
        <p:nvSpPr>
          <p:cNvPr id="5" name="Text 3"/>
          <p:cNvSpPr txBox="1"/>
          <p:nvPr/>
        </p:nvSpPr>
        <p:spPr>
          <a:xfrm>
            <a:off x="457200" y="1783080"/>
            <a:ext cx="7863840" cy="822960"/>
          </a:xfrm>
          <a:prstGeom prst="rect">
            <a:avLst/>
          </a:prstGeom>
          <a:noFill/>
          <a:ln/>
        </p:spPr>
        <p:txBody>
          <a:bodyPr wrap="square" lIns="0" tIns="0" rIns="0" bIns="0" rtlCol="0" anchor="ctr"/>
          <a:lstStyle/>
          <a:p>
            <a:pPr algn="l" indent="0" marL="0">
              <a:buNone/>
            </a:pPr>
            <a:r>
              <a:rPr lang="en-US" sz="4000" b="1" dirty="0">
                <a:solidFill>
                  <a:srgbClr val="FFFFFF"/>
                </a:solidFill>
                <a:latin typeface="Cambria" pitchFamily="34" charset="0"/>
                <a:cs typeface="Amiri" pitchFamily="2" charset="-78"/>
              </a:rPr>
              <a:t>Key words for today</a:t>
            </a:r>
            <a:endParaRPr lang="en-US" sz="4000" dirty="0"/>
          </a:p>
        </p:txBody>
      </p:sp>
      <p:sp>
        <p:nvSpPr>
          <p:cNvPr id="6" name="Text 4"/>
          <p:cNvSpPr txBox="1"/>
          <p:nvPr/>
        </p:nvSpPr>
        <p:spPr>
          <a:xfrm>
            <a:off x="457200" y="2606040"/>
            <a:ext cx="7863840" cy="822960"/>
          </a:xfrm>
          <a:prstGeom prst="rect">
            <a:avLst/>
          </a:prstGeom>
          <a:noFill/>
          <a:ln/>
        </p:spPr>
        <p:txBody>
          <a:bodyPr wrap="square" lIns="0" tIns="0" rIns="0" bIns="0" rtlCol="0" anchor="ctr"/>
          <a:lstStyle/>
          <a:p>
            <a:pPr rtl="1" algn="l" indent="0" marL="0">
              <a:buNone/>
            </a:pPr>
            <a:r>
              <a:rPr lang="ar-SA" altLang="en-US" sz="3800" b="1" dirty="0">
                <a:solidFill>
                  <a:srgbClr val="D4AF37"/>
                </a:solidFill>
                <a:latin typeface="Amiri" pitchFamily="2" charset="-78"/>
                <a:ea typeface="Amiri" pitchFamily="2" charset="-78"/>
                <a:cs typeface="Amiri" pitchFamily="2" charset="-78"/>
              </a:rPr>
              <a:t>كَلِمَاتُ الدَّرْسِ</a:t>
            </a:r>
            <a:endParaRPr lang="ar-SA" sz="3800" dirty="0"/>
          </a:p>
        </p:txBody>
      </p:sp>
      <p:sp>
        <p:nvSpPr>
          <p:cNvPr id="7" name="Text 5"/>
          <p:cNvSpPr txBox="1"/>
          <p:nvPr/>
        </p:nvSpPr>
        <p:spPr>
          <a:xfrm>
            <a:off x="457200" y="3566160"/>
            <a:ext cx="7680960" cy="822960"/>
          </a:xfrm>
          <a:prstGeom prst="rect">
            <a:avLst/>
          </a:prstGeom>
          <a:noFill/>
          <a:ln/>
        </p:spPr>
        <p:txBody>
          <a:bodyPr wrap="square" lIns="0" tIns="0" rIns="0" bIns="0" rtlCol="0" anchor="t"/>
          <a:lstStyle/>
          <a:p>
            <a:pPr algn="l" indent="0" marL="0">
              <a:buNone/>
            </a:pPr>
            <a:r>
              <a:rPr lang="en-US" sz="1600" dirty="0">
                <a:solidFill>
                  <a:srgbClr val="C6D2E6"/>
                </a:solidFill>
                <a:latin typeface="Calibri" pitchFamily="34" charset="0"/>
                <a:cs typeface="Amiri" pitchFamily="2" charset="-78"/>
              </a:rPr>
              <a:t>36 words from the website in 3 groups. Learn the CORE words first. Hear it → say it → see it → use it.</a:t>
            </a:r>
            <a:endParaRPr lang="en-US" sz="1600" dirty="0"/>
          </a:p>
        </p:txBody>
      </p:sp>
      <p:sp>
        <p:nvSpPr>
          <p:cNvPr id="8" name="Shape 6"/>
          <p:cNvSpPr/>
          <p:nvPr/>
        </p:nvSpPr>
        <p:spPr>
          <a:xfrm>
            <a:off x="457200" y="4572000"/>
            <a:ext cx="2529840" cy="960120"/>
          </a:xfrm>
          <a:prstGeom prst="roundRect">
            <a:avLst>
              <a:gd name="adj" fmla="val 7619"/>
            </a:avLst>
          </a:prstGeom>
          <a:solidFill>
            <a:srgbClr val="16335F"/>
          </a:solidFill>
          <a:ln w="12700">
            <a:solidFill>
              <a:srgbClr val="2A4B7C"/>
            </a:solidFill>
            <a:prstDash val="solid"/>
          </a:ln>
        </p:spPr>
      </p:sp>
      <p:sp>
        <p:nvSpPr>
          <p:cNvPr id="9" name="Text 7"/>
          <p:cNvSpPr txBox="1"/>
          <p:nvPr/>
        </p:nvSpPr>
        <p:spPr>
          <a:xfrm>
            <a:off x="594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1</a:t>
            </a:r>
            <a:endParaRPr lang="en-US" sz="900" dirty="0"/>
          </a:p>
          <a:p>
            <a:pPr indent="0" marL="0">
              <a:buNone/>
            </a:pPr>
            <a:r>
              <a:rPr lang="en-US" sz="1200" b="1" dirty="0">
                <a:solidFill>
                  <a:srgbClr val="FFFFFF"/>
                </a:solidFill>
                <a:latin typeface="Calibri" pitchFamily="34" charset="0"/>
                <a:cs typeface="Amiri" pitchFamily="2" charset="-78"/>
              </a:rPr>
              <a:t>Skills · 12</a:t>
            </a:r>
            <a:endParaRPr lang="en-US" sz="900" dirty="0"/>
          </a:p>
        </p:txBody>
      </p:sp>
      <p:sp>
        <p:nvSpPr>
          <p:cNvPr id="10" name="Shape 8"/>
          <p:cNvSpPr/>
          <p:nvPr/>
        </p:nvSpPr>
        <p:spPr>
          <a:xfrm>
            <a:off x="3124200" y="4572000"/>
            <a:ext cx="2529840" cy="960120"/>
          </a:xfrm>
          <a:prstGeom prst="roundRect">
            <a:avLst>
              <a:gd name="adj" fmla="val 7619"/>
            </a:avLst>
          </a:prstGeom>
          <a:solidFill>
            <a:srgbClr val="16335F"/>
          </a:solidFill>
          <a:ln w="12700">
            <a:solidFill>
              <a:srgbClr val="2A4B7C"/>
            </a:solidFill>
            <a:prstDash val="solid"/>
          </a:ln>
        </p:spPr>
      </p:sp>
      <p:sp>
        <p:nvSpPr>
          <p:cNvPr id="11" name="Text 9"/>
          <p:cNvSpPr txBox="1"/>
          <p:nvPr/>
        </p:nvSpPr>
        <p:spPr>
          <a:xfrm>
            <a:off x="3261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2</a:t>
            </a:r>
            <a:endParaRPr lang="en-US" sz="900" dirty="0"/>
          </a:p>
          <a:p>
            <a:pPr indent="0" marL="0">
              <a:buNone/>
            </a:pPr>
            <a:r>
              <a:rPr lang="en-US" sz="1200" b="1" dirty="0">
                <a:solidFill>
                  <a:srgbClr val="FFFFFF"/>
                </a:solidFill>
                <a:latin typeface="Calibri" pitchFamily="34" charset="0"/>
                <a:cs typeface="Amiri" pitchFamily="2" charset="-78"/>
              </a:rPr>
              <a:t>Worker qualities · 12</a:t>
            </a:r>
            <a:endParaRPr lang="en-US" sz="900" dirty="0"/>
          </a:p>
        </p:txBody>
      </p:sp>
      <p:sp>
        <p:nvSpPr>
          <p:cNvPr id="12" name="Shape 10"/>
          <p:cNvSpPr/>
          <p:nvPr/>
        </p:nvSpPr>
        <p:spPr>
          <a:xfrm>
            <a:off x="5791200" y="4572000"/>
            <a:ext cx="2529840" cy="960120"/>
          </a:xfrm>
          <a:prstGeom prst="roundRect">
            <a:avLst>
              <a:gd name="adj" fmla="val 7619"/>
            </a:avLst>
          </a:prstGeom>
          <a:solidFill>
            <a:srgbClr val="16335F"/>
          </a:solidFill>
          <a:ln w="12700">
            <a:solidFill>
              <a:srgbClr val="2A4B7C"/>
            </a:solidFill>
            <a:prstDash val="solid"/>
          </a:ln>
        </p:spPr>
      </p:sp>
      <p:sp>
        <p:nvSpPr>
          <p:cNvPr id="13" name="Text 11"/>
          <p:cNvSpPr txBox="1"/>
          <p:nvPr/>
        </p:nvSpPr>
        <p:spPr>
          <a:xfrm>
            <a:off x="5928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3</a:t>
            </a:r>
            <a:endParaRPr lang="en-US" sz="900" dirty="0"/>
          </a:p>
          <a:p>
            <a:pPr indent="0" marL="0">
              <a:buNone/>
            </a:pPr>
            <a:r>
              <a:rPr lang="en-US" sz="1200" b="1" dirty="0">
                <a:solidFill>
                  <a:srgbClr val="FFFFFF"/>
                </a:solidFill>
                <a:latin typeface="Calibri" pitchFamily="34" charset="0"/>
                <a:cs typeface="Amiri" pitchFamily="2" charset="-78"/>
              </a:rPr>
              <a:t>Reason and evidence · 12</a:t>
            </a:r>
            <a:endParaRPr lang="en-US" sz="900" dirty="0"/>
          </a:p>
        </p:txBody>
      </p:sp>
      <p:sp>
        <p:nvSpPr>
          <p:cNvPr id="14" name="Shape 12"/>
          <p:cNvSpPr/>
          <p:nvPr/>
        </p:nvSpPr>
        <p:spPr>
          <a:xfrm>
            <a:off x="8732520" y="1371600"/>
            <a:ext cx="3017520" cy="3291840"/>
          </a:xfrm>
          <a:prstGeom prst="roundRect">
            <a:avLst>
              <a:gd name="adj" fmla="val 2424"/>
            </a:avLst>
          </a:prstGeom>
          <a:solidFill>
            <a:srgbClr val="EAF6EF"/>
          </a:solidFill>
          <a:ln w="12700">
            <a:solidFill>
              <a:srgbClr val="9CCFB0"/>
            </a:solidFill>
            <a:prstDash val="solid"/>
          </a:ln>
        </p:spPr>
      </p:sp>
      <p:sp>
        <p:nvSpPr>
          <p:cNvPr id="15" name="Text 13"/>
          <p:cNvSpPr txBox="1"/>
          <p:nvPr/>
        </p:nvSpPr>
        <p:spPr>
          <a:xfrm>
            <a:off x="8915400" y="1426464"/>
            <a:ext cx="2651760" cy="310896"/>
          </a:xfrm>
          <a:prstGeom prst="rect">
            <a:avLst/>
          </a:prstGeom>
          <a:noFill/>
          <a:ln/>
        </p:spPr>
        <p:txBody>
          <a:bodyPr wrap="square" lIns="0" tIns="0" rIns="0" bIns="0" rtlCol="0" anchor="ctr"/>
          <a:lstStyle/>
          <a:p>
            <a:pPr algn="l" indent="0" marL="0">
              <a:buNone/>
            </a:pPr>
            <a:r>
              <a:rPr lang="en-US" sz="1000" b="1" spc="200" kern="0" dirty="0">
                <a:solidFill>
                  <a:srgbClr val="2E8B57"/>
                </a:solidFill>
                <a:latin typeface="Calibri" pitchFamily="34" charset="0"/>
                <a:cs typeface="Amiri" pitchFamily="2" charset="-78"/>
              </a:rPr>
              <a:t>BRIDGE FROM URDU</a:t>
            </a:r>
            <a:endParaRPr lang="en-US" sz="1000" dirty="0"/>
          </a:p>
        </p:txBody>
      </p:sp>
      <p:sp>
        <p:nvSpPr>
          <p:cNvPr id="16" name="Text 14"/>
          <p:cNvSpPr txBox="1"/>
          <p:nvPr/>
        </p:nvSpPr>
        <p:spPr>
          <a:xfrm>
            <a:off x="10241280" y="1810512"/>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مَهَارَةٌ</a:t>
            </a:r>
            <a:endParaRPr lang="ar-SA" sz="1900" dirty="0"/>
          </a:p>
        </p:txBody>
      </p:sp>
      <p:sp>
        <p:nvSpPr>
          <p:cNvPr id="17" name="Text 15"/>
          <p:cNvSpPr txBox="1"/>
          <p:nvPr/>
        </p:nvSpPr>
        <p:spPr>
          <a:xfrm>
            <a:off x="8842248" y="1810512"/>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‎مہارت‎ </a:t>
            </a:r>
            <a:pPr indent="0" marL="0">
              <a:buNone/>
            </a:pPr>
            <a:r>
              <a:rPr lang="en-US" sz="950" b="1" dirty="0">
                <a:solidFill>
                  <a:srgbClr val="2E8B57"/>
                </a:solidFill>
                <a:latin typeface="Calibri" pitchFamily="34" charset="0"/>
                <a:cs typeface="Amiri" pitchFamily="2" charset="-78"/>
              </a:rPr>
              <a:t> mahārat · skill</a:t>
            </a:r>
            <a:endParaRPr lang="en-US" sz="1400" dirty="0"/>
          </a:p>
        </p:txBody>
      </p:sp>
      <p:sp>
        <p:nvSpPr>
          <p:cNvPr id="18" name="Text 16"/>
          <p:cNvSpPr txBox="1"/>
          <p:nvPr/>
        </p:nvSpPr>
        <p:spPr>
          <a:xfrm>
            <a:off x="10241280" y="2377440"/>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القِيَادَةُ</a:t>
            </a:r>
            <a:endParaRPr lang="ar-SA" sz="1900" dirty="0"/>
          </a:p>
        </p:txBody>
      </p:sp>
      <p:sp>
        <p:nvSpPr>
          <p:cNvPr id="19" name="Text 17"/>
          <p:cNvSpPr txBox="1"/>
          <p:nvPr/>
        </p:nvSpPr>
        <p:spPr>
          <a:xfrm>
            <a:off x="8842248" y="2377440"/>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‎قیادت‎ </a:t>
            </a:r>
            <a:pPr indent="0" marL="0">
              <a:buNone/>
            </a:pPr>
            <a:r>
              <a:rPr lang="en-US" sz="950" b="1" dirty="0">
                <a:solidFill>
                  <a:srgbClr val="2E8B57"/>
                </a:solidFill>
                <a:latin typeface="Calibri" pitchFamily="34" charset="0"/>
                <a:cs typeface="Amiri" pitchFamily="2" charset="-78"/>
              </a:rPr>
              <a:t> qiyādat · leadership</a:t>
            </a:r>
            <a:endParaRPr lang="en-US" sz="1400" dirty="0"/>
          </a:p>
        </p:txBody>
      </p:sp>
      <p:sp>
        <p:nvSpPr>
          <p:cNvPr id="20" name="Text 18"/>
          <p:cNvSpPr txBox="1"/>
          <p:nvPr/>
        </p:nvSpPr>
        <p:spPr>
          <a:xfrm>
            <a:off x="10241280" y="2944368"/>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مَسْؤُولٌ</a:t>
            </a:r>
            <a:endParaRPr lang="ar-SA" sz="1900" dirty="0"/>
          </a:p>
        </p:txBody>
      </p:sp>
      <p:sp>
        <p:nvSpPr>
          <p:cNvPr id="21" name="Text 19"/>
          <p:cNvSpPr txBox="1"/>
          <p:nvPr/>
        </p:nvSpPr>
        <p:spPr>
          <a:xfrm>
            <a:off x="8842248" y="2944368"/>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‎مسؤول / ذمہ دار‎ </a:t>
            </a:r>
            <a:pPr indent="0" marL="0">
              <a:buNone/>
            </a:pPr>
            <a:r>
              <a:rPr lang="en-US" sz="950" b="1" dirty="0">
                <a:solidFill>
                  <a:srgbClr val="2E8B57"/>
                </a:solidFill>
                <a:latin typeface="Calibri" pitchFamily="34" charset="0"/>
                <a:cs typeface="Amiri" pitchFamily="2" charset="-78"/>
              </a:rPr>
              <a:t> masʾūl · responsible</a:t>
            </a:r>
            <a:endParaRPr lang="en-US" sz="1400" dirty="0"/>
          </a:p>
        </p:txBody>
      </p:sp>
      <p:sp>
        <p:nvSpPr>
          <p:cNvPr id="22" name="Text 20"/>
          <p:cNvSpPr txBox="1"/>
          <p:nvPr/>
        </p:nvSpPr>
        <p:spPr>
          <a:xfrm>
            <a:off x="10241280" y="3511296"/>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الإِبْدَاعُ</a:t>
            </a:r>
            <a:endParaRPr lang="ar-SA" sz="1900" dirty="0"/>
          </a:p>
        </p:txBody>
      </p:sp>
      <p:sp>
        <p:nvSpPr>
          <p:cNvPr id="23" name="Text 21"/>
          <p:cNvSpPr txBox="1"/>
          <p:nvPr/>
        </p:nvSpPr>
        <p:spPr>
          <a:xfrm>
            <a:off x="8842248" y="3511296"/>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‎ایجاد / بدیع‎ </a:t>
            </a:r>
            <a:pPr indent="0" marL="0">
              <a:buNone/>
            </a:pPr>
            <a:r>
              <a:rPr lang="en-US" sz="950" b="1" dirty="0">
                <a:solidFill>
                  <a:srgbClr val="2E8B57"/>
                </a:solidFill>
                <a:latin typeface="Calibri" pitchFamily="34" charset="0"/>
                <a:cs typeface="Amiri" pitchFamily="2" charset="-78"/>
              </a:rPr>
              <a:t> badīʿ · creativity (root b-d-ʿ)</a:t>
            </a:r>
            <a:endParaRPr lang="en-US" sz="1400" dirty="0"/>
          </a:p>
        </p:txBody>
      </p:sp>
      <p:sp>
        <p:nvSpPr>
          <p:cNvPr id="24" name="Text 22"/>
          <p:cNvSpPr txBox="1"/>
          <p:nvPr/>
        </p:nvSpPr>
        <p:spPr>
          <a:xfrm>
            <a:off x="10241280" y="4078224"/>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أَمِينٌ</a:t>
            </a:r>
            <a:endParaRPr lang="ar-SA" sz="1900" dirty="0"/>
          </a:p>
        </p:txBody>
      </p:sp>
      <p:sp>
        <p:nvSpPr>
          <p:cNvPr id="25" name="Text 23"/>
          <p:cNvSpPr txBox="1"/>
          <p:nvPr/>
        </p:nvSpPr>
        <p:spPr>
          <a:xfrm>
            <a:off x="8842248" y="4078224"/>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‎امین‎ </a:t>
            </a:r>
            <a:pPr indent="0" marL="0">
              <a:buNone/>
            </a:pPr>
            <a:r>
              <a:rPr lang="en-US" sz="950" b="1" dirty="0">
                <a:solidFill>
                  <a:srgbClr val="2E8B57"/>
                </a:solidFill>
                <a:latin typeface="Calibri" pitchFamily="34" charset="0"/>
                <a:cs typeface="Amiri" pitchFamily="2" charset="-78"/>
              </a:rPr>
              <a:t> amīn · trustworthy, honest</a:t>
            </a:r>
            <a:endParaRPr lang="en-US" sz="1400" dirty="0"/>
          </a:p>
        </p:txBody>
      </p:sp>
      <p:sp>
        <p:nvSpPr>
          <p:cNvPr id="27" name="Text 2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7 / 47</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TD-L08 · Skills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Skills (1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D · The World of Work · TD-L08</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a:t>
            </a:r>
            <a:endParaRPr lang="en-US" sz="1000" dirty="0"/>
          </a:p>
        </p:txBody>
      </p:sp>
      <p:sp>
        <p:nvSpPr>
          <p:cNvPr id="18" name="Shape 15"/>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مَهَارَةُ التَّوَاصُلِ</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communication skill</a:t>
            </a:r>
            <a:endParaRPr lang="en-US" sz="1350" dirty="0"/>
          </a:p>
          <a:p>
            <a:pPr indent="0" marL="0">
              <a:buNone/>
            </a:pPr>
            <a:r>
              <a:rPr lang="en-US" sz="1100" i="1" dirty="0">
                <a:solidFill>
                  <a:srgbClr val="5A6472"/>
                </a:solidFill>
                <a:latin typeface="Calibri" pitchFamily="34" charset="0"/>
                <a:cs typeface="Amiri" pitchFamily="2" charset="-78"/>
              </a:rPr>
              <a:t>ma-hā-ra-tu at-ta-wā-ṣu-li</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a:t>
            </a:r>
            <a:endParaRPr lang="en-US" sz="1000" dirty="0"/>
          </a:p>
        </p:txBody>
      </p:sp>
      <p:sp>
        <p:nvSpPr>
          <p:cNvPr id="25" name="Shape 22"/>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7" name="Text 24"/>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حَلُّ المُشْكِلَاتِ</a:t>
            </a:r>
            <a:endParaRPr lang="ar-SA" sz="3000" dirty="0"/>
          </a:p>
        </p:txBody>
      </p:sp>
      <p:sp>
        <p:nvSpPr>
          <p:cNvPr id="28" name="Text 25"/>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problem solving</a:t>
            </a:r>
            <a:endParaRPr lang="en-US" sz="1350" dirty="0"/>
          </a:p>
          <a:p>
            <a:pPr indent="0" marL="0">
              <a:buNone/>
            </a:pPr>
            <a:r>
              <a:rPr lang="en-US" sz="1100" i="1" dirty="0">
                <a:solidFill>
                  <a:srgbClr val="5A6472"/>
                </a:solidFill>
                <a:latin typeface="Calibri" pitchFamily="34" charset="0"/>
                <a:cs typeface="Amiri" pitchFamily="2" charset="-78"/>
              </a:rPr>
              <a:t>ḥal-lu al-mush-ki-lā-ti</a:t>
            </a:r>
            <a:endParaRPr lang="en-US" sz="1350" dirty="0"/>
          </a:p>
        </p:txBody>
      </p:sp>
      <p:sp>
        <p:nvSpPr>
          <p:cNvPr id="29" name="Shape 26"/>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66928" y="1920240"/>
            <a:ext cx="310896" cy="310896"/>
          </a:xfrm>
          <a:prstGeom prst="ellipse">
            <a:avLst/>
          </a:prstGeom>
          <a:solidFill>
            <a:srgbClr val="F4F1EA"/>
          </a:solidFill>
          <a:ln w="12700">
            <a:solidFill>
              <a:srgbClr val="F4F1EA"/>
            </a:solidFill>
            <a:prstDash val="solid"/>
          </a:ln>
        </p:spPr>
      </p:sp>
      <p:sp>
        <p:nvSpPr>
          <p:cNvPr id="31" name="Text 28"/>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3</a:t>
            </a:r>
            <a:endParaRPr lang="en-US" sz="1000" dirty="0"/>
          </a:p>
        </p:txBody>
      </p:sp>
      <p:sp>
        <p:nvSpPr>
          <p:cNvPr id="32" name="Shape 29"/>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4" name="Text 31"/>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العَمَلُ الجَمَاعِيُّ</a:t>
            </a:r>
            <a:endParaRPr lang="ar-SA" sz="3000" dirty="0"/>
          </a:p>
        </p:txBody>
      </p:sp>
      <p:sp>
        <p:nvSpPr>
          <p:cNvPr id="35" name="Text 32"/>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teamwork</a:t>
            </a:r>
            <a:endParaRPr lang="en-US" sz="1350" dirty="0"/>
          </a:p>
          <a:p>
            <a:pPr indent="0" marL="0">
              <a:buNone/>
            </a:pPr>
            <a:r>
              <a:rPr lang="en-US" sz="1100" i="1" dirty="0">
                <a:solidFill>
                  <a:srgbClr val="5A6472"/>
                </a:solidFill>
                <a:latin typeface="Calibri" pitchFamily="34" charset="0"/>
                <a:cs typeface="Amiri" pitchFamily="2" charset="-78"/>
              </a:rPr>
              <a:t>al-ʿa-ma-lu al-ja-mā-ʿiy-yu</a:t>
            </a:r>
            <a:endParaRPr lang="en-US" sz="1350" dirty="0"/>
          </a:p>
        </p:txBody>
      </p:sp>
      <p:sp>
        <p:nvSpPr>
          <p:cNvPr id="36" name="Shape 33"/>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8211312" y="4261104"/>
            <a:ext cx="310896" cy="310896"/>
          </a:xfrm>
          <a:prstGeom prst="ellipse">
            <a:avLst/>
          </a:prstGeom>
          <a:solidFill>
            <a:srgbClr val="F4F1EA"/>
          </a:solidFill>
          <a:ln w="12700">
            <a:solidFill>
              <a:srgbClr val="F4F1EA"/>
            </a:solidFill>
            <a:prstDash val="solid"/>
          </a:ln>
        </p:spPr>
      </p:sp>
      <p:sp>
        <p:nvSpPr>
          <p:cNvPr id="38" name="Text 35"/>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4</a:t>
            </a:r>
            <a:endParaRPr lang="en-US" sz="1000" dirty="0"/>
          </a:p>
        </p:txBody>
      </p:sp>
      <p:sp>
        <p:nvSpPr>
          <p:cNvPr id="39" name="Shape 36"/>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40" name="Text 37"/>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1" name="Text 38"/>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إِدَارَةُ الوَقْتِ</a:t>
            </a:r>
            <a:endParaRPr lang="ar-SA" sz="3000" dirty="0"/>
          </a:p>
        </p:txBody>
      </p:sp>
      <p:sp>
        <p:nvSpPr>
          <p:cNvPr id="42" name="Text 39"/>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time management</a:t>
            </a:r>
            <a:endParaRPr lang="en-US" sz="1350" dirty="0"/>
          </a:p>
          <a:p>
            <a:pPr indent="0" marL="0">
              <a:buNone/>
            </a:pPr>
            <a:r>
              <a:rPr lang="en-US" sz="1100" i="1" dirty="0">
                <a:solidFill>
                  <a:srgbClr val="5A6472"/>
                </a:solidFill>
                <a:latin typeface="Calibri" pitchFamily="34" charset="0"/>
                <a:cs typeface="Amiri" pitchFamily="2" charset="-78"/>
              </a:rPr>
              <a:t>i-dā-ra-tu al-waq-ti</a:t>
            </a:r>
            <a:endParaRPr lang="en-US" sz="1350" dirty="0"/>
          </a:p>
        </p:txBody>
      </p:sp>
      <p:sp>
        <p:nvSpPr>
          <p:cNvPr id="43" name="Shape 40"/>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4389120" y="4261104"/>
            <a:ext cx="310896" cy="310896"/>
          </a:xfrm>
          <a:prstGeom prst="ellipse">
            <a:avLst/>
          </a:prstGeom>
          <a:solidFill>
            <a:srgbClr val="F4F1EA"/>
          </a:solidFill>
          <a:ln w="12700">
            <a:solidFill>
              <a:srgbClr val="F4F1EA"/>
            </a:solidFill>
            <a:prstDash val="solid"/>
          </a:ln>
        </p:spPr>
      </p:sp>
      <p:sp>
        <p:nvSpPr>
          <p:cNvPr id="45" name="Text 42"/>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5</a:t>
            </a:r>
            <a:endParaRPr lang="en-US" sz="1000" dirty="0"/>
          </a:p>
        </p:txBody>
      </p:sp>
      <p:sp>
        <p:nvSpPr>
          <p:cNvPr id="46" name="Text 43"/>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الإِبْدَاعُ</a:t>
            </a:r>
            <a:endParaRPr lang="ar-SA" sz="3000" dirty="0"/>
          </a:p>
        </p:txBody>
      </p:sp>
      <p:sp>
        <p:nvSpPr>
          <p:cNvPr id="47" name="Text 44"/>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creativity</a:t>
            </a:r>
            <a:endParaRPr lang="en-US" sz="1350" dirty="0"/>
          </a:p>
          <a:p>
            <a:pPr indent="0" marL="0">
              <a:buNone/>
            </a:pPr>
            <a:r>
              <a:rPr lang="en-US" sz="1100" i="1" dirty="0">
                <a:solidFill>
                  <a:srgbClr val="5A6472"/>
                </a:solidFill>
                <a:latin typeface="Calibri" pitchFamily="34" charset="0"/>
                <a:cs typeface="Amiri" pitchFamily="2" charset="-78"/>
              </a:rPr>
              <a:t>al-ib-dā-ʿu</a:t>
            </a:r>
            <a:endParaRPr lang="en-US" sz="1350" dirty="0"/>
          </a:p>
        </p:txBody>
      </p:sp>
      <p:sp>
        <p:nvSpPr>
          <p:cNvPr id="48" name="Shape 45"/>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9" name="Shape 46"/>
          <p:cNvSpPr/>
          <p:nvPr/>
        </p:nvSpPr>
        <p:spPr>
          <a:xfrm>
            <a:off x="566928" y="4261104"/>
            <a:ext cx="310896" cy="310896"/>
          </a:xfrm>
          <a:prstGeom prst="ellipse">
            <a:avLst/>
          </a:prstGeom>
          <a:solidFill>
            <a:srgbClr val="F4F1EA"/>
          </a:solidFill>
          <a:ln w="12700">
            <a:solidFill>
              <a:srgbClr val="F4F1EA"/>
            </a:solidFill>
            <a:prstDash val="solid"/>
          </a:ln>
        </p:spPr>
      </p:sp>
      <p:sp>
        <p:nvSpPr>
          <p:cNvPr id="50" name="Text 47"/>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6</a:t>
            </a:r>
            <a:endParaRPr lang="en-US" sz="1000" dirty="0"/>
          </a:p>
        </p:txBody>
      </p:sp>
      <p:sp>
        <p:nvSpPr>
          <p:cNvPr id="51" name="Shape 48"/>
          <p:cNvSpPr/>
          <p:nvPr/>
        </p:nvSpPr>
        <p:spPr>
          <a:xfrm>
            <a:off x="3227832" y="4279392"/>
            <a:ext cx="731520" cy="256032"/>
          </a:xfrm>
          <a:prstGeom prst="roundRect">
            <a:avLst>
              <a:gd name="adj" fmla="val 50000"/>
            </a:avLst>
          </a:prstGeom>
          <a:solidFill>
            <a:srgbClr val="2E8B57"/>
          </a:solidFill>
          <a:ln w="12700">
            <a:solidFill>
              <a:srgbClr val="2E8B57"/>
            </a:solidFill>
            <a:prstDash val="solid"/>
          </a:ln>
        </p:spPr>
      </p:sp>
      <p:sp>
        <p:nvSpPr>
          <p:cNvPr id="52" name="Text 49"/>
          <p:cNvSpPr txBox="1"/>
          <p:nvPr/>
        </p:nvSpPr>
        <p:spPr>
          <a:xfrm>
            <a:off x="3227832"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53" name="Text 50"/>
          <p:cNvSpPr txBox="1"/>
          <p:nvPr/>
        </p:nvSpPr>
        <p:spPr>
          <a:xfrm>
            <a:off x="566928"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الدِّقَّةُ</a:t>
            </a:r>
            <a:endParaRPr lang="ar-SA" sz="3000" dirty="0"/>
          </a:p>
        </p:txBody>
      </p:sp>
      <p:sp>
        <p:nvSpPr>
          <p:cNvPr id="54" name="Text 51"/>
          <p:cNvSpPr txBox="1"/>
          <p:nvPr/>
        </p:nvSpPr>
        <p:spPr>
          <a:xfrm>
            <a:off x="594360"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accuracy</a:t>
            </a:r>
            <a:endParaRPr lang="en-US" sz="1350" dirty="0"/>
          </a:p>
          <a:p>
            <a:pPr indent="0" marL="0">
              <a:buNone/>
            </a:pPr>
            <a:r>
              <a:rPr lang="en-US" sz="1100" i="1" dirty="0">
                <a:solidFill>
                  <a:srgbClr val="5A6472"/>
                </a:solidFill>
                <a:latin typeface="Calibri" pitchFamily="34" charset="0"/>
                <a:cs typeface="Amiri" pitchFamily="2" charset="-78"/>
              </a:rPr>
              <a:t>ad-diq-qa-tu</a:t>
            </a:r>
            <a:endParaRPr lang="en-US" sz="1350" dirty="0"/>
          </a:p>
        </p:txBody>
      </p:sp>
      <p:sp>
        <p:nvSpPr>
          <p:cNvPr id="55" name="Text 5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8 / 47</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TD-L08 · Skills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Skills (2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D · The World of Work · TD-L08</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7</a:t>
            </a:r>
            <a:endParaRPr lang="en-US" sz="1000" dirty="0"/>
          </a:p>
        </p:txBody>
      </p:sp>
      <p:sp>
        <p:nvSpPr>
          <p:cNvPr id="18" name="Text 15"/>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المَرُونَةُ</a:t>
            </a:r>
            <a:endParaRPr lang="ar-SA" sz="3000" dirty="0"/>
          </a:p>
        </p:txBody>
      </p:sp>
      <p:sp>
        <p:nvSpPr>
          <p:cNvPr id="19" name="Text 16"/>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adaptability</a:t>
            </a:r>
            <a:endParaRPr lang="en-US" sz="1350" dirty="0"/>
          </a:p>
          <a:p>
            <a:pPr indent="0" marL="0">
              <a:buNone/>
            </a:pPr>
            <a:r>
              <a:rPr lang="en-US" sz="1100" i="1" dirty="0">
                <a:solidFill>
                  <a:srgbClr val="5A6472"/>
                </a:solidFill>
                <a:latin typeface="Calibri" pitchFamily="34" charset="0"/>
                <a:cs typeface="Amiri" pitchFamily="2" charset="-78"/>
              </a:rPr>
              <a:t>al-ma-rū-na-tu</a:t>
            </a:r>
            <a:endParaRPr lang="en-US" sz="1350" dirty="0"/>
          </a:p>
        </p:txBody>
      </p:sp>
      <p:sp>
        <p:nvSpPr>
          <p:cNvPr id="20" name="Shape 17"/>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4389120" y="1920240"/>
            <a:ext cx="310896" cy="310896"/>
          </a:xfrm>
          <a:prstGeom prst="ellipse">
            <a:avLst/>
          </a:prstGeom>
          <a:solidFill>
            <a:srgbClr val="F4F1EA"/>
          </a:solidFill>
          <a:ln w="12700">
            <a:solidFill>
              <a:srgbClr val="F4F1EA"/>
            </a:solidFill>
            <a:prstDash val="solid"/>
          </a:ln>
        </p:spPr>
      </p:sp>
      <p:sp>
        <p:nvSpPr>
          <p:cNvPr id="22" name="Text 19"/>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8</a:t>
            </a:r>
            <a:endParaRPr lang="en-US" sz="1000" dirty="0"/>
          </a:p>
        </p:txBody>
      </p:sp>
      <p:sp>
        <p:nvSpPr>
          <p:cNvPr id="23" name="Text 20"/>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القِيَادَةُ</a:t>
            </a:r>
            <a:endParaRPr lang="ar-SA" sz="3000" dirty="0"/>
          </a:p>
        </p:txBody>
      </p:sp>
      <p:sp>
        <p:nvSpPr>
          <p:cNvPr id="24" name="Text 21"/>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leadership</a:t>
            </a:r>
            <a:endParaRPr lang="en-US" sz="1350" dirty="0"/>
          </a:p>
          <a:p>
            <a:pPr indent="0" marL="0">
              <a:buNone/>
            </a:pPr>
            <a:r>
              <a:rPr lang="en-US" sz="1100" i="1" dirty="0">
                <a:solidFill>
                  <a:srgbClr val="5A6472"/>
                </a:solidFill>
                <a:latin typeface="Calibri" pitchFamily="34" charset="0"/>
                <a:cs typeface="Amiri" pitchFamily="2" charset="-78"/>
              </a:rPr>
              <a:t>al-qi-yā-da-tu</a:t>
            </a:r>
            <a:endParaRPr lang="en-US" sz="1350" dirty="0"/>
          </a:p>
        </p:txBody>
      </p:sp>
      <p:sp>
        <p:nvSpPr>
          <p:cNvPr id="25" name="Shape 22"/>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566928" y="1920240"/>
            <a:ext cx="310896" cy="310896"/>
          </a:xfrm>
          <a:prstGeom prst="ellipse">
            <a:avLst/>
          </a:prstGeom>
          <a:solidFill>
            <a:srgbClr val="F4F1EA"/>
          </a:solidFill>
          <a:ln w="12700">
            <a:solidFill>
              <a:srgbClr val="F4F1EA"/>
            </a:solidFill>
            <a:prstDash val="solid"/>
          </a:ln>
        </p:spPr>
      </p:sp>
      <p:sp>
        <p:nvSpPr>
          <p:cNvPr id="27" name="Text 24"/>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9</a:t>
            </a:r>
            <a:endParaRPr lang="en-US" sz="1000" dirty="0"/>
          </a:p>
        </p:txBody>
      </p:sp>
      <p:sp>
        <p:nvSpPr>
          <p:cNvPr id="28" name="Shape 25"/>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29" name="Text 26"/>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0" name="Text 27"/>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الخِبْرَةُ</a:t>
            </a:r>
            <a:endParaRPr lang="ar-SA" sz="3000" dirty="0"/>
          </a:p>
        </p:txBody>
      </p:sp>
      <p:sp>
        <p:nvSpPr>
          <p:cNvPr id="31" name="Text 28"/>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experience</a:t>
            </a:r>
            <a:endParaRPr lang="en-US" sz="1350" dirty="0"/>
          </a:p>
          <a:p>
            <a:pPr indent="0" marL="0">
              <a:buNone/>
            </a:pPr>
            <a:r>
              <a:rPr lang="en-US" sz="1100" i="1" dirty="0">
                <a:solidFill>
                  <a:srgbClr val="5A6472"/>
                </a:solidFill>
                <a:latin typeface="Calibri" pitchFamily="34" charset="0"/>
                <a:cs typeface="Amiri" pitchFamily="2" charset="-78"/>
              </a:rPr>
              <a:t>al-khib-ra-tu</a:t>
            </a:r>
            <a:endParaRPr lang="en-US" sz="1350" dirty="0"/>
          </a:p>
        </p:txBody>
      </p:sp>
      <p:sp>
        <p:nvSpPr>
          <p:cNvPr id="32" name="Shape 29"/>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8211312" y="4261104"/>
            <a:ext cx="310896" cy="310896"/>
          </a:xfrm>
          <a:prstGeom prst="ellipse">
            <a:avLst/>
          </a:prstGeom>
          <a:solidFill>
            <a:srgbClr val="F4F1EA"/>
          </a:solidFill>
          <a:ln w="12700">
            <a:solidFill>
              <a:srgbClr val="F4F1EA"/>
            </a:solidFill>
            <a:prstDash val="solid"/>
          </a:ln>
        </p:spPr>
      </p:sp>
      <p:sp>
        <p:nvSpPr>
          <p:cNvPr id="34" name="Text 31"/>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10</a:t>
            </a:r>
            <a:endParaRPr lang="en-US" sz="1000" dirty="0"/>
          </a:p>
        </p:txBody>
      </p:sp>
      <p:sp>
        <p:nvSpPr>
          <p:cNvPr id="35" name="Text 32"/>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المُؤَهِّلَاتُ</a:t>
            </a:r>
            <a:endParaRPr lang="ar-SA" sz="3000" dirty="0"/>
          </a:p>
        </p:txBody>
      </p:sp>
      <p:sp>
        <p:nvSpPr>
          <p:cNvPr id="36" name="Text 33"/>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qualifications</a:t>
            </a:r>
            <a:endParaRPr lang="en-US" sz="1350" dirty="0"/>
          </a:p>
          <a:p>
            <a:pPr indent="0" marL="0">
              <a:buNone/>
            </a:pPr>
            <a:r>
              <a:rPr lang="en-US" sz="1100" i="1" dirty="0">
                <a:solidFill>
                  <a:srgbClr val="5A6472"/>
                </a:solidFill>
                <a:latin typeface="Calibri" pitchFamily="34" charset="0"/>
                <a:cs typeface="Amiri" pitchFamily="2" charset="-78"/>
              </a:rPr>
              <a:t>al-mu-ʾah-hi-lā-tu</a:t>
            </a:r>
            <a:endParaRPr lang="en-US" sz="1350" dirty="0"/>
          </a:p>
        </p:txBody>
      </p:sp>
      <p:sp>
        <p:nvSpPr>
          <p:cNvPr id="37" name="Shape 34"/>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Shape 35"/>
          <p:cNvSpPr/>
          <p:nvPr/>
        </p:nvSpPr>
        <p:spPr>
          <a:xfrm>
            <a:off x="4389120" y="4261104"/>
            <a:ext cx="310896" cy="310896"/>
          </a:xfrm>
          <a:prstGeom prst="ellipse">
            <a:avLst/>
          </a:prstGeom>
          <a:solidFill>
            <a:srgbClr val="F4F1EA"/>
          </a:solidFill>
          <a:ln w="12700">
            <a:solidFill>
              <a:srgbClr val="F4F1EA"/>
            </a:solidFill>
            <a:prstDash val="solid"/>
          </a:ln>
        </p:spPr>
      </p:sp>
      <p:sp>
        <p:nvSpPr>
          <p:cNvPr id="39" name="Text 36"/>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11</a:t>
            </a:r>
            <a:endParaRPr lang="en-US" sz="1000" dirty="0"/>
          </a:p>
        </p:txBody>
      </p:sp>
      <p:sp>
        <p:nvSpPr>
          <p:cNvPr id="40" name="Text 37"/>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إِجَادَةُ اللُّغَاتِ</a:t>
            </a:r>
            <a:endParaRPr lang="ar-SA" sz="3000" dirty="0"/>
          </a:p>
        </p:txBody>
      </p:sp>
      <p:sp>
        <p:nvSpPr>
          <p:cNvPr id="41" name="Text 38"/>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language proficiency</a:t>
            </a:r>
            <a:endParaRPr lang="en-US" sz="1350" dirty="0"/>
          </a:p>
          <a:p>
            <a:pPr indent="0" marL="0">
              <a:buNone/>
            </a:pPr>
            <a:r>
              <a:rPr lang="en-US" sz="1100" i="1" dirty="0">
                <a:solidFill>
                  <a:srgbClr val="5A6472"/>
                </a:solidFill>
                <a:latin typeface="Calibri" pitchFamily="34" charset="0"/>
                <a:cs typeface="Amiri" pitchFamily="2" charset="-78"/>
              </a:rPr>
              <a:t>i-jā-da-tu all-lu-ghā-ti</a:t>
            </a:r>
            <a:endParaRPr lang="en-US" sz="1350" dirty="0"/>
          </a:p>
        </p:txBody>
      </p:sp>
      <p:sp>
        <p:nvSpPr>
          <p:cNvPr id="42" name="Shape 39"/>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3" name="Shape 40"/>
          <p:cNvSpPr/>
          <p:nvPr/>
        </p:nvSpPr>
        <p:spPr>
          <a:xfrm>
            <a:off x="566928" y="4261104"/>
            <a:ext cx="310896" cy="310896"/>
          </a:xfrm>
          <a:prstGeom prst="ellipse">
            <a:avLst/>
          </a:prstGeom>
          <a:solidFill>
            <a:srgbClr val="F4F1EA"/>
          </a:solidFill>
          <a:ln w="12700">
            <a:solidFill>
              <a:srgbClr val="F4F1EA"/>
            </a:solidFill>
            <a:prstDash val="solid"/>
          </a:ln>
        </p:spPr>
      </p:sp>
      <p:sp>
        <p:nvSpPr>
          <p:cNvPr id="44" name="Text 41"/>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12</a:t>
            </a:r>
            <a:endParaRPr lang="en-US" sz="1000" dirty="0"/>
          </a:p>
        </p:txBody>
      </p:sp>
      <p:sp>
        <p:nvSpPr>
          <p:cNvPr id="45" name="Text 42"/>
          <p:cNvSpPr txBox="1"/>
          <p:nvPr/>
        </p:nvSpPr>
        <p:spPr>
          <a:xfrm>
            <a:off x="566928"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مَهَارَاتُ الحَاسُوبِ</a:t>
            </a:r>
            <a:endParaRPr lang="ar-SA" sz="3000" dirty="0"/>
          </a:p>
        </p:txBody>
      </p:sp>
      <p:sp>
        <p:nvSpPr>
          <p:cNvPr id="46" name="Text 43"/>
          <p:cNvSpPr txBox="1"/>
          <p:nvPr/>
        </p:nvSpPr>
        <p:spPr>
          <a:xfrm>
            <a:off x="594360"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computer skills</a:t>
            </a:r>
            <a:endParaRPr lang="en-US" sz="1350" dirty="0"/>
          </a:p>
          <a:p>
            <a:pPr indent="0" marL="0">
              <a:buNone/>
            </a:pPr>
            <a:r>
              <a:rPr lang="en-US" sz="1100" i="1" dirty="0">
                <a:solidFill>
                  <a:srgbClr val="5A6472"/>
                </a:solidFill>
                <a:latin typeface="Calibri" pitchFamily="34" charset="0"/>
                <a:cs typeface="Amiri" pitchFamily="2" charset="-78"/>
              </a:rPr>
              <a:t>ma-hā-rā-tu al-ḥā-sū-bi</a:t>
            </a:r>
            <a:endParaRPr lang="en-US" sz="1350" dirty="0"/>
          </a:p>
        </p:txBody>
      </p:sp>
      <p:sp>
        <p:nvSpPr>
          <p:cNvPr id="47" name="Text 4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9 / 47</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TD-L08 · Skills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2</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Worker qualities (1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D · The World of Work · TD-L08</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13</a:t>
            </a:r>
            <a:endParaRPr lang="en-US" sz="1000" dirty="0"/>
          </a:p>
        </p:txBody>
      </p:sp>
      <p:sp>
        <p:nvSpPr>
          <p:cNvPr id="18" name="Shape 15"/>
          <p:cNvSpPr/>
          <p:nvPr/>
        </p:nvSpPr>
        <p:spPr>
          <a:xfrm>
            <a:off x="8604504" y="1938528"/>
            <a:ext cx="896112"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 · f · pl</a:t>
            </a:r>
            <a:endParaRPr lang="en-US" sz="8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2" name="Text 19"/>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مَسْؤُولٌ / مَسْؤُولَةٌ</a:t>
            </a:r>
            <a:endParaRPr lang="ar-SA" sz="3000" dirty="0"/>
          </a:p>
        </p:txBody>
      </p:sp>
      <p:sp>
        <p:nvSpPr>
          <p:cNvPr id="23" name="Text 20"/>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responsible</a:t>
            </a:r>
            <a:endParaRPr lang="en-US" sz="1350" dirty="0"/>
          </a:p>
          <a:p>
            <a:pPr indent="0" marL="0">
              <a:buNone/>
            </a:pPr>
            <a:r>
              <a:rPr lang="en-US" sz="1100" i="1" dirty="0">
                <a:solidFill>
                  <a:srgbClr val="5A6472"/>
                </a:solidFill>
                <a:latin typeface="Calibri" pitchFamily="34" charset="0"/>
                <a:cs typeface="Amiri" pitchFamily="2" charset="-78"/>
              </a:rPr>
              <a:t>mas-ʾū-lun / mas-ʾū-la-tun</a:t>
            </a:r>
            <a:endParaRPr lang="en-US" sz="1350" dirty="0"/>
          </a:p>
        </p:txBody>
      </p:sp>
      <p:sp>
        <p:nvSpPr>
          <p:cNvPr id="24" name="Shape 21"/>
          <p:cNvSpPr/>
          <p:nvPr/>
        </p:nvSpPr>
        <p:spPr>
          <a:xfrm>
            <a:off x="10543032" y="3438144"/>
            <a:ext cx="1060704" cy="438912"/>
          </a:xfrm>
          <a:prstGeom prst="roundRect">
            <a:avLst>
              <a:gd name="adj" fmla="val 10417"/>
            </a:avLst>
          </a:prstGeom>
          <a:solidFill>
            <a:srgbClr val="F4F1EA"/>
          </a:solidFill>
          <a:ln w="9525">
            <a:solidFill>
              <a:srgbClr val="F4F1EA"/>
            </a:solidFill>
            <a:prstDash val="solid"/>
          </a:ln>
        </p:spPr>
      </p:sp>
      <p:sp>
        <p:nvSpPr>
          <p:cNvPr id="25" name="Text 22"/>
          <p:cNvSpPr txBox="1"/>
          <p:nvPr/>
        </p:nvSpPr>
        <p:spPr>
          <a:xfrm>
            <a:off x="10597896"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26" name="Text 23"/>
          <p:cNvSpPr txBox="1"/>
          <p:nvPr/>
        </p:nvSpPr>
        <p:spPr>
          <a:xfrm>
            <a:off x="10588752"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مَسْؤُولُونَ</a:t>
            </a:r>
            <a:endParaRPr lang="ar-SA" sz="1500" dirty="0"/>
          </a:p>
        </p:txBody>
      </p:sp>
      <p:sp>
        <p:nvSpPr>
          <p:cNvPr id="27" name="Shape 24"/>
          <p:cNvSpPr/>
          <p:nvPr/>
        </p:nvSpPr>
        <p:spPr>
          <a:xfrm>
            <a:off x="9390888" y="3438144"/>
            <a:ext cx="1060704" cy="438912"/>
          </a:xfrm>
          <a:prstGeom prst="roundRect">
            <a:avLst>
              <a:gd name="adj" fmla="val 10417"/>
            </a:avLst>
          </a:prstGeom>
          <a:solidFill>
            <a:srgbClr val="F4F1EA"/>
          </a:solidFill>
          <a:ln w="9525">
            <a:solidFill>
              <a:srgbClr val="F4F1EA"/>
            </a:solidFill>
            <a:prstDash val="solid"/>
          </a:ln>
        </p:spPr>
      </p:sp>
      <p:sp>
        <p:nvSpPr>
          <p:cNvPr id="28" name="Text 25"/>
          <p:cNvSpPr txBox="1"/>
          <p:nvPr/>
        </p:nvSpPr>
        <p:spPr>
          <a:xfrm>
            <a:off x="9445752"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f.</a:t>
            </a:r>
            <a:endParaRPr lang="en-US" sz="750" dirty="0"/>
          </a:p>
        </p:txBody>
      </p:sp>
      <p:sp>
        <p:nvSpPr>
          <p:cNvPr id="29" name="Text 26"/>
          <p:cNvSpPr txBox="1"/>
          <p:nvPr/>
        </p:nvSpPr>
        <p:spPr>
          <a:xfrm>
            <a:off x="9436608"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مَسْؤُولَةٌ</a:t>
            </a:r>
            <a:endParaRPr lang="ar-SA" sz="1500" dirty="0"/>
          </a:p>
        </p:txBody>
      </p:sp>
      <p:sp>
        <p:nvSpPr>
          <p:cNvPr id="30" name="Shape 27"/>
          <p:cNvSpPr/>
          <p:nvPr/>
        </p:nvSpPr>
        <p:spPr>
          <a:xfrm>
            <a:off x="8238744" y="3438144"/>
            <a:ext cx="1060704" cy="438912"/>
          </a:xfrm>
          <a:prstGeom prst="roundRect">
            <a:avLst>
              <a:gd name="adj" fmla="val 10417"/>
            </a:avLst>
          </a:prstGeom>
          <a:solidFill>
            <a:srgbClr val="F4F1EA"/>
          </a:solidFill>
          <a:ln w="9525">
            <a:solidFill>
              <a:srgbClr val="F4F1EA"/>
            </a:solidFill>
            <a:prstDash val="solid"/>
          </a:ln>
        </p:spPr>
      </p:sp>
      <p:sp>
        <p:nvSpPr>
          <p:cNvPr id="31" name="Text 28"/>
          <p:cNvSpPr txBox="1"/>
          <p:nvPr/>
        </p:nvSpPr>
        <p:spPr>
          <a:xfrm>
            <a:off x="8293608"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m.</a:t>
            </a:r>
            <a:endParaRPr lang="en-US" sz="750" dirty="0"/>
          </a:p>
        </p:txBody>
      </p:sp>
      <p:sp>
        <p:nvSpPr>
          <p:cNvPr id="32" name="Text 29"/>
          <p:cNvSpPr txBox="1"/>
          <p:nvPr/>
        </p:nvSpPr>
        <p:spPr>
          <a:xfrm>
            <a:off x="8284464"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مَسْؤُولٌ</a:t>
            </a:r>
            <a:endParaRPr lang="ar-SA" sz="1500" dirty="0"/>
          </a:p>
        </p:txBody>
      </p:sp>
      <p:sp>
        <p:nvSpPr>
          <p:cNvPr id="33" name="Shape 30"/>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4" name="Shape 31"/>
          <p:cNvSpPr/>
          <p:nvPr/>
        </p:nvSpPr>
        <p:spPr>
          <a:xfrm>
            <a:off x="4389120" y="1920240"/>
            <a:ext cx="310896" cy="310896"/>
          </a:xfrm>
          <a:prstGeom prst="ellipse">
            <a:avLst/>
          </a:prstGeom>
          <a:solidFill>
            <a:srgbClr val="F4F1EA"/>
          </a:solidFill>
          <a:ln w="12700">
            <a:solidFill>
              <a:srgbClr val="F4F1EA"/>
            </a:solidFill>
            <a:prstDash val="solid"/>
          </a:ln>
        </p:spPr>
      </p:sp>
      <p:sp>
        <p:nvSpPr>
          <p:cNvPr id="35" name="Text 32"/>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14</a:t>
            </a:r>
            <a:endParaRPr lang="en-US" sz="1000" dirty="0"/>
          </a:p>
        </p:txBody>
      </p:sp>
      <p:sp>
        <p:nvSpPr>
          <p:cNvPr id="36" name="Shape 33"/>
          <p:cNvSpPr/>
          <p:nvPr/>
        </p:nvSpPr>
        <p:spPr>
          <a:xfrm>
            <a:off x="4782312" y="1938528"/>
            <a:ext cx="896112" cy="256032"/>
          </a:xfrm>
          <a:prstGeom prst="roundRect">
            <a:avLst>
              <a:gd name="adj" fmla="val 50000"/>
            </a:avLst>
          </a:prstGeom>
          <a:solidFill>
            <a:srgbClr val="EFE7D2"/>
          </a:solidFill>
          <a:ln w="12700">
            <a:solidFill>
              <a:srgbClr val="EFE7D2"/>
            </a:solidFill>
            <a:prstDash val="solid"/>
          </a:ln>
        </p:spPr>
      </p:sp>
      <p:sp>
        <p:nvSpPr>
          <p:cNvPr id="37" name="Text 34"/>
          <p:cNvSpPr txBox="1"/>
          <p:nvPr/>
        </p:nvSpPr>
        <p:spPr>
          <a:xfrm>
            <a:off x="4782312" y="1938528"/>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 · f · pl</a:t>
            </a:r>
            <a:endParaRPr lang="en-US" sz="800" dirty="0"/>
          </a:p>
        </p:txBody>
      </p:sp>
      <p:sp>
        <p:nvSpPr>
          <p:cNvPr id="38" name="Shape 35"/>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39" name="Text 36"/>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0" name="Text 37"/>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مُنَظَّمٌ / مُنَظَّمَةٌ</a:t>
            </a:r>
            <a:endParaRPr lang="ar-SA" sz="3000" dirty="0"/>
          </a:p>
        </p:txBody>
      </p:sp>
      <p:sp>
        <p:nvSpPr>
          <p:cNvPr id="41" name="Text 38"/>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organised</a:t>
            </a:r>
            <a:endParaRPr lang="en-US" sz="1350" dirty="0"/>
          </a:p>
          <a:p>
            <a:pPr indent="0" marL="0">
              <a:buNone/>
            </a:pPr>
            <a:r>
              <a:rPr lang="en-US" sz="1100" i="1" dirty="0">
                <a:solidFill>
                  <a:srgbClr val="5A6472"/>
                </a:solidFill>
                <a:latin typeface="Calibri" pitchFamily="34" charset="0"/>
                <a:cs typeface="Amiri" pitchFamily="2" charset="-78"/>
              </a:rPr>
              <a:t>mu-naẓ-ẓa-mun / mu-naẓ-ẓa-ma-tun</a:t>
            </a:r>
            <a:endParaRPr lang="en-US" sz="1350" dirty="0"/>
          </a:p>
        </p:txBody>
      </p:sp>
      <p:sp>
        <p:nvSpPr>
          <p:cNvPr id="42" name="Shape 39"/>
          <p:cNvSpPr/>
          <p:nvPr/>
        </p:nvSpPr>
        <p:spPr>
          <a:xfrm>
            <a:off x="6720840" y="3438144"/>
            <a:ext cx="1060704" cy="438912"/>
          </a:xfrm>
          <a:prstGeom prst="roundRect">
            <a:avLst>
              <a:gd name="adj" fmla="val 10417"/>
            </a:avLst>
          </a:prstGeom>
          <a:solidFill>
            <a:srgbClr val="F4F1EA"/>
          </a:solidFill>
          <a:ln w="9525">
            <a:solidFill>
              <a:srgbClr val="F4F1EA"/>
            </a:solidFill>
            <a:prstDash val="solid"/>
          </a:ln>
        </p:spPr>
      </p:sp>
      <p:sp>
        <p:nvSpPr>
          <p:cNvPr id="43" name="Text 40"/>
          <p:cNvSpPr txBox="1"/>
          <p:nvPr/>
        </p:nvSpPr>
        <p:spPr>
          <a:xfrm>
            <a:off x="6775704"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44" name="Text 41"/>
          <p:cNvSpPr txBox="1"/>
          <p:nvPr/>
        </p:nvSpPr>
        <p:spPr>
          <a:xfrm>
            <a:off x="6766560"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مُنَظَّمُونَ</a:t>
            </a:r>
            <a:endParaRPr lang="ar-SA" sz="1500" dirty="0"/>
          </a:p>
        </p:txBody>
      </p:sp>
      <p:sp>
        <p:nvSpPr>
          <p:cNvPr id="45" name="Shape 42"/>
          <p:cNvSpPr/>
          <p:nvPr/>
        </p:nvSpPr>
        <p:spPr>
          <a:xfrm>
            <a:off x="5568696" y="3438144"/>
            <a:ext cx="1060704" cy="438912"/>
          </a:xfrm>
          <a:prstGeom prst="roundRect">
            <a:avLst>
              <a:gd name="adj" fmla="val 10417"/>
            </a:avLst>
          </a:prstGeom>
          <a:solidFill>
            <a:srgbClr val="F4F1EA"/>
          </a:solidFill>
          <a:ln w="9525">
            <a:solidFill>
              <a:srgbClr val="F4F1EA"/>
            </a:solidFill>
            <a:prstDash val="solid"/>
          </a:ln>
        </p:spPr>
      </p:sp>
      <p:sp>
        <p:nvSpPr>
          <p:cNvPr id="46" name="Text 43"/>
          <p:cNvSpPr txBox="1"/>
          <p:nvPr/>
        </p:nvSpPr>
        <p:spPr>
          <a:xfrm>
            <a:off x="5623560"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f.</a:t>
            </a:r>
            <a:endParaRPr lang="en-US" sz="750" dirty="0"/>
          </a:p>
        </p:txBody>
      </p:sp>
      <p:sp>
        <p:nvSpPr>
          <p:cNvPr id="47" name="Text 44"/>
          <p:cNvSpPr txBox="1"/>
          <p:nvPr/>
        </p:nvSpPr>
        <p:spPr>
          <a:xfrm>
            <a:off x="5614416"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مُنَظَّمَةٌ</a:t>
            </a:r>
            <a:endParaRPr lang="ar-SA" sz="1500" dirty="0"/>
          </a:p>
        </p:txBody>
      </p:sp>
      <p:sp>
        <p:nvSpPr>
          <p:cNvPr id="48" name="Shape 45"/>
          <p:cNvSpPr/>
          <p:nvPr/>
        </p:nvSpPr>
        <p:spPr>
          <a:xfrm>
            <a:off x="4416552" y="3438144"/>
            <a:ext cx="1060704" cy="438912"/>
          </a:xfrm>
          <a:prstGeom prst="roundRect">
            <a:avLst>
              <a:gd name="adj" fmla="val 10417"/>
            </a:avLst>
          </a:prstGeom>
          <a:solidFill>
            <a:srgbClr val="F4F1EA"/>
          </a:solidFill>
          <a:ln w="9525">
            <a:solidFill>
              <a:srgbClr val="F4F1EA"/>
            </a:solidFill>
            <a:prstDash val="solid"/>
          </a:ln>
        </p:spPr>
      </p:sp>
      <p:sp>
        <p:nvSpPr>
          <p:cNvPr id="49" name="Text 46"/>
          <p:cNvSpPr txBox="1"/>
          <p:nvPr/>
        </p:nvSpPr>
        <p:spPr>
          <a:xfrm>
            <a:off x="4471416"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m.</a:t>
            </a:r>
            <a:endParaRPr lang="en-US" sz="750" dirty="0"/>
          </a:p>
        </p:txBody>
      </p:sp>
      <p:sp>
        <p:nvSpPr>
          <p:cNvPr id="50" name="Text 47"/>
          <p:cNvSpPr txBox="1"/>
          <p:nvPr/>
        </p:nvSpPr>
        <p:spPr>
          <a:xfrm>
            <a:off x="4462272"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مُنَظَّمٌ</a:t>
            </a:r>
            <a:endParaRPr lang="ar-SA" sz="1500" dirty="0"/>
          </a:p>
        </p:txBody>
      </p:sp>
      <p:sp>
        <p:nvSpPr>
          <p:cNvPr id="51" name="Shape 48"/>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2" name="Shape 49"/>
          <p:cNvSpPr/>
          <p:nvPr/>
        </p:nvSpPr>
        <p:spPr>
          <a:xfrm>
            <a:off x="566928" y="1920240"/>
            <a:ext cx="310896" cy="310896"/>
          </a:xfrm>
          <a:prstGeom prst="ellipse">
            <a:avLst/>
          </a:prstGeom>
          <a:solidFill>
            <a:srgbClr val="F4F1EA"/>
          </a:solidFill>
          <a:ln w="12700">
            <a:solidFill>
              <a:srgbClr val="F4F1EA"/>
            </a:solidFill>
            <a:prstDash val="solid"/>
          </a:ln>
        </p:spPr>
      </p:sp>
      <p:sp>
        <p:nvSpPr>
          <p:cNvPr id="53" name="Text 50"/>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15</a:t>
            </a:r>
            <a:endParaRPr lang="en-US" sz="1000" dirty="0"/>
          </a:p>
        </p:txBody>
      </p:sp>
      <p:sp>
        <p:nvSpPr>
          <p:cNvPr id="54" name="Shape 51"/>
          <p:cNvSpPr/>
          <p:nvPr/>
        </p:nvSpPr>
        <p:spPr>
          <a:xfrm>
            <a:off x="960120" y="1938528"/>
            <a:ext cx="896112" cy="256032"/>
          </a:xfrm>
          <a:prstGeom prst="roundRect">
            <a:avLst>
              <a:gd name="adj" fmla="val 50000"/>
            </a:avLst>
          </a:prstGeom>
          <a:solidFill>
            <a:srgbClr val="EFE7D2"/>
          </a:solidFill>
          <a:ln w="12700">
            <a:solidFill>
              <a:srgbClr val="EFE7D2"/>
            </a:solidFill>
            <a:prstDash val="solid"/>
          </a:ln>
        </p:spPr>
      </p:sp>
      <p:sp>
        <p:nvSpPr>
          <p:cNvPr id="55" name="Text 52"/>
          <p:cNvSpPr txBox="1"/>
          <p:nvPr/>
        </p:nvSpPr>
        <p:spPr>
          <a:xfrm>
            <a:off x="960120" y="1938528"/>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 · f · pl</a:t>
            </a:r>
            <a:endParaRPr lang="en-US" sz="800" dirty="0"/>
          </a:p>
        </p:txBody>
      </p:sp>
      <p:sp>
        <p:nvSpPr>
          <p:cNvPr id="56" name="Shape 53"/>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57" name="Text 54"/>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58" name="Text 55"/>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صَبُورٌ / صَبُورَةٌ</a:t>
            </a:r>
            <a:endParaRPr lang="ar-SA" sz="3000" dirty="0"/>
          </a:p>
        </p:txBody>
      </p:sp>
      <p:sp>
        <p:nvSpPr>
          <p:cNvPr id="59" name="Text 56"/>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patient</a:t>
            </a:r>
            <a:endParaRPr lang="en-US" sz="1350" dirty="0"/>
          </a:p>
          <a:p>
            <a:pPr indent="0" marL="0">
              <a:buNone/>
            </a:pPr>
            <a:r>
              <a:rPr lang="en-US" sz="1100" i="1" dirty="0">
                <a:solidFill>
                  <a:srgbClr val="5A6472"/>
                </a:solidFill>
                <a:latin typeface="Calibri" pitchFamily="34" charset="0"/>
                <a:cs typeface="Amiri" pitchFamily="2" charset="-78"/>
              </a:rPr>
              <a:t>ṣa-bū-run / ṣa-bū-ra-tun</a:t>
            </a:r>
            <a:endParaRPr lang="en-US" sz="1350" dirty="0"/>
          </a:p>
        </p:txBody>
      </p:sp>
      <p:sp>
        <p:nvSpPr>
          <p:cNvPr id="60" name="Shape 57"/>
          <p:cNvSpPr/>
          <p:nvPr/>
        </p:nvSpPr>
        <p:spPr>
          <a:xfrm>
            <a:off x="2898648" y="3438144"/>
            <a:ext cx="1060704" cy="438912"/>
          </a:xfrm>
          <a:prstGeom prst="roundRect">
            <a:avLst>
              <a:gd name="adj" fmla="val 10417"/>
            </a:avLst>
          </a:prstGeom>
          <a:solidFill>
            <a:srgbClr val="F4F1EA"/>
          </a:solidFill>
          <a:ln w="9525">
            <a:solidFill>
              <a:srgbClr val="F4F1EA"/>
            </a:solidFill>
            <a:prstDash val="solid"/>
          </a:ln>
        </p:spPr>
      </p:sp>
      <p:sp>
        <p:nvSpPr>
          <p:cNvPr id="61" name="Text 58"/>
          <p:cNvSpPr txBox="1"/>
          <p:nvPr/>
        </p:nvSpPr>
        <p:spPr>
          <a:xfrm>
            <a:off x="2953512"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62" name="Text 59"/>
          <p:cNvSpPr txBox="1"/>
          <p:nvPr/>
        </p:nvSpPr>
        <p:spPr>
          <a:xfrm>
            <a:off x="2944368"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صَبُورُونَ</a:t>
            </a:r>
            <a:endParaRPr lang="ar-SA" sz="1500" dirty="0"/>
          </a:p>
        </p:txBody>
      </p:sp>
      <p:sp>
        <p:nvSpPr>
          <p:cNvPr id="63" name="Shape 60"/>
          <p:cNvSpPr/>
          <p:nvPr/>
        </p:nvSpPr>
        <p:spPr>
          <a:xfrm>
            <a:off x="1746504" y="3438144"/>
            <a:ext cx="1060704" cy="438912"/>
          </a:xfrm>
          <a:prstGeom prst="roundRect">
            <a:avLst>
              <a:gd name="adj" fmla="val 10417"/>
            </a:avLst>
          </a:prstGeom>
          <a:solidFill>
            <a:srgbClr val="F4F1EA"/>
          </a:solidFill>
          <a:ln w="9525">
            <a:solidFill>
              <a:srgbClr val="F4F1EA"/>
            </a:solidFill>
            <a:prstDash val="solid"/>
          </a:ln>
        </p:spPr>
      </p:sp>
      <p:sp>
        <p:nvSpPr>
          <p:cNvPr id="64" name="Text 61"/>
          <p:cNvSpPr txBox="1"/>
          <p:nvPr/>
        </p:nvSpPr>
        <p:spPr>
          <a:xfrm>
            <a:off x="1801368"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f.</a:t>
            </a:r>
            <a:endParaRPr lang="en-US" sz="750" dirty="0"/>
          </a:p>
        </p:txBody>
      </p:sp>
      <p:sp>
        <p:nvSpPr>
          <p:cNvPr id="65" name="Text 62"/>
          <p:cNvSpPr txBox="1"/>
          <p:nvPr/>
        </p:nvSpPr>
        <p:spPr>
          <a:xfrm>
            <a:off x="1792224"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صَبُورَةٌ</a:t>
            </a:r>
            <a:endParaRPr lang="ar-SA" sz="1500" dirty="0"/>
          </a:p>
        </p:txBody>
      </p:sp>
      <p:sp>
        <p:nvSpPr>
          <p:cNvPr id="66" name="Shape 63"/>
          <p:cNvSpPr/>
          <p:nvPr/>
        </p:nvSpPr>
        <p:spPr>
          <a:xfrm>
            <a:off x="594360" y="3438144"/>
            <a:ext cx="1060704" cy="438912"/>
          </a:xfrm>
          <a:prstGeom prst="roundRect">
            <a:avLst>
              <a:gd name="adj" fmla="val 10417"/>
            </a:avLst>
          </a:prstGeom>
          <a:solidFill>
            <a:srgbClr val="F4F1EA"/>
          </a:solidFill>
          <a:ln w="9525">
            <a:solidFill>
              <a:srgbClr val="F4F1EA"/>
            </a:solidFill>
            <a:prstDash val="solid"/>
          </a:ln>
        </p:spPr>
      </p:sp>
      <p:sp>
        <p:nvSpPr>
          <p:cNvPr id="67" name="Text 64"/>
          <p:cNvSpPr txBox="1"/>
          <p:nvPr/>
        </p:nvSpPr>
        <p:spPr>
          <a:xfrm>
            <a:off x="649224"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m.</a:t>
            </a:r>
            <a:endParaRPr lang="en-US" sz="750" dirty="0"/>
          </a:p>
        </p:txBody>
      </p:sp>
      <p:sp>
        <p:nvSpPr>
          <p:cNvPr id="68" name="Text 65"/>
          <p:cNvSpPr txBox="1"/>
          <p:nvPr/>
        </p:nvSpPr>
        <p:spPr>
          <a:xfrm>
            <a:off x="640080"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صَبُورٌ</a:t>
            </a:r>
            <a:endParaRPr lang="ar-SA" sz="1500" dirty="0"/>
          </a:p>
        </p:txBody>
      </p:sp>
      <p:sp>
        <p:nvSpPr>
          <p:cNvPr id="69" name="Shape 66"/>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0" name="Shape 67"/>
          <p:cNvSpPr/>
          <p:nvPr/>
        </p:nvSpPr>
        <p:spPr>
          <a:xfrm>
            <a:off x="8211312" y="4261104"/>
            <a:ext cx="310896" cy="310896"/>
          </a:xfrm>
          <a:prstGeom prst="ellipse">
            <a:avLst/>
          </a:prstGeom>
          <a:solidFill>
            <a:srgbClr val="F4F1EA"/>
          </a:solidFill>
          <a:ln w="12700">
            <a:solidFill>
              <a:srgbClr val="F4F1EA"/>
            </a:solidFill>
            <a:prstDash val="solid"/>
          </a:ln>
        </p:spPr>
      </p:sp>
      <p:sp>
        <p:nvSpPr>
          <p:cNvPr id="71" name="Text 68"/>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16</a:t>
            </a:r>
            <a:endParaRPr lang="en-US" sz="1000" dirty="0"/>
          </a:p>
        </p:txBody>
      </p:sp>
      <p:sp>
        <p:nvSpPr>
          <p:cNvPr id="72" name="Shape 69"/>
          <p:cNvSpPr/>
          <p:nvPr/>
        </p:nvSpPr>
        <p:spPr>
          <a:xfrm>
            <a:off x="8604504" y="4279392"/>
            <a:ext cx="896112" cy="256032"/>
          </a:xfrm>
          <a:prstGeom prst="roundRect">
            <a:avLst>
              <a:gd name="adj" fmla="val 50000"/>
            </a:avLst>
          </a:prstGeom>
          <a:solidFill>
            <a:srgbClr val="EFE7D2"/>
          </a:solidFill>
          <a:ln w="12700">
            <a:solidFill>
              <a:srgbClr val="EFE7D2"/>
            </a:solidFill>
            <a:prstDash val="solid"/>
          </a:ln>
        </p:spPr>
      </p:sp>
      <p:sp>
        <p:nvSpPr>
          <p:cNvPr id="73" name="Text 70"/>
          <p:cNvSpPr txBox="1"/>
          <p:nvPr/>
        </p:nvSpPr>
        <p:spPr>
          <a:xfrm>
            <a:off x="8604504" y="4279392"/>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 · f · pl</a:t>
            </a:r>
            <a:endParaRPr lang="en-US" sz="800" dirty="0"/>
          </a:p>
        </p:txBody>
      </p:sp>
      <p:sp>
        <p:nvSpPr>
          <p:cNvPr id="74" name="Text 71"/>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مُجْتَهِدٌ / مُجْتَهِدَةٌ</a:t>
            </a:r>
            <a:endParaRPr lang="ar-SA" sz="3000" dirty="0"/>
          </a:p>
        </p:txBody>
      </p:sp>
      <p:sp>
        <p:nvSpPr>
          <p:cNvPr id="75" name="Text 72"/>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hard-working</a:t>
            </a:r>
            <a:endParaRPr lang="en-US" sz="1350" dirty="0"/>
          </a:p>
          <a:p>
            <a:pPr indent="0" marL="0">
              <a:buNone/>
            </a:pPr>
            <a:r>
              <a:rPr lang="en-US" sz="1100" i="1" dirty="0">
                <a:solidFill>
                  <a:srgbClr val="5A6472"/>
                </a:solidFill>
                <a:latin typeface="Calibri" pitchFamily="34" charset="0"/>
                <a:cs typeface="Amiri" pitchFamily="2" charset="-78"/>
              </a:rPr>
              <a:t>muj-ta-hi-dun / muj-ta-hi-da-tun</a:t>
            </a:r>
            <a:endParaRPr lang="en-US" sz="1350" dirty="0"/>
          </a:p>
        </p:txBody>
      </p:sp>
      <p:sp>
        <p:nvSpPr>
          <p:cNvPr id="76" name="Shape 73"/>
          <p:cNvSpPr/>
          <p:nvPr/>
        </p:nvSpPr>
        <p:spPr>
          <a:xfrm>
            <a:off x="10543032" y="5779008"/>
            <a:ext cx="1060704" cy="438912"/>
          </a:xfrm>
          <a:prstGeom prst="roundRect">
            <a:avLst>
              <a:gd name="adj" fmla="val 10417"/>
            </a:avLst>
          </a:prstGeom>
          <a:solidFill>
            <a:srgbClr val="F4F1EA"/>
          </a:solidFill>
          <a:ln w="9525">
            <a:solidFill>
              <a:srgbClr val="F4F1EA"/>
            </a:solidFill>
            <a:prstDash val="solid"/>
          </a:ln>
        </p:spPr>
      </p:sp>
      <p:sp>
        <p:nvSpPr>
          <p:cNvPr id="77" name="Text 74"/>
          <p:cNvSpPr txBox="1"/>
          <p:nvPr/>
        </p:nvSpPr>
        <p:spPr>
          <a:xfrm>
            <a:off x="10597896"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78" name="Text 75"/>
          <p:cNvSpPr txBox="1"/>
          <p:nvPr/>
        </p:nvSpPr>
        <p:spPr>
          <a:xfrm>
            <a:off x="10588752"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مُجْتَهِدُونَ</a:t>
            </a:r>
            <a:endParaRPr lang="ar-SA" sz="1500" dirty="0"/>
          </a:p>
        </p:txBody>
      </p:sp>
      <p:sp>
        <p:nvSpPr>
          <p:cNvPr id="79" name="Shape 76"/>
          <p:cNvSpPr/>
          <p:nvPr/>
        </p:nvSpPr>
        <p:spPr>
          <a:xfrm>
            <a:off x="9390888" y="5779008"/>
            <a:ext cx="1060704" cy="438912"/>
          </a:xfrm>
          <a:prstGeom prst="roundRect">
            <a:avLst>
              <a:gd name="adj" fmla="val 10417"/>
            </a:avLst>
          </a:prstGeom>
          <a:solidFill>
            <a:srgbClr val="F4F1EA"/>
          </a:solidFill>
          <a:ln w="9525">
            <a:solidFill>
              <a:srgbClr val="F4F1EA"/>
            </a:solidFill>
            <a:prstDash val="solid"/>
          </a:ln>
        </p:spPr>
      </p:sp>
      <p:sp>
        <p:nvSpPr>
          <p:cNvPr id="80" name="Text 77"/>
          <p:cNvSpPr txBox="1"/>
          <p:nvPr/>
        </p:nvSpPr>
        <p:spPr>
          <a:xfrm>
            <a:off x="9445752"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f.</a:t>
            </a:r>
            <a:endParaRPr lang="en-US" sz="750" dirty="0"/>
          </a:p>
        </p:txBody>
      </p:sp>
      <p:sp>
        <p:nvSpPr>
          <p:cNvPr id="81" name="Text 78"/>
          <p:cNvSpPr txBox="1"/>
          <p:nvPr/>
        </p:nvSpPr>
        <p:spPr>
          <a:xfrm>
            <a:off x="9436608"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مُجْتَهِدَةٌ</a:t>
            </a:r>
            <a:endParaRPr lang="ar-SA" sz="1500" dirty="0"/>
          </a:p>
        </p:txBody>
      </p:sp>
      <p:sp>
        <p:nvSpPr>
          <p:cNvPr id="82" name="Shape 79"/>
          <p:cNvSpPr/>
          <p:nvPr/>
        </p:nvSpPr>
        <p:spPr>
          <a:xfrm>
            <a:off x="8238744" y="5779008"/>
            <a:ext cx="1060704" cy="438912"/>
          </a:xfrm>
          <a:prstGeom prst="roundRect">
            <a:avLst>
              <a:gd name="adj" fmla="val 10417"/>
            </a:avLst>
          </a:prstGeom>
          <a:solidFill>
            <a:srgbClr val="F4F1EA"/>
          </a:solidFill>
          <a:ln w="9525">
            <a:solidFill>
              <a:srgbClr val="F4F1EA"/>
            </a:solidFill>
            <a:prstDash val="solid"/>
          </a:ln>
        </p:spPr>
      </p:sp>
      <p:sp>
        <p:nvSpPr>
          <p:cNvPr id="83" name="Text 80"/>
          <p:cNvSpPr txBox="1"/>
          <p:nvPr/>
        </p:nvSpPr>
        <p:spPr>
          <a:xfrm>
            <a:off x="8293608"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m.</a:t>
            </a:r>
            <a:endParaRPr lang="en-US" sz="750" dirty="0"/>
          </a:p>
        </p:txBody>
      </p:sp>
      <p:sp>
        <p:nvSpPr>
          <p:cNvPr id="84" name="Text 81"/>
          <p:cNvSpPr txBox="1"/>
          <p:nvPr/>
        </p:nvSpPr>
        <p:spPr>
          <a:xfrm>
            <a:off x="8284464"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مُجْتَهِدٌ</a:t>
            </a:r>
            <a:endParaRPr lang="ar-SA" sz="1500" dirty="0"/>
          </a:p>
        </p:txBody>
      </p:sp>
      <p:sp>
        <p:nvSpPr>
          <p:cNvPr id="85" name="Shape 82"/>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6" name="Shape 83"/>
          <p:cNvSpPr/>
          <p:nvPr/>
        </p:nvSpPr>
        <p:spPr>
          <a:xfrm>
            <a:off x="4389120" y="4261104"/>
            <a:ext cx="310896" cy="310896"/>
          </a:xfrm>
          <a:prstGeom prst="ellipse">
            <a:avLst/>
          </a:prstGeom>
          <a:solidFill>
            <a:srgbClr val="F4F1EA"/>
          </a:solidFill>
          <a:ln w="12700">
            <a:solidFill>
              <a:srgbClr val="F4F1EA"/>
            </a:solidFill>
            <a:prstDash val="solid"/>
          </a:ln>
        </p:spPr>
      </p:sp>
      <p:sp>
        <p:nvSpPr>
          <p:cNvPr id="87" name="Text 84"/>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17</a:t>
            </a:r>
            <a:endParaRPr lang="en-US" sz="1000" dirty="0"/>
          </a:p>
        </p:txBody>
      </p:sp>
      <p:sp>
        <p:nvSpPr>
          <p:cNvPr id="88" name="Shape 85"/>
          <p:cNvSpPr/>
          <p:nvPr/>
        </p:nvSpPr>
        <p:spPr>
          <a:xfrm>
            <a:off x="4782312" y="4279392"/>
            <a:ext cx="896112" cy="256032"/>
          </a:xfrm>
          <a:prstGeom prst="roundRect">
            <a:avLst>
              <a:gd name="adj" fmla="val 50000"/>
            </a:avLst>
          </a:prstGeom>
          <a:solidFill>
            <a:srgbClr val="EFE7D2"/>
          </a:solidFill>
          <a:ln w="12700">
            <a:solidFill>
              <a:srgbClr val="EFE7D2"/>
            </a:solidFill>
            <a:prstDash val="solid"/>
          </a:ln>
        </p:spPr>
      </p:sp>
      <p:sp>
        <p:nvSpPr>
          <p:cNvPr id="89" name="Text 86"/>
          <p:cNvSpPr txBox="1"/>
          <p:nvPr/>
        </p:nvSpPr>
        <p:spPr>
          <a:xfrm>
            <a:off x="4782312" y="4279392"/>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 · f · pl</a:t>
            </a:r>
            <a:endParaRPr lang="en-US" sz="800" dirty="0"/>
          </a:p>
        </p:txBody>
      </p:sp>
      <p:sp>
        <p:nvSpPr>
          <p:cNvPr id="90" name="Text 87"/>
          <p:cNvSpPr txBox="1"/>
          <p:nvPr/>
        </p:nvSpPr>
        <p:spPr>
          <a:xfrm>
            <a:off x="4389120"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مُبَادِرٌ / مُبَادِرَةٌ</a:t>
            </a:r>
            <a:endParaRPr lang="ar-SA" sz="3000" dirty="0"/>
          </a:p>
        </p:txBody>
      </p:sp>
      <p:sp>
        <p:nvSpPr>
          <p:cNvPr id="91" name="Text 88"/>
          <p:cNvSpPr txBox="1"/>
          <p:nvPr/>
        </p:nvSpPr>
        <p:spPr>
          <a:xfrm>
            <a:off x="4416552"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proactive</a:t>
            </a:r>
            <a:endParaRPr lang="en-US" sz="1350" dirty="0"/>
          </a:p>
          <a:p>
            <a:pPr indent="0" marL="0">
              <a:buNone/>
            </a:pPr>
            <a:r>
              <a:rPr lang="en-US" sz="1100" i="1" dirty="0">
                <a:solidFill>
                  <a:srgbClr val="5A6472"/>
                </a:solidFill>
                <a:latin typeface="Calibri" pitchFamily="34" charset="0"/>
                <a:cs typeface="Amiri" pitchFamily="2" charset="-78"/>
              </a:rPr>
              <a:t>mu-bā-di-run / mu-bā-di-ra-tun</a:t>
            </a:r>
            <a:endParaRPr lang="en-US" sz="1350" dirty="0"/>
          </a:p>
        </p:txBody>
      </p:sp>
      <p:sp>
        <p:nvSpPr>
          <p:cNvPr id="92" name="Shape 89"/>
          <p:cNvSpPr/>
          <p:nvPr/>
        </p:nvSpPr>
        <p:spPr>
          <a:xfrm>
            <a:off x="6720840" y="5779008"/>
            <a:ext cx="1060704" cy="438912"/>
          </a:xfrm>
          <a:prstGeom prst="roundRect">
            <a:avLst>
              <a:gd name="adj" fmla="val 10417"/>
            </a:avLst>
          </a:prstGeom>
          <a:solidFill>
            <a:srgbClr val="F4F1EA"/>
          </a:solidFill>
          <a:ln w="9525">
            <a:solidFill>
              <a:srgbClr val="F4F1EA"/>
            </a:solidFill>
            <a:prstDash val="solid"/>
          </a:ln>
        </p:spPr>
      </p:sp>
      <p:sp>
        <p:nvSpPr>
          <p:cNvPr id="93" name="Text 90"/>
          <p:cNvSpPr txBox="1"/>
          <p:nvPr/>
        </p:nvSpPr>
        <p:spPr>
          <a:xfrm>
            <a:off x="6775704"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94" name="Text 91"/>
          <p:cNvSpPr txBox="1"/>
          <p:nvPr/>
        </p:nvSpPr>
        <p:spPr>
          <a:xfrm>
            <a:off x="6766560"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مُبَادِرُونَ</a:t>
            </a:r>
            <a:endParaRPr lang="ar-SA" sz="1500" dirty="0"/>
          </a:p>
        </p:txBody>
      </p:sp>
      <p:sp>
        <p:nvSpPr>
          <p:cNvPr id="95" name="Shape 92"/>
          <p:cNvSpPr/>
          <p:nvPr/>
        </p:nvSpPr>
        <p:spPr>
          <a:xfrm>
            <a:off x="5568696" y="5779008"/>
            <a:ext cx="1060704" cy="438912"/>
          </a:xfrm>
          <a:prstGeom prst="roundRect">
            <a:avLst>
              <a:gd name="adj" fmla="val 10417"/>
            </a:avLst>
          </a:prstGeom>
          <a:solidFill>
            <a:srgbClr val="F4F1EA"/>
          </a:solidFill>
          <a:ln w="9525">
            <a:solidFill>
              <a:srgbClr val="F4F1EA"/>
            </a:solidFill>
            <a:prstDash val="solid"/>
          </a:ln>
        </p:spPr>
      </p:sp>
      <p:sp>
        <p:nvSpPr>
          <p:cNvPr id="96" name="Text 93"/>
          <p:cNvSpPr txBox="1"/>
          <p:nvPr/>
        </p:nvSpPr>
        <p:spPr>
          <a:xfrm>
            <a:off x="5623560"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f.</a:t>
            </a:r>
            <a:endParaRPr lang="en-US" sz="750" dirty="0"/>
          </a:p>
        </p:txBody>
      </p:sp>
      <p:sp>
        <p:nvSpPr>
          <p:cNvPr id="97" name="Text 94"/>
          <p:cNvSpPr txBox="1"/>
          <p:nvPr/>
        </p:nvSpPr>
        <p:spPr>
          <a:xfrm>
            <a:off x="5614416"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مُبَادِرَةٌ</a:t>
            </a:r>
            <a:endParaRPr lang="ar-SA" sz="1500" dirty="0"/>
          </a:p>
        </p:txBody>
      </p:sp>
      <p:sp>
        <p:nvSpPr>
          <p:cNvPr id="98" name="Shape 95"/>
          <p:cNvSpPr/>
          <p:nvPr/>
        </p:nvSpPr>
        <p:spPr>
          <a:xfrm>
            <a:off x="4416552" y="5779008"/>
            <a:ext cx="1060704" cy="438912"/>
          </a:xfrm>
          <a:prstGeom prst="roundRect">
            <a:avLst>
              <a:gd name="adj" fmla="val 10417"/>
            </a:avLst>
          </a:prstGeom>
          <a:solidFill>
            <a:srgbClr val="F4F1EA"/>
          </a:solidFill>
          <a:ln w="9525">
            <a:solidFill>
              <a:srgbClr val="F4F1EA"/>
            </a:solidFill>
            <a:prstDash val="solid"/>
          </a:ln>
        </p:spPr>
      </p:sp>
      <p:sp>
        <p:nvSpPr>
          <p:cNvPr id="99" name="Text 96"/>
          <p:cNvSpPr txBox="1"/>
          <p:nvPr/>
        </p:nvSpPr>
        <p:spPr>
          <a:xfrm>
            <a:off x="4471416"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m.</a:t>
            </a:r>
            <a:endParaRPr lang="en-US" sz="750" dirty="0"/>
          </a:p>
        </p:txBody>
      </p:sp>
      <p:sp>
        <p:nvSpPr>
          <p:cNvPr id="100" name="Text 97"/>
          <p:cNvSpPr txBox="1"/>
          <p:nvPr/>
        </p:nvSpPr>
        <p:spPr>
          <a:xfrm>
            <a:off x="4462272"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مُبَادِرٌ</a:t>
            </a:r>
            <a:endParaRPr lang="ar-SA" sz="1500" dirty="0"/>
          </a:p>
        </p:txBody>
      </p:sp>
      <p:sp>
        <p:nvSpPr>
          <p:cNvPr id="101" name="Shape 98"/>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02" name="Shape 99"/>
          <p:cNvSpPr/>
          <p:nvPr/>
        </p:nvSpPr>
        <p:spPr>
          <a:xfrm>
            <a:off x="566928" y="4261104"/>
            <a:ext cx="310896" cy="310896"/>
          </a:xfrm>
          <a:prstGeom prst="ellipse">
            <a:avLst/>
          </a:prstGeom>
          <a:solidFill>
            <a:srgbClr val="F4F1EA"/>
          </a:solidFill>
          <a:ln w="12700">
            <a:solidFill>
              <a:srgbClr val="F4F1EA"/>
            </a:solidFill>
            <a:prstDash val="solid"/>
          </a:ln>
        </p:spPr>
      </p:sp>
      <p:sp>
        <p:nvSpPr>
          <p:cNvPr id="103" name="Text 100"/>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18</a:t>
            </a:r>
            <a:endParaRPr lang="en-US" sz="1000" dirty="0"/>
          </a:p>
        </p:txBody>
      </p:sp>
      <p:sp>
        <p:nvSpPr>
          <p:cNvPr id="104" name="Shape 101"/>
          <p:cNvSpPr/>
          <p:nvPr/>
        </p:nvSpPr>
        <p:spPr>
          <a:xfrm>
            <a:off x="960120" y="4279392"/>
            <a:ext cx="896112" cy="256032"/>
          </a:xfrm>
          <a:prstGeom prst="roundRect">
            <a:avLst>
              <a:gd name="adj" fmla="val 50000"/>
            </a:avLst>
          </a:prstGeom>
          <a:solidFill>
            <a:srgbClr val="EFE7D2"/>
          </a:solidFill>
          <a:ln w="12700">
            <a:solidFill>
              <a:srgbClr val="EFE7D2"/>
            </a:solidFill>
            <a:prstDash val="solid"/>
          </a:ln>
        </p:spPr>
      </p:sp>
      <p:sp>
        <p:nvSpPr>
          <p:cNvPr id="105" name="Text 102"/>
          <p:cNvSpPr txBox="1"/>
          <p:nvPr/>
        </p:nvSpPr>
        <p:spPr>
          <a:xfrm>
            <a:off x="960120" y="4279392"/>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 · f · pl</a:t>
            </a:r>
            <a:endParaRPr lang="en-US" sz="800" dirty="0"/>
          </a:p>
        </p:txBody>
      </p:sp>
      <p:sp>
        <p:nvSpPr>
          <p:cNvPr id="106" name="Text 103"/>
          <p:cNvSpPr txBox="1"/>
          <p:nvPr/>
        </p:nvSpPr>
        <p:spPr>
          <a:xfrm>
            <a:off x="566928"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مَوْثُوقٌ بِهِ / مَوْثُوقَةٌ بِهَا</a:t>
            </a:r>
            <a:endParaRPr lang="ar-SA" sz="3000" dirty="0"/>
          </a:p>
        </p:txBody>
      </p:sp>
      <p:sp>
        <p:nvSpPr>
          <p:cNvPr id="107" name="Text 104"/>
          <p:cNvSpPr txBox="1"/>
          <p:nvPr/>
        </p:nvSpPr>
        <p:spPr>
          <a:xfrm>
            <a:off x="594360"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reliable</a:t>
            </a:r>
            <a:endParaRPr lang="en-US" sz="1350" dirty="0"/>
          </a:p>
          <a:p>
            <a:pPr indent="0" marL="0">
              <a:buNone/>
            </a:pPr>
            <a:r>
              <a:rPr lang="en-US" sz="1100" i="1" dirty="0">
                <a:solidFill>
                  <a:srgbClr val="5A6472"/>
                </a:solidFill>
                <a:latin typeface="Calibri" pitchFamily="34" charset="0"/>
                <a:cs typeface="Amiri" pitchFamily="2" charset="-78"/>
              </a:rPr>
              <a:t>maw-thū-qun bi-hi / maw-thū-qa-tun bi-hā</a:t>
            </a:r>
            <a:endParaRPr lang="en-US" sz="1350" dirty="0"/>
          </a:p>
        </p:txBody>
      </p:sp>
      <p:sp>
        <p:nvSpPr>
          <p:cNvPr id="108" name="Shape 105"/>
          <p:cNvSpPr/>
          <p:nvPr/>
        </p:nvSpPr>
        <p:spPr>
          <a:xfrm>
            <a:off x="2898648" y="5779008"/>
            <a:ext cx="1060704" cy="438912"/>
          </a:xfrm>
          <a:prstGeom prst="roundRect">
            <a:avLst>
              <a:gd name="adj" fmla="val 10417"/>
            </a:avLst>
          </a:prstGeom>
          <a:solidFill>
            <a:srgbClr val="F4F1EA"/>
          </a:solidFill>
          <a:ln w="9525">
            <a:solidFill>
              <a:srgbClr val="F4F1EA"/>
            </a:solidFill>
            <a:prstDash val="solid"/>
          </a:ln>
        </p:spPr>
      </p:sp>
      <p:sp>
        <p:nvSpPr>
          <p:cNvPr id="109" name="Text 106"/>
          <p:cNvSpPr txBox="1"/>
          <p:nvPr/>
        </p:nvSpPr>
        <p:spPr>
          <a:xfrm>
            <a:off x="2953512"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110" name="Text 107"/>
          <p:cNvSpPr txBox="1"/>
          <p:nvPr/>
        </p:nvSpPr>
        <p:spPr>
          <a:xfrm>
            <a:off x="2944368"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مَوْثُوقٌ بِهِمْ</a:t>
            </a:r>
            <a:endParaRPr lang="ar-SA" sz="1500" dirty="0"/>
          </a:p>
        </p:txBody>
      </p:sp>
      <p:sp>
        <p:nvSpPr>
          <p:cNvPr id="111" name="Shape 108"/>
          <p:cNvSpPr/>
          <p:nvPr/>
        </p:nvSpPr>
        <p:spPr>
          <a:xfrm>
            <a:off x="1746504" y="5779008"/>
            <a:ext cx="1060704" cy="438912"/>
          </a:xfrm>
          <a:prstGeom prst="roundRect">
            <a:avLst>
              <a:gd name="adj" fmla="val 10417"/>
            </a:avLst>
          </a:prstGeom>
          <a:solidFill>
            <a:srgbClr val="F4F1EA"/>
          </a:solidFill>
          <a:ln w="9525">
            <a:solidFill>
              <a:srgbClr val="F4F1EA"/>
            </a:solidFill>
            <a:prstDash val="solid"/>
          </a:ln>
        </p:spPr>
      </p:sp>
      <p:sp>
        <p:nvSpPr>
          <p:cNvPr id="112" name="Text 109"/>
          <p:cNvSpPr txBox="1"/>
          <p:nvPr/>
        </p:nvSpPr>
        <p:spPr>
          <a:xfrm>
            <a:off x="1801368"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f.</a:t>
            </a:r>
            <a:endParaRPr lang="en-US" sz="750" dirty="0"/>
          </a:p>
        </p:txBody>
      </p:sp>
      <p:sp>
        <p:nvSpPr>
          <p:cNvPr id="113" name="Text 110"/>
          <p:cNvSpPr txBox="1"/>
          <p:nvPr/>
        </p:nvSpPr>
        <p:spPr>
          <a:xfrm>
            <a:off x="1792224"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مَوْثُوقَةٌ بِهَا</a:t>
            </a:r>
            <a:endParaRPr lang="ar-SA" sz="1500" dirty="0"/>
          </a:p>
        </p:txBody>
      </p:sp>
      <p:sp>
        <p:nvSpPr>
          <p:cNvPr id="114" name="Shape 111"/>
          <p:cNvSpPr/>
          <p:nvPr/>
        </p:nvSpPr>
        <p:spPr>
          <a:xfrm>
            <a:off x="594360" y="5779008"/>
            <a:ext cx="1060704" cy="438912"/>
          </a:xfrm>
          <a:prstGeom prst="roundRect">
            <a:avLst>
              <a:gd name="adj" fmla="val 10417"/>
            </a:avLst>
          </a:prstGeom>
          <a:solidFill>
            <a:srgbClr val="F4F1EA"/>
          </a:solidFill>
          <a:ln w="9525">
            <a:solidFill>
              <a:srgbClr val="F4F1EA"/>
            </a:solidFill>
            <a:prstDash val="solid"/>
          </a:ln>
        </p:spPr>
      </p:sp>
      <p:sp>
        <p:nvSpPr>
          <p:cNvPr id="115" name="Text 112"/>
          <p:cNvSpPr txBox="1"/>
          <p:nvPr/>
        </p:nvSpPr>
        <p:spPr>
          <a:xfrm>
            <a:off x="649224"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m.</a:t>
            </a:r>
            <a:endParaRPr lang="en-US" sz="750" dirty="0"/>
          </a:p>
        </p:txBody>
      </p:sp>
      <p:sp>
        <p:nvSpPr>
          <p:cNvPr id="116" name="Text 113"/>
          <p:cNvSpPr txBox="1"/>
          <p:nvPr/>
        </p:nvSpPr>
        <p:spPr>
          <a:xfrm>
            <a:off x="640080"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مَوْثُوقٌ بِهِ</a:t>
            </a:r>
            <a:endParaRPr lang="ar-SA" sz="1500" dirty="0"/>
          </a:p>
        </p:txBody>
      </p:sp>
      <p:sp>
        <p:nvSpPr>
          <p:cNvPr id="117" name="Text 11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10 / 47</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TD-L08 · Skills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2</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Worker qualities (2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D · The World of Work · TD-L08</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19</a:t>
            </a:r>
            <a:endParaRPr lang="en-US" sz="1000" dirty="0"/>
          </a:p>
        </p:txBody>
      </p:sp>
      <p:sp>
        <p:nvSpPr>
          <p:cNvPr id="18" name="Shape 15"/>
          <p:cNvSpPr/>
          <p:nvPr/>
        </p:nvSpPr>
        <p:spPr>
          <a:xfrm>
            <a:off x="8604504" y="1938528"/>
            <a:ext cx="896112"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 · f · pl</a:t>
            </a:r>
            <a:endParaRPr lang="en-US" sz="8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2" name="Text 19"/>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وَاثِقٌ / وَاثِقَةٌ</a:t>
            </a:r>
            <a:endParaRPr lang="ar-SA" sz="3000" dirty="0"/>
          </a:p>
        </p:txBody>
      </p:sp>
      <p:sp>
        <p:nvSpPr>
          <p:cNvPr id="23" name="Text 20"/>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confident</a:t>
            </a:r>
            <a:endParaRPr lang="en-US" sz="1350" dirty="0"/>
          </a:p>
          <a:p>
            <a:pPr indent="0" marL="0">
              <a:buNone/>
            </a:pPr>
            <a:r>
              <a:rPr lang="en-US" sz="1100" i="1" dirty="0">
                <a:solidFill>
                  <a:srgbClr val="5A6472"/>
                </a:solidFill>
                <a:latin typeface="Calibri" pitchFamily="34" charset="0"/>
                <a:cs typeface="Amiri" pitchFamily="2" charset="-78"/>
              </a:rPr>
              <a:t>wā-thi-qun / wā-thi-qa-tun</a:t>
            </a:r>
            <a:endParaRPr lang="en-US" sz="1350" dirty="0"/>
          </a:p>
        </p:txBody>
      </p:sp>
      <p:sp>
        <p:nvSpPr>
          <p:cNvPr id="24" name="Shape 21"/>
          <p:cNvSpPr/>
          <p:nvPr/>
        </p:nvSpPr>
        <p:spPr>
          <a:xfrm>
            <a:off x="10543032" y="3438144"/>
            <a:ext cx="1060704" cy="438912"/>
          </a:xfrm>
          <a:prstGeom prst="roundRect">
            <a:avLst>
              <a:gd name="adj" fmla="val 10417"/>
            </a:avLst>
          </a:prstGeom>
          <a:solidFill>
            <a:srgbClr val="F4F1EA"/>
          </a:solidFill>
          <a:ln w="9525">
            <a:solidFill>
              <a:srgbClr val="F4F1EA"/>
            </a:solidFill>
            <a:prstDash val="solid"/>
          </a:ln>
        </p:spPr>
      </p:sp>
      <p:sp>
        <p:nvSpPr>
          <p:cNvPr id="25" name="Text 22"/>
          <p:cNvSpPr txBox="1"/>
          <p:nvPr/>
        </p:nvSpPr>
        <p:spPr>
          <a:xfrm>
            <a:off x="10597896"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26" name="Text 23"/>
          <p:cNvSpPr txBox="1"/>
          <p:nvPr/>
        </p:nvSpPr>
        <p:spPr>
          <a:xfrm>
            <a:off x="10588752"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وَاثِقُونَ</a:t>
            </a:r>
            <a:endParaRPr lang="ar-SA" sz="1500" dirty="0"/>
          </a:p>
        </p:txBody>
      </p:sp>
      <p:sp>
        <p:nvSpPr>
          <p:cNvPr id="27" name="Shape 24"/>
          <p:cNvSpPr/>
          <p:nvPr/>
        </p:nvSpPr>
        <p:spPr>
          <a:xfrm>
            <a:off x="9390888" y="3438144"/>
            <a:ext cx="1060704" cy="438912"/>
          </a:xfrm>
          <a:prstGeom prst="roundRect">
            <a:avLst>
              <a:gd name="adj" fmla="val 10417"/>
            </a:avLst>
          </a:prstGeom>
          <a:solidFill>
            <a:srgbClr val="F4F1EA"/>
          </a:solidFill>
          <a:ln w="9525">
            <a:solidFill>
              <a:srgbClr val="F4F1EA"/>
            </a:solidFill>
            <a:prstDash val="solid"/>
          </a:ln>
        </p:spPr>
      </p:sp>
      <p:sp>
        <p:nvSpPr>
          <p:cNvPr id="28" name="Text 25"/>
          <p:cNvSpPr txBox="1"/>
          <p:nvPr/>
        </p:nvSpPr>
        <p:spPr>
          <a:xfrm>
            <a:off x="9445752"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f.</a:t>
            </a:r>
            <a:endParaRPr lang="en-US" sz="750" dirty="0"/>
          </a:p>
        </p:txBody>
      </p:sp>
      <p:sp>
        <p:nvSpPr>
          <p:cNvPr id="29" name="Text 26"/>
          <p:cNvSpPr txBox="1"/>
          <p:nvPr/>
        </p:nvSpPr>
        <p:spPr>
          <a:xfrm>
            <a:off x="9436608"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وَاثِقَةٌ</a:t>
            </a:r>
            <a:endParaRPr lang="ar-SA" sz="1500" dirty="0"/>
          </a:p>
        </p:txBody>
      </p:sp>
      <p:sp>
        <p:nvSpPr>
          <p:cNvPr id="30" name="Shape 27"/>
          <p:cNvSpPr/>
          <p:nvPr/>
        </p:nvSpPr>
        <p:spPr>
          <a:xfrm>
            <a:off x="8238744" y="3438144"/>
            <a:ext cx="1060704" cy="438912"/>
          </a:xfrm>
          <a:prstGeom prst="roundRect">
            <a:avLst>
              <a:gd name="adj" fmla="val 10417"/>
            </a:avLst>
          </a:prstGeom>
          <a:solidFill>
            <a:srgbClr val="F4F1EA"/>
          </a:solidFill>
          <a:ln w="9525">
            <a:solidFill>
              <a:srgbClr val="F4F1EA"/>
            </a:solidFill>
            <a:prstDash val="solid"/>
          </a:ln>
        </p:spPr>
      </p:sp>
      <p:sp>
        <p:nvSpPr>
          <p:cNvPr id="31" name="Text 28"/>
          <p:cNvSpPr txBox="1"/>
          <p:nvPr/>
        </p:nvSpPr>
        <p:spPr>
          <a:xfrm>
            <a:off x="8293608"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m.</a:t>
            </a:r>
            <a:endParaRPr lang="en-US" sz="750" dirty="0"/>
          </a:p>
        </p:txBody>
      </p:sp>
      <p:sp>
        <p:nvSpPr>
          <p:cNvPr id="32" name="Text 29"/>
          <p:cNvSpPr txBox="1"/>
          <p:nvPr/>
        </p:nvSpPr>
        <p:spPr>
          <a:xfrm>
            <a:off x="8284464"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وَاثِقٌ</a:t>
            </a:r>
            <a:endParaRPr lang="ar-SA" sz="1500" dirty="0"/>
          </a:p>
        </p:txBody>
      </p:sp>
      <p:sp>
        <p:nvSpPr>
          <p:cNvPr id="33" name="Shape 30"/>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4" name="Shape 31"/>
          <p:cNvSpPr/>
          <p:nvPr/>
        </p:nvSpPr>
        <p:spPr>
          <a:xfrm>
            <a:off x="4389120" y="1920240"/>
            <a:ext cx="310896" cy="310896"/>
          </a:xfrm>
          <a:prstGeom prst="ellipse">
            <a:avLst/>
          </a:prstGeom>
          <a:solidFill>
            <a:srgbClr val="F4F1EA"/>
          </a:solidFill>
          <a:ln w="12700">
            <a:solidFill>
              <a:srgbClr val="F4F1EA"/>
            </a:solidFill>
            <a:prstDash val="solid"/>
          </a:ln>
        </p:spPr>
      </p:sp>
      <p:sp>
        <p:nvSpPr>
          <p:cNvPr id="35" name="Text 32"/>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20</a:t>
            </a:r>
            <a:endParaRPr lang="en-US" sz="1000" dirty="0"/>
          </a:p>
        </p:txBody>
      </p:sp>
      <p:sp>
        <p:nvSpPr>
          <p:cNvPr id="36" name="Shape 33"/>
          <p:cNvSpPr/>
          <p:nvPr/>
        </p:nvSpPr>
        <p:spPr>
          <a:xfrm>
            <a:off x="4782312" y="1938528"/>
            <a:ext cx="896112" cy="256032"/>
          </a:xfrm>
          <a:prstGeom prst="roundRect">
            <a:avLst>
              <a:gd name="adj" fmla="val 50000"/>
            </a:avLst>
          </a:prstGeom>
          <a:solidFill>
            <a:srgbClr val="EFE7D2"/>
          </a:solidFill>
          <a:ln w="12700">
            <a:solidFill>
              <a:srgbClr val="EFE7D2"/>
            </a:solidFill>
            <a:prstDash val="solid"/>
          </a:ln>
        </p:spPr>
      </p:sp>
      <p:sp>
        <p:nvSpPr>
          <p:cNvPr id="37" name="Text 34"/>
          <p:cNvSpPr txBox="1"/>
          <p:nvPr/>
        </p:nvSpPr>
        <p:spPr>
          <a:xfrm>
            <a:off x="4782312" y="1938528"/>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 · f · pl</a:t>
            </a:r>
            <a:endParaRPr lang="en-US" sz="800" dirty="0"/>
          </a:p>
        </p:txBody>
      </p:sp>
      <p:sp>
        <p:nvSpPr>
          <p:cNvPr id="38" name="Shape 35"/>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39" name="Text 36"/>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0" name="Text 37"/>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مُتَعَاوِنٌ / مُتَعَاوِنَةٌ</a:t>
            </a:r>
            <a:endParaRPr lang="ar-SA" sz="3000" dirty="0"/>
          </a:p>
        </p:txBody>
      </p:sp>
      <p:sp>
        <p:nvSpPr>
          <p:cNvPr id="41" name="Text 38"/>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cooperative</a:t>
            </a:r>
            <a:endParaRPr lang="en-US" sz="1350" dirty="0"/>
          </a:p>
          <a:p>
            <a:pPr indent="0" marL="0">
              <a:buNone/>
            </a:pPr>
            <a:r>
              <a:rPr lang="en-US" sz="1100" i="1" dirty="0">
                <a:solidFill>
                  <a:srgbClr val="5A6472"/>
                </a:solidFill>
                <a:latin typeface="Calibri" pitchFamily="34" charset="0"/>
                <a:cs typeface="Amiri" pitchFamily="2" charset="-78"/>
              </a:rPr>
              <a:t>mu-ta-ʿā-wi-nun / mu-ta-ʿā-wi-na-tun</a:t>
            </a:r>
            <a:endParaRPr lang="en-US" sz="1350" dirty="0"/>
          </a:p>
        </p:txBody>
      </p:sp>
      <p:sp>
        <p:nvSpPr>
          <p:cNvPr id="42" name="Shape 39"/>
          <p:cNvSpPr/>
          <p:nvPr/>
        </p:nvSpPr>
        <p:spPr>
          <a:xfrm>
            <a:off x="6720840" y="3438144"/>
            <a:ext cx="1060704" cy="438912"/>
          </a:xfrm>
          <a:prstGeom prst="roundRect">
            <a:avLst>
              <a:gd name="adj" fmla="val 10417"/>
            </a:avLst>
          </a:prstGeom>
          <a:solidFill>
            <a:srgbClr val="F4F1EA"/>
          </a:solidFill>
          <a:ln w="9525">
            <a:solidFill>
              <a:srgbClr val="F4F1EA"/>
            </a:solidFill>
            <a:prstDash val="solid"/>
          </a:ln>
        </p:spPr>
      </p:sp>
      <p:sp>
        <p:nvSpPr>
          <p:cNvPr id="43" name="Text 40"/>
          <p:cNvSpPr txBox="1"/>
          <p:nvPr/>
        </p:nvSpPr>
        <p:spPr>
          <a:xfrm>
            <a:off x="6775704"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44" name="Text 41"/>
          <p:cNvSpPr txBox="1"/>
          <p:nvPr/>
        </p:nvSpPr>
        <p:spPr>
          <a:xfrm>
            <a:off x="6766560"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مُتَعَاوِنُونَ</a:t>
            </a:r>
            <a:endParaRPr lang="ar-SA" sz="1500" dirty="0"/>
          </a:p>
        </p:txBody>
      </p:sp>
      <p:sp>
        <p:nvSpPr>
          <p:cNvPr id="45" name="Shape 42"/>
          <p:cNvSpPr/>
          <p:nvPr/>
        </p:nvSpPr>
        <p:spPr>
          <a:xfrm>
            <a:off x="5568696" y="3438144"/>
            <a:ext cx="1060704" cy="438912"/>
          </a:xfrm>
          <a:prstGeom prst="roundRect">
            <a:avLst>
              <a:gd name="adj" fmla="val 10417"/>
            </a:avLst>
          </a:prstGeom>
          <a:solidFill>
            <a:srgbClr val="F4F1EA"/>
          </a:solidFill>
          <a:ln w="9525">
            <a:solidFill>
              <a:srgbClr val="F4F1EA"/>
            </a:solidFill>
            <a:prstDash val="solid"/>
          </a:ln>
        </p:spPr>
      </p:sp>
      <p:sp>
        <p:nvSpPr>
          <p:cNvPr id="46" name="Text 43"/>
          <p:cNvSpPr txBox="1"/>
          <p:nvPr/>
        </p:nvSpPr>
        <p:spPr>
          <a:xfrm>
            <a:off x="5623560"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f.</a:t>
            </a:r>
            <a:endParaRPr lang="en-US" sz="750" dirty="0"/>
          </a:p>
        </p:txBody>
      </p:sp>
      <p:sp>
        <p:nvSpPr>
          <p:cNvPr id="47" name="Text 44"/>
          <p:cNvSpPr txBox="1"/>
          <p:nvPr/>
        </p:nvSpPr>
        <p:spPr>
          <a:xfrm>
            <a:off x="5614416"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مُتَعَاوِنَةٌ</a:t>
            </a:r>
            <a:endParaRPr lang="ar-SA" sz="1500" dirty="0"/>
          </a:p>
        </p:txBody>
      </p:sp>
      <p:sp>
        <p:nvSpPr>
          <p:cNvPr id="48" name="Shape 45"/>
          <p:cNvSpPr/>
          <p:nvPr/>
        </p:nvSpPr>
        <p:spPr>
          <a:xfrm>
            <a:off x="4416552" y="3438144"/>
            <a:ext cx="1060704" cy="438912"/>
          </a:xfrm>
          <a:prstGeom prst="roundRect">
            <a:avLst>
              <a:gd name="adj" fmla="val 10417"/>
            </a:avLst>
          </a:prstGeom>
          <a:solidFill>
            <a:srgbClr val="F4F1EA"/>
          </a:solidFill>
          <a:ln w="9525">
            <a:solidFill>
              <a:srgbClr val="F4F1EA"/>
            </a:solidFill>
            <a:prstDash val="solid"/>
          </a:ln>
        </p:spPr>
      </p:sp>
      <p:sp>
        <p:nvSpPr>
          <p:cNvPr id="49" name="Text 46"/>
          <p:cNvSpPr txBox="1"/>
          <p:nvPr/>
        </p:nvSpPr>
        <p:spPr>
          <a:xfrm>
            <a:off x="4471416"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m.</a:t>
            </a:r>
            <a:endParaRPr lang="en-US" sz="750" dirty="0"/>
          </a:p>
        </p:txBody>
      </p:sp>
      <p:sp>
        <p:nvSpPr>
          <p:cNvPr id="50" name="Text 47"/>
          <p:cNvSpPr txBox="1"/>
          <p:nvPr/>
        </p:nvSpPr>
        <p:spPr>
          <a:xfrm>
            <a:off x="4462272"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مُتَعَاوِنٌ</a:t>
            </a:r>
            <a:endParaRPr lang="ar-SA" sz="1500" dirty="0"/>
          </a:p>
        </p:txBody>
      </p:sp>
      <p:sp>
        <p:nvSpPr>
          <p:cNvPr id="51" name="Shape 48"/>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2" name="Shape 49"/>
          <p:cNvSpPr/>
          <p:nvPr/>
        </p:nvSpPr>
        <p:spPr>
          <a:xfrm>
            <a:off x="566928" y="1920240"/>
            <a:ext cx="310896" cy="310896"/>
          </a:xfrm>
          <a:prstGeom prst="ellipse">
            <a:avLst/>
          </a:prstGeom>
          <a:solidFill>
            <a:srgbClr val="F4F1EA"/>
          </a:solidFill>
          <a:ln w="12700">
            <a:solidFill>
              <a:srgbClr val="F4F1EA"/>
            </a:solidFill>
            <a:prstDash val="solid"/>
          </a:ln>
        </p:spPr>
      </p:sp>
      <p:sp>
        <p:nvSpPr>
          <p:cNvPr id="53" name="Text 50"/>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21</a:t>
            </a:r>
            <a:endParaRPr lang="en-US" sz="1000" dirty="0"/>
          </a:p>
        </p:txBody>
      </p:sp>
      <p:sp>
        <p:nvSpPr>
          <p:cNvPr id="54" name="Shape 51"/>
          <p:cNvSpPr/>
          <p:nvPr/>
        </p:nvSpPr>
        <p:spPr>
          <a:xfrm>
            <a:off x="960120" y="1938528"/>
            <a:ext cx="896112" cy="256032"/>
          </a:xfrm>
          <a:prstGeom prst="roundRect">
            <a:avLst>
              <a:gd name="adj" fmla="val 50000"/>
            </a:avLst>
          </a:prstGeom>
          <a:solidFill>
            <a:srgbClr val="EFE7D2"/>
          </a:solidFill>
          <a:ln w="12700">
            <a:solidFill>
              <a:srgbClr val="EFE7D2"/>
            </a:solidFill>
            <a:prstDash val="solid"/>
          </a:ln>
        </p:spPr>
      </p:sp>
      <p:sp>
        <p:nvSpPr>
          <p:cNvPr id="55" name="Text 52"/>
          <p:cNvSpPr txBox="1"/>
          <p:nvPr/>
        </p:nvSpPr>
        <p:spPr>
          <a:xfrm>
            <a:off x="960120" y="1938528"/>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 · f · pl</a:t>
            </a:r>
            <a:endParaRPr lang="en-US" sz="800" dirty="0"/>
          </a:p>
        </p:txBody>
      </p:sp>
      <p:sp>
        <p:nvSpPr>
          <p:cNvPr id="56" name="Text 53"/>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مَرِنٌ / مَرِنَةٌ</a:t>
            </a:r>
            <a:endParaRPr lang="ar-SA" sz="3000" dirty="0"/>
          </a:p>
        </p:txBody>
      </p:sp>
      <p:sp>
        <p:nvSpPr>
          <p:cNvPr id="57" name="Text 54"/>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flexible</a:t>
            </a:r>
            <a:endParaRPr lang="en-US" sz="1350" dirty="0"/>
          </a:p>
          <a:p>
            <a:pPr indent="0" marL="0">
              <a:buNone/>
            </a:pPr>
            <a:r>
              <a:rPr lang="en-US" sz="1100" i="1" dirty="0">
                <a:solidFill>
                  <a:srgbClr val="5A6472"/>
                </a:solidFill>
                <a:latin typeface="Calibri" pitchFamily="34" charset="0"/>
                <a:cs typeface="Amiri" pitchFamily="2" charset="-78"/>
              </a:rPr>
              <a:t>ma-ri-nun / ma-ri-na-tun</a:t>
            </a:r>
            <a:endParaRPr lang="en-US" sz="1350" dirty="0"/>
          </a:p>
        </p:txBody>
      </p:sp>
      <p:sp>
        <p:nvSpPr>
          <p:cNvPr id="58" name="Shape 55"/>
          <p:cNvSpPr/>
          <p:nvPr/>
        </p:nvSpPr>
        <p:spPr>
          <a:xfrm>
            <a:off x="2898648" y="3438144"/>
            <a:ext cx="1060704" cy="438912"/>
          </a:xfrm>
          <a:prstGeom prst="roundRect">
            <a:avLst>
              <a:gd name="adj" fmla="val 10417"/>
            </a:avLst>
          </a:prstGeom>
          <a:solidFill>
            <a:srgbClr val="F4F1EA"/>
          </a:solidFill>
          <a:ln w="9525">
            <a:solidFill>
              <a:srgbClr val="F4F1EA"/>
            </a:solidFill>
            <a:prstDash val="solid"/>
          </a:ln>
        </p:spPr>
      </p:sp>
      <p:sp>
        <p:nvSpPr>
          <p:cNvPr id="59" name="Text 56"/>
          <p:cNvSpPr txBox="1"/>
          <p:nvPr/>
        </p:nvSpPr>
        <p:spPr>
          <a:xfrm>
            <a:off x="2953512"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60" name="Text 57"/>
          <p:cNvSpPr txBox="1"/>
          <p:nvPr/>
        </p:nvSpPr>
        <p:spPr>
          <a:xfrm>
            <a:off x="2944368"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مَرِنُونَ</a:t>
            </a:r>
            <a:endParaRPr lang="ar-SA" sz="1500" dirty="0"/>
          </a:p>
        </p:txBody>
      </p:sp>
      <p:sp>
        <p:nvSpPr>
          <p:cNvPr id="61" name="Shape 58"/>
          <p:cNvSpPr/>
          <p:nvPr/>
        </p:nvSpPr>
        <p:spPr>
          <a:xfrm>
            <a:off x="1746504" y="3438144"/>
            <a:ext cx="1060704" cy="438912"/>
          </a:xfrm>
          <a:prstGeom prst="roundRect">
            <a:avLst>
              <a:gd name="adj" fmla="val 10417"/>
            </a:avLst>
          </a:prstGeom>
          <a:solidFill>
            <a:srgbClr val="F4F1EA"/>
          </a:solidFill>
          <a:ln w="9525">
            <a:solidFill>
              <a:srgbClr val="F4F1EA"/>
            </a:solidFill>
            <a:prstDash val="solid"/>
          </a:ln>
        </p:spPr>
      </p:sp>
      <p:sp>
        <p:nvSpPr>
          <p:cNvPr id="62" name="Text 59"/>
          <p:cNvSpPr txBox="1"/>
          <p:nvPr/>
        </p:nvSpPr>
        <p:spPr>
          <a:xfrm>
            <a:off x="1801368"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f.</a:t>
            </a:r>
            <a:endParaRPr lang="en-US" sz="750" dirty="0"/>
          </a:p>
        </p:txBody>
      </p:sp>
      <p:sp>
        <p:nvSpPr>
          <p:cNvPr id="63" name="Text 60"/>
          <p:cNvSpPr txBox="1"/>
          <p:nvPr/>
        </p:nvSpPr>
        <p:spPr>
          <a:xfrm>
            <a:off x="1792224"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مَرِنَةٌ</a:t>
            </a:r>
            <a:endParaRPr lang="ar-SA" sz="1500" dirty="0"/>
          </a:p>
        </p:txBody>
      </p:sp>
      <p:sp>
        <p:nvSpPr>
          <p:cNvPr id="64" name="Shape 61"/>
          <p:cNvSpPr/>
          <p:nvPr/>
        </p:nvSpPr>
        <p:spPr>
          <a:xfrm>
            <a:off x="594360" y="3438144"/>
            <a:ext cx="1060704" cy="438912"/>
          </a:xfrm>
          <a:prstGeom prst="roundRect">
            <a:avLst>
              <a:gd name="adj" fmla="val 10417"/>
            </a:avLst>
          </a:prstGeom>
          <a:solidFill>
            <a:srgbClr val="F4F1EA"/>
          </a:solidFill>
          <a:ln w="9525">
            <a:solidFill>
              <a:srgbClr val="F4F1EA"/>
            </a:solidFill>
            <a:prstDash val="solid"/>
          </a:ln>
        </p:spPr>
      </p:sp>
      <p:sp>
        <p:nvSpPr>
          <p:cNvPr id="65" name="Text 62"/>
          <p:cNvSpPr txBox="1"/>
          <p:nvPr/>
        </p:nvSpPr>
        <p:spPr>
          <a:xfrm>
            <a:off x="649224"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m.</a:t>
            </a:r>
            <a:endParaRPr lang="en-US" sz="750" dirty="0"/>
          </a:p>
        </p:txBody>
      </p:sp>
      <p:sp>
        <p:nvSpPr>
          <p:cNvPr id="66" name="Text 63"/>
          <p:cNvSpPr txBox="1"/>
          <p:nvPr/>
        </p:nvSpPr>
        <p:spPr>
          <a:xfrm>
            <a:off x="640080"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مَرِنٌ</a:t>
            </a:r>
            <a:endParaRPr lang="ar-SA" sz="1500" dirty="0"/>
          </a:p>
        </p:txBody>
      </p:sp>
      <p:sp>
        <p:nvSpPr>
          <p:cNvPr id="67" name="Shape 64"/>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8211312" y="4261104"/>
            <a:ext cx="310896" cy="310896"/>
          </a:xfrm>
          <a:prstGeom prst="ellipse">
            <a:avLst/>
          </a:prstGeom>
          <a:solidFill>
            <a:srgbClr val="F4F1EA"/>
          </a:solidFill>
          <a:ln w="12700">
            <a:solidFill>
              <a:srgbClr val="F4F1EA"/>
            </a:solidFill>
            <a:prstDash val="solid"/>
          </a:ln>
        </p:spPr>
      </p:sp>
      <p:sp>
        <p:nvSpPr>
          <p:cNvPr id="69" name="Text 66"/>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22</a:t>
            </a:r>
            <a:endParaRPr lang="en-US" sz="1000" dirty="0"/>
          </a:p>
        </p:txBody>
      </p:sp>
      <p:sp>
        <p:nvSpPr>
          <p:cNvPr id="70" name="Shape 67"/>
          <p:cNvSpPr/>
          <p:nvPr/>
        </p:nvSpPr>
        <p:spPr>
          <a:xfrm>
            <a:off x="8604504" y="4279392"/>
            <a:ext cx="896112" cy="256032"/>
          </a:xfrm>
          <a:prstGeom prst="roundRect">
            <a:avLst>
              <a:gd name="adj" fmla="val 50000"/>
            </a:avLst>
          </a:prstGeom>
          <a:solidFill>
            <a:srgbClr val="EFE7D2"/>
          </a:solidFill>
          <a:ln w="12700">
            <a:solidFill>
              <a:srgbClr val="EFE7D2"/>
            </a:solidFill>
            <a:prstDash val="solid"/>
          </a:ln>
        </p:spPr>
      </p:sp>
      <p:sp>
        <p:nvSpPr>
          <p:cNvPr id="71" name="Text 68"/>
          <p:cNvSpPr txBox="1"/>
          <p:nvPr/>
        </p:nvSpPr>
        <p:spPr>
          <a:xfrm>
            <a:off x="8604504" y="4279392"/>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 · f · pl</a:t>
            </a:r>
            <a:endParaRPr lang="en-US" sz="800" dirty="0"/>
          </a:p>
        </p:txBody>
      </p:sp>
      <p:sp>
        <p:nvSpPr>
          <p:cNvPr id="72" name="Text 69"/>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هَادِئٌ / هَادِئَةٌ</a:t>
            </a:r>
            <a:endParaRPr lang="ar-SA" sz="3000" dirty="0"/>
          </a:p>
        </p:txBody>
      </p:sp>
      <p:sp>
        <p:nvSpPr>
          <p:cNvPr id="73" name="Text 70"/>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calm</a:t>
            </a:r>
            <a:endParaRPr lang="en-US" sz="1350" dirty="0"/>
          </a:p>
          <a:p>
            <a:pPr indent="0" marL="0">
              <a:buNone/>
            </a:pPr>
            <a:r>
              <a:rPr lang="en-US" sz="1100" i="1" dirty="0">
                <a:solidFill>
                  <a:srgbClr val="5A6472"/>
                </a:solidFill>
                <a:latin typeface="Calibri" pitchFamily="34" charset="0"/>
                <a:cs typeface="Amiri" pitchFamily="2" charset="-78"/>
              </a:rPr>
              <a:t>hā-di-ʾun / hā-di-ʾa-tun</a:t>
            </a:r>
            <a:endParaRPr lang="en-US" sz="1350" dirty="0"/>
          </a:p>
        </p:txBody>
      </p:sp>
      <p:sp>
        <p:nvSpPr>
          <p:cNvPr id="74" name="Shape 71"/>
          <p:cNvSpPr/>
          <p:nvPr/>
        </p:nvSpPr>
        <p:spPr>
          <a:xfrm>
            <a:off x="10543032" y="5779008"/>
            <a:ext cx="1060704" cy="438912"/>
          </a:xfrm>
          <a:prstGeom prst="roundRect">
            <a:avLst>
              <a:gd name="adj" fmla="val 10417"/>
            </a:avLst>
          </a:prstGeom>
          <a:solidFill>
            <a:srgbClr val="F4F1EA"/>
          </a:solidFill>
          <a:ln w="9525">
            <a:solidFill>
              <a:srgbClr val="F4F1EA"/>
            </a:solidFill>
            <a:prstDash val="solid"/>
          </a:ln>
        </p:spPr>
      </p:sp>
      <p:sp>
        <p:nvSpPr>
          <p:cNvPr id="75" name="Text 72"/>
          <p:cNvSpPr txBox="1"/>
          <p:nvPr/>
        </p:nvSpPr>
        <p:spPr>
          <a:xfrm>
            <a:off x="10597896"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76" name="Text 73"/>
          <p:cNvSpPr txBox="1"/>
          <p:nvPr/>
        </p:nvSpPr>
        <p:spPr>
          <a:xfrm>
            <a:off x="10588752"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هَادِئُونَ</a:t>
            </a:r>
            <a:endParaRPr lang="ar-SA" sz="1500" dirty="0"/>
          </a:p>
        </p:txBody>
      </p:sp>
      <p:sp>
        <p:nvSpPr>
          <p:cNvPr id="77" name="Shape 74"/>
          <p:cNvSpPr/>
          <p:nvPr/>
        </p:nvSpPr>
        <p:spPr>
          <a:xfrm>
            <a:off x="9390888" y="5779008"/>
            <a:ext cx="1060704" cy="438912"/>
          </a:xfrm>
          <a:prstGeom prst="roundRect">
            <a:avLst>
              <a:gd name="adj" fmla="val 10417"/>
            </a:avLst>
          </a:prstGeom>
          <a:solidFill>
            <a:srgbClr val="F4F1EA"/>
          </a:solidFill>
          <a:ln w="9525">
            <a:solidFill>
              <a:srgbClr val="F4F1EA"/>
            </a:solidFill>
            <a:prstDash val="solid"/>
          </a:ln>
        </p:spPr>
      </p:sp>
      <p:sp>
        <p:nvSpPr>
          <p:cNvPr id="78" name="Text 75"/>
          <p:cNvSpPr txBox="1"/>
          <p:nvPr/>
        </p:nvSpPr>
        <p:spPr>
          <a:xfrm>
            <a:off x="9445752"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f.</a:t>
            </a:r>
            <a:endParaRPr lang="en-US" sz="750" dirty="0"/>
          </a:p>
        </p:txBody>
      </p:sp>
      <p:sp>
        <p:nvSpPr>
          <p:cNvPr id="79" name="Text 76"/>
          <p:cNvSpPr txBox="1"/>
          <p:nvPr/>
        </p:nvSpPr>
        <p:spPr>
          <a:xfrm>
            <a:off x="9436608"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هَادِئَةٌ</a:t>
            </a:r>
            <a:endParaRPr lang="ar-SA" sz="1500" dirty="0"/>
          </a:p>
        </p:txBody>
      </p:sp>
      <p:sp>
        <p:nvSpPr>
          <p:cNvPr id="80" name="Shape 77"/>
          <p:cNvSpPr/>
          <p:nvPr/>
        </p:nvSpPr>
        <p:spPr>
          <a:xfrm>
            <a:off x="8238744" y="5779008"/>
            <a:ext cx="1060704" cy="438912"/>
          </a:xfrm>
          <a:prstGeom prst="roundRect">
            <a:avLst>
              <a:gd name="adj" fmla="val 10417"/>
            </a:avLst>
          </a:prstGeom>
          <a:solidFill>
            <a:srgbClr val="F4F1EA"/>
          </a:solidFill>
          <a:ln w="9525">
            <a:solidFill>
              <a:srgbClr val="F4F1EA"/>
            </a:solidFill>
            <a:prstDash val="solid"/>
          </a:ln>
        </p:spPr>
      </p:sp>
      <p:sp>
        <p:nvSpPr>
          <p:cNvPr id="81" name="Text 78"/>
          <p:cNvSpPr txBox="1"/>
          <p:nvPr/>
        </p:nvSpPr>
        <p:spPr>
          <a:xfrm>
            <a:off x="8293608"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m.</a:t>
            </a:r>
            <a:endParaRPr lang="en-US" sz="750" dirty="0"/>
          </a:p>
        </p:txBody>
      </p:sp>
      <p:sp>
        <p:nvSpPr>
          <p:cNvPr id="82" name="Text 79"/>
          <p:cNvSpPr txBox="1"/>
          <p:nvPr/>
        </p:nvSpPr>
        <p:spPr>
          <a:xfrm>
            <a:off x="8284464"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هَادِئٌ</a:t>
            </a:r>
            <a:endParaRPr lang="ar-SA" sz="1500" dirty="0"/>
          </a:p>
        </p:txBody>
      </p:sp>
      <p:sp>
        <p:nvSpPr>
          <p:cNvPr id="83" name="Shape 80"/>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4" name="Shape 81"/>
          <p:cNvSpPr/>
          <p:nvPr/>
        </p:nvSpPr>
        <p:spPr>
          <a:xfrm>
            <a:off x="4389120" y="4261104"/>
            <a:ext cx="310896" cy="310896"/>
          </a:xfrm>
          <a:prstGeom prst="ellipse">
            <a:avLst/>
          </a:prstGeom>
          <a:solidFill>
            <a:srgbClr val="F4F1EA"/>
          </a:solidFill>
          <a:ln w="12700">
            <a:solidFill>
              <a:srgbClr val="F4F1EA"/>
            </a:solidFill>
            <a:prstDash val="solid"/>
          </a:ln>
        </p:spPr>
      </p:sp>
      <p:sp>
        <p:nvSpPr>
          <p:cNvPr id="85" name="Text 82"/>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23</a:t>
            </a:r>
            <a:endParaRPr lang="en-US" sz="1000" dirty="0"/>
          </a:p>
        </p:txBody>
      </p:sp>
      <p:sp>
        <p:nvSpPr>
          <p:cNvPr id="86" name="Shape 83"/>
          <p:cNvSpPr/>
          <p:nvPr/>
        </p:nvSpPr>
        <p:spPr>
          <a:xfrm>
            <a:off x="4782312" y="4279392"/>
            <a:ext cx="896112" cy="256032"/>
          </a:xfrm>
          <a:prstGeom prst="roundRect">
            <a:avLst>
              <a:gd name="adj" fmla="val 50000"/>
            </a:avLst>
          </a:prstGeom>
          <a:solidFill>
            <a:srgbClr val="EFE7D2"/>
          </a:solidFill>
          <a:ln w="12700">
            <a:solidFill>
              <a:srgbClr val="EFE7D2"/>
            </a:solidFill>
            <a:prstDash val="solid"/>
          </a:ln>
        </p:spPr>
      </p:sp>
      <p:sp>
        <p:nvSpPr>
          <p:cNvPr id="87" name="Text 84"/>
          <p:cNvSpPr txBox="1"/>
          <p:nvPr/>
        </p:nvSpPr>
        <p:spPr>
          <a:xfrm>
            <a:off x="4782312" y="4279392"/>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 · f · pl</a:t>
            </a:r>
            <a:endParaRPr lang="en-US" sz="800" dirty="0"/>
          </a:p>
        </p:txBody>
      </p:sp>
      <p:sp>
        <p:nvSpPr>
          <p:cNvPr id="88" name="Text 85"/>
          <p:cNvSpPr txBox="1"/>
          <p:nvPr/>
        </p:nvSpPr>
        <p:spPr>
          <a:xfrm>
            <a:off x="4389120"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طَمُوحٌ / طَمُوحَةٌ</a:t>
            </a:r>
            <a:endParaRPr lang="ar-SA" sz="3000" dirty="0"/>
          </a:p>
        </p:txBody>
      </p:sp>
      <p:sp>
        <p:nvSpPr>
          <p:cNvPr id="89" name="Text 86"/>
          <p:cNvSpPr txBox="1"/>
          <p:nvPr/>
        </p:nvSpPr>
        <p:spPr>
          <a:xfrm>
            <a:off x="4416552"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ambitious</a:t>
            </a:r>
            <a:endParaRPr lang="en-US" sz="1350" dirty="0"/>
          </a:p>
          <a:p>
            <a:pPr indent="0" marL="0">
              <a:buNone/>
            </a:pPr>
            <a:r>
              <a:rPr lang="en-US" sz="1100" i="1" dirty="0">
                <a:solidFill>
                  <a:srgbClr val="5A6472"/>
                </a:solidFill>
                <a:latin typeface="Calibri" pitchFamily="34" charset="0"/>
                <a:cs typeface="Amiri" pitchFamily="2" charset="-78"/>
              </a:rPr>
              <a:t>ṭa-mū-ḥun / ṭa-mū-ḥa-tun</a:t>
            </a:r>
            <a:endParaRPr lang="en-US" sz="1350" dirty="0"/>
          </a:p>
        </p:txBody>
      </p:sp>
      <p:sp>
        <p:nvSpPr>
          <p:cNvPr id="90" name="Shape 87"/>
          <p:cNvSpPr/>
          <p:nvPr/>
        </p:nvSpPr>
        <p:spPr>
          <a:xfrm>
            <a:off x="6720840" y="5779008"/>
            <a:ext cx="1060704" cy="438912"/>
          </a:xfrm>
          <a:prstGeom prst="roundRect">
            <a:avLst>
              <a:gd name="adj" fmla="val 10417"/>
            </a:avLst>
          </a:prstGeom>
          <a:solidFill>
            <a:srgbClr val="F4F1EA"/>
          </a:solidFill>
          <a:ln w="9525">
            <a:solidFill>
              <a:srgbClr val="F4F1EA"/>
            </a:solidFill>
            <a:prstDash val="solid"/>
          </a:ln>
        </p:spPr>
      </p:sp>
      <p:sp>
        <p:nvSpPr>
          <p:cNvPr id="91" name="Text 88"/>
          <p:cNvSpPr txBox="1"/>
          <p:nvPr/>
        </p:nvSpPr>
        <p:spPr>
          <a:xfrm>
            <a:off x="6775704"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92" name="Text 89"/>
          <p:cNvSpPr txBox="1"/>
          <p:nvPr/>
        </p:nvSpPr>
        <p:spPr>
          <a:xfrm>
            <a:off x="6766560"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طَمُوحُونَ</a:t>
            </a:r>
            <a:endParaRPr lang="ar-SA" sz="1500" dirty="0"/>
          </a:p>
        </p:txBody>
      </p:sp>
      <p:sp>
        <p:nvSpPr>
          <p:cNvPr id="93" name="Shape 90"/>
          <p:cNvSpPr/>
          <p:nvPr/>
        </p:nvSpPr>
        <p:spPr>
          <a:xfrm>
            <a:off x="5568696" y="5779008"/>
            <a:ext cx="1060704" cy="438912"/>
          </a:xfrm>
          <a:prstGeom prst="roundRect">
            <a:avLst>
              <a:gd name="adj" fmla="val 10417"/>
            </a:avLst>
          </a:prstGeom>
          <a:solidFill>
            <a:srgbClr val="F4F1EA"/>
          </a:solidFill>
          <a:ln w="9525">
            <a:solidFill>
              <a:srgbClr val="F4F1EA"/>
            </a:solidFill>
            <a:prstDash val="solid"/>
          </a:ln>
        </p:spPr>
      </p:sp>
      <p:sp>
        <p:nvSpPr>
          <p:cNvPr id="94" name="Text 91"/>
          <p:cNvSpPr txBox="1"/>
          <p:nvPr/>
        </p:nvSpPr>
        <p:spPr>
          <a:xfrm>
            <a:off x="5623560"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f.</a:t>
            </a:r>
            <a:endParaRPr lang="en-US" sz="750" dirty="0"/>
          </a:p>
        </p:txBody>
      </p:sp>
      <p:sp>
        <p:nvSpPr>
          <p:cNvPr id="95" name="Text 92"/>
          <p:cNvSpPr txBox="1"/>
          <p:nvPr/>
        </p:nvSpPr>
        <p:spPr>
          <a:xfrm>
            <a:off x="5614416"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طَمُوحَةٌ</a:t>
            </a:r>
            <a:endParaRPr lang="ar-SA" sz="1500" dirty="0"/>
          </a:p>
        </p:txBody>
      </p:sp>
      <p:sp>
        <p:nvSpPr>
          <p:cNvPr id="96" name="Shape 93"/>
          <p:cNvSpPr/>
          <p:nvPr/>
        </p:nvSpPr>
        <p:spPr>
          <a:xfrm>
            <a:off x="4416552" y="5779008"/>
            <a:ext cx="1060704" cy="438912"/>
          </a:xfrm>
          <a:prstGeom prst="roundRect">
            <a:avLst>
              <a:gd name="adj" fmla="val 10417"/>
            </a:avLst>
          </a:prstGeom>
          <a:solidFill>
            <a:srgbClr val="F4F1EA"/>
          </a:solidFill>
          <a:ln w="9525">
            <a:solidFill>
              <a:srgbClr val="F4F1EA"/>
            </a:solidFill>
            <a:prstDash val="solid"/>
          </a:ln>
        </p:spPr>
      </p:sp>
      <p:sp>
        <p:nvSpPr>
          <p:cNvPr id="97" name="Text 94"/>
          <p:cNvSpPr txBox="1"/>
          <p:nvPr/>
        </p:nvSpPr>
        <p:spPr>
          <a:xfrm>
            <a:off x="4471416"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m.</a:t>
            </a:r>
            <a:endParaRPr lang="en-US" sz="750" dirty="0"/>
          </a:p>
        </p:txBody>
      </p:sp>
      <p:sp>
        <p:nvSpPr>
          <p:cNvPr id="98" name="Text 95"/>
          <p:cNvSpPr txBox="1"/>
          <p:nvPr/>
        </p:nvSpPr>
        <p:spPr>
          <a:xfrm>
            <a:off x="4462272"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طَمُوحٌ</a:t>
            </a:r>
            <a:endParaRPr lang="ar-SA" sz="1500" dirty="0"/>
          </a:p>
        </p:txBody>
      </p:sp>
      <p:sp>
        <p:nvSpPr>
          <p:cNvPr id="99" name="Shape 96"/>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00" name="Shape 97"/>
          <p:cNvSpPr/>
          <p:nvPr/>
        </p:nvSpPr>
        <p:spPr>
          <a:xfrm>
            <a:off x="566928" y="4261104"/>
            <a:ext cx="310896" cy="310896"/>
          </a:xfrm>
          <a:prstGeom prst="ellipse">
            <a:avLst/>
          </a:prstGeom>
          <a:solidFill>
            <a:srgbClr val="F4F1EA"/>
          </a:solidFill>
          <a:ln w="12700">
            <a:solidFill>
              <a:srgbClr val="F4F1EA"/>
            </a:solidFill>
            <a:prstDash val="solid"/>
          </a:ln>
        </p:spPr>
      </p:sp>
      <p:sp>
        <p:nvSpPr>
          <p:cNvPr id="101" name="Text 98"/>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24</a:t>
            </a:r>
            <a:endParaRPr lang="en-US" sz="1000" dirty="0"/>
          </a:p>
        </p:txBody>
      </p:sp>
      <p:sp>
        <p:nvSpPr>
          <p:cNvPr id="102" name="Shape 99"/>
          <p:cNvSpPr/>
          <p:nvPr/>
        </p:nvSpPr>
        <p:spPr>
          <a:xfrm>
            <a:off x="960120" y="4279392"/>
            <a:ext cx="896112" cy="256032"/>
          </a:xfrm>
          <a:prstGeom prst="roundRect">
            <a:avLst>
              <a:gd name="adj" fmla="val 50000"/>
            </a:avLst>
          </a:prstGeom>
          <a:solidFill>
            <a:srgbClr val="EFE7D2"/>
          </a:solidFill>
          <a:ln w="12700">
            <a:solidFill>
              <a:srgbClr val="EFE7D2"/>
            </a:solidFill>
            <a:prstDash val="solid"/>
          </a:ln>
        </p:spPr>
      </p:sp>
      <p:sp>
        <p:nvSpPr>
          <p:cNvPr id="103" name="Text 100"/>
          <p:cNvSpPr txBox="1"/>
          <p:nvPr/>
        </p:nvSpPr>
        <p:spPr>
          <a:xfrm>
            <a:off x="960120" y="4279392"/>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 · f · pl</a:t>
            </a:r>
            <a:endParaRPr lang="en-US" sz="800" dirty="0"/>
          </a:p>
        </p:txBody>
      </p:sp>
      <p:sp>
        <p:nvSpPr>
          <p:cNvPr id="104" name="Shape 101"/>
          <p:cNvSpPr/>
          <p:nvPr/>
        </p:nvSpPr>
        <p:spPr>
          <a:xfrm>
            <a:off x="3227832" y="4279392"/>
            <a:ext cx="731520" cy="256032"/>
          </a:xfrm>
          <a:prstGeom prst="roundRect">
            <a:avLst>
              <a:gd name="adj" fmla="val 50000"/>
            </a:avLst>
          </a:prstGeom>
          <a:solidFill>
            <a:srgbClr val="2E8B57"/>
          </a:solidFill>
          <a:ln w="12700">
            <a:solidFill>
              <a:srgbClr val="2E8B57"/>
            </a:solidFill>
            <a:prstDash val="solid"/>
          </a:ln>
        </p:spPr>
      </p:sp>
      <p:sp>
        <p:nvSpPr>
          <p:cNvPr id="105" name="Text 102"/>
          <p:cNvSpPr txBox="1"/>
          <p:nvPr/>
        </p:nvSpPr>
        <p:spPr>
          <a:xfrm>
            <a:off x="3227832"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106" name="Text 103"/>
          <p:cNvSpPr txBox="1"/>
          <p:nvPr/>
        </p:nvSpPr>
        <p:spPr>
          <a:xfrm>
            <a:off x="566928"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أَمِينٌ / أَمِينَةٌ</a:t>
            </a:r>
            <a:endParaRPr lang="ar-SA" sz="3000" dirty="0"/>
          </a:p>
        </p:txBody>
      </p:sp>
      <p:sp>
        <p:nvSpPr>
          <p:cNvPr id="107" name="Text 104"/>
          <p:cNvSpPr txBox="1"/>
          <p:nvPr/>
        </p:nvSpPr>
        <p:spPr>
          <a:xfrm>
            <a:off x="594360"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honest</a:t>
            </a:r>
            <a:endParaRPr lang="en-US" sz="1350" dirty="0"/>
          </a:p>
          <a:p>
            <a:pPr indent="0" marL="0">
              <a:buNone/>
            </a:pPr>
            <a:r>
              <a:rPr lang="en-US" sz="1100" i="1" dirty="0">
                <a:solidFill>
                  <a:srgbClr val="5A6472"/>
                </a:solidFill>
                <a:latin typeface="Calibri" pitchFamily="34" charset="0"/>
                <a:cs typeface="Amiri" pitchFamily="2" charset="-78"/>
              </a:rPr>
              <a:t>a-mī-nun / a-mī-na-tun</a:t>
            </a:r>
            <a:endParaRPr lang="en-US" sz="1350" dirty="0"/>
          </a:p>
        </p:txBody>
      </p:sp>
      <p:sp>
        <p:nvSpPr>
          <p:cNvPr id="108" name="Shape 105"/>
          <p:cNvSpPr/>
          <p:nvPr/>
        </p:nvSpPr>
        <p:spPr>
          <a:xfrm>
            <a:off x="2898648" y="5779008"/>
            <a:ext cx="1060704" cy="438912"/>
          </a:xfrm>
          <a:prstGeom prst="roundRect">
            <a:avLst>
              <a:gd name="adj" fmla="val 10417"/>
            </a:avLst>
          </a:prstGeom>
          <a:solidFill>
            <a:srgbClr val="F4F1EA"/>
          </a:solidFill>
          <a:ln w="9525">
            <a:solidFill>
              <a:srgbClr val="F4F1EA"/>
            </a:solidFill>
            <a:prstDash val="solid"/>
          </a:ln>
        </p:spPr>
      </p:sp>
      <p:sp>
        <p:nvSpPr>
          <p:cNvPr id="109" name="Text 106"/>
          <p:cNvSpPr txBox="1"/>
          <p:nvPr/>
        </p:nvSpPr>
        <p:spPr>
          <a:xfrm>
            <a:off x="2953512"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110" name="Text 107"/>
          <p:cNvSpPr txBox="1"/>
          <p:nvPr/>
        </p:nvSpPr>
        <p:spPr>
          <a:xfrm>
            <a:off x="2944368"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أُمَنَاءُ</a:t>
            </a:r>
            <a:endParaRPr lang="ar-SA" sz="1500" dirty="0"/>
          </a:p>
        </p:txBody>
      </p:sp>
      <p:sp>
        <p:nvSpPr>
          <p:cNvPr id="111" name="Shape 108"/>
          <p:cNvSpPr/>
          <p:nvPr/>
        </p:nvSpPr>
        <p:spPr>
          <a:xfrm>
            <a:off x="1746504" y="5779008"/>
            <a:ext cx="1060704" cy="438912"/>
          </a:xfrm>
          <a:prstGeom prst="roundRect">
            <a:avLst>
              <a:gd name="adj" fmla="val 10417"/>
            </a:avLst>
          </a:prstGeom>
          <a:solidFill>
            <a:srgbClr val="F4F1EA"/>
          </a:solidFill>
          <a:ln w="9525">
            <a:solidFill>
              <a:srgbClr val="F4F1EA"/>
            </a:solidFill>
            <a:prstDash val="solid"/>
          </a:ln>
        </p:spPr>
      </p:sp>
      <p:sp>
        <p:nvSpPr>
          <p:cNvPr id="112" name="Text 109"/>
          <p:cNvSpPr txBox="1"/>
          <p:nvPr/>
        </p:nvSpPr>
        <p:spPr>
          <a:xfrm>
            <a:off x="1801368"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f.</a:t>
            </a:r>
            <a:endParaRPr lang="en-US" sz="750" dirty="0"/>
          </a:p>
        </p:txBody>
      </p:sp>
      <p:sp>
        <p:nvSpPr>
          <p:cNvPr id="113" name="Text 110"/>
          <p:cNvSpPr txBox="1"/>
          <p:nvPr/>
        </p:nvSpPr>
        <p:spPr>
          <a:xfrm>
            <a:off x="1792224"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أَمِينَةٌ</a:t>
            </a:r>
            <a:endParaRPr lang="ar-SA" sz="1500" dirty="0"/>
          </a:p>
        </p:txBody>
      </p:sp>
      <p:sp>
        <p:nvSpPr>
          <p:cNvPr id="114" name="Shape 111"/>
          <p:cNvSpPr/>
          <p:nvPr/>
        </p:nvSpPr>
        <p:spPr>
          <a:xfrm>
            <a:off x="594360" y="5779008"/>
            <a:ext cx="1060704" cy="438912"/>
          </a:xfrm>
          <a:prstGeom prst="roundRect">
            <a:avLst>
              <a:gd name="adj" fmla="val 10417"/>
            </a:avLst>
          </a:prstGeom>
          <a:solidFill>
            <a:srgbClr val="F4F1EA"/>
          </a:solidFill>
          <a:ln w="9525">
            <a:solidFill>
              <a:srgbClr val="F4F1EA"/>
            </a:solidFill>
            <a:prstDash val="solid"/>
          </a:ln>
        </p:spPr>
      </p:sp>
      <p:sp>
        <p:nvSpPr>
          <p:cNvPr id="115" name="Text 112"/>
          <p:cNvSpPr txBox="1"/>
          <p:nvPr/>
        </p:nvSpPr>
        <p:spPr>
          <a:xfrm>
            <a:off x="649224"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m.</a:t>
            </a:r>
            <a:endParaRPr lang="en-US" sz="750" dirty="0"/>
          </a:p>
        </p:txBody>
      </p:sp>
      <p:sp>
        <p:nvSpPr>
          <p:cNvPr id="116" name="Text 113"/>
          <p:cNvSpPr txBox="1"/>
          <p:nvPr/>
        </p:nvSpPr>
        <p:spPr>
          <a:xfrm>
            <a:off x="640080"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أَمِينٌ</a:t>
            </a:r>
            <a:endParaRPr lang="ar-SA" sz="1500" dirty="0"/>
          </a:p>
        </p:txBody>
      </p:sp>
      <p:sp>
        <p:nvSpPr>
          <p:cNvPr id="117" name="Text 11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11 / 47</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TD-L08 · Skills</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3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Reason and evidence (1 of 2)</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D · The World of Work · TD-L08</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25</a:t>
            </a:r>
            <a:endParaRPr lang="en-US" sz="10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لِأَنَّ</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because</a:t>
            </a:r>
            <a:endParaRPr lang="en-US" sz="1350" dirty="0"/>
          </a:p>
          <a:p>
            <a:pPr indent="0" marL="0">
              <a:buNone/>
            </a:pPr>
            <a:r>
              <a:rPr lang="en-US" sz="1100" i="1" dirty="0">
                <a:solidFill>
                  <a:srgbClr val="5A6472"/>
                </a:solidFill>
                <a:latin typeface="Calibri" pitchFamily="34" charset="0"/>
                <a:cs typeface="Amiri" pitchFamily="2" charset="-78"/>
              </a:rPr>
              <a:t>li-ʾan-na</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26</a:t>
            </a:r>
            <a:endParaRPr lang="en-US" sz="1000" dirty="0"/>
          </a:p>
        </p:txBody>
      </p:sp>
      <p:sp>
        <p:nvSpPr>
          <p:cNvPr id="25" name="Text 22"/>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لِذٰلِكَ</a:t>
            </a:r>
            <a:endParaRPr lang="ar-SA" sz="3000" dirty="0"/>
          </a:p>
        </p:txBody>
      </p:sp>
      <p:sp>
        <p:nvSpPr>
          <p:cNvPr id="26" name="Text 23"/>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therefore</a:t>
            </a:r>
            <a:endParaRPr lang="en-US" sz="1350" dirty="0"/>
          </a:p>
          <a:p>
            <a:pPr indent="0" marL="0">
              <a:buNone/>
            </a:pPr>
            <a:r>
              <a:rPr lang="en-US" sz="1100" i="1" dirty="0">
                <a:solidFill>
                  <a:srgbClr val="5A6472"/>
                </a:solidFill>
                <a:latin typeface="Calibri" pitchFamily="34" charset="0"/>
                <a:cs typeface="Amiri" pitchFamily="2" charset="-78"/>
              </a:rPr>
              <a:t>li-dhā-li-ka</a:t>
            </a:r>
            <a:endParaRPr lang="en-US" sz="1350" dirty="0"/>
          </a:p>
        </p:txBody>
      </p:sp>
      <p:sp>
        <p:nvSpPr>
          <p:cNvPr id="27" name="Shape 24"/>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566928"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27</a:t>
            </a:r>
            <a:endParaRPr lang="en-US" sz="1000" dirty="0"/>
          </a:p>
        </p:txBody>
      </p:sp>
      <p:sp>
        <p:nvSpPr>
          <p:cNvPr id="30" name="Text 27"/>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وَلٰكِنَّ</a:t>
            </a:r>
            <a:endParaRPr lang="ar-SA" sz="3000" dirty="0"/>
          </a:p>
        </p:txBody>
      </p:sp>
      <p:sp>
        <p:nvSpPr>
          <p:cNvPr id="31" name="Text 28"/>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however</a:t>
            </a:r>
            <a:endParaRPr lang="en-US" sz="1350" dirty="0"/>
          </a:p>
          <a:p>
            <a:pPr indent="0" marL="0">
              <a:buNone/>
            </a:pPr>
            <a:r>
              <a:rPr lang="en-US" sz="1100" i="1" dirty="0">
                <a:solidFill>
                  <a:srgbClr val="5A6472"/>
                </a:solidFill>
                <a:latin typeface="Calibri" pitchFamily="34" charset="0"/>
                <a:cs typeface="Amiri" pitchFamily="2" charset="-78"/>
              </a:rPr>
              <a:t>wa-lā-kin-na</a:t>
            </a:r>
            <a:endParaRPr lang="en-US" sz="1350" dirty="0"/>
          </a:p>
        </p:txBody>
      </p:sp>
      <p:sp>
        <p:nvSpPr>
          <p:cNvPr id="32" name="Shape 29"/>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8211312" y="4261104"/>
            <a:ext cx="310896" cy="310896"/>
          </a:xfrm>
          <a:prstGeom prst="ellipse">
            <a:avLst/>
          </a:prstGeom>
          <a:solidFill>
            <a:srgbClr val="F4F1EA"/>
          </a:solidFill>
          <a:ln w="12700">
            <a:solidFill>
              <a:srgbClr val="F4F1EA"/>
            </a:solidFill>
            <a:prstDash val="solid"/>
          </a:ln>
        </p:spPr>
      </p:sp>
      <p:sp>
        <p:nvSpPr>
          <p:cNvPr id="34" name="Text 31"/>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28</a:t>
            </a:r>
            <a:endParaRPr lang="en-US" sz="1000" dirty="0"/>
          </a:p>
        </p:txBody>
      </p:sp>
      <p:sp>
        <p:nvSpPr>
          <p:cNvPr id="35" name="Text 32"/>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بَيْنَمَا</a:t>
            </a:r>
            <a:endParaRPr lang="ar-SA" sz="3000" dirty="0"/>
          </a:p>
        </p:txBody>
      </p:sp>
      <p:sp>
        <p:nvSpPr>
          <p:cNvPr id="36" name="Text 33"/>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whereas</a:t>
            </a:r>
            <a:endParaRPr lang="en-US" sz="1350" dirty="0"/>
          </a:p>
          <a:p>
            <a:pPr indent="0" marL="0">
              <a:buNone/>
            </a:pPr>
            <a:r>
              <a:rPr lang="en-US" sz="1100" i="1" dirty="0">
                <a:solidFill>
                  <a:srgbClr val="5A6472"/>
                </a:solidFill>
                <a:latin typeface="Calibri" pitchFamily="34" charset="0"/>
                <a:cs typeface="Amiri" pitchFamily="2" charset="-78"/>
              </a:rPr>
              <a:t>bay-na-mā</a:t>
            </a:r>
            <a:endParaRPr lang="en-US" sz="1350" dirty="0"/>
          </a:p>
        </p:txBody>
      </p:sp>
      <p:sp>
        <p:nvSpPr>
          <p:cNvPr id="37" name="Shape 34"/>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Shape 35"/>
          <p:cNvSpPr/>
          <p:nvPr/>
        </p:nvSpPr>
        <p:spPr>
          <a:xfrm>
            <a:off x="4389120" y="4261104"/>
            <a:ext cx="310896" cy="310896"/>
          </a:xfrm>
          <a:prstGeom prst="ellipse">
            <a:avLst/>
          </a:prstGeom>
          <a:solidFill>
            <a:srgbClr val="F4F1EA"/>
          </a:solidFill>
          <a:ln w="12700">
            <a:solidFill>
              <a:srgbClr val="F4F1EA"/>
            </a:solidFill>
            <a:prstDash val="solid"/>
          </a:ln>
        </p:spPr>
      </p:sp>
      <p:sp>
        <p:nvSpPr>
          <p:cNvPr id="39" name="Text 36"/>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29</a:t>
            </a:r>
            <a:endParaRPr lang="en-US" sz="1000" dirty="0"/>
          </a:p>
        </p:txBody>
      </p:sp>
      <p:sp>
        <p:nvSpPr>
          <p:cNvPr id="40" name="Text 37"/>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عَلَى الرَّغْمِ مِنْ أَنَّ</a:t>
            </a:r>
            <a:endParaRPr lang="ar-SA" sz="3000" dirty="0"/>
          </a:p>
        </p:txBody>
      </p:sp>
      <p:sp>
        <p:nvSpPr>
          <p:cNvPr id="41" name="Text 38"/>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although</a:t>
            </a:r>
            <a:endParaRPr lang="en-US" sz="1350" dirty="0"/>
          </a:p>
          <a:p>
            <a:pPr indent="0" marL="0">
              <a:buNone/>
            </a:pPr>
            <a:r>
              <a:rPr lang="en-US" sz="1100" i="1" dirty="0">
                <a:solidFill>
                  <a:srgbClr val="5A6472"/>
                </a:solidFill>
                <a:latin typeface="Calibri" pitchFamily="34" charset="0"/>
                <a:cs typeface="Amiri" pitchFamily="2" charset="-78"/>
              </a:rPr>
              <a:t>ʿa-lā ar-ragh-mi min an-na</a:t>
            </a:r>
            <a:endParaRPr lang="en-US" sz="1350" dirty="0"/>
          </a:p>
        </p:txBody>
      </p:sp>
      <p:sp>
        <p:nvSpPr>
          <p:cNvPr id="42" name="Shape 39"/>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3" name="Shape 40"/>
          <p:cNvSpPr/>
          <p:nvPr/>
        </p:nvSpPr>
        <p:spPr>
          <a:xfrm>
            <a:off x="566928" y="4261104"/>
            <a:ext cx="310896" cy="310896"/>
          </a:xfrm>
          <a:prstGeom prst="ellipse">
            <a:avLst/>
          </a:prstGeom>
          <a:solidFill>
            <a:srgbClr val="F4F1EA"/>
          </a:solidFill>
          <a:ln w="12700">
            <a:solidFill>
              <a:srgbClr val="F4F1EA"/>
            </a:solidFill>
            <a:prstDash val="solid"/>
          </a:ln>
        </p:spPr>
      </p:sp>
      <p:sp>
        <p:nvSpPr>
          <p:cNvPr id="44" name="Text 41"/>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30</a:t>
            </a:r>
            <a:endParaRPr lang="en-US" sz="1000" dirty="0"/>
          </a:p>
        </p:txBody>
      </p:sp>
      <p:sp>
        <p:nvSpPr>
          <p:cNvPr id="45" name="Text 42"/>
          <p:cNvSpPr txBox="1"/>
          <p:nvPr/>
        </p:nvSpPr>
        <p:spPr>
          <a:xfrm>
            <a:off x="566928"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إِضَافَةً إِلَى ذٰلِكَ</a:t>
            </a:r>
            <a:endParaRPr lang="ar-SA" sz="3000" dirty="0"/>
          </a:p>
        </p:txBody>
      </p:sp>
      <p:sp>
        <p:nvSpPr>
          <p:cNvPr id="46" name="Text 43"/>
          <p:cNvSpPr txBox="1"/>
          <p:nvPr/>
        </p:nvSpPr>
        <p:spPr>
          <a:xfrm>
            <a:off x="594360"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in addition</a:t>
            </a:r>
            <a:endParaRPr lang="en-US" sz="1350" dirty="0"/>
          </a:p>
          <a:p>
            <a:pPr indent="0" marL="0">
              <a:buNone/>
            </a:pPr>
            <a:r>
              <a:rPr lang="en-US" sz="1100" i="1" dirty="0">
                <a:solidFill>
                  <a:srgbClr val="5A6472"/>
                </a:solidFill>
                <a:latin typeface="Calibri" pitchFamily="34" charset="0"/>
                <a:cs typeface="Amiri" pitchFamily="2" charset="-78"/>
              </a:rPr>
              <a:t>i-ḍā-fa-tan i-lā dhā-li-ka</a:t>
            </a:r>
            <a:endParaRPr lang="en-US" sz="1350" dirty="0"/>
          </a:p>
        </p:txBody>
      </p:sp>
      <p:sp>
        <p:nvSpPr>
          <p:cNvPr id="47" name="Text 4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12 / 47</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TD-L08 · Skills</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3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Reason and evidence (2 of 2)</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D · The World of Work · TD-L08</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31</a:t>
            </a:r>
            <a:endParaRPr lang="en-US" sz="10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مِنْ جِهَةٍ</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on one hand</a:t>
            </a:r>
            <a:endParaRPr lang="en-US" sz="1350" dirty="0"/>
          </a:p>
          <a:p>
            <a:pPr indent="0" marL="0">
              <a:buNone/>
            </a:pPr>
            <a:r>
              <a:rPr lang="en-US" sz="1100" i="1" dirty="0">
                <a:solidFill>
                  <a:srgbClr val="5A6472"/>
                </a:solidFill>
                <a:latin typeface="Calibri" pitchFamily="34" charset="0"/>
                <a:cs typeface="Amiri" pitchFamily="2" charset="-78"/>
              </a:rPr>
              <a:t>min ji-ha-tin</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32</a:t>
            </a:r>
            <a:endParaRPr lang="en-US" sz="1000" dirty="0"/>
          </a:p>
        </p:txBody>
      </p:sp>
      <p:sp>
        <p:nvSpPr>
          <p:cNvPr id="25" name="Text 22"/>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مِنْ جِهَةٍ أُخْرَى</a:t>
            </a:r>
            <a:endParaRPr lang="ar-SA" sz="3000" dirty="0"/>
          </a:p>
        </p:txBody>
      </p:sp>
      <p:sp>
        <p:nvSpPr>
          <p:cNvPr id="26" name="Text 23"/>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on the other hand</a:t>
            </a:r>
            <a:endParaRPr lang="en-US" sz="1350" dirty="0"/>
          </a:p>
          <a:p>
            <a:pPr indent="0" marL="0">
              <a:buNone/>
            </a:pPr>
            <a:r>
              <a:rPr lang="en-US" sz="1100" i="1" dirty="0">
                <a:solidFill>
                  <a:srgbClr val="5A6472"/>
                </a:solidFill>
                <a:latin typeface="Calibri" pitchFamily="34" charset="0"/>
                <a:cs typeface="Amiri" pitchFamily="2" charset="-78"/>
              </a:rPr>
              <a:t>min ji-ha-tin ukh-rā</a:t>
            </a:r>
            <a:endParaRPr lang="en-US" sz="1350" dirty="0"/>
          </a:p>
        </p:txBody>
      </p:sp>
      <p:sp>
        <p:nvSpPr>
          <p:cNvPr id="27" name="Shape 24"/>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566928"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33</a:t>
            </a:r>
            <a:endParaRPr lang="en-US" sz="1000" dirty="0"/>
          </a:p>
        </p:txBody>
      </p:sp>
      <p:sp>
        <p:nvSpPr>
          <p:cNvPr id="30" name="Text 27"/>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فِي رَأْيِي</a:t>
            </a:r>
            <a:endParaRPr lang="ar-SA" sz="3000" dirty="0"/>
          </a:p>
        </p:txBody>
      </p:sp>
      <p:sp>
        <p:nvSpPr>
          <p:cNvPr id="31" name="Text 28"/>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in my opinion</a:t>
            </a:r>
            <a:endParaRPr lang="en-US" sz="1350" dirty="0"/>
          </a:p>
          <a:p>
            <a:pPr indent="0" marL="0">
              <a:buNone/>
            </a:pPr>
            <a:r>
              <a:rPr lang="en-US" sz="1100" i="1" dirty="0">
                <a:solidFill>
                  <a:srgbClr val="5A6472"/>
                </a:solidFill>
                <a:latin typeface="Calibri" pitchFamily="34" charset="0"/>
                <a:cs typeface="Amiri" pitchFamily="2" charset="-78"/>
              </a:rPr>
              <a:t>fī raʾ-yī</a:t>
            </a:r>
            <a:endParaRPr lang="en-US" sz="1350" dirty="0"/>
          </a:p>
        </p:txBody>
      </p:sp>
      <p:sp>
        <p:nvSpPr>
          <p:cNvPr id="32" name="Shape 29"/>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8211312" y="4261104"/>
            <a:ext cx="310896" cy="310896"/>
          </a:xfrm>
          <a:prstGeom prst="ellipse">
            <a:avLst/>
          </a:prstGeom>
          <a:solidFill>
            <a:srgbClr val="F4F1EA"/>
          </a:solidFill>
          <a:ln w="12700">
            <a:solidFill>
              <a:srgbClr val="F4F1EA"/>
            </a:solidFill>
            <a:prstDash val="solid"/>
          </a:ln>
        </p:spPr>
      </p:sp>
      <p:sp>
        <p:nvSpPr>
          <p:cNvPr id="34" name="Text 31"/>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34</a:t>
            </a:r>
            <a:endParaRPr lang="en-US" sz="1000" dirty="0"/>
          </a:p>
        </p:txBody>
      </p:sp>
      <p:sp>
        <p:nvSpPr>
          <p:cNvPr id="35" name="Text 32"/>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عَلَى سَبِيلِ المِثَالِ</a:t>
            </a:r>
            <a:endParaRPr lang="ar-SA" sz="3000" dirty="0"/>
          </a:p>
        </p:txBody>
      </p:sp>
      <p:sp>
        <p:nvSpPr>
          <p:cNvPr id="36" name="Text 33"/>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for example</a:t>
            </a:r>
            <a:endParaRPr lang="en-US" sz="1350" dirty="0"/>
          </a:p>
          <a:p>
            <a:pPr indent="0" marL="0">
              <a:buNone/>
            </a:pPr>
            <a:r>
              <a:rPr lang="en-US" sz="1100" i="1" dirty="0">
                <a:solidFill>
                  <a:srgbClr val="5A6472"/>
                </a:solidFill>
                <a:latin typeface="Calibri" pitchFamily="34" charset="0"/>
                <a:cs typeface="Amiri" pitchFamily="2" charset="-78"/>
              </a:rPr>
              <a:t>ʿa-lā sa-bī-li al-mi-thā-li</a:t>
            </a:r>
            <a:endParaRPr lang="en-US" sz="1350" dirty="0"/>
          </a:p>
        </p:txBody>
      </p:sp>
      <p:sp>
        <p:nvSpPr>
          <p:cNvPr id="37" name="Shape 34"/>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Shape 35"/>
          <p:cNvSpPr/>
          <p:nvPr/>
        </p:nvSpPr>
        <p:spPr>
          <a:xfrm>
            <a:off x="4389120" y="4261104"/>
            <a:ext cx="310896" cy="310896"/>
          </a:xfrm>
          <a:prstGeom prst="ellipse">
            <a:avLst/>
          </a:prstGeom>
          <a:solidFill>
            <a:srgbClr val="F4F1EA"/>
          </a:solidFill>
          <a:ln w="12700">
            <a:solidFill>
              <a:srgbClr val="F4F1EA"/>
            </a:solidFill>
            <a:prstDash val="solid"/>
          </a:ln>
        </p:spPr>
      </p:sp>
      <p:sp>
        <p:nvSpPr>
          <p:cNvPr id="39" name="Text 36"/>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35</a:t>
            </a:r>
            <a:endParaRPr lang="en-US" sz="1000" dirty="0"/>
          </a:p>
        </p:txBody>
      </p:sp>
      <p:sp>
        <p:nvSpPr>
          <p:cNvPr id="40" name="Text 37"/>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نَتِيجَةً لِذٰلِكَ</a:t>
            </a:r>
            <a:endParaRPr lang="ar-SA" sz="3000" dirty="0"/>
          </a:p>
        </p:txBody>
      </p:sp>
      <p:sp>
        <p:nvSpPr>
          <p:cNvPr id="41" name="Text 38"/>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as a result</a:t>
            </a:r>
            <a:endParaRPr lang="en-US" sz="1350" dirty="0"/>
          </a:p>
          <a:p>
            <a:pPr indent="0" marL="0">
              <a:buNone/>
            </a:pPr>
            <a:r>
              <a:rPr lang="en-US" sz="1100" i="1" dirty="0">
                <a:solidFill>
                  <a:srgbClr val="5A6472"/>
                </a:solidFill>
                <a:latin typeface="Calibri" pitchFamily="34" charset="0"/>
                <a:cs typeface="Amiri" pitchFamily="2" charset="-78"/>
              </a:rPr>
              <a:t>na-tī-ja-tan li-dhā-li-ka</a:t>
            </a:r>
            <a:endParaRPr lang="en-US" sz="1350" dirty="0"/>
          </a:p>
        </p:txBody>
      </p:sp>
      <p:sp>
        <p:nvSpPr>
          <p:cNvPr id="42" name="Shape 39"/>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3" name="Shape 40"/>
          <p:cNvSpPr/>
          <p:nvPr/>
        </p:nvSpPr>
        <p:spPr>
          <a:xfrm>
            <a:off x="566928" y="4261104"/>
            <a:ext cx="310896" cy="310896"/>
          </a:xfrm>
          <a:prstGeom prst="ellipse">
            <a:avLst/>
          </a:prstGeom>
          <a:solidFill>
            <a:srgbClr val="F4F1EA"/>
          </a:solidFill>
          <a:ln w="12700">
            <a:solidFill>
              <a:srgbClr val="F4F1EA"/>
            </a:solidFill>
            <a:prstDash val="solid"/>
          </a:ln>
        </p:spPr>
      </p:sp>
      <p:sp>
        <p:nvSpPr>
          <p:cNvPr id="44" name="Text 41"/>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36</a:t>
            </a:r>
            <a:endParaRPr lang="en-US" sz="1000" dirty="0"/>
          </a:p>
        </p:txBody>
      </p:sp>
      <p:sp>
        <p:nvSpPr>
          <p:cNvPr id="45" name="Text 42"/>
          <p:cNvSpPr txBox="1"/>
          <p:nvPr/>
        </p:nvSpPr>
        <p:spPr>
          <a:xfrm>
            <a:off x="566928"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بِهَدَفِ</a:t>
            </a:r>
            <a:endParaRPr lang="ar-SA" sz="3000" dirty="0"/>
          </a:p>
        </p:txBody>
      </p:sp>
      <p:sp>
        <p:nvSpPr>
          <p:cNvPr id="46" name="Text 43"/>
          <p:cNvSpPr txBox="1"/>
          <p:nvPr/>
        </p:nvSpPr>
        <p:spPr>
          <a:xfrm>
            <a:off x="594360"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with the aim of</a:t>
            </a:r>
            <a:endParaRPr lang="en-US" sz="1350" dirty="0"/>
          </a:p>
          <a:p>
            <a:pPr indent="0" marL="0">
              <a:buNone/>
            </a:pPr>
            <a:r>
              <a:rPr lang="en-US" sz="1100" i="1" dirty="0">
                <a:solidFill>
                  <a:srgbClr val="5A6472"/>
                </a:solidFill>
                <a:latin typeface="Calibri" pitchFamily="34" charset="0"/>
                <a:cs typeface="Amiri" pitchFamily="2" charset="-78"/>
              </a:rPr>
              <a:t>bi-ha-da-fi</a:t>
            </a:r>
            <a:endParaRPr lang="en-US" sz="1350" dirty="0"/>
          </a:p>
        </p:txBody>
      </p:sp>
      <p:sp>
        <p:nvSpPr>
          <p:cNvPr id="47" name="Text 4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13 / 47</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TD-L08 · Skills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B3B6F"/>
                </a:solidFill>
                <a:latin typeface="Calibri" pitchFamily="34" charset="0"/>
                <a:cs typeface="Amiri" pitchFamily="2" charset="-78"/>
              </a:rPr>
              <a:t>GRAMMAR FOCUS · PART 1 · NEEDS AND MUST BE (WEBSITE RULES 1–2)</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Needs a skill · must be a quality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يَحْتَاجُ إِلَى · يَجِبُ أَنْ يَكُونَ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D · The World of Work · TD-L08</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7598664" y="1810512"/>
            <a:ext cx="40599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He / a man</a:t>
            </a:r>
            <a:endParaRPr lang="en-US" sz="1100" dirty="0"/>
          </a:p>
        </p:txBody>
      </p:sp>
      <p:sp>
        <p:nvSpPr>
          <p:cNvPr id="17" name="Text 14"/>
          <p:cNvSpPr txBox="1"/>
          <p:nvPr/>
        </p:nvSpPr>
        <p:spPr>
          <a:xfrm>
            <a:off x="3392424" y="1810512"/>
            <a:ext cx="40599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She / a woman</a:t>
            </a:r>
            <a:endParaRPr lang="en-US" sz="1100" dirty="0"/>
          </a:p>
        </p:txBody>
      </p:sp>
      <p:sp>
        <p:nvSpPr>
          <p:cNvPr id="18" name="Text 15"/>
          <p:cNvSpPr txBox="1"/>
          <p:nvPr/>
        </p:nvSpPr>
        <p:spPr>
          <a:xfrm>
            <a:off x="530352" y="1810512"/>
            <a:ext cx="271576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Pattern</a:t>
            </a:r>
            <a:endParaRPr lang="en-US" sz="1100" dirty="0"/>
          </a:p>
        </p:txBody>
      </p:sp>
      <p:sp>
        <p:nvSpPr>
          <p:cNvPr id="19" name="Shape 16"/>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20" name="Text 17"/>
          <p:cNvSpPr txBox="1"/>
          <p:nvPr/>
        </p:nvSpPr>
        <p:spPr>
          <a:xfrm>
            <a:off x="7616952" y="2286000"/>
            <a:ext cx="4023360" cy="453542"/>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2" charset="-78"/>
                <a:ea typeface="Amiri" pitchFamily="2" charset="-78"/>
                <a:cs typeface="Amiri" pitchFamily="2" charset="-78"/>
              </a:rPr>
              <a:t>يَحْتَاجُ الطَّبِيبُ </a:t>
            </a:r>
            <a:pPr rtl="1" algn="ctr" indent="0" marL="0">
              <a:buNone/>
            </a:pPr>
            <a:r>
              <a:rPr lang="ar-SA" altLang="en-US" sz="2100" b="1" dirty="0">
                <a:solidFill>
                  <a:srgbClr val="0E7C86"/>
                </a:solidFill>
                <a:latin typeface="Amiri" pitchFamily="2" charset="-78"/>
                <a:ea typeface="Amiri" pitchFamily="2" charset="-78"/>
                <a:cs typeface="Amiri" pitchFamily="2" charset="-78"/>
              </a:rPr>
              <a:t>إِلَى</a:t>
            </a:r>
            <a:pPr rtl="1" algn="ctr" indent="0" marL="0">
              <a:buNone/>
            </a:pPr>
            <a:r>
              <a:rPr lang="ar-SA" altLang="en-US" sz="2100" b="1" dirty="0">
                <a:solidFill>
                  <a:srgbClr val="1B3B6F"/>
                </a:solidFill>
                <a:latin typeface="Amiri" pitchFamily="2" charset="-78"/>
                <a:ea typeface="Amiri" pitchFamily="2" charset="-78"/>
                <a:cs typeface="Amiri" pitchFamily="2" charset="-78"/>
              </a:rPr>
              <a:t> الصَّبْرِ.</a:t>
            </a:r>
            <a:endParaRPr lang="ar-SA" sz="2100" dirty="0"/>
          </a:p>
        </p:txBody>
      </p:sp>
      <p:sp>
        <p:nvSpPr>
          <p:cNvPr id="21" name="Text 18"/>
          <p:cNvSpPr txBox="1"/>
          <p:nvPr/>
        </p:nvSpPr>
        <p:spPr>
          <a:xfrm>
            <a:off x="7571232" y="2706624"/>
            <a:ext cx="4114800"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The doctor needs patience.</a:t>
            </a:r>
            <a:endParaRPr lang="en-US" sz="950" dirty="0"/>
          </a:p>
        </p:txBody>
      </p:sp>
      <p:sp>
        <p:nvSpPr>
          <p:cNvPr id="22" name="Text 19"/>
          <p:cNvSpPr txBox="1"/>
          <p:nvPr/>
        </p:nvSpPr>
        <p:spPr>
          <a:xfrm>
            <a:off x="3410712" y="2286000"/>
            <a:ext cx="4023360" cy="453542"/>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2" charset="-78"/>
                <a:ea typeface="Amiri" pitchFamily="2" charset="-78"/>
                <a:cs typeface="Amiri" pitchFamily="2" charset="-78"/>
              </a:rPr>
              <a:t>تَحْتَاجُ المُهَنْدِسَةُ </a:t>
            </a:r>
            <a:pPr rtl="1" algn="ctr" indent="0" marL="0">
              <a:buNone/>
            </a:pPr>
            <a:r>
              <a:rPr lang="ar-SA" altLang="en-US" sz="2100" b="1" dirty="0">
                <a:solidFill>
                  <a:srgbClr val="0E7C86"/>
                </a:solidFill>
                <a:latin typeface="Amiri" pitchFamily="2" charset="-78"/>
                <a:ea typeface="Amiri" pitchFamily="2" charset="-78"/>
                <a:cs typeface="Amiri" pitchFamily="2" charset="-78"/>
              </a:rPr>
              <a:t>إِلَى</a:t>
            </a:r>
            <a:pPr rtl="1" algn="ctr" indent="0" marL="0">
              <a:buNone/>
            </a:pPr>
            <a:r>
              <a:rPr lang="ar-SA" altLang="en-US" sz="2100" b="1" dirty="0">
                <a:solidFill>
                  <a:srgbClr val="1B3B6F"/>
                </a:solidFill>
                <a:latin typeface="Amiri" pitchFamily="2" charset="-78"/>
                <a:ea typeface="Amiri" pitchFamily="2" charset="-78"/>
                <a:cs typeface="Amiri" pitchFamily="2" charset="-78"/>
              </a:rPr>
              <a:t> الدِّقَّةِ.</a:t>
            </a:r>
            <a:endParaRPr lang="ar-SA" sz="2100" dirty="0"/>
          </a:p>
        </p:txBody>
      </p:sp>
      <p:sp>
        <p:nvSpPr>
          <p:cNvPr id="23" name="Text 20"/>
          <p:cNvSpPr txBox="1"/>
          <p:nvPr/>
        </p:nvSpPr>
        <p:spPr>
          <a:xfrm>
            <a:off x="3364992" y="2706624"/>
            <a:ext cx="4114800"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The engineer needs accuracy.</a:t>
            </a:r>
            <a:endParaRPr lang="en-US" sz="950" dirty="0"/>
          </a:p>
        </p:txBody>
      </p:sp>
      <p:sp>
        <p:nvSpPr>
          <p:cNvPr id="24" name="Text 21"/>
          <p:cNvSpPr txBox="1"/>
          <p:nvPr/>
        </p:nvSpPr>
        <p:spPr>
          <a:xfrm>
            <a:off x="566928" y="2267712"/>
            <a:ext cx="267919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needs + ilā + noun</a:t>
            </a:r>
            <a:endParaRPr lang="en-US" sz="1100" dirty="0"/>
          </a:p>
        </p:txBody>
      </p:sp>
      <p:sp>
        <p:nvSpPr>
          <p:cNvPr id="25" name="Shape 22"/>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7" name="Shape 24"/>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28" name="Text 25"/>
          <p:cNvSpPr txBox="1"/>
          <p:nvPr/>
        </p:nvSpPr>
        <p:spPr>
          <a:xfrm>
            <a:off x="7616952" y="3072384"/>
            <a:ext cx="4023360" cy="453542"/>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2" charset="-78"/>
                <a:ea typeface="Amiri" pitchFamily="2" charset="-78"/>
                <a:cs typeface="Amiri" pitchFamily="2" charset="-78"/>
              </a:rPr>
              <a:t>يَحْتَاجُ إِلَى </a:t>
            </a:r>
            <a:pPr rtl="1" algn="ctr" indent="0" marL="0">
              <a:buNone/>
            </a:pPr>
            <a:r>
              <a:rPr lang="ar-SA" altLang="en-US" sz="2100" b="1" dirty="0">
                <a:solidFill>
                  <a:srgbClr val="0E7C86"/>
                </a:solidFill>
                <a:latin typeface="Amiri" pitchFamily="2" charset="-78"/>
                <a:ea typeface="Amiri" pitchFamily="2" charset="-78"/>
                <a:cs typeface="Amiri" pitchFamily="2" charset="-78"/>
              </a:rPr>
              <a:t>مَهَارَاتِ الحَاسُوبِ</a:t>
            </a:r>
            <a:pPr rtl="1" algn="ctr" indent="0" marL="0">
              <a:buNone/>
            </a:pPr>
            <a:r>
              <a:rPr lang="ar-SA" altLang="en-US" sz="2100" b="1" dirty="0">
                <a:solidFill>
                  <a:srgbClr val="1B3B6F"/>
                </a:solidFill>
                <a:latin typeface="Amiri" pitchFamily="2" charset="-78"/>
                <a:cs typeface="Amiri" pitchFamily="2" charset="-78"/>
              </a:rPr>
              <a:t>.</a:t>
            </a:r>
            <a:endParaRPr lang="ar-SA" sz="2100" dirty="0"/>
          </a:p>
        </p:txBody>
      </p:sp>
      <p:sp>
        <p:nvSpPr>
          <p:cNvPr id="29" name="Text 26"/>
          <p:cNvSpPr txBox="1"/>
          <p:nvPr/>
        </p:nvSpPr>
        <p:spPr>
          <a:xfrm>
            <a:off x="7571232" y="3493008"/>
            <a:ext cx="4114800"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needs computer skills</a:t>
            </a:r>
            <a:endParaRPr lang="en-US" sz="950" dirty="0"/>
          </a:p>
        </p:txBody>
      </p:sp>
      <p:sp>
        <p:nvSpPr>
          <p:cNvPr id="30" name="Text 27"/>
          <p:cNvSpPr txBox="1"/>
          <p:nvPr/>
        </p:nvSpPr>
        <p:spPr>
          <a:xfrm>
            <a:off x="3410712" y="3072384"/>
            <a:ext cx="4023360" cy="453542"/>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2" charset="-78"/>
                <a:ea typeface="Amiri" pitchFamily="2" charset="-78"/>
                <a:cs typeface="Amiri" pitchFamily="2" charset="-78"/>
              </a:rPr>
              <a:t>تَحْتَاجُ إِلَى </a:t>
            </a:r>
            <a:pPr rtl="1" algn="ctr" indent="0" marL="0">
              <a:buNone/>
            </a:pPr>
            <a:r>
              <a:rPr lang="ar-SA" altLang="en-US" sz="2100" b="1" dirty="0">
                <a:solidFill>
                  <a:srgbClr val="0E7C86"/>
                </a:solidFill>
                <a:latin typeface="Amiri" pitchFamily="2" charset="-78"/>
                <a:ea typeface="Amiri" pitchFamily="2" charset="-78"/>
                <a:cs typeface="Amiri" pitchFamily="2" charset="-78"/>
              </a:rPr>
              <a:t>العَمَلِ الجَمَاعِيِّ</a:t>
            </a:r>
            <a:pPr rtl="1" algn="ctr" indent="0" marL="0">
              <a:buNone/>
            </a:pPr>
            <a:r>
              <a:rPr lang="ar-SA" altLang="en-US" sz="2100" b="1" dirty="0">
                <a:solidFill>
                  <a:srgbClr val="1B3B6F"/>
                </a:solidFill>
                <a:latin typeface="Amiri" pitchFamily="2" charset="-78"/>
                <a:cs typeface="Amiri" pitchFamily="2" charset="-78"/>
              </a:rPr>
              <a:t>.</a:t>
            </a:r>
            <a:endParaRPr lang="ar-SA" sz="2100" dirty="0"/>
          </a:p>
        </p:txBody>
      </p:sp>
      <p:sp>
        <p:nvSpPr>
          <p:cNvPr id="31" name="Text 28"/>
          <p:cNvSpPr txBox="1"/>
          <p:nvPr/>
        </p:nvSpPr>
        <p:spPr>
          <a:xfrm>
            <a:off x="3364992" y="3493008"/>
            <a:ext cx="4114800"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needs teamwork</a:t>
            </a:r>
            <a:endParaRPr lang="en-US" sz="950" dirty="0"/>
          </a:p>
        </p:txBody>
      </p:sp>
      <p:sp>
        <p:nvSpPr>
          <p:cNvPr id="32" name="Text 29"/>
          <p:cNvSpPr txBox="1"/>
          <p:nvPr/>
        </p:nvSpPr>
        <p:spPr>
          <a:xfrm>
            <a:off x="566928" y="3054096"/>
            <a:ext cx="267919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skill noun</a:t>
            </a:r>
            <a:endParaRPr lang="en-US" sz="1100" dirty="0"/>
          </a:p>
        </p:txBody>
      </p:sp>
      <p:sp>
        <p:nvSpPr>
          <p:cNvPr id="33" name="Shape 30"/>
          <p:cNvSpPr/>
          <p:nvPr/>
        </p:nvSpPr>
        <p:spPr>
          <a:xfrm>
            <a:off x="11091672" y="3099816"/>
            <a:ext cx="548640" cy="182880"/>
          </a:xfrm>
          <a:prstGeom prst="roundRect">
            <a:avLst>
              <a:gd name="adj" fmla="val 50000"/>
            </a:avLst>
          </a:prstGeom>
          <a:solidFill>
            <a:srgbClr val="2E8B57"/>
          </a:solidFill>
          <a:ln w="12700">
            <a:solidFill>
              <a:srgbClr val="2E8B57"/>
            </a:solidFill>
            <a:prstDash val="solid"/>
          </a:ln>
        </p:spPr>
      </p:sp>
      <p:sp>
        <p:nvSpPr>
          <p:cNvPr id="34" name="Text 31"/>
          <p:cNvSpPr txBox="1"/>
          <p:nvPr/>
        </p:nvSpPr>
        <p:spPr>
          <a:xfrm>
            <a:off x="11091672" y="309981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5" name="Shape 32"/>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36" name="Text 33"/>
          <p:cNvSpPr txBox="1"/>
          <p:nvPr/>
        </p:nvSpPr>
        <p:spPr>
          <a:xfrm>
            <a:off x="7616952" y="3858768"/>
            <a:ext cx="4023360" cy="453542"/>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2" charset="-78"/>
                <a:ea typeface="Amiri" pitchFamily="2" charset="-78"/>
                <a:cs typeface="Amiri" pitchFamily="2" charset="-78"/>
              </a:rPr>
              <a:t>يَجِبُ أَنْ </a:t>
            </a:r>
            <a:pPr rtl="1" algn="ctr" indent="0" marL="0">
              <a:buNone/>
            </a:pPr>
            <a:r>
              <a:rPr lang="ar-SA" altLang="en-US" sz="2100" b="1" dirty="0">
                <a:solidFill>
                  <a:srgbClr val="1D5FBF"/>
                </a:solidFill>
                <a:latin typeface="Amiri" pitchFamily="2" charset="-78"/>
                <a:ea typeface="Amiri" pitchFamily="2" charset="-78"/>
                <a:cs typeface="Amiri" pitchFamily="2" charset="-78"/>
              </a:rPr>
              <a:t>يَكُونَ</a:t>
            </a:r>
            <a:pPr rtl="1" algn="ctr" indent="0" marL="0">
              <a:buNone/>
            </a:pPr>
            <a:r>
              <a:rPr lang="ar-SA" altLang="en-US" sz="2100" b="1" dirty="0">
                <a:solidFill>
                  <a:srgbClr val="1B3B6F"/>
                </a:solidFill>
                <a:latin typeface="Amiri" pitchFamily="2" charset="-78"/>
                <a:ea typeface="Amiri" pitchFamily="2" charset="-78"/>
                <a:cs typeface="Amiri" pitchFamily="2" charset="-78"/>
              </a:rPr>
              <a:t> المُدَرِّسُ </a:t>
            </a:r>
            <a:pPr rtl="1" algn="ctr" indent="0" marL="0">
              <a:buNone/>
            </a:pPr>
            <a:r>
              <a:rPr lang="ar-SA" altLang="en-US" sz="2100" b="1" dirty="0">
                <a:solidFill>
                  <a:srgbClr val="1D5FBF"/>
                </a:solidFill>
                <a:latin typeface="Amiri" pitchFamily="2" charset="-78"/>
                <a:ea typeface="Amiri" pitchFamily="2" charset="-78"/>
                <a:cs typeface="Amiri" pitchFamily="2" charset="-78"/>
              </a:rPr>
              <a:t>صَبُورًا</a:t>
            </a:r>
            <a:pPr rtl="1" algn="ctr" indent="0" marL="0">
              <a:buNone/>
            </a:pPr>
            <a:r>
              <a:rPr lang="ar-SA" altLang="en-US" sz="2100" b="1" dirty="0">
                <a:solidFill>
                  <a:srgbClr val="1B3B6F"/>
                </a:solidFill>
                <a:latin typeface="Amiri" pitchFamily="2" charset="-78"/>
                <a:cs typeface="Amiri" pitchFamily="2" charset="-78"/>
              </a:rPr>
              <a:t>.</a:t>
            </a:r>
            <a:endParaRPr lang="ar-SA" sz="2100" dirty="0"/>
          </a:p>
        </p:txBody>
      </p:sp>
      <p:sp>
        <p:nvSpPr>
          <p:cNvPr id="37" name="Text 34"/>
          <p:cNvSpPr txBox="1"/>
          <p:nvPr/>
        </p:nvSpPr>
        <p:spPr>
          <a:xfrm>
            <a:off x="7571232" y="4279392"/>
            <a:ext cx="4114800"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The teacher must be patient.</a:t>
            </a:r>
            <a:endParaRPr lang="en-US" sz="950" dirty="0"/>
          </a:p>
        </p:txBody>
      </p:sp>
      <p:sp>
        <p:nvSpPr>
          <p:cNvPr id="38" name="Text 35"/>
          <p:cNvSpPr txBox="1"/>
          <p:nvPr/>
        </p:nvSpPr>
        <p:spPr>
          <a:xfrm>
            <a:off x="3410712" y="3858768"/>
            <a:ext cx="4023360" cy="453542"/>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2" charset="-78"/>
                <a:ea typeface="Amiri" pitchFamily="2" charset="-78"/>
                <a:cs typeface="Amiri" pitchFamily="2" charset="-78"/>
              </a:rPr>
              <a:t>يَجِبُ أَنْ </a:t>
            </a:r>
            <a:pPr rtl="1" algn="ctr" indent="0" marL="0">
              <a:buNone/>
            </a:pPr>
            <a:r>
              <a:rPr lang="ar-SA" altLang="en-US" sz="2100" b="1" dirty="0">
                <a:solidFill>
                  <a:srgbClr val="D6336C"/>
                </a:solidFill>
                <a:latin typeface="Amiri" pitchFamily="2" charset="-78"/>
                <a:ea typeface="Amiri" pitchFamily="2" charset="-78"/>
                <a:cs typeface="Amiri" pitchFamily="2" charset="-78"/>
              </a:rPr>
              <a:t>تَكُونَ</a:t>
            </a:r>
            <a:pPr rtl="1" algn="ctr" indent="0" marL="0">
              <a:buNone/>
            </a:pPr>
            <a:r>
              <a:rPr lang="ar-SA" altLang="en-US" sz="2100" b="1" dirty="0">
                <a:solidFill>
                  <a:srgbClr val="1B3B6F"/>
                </a:solidFill>
                <a:latin typeface="Amiri" pitchFamily="2" charset="-78"/>
                <a:ea typeface="Amiri" pitchFamily="2" charset="-78"/>
                <a:cs typeface="Amiri" pitchFamily="2" charset="-78"/>
              </a:rPr>
              <a:t> المُمَرِّضَةُ </a:t>
            </a:r>
            <a:pPr rtl="1" algn="ctr" indent="0" marL="0">
              <a:buNone/>
            </a:pPr>
            <a:r>
              <a:rPr lang="ar-SA" altLang="en-US" sz="2100" b="1" dirty="0">
                <a:solidFill>
                  <a:srgbClr val="D6336C"/>
                </a:solidFill>
                <a:latin typeface="Amiri" pitchFamily="2" charset="-78"/>
                <a:ea typeface="Amiri" pitchFamily="2" charset="-78"/>
                <a:cs typeface="Amiri" pitchFamily="2" charset="-78"/>
              </a:rPr>
              <a:t>هَادِئَةً</a:t>
            </a:r>
            <a:pPr rtl="1" algn="ctr" indent="0" marL="0">
              <a:buNone/>
            </a:pPr>
            <a:r>
              <a:rPr lang="ar-SA" altLang="en-US" sz="2100" b="1" dirty="0">
                <a:solidFill>
                  <a:srgbClr val="1B3B6F"/>
                </a:solidFill>
                <a:latin typeface="Amiri" pitchFamily="2" charset="-78"/>
                <a:cs typeface="Amiri" pitchFamily="2" charset="-78"/>
              </a:rPr>
              <a:t>.</a:t>
            </a:r>
            <a:endParaRPr lang="ar-SA" sz="2100" dirty="0"/>
          </a:p>
        </p:txBody>
      </p:sp>
      <p:sp>
        <p:nvSpPr>
          <p:cNvPr id="39" name="Text 36"/>
          <p:cNvSpPr txBox="1"/>
          <p:nvPr/>
        </p:nvSpPr>
        <p:spPr>
          <a:xfrm>
            <a:off x="3364992" y="4279392"/>
            <a:ext cx="4114800"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The nurse must be calm.</a:t>
            </a:r>
            <a:endParaRPr lang="en-US" sz="950" dirty="0"/>
          </a:p>
        </p:txBody>
      </p:sp>
      <p:sp>
        <p:nvSpPr>
          <p:cNvPr id="40" name="Text 37"/>
          <p:cNvSpPr txBox="1"/>
          <p:nvPr/>
        </p:nvSpPr>
        <p:spPr>
          <a:xfrm>
            <a:off x="566928" y="3840480"/>
            <a:ext cx="267919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yakūna / takūna + -an</a:t>
            </a:r>
            <a:endParaRPr lang="en-US" sz="1100" dirty="0"/>
          </a:p>
        </p:txBody>
      </p:sp>
      <p:sp>
        <p:nvSpPr>
          <p:cNvPr id="41" name="Shape 38"/>
          <p:cNvSpPr/>
          <p:nvPr/>
        </p:nvSpPr>
        <p:spPr>
          <a:xfrm>
            <a:off x="457200" y="4626864"/>
            <a:ext cx="11274552" cy="731520"/>
          </a:xfrm>
          <a:prstGeom prst="roundRect">
            <a:avLst>
              <a:gd name="adj" fmla="val 6250"/>
            </a:avLst>
          </a:prstGeom>
          <a:solidFill>
            <a:srgbClr val="F4F1EA"/>
          </a:solidFill>
          <a:ln w="9525">
            <a:solidFill>
              <a:srgbClr val="D8D0BF"/>
            </a:solidFill>
            <a:prstDash val="solid"/>
          </a:ln>
        </p:spPr>
      </p:sp>
      <p:sp>
        <p:nvSpPr>
          <p:cNvPr id="42" name="Text 39"/>
          <p:cNvSpPr txBox="1"/>
          <p:nvPr/>
        </p:nvSpPr>
        <p:spPr>
          <a:xfrm>
            <a:off x="7616952" y="4645152"/>
            <a:ext cx="4023360" cy="453542"/>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2" charset="-78"/>
                <a:ea typeface="Amiri" pitchFamily="2" charset="-78"/>
                <a:cs typeface="Amiri" pitchFamily="2" charset="-78"/>
              </a:rPr>
              <a:t>يَجِبُ أَنْ يَكُونَ </a:t>
            </a:r>
            <a:pPr rtl="1" algn="ctr" indent="0" marL="0">
              <a:buNone/>
            </a:pPr>
            <a:r>
              <a:rPr lang="ar-SA" altLang="en-US" sz="2100" b="1" dirty="0">
                <a:solidFill>
                  <a:srgbClr val="1D5FBF"/>
                </a:solidFill>
                <a:latin typeface="Amiri" pitchFamily="2" charset="-78"/>
                <a:ea typeface="Amiri" pitchFamily="2" charset="-78"/>
                <a:cs typeface="Amiri" pitchFamily="2" charset="-78"/>
              </a:rPr>
              <a:t>مَسْؤُولًا</a:t>
            </a:r>
            <a:pPr rtl="1" algn="ctr" indent="0" marL="0">
              <a:buNone/>
            </a:pPr>
            <a:r>
              <a:rPr lang="ar-SA" altLang="en-US" sz="2100" b="1" dirty="0">
                <a:solidFill>
                  <a:srgbClr val="1B3B6F"/>
                </a:solidFill>
                <a:latin typeface="Amiri" pitchFamily="2" charset="-78"/>
                <a:cs typeface="Amiri" pitchFamily="2" charset="-78"/>
              </a:rPr>
              <a:t>.</a:t>
            </a:r>
            <a:endParaRPr lang="ar-SA" sz="2100" dirty="0"/>
          </a:p>
        </p:txBody>
      </p:sp>
      <p:sp>
        <p:nvSpPr>
          <p:cNvPr id="43" name="Text 40"/>
          <p:cNvSpPr txBox="1"/>
          <p:nvPr/>
        </p:nvSpPr>
        <p:spPr>
          <a:xfrm>
            <a:off x="7571232" y="5065776"/>
            <a:ext cx="4114800"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He must be responsible.</a:t>
            </a:r>
            <a:endParaRPr lang="en-US" sz="950" dirty="0"/>
          </a:p>
        </p:txBody>
      </p:sp>
      <p:sp>
        <p:nvSpPr>
          <p:cNvPr id="44" name="Text 41"/>
          <p:cNvSpPr txBox="1"/>
          <p:nvPr/>
        </p:nvSpPr>
        <p:spPr>
          <a:xfrm>
            <a:off x="3410712" y="4645152"/>
            <a:ext cx="4023360" cy="453542"/>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2" charset="-78"/>
                <a:ea typeface="Amiri" pitchFamily="2" charset="-78"/>
                <a:cs typeface="Amiri" pitchFamily="2" charset="-78"/>
              </a:rPr>
              <a:t>يَجِبُ أَنْ تَكُونَ </a:t>
            </a:r>
            <a:pPr rtl="1" algn="ctr" indent="0" marL="0">
              <a:buNone/>
            </a:pPr>
            <a:r>
              <a:rPr lang="ar-SA" altLang="en-US" sz="2100" b="1" dirty="0">
                <a:solidFill>
                  <a:srgbClr val="D6336C"/>
                </a:solidFill>
                <a:latin typeface="Amiri" pitchFamily="2" charset="-78"/>
                <a:ea typeface="Amiri" pitchFamily="2" charset="-78"/>
                <a:cs typeface="Amiri" pitchFamily="2" charset="-78"/>
              </a:rPr>
              <a:t>مُنَظَّمَةً</a:t>
            </a:r>
            <a:pPr rtl="1" algn="ctr" indent="0" marL="0">
              <a:buNone/>
            </a:pPr>
            <a:r>
              <a:rPr lang="ar-SA" altLang="en-US" sz="2100" b="1" dirty="0">
                <a:solidFill>
                  <a:srgbClr val="1B3B6F"/>
                </a:solidFill>
                <a:latin typeface="Amiri" pitchFamily="2" charset="-78"/>
                <a:cs typeface="Amiri" pitchFamily="2" charset="-78"/>
              </a:rPr>
              <a:t>.</a:t>
            </a:r>
            <a:endParaRPr lang="ar-SA" sz="2100" dirty="0"/>
          </a:p>
        </p:txBody>
      </p:sp>
      <p:sp>
        <p:nvSpPr>
          <p:cNvPr id="45" name="Text 42"/>
          <p:cNvSpPr txBox="1"/>
          <p:nvPr/>
        </p:nvSpPr>
        <p:spPr>
          <a:xfrm>
            <a:off x="3364992" y="5065776"/>
            <a:ext cx="4114800"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She must be organised.</a:t>
            </a:r>
            <a:endParaRPr lang="en-US" sz="950" dirty="0"/>
          </a:p>
        </p:txBody>
      </p:sp>
      <p:sp>
        <p:nvSpPr>
          <p:cNvPr id="46" name="Text 43"/>
          <p:cNvSpPr txBox="1"/>
          <p:nvPr/>
        </p:nvSpPr>
        <p:spPr>
          <a:xfrm>
            <a:off x="566928" y="4626864"/>
            <a:ext cx="267919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-an · -atan</a:t>
            </a:r>
            <a:endParaRPr lang="en-US" sz="1100" dirty="0"/>
          </a:p>
        </p:txBody>
      </p:sp>
      <p:sp>
        <p:nvSpPr>
          <p:cNvPr id="47" name="Text 44"/>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After yakūna / takūna the adjective takes -an: ṣabūran, hādiʾatan (the same ending as yaʿmalu muḥāsiban in TD-L06).</a:t>
            </a:r>
            <a:endParaRPr lang="en-US" sz="115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14 / 47</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TD-L08 · Skills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00" b="1" spc="150" kern="0" dirty="0">
                <a:solidFill>
                  <a:srgbClr val="1B3B6F"/>
                </a:solidFill>
                <a:latin typeface="Calibri" pitchFamily="34" charset="0"/>
                <a:cs typeface="Amiri" pitchFamily="2" charset="-78"/>
              </a:rPr>
              <a:t>GRAMMAR FOCUS · PART 2 · CAN DO, AND THE EVIDENCE (WEBSITE RULES 3–4) · DEVELOP / STRETCH</a:t>
            </a:r>
            <a:endParaRPr lang="en-US" sz="8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Can do · and prove it</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يَسْتَطِيعُ أَنْ · لِأَنَّهُ</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D · The World of Work · TD-L08</a:t>
            </a:r>
            <a:endParaRPr lang="en-US" sz="850" dirty="0"/>
          </a:p>
        </p:txBody>
      </p:sp>
      <p:sp>
        <p:nvSpPr>
          <p:cNvPr id="15" name="Shape 12"/>
          <p:cNvSpPr/>
          <p:nvPr/>
        </p:nvSpPr>
        <p:spPr>
          <a:xfrm>
            <a:off x="8095488"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32648" y="1920240"/>
            <a:ext cx="1440180" cy="274320"/>
          </a:xfrm>
          <a:prstGeom prst="roundRect">
            <a:avLst>
              <a:gd name="adj" fmla="val 50000"/>
            </a:avLst>
          </a:prstGeom>
          <a:solidFill>
            <a:srgbClr val="1D5FBF"/>
          </a:solidFill>
          <a:ln w="12700">
            <a:solidFill>
              <a:srgbClr val="1D5FBF"/>
            </a:solidFill>
            <a:prstDash val="solid"/>
          </a:ln>
        </p:spPr>
      </p:sp>
      <p:sp>
        <p:nvSpPr>
          <p:cNvPr id="17" name="Text 14"/>
          <p:cNvSpPr txBox="1"/>
          <p:nvPr/>
        </p:nvSpPr>
        <p:spPr>
          <a:xfrm>
            <a:off x="8232648" y="1920240"/>
            <a:ext cx="144018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ABILITY · DEVELOP</a:t>
            </a:r>
            <a:endParaRPr lang="en-US" sz="850" dirty="0"/>
          </a:p>
        </p:txBody>
      </p:sp>
      <p:sp>
        <p:nvSpPr>
          <p:cNvPr id="18" name="Text 15"/>
          <p:cNvSpPr txBox="1"/>
          <p:nvPr/>
        </p:nvSpPr>
        <p:spPr>
          <a:xfrm>
            <a:off x="9718548" y="1874520"/>
            <a:ext cx="187604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2" charset="-78"/>
                <a:ea typeface="Amiri" pitchFamily="2" charset="-78"/>
                <a:cs typeface="Amiri" pitchFamily="2" charset="-78"/>
              </a:rPr>
              <a:t>يَسْتَطِيعُ أَنْ يَـ…</a:t>
            </a:r>
            <a:endParaRPr lang="ar-SA" sz="1600" dirty="0"/>
          </a:p>
        </p:txBody>
      </p:sp>
      <p:sp>
        <p:nvSpPr>
          <p:cNvPr id="19" name="Text 16"/>
          <p:cNvSpPr txBox="1"/>
          <p:nvPr/>
        </p:nvSpPr>
        <p:spPr>
          <a:xfrm>
            <a:off x="8232648" y="2286000"/>
            <a:ext cx="3361944" cy="1097280"/>
          </a:xfrm>
          <a:prstGeom prst="rect">
            <a:avLst/>
          </a:prstGeom>
          <a:noFill/>
          <a:ln/>
        </p:spPr>
        <p:txBody>
          <a:bodyPr wrap="square" lIns="0" tIns="0" rIns="0" bIns="0" rtlCol="0" anchor="ctr"/>
          <a:lstStyle/>
          <a:p>
            <a:pPr rtl="1" algn="ctr" indent="0" marL="0">
              <a:buNone/>
            </a:pPr>
            <a:r>
              <a:rPr lang="ar-SA" altLang="en-US" sz="2850" b="1" dirty="0">
                <a:solidFill>
                  <a:srgbClr val="1B3B6F"/>
                </a:solidFill>
                <a:latin typeface="Amiri" pitchFamily="2" charset="-78"/>
                <a:ea typeface="Amiri" pitchFamily="2" charset="-78"/>
                <a:cs typeface="Amiri" pitchFamily="2" charset="-78"/>
              </a:rPr>
              <a:t>يَسْتَطِيعُ أَنْ يَحُلَّ المُشْكِلَاتِ.</a:t>
            </a:r>
            <a:endParaRPr lang="ar-SA" sz="2850" dirty="0"/>
          </a:p>
        </p:txBody>
      </p:sp>
      <p:sp>
        <p:nvSpPr>
          <p:cNvPr id="20" name="Text 17"/>
          <p:cNvSpPr txBox="1"/>
          <p:nvPr/>
        </p:nvSpPr>
        <p:spPr>
          <a:xfrm>
            <a:off x="8232648"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He can solve problems.</a:t>
            </a:r>
            <a:endParaRPr lang="en-US" sz="1200" dirty="0"/>
          </a:p>
        </p:txBody>
      </p:sp>
      <p:sp>
        <p:nvSpPr>
          <p:cNvPr id="21" name="Shape 18"/>
          <p:cNvSpPr/>
          <p:nvPr/>
        </p:nvSpPr>
        <p:spPr>
          <a:xfrm>
            <a:off x="8205216" y="3913632"/>
            <a:ext cx="3416808" cy="804672"/>
          </a:xfrm>
          <a:prstGeom prst="roundRect">
            <a:avLst>
              <a:gd name="adj" fmla="val 5682"/>
            </a:avLst>
          </a:prstGeom>
          <a:solidFill>
            <a:srgbClr val="FFF4E0"/>
          </a:solidFill>
          <a:ln w="9525">
            <a:solidFill>
              <a:srgbClr val="FFF4E0"/>
            </a:solidFill>
            <a:prstDash val="solid"/>
          </a:ln>
        </p:spPr>
      </p:sp>
      <p:sp>
        <p:nvSpPr>
          <p:cNvPr id="22" name="Text 19"/>
          <p:cNvSpPr txBox="1"/>
          <p:nvPr/>
        </p:nvSpPr>
        <p:spPr>
          <a:xfrm>
            <a:off x="8296656"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an + present verb (-a).</a:t>
            </a:r>
            <a:endParaRPr lang="en-US" sz="1100" dirty="0"/>
          </a:p>
        </p:txBody>
      </p:sp>
      <p:sp>
        <p:nvSpPr>
          <p:cNvPr id="23" name="Shape 20"/>
          <p:cNvSpPr/>
          <p:nvPr/>
        </p:nvSpPr>
        <p:spPr>
          <a:xfrm>
            <a:off x="4276344"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13504" y="1920240"/>
            <a:ext cx="1440180" cy="274320"/>
          </a:xfrm>
          <a:prstGeom prst="roundRect">
            <a:avLst>
              <a:gd name="adj" fmla="val 50000"/>
            </a:avLst>
          </a:prstGeom>
          <a:solidFill>
            <a:srgbClr val="6B4C9A"/>
          </a:solidFill>
          <a:ln w="12700">
            <a:solidFill>
              <a:srgbClr val="6B4C9A"/>
            </a:solidFill>
            <a:prstDash val="solid"/>
          </a:ln>
        </p:spPr>
      </p:sp>
      <p:sp>
        <p:nvSpPr>
          <p:cNvPr id="25" name="Text 22"/>
          <p:cNvSpPr txBox="1"/>
          <p:nvPr/>
        </p:nvSpPr>
        <p:spPr>
          <a:xfrm>
            <a:off x="4413504" y="1920240"/>
            <a:ext cx="144018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SHE CAN · DEVELOP</a:t>
            </a:r>
            <a:endParaRPr lang="en-US" sz="850" dirty="0"/>
          </a:p>
        </p:txBody>
      </p:sp>
      <p:sp>
        <p:nvSpPr>
          <p:cNvPr id="26" name="Text 23"/>
          <p:cNvSpPr txBox="1"/>
          <p:nvPr/>
        </p:nvSpPr>
        <p:spPr>
          <a:xfrm>
            <a:off x="5899404" y="1874520"/>
            <a:ext cx="187604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2" charset="-78"/>
                <a:ea typeface="Amiri" pitchFamily="2" charset="-78"/>
                <a:cs typeface="Amiri" pitchFamily="2" charset="-78"/>
              </a:rPr>
              <a:t>تَسْتَطِيعُ أَنْ تَـ…</a:t>
            </a:r>
            <a:endParaRPr lang="ar-SA" sz="1600" dirty="0"/>
          </a:p>
        </p:txBody>
      </p:sp>
      <p:sp>
        <p:nvSpPr>
          <p:cNvPr id="27" name="Text 24"/>
          <p:cNvSpPr txBox="1"/>
          <p:nvPr/>
        </p:nvSpPr>
        <p:spPr>
          <a:xfrm>
            <a:off x="4413504" y="2286000"/>
            <a:ext cx="3361944" cy="1097280"/>
          </a:xfrm>
          <a:prstGeom prst="rect">
            <a:avLst/>
          </a:prstGeom>
          <a:noFill/>
          <a:ln/>
        </p:spPr>
        <p:txBody>
          <a:bodyPr wrap="square" lIns="0" tIns="0" rIns="0" bIns="0" rtlCol="0" anchor="ctr"/>
          <a:lstStyle/>
          <a:p>
            <a:pPr rtl="1" algn="ctr" indent="0" marL="0">
              <a:buNone/>
            </a:pPr>
            <a:r>
              <a:rPr lang="ar-SA" altLang="en-US" sz="2750" b="1" dirty="0">
                <a:solidFill>
                  <a:srgbClr val="1B3B6F"/>
                </a:solidFill>
                <a:latin typeface="Amiri" pitchFamily="2" charset="-78"/>
                <a:ea typeface="Amiri" pitchFamily="2" charset="-78"/>
                <a:cs typeface="Amiri" pitchFamily="2" charset="-78"/>
              </a:rPr>
              <a:t>تَسْتَطِيعُ أَنْ تَعْمَلَ ضِمْنَ فَرِيقٍ.</a:t>
            </a:r>
            <a:endParaRPr lang="ar-SA" sz="2750" dirty="0"/>
          </a:p>
        </p:txBody>
      </p:sp>
      <p:sp>
        <p:nvSpPr>
          <p:cNvPr id="28" name="Text 25"/>
          <p:cNvSpPr txBox="1"/>
          <p:nvPr/>
        </p:nvSpPr>
        <p:spPr>
          <a:xfrm>
            <a:off x="4413504"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She can work within a team.</a:t>
            </a:r>
            <a:endParaRPr lang="en-US" sz="1200" dirty="0"/>
          </a:p>
        </p:txBody>
      </p:sp>
      <p:sp>
        <p:nvSpPr>
          <p:cNvPr id="29" name="Shape 26"/>
          <p:cNvSpPr/>
          <p:nvPr/>
        </p:nvSpPr>
        <p:spPr>
          <a:xfrm>
            <a:off x="4386072" y="3913632"/>
            <a:ext cx="3416808" cy="804672"/>
          </a:xfrm>
          <a:prstGeom prst="roundRect">
            <a:avLst>
              <a:gd name="adj" fmla="val 5682"/>
            </a:avLst>
          </a:prstGeom>
          <a:solidFill>
            <a:srgbClr val="FFF4E0"/>
          </a:solidFill>
          <a:ln w="9525">
            <a:solidFill>
              <a:srgbClr val="FFF4E0"/>
            </a:solidFill>
            <a:prstDash val="solid"/>
          </a:ln>
        </p:spPr>
      </p:sp>
      <p:sp>
        <p:nvSpPr>
          <p:cNvPr id="30" name="Text 27"/>
          <p:cNvSpPr txBox="1"/>
          <p:nvPr/>
        </p:nvSpPr>
        <p:spPr>
          <a:xfrm>
            <a:off x="4477512"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Both verbs agree: ta- … ta-.</a:t>
            </a:r>
            <a:endParaRPr lang="en-US" sz="1100" dirty="0"/>
          </a:p>
        </p:txBody>
      </p:sp>
      <p:sp>
        <p:nvSpPr>
          <p:cNvPr id="31" name="Shape 28"/>
          <p:cNvSpPr/>
          <p:nvPr/>
        </p:nvSpPr>
        <p:spPr>
          <a:xfrm>
            <a:off x="457200"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94360" y="1920240"/>
            <a:ext cx="1303020" cy="274320"/>
          </a:xfrm>
          <a:prstGeom prst="roundRect">
            <a:avLst>
              <a:gd name="adj" fmla="val 50000"/>
            </a:avLst>
          </a:prstGeom>
          <a:solidFill>
            <a:srgbClr val="1E7B4F"/>
          </a:solidFill>
          <a:ln w="12700">
            <a:solidFill>
              <a:srgbClr val="1E7B4F"/>
            </a:solidFill>
            <a:prstDash val="solid"/>
          </a:ln>
        </p:spPr>
      </p:sp>
      <p:sp>
        <p:nvSpPr>
          <p:cNvPr id="33" name="Text 30"/>
          <p:cNvSpPr txBox="1"/>
          <p:nvPr/>
        </p:nvSpPr>
        <p:spPr>
          <a:xfrm>
            <a:off x="594360" y="1920240"/>
            <a:ext cx="130302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EVIDENCE · CORE</a:t>
            </a:r>
            <a:endParaRPr lang="en-US" sz="850" dirty="0"/>
          </a:p>
        </p:txBody>
      </p:sp>
      <p:sp>
        <p:nvSpPr>
          <p:cNvPr id="34" name="Text 31"/>
          <p:cNvSpPr txBox="1"/>
          <p:nvPr/>
        </p:nvSpPr>
        <p:spPr>
          <a:xfrm>
            <a:off x="1943100" y="1874520"/>
            <a:ext cx="201320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2" charset="-78"/>
                <a:ea typeface="Amiri" pitchFamily="2" charset="-78"/>
                <a:cs typeface="Amiri" pitchFamily="2" charset="-78"/>
              </a:rPr>
              <a:t>لِأَنَّهُ / لِأَنَّهَا</a:t>
            </a:r>
            <a:endParaRPr lang="ar-SA" sz="1600" dirty="0"/>
          </a:p>
        </p:txBody>
      </p:sp>
      <p:sp>
        <p:nvSpPr>
          <p:cNvPr id="35" name="Text 32"/>
          <p:cNvSpPr txBox="1"/>
          <p:nvPr/>
        </p:nvSpPr>
        <p:spPr>
          <a:xfrm>
            <a:off x="594360" y="2286000"/>
            <a:ext cx="3361944" cy="1097280"/>
          </a:xfrm>
          <a:prstGeom prst="rect">
            <a:avLst/>
          </a:prstGeom>
          <a:noFill/>
          <a:ln/>
        </p:spPr>
        <p:txBody>
          <a:bodyPr wrap="square" lIns="0" tIns="0" rIns="0" bIns="0" rtlCol="0" anchor="ctr"/>
          <a:lstStyle/>
          <a:p>
            <a:pPr rtl="1" algn="ctr" indent="0" marL="0">
              <a:lnSpc>
                <a:spcPct val="120000"/>
              </a:lnSpc>
              <a:buNone/>
            </a:pPr>
            <a:r>
              <a:rPr lang="ar-SA" altLang="en-US" sz="2250" b="1" dirty="0">
                <a:solidFill>
                  <a:srgbClr val="1B3B6F"/>
                </a:solidFill>
                <a:latin typeface="Amiri" pitchFamily="2" charset="-78"/>
                <a:ea typeface="Amiri" pitchFamily="2" charset="-78"/>
                <a:cs typeface="Amiri" pitchFamily="2" charset="-78"/>
              </a:rPr>
              <a:t>هُوَ مَسْؤُولٌ لِأَنَّهُ يَحْتَرِمُ المَوَاعِيدَ.</a:t>
            </a:r>
            <a:endParaRPr lang="ar-SA" sz="2250" dirty="0"/>
          </a:p>
        </p:txBody>
      </p:sp>
      <p:sp>
        <p:nvSpPr>
          <p:cNvPr id="36" name="Text 33"/>
          <p:cNvSpPr txBox="1"/>
          <p:nvPr/>
        </p:nvSpPr>
        <p:spPr>
          <a:xfrm>
            <a:off x="594360"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He is responsible because he respects deadlines.</a:t>
            </a:r>
            <a:endParaRPr lang="en-US" sz="1200" dirty="0"/>
          </a:p>
        </p:txBody>
      </p:sp>
      <p:sp>
        <p:nvSpPr>
          <p:cNvPr id="37" name="Shape 34"/>
          <p:cNvSpPr/>
          <p:nvPr/>
        </p:nvSpPr>
        <p:spPr>
          <a:xfrm>
            <a:off x="566928" y="3913632"/>
            <a:ext cx="3416808" cy="804672"/>
          </a:xfrm>
          <a:prstGeom prst="roundRect">
            <a:avLst>
              <a:gd name="adj" fmla="val 5682"/>
            </a:avLst>
          </a:prstGeom>
          <a:solidFill>
            <a:srgbClr val="FFF4E0"/>
          </a:solidFill>
          <a:ln w="9525">
            <a:solidFill>
              <a:srgbClr val="FFF4E0"/>
            </a:solidFill>
            <a:prstDash val="solid"/>
          </a:ln>
        </p:spPr>
      </p:sp>
      <p:sp>
        <p:nvSpPr>
          <p:cNvPr id="38" name="Text 35"/>
          <p:cNvSpPr txBox="1"/>
          <p:nvPr/>
        </p:nvSpPr>
        <p:spPr>
          <a:xfrm>
            <a:off x="658368"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Behaviour, not a label.</a:t>
            </a:r>
            <a:endParaRPr lang="en-US" sz="1100" dirty="0"/>
          </a:p>
        </p:txBody>
      </p:sp>
      <p:sp>
        <p:nvSpPr>
          <p:cNvPr id="39" name="Shape 36"/>
          <p:cNvSpPr/>
          <p:nvPr/>
        </p:nvSpPr>
        <p:spPr>
          <a:xfrm>
            <a:off x="457200" y="50109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40" name="Text 37"/>
          <p:cNvSpPr txBox="1"/>
          <p:nvPr/>
        </p:nvSpPr>
        <p:spPr>
          <a:xfrm>
            <a:off x="685800" y="5102352"/>
            <a:ext cx="2743200" cy="274320"/>
          </a:xfrm>
          <a:prstGeom prst="rect">
            <a:avLst/>
          </a:prstGeom>
          <a:noFill/>
          <a:ln/>
        </p:spPr>
        <p:txBody>
          <a:bodyPr wrap="square" lIns="0" tIns="0" rIns="0" bIns="0" rtlCol="0" anchor="ctr"/>
          <a:lstStyle/>
          <a:p>
            <a:pPr algn="l" indent="0" marL="0">
              <a:buNone/>
            </a:pPr>
            <a:r>
              <a:rPr lang="en-US" sz="1000" b="1" spc="200" kern="0" dirty="0">
                <a:solidFill>
                  <a:srgbClr val="B83227"/>
                </a:solidFill>
                <a:latin typeface="Calibri" pitchFamily="34" charset="0"/>
                <a:cs typeface="Amiri" pitchFamily="2" charset="-78"/>
              </a:rPr>
              <a:t>COMMON ERROR</a:t>
            </a:r>
            <a:endParaRPr lang="en-US" sz="1000" dirty="0"/>
          </a:p>
        </p:txBody>
      </p:sp>
      <p:sp>
        <p:nvSpPr>
          <p:cNvPr id="41" name="Text 38"/>
          <p:cNvSpPr txBox="1"/>
          <p:nvPr/>
        </p:nvSpPr>
        <p:spPr>
          <a:xfrm>
            <a:off x="685800" y="5394960"/>
            <a:ext cx="3291840" cy="822960"/>
          </a:xfrm>
          <a:prstGeom prst="rect">
            <a:avLst/>
          </a:prstGeom>
          <a:noFill/>
          <a:ln/>
        </p:spPr>
        <p:txBody>
          <a:bodyPr wrap="square" lIns="0" tIns="0" rIns="0" bIns="0" rtlCol="0" anchor="t"/>
          <a:lstStyle/>
          <a:p>
            <a:pPr algn="l" indent="0" marL="0">
              <a:buNone/>
            </a:pPr>
            <a:r>
              <a:rPr lang="en-US" sz="1150" dirty="0">
                <a:solidFill>
                  <a:srgbClr val="1F2A37"/>
                </a:solidFill>
                <a:latin typeface="Calibri" pitchFamily="34" charset="0"/>
                <a:cs typeface="Amiri" pitchFamily="2" charset="-78"/>
              </a:rPr>
              <a:t>After yaḥtāju, use ilā.</a:t>
            </a:r>
            <a:endParaRPr lang="en-US" sz="1150" dirty="0"/>
          </a:p>
        </p:txBody>
      </p:sp>
      <p:sp>
        <p:nvSpPr>
          <p:cNvPr id="42" name="Text 39"/>
          <p:cNvSpPr txBox="1"/>
          <p:nvPr/>
        </p:nvSpPr>
        <p:spPr>
          <a:xfrm>
            <a:off x="9966960" y="5230368"/>
            <a:ext cx="1645920" cy="868680"/>
          </a:xfrm>
          <a:prstGeom prst="rect">
            <a:avLst/>
          </a:prstGeom>
          <a:noFill/>
          <a:ln/>
        </p:spPr>
        <p:txBody>
          <a:bodyPr wrap="square" lIns="0" tIns="0" rIns="0" bIns="0" rtlCol="0" anchor="ctr"/>
          <a:lstStyle/>
          <a:p>
            <a:pPr rtl="1" algn="ctr" indent="0" marL="0">
              <a:lnSpc>
                <a:spcPct val="120000"/>
              </a:lnSpc>
              <a:buNone/>
            </a:pPr>
            <a:r>
              <a:rPr lang="ar-SA" altLang="en-US" sz="1650" b="1" dirty="0">
                <a:solidFill>
                  <a:srgbClr val="1B3B6F"/>
                </a:solidFill>
                <a:latin typeface="Amiri" pitchFamily="2" charset="-78"/>
                <a:ea typeface="Amiri" pitchFamily="2" charset="-78"/>
                <a:cs typeface="Amiri" pitchFamily="2" charset="-78"/>
              </a:rPr>
              <a:t>يَحْتَاجُ الطَّبِيبُ إِلَى الصَّبْرِ.</a:t>
            </a:r>
            <a:endParaRPr lang="ar-SA" sz="1650" dirty="0"/>
          </a:p>
        </p:txBody>
      </p:sp>
      <p:sp>
        <p:nvSpPr>
          <p:cNvPr id="43" name="Text 40"/>
          <p:cNvSpPr txBox="1"/>
          <p:nvPr/>
        </p:nvSpPr>
        <p:spPr>
          <a:xfrm>
            <a:off x="9601200" y="5230368"/>
            <a:ext cx="365760" cy="8686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44" name="Text 41"/>
          <p:cNvSpPr txBox="1"/>
          <p:nvPr/>
        </p:nvSpPr>
        <p:spPr>
          <a:xfrm>
            <a:off x="8001000" y="5230368"/>
            <a:ext cx="1645920" cy="868680"/>
          </a:xfrm>
          <a:prstGeom prst="rect">
            <a:avLst/>
          </a:prstGeom>
          <a:noFill/>
          <a:ln/>
        </p:spPr>
        <p:txBody>
          <a:bodyPr wrap="square" lIns="0" tIns="0" rIns="0" bIns="0" rtlCol="0" anchor="ctr"/>
          <a:lstStyle/>
          <a:p>
            <a:pPr rtl="1" algn="ctr" indent="0" marL="0">
              <a:lnSpc>
                <a:spcPct val="120000"/>
              </a:lnSpc>
              <a:buNone/>
            </a:pPr>
            <a:r>
              <a:rPr lang="ar-SA" altLang="en-US" sz="1700" b="1" dirty="0">
                <a:solidFill>
                  <a:srgbClr val="B83227"/>
                </a:solidFill>
                <a:latin typeface="Amiri" pitchFamily="2" charset="-78"/>
                <a:ea typeface="Amiri" pitchFamily="2" charset="-78"/>
                <a:cs typeface="Amiri" pitchFamily="2" charset="-78"/>
              </a:rPr>
              <a:t>يَحْتَاجُ الطَّبِيبُ الصَّبْرَ.</a:t>
            </a:r>
            <a:endParaRPr lang="ar-SA" sz="1700" dirty="0"/>
          </a:p>
        </p:txBody>
      </p:sp>
      <p:sp>
        <p:nvSpPr>
          <p:cNvPr id="45" name="Shape 42"/>
          <p:cNvSpPr/>
          <p:nvPr/>
        </p:nvSpPr>
        <p:spPr>
          <a:xfrm>
            <a:off x="8138160" y="5669280"/>
            <a:ext cx="1371600" cy="0"/>
          </a:xfrm>
          <a:prstGeom prst="line">
            <a:avLst/>
          </a:prstGeom>
          <a:noFill/>
          <a:ln w="25400">
            <a:solidFill>
              <a:srgbClr val="B83227"/>
            </a:solidFill>
            <a:prstDash val="solid"/>
          </a:ln>
        </p:spPr>
      </p:sp>
      <p:sp>
        <p:nvSpPr>
          <p:cNvPr id="46" name="Text 4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15 / 47</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TD-L08 · Skills</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GRAMMAR FOCUS · THE WEBSITE RULES WITH EXAMPLES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Requirement structures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750" b="1" dirty="0">
                <a:solidFill>
                  <a:srgbClr val="8A6D1E"/>
                </a:solidFill>
                <a:latin typeface="Amiri" pitchFamily="2" charset="-78"/>
                <a:ea typeface="Amiri" pitchFamily="2" charset="-78"/>
                <a:cs typeface="Amiri" pitchFamily="2" charset="-78"/>
              </a:rPr>
              <a:t>التَّعْبِيرُ عَنِ المَهَارَاتِ وَالمُتَطَلَّبَاتِ</a:t>
            </a:r>
            <a:endParaRPr lang="ar-SA" sz="275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D · The World of Work · TD-L08</a:t>
            </a:r>
            <a:endParaRPr lang="en-US" sz="850" dirty="0"/>
          </a:p>
        </p:txBody>
      </p:sp>
      <p:sp>
        <p:nvSpPr>
          <p:cNvPr id="17" name="Shape 14"/>
          <p:cNvSpPr/>
          <p:nvPr/>
        </p:nvSpPr>
        <p:spPr>
          <a:xfrm>
            <a:off x="457200" y="1810512"/>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40080" y="1883664"/>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1. Needs a skill</a:t>
            </a:r>
            <a:endParaRPr lang="en-US" sz="1250" dirty="0"/>
          </a:p>
        </p:txBody>
      </p:sp>
      <p:sp>
        <p:nvSpPr>
          <p:cNvPr id="19" name="Text 16"/>
          <p:cNvSpPr txBox="1"/>
          <p:nvPr/>
        </p:nvSpPr>
        <p:spPr>
          <a:xfrm>
            <a:off x="640080" y="2345436"/>
            <a:ext cx="3566160" cy="432054"/>
          </a:xfrm>
          <a:prstGeom prst="rect">
            <a:avLst/>
          </a:prstGeom>
          <a:noFill/>
          <a:ln/>
        </p:spPr>
        <p:txBody>
          <a:bodyPr wrap="square" lIns="0" tIns="0" rIns="0" bIns="0" rtlCol="0" anchor="ctr"/>
          <a:lstStyle/>
          <a:p>
            <a:pPr rtl="1" algn="r" indent="0" marL="0">
              <a:buNone/>
            </a:pPr>
            <a:r>
              <a:rPr lang="ar-SA" altLang="en-US" sz="1350" dirty="0">
                <a:solidFill>
                  <a:srgbClr val="5A6472"/>
                </a:solidFill>
                <a:latin typeface="Amiri" pitchFamily="2" charset="-78"/>
                <a:ea typeface="Amiri" pitchFamily="2" charset="-78"/>
                <a:cs typeface="Amiri" pitchFamily="2" charset="-78"/>
              </a:rPr>
              <a:t>يَحْتَاجُ إِلَى + مَصْدَرٍ / اسْمٍ</a:t>
            </a:r>
            <a:endParaRPr lang="ar-SA" sz="1350" dirty="0"/>
          </a:p>
        </p:txBody>
      </p:sp>
      <p:sp>
        <p:nvSpPr>
          <p:cNvPr id="20" name="Text 17"/>
          <p:cNvSpPr txBox="1"/>
          <p:nvPr/>
        </p:nvSpPr>
        <p:spPr>
          <a:xfrm>
            <a:off x="4297680" y="1847088"/>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2" charset="-78"/>
                <a:ea typeface="Amiri" pitchFamily="2" charset="-78"/>
                <a:cs typeface="Amiri" pitchFamily="2" charset="-78"/>
              </a:rPr>
              <a:t>يَحْتَاجُ الطَّبِيبُ إِلَى الصَّبْرِ.   ·   تَحْتَاجُ المُهَنْدِسَةُ إِلَى الدِّقَّةِ.</a:t>
            </a:r>
            <a:endParaRPr lang="ar-SA" sz="2000" dirty="0"/>
          </a:p>
        </p:txBody>
      </p:sp>
      <p:sp>
        <p:nvSpPr>
          <p:cNvPr id="21" name="Shape 18"/>
          <p:cNvSpPr/>
          <p:nvPr/>
        </p:nvSpPr>
        <p:spPr>
          <a:xfrm>
            <a:off x="457200" y="2967228"/>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640080" y="3040380"/>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2. Must be</a:t>
            </a:r>
            <a:endParaRPr lang="en-US" sz="1250" dirty="0"/>
          </a:p>
        </p:txBody>
      </p:sp>
      <p:sp>
        <p:nvSpPr>
          <p:cNvPr id="23" name="Text 20"/>
          <p:cNvSpPr txBox="1"/>
          <p:nvPr/>
        </p:nvSpPr>
        <p:spPr>
          <a:xfrm>
            <a:off x="640080" y="3502152"/>
            <a:ext cx="3566160" cy="432054"/>
          </a:xfrm>
          <a:prstGeom prst="rect">
            <a:avLst/>
          </a:prstGeom>
          <a:noFill/>
          <a:ln/>
        </p:spPr>
        <p:txBody>
          <a:bodyPr wrap="square" lIns="0" tIns="0" rIns="0" bIns="0" rtlCol="0" anchor="ctr"/>
          <a:lstStyle/>
          <a:p>
            <a:pPr rtl="1" algn="r" indent="0" marL="0">
              <a:buNone/>
            </a:pPr>
            <a:r>
              <a:rPr lang="ar-SA" altLang="en-US" sz="1350" dirty="0">
                <a:solidFill>
                  <a:srgbClr val="5A6472"/>
                </a:solidFill>
                <a:latin typeface="Amiri" pitchFamily="2" charset="-78"/>
                <a:ea typeface="Amiri" pitchFamily="2" charset="-78"/>
                <a:cs typeface="Amiri" pitchFamily="2" charset="-78"/>
              </a:rPr>
              <a:t>يَجِبُ أَنْ يَكُونَ / تَكُونَ + صِفَةً</a:t>
            </a:r>
            <a:endParaRPr lang="ar-SA" sz="1350" dirty="0"/>
          </a:p>
        </p:txBody>
      </p:sp>
      <p:sp>
        <p:nvSpPr>
          <p:cNvPr id="24" name="Text 21"/>
          <p:cNvSpPr txBox="1"/>
          <p:nvPr/>
        </p:nvSpPr>
        <p:spPr>
          <a:xfrm>
            <a:off x="4297680" y="3003804"/>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2" charset="-78"/>
                <a:ea typeface="Amiri" pitchFamily="2" charset="-78"/>
                <a:cs typeface="Amiri" pitchFamily="2" charset="-78"/>
              </a:rPr>
              <a:t>يَجِبُ أَنْ يَكُونَ المُدَرِّسُ صَبُورًا.   ·   يَجِبُ أَنْ تَكُونَ المُمَرِّضَةُ هَادِئَةً.</a:t>
            </a:r>
            <a:endParaRPr lang="ar-SA" sz="2000" dirty="0"/>
          </a:p>
        </p:txBody>
      </p:sp>
      <p:sp>
        <p:nvSpPr>
          <p:cNvPr id="25" name="Shape 22"/>
          <p:cNvSpPr/>
          <p:nvPr/>
        </p:nvSpPr>
        <p:spPr>
          <a:xfrm>
            <a:off x="457200" y="4123944"/>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40080" y="4197096"/>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3. Ability</a:t>
            </a:r>
            <a:endParaRPr lang="en-US" sz="1250" dirty="0"/>
          </a:p>
        </p:txBody>
      </p:sp>
      <p:sp>
        <p:nvSpPr>
          <p:cNvPr id="27" name="Text 24"/>
          <p:cNvSpPr txBox="1"/>
          <p:nvPr/>
        </p:nvSpPr>
        <p:spPr>
          <a:xfrm>
            <a:off x="640080" y="4658868"/>
            <a:ext cx="3566160" cy="432054"/>
          </a:xfrm>
          <a:prstGeom prst="rect">
            <a:avLst/>
          </a:prstGeom>
          <a:noFill/>
          <a:ln/>
        </p:spPr>
        <p:txBody>
          <a:bodyPr wrap="square" lIns="0" tIns="0" rIns="0" bIns="0" rtlCol="0" anchor="ctr"/>
          <a:lstStyle/>
          <a:p>
            <a:pPr rtl="1" algn="r" indent="0" marL="0">
              <a:buNone/>
            </a:pPr>
            <a:r>
              <a:rPr lang="ar-SA" altLang="en-US" sz="1350" dirty="0">
                <a:solidFill>
                  <a:srgbClr val="5A6472"/>
                </a:solidFill>
                <a:latin typeface="Amiri" pitchFamily="2" charset="-78"/>
                <a:ea typeface="Amiri" pitchFamily="2" charset="-78"/>
                <a:cs typeface="Amiri" pitchFamily="2" charset="-78"/>
              </a:rPr>
              <a:t>يَسْتَطِيعُ أَنْ + مُضَارِع</a:t>
            </a:r>
            <a:endParaRPr lang="ar-SA" sz="1350" dirty="0"/>
          </a:p>
        </p:txBody>
      </p:sp>
      <p:sp>
        <p:nvSpPr>
          <p:cNvPr id="28" name="Text 25"/>
          <p:cNvSpPr txBox="1"/>
          <p:nvPr/>
        </p:nvSpPr>
        <p:spPr>
          <a:xfrm>
            <a:off x="4297680" y="4160520"/>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2" charset="-78"/>
                <a:ea typeface="Amiri" pitchFamily="2" charset="-78"/>
                <a:cs typeface="Amiri" pitchFamily="2" charset="-78"/>
              </a:rPr>
              <a:t>يَسْتَطِيعُ أَنْ يَحُلَّ المُشْكِلَاتِ.   ·   تَسْتَطِيعُ أَنْ تَعْمَلَ ضِمْنَ فَرِيقٍ.</a:t>
            </a:r>
            <a:endParaRPr lang="ar-SA" sz="2000" dirty="0"/>
          </a:p>
        </p:txBody>
      </p:sp>
      <p:sp>
        <p:nvSpPr>
          <p:cNvPr id="29" name="Shape 26"/>
          <p:cNvSpPr/>
          <p:nvPr/>
        </p:nvSpPr>
        <p:spPr>
          <a:xfrm>
            <a:off x="457200" y="5280660"/>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640080" y="5353812"/>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4. Evidence</a:t>
            </a:r>
            <a:endParaRPr lang="en-US" sz="1250" dirty="0"/>
          </a:p>
        </p:txBody>
      </p:sp>
      <p:sp>
        <p:nvSpPr>
          <p:cNvPr id="31" name="Text 28"/>
          <p:cNvSpPr txBox="1"/>
          <p:nvPr/>
        </p:nvSpPr>
        <p:spPr>
          <a:xfrm>
            <a:off x="640080" y="5815584"/>
            <a:ext cx="3566160" cy="432054"/>
          </a:xfrm>
          <a:prstGeom prst="rect">
            <a:avLst/>
          </a:prstGeom>
          <a:noFill/>
          <a:ln/>
        </p:spPr>
        <p:txBody>
          <a:bodyPr wrap="square" lIns="0" tIns="0" rIns="0" bIns="0" rtlCol="0" anchor="ctr"/>
          <a:lstStyle/>
          <a:p>
            <a:pPr rtl="1" algn="r" indent="0" marL="0">
              <a:buNone/>
            </a:pPr>
            <a:r>
              <a:rPr lang="ar-SA" altLang="en-US" sz="1350" dirty="0">
                <a:solidFill>
                  <a:srgbClr val="5A6472"/>
                </a:solidFill>
                <a:latin typeface="Amiri" pitchFamily="2" charset="-78"/>
                <a:ea typeface="Amiri" pitchFamily="2" charset="-78"/>
                <a:cs typeface="Amiri" pitchFamily="2" charset="-78"/>
              </a:rPr>
              <a:t>لِأَنَّهُ / لِأَنَّهَا + فِعْلٌ</a:t>
            </a:r>
            <a:endParaRPr lang="ar-SA" sz="1350" dirty="0"/>
          </a:p>
        </p:txBody>
      </p:sp>
      <p:sp>
        <p:nvSpPr>
          <p:cNvPr id="32" name="Text 29"/>
          <p:cNvSpPr txBox="1"/>
          <p:nvPr/>
        </p:nvSpPr>
        <p:spPr>
          <a:xfrm>
            <a:off x="4297680" y="5317236"/>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2" charset="-78"/>
                <a:ea typeface="Amiri" pitchFamily="2" charset="-78"/>
                <a:cs typeface="Amiri" pitchFamily="2" charset="-78"/>
              </a:rPr>
              <a:t>هُوَ مَسْؤُولٌ لِأَنَّهُ يَحْتَرِمُ المَوَاعِيدَ.   ·   هِيَ مُتَعَاوِنَةٌ لِأَنَّهَا تُسَاعِدُ زُمَلَاءَهَا.</a:t>
            </a:r>
            <a:endParaRPr lang="ar-SA" sz="200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16 / 47</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TD-L08 · Skills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CHECK FOR UNDERSTANDING · HINGE QUESTIONS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Quick check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فَحْصٌ سَرِيعٌ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D · The World of Work · TD-L08</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19" name="Text 16"/>
          <p:cNvSpPr txBox="1"/>
          <p:nvPr/>
        </p:nvSpPr>
        <p:spPr>
          <a:xfrm>
            <a:off x="3323295" y="1883664"/>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ea typeface="Amiri" pitchFamily="2" charset="-78"/>
                <a:cs typeface="Amiri" pitchFamily="2" charset="-78"/>
              </a:rPr>
              <a:t>يَحْتَاجُ الطَّبِيبُ ___ الصَّبْرِ.</a:t>
            </a:r>
            <a:endParaRPr lang="ar-SA" sz="1500" dirty="0"/>
          </a:p>
        </p:txBody>
      </p:sp>
      <p:sp>
        <p:nvSpPr>
          <p:cNvPr id="20" name="Shape 17"/>
          <p:cNvSpPr/>
          <p:nvPr/>
        </p:nvSpPr>
        <p:spPr>
          <a:xfrm>
            <a:off x="640080" y="2532888"/>
            <a:ext cx="256032" cy="256032"/>
          </a:xfrm>
          <a:prstGeom prst="ellipse">
            <a:avLst/>
          </a:prstGeom>
          <a:solidFill>
            <a:srgbClr val="F4F1EA"/>
          </a:solidFill>
          <a:ln w="12700">
            <a:solidFill>
              <a:srgbClr val="F4F1EA"/>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2" name="Text 19"/>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فِي</a:t>
            </a:r>
            <a:endParaRPr lang="ar-SA" sz="2050" dirty="0"/>
          </a:p>
        </p:txBody>
      </p:sp>
      <p:sp>
        <p:nvSpPr>
          <p:cNvPr id="23" name="Shape 20"/>
          <p:cNvSpPr/>
          <p:nvPr/>
        </p:nvSpPr>
        <p:spPr>
          <a:xfrm>
            <a:off x="640080" y="2990088"/>
            <a:ext cx="256032" cy="256032"/>
          </a:xfrm>
          <a:prstGeom prst="ellipse">
            <a:avLst/>
          </a:prstGeom>
          <a:solidFill>
            <a:srgbClr val="F4F1EA"/>
          </a:solidFill>
          <a:ln w="12700">
            <a:solidFill>
              <a:srgbClr val="F4F1EA"/>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عَنْ</a:t>
            </a:r>
            <a:endParaRPr lang="ar-SA" sz="2050" dirty="0"/>
          </a:p>
        </p:txBody>
      </p:sp>
      <p:sp>
        <p:nvSpPr>
          <p:cNvPr id="26" name="Shape 23"/>
          <p:cNvSpPr/>
          <p:nvPr/>
        </p:nvSpPr>
        <p:spPr>
          <a:xfrm>
            <a:off x="640080" y="3447288"/>
            <a:ext cx="256032" cy="256032"/>
          </a:xfrm>
          <a:prstGeom prst="ellipse">
            <a:avLst/>
          </a:prstGeom>
          <a:solidFill>
            <a:srgbClr val="F4F1EA"/>
          </a:solidFill>
          <a:ln w="12700">
            <a:solidFill>
              <a:srgbClr val="F4F1EA"/>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إِلَى</a:t>
            </a:r>
            <a:endParaRPr lang="ar-SA" sz="2050" dirty="0"/>
          </a:p>
        </p:txBody>
      </p:sp>
      <p:sp>
        <p:nvSpPr>
          <p:cNvPr id="29" name="Shape 26"/>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6313932" y="1947672"/>
            <a:ext cx="310896" cy="310896"/>
          </a:xfrm>
          <a:prstGeom prst="ellipse">
            <a:avLst/>
          </a:prstGeom>
          <a:solidFill>
            <a:srgbClr val="1B3B6F"/>
          </a:solidFill>
          <a:ln w="12700">
            <a:solidFill>
              <a:srgbClr val="1B3B6F"/>
            </a:solidFill>
            <a:prstDash val="solid"/>
          </a:ln>
        </p:spPr>
      </p:sp>
      <p:sp>
        <p:nvSpPr>
          <p:cNvPr id="31" name="Text 28"/>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2" name="Text 29"/>
          <p:cNvSpPr txBox="1"/>
          <p:nvPr/>
        </p:nvSpPr>
        <p:spPr>
          <a:xfrm>
            <a:off x="6679692"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33" name="Text 30"/>
          <p:cNvSpPr txBox="1"/>
          <p:nvPr/>
        </p:nvSpPr>
        <p:spPr>
          <a:xfrm>
            <a:off x="9052011" y="1883664"/>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ea typeface="Amiri" pitchFamily="2" charset="-78"/>
                <a:cs typeface="Amiri" pitchFamily="2" charset="-78"/>
              </a:rPr>
              <a:t>يَجِبُ أَنْ ___ المُمَرِّضَةُ هَادِئَةً.</a:t>
            </a:r>
            <a:endParaRPr lang="ar-SA" sz="1500" dirty="0"/>
          </a:p>
        </p:txBody>
      </p:sp>
      <p:sp>
        <p:nvSpPr>
          <p:cNvPr id="34" name="Shape 31"/>
          <p:cNvSpPr/>
          <p:nvPr/>
        </p:nvSpPr>
        <p:spPr>
          <a:xfrm>
            <a:off x="6368796"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تَكُونَ</a:t>
            </a:r>
            <a:endParaRPr lang="ar-SA" sz="2050" dirty="0"/>
          </a:p>
        </p:txBody>
      </p:sp>
      <p:sp>
        <p:nvSpPr>
          <p:cNvPr id="37" name="Shape 34"/>
          <p:cNvSpPr/>
          <p:nvPr/>
        </p:nvSpPr>
        <p:spPr>
          <a:xfrm>
            <a:off x="6368796"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يَكُونَ</a:t>
            </a:r>
            <a:endParaRPr lang="ar-SA" sz="2050" dirty="0"/>
          </a:p>
        </p:txBody>
      </p:sp>
      <p:sp>
        <p:nvSpPr>
          <p:cNvPr id="40" name="Shape 37"/>
          <p:cNvSpPr/>
          <p:nvPr/>
        </p:nvSpPr>
        <p:spPr>
          <a:xfrm>
            <a:off x="6368796"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2" name="Text 39"/>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أَكُونَ</a:t>
            </a:r>
            <a:endParaRPr lang="ar-SA" sz="2050" dirty="0"/>
          </a:p>
        </p:txBody>
      </p:sp>
      <p:sp>
        <p:nvSpPr>
          <p:cNvPr id="43" name="Shape 40"/>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585216" y="4288536"/>
            <a:ext cx="310896" cy="310896"/>
          </a:xfrm>
          <a:prstGeom prst="ellipse">
            <a:avLst/>
          </a:prstGeom>
          <a:solidFill>
            <a:srgbClr val="1B3B6F"/>
          </a:solidFill>
          <a:ln w="12700">
            <a:solidFill>
              <a:srgbClr val="1B3B6F"/>
            </a:solidFill>
            <a:prstDash val="solid"/>
          </a:ln>
        </p:spPr>
      </p:sp>
      <p:sp>
        <p:nvSpPr>
          <p:cNvPr id="45" name="Text 42"/>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6" name="Text 43"/>
          <p:cNvSpPr txBox="1"/>
          <p:nvPr/>
        </p:nvSpPr>
        <p:spPr>
          <a:xfrm>
            <a:off x="950976" y="4224528"/>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47" name="Text 44"/>
          <p:cNvSpPr txBox="1"/>
          <p:nvPr/>
        </p:nvSpPr>
        <p:spPr>
          <a:xfrm>
            <a:off x="3323295" y="4224528"/>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ea typeface="Amiri" pitchFamily="2" charset="-78"/>
                <a:cs typeface="Amiri" pitchFamily="2" charset="-78"/>
              </a:rPr>
              <a:t>يَجِبُ أَنْ يَكُونَ المُدَرِّسُ ___ .</a:t>
            </a:r>
            <a:endParaRPr lang="ar-SA" sz="1500" dirty="0"/>
          </a:p>
        </p:txBody>
      </p:sp>
      <p:sp>
        <p:nvSpPr>
          <p:cNvPr id="48" name="Shape 45"/>
          <p:cNvSpPr/>
          <p:nvPr/>
        </p:nvSpPr>
        <p:spPr>
          <a:xfrm>
            <a:off x="640080" y="4873752"/>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0" name="Text 47"/>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صَبْرًا</a:t>
            </a:r>
            <a:endParaRPr lang="ar-SA" sz="2050" dirty="0"/>
          </a:p>
        </p:txBody>
      </p:sp>
      <p:sp>
        <p:nvSpPr>
          <p:cNvPr id="51" name="Shape 48"/>
          <p:cNvSpPr/>
          <p:nvPr/>
        </p:nvSpPr>
        <p:spPr>
          <a:xfrm>
            <a:off x="640080" y="5330952"/>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3" name="Text 50"/>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صَبُورًا</a:t>
            </a:r>
            <a:endParaRPr lang="ar-SA" sz="2050" dirty="0"/>
          </a:p>
        </p:txBody>
      </p:sp>
      <p:sp>
        <p:nvSpPr>
          <p:cNvPr id="54" name="Shape 51"/>
          <p:cNvSpPr/>
          <p:nvPr/>
        </p:nvSpPr>
        <p:spPr>
          <a:xfrm>
            <a:off x="640080" y="5788152"/>
            <a:ext cx="256032" cy="256032"/>
          </a:xfrm>
          <a:prstGeom prst="ellipse">
            <a:avLst/>
          </a:prstGeom>
          <a:solidFill>
            <a:srgbClr val="F4F1EA"/>
          </a:solidFill>
          <a:ln w="12700">
            <a:solidFill>
              <a:srgbClr val="F4F1EA"/>
            </a:solidFill>
            <a:prstDash val="solid"/>
          </a:ln>
        </p:spPr>
      </p:sp>
      <p:sp>
        <p:nvSpPr>
          <p:cNvPr id="55" name="Text 5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6" name="Text 53"/>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صَبُورَةً</a:t>
            </a:r>
            <a:endParaRPr lang="ar-SA" sz="2050" dirty="0"/>
          </a:p>
        </p:txBody>
      </p:sp>
      <p:sp>
        <p:nvSpPr>
          <p:cNvPr id="57" name="Shape 54"/>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8" name="Shape 55"/>
          <p:cNvSpPr/>
          <p:nvPr/>
        </p:nvSpPr>
        <p:spPr>
          <a:xfrm>
            <a:off x="6313932" y="4288536"/>
            <a:ext cx="310896" cy="310896"/>
          </a:xfrm>
          <a:prstGeom prst="ellipse">
            <a:avLst/>
          </a:prstGeom>
          <a:solidFill>
            <a:srgbClr val="1B3B6F"/>
          </a:solidFill>
          <a:ln w="12700">
            <a:solidFill>
              <a:srgbClr val="1B3B6F"/>
            </a:solidFill>
            <a:prstDash val="solid"/>
          </a:ln>
        </p:spPr>
      </p:sp>
      <p:sp>
        <p:nvSpPr>
          <p:cNvPr id="59" name="Text 56"/>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0" name="Text 57"/>
          <p:cNvSpPr txBox="1"/>
          <p:nvPr/>
        </p:nvSpPr>
        <p:spPr>
          <a:xfrm>
            <a:off x="6679692" y="4224528"/>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61" name="Text 58"/>
          <p:cNvSpPr txBox="1"/>
          <p:nvPr/>
        </p:nvSpPr>
        <p:spPr>
          <a:xfrm>
            <a:off x="9052011" y="4224528"/>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ea typeface="Amiri" pitchFamily="2" charset="-78"/>
                <a:cs typeface="Amiri" pitchFamily="2" charset="-78"/>
              </a:rPr>
              <a:t>تَسْتَطِيعُ أَنْ ___ ضِمْنَ فَرِيقٍ.</a:t>
            </a:r>
            <a:endParaRPr lang="ar-SA" sz="1500" dirty="0"/>
          </a:p>
        </p:txBody>
      </p:sp>
      <p:sp>
        <p:nvSpPr>
          <p:cNvPr id="62" name="Shape 59"/>
          <p:cNvSpPr/>
          <p:nvPr/>
        </p:nvSpPr>
        <p:spPr>
          <a:xfrm>
            <a:off x="6368796" y="4873752"/>
            <a:ext cx="256032" cy="256032"/>
          </a:xfrm>
          <a:prstGeom prst="ellipse">
            <a:avLst/>
          </a:prstGeom>
          <a:solidFill>
            <a:srgbClr val="F4F1EA"/>
          </a:solidFill>
          <a:ln w="12700">
            <a:solidFill>
              <a:srgbClr val="F4F1EA"/>
            </a:solidFill>
            <a:prstDash val="solid"/>
          </a:ln>
        </p:spPr>
      </p:sp>
      <p:sp>
        <p:nvSpPr>
          <p:cNvPr id="63" name="Text 60"/>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4" name="Text 61"/>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تَعْمَلَ</a:t>
            </a:r>
            <a:endParaRPr lang="ar-SA" sz="2050" dirty="0"/>
          </a:p>
        </p:txBody>
      </p:sp>
      <p:sp>
        <p:nvSpPr>
          <p:cNvPr id="65" name="Shape 62"/>
          <p:cNvSpPr/>
          <p:nvPr/>
        </p:nvSpPr>
        <p:spPr>
          <a:xfrm>
            <a:off x="6368796" y="5330952"/>
            <a:ext cx="256032" cy="256032"/>
          </a:xfrm>
          <a:prstGeom prst="ellipse">
            <a:avLst/>
          </a:prstGeom>
          <a:solidFill>
            <a:srgbClr val="F4F1EA"/>
          </a:solidFill>
          <a:ln w="12700">
            <a:solidFill>
              <a:srgbClr val="F4F1EA"/>
            </a:solidFill>
            <a:prstDash val="solid"/>
          </a:ln>
        </p:spPr>
      </p:sp>
      <p:sp>
        <p:nvSpPr>
          <p:cNvPr id="66" name="Text 63"/>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7" name="Text 64"/>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يَعْمَلَ</a:t>
            </a:r>
            <a:endParaRPr lang="ar-SA" sz="2050" dirty="0"/>
          </a:p>
        </p:txBody>
      </p:sp>
      <p:sp>
        <p:nvSpPr>
          <p:cNvPr id="68" name="Shape 65"/>
          <p:cNvSpPr/>
          <p:nvPr/>
        </p:nvSpPr>
        <p:spPr>
          <a:xfrm>
            <a:off x="6368796" y="5788152"/>
            <a:ext cx="256032" cy="256032"/>
          </a:xfrm>
          <a:prstGeom prst="ellipse">
            <a:avLst/>
          </a:prstGeom>
          <a:solidFill>
            <a:srgbClr val="F4F1EA"/>
          </a:solidFill>
          <a:ln w="12700">
            <a:solidFill>
              <a:srgbClr val="F4F1EA"/>
            </a:solidFill>
            <a:prstDash val="solid"/>
          </a:ln>
        </p:spPr>
      </p:sp>
      <p:sp>
        <p:nvSpPr>
          <p:cNvPr id="69" name="Text 66"/>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0" name="Text 67"/>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تَعْمَلُونَ</a:t>
            </a:r>
            <a:endParaRPr lang="ar-SA" sz="2050" dirty="0"/>
          </a:p>
        </p:txBody>
      </p:sp>
      <p:sp>
        <p:nvSpPr>
          <p:cNvPr id="71" name="Text 6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17 / 47</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TD-L08 · Skills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CHECK FOR UNDERSTANDING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Answers and reasons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D · The World of Work · TD-L08</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19" name="Text 16"/>
          <p:cNvSpPr txBox="1"/>
          <p:nvPr/>
        </p:nvSpPr>
        <p:spPr>
          <a:xfrm>
            <a:off x="3323295" y="1883664"/>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ea typeface="Amiri" pitchFamily="2" charset="-78"/>
                <a:cs typeface="Amiri" pitchFamily="2" charset="-78"/>
              </a:rPr>
              <a:t>يَحْتَاجُ الطَّبِيبُ ___ الصَّبْرِ.</a:t>
            </a:r>
            <a:endParaRPr lang="ar-SA" sz="1500" dirty="0"/>
          </a:p>
        </p:txBody>
      </p:sp>
      <p:sp>
        <p:nvSpPr>
          <p:cNvPr id="20" name="Shape 17"/>
          <p:cNvSpPr/>
          <p:nvPr/>
        </p:nvSpPr>
        <p:spPr>
          <a:xfrm>
            <a:off x="640080" y="2490216"/>
            <a:ext cx="256032" cy="256032"/>
          </a:xfrm>
          <a:prstGeom prst="ellipse">
            <a:avLst/>
          </a:prstGeom>
          <a:solidFill>
            <a:srgbClr val="C9CED6"/>
          </a:solidFill>
          <a:ln w="12700">
            <a:solidFill>
              <a:srgbClr val="C9CED6"/>
            </a:solidFill>
            <a:prstDash val="solid"/>
          </a:ln>
        </p:spPr>
      </p:sp>
      <p:sp>
        <p:nvSpPr>
          <p:cNvPr id="21" name="Text 18"/>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2" name="Text 19"/>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فِي</a:t>
            </a:r>
            <a:endParaRPr lang="ar-SA" sz="1700" dirty="0"/>
          </a:p>
        </p:txBody>
      </p:sp>
      <p:sp>
        <p:nvSpPr>
          <p:cNvPr id="23" name="Shape 20"/>
          <p:cNvSpPr/>
          <p:nvPr/>
        </p:nvSpPr>
        <p:spPr>
          <a:xfrm>
            <a:off x="640080" y="2862072"/>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عَنْ</a:t>
            </a:r>
            <a:endParaRPr lang="ar-SA" sz="1700" dirty="0"/>
          </a:p>
        </p:txBody>
      </p:sp>
      <p:sp>
        <p:nvSpPr>
          <p:cNvPr id="26" name="Shape 23"/>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7" name="Shape 24"/>
          <p:cNvSpPr/>
          <p:nvPr/>
        </p:nvSpPr>
        <p:spPr>
          <a:xfrm>
            <a:off x="640080" y="3233928"/>
            <a:ext cx="256032" cy="256032"/>
          </a:xfrm>
          <a:prstGeom prst="ellipse">
            <a:avLst/>
          </a:prstGeom>
          <a:solidFill>
            <a:srgbClr val="2E8B57"/>
          </a:solidFill>
          <a:ln w="12700">
            <a:solidFill>
              <a:srgbClr val="2E8B57"/>
            </a:solidFill>
            <a:prstDash val="solid"/>
          </a:ln>
        </p:spPr>
      </p:sp>
      <p:sp>
        <p:nvSpPr>
          <p:cNvPr id="28" name="Text 25"/>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29" name="Text 26"/>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إِلَى</a:t>
            </a:r>
            <a:endParaRPr lang="ar-SA" sz="1700" dirty="0"/>
          </a:p>
        </p:txBody>
      </p:sp>
      <p:sp>
        <p:nvSpPr>
          <p:cNvPr id="30" name="Text 27"/>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yaḥtāju ilā = needs.</a:t>
            </a:r>
            <a:endParaRPr lang="en-US" sz="1050" dirty="0"/>
          </a:p>
        </p:txBody>
      </p:sp>
      <p:sp>
        <p:nvSpPr>
          <p:cNvPr id="31" name="Shape 28"/>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6313932" y="1947672"/>
            <a:ext cx="310896" cy="310896"/>
          </a:xfrm>
          <a:prstGeom prst="ellipse">
            <a:avLst/>
          </a:prstGeom>
          <a:solidFill>
            <a:srgbClr val="1B3B6F"/>
          </a:solidFill>
          <a:ln w="12700">
            <a:solidFill>
              <a:srgbClr val="1B3B6F"/>
            </a:solidFill>
            <a:prstDash val="solid"/>
          </a:ln>
        </p:spPr>
      </p:sp>
      <p:sp>
        <p:nvSpPr>
          <p:cNvPr id="33" name="Text 30"/>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4" name="Text 31"/>
          <p:cNvSpPr txBox="1"/>
          <p:nvPr/>
        </p:nvSpPr>
        <p:spPr>
          <a:xfrm>
            <a:off x="6679692"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35" name="Text 32"/>
          <p:cNvSpPr txBox="1"/>
          <p:nvPr/>
        </p:nvSpPr>
        <p:spPr>
          <a:xfrm>
            <a:off x="9052011" y="1883664"/>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ea typeface="Amiri" pitchFamily="2" charset="-78"/>
                <a:cs typeface="Amiri" pitchFamily="2" charset="-78"/>
              </a:rPr>
              <a:t>يَجِبُ أَنْ ___ المُمَرِّضَةُ هَادِئَةً.</a:t>
            </a:r>
            <a:endParaRPr lang="ar-SA" sz="1500" dirty="0"/>
          </a:p>
        </p:txBody>
      </p:sp>
      <p:sp>
        <p:nvSpPr>
          <p:cNvPr id="36" name="Shape 33"/>
          <p:cNvSpPr/>
          <p:nvPr/>
        </p:nvSpPr>
        <p:spPr>
          <a:xfrm>
            <a:off x="6277356" y="2453640"/>
            <a:ext cx="5362956" cy="347472"/>
          </a:xfrm>
          <a:prstGeom prst="roundRect">
            <a:avLst>
              <a:gd name="adj" fmla="val 15789"/>
            </a:avLst>
          </a:prstGeom>
          <a:solidFill>
            <a:srgbClr val="E6F4EC"/>
          </a:solidFill>
          <a:ln w="9525">
            <a:solidFill>
              <a:srgbClr val="2E8B57"/>
            </a:solidFill>
            <a:prstDash val="solid"/>
          </a:ln>
        </p:spPr>
      </p:sp>
      <p:sp>
        <p:nvSpPr>
          <p:cNvPr id="37" name="Shape 34"/>
          <p:cNvSpPr/>
          <p:nvPr/>
        </p:nvSpPr>
        <p:spPr>
          <a:xfrm>
            <a:off x="6368796" y="2490216"/>
            <a:ext cx="256032" cy="256032"/>
          </a:xfrm>
          <a:prstGeom prst="ellipse">
            <a:avLst/>
          </a:prstGeom>
          <a:solidFill>
            <a:srgbClr val="2E8B57"/>
          </a:solidFill>
          <a:ln w="12700">
            <a:solidFill>
              <a:srgbClr val="2E8B57"/>
            </a:solidFill>
            <a:prstDash val="solid"/>
          </a:ln>
        </p:spPr>
      </p:sp>
      <p:sp>
        <p:nvSpPr>
          <p:cNvPr id="38" name="Text 35"/>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9" name="Text 36"/>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تَكُونَ</a:t>
            </a:r>
            <a:endParaRPr lang="ar-SA" sz="1700" dirty="0"/>
          </a:p>
        </p:txBody>
      </p:sp>
      <p:sp>
        <p:nvSpPr>
          <p:cNvPr id="40" name="Shape 37"/>
          <p:cNvSpPr/>
          <p:nvPr/>
        </p:nvSpPr>
        <p:spPr>
          <a:xfrm>
            <a:off x="6368796" y="2862072"/>
            <a:ext cx="256032" cy="256032"/>
          </a:xfrm>
          <a:prstGeom prst="ellipse">
            <a:avLst/>
          </a:prstGeom>
          <a:solidFill>
            <a:srgbClr val="C9CED6"/>
          </a:solidFill>
          <a:ln w="12700">
            <a:solidFill>
              <a:srgbClr val="C9CED6"/>
            </a:solidFill>
            <a:prstDash val="solid"/>
          </a:ln>
        </p:spPr>
      </p:sp>
      <p:sp>
        <p:nvSpPr>
          <p:cNvPr id="41" name="Text 38"/>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2" name="Text 39"/>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يَكُونَ</a:t>
            </a:r>
            <a:endParaRPr lang="ar-SA" sz="1700" dirty="0"/>
          </a:p>
        </p:txBody>
      </p:sp>
      <p:sp>
        <p:nvSpPr>
          <p:cNvPr id="43" name="Shape 40"/>
          <p:cNvSpPr/>
          <p:nvPr/>
        </p:nvSpPr>
        <p:spPr>
          <a:xfrm>
            <a:off x="6368796" y="3233928"/>
            <a:ext cx="256032" cy="256032"/>
          </a:xfrm>
          <a:prstGeom prst="ellipse">
            <a:avLst/>
          </a:prstGeom>
          <a:solidFill>
            <a:srgbClr val="C9CED6"/>
          </a:solidFill>
          <a:ln w="12700">
            <a:solidFill>
              <a:srgbClr val="C9CED6"/>
            </a:solidFill>
            <a:prstDash val="solid"/>
          </a:ln>
        </p:spPr>
      </p:sp>
      <p:sp>
        <p:nvSpPr>
          <p:cNvPr id="44" name="Text 41"/>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5" name="Text 42"/>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أَكُونَ</a:t>
            </a:r>
            <a:endParaRPr lang="ar-SA" sz="1700" dirty="0"/>
          </a:p>
        </p:txBody>
      </p:sp>
      <p:sp>
        <p:nvSpPr>
          <p:cNvPr id="46" name="Text 43"/>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nurse (f.) → takūna.</a:t>
            </a:r>
            <a:endParaRPr lang="en-US" sz="1050" dirty="0"/>
          </a:p>
        </p:txBody>
      </p:sp>
      <p:sp>
        <p:nvSpPr>
          <p:cNvPr id="47" name="Shape 44"/>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585216" y="4288536"/>
            <a:ext cx="310896" cy="310896"/>
          </a:xfrm>
          <a:prstGeom prst="ellipse">
            <a:avLst/>
          </a:prstGeom>
          <a:solidFill>
            <a:srgbClr val="1B3B6F"/>
          </a:solidFill>
          <a:ln w="12700">
            <a:solidFill>
              <a:srgbClr val="1B3B6F"/>
            </a:solidFill>
            <a:prstDash val="solid"/>
          </a:ln>
        </p:spPr>
      </p:sp>
      <p:sp>
        <p:nvSpPr>
          <p:cNvPr id="49" name="Text 4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50" name="Text 47"/>
          <p:cNvSpPr txBox="1"/>
          <p:nvPr/>
        </p:nvSpPr>
        <p:spPr>
          <a:xfrm>
            <a:off x="950976" y="4224528"/>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51" name="Text 48"/>
          <p:cNvSpPr txBox="1"/>
          <p:nvPr/>
        </p:nvSpPr>
        <p:spPr>
          <a:xfrm>
            <a:off x="3323295" y="4224528"/>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ea typeface="Amiri" pitchFamily="2" charset="-78"/>
                <a:cs typeface="Amiri" pitchFamily="2" charset="-78"/>
              </a:rPr>
              <a:t>يَجِبُ أَنْ يَكُونَ المُدَرِّسُ ___ .</a:t>
            </a:r>
            <a:endParaRPr lang="ar-SA" sz="1500" dirty="0"/>
          </a:p>
        </p:txBody>
      </p:sp>
      <p:sp>
        <p:nvSpPr>
          <p:cNvPr id="52" name="Shape 49"/>
          <p:cNvSpPr/>
          <p:nvPr/>
        </p:nvSpPr>
        <p:spPr>
          <a:xfrm>
            <a:off x="640080" y="4831080"/>
            <a:ext cx="256032" cy="256032"/>
          </a:xfrm>
          <a:prstGeom prst="ellipse">
            <a:avLst/>
          </a:prstGeom>
          <a:solidFill>
            <a:srgbClr val="C9CED6"/>
          </a:solidFill>
          <a:ln w="12700">
            <a:solidFill>
              <a:srgbClr val="C9CED6"/>
            </a:solidFill>
            <a:prstDash val="solid"/>
          </a:ln>
        </p:spPr>
      </p:sp>
      <p:sp>
        <p:nvSpPr>
          <p:cNvPr id="53" name="Text 50"/>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4" name="Text 51"/>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صَبْرًا</a:t>
            </a:r>
            <a:endParaRPr lang="ar-SA" sz="1700" dirty="0"/>
          </a:p>
        </p:txBody>
      </p:sp>
      <p:sp>
        <p:nvSpPr>
          <p:cNvPr id="55" name="Shape 52"/>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640080" y="5202936"/>
            <a:ext cx="256032" cy="256032"/>
          </a:xfrm>
          <a:prstGeom prst="ellipse">
            <a:avLst/>
          </a:prstGeom>
          <a:solidFill>
            <a:srgbClr val="2E8B57"/>
          </a:solidFill>
          <a:ln w="12700">
            <a:solidFill>
              <a:srgbClr val="2E8B57"/>
            </a:solidFill>
            <a:prstDash val="solid"/>
          </a:ln>
        </p:spPr>
      </p:sp>
      <p:sp>
        <p:nvSpPr>
          <p:cNvPr id="57" name="Text 54"/>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58" name="Text 55"/>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صَبُورًا</a:t>
            </a:r>
            <a:endParaRPr lang="ar-SA" sz="1700" dirty="0"/>
          </a:p>
        </p:txBody>
      </p:sp>
      <p:sp>
        <p:nvSpPr>
          <p:cNvPr id="59" name="Shape 56"/>
          <p:cNvSpPr/>
          <p:nvPr/>
        </p:nvSpPr>
        <p:spPr>
          <a:xfrm>
            <a:off x="640080" y="5574792"/>
            <a:ext cx="256032" cy="256032"/>
          </a:xfrm>
          <a:prstGeom prst="ellipse">
            <a:avLst/>
          </a:prstGeom>
          <a:solidFill>
            <a:srgbClr val="C9CED6"/>
          </a:solidFill>
          <a:ln w="12700">
            <a:solidFill>
              <a:srgbClr val="C9CED6"/>
            </a:solidFill>
            <a:prstDash val="solid"/>
          </a:ln>
        </p:spPr>
      </p:sp>
      <p:sp>
        <p:nvSpPr>
          <p:cNvPr id="60" name="Text 57"/>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1" name="Text 58"/>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صَبُورَةً</a:t>
            </a:r>
            <a:endParaRPr lang="ar-SA" sz="1700" dirty="0"/>
          </a:p>
        </p:txBody>
      </p:sp>
      <p:sp>
        <p:nvSpPr>
          <p:cNvPr id="62" name="Text 59"/>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Masculine teacher + -an.</a:t>
            </a:r>
            <a:endParaRPr lang="en-US" sz="1050" dirty="0"/>
          </a:p>
        </p:txBody>
      </p:sp>
      <p:sp>
        <p:nvSpPr>
          <p:cNvPr id="63" name="Shape 60"/>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6313932" y="4288536"/>
            <a:ext cx="310896" cy="310896"/>
          </a:xfrm>
          <a:prstGeom prst="ellipse">
            <a:avLst/>
          </a:prstGeom>
          <a:solidFill>
            <a:srgbClr val="1B3B6F"/>
          </a:solidFill>
          <a:ln w="12700">
            <a:solidFill>
              <a:srgbClr val="1B3B6F"/>
            </a:solidFill>
            <a:prstDash val="solid"/>
          </a:ln>
        </p:spPr>
      </p:sp>
      <p:sp>
        <p:nvSpPr>
          <p:cNvPr id="65" name="Text 62"/>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6" name="Text 63"/>
          <p:cNvSpPr txBox="1"/>
          <p:nvPr/>
        </p:nvSpPr>
        <p:spPr>
          <a:xfrm>
            <a:off x="6679692" y="4224528"/>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67" name="Text 64"/>
          <p:cNvSpPr txBox="1"/>
          <p:nvPr/>
        </p:nvSpPr>
        <p:spPr>
          <a:xfrm>
            <a:off x="9052011" y="4224528"/>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ea typeface="Amiri" pitchFamily="2" charset="-78"/>
                <a:cs typeface="Amiri" pitchFamily="2" charset="-78"/>
              </a:rPr>
              <a:t>تَسْتَطِيعُ أَنْ ___ ضِمْنَ فَرِيقٍ.</a:t>
            </a:r>
            <a:endParaRPr lang="ar-SA" sz="1500" dirty="0"/>
          </a:p>
        </p:txBody>
      </p:sp>
      <p:sp>
        <p:nvSpPr>
          <p:cNvPr id="68" name="Shape 65"/>
          <p:cNvSpPr/>
          <p:nvPr/>
        </p:nvSpPr>
        <p:spPr>
          <a:xfrm>
            <a:off x="6277356" y="4794504"/>
            <a:ext cx="5362956" cy="347472"/>
          </a:xfrm>
          <a:prstGeom prst="roundRect">
            <a:avLst>
              <a:gd name="adj" fmla="val 15789"/>
            </a:avLst>
          </a:prstGeom>
          <a:solidFill>
            <a:srgbClr val="E6F4EC"/>
          </a:solidFill>
          <a:ln w="9525">
            <a:solidFill>
              <a:srgbClr val="2E8B57"/>
            </a:solidFill>
            <a:prstDash val="solid"/>
          </a:ln>
        </p:spPr>
      </p:sp>
      <p:sp>
        <p:nvSpPr>
          <p:cNvPr id="69" name="Shape 66"/>
          <p:cNvSpPr/>
          <p:nvPr/>
        </p:nvSpPr>
        <p:spPr>
          <a:xfrm>
            <a:off x="6368796" y="4831080"/>
            <a:ext cx="256032" cy="256032"/>
          </a:xfrm>
          <a:prstGeom prst="ellipse">
            <a:avLst/>
          </a:prstGeom>
          <a:solidFill>
            <a:srgbClr val="2E8B57"/>
          </a:solidFill>
          <a:ln w="12700">
            <a:solidFill>
              <a:srgbClr val="2E8B57"/>
            </a:solidFill>
            <a:prstDash val="solid"/>
          </a:ln>
        </p:spPr>
      </p:sp>
      <p:sp>
        <p:nvSpPr>
          <p:cNvPr id="70" name="Text 67"/>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71" name="Text 68"/>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تَعْمَلَ</a:t>
            </a:r>
            <a:endParaRPr lang="ar-SA" sz="1700" dirty="0"/>
          </a:p>
        </p:txBody>
      </p:sp>
      <p:sp>
        <p:nvSpPr>
          <p:cNvPr id="72" name="Shape 69"/>
          <p:cNvSpPr/>
          <p:nvPr/>
        </p:nvSpPr>
        <p:spPr>
          <a:xfrm>
            <a:off x="6368796" y="5202936"/>
            <a:ext cx="256032" cy="256032"/>
          </a:xfrm>
          <a:prstGeom prst="ellipse">
            <a:avLst/>
          </a:prstGeom>
          <a:solidFill>
            <a:srgbClr val="C9CED6"/>
          </a:solidFill>
          <a:ln w="12700">
            <a:solidFill>
              <a:srgbClr val="C9CED6"/>
            </a:solidFill>
            <a:prstDash val="solid"/>
          </a:ln>
        </p:spPr>
      </p:sp>
      <p:sp>
        <p:nvSpPr>
          <p:cNvPr id="73" name="Text 70"/>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4" name="Text 71"/>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يَعْمَلَ</a:t>
            </a:r>
            <a:endParaRPr lang="ar-SA" sz="1700" dirty="0"/>
          </a:p>
        </p:txBody>
      </p:sp>
      <p:sp>
        <p:nvSpPr>
          <p:cNvPr id="75" name="Shape 72"/>
          <p:cNvSpPr/>
          <p:nvPr/>
        </p:nvSpPr>
        <p:spPr>
          <a:xfrm>
            <a:off x="6368796" y="5574792"/>
            <a:ext cx="256032" cy="256032"/>
          </a:xfrm>
          <a:prstGeom prst="ellipse">
            <a:avLst/>
          </a:prstGeom>
          <a:solidFill>
            <a:srgbClr val="C9CED6"/>
          </a:solidFill>
          <a:ln w="12700">
            <a:solidFill>
              <a:srgbClr val="C9CED6"/>
            </a:solidFill>
            <a:prstDash val="solid"/>
          </a:ln>
        </p:spPr>
      </p:sp>
      <p:sp>
        <p:nvSpPr>
          <p:cNvPr id="76" name="Text 73"/>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7" name="Text 74"/>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تَعْمَلُونَ</a:t>
            </a:r>
            <a:endParaRPr lang="ar-SA" sz="1700" dirty="0"/>
          </a:p>
        </p:txBody>
      </p:sp>
      <p:sp>
        <p:nvSpPr>
          <p:cNvPr id="78" name="Text 75"/>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She can → an taʿmala.</a:t>
            </a:r>
            <a:endParaRPr lang="en-US" sz="1050" dirty="0"/>
          </a:p>
        </p:txBody>
      </p:sp>
      <p:sp>
        <p:nvSpPr>
          <p:cNvPr id="79" name="Text 7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18 / 47</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TD-L08 ·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I DO · WATCH, THEN COPY</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Watch me describe a good nurse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شَاهِدْ ثُمَّ 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D · The World of Work · TD-L08</a:t>
            </a:r>
            <a:endParaRPr lang="en-US" sz="850" dirty="0"/>
          </a:p>
        </p:txBody>
      </p:sp>
      <p:sp>
        <p:nvSpPr>
          <p:cNvPr id="15" name="Shape 12"/>
          <p:cNvSpPr/>
          <p:nvPr/>
        </p:nvSpPr>
        <p:spPr>
          <a:xfrm>
            <a:off x="9050274"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19688" y="1938528"/>
            <a:ext cx="384048" cy="384048"/>
          </a:xfrm>
          <a:prstGeom prst="ellipse">
            <a:avLst/>
          </a:prstGeom>
          <a:solidFill>
            <a:srgbClr val="6B4C9A"/>
          </a:solidFill>
          <a:ln w="12700">
            <a:solidFill>
              <a:srgbClr val="6B4C9A"/>
            </a:solidFill>
            <a:prstDash val="solid"/>
          </a:ln>
        </p:spPr>
      </p:sp>
      <p:sp>
        <p:nvSpPr>
          <p:cNvPr id="17" name="Text 14"/>
          <p:cNvSpPr txBox="1"/>
          <p:nvPr/>
        </p:nvSpPr>
        <p:spPr>
          <a:xfrm>
            <a:off x="11219688"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1</a:t>
            </a:r>
            <a:endParaRPr lang="en-US" sz="1400" dirty="0"/>
          </a:p>
        </p:txBody>
      </p:sp>
      <p:sp>
        <p:nvSpPr>
          <p:cNvPr id="18" name="Text 15"/>
          <p:cNvSpPr txBox="1"/>
          <p:nvPr/>
        </p:nvSpPr>
        <p:spPr>
          <a:xfrm>
            <a:off x="9187434"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Needs</a:t>
            </a:r>
            <a:endParaRPr lang="en-US" sz="1250" dirty="0"/>
          </a:p>
        </p:txBody>
      </p:sp>
      <p:sp>
        <p:nvSpPr>
          <p:cNvPr id="19" name="Text 16"/>
          <p:cNvSpPr txBox="1"/>
          <p:nvPr/>
        </p:nvSpPr>
        <p:spPr>
          <a:xfrm>
            <a:off x="9160002"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750" b="1" dirty="0">
                <a:solidFill>
                  <a:srgbClr val="1B3B6F"/>
                </a:solidFill>
                <a:latin typeface="Amiri" pitchFamily="2" charset="-78"/>
                <a:ea typeface="Amiri" pitchFamily="2" charset="-78"/>
                <a:cs typeface="Amiri" pitchFamily="2" charset="-78"/>
              </a:rPr>
              <a:t>تَحْتَاجُ المُمَرِّضَةُ </a:t>
            </a:r>
            <a:pPr rtl="1" algn="ctr" indent="0" marL="0">
              <a:lnSpc>
                <a:spcPct val="120000"/>
              </a:lnSpc>
              <a:buNone/>
            </a:pPr>
            <a:r>
              <a:rPr lang="ar-SA" altLang="en-US" sz="1750" b="1" dirty="0">
                <a:solidFill>
                  <a:srgbClr val="0E7C86"/>
                </a:solidFill>
                <a:latin typeface="Amiri" pitchFamily="2" charset="-78"/>
                <a:ea typeface="Amiri" pitchFamily="2" charset="-78"/>
                <a:cs typeface="Amiri" pitchFamily="2" charset="-78"/>
              </a:rPr>
              <a:t>إِلَى</a:t>
            </a:r>
            <a:pPr rtl="1" algn="ctr" indent="0" marL="0">
              <a:lnSpc>
                <a:spcPct val="120000"/>
              </a:lnSpc>
              <a:buNone/>
            </a:pPr>
            <a:r>
              <a:rPr lang="ar-SA" altLang="en-US" sz="1750" b="1" dirty="0">
                <a:solidFill>
                  <a:srgbClr val="1B3B6F"/>
                </a:solidFill>
                <a:latin typeface="Amiri" pitchFamily="2" charset="-78"/>
                <a:ea typeface="Amiri" pitchFamily="2" charset="-78"/>
                <a:cs typeface="Amiri" pitchFamily="2" charset="-78"/>
              </a:rPr>
              <a:t> الصَّبْرِ وَالدِّقَّةِ.</a:t>
            </a:r>
            <a:endParaRPr lang="ar-SA" sz="1750" dirty="0"/>
          </a:p>
        </p:txBody>
      </p:sp>
      <p:sp>
        <p:nvSpPr>
          <p:cNvPr id="20" name="Text 17"/>
          <p:cNvSpPr txBox="1"/>
          <p:nvPr/>
        </p:nvSpPr>
        <p:spPr>
          <a:xfrm>
            <a:off x="9187434"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Skill nouns after ilā.</a:t>
            </a:r>
            <a:endParaRPr lang="en-US" sz="1150" dirty="0"/>
          </a:p>
        </p:txBody>
      </p:sp>
      <p:sp>
        <p:nvSpPr>
          <p:cNvPr id="21" name="Text 18"/>
          <p:cNvSpPr txBox="1"/>
          <p:nvPr/>
        </p:nvSpPr>
        <p:spPr>
          <a:xfrm>
            <a:off x="8867394"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22" name="Shape 19"/>
          <p:cNvSpPr/>
          <p:nvPr/>
        </p:nvSpPr>
        <p:spPr>
          <a:xfrm>
            <a:off x="6185916"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8355330" y="1938528"/>
            <a:ext cx="384048" cy="384048"/>
          </a:xfrm>
          <a:prstGeom prst="ellipse">
            <a:avLst/>
          </a:prstGeom>
          <a:solidFill>
            <a:srgbClr val="6B4C9A"/>
          </a:solidFill>
          <a:ln w="12700">
            <a:solidFill>
              <a:srgbClr val="6B4C9A"/>
            </a:solidFill>
            <a:prstDash val="solid"/>
          </a:ln>
        </p:spPr>
      </p:sp>
      <p:sp>
        <p:nvSpPr>
          <p:cNvPr id="24" name="Text 21"/>
          <p:cNvSpPr txBox="1"/>
          <p:nvPr/>
        </p:nvSpPr>
        <p:spPr>
          <a:xfrm>
            <a:off x="8355330"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2</a:t>
            </a:r>
            <a:endParaRPr lang="en-US" sz="1400" dirty="0"/>
          </a:p>
        </p:txBody>
      </p:sp>
      <p:sp>
        <p:nvSpPr>
          <p:cNvPr id="25" name="Text 22"/>
          <p:cNvSpPr txBox="1"/>
          <p:nvPr/>
        </p:nvSpPr>
        <p:spPr>
          <a:xfrm>
            <a:off x="6323076"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Must be</a:t>
            </a:r>
            <a:endParaRPr lang="en-US" sz="1250" dirty="0"/>
          </a:p>
        </p:txBody>
      </p:sp>
      <p:sp>
        <p:nvSpPr>
          <p:cNvPr id="26" name="Text 23"/>
          <p:cNvSpPr txBox="1"/>
          <p:nvPr/>
        </p:nvSpPr>
        <p:spPr>
          <a:xfrm>
            <a:off x="6295644" y="2450592"/>
            <a:ext cx="2462022" cy="914400"/>
          </a:xfrm>
          <a:prstGeom prst="rect">
            <a:avLst/>
          </a:prstGeom>
          <a:noFill/>
          <a:ln/>
        </p:spPr>
        <p:txBody>
          <a:bodyPr wrap="square" lIns="0" tIns="0" rIns="0" bIns="0" rtlCol="0" anchor="ctr"/>
          <a:lstStyle/>
          <a:p>
            <a:pPr rtl="1" algn="ctr" indent="0" marL="0">
              <a:buNone/>
            </a:pPr>
            <a:r>
              <a:rPr lang="ar-SA" altLang="en-US" sz="2700" b="1" dirty="0">
                <a:solidFill>
                  <a:srgbClr val="1B3B6F"/>
                </a:solidFill>
                <a:latin typeface="Amiri" pitchFamily="2" charset="-78"/>
                <a:ea typeface="Amiri" pitchFamily="2" charset="-78"/>
                <a:cs typeface="Amiri" pitchFamily="2" charset="-78"/>
              </a:rPr>
              <a:t>يَجِبُ أَنْ </a:t>
            </a:r>
            <a:pPr rtl="1" algn="ctr" indent="0" marL="0">
              <a:buNone/>
            </a:pPr>
            <a:r>
              <a:rPr lang="ar-SA" altLang="en-US" sz="2700" b="1" dirty="0">
                <a:solidFill>
                  <a:srgbClr val="D6336C"/>
                </a:solidFill>
                <a:latin typeface="Amiri" pitchFamily="2" charset="-78"/>
                <a:ea typeface="Amiri" pitchFamily="2" charset="-78"/>
                <a:cs typeface="Amiri" pitchFamily="2" charset="-78"/>
              </a:rPr>
              <a:t>تَكُونَ</a:t>
            </a:r>
            <a:pPr rtl="1" algn="ctr" indent="0" marL="0">
              <a:buNone/>
            </a:pPr>
            <a:r>
              <a:rPr lang="ar-SA" altLang="en-US" sz="2700" b="1" dirty="0">
                <a:solidFill>
                  <a:srgbClr val="1B3B6F"/>
                </a:solidFill>
                <a:latin typeface="Amiri" pitchFamily="2" charset="-78"/>
                <a:cs typeface="Amiri" pitchFamily="2" charset="-78"/>
              </a:rPr>
              <a:t> </a:t>
            </a:r>
            <a:pPr rtl="1" algn="ctr" indent="0" marL="0">
              <a:buNone/>
            </a:pPr>
            <a:r>
              <a:rPr lang="ar-SA" altLang="en-US" sz="2700" b="1" dirty="0">
                <a:solidFill>
                  <a:srgbClr val="D6336C"/>
                </a:solidFill>
                <a:latin typeface="Amiri" pitchFamily="2" charset="-78"/>
                <a:ea typeface="Amiri" pitchFamily="2" charset="-78"/>
                <a:cs typeface="Amiri" pitchFamily="2" charset="-78"/>
              </a:rPr>
              <a:t>هَادِئَةً</a:t>
            </a:r>
            <a:pPr rtl="1" algn="ctr" indent="0" marL="0">
              <a:buNone/>
            </a:pPr>
            <a:r>
              <a:rPr lang="ar-SA" altLang="en-US" sz="2700" b="1" dirty="0">
                <a:solidFill>
                  <a:srgbClr val="1B3B6F"/>
                </a:solidFill>
                <a:latin typeface="Amiri" pitchFamily="2" charset="-78"/>
                <a:cs typeface="Amiri" pitchFamily="2" charset="-78"/>
              </a:rPr>
              <a:t>.</a:t>
            </a:r>
            <a:endParaRPr lang="ar-SA" sz="2700" dirty="0"/>
          </a:p>
        </p:txBody>
      </p:sp>
      <p:sp>
        <p:nvSpPr>
          <p:cNvPr id="27" name="Text 24"/>
          <p:cNvSpPr txBox="1"/>
          <p:nvPr/>
        </p:nvSpPr>
        <p:spPr>
          <a:xfrm>
            <a:off x="6323076"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She → takūna + -atan.</a:t>
            </a:r>
            <a:endParaRPr lang="en-US" sz="1150" dirty="0"/>
          </a:p>
        </p:txBody>
      </p:sp>
      <p:sp>
        <p:nvSpPr>
          <p:cNvPr id="28" name="Text 25"/>
          <p:cNvSpPr txBox="1"/>
          <p:nvPr/>
        </p:nvSpPr>
        <p:spPr>
          <a:xfrm>
            <a:off x="6003036"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29" name="Shape 26"/>
          <p:cNvSpPr/>
          <p:nvPr/>
        </p:nvSpPr>
        <p:spPr>
          <a:xfrm>
            <a:off x="3321558"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490972" y="1938528"/>
            <a:ext cx="384048" cy="384048"/>
          </a:xfrm>
          <a:prstGeom prst="ellipse">
            <a:avLst/>
          </a:prstGeom>
          <a:solidFill>
            <a:srgbClr val="6B4C9A"/>
          </a:solidFill>
          <a:ln w="12700">
            <a:solidFill>
              <a:srgbClr val="6B4C9A"/>
            </a:solidFill>
            <a:prstDash val="solid"/>
          </a:ln>
        </p:spPr>
      </p:sp>
      <p:sp>
        <p:nvSpPr>
          <p:cNvPr id="31" name="Text 28"/>
          <p:cNvSpPr txBox="1"/>
          <p:nvPr/>
        </p:nvSpPr>
        <p:spPr>
          <a:xfrm>
            <a:off x="5490972"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3</a:t>
            </a:r>
            <a:endParaRPr lang="en-US" sz="1400" dirty="0"/>
          </a:p>
        </p:txBody>
      </p:sp>
      <p:sp>
        <p:nvSpPr>
          <p:cNvPr id="32" name="Text 29"/>
          <p:cNvSpPr txBox="1"/>
          <p:nvPr/>
        </p:nvSpPr>
        <p:spPr>
          <a:xfrm>
            <a:off x="3458718"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Can</a:t>
            </a:r>
            <a:endParaRPr lang="en-US" sz="1250" dirty="0"/>
          </a:p>
        </p:txBody>
      </p:sp>
      <p:sp>
        <p:nvSpPr>
          <p:cNvPr id="33" name="Text 30"/>
          <p:cNvSpPr txBox="1"/>
          <p:nvPr/>
        </p:nvSpPr>
        <p:spPr>
          <a:xfrm>
            <a:off x="3431286"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2000" b="1" dirty="0">
                <a:solidFill>
                  <a:srgbClr val="1B3B6F"/>
                </a:solidFill>
                <a:latin typeface="Amiri" pitchFamily="2" charset="-78"/>
                <a:ea typeface="Amiri" pitchFamily="2" charset="-78"/>
                <a:cs typeface="Amiri" pitchFamily="2" charset="-78"/>
              </a:rPr>
              <a:t>تَسْتَطِيعُ أَنْ </a:t>
            </a:r>
            <a:pPr rtl="1" algn="ctr" indent="0" marL="0">
              <a:lnSpc>
                <a:spcPct val="120000"/>
              </a:lnSpc>
              <a:buNone/>
            </a:pPr>
            <a:r>
              <a:rPr lang="ar-SA" altLang="en-US" sz="2000" b="1" dirty="0">
                <a:solidFill>
                  <a:srgbClr val="1D5FBF"/>
                </a:solidFill>
                <a:latin typeface="Amiri" pitchFamily="2" charset="-78"/>
                <a:ea typeface="Amiri" pitchFamily="2" charset="-78"/>
                <a:cs typeface="Amiri" pitchFamily="2" charset="-78"/>
              </a:rPr>
              <a:t>تَعْمَلَ</a:t>
            </a:r>
            <a:pPr rtl="1" algn="ctr" indent="0" marL="0">
              <a:lnSpc>
                <a:spcPct val="120000"/>
              </a:lnSpc>
              <a:buNone/>
            </a:pPr>
            <a:r>
              <a:rPr lang="ar-SA" altLang="en-US" sz="2000" b="1" dirty="0">
                <a:solidFill>
                  <a:srgbClr val="1B3B6F"/>
                </a:solidFill>
                <a:latin typeface="Amiri" pitchFamily="2" charset="-78"/>
                <a:ea typeface="Amiri" pitchFamily="2" charset="-78"/>
                <a:cs typeface="Amiri" pitchFamily="2" charset="-78"/>
              </a:rPr>
              <a:t> ضِمْنَ فَرِيقٍ.</a:t>
            </a:r>
            <a:endParaRPr lang="ar-SA" sz="2000" dirty="0"/>
          </a:p>
        </p:txBody>
      </p:sp>
      <p:sp>
        <p:nvSpPr>
          <p:cNvPr id="34" name="Text 31"/>
          <p:cNvSpPr txBox="1"/>
          <p:nvPr/>
        </p:nvSpPr>
        <p:spPr>
          <a:xfrm>
            <a:off x="3458718"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an + verb (-a).</a:t>
            </a:r>
            <a:endParaRPr lang="en-US" sz="1150" dirty="0"/>
          </a:p>
        </p:txBody>
      </p:sp>
      <p:sp>
        <p:nvSpPr>
          <p:cNvPr id="35" name="Text 32"/>
          <p:cNvSpPr txBox="1"/>
          <p:nvPr/>
        </p:nvSpPr>
        <p:spPr>
          <a:xfrm>
            <a:off x="3138678"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36" name="Shape 33"/>
          <p:cNvSpPr/>
          <p:nvPr/>
        </p:nvSpPr>
        <p:spPr>
          <a:xfrm>
            <a:off x="457200"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2626614" y="1938528"/>
            <a:ext cx="384048" cy="384048"/>
          </a:xfrm>
          <a:prstGeom prst="ellipse">
            <a:avLst/>
          </a:prstGeom>
          <a:solidFill>
            <a:srgbClr val="6B4C9A"/>
          </a:solidFill>
          <a:ln w="12700">
            <a:solidFill>
              <a:srgbClr val="6B4C9A"/>
            </a:solidFill>
            <a:prstDash val="solid"/>
          </a:ln>
        </p:spPr>
      </p:sp>
      <p:sp>
        <p:nvSpPr>
          <p:cNvPr id="38" name="Text 35"/>
          <p:cNvSpPr txBox="1"/>
          <p:nvPr/>
        </p:nvSpPr>
        <p:spPr>
          <a:xfrm>
            <a:off x="2626614"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4</a:t>
            </a:r>
            <a:endParaRPr lang="en-US" sz="1400" dirty="0"/>
          </a:p>
        </p:txBody>
      </p:sp>
      <p:sp>
        <p:nvSpPr>
          <p:cNvPr id="39" name="Text 36"/>
          <p:cNvSpPr txBox="1"/>
          <p:nvPr/>
        </p:nvSpPr>
        <p:spPr>
          <a:xfrm>
            <a:off x="594360"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Proof</a:t>
            </a:r>
            <a:endParaRPr lang="en-US" sz="1250" dirty="0"/>
          </a:p>
        </p:txBody>
      </p:sp>
      <p:sp>
        <p:nvSpPr>
          <p:cNvPr id="40" name="Text 37"/>
          <p:cNvSpPr txBox="1"/>
          <p:nvPr/>
        </p:nvSpPr>
        <p:spPr>
          <a:xfrm>
            <a:off x="566928"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750" b="1" dirty="0">
                <a:solidFill>
                  <a:srgbClr val="1B3B6F"/>
                </a:solidFill>
                <a:latin typeface="Amiri" pitchFamily="2" charset="-78"/>
                <a:ea typeface="Amiri" pitchFamily="2" charset="-78"/>
                <a:cs typeface="Amiri" pitchFamily="2" charset="-78"/>
              </a:rPr>
              <a:t>مُمَرِّضَتِي مَسْؤُولَةٌ </a:t>
            </a:r>
            <a:pPr rtl="1" algn="ctr" indent="0" marL="0">
              <a:lnSpc>
                <a:spcPct val="120000"/>
              </a:lnSpc>
              <a:buNone/>
            </a:pPr>
            <a:r>
              <a:rPr lang="ar-SA" altLang="en-US" sz="1750" b="1" dirty="0">
                <a:solidFill>
                  <a:srgbClr val="0E7C86"/>
                </a:solidFill>
                <a:latin typeface="Amiri" pitchFamily="2" charset="-78"/>
                <a:ea typeface="Amiri" pitchFamily="2" charset="-78"/>
                <a:cs typeface="Amiri" pitchFamily="2" charset="-78"/>
              </a:rPr>
              <a:t>لِأَنَّهَا</a:t>
            </a:r>
            <a:pPr rtl="1" algn="ctr" indent="0" marL="0">
              <a:lnSpc>
                <a:spcPct val="120000"/>
              </a:lnSpc>
              <a:buNone/>
            </a:pPr>
            <a:r>
              <a:rPr lang="ar-SA" altLang="en-US" sz="1750" b="1" dirty="0">
                <a:solidFill>
                  <a:srgbClr val="1B3B6F"/>
                </a:solidFill>
                <a:latin typeface="Amiri" pitchFamily="2" charset="-78"/>
                <a:ea typeface="Amiri" pitchFamily="2" charset="-78"/>
                <a:cs typeface="Amiri" pitchFamily="2" charset="-78"/>
              </a:rPr>
              <a:t> تَحْتَرِمُ المَوَاعِيدَ.</a:t>
            </a:r>
            <a:endParaRPr lang="ar-SA" sz="1750" dirty="0"/>
          </a:p>
        </p:txBody>
      </p:sp>
      <p:sp>
        <p:nvSpPr>
          <p:cNvPr id="41" name="Text 38"/>
          <p:cNvSpPr txBox="1"/>
          <p:nvPr/>
        </p:nvSpPr>
        <p:spPr>
          <a:xfrm>
            <a:off x="594360"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Quality + behaviour.</a:t>
            </a:r>
            <a:endParaRPr lang="en-US" sz="1150" dirty="0"/>
          </a:p>
        </p:txBody>
      </p:sp>
      <p:sp>
        <p:nvSpPr>
          <p:cNvPr id="42" name="Shape 39"/>
          <p:cNvSpPr/>
          <p:nvPr/>
        </p:nvSpPr>
        <p:spPr>
          <a:xfrm>
            <a:off x="457200" y="4480560"/>
            <a:ext cx="11274552" cy="1828800"/>
          </a:xfrm>
          <a:prstGeom prst="roundRect">
            <a:avLst>
              <a:gd name="adj" fmla="val 4000"/>
            </a:avLst>
          </a:prstGeom>
          <a:solidFill>
            <a:srgbClr val="F1ECF8"/>
          </a:solidFill>
          <a:ln w="9525">
            <a:solidFill>
              <a:srgbClr val="CFC2E3"/>
            </a:solidFill>
            <a:prstDash val="solid"/>
          </a:ln>
          <a:effectLst>
            <a:outerShdw sx="100000" sy="100000" kx="0" ky="0" algn="bl" rotWithShape="0" blurRad="50800" dist="19050" dir="5400000">
              <a:srgbClr val="000000">
                <a:alpha val="10000"/>
              </a:srgbClr>
            </a:outerShdw>
          </a:effectLst>
        </p:spPr>
      </p:sp>
      <p:pic>
        <p:nvPicPr>
          <p:cNvPr id="43" name="Image 0" descr="preencoded.png">    </p:cNvPr>
          <p:cNvPicPr>
            <a:picLocks noChangeAspect="1"/>
          </p:cNvPicPr>
          <p:nvPr/>
        </p:nvPicPr>
        <p:blipFill>
          <a:blip r:embed="rId1"/>
          <a:stretch>
            <a:fillRect/>
          </a:stretch>
        </p:blipFill>
        <p:spPr>
          <a:xfrm>
            <a:off x="685800" y="4663440"/>
            <a:ext cx="457200" cy="457200"/>
          </a:xfrm>
          <a:prstGeom prst="rect">
            <a:avLst/>
          </a:prstGeom>
        </p:spPr>
      </p:pic>
      <p:sp>
        <p:nvSpPr>
          <p:cNvPr id="44" name="Text 40"/>
          <p:cNvSpPr txBox="1"/>
          <p:nvPr/>
        </p:nvSpPr>
        <p:spPr>
          <a:xfrm>
            <a:off x="1280160" y="4736592"/>
            <a:ext cx="3657600" cy="310896"/>
          </a:xfrm>
          <a:prstGeom prst="rect">
            <a:avLst/>
          </a:prstGeom>
          <a:noFill/>
          <a:ln/>
        </p:spPr>
        <p:txBody>
          <a:bodyPr wrap="square" lIns="0" tIns="0" rIns="0" bIns="0" rtlCol="0" anchor="ctr"/>
          <a:lstStyle/>
          <a:p>
            <a:pPr algn="l" indent="0" marL="0">
              <a:buNone/>
            </a:pPr>
            <a:r>
              <a:rPr lang="en-US" sz="1200" b="1" spc="200" kern="0" dirty="0">
                <a:solidFill>
                  <a:srgbClr val="6B4C9A"/>
                </a:solidFill>
                <a:latin typeface="Calibri" pitchFamily="34" charset="0"/>
                <a:cs typeface="Amiri" pitchFamily="2" charset="-78"/>
              </a:rPr>
              <a:t>COPY THIS INTO YOUR BOOK</a:t>
            </a:r>
            <a:endParaRPr lang="en-US" sz="1200" dirty="0"/>
          </a:p>
        </p:txBody>
      </p:sp>
      <p:sp>
        <p:nvSpPr>
          <p:cNvPr id="45" name="Shape 41"/>
          <p:cNvSpPr/>
          <p:nvPr/>
        </p:nvSpPr>
        <p:spPr>
          <a:xfrm>
            <a:off x="8540496" y="4736592"/>
            <a:ext cx="914400" cy="237744"/>
          </a:xfrm>
          <a:prstGeom prst="roundRect">
            <a:avLst>
              <a:gd name="adj" fmla="val 50000"/>
            </a:avLst>
          </a:prstGeom>
          <a:solidFill>
            <a:srgbClr val="0E7C86"/>
          </a:solidFill>
          <a:ln w="12700">
            <a:solidFill>
              <a:srgbClr val="0E7C86"/>
            </a:solidFill>
            <a:prstDash val="solid"/>
          </a:ln>
        </p:spPr>
      </p:sp>
      <p:sp>
        <p:nvSpPr>
          <p:cNvPr id="46" name="Text 42"/>
          <p:cNvSpPr txBox="1"/>
          <p:nvPr/>
        </p:nvSpPr>
        <p:spPr>
          <a:xfrm>
            <a:off x="8540496"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NEEDS / PROOF</a:t>
            </a:r>
            <a:endParaRPr lang="en-US" sz="800" dirty="0"/>
          </a:p>
        </p:txBody>
      </p:sp>
      <p:sp>
        <p:nvSpPr>
          <p:cNvPr id="47" name="Shape 43"/>
          <p:cNvSpPr/>
          <p:nvPr/>
        </p:nvSpPr>
        <p:spPr>
          <a:xfrm>
            <a:off x="9528048" y="4736592"/>
            <a:ext cx="914400" cy="237744"/>
          </a:xfrm>
          <a:prstGeom prst="roundRect">
            <a:avLst>
              <a:gd name="adj" fmla="val 50000"/>
            </a:avLst>
          </a:prstGeom>
          <a:solidFill>
            <a:srgbClr val="D6336C"/>
          </a:solidFill>
          <a:ln w="12700">
            <a:solidFill>
              <a:srgbClr val="D6336C"/>
            </a:solidFill>
            <a:prstDash val="solid"/>
          </a:ln>
        </p:spPr>
      </p:sp>
      <p:sp>
        <p:nvSpPr>
          <p:cNvPr id="48" name="Text 44"/>
          <p:cNvSpPr txBox="1"/>
          <p:nvPr/>
        </p:nvSpPr>
        <p:spPr>
          <a:xfrm>
            <a:off x="9528048"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MUST BE</a:t>
            </a:r>
            <a:endParaRPr lang="en-US" sz="800" dirty="0"/>
          </a:p>
        </p:txBody>
      </p:sp>
      <p:sp>
        <p:nvSpPr>
          <p:cNvPr id="49" name="Shape 45"/>
          <p:cNvSpPr/>
          <p:nvPr/>
        </p:nvSpPr>
        <p:spPr>
          <a:xfrm>
            <a:off x="10515600" y="4736592"/>
            <a:ext cx="914400" cy="237744"/>
          </a:xfrm>
          <a:prstGeom prst="roundRect">
            <a:avLst>
              <a:gd name="adj" fmla="val 50000"/>
            </a:avLst>
          </a:prstGeom>
          <a:solidFill>
            <a:srgbClr val="1D5FBF"/>
          </a:solidFill>
          <a:ln w="12700">
            <a:solidFill>
              <a:srgbClr val="1D5FBF"/>
            </a:solidFill>
            <a:prstDash val="solid"/>
          </a:ln>
        </p:spPr>
      </p:sp>
      <p:sp>
        <p:nvSpPr>
          <p:cNvPr id="50" name="Text 46"/>
          <p:cNvSpPr txBox="1"/>
          <p:nvPr/>
        </p:nvSpPr>
        <p:spPr>
          <a:xfrm>
            <a:off x="10515600"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CAN</a:t>
            </a:r>
            <a:endParaRPr lang="en-US" sz="800" dirty="0"/>
          </a:p>
        </p:txBody>
      </p:sp>
      <p:sp>
        <p:nvSpPr>
          <p:cNvPr id="51" name="Text 47"/>
          <p:cNvSpPr txBox="1"/>
          <p:nvPr/>
        </p:nvSpPr>
        <p:spPr>
          <a:xfrm>
            <a:off x="685800" y="5029200"/>
            <a:ext cx="10817352" cy="731520"/>
          </a:xfrm>
          <a:prstGeom prst="rect">
            <a:avLst/>
          </a:prstGeom>
          <a:noFill/>
          <a:ln/>
        </p:spPr>
        <p:txBody>
          <a:bodyPr wrap="square" lIns="0" tIns="0" rIns="0" bIns="0" rtlCol="0" anchor="ctr"/>
          <a:lstStyle/>
          <a:p>
            <a:pPr rtl="1" algn="r" indent="0" marL="0">
              <a:lnSpc>
                <a:spcPct val="120000"/>
              </a:lnSpc>
              <a:buNone/>
            </a:pPr>
            <a:r>
              <a:rPr lang="ar-SA" altLang="en-US" sz="1400" b="1" dirty="0">
                <a:solidFill>
                  <a:srgbClr val="1B3B6F"/>
                </a:solidFill>
                <a:latin typeface="Amiri" pitchFamily="2" charset="-78"/>
                <a:ea typeface="Amiri" pitchFamily="2" charset="-78"/>
                <a:cs typeface="Amiri" pitchFamily="2" charset="-78"/>
              </a:rPr>
              <a:t>تَحْتَاجُ المُمَرِّضَةُ </a:t>
            </a:r>
            <a:pPr rtl="1" algn="r" indent="0" marL="0">
              <a:lnSpc>
                <a:spcPct val="120000"/>
              </a:lnSpc>
              <a:buNone/>
            </a:pPr>
            <a:r>
              <a:rPr lang="ar-SA" altLang="en-US" sz="1400" b="1" dirty="0">
                <a:solidFill>
                  <a:srgbClr val="0E7C86"/>
                </a:solidFill>
                <a:latin typeface="Amiri" pitchFamily="2" charset="-78"/>
                <a:ea typeface="Amiri" pitchFamily="2" charset="-78"/>
                <a:cs typeface="Amiri" pitchFamily="2" charset="-78"/>
              </a:rPr>
              <a:t>إِلَى</a:t>
            </a:r>
            <a:pPr rtl="1" algn="r" indent="0" marL="0">
              <a:lnSpc>
                <a:spcPct val="120000"/>
              </a:lnSpc>
              <a:buNone/>
            </a:pPr>
            <a:r>
              <a:rPr lang="ar-SA" altLang="en-US" sz="1400" b="1" dirty="0">
                <a:solidFill>
                  <a:srgbClr val="1B3B6F"/>
                </a:solidFill>
                <a:latin typeface="Amiri" pitchFamily="2" charset="-78"/>
                <a:ea typeface="Amiri" pitchFamily="2" charset="-78"/>
                <a:cs typeface="Amiri" pitchFamily="2" charset="-78"/>
              </a:rPr>
              <a:t> الصَّبْرِ وَالدِّقَّةِ، وَيَجِبُ أَنْ </a:t>
            </a:r>
            <a:pPr rtl="1" algn="r" indent="0" marL="0">
              <a:lnSpc>
                <a:spcPct val="120000"/>
              </a:lnSpc>
              <a:buNone/>
            </a:pPr>
            <a:r>
              <a:rPr lang="ar-SA" altLang="en-US" sz="1400" b="1" dirty="0">
                <a:solidFill>
                  <a:srgbClr val="D6336C"/>
                </a:solidFill>
                <a:latin typeface="Amiri" pitchFamily="2" charset="-78"/>
                <a:ea typeface="Amiri" pitchFamily="2" charset="-78"/>
                <a:cs typeface="Amiri" pitchFamily="2" charset="-78"/>
              </a:rPr>
              <a:t>تَكُونَ</a:t>
            </a:r>
            <a:pPr rtl="1" algn="r" indent="0" marL="0">
              <a:lnSpc>
                <a:spcPct val="120000"/>
              </a:lnSpc>
              <a:buNone/>
            </a:pPr>
            <a:r>
              <a:rPr lang="ar-SA" altLang="en-US" sz="1400" b="1" dirty="0">
                <a:solidFill>
                  <a:srgbClr val="1B3B6F"/>
                </a:solidFill>
                <a:latin typeface="Amiri" pitchFamily="2" charset="-78"/>
                <a:cs typeface="Amiri" pitchFamily="2" charset="-78"/>
              </a:rPr>
              <a:t> </a:t>
            </a:r>
            <a:pPr rtl="1" algn="r" indent="0" marL="0">
              <a:lnSpc>
                <a:spcPct val="120000"/>
              </a:lnSpc>
              <a:buNone/>
            </a:pPr>
            <a:r>
              <a:rPr lang="ar-SA" altLang="en-US" sz="1400" b="1" dirty="0">
                <a:solidFill>
                  <a:srgbClr val="D6336C"/>
                </a:solidFill>
                <a:latin typeface="Amiri" pitchFamily="2" charset="-78"/>
                <a:ea typeface="Amiri" pitchFamily="2" charset="-78"/>
                <a:cs typeface="Amiri" pitchFamily="2" charset="-78"/>
              </a:rPr>
              <a:t>هَادِئَةً</a:t>
            </a:r>
            <a:pPr rtl="1" algn="r" indent="0" marL="0">
              <a:lnSpc>
                <a:spcPct val="120000"/>
              </a:lnSpc>
              <a:buNone/>
            </a:pPr>
            <a:r>
              <a:rPr lang="ar-SA" altLang="en-US" sz="1400" b="1" dirty="0">
                <a:solidFill>
                  <a:srgbClr val="1B3B6F"/>
                </a:solidFill>
                <a:latin typeface="Amiri" pitchFamily="2" charset="-78"/>
                <a:ea typeface="Amiri" pitchFamily="2" charset="-78"/>
                <a:cs typeface="Amiri" pitchFamily="2" charset="-78"/>
              </a:rPr>
              <a:t> عِنْدَمَا يَكُونُ المَرِيضُ قَلِقًا. يَجِبُ أَيْضًا أَنْ </a:t>
            </a:r>
            <a:pPr rtl="1" algn="r" indent="0" marL="0">
              <a:lnSpc>
                <a:spcPct val="120000"/>
              </a:lnSpc>
              <a:buNone/>
            </a:pPr>
            <a:r>
              <a:rPr lang="ar-SA" altLang="en-US" sz="1400" b="1" dirty="0">
                <a:solidFill>
                  <a:srgbClr val="1D5FBF"/>
                </a:solidFill>
                <a:latin typeface="Amiri" pitchFamily="2" charset="-78"/>
                <a:ea typeface="Amiri" pitchFamily="2" charset="-78"/>
                <a:cs typeface="Amiri" pitchFamily="2" charset="-78"/>
              </a:rPr>
              <a:t>تَسْتَطِيعَ</a:t>
            </a:r>
            <a:pPr rtl="1" algn="r" indent="0" marL="0">
              <a:lnSpc>
                <a:spcPct val="120000"/>
              </a:lnSpc>
              <a:buNone/>
            </a:pPr>
            <a:r>
              <a:rPr lang="ar-SA" altLang="en-US" sz="1400" b="1" dirty="0">
                <a:solidFill>
                  <a:srgbClr val="1B3B6F"/>
                </a:solidFill>
                <a:latin typeface="Amiri" pitchFamily="2" charset="-78"/>
                <a:ea typeface="Amiri" pitchFamily="2" charset="-78"/>
                <a:cs typeface="Amiri" pitchFamily="2" charset="-78"/>
              </a:rPr>
              <a:t> العَمَلَ ضِمْنَ فَرِيقٍ لِأَنَّهَا تَعْمَلُ مَعَ الأَطِبَّاءِ. أَمَّا المُبَرْمِجُ فَيَحْتَاجُ </a:t>
            </a:r>
            <a:pPr rtl="1" algn="r" indent="0" marL="0">
              <a:lnSpc>
                <a:spcPct val="120000"/>
              </a:lnSpc>
              <a:buNone/>
            </a:pPr>
            <a:r>
              <a:rPr lang="ar-SA" altLang="en-US" sz="1400" b="1" dirty="0">
                <a:solidFill>
                  <a:srgbClr val="0E7C86"/>
                </a:solidFill>
                <a:latin typeface="Amiri" pitchFamily="2" charset="-78"/>
                <a:ea typeface="Amiri" pitchFamily="2" charset="-78"/>
                <a:cs typeface="Amiri" pitchFamily="2" charset="-78"/>
              </a:rPr>
              <a:t>إِلَى</a:t>
            </a:r>
            <a:pPr rtl="1" algn="r" indent="0" marL="0">
              <a:lnSpc>
                <a:spcPct val="120000"/>
              </a:lnSpc>
              <a:buNone/>
            </a:pPr>
            <a:r>
              <a:rPr lang="ar-SA" altLang="en-US" sz="1400" b="1" dirty="0">
                <a:solidFill>
                  <a:srgbClr val="1B3B6F"/>
                </a:solidFill>
                <a:latin typeface="Amiri" pitchFamily="2" charset="-78"/>
                <a:ea typeface="Amiri" pitchFamily="2" charset="-78"/>
                <a:cs typeface="Amiri" pitchFamily="2" charset="-78"/>
              </a:rPr>
              <a:t> التَّفْكِيرِ المَنْطِقِيِّ، وَيَجِبُ أَنْ </a:t>
            </a:r>
            <a:pPr rtl="1" algn="r" indent="0" marL="0">
              <a:lnSpc>
                <a:spcPct val="120000"/>
              </a:lnSpc>
              <a:buNone/>
            </a:pPr>
            <a:r>
              <a:rPr lang="ar-SA" altLang="en-US" sz="1400" b="1" dirty="0">
                <a:solidFill>
                  <a:srgbClr val="D6336C"/>
                </a:solidFill>
                <a:latin typeface="Amiri" pitchFamily="2" charset="-78"/>
                <a:ea typeface="Amiri" pitchFamily="2" charset="-78"/>
                <a:cs typeface="Amiri" pitchFamily="2" charset="-78"/>
              </a:rPr>
              <a:t>يَكُونَ</a:t>
            </a:r>
            <a:pPr rtl="1" algn="r" indent="0" marL="0">
              <a:lnSpc>
                <a:spcPct val="120000"/>
              </a:lnSpc>
              <a:buNone/>
            </a:pPr>
            <a:r>
              <a:rPr lang="ar-SA" altLang="en-US" sz="1400" b="1" dirty="0">
                <a:solidFill>
                  <a:srgbClr val="1B3B6F"/>
                </a:solidFill>
                <a:latin typeface="Amiri" pitchFamily="2" charset="-78"/>
                <a:cs typeface="Amiri" pitchFamily="2" charset="-78"/>
              </a:rPr>
              <a:t> </a:t>
            </a:r>
            <a:pPr rtl="1" algn="r" indent="0" marL="0">
              <a:lnSpc>
                <a:spcPct val="120000"/>
              </a:lnSpc>
              <a:buNone/>
            </a:pPr>
            <a:r>
              <a:rPr lang="ar-SA" altLang="en-US" sz="1400" b="1" dirty="0">
                <a:solidFill>
                  <a:srgbClr val="D6336C"/>
                </a:solidFill>
                <a:latin typeface="Amiri" pitchFamily="2" charset="-78"/>
                <a:ea typeface="Amiri" pitchFamily="2" charset="-78"/>
                <a:cs typeface="Amiri" pitchFamily="2" charset="-78"/>
              </a:rPr>
              <a:t>مُنَظَّمًا</a:t>
            </a:r>
            <a:pPr rtl="1" algn="r" indent="0" marL="0">
              <a:lnSpc>
                <a:spcPct val="120000"/>
              </a:lnSpc>
              <a:buNone/>
            </a:pPr>
            <a:r>
              <a:rPr lang="ar-SA" altLang="en-US" sz="1400" b="1" dirty="0">
                <a:solidFill>
                  <a:srgbClr val="1B3B6F"/>
                </a:solidFill>
                <a:latin typeface="Amiri" pitchFamily="2" charset="-78"/>
                <a:ea typeface="Amiri" pitchFamily="2" charset="-78"/>
                <a:cs typeface="Amiri" pitchFamily="2" charset="-78"/>
              </a:rPr>
              <a:t>. خَالَتِي مُمَرِّضَةٌ مَسْؤُولَةٌ </a:t>
            </a:r>
            <a:pPr rtl="1" algn="r" indent="0" marL="0">
              <a:lnSpc>
                <a:spcPct val="120000"/>
              </a:lnSpc>
              <a:buNone/>
            </a:pPr>
            <a:r>
              <a:rPr lang="ar-SA" altLang="en-US" sz="1400" b="1" dirty="0">
                <a:solidFill>
                  <a:srgbClr val="0E7C86"/>
                </a:solidFill>
                <a:latin typeface="Amiri" pitchFamily="2" charset="-78"/>
                <a:ea typeface="Amiri" pitchFamily="2" charset="-78"/>
                <a:cs typeface="Amiri" pitchFamily="2" charset="-78"/>
              </a:rPr>
              <a:t>لِأَنَّهَا</a:t>
            </a:r>
            <a:pPr rtl="1" algn="r" indent="0" marL="0">
              <a:lnSpc>
                <a:spcPct val="120000"/>
              </a:lnSpc>
              <a:buNone/>
            </a:pPr>
            <a:r>
              <a:rPr lang="ar-SA" altLang="en-US" sz="1400" b="1" dirty="0">
                <a:solidFill>
                  <a:srgbClr val="1B3B6F"/>
                </a:solidFill>
                <a:latin typeface="Amiri" pitchFamily="2" charset="-78"/>
                <a:ea typeface="Amiri" pitchFamily="2" charset="-78"/>
                <a:cs typeface="Amiri" pitchFamily="2" charset="-78"/>
              </a:rPr>
              <a:t> تَحْتَرِمُ المَوَاعِيدَ وَتُسَاعِدُ زُمَلَاءَهَا.</a:t>
            </a:r>
            <a:endParaRPr lang="ar-SA" sz="1400" dirty="0"/>
          </a:p>
        </p:txBody>
      </p:sp>
      <p:sp>
        <p:nvSpPr>
          <p:cNvPr id="52" name="Text 48"/>
          <p:cNvSpPr txBox="1"/>
          <p:nvPr/>
        </p:nvSpPr>
        <p:spPr>
          <a:xfrm>
            <a:off x="685800" y="5760720"/>
            <a:ext cx="10817352" cy="365760"/>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A nurse needs patience and accuracy, and she must be calm when the patient is worried. She must also be able to work in a team because she works with doctors. As for a programmer, he needs logical thinking and he must be organised. My aunt is a responsible nurse because she respects appointments and helps her colleagues.</a:t>
            </a:r>
            <a:endParaRPr lang="en-US" sz="1050" dirty="0"/>
          </a:p>
        </p:txBody>
      </p:sp>
      <p:sp>
        <p:nvSpPr>
          <p:cNvPr id="53" name="Text 4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19 / 47</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TD-L08 ·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6B4C9A"/>
                </a:solidFill>
                <a:latin typeface="Calibri" pitchFamily="34" charset="0"/>
                <a:cs typeface="Amiri" pitchFamily="2" charset="-78"/>
              </a:rPr>
              <a:t>I DO · MODEL SENTENCES (TEACHER-WRITTEN ON THE WEBSITE RULES)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Sentences to borrow</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جُمَلٌ نَمُوذَجِيَّةٌ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D · The World of Work · TD-L08</a:t>
            </a:r>
            <a:endParaRPr lang="en-US" sz="850" dirty="0"/>
          </a:p>
        </p:txBody>
      </p:sp>
      <p:sp>
        <p:nvSpPr>
          <p:cNvPr id="15" name="Shape 12"/>
          <p:cNvSpPr/>
          <p:nvPr/>
        </p:nvSpPr>
        <p:spPr>
          <a:xfrm>
            <a:off x="457200" y="1810512"/>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01400" y="2123694"/>
            <a:ext cx="402336" cy="402336"/>
          </a:xfrm>
          <a:prstGeom prst="ellipse">
            <a:avLst/>
          </a:prstGeom>
          <a:solidFill>
            <a:srgbClr val="1B3B6F"/>
          </a:solidFill>
          <a:ln w="12700">
            <a:solidFill>
              <a:srgbClr val="1B3B6F"/>
            </a:solidFill>
            <a:prstDash val="solid"/>
          </a:ln>
        </p:spPr>
      </p:sp>
      <p:sp>
        <p:nvSpPr>
          <p:cNvPr id="17" name="Text 14"/>
          <p:cNvSpPr txBox="1"/>
          <p:nvPr/>
        </p:nvSpPr>
        <p:spPr>
          <a:xfrm>
            <a:off x="11201400" y="212369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1</a:t>
            </a:r>
            <a:endParaRPr lang="en-US" sz="1300" dirty="0"/>
          </a:p>
        </p:txBody>
      </p:sp>
      <p:sp>
        <p:nvSpPr>
          <p:cNvPr id="18" name="Text 15"/>
          <p:cNvSpPr txBox="1"/>
          <p:nvPr/>
        </p:nvSpPr>
        <p:spPr>
          <a:xfrm>
            <a:off x="4572000" y="1847088"/>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ea typeface="Amiri" pitchFamily="2" charset="-78"/>
                <a:cs typeface="Amiri" pitchFamily="2" charset="-78"/>
              </a:rPr>
              <a:t>يَحْتَاجُ الطَّبِيبُ إِلَى الصَّبْرِ.</a:t>
            </a:r>
            <a:endParaRPr lang="ar-SA" sz="2600" dirty="0"/>
          </a:p>
        </p:txBody>
      </p:sp>
      <p:sp>
        <p:nvSpPr>
          <p:cNvPr id="19" name="Text 16"/>
          <p:cNvSpPr txBox="1"/>
          <p:nvPr/>
        </p:nvSpPr>
        <p:spPr>
          <a:xfrm>
            <a:off x="685800" y="1856232"/>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A doctor needs patience.</a:t>
            </a:r>
            <a:endParaRPr lang="en-US" sz="1250" dirty="0"/>
          </a:p>
          <a:p>
            <a:pPr indent="0" marL="0">
              <a:buNone/>
            </a:pPr>
            <a:r>
              <a:rPr lang="en-US" sz="1050" i="1" dirty="0">
                <a:solidFill>
                  <a:srgbClr val="8A6D1E"/>
                </a:solidFill>
                <a:latin typeface="Calibri" pitchFamily="34" charset="0"/>
                <a:cs typeface="Amiri" pitchFamily="2" charset="-78"/>
              </a:rPr>
              <a:t>needs + ilā + skill noun.</a:t>
            </a:r>
            <a:endParaRPr lang="en-US" sz="1250" dirty="0"/>
          </a:p>
        </p:txBody>
      </p:sp>
      <p:sp>
        <p:nvSpPr>
          <p:cNvPr id="20" name="Shape 17"/>
          <p:cNvSpPr/>
          <p:nvPr/>
        </p:nvSpPr>
        <p:spPr>
          <a:xfrm>
            <a:off x="457200" y="2967228"/>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201400" y="3280410"/>
            <a:ext cx="402336" cy="402336"/>
          </a:xfrm>
          <a:prstGeom prst="ellipse">
            <a:avLst/>
          </a:prstGeom>
          <a:solidFill>
            <a:srgbClr val="1B3B6F"/>
          </a:solidFill>
          <a:ln w="12700">
            <a:solidFill>
              <a:srgbClr val="1B3B6F"/>
            </a:solidFill>
            <a:prstDash val="solid"/>
          </a:ln>
        </p:spPr>
      </p:sp>
      <p:sp>
        <p:nvSpPr>
          <p:cNvPr id="22" name="Text 19"/>
          <p:cNvSpPr txBox="1"/>
          <p:nvPr/>
        </p:nvSpPr>
        <p:spPr>
          <a:xfrm>
            <a:off x="11201400" y="3280410"/>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2</a:t>
            </a:r>
            <a:endParaRPr lang="en-US" sz="1300" dirty="0"/>
          </a:p>
        </p:txBody>
      </p:sp>
      <p:sp>
        <p:nvSpPr>
          <p:cNvPr id="23" name="Text 20"/>
          <p:cNvSpPr txBox="1"/>
          <p:nvPr/>
        </p:nvSpPr>
        <p:spPr>
          <a:xfrm>
            <a:off x="4572000" y="3003804"/>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ea typeface="Amiri" pitchFamily="2" charset="-78"/>
                <a:cs typeface="Amiri" pitchFamily="2" charset="-78"/>
              </a:rPr>
              <a:t>يَجِبُ أَنْ يَكُونَ المُدَرِّسُ صَبُورًا.</a:t>
            </a:r>
            <a:endParaRPr lang="ar-SA" sz="2600" dirty="0"/>
          </a:p>
        </p:txBody>
      </p:sp>
      <p:sp>
        <p:nvSpPr>
          <p:cNvPr id="24" name="Text 21"/>
          <p:cNvSpPr txBox="1"/>
          <p:nvPr/>
        </p:nvSpPr>
        <p:spPr>
          <a:xfrm>
            <a:off x="685800" y="3012948"/>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A teacher must be patient.</a:t>
            </a:r>
            <a:endParaRPr lang="en-US" sz="1250" dirty="0"/>
          </a:p>
          <a:p>
            <a:pPr indent="0" marL="0">
              <a:buNone/>
            </a:pPr>
            <a:r>
              <a:rPr lang="en-US" sz="1050" i="1" dirty="0">
                <a:solidFill>
                  <a:srgbClr val="8A6D1E"/>
                </a:solidFill>
                <a:latin typeface="Calibri" pitchFamily="34" charset="0"/>
                <a:cs typeface="Amiri" pitchFamily="2" charset="-78"/>
              </a:rPr>
              <a:t>yakūna + adjective (-an).</a:t>
            </a:r>
            <a:endParaRPr lang="en-US" sz="1250" dirty="0"/>
          </a:p>
        </p:txBody>
      </p:sp>
      <p:sp>
        <p:nvSpPr>
          <p:cNvPr id="25" name="Shape 22"/>
          <p:cNvSpPr/>
          <p:nvPr/>
        </p:nvSpPr>
        <p:spPr>
          <a:xfrm>
            <a:off x="457200" y="4123944"/>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201400" y="4437126"/>
            <a:ext cx="402336" cy="402336"/>
          </a:xfrm>
          <a:prstGeom prst="ellipse">
            <a:avLst/>
          </a:prstGeom>
          <a:solidFill>
            <a:srgbClr val="1B3B6F"/>
          </a:solidFill>
          <a:ln w="12700">
            <a:solidFill>
              <a:srgbClr val="1B3B6F"/>
            </a:solidFill>
            <a:prstDash val="solid"/>
          </a:ln>
        </p:spPr>
      </p:sp>
      <p:sp>
        <p:nvSpPr>
          <p:cNvPr id="27" name="Text 24"/>
          <p:cNvSpPr txBox="1"/>
          <p:nvPr/>
        </p:nvSpPr>
        <p:spPr>
          <a:xfrm>
            <a:off x="11201400" y="443712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3</a:t>
            </a:r>
            <a:endParaRPr lang="en-US" sz="1300" dirty="0"/>
          </a:p>
        </p:txBody>
      </p:sp>
      <p:sp>
        <p:nvSpPr>
          <p:cNvPr id="28" name="Text 25"/>
          <p:cNvSpPr txBox="1"/>
          <p:nvPr/>
        </p:nvSpPr>
        <p:spPr>
          <a:xfrm>
            <a:off x="4572000" y="4160520"/>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ea typeface="Amiri" pitchFamily="2" charset="-78"/>
                <a:cs typeface="Amiri" pitchFamily="2" charset="-78"/>
              </a:rPr>
              <a:t>تَسْتَطِيعُ أَنْ تَعْمَلَ ضِمْنَ فَرِيقٍ.</a:t>
            </a:r>
            <a:endParaRPr lang="ar-SA" sz="2600" dirty="0"/>
          </a:p>
        </p:txBody>
      </p:sp>
      <p:sp>
        <p:nvSpPr>
          <p:cNvPr id="29" name="Text 26"/>
          <p:cNvSpPr txBox="1"/>
          <p:nvPr/>
        </p:nvSpPr>
        <p:spPr>
          <a:xfrm>
            <a:off x="685800" y="4169664"/>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She can work in a team.</a:t>
            </a:r>
            <a:endParaRPr lang="en-US" sz="1250" dirty="0"/>
          </a:p>
          <a:p>
            <a:pPr indent="0" marL="0">
              <a:buNone/>
            </a:pPr>
            <a:r>
              <a:rPr lang="en-US" sz="1050" i="1" dirty="0">
                <a:solidFill>
                  <a:srgbClr val="8A6D1E"/>
                </a:solidFill>
                <a:latin typeface="Calibri" pitchFamily="34" charset="0"/>
                <a:cs typeface="Amiri" pitchFamily="2" charset="-78"/>
              </a:rPr>
              <a:t>an + verb (-a).</a:t>
            </a:r>
            <a:endParaRPr lang="en-US" sz="1250" dirty="0"/>
          </a:p>
        </p:txBody>
      </p:sp>
      <p:sp>
        <p:nvSpPr>
          <p:cNvPr id="30" name="Shape 27"/>
          <p:cNvSpPr/>
          <p:nvPr/>
        </p:nvSpPr>
        <p:spPr>
          <a:xfrm>
            <a:off x="457200" y="5280660"/>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11201400" y="5593842"/>
            <a:ext cx="402336" cy="402336"/>
          </a:xfrm>
          <a:prstGeom prst="ellipse">
            <a:avLst/>
          </a:prstGeom>
          <a:solidFill>
            <a:srgbClr val="1B3B6F"/>
          </a:solidFill>
          <a:ln w="12700">
            <a:solidFill>
              <a:srgbClr val="1B3B6F"/>
            </a:solidFill>
            <a:prstDash val="solid"/>
          </a:ln>
        </p:spPr>
      </p:sp>
      <p:sp>
        <p:nvSpPr>
          <p:cNvPr id="32" name="Text 29"/>
          <p:cNvSpPr txBox="1"/>
          <p:nvPr/>
        </p:nvSpPr>
        <p:spPr>
          <a:xfrm>
            <a:off x="11201400" y="5593842"/>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4</a:t>
            </a:r>
            <a:endParaRPr lang="en-US" sz="1300" dirty="0"/>
          </a:p>
        </p:txBody>
      </p:sp>
      <p:sp>
        <p:nvSpPr>
          <p:cNvPr id="33" name="Text 30"/>
          <p:cNvSpPr txBox="1"/>
          <p:nvPr/>
        </p:nvSpPr>
        <p:spPr>
          <a:xfrm>
            <a:off x="4572000" y="5317236"/>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ea typeface="Amiri" pitchFamily="2" charset="-78"/>
                <a:cs typeface="Amiri" pitchFamily="2" charset="-78"/>
              </a:rPr>
              <a:t>هِيَ مُتَعَاوِنَةٌ لِأَنَّهَا تُسَاعِدُ زُمَلَاءَهَا.</a:t>
            </a:r>
            <a:endParaRPr lang="ar-SA" sz="2600" dirty="0"/>
          </a:p>
        </p:txBody>
      </p:sp>
      <p:sp>
        <p:nvSpPr>
          <p:cNvPr id="34" name="Text 31"/>
          <p:cNvSpPr txBox="1"/>
          <p:nvPr/>
        </p:nvSpPr>
        <p:spPr>
          <a:xfrm>
            <a:off x="685800" y="5326380"/>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She is cooperative because she helps her colleagues.</a:t>
            </a:r>
            <a:endParaRPr lang="en-US" sz="1250" dirty="0"/>
          </a:p>
          <a:p>
            <a:pPr indent="0" marL="0">
              <a:buNone/>
            </a:pPr>
            <a:r>
              <a:rPr lang="en-US" sz="1050" i="1" dirty="0">
                <a:solidFill>
                  <a:srgbClr val="8A6D1E"/>
                </a:solidFill>
                <a:latin typeface="Calibri" pitchFamily="34" charset="0"/>
                <a:cs typeface="Amiri" pitchFamily="2" charset="-78"/>
              </a:rPr>
              <a:t>Quality + behaviour.</a:t>
            </a:r>
            <a:endParaRPr lang="en-US" sz="1250" dirty="0"/>
          </a:p>
        </p:txBody>
      </p:sp>
      <p:sp>
        <p:nvSpPr>
          <p:cNvPr id="35" name="Text 3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20 / 47</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TD-L08 ·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2F6FB0"/>
                </a:solidFill>
                <a:latin typeface="Calibri" pitchFamily="34" charset="0"/>
                <a:cs typeface="Amiri" pitchFamily="2" charset="-78"/>
              </a:rPr>
              <a:t>WE DO · PICTURE MATCH · WEBSITE GAME “SKILL MATCH (TOPIC GAME)”</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00" b="1" dirty="0">
                <a:solidFill>
                  <a:srgbClr val="1B3B6F"/>
                </a:solidFill>
                <a:latin typeface="Cambria" pitchFamily="34" charset="0"/>
                <a:cs typeface="Amiri" pitchFamily="2" charset="-78"/>
              </a:rPr>
              <a:t>Match the picture to the sentence</a:t>
            </a:r>
            <a:endParaRPr lang="en-US" sz="27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طَابِقِ الْمَهَارَةَ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D · The World of Work · TD-L08</a:t>
            </a:r>
            <a:endParaRPr lang="en-US" sz="850" dirty="0"/>
          </a:p>
        </p:txBody>
      </p:sp>
      <p:sp>
        <p:nvSpPr>
          <p:cNvPr id="17" name="Shape 14"/>
          <p:cNvSpPr/>
          <p:nvPr/>
        </p:nvSpPr>
        <p:spPr>
          <a:xfrm>
            <a:off x="8095488"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23504" y="19385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8223504"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1</a:t>
            </a:r>
            <a:endParaRPr lang="en-US" sz="1200" dirty="0"/>
          </a:p>
        </p:txBody>
      </p:sp>
      <p:sp>
        <p:nvSpPr>
          <p:cNvPr id="20" name="Shape 17"/>
          <p:cNvSpPr/>
          <p:nvPr/>
        </p:nvSpPr>
        <p:spPr>
          <a:xfrm>
            <a:off x="8811768" y="2066544"/>
            <a:ext cx="1014984" cy="1014984"/>
          </a:xfrm>
          <a:prstGeom prst="ellipse">
            <a:avLst/>
          </a:prstGeom>
          <a:solidFill>
            <a:srgbClr val="F4F1EA"/>
          </a:solidFill>
          <a:ln w="12700">
            <a:solidFill>
              <a:srgbClr val="F4F1EA"/>
            </a:solidFill>
            <a:prstDash val="solid"/>
          </a:ln>
        </p:spPr>
      </p:sp>
      <p:pic>
        <p:nvPicPr>
          <p:cNvPr id="21" name="Image 0" descr="preencoded.png">    </p:cNvPr>
          <p:cNvPicPr>
            <a:picLocks noChangeAspect="1"/>
          </p:cNvPicPr>
          <p:nvPr/>
        </p:nvPicPr>
        <p:blipFill>
          <a:blip r:embed="rId1"/>
          <a:stretch>
            <a:fillRect/>
          </a:stretch>
        </p:blipFill>
        <p:spPr>
          <a:xfrm>
            <a:off x="8994648" y="2249424"/>
            <a:ext cx="649224" cy="649224"/>
          </a:xfrm>
          <a:prstGeom prst="rect">
            <a:avLst/>
          </a:prstGeom>
        </p:spPr>
      </p:pic>
      <p:sp>
        <p:nvSpPr>
          <p:cNvPr id="22" name="Shape 18"/>
          <p:cNvSpPr/>
          <p:nvPr/>
        </p:nvSpPr>
        <p:spPr>
          <a:xfrm>
            <a:off x="10000488" y="2066544"/>
            <a:ext cx="1014984" cy="1014984"/>
          </a:xfrm>
          <a:prstGeom prst="ellipse">
            <a:avLst/>
          </a:prstGeom>
          <a:solidFill>
            <a:srgbClr val="F4F1EA"/>
          </a:solidFill>
          <a:ln w="12700">
            <a:solidFill>
              <a:srgbClr val="F4F1EA"/>
            </a:solidFill>
            <a:prstDash val="solid"/>
          </a:ln>
        </p:spPr>
      </p:sp>
      <p:pic>
        <p:nvPicPr>
          <p:cNvPr id="23" name="Image 1" descr="preencoded.png">    </p:cNvPr>
          <p:cNvPicPr>
            <a:picLocks noChangeAspect="1"/>
          </p:cNvPicPr>
          <p:nvPr/>
        </p:nvPicPr>
        <p:blipFill>
          <a:blip r:embed="rId2"/>
          <a:stretch>
            <a:fillRect/>
          </a:stretch>
        </p:blipFill>
        <p:spPr>
          <a:xfrm>
            <a:off x="10183368" y="2249424"/>
            <a:ext cx="649224" cy="649224"/>
          </a:xfrm>
          <a:prstGeom prst="rect">
            <a:avLst/>
          </a:prstGeom>
        </p:spPr>
      </p:pic>
      <p:sp>
        <p:nvSpPr>
          <p:cNvPr id="24" name="Text 19"/>
          <p:cNvSpPr txBox="1"/>
          <p:nvPr/>
        </p:nvSpPr>
        <p:spPr>
          <a:xfrm>
            <a:off x="8232648"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teamwork</a:t>
            </a:r>
            <a:endParaRPr lang="en-US" sz="1100" dirty="0"/>
          </a:p>
        </p:txBody>
      </p:sp>
      <p:sp>
        <p:nvSpPr>
          <p:cNvPr id="25" name="Shape 20"/>
          <p:cNvSpPr/>
          <p:nvPr/>
        </p:nvSpPr>
        <p:spPr>
          <a:xfrm>
            <a:off x="4276344"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1"/>
          <p:cNvSpPr/>
          <p:nvPr/>
        </p:nvSpPr>
        <p:spPr>
          <a:xfrm>
            <a:off x="4404360" y="1938528"/>
            <a:ext cx="365760" cy="365760"/>
          </a:xfrm>
          <a:prstGeom prst="ellipse">
            <a:avLst/>
          </a:prstGeom>
          <a:solidFill>
            <a:srgbClr val="1B3B6F"/>
          </a:solidFill>
          <a:ln w="12700">
            <a:solidFill>
              <a:srgbClr val="1B3B6F"/>
            </a:solidFill>
            <a:prstDash val="solid"/>
          </a:ln>
        </p:spPr>
      </p:sp>
      <p:sp>
        <p:nvSpPr>
          <p:cNvPr id="27" name="Text 22"/>
          <p:cNvSpPr txBox="1"/>
          <p:nvPr/>
        </p:nvSpPr>
        <p:spPr>
          <a:xfrm>
            <a:off x="4404360"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2</a:t>
            </a:r>
            <a:endParaRPr lang="en-US" sz="1200" dirty="0"/>
          </a:p>
        </p:txBody>
      </p:sp>
      <p:sp>
        <p:nvSpPr>
          <p:cNvPr id="28" name="Shape 23"/>
          <p:cNvSpPr/>
          <p:nvPr/>
        </p:nvSpPr>
        <p:spPr>
          <a:xfrm>
            <a:off x="5586984" y="2066544"/>
            <a:ext cx="1014984" cy="1014984"/>
          </a:xfrm>
          <a:prstGeom prst="ellipse">
            <a:avLst/>
          </a:prstGeom>
          <a:solidFill>
            <a:srgbClr val="F4F1EA"/>
          </a:solidFill>
          <a:ln w="12700">
            <a:solidFill>
              <a:srgbClr val="F4F1EA"/>
            </a:solidFill>
            <a:prstDash val="solid"/>
          </a:ln>
        </p:spPr>
      </p:sp>
      <p:pic>
        <p:nvPicPr>
          <p:cNvPr id="29" name="Image 2" descr="preencoded.png">    </p:cNvPr>
          <p:cNvPicPr>
            <a:picLocks noChangeAspect="1"/>
          </p:cNvPicPr>
          <p:nvPr/>
        </p:nvPicPr>
        <p:blipFill>
          <a:blip r:embed="rId3"/>
          <a:stretch>
            <a:fillRect/>
          </a:stretch>
        </p:blipFill>
        <p:spPr>
          <a:xfrm>
            <a:off x="5769864" y="2249424"/>
            <a:ext cx="649224" cy="649224"/>
          </a:xfrm>
          <a:prstGeom prst="rect">
            <a:avLst/>
          </a:prstGeom>
        </p:spPr>
      </p:pic>
      <p:sp>
        <p:nvSpPr>
          <p:cNvPr id="30" name="Text 24"/>
          <p:cNvSpPr txBox="1"/>
          <p:nvPr/>
        </p:nvSpPr>
        <p:spPr>
          <a:xfrm>
            <a:off x="4413504"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communication</a:t>
            </a:r>
            <a:endParaRPr lang="en-US" sz="1100" dirty="0"/>
          </a:p>
        </p:txBody>
      </p:sp>
      <p:sp>
        <p:nvSpPr>
          <p:cNvPr id="31" name="Shape 25"/>
          <p:cNvSpPr/>
          <p:nvPr/>
        </p:nvSpPr>
        <p:spPr>
          <a:xfrm>
            <a:off x="457200"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6"/>
          <p:cNvSpPr/>
          <p:nvPr/>
        </p:nvSpPr>
        <p:spPr>
          <a:xfrm>
            <a:off x="585216" y="1938528"/>
            <a:ext cx="365760" cy="365760"/>
          </a:xfrm>
          <a:prstGeom prst="ellipse">
            <a:avLst/>
          </a:prstGeom>
          <a:solidFill>
            <a:srgbClr val="1B3B6F"/>
          </a:solidFill>
          <a:ln w="12700">
            <a:solidFill>
              <a:srgbClr val="1B3B6F"/>
            </a:solidFill>
            <a:prstDash val="solid"/>
          </a:ln>
        </p:spPr>
      </p:sp>
      <p:sp>
        <p:nvSpPr>
          <p:cNvPr id="33" name="Text 27"/>
          <p:cNvSpPr txBox="1"/>
          <p:nvPr/>
        </p:nvSpPr>
        <p:spPr>
          <a:xfrm>
            <a:off x="585216"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3</a:t>
            </a:r>
            <a:endParaRPr lang="en-US" sz="1200" dirty="0"/>
          </a:p>
        </p:txBody>
      </p:sp>
      <p:sp>
        <p:nvSpPr>
          <p:cNvPr id="34" name="Shape 28"/>
          <p:cNvSpPr/>
          <p:nvPr/>
        </p:nvSpPr>
        <p:spPr>
          <a:xfrm>
            <a:off x="1173480" y="2066544"/>
            <a:ext cx="1014984" cy="1014984"/>
          </a:xfrm>
          <a:prstGeom prst="ellipse">
            <a:avLst/>
          </a:prstGeom>
          <a:solidFill>
            <a:srgbClr val="F4F1EA"/>
          </a:solidFill>
          <a:ln w="12700">
            <a:solidFill>
              <a:srgbClr val="F4F1EA"/>
            </a:solidFill>
            <a:prstDash val="solid"/>
          </a:ln>
        </p:spPr>
      </p:sp>
      <p:pic>
        <p:nvPicPr>
          <p:cNvPr id="35" name="Image 3" descr="preencoded.png">    </p:cNvPr>
          <p:cNvPicPr>
            <a:picLocks noChangeAspect="1"/>
          </p:cNvPicPr>
          <p:nvPr/>
        </p:nvPicPr>
        <p:blipFill>
          <a:blip r:embed="rId4"/>
          <a:stretch>
            <a:fillRect/>
          </a:stretch>
        </p:blipFill>
        <p:spPr>
          <a:xfrm>
            <a:off x="1356360" y="2249424"/>
            <a:ext cx="649224" cy="649224"/>
          </a:xfrm>
          <a:prstGeom prst="rect">
            <a:avLst/>
          </a:prstGeom>
        </p:spPr>
      </p:pic>
      <p:sp>
        <p:nvSpPr>
          <p:cNvPr id="36" name="Shape 29"/>
          <p:cNvSpPr/>
          <p:nvPr/>
        </p:nvSpPr>
        <p:spPr>
          <a:xfrm>
            <a:off x="2362200" y="2066544"/>
            <a:ext cx="1014984" cy="1014984"/>
          </a:xfrm>
          <a:prstGeom prst="ellipse">
            <a:avLst/>
          </a:prstGeom>
          <a:solidFill>
            <a:srgbClr val="F4F1EA"/>
          </a:solidFill>
          <a:ln w="12700">
            <a:solidFill>
              <a:srgbClr val="F4F1EA"/>
            </a:solidFill>
            <a:prstDash val="solid"/>
          </a:ln>
        </p:spPr>
      </p:sp>
      <p:pic>
        <p:nvPicPr>
          <p:cNvPr id="37" name="Image 4" descr="preencoded.png">    </p:cNvPr>
          <p:cNvPicPr>
            <a:picLocks noChangeAspect="1"/>
          </p:cNvPicPr>
          <p:nvPr/>
        </p:nvPicPr>
        <p:blipFill>
          <a:blip r:embed="rId5"/>
          <a:stretch>
            <a:fillRect/>
          </a:stretch>
        </p:blipFill>
        <p:spPr>
          <a:xfrm>
            <a:off x="2545080" y="2249424"/>
            <a:ext cx="649224" cy="649224"/>
          </a:xfrm>
          <a:prstGeom prst="rect">
            <a:avLst/>
          </a:prstGeom>
        </p:spPr>
      </p:pic>
      <p:sp>
        <p:nvSpPr>
          <p:cNvPr id="38" name="Text 30"/>
          <p:cNvSpPr txBox="1"/>
          <p:nvPr/>
        </p:nvSpPr>
        <p:spPr>
          <a:xfrm>
            <a:off x="594360"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organised</a:t>
            </a:r>
            <a:endParaRPr lang="en-US" sz="1100" dirty="0"/>
          </a:p>
        </p:txBody>
      </p:sp>
      <p:sp>
        <p:nvSpPr>
          <p:cNvPr id="39" name="Shape 31"/>
          <p:cNvSpPr/>
          <p:nvPr/>
        </p:nvSpPr>
        <p:spPr>
          <a:xfrm>
            <a:off x="457200" y="3730752"/>
            <a:ext cx="11274552" cy="493776"/>
          </a:xfrm>
          <a:prstGeom prst="roundRect">
            <a:avLst>
              <a:gd name="adj" fmla="val 11111"/>
            </a:avLst>
          </a:prstGeom>
          <a:solidFill>
            <a:srgbClr val="EEF3FA"/>
          </a:solidFill>
          <a:ln w="9525">
            <a:solidFill>
              <a:srgbClr val="C9D6EA"/>
            </a:solidFill>
            <a:prstDash val="solid"/>
          </a:ln>
        </p:spPr>
      </p:sp>
      <p:sp>
        <p:nvSpPr>
          <p:cNvPr id="40" name="Shape 32"/>
          <p:cNvSpPr/>
          <p:nvPr/>
        </p:nvSpPr>
        <p:spPr>
          <a:xfrm>
            <a:off x="11247120" y="3831336"/>
            <a:ext cx="292608" cy="292608"/>
          </a:xfrm>
          <a:prstGeom prst="ellipse">
            <a:avLst/>
          </a:prstGeom>
          <a:solidFill>
            <a:srgbClr val="2F6FB0"/>
          </a:solidFill>
          <a:ln w="12700">
            <a:solidFill>
              <a:srgbClr val="2F6FB0"/>
            </a:solidFill>
            <a:prstDash val="solid"/>
          </a:ln>
        </p:spPr>
      </p:sp>
      <p:sp>
        <p:nvSpPr>
          <p:cNvPr id="41" name="Text 33"/>
          <p:cNvSpPr txBox="1"/>
          <p:nvPr/>
        </p:nvSpPr>
        <p:spPr>
          <a:xfrm>
            <a:off x="11247120" y="3831336"/>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A</a:t>
            </a:r>
            <a:endParaRPr lang="en-US" sz="1000" dirty="0"/>
          </a:p>
        </p:txBody>
      </p:sp>
      <p:sp>
        <p:nvSpPr>
          <p:cNvPr id="42" name="Text 34"/>
          <p:cNvSpPr txBox="1"/>
          <p:nvPr/>
        </p:nvSpPr>
        <p:spPr>
          <a:xfrm>
            <a:off x="731520" y="3730752"/>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لَدَيَّ مَهَارَاتُ تَوَاصُلٍ جَيِّدَةٌ.</a:t>
            </a:r>
            <a:endParaRPr lang="ar-SA" sz="2000" dirty="0"/>
          </a:p>
        </p:txBody>
      </p:sp>
      <p:sp>
        <p:nvSpPr>
          <p:cNvPr id="43" name="Shape 35"/>
          <p:cNvSpPr/>
          <p:nvPr/>
        </p:nvSpPr>
        <p:spPr>
          <a:xfrm>
            <a:off x="457200" y="4297680"/>
            <a:ext cx="11274552" cy="493776"/>
          </a:xfrm>
          <a:prstGeom prst="roundRect">
            <a:avLst>
              <a:gd name="adj" fmla="val 11111"/>
            </a:avLst>
          </a:prstGeom>
          <a:solidFill>
            <a:srgbClr val="EEF3FA"/>
          </a:solidFill>
          <a:ln w="9525">
            <a:solidFill>
              <a:srgbClr val="C9D6EA"/>
            </a:solidFill>
            <a:prstDash val="solid"/>
          </a:ln>
        </p:spPr>
      </p:sp>
      <p:sp>
        <p:nvSpPr>
          <p:cNvPr id="44" name="Shape 36"/>
          <p:cNvSpPr/>
          <p:nvPr/>
        </p:nvSpPr>
        <p:spPr>
          <a:xfrm>
            <a:off x="11247120" y="4398264"/>
            <a:ext cx="292608" cy="292608"/>
          </a:xfrm>
          <a:prstGeom prst="ellipse">
            <a:avLst/>
          </a:prstGeom>
          <a:solidFill>
            <a:srgbClr val="2F6FB0"/>
          </a:solidFill>
          <a:ln w="12700">
            <a:solidFill>
              <a:srgbClr val="2F6FB0"/>
            </a:solidFill>
            <a:prstDash val="solid"/>
          </a:ln>
        </p:spPr>
      </p:sp>
      <p:sp>
        <p:nvSpPr>
          <p:cNvPr id="45" name="Text 37"/>
          <p:cNvSpPr txBox="1"/>
          <p:nvPr/>
        </p:nvSpPr>
        <p:spPr>
          <a:xfrm>
            <a:off x="11247120" y="4398264"/>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B</a:t>
            </a:r>
            <a:endParaRPr lang="en-US" sz="1000" dirty="0"/>
          </a:p>
        </p:txBody>
      </p:sp>
      <p:sp>
        <p:nvSpPr>
          <p:cNvPr id="46" name="Text 38"/>
          <p:cNvSpPr txBox="1"/>
          <p:nvPr/>
        </p:nvSpPr>
        <p:spPr>
          <a:xfrm>
            <a:off x="731520" y="4297680"/>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أَنَا مُنَظَّمٌ وَأَحْتَرِمُ الْمَوَاعِيدَ.</a:t>
            </a:r>
            <a:endParaRPr lang="ar-SA" sz="2000" dirty="0"/>
          </a:p>
        </p:txBody>
      </p:sp>
      <p:sp>
        <p:nvSpPr>
          <p:cNvPr id="47" name="Shape 39"/>
          <p:cNvSpPr/>
          <p:nvPr/>
        </p:nvSpPr>
        <p:spPr>
          <a:xfrm>
            <a:off x="457200" y="4864608"/>
            <a:ext cx="11274552" cy="493776"/>
          </a:xfrm>
          <a:prstGeom prst="roundRect">
            <a:avLst>
              <a:gd name="adj" fmla="val 11111"/>
            </a:avLst>
          </a:prstGeom>
          <a:solidFill>
            <a:srgbClr val="EEF3FA"/>
          </a:solidFill>
          <a:ln w="9525">
            <a:solidFill>
              <a:srgbClr val="C9D6EA"/>
            </a:solidFill>
            <a:prstDash val="solid"/>
          </a:ln>
        </p:spPr>
      </p:sp>
      <p:sp>
        <p:nvSpPr>
          <p:cNvPr id="48" name="Shape 40"/>
          <p:cNvSpPr/>
          <p:nvPr/>
        </p:nvSpPr>
        <p:spPr>
          <a:xfrm>
            <a:off x="11247120" y="4965192"/>
            <a:ext cx="292608" cy="292608"/>
          </a:xfrm>
          <a:prstGeom prst="ellipse">
            <a:avLst/>
          </a:prstGeom>
          <a:solidFill>
            <a:srgbClr val="2F6FB0"/>
          </a:solidFill>
          <a:ln w="12700">
            <a:solidFill>
              <a:srgbClr val="2F6FB0"/>
            </a:solidFill>
            <a:prstDash val="solid"/>
          </a:ln>
        </p:spPr>
      </p:sp>
      <p:sp>
        <p:nvSpPr>
          <p:cNvPr id="49" name="Text 41"/>
          <p:cNvSpPr txBox="1"/>
          <p:nvPr/>
        </p:nvSpPr>
        <p:spPr>
          <a:xfrm>
            <a:off x="11247120" y="496519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C</a:t>
            </a:r>
            <a:endParaRPr lang="en-US" sz="1000" dirty="0"/>
          </a:p>
        </p:txBody>
      </p:sp>
      <p:sp>
        <p:nvSpPr>
          <p:cNvPr id="50" name="Text 42"/>
          <p:cNvSpPr txBox="1"/>
          <p:nvPr/>
        </p:nvSpPr>
        <p:spPr>
          <a:xfrm>
            <a:off x="731520" y="4864608"/>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أَنَا مُتَعَاوِنٌ وَأُجِيدُ الْعَمَلَ ضِمْنَ فَرِيقٍ.</a:t>
            </a:r>
            <a:endParaRPr lang="ar-SA" sz="2000" dirty="0"/>
          </a:p>
        </p:txBody>
      </p:sp>
      <p:sp>
        <p:nvSpPr>
          <p:cNvPr id="51" name="Text 43"/>
          <p:cNvSpPr txBox="1"/>
          <p:nvPr/>
        </p:nvSpPr>
        <p:spPr>
          <a:xfrm>
            <a:off x="457200" y="5468112"/>
            <a:ext cx="11274552" cy="365760"/>
          </a:xfrm>
          <a:prstGeom prst="rect">
            <a:avLst/>
          </a:prstGeom>
          <a:noFill/>
          <a:ln/>
        </p:spPr>
        <p:txBody>
          <a:bodyPr wrap="square" lIns="0" tIns="0" rIns="0" bIns="0" rtlCol="0" anchor="ctr"/>
          <a:lstStyle/>
          <a:p>
            <a:pPr algn="l" indent="0" marL="0">
              <a:buNone/>
            </a:pPr>
            <a:r>
              <a:rPr lang="en-US" sz="1250" b="1" dirty="0">
                <a:solidFill>
                  <a:srgbClr val="2F6FB0"/>
                </a:solidFill>
                <a:latin typeface="Calibri" pitchFamily="34" charset="0"/>
                <a:cs typeface="Amiri" pitchFamily="2" charset="-78"/>
              </a:rPr>
              <a:t>Match each picture to a sentence. Type in the chat: 1_  2_  3_</a:t>
            </a:r>
            <a:endParaRPr lang="en-US" sz="1250" dirty="0"/>
          </a:p>
        </p:txBody>
      </p:sp>
      <p:sp>
        <p:nvSpPr>
          <p:cNvPr id="52" name="Text 44"/>
          <p:cNvSpPr txBox="1"/>
          <p:nvPr/>
        </p:nvSpPr>
        <p:spPr>
          <a:xfrm>
            <a:off x="457200" y="5852160"/>
            <a:ext cx="11274552" cy="365760"/>
          </a:xfrm>
          <a:prstGeom prst="rect">
            <a:avLst/>
          </a:prstGeom>
          <a:noFill/>
          <a:ln/>
        </p:spPr>
        <p:txBody>
          <a:bodyPr wrap="square" lIns="0" tIns="0" rIns="0" bIns="0" rtlCol="0" anchor="ctr"/>
          <a:lstStyle/>
          <a:p>
            <a:pPr algn="l" indent="0" marL="0">
              <a:buNone/>
            </a:pPr>
            <a:r>
              <a:rPr lang="en-US" sz="1150" i="1" dirty="0">
                <a:solidFill>
                  <a:srgbClr val="5A6472"/>
                </a:solidFill>
                <a:latin typeface="Calibri" pitchFamily="34" charset="0"/>
                <a:cs typeface="Amiri" pitchFamily="2" charset="-78"/>
              </a:rPr>
              <a:t>Core: find ONE key word you know in each sentence first.</a:t>
            </a:r>
            <a:endParaRPr lang="en-US" sz="1150" dirty="0"/>
          </a:p>
        </p:txBody>
      </p:sp>
      <p:sp>
        <p:nvSpPr>
          <p:cNvPr id="53"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21 / 47</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TD-L08 ·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PICTURE MATCH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Picture match: answers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طَابِقِ الْمَهَارَةَ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D · The World of Work · TD-L08</a:t>
            </a:r>
            <a:endParaRPr lang="en-US" sz="850" dirty="0"/>
          </a:p>
        </p:txBody>
      </p:sp>
      <p:sp>
        <p:nvSpPr>
          <p:cNvPr id="17" name="Shape 14"/>
          <p:cNvSpPr/>
          <p:nvPr/>
        </p:nvSpPr>
        <p:spPr>
          <a:xfrm>
            <a:off x="8095488"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23504" y="19385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8223504"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1</a:t>
            </a:r>
            <a:endParaRPr lang="en-US" sz="1200" dirty="0"/>
          </a:p>
        </p:txBody>
      </p:sp>
      <p:sp>
        <p:nvSpPr>
          <p:cNvPr id="20" name="Shape 17"/>
          <p:cNvSpPr/>
          <p:nvPr/>
        </p:nvSpPr>
        <p:spPr>
          <a:xfrm>
            <a:off x="8811768" y="2066544"/>
            <a:ext cx="1014984" cy="1014984"/>
          </a:xfrm>
          <a:prstGeom prst="ellipse">
            <a:avLst/>
          </a:prstGeom>
          <a:solidFill>
            <a:srgbClr val="F4F1EA"/>
          </a:solidFill>
          <a:ln w="12700">
            <a:solidFill>
              <a:srgbClr val="F4F1EA"/>
            </a:solidFill>
            <a:prstDash val="solid"/>
          </a:ln>
        </p:spPr>
      </p:sp>
      <p:pic>
        <p:nvPicPr>
          <p:cNvPr id="21" name="Image 0" descr="preencoded.png">    </p:cNvPr>
          <p:cNvPicPr>
            <a:picLocks noChangeAspect="1"/>
          </p:cNvPicPr>
          <p:nvPr/>
        </p:nvPicPr>
        <p:blipFill>
          <a:blip r:embed="rId1"/>
          <a:stretch>
            <a:fillRect/>
          </a:stretch>
        </p:blipFill>
        <p:spPr>
          <a:xfrm>
            <a:off x="8994648" y="2249424"/>
            <a:ext cx="649224" cy="649224"/>
          </a:xfrm>
          <a:prstGeom prst="rect">
            <a:avLst/>
          </a:prstGeom>
        </p:spPr>
      </p:pic>
      <p:sp>
        <p:nvSpPr>
          <p:cNvPr id="22" name="Shape 18"/>
          <p:cNvSpPr/>
          <p:nvPr/>
        </p:nvSpPr>
        <p:spPr>
          <a:xfrm>
            <a:off x="10000488" y="2066544"/>
            <a:ext cx="1014984" cy="1014984"/>
          </a:xfrm>
          <a:prstGeom prst="ellipse">
            <a:avLst/>
          </a:prstGeom>
          <a:solidFill>
            <a:srgbClr val="F4F1EA"/>
          </a:solidFill>
          <a:ln w="12700">
            <a:solidFill>
              <a:srgbClr val="F4F1EA"/>
            </a:solidFill>
            <a:prstDash val="solid"/>
          </a:ln>
        </p:spPr>
      </p:sp>
      <p:pic>
        <p:nvPicPr>
          <p:cNvPr id="23" name="Image 1" descr="preencoded.png">    </p:cNvPr>
          <p:cNvPicPr>
            <a:picLocks noChangeAspect="1"/>
          </p:cNvPicPr>
          <p:nvPr/>
        </p:nvPicPr>
        <p:blipFill>
          <a:blip r:embed="rId2"/>
          <a:stretch>
            <a:fillRect/>
          </a:stretch>
        </p:blipFill>
        <p:spPr>
          <a:xfrm>
            <a:off x="10183368" y="2249424"/>
            <a:ext cx="649224" cy="649224"/>
          </a:xfrm>
          <a:prstGeom prst="rect">
            <a:avLst/>
          </a:prstGeom>
        </p:spPr>
      </p:pic>
      <p:sp>
        <p:nvSpPr>
          <p:cNvPr id="24" name="Text 19"/>
          <p:cNvSpPr txBox="1"/>
          <p:nvPr/>
        </p:nvSpPr>
        <p:spPr>
          <a:xfrm>
            <a:off x="8232648"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teamwork</a:t>
            </a:r>
            <a:endParaRPr lang="en-US" sz="1100" dirty="0"/>
          </a:p>
        </p:txBody>
      </p:sp>
      <p:sp>
        <p:nvSpPr>
          <p:cNvPr id="25" name="Shape 20"/>
          <p:cNvSpPr/>
          <p:nvPr/>
        </p:nvSpPr>
        <p:spPr>
          <a:xfrm>
            <a:off x="8095488"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6" name="Shape 21"/>
          <p:cNvSpPr/>
          <p:nvPr/>
        </p:nvSpPr>
        <p:spPr>
          <a:xfrm>
            <a:off x="11256264" y="3785616"/>
            <a:ext cx="329184" cy="329184"/>
          </a:xfrm>
          <a:prstGeom prst="ellipse">
            <a:avLst/>
          </a:prstGeom>
          <a:solidFill>
            <a:srgbClr val="2E8B57"/>
          </a:solidFill>
          <a:ln w="12700">
            <a:solidFill>
              <a:srgbClr val="2E8B57"/>
            </a:solidFill>
            <a:prstDash val="solid"/>
          </a:ln>
        </p:spPr>
      </p:sp>
      <p:sp>
        <p:nvSpPr>
          <p:cNvPr id="27" name="Text 22"/>
          <p:cNvSpPr txBox="1"/>
          <p:nvPr/>
        </p:nvSpPr>
        <p:spPr>
          <a:xfrm>
            <a:off x="11256264"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C</a:t>
            </a:r>
            <a:endParaRPr lang="en-US" sz="1100" dirty="0"/>
          </a:p>
        </p:txBody>
      </p:sp>
      <p:sp>
        <p:nvSpPr>
          <p:cNvPr id="28" name="Text 23"/>
          <p:cNvSpPr txBox="1"/>
          <p:nvPr/>
        </p:nvSpPr>
        <p:spPr>
          <a:xfrm>
            <a:off x="8232648" y="4160520"/>
            <a:ext cx="3361944" cy="1143000"/>
          </a:xfrm>
          <a:prstGeom prst="rect">
            <a:avLst/>
          </a:prstGeom>
          <a:noFill/>
          <a:ln/>
        </p:spPr>
        <p:txBody>
          <a:bodyPr wrap="square" lIns="0" tIns="0" rIns="0" bIns="0" rtlCol="0" anchor="ctr"/>
          <a:lstStyle/>
          <a:p>
            <a:pPr rtl="1" algn="ctr" indent="0" marL="0">
              <a:lnSpc>
                <a:spcPct val="120000"/>
              </a:lnSpc>
              <a:buNone/>
            </a:pPr>
            <a:r>
              <a:rPr lang="ar-SA" altLang="en-US" sz="2200" b="1" dirty="0">
                <a:solidFill>
                  <a:srgbClr val="1B3B6F"/>
                </a:solidFill>
                <a:latin typeface="Amiri" pitchFamily="2" charset="-78"/>
                <a:ea typeface="Amiri" pitchFamily="2" charset="-78"/>
                <a:cs typeface="Amiri" pitchFamily="2" charset="-78"/>
              </a:rPr>
              <a:t>أَنَا مُتَعَاوِنٌ وَأُجِيدُ الْعَمَلَ ضِمْنَ فَرِيقٍ.</a:t>
            </a:r>
            <a:endParaRPr lang="ar-SA" sz="2200" dirty="0"/>
          </a:p>
        </p:txBody>
      </p:sp>
      <p:sp>
        <p:nvSpPr>
          <p:cNvPr id="29" name="Text 24"/>
          <p:cNvSpPr txBox="1"/>
          <p:nvPr/>
        </p:nvSpPr>
        <p:spPr>
          <a:xfrm>
            <a:off x="8232648"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cs typeface="Amiri" pitchFamily="2" charset="-78"/>
              </a:rPr>
              <a:t>I am cooperative and good at working in a team.</a:t>
            </a:r>
            <a:endParaRPr lang="en-US" sz="1200" dirty="0"/>
          </a:p>
        </p:txBody>
      </p:sp>
      <p:sp>
        <p:nvSpPr>
          <p:cNvPr id="30" name="Shape 25"/>
          <p:cNvSpPr/>
          <p:nvPr/>
        </p:nvSpPr>
        <p:spPr>
          <a:xfrm>
            <a:off x="4276344"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6"/>
          <p:cNvSpPr/>
          <p:nvPr/>
        </p:nvSpPr>
        <p:spPr>
          <a:xfrm>
            <a:off x="4404360" y="1938528"/>
            <a:ext cx="365760" cy="365760"/>
          </a:xfrm>
          <a:prstGeom prst="ellipse">
            <a:avLst/>
          </a:prstGeom>
          <a:solidFill>
            <a:srgbClr val="1B3B6F"/>
          </a:solidFill>
          <a:ln w="12700">
            <a:solidFill>
              <a:srgbClr val="1B3B6F"/>
            </a:solidFill>
            <a:prstDash val="solid"/>
          </a:ln>
        </p:spPr>
      </p:sp>
      <p:sp>
        <p:nvSpPr>
          <p:cNvPr id="32" name="Text 27"/>
          <p:cNvSpPr txBox="1"/>
          <p:nvPr/>
        </p:nvSpPr>
        <p:spPr>
          <a:xfrm>
            <a:off x="4404360"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2</a:t>
            </a:r>
            <a:endParaRPr lang="en-US" sz="1200" dirty="0"/>
          </a:p>
        </p:txBody>
      </p:sp>
      <p:sp>
        <p:nvSpPr>
          <p:cNvPr id="33" name="Shape 28"/>
          <p:cNvSpPr/>
          <p:nvPr/>
        </p:nvSpPr>
        <p:spPr>
          <a:xfrm>
            <a:off x="5586984" y="2066544"/>
            <a:ext cx="1014984" cy="1014984"/>
          </a:xfrm>
          <a:prstGeom prst="ellipse">
            <a:avLst/>
          </a:prstGeom>
          <a:solidFill>
            <a:srgbClr val="F4F1EA"/>
          </a:solidFill>
          <a:ln w="12700">
            <a:solidFill>
              <a:srgbClr val="F4F1EA"/>
            </a:solidFill>
            <a:prstDash val="solid"/>
          </a:ln>
        </p:spPr>
      </p:sp>
      <p:pic>
        <p:nvPicPr>
          <p:cNvPr id="34" name="Image 2" descr="preencoded.png">    </p:cNvPr>
          <p:cNvPicPr>
            <a:picLocks noChangeAspect="1"/>
          </p:cNvPicPr>
          <p:nvPr/>
        </p:nvPicPr>
        <p:blipFill>
          <a:blip r:embed="rId3"/>
          <a:stretch>
            <a:fillRect/>
          </a:stretch>
        </p:blipFill>
        <p:spPr>
          <a:xfrm>
            <a:off x="5769864" y="2249424"/>
            <a:ext cx="649224" cy="649224"/>
          </a:xfrm>
          <a:prstGeom prst="rect">
            <a:avLst/>
          </a:prstGeom>
        </p:spPr>
      </p:pic>
      <p:sp>
        <p:nvSpPr>
          <p:cNvPr id="35" name="Text 29"/>
          <p:cNvSpPr txBox="1"/>
          <p:nvPr/>
        </p:nvSpPr>
        <p:spPr>
          <a:xfrm>
            <a:off x="4413504"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communication</a:t>
            </a:r>
            <a:endParaRPr lang="en-US" sz="1100" dirty="0"/>
          </a:p>
        </p:txBody>
      </p:sp>
      <p:sp>
        <p:nvSpPr>
          <p:cNvPr id="36" name="Shape 30"/>
          <p:cNvSpPr/>
          <p:nvPr/>
        </p:nvSpPr>
        <p:spPr>
          <a:xfrm>
            <a:off x="4276344"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37" name="Shape 31"/>
          <p:cNvSpPr/>
          <p:nvPr/>
        </p:nvSpPr>
        <p:spPr>
          <a:xfrm>
            <a:off x="7437120" y="3785616"/>
            <a:ext cx="329184" cy="329184"/>
          </a:xfrm>
          <a:prstGeom prst="ellipse">
            <a:avLst/>
          </a:prstGeom>
          <a:solidFill>
            <a:srgbClr val="2E8B57"/>
          </a:solidFill>
          <a:ln w="12700">
            <a:solidFill>
              <a:srgbClr val="2E8B57"/>
            </a:solidFill>
            <a:prstDash val="solid"/>
          </a:ln>
        </p:spPr>
      </p:sp>
      <p:sp>
        <p:nvSpPr>
          <p:cNvPr id="38" name="Text 32"/>
          <p:cNvSpPr txBox="1"/>
          <p:nvPr/>
        </p:nvSpPr>
        <p:spPr>
          <a:xfrm>
            <a:off x="7437120"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a:t>
            </a:r>
            <a:endParaRPr lang="en-US" sz="1100" dirty="0"/>
          </a:p>
        </p:txBody>
      </p:sp>
      <p:sp>
        <p:nvSpPr>
          <p:cNvPr id="39" name="Text 33"/>
          <p:cNvSpPr txBox="1"/>
          <p:nvPr/>
        </p:nvSpPr>
        <p:spPr>
          <a:xfrm>
            <a:off x="4413504"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لَدَيَّ مَهَارَاتُ تَوَاصُلٍ جَيِّدَةٌ.</a:t>
            </a:r>
            <a:endParaRPr lang="ar-SA" sz="2200" dirty="0"/>
          </a:p>
        </p:txBody>
      </p:sp>
      <p:sp>
        <p:nvSpPr>
          <p:cNvPr id="40" name="Text 34"/>
          <p:cNvSpPr txBox="1"/>
          <p:nvPr/>
        </p:nvSpPr>
        <p:spPr>
          <a:xfrm>
            <a:off x="4413504"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cs typeface="Amiri" pitchFamily="2" charset="-78"/>
              </a:rPr>
              <a:t>I have good communication skills.</a:t>
            </a:r>
            <a:endParaRPr lang="en-US" sz="1200" dirty="0"/>
          </a:p>
        </p:txBody>
      </p:sp>
      <p:sp>
        <p:nvSpPr>
          <p:cNvPr id="41" name="Shape 35"/>
          <p:cNvSpPr/>
          <p:nvPr/>
        </p:nvSpPr>
        <p:spPr>
          <a:xfrm>
            <a:off x="457200"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6"/>
          <p:cNvSpPr/>
          <p:nvPr/>
        </p:nvSpPr>
        <p:spPr>
          <a:xfrm>
            <a:off x="585216" y="1938528"/>
            <a:ext cx="365760" cy="365760"/>
          </a:xfrm>
          <a:prstGeom prst="ellipse">
            <a:avLst/>
          </a:prstGeom>
          <a:solidFill>
            <a:srgbClr val="1B3B6F"/>
          </a:solidFill>
          <a:ln w="12700">
            <a:solidFill>
              <a:srgbClr val="1B3B6F"/>
            </a:solidFill>
            <a:prstDash val="solid"/>
          </a:ln>
        </p:spPr>
      </p:sp>
      <p:sp>
        <p:nvSpPr>
          <p:cNvPr id="43" name="Text 37"/>
          <p:cNvSpPr txBox="1"/>
          <p:nvPr/>
        </p:nvSpPr>
        <p:spPr>
          <a:xfrm>
            <a:off x="585216"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3</a:t>
            </a:r>
            <a:endParaRPr lang="en-US" sz="1200" dirty="0"/>
          </a:p>
        </p:txBody>
      </p:sp>
      <p:sp>
        <p:nvSpPr>
          <p:cNvPr id="44" name="Shape 38"/>
          <p:cNvSpPr/>
          <p:nvPr/>
        </p:nvSpPr>
        <p:spPr>
          <a:xfrm>
            <a:off x="1173480" y="2066544"/>
            <a:ext cx="1014984" cy="1014984"/>
          </a:xfrm>
          <a:prstGeom prst="ellipse">
            <a:avLst/>
          </a:prstGeom>
          <a:solidFill>
            <a:srgbClr val="F4F1EA"/>
          </a:solidFill>
          <a:ln w="12700">
            <a:solidFill>
              <a:srgbClr val="F4F1EA"/>
            </a:solidFill>
            <a:prstDash val="solid"/>
          </a:ln>
        </p:spPr>
      </p:sp>
      <p:pic>
        <p:nvPicPr>
          <p:cNvPr id="45" name="Image 3" descr="preencoded.png">    </p:cNvPr>
          <p:cNvPicPr>
            <a:picLocks noChangeAspect="1"/>
          </p:cNvPicPr>
          <p:nvPr/>
        </p:nvPicPr>
        <p:blipFill>
          <a:blip r:embed="rId4"/>
          <a:stretch>
            <a:fillRect/>
          </a:stretch>
        </p:blipFill>
        <p:spPr>
          <a:xfrm>
            <a:off x="1356360" y="2249424"/>
            <a:ext cx="649224" cy="649224"/>
          </a:xfrm>
          <a:prstGeom prst="rect">
            <a:avLst/>
          </a:prstGeom>
        </p:spPr>
      </p:pic>
      <p:sp>
        <p:nvSpPr>
          <p:cNvPr id="46" name="Shape 39"/>
          <p:cNvSpPr/>
          <p:nvPr/>
        </p:nvSpPr>
        <p:spPr>
          <a:xfrm>
            <a:off x="2362200" y="2066544"/>
            <a:ext cx="1014984" cy="1014984"/>
          </a:xfrm>
          <a:prstGeom prst="ellipse">
            <a:avLst/>
          </a:prstGeom>
          <a:solidFill>
            <a:srgbClr val="F4F1EA"/>
          </a:solidFill>
          <a:ln w="12700">
            <a:solidFill>
              <a:srgbClr val="F4F1EA"/>
            </a:solidFill>
            <a:prstDash val="solid"/>
          </a:ln>
        </p:spPr>
      </p:sp>
      <p:pic>
        <p:nvPicPr>
          <p:cNvPr id="47" name="Image 4" descr="preencoded.png">    </p:cNvPr>
          <p:cNvPicPr>
            <a:picLocks noChangeAspect="1"/>
          </p:cNvPicPr>
          <p:nvPr/>
        </p:nvPicPr>
        <p:blipFill>
          <a:blip r:embed="rId5"/>
          <a:stretch>
            <a:fillRect/>
          </a:stretch>
        </p:blipFill>
        <p:spPr>
          <a:xfrm>
            <a:off x="2545080" y="2249424"/>
            <a:ext cx="649224" cy="649224"/>
          </a:xfrm>
          <a:prstGeom prst="rect">
            <a:avLst/>
          </a:prstGeom>
        </p:spPr>
      </p:pic>
      <p:sp>
        <p:nvSpPr>
          <p:cNvPr id="48" name="Text 40"/>
          <p:cNvSpPr txBox="1"/>
          <p:nvPr/>
        </p:nvSpPr>
        <p:spPr>
          <a:xfrm>
            <a:off x="594360"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organised</a:t>
            </a:r>
            <a:endParaRPr lang="en-US" sz="1100" dirty="0"/>
          </a:p>
        </p:txBody>
      </p:sp>
      <p:sp>
        <p:nvSpPr>
          <p:cNvPr id="49" name="Shape 41"/>
          <p:cNvSpPr/>
          <p:nvPr/>
        </p:nvSpPr>
        <p:spPr>
          <a:xfrm>
            <a:off x="457200"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50" name="Shape 42"/>
          <p:cNvSpPr/>
          <p:nvPr/>
        </p:nvSpPr>
        <p:spPr>
          <a:xfrm>
            <a:off x="3617976" y="3785616"/>
            <a:ext cx="329184" cy="329184"/>
          </a:xfrm>
          <a:prstGeom prst="ellipse">
            <a:avLst/>
          </a:prstGeom>
          <a:solidFill>
            <a:srgbClr val="2E8B57"/>
          </a:solidFill>
          <a:ln w="12700">
            <a:solidFill>
              <a:srgbClr val="2E8B57"/>
            </a:solidFill>
            <a:prstDash val="solid"/>
          </a:ln>
        </p:spPr>
      </p:sp>
      <p:sp>
        <p:nvSpPr>
          <p:cNvPr id="51" name="Text 43"/>
          <p:cNvSpPr txBox="1"/>
          <p:nvPr/>
        </p:nvSpPr>
        <p:spPr>
          <a:xfrm>
            <a:off x="3617976"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B</a:t>
            </a:r>
            <a:endParaRPr lang="en-US" sz="1100" dirty="0"/>
          </a:p>
        </p:txBody>
      </p:sp>
      <p:sp>
        <p:nvSpPr>
          <p:cNvPr id="52" name="Text 44"/>
          <p:cNvSpPr txBox="1"/>
          <p:nvPr/>
        </p:nvSpPr>
        <p:spPr>
          <a:xfrm>
            <a:off x="594360"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أَنَا مُنَظَّمٌ وَأَحْتَرِمُ الْمَوَاعِيدَ.</a:t>
            </a:r>
            <a:endParaRPr lang="ar-SA" sz="2200" dirty="0"/>
          </a:p>
        </p:txBody>
      </p:sp>
      <p:sp>
        <p:nvSpPr>
          <p:cNvPr id="53" name="Text 45"/>
          <p:cNvSpPr txBox="1"/>
          <p:nvPr/>
        </p:nvSpPr>
        <p:spPr>
          <a:xfrm>
            <a:off x="594360"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cs typeface="Amiri" pitchFamily="2" charset="-78"/>
              </a:rPr>
              <a:t>I am organised and punctual.</a:t>
            </a:r>
            <a:endParaRPr lang="en-US" sz="1200" dirty="0"/>
          </a:p>
        </p:txBody>
      </p:sp>
      <p:sp>
        <p:nvSpPr>
          <p:cNvPr id="54" name="Text 4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22 / 47</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TD-L08 · Skills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00" b="1" spc="150" kern="0" dirty="0">
                <a:solidFill>
                  <a:srgbClr val="2F6FB0"/>
                </a:solidFill>
                <a:latin typeface="Calibri" pitchFamily="34" charset="0"/>
                <a:cs typeface="Amiri" pitchFamily="2" charset="-78"/>
              </a:rPr>
              <a:t>WE DO · PICTURE MATCH · WEBSITE GAME “VISUAL GAME — SKILLS AND QUALITIES — WHAT MAKES A GOOD WORKER?”</a:t>
            </a:r>
            <a:endParaRPr lang="en-US" sz="8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150" b="1" dirty="0">
                <a:solidFill>
                  <a:srgbClr val="1B3B6F"/>
                </a:solidFill>
                <a:latin typeface="Cambria" pitchFamily="34" charset="0"/>
                <a:cs typeface="Amiri" pitchFamily="2" charset="-78"/>
              </a:rPr>
              <a:t>What is he / she good at? Match the picture</a:t>
            </a:r>
            <a:endParaRPr lang="en-US" sz="21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مَهَارَاتُ العَمَلِ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D · The World of Work · TD-L08</a:t>
            </a:r>
            <a:endParaRPr lang="en-US" sz="850" dirty="0"/>
          </a:p>
        </p:txBody>
      </p:sp>
      <p:sp>
        <p:nvSpPr>
          <p:cNvPr id="15" name="Shape 12"/>
          <p:cNvSpPr/>
          <p:nvPr/>
        </p:nvSpPr>
        <p:spPr>
          <a:xfrm>
            <a:off x="8095488"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23504" y="1938528"/>
            <a:ext cx="365760" cy="365760"/>
          </a:xfrm>
          <a:prstGeom prst="ellipse">
            <a:avLst/>
          </a:prstGeom>
          <a:solidFill>
            <a:srgbClr val="1B3B6F"/>
          </a:solidFill>
          <a:ln w="12700">
            <a:solidFill>
              <a:srgbClr val="1B3B6F"/>
            </a:solidFill>
            <a:prstDash val="solid"/>
          </a:ln>
        </p:spPr>
      </p:sp>
      <p:sp>
        <p:nvSpPr>
          <p:cNvPr id="17" name="Text 14"/>
          <p:cNvSpPr txBox="1"/>
          <p:nvPr/>
        </p:nvSpPr>
        <p:spPr>
          <a:xfrm>
            <a:off x="8223504"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1</a:t>
            </a:r>
            <a:endParaRPr lang="en-US" sz="1200" dirty="0"/>
          </a:p>
        </p:txBody>
      </p:sp>
      <p:sp>
        <p:nvSpPr>
          <p:cNvPr id="18" name="Shape 15"/>
          <p:cNvSpPr/>
          <p:nvPr/>
        </p:nvSpPr>
        <p:spPr>
          <a:xfrm>
            <a:off x="8811768" y="2066544"/>
            <a:ext cx="1014984" cy="1014984"/>
          </a:xfrm>
          <a:prstGeom prst="ellipse">
            <a:avLst/>
          </a:prstGeom>
          <a:solidFill>
            <a:srgbClr val="F4F1EA"/>
          </a:solidFill>
          <a:ln w="12700">
            <a:solidFill>
              <a:srgbClr val="F4F1EA"/>
            </a:solidFill>
            <a:prstDash val="solid"/>
          </a:ln>
        </p:spPr>
      </p:sp>
      <p:pic>
        <p:nvPicPr>
          <p:cNvPr id="19" name="Image 0" descr="preencoded.png">    </p:cNvPr>
          <p:cNvPicPr>
            <a:picLocks noChangeAspect="1"/>
          </p:cNvPicPr>
          <p:nvPr/>
        </p:nvPicPr>
        <p:blipFill>
          <a:blip r:embed="rId1"/>
          <a:stretch>
            <a:fillRect/>
          </a:stretch>
        </p:blipFill>
        <p:spPr>
          <a:xfrm>
            <a:off x="8994648" y="2249424"/>
            <a:ext cx="649224" cy="649224"/>
          </a:xfrm>
          <a:prstGeom prst="rect">
            <a:avLst/>
          </a:prstGeom>
        </p:spPr>
      </p:pic>
      <p:sp>
        <p:nvSpPr>
          <p:cNvPr id="20" name="Shape 16"/>
          <p:cNvSpPr/>
          <p:nvPr/>
        </p:nvSpPr>
        <p:spPr>
          <a:xfrm>
            <a:off x="10000488" y="2066544"/>
            <a:ext cx="1014984" cy="1014984"/>
          </a:xfrm>
          <a:prstGeom prst="ellipse">
            <a:avLst/>
          </a:prstGeom>
          <a:solidFill>
            <a:srgbClr val="F4F1EA"/>
          </a:solidFill>
          <a:ln w="12700">
            <a:solidFill>
              <a:srgbClr val="F4F1EA"/>
            </a:solidFill>
            <a:prstDash val="solid"/>
          </a:ln>
        </p:spPr>
      </p:sp>
      <p:pic>
        <p:nvPicPr>
          <p:cNvPr id="21" name="Image 1" descr="preencoded.png">    </p:cNvPr>
          <p:cNvPicPr>
            <a:picLocks noChangeAspect="1"/>
          </p:cNvPicPr>
          <p:nvPr/>
        </p:nvPicPr>
        <p:blipFill>
          <a:blip r:embed="rId2"/>
          <a:stretch>
            <a:fillRect/>
          </a:stretch>
        </p:blipFill>
        <p:spPr>
          <a:xfrm>
            <a:off x="10183368" y="2249424"/>
            <a:ext cx="649224" cy="649224"/>
          </a:xfrm>
          <a:prstGeom prst="rect">
            <a:avLst/>
          </a:prstGeom>
        </p:spPr>
      </p:pic>
      <p:sp>
        <p:nvSpPr>
          <p:cNvPr id="22" name="Text 17"/>
          <p:cNvSpPr txBox="1"/>
          <p:nvPr/>
        </p:nvSpPr>
        <p:spPr>
          <a:xfrm>
            <a:off x="8232648"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teamwork</a:t>
            </a:r>
            <a:endParaRPr lang="en-US" sz="1100" dirty="0"/>
          </a:p>
        </p:txBody>
      </p:sp>
      <p:sp>
        <p:nvSpPr>
          <p:cNvPr id="23" name="Shape 18"/>
          <p:cNvSpPr/>
          <p:nvPr/>
        </p:nvSpPr>
        <p:spPr>
          <a:xfrm>
            <a:off x="4276344"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4404360" y="1938528"/>
            <a:ext cx="365760" cy="365760"/>
          </a:xfrm>
          <a:prstGeom prst="ellipse">
            <a:avLst/>
          </a:prstGeom>
          <a:solidFill>
            <a:srgbClr val="1B3B6F"/>
          </a:solidFill>
          <a:ln w="12700">
            <a:solidFill>
              <a:srgbClr val="1B3B6F"/>
            </a:solidFill>
            <a:prstDash val="solid"/>
          </a:ln>
        </p:spPr>
      </p:sp>
      <p:sp>
        <p:nvSpPr>
          <p:cNvPr id="25" name="Text 20"/>
          <p:cNvSpPr txBox="1"/>
          <p:nvPr/>
        </p:nvSpPr>
        <p:spPr>
          <a:xfrm>
            <a:off x="4404360"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2</a:t>
            </a:r>
            <a:endParaRPr lang="en-US" sz="1200" dirty="0"/>
          </a:p>
        </p:txBody>
      </p:sp>
      <p:sp>
        <p:nvSpPr>
          <p:cNvPr id="26" name="Shape 21"/>
          <p:cNvSpPr/>
          <p:nvPr/>
        </p:nvSpPr>
        <p:spPr>
          <a:xfrm>
            <a:off x="4992624" y="2066544"/>
            <a:ext cx="1014984" cy="1014984"/>
          </a:xfrm>
          <a:prstGeom prst="ellipse">
            <a:avLst/>
          </a:prstGeom>
          <a:solidFill>
            <a:srgbClr val="F4F1EA"/>
          </a:solidFill>
          <a:ln w="12700">
            <a:solidFill>
              <a:srgbClr val="F4F1EA"/>
            </a:solidFill>
            <a:prstDash val="solid"/>
          </a:ln>
        </p:spPr>
      </p:sp>
      <p:pic>
        <p:nvPicPr>
          <p:cNvPr id="27" name="Image 2" descr="preencoded.png">    </p:cNvPr>
          <p:cNvPicPr>
            <a:picLocks noChangeAspect="1"/>
          </p:cNvPicPr>
          <p:nvPr/>
        </p:nvPicPr>
        <p:blipFill>
          <a:blip r:embed="rId3"/>
          <a:stretch>
            <a:fillRect/>
          </a:stretch>
        </p:blipFill>
        <p:spPr>
          <a:xfrm>
            <a:off x="5175504" y="2249424"/>
            <a:ext cx="649224" cy="649224"/>
          </a:xfrm>
          <a:prstGeom prst="rect">
            <a:avLst/>
          </a:prstGeom>
        </p:spPr>
      </p:pic>
      <p:sp>
        <p:nvSpPr>
          <p:cNvPr id="28" name="Shape 22"/>
          <p:cNvSpPr/>
          <p:nvPr/>
        </p:nvSpPr>
        <p:spPr>
          <a:xfrm>
            <a:off x="6181344" y="2066544"/>
            <a:ext cx="1014984" cy="1014984"/>
          </a:xfrm>
          <a:prstGeom prst="ellipse">
            <a:avLst/>
          </a:prstGeom>
          <a:solidFill>
            <a:srgbClr val="F4F1EA"/>
          </a:solidFill>
          <a:ln w="12700">
            <a:solidFill>
              <a:srgbClr val="F4F1EA"/>
            </a:solidFill>
            <a:prstDash val="solid"/>
          </a:ln>
        </p:spPr>
      </p:sp>
      <p:pic>
        <p:nvPicPr>
          <p:cNvPr id="29" name="Image 3" descr="preencoded.png">    </p:cNvPr>
          <p:cNvPicPr>
            <a:picLocks noChangeAspect="1"/>
          </p:cNvPicPr>
          <p:nvPr/>
        </p:nvPicPr>
        <p:blipFill>
          <a:blip r:embed="rId4"/>
          <a:stretch>
            <a:fillRect/>
          </a:stretch>
        </p:blipFill>
        <p:spPr>
          <a:xfrm>
            <a:off x="6364224" y="2249424"/>
            <a:ext cx="649224" cy="649224"/>
          </a:xfrm>
          <a:prstGeom prst="rect">
            <a:avLst/>
          </a:prstGeom>
        </p:spPr>
      </p:pic>
      <p:sp>
        <p:nvSpPr>
          <p:cNvPr id="30" name="Text 23"/>
          <p:cNvSpPr txBox="1"/>
          <p:nvPr/>
        </p:nvSpPr>
        <p:spPr>
          <a:xfrm>
            <a:off x="4413504"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solving problems</a:t>
            </a:r>
            <a:endParaRPr lang="en-US" sz="1100" dirty="0"/>
          </a:p>
        </p:txBody>
      </p:sp>
      <p:sp>
        <p:nvSpPr>
          <p:cNvPr id="31" name="Shape 24"/>
          <p:cNvSpPr/>
          <p:nvPr/>
        </p:nvSpPr>
        <p:spPr>
          <a:xfrm>
            <a:off x="457200"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5"/>
          <p:cNvSpPr/>
          <p:nvPr/>
        </p:nvSpPr>
        <p:spPr>
          <a:xfrm>
            <a:off x="585216" y="1938528"/>
            <a:ext cx="365760" cy="365760"/>
          </a:xfrm>
          <a:prstGeom prst="ellipse">
            <a:avLst/>
          </a:prstGeom>
          <a:solidFill>
            <a:srgbClr val="1B3B6F"/>
          </a:solidFill>
          <a:ln w="12700">
            <a:solidFill>
              <a:srgbClr val="1B3B6F"/>
            </a:solidFill>
            <a:prstDash val="solid"/>
          </a:ln>
        </p:spPr>
      </p:sp>
      <p:sp>
        <p:nvSpPr>
          <p:cNvPr id="33" name="Text 26"/>
          <p:cNvSpPr txBox="1"/>
          <p:nvPr/>
        </p:nvSpPr>
        <p:spPr>
          <a:xfrm>
            <a:off x="585216"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3</a:t>
            </a:r>
            <a:endParaRPr lang="en-US" sz="1200" dirty="0"/>
          </a:p>
        </p:txBody>
      </p:sp>
      <p:sp>
        <p:nvSpPr>
          <p:cNvPr id="34" name="Shape 27"/>
          <p:cNvSpPr/>
          <p:nvPr/>
        </p:nvSpPr>
        <p:spPr>
          <a:xfrm>
            <a:off x="1173480" y="2066544"/>
            <a:ext cx="1014984" cy="1014984"/>
          </a:xfrm>
          <a:prstGeom prst="ellipse">
            <a:avLst/>
          </a:prstGeom>
          <a:solidFill>
            <a:srgbClr val="F4F1EA"/>
          </a:solidFill>
          <a:ln w="12700">
            <a:solidFill>
              <a:srgbClr val="F4F1EA"/>
            </a:solidFill>
            <a:prstDash val="solid"/>
          </a:ln>
        </p:spPr>
      </p:sp>
      <p:pic>
        <p:nvPicPr>
          <p:cNvPr id="35" name="Image 4" descr="preencoded.png">    </p:cNvPr>
          <p:cNvPicPr>
            <a:picLocks noChangeAspect="1"/>
          </p:cNvPicPr>
          <p:nvPr/>
        </p:nvPicPr>
        <p:blipFill>
          <a:blip r:embed="rId5"/>
          <a:stretch>
            <a:fillRect/>
          </a:stretch>
        </p:blipFill>
        <p:spPr>
          <a:xfrm>
            <a:off x="1356360" y="2249424"/>
            <a:ext cx="649224" cy="649224"/>
          </a:xfrm>
          <a:prstGeom prst="rect">
            <a:avLst/>
          </a:prstGeom>
        </p:spPr>
      </p:pic>
      <p:sp>
        <p:nvSpPr>
          <p:cNvPr id="36" name="Shape 28"/>
          <p:cNvSpPr/>
          <p:nvPr/>
        </p:nvSpPr>
        <p:spPr>
          <a:xfrm>
            <a:off x="2362200" y="2066544"/>
            <a:ext cx="1014984" cy="1014984"/>
          </a:xfrm>
          <a:prstGeom prst="ellipse">
            <a:avLst/>
          </a:prstGeom>
          <a:solidFill>
            <a:srgbClr val="F4F1EA"/>
          </a:solidFill>
          <a:ln w="12700">
            <a:solidFill>
              <a:srgbClr val="F4F1EA"/>
            </a:solidFill>
            <a:prstDash val="solid"/>
          </a:ln>
        </p:spPr>
      </p:sp>
      <p:pic>
        <p:nvPicPr>
          <p:cNvPr id="37" name="Image 5" descr="preencoded.png">    </p:cNvPr>
          <p:cNvPicPr>
            <a:picLocks noChangeAspect="1"/>
          </p:cNvPicPr>
          <p:nvPr/>
        </p:nvPicPr>
        <p:blipFill>
          <a:blip r:embed="rId6"/>
          <a:stretch>
            <a:fillRect/>
          </a:stretch>
        </p:blipFill>
        <p:spPr>
          <a:xfrm>
            <a:off x="2545080" y="2249424"/>
            <a:ext cx="649224" cy="649224"/>
          </a:xfrm>
          <a:prstGeom prst="rect">
            <a:avLst/>
          </a:prstGeom>
        </p:spPr>
      </p:pic>
      <p:sp>
        <p:nvSpPr>
          <p:cNvPr id="38" name="Text 29"/>
          <p:cNvSpPr txBox="1"/>
          <p:nvPr/>
        </p:nvSpPr>
        <p:spPr>
          <a:xfrm>
            <a:off x="594360"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organised · on time</a:t>
            </a:r>
            <a:endParaRPr lang="en-US" sz="1100" dirty="0"/>
          </a:p>
        </p:txBody>
      </p:sp>
      <p:sp>
        <p:nvSpPr>
          <p:cNvPr id="39" name="Shape 30"/>
          <p:cNvSpPr/>
          <p:nvPr/>
        </p:nvSpPr>
        <p:spPr>
          <a:xfrm>
            <a:off x="457200" y="3730752"/>
            <a:ext cx="11274552" cy="493776"/>
          </a:xfrm>
          <a:prstGeom prst="roundRect">
            <a:avLst>
              <a:gd name="adj" fmla="val 11111"/>
            </a:avLst>
          </a:prstGeom>
          <a:solidFill>
            <a:srgbClr val="EEF3FA"/>
          </a:solidFill>
          <a:ln w="9525">
            <a:solidFill>
              <a:srgbClr val="C9D6EA"/>
            </a:solidFill>
            <a:prstDash val="solid"/>
          </a:ln>
        </p:spPr>
      </p:sp>
      <p:sp>
        <p:nvSpPr>
          <p:cNvPr id="40" name="Shape 31"/>
          <p:cNvSpPr/>
          <p:nvPr/>
        </p:nvSpPr>
        <p:spPr>
          <a:xfrm>
            <a:off x="11247120" y="3831336"/>
            <a:ext cx="292608" cy="292608"/>
          </a:xfrm>
          <a:prstGeom prst="ellipse">
            <a:avLst/>
          </a:prstGeom>
          <a:solidFill>
            <a:srgbClr val="2F6FB0"/>
          </a:solidFill>
          <a:ln w="12700">
            <a:solidFill>
              <a:srgbClr val="2F6FB0"/>
            </a:solidFill>
            <a:prstDash val="solid"/>
          </a:ln>
        </p:spPr>
      </p:sp>
      <p:sp>
        <p:nvSpPr>
          <p:cNvPr id="41" name="Text 32"/>
          <p:cNvSpPr txBox="1"/>
          <p:nvPr/>
        </p:nvSpPr>
        <p:spPr>
          <a:xfrm>
            <a:off x="11247120" y="3831336"/>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A</a:t>
            </a:r>
            <a:endParaRPr lang="en-US" sz="1000" dirty="0"/>
          </a:p>
        </p:txBody>
      </p:sp>
      <p:sp>
        <p:nvSpPr>
          <p:cNvPr id="42" name="Text 33"/>
          <p:cNvSpPr txBox="1"/>
          <p:nvPr/>
        </p:nvSpPr>
        <p:spPr>
          <a:xfrm>
            <a:off x="731520" y="3730752"/>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هُوَ جَيِّدٌ فِي حَلِّ المُشْكِلَاتِ.</a:t>
            </a:r>
            <a:endParaRPr lang="ar-SA" sz="2000" dirty="0"/>
          </a:p>
        </p:txBody>
      </p:sp>
      <p:sp>
        <p:nvSpPr>
          <p:cNvPr id="43" name="Shape 34"/>
          <p:cNvSpPr/>
          <p:nvPr/>
        </p:nvSpPr>
        <p:spPr>
          <a:xfrm>
            <a:off x="457200" y="4297680"/>
            <a:ext cx="11274552" cy="493776"/>
          </a:xfrm>
          <a:prstGeom prst="roundRect">
            <a:avLst>
              <a:gd name="adj" fmla="val 11111"/>
            </a:avLst>
          </a:prstGeom>
          <a:solidFill>
            <a:srgbClr val="EEF3FA"/>
          </a:solidFill>
          <a:ln w="9525">
            <a:solidFill>
              <a:srgbClr val="C9D6EA"/>
            </a:solidFill>
            <a:prstDash val="solid"/>
          </a:ln>
        </p:spPr>
      </p:sp>
      <p:sp>
        <p:nvSpPr>
          <p:cNvPr id="44" name="Shape 35"/>
          <p:cNvSpPr/>
          <p:nvPr/>
        </p:nvSpPr>
        <p:spPr>
          <a:xfrm>
            <a:off x="11247120" y="4398264"/>
            <a:ext cx="292608" cy="292608"/>
          </a:xfrm>
          <a:prstGeom prst="ellipse">
            <a:avLst/>
          </a:prstGeom>
          <a:solidFill>
            <a:srgbClr val="2F6FB0"/>
          </a:solidFill>
          <a:ln w="12700">
            <a:solidFill>
              <a:srgbClr val="2F6FB0"/>
            </a:solidFill>
            <a:prstDash val="solid"/>
          </a:ln>
        </p:spPr>
      </p:sp>
      <p:sp>
        <p:nvSpPr>
          <p:cNvPr id="45" name="Text 36"/>
          <p:cNvSpPr txBox="1"/>
          <p:nvPr/>
        </p:nvSpPr>
        <p:spPr>
          <a:xfrm>
            <a:off x="11247120" y="4398264"/>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B</a:t>
            </a:r>
            <a:endParaRPr lang="en-US" sz="1000" dirty="0"/>
          </a:p>
        </p:txBody>
      </p:sp>
      <p:sp>
        <p:nvSpPr>
          <p:cNvPr id="46" name="Text 37"/>
          <p:cNvSpPr txBox="1"/>
          <p:nvPr/>
        </p:nvSpPr>
        <p:spPr>
          <a:xfrm>
            <a:off x="731520" y="4297680"/>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هِيَ مُنَظَّمَةٌ وَتَحْتَرِمُ الوَقْتَ.</a:t>
            </a:r>
            <a:endParaRPr lang="ar-SA" sz="2000" dirty="0"/>
          </a:p>
        </p:txBody>
      </p:sp>
      <p:sp>
        <p:nvSpPr>
          <p:cNvPr id="47" name="Shape 38"/>
          <p:cNvSpPr/>
          <p:nvPr/>
        </p:nvSpPr>
        <p:spPr>
          <a:xfrm>
            <a:off x="457200" y="4864608"/>
            <a:ext cx="11274552" cy="493776"/>
          </a:xfrm>
          <a:prstGeom prst="roundRect">
            <a:avLst>
              <a:gd name="adj" fmla="val 11111"/>
            </a:avLst>
          </a:prstGeom>
          <a:solidFill>
            <a:srgbClr val="EEF3FA"/>
          </a:solidFill>
          <a:ln w="9525">
            <a:solidFill>
              <a:srgbClr val="C9D6EA"/>
            </a:solidFill>
            <a:prstDash val="solid"/>
          </a:ln>
        </p:spPr>
      </p:sp>
      <p:sp>
        <p:nvSpPr>
          <p:cNvPr id="48" name="Shape 39"/>
          <p:cNvSpPr/>
          <p:nvPr/>
        </p:nvSpPr>
        <p:spPr>
          <a:xfrm>
            <a:off x="11247120" y="4965192"/>
            <a:ext cx="292608" cy="292608"/>
          </a:xfrm>
          <a:prstGeom prst="ellipse">
            <a:avLst/>
          </a:prstGeom>
          <a:solidFill>
            <a:srgbClr val="2F6FB0"/>
          </a:solidFill>
          <a:ln w="12700">
            <a:solidFill>
              <a:srgbClr val="2F6FB0"/>
            </a:solidFill>
            <a:prstDash val="solid"/>
          </a:ln>
        </p:spPr>
      </p:sp>
      <p:sp>
        <p:nvSpPr>
          <p:cNvPr id="49" name="Text 40"/>
          <p:cNvSpPr txBox="1"/>
          <p:nvPr/>
        </p:nvSpPr>
        <p:spPr>
          <a:xfrm>
            <a:off x="11247120" y="496519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C</a:t>
            </a:r>
            <a:endParaRPr lang="en-US" sz="1000" dirty="0"/>
          </a:p>
        </p:txBody>
      </p:sp>
      <p:sp>
        <p:nvSpPr>
          <p:cNvPr id="50" name="Text 41"/>
          <p:cNvSpPr txBox="1"/>
          <p:nvPr/>
        </p:nvSpPr>
        <p:spPr>
          <a:xfrm>
            <a:off x="731520" y="4864608"/>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هُوَ جَيِّدٌ فِي العَمَلِ الجَمَاعِيِّ.</a:t>
            </a:r>
            <a:endParaRPr lang="ar-SA" sz="2000" dirty="0"/>
          </a:p>
        </p:txBody>
      </p:sp>
      <p:sp>
        <p:nvSpPr>
          <p:cNvPr id="51" name="Text 42"/>
          <p:cNvSpPr txBox="1"/>
          <p:nvPr/>
        </p:nvSpPr>
        <p:spPr>
          <a:xfrm>
            <a:off x="457200" y="5468112"/>
            <a:ext cx="11274552" cy="365760"/>
          </a:xfrm>
          <a:prstGeom prst="rect">
            <a:avLst/>
          </a:prstGeom>
          <a:noFill/>
          <a:ln/>
        </p:spPr>
        <p:txBody>
          <a:bodyPr wrap="square" lIns="0" tIns="0" rIns="0" bIns="0" rtlCol="0" anchor="ctr"/>
          <a:lstStyle/>
          <a:p>
            <a:pPr algn="l" indent="0" marL="0">
              <a:buNone/>
            </a:pPr>
            <a:r>
              <a:rPr lang="en-US" sz="1250" b="1" dirty="0">
                <a:solidFill>
                  <a:srgbClr val="2F6FB0"/>
                </a:solidFill>
                <a:latin typeface="Calibri" pitchFamily="34" charset="0"/>
                <a:cs typeface="Amiri" pitchFamily="2" charset="-78"/>
              </a:rPr>
              <a:t>Match each picture to a sentence. Type in the chat: 1_  2_  3_</a:t>
            </a:r>
            <a:endParaRPr lang="en-US" sz="1250" dirty="0"/>
          </a:p>
        </p:txBody>
      </p:sp>
      <p:sp>
        <p:nvSpPr>
          <p:cNvPr id="52" name="Text 43"/>
          <p:cNvSpPr txBox="1"/>
          <p:nvPr/>
        </p:nvSpPr>
        <p:spPr>
          <a:xfrm>
            <a:off x="457200" y="5852160"/>
            <a:ext cx="11274552" cy="365760"/>
          </a:xfrm>
          <a:prstGeom prst="rect">
            <a:avLst/>
          </a:prstGeom>
          <a:noFill/>
          <a:ln/>
        </p:spPr>
        <p:txBody>
          <a:bodyPr wrap="square" lIns="0" tIns="0" rIns="0" bIns="0" rtlCol="0" anchor="ctr"/>
          <a:lstStyle/>
          <a:p>
            <a:pPr algn="l" indent="0" marL="0">
              <a:buNone/>
            </a:pPr>
            <a:r>
              <a:rPr lang="en-US" sz="1150" i="1" dirty="0">
                <a:solidFill>
                  <a:srgbClr val="5A6472"/>
                </a:solidFill>
                <a:latin typeface="Calibri" pitchFamily="34" charset="0"/>
                <a:cs typeface="Amiri" pitchFamily="2" charset="-78"/>
              </a:rPr>
              <a:t>Core: find ONE key word you know in each sentence first.</a:t>
            </a:r>
            <a:endParaRPr lang="en-US" sz="1150" dirty="0"/>
          </a:p>
        </p:txBody>
      </p:sp>
      <p:sp>
        <p:nvSpPr>
          <p:cNvPr id="53" name="Text 4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23 / 47</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TD-L08 ·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PICTURE MATCH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Picture match: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مَهَارَاتُ العَمَلِ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D · The World of Work · TD-L08</a:t>
            </a:r>
            <a:endParaRPr lang="en-US" sz="850" dirty="0"/>
          </a:p>
        </p:txBody>
      </p:sp>
      <p:sp>
        <p:nvSpPr>
          <p:cNvPr id="15" name="Shape 12"/>
          <p:cNvSpPr/>
          <p:nvPr/>
        </p:nvSpPr>
        <p:spPr>
          <a:xfrm>
            <a:off x="8095488"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23504" y="1938528"/>
            <a:ext cx="365760" cy="365760"/>
          </a:xfrm>
          <a:prstGeom prst="ellipse">
            <a:avLst/>
          </a:prstGeom>
          <a:solidFill>
            <a:srgbClr val="1B3B6F"/>
          </a:solidFill>
          <a:ln w="12700">
            <a:solidFill>
              <a:srgbClr val="1B3B6F"/>
            </a:solidFill>
            <a:prstDash val="solid"/>
          </a:ln>
        </p:spPr>
      </p:sp>
      <p:sp>
        <p:nvSpPr>
          <p:cNvPr id="17" name="Text 14"/>
          <p:cNvSpPr txBox="1"/>
          <p:nvPr/>
        </p:nvSpPr>
        <p:spPr>
          <a:xfrm>
            <a:off x="8223504"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1</a:t>
            </a:r>
            <a:endParaRPr lang="en-US" sz="1200" dirty="0"/>
          </a:p>
        </p:txBody>
      </p:sp>
      <p:sp>
        <p:nvSpPr>
          <p:cNvPr id="18" name="Shape 15"/>
          <p:cNvSpPr/>
          <p:nvPr/>
        </p:nvSpPr>
        <p:spPr>
          <a:xfrm>
            <a:off x="8811768" y="2066544"/>
            <a:ext cx="1014984" cy="1014984"/>
          </a:xfrm>
          <a:prstGeom prst="ellipse">
            <a:avLst/>
          </a:prstGeom>
          <a:solidFill>
            <a:srgbClr val="F4F1EA"/>
          </a:solidFill>
          <a:ln w="12700">
            <a:solidFill>
              <a:srgbClr val="F4F1EA"/>
            </a:solidFill>
            <a:prstDash val="solid"/>
          </a:ln>
        </p:spPr>
      </p:sp>
      <p:pic>
        <p:nvPicPr>
          <p:cNvPr id="19" name="Image 0" descr="preencoded.png">    </p:cNvPr>
          <p:cNvPicPr>
            <a:picLocks noChangeAspect="1"/>
          </p:cNvPicPr>
          <p:nvPr/>
        </p:nvPicPr>
        <p:blipFill>
          <a:blip r:embed="rId1"/>
          <a:stretch>
            <a:fillRect/>
          </a:stretch>
        </p:blipFill>
        <p:spPr>
          <a:xfrm>
            <a:off x="8994648" y="2249424"/>
            <a:ext cx="649224" cy="649224"/>
          </a:xfrm>
          <a:prstGeom prst="rect">
            <a:avLst/>
          </a:prstGeom>
        </p:spPr>
      </p:pic>
      <p:sp>
        <p:nvSpPr>
          <p:cNvPr id="20" name="Shape 16"/>
          <p:cNvSpPr/>
          <p:nvPr/>
        </p:nvSpPr>
        <p:spPr>
          <a:xfrm>
            <a:off x="10000488" y="2066544"/>
            <a:ext cx="1014984" cy="1014984"/>
          </a:xfrm>
          <a:prstGeom prst="ellipse">
            <a:avLst/>
          </a:prstGeom>
          <a:solidFill>
            <a:srgbClr val="F4F1EA"/>
          </a:solidFill>
          <a:ln w="12700">
            <a:solidFill>
              <a:srgbClr val="F4F1EA"/>
            </a:solidFill>
            <a:prstDash val="solid"/>
          </a:ln>
        </p:spPr>
      </p:sp>
      <p:pic>
        <p:nvPicPr>
          <p:cNvPr id="21" name="Image 1" descr="preencoded.png">    </p:cNvPr>
          <p:cNvPicPr>
            <a:picLocks noChangeAspect="1"/>
          </p:cNvPicPr>
          <p:nvPr/>
        </p:nvPicPr>
        <p:blipFill>
          <a:blip r:embed="rId2"/>
          <a:stretch>
            <a:fillRect/>
          </a:stretch>
        </p:blipFill>
        <p:spPr>
          <a:xfrm>
            <a:off x="10183368" y="2249424"/>
            <a:ext cx="649224" cy="649224"/>
          </a:xfrm>
          <a:prstGeom prst="rect">
            <a:avLst/>
          </a:prstGeom>
        </p:spPr>
      </p:pic>
      <p:sp>
        <p:nvSpPr>
          <p:cNvPr id="22" name="Text 17"/>
          <p:cNvSpPr txBox="1"/>
          <p:nvPr/>
        </p:nvSpPr>
        <p:spPr>
          <a:xfrm>
            <a:off x="8232648"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teamwork</a:t>
            </a:r>
            <a:endParaRPr lang="en-US" sz="1100" dirty="0"/>
          </a:p>
        </p:txBody>
      </p:sp>
      <p:sp>
        <p:nvSpPr>
          <p:cNvPr id="23" name="Shape 18"/>
          <p:cNvSpPr/>
          <p:nvPr/>
        </p:nvSpPr>
        <p:spPr>
          <a:xfrm>
            <a:off x="8095488"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11256264" y="3785616"/>
            <a:ext cx="329184" cy="329184"/>
          </a:xfrm>
          <a:prstGeom prst="ellipse">
            <a:avLst/>
          </a:prstGeom>
          <a:solidFill>
            <a:srgbClr val="2E8B57"/>
          </a:solidFill>
          <a:ln w="12700">
            <a:solidFill>
              <a:srgbClr val="2E8B57"/>
            </a:solidFill>
            <a:prstDash val="solid"/>
          </a:ln>
        </p:spPr>
      </p:sp>
      <p:sp>
        <p:nvSpPr>
          <p:cNvPr id="25" name="Text 20"/>
          <p:cNvSpPr txBox="1"/>
          <p:nvPr/>
        </p:nvSpPr>
        <p:spPr>
          <a:xfrm>
            <a:off x="11256264"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C</a:t>
            </a:r>
            <a:endParaRPr lang="en-US" sz="1100" dirty="0"/>
          </a:p>
        </p:txBody>
      </p:sp>
      <p:sp>
        <p:nvSpPr>
          <p:cNvPr id="26" name="Text 21"/>
          <p:cNvSpPr txBox="1"/>
          <p:nvPr/>
        </p:nvSpPr>
        <p:spPr>
          <a:xfrm>
            <a:off x="8232648"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هُوَ جَيِّدٌ فِي العَمَلِ الجَمَاعِيِّ.</a:t>
            </a:r>
            <a:endParaRPr lang="ar-SA" sz="2200" dirty="0"/>
          </a:p>
        </p:txBody>
      </p:sp>
      <p:sp>
        <p:nvSpPr>
          <p:cNvPr id="27" name="Text 22"/>
          <p:cNvSpPr txBox="1"/>
          <p:nvPr/>
        </p:nvSpPr>
        <p:spPr>
          <a:xfrm>
            <a:off x="8232648"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cs typeface="Amiri" pitchFamily="2" charset="-78"/>
              </a:rPr>
              <a:t>He is good at teamwork.</a:t>
            </a:r>
            <a:endParaRPr lang="en-US" sz="1200" dirty="0"/>
          </a:p>
        </p:txBody>
      </p:sp>
      <p:sp>
        <p:nvSpPr>
          <p:cNvPr id="28" name="Shape 23"/>
          <p:cNvSpPr/>
          <p:nvPr/>
        </p:nvSpPr>
        <p:spPr>
          <a:xfrm>
            <a:off x="4276344"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4"/>
          <p:cNvSpPr/>
          <p:nvPr/>
        </p:nvSpPr>
        <p:spPr>
          <a:xfrm>
            <a:off x="4404360" y="1938528"/>
            <a:ext cx="365760" cy="365760"/>
          </a:xfrm>
          <a:prstGeom prst="ellipse">
            <a:avLst/>
          </a:prstGeom>
          <a:solidFill>
            <a:srgbClr val="1B3B6F"/>
          </a:solidFill>
          <a:ln w="12700">
            <a:solidFill>
              <a:srgbClr val="1B3B6F"/>
            </a:solidFill>
            <a:prstDash val="solid"/>
          </a:ln>
        </p:spPr>
      </p:sp>
      <p:sp>
        <p:nvSpPr>
          <p:cNvPr id="30" name="Text 25"/>
          <p:cNvSpPr txBox="1"/>
          <p:nvPr/>
        </p:nvSpPr>
        <p:spPr>
          <a:xfrm>
            <a:off x="4404360"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2</a:t>
            </a:r>
            <a:endParaRPr lang="en-US" sz="1200" dirty="0"/>
          </a:p>
        </p:txBody>
      </p:sp>
      <p:sp>
        <p:nvSpPr>
          <p:cNvPr id="31" name="Shape 26"/>
          <p:cNvSpPr/>
          <p:nvPr/>
        </p:nvSpPr>
        <p:spPr>
          <a:xfrm>
            <a:off x="4992624" y="2066544"/>
            <a:ext cx="1014984" cy="1014984"/>
          </a:xfrm>
          <a:prstGeom prst="ellipse">
            <a:avLst/>
          </a:prstGeom>
          <a:solidFill>
            <a:srgbClr val="F4F1EA"/>
          </a:solidFill>
          <a:ln w="12700">
            <a:solidFill>
              <a:srgbClr val="F4F1EA"/>
            </a:solidFill>
            <a:prstDash val="solid"/>
          </a:ln>
        </p:spPr>
      </p:sp>
      <p:pic>
        <p:nvPicPr>
          <p:cNvPr id="32" name="Image 2" descr="preencoded.png">    </p:cNvPr>
          <p:cNvPicPr>
            <a:picLocks noChangeAspect="1"/>
          </p:cNvPicPr>
          <p:nvPr/>
        </p:nvPicPr>
        <p:blipFill>
          <a:blip r:embed="rId3"/>
          <a:stretch>
            <a:fillRect/>
          </a:stretch>
        </p:blipFill>
        <p:spPr>
          <a:xfrm>
            <a:off x="5175504" y="2249424"/>
            <a:ext cx="649224" cy="649224"/>
          </a:xfrm>
          <a:prstGeom prst="rect">
            <a:avLst/>
          </a:prstGeom>
        </p:spPr>
      </p:pic>
      <p:sp>
        <p:nvSpPr>
          <p:cNvPr id="33" name="Shape 27"/>
          <p:cNvSpPr/>
          <p:nvPr/>
        </p:nvSpPr>
        <p:spPr>
          <a:xfrm>
            <a:off x="6181344" y="2066544"/>
            <a:ext cx="1014984" cy="1014984"/>
          </a:xfrm>
          <a:prstGeom prst="ellipse">
            <a:avLst/>
          </a:prstGeom>
          <a:solidFill>
            <a:srgbClr val="F4F1EA"/>
          </a:solidFill>
          <a:ln w="12700">
            <a:solidFill>
              <a:srgbClr val="F4F1EA"/>
            </a:solidFill>
            <a:prstDash val="solid"/>
          </a:ln>
        </p:spPr>
      </p:sp>
      <p:pic>
        <p:nvPicPr>
          <p:cNvPr id="34" name="Image 3" descr="preencoded.png">    </p:cNvPr>
          <p:cNvPicPr>
            <a:picLocks noChangeAspect="1"/>
          </p:cNvPicPr>
          <p:nvPr/>
        </p:nvPicPr>
        <p:blipFill>
          <a:blip r:embed="rId4"/>
          <a:stretch>
            <a:fillRect/>
          </a:stretch>
        </p:blipFill>
        <p:spPr>
          <a:xfrm>
            <a:off x="6364224" y="2249424"/>
            <a:ext cx="649224" cy="649224"/>
          </a:xfrm>
          <a:prstGeom prst="rect">
            <a:avLst/>
          </a:prstGeom>
        </p:spPr>
      </p:pic>
      <p:sp>
        <p:nvSpPr>
          <p:cNvPr id="35" name="Text 28"/>
          <p:cNvSpPr txBox="1"/>
          <p:nvPr/>
        </p:nvSpPr>
        <p:spPr>
          <a:xfrm>
            <a:off x="4413504"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solving problems</a:t>
            </a:r>
            <a:endParaRPr lang="en-US" sz="1100" dirty="0"/>
          </a:p>
        </p:txBody>
      </p:sp>
      <p:sp>
        <p:nvSpPr>
          <p:cNvPr id="36" name="Shape 29"/>
          <p:cNvSpPr/>
          <p:nvPr/>
        </p:nvSpPr>
        <p:spPr>
          <a:xfrm>
            <a:off x="4276344"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37" name="Shape 30"/>
          <p:cNvSpPr/>
          <p:nvPr/>
        </p:nvSpPr>
        <p:spPr>
          <a:xfrm>
            <a:off x="7437120" y="3785616"/>
            <a:ext cx="329184" cy="329184"/>
          </a:xfrm>
          <a:prstGeom prst="ellipse">
            <a:avLst/>
          </a:prstGeom>
          <a:solidFill>
            <a:srgbClr val="2E8B57"/>
          </a:solidFill>
          <a:ln w="12700">
            <a:solidFill>
              <a:srgbClr val="2E8B57"/>
            </a:solidFill>
            <a:prstDash val="solid"/>
          </a:ln>
        </p:spPr>
      </p:sp>
      <p:sp>
        <p:nvSpPr>
          <p:cNvPr id="38" name="Text 31"/>
          <p:cNvSpPr txBox="1"/>
          <p:nvPr/>
        </p:nvSpPr>
        <p:spPr>
          <a:xfrm>
            <a:off x="7437120"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a:t>
            </a:r>
            <a:endParaRPr lang="en-US" sz="1100" dirty="0"/>
          </a:p>
        </p:txBody>
      </p:sp>
      <p:sp>
        <p:nvSpPr>
          <p:cNvPr id="39" name="Text 32"/>
          <p:cNvSpPr txBox="1"/>
          <p:nvPr/>
        </p:nvSpPr>
        <p:spPr>
          <a:xfrm>
            <a:off x="4413504"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هُوَ جَيِّدٌ فِي حَلِّ المُشْكِلَاتِ.</a:t>
            </a:r>
            <a:endParaRPr lang="ar-SA" sz="2200" dirty="0"/>
          </a:p>
        </p:txBody>
      </p:sp>
      <p:sp>
        <p:nvSpPr>
          <p:cNvPr id="40" name="Text 33"/>
          <p:cNvSpPr txBox="1"/>
          <p:nvPr/>
        </p:nvSpPr>
        <p:spPr>
          <a:xfrm>
            <a:off x="4413504"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cs typeface="Amiri" pitchFamily="2" charset="-78"/>
              </a:rPr>
              <a:t>He is good at problem solving.</a:t>
            </a:r>
            <a:endParaRPr lang="en-US" sz="1200" dirty="0"/>
          </a:p>
        </p:txBody>
      </p:sp>
      <p:sp>
        <p:nvSpPr>
          <p:cNvPr id="41" name="Shape 34"/>
          <p:cNvSpPr/>
          <p:nvPr/>
        </p:nvSpPr>
        <p:spPr>
          <a:xfrm>
            <a:off x="457200"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5"/>
          <p:cNvSpPr/>
          <p:nvPr/>
        </p:nvSpPr>
        <p:spPr>
          <a:xfrm>
            <a:off x="585216" y="1938528"/>
            <a:ext cx="365760" cy="365760"/>
          </a:xfrm>
          <a:prstGeom prst="ellipse">
            <a:avLst/>
          </a:prstGeom>
          <a:solidFill>
            <a:srgbClr val="1B3B6F"/>
          </a:solidFill>
          <a:ln w="12700">
            <a:solidFill>
              <a:srgbClr val="1B3B6F"/>
            </a:solidFill>
            <a:prstDash val="solid"/>
          </a:ln>
        </p:spPr>
      </p:sp>
      <p:sp>
        <p:nvSpPr>
          <p:cNvPr id="43" name="Text 36"/>
          <p:cNvSpPr txBox="1"/>
          <p:nvPr/>
        </p:nvSpPr>
        <p:spPr>
          <a:xfrm>
            <a:off x="585216"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3</a:t>
            </a:r>
            <a:endParaRPr lang="en-US" sz="1200" dirty="0"/>
          </a:p>
        </p:txBody>
      </p:sp>
      <p:sp>
        <p:nvSpPr>
          <p:cNvPr id="44" name="Shape 37"/>
          <p:cNvSpPr/>
          <p:nvPr/>
        </p:nvSpPr>
        <p:spPr>
          <a:xfrm>
            <a:off x="1173480" y="2066544"/>
            <a:ext cx="1014984" cy="1014984"/>
          </a:xfrm>
          <a:prstGeom prst="ellipse">
            <a:avLst/>
          </a:prstGeom>
          <a:solidFill>
            <a:srgbClr val="F4F1EA"/>
          </a:solidFill>
          <a:ln w="12700">
            <a:solidFill>
              <a:srgbClr val="F4F1EA"/>
            </a:solidFill>
            <a:prstDash val="solid"/>
          </a:ln>
        </p:spPr>
      </p:sp>
      <p:pic>
        <p:nvPicPr>
          <p:cNvPr id="45" name="Image 4" descr="preencoded.png">    </p:cNvPr>
          <p:cNvPicPr>
            <a:picLocks noChangeAspect="1"/>
          </p:cNvPicPr>
          <p:nvPr/>
        </p:nvPicPr>
        <p:blipFill>
          <a:blip r:embed="rId5"/>
          <a:stretch>
            <a:fillRect/>
          </a:stretch>
        </p:blipFill>
        <p:spPr>
          <a:xfrm>
            <a:off x="1356360" y="2249424"/>
            <a:ext cx="649224" cy="649224"/>
          </a:xfrm>
          <a:prstGeom prst="rect">
            <a:avLst/>
          </a:prstGeom>
        </p:spPr>
      </p:pic>
      <p:sp>
        <p:nvSpPr>
          <p:cNvPr id="46" name="Shape 38"/>
          <p:cNvSpPr/>
          <p:nvPr/>
        </p:nvSpPr>
        <p:spPr>
          <a:xfrm>
            <a:off x="2362200" y="2066544"/>
            <a:ext cx="1014984" cy="1014984"/>
          </a:xfrm>
          <a:prstGeom prst="ellipse">
            <a:avLst/>
          </a:prstGeom>
          <a:solidFill>
            <a:srgbClr val="F4F1EA"/>
          </a:solidFill>
          <a:ln w="12700">
            <a:solidFill>
              <a:srgbClr val="F4F1EA"/>
            </a:solidFill>
            <a:prstDash val="solid"/>
          </a:ln>
        </p:spPr>
      </p:sp>
      <p:pic>
        <p:nvPicPr>
          <p:cNvPr id="47" name="Image 5" descr="preencoded.png">    </p:cNvPr>
          <p:cNvPicPr>
            <a:picLocks noChangeAspect="1"/>
          </p:cNvPicPr>
          <p:nvPr/>
        </p:nvPicPr>
        <p:blipFill>
          <a:blip r:embed="rId6"/>
          <a:stretch>
            <a:fillRect/>
          </a:stretch>
        </p:blipFill>
        <p:spPr>
          <a:xfrm>
            <a:off x="2545080" y="2249424"/>
            <a:ext cx="649224" cy="649224"/>
          </a:xfrm>
          <a:prstGeom prst="rect">
            <a:avLst/>
          </a:prstGeom>
        </p:spPr>
      </p:pic>
      <p:sp>
        <p:nvSpPr>
          <p:cNvPr id="48" name="Text 39"/>
          <p:cNvSpPr txBox="1"/>
          <p:nvPr/>
        </p:nvSpPr>
        <p:spPr>
          <a:xfrm>
            <a:off x="594360"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organised · on time</a:t>
            </a:r>
            <a:endParaRPr lang="en-US" sz="1100" dirty="0"/>
          </a:p>
        </p:txBody>
      </p:sp>
      <p:sp>
        <p:nvSpPr>
          <p:cNvPr id="49" name="Shape 40"/>
          <p:cNvSpPr/>
          <p:nvPr/>
        </p:nvSpPr>
        <p:spPr>
          <a:xfrm>
            <a:off x="457200"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50" name="Shape 41"/>
          <p:cNvSpPr/>
          <p:nvPr/>
        </p:nvSpPr>
        <p:spPr>
          <a:xfrm>
            <a:off x="3617976" y="3785616"/>
            <a:ext cx="329184" cy="329184"/>
          </a:xfrm>
          <a:prstGeom prst="ellipse">
            <a:avLst/>
          </a:prstGeom>
          <a:solidFill>
            <a:srgbClr val="2E8B57"/>
          </a:solidFill>
          <a:ln w="12700">
            <a:solidFill>
              <a:srgbClr val="2E8B57"/>
            </a:solidFill>
            <a:prstDash val="solid"/>
          </a:ln>
        </p:spPr>
      </p:sp>
      <p:sp>
        <p:nvSpPr>
          <p:cNvPr id="51" name="Text 42"/>
          <p:cNvSpPr txBox="1"/>
          <p:nvPr/>
        </p:nvSpPr>
        <p:spPr>
          <a:xfrm>
            <a:off x="3617976"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B</a:t>
            </a:r>
            <a:endParaRPr lang="en-US" sz="1100" dirty="0"/>
          </a:p>
        </p:txBody>
      </p:sp>
      <p:sp>
        <p:nvSpPr>
          <p:cNvPr id="52" name="Text 43"/>
          <p:cNvSpPr txBox="1"/>
          <p:nvPr/>
        </p:nvSpPr>
        <p:spPr>
          <a:xfrm>
            <a:off x="594360"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هِيَ مُنَظَّمَةٌ وَتَحْتَرِمُ الوَقْتَ.</a:t>
            </a:r>
            <a:endParaRPr lang="ar-SA" sz="2200" dirty="0"/>
          </a:p>
        </p:txBody>
      </p:sp>
      <p:sp>
        <p:nvSpPr>
          <p:cNvPr id="53" name="Text 44"/>
          <p:cNvSpPr txBox="1"/>
          <p:nvPr/>
        </p:nvSpPr>
        <p:spPr>
          <a:xfrm>
            <a:off x="594360"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cs typeface="Amiri" pitchFamily="2" charset="-78"/>
              </a:rPr>
              <a:t>She is organised and respects time.</a:t>
            </a:r>
            <a:endParaRPr lang="en-US" sz="1200" dirty="0"/>
          </a:p>
        </p:txBody>
      </p:sp>
      <p:sp>
        <p:nvSpPr>
          <p:cNvPr id="54"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24 / 47</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TD-L08 · Skills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WEBSITE SORTER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Skill or quality?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صَنِّفْ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D · The World of Work · TD-L08</a:t>
            </a:r>
            <a:endParaRPr lang="en-US" sz="850" dirty="0"/>
          </a:p>
        </p:txBody>
      </p:sp>
      <p:sp>
        <p:nvSpPr>
          <p:cNvPr id="15" name="Shape 12"/>
          <p:cNvSpPr/>
          <p:nvPr/>
        </p:nvSpPr>
        <p:spPr>
          <a:xfrm>
            <a:off x="9015984"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9107424"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حَلُّ المُشْكِلَاتِ</a:t>
            </a:r>
            <a:endParaRPr lang="ar-SA" sz="1800" dirty="0"/>
          </a:p>
        </p:txBody>
      </p:sp>
      <p:sp>
        <p:nvSpPr>
          <p:cNvPr id="17" name="Shape 14"/>
          <p:cNvSpPr/>
          <p:nvPr/>
        </p:nvSpPr>
        <p:spPr>
          <a:xfrm>
            <a:off x="6163056"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254496"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إِدَارَةُ الوَقْتِ</a:t>
            </a:r>
            <a:endParaRPr lang="ar-SA" sz="1800" dirty="0"/>
          </a:p>
        </p:txBody>
      </p:sp>
      <p:sp>
        <p:nvSpPr>
          <p:cNvPr id="19" name="Shape 16"/>
          <p:cNvSpPr/>
          <p:nvPr/>
        </p:nvSpPr>
        <p:spPr>
          <a:xfrm>
            <a:off x="3310128"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3401568"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الدِّقَّةُ</a:t>
            </a:r>
            <a:endParaRPr lang="ar-SA" sz="1800" dirty="0"/>
          </a:p>
        </p:txBody>
      </p:sp>
      <p:sp>
        <p:nvSpPr>
          <p:cNvPr id="21" name="Shape 18"/>
          <p:cNvSpPr/>
          <p:nvPr/>
        </p:nvSpPr>
        <p:spPr>
          <a:xfrm>
            <a:off x="457200"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548640"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العَمَلُ الجَمَاعِيُّ</a:t>
            </a:r>
            <a:endParaRPr lang="ar-SA" sz="1800" dirty="0"/>
          </a:p>
        </p:txBody>
      </p:sp>
      <p:sp>
        <p:nvSpPr>
          <p:cNvPr id="23" name="Shape 20"/>
          <p:cNvSpPr/>
          <p:nvPr/>
        </p:nvSpPr>
        <p:spPr>
          <a:xfrm>
            <a:off x="9015984"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9107424"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مَسْؤُولٌ</a:t>
            </a:r>
            <a:endParaRPr lang="ar-SA" sz="1800" dirty="0"/>
          </a:p>
        </p:txBody>
      </p:sp>
      <p:sp>
        <p:nvSpPr>
          <p:cNvPr id="25" name="Shape 22"/>
          <p:cNvSpPr/>
          <p:nvPr/>
        </p:nvSpPr>
        <p:spPr>
          <a:xfrm>
            <a:off x="6163056"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254496"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مُنَظَّمَةٌ</a:t>
            </a:r>
            <a:endParaRPr lang="ar-SA" sz="1800" dirty="0"/>
          </a:p>
        </p:txBody>
      </p:sp>
      <p:sp>
        <p:nvSpPr>
          <p:cNvPr id="27" name="Shape 24"/>
          <p:cNvSpPr/>
          <p:nvPr/>
        </p:nvSpPr>
        <p:spPr>
          <a:xfrm>
            <a:off x="3310128"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3401568"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صَبُورٌ</a:t>
            </a:r>
            <a:endParaRPr lang="ar-SA" sz="1800" dirty="0"/>
          </a:p>
        </p:txBody>
      </p:sp>
      <p:sp>
        <p:nvSpPr>
          <p:cNvPr id="29" name="Shape 26"/>
          <p:cNvSpPr/>
          <p:nvPr/>
        </p:nvSpPr>
        <p:spPr>
          <a:xfrm>
            <a:off x="457200"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548640"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مُتَعَاوِنَةٌ</a:t>
            </a:r>
            <a:endParaRPr lang="ar-SA" sz="1800" dirty="0"/>
          </a:p>
        </p:txBody>
      </p:sp>
      <p:sp>
        <p:nvSpPr>
          <p:cNvPr id="31" name="Shape 28"/>
          <p:cNvSpPr/>
          <p:nvPr/>
        </p:nvSpPr>
        <p:spPr>
          <a:xfrm>
            <a:off x="9015984" y="2834640"/>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2" name="Text 29"/>
          <p:cNvSpPr txBox="1"/>
          <p:nvPr/>
        </p:nvSpPr>
        <p:spPr>
          <a:xfrm>
            <a:off x="9107424" y="2834640"/>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طَمُوحٌ</a:t>
            </a:r>
            <a:endParaRPr lang="ar-SA" sz="1800" dirty="0"/>
          </a:p>
        </p:txBody>
      </p:sp>
      <p:sp>
        <p:nvSpPr>
          <p:cNvPr id="33" name="Shape 30"/>
          <p:cNvSpPr/>
          <p:nvPr/>
        </p:nvSpPr>
        <p:spPr>
          <a:xfrm>
            <a:off x="6185916" y="3529584"/>
            <a:ext cx="5545836" cy="2779776"/>
          </a:xfrm>
          <a:prstGeom prst="roundRect">
            <a:avLst>
              <a:gd name="adj" fmla="val 2632"/>
            </a:avLst>
          </a:prstGeom>
          <a:solidFill>
            <a:srgbClr val="EEF3FA"/>
          </a:solidFill>
          <a:ln w="9525">
            <a:solidFill>
              <a:srgbClr val="C9D6EA"/>
            </a:solidFill>
            <a:prstDash val="solid"/>
          </a:ln>
        </p:spPr>
      </p:sp>
      <p:sp>
        <p:nvSpPr>
          <p:cNvPr id="34" name="Shape 31"/>
          <p:cNvSpPr/>
          <p:nvPr/>
        </p:nvSpPr>
        <p:spPr>
          <a:xfrm>
            <a:off x="6323076" y="3639312"/>
            <a:ext cx="5271516" cy="310896"/>
          </a:xfrm>
          <a:prstGeom prst="roundRect">
            <a:avLst>
              <a:gd name="adj" fmla="val 50000"/>
            </a:avLst>
          </a:prstGeom>
          <a:solidFill>
            <a:srgbClr val="2F6FB0"/>
          </a:solidFill>
          <a:ln w="12700">
            <a:solidFill>
              <a:srgbClr val="2F6FB0"/>
            </a:solidFill>
            <a:prstDash val="solid"/>
          </a:ln>
        </p:spPr>
      </p:sp>
      <p:sp>
        <p:nvSpPr>
          <p:cNvPr id="35" name="Text 32"/>
          <p:cNvSpPr txBox="1"/>
          <p:nvPr/>
        </p:nvSpPr>
        <p:spPr>
          <a:xfrm>
            <a:off x="6323076" y="3639312"/>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1 · Skill (noun)</a:t>
            </a:r>
            <a:endParaRPr lang="en-US" sz="950" dirty="0"/>
          </a:p>
        </p:txBody>
      </p:sp>
      <p:sp>
        <p:nvSpPr>
          <p:cNvPr id="36" name="Shape 33"/>
          <p:cNvSpPr/>
          <p:nvPr/>
        </p:nvSpPr>
        <p:spPr>
          <a:xfrm>
            <a:off x="457200" y="3529584"/>
            <a:ext cx="5545836" cy="2779776"/>
          </a:xfrm>
          <a:prstGeom prst="roundRect">
            <a:avLst>
              <a:gd name="adj" fmla="val 2632"/>
            </a:avLst>
          </a:prstGeom>
          <a:solidFill>
            <a:srgbClr val="EEF3FA"/>
          </a:solidFill>
          <a:ln w="9525">
            <a:solidFill>
              <a:srgbClr val="C9D6EA"/>
            </a:solidFill>
            <a:prstDash val="solid"/>
          </a:ln>
        </p:spPr>
      </p:sp>
      <p:sp>
        <p:nvSpPr>
          <p:cNvPr id="37" name="Shape 34"/>
          <p:cNvSpPr/>
          <p:nvPr/>
        </p:nvSpPr>
        <p:spPr>
          <a:xfrm>
            <a:off x="594360" y="3639312"/>
            <a:ext cx="5271516" cy="310896"/>
          </a:xfrm>
          <a:prstGeom prst="roundRect">
            <a:avLst>
              <a:gd name="adj" fmla="val 50000"/>
            </a:avLst>
          </a:prstGeom>
          <a:solidFill>
            <a:srgbClr val="2F6FB0"/>
          </a:solidFill>
          <a:ln w="12700">
            <a:solidFill>
              <a:srgbClr val="2F6FB0"/>
            </a:solidFill>
            <a:prstDash val="solid"/>
          </a:ln>
        </p:spPr>
      </p:sp>
      <p:sp>
        <p:nvSpPr>
          <p:cNvPr id="38" name="Text 35"/>
          <p:cNvSpPr txBox="1"/>
          <p:nvPr/>
        </p:nvSpPr>
        <p:spPr>
          <a:xfrm>
            <a:off x="594360" y="3639312"/>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2 · Quality (adjective)</a:t>
            </a:r>
            <a:endParaRPr lang="en-US" sz="95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25 / 47</a:t>
            </a:r>
            <a:endParaRPr lang="en-US" sz="8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TD-L08 · Skills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SORTER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Sorted</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D · The World of Work · TD-L08</a:t>
            </a:r>
            <a:endParaRPr lang="en-US" sz="850" dirty="0"/>
          </a:p>
        </p:txBody>
      </p:sp>
      <p:sp>
        <p:nvSpPr>
          <p:cNvPr id="15" name="Shape 12"/>
          <p:cNvSpPr/>
          <p:nvPr/>
        </p:nvSpPr>
        <p:spPr>
          <a:xfrm>
            <a:off x="6185916" y="1810512"/>
            <a:ext cx="5545836" cy="4498848"/>
          </a:xfrm>
          <a:prstGeom prst="roundRect">
            <a:avLst>
              <a:gd name="adj" fmla="val 1626"/>
            </a:avLst>
          </a:prstGeom>
          <a:solidFill>
            <a:srgbClr val="EEF3FA"/>
          </a:solidFill>
          <a:ln w="9525">
            <a:solidFill>
              <a:srgbClr val="C9D6EA"/>
            </a:solidFill>
            <a:prstDash val="solid"/>
          </a:ln>
        </p:spPr>
      </p:sp>
      <p:sp>
        <p:nvSpPr>
          <p:cNvPr id="16" name="Shape 13"/>
          <p:cNvSpPr/>
          <p:nvPr/>
        </p:nvSpPr>
        <p:spPr>
          <a:xfrm>
            <a:off x="6323076" y="1920240"/>
            <a:ext cx="5271516" cy="310896"/>
          </a:xfrm>
          <a:prstGeom prst="roundRect">
            <a:avLst>
              <a:gd name="adj" fmla="val 50000"/>
            </a:avLst>
          </a:prstGeom>
          <a:solidFill>
            <a:srgbClr val="2F6FB0"/>
          </a:solidFill>
          <a:ln w="12700">
            <a:solidFill>
              <a:srgbClr val="2F6FB0"/>
            </a:solidFill>
            <a:prstDash val="solid"/>
          </a:ln>
        </p:spPr>
      </p:sp>
      <p:sp>
        <p:nvSpPr>
          <p:cNvPr id="17" name="Text 14"/>
          <p:cNvSpPr txBox="1"/>
          <p:nvPr/>
        </p:nvSpPr>
        <p:spPr>
          <a:xfrm>
            <a:off x="6323076" y="1920240"/>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1 · Skill (noun)</a:t>
            </a:r>
            <a:endParaRPr lang="en-US" sz="950" dirty="0"/>
          </a:p>
        </p:txBody>
      </p:sp>
      <p:sp>
        <p:nvSpPr>
          <p:cNvPr id="18" name="Shape 15"/>
          <p:cNvSpPr/>
          <p:nvPr/>
        </p:nvSpPr>
        <p:spPr>
          <a:xfrm>
            <a:off x="6323076" y="2377440"/>
            <a:ext cx="5271516" cy="438912"/>
          </a:xfrm>
          <a:prstGeom prst="roundRect">
            <a:avLst>
              <a:gd name="adj" fmla="val 12500"/>
            </a:avLst>
          </a:prstGeom>
          <a:solidFill>
            <a:srgbClr val="FFF4DC"/>
          </a:solidFill>
          <a:ln w="9525">
            <a:solidFill>
              <a:srgbClr val="E6C98A"/>
            </a:solidFill>
            <a:prstDash val="solid"/>
          </a:ln>
        </p:spPr>
      </p:sp>
      <p:sp>
        <p:nvSpPr>
          <p:cNvPr id="19" name="Text 16"/>
          <p:cNvSpPr txBox="1"/>
          <p:nvPr/>
        </p:nvSpPr>
        <p:spPr>
          <a:xfrm>
            <a:off x="6414516" y="2377440"/>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حَلُّ المُشْكِلَاتِ</a:t>
            </a:r>
            <a:endParaRPr lang="ar-SA" sz="1800" dirty="0"/>
          </a:p>
        </p:txBody>
      </p:sp>
      <p:sp>
        <p:nvSpPr>
          <p:cNvPr id="20" name="Shape 17"/>
          <p:cNvSpPr/>
          <p:nvPr/>
        </p:nvSpPr>
        <p:spPr>
          <a:xfrm>
            <a:off x="6323076" y="2889504"/>
            <a:ext cx="5271516" cy="438912"/>
          </a:xfrm>
          <a:prstGeom prst="roundRect">
            <a:avLst>
              <a:gd name="adj" fmla="val 12500"/>
            </a:avLst>
          </a:prstGeom>
          <a:solidFill>
            <a:srgbClr val="FFF4DC"/>
          </a:solidFill>
          <a:ln w="9525">
            <a:solidFill>
              <a:srgbClr val="E6C98A"/>
            </a:solidFill>
            <a:prstDash val="solid"/>
          </a:ln>
        </p:spPr>
      </p:sp>
      <p:sp>
        <p:nvSpPr>
          <p:cNvPr id="21" name="Text 18"/>
          <p:cNvSpPr txBox="1"/>
          <p:nvPr/>
        </p:nvSpPr>
        <p:spPr>
          <a:xfrm>
            <a:off x="6414516" y="2889504"/>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إِدَارَةُ الوَقْتِ</a:t>
            </a:r>
            <a:endParaRPr lang="ar-SA" sz="1800" dirty="0"/>
          </a:p>
        </p:txBody>
      </p:sp>
      <p:sp>
        <p:nvSpPr>
          <p:cNvPr id="22" name="Shape 19"/>
          <p:cNvSpPr/>
          <p:nvPr/>
        </p:nvSpPr>
        <p:spPr>
          <a:xfrm>
            <a:off x="6323076" y="3401568"/>
            <a:ext cx="5271516" cy="438912"/>
          </a:xfrm>
          <a:prstGeom prst="roundRect">
            <a:avLst>
              <a:gd name="adj" fmla="val 12500"/>
            </a:avLst>
          </a:prstGeom>
          <a:solidFill>
            <a:srgbClr val="FFF4DC"/>
          </a:solidFill>
          <a:ln w="9525">
            <a:solidFill>
              <a:srgbClr val="E6C98A"/>
            </a:solidFill>
            <a:prstDash val="solid"/>
          </a:ln>
        </p:spPr>
      </p:sp>
      <p:sp>
        <p:nvSpPr>
          <p:cNvPr id="23" name="Text 20"/>
          <p:cNvSpPr txBox="1"/>
          <p:nvPr/>
        </p:nvSpPr>
        <p:spPr>
          <a:xfrm>
            <a:off x="6414516" y="3401568"/>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الدِّقَّةُ</a:t>
            </a:r>
            <a:endParaRPr lang="ar-SA" sz="1800" dirty="0"/>
          </a:p>
        </p:txBody>
      </p:sp>
      <p:sp>
        <p:nvSpPr>
          <p:cNvPr id="24" name="Shape 21"/>
          <p:cNvSpPr/>
          <p:nvPr/>
        </p:nvSpPr>
        <p:spPr>
          <a:xfrm>
            <a:off x="6323076" y="3913632"/>
            <a:ext cx="5271516" cy="438912"/>
          </a:xfrm>
          <a:prstGeom prst="roundRect">
            <a:avLst>
              <a:gd name="adj" fmla="val 12500"/>
            </a:avLst>
          </a:prstGeom>
          <a:solidFill>
            <a:srgbClr val="FFF4DC"/>
          </a:solidFill>
          <a:ln w="9525">
            <a:solidFill>
              <a:srgbClr val="E6C98A"/>
            </a:solidFill>
            <a:prstDash val="solid"/>
          </a:ln>
        </p:spPr>
      </p:sp>
      <p:sp>
        <p:nvSpPr>
          <p:cNvPr id="25" name="Text 22"/>
          <p:cNvSpPr txBox="1"/>
          <p:nvPr/>
        </p:nvSpPr>
        <p:spPr>
          <a:xfrm>
            <a:off x="6414516" y="3913632"/>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العَمَلُ الجَمَاعِيُّ</a:t>
            </a:r>
            <a:endParaRPr lang="ar-SA" sz="1800" dirty="0"/>
          </a:p>
        </p:txBody>
      </p:sp>
      <p:sp>
        <p:nvSpPr>
          <p:cNvPr id="26" name="Shape 23"/>
          <p:cNvSpPr/>
          <p:nvPr/>
        </p:nvSpPr>
        <p:spPr>
          <a:xfrm>
            <a:off x="457200" y="1810512"/>
            <a:ext cx="5545836" cy="4498848"/>
          </a:xfrm>
          <a:prstGeom prst="roundRect">
            <a:avLst>
              <a:gd name="adj" fmla="val 1626"/>
            </a:avLst>
          </a:prstGeom>
          <a:solidFill>
            <a:srgbClr val="EEF3FA"/>
          </a:solidFill>
          <a:ln w="9525">
            <a:solidFill>
              <a:srgbClr val="C9D6EA"/>
            </a:solidFill>
            <a:prstDash val="solid"/>
          </a:ln>
        </p:spPr>
      </p:sp>
      <p:sp>
        <p:nvSpPr>
          <p:cNvPr id="27" name="Shape 24"/>
          <p:cNvSpPr/>
          <p:nvPr/>
        </p:nvSpPr>
        <p:spPr>
          <a:xfrm>
            <a:off x="594360" y="1920240"/>
            <a:ext cx="5271516" cy="310896"/>
          </a:xfrm>
          <a:prstGeom prst="roundRect">
            <a:avLst>
              <a:gd name="adj" fmla="val 50000"/>
            </a:avLst>
          </a:prstGeom>
          <a:solidFill>
            <a:srgbClr val="2F6FB0"/>
          </a:solidFill>
          <a:ln w="12700">
            <a:solidFill>
              <a:srgbClr val="2F6FB0"/>
            </a:solidFill>
            <a:prstDash val="solid"/>
          </a:ln>
        </p:spPr>
      </p:sp>
      <p:sp>
        <p:nvSpPr>
          <p:cNvPr id="28" name="Text 25"/>
          <p:cNvSpPr txBox="1"/>
          <p:nvPr/>
        </p:nvSpPr>
        <p:spPr>
          <a:xfrm>
            <a:off x="594360" y="1920240"/>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2 · Quality (adjective)</a:t>
            </a:r>
            <a:endParaRPr lang="en-US" sz="950" dirty="0"/>
          </a:p>
        </p:txBody>
      </p:sp>
      <p:sp>
        <p:nvSpPr>
          <p:cNvPr id="29" name="Shape 26"/>
          <p:cNvSpPr/>
          <p:nvPr/>
        </p:nvSpPr>
        <p:spPr>
          <a:xfrm>
            <a:off x="594360" y="2377440"/>
            <a:ext cx="5271516" cy="438912"/>
          </a:xfrm>
          <a:prstGeom prst="roundRect">
            <a:avLst>
              <a:gd name="adj" fmla="val 12500"/>
            </a:avLst>
          </a:prstGeom>
          <a:solidFill>
            <a:srgbClr val="FFF4DC"/>
          </a:solidFill>
          <a:ln w="9525">
            <a:solidFill>
              <a:srgbClr val="E6C98A"/>
            </a:solidFill>
            <a:prstDash val="solid"/>
          </a:ln>
        </p:spPr>
      </p:sp>
      <p:sp>
        <p:nvSpPr>
          <p:cNvPr id="30" name="Text 27"/>
          <p:cNvSpPr txBox="1"/>
          <p:nvPr/>
        </p:nvSpPr>
        <p:spPr>
          <a:xfrm>
            <a:off x="685800" y="2377440"/>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مَسْؤُولٌ</a:t>
            </a:r>
            <a:endParaRPr lang="ar-SA" sz="1800" dirty="0"/>
          </a:p>
        </p:txBody>
      </p:sp>
      <p:sp>
        <p:nvSpPr>
          <p:cNvPr id="31" name="Shape 28"/>
          <p:cNvSpPr/>
          <p:nvPr/>
        </p:nvSpPr>
        <p:spPr>
          <a:xfrm>
            <a:off x="594360" y="2889504"/>
            <a:ext cx="5271516" cy="438912"/>
          </a:xfrm>
          <a:prstGeom prst="roundRect">
            <a:avLst>
              <a:gd name="adj" fmla="val 12500"/>
            </a:avLst>
          </a:prstGeom>
          <a:solidFill>
            <a:srgbClr val="FFF4DC"/>
          </a:solidFill>
          <a:ln w="9525">
            <a:solidFill>
              <a:srgbClr val="E6C98A"/>
            </a:solidFill>
            <a:prstDash val="solid"/>
          </a:ln>
        </p:spPr>
      </p:sp>
      <p:sp>
        <p:nvSpPr>
          <p:cNvPr id="32" name="Text 29"/>
          <p:cNvSpPr txBox="1"/>
          <p:nvPr/>
        </p:nvSpPr>
        <p:spPr>
          <a:xfrm>
            <a:off x="685800" y="2889504"/>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مُنَظَّمَةٌ</a:t>
            </a:r>
            <a:endParaRPr lang="ar-SA" sz="1800" dirty="0"/>
          </a:p>
        </p:txBody>
      </p:sp>
      <p:sp>
        <p:nvSpPr>
          <p:cNvPr id="33" name="Shape 30"/>
          <p:cNvSpPr/>
          <p:nvPr/>
        </p:nvSpPr>
        <p:spPr>
          <a:xfrm>
            <a:off x="594360" y="3401568"/>
            <a:ext cx="5271516" cy="438912"/>
          </a:xfrm>
          <a:prstGeom prst="roundRect">
            <a:avLst>
              <a:gd name="adj" fmla="val 12500"/>
            </a:avLst>
          </a:prstGeom>
          <a:solidFill>
            <a:srgbClr val="FFF4DC"/>
          </a:solidFill>
          <a:ln w="9525">
            <a:solidFill>
              <a:srgbClr val="E6C98A"/>
            </a:solidFill>
            <a:prstDash val="solid"/>
          </a:ln>
        </p:spPr>
      </p:sp>
      <p:sp>
        <p:nvSpPr>
          <p:cNvPr id="34" name="Text 31"/>
          <p:cNvSpPr txBox="1"/>
          <p:nvPr/>
        </p:nvSpPr>
        <p:spPr>
          <a:xfrm>
            <a:off x="685800" y="3401568"/>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صَبُورٌ</a:t>
            </a:r>
            <a:endParaRPr lang="ar-SA" sz="1800" dirty="0"/>
          </a:p>
        </p:txBody>
      </p:sp>
      <p:sp>
        <p:nvSpPr>
          <p:cNvPr id="35" name="Shape 32"/>
          <p:cNvSpPr/>
          <p:nvPr/>
        </p:nvSpPr>
        <p:spPr>
          <a:xfrm>
            <a:off x="594360" y="3913632"/>
            <a:ext cx="5271516" cy="438912"/>
          </a:xfrm>
          <a:prstGeom prst="roundRect">
            <a:avLst>
              <a:gd name="adj" fmla="val 12500"/>
            </a:avLst>
          </a:prstGeom>
          <a:solidFill>
            <a:srgbClr val="FFF4DC"/>
          </a:solidFill>
          <a:ln w="9525">
            <a:solidFill>
              <a:srgbClr val="E6C98A"/>
            </a:solidFill>
            <a:prstDash val="solid"/>
          </a:ln>
        </p:spPr>
      </p:sp>
      <p:sp>
        <p:nvSpPr>
          <p:cNvPr id="36" name="Text 33"/>
          <p:cNvSpPr txBox="1"/>
          <p:nvPr/>
        </p:nvSpPr>
        <p:spPr>
          <a:xfrm>
            <a:off x="685800" y="3913632"/>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مُتَعَاوِنَةٌ</a:t>
            </a:r>
            <a:endParaRPr lang="ar-SA" sz="1800" dirty="0"/>
          </a:p>
        </p:txBody>
      </p:sp>
      <p:sp>
        <p:nvSpPr>
          <p:cNvPr id="37" name="Shape 34"/>
          <p:cNvSpPr/>
          <p:nvPr/>
        </p:nvSpPr>
        <p:spPr>
          <a:xfrm>
            <a:off x="594360" y="4425696"/>
            <a:ext cx="5271516" cy="438912"/>
          </a:xfrm>
          <a:prstGeom prst="roundRect">
            <a:avLst>
              <a:gd name="adj" fmla="val 12500"/>
            </a:avLst>
          </a:prstGeom>
          <a:solidFill>
            <a:srgbClr val="FFF4DC"/>
          </a:solidFill>
          <a:ln w="9525">
            <a:solidFill>
              <a:srgbClr val="E6C98A"/>
            </a:solidFill>
            <a:prstDash val="solid"/>
          </a:ln>
        </p:spPr>
      </p:sp>
      <p:sp>
        <p:nvSpPr>
          <p:cNvPr id="38" name="Text 35"/>
          <p:cNvSpPr txBox="1"/>
          <p:nvPr/>
        </p:nvSpPr>
        <p:spPr>
          <a:xfrm>
            <a:off x="685800" y="4425696"/>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طَمُوحٌ</a:t>
            </a:r>
            <a:endParaRPr lang="ar-SA" sz="18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26 / 47</a:t>
            </a:r>
            <a:endParaRPr lang="en-US" sz="8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TD-L08 ·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GUIDED PRACTICE · WEBSITE QUIZ QUESTIONS 4, 6, 7, 8</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More practice</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تَدْرِيبٌ إِضَافِيٌّ</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D · The World of Work · TD-L08</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20" name="Text 17"/>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word is a SKILL (a noun)?</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مُنَظَّمٌ</a:t>
            </a:r>
            <a:endParaRPr lang="ar-SA" sz="20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صَبُورٌ</a:t>
            </a:r>
            <a:endParaRPr lang="ar-SA" sz="20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9" name="Text 26"/>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حَلُّ المُشْكِلَاتِ</a:t>
            </a:r>
            <a:endParaRPr lang="ar-SA" sz="2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gives evidence for a quality?</a:t>
            </a:r>
            <a:endParaRPr lang="en-US" sz="1250" dirty="0"/>
          </a:p>
        </p:txBody>
      </p:sp>
      <p:sp>
        <p:nvSpPr>
          <p:cNvPr id="34" name="Shape 31"/>
          <p:cNvSpPr/>
          <p:nvPr/>
        </p:nvSpPr>
        <p:spPr>
          <a:xfrm>
            <a:off x="6368796"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هُوَ مَسْؤُولٌ جِدًّا.</a:t>
            </a:r>
            <a:endParaRPr lang="ar-SA" sz="2050" dirty="0"/>
          </a:p>
        </p:txBody>
      </p:sp>
      <p:sp>
        <p:nvSpPr>
          <p:cNvPr id="37" name="Shape 34"/>
          <p:cNvSpPr/>
          <p:nvPr/>
        </p:nvSpPr>
        <p:spPr>
          <a:xfrm>
            <a:off x="6368796"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هُوَ مَسْؤُولٌ لِأَنَّهُ يَحْتَرِمُ المَوَاعِيدَ.</a:t>
            </a:r>
            <a:endParaRPr lang="ar-SA" sz="2050" dirty="0"/>
          </a:p>
        </p:txBody>
      </p:sp>
      <p:sp>
        <p:nvSpPr>
          <p:cNvPr id="40" name="Shape 37"/>
          <p:cNvSpPr/>
          <p:nvPr/>
        </p:nvSpPr>
        <p:spPr>
          <a:xfrm>
            <a:off x="6368796"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2" name="Text 39"/>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هُوَ مَسْؤُولٌ وَمُنَظَّمٌ.</a:t>
            </a:r>
            <a:endParaRPr lang="ar-SA" sz="2050" dirty="0"/>
          </a:p>
        </p:txBody>
      </p:sp>
      <p:sp>
        <p:nvSpPr>
          <p:cNvPr id="43" name="Shape 40"/>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585216" y="4288536"/>
            <a:ext cx="310896" cy="310896"/>
          </a:xfrm>
          <a:prstGeom prst="ellipse">
            <a:avLst/>
          </a:prstGeom>
          <a:solidFill>
            <a:srgbClr val="1B3B6F"/>
          </a:solidFill>
          <a:ln w="12700">
            <a:solidFill>
              <a:srgbClr val="1B3B6F"/>
            </a:solidFill>
            <a:prstDash val="solid"/>
          </a:ln>
        </p:spPr>
      </p:sp>
      <p:sp>
        <p:nvSpPr>
          <p:cNvPr id="45" name="Text 42"/>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7</a:t>
            </a:r>
            <a:endParaRPr lang="en-US" sz="1100" dirty="0"/>
          </a:p>
        </p:txBody>
      </p:sp>
      <p:sp>
        <p:nvSpPr>
          <p:cNvPr id="46" name="Text 43"/>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إِدَارَةُ الوَقْتِ</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47" name="Shape 44"/>
          <p:cNvSpPr/>
          <p:nvPr/>
        </p:nvSpPr>
        <p:spPr>
          <a:xfrm>
            <a:off x="640080" y="4873752"/>
            <a:ext cx="256032" cy="256032"/>
          </a:xfrm>
          <a:prstGeom prst="ellipse">
            <a:avLst/>
          </a:prstGeom>
          <a:solidFill>
            <a:srgbClr val="F4F1EA"/>
          </a:solidFill>
          <a:ln w="12700">
            <a:solidFill>
              <a:srgbClr val="F4F1EA"/>
            </a:solidFill>
            <a:prstDash val="solid"/>
          </a:ln>
        </p:spPr>
      </p:sp>
      <p:sp>
        <p:nvSpPr>
          <p:cNvPr id="48" name="Text 45"/>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9" name="Text 46"/>
          <p:cNvSpPr txBox="1"/>
          <p:nvPr/>
        </p:nvSpPr>
        <p:spPr>
          <a:xfrm>
            <a:off x="969264" y="47731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teamwork</a:t>
            </a:r>
            <a:endParaRPr lang="en-US" sz="1250" dirty="0"/>
          </a:p>
        </p:txBody>
      </p:sp>
      <p:sp>
        <p:nvSpPr>
          <p:cNvPr id="50" name="Shape 47"/>
          <p:cNvSpPr/>
          <p:nvPr/>
        </p:nvSpPr>
        <p:spPr>
          <a:xfrm>
            <a:off x="640080" y="5330952"/>
            <a:ext cx="256032" cy="256032"/>
          </a:xfrm>
          <a:prstGeom prst="ellipse">
            <a:avLst/>
          </a:prstGeom>
          <a:solidFill>
            <a:srgbClr val="F4F1EA"/>
          </a:solidFill>
          <a:ln w="12700">
            <a:solidFill>
              <a:srgbClr val="F4F1EA"/>
            </a:solidFill>
            <a:prstDash val="solid"/>
          </a:ln>
        </p:spPr>
      </p:sp>
      <p:sp>
        <p:nvSpPr>
          <p:cNvPr id="51" name="Text 48"/>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2" name="Text 49"/>
          <p:cNvSpPr txBox="1"/>
          <p:nvPr/>
        </p:nvSpPr>
        <p:spPr>
          <a:xfrm>
            <a:off x="969264" y="52303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time management</a:t>
            </a:r>
            <a:endParaRPr lang="en-US" sz="1250" dirty="0"/>
          </a:p>
        </p:txBody>
      </p:sp>
      <p:sp>
        <p:nvSpPr>
          <p:cNvPr id="53" name="Shape 50"/>
          <p:cNvSpPr/>
          <p:nvPr/>
        </p:nvSpPr>
        <p:spPr>
          <a:xfrm>
            <a:off x="640080" y="5788152"/>
            <a:ext cx="256032" cy="256032"/>
          </a:xfrm>
          <a:prstGeom prst="ellipse">
            <a:avLst/>
          </a:prstGeom>
          <a:solidFill>
            <a:srgbClr val="F4F1EA"/>
          </a:solidFill>
          <a:ln w="12700">
            <a:solidFill>
              <a:srgbClr val="F4F1EA"/>
            </a:solidFill>
            <a:prstDash val="solid"/>
          </a:ln>
        </p:spPr>
      </p:sp>
      <p:sp>
        <p:nvSpPr>
          <p:cNvPr id="54" name="Text 51"/>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5" name="Text 52"/>
          <p:cNvSpPr txBox="1"/>
          <p:nvPr/>
        </p:nvSpPr>
        <p:spPr>
          <a:xfrm>
            <a:off x="969264" y="56875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leadership</a:t>
            </a:r>
            <a:endParaRPr lang="en-US" sz="1250" dirty="0"/>
          </a:p>
        </p:txBody>
      </p:sp>
      <p:sp>
        <p:nvSpPr>
          <p:cNvPr id="56" name="Shape 53"/>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6313932" y="4288536"/>
            <a:ext cx="310896" cy="310896"/>
          </a:xfrm>
          <a:prstGeom prst="ellipse">
            <a:avLst/>
          </a:prstGeom>
          <a:solidFill>
            <a:srgbClr val="1B3B6F"/>
          </a:solidFill>
          <a:ln w="12700">
            <a:solidFill>
              <a:srgbClr val="1B3B6F"/>
            </a:solidFill>
            <a:prstDash val="solid"/>
          </a:ln>
        </p:spPr>
      </p:sp>
      <p:sp>
        <p:nvSpPr>
          <p:cNvPr id="58" name="Text 55"/>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8</a:t>
            </a:r>
            <a:endParaRPr lang="en-US" sz="1100" dirty="0"/>
          </a:p>
        </p:txBody>
      </p:sp>
      <p:sp>
        <p:nvSpPr>
          <p:cNvPr id="59" name="Text 56"/>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feminine of </a:t>
            </a:r>
            <a:pPr algn="l" indent="0" marL="0">
              <a:buNone/>
            </a:pPr>
            <a:r>
              <a:rPr lang="ar-SA" altLang="en-US" sz="1650" b="1" dirty="0">
                <a:solidFill>
                  <a:srgbClr val="1B3B6F"/>
                </a:solidFill>
                <a:latin typeface="Amiri" pitchFamily="2" charset="-78"/>
                <a:ea typeface="Amiri" pitchFamily="2" charset="-78"/>
                <a:cs typeface="Amiri" pitchFamily="2" charset="-78"/>
              </a:rPr>
              <a:t>أَمِينٌ</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60" name="Shape 57"/>
          <p:cNvSpPr/>
          <p:nvPr/>
        </p:nvSpPr>
        <p:spPr>
          <a:xfrm>
            <a:off x="6368796" y="4873752"/>
            <a:ext cx="256032" cy="256032"/>
          </a:xfrm>
          <a:prstGeom prst="ellipse">
            <a:avLst/>
          </a:prstGeom>
          <a:solidFill>
            <a:srgbClr val="F4F1EA"/>
          </a:solidFill>
          <a:ln w="12700">
            <a:solidFill>
              <a:srgbClr val="F4F1EA"/>
            </a:solidFill>
            <a:prstDash val="solid"/>
          </a:ln>
        </p:spPr>
      </p:sp>
      <p:sp>
        <p:nvSpPr>
          <p:cNvPr id="61" name="Text 58"/>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2" name="Text 59"/>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أُمَنَاءُ</a:t>
            </a:r>
            <a:endParaRPr lang="ar-SA" sz="2050" dirty="0"/>
          </a:p>
        </p:txBody>
      </p:sp>
      <p:sp>
        <p:nvSpPr>
          <p:cNvPr id="63" name="Shape 60"/>
          <p:cNvSpPr/>
          <p:nvPr/>
        </p:nvSpPr>
        <p:spPr>
          <a:xfrm>
            <a:off x="6368796" y="5330952"/>
            <a:ext cx="256032" cy="256032"/>
          </a:xfrm>
          <a:prstGeom prst="ellipse">
            <a:avLst/>
          </a:prstGeom>
          <a:solidFill>
            <a:srgbClr val="F4F1EA"/>
          </a:solidFill>
          <a:ln w="12700">
            <a:solidFill>
              <a:srgbClr val="F4F1EA"/>
            </a:solidFill>
            <a:prstDash val="solid"/>
          </a:ln>
        </p:spPr>
      </p:sp>
      <p:sp>
        <p:nvSpPr>
          <p:cNvPr id="64" name="Text 61"/>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5" name="Text 62"/>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أَمَانَةٌ</a:t>
            </a:r>
            <a:endParaRPr lang="ar-SA" sz="2050" dirty="0"/>
          </a:p>
        </p:txBody>
      </p:sp>
      <p:sp>
        <p:nvSpPr>
          <p:cNvPr id="66" name="Shape 63"/>
          <p:cNvSpPr/>
          <p:nvPr/>
        </p:nvSpPr>
        <p:spPr>
          <a:xfrm>
            <a:off x="6368796" y="5788152"/>
            <a:ext cx="256032" cy="256032"/>
          </a:xfrm>
          <a:prstGeom prst="ellipse">
            <a:avLst/>
          </a:prstGeom>
          <a:solidFill>
            <a:srgbClr val="F4F1EA"/>
          </a:solidFill>
          <a:ln w="12700">
            <a:solidFill>
              <a:srgbClr val="F4F1EA"/>
            </a:solidFill>
            <a:prstDash val="solid"/>
          </a:ln>
        </p:spPr>
      </p:sp>
      <p:sp>
        <p:nvSpPr>
          <p:cNvPr id="67" name="Text 64"/>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8" name="Text 65"/>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أَمِينَةٌ</a:t>
            </a:r>
            <a:endParaRPr lang="ar-SA" sz="2050" dirty="0"/>
          </a:p>
        </p:txBody>
      </p:sp>
      <p:sp>
        <p:nvSpPr>
          <p:cNvPr id="69" name="Text 6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27 / 47</a:t>
            </a:r>
            <a:endParaRPr lang="en-US" sz="8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TD-L08 ·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Answers and reasons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 وَالتَّعْلِيلُ</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D · The World of Work · TD-L08</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20" name="Text 17"/>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word is a SKILL (a noun)?</a:t>
            </a:r>
            <a:endParaRPr lang="en-US" sz="1250" dirty="0"/>
          </a:p>
        </p:txBody>
      </p:sp>
      <p:sp>
        <p:nvSpPr>
          <p:cNvPr id="21"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مُنَظَّمٌ</a:t>
            </a:r>
            <a:endParaRPr lang="ar-SA" sz="1700" dirty="0"/>
          </a:p>
        </p:txBody>
      </p:sp>
      <p:sp>
        <p:nvSpPr>
          <p:cNvPr id="24" name="Shape 21"/>
          <p:cNvSpPr/>
          <p:nvPr/>
        </p:nvSpPr>
        <p:spPr>
          <a:xfrm>
            <a:off x="640080" y="2862072"/>
            <a:ext cx="256032" cy="256032"/>
          </a:xfrm>
          <a:prstGeom prst="ellipse">
            <a:avLst/>
          </a:prstGeom>
          <a:solidFill>
            <a:srgbClr val="C9CED6"/>
          </a:solidFill>
          <a:ln w="12700">
            <a:solidFill>
              <a:srgbClr val="C9CED6"/>
            </a:solidFill>
            <a:prstDash val="solid"/>
          </a:ln>
        </p:spPr>
      </p:sp>
      <p:sp>
        <p:nvSpPr>
          <p:cNvPr id="25" name="Text 22"/>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صَبُورٌ</a:t>
            </a:r>
            <a:endParaRPr lang="ar-SA" sz="1700" dirty="0"/>
          </a:p>
        </p:txBody>
      </p:sp>
      <p:sp>
        <p:nvSpPr>
          <p:cNvPr id="27" name="Shape 24"/>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8" name="Shape 25"/>
          <p:cNvSpPr/>
          <p:nvPr/>
        </p:nvSpPr>
        <p:spPr>
          <a:xfrm>
            <a:off x="640080" y="3233928"/>
            <a:ext cx="256032" cy="256032"/>
          </a:xfrm>
          <a:prstGeom prst="ellipse">
            <a:avLst/>
          </a:prstGeom>
          <a:solidFill>
            <a:srgbClr val="2E8B57"/>
          </a:solidFill>
          <a:ln w="12700">
            <a:solidFill>
              <a:srgbClr val="2E8B57"/>
            </a:solidFill>
            <a:prstDash val="solid"/>
          </a:ln>
        </p:spPr>
      </p:sp>
      <p:sp>
        <p:nvSpPr>
          <p:cNvPr id="29"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30" name="Text 27"/>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حَلُّ المُشْكِلَاتِ</a:t>
            </a:r>
            <a:endParaRPr lang="ar-SA" sz="1700" dirty="0"/>
          </a:p>
        </p:txBody>
      </p:sp>
      <p:sp>
        <p:nvSpPr>
          <p:cNvPr id="31" name="Text 28"/>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ḥall = solving (a noun).</a:t>
            </a:r>
            <a:endParaRPr lang="en-US" sz="1050" dirty="0"/>
          </a:p>
        </p:txBody>
      </p:sp>
      <p:sp>
        <p:nvSpPr>
          <p:cNvPr id="32" name="Shape 29"/>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6313932"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35" name="Text 32"/>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gives evidence for a quality?</a:t>
            </a:r>
            <a:endParaRPr lang="en-US" sz="1250" dirty="0"/>
          </a:p>
        </p:txBody>
      </p:sp>
      <p:sp>
        <p:nvSpPr>
          <p:cNvPr id="36" name="Shape 33"/>
          <p:cNvSpPr/>
          <p:nvPr/>
        </p:nvSpPr>
        <p:spPr>
          <a:xfrm>
            <a:off x="6368796" y="2490216"/>
            <a:ext cx="256032" cy="256032"/>
          </a:xfrm>
          <a:prstGeom prst="ellipse">
            <a:avLst/>
          </a:prstGeom>
          <a:solidFill>
            <a:srgbClr val="C9CED6"/>
          </a:solidFill>
          <a:ln w="12700">
            <a:solidFill>
              <a:srgbClr val="C9CED6"/>
            </a:solidFill>
            <a:prstDash val="solid"/>
          </a:ln>
        </p:spPr>
      </p:sp>
      <p:sp>
        <p:nvSpPr>
          <p:cNvPr id="37" name="Text 34"/>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8" name="Text 35"/>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هُوَ مَسْؤُولٌ جِدًّا.</a:t>
            </a:r>
            <a:endParaRPr lang="ar-SA" sz="1700" dirty="0"/>
          </a:p>
        </p:txBody>
      </p:sp>
      <p:sp>
        <p:nvSpPr>
          <p:cNvPr id="39" name="Shape 36"/>
          <p:cNvSpPr/>
          <p:nvPr/>
        </p:nvSpPr>
        <p:spPr>
          <a:xfrm>
            <a:off x="6277356" y="2825496"/>
            <a:ext cx="5362956" cy="347472"/>
          </a:xfrm>
          <a:prstGeom prst="roundRect">
            <a:avLst>
              <a:gd name="adj" fmla="val 15789"/>
            </a:avLst>
          </a:prstGeom>
          <a:solidFill>
            <a:srgbClr val="E6F4EC"/>
          </a:solidFill>
          <a:ln w="9525">
            <a:solidFill>
              <a:srgbClr val="2E8B57"/>
            </a:solidFill>
            <a:prstDash val="solid"/>
          </a:ln>
        </p:spPr>
      </p:sp>
      <p:sp>
        <p:nvSpPr>
          <p:cNvPr id="40" name="Shape 37"/>
          <p:cNvSpPr/>
          <p:nvPr/>
        </p:nvSpPr>
        <p:spPr>
          <a:xfrm>
            <a:off x="6368796" y="2862072"/>
            <a:ext cx="256032" cy="256032"/>
          </a:xfrm>
          <a:prstGeom prst="ellipse">
            <a:avLst/>
          </a:prstGeom>
          <a:solidFill>
            <a:srgbClr val="2E8B57"/>
          </a:solidFill>
          <a:ln w="12700">
            <a:solidFill>
              <a:srgbClr val="2E8B57"/>
            </a:solidFill>
            <a:prstDash val="solid"/>
          </a:ln>
        </p:spPr>
      </p:sp>
      <p:sp>
        <p:nvSpPr>
          <p:cNvPr id="41" name="Text 38"/>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42" name="Text 39"/>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هُوَ مَسْؤُولٌ لِأَنَّهُ يَحْتَرِمُ المَوَاعِيدَ.</a:t>
            </a:r>
            <a:endParaRPr lang="ar-SA" sz="1700" dirty="0"/>
          </a:p>
        </p:txBody>
      </p:sp>
      <p:sp>
        <p:nvSpPr>
          <p:cNvPr id="43" name="Shape 40"/>
          <p:cNvSpPr/>
          <p:nvPr/>
        </p:nvSpPr>
        <p:spPr>
          <a:xfrm>
            <a:off x="6368796" y="3233928"/>
            <a:ext cx="256032" cy="256032"/>
          </a:xfrm>
          <a:prstGeom prst="ellipse">
            <a:avLst/>
          </a:prstGeom>
          <a:solidFill>
            <a:srgbClr val="C9CED6"/>
          </a:solidFill>
          <a:ln w="12700">
            <a:solidFill>
              <a:srgbClr val="C9CED6"/>
            </a:solidFill>
            <a:prstDash val="solid"/>
          </a:ln>
        </p:spPr>
      </p:sp>
      <p:sp>
        <p:nvSpPr>
          <p:cNvPr id="44" name="Text 41"/>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5" name="Text 42"/>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هُوَ مَسْؤُولٌ وَمُنَظَّمٌ.</a:t>
            </a:r>
            <a:endParaRPr lang="ar-SA" sz="1700" dirty="0"/>
          </a:p>
        </p:txBody>
      </p:sp>
      <p:sp>
        <p:nvSpPr>
          <p:cNvPr id="46" name="Text 43"/>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Quality + behaviour.</a:t>
            </a:r>
            <a:endParaRPr lang="en-US" sz="1050" dirty="0"/>
          </a:p>
        </p:txBody>
      </p:sp>
      <p:sp>
        <p:nvSpPr>
          <p:cNvPr id="47" name="Shape 44"/>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585216" y="4288536"/>
            <a:ext cx="310896" cy="310896"/>
          </a:xfrm>
          <a:prstGeom prst="ellipse">
            <a:avLst/>
          </a:prstGeom>
          <a:solidFill>
            <a:srgbClr val="1B3B6F"/>
          </a:solidFill>
          <a:ln w="12700">
            <a:solidFill>
              <a:srgbClr val="1B3B6F"/>
            </a:solidFill>
            <a:prstDash val="solid"/>
          </a:ln>
        </p:spPr>
      </p:sp>
      <p:sp>
        <p:nvSpPr>
          <p:cNvPr id="49" name="Text 4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7</a:t>
            </a:r>
            <a:endParaRPr lang="en-US" sz="1100" dirty="0"/>
          </a:p>
        </p:txBody>
      </p:sp>
      <p:sp>
        <p:nvSpPr>
          <p:cNvPr id="50" name="Text 47"/>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إِدَارَةُ الوَقْتِ</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51" name="Shape 48"/>
          <p:cNvSpPr/>
          <p:nvPr/>
        </p:nvSpPr>
        <p:spPr>
          <a:xfrm>
            <a:off x="640080" y="4831080"/>
            <a:ext cx="256032" cy="256032"/>
          </a:xfrm>
          <a:prstGeom prst="ellipse">
            <a:avLst/>
          </a:prstGeom>
          <a:solidFill>
            <a:srgbClr val="C9CED6"/>
          </a:solidFill>
          <a:ln w="12700">
            <a:solidFill>
              <a:srgbClr val="C9CED6"/>
            </a:solidFill>
            <a:prstDash val="solid"/>
          </a:ln>
        </p:spPr>
      </p:sp>
      <p:sp>
        <p:nvSpPr>
          <p:cNvPr id="52" name="Text 49"/>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3" name="Text 50"/>
          <p:cNvSpPr txBox="1"/>
          <p:nvPr/>
        </p:nvSpPr>
        <p:spPr>
          <a:xfrm>
            <a:off x="969264" y="4773168"/>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teamwork</a:t>
            </a:r>
            <a:endParaRPr lang="en-US" sz="1250" dirty="0"/>
          </a:p>
        </p:txBody>
      </p:sp>
      <p:sp>
        <p:nvSpPr>
          <p:cNvPr id="54" name="Shape 51"/>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5" name="Shape 52"/>
          <p:cNvSpPr/>
          <p:nvPr/>
        </p:nvSpPr>
        <p:spPr>
          <a:xfrm>
            <a:off x="640080" y="5202936"/>
            <a:ext cx="256032" cy="256032"/>
          </a:xfrm>
          <a:prstGeom prst="ellipse">
            <a:avLst/>
          </a:prstGeom>
          <a:solidFill>
            <a:srgbClr val="2E8B57"/>
          </a:solidFill>
          <a:ln w="12700">
            <a:solidFill>
              <a:srgbClr val="2E8B57"/>
            </a:solidFill>
            <a:prstDash val="solid"/>
          </a:ln>
        </p:spPr>
      </p:sp>
      <p:sp>
        <p:nvSpPr>
          <p:cNvPr id="56" name="Text 53"/>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57" name="Text 54"/>
          <p:cNvSpPr txBox="1"/>
          <p:nvPr/>
        </p:nvSpPr>
        <p:spPr>
          <a:xfrm>
            <a:off x="969264" y="5145024"/>
            <a:ext cx="4887468"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time management</a:t>
            </a:r>
            <a:endParaRPr lang="en-US" sz="1250" dirty="0"/>
          </a:p>
        </p:txBody>
      </p:sp>
      <p:sp>
        <p:nvSpPr>
          <p:cNvPr id="58" name="Shape 55"/>
          <p:cNvSpPr/>
          <p:nvPr/>
        </p:nvSpPr>
        <p:spPr>
          <a:xfrm>
            <a:off x="640080" y="5574792"/>
            <a:ext cx="256032" cy="256032"/>
          </a:xfrm>
          <a:prstGeom prst="ellipse">
            <a:avLst/>
          </a:prstGeom>
          <a:solidFill>
            <a:srgbClr val="C9CED6"/>
          </a:solidFill>
          <a:ln w="12700">
            <a:solidFill>
              <a:srgbClr val="C9CED6"/>
            </a:solidFill>
            <a:prstDash val="solid"/>
          </a:ln>
        </p:spPr>
      </p:sp>
      <p:sp>
        <p:nvSpPr>
          <p:cNvPr id="59" name="Text 56"/>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0" name="Text 57"/>
          <p:cNvSpPr txBox="1"/>
          <p:nvPr/>
        </p:nvSpPr>
        <p:spPr>
          <a:xfrm>
            <a:off x="969264" y="5516880"/>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leadership</a:t>
            </a:r>
            <a:endParaRPr lang="en-US" sz="1250" dirty="0"/>
          </a:p>
        </p:txBody>
      </p:sp>
      <p:sp>
        <p:nvSpPr>
          <p:cNvPr id="61" name="Text 58"/>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idāra = managing; waqt = time.</a:t>
            </a:r>
            <a:endParaRPr lang="en-US" sz="1050" dirty="0"/>
          </a:p>
        </p:txBody>
      </p:sp>
      <p:sp>
        <p:nvSpPr>
          <p:cNvPr id="62" name="Shape 59"/>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6313932" y="4288536"/>
            <a:ext cx="310896" cy="310896"/>
          </a:xfrm>
          <a:prstGeom prst="ellipse">
            <a:avLst/>
          </a:prstGeom>
          <a:solidFill>
            <a:srgbClr val="1B3B6F"/>
          </a:solidFill>
          <a:ln w="12700">
            <a:solidFill>
              <a:srgbClr val="1B3B6F"/>
            </a:solidFill>
            <a:prstDash val="solid"/>
          </a:ln>
        </p:spPr>
      </p:sp>
      <p:sp>
        <p:nvSpPr>
          <p:cNvPr id="64" name="Text 61"/>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8</a:t>
            </a:r>
            <a:endParaRPr lang="en-US" sz="1100" dirty="0"/>
          </a:p>
        </p:txBody>
      </p:sp>
      <p:sp>
        <p:nvSpPr>
          <p:cNvPr id="65" name="Text 62"/>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feminine of </a:t>
            </a:r>
            <a:pPr algn="l" indent="0" marL="0">
              <a:buNone/>
            </a:pPr>
            <a:r>
              <a:rPr lang="ar-SA" altLang="en-US" sz="1650" b="1" dirty="0">
                <a:solidFill>
                  <a:srgbClr val="1B3B6F"/>
                </a:solidFill>
                <a:latin typeface="Amiri" pitchFamily="2" charset="-78"/>
                <a:ea typeface="Amiri" pitchFamily="2" charset="-78"/>
                <a:cs typeface="Amiri" pitchFamily="2" charset="-78"/>
              </a:rPr>
              <a:t>أَمِينٌ</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66" name="Shape 63"/>
          <p:cNvSpPr/>
          <p:nvPr/>
        </p:nvSpPr>
        <p:spPr>
          <a:xfrm>
            <a:off x="6368796" y="4831080"/>
            <a:ext cx="256032" cy="256032"/>
          </a:xfrm>
          <a:prstGeom prst="ellipse">
            <a:avLst/>
          </a:prstGeom>
          <a:solidFill>
            <a:srgbClr val="C9CED6"/>
          </a:solidFill>
          <a:ln w="12700">
            <a:solidFill>
              <a:srgbClr val="C9CED6"/>
            </a:solidFill>
            <a:prstDash val="solid"/>
          </a:ln>
        </p:spPr>
      </p:sp>
      <p:sp>
        <p:nvSpPr>
          <p:cNvPr id="67" name="Text 64"/>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8" name="Text 65"/>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أُمَنَاءُ</a:t>
            </a:r>
            <a:endParaRPr lang="ar-SA" sz="1700" dirty="0"/>
          </a:p>
        </p:txBody>
      </p:sp>
      <p:sp>
        <p:nvSpPr>
          <p:cNvPr id="69" name="Shape 66"/>
          <p:cNvSpPr/>
          <p:nvPr/>
        </p:nvSpPr>
        <p:spPr>
          <a:xfrm>
            <a:off x="6368796" y="5202936"/>
            <a:ext cx="256032" cy="256032"/>
          </a:xfrm>
          <a:prstGeom prst="ellipse">
            <a:avLst/>
          </a:prstGeom>
          <a:solidFill>
            <a:srgbClr val="C9CED6"/>
          </a:solidFill>
          <a:ln w="12700">
            <a:solidFill>
              <a:srgbClr val="C9CED6"/>
            </a:solidFill>
            <a:prstDash val="solid"/>
          </a:ln>
        </p:spPr>
      </p:sp>
      <p:sp>
        <p:nvSpPr>
          <p:cNvPr id="70" name="Text 67"/>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1" name="Text 68"/>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أَمَانَةٌ</a:t>
            </a:r>
            <a:endParaRPr lang="ar-SA" sz="1700" dirty="0"/>
          </a:p>
        </p:txBody>
      </p:sp>
      <p:sp>
        <p:nvSpPr>
          <p:cNvPr id="72" name="Shape 69"/>
          <p:cNvSpPr/>
          <p:nvPr/>
        </p:nvSpPr>
        <p:spPr>
          <a:xfrm>
            <a:off x="6277356" y="5538216"/>
            <a:ext cx="5362956" cy="347472"/>
          </a:xfrm>
          <a:prstGeom prst="roundRect">
            <a:avLst>
              <a:gd name="adj" fmla="val 15789"/>
            </a:avLst>
          </a:prstGeom>
          <a:solidFill>
            <a:srgbClr val="E6F4EC"/>
          </a:solidFill>
          <a:ln w="9525">
            <a:solidFill>
              <a:srgbClr val="2E8B57"/>
            </a:solidFill>
            <a:prstDash val="solid"/>
          </a:ln>
        </p:spPr>
      </p:sp>
      <p:sp>
        <p:nvSpPr>
          <p:cNvPr id="73" name="Shape 70"/>
          <p:cNvSpPr/>
          <p:nvPr/>
        </p:nvSpPr>
        <p:spPr>
          <a:xfrm>
            <a:off x="6368796" y="5574792"/>
            <a:ext cx="256032" cy="256032"/>
          </a:xfrm>
          <a:prstGeom prst="ellipse">
            <a:avLst/>
          </a:prstGeom>
          <a:solidFill>
            <a:srgbClr val="2E8B57"/>
          </a:solidFill>
          <a:ln w="12700">
            <a:solidFill>
              <a:srgbClr val="2E8B57"/>
            </a:solidFill>
            <a:prstDash val="solid"/>
          </a:ln>
        </p:spPr>
      </p:sp>
      <p:sp>
        <p:nvSpPr>
          <p:cNvPr id="74" name="Text 71"/>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5" name="Text 72"/>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أَمِينَةٌ</a:t>
            </a:r>
            <a:endParaRPr lang="ar-SA" sz="1700" dirty="0"/>
          </a:p>
        </p:txBody>
      </p:sp>
      <p:sp>
        <p:nvSpPr>
          <p:cNvPr id="76" name="Text 73"/>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amīnatun (f.) · umanāʾ (pl.) · amāna = honesty.</a:t>
            </a:r>
            <a:endParaRPr lang="en-US" sz="1050" dirty="0"/>
          </a:p>
        </p:txBody>
      </p:sp>
      <p:sp>
        <p:nvSpPr>
          <p:cNvPr id="77" name="Text 7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28 / 47</a:t>
            </a:r>
            <a:endParaRPr lang="en-US" sz="8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TD-L08 · Skills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SPOT AND FIX</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Repair the mistake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صَحِّحِ الخَطَأَ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D · The World of Work · TD-L08</a:t>
            </a:r>
            <a:endParaRPr lang="en-US" sz="850" dirty="0"/>
          </a:p>
        </p:txBody>
      </p:sp>
      <p:sp>
        <p:nvSpPr>
          <p:cNvPr id="15" name="Shape 12"/>
          <p:cNvSpPr/>
          <p:nvPr/>
        </p:nvSpPr>
        <p:spPr>
          <a:xfrm>
            <a:off x="457200" y="18105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183112" y="2249424"/>
            <a:ext cx="402336" cy="402336"/>
          </a:xfrm>
          <a:prstGeom prst="ellipse">
            <a:avLst/>
          </a:prstGeom>
          <a:solidFill>
            <a:srgbClr val="B83227"/>
          </a:solidFill>
          <a:ln w="12700">
            <a:solidFill>
              <a:srgbClr val="B83227"/>
            </a:solidFill>
            <a:prstDash val="solid"/>
          </a:ln>
        </p:spPr>
      </p:sp>
      <p:sp>
        <p:nvSpPr>
          <p:cNvPr id="17" name="Text 14"/>
          <p:cNvSpPr txBox="1"/>
          <p:nvPr/>
        </p:nvSpPr>
        <p:spPr>
          <a:xfrm>
            <a:off x="11183112" y="224942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1</a:t>
            </a:r>
            <a:endParaRPr lang="en-US" sz="1300" dirty="0"/>
          </a:p>
        </p:txBody>
      </p:sp>
      <p:sp>
        <p:nvSpPr>
          <p:cNvPr id="18" name="Text 15"/>
          <p:cNvSpPr txBox="1"/>
          <p:nvPr/>
        </p:nvSpPr>
        <p:spPr>
          <a:xfrm>
            <a:off x="4023360" y="1901952"/>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يَجِبُ أَنْ يَكُونَ المُدَرِّسُ صَبُورٌ.</a:t>
            </a:r>
            <a:endParaRPr lang="ar-SA" sz="3000" dirty="0"/>
          </a:p>
        </p:txBody>
      </p:sp>
      <p:sp>
        <p:nvSpPr>
          <p:cNvPr id="19" name="Text 16"/>
          <p:cNvSpPr txBox="1"/>
          <p:nvPr/>
        </p:nvSpPr>
        <p:spPr>
          <a:xfrm>
            <a:off x="731520" y="1901952"/>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After yakūna: -un or -an?</a:t>
            </a:r>
            <a:endParaRPr lang="en-US" sz="1300" dirty="0"/>
          </a:p>
        </p:txBody>
      </p:sp>
      <p:sp>
        <p:nvSpPr>
          <p:cNvPr id="20" name="Shape 17"/>
          <p:cNvSpPr/>
          <p:nvPr/>
        </p:nvSpPr>
        <p:spPr>
          <a:xfrm>
            <a:off x="457200" y="3255264"/>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183112" y="3694176"/>
            <a:ext cx="402336" cy="402336"/>
          </a:xfrm>
          <a:prstGeom prst="ellipse">
            <a:avLst/>
          </a:prstGeom>
          <a:solidFill>
            <a:srgbClr val="B83227"/>
          </a:solidFill>
          <a:ln w="12700">
            <a:solidFill>
              <a:srgbClr val="B83227"/>
            </a:solidFill>
            <a:prstDash val="solid"/>
          </a:ln>
        </p:spPr>
      </p:sp>
      <p:sp>
        <p:nvSpPr>
          <p:cNvPr id="22" name="Text 19"/>
          <p:cNvSpPr txBox="1"/>
          <p:nvPr/>
        </p:nvSpPr>
        <p:spPr>
          <a:xfrm>
            <a:off x="11183112" y="369417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2</a:t>
            </a:r>
            <a:endParaRPr lang="en-US" sz="1300" dirty="0"/>
          </a:p>
        </p:txBody>
      </p:sp>
      <p:sp>
        <p:nvSpPr>
          <p:cNvPr id="23" name="Text 20"/>
          <p:cNvSpPr txBox="1"/>
          <p:nvPr/>
        </p:nvSpPr>
        <p:spPr>
          <a:xfrm>
            <a:off x="4023360" y="3346704"/>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يَجِبُ أَنْ يَكُونَ المُمَرِّضَةُ هَادِئَةً.</a:t>
            </a:r>
            <a:endParaRPr lang="ar-SA" sz="3000" dirty="0"/>
          </a:p>
        </p:txBody>
      </p:sp>
      <p:sp>
        <p:nvSpPr>
          <p:cNvPr id="24" name="Text 21"/>
          <p:cNvSpPr txBox="1"/>
          <p:nvPr/>
        </p:nvSpPr>
        <p:spPr>
          <a:xfrm>
            <a:off x="731520" y="3346704"/>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The nurse is a woman: yakūna or takūna?</a:t>
            </a:r>
            <a:endParaRPr lang="en-US" sz="1300" dirty="0"/>
          </a:p>
        </p:txBody>
      </p:sp>
      <p:sp>
        <p:nvSpPr>
          <p:cNvPr id="25" name="Shape 22"/>
          <p:cNvSpPr/>
          <p:nvPr/>
        </p:nvSpPr>
        <p:spPr>
          <a:xfrm>
            <a:off x="457200" y="4700016"/>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183112" y="5138928"/>
            <a:ext cx="402336" cy="402336"/>
          </a:xfrm>
          <a:prstGeom prst="ellipse">
            <a:avLst/>
          </a:prstGeom>
          <a:solidFill>
            <a:srgbClr val="B83227"/>
          </a:solidFill>
          <a:ln w="12700">
            <a:solidFill>
              <a:srgbClr val="B83227"/>
            </a:solidFill>
            <a:prstDash val="solid"/>
          </a:ln>
        </p:spPr>
      </p:sp>
      <p:sp>
        <p:nvSpPr>
          <p:cNvPr id="27" name="Text 24"/>
          <p:cNvSpPr txBox="1"/>
          <p:nvPr/>
        </p:nvSpPr>
        <p:spPr>
          <a:xfrm>
            <a:off x="11183112" y="513892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3</a:t>
            </a:r>
            <a:endParaRPr lang="en-US" sz="1300" dirty="0"/>
          </a:p>
        </p:txBody>
      </p:sp>
      <p:sp>
        <p:nvSpPr>
          <p:cNvPr id="28" name="Text 25"/>
          <p:cNvSpPr txBox="1"/>
          <p:nvPr/>
        </p:nvSpPr>
        <p:spPr>
          <a:xfrm>
            <a:off x="4023360" y="4791456"/>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تَسْتَطِيعُ أَنْ يَعْمَلَ ضِمْنَ فَرِيقٍ.</a:t>
            </a:r>
            <a:endParaRPr lang="ar-SA" sz="3000" dirty="0"/>
          </a:p>
        </p:txBody>
      </p:sp>
      <p:sp>
        <p:nvSpPr>
          <p:cNvPr id="29" name="Text 26"/>
          <p:cNvSpPr txBox="1"/>
          <p:nvPr/>
        </p:nvSpPr>
        <p:spPr>
          <a:xfrm>
            <a:off x="731520" y="4791456"/>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She can …: ya- or ta-?</a:t>
            </a:r>
            <a:endParaRPr lang="en-US" sz="130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29 / 47</a:t>
            </a:r>
            <a:endParaRPr lang="en-US" sz="8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TD-L08 ·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CORRECTIONS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Fixed — and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التَّصْحِيحُ وَالسَّبَبُ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D · The World of Work · TD-L08</a:t>
            </a:r>
            <a:endParaRPr lang="en-US" sz="850" dirty="0"/>
          </a:p>
        </p:txBody>
      </p:sp>
      <p:sp>
        <p:nvSpPr>
          <p:cNvPr id="15" name="Shape 12"/>
          <p:cNvSpPr/>
          <p:nvPr/>
        </p:nvSpPr>
        <p:spPr>
          <a:xfrm>
            <a:off x="457200" y="1810512"/>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8503920" y="1901952"/>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يَجِبُ أَنْ يَكُونَ المُدَرِّسُ صَبُورٌ.</a:t>
            </a:r>
            <a:endParaRPr lang="ar-SA" sz="1800" dirty="0"/>
          </a:p>
        </p:txBody>
      </p:sp>
      <p:sp>
        <p:nvSpPr>
          <p:cNvPr id="17" name="Shape 14"/>
          <p:cNvSpPr/>
          <p:nvPr/>
        </p:nvSpPr>
        <p:spPr>
          <a:xfrm>
            <a:off x="8641080" y="2459736"/>
            <a:ext cx="2834640" cy="0"/>
          </a:xfrm>
          <a:prstGeom prst="line">
            <a:avLst/>
          </a:prstGeom>
          <a:noFill/>
          <a:ln w="15875">
            <a:solidFill>
              <a:srgbClr val="B83227"/>
            </a:solidFill>
            <a:prstDash val="solid"/>
          </a:ln>
        </p:spPr>
      </p:sp>
      <p:sp>
        <p:nvSpPr>
          <p:cNvPr id="18" name="Text 15"/>
          <p:cNvSpPr txBox="1"/>
          <p:nvPr/>
        </p:nvSpPr>
        <p:spPr>
          <a:xfrm>
            <a:off x="8138160" y="1901952"/>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19" name="Text 16"/>
          <p:cNvSpPr txBox="1"/>
          <p:nvPr/>
        </p:nvSpPr>
        <p:spPr>
          <a:xfrm>
            <a:off x="3566160" y="1901952"/>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يَجِبُ أَنْ يَكُونَ المُدَرِّسُ صَبُورًا.</a:t>
            </a:r>
            <a:endParaRPr lang="ar-SA" sz="2400" dirty="0"/>
          </a:p>
        </p:txBody>
      </p:sp>
      <p:sp>
        <p:nvSpPr>
          <p:cNvPr id="20" name="Text 17"/>
          <p:cNvSpPr txBox="1"/>
          <p:nvPr/>
        </p:nvSpPr>
        <p:spPr>
          <a:xfrm>
            <a:off x="685800" y="1901952"/>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After yakūna the adjective takes -an.</a:t>
            </a:r>
            <a:endParaRPr lang="en-US" sz="1150" dirty="0"/>
          </a:p>
        </p:txBody>
      </p:sp>
      <p:sp>
        <p:nvSpPr>
          <p:cNvPr id="21" name="Shape 18"/>
          <p:cNvSpPr/>
          <p:nvPr/>
        </p:nvSpPr>
        <p:spPr>
          <a:xfrm>
            <a:off x="457200" y="3255264"/>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8503920" y="3346704"/>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يَجِبُ أَنْ يَكُونَ المُمَرِّضَةُ هَادِئَةً.</a:t>
            </a:r>
            <a:endParaRPr lang="ar-SA" sz="1800" dirty="0"/>
          </a:p>
        </p:txBody>
      </p:sp>
      <p:sp>
        <p:nvSpPr>
          <p:cNvPr id="23" name="Shape 20"/>
          <p:cNvSpPr/>
          <p:nvPr/>
        </p:nvSpPr>
        <p:spPr>
          <a:xfrm>
            <a:off x="8641080" y="3904488"/>
            <a:ext cx="2834640" cy="0"/>
          </a:xfrm>
          <a:prstGeom prst="line">
            <a:avLst/>
          </a:prstGeom>
          <a:noFill/>
          <a:ln w="15875">
            <a:solidFill>
              <a:srgbClr val="B83227"/>
            </a:solidFill>
            <a:prstDash val="solid"/>
          </a:ln>
        </p:spPr>
      </p:sp>
      <p:sp>
        <p:nvSpPr>
          <p:cNvPr id="24" name="Text 21"/>
          <p:cNvSpPr txBox="1"/>
          <p:nvPr/>
        </p:nvSpPr>
        <p:spPr>
          <a:xfrm>
            <a:off x="8138160" y="3346704"/>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25" name="Text 22"/>
          <p:cNvSpPr txBox="1"/>
          <p:nvPr/>
        </p:nvSpPr>
        <p:spPr>
          <a:xfrm>
            <a:off x="3566160" y="3346704"/>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يَجِبُ أَنْ تَكُونَ المُمَرِّضَةُ هَادِئَةً.</a:t>
            </a:r>
            <a:endParaRPr lang="ar-SA" sz="2400" dirty="0"/>
          </a:p>
        </p:txBody>
      </p:sp>
      <p:sp>
        <p:nvSpPr>
          <p:cNvPr id="26" name="Text 23"/>
          <p:cNvSpPr txBox="1"/>
          <p:nvPr/>
        </p:nvSpPr>
        <p:spPr>
          <a:xfrm>
            <a:off x="685800" y="3346704"/>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The nurse is a woman → takūna.</a:t>
            </a:r>
            <a:endParaRPr lang="en-US" sz="1150" dirty="0"/>
          </a:p>
        </p:txBody>
      </p:sp>
      <p:sp>
        <p:nvSpPr>
          <p:cNvPr id="27" name="Shape 24"/>
          <p:cNvSpPr/>
          <p:nvPr/>
        </p:nvSpPr>
        <p:spPr>
          <a:xfrm>
            <a:off x="457200" y="4700016"/>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8503920" y="4791456"/>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تَسْتَطِيعُ أَنْ يَعْمَلَ ضِمْنَ فَرِيقٍ.</a:t>
            </a:r>
            <a:endParaRPr lang="ar-SA" sz="1800" dirty="0"/>
          </a:p>
        </p:txBody>
      </p:sp>
      <p:sp>
        <p:nvSpPr>
          <p:cNvPr id="29" name="Shape 26"/>
          <p:cNvSpPr/>
          <p:nvPr/>
        </p:nvSpPr>
        <p:spPr>
          <a:xfrm>
            <a:off x="8641080" y="5349240"/>
            <a:ext cx="2834640" cy="0"/>
          </a:xfrm>
          <a:prstGeom prst="line">
            <a:avLst/>
          </a:prstGeom>
          <a:noFill/>
          <a:ln w="15875">
            <a:solidFill>
              <a:srgbClr val="B83227"/>
            </a:solidFill>
            <a:prstDash val="solid"/>
          </a:ln>
        </p:spPr>
      </p:sp>
      <p:sp>
        <p:nvSpPr>
          <p:cNvPr id="30" name="Text 27"/>
          <p:cNvSpPr txBox="1"/>
          <p:nvPr/>
        </p:nvSpPr>
        <p:spPr>
          <a:xfrm>
            <a:off x="8138160" y="4791456"/>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31" name="Text 28"/>
          <p:cNvSpPr txBox="1"/>
          <p:nvPr/>
        </p:nvSpPr>
        <p:spPr>
          <a:xfrm>
            <a:off x="3566160" y="4791456"/>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تَسْتَطِيعُ أَنْ تَعْمَلَ ضِمْنَ فَرِيقٍ.</a:t>
            </a:r>
            <a:endParaRPr lang="ar-SA" sz="2400" dirty="0"/>
          </a:p>
        </p:txBody>
      </p:sp>
      <p:sp>
        <p:nvSpPr>
          <p:cNvPr id="32" name="Text 29"/>
          <p:cNvSpPr txBox="1"/>
          <p:nvPr/>
        </p:nvSpPr>
        <p:spPr>
          <a:xfrm>
            <a:off x="685800" y="4791456"/>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Both verbs agree with “she”.</a:t>
            </a:r>
            <a:endParaRPr lang="en-US" sz="11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30 / 47</a:t>
            </a:r>
            <a:endParaRPr lang="en-US" sz="8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TD-L08 · Skills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 TEACHER READS ALOUD TWICE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What makes a strong candidate?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D · The World of Work · TD-L08</a:t>
            </a:r>
            <a:endParaRPr lang="en-US" sz="850" dirty="0"/>
          </a:p>
        </p:txBody>
      </p:sp>
      <p:sp>
        <p:nvSpPr>
          <p:cNvPr id="15" name="Shape 12"/>
          <p:cNvSpPr/>
          <p:nvPr/>
        </p:nvSpPr>
        <p:spPr>
          <a:xfrm>
            <a:off x="457200"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job is advertised?</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customer service (female employee)</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nurse</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programmer</a:t>
            </a:r>
            <a:endParaRPr lang="en-US" sz="1250" dirty="0"/>
          </a:p>
        </p:txBody>
      </p:sp>
      <p:sp>
        <p:nvSpPr>
          <p:cNvPr id="28" name="Shape 25"/>
          <p:cNvSpPr/>
          <p:nvPr/>
        </p:nvSpPr>
        <p:spPr>
          <a:xfrm>
            <a:off x="3321558"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3449574"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344957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3815334"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two qualities are needed?</a:t>
            </a:r>
            <a:endParaRPr lang="en-US" sz="1250" dirty="0"/>
          </a:p>
        </p:txBody>
      </p:sp>
      <p:sp>
        <p:nvSpPr>
          <p:cNvPr id="32" name="Shape 29"/>
          <p:cNvSpPr/>
          <p:nvPr/>
        </p:nvSpPr>
        <p:spPr>
          <a:xfrm>
            <a:off x="3504438"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350443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3833622"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calm and creative</a:t>
            </a:r>
            <a:endParaRPr lang="en-US" sz="1250" dirty="0"/>
          </a:p>
        </p:txBody>
      </p:sp>
      <p:sp>
        <p:nvSpPr>
          <p:cNvPr id="35" name="Shape 32"/>
          <p:cNvSpPr/>
          <p:nvPr/>
        </p:nvSpPr>
        <p:spPr>
          <a:xfrm>
            <a:off x="3504438"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350443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3833622"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ambitious and honest</a:t>
            </a:r>
            <a:endParaRPr lang="en-US" sz="1250" dirty="0"/>
          </a:p>
        </p:txBody>
      </p:sp>
      <p:sp>
        <p:nvSpPr>
          <p:cNvPr id="38" name="Shape 35"/>
          <p:cNvSpPr/>
          <p:nvPr/>
        </p:nvSpPr>
        <p:spPr>
          <a:xfrm>
            <a:off x="3504438"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350443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3833622"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confident and patient</a:t>
            </a:r>
            <a:endParaRPr lang="en-US" sz="1250" dirty="0"/>
          </a:p>
        </p:txBody>
      </p:sp>
      <p:sp>
        <p:nvSpPr>
          <p:cNvPr id="41" name="Shape 38"/>
          <p:cNvSpPr/>
          <p:nvPr/>
        </p:nvSpPr>
        <p:spPr>
          <a:xfrm>
            <a:off x="6185916"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6313932"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6679692"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must she be able to do quickly?</a:t>
            </a:r>
            <a:endParaRPr lang="en-US" sz="1250" dirty="0"/>
          </a:p>
        </p:txBody>
      </p:sp>
      <p:sp>
        <p:nvSpPr>
          <p:cNvPr id="45" name="Shape 42"/>
          <p:cNvSpPr/>
          <p:nvPr/>
        </p:nvSpPr>
        <p:spPr>
          <a:xfrm>
            <a:off x="6368796"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6697980"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write reports</a:t>
            </a:r>
            <a:endParaRPr lang="en-US" sz="1250" dirty="0"/>
          </a:p>
        </p:txBody>
      </p:sp>
      <p:sp>
        <p:nvSpPr>
          <p:cNvPr id="48" name="Shape 45"/>
          <p:cNvSpPr/>
          <p:nvPr/>
        </p:nvSpPr>
        <p:spPr>
          <a:xfrm>
            <a:off x="6368796"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6697980"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speak to the manager</a:t>
            </a:r>
            <a:endParaRPr lang="en-US" sz="1250" dirty="0"/>
          </a:p>
        </p:txBody>
      </p:sp>
      <p:sp>
        <p:nvSpPr>
          <p:cNvPr id="51" name="Shape 48"/>
          <p:cNvSpPr/>
          <p:nvPr/>
        </p:nvSpPr>
        <p:spPr>
          <a:xfrm>
            <a:off x="6368796"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6697980"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solve problems</a:t>
            </a:r>
            <a:endParaRPr lang="en-US" sz="1250" dirty="0"/>
          </a:p>
        </p:txBody>
      </p:sp>
      <p:sp>
        <p:nvSpPr>
          <p:cNvPr id="54" name="Shape 51"/>
          <p:cNvSpPr/>
          <p:nvPr/>
        </p:nvSpPr>
        <p:spPr>
          <a:xfrm>
            <a:off x="9050274"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9178290" y="1947672"/>
            <a:ext cx="310896" cy="310896"/>
          </a:xfrm>
          <a:prstGeom prst="ellipse">
            <a:avLst/>
          </a:prstGeom>
          <a:solidFill>
            <a:srgbClr val="1B3B6F"/>
          </a:solidFill>
          <a:ln w="12700">
            <a:solidFill>
              <a:srgbClr val="1B3B6F"/>
            </a:solidFill>
            <a:prstDash val="solid"/>
          </a:ln>
        </p:spPr>
      </p:sp>
      <p:sp>
        <p:nvSpPr>
          <p:cNvPr id="56" name="Text 53"/>
          <p:cNvSpPr txBox="1"/>
          <p:nvPr/>
        </p:nvSpPr>
        <p:spPr>
          <a:xfrm>
            <a:off x="917829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44050"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Is experience essential?</a:t>
            </a:r>
            <a:endParaRPr lang="en-US" sz="1250" dirty="0"/>
          </a:p>
        </p:txBody>
      </p:sp>
      <p:sp>
        <p:nvSpPr>
          <p:cNvPr id="58" name="Shape 55"/>
          <p:cNvSpPr/>
          <p:nvPr/>
        </p:nvSpPr>
        <p:spPr>
          <a:xfrm>
            <a:off x="9233154" y="2532888"/>
            <a:ext cx="256032" cy="256032"/>
          </a:xfrm>
          <a:prstGeom prst="ellipse">
            <a:avLst/>
          </a:prstGeom>
          <a:solidFill>
            <a:srgbClr val="F4F1EA"/>
          </a:solidFill>
          <a:ln w="12700">
            <a:solidFill>
              <a:srgbClr val="F4F1EA"/>
            </a:solidFill>
            <a:prstDash val="solid"/>
          </a:ln>
        </p:spPr>
      </p:sp>
      <p:sp>
        <p:nvSpPr>
          <p:cNvPr id="59" name="Text 56"/>
          <p:cNvSpPr txBox="1"/>
          <p:nvPr/>
        </p:nvSpPr>
        <p:spPr>
          <a:xfrm>
            <a:off x="923315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562338"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no — useful but not essential</a:t>
            </a:r>
            <a:endParaRPr lang="en-US" sz="1250" dirty="0"/>
          </a:p>
        </p:txBody>
      </p:sp>
      <p:sp>
        <p:nvSpPr>
          <p:cNvPr id="61" name="Shape 58"/>
          <p:cNvSpPr/>
          <p:nvPr/>
        </p:nvSpPr>
        <p:spPr>
          <a:xfrm>
            <a:off x="9233154" y="2990088"/>
            <a:ext cx="256032" cy="256032"/>
          </a:xfrm>
          <a:prstGeom prst="ellipse">
            <a:avLst/>
          </a:prstGeom>
          <a:solidFill>
            <a:srgbClr val="F4F1EA"/>
          </a:solidFill>
          <a:ln w="12700">
            <a:solidFill>
              <a:srgbClr val="F4F1EA"/>
            </a:solidFill>
            <a:prstDash val="solid"/>
          </a:ln>
        </p:spPr>
      </p:sp>
      <p:sp>
        <p:nvSpPr>
          <p:cNvPr id="62" name="Text 59"/>
          <p:cNvSpPr txBox="1"/>
          <p:nvPr/>
        </p:nvSpPr>
        <p:spPr>
          <a:xfrm>
            <a:off x="923315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562338"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yes, always</a:t>
            </a:r>
            <a:endParaRPr lang="en-US" sz="1250" dirty="0"/>
          </a:p>
        </p:txBody>
      </p:sp>
      <p:sp>
        <p:nvSpPr>
          <p:cNvPr id="64" name="Shape 61"/>
          <p:cNvSpPr/>
          <p:nvPr/>
        </p:nvSpPr>
        <p:spPr>
          <a:xfrm>
            <a:off x="9233154" y="3447288"/>
            <a:ext cx="256032" cy="256032"/>
          </a:xfrm>
          <a:prstGeom prst="ellipse">
            <a:avLst/>
          </a:prstGeom>
          <a:solidFill>
            <a:srgbClr val="F4F1EA"/>
          </a:solidFill>
          <a:ln w="12700">
            <a:solidFill>
              <a:srgbClr val="F4F1EA"/>
            </a:solidFill>
            <a:prstDash val="solid"/>
          </a:ln>
        </p:spPr>
      </p:sp>
      <p:sp>
        <p:nvSpPr>
          <p:cNvPr id="65" name="Text 62"/>
          <p:cNvSpPr txBox="1"/>
          <p:nvPr/>
        </p:nvSpPr>
        <p:spPr>
          <a:xfrm>
            <a:off x="923315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562338"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it is not mentioned</a:t>
            </a:r>
            <a:endParaRPr lang="en-US" sz="1250" dirty="0"/>
          </a:p>
        </p:txBody>
      </p:sp>
      <p:sp>
        <p:nvSpPr>
          <p:cNvPr id="67" name="Shape 64"/>
          <p:cNvSpPr/>
          <p:nvPr/>
        </p:nvSpPr>
        <p:spPr>
          <a:xfrm>
            <a:off x="457200"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585216"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0" name="Text 67"/>
          <p:cNvSpPr txBox="1"/>
          <p:nvPr/>
        </p:nvSpPr>
        <p:spPr>
          <a:xfrm>
            <a:off x="950976"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Why not?</a:t>
            </a:r>
            <a:endParaRPr lang="en-US" sz="1250" dirty="0"/>
          </a:p>
        </p:txBody>
      </p:sp>
      <p:sp>
        <p:nvSpPr>
          <p:cNvPr id="71" name="Shape 68"/>
          <p:cNvSpPr/>
          <p:nvPr/>
        </p:nvSpPr>
        <p:spPr>
          <a:xfrm>
            <a:off x="640080"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3" name="Text 70"/>
          <p:cNvSpPr txBox="1"/>
          <p:nvPr/>
        </p:nvSpPr>
        <p:spPr>
          <a:xfrm>
            <a:off x="969264" y="47731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job is easy</a:t>
            </a:r>
            <a:endParaRPr lang="en-US" sz="1250" dirty="0"/>
          </a:p>
        </p:txBody>
      </p:sp>
      <p:sp>
        <p:nvSpPr>
          <p:cNvPr id="74" name="Shape 71"/>
          <p:cNvSpPr/>
          <p:nvPr/>
        </p:nvSpPr>
        <p:spPr>
          <a:xfrm>
            <a:off x="640080"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6" name="Text 73"/>
          <p:cNvSpPr txBox="1"/>
          <p:nvPr/>
        </p:nvSpPr>
        <p:spPr>
          <a:xfrm>
            <a:off x="969264" y="52303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company provides training</a:t>
            </a:r>
            <a:endParaRPr lang="en-US" sz="1250" dirty="0"/>
          </a:p>
        </p:txBody>
      </p:sp>
      <p:sp>
        <p:nvSpPr>
          <p:cNvPr id="77" name="Shape 74"/>
          <p:cNvSpPr/>
          <p:nvPr/>
        </p:nvSpPr>
        <p:spPr>
          <a:xfrm>
            <a:off x="640080"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9" name="Text 76"/>
          <p:cNvSpPr txBox="1"/>
          <p:nvPr/>
        </p:nvSpPr>
        <p:spPr>
          <a:xfrm>
            <a:off x="969264" y="56875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salary is low</a:t>
            </a:r>
            <a:endParaRPr lang="en-US" sz="1250" dirty="0"/>
          </a:p>
        </p:txBody>
      </p:sp>
      <p:sp>
        <p:nvSpPr>
          <p:cNvPr id="80" name="Shape 77"/>
          <p:cNvSpPr/>
          <p:nvPr/>
        </p:nvSpPr>
        <p:spPr>
          <a:xfrm>
            <a:off x="3321558"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1" name="Shape 78"/>
          <p:cNvSpPr/>
          <p:nvPr/>
        </p:nvSpPr>
        <p:spPr>
          <a:xfrm>
            <a:off x="3449574" y="4288536"/>
            <a:ext cx="310896" cy="310896"/>
          </a:xfrm>
          <a:prstGeom prst="ellipse">
            <a:avLst/>
          </a:prstGeom>
          <a:solidFill>
            <a:srgbClr val="1B3B6F"/>
          </a:solidFill>
          <a:ln w="12700">
            <a:solidFill>
              <a:srgbClr val="1B3B6F"/>
            </a:solidFill>
            <a:prstDash val="solid"/>
          </a:ln>
        </p:spPr>
      </p:sp>
      <p:sp>
        <p:nvSpPr>
          <p:cNvPr id="82" name="Text 79"/>
          <p:cNvSpPr txBox="1"/>
          <p:nvPr/>
        </p:nvSpPr>
        <p:spPr>
          <a:xfrm>
            <a:off x="344957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83" name="Text 80"/>
          <p:cNvSpPr txBox="1"/>
          <p:nvPr/>
        </p:nvSpPr>
        <p:spPr>
          <a:xfrm>
            <a:off x="3815334"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an extra advantage?</a:t>
            </a:r>
            <a:endParaRPr lang="en-US" sz="1250" dirty="0"/>
          </a:p>
        </p:txBody>
      </p:sp>
      <p:sp>
        <p:nvSpPr>
          <p:cNvPr id="84" name="Shape 81"/>
          <p:cNvSpPr/>
          <p:nvPr/>
        </p:nvSpPr>
        <p:spPr>
          <a:xfrm>
            <a:off x="3504438" y="4873752"/>
            <a:ext cx="256032" cy="256032"/>
          </a:xfrm>
          <a:prstGeom prst="ellipse">
            <a:avLst/>
          </a:prstGeom>
          <a:solidFill>
            <a:srgbClr val="F4F1EA"/>
          </a:solidFill>
          <a:ln w="12700">
            <a:solidFill>
              <a:srgbClr val="F4F1EA"/>
            </a:solidFill>
            <a:prstDash val="solid"/>
          </a:ln>
        </p:spPr>
      </p:sp>
      <p:sp>
        <p:nvSpPr>
          <p:cNvPr id="85" name="Text 82"/>
          <p:cNvSpPr txBox="1"/>
          <p:nvPr/>
        </p:nvSpPr>
        <p:spPr>
          <a:xfrm>
            <a:off x="3504438"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86" name="Text 83"/>
          <p:cNvSpPr txBox="1"/>
          <p:nvPr/>
        </p:nvSpPr>
        <p:spPr>
          <a:xfrm>
            <a:off x="3833622" y="47731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speaking two languages well</a:t>
            </a:r>
            <a:endParaRPr lang="en-US" sz="1250" dirty="0"/>
          </a:p>
        </p:txBody>
      </p:sp>
      <p:sp>
        <p:nvSpPr>
          <p:cNvPr id="87" name="Shape 84"/>
          <p:cNvSpPr/>
          <p:nvPr/>
        </p:nvSpPr>
        <p:spPr>
          <a:xfrm>
            <a:off x="3504438" y="5330952"/>
            <a:ext cx="256032" cy="256032"/>
          </a:xfrm>
          <a:prstGeom prst="ellipse">
            <a:avLst/>
          </a:prstGeom>
          <a:solidFill>
            <a:srgbClr val="F4F1EA"/>
          </a:solidFill>
          <a:ln w="12700">
            <a:solidFill>
              <a:srgbClr val="F4F1EA"/>
            </a:solidFill>
            <a:prstDash val="solid"/>
          </a:ln>
        </p:spPr>
      </p:sp>
      <p:sp>
        <p:nvSpPr>
          <p:cNvPr id="88" name="Text 85"/>
          <p:cNvSpPr txBox="1"/>
          <p:nvPr/>
        </p:nvSpPr>
        <p:spPr>
          <a:xfrm>
            <a:off x="3504438"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9" name="Text 86"/>
          <p:cNvSpPr txBox="1"/>
          <p:nvPr/>
        </p:nvSpPr>
        <p:spPr>
          <a:xfrm>
            <a:off x="3833622" y="52303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driving licence</a:t>
            </a:r>
            <a:endParaRPr lang="en-US" sz="1250" dirty="0"/>
          </a:p>
        </p:txBody>
      </p:sp>
      <p:sp>
        <p:nvSpPr>
          <p:cNvPr id="90" name="Shape 87"/>
          <p:cNvSpPr/>
          <p:nvPr/>
        </p:nvSpPr>
        <p:spPr>
          <a:xfrm>
            <a:off x="3504438" y="5788152"/>
            <a:ext cx="256032" cy="256032"/>
          </a:xfrm>
          <a:prstGeom prst="ellipse">
            <a:avLst/>
          </a:prstGeom>
          <a:solidFill>
            <a:srgbClr val="F4F1EA"/>
          </a:solidFill>
          <a:ln w="12700">
            <a:solidFill>
              <a:srgbClr val="F4F1EA"/>
            </a:solidFill>
            <a:prstDash val="solid"/>
          </a:ln>
        </p:spPr>
      </p:sp>
      <p:sp>
        <p:nvSpPr>
          <p:cNvPr id="91" name="Text 88"/>
          <p:cNvSpPr txBox="1"/>
          <p:nvPr/>
        </p:nvSpPr>
        <p:spPr>
          <a:xfrm>
            <a:off x="3504438"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92" name="Text 89"/>
          <p:cNvSpPr txBox="1"/>
          <p:nvPr/>
        </p:nvSpPr>
        <p:spPr>
          <a:xfrm>
            <a:off x="3833622" y="56875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university degree</a:t>
            </a:r>
            <a:endParaRPr lang="en-US" sz="1250" dirty="0"/>
          </a:p>
        </p:txBody>
      </p:sp>
      <p:sp>
        <p:nvSpPr>
          <p:cNvPr id="93" name="Shape 90"/>
          <p:cNvSpPr/>
          <p:nvPr/>
        </p:nvSpPr>
        <p:spPr>
          <a:xfrm>
            <a:off x="6185916" y="4151376"/>
            <a:ext cx="2681478"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4" name="Shape 91"/>
          <p:cNvSpPr/>
          <p:nvPr/>
        </p:nvSpPr>
        <p:spPr>
          <a:xfrm>
            <a:off x="6807708" y="4361688"/>
            <a:ext cx="914400" cy="274320"/>
          </a:xfrm>
          <a:prstGeom prst="roundRect">
            <a:avLst>
              <a:gd name="adj" fmla="val 50000"/>
            </a:avLst>
          </a:prstGeom>
          <a:solidFill>
            <a:srgbClr val="2E8B57"/>
          </a:solidFill>
          <a:ln w="12700">
            <a:solidFill>
              <a:srgbClr val="2E8B57"/>
            </a:solidFill>
            <a:prstDash val="solid"/>
          </a:ln>
        </p:spPr>
      </p:sp>
      <p:sp>
        <p:nvSpPr>
          <p:cNvPr id="95" name="Text 92"/>
          <p:cNvSpPr txBox="1"/>
          <p:nvPr/>
        </p:nvSpPr>
        <p:spPr>
          <a:xfrm>
            <a:off x="6807708"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96" name="Text 93"/>
          <p:cNvSpPr txBox="1"/>
          <p:nvPr/>
        </p:nvSpPr>
        <p:spPr>
          <a:xfrm>
            <a:off x="6387084" y="4791456"/>
            <a:ext cx="2315718" cy="1380744"/>
          </a:xfrm>
          <a:prstGeom prst="rect">
            <a:avLst/>
          </a:prstGeom>
          <a:noFill/>
          <a:ln/>
        </p:spPr>
        <p:txBody>
          <a:bodyPr wrap="square" lIns="0" tIns="0" rIns="0" bIns="0" rtlCol="0" anchor="t"/>
          <a:lstStyle/>
          <a:p>
            <a:pPr algn="l" indent="0" marL="0">
              <a:lnSpc>
                <a:spcPct val="115000"/>
              </a:lnSpc>
              <a:buNone/>
            </a:pPr>
            <a:r>
              <a:rPr lang="en-US" sz="1250" dirty="0">
                <a:solidFill>
                  <a:srgbClr val="1E6B52"/>
                </a:solidFill>
                <a:latin typeface="Calibri" pitchFamily="34" charset="0"/>
                <a:cs typeface="Amiri" pitchFamily="2" charset="-78"/>
              </a:rPr>
              <a:t>Listen twice. Core: questions 1, 2 and 4.</a:t>
            </a:r>
            <a:endParaRPr lang="en-US" sz="1250" dirty="0"/>
          </a:p>
          <a:p>
            <a:pPr algn="l" indent="0" marL="0">
              <a:lnSpc>
                <a:spcPct val="115000"/>
              </a:lnSpc>
              <a:buNone/>
            </a:pPr>
            <a:r>
              <a:rPr lang="en-US" sz="1250" dirty="0">
                <a:solidFill>
                  <a:srgbClr val="1E6B52"/>
                </a:solidFill>
                <a:latin typeface="Calibri" pitchFamily="34" charset="0"/>
                <a:cs typeface="Amiri" pitchFamily="2" charset="-78"/>
              </a:rPr>
              <a:t>Listen for: </a:t>
            </a:r>
            <a:pPr algn="l" indent="0" marL="0">
              <a:lnSpc>
                <a:spcPct val="115000"/>
              </a:lnSpc>
              <a:buNone/>
            </a:pPr>
            <a:r>
              <a:rPr lang="ar-SA" altLang="en-US" sz="1650" dirty="0">
                <a:solidFill>
                  <a:srgbClr val="1E6B52"/>
                </a:solidFill>
                <a:latin typeface="Amiri" pitchFamily="2" charset="-78"/>
                <a:ea typeface="Amiri" pitchFamily="2" charset="-78"/>
                <a:cs typeface="Amiri" pitchFamily="2" charset="-78"/>
              </a:rPr>
              <a:t>خِدْمَةِ العُمَلَاءِ</a:t>
            </a:r>
            <a:pPr algn="l" indent="0" marL="0">
              <a:lnSpc>
                <a:spcPct val="115000"/>
              </a:lnSpc>
              <a:buNone/>
            </a:pPr>
            <a:r>
              <a:rPr lang="en-US" sz="1250" dirty="0">
                <a:solidFill>
                  <a:srgbClr val="1E6B52"/>
                </a:solidFill>
                <a:latin typeface="Calibri" pitchFamily="34" charset="0"/>
                <a:cs typeface="Amiri" pitchFamily="2" charset="-78"/>
              </a:rPr>
              <a:t> · </a:t>
            </a:r>
            <a:pPr algn="l" indent="0" marL="0">
              <a:lnSpc>
                <a:spcPct val="115000"/>
              </a:lnSpc>
              <a:buNone/>
            </a:pPr>
            <a:r>
              <a:rPr lang="ar-SA" altLang="en-US" sz="1650" dirty="0">
                <a:solidFill>
                  <a:srgbClr val="1E6B52"/>
                </a:solidFill>
                <a:latin typeface="Amiri" pitchFamily="2" charset="-78"/>
                <a:ea typeface="Amiri" pitchFamily="2" charset="-78"/>
                <a:cs typeface="Amiri" pitchFamily="2" charset="-78"/>
              </a:rPr>
              <a:t>وَاثِقَةً</a:t>
            </a:r>
            <a:pPr algn="l" indent="0" marL="0">
              <a:lnSpc>
                <a:spcPct val="115000"/>
              </a:lnSpc>
              <a:buNone/>
            </a:pPr>
            <a:r>
              <a:rPr lang="en-US" sz="1250" dirty="0">
                <a:solidFill>
                  <a:srgbClr val="1E6B52"/>
                </a:solidFill>
                <a:latin typeface="Calibri" pitchFamily="34" charset="0"/>
                <a:cs typeface="Amiri" pitchFamily="2" charset="-78"/>
              </a:rPr>
              <a:t> · </a:t>
            </a:r>
            <a:pPr algn="l" indent="0" marL="0">
              <a:lnSpc>
                <a:spcPct val="115000"/>
              </a:lnSpc>
              <a:buNone/>
            </a:pPr>
            <a:r>
              <a:rPr lang="ar-SA" altLang="en-US" sz="1650" dirty="0">
                <a:solidFill>
                  <a:srgbClr val="1E6B52"/>
                </a:solidFill>
                <a:latin typeface="Amiri" pitchFamily="2" charset="-78"/>
                <a:ea typeface="Amiri" pitchFamily="2" charset="-78"/>
                <a:cs typeface="Amiri" pitchFamily="2" charset="-78"/>
              </a:rPr>
              <a:t>الخِبْرَةُ</a:t>
            </a:r>
            <a:pPr algn="l" indent="0" marL="0">
              <a:lnSpc>
                <a:spcPct val="115000"/>
              </a:lnSpc>
              <a:buNone/>
            </a:pPr>
            <a:r>
              <a:rPr lang="en-US" sz="1250" dirty="0">
                <a:solidFill>
                  <a:srgbClr val="1E6B52"/>
                </a:solidFill>
                <a:latin typeface="Calibri" pitchFamily="34" charset="0"/>
                <a:cs typeface="Amiri" pitchFamily="2" charset="-78"/>
              </a:rPr>
              <a:t>.</a:t>
            </a:r>
            <a:endParaRPr lang="en-US" sz="1250" dirty="0"/>
          </a:p>
        </p:txBody>
      </p:sp>
      <p:sp>
        <p:nvSpPr>
          <p:cNvPr id="97" name="Text 9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31 / 47</a:t>
            </a:r>
            <a:endParaRPr lang="en-US" sz="8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TD-L08 ·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SUPPORT · READ ALONG (CORE)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cs typeface="Amiri" pitchFamily="2" charset="-78"/>
              </a:rPr>
              <a:t>The script — read along with English</a:t>
            </a:r>
            <a:endParaRPr lang="en-US" sz="26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نَصُّ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D · The World of Work · TD-L08</a:t>
            </a:r>
            <a:endParaRPr lang="en-US" sz="850" dirty="0"/>
          </a:p>
        </p:txBody>
      </p:sp>
      <p:sp>
        <p:nvSpPr>
          <p:cNvPr id="15" name="Shape 12"/>
          <p:cNvSpPr/>
          <p:nvPr/>
        </p:nvSpPr>
        <p:spPr>
          <a:xfrm>
            <a:off x="457200" y="1810512"/>
            <a:ext cx="11274552" cy="841248"/>
          </a:xfrm>
          <a:prstGeom prst="roundRect">
            <a:avLst>
              <a:gd name="adj" fmla="val 5435"/>
            </a:avLst>
          </a:prstGeom>
          <a:solidFill>
            <a:srgbClr val="FFFFFF"/>
          </a:solidFill>
          <a:ln w="9525">
            <a:solidFill>
              <a:srgbClr val="D8D0BF"/>
            </a:solidFill>
            <a:prstDash val="solid"/>
          </a:ln>
        </p:spPr>
      </p:sp>
      <p:sp>
        <p:nvSpPr>
          <p:cNvPr id="16" name="Text 13"/>
          <p:cNvSpPr txBox="1"/>
          <p:nvPr/>
        </p:nvSpPr>
        <p:spPr>
          <a:xfrm>
            <a:off x="4937760" y="18288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تَبْحَثُ شَرِكَةٌ عَنْ مُوَظَّفَةٍ لِخِدْمَةِ العُمَلَاءِ.</a:t>
            </a:r>
            <a:endParaRPr lang="ar-SA" sz="2000" dirty="0"/>
          </a:p>
        </p:txBody>
      </p:sp>
      <p:sp>
        <p:nvSpPr>
          <p:cNvPr id="17" name="Text 14"/>
          <p:cNvSpPr txBox="1"/>
          <p:nvPr/>
        </p:nvSpPr>
        <p:spPr>
          <a:xfrm>
            <a:off x="640080" y="18288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company is looking for a (female) customer-service employee.</a:t>
            </a:r>
            <a:endParaRPr lang="en-US" sz="1250" dirty="0"/>
          </a:p>
        </p:txBody>
      </p:sp>
      <p:sp>
        <p:nvSpPr>
          <p:cNvPr id="18" name="Shape 15"/>
          <p:cNvSpPr/>
          <p:nvPr/>
        </p:nvSpPr>
        <p:spPr>
          <a:xfrm>
            <a:off x="457200" y="2724912"/>
            <a:ext cx="11274552" cy="841248"/>
          </a:xfrm>
          <a:prstGeom prst="roundRect">
            <a:avLst>
              <a:gd name="adj" fmla="val 5435"/>
            </a:avLst>
          </a:prstGeom>
          <a:solidFill>
            <a:srgbClr val="F4F1EA"/>
          </a:solidFill>
          <a:ln w="9525">
            <a:solidFill>
              <a:srgbClr val="D8D0BF"/>
            </a:solidFill>
            <a:prstDash val="solid"/>
          </a:ln>
        </p:spPr>
      </p:sp>
      <p:sp>
        <p:nvSpPr>
          <p:cNvPr id="19" name="Text 16"/>
          <p:cNvSpPr txBox="1"/>
          <p:nvPr/>
        </p:nvSpPr>
        <p:spPr>
          <a:xfrm>
            <a:off x="4937760" y="27432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يَجِبُ أَنْ تَكُونَ وَاثِقَةً وَصَبُورَةً،</a:t>
            </a:r>
            <a:endParaRPr lang="ar-SA" sz="2000" dirty="0"/>
          </a:p>
        </p:txBody>
      </p:sp>
      <p:sp>
        <p:nvSpPr>
          <p:cNvPr id="20" name="Text 17"/>
          <p:cNvSpPr txBox="1"/>
          <p:nvPr/>
        </p:nvSpPr>
        <p:spPr>
          <a:xfrm>
            <a:off x="640080" y="27432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She must be confident and patient,</a:t>
            </a:r>
            <a:endParaRPr lang="en-US" sz="1250" dirty="0"/>
          </a:p>
        </p:txBody>
      </p:sp>
      <p:sp>
        <p:nvSpPr>
          <p:cNvPr id="21" name="Shape 18"/>
          <p:cNvSpPr/>
          <p:nvPr/>
        </p:nvSpPr>
        <p:spPr>
          <a:xfrm>
            <a:off x="457200" y="3639312"/>
            <a:ext cx="11274552" cy="841248"/>
          </a:xfrm>
          <a:prstGeom prst="roundRect">
            <a:avLst>
              <a:gd name="adj" fmla="val 5435"/>
            </a:avLst>
          </a:prstGeom>
          <a:solidFill>
            <a:srgbClr val="FFFFFF"/>
          </a:solidFill>
          <a:ln w="9525">
            <a:solidFill>
              <a:srgbClr val="D8D0BF"/>
            </a:solidFill>
            <a:prstDash val="solid"/>
          </a:ln>
        </p:spPr>
      </p:sp>
      <p:sp>
        <p:nvSpPr>
          <p:cNvPr id="22" name="Text 19"/>
          <p:cNvSpPr txBox="1"/>
          <p:nvPr/>
        </p:nvSpPr>
        <p:spPr>
          <a:xfrm>
            <a:off x="4937760" y="36576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وَأَنْ تَسْتَطِيعَ حَلَّ المُشْكِلَاتِ بِسُرْعَةٍ.</a:t>
            </a:r>
            <a:endParaRPr lang="ar-SA" sz="2000" dirty="0"/>
          </a:p>
        </p:txBody>
      </p:sp>
      <p:sp>
        <p:nvSpPr>
          <p:cNvPr id="23" name="Text 20"/>
          <p:cNvSpPr txBox="1"/>
          <p:nvPr/>
        </p:nvSpPr>
        <p:spPr>
          <a:xfrm>
            <a:off x="640080" y="36576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and able to solve problems quickly.</a:t>
            </a:r>
            <a:endParaRPr lang="en-US" sz="1250" dirty="0"/>
          </a:p>
        </p:txBody>
      </p:sp>
      <p:sp>
        <p:nvSpPr>
          <p:cNvPr id="24" name="Shape 21"/>
          <p:cNvSpPr/>
          <p:nvPr/>
        </p:nvSpPr>
        <p:spPr>
          <a:xfrm>
            <a:off x="457200" y="4553712"/>
            <a:ext cx="11274552" cy="841248"/>
          </a:xfrm>
          <a:prstGeom prst="roundRect">
            <a:avLst>
              <a:gd name="adj" fmla="val 5435"/>
            </a:avLst>
          </a:prstGeom>
          <a:solidFill>
            <a:srgbClr val="F4F1EA"/>
          </a:solidFill>
          <a:ln w="9525">
            <a:solidFill>
              <a:srgbClr val="D8D0BF"/>
            </a:solidFill>
            <a:prstDash val="solid"/>
          </a:ln>
        </p:spPr>
      </p:sp>
      <p:sp>
        <p:nvSpPr>
          <p:cNvPr id="25" name="Text 22"/>
          <p:cNvSpPr txBox="1"/>
          <p:nvPr/>
        </p:nvSpPr>
        <p:spPr>
          <a:xfrm>
            <a:off x="4937760" y="45720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الخِبْرَةُ مُفِيدَةٌ، لٰكِنَّهَا لَيْسَتْ ضَرُورِيَّةً لِأَنَّ الشَّرِكَةَ تُقَدِّمُ تَدْرِيبًا.</a:t>
            </a:r>
            <a:endParaRPr lang="ar-SA" sz="2000" dirty="0"/>
          </a:p>
        </p:txBody>
      </p:sp>
      <p:sp>
        <p:nvSpPr>
          <p:cNvPr id="26" name="Text 23"/>
          <p:cNvSpPr txBox="1"/>
          <p:nvPr/>
        </p:nvSpPr>
        <p:spPr>
          <a:xfrm>
            <a:off x="640080" y="45720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Experience is useful but not essential, because the company provides training.</a:t>
            </a:r>
            <a:endParaRPr lang="en-US" sz="1250" dirty="0"/>
          </a:p>
        </p:txBody>
      </p:sp>
      <p:sp>
        <p:nvSpPr>
          <p:cNvPr id="27" name="Shape 24"/>
          <p:cNvSpPr/>
          <p:nvPr/>
        </p:nvSpPr>
        <p:spPr>
          <a:xfrm>
            <a:off x="457200" y="5468112"/>
            <a:ext cx="11274552" cy="841248"/>
          </a:xfrm>
          <a:prstGeom prst="roundRect">
            <a:avLst>
              <a:gd name="adj" fmla="val 5435"/>
            </a:avLst>
          </a:prstGeom>
          <a:solidFill>
            <a:srgbClr val="FFFFFF"/>
          </a:solidFill>
          <a:ln w="9525">
            <a:solidFill>
              <a:srgbClr val="D8D0BF"/>
            </a:solidFill>
            <a:prstDash val="solid"/>
          </a:ln>
        </p:spPr>
      </p:sp>
      <p:sp>
        <p:nvSpPr>
          <p:cNvPr id="28" name="Text 25"/>
          <p:cNvSpPr txBox="1"/>
          <p:nvPr/>
        </p:nvSpPr>
        <p:spPr>
          <a:xfrm>
            <a:off x="4937760" y="54864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كَمَا أَنَّ إِجَادَةَ لُغَتَيْنِ تُعَدُّ مِيزَةً مُهِمَّةً.</a:t>
            </a:r>
            <a:endParaRPr lang="ar-SA" sz="2000" dirty="0"/>
          </a:p>
        </p:txBody>
      </p:sp>
      <p:sp>
        <p:nvSpPr>
          <p:cNvPr id="29" name="Text 26"/>
          <p:cNvSpPr txBox="1"/>
          <p:nvPr/>
        </p:nvSpPr>
        <p:spPr>
          <a:xfrm>
            <a:off x="640080" y="54864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Also, speaking two languages well is an important advantage.</a:t>
            </a:r>
            <a:endParaRPr lang="en-US" sz="125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32 / 47</a:t>
            </a:r>
            <a:endParaRPr lang="en-US" sz="8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TD-L08 ·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Listening: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إِجَابَاتُ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D · The World of Work · TD-L08</a:t>
            </a:r>
            <a:endParaRPr lang="en-US" sz="850" dirty="0"/>
          </a:p>
        </p:txBody>
      </p:sp>
      <p:sp>
        <p:nvSpPr>
          <p:cNvPr id="15" name="Shape 12"/>
          <p:cNvSpPr/>
          <p:nvPr/>
        </p:nvSpPr>
        <p:spPr>
          <a:xfrm>
            <a:off x="457200"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job is advertised?</a:t>
            </a:r>
            <a:endParaRPr lang="en-US" sz="1250" dirty="0"/>
          </a:p>
        </p:txBody>
      </p:sp>
      <p:sp>
        <p:nvSpPr>
          <p:cNvPr id="19" name="Shape 16"/>
          <p:cNvSpPr/>
          <p:nvPr/>
        </p:nvSpPr>
        <p:spPr>
          <a:xfrm>
            <a:off x="548640" y="2453640"/>
            <a:ext cx="2498598"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490216"/>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22" name="Text 19"/>
          <p:cNvSpPr txBox="1"/>
          <p:nvPr/>
        </p:nvSpPr>
        <p:spPr>
          <a:xfrm>
            <a:off x="969264" y="2432304"/>
            <a:ext cx="2023110"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customer service (female employee)</a:t>
            </a:r>
            <a:endParaRPr lang="en-US" sz="1150" dirty="0"/>
          </a:p>
        </p:txBody>
      </p:sp>
      <p:sp>
        <p:nvSpPr>
          <p:cNvPr id="23" name="Shape 20"/>
          <p:cNvSpPr/>
          <p:nvPr/>
        </p:nvSpPr>
        <p:spPr>
          <a:xfrm>
            <a:off x="640080" y="2862072"/>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0416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nurse</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programmer</a:t>
            </a:r>
            <a:endParaRPr lang="en-US" sz="1250" dirty="0"/>
          </a:p>
        </p:txBody>
      </p:sp>
      <p:sp>
        <p:nvSpPr>
          <p:cNvPr id="29" name="Text 26"/>
          <p:cNvSpPr txBox="1"/>
          <p:nvPr/>
        </p:nvSpPr>
        <p:spPr>
          <a:xfrm>
            <a:off x="585216"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مُوَظَّفَةٍ لِخِدْمَةِ العُمَلَاءِ</a:t>
            </a:r>
            <a:endParaRPr lang="ar-SA" sz="1350" dirty="0"/>
          </a:p>
        </p:txBody>
      </p:sp>
      <p:sp>
        <p:nvSpPr>
          <p:cNvPr id="30" name="Shape 27"/>
          <p:cNvSpPr/>
          <p:nvPr/>
        </p:nvSpPr>
        <p:spPr>
          <a:xfrm>
            <a:off x="3321558"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3449574"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344957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3815334"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two qualities are needed?</a:t>
            </a:r>
            <a:endParaRPr lang="en-US" sz="1250" dirty="0"/>
          </a:p>
        </p:txBody>
      </p:sp>
      <p:sp>
        <p:nvSpPr>
          <p:cNvPr id="34" name="Shape 31"/>
          <p:cNvSpPr/>
          <p:nvPr/>
        </p:nvSpPr>
        <p:spPr>
          <a:xfrm>
            <a:off x="3504438"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350443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3833622" y="243230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calm and creative</a:t>
            </a:r>
            <a:endParaRPr lang="en-US" sz="1250" dirty="0"/>
          </a:p>
        </p:txBody>
      </p:sp>
      <p:sp>
        <p:nvSpPr>
          <p:cNvPr id="37" name="Shape 34"/>
          <p:cNvSpPr/>
          <p:nvPr/>
        </p:nvSpPr>
        <p:spPr>
          <a:xfrm>
            <a:off x="3504438"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350443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3833622" y="280416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ambitious and honest</a:t>
            </a:r>
            <a:endParaRPr lang="en-US" sz="1250" dirty="0"/>
          </a:p>
        </p:txBody>
      </p:sp>
      <p:sp>
        <p:nvSpPr>
          <p:cNvPr id="40" name="Shape 37"/>
          <p:cNvSpPr/>
          <p:nvPr/>
        </p:nvSpPr>
        <p:spPr>
          <a:xfrm>
            <a:off x="3412998" y="3197352"/>
            <a:ext cx="2498598"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3504438"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350443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43" name="Text 40"/>
          <p:cNvSpPr txBox="1"/>
          <p:nvPr/>
        </p:nvSpPr>
        <p:spPr>
          <a:xfrm>
            <a:off x="3833622" y="3176016"/>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confident and patient</a:t>
            </a:r>
            <a:endParaRPr lang="en-US" sz="1250" dirty="0"/>
          </a:p>
        </p:txBody>
      </p:sp>
      <p:sp>
        <p:nvSpPr>
          <p:cNvPr id="44" name="Text 41"/>
          <p:cNvSpPr txBox="1"/>
          <p:nvPr/>
        </p:nvSpPr>
        <p:spPr>
          <a:xfrm>
            <a:off x="3449574"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وَاثِقَةً وَصَبُورَةً</a:t>
            </a:r>
            <a:endParaRPr lang="ar-SA" sz="1350" dirty="0"/>
          </a:p>
        </p:txBody>
      </p:sp>
      <p:sp>
        <p:nvSpPr>
          <p:cNvPr id="45" name="Shape 42"/>
          <p:cNvSpPr/>
          <p:nvPr/>
        </p:nvSpPr>
        <p:spPr>
          <a:xfrm>
            <a:off x="6185916"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6313932"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6679692"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must she be able to do quickly?</a:t>
            </a:r>
            <a:endParaRPr lang="en-US" sz="1250" dirty="0"/>
          </a:p>
        </p:txBody>
      </p:sp>
      <p:sp>
        <p:nvSpPr>
          <p:cNvPr id="49" name="Shape 46"/>
          <p:cNvSpPr/>
          <p:nvPr/>
        </p:nvSpPr>
        <p:spPr>
          <a:xfrm>
            <a:off x="6368796"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6697980" y="243230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write reports</a:t>
            </a:r>
            <a:endParaRPr lang="en-US" sz="1250" dirty="0"/>
          </a:p>
        </p:txBody>
      </p:sp>
      <p:sp>
        <p:nvSpPr>
          <p:cNvPr id="52" name="Shape 49"/>
          <p:cNvSpPr/>
          <p:nvPr/>
        </p:nvSpPr>
        <p:spPr>
          <a:xfrm>
            <a:off x="6368796"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4" name="Text 51"/>
          <p:cNvSpPr txBox="1"/>
          <p:nvPr/>
        </p:nvSpPr>
        <p:spPr>
          <a:xfrm>
            <a:off x="6697980" y="280416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speak to the manager</a:t>
            </a:r>
            <a:endParaRPr lang="en-US" sz="1250" dirty="0"/>
          </a:p>
        </p:txBody>
      </p:sp>
      <p:sp>
        <p:nvSpPr>
          <p:cNvPr id="55" name="Shape 52"/>
          <p:cNvSpPr/>
          <p:nvPr/>
        </p:nvSpPr>
        <p:spPr>
          <a:xfrm>
            <a:off x="6277356" y="3197352"/>
            <a:ext cx="2498598"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6368796"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8" name="Text 55"/>
          <p:cNvSpPr txBox="1"/>
          <p:nvPr/>
        </p:nvSpPr>
        <p:spPr>
          <a:xfrm>
            <a:off x="6697980" y="3176016"/>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solve problems</a:t>
            </a:r>
            <a:endParaRPr lang="en-US" sz="1250" dirty="0"/>
          </a:p>
        </p:txBody>
      </p:sp>
      <p:sp>
        <p:nvSpPr>
          <p:cNvPr id="59" name="Text 56"/>
          <p:cNvSpPr txBox="1"/>
          <p:nvPr/>
        </p:nvSpPr>
        <p:spPr>
          <a:xfrm>
            <a:off x="6313932"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حَلَّ المُشْكِلَاتِ بِسُرْعَةٍ</a:t>
            </a:r>
            <a:endParaRPr lang="ar-SA" sz="1350" dirty="0"/>
          </a:p>
        </p:txBody>
      </p:sp>
      <p:sp>
        <p:nvSpPr>
          <p:cNvPr id="60" name="Shape 57"/>
          <p:cNvSpPr/>
          <p:nvPr/>
        </p:nvSpPr>
        <p:spPr>
          <a:xfrm>
            <a:off x="9050274"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9178290" y="1947672"/>
            <a:ext cx="310896" cy="310896"/>
          </a:xfrm>
          <a:prstGeom prst="ellipse">
            <a:avLst/>
          </a:prstGeom>
          <a:solidFill>
            <a:srgbClr val="1B3B6F"/>
          </a:solidFill>
          <a:ln w="12700">
            <a:solidFill>
              <a:srgbClr val="1B3B6F"/>
            </a:solidFill>
            <a:prstDash val="solid"/>
          </a:ln>
        </p:spPr>
      </p:sp>
      <p:sp>
        <p:nvSpPr>
          <p:cNvPr id="62" name="Text 59"/>
          <p:cNvSpPr txBox="1"/>
          <p:nvPr/>
        </p:nvSpPr>
        <p:spPr>
          <a:xfrm>
            <a:off x="917829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44050"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Is experience essential?</a:t>
            </a:r>
            <a:endParaRPr lang="en-US" sz="1250" dirty="0"/>
          </a:p>
        </p:txBody>
      </p:sp>
      <p:sp>
        <p:nvSpPr>
          <p:cNvPr id="64" name="Shape 61"/>
          <p:cNvSpPr/>
          <p:nvPr/>
        </p:nvSpPr>
        <p:spPr>
          <a:xfrm>
            <a:off x="9141714" y="2453640"/>
            <a:ext cx="2498598"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9233154" y="2490216"/>
            <a:ext cx="256032" cy="256032"/>
          </a:xfrm>
          <a:prstGeom prst="ellipse">
            <a:avLst/>
          </a:prstGeom>
          <a:solidFill>
            <a:srgbClr val="2E8B57"/>
          </a:solidFill>
          <a:ln w="12700">
            <a:solidFill>
              <a:srgbClr val="2E8B57"/>
            </a:solidFill>
            <a:prstDash val="solid"/>
          </a:ln>
        </p:spPr>
      </p:sp>
      <p:sp>
        <p:nvSpPr>
          <p:cNvPr id="66" name="Text 63"/>
          <p:cNvSpPr txBox="1"/>
          <p:nvPr/>
        </p:nvSpPr>
        <p:spPr>
          <a:xfrm>
            <a:off x="923315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67" name="Text 64"/>
          <p:cNvSpPr txBox="1"/>
          <p:nvPr/>
        </p:nvSpPr>
        <p:spPr>
          <a:xfrm>
            <a:off x="9562338" y="2432304"/>
            <a:ext cx="2023110"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no — useful but not essential</a:t>
            </a:r>
            <a:endParaRPr lang="en-US" sz="1150" dirty="0"/>
          </a:p>
        </p:txBody>
      </p:sp>
      <p:sp>
        <p:nvSpPr>
          <p:cNvPr id="68" name="Shape 65"/>
          <p:cNvSpPr/>
          <p:nvPr/>
        </p:nvSpPr>
        <p:spPr>
          <a:xfrm>
            <a:off x="9233154" y="2862072"/>
            <a:ext cx="256032" cy="256032"/>
          </a:xfrm>
          <a:prstGeom prst="ellipse">
            <a:avLst/>
          </a:prstGeom>
          <a:solidFill>
            <a:srgbClr val="C9CED6"/>
          </a:solidFill>
          <a:ln w="12700">
            <a:solidFill>
              <a:srgbClr val="C9CED6"/>
            </a:solidFill>
            <a:prstDash val="solid"/>
          </a:ln>
        </p:spPr>
      </p:sp>
      <p:sp>
        <p:nvSpPr>
          <p:cNvPr id="69" name="Text 66"/>
          <p:cNvSpPr txBox="1"/>
          <p:nvPr/>
        </p:nvSpPr>
        <p:spPr>
          <a:xfrm>
            <a:off x="923315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0" name="Text 67"/>
          <p:cNvSpPr txBox="1"/>
          <p:nvPr/>
        </p:nvSpPr>
        <p:spPr>
          <a:xfrm>
            <a:off x="9562338" y="280416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yes, always</a:t>
            </a:r>
            <a:endParaRPr lang="en-US" sz="1250" dirty="0"/>
          </a:p>
        </p:txBody>
      </p:sp>
      <p:sp>
        <p:nvSpPr>
          <p:cNvPr id="71" name="Shape 68"/>
          <p:cNvSpPr/>
          <p:nvPr/>
        </p:nvSpPr>
        <p:spPr>
          <a:xfrm>
            <a:off x="9233154" y="3233928"/>
            <a:ext cx="256032" cy="256032"/>
          </a:xfrm>
          <a:prstGeom prst="ellipse">
            <a:avLst/>
          </a:prstGeom>
          <a:solidFill>
            <a:srgbClr val="C9CED6"/>
          </a:solidFill>
          <a:ln w="12700">
            <a:solidFill>
              <a:srgbClr val="C9CED6"/>
            </a:solidFill>
            <a:prstDash val="solid"/>
          </a:ln>
        </p:spPr>
      </p:sp>
      <p:sp>
        <p:nvSpPr>
          <p:cNvPr id="72" name="Text 69"/>
          <p:cNvSpPr txBox="1"/>
          <p:nvPr/>
        </p:nvSpPr>
        <p:spPr>
          <a:xfrm>
            <a:off x="923315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3" name="Text 70"/>
          <p:cNvSpPr txBox="1"/>
          <p:nvPr/>
        </p:nvSpPr>
        <p:spPr>
          <a:xfrm>
            <a:off x="9562338" y="3176016"/>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it is not mentioned</a:t>
            </a:r>
            <a:endParaRPr lang="en-US" sz="1250" dirty="0"/>
          </a:p>
        </p:txBody>
      </p:sp>
      <p:sp>
        <p:nvSpPr>
          <p:cNvPr id="74" name="Text 71"/>
          <p:cNvSpPr txBox="1"/>
          <p:nvPr/>
        </p:nvSpPr>
        <p:spPr>
          <a:xfrm>
            <a:off x="9178290"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لَيْسَتْ ضَرُورِيَّةً</a:t>
            </a:r>
            <a:endParaRPr lang="ar-SA" sz="1350" dirty="0"/>
          </a:p>
        </p:txBody>
      </p:sp>
      <p:sp>
        <p:nvSpPr>
          <p:cNvPr id="75" name="Shape 72"/>
          <p:cNvSpPr/>
          <p:nvPr/>
        </p:nvSpPr>
        <p:spPr>
          <a:xfrm>
            <a:off x="457200"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585216"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8" name="Text 75"/>
          <p:cNvSpPr txBox="1"/>
          <p:nvPr/>
        </p:nvSpPr>
        <p:spPr>
          <a:xfrm>
            <a:off x="950976"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Why not?</a:t>
            </a:r>
            <a:endParaRPr lang="en-US" sz="1250" dirty="0"/>
          </a:p>
        </p:txBody>
      </p:sp>
      <p:sp>
        <p:nvSpPr>
          <p:cNvPr id="79" name="Shape 76"/>
          <p:cNvSpPr/>
          <p:nvPr/>
        </p:nvSpPr>
        <p:spPr>
          <a:xfrm>
            <a:off x="640080" y="4831080"/>
            <a:ext cx="256032" cy="256032"/>
          </a:xfrm>
          <a:prstGeom prst="ellipse">
            <a:avLst/>
          </a:prstGeom>
          <a:solidFill>
            <a:srgbClr val="C9CED6"/>
          </a:solidFill>
          <a:ln w="12700">
            <a:solidFill>
              <a:srgbClr val="C9CED6"/>
            </a:solidFill>
            <a:prstDash val="solid"/>
          </a:ln>
        </p:spPr>
      </p:sp>
      <p:sp>
        <p:nvSpPr>
          <p:cNvPr id="80" name="Text 77"/>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81" name="Text 78"/>
          <p:cNvSpPr txBox="1"/>
          <p:nvPr/>
        </p:nvSpPr>
        <p:spPr>
          <a:xfrm>
            <a:off x="969264" y="4773168"/>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job is easy</a:t>
            </a:r>
            <a:endParaRPr lang="en-US" sz="1250" dirty="0"/>
          </a:p>
        </p:txBody>
      </p:sp>
      <p:sp>
        <p:nvSpPr>
          <p:cNvPr id="82" name="Shape 79"/>
          <p:cNvSpPr/>
          <p:nvPr/>
        </p:nvSpPr>
        <p:spPr>
          <a:xfrm>
            <a:off x="548640" y="5166360"/>
            <a:ext cx="2498598" cy="347472"/>
          </a:xfrm>
          <a:prstGeom prst="roundRect">
            <a:avLst>
              <a:gd name="adj" fmla="val 15789"/>
            </a:avLst>
          </a:prstGeom>
          <a:solidFill>
            <a:srgbClr val="E6F4EC"/>
          </a:solidFill>
          <a:ln w="9525">
            <a:solidFill>
              <a:srgbClr val="2E8B57"/>
            </a:solidFill>
            <a:prstDash val="solid"/>
          </a:ln>
        </p:spPr>
      </p:sp>
      <p:sp>
        <p:nvSpPr>
          <p:cNvPr id="83" name="Shape 80"/>
          <p:cNvSpPr/>
          <p:nvPr/>
        </p:nvSpPr>
        <p:spPr>
          <a:xfrm>
            <a:off x="640080" y="5202936"/>
            <a:ext cx="256032" cy="256032"/>
          </a:xfrm>
          <a:prstGeom prst="ellipse">
            <a:avLst/>
          </a:prstGeom>
          <a:solidFill>
            <a:srgbClr val="2E8B57"/>
          </a:solidFill>
          <a:ln w="12700">
            <a:solidFill>
              <a:srgbClr val="2E8B57"/>
            </a:solidFill>
            <a:prstDash val="solid"/>
          </a:ln>
        </p:spPr>
      </p:sp>
      <p:sp>
        <p:nvSpPr>
          <p:cNvPr id="84" name="Text 81"/>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85" name="Text 82"/>
          <p:cNvSpPr txBox="1"/>
          <p:nvPr/>
        </p:nvSpPr>
        <p:spPr>
          <a:xfrm>
            <a:off x="969264" y="5145024"/>
            <a:ext cx="2023110"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the company provides training</a:t>
            </a:r>
            <a:endParaRPr lang="en-US" sz="1150" dirty="0"/>
          </a:p>
        </p:txBody>
      </p:sp>
      <p:sp>
        <p:nvSpPr>
          <p:cNvPr id="86" name="Shape 83"/>
          <p:cNvSpPr/>
          <p:nvPr/>
        </p:nvSpPr>
        <p:spPr>
          <a:xfrm>
            <a:off x="640080"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8" name="Text 85"/>
          <p:cNvSpPr txBox="1"/>
          <p:nvPr/>
        </p:nvSpPr>
        <p:spPr>
          <a:xfrm>
            <a:off x="969264" y="551688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salary is low</a:t>
            </a:r>
            <a:endParaRPr lang="en-US" sz="1250" dirty="0"/>
          </a:p>
        </p:txBody>
      </p:sp>
      <p:sp>
        <p:nvSpPr>
          <p:cNvPr id="89" name="Text 86"/>
          <p:cNvSpPr txBox="1"/>
          <p:nvPr/>
        </p:nvSpPr>
        <p:spPr>
          <a:xfrm>
            <a:off x="585216" y="5907024"/>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الشَّرِكَةَ تُقَدِّمُ تَدْرِيبًا</a:t>
            </a:r>
            <a:endParaRPr lang="ar-SA" sz="1350" dirty="0"/>
          </a:p>
        </p:txBody>
      </p:sp>
      <p:sp>
        <p:nvSpPr>
          <p:cNvPr id="90" name="Shape 87"/>
          <p:cNvSpPr/>
          <p:nvPr/>
        </p:nvSpPr>
        <p:spPr>
          <a:xfrm>
            <a:off x="3321558"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91" name="Shape 88"/>
          <p:cNvSpPr/>
          <p:nvPr/>
        </p:nvSpPr>
        <p:spPr>
          <a:xfrm>
            <a:off x="3449574" y="4288536"/>
            <a:ext cx="310896" cy="310896"/>
          </a:xfrm>
          <a:prstGeom prst="ellipse">
            <a:avLst/>
          </a:prstGeom>
          <a:solidFill>
            <a:srgbClr val="1B3B6F"/>
          </a:solidFill>
          <a:ln w="12700">
            <a:solidFill>
              <a:srgbClr val="1B3B6F"/>
            </a:solidFill>
            <a:prstDash val="solid"/>
          </a:ln>
        </p:spPr>
      </p:sp>
      <p:sp>
        <p:nvSpPr>
          <p:cNvPr id="92" name="Text 89"/>
          <p:cNvSpPr txBox="1"/>
          <p:nvPr/>
        </p:nvSpPr>
        <p:spPr>
          <a:xfrm>
            <a:off x="344957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93" name="Text 90"/>
          <p:cNvSpPr txBox="1"/>
          <p:nvPr/>
        </p:nvSpPr>
        <p:spPr>
          <a:xfrm>
            <a:off x="3815334"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an extra advantage?</a:t>
            </a:r>
            <a:endParaRPr lang="en-US" sz="1250" dirty="0"/>
          </a:p>
        </p:txBody>
      </p:sp>
      <p:sp>
        <p:nvSpPr>
          <p:cNvPr id="94" name="Shape 91"/>
          <p:cNvSpPr/>
          <p:nvPr/>
        </p:nvSpPr>
        <p:spPr>
          <a:xfrm>
            <a:off x="3412998" y="4794504"/>
            <a:ext cx="2498598" cy="347472"/>
          </a:xfrm>
          <a:prstGeom prst="roundRect">
            <a:avLst>
              <a:gd name="adj" fmla="val 15789"/>
            </a:avLst>
          </a:prstGeom>
          <a:solidFill>
            <a:srgbClr val="E6F4EC"/>
          </a:solidFill>
          <a:ln w="9525">
            <a:solidFill>
              <a:srgbClr val="2E8B57"/>
            </a:solidFill>
            <a:prstDash val="solid"/>
          </a:ln>
        </p:spPr>
      </p:sp>
      <p:sp>
        <p:nvSpPr>
          <p:cNvPr id="95" name="Shape 92"/>
          <p:cNvSpPr/>
          <p:nvPr/>
        </p:nvSpPr>
        <p:spPr>
          <a:xfrm>
            <a:off x="3504438" y="4831080"/>
            <a:ext cx="256032" cy="256032"/>
          </a:xfrm>
          <a:prstGeom prst="ellipse">
            <a:avLst/>
          </a:prstGeom>
          <a:solidFill>
            <a:srgbClr val="2E8B57"/>
          </a:solidFill>
          <a:ln w="12700">
            <a:solidFill>
              <a:srgbClr val="2E8B57"/>
            </a:solidFill>
            <a:prstDash val="solid"/>
          </a:ln>
        </p:spPr>
      </p:sp>
      <p:sp>
        <p:nvSpPr>
          <p:cNvPr id="96" name="Text 93"/>
          <p:cNvSpPr txBox="1"/>
          <p:nvPr/>
        </p:nvSpPr>
        <p:spPr>
          <a:xfrm>
            <a:off x="3504438"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97" name="Text 94"/>
          <p:cNvSpPr txBox="1"/>
          <p:nvPr/>
        </p:nvSpPr>
        <p:spPr>
          <a:xfrm>
            <a:off x="3833622" y="4773168"/>
            <a:ext cx="2023110"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speaking two languages well</a:t>
            </a:r>
            <a:endParaRPr lang="en-US" sz="1150" dirty="0"/>
          </a:p>
        </p:txBody>
      </p:sp>
      <p:sp>
        <p:nvSpPr>
          <p:cNvPr id="98" name="Shape 95"/>
          <p:cNvSpPr/>
          <p:nvPr/>
        </p:nvSpPr>
        <p:spPr>
          <a:xfrm>
            <a:off x="3504438" y="5202936"/>
            <a:ext cx="256032" cy="256032"/>
          </a:xfrm>
          <a:prstGeom prst="ellipse">
            <a:avLst/>
          </a:prstGeom>
          <a:solidFill>
            <a:srgbClr val="C9CED6"/>
          </a:solidFill>
          <a:ln w="12700">
            <a:solidFill>
              <a:srgbClr val="C9CED6"/>
            </a:solidFill>
            <a:prstDash val="solid"/>
          </a:ln>
        </p:spPr>
      </p:sp>
      <p:sp>
        <p:nvSpPr>
          <p:cNvPr id="99" name="Text 96"/>
          <p:cNvSpPr txBox="1"/>
          <p:nvPr/>
        </p:nvSpPr>
        <p:spPr>
          <a:xfrm>
            <a:off x="3504438"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100" name="Text 97"/>
          <p:cNvSpPr txBox="1"/>
          <p:nvPr/>
        </p:nvSpPr>
        <p:spPr>
          <a:xfrm>
            <a:off x="3833622" y="514502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driving licence</a:t>
            </a:r>
            <a:endParaRPr lang="en-US" sz="1250" dirty="0"/>
          </a:p>
        </p:txBody>
      </p:sp>
      <p:sp>
        <p:nvSpPr>
          <p:cNvPr id="101" name="Shape 98"/>
          <p:cNvSpPr/>
          <p:nvPr/>
        </p:nvSpPr>
        <p:spPr>
          <a:xfrm>
            <a:off x="3504438" y="5574792"/>
            <a:ext cx="256032" cy="256032"/>
          </a:xfrm>
          <a:prstGeom prst="ellipse">
            <a:avLst/>
          </a:prstGeom>
          <a:solidFill>
            <a:srgbClr val="C9CED6"/>
          </a:solidFill>
          <a:ln w="12700">
            <a:solidFill>
              <a:srgbClr val="C9CED6"/>
            </a:solidFill>
            <a:prstDash val="solid"/>
          </a:ln>
        </p:spPr>
      </p:sp>
      <p:sp>
        <p:nvSpPr>
          <p:cNvPr id="102" name="Text 99"/>
          <p:cNvSpPr txBox="1"/>
          <p:nvPr/>
        </p:nvSpPr>
        <p:spPr>
          <a:xfrm>
            <a:off x="3504438"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103" name="Text 100"/>
          <p:cNvSpPr txBox="1"/>
          <p:nvPr/>
        </p:nvSpPr>
        <p:spPr>
          <a:xfrm>
            <a:off x="3833622" y="551688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university degree</a:t>
            </a:r>
            <a:endParaRPr lang="en-US" sz="1250" dirty="0"/>
          </a:p>
        </p:txBody>
      </p:sp>
      <p:sp>
        <p:nvSpPr>
          <p:cNvPr id="104" name="Text 101"/>
          <p:cNvSpPr txBox="1"/>
          <p:nvPr/>
        </p:nvSpPr>
        <p:spPr>
          <a:xfrm>
            <a:off x="3449574" y="5907024"/>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إِجَادَةَ لُغَتَيْنِ</a:t>
            </a:r>
            <a:endParaRPr lang="ar-SA" sz="1350" dirty="0"/>
          </a:p>
        </p:txBody>
      </p:sp>
      <p:sp>
        <p:nvSpPr>
          <p:cNvPr id="105" name="Shape 102"/>
          <p:cNvSpPr/>
          <p:nvPr/>
        </p:nvSpPr>
        <p:spPr>
          <a:xfrm>
            <a:off x="6185916" y="4151376"/>
            <a:ext cx="2681478"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06" name="Shape 103"/>
          <p:cNvSpPr/>
          <p:nvPr/>
        </p:nvSpPr>
        <p:spPr>
          <a:xfrm>
            <a:off x="6807708" y="4361688"/>
            <a:ext cx="914400" cy="274320"/>
          </a:xfrm>
          <a:prstGeom prst="roundRect">
            <a:avLst>
              <a:gd name="adj" fmla="val 50000"/>
            </a:avLst>
          </a:prstGeom>
          <a:solidFill>
            <a:srgbClr val="2E8B57"/>
          </a:solidFill>
          <a:ln w="12700">
            <a:solidFill>
              <a:srgbClr val="2E8B57"/>
            </a:solidFill>
            <a:prstDash val="solid"/>
          </a:ln>
        </p:spPr>
      </p:sp>
      <p:sp>
        <p:nvSpPr>
          <p:cNvPr id="107" name="Text 104"/>
          <p:cNvSpPr txBox="1"/>
          <p:nvPr/>
        </p:nvSpPr>
        <p:spPr>
          <a:xfrm>
            <a:off x="6807708"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108" name="Text 105"/>
          <p:cNvSpPr txBox="1"/>
          <p:nvPr/>
        </p:nvSpPr>
        <p:spPr>
          <a:xfrm>
            <a:off x="6387084" y="4791456"/>
            <a:ext cx="2315718" cy="1380744"/>
          </a:xfrm>
          <a:prstGeom prst="rect">
            <a:avLst/>
          </a:prstGeom>
          <a:noFill/>
          <a:ln/>
        </p:spPr>
        <p:txBody>
          <a:bodyPr wrap="square" lIns="0" tIns="0" rIns="0" bIns="0" rtlCol="0" anchor="t"/>
          <a:lstStyle/>
          <a:p>
            <a:pPr algn="l" indent="0" marL="0">
              <a:lnSpc>
                <a:spcPct val="115000"/>
              </a:lnSpc>
              <a:buNone/>
            </a:pPr>
            <a:r>
              <a:rPr lang="en-US" sz="1250" dirty="0">
                <a:solidFill>
                  <a:srgbClr val="1E6B52"/>
                </a:solidFill>
                <a:latin typeface="Calibri" pitchFamily="34" charset="0"/>
                <a:cs typeface="Amiri" pitchFamily="2" charset="-78"/>
              </a:rPr>
              <a:t>Listen twice. Core: questions 1, 2 and 4.</a:t>
            </a:r>
            <a:endParaRPr lang="en-US" sz="1250" dirty="0"/>
          </a:p>
          <a:p>
            <a:pPr algn="l" indent="0" marL="0">
              <a:lnSpc>
                <a:spcPct val="115000"/>
              </a:lnSpc>
              <a:buNone/>
            </a:pPr>
            <a:r>
              <a:rPr lang="en-US" sz="1250" dirty="0">
                <a:solidFill>
                  <a:srgbClr val="1E6B52"/>
                </a:solidFill>
                <a:latin typeface="Calibri" pitchFamily="34" charset="0"/>
                <a:cs typeface="Amiri" pitchFamily="2" charset="-78"/>
              </a:rPr>
              <a:t>Listen for: </a:t>
            </a:r>
            <a:pPr algn="l" indent="0" marL="0">
              <a:lnSpc>
                <a:spcPct val="115000"/>
              </a:lnSpc>
              <a:buNone/>
            </a:pPr>
            <a:r>
              <a:rPr lang="ar-SA" altLang="en-US" sz="1650" dirty="0">
                <a:solidFill>
                  <a:srgbClr val="1E6B52"/>
                </a:solidFill>
                <a:latin typeface="Amiri" pitchFamily="2" charset="-78"/>
                <a:ea typeface="Amiri" pitchFamily="2" charset="-78"/>
                <a:cs typeface="Amiri" pitchFamily="2" charset="-78"/>
              </a:rPr>
              <a:t>خِدْمَةِ العُمَلَاءِ</a:t>
            </a:r>
            <a:pPr algn="l" indent="0" marL="0">
              <a:lnSpc>
                <a:spcPct val="115000"/>
              </a:lnSpc>
              <a:buNone/>
            </a:pPr>
            <a:r>
              <a:rPr lang="en-US" sz="1250" dirty="0">
                <a:solidFill>
                  <a:srgbClr val="1E6B52"/>
                </a:solidFill>
                <a:latin typeface="Calibri" pitchFamily="34" charset="0"/>
                <a:cs typeface="Amiri" pitchFamily="2" charset="-78"/>
              </a:rPr>
              <a:t> · </a:t>
            </a:r>
            <a:pPr algn="l" indent="0" marL="0">
              <a:lnSpc>
                <a:spcPct val="115000"/>
              </a:lnSpc>
              <a:buNone/>
            </a:pPr>
            <a:r>
              <a:rPr lang="ar-SA" altLang="en-US" sz="1650" dirty="0">
                <a:solidFill>
                  <a:srgbClr val="1E6B52"/>
                </a:solidFill>
                <a:latin typeface="Amiri" pitchFamily="2" charset="-78"/>
                <a:ea typeface="Amiri" pitchFamily="2" charset="-78"/>
                <a:cs typeface="Amiri" pitchFamily="2" charset="-78"/>
              </a:rPr>
              <a:t>وَاثِقَةً</a:t>
            </a:r>
            <a:pPr algn="l" indent="0" marL="0">
              <a:lnSpc>
                <a:spcPct val="115000"/>
              </a:lnSpc>
              <a:buNone/>
            </a:pPr>
            <a:r>
              <a:rPr lang="en-US" sz="1250" dirty="0">
                <a:solidFill>
                  <a:srgbClr val="1E6B52"/>
                </a:solidFill>
                <a:latin typeface="Calibri" pitchFamily="34" charset="0"/>
                <a:cs typeface="Amiri" pitchFamily="2" charset="-78"/>
              </a:rPr>
              <a:t> · </a:t>
            </a:r>
            <a:pPr algn="l" indent="0" marL="0">
              <a:lnSpc>
                <a:spcPct val="115000"/>
              </a:lnSpc>
              <a:buNone/>
            </a:pPr>
            <a:r>
              <a:rPr lang="ar-SA" altLang="en-US" sz="1650" dirty="0">
                <a:solidFill>
                  <a:srgbClr val="1E6B52"/>
                </a:solidFill>
                <a:latin typeface="Amiri" pitchFamily="2" charset="-78"/>
                <a:ea typeface="Amiri" pitchFamily="2" charset="-78"/>
                <a:cs typeface="Amiri" pitchFamily="2" charset="-78"/>
              </a:rPr>
              <a:t>الخِبْرَةُ</a:t>
            </a:r>
            <a:pPr algn="l" indent="0" marL="0">
              <a:lnSpc>
                <a:spcPct val="115000"/>
              </a:lnSpc>
              <a:buNone/>
            </a:pPr>
            <a:r>
              <a:rPr lang="en-US" sz="1250" dirty="0">
                <a:solidFill>
                  <a:srgbClr val="1E6B52"/>
                </a:solidFill>
                <a:latin typeface="Calibri" pitchFamily="34" charset="0"/>
                <a:cs typeface="Amiri" pitchFamily="2" charset="-78"/>
              </a:rPr>
              <a:t>.</a:t>
            </a:r>
            <a:endParaRPr lang="en-US" sz="1250" dirty="0"/>
          </a:p>
        </p:txBody>
      </p:sp>
      <p:sp>
        <p:nvSpPr>
          <p:cNvPr id="109" name="Text 10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33 / 47</a:t>
            </a:r>
            <a:endParaRPr lang="en-US" sz="8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TD-L08 · Skills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TOPIC D APPLICATION CHALLENGE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Candidate skills match</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تَحَدِّي التَّطْبِيقِ</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D · The World of Work · TD-L08</a:t>
            </a:r>
            <a:endParaRPr lang="en-US" sz="850" dirty="0"/>
          </a:p>
        </p:txBody>
      </p:sp>
      <p:sp>
        <p:nvSpPr>
          <p:cNvPr id="15" name="Shape 12"/>
          <p:cNvSpPr/>
          <p:nvPr/>
        </p:nvSpPr>
        <p:spPr>
          <a:xfrm>
            <a:off x="457200" y="1810512"/>
            <a:ext cx="5715000" cy="4498848"/>
          </a:xfrm>
          <a:prstGeom prst="roundRect">
            <a:avLst>
              <a:gd name="adj" fmla="val 1626"/>
            </a:avLst>
          </a:prstGeom>
          <a:solidFill>
            <a:srgbClr val="F4F1EA"/>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20240"/>
            <a:ext cx="3108960" cy="292608"/>
          </a:xfrm>
          <a:prstGeom prst="roundRect">
            <a:avLst>
              <a:gd name="adj" fmla="val 50000"/>
            </a:avLst>
          </a:prstGeom>
          <a:solidFill>
            <a:srgbClr val="8A6D1E"/>
          </a:solidFill>
          <a:ln w="12700">
            <a:solidFill>
              <a:srgbClr val="8A6D1E"/>
            </a:solidFill>
            <a:prstDash val="solid"/>
          </a:ln>
        </p:spPr>
      </p:sp>
      <p:sp>
        <p:nvSpPr>
          <p:cNvPr id="17" name="Text 14"/>
          <p:cNvSpPr txBox="1"/>
          <p:nvPr/>
        </p:nvSpPr>
        <p:spPr>
          <a:xfrm>
            <a:off x="640080" y="1920240"/>
            <a:ext cx="3108960" cy="292608"/>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TOPIC D CHALLENGE · WEBSITE</a:t>
            </a:r>
            <a:endParaRPr lang="en-US" sz="900" dirty="0"/>
          </a:p>
        </p:txBody>
      </p:sp>
      <p:sp>
        <p:nvSpPr>
          <p:cNvPr id="18" name="Text 15"/>
          <p:cNvSpPr txBox="1"/>
          <p:nvPr/>
        </p:nvSpPr>
        <p:spPr>
          <a:xfrm>
            <a:off x="640080" y="2286000"/>
            <a:ext cx="5349240" cy="502920"/>
          </a:xfrm>
          <a:prstGeom prst="rect">
            <a:avLst/>
          </a:prstGeom>
          <a:noFill/>
          <a:ln/>
        </p:spPr>
        <p:txBody>
          <a:bodyPr wrap="square" lIns="0" tIns="0" rIns="0" bIns="0" rtlCol="0" anchor="ctr"/>
          <a:lstStyle/>
          <a:p>
            <a:pPr algn="l" indent="0" marL="0">
              <a:buNone/>
            </a:pPr>
            <a:r>
              <a:rPr lang="en-US" sz="2200" b="1" dirty="0">
                <a:solidFill>
                  <a:srgbClr val="1B3B6F"/>
                </a:solidFill>
                <a:latin typeface="Calibri" pitchFamily="34" charset="0"/>
                <a:cs typeface="Amiri" pitchFamily="2" charset="-78"/>
              </a:rPr>
              <a:t>⭐  Candidate skills match</a:t>
            </a:r>
            <a:endParaRPr lang="en-US" sz="2200" dirty="0"/>
          </a:p>
        </p:txBody>
      </p:sp>
      <p:sp>
        <p:nvSpPr>
          <p:cNvPr id="19" name="Text 16"/>
          <p:cNvSpPr txBox="1"/>
          <p:nvPr/>
        </p:nvSpPr>
        <p:spPr>
          <a:xfrm>
            <a:off x="640080" y="2816352"/>
            <a:ext cx="5349240" cy="118872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cs typeface="Amiri" pitchFamily="2" charset="-78"/>
              </a:rPr>
              <a:t>Match personal qualities and professional skills to different jobs. Every match must be justified with evidence from a short candidate profile.</a:t>
            </a:r>
            <a:endParaRPr lang="en-US" sz="1350" dirty="0"/>
          </a:p>
        </p:txBody>
      </p:sp>
      <p:sp>
        <p:nvSpPr>
          <p:cNvPr id="20" name="Text 17"/>
          <p:cNvSpPr txBox="1"/>
          <p:nvPr/>
        </p:nvSpPr>
        <p:spPr>
          <a:xfrm>
            <a:off x="640080" y="4041648"/>
            <a:ext cx="530352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HOW WE RUN IT ONLINE</a:t>
            </a:r>
            <a:endParaRPr lang="en-US" sz="950" dirty="0"/>
          </a:p>
        </p:txBody>
      </p:sp>
      <p:sp>
        <p:nvSpPr>
          <p:cNvPr id="21" name="Shape 18"/>
          <p:cNvSpPr/>
          <p:nvPr/>
        </p:nvSpPr>
        <p:spPr>
          <a:xfrm>
            <a:off x="658368" y="4407408"/>
            <a:ext cx="274320" cy="274320"/>
          </a:xfrm>
          <a:prstGeom prst="ellipse">
            <a:avLst/>
          </a:prstGeom>
          <a:solidFill>
            <a:srgbClr val="1B3B6F"/>
          </a:solidFill>
          <a:ln w="12700">
            <a:solidFill>
              <a:srgbClr val="1B3B6F"/>
            </a:solidFill>
            <a:prstDash val="solid"/>
          </a:ln>
        </p:spPr>
      </p:sp>
      <p:sp>
        <p:nvSpPr>
          <p:cNvPr id="22" name="Text 19"/>
          <p:cNvSpPr txBox="1"/>
          <p:nvPr/>
        </p:nvSpPr>
        <p:spPr>
          <a:xfrm>
            <a:off x="658368" y="44074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1</a:t>
            </a:r>
            <a:endParaRPr lang="en-US" sz="1000" dirty="0"/>
          </a:p>
        </p:txBody>
      </p:sp>
      <p:sp>
        <p:nvSpPr>
          <p:cNvPr id="23" name="Text 20"/>
          <p:cNvSpPr txBox="1"/>
          <p:nvPr/>
        </p:nvSpPr>
        <p:spPr>
          <a:xfrm>
            <a:off x="1024128" y="43342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Read three short candidate profiles (in the notes).</a:t>
            </a:r>
            <a:endParaRPr lang="en-US" sz="1150" dirty="0"/>
          </a:p>
        </p:txBody>
      </p:sp>
      <p:sp>
        <p:nvSpPr>
          <p:cNvPr id="24" name="Shape 21"/>
          <p:cNvSpPr/>
          <p:nvPr/>
        </p:nvSpPr>
        <p:spPr>
          <a:xfrm>
            <a:off x="658368" y="4864608"/>
            <a:ext cx="274320" cy="274320"/>
          </a:xfrm>
          <a:prstGeom prst="ellipse">
            <a:avLst/>
          </a:prstGeom>
          <a:solidFill>
            <a:srgbClr val="1B3B6F"/>
          </a:solidFill>
          <a:ln w="12700">
            <a:solidFill>
              <a:srgbClr val="1B3B6F"/>
            </a:solidFill>
            <a:prstDash val="solid"/>
          </a:ln>
        </p:spPr>
      </p:sp>
      <p:sp>
        <p:nvSpPr>
          <p:cNvPr id="25" name="Text 22"/>
          <p:cNvSpPr txBox="1"/>
          <p:nvPr/>
        </p:nvSpPr>
        <p:spPr>
          <a:xfrm>
            <a:off x="658368" y="48646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2</a:t>
            </a:r>
            <a:endParaRPr lang="en-US" sz="1000" dirty="0"/>
          </a:p>
        </p:txBody>
      </p:sp>
      <p:sp>
        <p:nvSpPr>
          <p:cNvPr id="26" name="Text 23"/>
          <p:cNvSpPr txBox="1"/>
          <p:nvPr/>
        </p:nvSpPr>
        <p:spPr>
          <a:xfrm>
            <a:off x="1024128" y="47914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Match each candidate to one of three jobs.</a:t>
            </a:r>
            <a:endParaRPr lang="en-US" sz="1150" dirty="0"/>
          </a:p>
        </p:txBody>
      </p:sp>
      <p:sp>
        <p:nvSpPr>
          <p:cNvPr id="27" name="Shape 24"/>
          <p:cNvSpPr/>
          <p:nvPr/>
        </p:nvSpPr>
        <p:spPr>
          <a:xfrm>
            <a:off x="658368" y="5321808"/>
            <a:ext cx="274320" cy="274320"/>
          </a:xfrm>
          <a:prstGeom prst="ellipse">
            <a:avLst/>
          </a:prstGeom>
          <a:solidFill>
            <a:srgbClr val="1B3B6F"/>
          </a:solidFill>
          <a:ln w="12700">
            <a:solidFill>
              <a:srgbClr val="1B3B6F"/>
            </a:solidFill>
            <a:prstDash val="solid"/>
          </a:ln>
        </p:spPr>
      </p:sp>
      <p:sp>
        <p:nvSpPr>
          <p:cNvPr id="28" name="Text 25"/>
          <p:cNvSpPr txBox="1"/>
          <p:nvPr/>
        </p:nvSpPr>
        <p:spPr>
          <a:xfrm>
            <a:off x="658368" y="53218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3</a:t>
            </a:r>
            <a:endParaRPr lang="en-US" sz="1000" dirty="0"/>
          </a:p>
        </p:txBody>
      </p:sp>
      <p:sp>
        <p:nvSpPr>
          <p:cNvPr id="29" name="Text 26"/>
          <p:cNvSpPr txBox="1"/>
          <p:nvPr/>
        </p:nvSpPr>
        <p:spPr>
          <a:xfrm>
            <a:off x="1024128" y="52486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Justify each match with evidence from the profile (li-annahu / li-annahā …).</a:t>
            </a:r>
            <a:endParaRPr lang="en-US" sz="1150" dirty="0"/>
          </a:p>
        </p:txBody>
      </p:sp>
      <p:sp>
        <p:nvSpPr>
          <p:cNvPr id="30" name="Shape 27"/>
          <p:cNvSpPr/>
          <p:nvPr/>
        </p:nvSpPr>
        <p:spPr>
          <a:xfrm>
            <a:off x="658368" y="5779008"/>
            <a:ext cx="274320" cy="274320"/>
          </a:xfrm>
          <a:prstGeom prst="ellipse">
            <a:avLst/>
          </a:prstGeom>
          <a:solidFill>
            <a:srgbClr val="1B3B6F"/>
          </a:solidFill>
          <a:ln w="12700">
            <a:solidFill>
              <a:srgbClr val="1B3B6F"/>
            </a:solidFill>
            <a:prstDash val="solid"/>
          </a:ln>
        </p:spPr>
      </p:sp>
      <p:sp>
        <p:nvSpPr>
          <p:cNvPr id="31" name="Text 28"/>
          <p:cNvSpPr txBox="1"/>
          <p:nvPr/>
        </p:nvSpPr>
        <p:spPr>
          <a:xfrm>
            <a:off x="658368" y="57790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4</a:t>
            </a:r>
            <a:endParaRPr lang="en-US" sz="1000" dirty="0"/>
          </a:p>
        </p:txBody>
      </p:sp>
      <p:sp>
        <p:nvSpPr>
          <p:cNvPr id="32" name="Text 29"/>
          <p:cNvSpPr txBox="1"/>
          <p:nvPr/>
        </p:nvSpPr>
        <p:spPr>
          <a:xfrm>
            <a:off x="1024128" y="57058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Vote: which match has the strongest evidence?</a:t>
            </a:r>
            <a:endParaRPr lang="en-US" sz="1150" dirty="0"/>
          </a:p>
        </p:txBody>
      </p:sp>
      <p:sp>
        <p:nvSpPr>
          <p:cNvPr id="33" name="Shape 30"/>
          <p:cNvSpPr/>
          <p:nvPr/>
        </p:nvSpPr>
        <p:spPr>
          <a:xfrm>
            <a:off x="6355080" y="1810512"/>
            <a:ext cx="5376672" cy="896112"/>
          </a:xfrm>
          <a:prstGeom prst="roundRect">
            <a:avLst>
              <a:gd name="adj" fmla="val 8163"/>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1"/>
          <p:cNvSpPr/>
          <p:nvPr/>
        </p:nvSpPr>
        <p:spPr>
          <a:xfrm>
            <a:off x="6473952" y="1901952"/>
            <a:ext cx="1051560" cy="256032"/>
          </a:xfrm>
          <a:prstGeom prst="roundRect">
            <a:avLst>
              <a:gd name="adj" fmla="val 50000"/>
            </a:avLst>
          </a:prstGeom>
          <a:solidFill>
            <a:srgbClr val="2E8B57"/>
          </a:solidFill>
          <a:ln w="12700">
            <a:solidFill>
              <a:srgbClr val="2E8B57"/>
            </a:solidFill>
            <a:prstDash val="solid"/>
          </a:ln>
        </p:spPr>
      </p:sp>
      <p:sp>
        <p:nvSpPr>
          <p:cNvPr id="35" name="Text 32"/>
          <p:cNvSpPr txBox="1"/>
          <p:nvPr/>
        </p:nvSpPr>
        <p:spPr>
          <a:xfrm>
            <a:off x="6473952" y="1901952"/>
            <a:ext cx="1051560" cy="25603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36" name="Text 33"/>
          <p:cNvSpPr txBox="1"/>
          <p:nvPr/>
        </p:nvSpPr>
        <p:spPr>
          <a:xfrm>
            <a:off x="6473952" y="2176272"/>
            <a:ext cx="5120640" cy="475488"/>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Match the cards; one reason: “li-annahu munaẓẓam”.</a:t>
            </a:r>
            <a:endParaRPr lang="en-US" sz="1150" dirty="0"/>
          </a:p>
        </p:txBody>
      </p:sp>
      <p:sp>
        <p:nvSpPr>
          <p:cNvPr id="37" name="Shape 34"/>
          <p:cNvSpPr/>
          <p:nvPr/>
        </p:nvSpPr>
        <p:spPr>
          <a:xfrm>
            <a:off x="6355080" y="2816352"/>
            <a:ext cx="5376672" cy="896112"/>
          </a:xfrm>
          <a:prstGeom prst="roundRect">
            <a:avLst>
              <a:gd name="adj" fmla="val 8163"/>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5"/>
          <p:cNvSpPr/>
          <p:nvPr/>
        </p:nvSpPr>
        <p:spPr>
          <a:xfrm>
            <a:off x="6473952" y="2907792"/>
            <a:ext cx="1051560" cy="256032"/>
          </a:xfrm>
          <a:prstGeom prst="roundRect">
            <a:avLst>
              <a:gd name="adj" fmla="val 50000"/>
            </a:avLst>
          </a:prstGeom>
          <a:solidFill>
            <a:srgbClr val="C9780A"/>
          </a:solidFill>
          <a:ln w="12700">
            <a:solidFill>
              <a:srgbClr val="C9780A"/>
            </a:solidFill>
            <a:prstDash val="solid"/>
          </a:ln>
        </p:spPr>
      </p:sp>
      <p:sp>
        <p:nvSpPr>
          <p:cNvPr id="39" name="Text 36"/>
          <p:cNvSpPr txBox="1"/>
          <p:nvPr/>
        </p:nvSpPr>
        <p:spPr>
          <a:xfrm>
            <a:off x="6473952" y="2907792"/>
            <a:ext cx="1051560" cy="25603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40" name="Text 37"/>
          <p:cNvSpPr txBox="1"/>
          <p:nvPr/>
        </p:nvSpPr>
        <p:spPr>
          <a:xfrm>
            <a:off x="6473952" y="3182112"/>
            <a:ext cx="5120640" cy="475488"/>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Three matches, each with evidence and adjective agreement.</a:t>
            </a:r>
            <a:endParaRPr lang="en-US" sz="1150" dirty="0"/>
          </a:p>
        </p:txBody>
      </p:sp>
      <p:sp>
        <p:nvSpPr>
          <p:cNvPr id="41" name="Shape 38"/>
          <p:cNvSpPr/>
          <p:nvPr/>
        </p:nvSpPr>
        <p:spPr>
          <a:xfrm>
            <a:off x="6355080" y="3822192"/>
            <a:ext cx="5376672" cy="896112"/>
          </a:xfrm>
          <a:prstGeom prst="roundRect">
            <a:avLst>
              <a:gd name="adj" fmla="val 8163"/>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6473952" y="3913632"/>
            <a:ext cx="1051560" cy="256032"/>
          </a:xfrm>
          <a:prstGeom prst="roundRect">
            <a:avLst>
              <a:gd name="adj" fmla="val 50000"/>
            </a:avLst>
          </a:prstGeom>
          <a:solidFill>
            <a:srgbClr val="B83227"/>
          </a:solidFill>
          <a:ln w="12700">
            <a:solidFill>
              <a:srgbClr val="B83227"/>
            </a:solidFill>
            <a:prstDash val="solid"/>
          </a:ln>
        </p:spPr>
      </p:sp>
      <p:sp>
        <p:nvSpPr>
          <p:cNvPr id="43" name="Text 40"/>
          <p:cNvSpPr txBox="1"/>
          <p:nvPr/>
        </p:nvSpPr>
        <p:spPr>
          <a:xfrm>
            <a:off x="6473952" y="3913632"/>
            <a:ext cx="1051560" cy="25603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STRETCH</a:t>
            </a:r>
            <a:endParaRPr lang="en-US" sz="850" dirty="0"/>
          </a:p>
        </p:txBody>
      </p:sp>
      <p:sp>
        <p:nvSpPr>
          <p:cNvPr id="44" name="Text 41"/>
          <p:cNvSpPr txBox="1"/>
          <p:nvPr/>
        </p:nvSpPr>
        <p:spPr>
          <a:xfrm>
            <a:off x="6473952" y="4187952"/>
            <a:ext cx="5120640" cy="475488"/>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Matches with a relative clause and a counter-point (lākinnahu yaḥtāju ilā …).</a:t>
            </a:r>
            <a:endParaRPr lang="en-US" sz="1150" dirty="0"/>
          </a:p>
        </p:txBody>
      </p:sp>
      <p:sp>
        <p:nvSpPr>
          <p:cNvPr id="45" name="Shape 42"/>
          <p:cNvSpPr/>
          <p:nvPr/>
        </p:nvSpPr>
        <p:spPr>
          <a:xfrm>
            <a:off x="6355080" y="4828032"/>
            <a:ext cx="5376672" cy="1481328"/>
          </a:xfrm>
          <a:prstGeom prst="roundRect">
            <a:avLst>
              <a:gd name="adj" fmla="val 493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Text 43"/>
          <p:cNvSpPr txBox="1"/>
          <p:nvPr/>
        </p:nvSpPr>
        <p:spPr>
          <a:xfrm>
            <a:off x="6492240" y="4882896"/>
            <a:ext cx="27432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USEFUL LANGUAGE</a:t>
            </a:r>
            <a:endParaRPr lang="en-US" sz="950" dirty="0"/>
          </a:p>
        </p:txBody>
      </p:sp>
      <p:sp>
        <p:nvSpPr>
          <p:cNvPr id="47" name="Text 44"/>
          <p:cNvSpPr txBox="1"/>
          <p:nvPr/>
        </p:nvSpPr>
        <p:spPr>
          <a:xfrm>
            <a:off x="8732520" y="5138928"/>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ea typeface="Amiri" pitchFamily="2" charset="-78"/>
                <a:cs typeface="Amiri" pitchFamily="2" charset="-78"/>
              </a:rPr>
              <a:t>هِيَ مُنَاسِبَةٌ لِلْوَظِيفَةِ</a:t>
            </a:r>
            <a:endParaRPr lang="ar-SA" sz="1300" dirty="0"/>
          </a:p>
        </p:txBody>
      </p:sp>
      <p:sp>
        <p:nvSpPr>
          <p:cNvPr id="48" name="Text 45"/>
          <p:cNvSpPr txBox="1"/>
          <p:nvPr/>
        </p:nvSpPr>
        <p:spPr>
          <a:xfrm>
            <a:off x="6492240" y="5138928"/>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she is suitable for the job</a:t>
            </a:r>
            <a:endParaRPr lang="en-US" sz="1000" dirty="0"/>
          </a:p>
        </p:txBody>
      </p:sp>
      <p:sp>
        <p:nvSpPr>
          <p:cNvPr id="49" name="Text 46"/>
          <p:cNvSpPr txBox="1"/>
          <p:nvPr/>
        </p:nvSpPr>
        <p:spPr>
          <a:xfrm>
            <a:off x="8732520" y="5422392"/>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ea typeface="Amiri" pitchFamily="2" charset="-78"/>
                <a:cs typeface="Amiri" pitchFamily="2" charset="-78"/>
              </a:rPr>
              <a:t>لِأَنَّهُ / لِأَنَّهَا …</a:t>
            </a:r>
            <a:endParaRPr lang="ar-SA" sz="1300" dirty="0"/>
          </a:p>
        </p:txBody>
      </p:sp>
      <p:sp>
        <p:nvSpPr>
          <p:cNvPr id="50" name="Text 47"/>
          <p:cNvSpPr txBox="1"/>
          <p:nvPr/>
        </p:nvSpPr>
        <p:spPr>
          <a:xfrm>
            <a:off x="6492240" y="5422392"/>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because he / she …</a:t>
            </a:r>
            <a:endParaRPr lang="en-US" sz="1000" dirty="0"/>
          </a:p>
        </p:txBody>
      </p:sp>
      <p:sp>
        <p:nvSpPr>
          <p:cNvPr id="51" name="Text 48"/>
          <p:cNvSpPr txBox="1"/>
          <p:nvPr/>
        </p:nvSpPr>
        <p:spPr>
          <a:xfrm>
            <a:off x="8732520" y="5705856"/>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ea typeface="Amiri" pitchFamily="2" charset="-78"/>
                <a:cs typeface="Amiri" pitchFamily="2" charset="-78"/>
              </a:rPr>
              <a:t>الدَّلِيلُ عَلَى ذٰلِكَ أَنَّ …</a:t>
            </a:r>
            <a:endParaRPr lang="ar-SA" sz="1300" dirty="0"/>
          </a:p>
        </p:txBody>
      </p:sp>
      <p:sp>
        <p:nvSpPr>
          <p:cNvPr id="52" name="Text 49"/>
          <p:cNvSpPr txBox="1"/>
          <p:nvPr/>
        </p:nvSpPr>
        <p:spPr>
          <a:xfrm>
            <a:off x="6492240" y="5705856"/>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the evidence is that …</a:t>
            </a:r>
            <a:endParaRPr lang="en-US" sz="1000" dirty="0"/>
          </a:p>
        </p:txBody>
      </p:sp>
      <p:sp>
        <p:nvSpPr>
          <p:cNvPr id="53" name="Text 50"/>
          <p:cNvSpPr txBox="1"/>
          <p:nvPr/>
        </p:nvSpPr>
        <p:spPr>
          <a:xfrm>
            <a:off x="8732520" y="5989320"/>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ea typeface="Amiri" pitchFamily="2" charset="-78"/>
                <a:cs typeface="Amiri" pitchFamily="2" charset="-78"/>
              </a:rPr>
              <a:t>يَحْتَاجُ إِلَى تَطْوِيرِ …</a:t>
            </a:r>
            <a:endParaRPr lang="ar-SA" sz="1300" dirty="0"/>
          </a:p>
        </p:txBody>
      </p:sp>
      <p:sp>
        <p:nvSpPr>
          <p:cNvPr id="54" name="Text 51"/>
          <p:cNvSpPr txBox="1"/>
          <p:nvPr/>
        </p:nvSpPr>
        <p:spPr>
          <a:xfrm>
            <a:off x="6492240" y="5989320"/>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he needs to develop …</a:t>
            </a:r>
            <a:endParaRPr lang="en-US" sz="1000" dirty="0"/>
          </a:p>
        </p:txBody>
      </p:sp>
      <p:sp>
        <p:nvSpPr>
          <p:cNvPr id="55" name="Text 5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34 / 47</a:t>
            </a:r>
            <a:endParaRPr lang="en-US" sz="85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TD-L08 ·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SAY IT BEFORE YOU WRITE IT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What makes a good worker?</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التَّحَدُّثُ</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D · The World of Work · TD-L08</a:t>
            </a:r>
            <a:endParaRPr lang="en-US" sz="850" dirty="0"/>
          </a:p>
        </p:txBody>
      </p:sp>
      <p:sp>
        <p:nvSpPr>
          <p:cNvPr id="17" name="Shape 14"/>
          <p:cNvSpPr/>
          <p:nvPr/>
        </p:nvSpPr>
        <p:spPr>
          <a:xfrm>
            <a:off x="457200" y="1810512"/>
            <a:ext cx="2185416" cy="566928"/>
          </a:xfrm>
          <a:prstGeom prst="roundRect">
            <a:avLst>
              <a:gd name="adj" fmla="val 12903"/>
            </a:avLst>
          </a:prstGeom>
          <a:solidFill>
            <a:srgbClr val="EEF3FA"/>
          </a:solidFill>
          <a:ln w="9525">
            <a:solidFill>
              <a:srgbClr val="C9D6EA"/>
            </a:solidFill>
            <a:prstDash val="solid"/>
          </a:ln>
        </p:spPr>
      </p:sp>
      <p:sp>
        <p:nvSpPr>
          <p:cNvPr id="18" name="Text 15"/>
          <p:cNvSpPr txBox="1"/>
          <p:nvPr/>
        </p:nvSpPr>
        <p:spPr>
          <a:xfrm>
            <a:off x="512064"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19" name="Text 16"/>
          <p:cNvSpPr txBox="1"/>
          <p:nvPr/>
        </p:nvSpPr>
        <p:spPr>
          <a:xfrm>
            <a:off x="914400"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Think</a:t>
            </a:r>
            <a:endParaRPr lang="en-US" sz="1050" dirty="0"/>
          </a:p>
          <a:p>
            <a:pPr indent="0" marL="0">
              <a:buNone/>
            </a:pPr>
            <a:r>
              <a:rPr lang="en-US" sz="950" dirty="0">
                <a:solidFill>
                  <a:srgbClr val="5A6472"/>
                </a:solidFill>
                <a:latin typeface="Calibri" pitchFamily="34" charset="0"/>
                <a:cs typeface="Amiri" pitchFamily="2" charset="-78"/>
              </a:rPr>
              <a:t>10 seconds</a:t>
            </a:r>
            <a:endParaRPr lang="en-US" sz="1050" dirty="0"/>
          </a:p>
        </p:txBody>
      </p:sp>
      <p:sp>
        <p:nvSpPr>
          <p:cNvPr id="20" name="Shape 17"/>
          <p:cNvSpPr/>
          <p:nvPr/>
        </p:nvSpPr>
        <p:spPr>
          <a:xfrm>
            <a:off x="2729484" y="1810512"/>
            <a:ext cx="2185416" cy="566928"/>
          </a:xfrm>
          <a:prstGeom prst="roundRect">
            <a:avLst>
              <a:gd name="adj" fmla="val 12903"/>
            </a:avLst>
          </a:prstGeom>
          <a:solidFill>
            <a:srgbClr val="EEF3FA"/>
          </a:solidFill>
          <a:ln w="9525">
            <a:solidFill>
              <a:srgbClr val="C9D6EA"/>
            </a:solidFill>
            <a:prstDash val="solid"/>
          </a:ln>
        </p:spPr>
      </p:sp>
      <p:sp>
        <p:nvSpPr>
          <p:cNvPr id="21" name="Text 18"/>
          <p:cNvSpPr txBox="1"/>
          <p:nvPr/>
        </p:nvSpPr>
        <p:spPr>
          <a:xfrm>
            <a:off x="2784348"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2" name="Text 19"/>
          <p:cNvSpPr txBox="1"/>
          <p:nvPr/>
        </p:nvSpPr>
        <p:spPr>
          <a:xfrm>
            <a:off x="3186684"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Rehearse</a:t>
            </a:r>
            <a:endParaRPr lang="en-US" sz="1050" dirty="0"/>
          </a:p>
          <a:p>
            <a:pPr indent="0" marL="0">
              <a:buNone/>
            </a:pPr>
            <a:r>
              <a:rPr lang="en-US" sz="950" dirty="0">
                <a:solidFill>
                  <a:srgbClr val="5A6472"/>
                </a:solidFill>
                <a:latin typeface="Calibri" pitchFamily="34" charset="0"/>
                <a:cs typeface="Amiri" pitchFamily="2" charset="-78"/>
              </a:rPr>
              <a:t>muted · 45 s</a:t>
            </a:r>
            <a:endParaRPr lang="en-US" sz="1050" dirty="0"/>
          </a:p>
        </p:txBody>
      </p:sp>
      <p:sp>
        <p:nvSpPr>
          <p:cNvPr id="23" name="Shape 20"/>
          <p:cNvSpPr/>
          <p:nvPr/>
        </p:nvSpPr>
        <p:spPr>
          <a:xfrm>
            <a:off x="5001768" y="1810512"/>
            <a:ext cx="2185416" cy="566928"/>
          </a:xfrm>
          <a:prstGeom prst="roundRect">
            <a:avLst>
              <a:gd name="adj" fmla="val 12903"/>
            </a:avLst>
          </a:prstGeom>
          <a:solidFill>
            <a:srgbClr val="EEF3FA"/>
          </a:solidFill>
          <a:ln w="9525">
            <a:solidFill>
              <a:srgbClr val="C9D6EA"/>
            </a:solidFill>
            <a:prstDash val="solid"/>
          </a:ln>
        </p:spPr>
      </p:sp>
      <p:sp>
        <p:nvSpPr>
          <p:cNvPr id="24" name="Text 21"/>
          <p:cNvSpPr txBox="1"/>
          <p:nvPr/>
        </p:nvSpPr>
        <p:spPr>
          <a:xfrm>
            <a:off x="5056632"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5" name="Text 22"/>
          <p:cNvSpPr txBox="1"/>
          <p:nvPr/>
        </p:nvSpPr>
        <p:spPr>
          <a:xfrm>
            <a:off x="5458968"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Pairs share</a:t>
            </a:r>
            <a:endParaRPr lang="en-US" sz="1050" dirty="0"/>
          </a:p>
          <a:p>
            <a:pPr indent="0" marL="0">
              <a:buNone/>
            </a:pPr>
            <a:r>
              <a:rPr lang="en-US" sz="950" dirty="0">
                <a:solidFill>
                  <a:srgbClr val="5A6472"/>
                </a:solidFill>
                <a:latin typeface="Calibri" pitchFamily="34" charset="0"/>
                <a:cs typeface="Amiri" pitchFamily="2" charset="-78"/>
              </a:rPr>
              <a:t>open mic</a:t>
            </a:r>
            <a:endParaRPr lang="en-US" sz="1050" dirty="0"/>
          </a:p>
        </p:txBody>
      </p:sp>
      <p:sp>
        <p:nvSpPr>
          <p:cNvPr id="26" name="Shape 23"/>
          <p:cNvSpPr/>
          <p:nvPr/>
        </p:nvSpPr>
        <p:spPr>
          <a:xfrm>
            <a:off x="7274052" y="1810512"/>
            <a:ext cx="2185416" cy="566928"/>
          </a:xfrm>
          <a:prstGeom prst="roundRect">
            <a:avLst>
              <a:gd name="adj" fmla="val 12903"/>
            </a:avLst>
          </a:prstGeom>
          <a:solidFill>
            <a:srgbClr val="EEF3FA"/>
          </a:solidFill>
          <a:ln w="9525">
            <a:solidFill>
              <a:srgbClr val="C9D6EA"/>
            </a:solidFill>
            <a:prstDash val="solid"/>
          </a:ln>
        </p:spPr>
      </p:sp>
      <p:sp>
        <p:nvSpPr>
          <p:cNvPr id="27" name="Text 24"/>
          <p:cNvSpPr txBox="1"/>
          <p:nvPr/>
        </p:nvSpPr>
        <p:spPr>
          <a:xfrm>
            <a:off x="7328916"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 ?</a:t>
            </a:r>
            <a:endParaRPr lang="en-US" sz="1800" dirty="0"/>
          </a:p>
        </p:txBody>
      </p:sp>
      <p:sp>
        <p:nvSpPr>
          <p:cNvPr id="28" name="Text 25"/>
          <p:cNvSpPr txBox="1"/>
          <p:nvPr/>
        </p:nvSpPr>
        <p:spPr>
          <a:xfrm>
            <a:off x="7731252"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Build / ask</a:t>
            </a:r>
            <a:endParaRPr lang="en-US" sz="1050" dirty="0"/>
          </a:p>
          <a:p>
            <a:pPr indent="0" marL="0">
              <a:buNone/>
            </a:pPr>
            <a:r>
              <a:rPr lang="en-US" sz="950" dirty="0">
                <a:solidFill>
                  <a:srgbClr val="5A6472"/>
                </a:solidFill>
                <a:latin typeface="Calibri" pitchFamily="34" charset="0"/>
                <a:cs typeface="Amiri" pitchFamily="2" charset="-78"/>
              </a:rPr>
              <a:t>in the chat</a:t>
            </a:r>
            <a:endParaRPr lang="en-US" sz="1050" dirty="0"/>
          </a:p>
        </p:txBody>
      </p:sp>
      <p:sp>
        <p:nvSpPr>
          <p:cNvPr id="29" name="Shape 26"/>
          <p:cNvSpPr/>
          <p:nvPr/>
        </p:nvSpPr>
        <p:spPr>
          <a:xfrm>
            <a:off x="9546336" y="1810512"/>
            <a:ext cx="2185416" cy="566928"/>
          </a:xfrm>
          <a:prstGeom prst="roundRect">
            <a:avLst>
              <a:gd name="adj" fmla="val 12903"/>
            </a:avLst>
          </a:prstGeom>
          <a:solidFill>
            <a:srgbClr val="EEF3FA"/>
          </a:solidFill>
          <a:ln w="9525">
            <a:solidFill>
              <a:srgbClr val="C9D6EA"/>
            </a:solidFill>
            <a:prstDash val="solid"/>
          </a:ln>
        </p:spPr>
      </p:sp>
      <p:sp>
        <p:nvSpPr>
          <p:cNvPr id="30" name="Text 27"/>
          <p:cNvSpPr txBox="1"/>
          <p:nvPr/>
        </p:nvSpPr>
        <p:spPr>
          <a:xfrm>
            <a:off x="9601200"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31" name="Text 28"/>
          <p:cNvSpPr txBox="1"/>
          <p:nvPr/>
        </p:nvSpPr>
        <p:spPr>
          <a:xfrm>
            <a:off x="10003536"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Summarise</a:t>
            </a:r>
            <a:endParaRPr lang="en-US" sz="1050" dirty="0"/>
          </a:p>
          <a:p>
            <a:pPr indent="0" marL="0">
              <a:buNone/>
            </a:pPr>
            <a:r>
              <a:rPr lang="en-US" sz="950" dirty="0">
                <a:solidFill>
                  <a:srgbClr val="5A6472"/>
                </a:solidFill>
                <a:latin typeface="Calibri" pitchFamily="34" charset="0"/>
                <a:cs typeface="Amiri" pitchFamily="2" charset="-78"/>
              </a:rPr>
              <a:t>he / she …</a:t>
            </a:r>
            <a:endParaRPr lang="en-US" sz="1050" dirty="0"/>
          </a:p>
        </p:txBody>
      </p:sp>
      <p:sp>
        <p:nvSpPr>
          <p:cNvPr id="32" name="Shape 29"/>
          <p:cNvSpPr/>
          <p:nvPr/>
        </p:nvSpPr>
        <p:spPr>
          <a:xfrm>
            <a:off x="4754880" y="2487168"/>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4846320" y="2642616"/>
            <a:ext cx="960120" cy="256032"/>
          </a:xfrm>
          <a:prstGeom prst="roundRect">
            <a:avLst>
              <a:gd name="adj" fmla="val 50000"/>
            </a:avLst>
          </a:prstGeom>
          <a:solidFill>
            <a:srgbClr val="2E8B57"/>
          </a:solidFill>
          <a:ln w="12700">
            <a:solidFill>
              <a:srgbClr val="2E8B57"/>
            </a:solidFill>
            <a:prstDash val="solid"/>
          </a:ln>
        </p:spPr>
      </p:sp>
      <p:sp>
        <p:nvSpPr>
          <p:cNvPr id="34" name="Text 31"/>
          <p:cNvSpPr txBox="1"/>
          <p:nvPr/>
        </p:nvSpPr>
        <p:spPr>
          <a:xfrm>
            <a:off x="4846320" y="2642616"/>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5" name="Text 32"/>
          <p:cNvSpPr txBox="1"/>
          <p:nvPr/>
        </p:nvSpPr>
        <p:spPr>
          <a:xfrm>
            <a:off x="5897880" y="2487168"/>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مَا المَهَارَاتُ الَّتِي يَحْتَاجُ إِلَيْهَا الطَّبِيبُ؟</a:t>
            </a:r>
            <a:endParaRPr lang="ar-SA" sz="1800" dirty="0"/>
          </a:p>
        </p:txBody>
      </p:sp>
      <p:sp>
        <p:nvSpPr>
          <p:cNvPr id="36" name="Shape 33"/>
          <p:cNvSpPr/>
          <p:nvPr/>
        </p:nvSpPr>
        <p:spPr>
          <a:xfrm>
            <a:off x="4754880" y="3108960"/>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4846320" y="3264408"/>
            <a:ext cx="960120" cy="256032"/>
          </a:xfrm>
          <a:prstGeom prst="roundRect">
            <a:avLst>
              <a:gd name="adj" fmla="val 50000"/>
            </a:avLst>
          </a:prstGeom>
          <a:solidFill>
            <a:srgbClr val="2E8B57"/>
          </a:solidFill>
          <a:ln w="12700">
            <a:solidFill>
              <a:srgbClr val="2E8B57"/>
            </a:solidFill>
            <a:prstDash val="solid"/>
          </a:ln>
        </p:spPr>
      </p:sp>
      <p:sp>
        <p:nvSpPr>
          <p:cNvPr id="38" name="Text 35"/>
          <p:cNvSpPr txBox="1"/>
          <p:nvPr/>
        </p:nvSpPr>
        <p:spPr>
          <a:xfrm>
            <a:off x="4846320" y="3264408"/>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9" name="Text 36"/>
          <p:cNvSpPr txBox="1"/>
          <p:nvPr/>
        </p:nvSpPr>
        <p:spPr>
          <a:xfrm>
            <a:off x="5897880" y="3108960"/>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مَا أَهَمُّ صِفَةٍ فِيكَ؟</a:t>
            </a:r>
            <a:endParaRPr lang="ar-SA" sz="1800" dirty="0"/>
          </a:p>
        </p:txBody>
      </p:sp>
      <p:sp>
        <p:nvSpPr>
          <p:cNvPr id="40" name="Shape 37"/>
          <p:cNvSpPr/>
          <p:nvPr/>
        </p:nvSpPr>
        <p:spPr>
          <a:xfrm>
            <a:off x="4754880" y="3730752"/>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1" name="Shape 38"/>
          <p:cNvSpPr/>
          <p:nvPr/>
        </p:nvSpPr>
        <p:spPr>
          <a:xfrm>
            <a:off x="4846320" y="3886200"/>
            <a:ext cx="960120" cy="256032"/>
          </a:xfrm>
          <a:prstGeom prst="roundRect">
            <a:avLst>
              <a:gd name="adj" fmla="val 50000"/>
            </a:avLst>
          </a:prstGeom>
          <a:solidFill>
            <a:srgbClr val="C9780A"/>
          </a:solidFill>
          <a:ln w="12700">
            <a:solidFill>
              <a:srgbClr val="C9780A"/>
            </a:solidFill>
            <a:prstDash val="solid"/>
          </a:ln>
        </p:spPr>
      </p:sp>
      <p:sp>
        <p:nvSpPr>
          <p:cNvPr id="42" name="Text 39"/>
          <p:cNvSpPr txBox="1"/>
          <p:nvPr/>
        </p:nvSpPr>
        <p:spPr>
          <a:xfrm>
            <a:off x="4846320" y="3886200"/>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43" name="Text 40"/>
          <p:cNvSpPr txBox="1"/>
          <p:nvPr/>
        </p:nvSpPr>
        <p:spPr>
          <a:xfrm>
            <a:off x="5897880" y="3730752"/>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كَيْفَ يَجِبُ أَنْ يَكُونَ المُدَرِّسُ الجَيِّدُ؟</a:t>
            </a:r>
            <a:endParaRPr lang="ar-SA" sz="1800" dirty="0"/>
          </a:p>
        </p:txBody>
      </p:sp>
      <p:sp>
        <p:nvSpPr>
          <p:cNvPr id="44" name="Shape 41"/>
          <p:cNvSpPr/>
          <p:nvPr/>
        </p:nvSpPr>
        <p:spPr>
          <a:xfrm>
            <a:off x="4754880" y="4352544"/>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5" name="Shape 42"/>
          <p:cNvSpPr/>
          <p:nvPr/>
        </p:nvSpPr>
        <p:spPr>
          <a:xfrm>
            <a:off x="4846320" y="4507992"/>
            <a:ext cx="960120" cy="256032"/>
          </a:xfrm>
          <a:prstGeom prst="roundRect">
            <a:avLst>
              <a:gd name="adj" fmla="val 50000"/>
            </a:avLst>
          </a:prstGeom>
          <a:solidFill>
            <a:srgbClr val="B83227"/>
          </a:solidFill>
          <a:ln w="12700">
            <a:solidFill>
              <a:srgbClr val="B83227"/>
            </a:solidFill>
            <a:prstDash val="solid"/>
          </a:ln>
        </p:spPr>
      </p:sp>
      <p:sp>
        <p:nvSpPr>
          <p:cNvPr id="46" name="Text 43"/>
          <p:cNvSpPr txBox="1"/>
          <p:nvPr/>
        </p:nvSpPr>
        <p:spPr>
          <a:xfrm>
            <a:off x="4846320" y="4507992"/>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7" name="Text 44"/>
          <p:cNvSpPr txBox="1"/>
          <p:nvPr/>
        </p:nvSpPr>
        <p:spPr>
          <a:xfrm>
            <a:off x="5897880" y="4352544"/>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مَا المَهَارَاتُ الَّتِي تَشْتَرِكُ فِيهَا كُلُّ المِهَنِ؟</a:t>
            </a:r>
            <a:endParaRPr lang="ar-SA" sz="1800" dirty="0"/>
          </a:p>
        </p:txBody>
      </p:sp>
      <p:sp>
        <p:nvSpPr>
          <p:cNvPr id="48" name="Shape 45"/>
          <p:cNvSpPr/>
          <p:nvPr/>
        </p:nvSpPr>
        <p:spPr>
          <a:xfrm>
            <a:off x="457200" y="2487168"/>
            <a:ext cx="4114800" cy="2651760"/>
          </a:xfrm>
          <a:prstGeom prst="roundRect">
            <a:avLst>
              <a:gd name="adj" fmla="val 2759"/>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49" name="Text 46"/>
          <p:cNvSpPr txBox="1"/>
          <p:nvPr/>
        </p:nvSpPr>
        <p:spPr>
          <a:xfrm>
            <a:off x="640080" y="2542032"/>
            <a:ext cx="27432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SENTENCE STEMS</a:t>
            </a:r>
            <a:endParaRPr lang="en-US" sz="1000" dirty="0"/>
          </a:p>
        </p:txBody>
      </p:sp>
      <p:sp>
        <p:nvSpPr>
          <p:cNvPr id="50" name="Shape 47"/>
          <p:cNvSpPr/>
          <p:nvPr/>
        </p:nvSpPr>
        <p:spPr>
          <a:xfrm>
            <a:off x="640080" y="3008376"/>
            <a:ext cx="1051560" cy="256032"/>
          </a:xfrm>
          <a:prstGeom prst="roundRect">
            <a:avLst>
              <a:gd name="adj" fmla="val 50000"/>
            </a:avLst>
          </a:prstGeom>
          <a:solidFill>
            <a:srgbClr val="2E8B57"/>
          </a:solidFill>
          <a:ln w="12700">
            <a:solidFill>
              <a:srgbClr val="2E8B57"/>
            </a:solidFill>
            <a:prstDash val="solid"/>
          </a:ln>
        </p:spPr>
      </p:sp>
      <p:sp>
        <p:nvSpPr>
          <p:cNvPr id="51" name="Text 48"/>
          <p:cNvSpPr txBox="1"/>
          <p:nvPr/>
        </p:nvSpPr>
        <p:spPr>
          <a:xfrm>
            <a:off x="640080" y="3008376"/>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52" name="Text 49"/>
          <p:cNvSpPr txBox="1"/>
          <p:nvPr/>
        </p:nvSpPr>
        <p:spPr>
          <a:xfrm>
            <a:off x="1783080" y="2852928"/>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D5FBF"/>
                </a:solidFill>
                <a:latin typeface="Amiri" pitchFamily="2" charset="-78"/>
                <a:ea typeface="Amiri" pitchFamily="2" charset="-78"/>
                <a:cs typeface="Amiri" pitchFamily="2" charset="-78"/>
              </a:rPr>
              <a:t>يَحْتَاجُ الطَّبِيبُ إِلَى ___ .</a:t>
            </a:r>
            <a:endParaRPr lang="ar-SA" sz="1600" dirty="0"/>
          </a:p>
        </p:txBody>
      </p:sp>
      <p:sp>
        <p:nvSpPr>
          <p:cNvPr id="53" name="Shape 50"/>
          <p:cNvSpPr/>
          <p:nvPr/>
        </p:nvSpPr>
        <p:spPr>
          <a:xfrm>
            <a:off x="640080" y="3566160"/>
            <a:ext cx="1051560" cy="256032"/>
          </a:xfrm>
          <a:prstGeom prst="roundRect">
            <a:avLst>
              <a:gd name="adj" fmla="val 50000"/>
            </a:avLst>
          </a:prstGeom>
          <a:solidFill>
            <a:srgbClr val="2E8B57"/>
          </a:solidFill>
          <a:ln w="12700">
            <a:solidFill>
              <a:srgbClr val="2E8B57"/>
            </a:solidFill>
            <a:prstDash val="solid"/>
          </a:ln>
        </p:spPr>
      </p:sp>
      <p:sp>
        <p:nvSpPr>
          <p:cNvPr id="54" name="Text 51"/>
          <p:cNvSpPr txBox="1"/>
          <p:nvPr/>
        </p:nvSpPr>
        <p:spPr>
          <a:xfrm>
            <a:off x="640080" y="3566160"/>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55" name="Text 52"/>
          <p:cNvSpPr txBox="1"/>
          <p:nvPr/>
        </p:nvSpPr>
        <p:spPr>
          <a:xfrm>
            <a:off x="1783080" y="3410712"/>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D5FBF"/>
                </a:solidFill>
                <a:latin typeface="Amiri" pitchFamily="2" charset="-78"/>
                <a:ea typeface="Amiri" pitchFamily="2" charset="-78"/>
                <a:cs typeface="Amiri" pitchFamily="2" charset="-78"/>
              </a:rPr>
              <a:t>أَنَا ___ لِأَنَّنِي ___ .</a:t>
            </a:r>
            <a:endParaRPr lang="ar-SA" sz="1600" dirty="0"/>
          </a:p>
        </p:txBody>
      </p:sp>
      <p:sp>
        <p:nvSpPr>
          <p:cNvPr id="56" name="Shape 53"/>
          <p:cNvSpPr/>
          <p:nvPr/>
        </p:nvSpPr>
        <p:spPr>
          <a:xfrm>
            <a:off x="640080" y="4123944"/>
            <a:ext cx="1051560" cy="256032"/>
          </a:xfrm>
          <a:prstGeom prst="roundRect">
            <a:avLst>
              <a:gd name="adj" fmla="val 50000"/>
            </a:avLst>
          </a:prstGeom>
          <a:solidFill>
            <a:srgbClr val="C9780A"/>
          </a:solidFill>
          <a:ln w="12700">
            <a:solidFill>
              <a:srgbClr val="C9780A"/>
            </a:solidFill>
            <a:prstDash val="solid"/>
          </a:ln>
        </p:spPr>
      </p:sp>
      <p:sp>
        <p:nvSpPr>
          <p:cNvPr id="57" name="Text 54"/>
          <p:cNvSpPr txBox="1"/>
          <p:nvPr/>
        </p:nvSpPr>
        <p:spPr>
          <a:xfrm>
            <a:off x="640080" y="4123944"/>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58" name="Text 55"/>
          <p:cNvSpPr txBox="1"/>
          <p:nvPr/>
        </p:nvSpPr>
        <p:spPr>
          <a:xfrm>
            <a:off x="1783080" y="3968496"/>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2" charset="-78"/>
                <a:ea typeface="Amiri" pitchFamily="2" charset="-78"/>
                <a:cs typeface="Amiri" pitchFamily="2" charset="-78"/>
              </a:rPr>
              <a:t>يَجِبُ أَنْ يَكُونَ ___ وَ ___ .</a:t>
            </a:r>
            <a:endParaRPr lang="ar-SA" sz="1600" dirty="0"/>
          </a:p>
        </p:txBody>
      </p:sp>
      <p:sp>
        <p:nvSpPr>
          <p:cNvPr id="59" name="Shape 56"/>
          <p:cNvSpPr/>
          <p:nvPr/>
        </p:nvSpPr>
        <p:spPr>
          <a:xfrm>
            <a:off x="640080" y="4681728"/>
            <a:ext cx="1051560" cy="256032"/>
          </a:xfrm>
          <a:prstGeom prst="roundRect">
            <a:avLst>
              <a:gd name="adj" fmla="val 50000"/>
            </a:avLst>
          </a:prstGeom>
          <a:solidFill>
            <a:srgbClr val="B83227"/>
          </a:solidFill>
          <a:ln w="12700">
            <a:solidFill>
              <a:srgbClr val="B83227"/>
            </a:solidFill>
            <a:prstDash val="solid"/>
          </a:ln>
        </p:spPr>
      </p:sp>
      <p:sp>
        <p:nvSpPr>
          <p:cNvPr id="60" name="Text 57"/>
          <p:cNvSpPr txBox="1"/>
          <p:nvPr/>
        </p:nvSpPr>
        <p:spPr>
          <a:xfrm>
            <a:off x="640080" y="4681728"/>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61" name="Text 58"/>
          <p:cNvSpPr txBox="1"/>
          <p:nvPr/>
        </p:nvSpPr>
        <p:spPr>
          <a:xfrm>
            <a:off x="1783080" y="4526280"/>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2" charset="-78"/>
                <a:ea typeface="Amiri" pitchFamily="2" charset="-78"/>
                <a:cs typeface="Amiri" pitchFamily="2" charset="-78"/>
              </a:rPr>
              <a:t>كُلُّ المِهَنِ تَحْتَاجُ إِلَى ___ لِأَنَّ ___ .</a:t>
            </a:r>
            <a:endParaRPr lang="ar-SA" sz="1600" dirty="0"/>
          </a:p>
        </p:txBody>
      </p:sp>
      <p:sp>
        <p:nvSpPr>
          <p:cNvPr id="62" name="Shape 59"/>
          <p:cNvSpPr/>
          <p:nvPr/>
        </p:nvSpPr>
        <p:spPr>
          <a:xfrm>
            <a:off x="457200" y="5248656"/>
            <a:ext cx="11274552" cy="1060704"/>
          </a:xfrm>
          <a:prstGeom prst="roundRect">
            <a:avLst>
              <a:gd name="adj" fmla="val 6897"/>
            </a:avLst>
          </a:prstGeom>
          <a:solidFill>
            <a:srgbClr val="EAF3EF"/>
          </a:solidFill>
          <a:ln w="9525">
            <a:solidFill>
              <a:srgbClr val="A8CDB9"/>
            </a:solidFill>
            <a:prstDash val="solid"/>
          </a:ln>
          <a:effectLst>
            <a:outerShdw sx="100000" sy="100000" kx="0" ky="0" algn="bl" rotWithShape="0" blurRad="50800" dist="19050" dir="5400000">
              <a:srgbClr val="000000">
                <a:alpha val="10000"/>
              </a:srgbClr>
            </a:outerShdw>
          </a:effectLst>
        </p:spPr>
      </p:sp>
      <p:sp>
        <p:nvSpPr>
          <p:cNvPr id="63" name="Text 60"/>
          <p:cNvSpPr txBox="1"/>
          <p:nvPr/>
        </p:nvSpPr>
        <p:spPr>
          <a:xfrm>
            <a:off x="640080" y="5285232"/>
            <a:ext cx="2011680" cy="256032"/>
          </a:xfrm>
          <a:prstGeom prst="rect">
            <a:avLst/>
          </a:prstGeom>
          <a:noFill/>
          <a:ln/>
        </p:spPr>
        <p:txBody>
          <a:bodyPr wrap="square" lIns="0" tIns="0" rIns="0" bIns="0" rtlCol="0" anchor="ctr"/>
          <a:lstStyle/>
          <a:p>
            <a:pPr algn="l" indent="0" marL="0">
              <a:buNone/>
            </a:pPr>
            <a:r>
              <a:rPr lang="en-US" sz="950" b="1" spc="100" kern="0" dirty="0">
                <a:solidFill>
                  <a:srgbClr val="1E6B52"/>
                </a:solidFill>
                <a:latin typeface="Calibri" pitchFamily="34" charset="0"/>
                <a:cs typeface="Amiri" pitchFamily="2" charset="-78"/>
              </a:rPr>
              <a:t>MODEL (WEBSITE)</a:t>
            </a:r>
            <a:endParaRPr lang="en-US" sz="950" dirty="0"/>
          </a:p>
        </p:txBody>
      </p:sp>
      <p:sp>
        <p:nvSpPr>
          <p:cNvPr id="64" name="Shape 61"/>
          <p:cNvSpPr/>
          <p:nvPr/>
        </p:nvSpPr>
        <p:spPr>
          <a:xfrm>
            <a:off x="11274552" y="5559552"/>
            <a:ext cx="292608" cy="292608"/>
          </a:xfrm>
          <a:prstGeom prst="ellipse">
            <a:avLst/>
          </a:prstGeom>
          <a:solidFill>
            <a:srgbClr val="1E6B52"/>
          </a:solidFill>
          <a:ln w="12700">
            <a:solidFill>
              <a:srgbClr val="1E6B52"/>
            </a:solidFill>
            <a:prstDash val="solid"/>
          </a:ln>
        </p:spPr>
      </p:sp>
      <p:sp>
        <p:nvSpPr>
          <p:cNvPr id="65" name="Text 62"/>
          <p:cNvSpPr txBox="1"/>
          <p:nvPr/>
        </p:nvSpPr>
        <p:spPr>
          <a:xfrm>
            <a:off x="11274552" y="555955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A</a:t>
            </a:r>
            <a:endParaRPr lang="en-US" sz="1000" dirty="0"/>
          </a:p>
        </p:txBody>
      </p:sp>
      <p:sp>
        <p:nvSpPr>
          <p:cNvPr id="66" name="Text 63"/>
          <p:cNvSpPr txBox="1"/>
          <p:nvPr/>
        </p:nvSpPr>
        <p:spPr>
          <a:xfrm>
            <a:off x="2834640" y="552297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2" charset="-78"/>
                <a:ea typeface="Amiri" pitchFamily="2" charset="-78"/>
                <a:cs typeface="Amiri" pitchFamily="2" charset="-78"/>
              </a:rPr>
              <a:t>مَا المَهَارَاتُ الَّتِي يَحْتَاجُ إِلَيْهَا المُدَرِّسُ؟</a:t>
            </a:r>
            <a:endParaRPr lang="ar-SA" sz="1550" dirty="0"/>
          </a:p>
        </p:txBody>
      </p:sp>
      <p:sp>
        <p:nvSpPr>
          <p:cNvPr id="67" name="Text 64"/>
          <p:cNvSpPr txBox="1"/>
          <p:nvPr/>
        </p:nvSpPr>
        <p:spPr>
          <a:xfrm>
            <a:off x="640080" y="552297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cs typeface="Amiri" pitchFamily="2" charset="-78"/>
              </a:rPr>
              <a:t>What skills does a teacher need?</a:t>
            </a:r>
            <a:endParaRPr lang="en-US" sz="950" dirty="0"/>
          </a:p>
        </p:txBody>
      </p:sp>
      <p:sp>
        <p:nvSpPr>
          <p:cNvPr id="68" name="Shape 65"/>
          <p:cNvSpPr/>
          <p:nvPr/>
        </p:nvSpPr>
        <p:spPr>
          <a:xfrm>
            <a:off x="11274552" y="5925312"/>
            <a:ext cx="292608" cy="292608"/>
          </a:xfrm>
          <a:prstGeom prst="ellipse">
            <a:avLst/>
          </a:prstGeom>
          <a:solidFill>
            <a:srgbClr val="1E6B52"/>
          </a:solidFill>
          <a:ln w="12700">
            <a:solidFill>
              <a:srgbClr val="1E6B52"/>
            </a:solidFill>
            <a:prstDash val="solid"/>
          </a:ln>
        </p:spPr>
      </p:sp>
      <p:sp>
        <p:nvSpPr>
          <p:cNvPr id="69" name="Text 66"/>
          <p:cNvSpPr txBox="1"/>
          <p:nvPr/>
        </p:nvSpPr>
        <p:spPr>
          <a:xfrm>
            <a:off x="11274552" y="592531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B</a:t>
            </a:r>
            <a:endParaRPr lang="en-US" sz="1000" dirty="0"/>
          </a:p>
        </p:txBody>
      </p:sp>
      <p:sp>
        <p:nvSpPr>
          <p:cNvPr id="70" name="Text 67"/>
          <p:cNvSpPr txBox="1"/>
          <p:nvPr/>
        </p:nvSpPr>
        <p:spPr>
          <a:xfrm>
            <a:off x="2834640" y="588873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2" charset="-78"/>
                <a:ea typeface="Amiri" pitchFamily="2" charset="-78"/>
                <a:cs typeface="Amiri" pitchFamily="2" charset="-78"/>
              </a:rPr>
              <a:t>يَحْتَاجُ إِلَى التَّوَاصُلِ، وَيَجِبُ أَنْ يَكُونَ صَبُورًا وَمُنَظَّمًا.</a:t>
            </a:r>
            <a:endParaRPr lang="ar-SA" sz="1550" dirty="0"/>
          </a:p>
        </p:txBody>
      </p:sp>
      <p:sp>
        <p:nvSpPr>
          <p:cNvPr id="71" name="Text 68"/>
          <p:cNvSpPr txBox="1"/>
          <p:nvPr/>
        </p:nvSpPr>
        <p:spPr>
          <a:xfrm>
            <a:off x="640080" y="588873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cs typeface="Amiri" pitchFamily="2" charset="-78"/>
              </a:rPr>
              <a:t>He needs communication, and he must be patient and organised.</a:t>
            </a:r>
            <a:endParaRPr lang="en-US" sz="950" dirty="0"/>
          </a:p>
        </p:txBody>
      </p:sp>
      <p:sp>
        <p:nvSpPr>
          <p:cNvPr id="72" name="Text 6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35 / 47</a:t>
            </a:r>
            <a:endParaRPr lang="en-US" sz="85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TD-L08 · Skills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9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INDEPENDENT PRACTICE · 9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Write: choose your route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D · The World of Work · TD-L08</a:t>
            </a:r>
            <a:endParaRPr lang="en-US" sz="850" dirty="0"/>
          </a:p>
        </p:txBody>
      </p:sp>
      <p:sp>
        <p:nvSpPr>
          <p:cNvPr id="15" name="Shape 12"/>
          <p:cNvSpPr/>
          <p:nvPr/>
        </p:nvSpPr>
        <p:spPr>
          <a:xfrm>
            <a:off x="457200" y="1810512"/>
            <a:ext cx="3639312" cy="4315968"/>
          </a:xfrm>
          <a:prstGeom prst="roundRect">
            <a:avLst>
              <a:gd name="adj" fmla="val 2010"/>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310896"/>
          </a:xfrm>
          <a:prstGeom prst="roundRect">
            <a:avLst>
              <a:gd name="adj" fmla="val 50000"/>
            </a:avLst>
          </a:prstGeom>
          <a:solidFill>
            <a:srgbClr val="2E8B57"/>
          </a:solidFill>
          <a:ln w="12700">
            <a:solidFill>
              <a:srgbClr val="2E8B57"/>
            </a:solidFill>
            <a:prstDash val="solid"/>
          </a:ln>
        </p:spPr>
      </p:sp>
      <p:sp>
        <p:nvSpPr>
          <p:cNvPr id="17" name="Text 14"/>
          <p:cNvSpPr txBox="1"/>
          <p:nvPr/>
        </p:nvSpPr>
        <p:spPr>
          <a:xfrm>
            <a:off x="640080"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CORE</a:t>
            </a:r>
            <a:endParaRPr lang="en-US" sz="1000" dirty="0"/>
          </a:p>
        </p:txBody>
      </p:sp>
      <p:sp>
        <p:nvSpPr>
          <p:cNvPr id="18" name="Text 15"/>
          <p:cNvSpPr txBox="1"/>
          <p:nvPr/>
        </p:nvSpPr>
        <p:spPr>
          <a:xfrm>
            <a:off x="2450592"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2E8B57"/>
                </a:solidFill>
                <a:latin typeface="Amiri" pitchFamily="2" charset="-78"/>
                <a:ea typeface="Amiri" pitchFamily="2" charset="-78"/>
                <a:cs typeface="Amiri" pitchFamily="2" charset="-78"/>
              </a:rPr>
              <a:t>الأَسَاسُ</a:t>
            </a:r>
            <a:endParaRPr lang="ar-SA" sz="1800" dirty="0"/>
          </a:p>
        </p:txBody>
      </p:sp>
      <p:sp>
        <p:nvSpPr>
          <p:cNvPr id="19" name="Text 16"/>
          <p:cNvSpPr txBox="1"/>
          <p:nvPr/>
        </p:nvSpPr>
        <p:spPr>
          <a:xfrm>
            <a:off x="640080" y="2377440"/>
            <a:ext cx="3273552" cy="457200"/>
          </a:xfrm>
          <a:prstGeom prst="rect">
            <a:avLst/>
          </a:prstGeom>
          <a:noFill/>
          <a:ln/>
        </p:spPr>
        <p:txBody>
          <a:bodyPr wrap="square" lIns="0" tIns="0" rIns="0" bIns="0" rtlCol="0" anchor="ctr"/>
          <a:lstStyle/>
          <a:p>
            <a:pPr algn="l" indent="0" marL="0">
              <a:buNone/>
            </a:pPr>
            <a:r>
              <a:rPr lang="en-US" sz="2200" b="1" dirty="0">
                <a:solidFill>
                  <a:srgbClr val="2E8B57"/>
                </a:solidFill>
                <a:latin typeface="Cambria" pitchFamily="34" charset="0"/>
                <a:cs typeface="Amiri" pitchFamily="2" charset="-78"/>
              </a:rPr>
              <a:t>5 sentences</a:t>
            </a:r>
            <a:endParaRPr lang="en-US" sz="2200" dirty="0"/>
          </a:p>
        </p:txBody>
      </p:sp>
      <p:sp>
        <p:nvSpPr>
          <p:cNvPr id="20" name="Text 17"/>
          <p:cNvSpPr txBox="1"/>
          <p:nvPr/>
        </p:nvSpPr>
        <p:spPr>
          <a:xfrm>
            <a:off x="640080"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Secure the main vocabulary and produce four accurate sentences using the taught frame.</a:t>
            </a:r>
            <a:endParaRPr lang="en-US" sz="1400" dirty="0"/>
          </a:p>
        </p:txBody>
      </p:sp>
      <p:sp>
        <p:nvSpPr>
          <p:cNvPr id="21" name="Shape 18"/>
          <p:cNvSpPr/>
          <p:nvPr/>
        </p:nvSpPr>
        <p:spPr>
          <a:xfrm>
            <a:off x="640080" y="4160520"/>
            <a:ext cx="3273552" cy="1783080"/>
          </a:xfrm>
          <a:prstGeom prst="roundRect">
            <a:avLst>
              <a:gd name="adj" fmla="val 4103"/>
            </a:avLst>
          </a:prstGeom>
          <a:solidFill>
            <a:srgbClr val="FFFFFF"/>
          </a:solidFill>
          <a:ln w="9525">
            <a:solidFill>
              <a:srgbClr val="FFFFFF"/>
            </a:solidFill>
            <a:prstDash val="solid"/>
          </a:ln>
        </p:spPr>
      </p:sp>
      <p:sp>
        <p:nvSpPr>
          <p:cNvPr id="22" name="Text 19"/>
          <p:cNvSpPr txBox="1"/>
          <p:nvPr/>
        </p:nvSpPr>
        <p:spPr>
          <a:xfrm>
            <a:off x="731520" y="4224528"/>
            <a:ext cx="3090672" cy="1645920"/>
          </a:xfrm>
          <a:prstGeom prst="rect">
            <a:avLst/>
          </a:prstGeom>
          <a:noFill/>
          <a:ln/>
        </p:spPr>
        <p:txBody>
          <a:bodyPr wrap="square" lIns="0" tIns="0" rIns="0" bIns="0" rtlCol="0" anchor="t"/>
          <a:lstStyle/>
          <a:p>
            <a:pPr indent="0" marL="0">
              <a:buNone/>
            </a:pPr>
            <a:r>
              <a:rPr lang="en-US" sz="900" b="1" spc="200" kern="0" dirty="0">
                <a:solidFill>
                  <a:srgbClr val="2E8B57"/>
                </a:solidFill>
                <a:latin typeface="Calibri" pitchFamily="34" charset="0"/>
                <a:cs typeface="Amiri" pitchFamily="2" charset="-78"/>
              </a:rPr>
              <a:t>HOW</a:t>
            </a:r>
            <a:endParaRPr lang="en-US" sz="900" dirty="0"/>
          </a:p>
          <a:p>
            <a:pPr indent="0" marL="0">
              <a:buNone/>
            </a:pPr>
            <a:r>
              <a:rPr lang="ar-SA" sz="1150" dirty="0">
                <a:solidFill>
                  <a:srgbClr val="1F2A37"/>
                </a:solidFill>
                <a:latin typeface="Calibri" pitchFamily="34" charset="0"/>
                <a:ea typeface="Amiri" pitchFamily="2" charset="-78"/>
                <a:cs typeface="Amiri" pitchFamily="2" charset="-78"/>
              </a:rPr>
              <a:t>One job: two skills (يَحْتَاجُ إِلَى), one quality, and one quality of yours with evidence.</a:t>
            </a:r>
            <a:endParaRPr lang="en-US" sz="900" dirty="0"/>
          </a:p>
        </p:txBody>
      </p:sp>
      <p:sp>
        <p:nvSpPr>
          <p:cNvPr id="23" name="Shape 20"/>
          <p:cNvSpPr/>
          <p:nvPr/>
        </p:nvSpPr>
        <p:spPr>
          <a:xfrm>
            <a:off x="4279392" y="1810512"/>
            <a:ext cx="3639312" cy="4315968"/>
          </a:xfrm>
          <a:prstGeom prst="roundRect">
            <a:avLst>
              <a:gd name="adj" fmla="val 2010"/>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62272" y="1938528"/>
            <a:ext cx="1188720" cy="310896"/>
          </a:xfrm>
          <a:prstGeom prst="roundRect">
            <a:avLst>
              <a:gd name="adj" fmla="val 50000"/>
            </a:avLst>
          </a:prstGeom>
          <a:solidFill>
            <a:srgbClr val="C9780A"/>
          </a:solidFill>
          <a:ln w="12700">
            <a:solidFill>
              <a:srgbClr val="C9780A"/>
            </a:solidFill>
            <a:prstDash val="solid"/>
          </a:ln>
        </p:spPr>
      </p:sp>
      <p:sp>
        <p:nvSpPr>
          <p:cNvPr id="25" name="Text 22"/>
          <p:cNvSpPr txBox="1"/>
          <p:nvPr/>
        </p:nvSpPr>
        <p:spPr>
          <a:xfrm>
            <a:off x="4462272"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DEVELOP</a:t>
            </a:r>
            <a:endParaRPr lang="en-US" sz="1000" dirty="0"/>
          </a:p>
        </p:txBody>
      </p:sp>
      <p:sp>
        <p:nvSpPr>
          <p:cNvPr id="26" name="Text 23"/>
          <p:cNvSpPr txBox="1"/>
          <p:nvPr/>
        </p:nvSpPr>
        <p:spPr>
          <a:xfrm>
            <a:off x="6272784"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C9780A"/>
                </a:solidFill>
                <a:latin typeface="Amiri" pitchFamily="2" charset="-78"/>
                <a:ea typeface="Amiri" pitchFamily="2" charset="-78"/>
                <a:cs typeface="Amiri" pitchFamily="2" charset="-78"/>
              </a:rPr>
              <a:t>التَّطْوِيرُ</a:t>
            </a:r>
            <a:endParaRPr lang="ar-SA" sz="1800" dirty="0"/>
          </a:p>
        </p:txBody>
      </p:sp>
      <p:sp>
        <p:nvSpPr>
          <p:cNvPr id="27" name="Text 24"/>
          <p:cNvSpPr txBox="1"/>
          <p:nvPr/>
        </p:nvSpPr>
        <p:spPr>
          <a:xfrm>
            <a:off x="4462272" y="2377440"/>
            <a:ext cx="3273552" cy="457200"/>
          </a:xfrm>
          <a:prstGeom prst="rect">
            <a:avLst/>
          </a:prstGeom>
          <a:noFill/>
          <a:ln/>
        </p:spPr>
        <p:txBody>
          <a:bodyPr wrap="square" lIns="0" tIns="0" rIns="0" bIns="0" rtlCol="0" anchor="ctr"/>
          <a:lstStyle/>
          <a:p>
            <a:pPr algn="l" indent="0" marL="0">
              <a:buNone/>
            </a:pPr>
            <a:r>
              <a:rPr lang="en-US" sz="2200" b="1" dirty="0">
                <a:solidFill>
                  <a:srgbClr val="C9780A"/>
                </a:solidFill>
                <a:latin typeface="Cambria" pitchFamily="34" charset="0"/>
                <a:cs typeface="Amiri" pitchFamily="2" charset="-78"/>
              </a:rPr>
              <a:t>80–100 words</a:t>
            </a:r>
            <a:endParaRPr lang="en-US" sz="2200" dirty="0"/>
          </a:p>
        </p:txBody>
      </p:sp>
      <p:sp>
        <p:nvSpPr>
          <p:cNvPr id="28" name="Text 25"/>
          <p:cNvSpPr txBox="1"/>
          <p:nvPr/>
        </p:nvSpPr>
        <p:spPr>
          <a:xfrm>
            <a:off x="4462272"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Combine description, grammar and a reason in connected answers.</a:t>
            </a:r>
            <a:endParaRPr lang="en-US" sz="1400" dirty="0"/>
          </a:p>
        </p:txBody>
      </p:sp>
      <p:sp>
        <p:nvSpPr>
          <p:cNvPr id="29" name="Shape 26"/>
          <p:cNvSpPr/>
          <p:nvPr/>
        </p:nvSpPr>
        <p:spPr>
          <a:xfrm>
            <a:off x="4462272" y="4160520"/>
            <a:ext cx="3273552" cy="1783080"/>
          </a:xfrm>
          <a:prstGeom prst="roundRect">
            <a:avLst>
              <a:gd name="adj" fmla="val 4103"/>
            </a:avLst>
          </a:prstGeom>
          <a:solidFill>
            <a:srgbClr val="FFFFFF"/>
          </a:solidFill>
          <a:ln w="9525">
            <a:solidFill>
              <a:srgbClr val="FFFFFF"/>
            </a:solidFill>
            <a:prstDash val="solid"/>
          </a:ln>
        </p:spPr>
      </p:sp>
      <p:sp>
        <p:nvSpPr>
          <p:cNvPr id="30" name="Text 27"/>
          <p:cNvSpPr txBox="1"/>
          <p:nvPr/>
        </p:nvSpPr>
        <p:spPr>
          <a:xfrm>
            <a:off x="4553712" y="4224528"/>
            <a:ext cx="3090672" cy="1645920"/>
          </a:xfrm>
          <a:prstGeom prst="rect">
            <a:avLst/>
          </a:prstGeom>
          <a:noFill/>
          <a:ln/>
        </p:spPr>
        <p:txBody>
          <a:bodyPr wrap="square" lIns="0" tIns="0" rIns="0" bIns="0" rtlCol="0" anchor="t"/>
          <a:lstStyle/>
          <a:p>
            <a:pPr indent="0" marL="0">
              <a:buNone/>
            </a:pPr>
            <a:r>
              <a:rPr lang="en-US" sz="900" b="1" spc="200" kern="0" dirty="0">
                <a:solidFill>
                  <a:srgbClr val="C9780A"/>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Two jobs: needs, must be (-an) and can do, with evidence for each quality.</a:t>
            </a:r>
            <a:endParaRPr lang="en-US" sz="900" dirty="0"/>
          </a:p>
        </p:txBody>
      </p:sp>
      <p:sp>
        <p:nvSpPr>
          <p:cNvPr id="31" name="Shape 28"/>
          <p:cNvSpPr/>
          <p:nvPr/>
        </p:nvSpPr>
        <p:spPr>
          <a:xfrm>
            <a:off x="8101584" y="1810512"/>
            <a:ext cx="3639312" cy="4315968"/>
          </a:xfrm>
          <a:prstGeom prst="roundRect">
            <a:avLst>
              <a:gd name="adj" fmla="val 2010"/>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8284464" y="1938528"/>
            <a:ext cx="1188720" cy="310896"/>
          </a:xfrm>
          <a:prstGeom prst="roundRect">
            <a:avLst>
              <a:gd name="adj" fmla="val 50000"/>
            </a:avLst>
          </a:prstGeom>
          <a:solidFill>
            <a:srgbClr val="B83227"/>
          </a:solidFill>
          <a:ln w="12700">
            <a:solidFill>
              <a:srgbClr val="B83227"/>
            </a:solidFill>
            <a:prstDash val="solid"/>
          </a:ln>
        </p:spPr>
      </p:sp>
      <p:sp>
        <p:nvSpPr>
          <p:cNvPr id="33" name="Text 30"/>
          <p:cNvSpPr txBox="1"/>
          <p:nvPr/>
        </p:nvSpPr>
        <p:spPr>
          <a:xfrm>
            <a:off x="8284464"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STRETCH</a:t>
            </a:r>
            <a:endParaRPr lang="en-US" sz="1000" dirty="0"/>
          </a:p>
        </p:txBody>
      </p:sp>
      <p:sp>
        <p:nvSpPr>
          <p:cNvPr id="34" name="Text 31"/>
          <p:cNvSpPr txBox="1"/>
          <p:nvPr/>
        </p:nvSpPr>
        <p:spPr>
          <a:xfrm>
            <a:off x="10094976"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التَّحَدِّي</a:t>
            </a:r>
            <a:endParaRPr lang="ar-SA" sz="1800" dirty="0"/>
          </a:p>
        </p:txBody>
      </p:sp>
      <p:sp>
        <p:nvSpPr>
          <p:cNvPr id="35" name="Text 32"/>
          <p:cNvSpPr txBox="1"/>
          <p:nvPr/>
        </p:nvSpPr>
        <p:spPr>
          <a:xfrm>
            <a:off x="8284464" y="2377440"/>
            <a:ext cx="3273552" cy="457200"/>
          </a:xfrm>
          <a:prstGeom prst="rect">
            <a:avLst/>
          </a:prstGeom>
          <a:noFill/>
          <a:ln/>
        </p:spPr>
        <p:txBody>
          <a:bodyPr wrap="square" lIns="0" tIns="0" rIns="0" bIns="0" rtlCol="0" anchor="ctr"/>
          <a:lstStyle/>
          <a:p>
            <a:pPr algn="l" indent="0" marL="0">
              <a:buNone/>
            </a:pPr>
            <a:r>
              <a:rPr lang="en-US" sz="2200" b="1" dirty="0">
                <a:solidFill>
                  <a:srgbClr val="B83227"/>
                </a:solidFill>
                <a:latin typeface="Cambria" pitchFamily="34" charset="0"/>
                <a:cs typeface="Amiri" pitchFamily="2" charset="-78"/>
              </a:rPr>
              <a:t>100–120 words</a:t>
            </a:r>
            <a:endParaRPr lang="en-US" sz="2200" dirty="0"/>
          </a:p>
        </p:txBody>
      </p:sp>
      <p:sp>
        <p:nvSpPr>
          <p:cNvPr id="36" name="Text 33"/>
          <p:cNvSpPr txBox="1"/>
          <p:nvPr/>
        </p:nvSpPr>
        <p:spPr>
          <a:xfrm>
            <a:off x="8284464"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Add comparison, contrast, precise evidence and independently controlled complex structures.</a:t>
            </a:r>
            <a:endParaRPr lang="en-US" sz="1400" dirty="0"/>
          </a:p>
        </p:txBody>
      </p:sp>
      <p:sp>
        <p:nvSpPr>
          <p:cNvPr id="37" name="Shape 34"/>
          <p:cNvSpPr/>
          <p:nvPr/>
        </p:nvSpPr>
        <p:spPr>
          <a:xfrm>
            <a:off x="8284464" y="4160520"/>
            <a:ext cx="3273552" cy="1783080"/>
          </a:xfrm>
          <a:prstGeom prst="roundRect">
            <a:avLst>
              <a:gd name="adj" fmla="val 4103"/>
            </a:avLst>
          </a:prstGeom>
          <a:solidFill>
            <a:srgbClr val="FFFFFF"/>
          </a:solidFill>
          <a:ln w="9525">
            <a:solidFill>
              <a:srgbClr val="FFFFFF"/>
            </a:solidFill>
            <a:prstDash val="solid"/>
          </a:ln>
        </p:spPr>
      </p:sp>
      <p:sp>
        <p:nvSpPr>
          <p:cNvPr id="38" name="Text 35"/>
          <p:cNvSpPr txBox="1"/>
          <p:nvPr/>
        </p:nvSpPr>
        <p:spPr>
          <a:xfrm>
            <a:off x="8375904" y="4224528"/>
            <a:ext cx="3090672" cy="1645920"/>
          </a:xfrm>
          <a:prstGeom prst="rect">
            <a:avLst/>
          </a:prstGeom>
          <a:noFill/>
          <a:ln/>
        </p:spPr>
        <p:txBody>
          <a:bodyPr wrap="square" lIns="0" tIns="0" rIns="0" bIns="0" rtlCol="0" anchor="t"/>
          <a:lstStyle/>
          <a:p>
            <a:pPr indent="0" marL="0">
              <a:buNone/>
            </a:pPr>
            <a:r>
              <a:rPr lang="en-US" sz="900" b="1" spc="200" kern="0" dirty="0">
                <a:solidFill>
                  <a:srgbClr val="B83227"/>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Website task: two contrasting careers, shared skills, and which suits you and why.</a:t>
            </a:r>
            <a:endParaRPr lang="en-US" sz="9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36 / 47</a:t>
            </a:r>
            <a:endParaRPr lang="en-US" sz="85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TD-L08 ·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SUPPORT · CORE AND DEVELOP FRAMES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Sentence frames and word bank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قَوَالِبُ الجُمَلِ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D · The World of Work · TD-L08</a:t>
            </a:r>
            <a:endParaRPr lang="en-US" sz="850" dirty="0"/>
          </a:p>
        </p:txBody>
      </p:sp>
      <p:sp>
        <p:nvSpPr>
          <p:cNvPr id="15" name="Shape 12"/>
          <p:cNvSpPr/>
          <p:nvPr/>
        </p:nvSpPr>
        <p:spPr>
          <a:xfrm>
            <a:off x="457200" y="1810512"/>
            <a:ext cx="5541264" cy="3566160"/>
          </a:xfrm>
          <a:prstGeom prst="roundRect">
            <a:avLst>
              <a:gd name="adj" fmla="val 2051"/>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94360" y="1901952"/>
            <a:ext cx="1051560" cy="274320"/>
          </a:xfrm>
          <a:prstGeom prst="roundRect">
            <a:avLst>
              <a:gd name="adj" fmla="val 50000"/>
            </a:avLst>
          </a:prstGeom>
          <a:solidFill>
            <a:srgbClr val="C9780A"/>
          </a:solidFill>
          <a:ln w="12700">
            <a:solidFill>
              <a:srgbClr val="C9780A"/>
            </a:solidFill>
            <a:prstDash val="solid"/>
          </a:ln>
        </p:spPr>
      </p:sp>
      <p:sp>
        <p:nvSpPr>
          <p:cNvPr id="17" name="Text 14"/>
          <p:cNvSpPr txBox="1"/>
          <p:nvPr/>
        </p:nvSpPr>
        <p:spPr>
          <a:xfrm>
            <a:off x="594360"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18" name="Text 15"/>
          <p:cNvSpPr txBox="1"/>
          <p:nvPr/>
        </p:nvSpPr>
        <p:spPr>
          <a:xfrm>
            <a:off x="2468880"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يَجِبُ أَنْ تَكُونَ المُمَرِّضَةُ ______ .</a:t>
            </a:r>
            <a:endParaRPr lang="ar-SA" sz="1800" dirty="0"/>
          </a:p>
        </p:txBody>
      </p:sp>
      <p:sp>
        <p:nvSpPr>
          <p:cNvPr id="19" name="Text 16"/>
          <p:cNvSpPr txBox="1"/>
          <p:nvPr/>
        </p:nvSpPr>
        <p:spPr>
          <a:xfrm>
            <a:off x="594360"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A nurse must be calm.</a:t>
            </a:r>
            <a:endParaRPr lang="en-US" sz="1050" dirty="0"/>
          </a:p>
        </p:txBody>
      </p:sp>
      <p:sp>
        <p:nvSpPr>
          <p:cNvPr id="20" name="Text 17"/>
          <p:cNvSpPr txBox="1"/>
          <p:nvPr/>
        </p:nvSpPr>
        <p:spPr>
          <a:xfrm>
            <a:off x="2468880"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يَسْتَطِيعُ أَنْ ______ .</a:t>
            </a:r>
            <a:endParaRPr lang="ar-SA" sz="1800" dirty="0"/>
          </a:p>
        </p:txBody>
      </p:sp>
      <p:sp>
        <p:nvSpPr>
          <p:cNvPr id="21" name="Text 18"/>
          <p:cNvSpPr txBox="1"/>
          <p:nvPr/>
        </p:nvSpPr>
        <p:spPr>
          <a:xfrm>
            <a:off x="594360"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He can solve problems.</a:t>
            </a:r>
            <a:endParaRPr lang="en-US" sz="1050" dirty="0"/>
          </a:p>
        </p:txBody>
      </p:sp>
      <p:sp>
        <p:nvSpPr>
          <p:cNvPr id="22" name="Text 19"/>
          <p:cNvSpPr txBox="1"/>
          <p:nvPr/>
        </p:nvSpPr>
        <p:spPr>
          <a:xfrm>
            <a:off x="2468880"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أَمَّا المُبَرْمِجُ فَيَحْتَاجُ إِلَى ______ .</a:t>
            </a:r>
            <a:endParaRPr lang="ar-SA" sz="1800" dirty="0"/>
          </a:p>
        </p:txBody>
      </p:sp>
      <p:sp>
        <p:nvSpPr>
          <p:cNvPr id="23" name="Text 20"/>
          <p:cNvSpPr txBox="1"/>
          <p:nvPr/>
        </p:nvSpPr>
        <p:spPr>
          <a:xfrm>
            <a:off x="594360"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As for a programmer, he needs …</a:t>
            </a:r>
            <a:endParaRPr lang="en-US" sz="1050" dirty="0"/>
          </a:p>
        </p:txBody>
      </p:sp>
      <p:sp>
        <p:nvSpPr>
          <p:cNvPr id="24" name="Text 21"/>
          <p:cNvSpPr txBox="1"/>
          <p:nvPr/>
        </p:nvSpPr>
        <p:spPr>
          <a:xfrm>
            <a:off x="2468880"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تَحْتَاجُ المِهْنَتَانِ إِلَى ______ .</a:t>
            </a:r>
            <a:endParaRPr lang="ar-SA" sz="1800" dirty="0"/>
          </a:p>
        </p:txBody>
      </p:sp>
      <p:sp>
        <p:nvSpPr>
          <p:cNvPr id="25" name="Text 22"/>
          <p:cNvSpPr txBox="1"/>
          <p:nvPr/>
        </p:nvSpPr>
        <p:spPr>
          <a:xfrm>
            <a:off x="594360"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Both jobs need …</a:t>
            </a:r>
            <a:endParaRPr lang="en-US" sz="1050" dirty="0"/>
          </a:p>
        </p:txBody>
      </p:sp>
      <p:sp>
        <p:nvSpPr>
          <p:cNvPr id="26" name="Shape 23"/>
          <p:cNvSpPr/>
          <p:nvPr/>
        </p:nvSpPr>
        <p:spPr>
          <a:xfrm>
            <a:off x="6190488" y="1810512"/>
            <a:ext cx="5541264" cy="3566160"/>
          </a:xfrm>
          <a:prstGeom prst="roundRect">
            <a:avLst>
              <a:gd name="adj" fmla="val 2051"/>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27" name="Shape 24"/>
          <p:cNvSpPr/>
          <p:nvPr/>
        </p:nvSpPr>
        <p:spPr>
          <a:xfrm>
            <a:off x="10543032" y="1901952"/>
            <a:ext cx="1051560" cy="274320"/>
          </a:xfrm>
          <a:prstGeom prst="roundRect">
            <a:avLst>
              <a:gd name="adj" fmla="val 50000"/>
            </a:avLst>
          </a:prstGeom>
          <a:solidFill>
            <a:srgbClr val="2E8B57"/>
          </a:solidFill>
          <a:ln w="12700">
            <a:solidFill>
              <a:srgbClr val="2E8B57"/>
            </a:solidFill>
            <a:prstDash val="solid"/>
          </a:ln>
        </p:spPr>
      </p:sp>
      <p:sp>
        <p:nvSpPr>
          <p:cNvPr id="28" name="Text 25"/>
          <p:cNvSpPr txBox="1"/>
          <p:nvPr/>
        </p:nvSpPr>
        <p:spPr>
          <a:xfrm>
            <a:off x="10543032"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29" name="Text 26"/>
          <p:cNvSpPr txBox="1"/>
          <p:nvPr/>
        </p:nvSpPr>
        <p:spPr>
          <a:xfrm>
            <a:off x="8202168"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يَحْتَاجُ الـ ______ إِلَى ______ .</a:t>
            </a:r>
            <a:endParaRPr lang="ar-SA" sz="1800" dirty="0"/>
          </a:p>
        </p:txBody>
      </p:sp>
      <p:sp>
        <p:nvSpPr>
          <p:cNvPr id="30" name="Text 27"/>
          <p:cNvSpPr txBox="1"/>
          <p:nvPr/>
        </p:nvSpPr>
        <p:spPr>
          <a:xfrm>
            <a:off x="6327648"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A … needs …</a:t>
            </a:r>
            <a:endParaRPr lang="en-US" sz="1050" dirty="0"/>
          </a:p>
        </p:txBody>
      </p:sp>
      <p:sp>
        <p:nvSpPr>
          <p:cNvPr id="31" name="Text 28"/>
          <p:cNvSpPr txBox="1"/>
          <p:nvPr/>
        </p:nvSpPr>
        <p:spPr>
          <a:xfrm>
            <a:off x="8202168"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وَ ______ .</a:t>
            </a:r>
            <a:endParaRPr lang="ar-SA" sz="1800" dirty="0"/>
          </a:p>
        </p:txBody>
      </p:sp>
      <p:sp>
        <p:nvSpPr>
          <p:cNvPr id="32" name="Text 29"/>
          <p:cNvSpPr txBox="1"/>
          <p:nvPr/>
        </p:nvSpPr>
        <p:spPr>
          <a:xfrm>
            <a:off x="6327648"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and …</a:t>
            </a:r>
            <a:endParaRPr lang="en-US" sz="1050" dirty="0"/>
          </a:p>
        </p:txBody>
      </p:sp>
      <p:sp>
        <p:nvSpPr>
          <p:cNvPr id="33" name="Text 30"/>
          <p:cNvSpPr txBox="1"/>
          <p:nvPr/>
        </p:nvSpPr>
        <p:spPr>
          <a:xfrm>
            <a:off x="8202168"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يَجِبُ أَنْ يَكُونَ ______ .</a:t>
            </a:r>
            <a:endParaRPr lang="ar-SA" sz="1800" dirty="0"/>
          </a:p>
        </p:txBody>
      </p:sp>
      <p:sp>
        <p:nvSpPr>
          <p:cNvPr id="34" name="Text 31"/>
          <p:cNvSpPr txBox="1"/>
          <p:nvPr/>
        </p:nvSpPr>
        <p:spPr>
          <a:xfrm>
            <a:off x="6327648"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He must be …</a:t>
            </a:r>
            <a:endParaRPr lang="en-US" sz="1050" dirty="0"/>
          </a:p>
        </p:txBody>
      </p:sp>
      <p:sp>
        <p:nvSpPr>
          <p:cNvPr id="35" name="Text 32"/>
          <p:cNvSpPr txBox="1"/>
          <p:nvPr/>
        </p:nvSpPr>
        <p:spPr>
          <a:xfrm>
            <a:off x="8202168"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أَنَا ______ لِأَنَّنِي ______ .</a:t>
            </a:r>
            <a:endParaRPr lang="ar-SA" sz="1800" dirty="0"/>
          </a:p>
        </p:txBody>
      </p:sp>
      <p:sp>
        <p:nvSpPr>
          <p:cNvPr id="36" name="Text 33"/>
          <p:cNvSpPr txBox="1"/>
          <p:nvPr/>
        </p:nvSpPr>
        <p:spPr>
          <a:xfrm>
            <a:off x="6327648"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 am … because I …</a:t>
            </a:r>
            <a:endParaRPr lang="en-US" sz="1050" dirty="0"/>
          </a:p>
        </p:txBody>
      </p:sp>
      <p:sp>
        <p:nvSpPr>
          <p:cNvPr id="37" name="Shape 34"/>
          <p:cNvSpPr/>
          <p:nvPr/>
        </p:nvSpPr>
        <p:spPr>
          <a:xfrm>
            <a:off x="457200" y="5504688"/>
            <a:ext cx="11274552" cy="804672"/>
          </a:xfrm>
          <a:prstGeom prst="roundRect">
            <a:avLst>
              <a:gd name="adj" fmla="val 909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Text 35"/>
          <p:cNvSpPr txBox="1"/>
          <p:nvPr/>
        </p:nvSpPr>
        <p:spPr>
          <a:xfrm>
            <a:off x="640080" y="5541264"/>
            <a:ext cx="18288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WORD BANK</a:t>
            </a:r>
            <a:endParaRPr lang="en-US" sz="950" dirty="0"/>
          </a:p>
        </p:txBody>
      </p:sp>
      <p:sp>
        <p:nvSpPr>
          <p:cNvPr id="39" name="Text 36"/>
          <p:cNvSpPr txBox="1"/>
          <p:nvPr/>
        </p:nvSpPr>
        <p:spPr>
          <a:xfrm>
            <a:off x="640080" y="5760720"/>
            <a:ext cx="10908792" cy="512064"/>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يَحْتَاجُ إِلَى  ·  يَجِبُ أَنْ يَكُونَ  ·  تَكُونَ  ·  يَسْتَطِيعُ أَنْ  ·  الصَّبْرِ  ·  الدِّقَّةِ  ·  حَلِّ المُشْكِلَاتِ  ·  صَبُورًا  ·  مُنَظَّمَةً  ·  مَسْؤُولٌ  ·  لِأَنَّهُ  ·  عَلَى سَبِيلِ المِثَالِ</a:t>
            </a:r>
            <a:endParaRPr lang="ar-SA" sz="1600" dirty="0"/>
          </a:p>
        </p:txBody>
      </p:sp>
      <p:sp>
        <p:nvSpPr>
          <p:cNvPr id="40" name="Text 3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37 / 47</a:t>
            </a:r>
            <a:endParaRPr lang="en-US" sz="85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TD-L08 ·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STRETCH · THE WEBSITE WRITING TASK</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Stretch: the full writing task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مُهِمَّةُ التَّحَدِّي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D · The World of Work · TD-L08</a:t>
            </a:r>
            <a:endParaRPr lang="en-US" sz="850" dirty="0"/>
          </a:p>
        </p:txBody>
      </p:sp>
      <p:sp>
        <p:nvSpPr>
          <p:cNvPr id="15" name="Shape 12"/>
          <p:cNvSpPr/>
          <p:nvPr/>
        </p:nvSpPr>
        <p:spPr>
          <a:xfrm>
            <a:off x="457200" y="1810512"/>
            <a:ext cx="5577840" cy="4498848"/>
          </a:xfrm>
          <a:prstGeom prst="roundRect">
            <a:avLst>
              <a:gd name="adj" fmla="val 1626"/>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292608"/>
          </a:xfrm>
          <a:prstGeom prst="roundRect">
            <a:avLst>
              <a:gd name="adj" fmla="val 50000"/>
            </a:avLst>
          </a:prstGeom>
          <a:solidFill>
            <a:srgbClr val="B83227"/>
          </a:solidFill>
          <a:ln w="12700">
            <a:solidFill>
              <a:srgbClr val="B83227"/>
            </a:solidFill>
            <a:prstDash val="solid"/>
          </a:ln>
        </p:spPr>
      </p:sp>
      <p:sp>
        <p:nvSpPr>
          <p:cNvPr id="17" name="Text 14"/>
          <p:cNvSpPr txBox="1"/>
          <p:nvPr/>
        </p:nvSpPr>
        <p:spPr>
          <a:xfrm>
            <a:off x="640080" y="1938528"/>
            <a:ext cx="118872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STRETCH</a:t>
            </a:r>
            <a:endParaRPr lang="en-US" sz="950" dirty="0"/>
          </a:p>
        </p:txBody>
      </p:sp>
      <p:sp>
        <p:nvSpPr>
          <p:cNvPr id="18" name="Text 15"/>
          <p:cNvSpPr txBox="1"/>
          <p:nvPr/>
        </p:nvSpPr>
        <p:spPr>
          <a:xfrm>
            <a:off x="640080" y="2331720"/>
            <a:ext cx="5212080" cy="914400"/>
          </a:xfrm>
          <a:prstGeom prst="rect">
            <a:avLst/>
          </a:prstGeom>
          <a:noFill/>
          <a:ln/>
        </p:spPr>
        <p:txBody>
          <a:bodyPr wrap="square" lIns="0" tIns="0" rIns="0" bIns="0" rtlCol="0" anchor="ctr"/>
          <a:lstStyle/>
          <a:p>
            <a:pPr algn="l" indent="0" marL="0">
              <a:buNone/>
            </a:pPr>
            <a:r>
              <a:rPr lang="en-US" sz="1350" b="1" dirty="0">
                <a:solidFill>
                  <a:srgbClr val="1F2A37"/>
                </a:solidFill>
                <a:latin typeface="Calibri" pitchFamily="34" charset="0"/>
                <a:cs typeface="Amiri" pitchFamily="2" charset="-78"/>
              </a:rPr>
              <a:t>Explain the qualities and skills needed for two contrasting careers.</a:t>
            </a:r>
            <a:endParaRPr lang="en-US" sz="1350" dirty="0"/>
          </a:p>
        </p:txBody>
      </p:sp>
      <p:sp>
        <p:nvSpPr>
          <p:cNvPr id="19" name="Text 16"/>
          <p:cNvSpPr txBox="1"/>
          <p:nvPr/>
        </p:nvSpPr>
        <p:spPr>
          <a:xfrm>
            <a:off x="685800" y="3310128"/>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Address every content point.</a:t>
            </a:r>
            <a:endParaRPr lang="en-US" sz="1200" dirty="0"/>
          </a:p>
        </p:txBody>
      </p:sp>
      <p:sp>
        <p:nvSpPr>
          <p:cNvPr id="20" name="Text 17"/>
          <p:cNvSpPr txBox="1"/>
          <p:nvPr/>
        </p:nvSpPr>
        <p:spPr>
          <a:xfrm>
            <a:off x="685800" y="3840480"/>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Use at least two target structures from the grammar lesson.</a:t>
            </a:r>
            <a:endParaRPr lang="en-US" sz="1200" dirty="0"/>
          </a:p>
        </p:txBody>
      </p:sp>
      <p:sp>
        <p:nvSpPr>
          <p:cNvPr id="21" name="Text 18"/>
          <p:cNvSpPr txBox="1"/>
          <p:nvPr/>
        </p:nvSpPr>
        <p:spPr>
          <a:xfrm>
            <a:off x="685800" y="4370832"/>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Add evidence, reason or comparison.</a:t>
            </a:r>
            <a:endParaRPr lang="en-US" sz="1200" dirty="0"/>
          </a:p>
        </p:txBody>
      </p:sp>
      <p:sp>
        <p:nvSpPr>
          <p:cNvPr id="22" name="Text 19"/>
          <p:cNvSpPr txBox="1"/>
          <p:nvPr/>
        </p:nvSpPr>
        <p:spPr>
          <a:xfrm>
            <a:off x="685800" y="4901184"/>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Check agreement, verb patterns and spelling.</a:t>
            </a:r>
            <a:endParaRPr lang="en-US" sz="1200" dirty="0"/>
          </a:p>
        </p:txBody>
      </p:sp>
      <p:sp>
        <p:nvSpPr>
          <p:cNvPr id="23" name="Shape 20"/>
          <p:cNvSpPr/>
          <p:nvPr/>
        </p:nvSpPr>
        <p:spPr>
          <a:xfrm>
            <a:off x="6217920" y="1810512"/>
            <a:ext cx="551383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6400800" y="1901952"/>
            <a:ext cx="5120640" cy="274320"/>
          </a:xfrm>
          <a:prstGeom prst="rect">
            <a:avLst/>
          </a:prstGeom>
          <a:noFill/>
          <a:ln/>
        </p:spPr>
        <p:txBody>
          <a:bodyPr wrap="square" lIns="0" tIns="0" rIns="0" bIns="0" rtlCol="0" anchor="ctr"/>
          <a:lstStyle/>
          <a:p>
            <a:pPr algn="l" indent="0" marL="0">
              <a:buNone/>
            </a:pPr>
            <a:r>
              <a:rPr lang="en-US" sz="950" b="1" spc="100" kern="0" dirty="0">
                <a:solidFill>
                  <a:srgbClr val="8A6D1E"/>
                </a:solidFill>
                <a:latin typeface="Calibri" pitchFamily="34" charset="0"/>
                <a:cs typeface="Amiri" pitchFamily="2" charset="-78"/>
              </a:rPr>
              <a:t>PHRASE BANK — FROM THE WEBSITE TEXTS</a:t>
            </a:r>
            <a:endParaRPr lang="en-US" sz="950" dirty="0"/>
          </a:p>
        </p:txBody>
      </p:sp>
      <p:sp>
        <p:nvSpPr>
          <p:cNvPr id="25" name="Text 22"/>
          <p:cNvSpPr txBox="1"/>
          <p:nvPr/>
        </p:nvSpPr>
        <p:spPr>
          <a:xfrm>
            <a:off x="8412480" y="223113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تَخْتَلِفُ المَهَارَاتُ مِنْ مِهْنَةٍ إِلَى أُخْرَى</a:t>
            </a:r>
            <a:endParaRPr lang="ar-SA" sz="1800" dirty="0"/>
          </a:p>
        </p:txBody>
      </p:sp>
      <p:sp>
        <p:nvSpPr>
          <p:cNvPr id="26" name="Text 23"/>
          <p:cNvSpPr txBox="1"/>
          <p:nvPr/>
        </p:nvSpPr>
        <p:spPr>
          <a:xfrm>
            <a:off x="6400800" y="256032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skills differ from one job to another</a:t>
            </a:r>
            <a:endParaRPr lang="en-US" sz="1050" dirty="0"/>
          </a:p>
        </p:txBody>
      </p:sp>
      <p:sp>
        <p:nvSpPr>
          <p:cNvPr id="27" name="Text 24"/>
          <p:cNvSpPr txBox="1"/>
          <p:nvPr/>
        </p:nvSpPr>
        <p:spPr>
          <a:xfrm>
            <a:off x="8412480" y="2889504"/>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قُدْرَةٌ عَلَى الاِسْتِمَاعِ</a:t>
            </a:r>
            <a:endParaRPr lang="ar-SA" sz="1800" dirty="0"/>
          </a:p>
        </p:txBody>
      </p:sp>
      <p:sp>
        <p:nvSpPr>
          <p:cNvPr id="28" name="Text 25"/>
          <p:cNvSpPr txBox="1"/>
          <p:nvPr/>
        </p:nvSpPr>
        <p:spPr>
          <a:xfrm>
            <a:off x="6400800" y="3218688"/>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the ability to listen</a:t>
            </a:r>
            <a:endParaRPr lang="en-US" sz="1050" dirty="0"/>
          </a:p>
        </p:txBody>
      </p:sp>
      <p:sp>
        <p:nvSpPr>
          <p:cNvPr id="29" name="Text 26"/>
          <p:cNvSpPr txBox="1"/>
          <p:nvPr/>
        </p:nvSpPr>
        <p:spPr>
          <a:xfrm>
            <a:off x="8412480" y="3547872"/>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بِطُرُقٍ مُخْتَلِفَةٍ</a:t>
            </a:r>
            <a:endParaRPr lang="ar-SA" sz="1800" dirty="0"/>
          </a:p>
        </p:txBody>
      </p:sp>
      <p:sp>
        <p:nvSpPr>
          <p:cNvPr id="30" name="Text 27"/>
          <p:cNvSpPr txBox="1"/>
          <p:nvPr/>
        </p:nvSpPr>
        <p:spPr>
          <a:xfrm>
            <a:off x="6400800" y="3877056"/>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in different ways</a:t>
            </a:r>
            <a:endParaRPr lang="en-US" sz="1050" dirty="0"/>
          </a:p>
        </p:txBody>
      </p:sp>
      <p:sp>
        <p:nvSpPr>
          <p:cNvPr id="31" name="Text 28"/>
          <p:cNvSpPr txBox="1"/>
          <p:nvPr/>
        </p:nvSpPr>
        <p:spPr>
          <a:xfrm>
            <a:off x="8412480" y="4206240"/>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تَشْتَرِكُ المِهَنُ فِي …</a:t>
            </a:r>
            <a:endParaRPr lang="ar-SA" sz="1800" dirty="0"/>
          </a:p>
        </p:txBody>
      </p:sp>
      <p:sp>
        <p:nvSpPr>
          <p:cNvPr id="32" name="Text 29"/>
          <p:cNvSpPr txBox="1"/>
          <p:nvPr/>
        </p:nvSpPr>
        <p:spPr>
          <a:xfrm>
            <a:off x="6400800" y="4535424"/>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the jobs share …</a:t>
            </a:r>
            <a:endParaRPr lang="en-US" sz="1050" dirty="0"/>
          </a:p>
        </p:txBody>
      </p:sp>
      <p:sp>
        <p:nvSpPr>
          <p:cNvPr id="33" name="Text 30"/>
          <p:cNvSpPr txBox="1"/>
          <p:nvPr/>
        </p:nvSpPr>
        <p:spPr>
          <a:xfrm>
            <a:off x="8412480" y="4864608"/>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أَمِيلُ إِلَى …</a:t>
            </a:r>
            <a:endParaRPr lang="ar-SA" sz="1800" dirty="0"/>
          </a:p>
        </p:txBody>
      </p:sp>
      <p:sp>
        <p:nvSpPr>
          <p:cNvPr id="34" name="Text 31"/>
          <p:cNvSpPr txBox="1"/>
          <p:nvPr/>
        </p:nvSpPr>
        <p:spPr>
          <a:xfrm>
            <a:off x="6400800" y="5193792"/>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I am drawn to …</a:t>
            </a:r>
            <a:endParaRPr lang="en-US" sz="1050" dirty="0"/>
          </a:p>
        </p:txBody>
      </p:sp>
      <p:sp>
        <p:nvSpPr>
          <p:cNvPr id="35" name="Text 3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38 / 47</a:t>
            </a:r>
            <a:endParaRPr lang="en-US" sz="85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TD-L08 · Skills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COMPARE WITH THE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What a strong answer looks like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D · The World of Work · TD-L08</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2300" dirty="0">
                <a:solidFill>
                  <a:srgbClr val="1F2A37"/>
                </a:solidFill>
                <a:latin typeface="Amiri" pitchFamily="2" charset="-78"/>
                <a:ea typeface="Amiri" pitchFamily="2" charset="-78"/>
                <a:cs typeface="Amiri" pitchFamily="2" charset="-78"/>
              </a:rPr>
              <a:t>تَخْتَلِفُ المَهَارَاتُ المَطْلُوبَةُ مِنْ مِهْنَةٍ إِلَى أُخْرَى. تَحْتَاجُ المُمَرِّضَةُ إِلَى الصَّبْرِ وَالدِّقَّةِ، وَيَجِبُ أَنْ تَكُونَ هَادِئَةً عِنْدَمَا يَكُونُ المَرِيضُ قَلِقًا. كَمَا يَجِبُ أَنْ تَسْتَطِيعَ العَمَلَ ضِمْنَ فَرِيقٍ لِأَنَّهَا تَعْمَلُ مَعَ الأَطِبَّاءِ. أَمَّا المُبَرْمِجُ فَيَحْتَاجُ إِلَى التَّفْكِيرِ المَنْطِقِيِّ وَمَهَارَاتِ الحَاسُوبِ، وَيَجِبُ أَنْ يَكُونَ مُنَظَّمًا وَصَبُورًا عِنْدَ حَلِّ الأَخْطَاءِ. عَلَى الرَّغْمِ مِنْ أَنَّ المِهْنَتَيْنِ مُخْتَلِفَتَانِ، فَإِنَّهُمَا تَحْتَاجَانِ إِلَى التَّوَاصُلِ وَالمَسْؤُولِيَّةِ. أَنَا أَمِيلُ إِلَى البَرْمَجَةِ لِأَنَّنِي أَسْتَطِيعُ أَنْ أُرَكِّزَ طَوِيلًا وَأُحِبُّ حَلَّ المُشْكِلَاتِ.</a:t>
            </a:r>
            <a:endParaRPr lang="ar-SA" sz="230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cs typeface="Amiri" pitchFamily="2" charset="-78"/>
              </a:rPr>
              <a:t>The skills needed differ from one job to another. A nurse needs patience and accuracy, and she must be calm when a patient is worried. She must also be able to work in a team because she works with doctors. As for a programmer, he needs logical thinking and computer skills, and he must be organised and patient when fixing errors. Although the two jobs are different, they both need communication and responsibility. I am drawn to programming because I can concentrate for a long time and I love solving problems.</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yaḥtāju ilā + skill</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yakūna / takūna + -an</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yastaṭīʿu an + verb</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a quality with evidence</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39 / 47</a:t>
            </a:r>
            <a:endParaRPr lang="en-US" sz="85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TD-L08 · Skills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D · The World of Work · TD-L08</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used yaḥtāju ilā + a skill.</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My qualities agree (m. / f.).</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After yakūna / takūna: -an.</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Every quality has evidence.</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named the skills two jobs share.</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cs typeface="Amiri" pitchFamily="2" charset="-78"/>
              </a:rPr>
              <a:t>WWW</a:t>
            </a:r>
            <a:endParaRPr lang="en-US" sz="1800" dirty="0"/>
          </a:p>
          <a:p>
            <a:pPr indent="0" marL="0">
              <a:buNone/>
            </a:pPr>
            <a:r>
              <a:rPr lang="en-US" sz="1200" dirty="0">
                <a:solidFill>
                  <a:srgbClr val="1F2A37"/>
                </a:solidFill>
                <a:latin typeface="Calibri" pitchFamily="34" charset="0"/>
                <a:cs typeface="Amiri" pitchFamily="2" charset="-78"/>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cs typeface="Amiri" pitchFamily="2" charset="-78"/>
              </a:rPr>
              <a:t>EBI</a:t>
            </a:r>
            <a:endParaRPr lang="en-US" sz="1800" dirty="0"/>
          </a:p>
          <a:p>
            <a:pPr indent="0" marL="0">
              <a:buNone/>
            </a:pPr>
            <a:r>
              <a:rPr lang="en-US" sz="1200" dirty="0">
                <a:solidFill>
                  <a:srgbClr val="1F2A37"/>
                </a:solidFill>
                <a:latin typeface="Calibri" pitchFamily="34" charset="0"/>
                <a:cs typeface="Amiri" pitchFamily="2" charset="-78"/>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40 / 47</a:t>
            </a:r>
            <a:endParaRPr lang="en-US" sz="85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TD-L08 · Skills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EXIT TICKET · ON YOUR OWN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Exit ticket: three questions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D · The World of Work · TD-L08</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a:t>
            </a:r>
            <a:pPr algn="l" indent="0" marL="0">
              <a:buNone/>
            </a:pPr>
            <a:r>
              <a:rPr lang="ar-SA" altLang="en-US" sz="1650" b="1" dirty="0">
                <a:solidFill>
                  <a:srgbClr val="1B3B6F"/>
                </a:solidFill>
                <a:latin typeface="Amiri" pitchFamily="2" charset="-78"/>
                <a:ea typeface="Amiri" pitchFamily="2" charset="-78"/>
                <a:cs typeface="Amiri" pitchFamily="2" charset="-78"/>
              </a:rPr>
              <a:t>تَحْتَاجُ المُهَنْدِسَةُ إِلَى</a:t>
            </a:r>
            <a:pPr algn="l" indent="0" marL="0">
              <a:buNone/>
            </a:pPr>
            <a:r>
              <a:rPr lang="en-US" sz="1250" b="1" dirty="0">
                <a:solidFill>
                  <a:srgbClr val="1B3B6F"/>
                </a:solidFill>
                <a:latin typeface="Calibri" pitchFamily="34" charset="0"/>
                <a:cs typeface="Amiri" pitchFamily="2" charset="-78"/>
              </a:rPr>
              <a:t> ___ .</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الدِّقَّةِ</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دَقِيقَةٌ</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دَقِيقًا</a:t>
            </a:r>
            <a:endParaRPr lang="ar-SA" sz="2050" dirty="0"/>
          </a:p>
        </p:txBody>
      </p:sp>
      <p:sp>
        <p:nvSpPr>
          <p:cNvPr id="28" name="Shape 25"/>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is a quality (adjective)?</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العَمَلُ الجَمَاعِيُّ</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مُتَعَاوِنٌ</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إِدَارَةُ الوَقْتِ</a:t>
            </a:r>
            <a:endParaRPr lang="ar-SA" sz="2050" dirty="0"/>
          </a:p>
        </p:txBody>
      </p:sp>
      <p:sp>
        <p:nvSpPr>
          <p:cNvPr id="41" name="Shape 38"/>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a:t>
            </a:r>
            <a:pPr algn="l" indent="0" marL="0">
              <a:buNone/>
            </a:pPr>
            <a:r>
              <a:rPr lang="ar-SA" altLang="en-US" sz="1650" b="1" dirty="0">
                <a:solidFill>
                  <a:srgbClr val="1B3B6F"/>
                </a:solidFill>
                <a:latin typeface="Amiri" pitchFamily="2" charset="-78"/>
                <a:ea typeface="Amiri" pitchFamily="2" charset="-78"/>
                <a:cs typeface="Amiri" pitchFamily="2" charset="-78"/>
              </a:rPr>
              <a:t>يَسْتَطِيعُ أَنْ</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ea typeface="Amiri" pitchFamily="2" charset="-78"/>
                <a:cs typeface="Amiri" pitchFamily="2" charset="-78"/>
              </a:rPr>
              <a:t>المُشْكِلَاتِ</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يَحُلَّ</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تَحُلَّ</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حَلَّ</a:t>
            </a:r>
            <a:endParaRPr lang="ar-SA" sz="2050" dirty="0"/>
          </a:p>
        </p:txBody>
      </p:sp>
      <p:sp>
        <p:nvSpPr>
          <p:cNvPr id="54" name="Shape 51"/>
          <p:cNvSpPr/>
          <p:nvPr/>
        </p:nvSpPr>
        <p:spPr>
          <a:xfrm>
            <a:off x="457200" y="5532120"/>
            <a:ext cx="11274552" cy="777240"/>
          </a:xfrm>
          <a:prstGeom prst="roundRect">
            <a:avLst>
              <a:gd name="adj" fmla="val 9412"/>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55" name="Text 52"/>
          <p:cNvSpPr txBox="1"/>
          <p:nvPr/>
        </p:nvSpPr>
        <p:spPr>
          <a:xfrm>
            <a:off x="685800" y="5577840"/>
            <a:ext cx="2830068" cy="685800"/>
          </a:xfrm>
          <a:prstGeom prst="rect">
            <a:avLst/>
          </a:prstGeom>
          <a:noFill/>
          <a:ln/>
        </p:spPr>
        <p:txBody>
          <a:bodyPr wrap="square" lIns="0" tIns="0" rIns="0" bIns="0" rtlCol="0" anchor="ctr"/>
          <a:lstStyle/>
          <a:p>
            <a:pPr algn="l" indent="0" marL="0">
              <a:buNone/>
            </a:pPr>
            <a:r>
              <a:rPr lang="en-US" sz="1200" b="1" spc="100" kern="0" dirty="0">
                <a:solidFill>
                  <a:srgbClr val="8A6D1E"/>
                </a:solidFill>
                <a:latin typeface="Calibri" pitchFamily="34" charset="0"/>
                <a:cs typeface="Amiri" pitchFamily="2" charset="-78"/>
              </a:rPr>
              <a:t>ON YOUR OWN · 2 MINUTES</a:t>
            </a:r>
            <a:endParaRPr lang="en-US" sz="1200" dirty="0"/>
          </a:p>
        </p:txBody>
      </p:sp>
      <p:sp>
        <p:nvSpPr>
          <p:cNvPr id="56" name="Text 53"/>
          <p:cNvSpPr txBox="1"/>
          <p:nvPr/>
        </p:nvSpPr>
        <p:spPr>
          <a:xfrm>
            <a:off x="3515868" y="5577840"/>
            <a:ext cx="8051292"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Answer silently. When the timer ends, type your three letters in the chat: 1_ 2_ 3_. The other end-of-lesson questions are on the website.</a:t>
            </a:r>
            <a:endParaRPr lang="en-US" sz="125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41 / 47</a:t>
            </a:r>
            <a:endParaRPr lang="en-US" sz="85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TD-L08 · Skills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EXIT TICKET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Exit ticket: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إِجَابَاتُ 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D · The World of Work · TD-L08</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a:t>
            </a:r>
            <a:pPr algn="l" indent="0" marL="0">
              <a:buNone/>
            </a:pPr>
            <a:r>
              <a:rPr lang="ar-SA" altLang="en-US" sz="1650" b="1" dirty="0">
                <a:solidFill>
                  <a:srgbClr val="1B3B6F"/>
                </a:solidFill>
                <a:latin typeface="Amiri" pitchFamily="2" charset="-78"/>
                <a:ea typeface="Amiri" pitchFamily="2" charset="-78"/>
                <a:cs typeface="Amiri" pitchFamily="2" charset="-78"/>
              </a:rPr>
              <a:t>تَحْتَاجُ المُهَنْدِسَةُ إِلَى</a:t>
            </a:r>
            <a:pPr algn="l" indent="0" marL="0">
              <a:buNone/>
            </a:pPr>
            <a:r>
              <a:rPr lang="en-US" sz="1250" b="1" dirty="0">
                <a:solidFill>
                  <a:srgbClr val="1B3B6F"/>
                </a:solidFill>
                <a:latin typeface="Calibri" pitchFamily="34" charset="0"/>
                <a:cs typeface="Amiri" pitchFamily="2" charset="-78"/>
              </a:rPr>
              <a:t> ___ .</a:t>
            </a:r>
            <a:endParaRPr lang="en-US" sz="1250" dirty="0"/>
          </a:p>
        </p:txBody>
      </p:sp>
      <p:sp>
        <p:nvSpPr>
          <p:cNvPr id="19" name="Shape 16"/>
          <p:cNvSpPr/>
          <p:nvPr/>
        </p:nvSpPr>
        <p:spPr>
          <a:xfrm>
            <a:off x="548640" y="2496312"/>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532888"/>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22" name="Text 19"/>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ea typeface="Amiri" pitchFamily="2" charset="-78"/>
                <a:cs typeface="Amiri" pitchFamily="2" charset="-78"/>
              </a:rPr>
              <a:t>الدِّقَّةِ</a:t>
            </a:r>
            <a:endParaRPr lang="ar-SA" sz="2050" dirty="0"/>
          </a:p>
        </p:txBody>
      </p:sp>
      <p:sp>
        <p:nvSpPr>
          <p:cNvPr id="23" name="Shape 20"/>
          <p:cNvSpPr/>
          <p:nvPr/>
        </p:nvSpPr>
        <p:spPr>
          <a:xfrm>
            <a:off x="640080" y="2990088"/>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دَقِيقَةٌ</a:t>
            </a:r>
            <a:endParaRPr lang="ar-SA" sz="2050" dirty="0"/>
          </a:p>
        </p:txBody>
      </p:sp>
      <p:sp>
        <p:nvSpPr>
          <p:cNvPr id="26" name="Shape 23"/>
          <p:cNvSpPr/>
          <p:nvPr/>
        </p:nvSpPr>
        <p:spPr>
          <a:xfrm>
            <a:off x="640080" y="344728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دَقِيقًا</a:t>
            </a:r>
            <a:endParaRPr lang="ar-SA" sz="2050" dirty="0"/>
          </a:p>
        </p:txBody>
      </p:sp>
      <p:sp>
        <p:nvSpPr>
          <p:cNvPr id="29" name="Text 26"/>
          <p:cNvSpPr txBox="1"/>
          <p:nvPr/>
        </p:nvSpPr>
        <p:spPr>
          <a:xfrm>
            <a:off x="585216"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 skill noun after ilā.</a:t>
            </a:r>
            <a:endParaRPr lang="en-US" sz="1050" dirty="0"/>
          </a:p>
        </p:txBody>
      </p:sp>
      <p:sp>
        <p:nvSpPr>
          <p:cNvPr id="30" name="Shape 27"/>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is a quality (adjective)?</a:t>
            </a:r>
            <a:endParaRPr lang="en-US" sz="1250" dirty="0"/>
          </a:p>
        </p:txBody>
      </p:sp>
      <p:sp>
        <p:nvSpPr>
          <p:cNvPr id="34" name="Shape 31"/>
          <p:cNvSpPr/>
          <p:nvPr/>
        </p:nvSpPr>
        <p:spPr>
          <a:xfrm>
            <a:off x="4459224" y="2532888"/>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العَمَلُ الجَمَاعِيُّ</a:t>
            </a:r>
            <a:endParaRPr lang="ar-SA" sz="2050" dirty="0"/>
          </a:p>
        </p:txBody>
      </p:sp>
      <p:sp>
        <p:nvSpPr>
          <p:cNvPr id="37" name="Shape 34"/>
          <p:cNvSpPr/>
          <p:nvPr/>
        </p:nvSpPr>
        <p:spPr>
          <a:xfrm>
            <a:off x="4367784" y="2953512"/>
            <a:ext cx="3453384" cy="347472"/>
          </a:xfrm>
          <a:prstGeom prst="roundRect">
            <a:avLst>
              <a:gd name="adj" fmla="val 15789"/>
            </a:avLst>
          </a:prstGeom>
          <a:solidFill>
            <a:srgbClr val="E6F4EC"/>
          </a:solidFill>
          <a:ln w="9525">
            <a:solidFill>
              <a:srgbClr val="2E8B57"/>
            </a:solidFill>
            <a:prstDash val="solid"/>
          </a:ln>
        </p:spPr>
      </p:sp>
      <p:sp>
        <p:nvSpPr>
          <p:cNvPr id="38" name="Shape 35"/>
          <p:cNvSpPr/>
          <p:nvPr/>
        </p:nvSpPr>
        <p:spPr>
          <a:xfrm>
            <a:off x="4459224" y="2990088"/>
            <a:ext cx="256032" cy="256032"/>
          </a:xfrm>
          <a:prstGeom prst="ellipse">
            <a:avLst/>
          </a:prstGeom>
          <a:solidFill>
            <a:srgbClr val="2E8B57"/>
          </a:solidFill>
          <a:ln w="12700">
            <a:solidFill>
              <a:srgbClr val="2E8B57"/>
            </a:solidFill>
            <a:prstDash val="solid"/>
          </a:ln>
        </p:spPr>
      </p:sp>
      <p:sp>
        <p:nvSpPr>
          <p:cNvPr id="39" name="Text 36"/>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40" name="Text 37"/>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ea typeface="Amiri" pitchFamily="2" charset="-78"/>
                <a:cs typeface="Amiri" pitchFamily="2" charset="-78"/>
              </a:rPr>
              <a:t>مُتَعَاوِنٌ</a:t>
            </a:r>
            <a:endParaRPr lang="ar-SA" sz="2050" dirty="0"/>
          </a:p>
        </p:txBody>
      </p:sp>
      <p:sp>
        <p:nvSpPr>
          <p:cNvPr id="41" name="Shape 38"/>
          <p:cNvSpPr/>
          <p:nvPr/>
        </p:nvSpPr>
        <p:spPr>
          <a:xfrm>
            <a:off x="4459224" y="344728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إِدَارَةُ الوَقْتِ</a:t>
            </a:r>
            <a:endParaRPr lang="ar-SA" sz="2050" dirty="0"/>
          </a:p>
        </p:txBody>
      </p:sp>
      <p:sp>
        <p:nvSpPr>
          <p:cNvPr id="44" name="Text 41"/>
          <p:cNvSpPr txBox="1"/>
          <p:nvPr/>
        </p:nvSpPr>
        <p:spPr>
          <a:xfrm>
            <a:off x="4404360"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mutaʿāwin = cooperative.</a:t>
            </a:r>
            <a:endParaRPr lang="en-US" sz="1050" dirty="0"/>
          </a:p>
        </p:txBody>
      </p:sp>
      <p:sp>
        <p:nvSpPr>
          <p:cNvPr id="45" name="Shape 42"/>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a:t>
            </a:r>
            <a:pPr algn="l" indent="0" marL="0">
              <a:buNone/>
            </a:pPr>
            <a:r>
              <a:rPr lang="ar-SA" altLang="en-US" sz="1650" b="1" dirty="0">
                <a:solidFill>
                  <a:srgbClr val="1B3B6F"/>
                </a:solidFill>
                <a:latin typeface="Amiri" pitchFamily="2" charset="-78"/>
                <a:ea typeface="Amiri" pitchFamily="2" charset="-78"/>
                <a:cs typeface="Amiri" pitchFamily="2" charset="-78"/>
              </a:rPr>
              <a:t>يَسْتَطِيعُ أَنْ</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ea typeface="Amiri" pitchFamily="2" charset="-78"/>
                <a:cs typeface="Amiri" pitchFamily="2" charset="-78"/>
              </a:rPr>
              <a:t>المُشْكِلَاتِ</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49" name="Shape 46"/>
          <p:cNvSpPr/>
          <p:nvPr/>
        </p:nvSpPr>
        <p:spPr>
          <a:xfrm>
            <a:off x="8186928" y="2496312"/>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532888"/>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52" name="Text 49"/>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ea typeface="Amiri" pitchFamily="2" charset="-78"/>
                <a:cs typeface="Amiri" pitchFamily="2" charset="-78"/>
              </a:rPr>
              <a:t>يَحُلَّ</a:t>
            </a:r>
            <a:endParaRPr lang="ar-SA" sz="2050" dirty="0"/>
          </a:p>
        </p:txBody>
      </p:sp>
      <p:sp>
        <p:nvSpPr>
          <p:cNvPr id="53" name="Shape 50"/>
          <p:cNvSpPr/>
          <p:nvPr/>
        </p:nvSpPr>
        <p:spPr>
          <a:xfrm>
            <a:off x="8278368" y="2990088"/>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5" name="Text 52"/>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تَحُلَّ</a:t>
            </a:r>
            <a:endParaRPr lang="ar-SA" sz="2050" dirty="0"/>
          </a:p>
        </p:txBody>
      </p:sp>
      <p:sp>
        <p:nvSpPr>
          <p:cNvPr id="56" name="Shape 53"/>
          <p:cNvSpPr/>
          <p:nvPr/>
        </p:nvSpPr>
        <p:spPr>
          <a:xfrm>
            <a:off x="8278368" y="344728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حَلَّ</a:t>
            </a:r>
            <a:endParaRPr lang="ar-SA" sz="2050" dirty="0"/>
          </a:p>
        </p:txBody>
      </p:sp>
      <p:sp>
        <p:nvSpPr>
          <p:cNvPr id="59" name="Text 56"/>
          <p:cNvSpPr txBox="1"/>
          <p:nvPr/>
        </p:nvSpPr>
        <p:spPr>
          <a:xfrm>
            <a:off x="8223504"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He can → an yaḥulla.</a:t>
            </a:r>
            <a:endParaRPr lang="en-US" sz="1050" dirty="0"/>
          </a:p>
        </p:txBody>
      </p:sp>
      <p:sp>
        <p:nvSpPr>
          <p:cNvPr id="60" name="Shape 57"/>
          <p:cNvSpPr/>
          <p:nvPr/>
        </p:nvSpPr>
        <p:spPr>
          <a:xfrm>
            <a:off x="457200" y="5532120"/>
            <a:ext cx="11274552" cy="777240"/>
          </a:xfrm>
          <a:prstGeom prst="roundRect">
            <a:avLst>
              <a:gd name="adj" fmla="val 9412"/>
            </a:avLst>
          </a:prstGeom>
          <a:solidFill>
            <a:srgbClr val="EEF3FA"/>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85800" y="5577840"/>
            <a:ext cx="937260" cy="685800"/>
          </a:xfrm>
          <a:prstGeom prst="rect">
            <a:avLst/>
          </a:prstGeom>
          <a:noFill/>
          <a:ln/>
        </p:spPr>
        <p:txBody>
          <a:bodyPr wrap="square" lIns="0" tIns="0" rIns="0" bIns="0" rtlCol="0" anchor="ctr"/>
          <a:lstStyle/>
          <a:p>
            <a:pPr algn="l" indent="0" marL="0">
              <a:buNone/>
            </a:pPr>
            <a:r>
              <a:rPr lang="en-US" sz="1200" b="1" spc="100" kern="0" dirty="0">
                <a:solidFill>
                  <a:srgbClr val="1B3B6F"/>
                </a:solidFill>
                <a:latin typeface="Calibri" pitchFamily="34" charset="0"/>
                <a:cs typeface="Amiri" pitchFamily="2" charset="-78"/>
              </a:rPr>
              <a:t>SCORE</a:t>
            </a:r>
            <a:endParaRPr lang="en-US" sz="1200" dirty="0"/>
          </a:p>
        </p:txBody>
      </p:sp>
      <p:sp>
        <p:nvSpPr>
          <p:cNvPr id="62" name="Text 59"/>
          <p:cNvSpPr txBox="1"/>
          <p:nvPr/>
        </p:nvSpPr>
        <p:spPr>
          <a:xfrm>
            <a:off x="1623060" y="5577840"/>
            <a:ext cx="9944100"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3/3 → aim for Stretch next lesson  ·  2/3 → Develop  ·  0–1 → Core route and a quick check-in during the next Do Now.</a:t>
            </a:r>
            <a:endParaRPr lang="en-US" sz="12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42 / 47</a:t>
            </a:r>
            <a:endParaRPr lang="en-US" sz="85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TD-L08 ·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FAST FINISHERS OR HOMEWORK (STRETCH)</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Skills for three careers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D · The World of Work · TD-L08</a:t>
            </a:r>
            <a:endParaRPr lang="en-US" sz="850" dirty="0"/>
          </a:p>
        </p:txBody>
      </p:sp>
      <p:sp>
        <p:nvSpPr>
          <p:cNvPr id="17" name="Shape 14"/>
          <p:cNvSpPr/>
          <p:nvPr/>
        </p:nvSpPr>
        <p:spPr>
          <a:xfrm>
            <a:off x="457200" y="1810512"/>
            <a:ext cx="807415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85800" y="1965960"/>
            <a:ext cx="7616952" cy="4206240"/>
          </a:xfrm>
          <a:prstGeom prst="rect">
            <a:avLst/>
          </a:prstGeom>
          <a:noFill/>
          <a:ln/>
        </p:spPr>
        <p:txBody>
          <a:bodyPr wrap="square" lIns="0" tIns="0" rIns="0" bIns="0" rtlCol="0" anchor="t"/>
          <a:lstStyle/>
          <a:p>
            <a:pPr rtl="1" algn="r" indent="0" marL="0">
              <a:lnSpc>
                <a:spcPct val="120000"/>
              </a:lnSpc>
              <a:buNone/>
            </a:pPr>
            <a:r>
              <a:rPr lang="ar-SA" altLang="en-US" sz="2600" dirty="0">
                <a:solidFill>
                  <a:srgbClr val="1F2A37"/>
                </a:solidFill>
                <a:latin typeface="Amiri" pitchFamily="2" charset="-78"/>
                <a:ea typeface="Amiri" pitchFamily="2" charset="-78"/>
                <a:cs typeface="Amiri" pitchFamily="2" charset="-78"/>
              </a:rPr>
              <a:t>تَخْتَلِفُ المَهَارَاتُ المَطْلُوبَةُ مِنْ مِهْنَةٍ إِلَى أُخْرَى. فَالطَّبِيبُ يَحْتَاجُ إِلَى مَعْرِفَةٍ عِلْمِيَّةٍ وَقُدْرَةٍ عَلَى الاِسْتِمَاعِ لِلْمَرْضَى. أَمَّا المُبَرْمِجُ فَيَحْتَاجُ إِلَى التَّفْكِيرِ المَنْطِقِيِّ وَالصَّبْرِ عِنْدَ حَلِّ الأَخْطَاءِ. وَيَجِبُ أَنْ يَكُونَ المُدَرِّسُ مُنَظَّمًا وَقَادِرًا عَلَى شَرْحِ الأَفْكَارِ بِطُرُقٍ مُخْتَلِفَةٍ. وَمَعَ ذٰلِكَ، تَشْتَرِكُ المِهَنُ الثَّلَاثُ فِي أَهَمِّيَّةِ التَّوَاصُلِ وَالمَسْؤُولِيَّةِ.</a:t>
            </a:r>
            <a:endParaRPr lang="ar-SA" sz="2600" dirty="0"/>
          </a:p>
        </p:txBody>
      </p:sp>
      <p:sp>
        <p:nvSpPr>
          <p:cNvPr id="19" name="Shape 16"/>
          <p:cNvSpPr/>
          <p:nvPr/>
        </p:nvSpPr>
        <p:spPr>
          <a:xfrm>
            <a:off x="8714232" y="1810512"/>
            <a:ext cx="3017520" cy="4498848"/>
          </a:xfrm>
          <a:prstGeom prst="roundRect">
            <a:avLst>
              <a:gd name="adj" fmla="val 2424"/>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8897112" y="1883664"/>
            <a:ext cx="2651760" cy="292608"/>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KEY WORDS</a:t>
            </a:r>
            <a:endParaRPr lang="en-US" sz="1000" dirty="0"/>
          </a:p>
        </p:txBody>
      </p:sp>
      <p:sp>
        <p:nvSpPr>
          <p:cNvPr id="21" name="Text 18"/>
          <p:cNvSpPr txBox="1"/>
          <p:nvPr/>
        </p:nvSpPr>
        <p:spPr>
          <a:xfrm>
            <a:off x="10102291" y="2212848"/>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تَخْتَلِفُ</a:t>
            </a:r>
            <a:endParaRPr lang="ar-SA" sz="1600" dirty="0"/>
          </a:p>
        </p:txBody>
      </p:sp>
      <p:sp>
        <p:nvSpPr>
          <p:cNvPr id="22" name="Text 19"/>
          <p:cNvSpPr txBox="1"/>
          <p:nvPr/>
        </p:nvSpPr>
        <p:spPr>
          <a:xfrm>
            <a:off x="8851392" y="2212848"/>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differ</a:t>
            </a:r>
            <a:endParaRPr lang="en-US" sz="1050" dirty="0"/>
          </a:p>
        </p:txBody>
      </p:sp>
      <p:sp>
        <p:nvSpPr>
          <p:cNvPr id="23" name="Text 20"/>
          <p:cNvSpPr txBox="1"/>
          <p:nvPr/>
        </p:nvSpPr>
        <p:spPr>
          <a:xfrm>
            <a:off x="10102291" y="2615184"/>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المَطْلُوبَةُ</a:t>
            </a:r>
            <a:endParaRPr lang="ar-SA" sz="1600" dirty="0"/>
          </a:p>
        </p:txBody>
      </p:sp>
      <p:sp>
        <p:nvSpPr>
          <p:cNvPr id="24" name="Text 21"/>
          <p:cNvSpPr txBox="1"/>
          <p:nvPr/>
        </p:nvSpPr>
        <p:spPr>
          <a:xfrm>
            <a:off x="8851392" y="2615184"/>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required</a:t>
            </a:r>
            <a:endParaRPr lang="en-US" sz="1050" dirty="0"/>
          </a:p>
        </p:txBody>
      </p:sp>
      <p:sp>
        <p:nvSpPr>
          <p:cNvPr id="25" name="Text 22"/>
          <p:cNvSpPr txBox="1"/>
          <p:nvPr/>
        </p:nvSpPr>
        <p:spPr>
          <a:xfrm>
            <a:off x="10102291" y="3017520"/>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مَعْرِفَةٍ عِلْمِيَّةٍ</a:t>
            </a:r>
            <a:endParaRPr lang="ar-SA" sz="1600" dirty="0"/>
          </a:p>
        </p:txBody>
      </p:sp>
      <p:sp>
        <p:nvSpPr>
          <p:cNvPr id="26" name="Text 23"/>
          <p:cNvSpPr txBox="1"/>
          <p:nvPr/>
        </p:nvSpPr>
        <p:spPr>
          <a:xfrm>
            <a:off x="8851392" y="3017520"/>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scientific knowledge</a:t>
            </a:r>
            <a:endParaRPr lang="en-US" sz="1050" dirty="0"/>
          </a:p>
        </p:txBody>
      </p:sp>
      <p:sp>
        <p:nvSpPr>
          <p:cNvPr id="27" name="Text 24"/>
          <p:cNvSpPr txBox="1"/>
          <p:nvPr/>
        </p:nvSpPr>
        <p:spPr>
          <a:xfrm>
            <a:off x="10102291" y="3419856"/>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قُدْرَةٍ عَلَى</a:t>
            </a:r>
            <a:endParaRPr lang="ar-SA" sz="1600" dirty="0"/>
          </a:p>
        </p:txBody>
      </p:sp>
      <p:sp>
        <p:nvSpPr>
          <p:cNvPr id="28" name="Text 25"/>
          <p:cNvSpPr txBox="1"/>
          <p:nvPr/>
        </p:nvSpPr>
        <p:spPr>
          <a:xfrm>
            <a:off x="8851392" y="3419856"/>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the ability to</a:t>
            </a:r>
            <a:endParaRPr lang="en-US" sz="1050" dirty="0"/>
          </a:p>
        </p:txBody>
      </p:sp>
      <p:sp>
        <p:nvSpPr>
          <p:cNvPr id="29" name="Text 26"/>
          <p:cNvSpPr txBox="1"/>
          <p:nvPr/>
        </p:nvSpPr>
        <p:spPr>
          <a:xfrm>
            <a:off x="10102291" y="3822192"/>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لِلْمَرْضَى</a:t>
            </a:r>
            <a:endParaRPr lang="ar-SA" sz="1600" dirty="0"/>
          </a:p>
        </p:txBody>
      </p:sp>
      <p:sp>
        <p:nvSpPr>
          <p:cNvPr id="30" name="Text 27"/>
          <p:cNvSpPr txBox="1"/>
          <p:nvPr/>
        </p:nvSpPr>
        <p:spPr>
          <a:xfrm>
            <a:off x="8851392" y="3822192"/>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to patients</a:t>
            </a:r>
            <a:endParaRPr lang="en-US" sz="1050" dirty="0"/>
          </a:p>
        </p:txBody>
      </p:sp>
      <p:sp>
        <p:nvSpPr>
          <p:cNvPr id="31" name="Text 28"/>
          <p:cNvSpPr txBox="1"/>
          <p:nvPr/>
        </p:nvSpPr>
        <p:spPr>
          <a:xfrm>
            <a:off x="10102291" y="4224528"/>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التَّفْكِيرِ المَنْطِقِيِّ</a:t>
            </a:r>
            <a:endParaRPr lang="ar-SA" sz="1600" dirty="0"/>
          </a:p>
        </p:txBody>
      </p:sp>
      <p:sp>
        <p:nvSpPr>
          <p:cNvPr id="32" name="Text 29"/>
          <p:cNvSpPr txBox="1"/>
          <p:nvPr/>
        </p:nvSpPr>
        <p:spPr>
          <a:xfrm>
            <a:off x="8851392" y="4224528"/>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logical thinking</a:t>
            </a:r>
            <a:endParaRPr lang="en-US" sz="1050" dirty="0"/>
          </a:p>
        </p:txBody>
      </p:sp>
      <p:sp>
        <p:nvSpPr>
          <p:cNvPr id="33" name="Text 30"/>
          <p:cNvSpPr txBox="1"/>
          <p:nvPr/>
        </p:nvSpPr>
        <p:spPr>
          <a:xfrm>
            <a:off x="10102291" y="4626864"/>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حَلِّ الأَخْطَاءِ</a:t>
            </a:r>
            <a:endParaRPr lang="ar-SA" sz="1600" dirty="0"/>
          </a:p>
        </p:txBody>
      </p:sp>
      <p:sp>
        <p:nvSpPr>
          <p:cNvPr id="34" name="Text 31"/>
          <p:cNvSpPr txBox="1"/>
          <p:nvPr/>
        </p:nvSpPr>
        <p:spPr>
          <a:xfrm>
            <a:off x="8851392" y="4626864"/>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fixing errors</a:t>
            </a:r>
            <a:endParaRPr lang="en-US" sz="1050" dirty="0"/>
          </a:p>
        </p:txBody>
      </p:sp>
      <p:sp>
        <p:nvSpPr>
          <p:cNvPr id="35" name="Text 32"/>
          <p:cNvSpPr txBox="1"/>
          <p:nvPr/>
        </p:nvSpPr>
        <p:spPr>
          <a:xfrm>
            <a:off x="10102291" y="5029200"/>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قَادِرًا عَلَى</a:t>
            </a:r>
            <a:endParaRPr lang="ar-SA" sz="1600" dirty="0"/>
          </a:p>
        </p:txBody>
      </p:sp>
      <p:sp>
        <p:nvSpPr>
          <p:cNvPr id="36" name="Text 33"/>
          <p:cNvSpPr txBox="1"/>
          <p:nvPr/>
        </p:nvSpPr>
        <p:spPr>
          <a:xfrm>
            <a:off x="8851392" y="5029200"/>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able to</a:t>
            </a:r>
            <a:endParaRPr lang="en-US" sz="1050" dirty="0"/>
          </a:p>
        </p:txBody>
      </p:sp>
      <p:sp>
        <p:nvSpPr>
          <p:cNvPr id="37" name="Text 34"/>
          <p:cNvSpPr txBox="1"/>
          <p:nvPr/>
        </p:nvSpPr>
        <p:spPr>
          <a:xfrm>
            <a:off x="10102291" y="5431536"/>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شَرْحِ الأَفْكَارِ</a:t>
            </a:r>
            <a:endParaRPr lang="ar-SA" sz="1600" dirty="0"/>
          </a:p>
        </p:txBody>
      </p:sp>
      <p:sp>
        <p:nvSpPr>
          <p:cNvPr id="38" name="Text 35"/>
          <p:cNvSpPr txBox="1"/>
          <p:nvPr/>
        </p:nvSpPr>
        <p:spPr>
          <a:xfrm>
            <a:off x="8851392" y="5431536"/>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explaining ideas</a:t>
            </a:r>
            <a:endParaRPr lang="en-US" sz="1050" dirty="0"/>
          </a:p>
        </p:txBody>
      </p:sp>
      <p:sp>
        <p:nvSpPr>
          <p:cNvPr id="39" name="Text 36"/>
          <p:cNvSpPr txBox="1"/>
          <p:nvPr/>
        </p:nvSpPr>
        <p:spPr>
          <a:xfrm>
            <a:off x="10102291" y="5833872"/>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تَشْتَرِكُ</a:t>
            </a:r>
            <a:endParaRPr lang="ar-SA" sz="1600" dirty="0"/>
          </a:p>
        </p:txBody>
      </p:sp>
      <p:sp>
        <p:nvSpPr>
          <p:cNvPr id="40" name="Text 37"/>
          <p:cNvSpPr txBox="1"/>
          <p:nvPr/>
        </p:nvSpPr>
        <p:spPr>
          <a:xfrm>
            <a:off x="8851392" y="5833872"/>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share</a:t>
            </a:r>
            <a:endParaRPr lang="en-US" sz="1050" dirty="0"/>
          </a:p>
        </p:txBody>
      </p:sp>
      <p:sp>
        <p:nvSpPr>
          <p:cNvPr id="41" name="Text 3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43 / 47</a:t>
            </a:r>
            <a:endParaRPr lang="en-US" sz="85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TD-L08 ·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READING QUESTIONS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questions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أَسْئِلَةُ 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D · The World of Work · TD-L08</a:t>
            </a:r>
            <a:endParaRPr lang="en-US" sz="850" dirty="0"/>
          </a:p>
        </p:txBody>
      </p:sp>
      <p:sp>
        <p:nvSpPr>
          <p:cNvPr id="17" name="Shape 14"/>
          <p:cNvSpPr/>
          <p:nvPr/>
        </p:nvSpPr>
        <p:spPr>
          <a:xfrm>
            <a:off x="457200"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20" name="Text 17"/>
          <p:cNvSpPr txBox="1"/>
          <p:nvPr/>
        </p:nvSpPr>
        <p:spPr>
          <a:xfrm>
            <a:off x="950976"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knowledge does a doctor need?</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computer skills</a:t>
            </a:r>
            <a:endParaRPr lang="en-US" sz="12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scientific knowledge</a:t>
            </a:r>
            <a:endParaRPr lang="en-US" sz="12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9" name="Text 26"/>
          <p:cNvSpPr txBox="1"/>
          <p:nvPr/>
        </p:nvSpPr>
        <p:spPr>
          <a:xfrm>
            <a:off x="969264"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business knowledge</a:t>
            </a:r>
            <a:endParaRPr lang="en-US" sz="1250" dirty="0"/>
          </a:p>
        </p:txBody>
      </p:sp>
      <p:sp>
        <p:nvSpPr>
          <p:cNvPr id="30" name="Shape 27"/>
          <p:cNvSpPr/>
          <p:nvPr/>
        </p:nvSpPr>
        <p:spPr>
          <a:xfrm>
            <a:off x="3321558"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3449574"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344957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3815334"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must a doctor be able to do with patients?</a:t>
            </a:r>
            <a:endParaRPr lang="en-US" sz="1250" dirty="0"/>
          </a:p>
        </p:txBody>
      </p:sp>
      <p:sp>
        <p:nvSpPr>
          <p:cNvPr id="34" name="Shape 31"/>
          <p:cNvSpPr/>
          <p:nvPr/>
        </p:nvSpPr>
        <p:spPr>
          <a:xfrm>
            <a:off x="3504438"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350443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3833622"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teach them</a:t>
            </a:r>
            <a:endParaRPr lang="en-US" sz="1250" dirty="0"/>
          </a:p>
        </p:txBody>
      </p:sp>
      <p:sp>
        <p:nvSpPr>
          <p:cNvPr id="37" name="Shape 34"/>
          <p:cNvSpPr/>
          <p:nvPr/>
        </p:nvSpPr>
        <p:spPr>
          <a:xfrm>
            <a:off x="3504438"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350443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3833622"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phone them</a:t>
            </a:r>
            <a:endParaRPr lang="en-US" sz="1250" dirty="0"/>
          </a:p>
        </p:txBody>
      </p:sp>
      <p:sp>
        <p:nvSpPr>
          <p:cNvPr id="40" name="Shape 37"/>
          <p:cNvSpPr/>
          <p:nvPr/>
        </p:nvSpPr>
        <p:spPr>
          <a:xfrm>
            <a:off x="3504438"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350443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2" name="Text 39"/>
          <p:cNvSpPr txBox="1"/>
          <p:nvPr/>
        </p:nvSpPr>
        <p:spPr>
          <a:xfrm>
            <a:off x="3833622"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listen to them</a:t>
            </a:r>
            <a:endParaRPr lang="en-US" sz="1250" dirty="0"/>
          </a:p>
        </p:txBody>
      </p:sp>
      <p:sp>
        <p:nvSpPr>
          <p:cNvPr id="43" name="Shape 40"/>
          <p:cNvSpPr/>
          <p:nvPr/>
        </p:nvSpPr>
        <p:spPr>
          <a:xfrm>
            <a:off x="6185916"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6313932" y="1947672"/>
            <a:ext cx="310896" cy="310896"/>
          </a:xfrm>
          <a:prstGeom prst="ellipse">
            <a:avLst/>
          </a:prstGeom>
          <a:solidFill>
            <a:srgbClr val="1B3B6F"/>
          </a:solidFill>
          <a:ln w="12700">
            <a:solidFill>
              <a:srgbClr val="1B3B6F"/>
            </a:solidFill>
            <a:prstDash val="solid"/>
          </a:ln>
        </p:spPr>
      </p:sp>
      <p:sp>
        <p:nvSpPr>
          <p:cNvPr id="45" name="Text 42"/>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6" name="Text 43"/>
          <p:cNvSpPr txBox="1"/>
          <p:nvPr/>
        </p:nvSpPr>
        <p:spPr>
          <a:xfrm>
            <a:off x="6679692"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kind of thinking does a programmer need?</a:t>
            </a:r>
            <a:endParaRPr lang="en-US" sz="1250" dirty="0"/>
          </a:p>
        </p:txBody>
      </p:sp>
      <p:sp>
        <p:nvSpPr>
          <p:cNvPr id="47" name="Shape 44"/>
          <p:cNvSpPr/>
          <p:nvPr/>
        </p:nvSpPr>
        <p:spPr>
          <a:xfrm>
            <a:off x="6368796" y="2532888"/>
            <a:ext cx="256032" cy="256032"/>
          </a:xfrm>
          <a:prstGeom prst="ellipse">
            <a:avLst/>
          </a:prstGeom>
          <a:solidFill>
            <a:srgbClr val="F4F1EA"/>
          </a:solidFill>
          <a:ln w="12700">
            <a:solidFill>
              <a:srgbClr val="F4F1EA"/>
            </a:solidFill>
            <a:prstDash val="solid"/>
          </a:ln>
        </p:spPr>
      </p:sp>
      <p:sp>
        <p:nvSpPr>
          <p:cNvPr id="48" name="Text 45"/>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9" name="Text 46"/>
          <p:cNvSpPr txBox="1"/>
          <p:nvPr/>
        </p:nvSpPr>
        <p:spPr>
          <a:xfrm>
            <a:off x="6697980"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logical thinking</a:t>
            </a:r>
            <a:endParaRPr lang="en-US" sz="1250" dirty="0"/>
          </a:p>
        </p:txBody>
      </p:sp>
      <p:sp>
        <p:nvSpPr>
          <p:cNvPr id="50" name="Shape 47"/>
          <p:cNvSpPr/>
          <p:nvPr/>
        </p:nvSpPr>
        <p:spPr>
          <a:xfrm>
            <a:off x="6368796" y="2990088"/>
            <a:ext cx="256032" cy="256032"/>
          </a:xfrm>
          <a:prstGeom prst="ellipse">
            <a:avLst/>
          </a:prstGeom>
          <a:solidFill>
            <a:srgbClr val="F4F1EA"/>
          </a:solidFill>
          <a:ln w="12700">
            <a:solidFill>
              <a:srgbClr val="F4F1EA"/>
            </a:solidFill>
            <a:prstDash val="solid"/>
          </a:ln>
        </p:spPr>
      </p:sp>
      <p:sp>
        <p:nvSpPr>
          <p:cNvPr id="51" name="Text 48"/>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2" name="Text 49"/>
          <p:cNvSpPr txBox="1"/>
          <p:nvPr/>
        </p:nvSpPr>
        <p:spPr>
          <a:xfrm>
            <a:off x="6697980"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creative writing</a:t>
            </a:r>
            <a:endParaRPr lang="en-US" sz="1250" dirty="0"/>
          </a:p>
        </p:txBody>
      </p:sp>
      <p:sp>
        <p:nvSpPr>
          <p:cNvPr id="53" name="Shape 50"/>
          <p:cNvSpPr/>
          <p:nvPr/>
        </p:nvSpPr>
        <p:spPr>
          <a:xfrm>
            <a:off x="6368796" y="3447288"/>
            <a:ext cx="256032" cy="256032"/>
          </a:xfrm>
          <a:prstGeom prst="ellipse">
            <a:avLst/>
          </a:prstGeom>
          <a:solidFill>
            <a:srgbClr val="F4F1EA"/>
          </a:solidFill>
          <a:ln w="12700">
            <a:solidFill>
              <a:srgbClr val="F4F1EA"/>
            </a:solidFill>
            <a:prstDash val="solid"/>
          </a:ln>
        </p:spPr>
      </p:sp>
      <p:sp>
        <p:nvSpPr>
          <p:cNvPr id="54" name="Text 51"/>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5" name="Text 52"/>
          <p:cNvSpPr txBox="1"/>
          <p:nvPr/>
        </p:nvSpPr>
        <p:spPr>
          <a:xfrm>
            <a:off x="6697980"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quick speaking</a:t>
            </a:r>
            <a:endParaRPr lang="en-US" sz="1250" dirty="0"/>
          </a:p>
        </p:txBody>
      </p:sp>
      <p:sp>
        <p:nvSpPr>
          <p:cNvPr id="56" name="Shape 53"/>
          <p:cNvSpPr/>
          <p:nvPr/>
        </p:nvSpPr>
        <p:spPr>
          <a:xfrm>
            <a:off x="9050274"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9178290" y="1947672"/>
            <a:ext cx="310896" cy="310896"/>
          </a:xfrm>
          <a:prstGeom prst="ellipse">
            <a:avLst/>
          </a:prstGeom>
          <a:solidFill>
            <a:srgbClr val="1B3B6F"/>
          </a:solidFill>
          <a:ln w="12700">
            <a:solidFill>
              <a:srgbClr val="1B3B6F"/>
            </a:solidFill>
            <a:prstDash val="solid"/>
          </a:ln>
        </p:spPr>
      </p:sp>
      <p:sp>
        <p:nvSpPr>
          <p:cNvPr id="58" name="Text 55"/>
          <p:cNvSpPr txBox="1"/>
          <p:nvPr/>
        </p:nvSpPr>
        <p:spPr>
          <a:xfrm>
            <a:off x="917829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9" name="Text 56"/>
          <p:cNvSpPr txBox="1"/>
          <p:nvPr/>
        </p:nvSpPr>
        <p:spPr>
          <a:xfrm>
            <a:off x="9544050"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When does a programmer need patience?</a:t>
            </a:r>
            <a:endParaRPr lang="en-US" sz="1250" dirty="0"/>
          </a:p>
        </p:txBody>
      </p:sp>
      <p:sp>
        <p:nvSpPr>
          <p:cNvPr id="60" name="Shape 57"/>
          <p:cNvSpPr/>
          <p:nvPr/>
        </p:nvSpPr>
        <p:spPr>
          <a:xfrm>
            <a:off x="9233154" y="2532888"/>
            <a:ext cx="256032" cy="256032"/>
          </a:xfrm>
          <a:prstGeom prst="ellipse">
            <a:avLst/>
          </a:prstGeom>
          <a:solidFill>
            <a:srgbClr val="F4F1EA"/>
          </a:solidFill>
          <a:ln w="12700">
            <a:solidFill>
              <a:srgbClr val="F4F1EA"/>
            </a:solidFill>
            <a:prstDash val="solid"/>
          </a:ln>
        </p:spPr>
      </p:sp>
      <p:sp>
        <p:nvSpPr>
          <p:cNvPr id="61" name="Text 58"/>
          <p:cNvSpPr txBox="1"/>
          <p:nvPr/>
        </p:nvSpPr>
        <p:spPr>
          <a:xfrm>
            <a:off x="923315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2" name="Text 59"/>
          <p:cNvSpPr txBox="1"/>
          <p:nvPr/>
        </p:nvSpPr>
        <p:spPr>
          <a:xfrm>
            <a:off x="9562338"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when meeting clients</a:t>
            </a:r>
            <a:endParaRPr lang="en-US" sz="1250" dirty="0"/>
          </a:p>
        </p:txBody>
      </p:sp>
      <p:sp>
        <p:nvSpPr>
          <p:cNvPr id="63" name="Shape 60"/>
          <p:cNvSpPr/>
          <p:nvPr/>
        </p:nvSpPr>
        <p:spPr>
          <a:xfrm>
            <a:off x="9233154" y="2990088"/>
            <a:ext cx="256032" cy="256032"/>
          </a:xfrm>
          <a:prstGeom prst="ellipse">
            <a:avLst/>
          </a:prstGeom>
          <a:solidFill>
            <a:srgbClr val="F4F1EA"/>
          </a:solidFill>
          <a:ln w="12700">
            <a:solidFill>
              <a:srgbClr val="F4F1EA"/>
            </a:solidFill>
            <a:prstDash val="solid"/>
          </a:ln>
        </p:spPr>
      </p:sp>
      <p:sp>
        <p:nvSpPr>
          <p:cNvPr id="64" name="Text 61"/>
          <p:cNvSpPr txBox="1"/>
          <p:nvPr/>
        </p:nvSpPr>
        <p:spPr>
          <a:xfrm>
            <a:off x="923315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5" name="Text 62"/>
          <p:cNvSpPr txBox="1"/>
          <p:nvPr/>
        </p:nvSpPr>
        <p:spPr>
          <a:xfrm>
            <a:off x="9562338"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when fixing errors</a:t>
            </a:r>
            <a:endParaRPr lang="en-US" sz="1250" dirty="0"/>
          </a:p>
        </p:txBody>
      </p:sp>
      <p:sp>
        <p:nvSpPr>
          <p:cNvPr id="66" name="Shape 63"/>
          <p:cNvSpPr/>
          <p:nvPr/>
        </p:nvSpPr>
        <p:spPr>
          <a:xfrm>
            <a:off x="9233154" y="3447288"/>
            <a:ext cx="256032" cy="256032"/>
          </a:xfrm>
          <a:prstGeom prst="ellipse">
            <a:avLst/>
          </a:prstGeom>
          <a:solidFill>
            <a:srgbClr val="F4F1EA"/>
          </a:solidFill>
          <a:ln w="12700">
            <a:solidFill>
              <a:srgbClr val="F4F1EA"/>
            </a:solidFill>
            <a:prstDash val="solid"/>
          </a:ln>
        </p:spPr>
      </p:sp>
      <p:sp>
        <p:nvSpPr>
          <p:cNvPr id="67" name="Text 64"/>
          <p:cNvSpPr txBox="1"/>
          <p:nvPr/>
        </p:nvSpPr>
        <p:spPr>
          <a:xfrm>
            <a:off x="923315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8" name="Text 65"/>
          <p:cNvSpPr txBox="1"/>
          <p:nvPr/>
        </p:nvSpPr>
        <p:spPr>
          <a:xfrm>
            <a:off x="9562338"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when travelling</a:t>
            </a:r>
            <a:endParaRPr lang="en-US" sz="1250" dirty="0"/>
          </a:p>
        </p:txBody>
      </p:sp>
      <p:sp>
        <p:nvSpPr>
          <p:cNvPr id="69" name="Shape 66"/>
          <p:cNvSpPr/>
          <p:nvPr/>
        </p:nvSpPr>
        <p:spPr>
          <a:xfrm>
            <a:off x="457200"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0" name="Shape 67"/>
          <p:cNvSpPr/>
          <p:nvPr/>
        </p:nvSpPr>
        <p:spPr>
          <a:xfrm>
            <a:off x="585216" y="4288536"/>
            <a:ext cx="310896" cy="310896"/>
          </a:xfrm>
          <a:prstGeom prst="ellipse">
            <a:avLst/>
          </a:prstGeom>
          <a:solidFill>
            <a:srgbClr val="1B3B6F"/>
          </a:solidFill>
          <a:ln w="12700">
            <a:solidFill>
              <a:srgbClr val="1B3B6F"/>
            </a:solidFill>
            <a:prstDash val="solid"/>
          </a:ln>
        </p:spPr>
      </p:sp>
      <p:sp>
        <p:nvSpPr>
          <p:cNvPr id="71" name="Text 68"/>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2" name="Text 69"/>
          <p:cNvSpPr txBox="1"/>
          <p:nvPr/>
        </p:nvSpPr>
        <p:spPr>
          <a:xfrm>
            <a:off x="950976"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must a teacher be able to do?</a:t>
            </a:r>
            <a:endParaRPr lang="en-US" sz="1250" dirty="0"/>
          </a:p>
        </p:txBody>
      </p:sp>
      <p:sp>
        <p:nvSpPr>
          <p:cNvPr id="73" name="Shape 70"/>
          <p:cNvSpPr/>
          <p:nvPr/>
        </p:nvSpPr>
        <p:spPr>
          <a:xfrm>
            <a:off x="640080" y="4873752"/>
            <a:ext cx="256032" cy="256032"/>
          </a:xfrm>
          <a:prstGeom prst="ellipse">
            <a:avLst/>
          </a:prstGeom>
          <a:solidFill>
            <a:srgbClr val="F4F1EA"/>
          </a:solidFill>
          <a:ln w="12700">
            <a:solidFill>
              <a:srgbClr val="F4F1EA"/>
            </a:solidFill>
            <a:prstDash val="solid"/>
          </a:ln>
        </p:spPr>
      </p:sp>
      <p:sp>
        <p:nvSpPr>
          <p:cNvPr id="74" name="Text 71"/>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5" name="Text 72"/>
          <p:cNvSpPr txBox="1"/>
          <p:nvPr/>
        </p:nvSpPr>
        <p:spPr>
          <a:xfrm>
            <a:off x="969264" y="47731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explain ideas in different ways</a:t>
            </a:r>
            <a:endParaRPr lang="en-US" sz="1250" dirty="0"/>
          </a:p>
        </p:txBody>
      </p:sp>
      <p:sp>
        <p:nvSpPr>
          <p:cNvPr id="76" name="Shape 73"/>
          <p:cNvSpPr/>
          <p:nvPr/>
        </p:nvSpPr>
        <p:spPr>
          <a:xfrm>
            <a:off x="640080" y="5330952"/>
            <a:ext cx="256032" cy="256032"/>
          </a:xfrm>
          <a:prstGeom prst="ellipse">
            <a:avLst/>
          </a:prstGeom>
          <a:solidFill>
            <a:srgbClr val="F4F1EA"/>
          </a:solidFill>
          <a:ln w="12700">
            <a:solidFill>
              <a:srgbClr val="F4F1EA"/>
            </a:solidFill>
            <a:prstDash val="solid"/>
          </a:ln>
        </p:spPr>
      </p:sp>
      <p:sp>
        <p:nvSpPr>
          <p:cNvPr id="77" name="Text 74"/>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8" name="Text 75"/>
          <p:cNvSpPr txBox="1"/>
          <p:nvPr/>
        </p:nvSpPr>
        <p:spPr>
          <a:xfrm>
            <a:off x="969264" y="52303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repair computers</a:t>
            </a:r>
            <a:endParaRPr lang="en-US" sz="1250" dirty="0"/>
          </a:p>
        </p:txBody>
      </p:sp>
      <p:sp>
        <p:nvSpPr>
          <p:cNvPr id="79" name="Shape 76"/>
          <p:cNvSpPr/>
          <p:nvPr/>
        </p:nvSpPr>
        <p:spPr>
          <a:xfrm>
            <a:off x="640080" y="5788152"/>
            <a:ext cx="256032" cy="256032"/>
          </a:xfrm>
          <a:prstGeom prst="ellipse">
            <a:avLst/>
          </a:prstGeom>
          <a:solidFill>
            <a:srgbClr val="F4F1EA"/>
          </a:solidFill>
          <a:ln w="12700">
            <a:solidFill>
              <a:srgbClr val="F4F1EA"/>
            </a:solidFill>
            <a:prstDash val="solid"/>
          </a:ln>
        </p:spPr>
      </p:sp>
      <p:sp>
        <p:nvSpPr>
          <p:cNvPr id="80" name="Text 77"/>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1" name="Text 78"/>
          <p:cNvSpPr txBox="1"/>
          <p:nvPr/>
        </p:nvSpPr>
        <p:spPr>
          <a:xfrm>
            <a:off x="969264" y="56875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work at night</a:t>
            </a:r>
            <a:endParaRPr lang="en-US" sz="1250" dirty="0"/>
          </a:p>
        </p:txBody>
      </p:sp>
      <p:sp>
        <p:nvSpPr>
          <p:cNvPr id="82" name="Shape 79"/>
          <p:cNvSpPr/>
          <p:nvPr/>
        </p:nvSpPr>
        <p:spPr>
          <a:xfrm>
            <a:off x="3321558"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3" name="Shape 80"/>
          <p:cNvSpPr/>
          <p:nvPr/>
        </p:nvSpPr>
        <p:spPr>
          <a:xfrm>
            <a:off x="3449574" y="4288536"/>
            <a:ext cx="310896" cy="310896"/>
          </a:xfrm>
          <a:prstGeom prst="ellipse">
            <a:avLst/>
          </a:prstGeom>
          <a:solidFill>
            <a:srgbClr val="1B3B6F"/>
          </a:solidFill>
          <a:ln w="12700">
            <a:solidFill>
              <a:srgbClr val="1B3B6F"/>
            </a:solidFill>
            <a:prstDash val="solid"/>
          </a:ln>
        </p:spPr>
      </p:sp>
      <p:sp>
        <p:nvSpPr>
          <p:cNvPr id="84" name="Text 81"/>
          <p:cNvSpPr txBox="1"/>
          <p:nvPr/>
        </p:nvSpPr>
        <p:spPr>
          <a:xfrm>
            <a:off x="344957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85" name="Text 82"/>
          <p:cNvSpPr txBox="1"/>
          <p:nvPr/>
        </p:nvSpPr>
        <p:spPr>
          <a:xfrm>
            <a:off x="3815334"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two things do all three jobs share?</a:t>
            </a:r>
            <a:endParaRPr lang="en-US" sz="1250" dirty="0"/>
          </a:p>
        </p:txBody>
      </p:sp>
      <p:sp>
        <p:nvSpPr>
          <p:cNvPr id="86" name="Shape 83"/>
          <p:cNvSpPr/>
          <p:nvPr/>
        </p:nvSpPr>
        <p:spPr>
          <a:xfrm>
            <a:off x="3504438" y="4873752"/>
            <a:ext cx="256032" cy="256032"/>
          </a:xfrm>
          <a:prstGeom prst="ellipse">
            <a:avLst/>
          </a:prstGeom>
          <a:solidFill>
            <a:srgbClr val="F4F1EA"/>
          </a:solidFill>
          <a:ln w="12700">
            <a:solidFill>
              <a:srgbClr val="F4F1EA"/>
            </a:solidFill>
            <a:prstDash val="solid"/>
          </a:ln>
        </p:spPr>
      </p:sp>
      <p:sp>
        <p:nvSpPr>
          <p:cNvPr id="87" name="Text 84"/>
          <p:cNvSpPr txBox="1"/>
          <p:nvPr/>
        </p:nvSpPr>
        <p:spPr>
          <a:xfrm>
            <a:off x="3504438"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88" name="Text 85"/>
          <p:cNvSpPr txBox="1"/>
          <p:nvPr/>
        </p:nvSpPr>
        <p:spPr>
          <a:xfrm>
            <a:off x="3833622" y="47731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salary and hours</a:t>
            </a:r>
            <a:endParaRPr lang="en-US" sz="1250" dirty="0"/>
          </a:p>
        </p:txBody>
      </p:sp>
      <p:sp>
        <p:nvSpPr>
          <p:cNvPr id="89" name="Shape 86"/>
          <p:cNvSpPr/>
          <p:nvPr/>
        </p:nvSpPr>
        <p:spPr>
          <a:xfrm>
            <a:off x="3504438" y="5330952"/>
            <a:ext cx="256032" cy="256032"/>
          </a:xfrm>
          <a:prstGeom prst="ellipse">
            <a:avLst/>
          </a:prstGeom>
          <a:solidFill>
            <a:srgbClr val="F4F1EA"/>
          </a:solidFill>
          <a:ln w="12700">
            <a:solidFill>
              <a:srgbClr val="F4F1EA"/>
            </a:solidFill>
            <a:prstDash val="solid"/>
          </a:ln>
        </p:spPr>
      </p:sp>
      <p:sp>
        <p:nvSpPr>
          <p:cNvPr id="90" name="Text 87"/>
          <p:cNvSpPr txBox="1"/>
          <p:nvPr/>
        </p:nvSpPr>
        <p:spPr>
          <a:xfrm>
            <a:off x="3504438"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91" name="Text 88"/>
          <p:cNvSpPr txBox="1"/>
          <p:nvPr/>
        </p:nvSpPr>
        <p:spPr>
          <a:xfrm>
            <a:off x="3833622" y="52303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travel and leadership</a:t>
            </a:r>
            <a:endParaRPr lang="en-US" sz="1250" dirty="0"/>
          </a:p>
        </p:txBody>
      </p:sp>
      <p:sp>
        <p:nvSpPr>
          <p:cNvPr id="92" name="Shape 89"/>
          <p:cNvSpPr/>
          <p:nvPr/>
        </p:nvSpPr>
        <p:spPr>
          <a:xfrm>
            <a:off x="3504438" y="5788152"/>
            <a:ext cx="256032" cy="256032"/>
          </a:xfrm>
          <a:prstGeom prst="ellipse">
            <a:avLst/>
          </a:prstGeom>
          <a:solidFill>
            <a:srgbClr val="F4F1EA"/>
          </a:solidFill>
          <a:ln w="12700">
            <a:solidFill>
              <a:srgbClr val="F4F1EA"/>
            </a:solidFill>
            <a:prstDash val="solid"/>
          </a:ln>
        </p:spPr>
      </p:sp>
      <p:sp>
        <p:nvSpPr>
          <p:cNvPr id="93" name="Text 90"/>
          <p:cNvSpPr txBox="1"/>
          <p:nvPr/>
        </p:nvSpPr>
        <p:spPr>
          <a:xfrm>
            <a:off x="3504438"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94" name="Text 91"/>
          <p:cNvSpPr txBox="1"/>
          <p:nvPr/>
        </p:nvSpPr>
        <p:spPr>
          <a:xfrm>
            <a:off x="3833622" y="56875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communication and responsibility</a:t>
            </a:r>
            <a:endParaRPr lang="en-US" sz="1250" dirty="0"/>
          </a:p>
        </p:txBody>
      </p:sp>
      <p:sp>
        <p:nvSpPr>
          <p:cNvPr id="95" name="Shape 92"/>
          <p:cNvSpPr/>
          <p:nvPr/>
        </p:nvSpPr>
        <p:spPr>
          <a:xfrm>
            <a:off x="6185916" y="4151376"/>
            <a:ext cx="2681478"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6" name="Text 93"/>
          <p:cNvSpPr txBox="1"/>
          <p:nvPr/>
        </p:nvSpPr>
        <p:spPr>
          <a:xfrm>
            <a:off x="6368796" y="4279392"/>
            <a:ext cx="2315718"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READ LIKE A DETECTIVE</a:t>
            </a:r>
            <a:endParaRPr lang="en-US" sz="1000" dirty="0"/>
          </a:p>
        </p:txBody>
      </p:sp>
      <p:sp>
        <p:nvSpPr>
          <p:cNvPr id="97" name="Text 94"/>
          <p:cNvSpPr txBox="1"/>
          <p:nvPr/>
        </p:nvSpPr>
        <p:spPr>
          <a:xfrm>
            <a:off x="6368796" y="4590288"/>
            <a:ext cx="2315718"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1. Read the question first.</a:t>
            </a:r>
            <a:endParaRPr lang="en-US" sz="1250" dirty="0"/>
          </a:p>
          <a:p>
            <a:pPr algn="l" indent="0" marL="0">
              <a:buNone/>
            </a:pPr>
            <a:r>
              <a:rPr lang="en-US" sz="1250" dirty="0">
                <a:solidFill>
                  <a:srgbClr val="1F2A37"/>
                </a:solidFill>
                <a:latin typeface="Calibri" pitchFamily="34" charset="0"/>
                <a:cs typeface="Amiri" pitchFamily="2" charset="-78"/>
              </a:rPr>
              <a:t>2. Find ONE key word from the question in the text.</a:t>
            </a:r>
            <a:endParaRPr lang="en-US" sz="1250" dirty="0"/>
          </a:p>
          <a:p>
            <a:pPr algn="l" indent="0" marL="0">
              <a:buNone/>
            </a:pPr>
            <a:r>
              <a:rPr lang="en-US" sz="1250" dirty="0">
                <a:solidFill>
                  <a:srgbClr val="1F2A37"/>
                </a:solidFill>
                <a:latin typeface="Calibri" pitchFamily="34" charset="0"/>
                <a:cs typeface="Amiri" pitchFamily="2" charset="-78"/>
              </a:rPr>
              <a:t>3. Read only that sentence again, then choose.</a:t>
            </a:r>
            <a:endParaRPr lang="en-US" sz="1250" dirty="0"/>
          </a:p>
        </p:txBody>
      </p:sp>
      <p:sp>
        <p:nvSpPr>
          <p:cNvPr id="98" name="Text 9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44 / 47</a:t>
            </a:r>
            <a:endParaRPr lang="en-US" sz="85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TD-L08 ·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READING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answers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إِجَابَاتُ 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D · The World of Work · TD-L08</a:t>
            </a:r>
            <a:endParaRPr lang="en-US" sz="850" dirty="0"/>
          </a:p>
        </p:txBody>
      </p:sp>
      <p:sp>
        <p:nvSpPr>
          <p:cNvPr id="17" name="Shape 14"/>
          <p:cNvSpPr/>
          <p:nvPr/>
        </p:nvSpPr>
        <p:spPr>
          <a:xfrm>
            <a:off x="457200"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20" name="Text 17"/>
          <p:cNvSpPr txBox="1"/>
          <p:nvPr/>
        </p:nvSpPr>
        <p:spPr>
          <a:xfrm>
            <a:off x="950976"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knowledge does a doctor need?</a:t>
            </a:r>
            <a:endParaRPr lang="en-US" sz="1250" dirty="0"/>
          </a:p>
        </p:txBody>
      </p:sp>
      <p:sp>
        <p:nvSpPr>
          <p:cNvPr id="21"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computer skills</a:t>
            </a:r>
            <a:endParaRPr lang="en-US" sz="1250" dirty="0"/>
          </a:p>
        </p:txBody>
      </p:sp>
      <p:sp>
        <p:nvSpPr>
          <p:cNvPr id="24" name="Shape 21"/>
          <p:cNvSpPr/>
          <p:nvPr/>
        </p:nvSpPr>
        <p:spPr>
          <a:xfrm>
            <a:off x="548640" y="2825496"/>
            <a:ext cx="2498598" cy="347472"/>
          </a:xfrm>
          <a:prstGeom prst="roundRect">
            <a:avLst>
              <a:gd name="adj" fmla="val 15789"/>
            </a:avLst>
          </a:prstGeom>
          <a:solidFill>
            <a:srgbClr val="E6F4EC"/>
          </a:solidFill>
          <a:ln w="9525">
            <a:solidFill>
              <a:srgbClr val="2E8B57"/>
            </a:solidFill>
            <a:prstDash val="solid"/>
          </a:ln>
        </p:spPr>
      </p:sp>
      <p:sp>
        <p:nvSpPr>
          <p:cNvPr id="25" name="Shape 22"/>
          <p:cNvSpPr/>
          <p:nvPr/>
        </p:nvSpPr>
        <p:spPr>
          <a:xfrm>
            <a:off x="640080" y="2862072"/>
            <a:ext cx="256032" cy="256032"/>
          </a:xfrm>
          <a:prstGeom prst="ellipse">
            <a:avLst/>
          </a:prstGeom>
          <a:solidFill>
            <a:srgbClr val="2E8B57"/>
          </a:solidFill>
          <a:ln w="12700">
            <a:solidFill>
              <a:srgbClr val="2E8B57"/>
            </a:solidFill>
            <a:prstDash val="solid"/>
          </a:ln>
        </p:spPr>
      </p:sp>
      <p:sp>
        <p:nvSpPr>
          <p:cNvPr id="26" name="Text 23"/>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7" name="Text 24"/>
          <p:cNvSpPr txBox="1"/>
          <p:nvPr/>
        </p:nvSpPr>
        <p:spPr>
          <a:xfrm>
            <a:off x="969264" y="2804160"/>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scientific knowledge</a:t>
            </a:r>
            <a:endParaRPr lang="en-US" sz="1250" dirty="0"/>
          </a:p>
        </p:txBody>
      </p:sp>
      <p:sp>
        <p:nvSpPr>
          <p:cNvPr id="28" name="Shape 25"/>
          <p:cNvSpPr/>
          <p:nvPr/>
        </p:nvSpPr>
        <p:spPr>
          <a:xfrm>
            <a:off x="640080" y="3233928"/>
            <a:ext cx="256032" cy="256032"/>
          </a:xfrm>
          <a:prstGeom prst="ellipse">
            <a:avLst/>
          </a:prstGeom>
          <a:solidFill>
            <a:srgbClr val="C9CED6"/>
          </a:solidFill>
          <a:ln w="12700">
            <a:solidFill>
              <a:srgbClr val="C9CED6"/>
            </a:solidFill>
            <a:prstDash val="solid"/>
          </a:ln>
        </p:spPr>
      </p:sp>
      <p:sp>
        <p:nvSpPr>
          <p:cNvPr id="29"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30" name="Text 27"/>
          <p:cNvSpPr txBox="1"/>
          <p:nvPr/>
        </p:nvSpPr>
        <p:spPr>
          <a:xfrm>
            <a:off x="969264" y="3176016"/>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business knowledge</a:t>
            </a:r>
            <a:endParaRPr lang="en-US" sz="1250" dirty="0"/>
          </a:p>
        </p:txBody>
      </p:sp>
      <p:sp>
        <p:nvSpPr>
          <p:cNvPr id="31" name="Text 28"/>
          <p:cNvSpPr txBox="1"/>
          <p:nvPr/>
        </p:nvSpPr>
        <p:spPr>
          <a:xfrm>
            <a:off x="585216"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مَعْرِفَةٍ عِلْمِيَّةٍ</a:t>
            </a:r>
            <a:endParaRPr lang="ar-SA" sz="1350" dirty="0"/>
          </a:p>
        </p:txBody>
      </p:sp>
      <p:sp>
        <p:nvSpPr>
          <p:cNvPr id="32" name="Shape 29"/>
          <p:cNvSpPr/>
          <p:nvPr/>
        </p:nvSpPr>
        <p:spPr>
          <a:xfrm>
            <a:off x="3321558"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3449574"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344957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5" name="Text 32"/>
          <p:cNvSpPr txBox="1"/>
          <p:nvPr/>
        </p:nvSpPr>
        <p:spPr>
          <a:xfrm>
            <a:off x="3815334"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must a doctor be able to do with patients?</a:t>
            </a:r>
            <a:endParaRPr lang="en-US" sz="1250" dirty="0"/>
          </a:p>
        </p:txBody>
      </p:sp>
      <p:sp>
        <p:nvSpPr>
          <p:cNvPr id="36" name="Shape 33"/>
          <p:cNvSpPr/>
          <p:nvPr/>
        </p:nvSpPr>
        <p:spPr>
          <a:xfrm>
            <a:off x="3504438" y="2490216"/>
            <a:ext cx="256032" cy="256032"/>
          </a:xfrm>
          <a:prstGeom prst="ellipse">
            <a:avLst/>
          </a:prstGeom>
          <a:solidFill>
            <a:srgbClr val="C9CED6"/>
          </a:solidFill>
          <a:ln w="12700">
            <a:solidFill>
              <a:srgbClr val="C9CED6"/>
            </a:solidFill>
            <a:prstDash val="solid"/>
          </a:ln>
        </p:spPr>
      </p:sp>
      <p:sp>
        <p:nvSpPr>
          <p:cNvPr id="37" name="Text 34"/>
          <p:cNvSpPr txBox="1"/>
          <p:nvPr/>
        </p:nvSpPr>
        <p:spPr>
          <a:xfrm>
            <a:off x="350443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8" name="Text 35"/>
          <p:cNvSpPr txBox="1"/>
          <p:nvPr/>
        </p:nvSpPr>
        <p:spPr>
          <a:xfrm>
            <a:off x="3833622" y="243230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teach them</a:t>
            </a:r>
            <a:endParaRPr lang="en-US" sz="1250" dirty="0"/>
          </a:p>
        </p:txBody>
      </p:sp>
      <p:sp>
        <p:nvSpPr>
          <p:cNvPr id="39" name="Shape 36"/>
          <p:cNvSpPr/>
          <p:nvPr/>
        </p:nvSpPr>
        <p:spPr>
          <a:xfrm>
            <a:off x="3504438" y="2862072"/>
            <a:ext cx="256032" cy="256032"/>
          </a:xfrm>
          <a:prstGeom prst="ellipse">
            <a:avLst/>
          </a:prstGeom>
          <a:solidFill>
            <a:srgbClr val="C9CED6"/>
          </a:solidFill>
          <a:ln w="12700">
            <a:solidFill>
              <a:srgbClr val="C9CED6"/>
            </a:solidFill>
            <a:prstDash val="solid"/>
          </a:ln>
        </p:spPr>
      </p:sp>
      <p:sp>
        <p:nvSpPr>
          <p:cNvPr id="40" name="Text 37"/>
          <p:cNvSpPr txBox="1"/>
          <p:nvPr/>
        </p:nvSpPr>
        <p:spPr>
          <a:xfrm>
            <a:off x="350443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1" name="Text 38"/>
          <p:cNvSpPr txBox="1"/>
          <p:nvPr/>
        </p:nvSpPr>
        <p:spPr>
          <a:xfrm>
            <a:off x="3833622" y="280416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phone them</a:t>
            </a:r>
            <a:endParaRPr lang="en-US" sz="1250" dirty="0"/>
          </a:p>
        </p:txBody>
      </p:sp>
      <p:sp>
        <p:nvSpPr>
          <p:cNvPr id="42" name="Shape 39"/>
          <p:cNvSpPr/>
          <p:nvPr/>
        </p:nvSpPr>
        <p:spPr>
          <a:xfrm>
            <a:off x="3412998" y="3197352"/>
            <a:ext cx="2498598" cy="347472"/>
          </a:xfrm>
          <a:prstGeom prst="roundRect">
            <a:avLst>
              <a:gd name="adj" fmla="val 15789"/>
            </a:avLst>
          </a:prstGeom>
          <a:solidFill>
            <a:srgbClr val="E6F4EC"/>
          </a:solidFill>
          <a:ln w="9525">
            <a:solidFill>
              <a:srgbClr val="2E8B57"/>
            </a:solidFill>
            <a:prstDash val="solid"/>
          </a:ln>
        </p:spPr>
      </p:sp>
      <p:sp>
        <p:nvSpPr>
          <p:cNvPr id="43" name="Shape 40"/>
          <p:cNvSpPr/>
          <p:nvPr/>
        </p:nvSpPr>
        <p:spPr>
          <a:xfrm>
            <a:off x="3504438" y="3233928"/>
            <a:ext cx="256032" cy="256032"/>
          </a:xfrm>
          <a:prstGeom prst="ellipse">
            <a:avLst/>
          </a:prstGeom>
          <a:solidFill>
            <a:srgbClr val="2E8B57"/>
          </a:solidFill>
          <a:ln w="12700">
            <a:solidFill>
              <a:srgbClr val="2E8B57"/>
            </a:solidFill>
            <a:prstDash val="solid"/>
          </a:ln>
        </p:spPr>
      </p:sp>
      <p:sp>
        <p:nvSpPr>
          <p:cNvPr id="44" name="Text 41"/>
          <p:cNvSpPr txBox="1"/>
          <p:nvPr/>
        </p:nvSpPr>
        <p:spPr>
          <a:xfrm>
            <a:off x="350443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45" name="Text 42"/>
          <p:cNvSpPr txBox="1"/>
          <p:nvPr/>
        </p:nvSpPr>
        <p:spPr>
          <a:xfrm>
            <a:off x="3833622" y="3176016"/>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listen to them</a:t>
            </a:r>
            <a:endParaRPr lang="en-US" sz="1250" dirty="0"/>
          </a:p>
        </p:txBody>
      </p:sp>
      <p:sp>
        <p:nvSpPr>
          <p:cNvPr id="46" name="Text 43"/>
          <p:cNvSpPr txBox="1"/>
          <p:nvPr/>
        </p:nvSpPr>
        <p:spPr>
          <a:xfrm>
            <a:off x="3449574"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قُدْرَةٍ عَلَى الاِسْتِمَاعِ لِلْمَرْضَى</a:t>
            </a:r>
            <a:endParaRPr lang="ar-SA" sz="1350" dirty="0"/>
          </a:p>
        </p:txBody>
      </p:sp>
      <p:sp>
        <p:nvSpPr>
          <p:cNvPr id="47" name="Shape 44"/>
          <p:cNvSpPr/>
          <p:nvPr/>
        </p:nvSpPr>
        <p:spPr>
          <a:xfrm>
            <a:off x="6185916"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6313932" y="1947672"/>
            <a:ext cx="310896" cy="310896"/>
          </a:xfrm>
          <a:prstGeom prst="ellipse">
            <a:avLst/>
          </a:prstGeom>
          <a:solidFill>
            <a:srgbClr val="1B3B6F"/>
          </a:solidFill>
          <a:ln w="12700">
            <a:solidFill>
              <a:srgbClr val="1B3B6F"/>
            </a:solidFill>
            <a:prstDash val="solid"/>
          </a:ln>
        </p:spPr>
      </p:sp>
      <p:sp>
        <p:nvSpPr>
          <p:cNvPr id="49" name="Text 46"/>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50" name="Text 47"/>
          <p:cNvSpPr txBox="1"/>
          <p:nvPr/>
        </p:nvSpPr>
        <p:spPr>
          <a:xfrm>
            <a:off x="6679692"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kind of thinking does a programmer need?</a:t>
            </a:r>
            <a:endParaRPr lang="en-US" sz="1250" dirty="0"/>
          </a:p>
        </p:txBody>
      </p:sp>
      <p:sp>
        <p:nvSpPr>
          <p:cNvPr id="51" name="Shape 48"/>
          <p:cNvSpPr/>
          <p:nvPr/>
        </p:nvSpPr>
        <p:spPr>
          <a:xfrm>
            <a:off x="6277356" y="2453640"/>
            <a:ext cx="2498598" cy="347472"/>
          </a:xfrm>
          <a:prstGeom prst="roundRect">
            <a:avLst>
              <a:gd name="adj" fmla="val 15789"/>
            </a:avLst>
          </a:prstGeom>
          <a:solidFill>
            <a:srgbClr val="E6F4EC"/>
          </a:solidFill>
          <a:ln w="9525">
            <a:solidFill>
              <a:srgbClr val="2E8B57"/>
            </a:solidFill>
            <a:prstDash val="solid"/>
          </a:ln>
        </p:spPr>
      </p:sp>
      <p:sp>
        <p:nvSpPr>
          <p:cNvPr id="52" name="Shape 49"/>
          <p:cNvSpPr/>
          <p:nvPr/>
        </p:nvSpPr>
        <p:spPr>
          <a:xfrm>
            <a:off x="6368796" y="2490216"/>
            <a:ext cx="256032" cy="256032"/>
          </a:xfrm>
          <a:prstGeom prst="ellipse">
            <a:avLst/>
          </a:prstGeom>
          <a:solidFill>
            <a:srgbClr val="2E8B57"/>
          </a:solidFill>
          <a:ln w="12700">
            <a:solidFill>
              <a:srgbClr val="2E8B57"/>
            </a:solidFill>
            <a:prstDash val="solid"/>
          </a:ln>
        </p:spPr>
      </p:sp>
      <p:sp>
        <p:nvSpPr>
          <p:cNvPr id="53" name="Text 50"/>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54" name="Text 51"/>
          <p:cNvSpPr txBox="1"/>
          <p:nvPr/>
        </p:nvSpPr>
        <p:spPr>
          <a:xfrm>
            <a:off x="6697980" y="2432304"/>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logical thinking</a:t>
            </a:r>
            <a:endParaRPr lang="en-US" sz="1250" dirty="0"/>
          </a:p>
        </p:txBody>
      </p:sp>
      <p:sp>
        <p:nvSpPr>
          <p:cNvPr id="55" name="Shape 52"/>
          <p:cNvSpPr/>
          <p:nvPr/>
        </p:nvSpPr>
        <p:spPr>
          <a:xfrm>
            <a:off x="6368796" y="2862072"/>
            <a:ext cx="256032" cy="256032"/>
          </a:xfrm>
          <a:prstGeom prst="ellipse">
            <a:avLst/>
          </a:prstGeom>
          <a:solidFill>
            <a:srgbClr val="C9CED6"/>
          </a:solidFill>
          <a:ln w="12700">
            <a:solidFill>
              <a:srgbClr val="C9CED6"/>
            </a:solidFill>
            <a:prstDash val="solid"/>
          </a:ln>
        </p:spPr>
      </p:sp>
      <p:sp>
        <p:nvSpPr>
          <p:cNvPr id="56" name="Text 53"/>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7" name="Text 54"/>
          <p:cNvSpPr txBox="1"/>
          <p:nvPr/>
        </p:nvSpPr>
        <p:spPr>
          <a:xfrm>
            <a:off x="6697980" y="280416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creative writing</a:t>
            </a:r>
            <a:endParaRPr lang="en-US" sz="1250" dirty="0"/>
          </a:p>
        </p:txBody>
      </p:sp>
      <p:sp>
        <p:nvSpPr>
          <p:cNvPr id="58" name="Shape 55"/>
          <p:cNvSpPr/>
          <p:nvPr/>
        </p:nvSpPr>
        <p:spPr>
          <a:xfrm>
            <a:off x="6368796" y="3233928"/>
            <a:ext cx="256032" cy="256032"/>
          </a:xfrm>
          <a:prstGeom prst="ellipse">
            <a:avLst/>
          </a:prstGeom>
          <a:solidFill>
            <a:srgbClr val="C9CED6"/>
          </a:solidFill>
          <a:ln w="12700">
            <a:solidFill>
              <a:srgbClr val="C9CED6"/>
            </a:solidFill>
            <a:prstDash val="solid"/>
          </a:ln>
        </p:spPr>
      </p:sp>
      <p:sp>
        <p:nvSpPr>
          <p:cNvPr id="59" name="Text 56"/>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0" name="Text 57"/>
          <p:cNvSpPr txBox="1"/>
          <p:nvPr/>
        </p:nvSpPr>
        <p:spPr>
          <a:xfrm>
            <a:off x="6697980" y="3176016"/>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quick speaking</a:t>
            </a:r>
            <a:endParaRPr lang="en-US" sz="1250" dirty="0"/>
          </a:p>
        </p:txBody>
      </p:sp>
      <p:sp>
        <p:nvSpPr>
          <p:cNvPr id="61" name="Text 58"/>
          <p:cNvSpPr txBox="1"/>
          <p:nvPr/>
        </p:nvSpPr>
        <p:spPr>
          <a:xfrm>
            <a:off x="6313932"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التَّفْكِيرِ المَنْطِقِيِّ</a:t>
            </a:r>
            <a:endParaRPr lang="ar-SA" sz="1350" dirty="0"/>
          </a:p>
        </p:txBody>
      </p:sp>
      <p:sp>
        <p:nvSpPr>
          <p:cNvPr id="62" name="Shape 59"/>
          <p:cNvSpPr/>
          <p:nvPr/>
        </p:nvSpPr>
        <p:spPr>
          <a:xfrm>
            <a:off x="9050274"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9178290" y="1947672"/>
            <a:ext cx="310896" cy="310896"/>
          </a:xfrm>
          <a:prstGeom prst="ellipse">
            <a:avLst/>
          </a:prstGeom>
          <a:solidFill>
            <a:srgbClr val="1B3B6F"/>
          </a:solidFill>
          <a:ln w="12700">
            <a:solidFill>
              <a:srgbClr val="1B3B6F"/>
            </a:solidFill>
            <a:prstDash val="solid"/>
          </a:ln>
        </p:spPr>
      </p:sp>
      <p:sp>
        <p:nvSpPr>
          <p:cNvPr id="64" name="Text 61"/>
          <p:cNvSpPr txBox="1"/>
          <p:nvPr/>
        </p:nvSpPr>
        <p:spPr>
          <a:xfrm>
            <a:off x="917829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5" name="Text 62"/>
          <p:cNvSpPr txBox="1"/>
          <p:nvPr/>
        </p:nvSpPr>
        <p:spPr>
          <a:xfrm>
            <a:off x="9544050"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When does a programmer need patience?</a:t>
            </a:r>
            <a:endParaRPr lang="en-US" sz="1250" dirty="0"/>
          </a:p>
        </p:txBody>
      </p:sp>
      <p:sp>
        <p:nvSpPr>
          <p:cNvPr id="66" name="Shape 63"/>
          <p:cNvSpPr/>
          <p:nvPr/>
        </p:nvSpPr>
        <p:spPr>
          <a:xfrm>
            <a:off x="9233154" y="2490216"/>
            <a:ext cx="256032" cy="256032"/>
          </a:xfrm>
          <a:prstGeom prst="ellipse">
            <a:avLst/>
          </a:prstGeom>
          <a:solidFill>
            <a:srgbClr val="C9CED6"/>
          </a:solidFill>
          <a:ln w="12700">
            <a:solidFill>
              <a:srgbClr val="C9CED6"/>
            </a:solidFill>
            <a:prstDash val="solid"/>
          </a:ln>
        </p:spPr>
      </p:sp>
      <p:sp>
        <p:nvSpPr>
          <p:cNvPr id="67" name="Text 64"/>
          <p:cNvSpPr txBox="1"/>
          <p:nvPr/>
        </p:nvSpPr>
        <p:spPr>
          <a:xfrm>
            <a:off x="923315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8" name="Text 65"/>
          <p:cNvSpPr txBox="1"/>
          <p:nvPr/>
        </p:nvSpPr>
        <p:spPr>
          <a:xfrm>
            <a:off x="9562338" y="243230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when meeting clients</a:t>
            </a:r>
            <a:endParaRPr lang="en-US" sz="1250" dirty="0"/>
          </a:p>
        </p:txBody>
      </p:sp>
      <p:sp>
        <p:nvSpPr>
          <p:cNvPr id="69" name="Shape 66"/>
          <p:cNvSpPr/>
          <p:nvPr/>
        </p:nvSpPr>
        <p:spPr>
          <a:xfrm>
            <a:off x="9141714" y="2825496"/>
            <a:ext cx="2498598" cy="347472"/>
          </a:xfrm>
          <a:prstGeom prst="roundRect">
            <a:avLst>
              <a:gd name="adj" fmla="val 15789"/>
            </a:avLst>
          </a:prstGeom>
          <a:solidFill>
            <a:srgbClr val="E6F4EC"/>
          </a:solidFill>
          <a:ln w="9525">
            <a:solidFill>
              <a:srgbClr val="2E8B57"/>
            </a:solidFill>
            <a:prstDash val="solid"/>
          </a:ln>
        </p:spPr>
      </p:sp>
      <p:sp>
        <p:nvSpPr>
          <p:cNvPr id="70" name="Shape 67"/>
          <p:cNvSpPr/>
          <p:nvPr/>
        </p:nvSpPr>
        <p:spPr>
          <a:xfrm>
            <a:off x="9233154" y="2862072"/>
            <a:ext cx="256032" cy="256032"/>
          </a:xfrm>
          <a:prstGeom prst="ellipse">
            <a:avLst/>
          </a:prstGeom>
          <a:solidFill>
            <a:srgbClr val="2E8B57"/>
          </a:solidFill>
          <a:ln w="12700">
            <a:solidFill>
              <a:srgbClr val="2E8B57"/>
            </a:solidFill>
            <a:prstDash val="solid"/>
          </a:ln>
        </p:spPr>
      </p:sp>
      <p:sp>
        <p:nvSpPr>
          <p:cNvPr id="71" name="Text 68"/>
          <p:cNvSpPr txBox="1"/>
          <p:nvPr/>
        </p:nvSpPr>
        <p:spPr>
          <a:xfrm>
            <a:off x="9233154"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72" name="Text 69"/>
          <p:cNvSpPr txBox="1"/>
          <p:nvPr/>
        </p:nvSpPr>
        <p:spPr>
          <a:xfrm>
            <a:off x="9562338" y="2804160"/>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when fixing errors</a:t>
            </a:r>
            <a:endParaRPr lang="en-US" sz="1250" dirty="0"/>
          </a:p>
        </p:txBody>
      </p:sp>
      <p:sp>
        <p:nvSpPr>
          <p:cNvPr id="73" name="Shape 70"/>
          <p:cNvSpPr/>
          <p:nvPr/>
        </p:nvSpPr>
        <p:spPr>
          <a:xfrm>
            <a:off x="9233154" y="3233928"/>
            <a:ext cx="256032" cy="256032"/>
          </a:xfrm>
          <a:prstGeom prst="ellipse">
            <a:avLst/>
          </a:prstGeom>
          <a:solidFill>
            <a:srgbClr val="C9CED6"/>
          </a:solidFill>
          <a:ln w="12700">
            <a:solidFill>
              <a:srgbClr val="C9CED6"/>
            </a:solidFill>
            <a:prstDash val="solid"/>
          </a:ln>
        </p:spPr>
      </p:sp>
      <p:sp>
        <p:nvSpPr>
          <p:cNvPr id="74" name="Text 71"/>
          <p:cNvSpPr txBox="1"/>
          <p:nvPr/>
        </p:nvSpPr>
        <p:spPr>
          <a:xfrm>
            <a:off x="923315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5" name="Text 72"/>
          <p:cNvSpPr txBox="1"/>
          <p:nvPr/>
        </p:nvSpPr>
        <p:spPr>
          <a:xfrm>
            <a:off x="9562338" y="3176016"/>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when travelling</a:t>
            </a:r>
            <a:endParaRPr lang="en-US" sz="1250" dirty="0"/>
          </a:p>
        </p:txBody>
      </p:sp>
      <p:sp>
        <p:nvSpPr>
          <p:cNvPr id="76" name="Text 73"/>
          <p:cNvSpPr txBox="1"/>
          <p:nvPr/>
        </p:nvSpPr>
        <p:spPr>
          <a:xfrm>
            <a:off x="9178290"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عِنْدَ حَلِّ الأَخْطَاءِ</a:t>
            </a:r>
            <a:endParaRPr lang="ar-SA" sz="1350" dirty="0"/>
          </a:p>
        </p:txBody>
      </p:sp>
      <p:sp>
        <p:nvSpPr>
          <p:cNvPr id="77" name="Shape 74"/>
          <p:cNvSpPr/>
          <p:nvPr/>
        </p:nvSpPr>
        <p:spPr>
          <a:xfrm>
            <a:off x="457200"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8" name="Shape 75"/>
          <p:cNvSpPr/>
          <p:nvPr/>
        </p:nvSpPr>
        <p:spPr>
          <a:xfrm>
            <a:off x="585216" y="4288536"/>
            <a:ext cx="310896" cy="310896"/>
          </a:xfrm>
          <a:prstGeom prst="ellipse">
            <a:avLst/>
          </a:prstGeom>
          <a:solidFill>
            <a:srgbClr val="1B3B6F"/>
          </a:solidFill>
          <a:ln w="12700">
            <a:solidFill>
              <a:srgbClr val="1B3B6F"/>
            </a:solidFill>
            <a:prstDash val="solid"/>
          </a:ln>
        </p:spPr>
      </p:sp>
      <p:sp>
        <p:nvSpPr>
          <p:cNvPr id="79" name="Text 7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80" name="Text 77"/>
          <p:cNvSpPr txBox="1"/>
          <p:nvPr/>
        </p:nvSpPr>
        <p:spPr>
          <a:xfrm>
            <a:off x="950976"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must a teacher be able to do?</a:t>
            </a:r>
            <a:endParaRPr lang="en-US" sz="1250" dirty="0"/>
          </a:p>
        </p:txBody>
      </p:sp>
      <p:sp>
        <p:nvSpPr>
          <p:cNvPr id="81" name="Shape 78"/>
          <p:cNvSpPr/>
          <p:nvPr/>
        </p:nvSpPr>
        <p:spPr>
          <a:xfrm>
            <a:off x="548640" y="4794504"/>
            <a:ext cx="2498598" cy="347472"/>
          </a:xfrm>
          <a:prstGeom prst="roundRect">
            <a:avLst>
              <a:gd name="adj" fmla="val 15789"/>
            </a:avLst>
          </a:prstGeom>
          <a:solidFill>
            <a:srgbClr val="E6F4EC"/>
          </a:solidFill>
          <a:ln w="9525">
            <a:solidFill>
              <a:srgbClr val="2E8B57"/>
            </a:solidFill>
            <a:prstDash val="solid"/>
          </a:ln>
        </p:spPr>
      </p:sp>
      <p:sp>
        <p:nvSpPr>
          <p:cNvPr id="82" name="Shape 79"/>
          <p:cNvSpPr/>
          <p:nvPr/>
        </p:nvSpPr>
        <p:spPr>
          <a:xfrm>
            <a:off x="640080" y="4831080"/>
            <a:ext cx="256032" cy="256032"/>
          </a:xfrm>
          <a:prstGeom prst="ellipse">
            <a:avLst/>
          </a:prstGeom>
          <a:solidFill>
            <a:srgbClr val="2E8B57"/>
          </a:solidFill>
          <a:ln w="12700">
            <a:solidFill>
              <a:srgbClr val="2E8B57"/>
            </a:solidFill>
            <a:prstDash val="solid"/>
          </a:ln>
        </p:spPr>
      </p:sp>
      <p:sp>
        <p:nvSpPr>
          <p:cNvPr id="83" name="Text 80"/>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4" name="Text 81"/>
          <p:cNvSpPr txBox="1"/>
          <p:nvPr/>
        </p:nvSpPr>
        <p:spPr>
          <a:xfrm>
            <a:off x="969264" y="4773168"/>
            <a:ext cx="2023110"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explain ideas in different ways</a:t>
            </a:r>
            <a:endParaRPr lang="en-US" sz="1150" dirty="0"/>
          </a:p>
        </p:txBody>
      </p:sp>
      <p:sp>
        <p:nvSpPr>
          <p:cNvPr id="85" name="Shape 82"/>
          <p:cNvSpPr/>
          <p:nvPr/>
        </p:nvSpPr>
        <p:spPr>
          <a:xfrm>
            <a:off x="640080" y="5202936"/>
            <a:ext cx="256032" cy="256032"/>
          </a:xfrm>
          <a:prstGeom prst="ellipse">
            <a:avLst/>
          </a:prstGeom>
          <a:solidFill>
            <a:srgbClr val="C9CED6"/>
          </a:solidFill>
          <a:ln w="12700">
            <a:solidFill>
              <a:srgbClr val="C9CED6"/>
            </a:solidFill>
            <a:prstDash val="solid"/>
          </a:ln>
        </p:spPr>
      </p:sp>
      <p:sp>
        <p:nvSpPr>
          <p:cNvPr id="86" name="Text 83"/>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7" name="Text 84"/>
          <p:cNvSpPr txBox="1"/>
          <p:nvPr/>
        </p:nvSpPr>
        <p:spPr>
          <a:xfrm>
            <a:off x="969264" y="514502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repair computers</a:t>
            </a:r>
            <a:endParaRPr lang="en-US" sz="1250" dirty="0"/>
          </a:p>
        </p:txBody>
      </p:sp>
      <p:sp>
        <p:nvSpPr>
          <p:cNvPr id="88" name="Shape 85"/>
          <p:cNvSpPr/>
          <p:nvPr/>
        </p:nvSpPr>
        <p:spPr>
          <a:xfrm>
            <a:off x="640080" y="5574792"/>
            <a:ext cx="256032" cy="256032"/>
          </a:xfrm>
          <a:prstGeom prst="ellipse">
            <a:avLst/>
          </a:prstGeom>
          <a:solidFill>
            <a:srgbClr val="C9CED6"/>
          </a:solidFill>
          <a:ln w="12700">
            <a:solidFill>
              <a:srgbClr val="C9CED6"/>
            </a:solidFill>
            <a:prstDash val="solid"/>
          </a:ln>
        </p:spPr>
      </p:sp>
      <p:sp>
        <p:nvSpPr>
          <p:cNvPr id="89" name="Text 86"/>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90" name="Text 87"/>
          <p:cNvSpPr txBox="1"/>
          <p:nvPr/>
        </p:nvSpPr>
        <p:spPr>
          <a:xfrm>
            <a:off x="969264" y="551688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work at night</a:t>
            </a:r>
            <a:endParaRPr lang="en-US" sz="1250" dirty="0"/>
          </a:p>
        </p:txBody>
      </p:sp>
      <p:sp>
        <p:nvSpPr>
          <p:cNvPr id="91" name="Text 88"/>
          <p:cNvSpPr txBox="1"/>
          <p:nvPr/>
        </p:nvSpPr>
        <p:spPr>
          <a:xfrm>
            <a:off x="585216" y="5907024"/>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شَرْحِ الأَفْكَارِ بِطُرُقٍ مُخْتَلِفَةٍ</a:t>
            </a:r>
            <a:endParaRPr lang="ar-SA" sz="1350" dirty="0"/>
          </a:p>
        </p:txBody>
      </p:sp>
      <p:sp>
        <p:nvSpPr>
          <p:cNvPr id="92" name="Shape 89"/>
          <p:cNvSpPr/>
          <p:nvPr/>
        </p:nvSpPr>
        <p:spPr>
          <a:xfrm>
            <a:off x="3321558"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93" name="Shape 90"/>
          <p:cNvSpPr/>
          <p:nvPr/>
        </p:nvSpPr>
        <p:spPr>
          <a:xfrm>
            <a:off x="3449574" y="4288536"/>
            <a:ext cx="310896" cy="310896"/>
          </a:xfrm>
          <a:prstGeom prst="ellipse">
            <a:avLst/>
          </a:prstGeom>
          <a:solidFill>
            <a:srgbClr val="1B3B6F"/>
          </a:solidFill>
          <a:ln w="12700">
            <a:solidFill>
              <a:srgbClr val="1B3B6F"/>
            </a:solidFill>
            <a:prstDash val="solid"/>
          </a:ln>
        </p:spPr>
      </p:sp>
      <p:sp>
        <p:nvSpPr>
          <p:cNvPr id="94" name="Text 91"/>
          <p:cNvSpPr txBox="1"/>
          <p:nvPr/>
        </p:nvSpPr>
        <p:spPr>
          <a:xfrm>
            <a:off x="344957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95" name="Text 92"/>
          <p:cNvSpPr txBox="1"/>
          <p:nvPr/>
        </p:nvSpPr>
        <p:spPr>
          <a:xfrm>
            <a:off x="3815334"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two things do all three jobs share?</a:t>
            </a:r>
            <a:endParaRPr lang="en-US" sz="1250" dirty="0"/>
          </a:p>
        </p:txBody>
      </p:sp>
      <p:sp>
        <p:nvSpPr>
          <p:cNvPr id="96" name="Shape 93"/>
          <p:cNvSpPr/>
          <p:nvPr/>
        </p:nvSpPr>
        <p:spPr>
          <a:xfrm>
            <a:off x="3504438" y="4831080"/>
            <a:ext cx="256032" cy="256032"/>
          </a:xfrm>
          <a:prstGeom prst="ellipse">
            <a:avLst/>
          </a:prstGeom>
          <a:solidFill>
            <a:srgbClr val="C9CED6"/>
          </a:solidFill>
          <a:ln w="12700">
            <a:solidFill>
              <a:srgbClr val="C9CED6"/>
            </a:solidFill>
            <a:prstDash val="solid"/>
          </a:ln>
        </p:spPr>
      </p:sp>
      <p:sp>
        <p:nvSpPr>
          <p:cNvPr id="97" name="Text 94"/>
          <p:cNvSpPr txBox="1"/>
          <p:nvPr/>
        </p:nvSpPr>
        <p:spPr>
          <a:xfrm>
            <a:off x="3504438"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98" name="Text 95"/>
          <p:cNvSpPr txBox="1"/>
          <p:nvPr/>
        </p:nvSpPr>
        <p:spPr>
          <a:xfrm>
            <a:off x="3833622" y="4773168"/>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salary and hours</a:t>
            </a:r>
            <a:endParaRPr lang="en-US" sz="1250" dirty="0"/>
          </a:p>
        </p:txBody>
      </p:sp>
      <p:sp>
        <p:nvSpPr>
          <p:cNvPr id="99" name="Shape 96"/>
          <p:cNvSpPr/>
          <p:nvPr/>
        </p:nvSpPr>
        <p:spPr>
          <a:xfrm>
            <a:off x="3504438" y="5202936"/>
            <a:ext cx="256032" cy="256032"/>
          </a:xfrm>
          <a:prstGeom prst="ellipse">
            <a:avLst/>
          </a:prstGeom>
          <a:solidFill>
            <a:srgbClr val="C9CED6"/>
          </a:solidFill>
          <a:ln w="12700">
            <a:solidFill>
              <a:srgbClr val="C9CED6"/>
            </a:solidFill>
            <a:prstDash val="solid"/>
          </a:ln>
        </p:spPr>
      </p:sp>
      <p:sp>
        <p:nvSpPr>
          <p:cNvPr id="100" name="Text 97"/>
          <p:cNvSpPr txBox="1"/>
          <p:nvPr/>
        </p:nvSpPr>
        <p:spPr>
          <a:xfrm>
            <a:off x="3504438"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101" name="Text 98"/>
          <p:cNvSpPr txBox="1"/>
          <p:nvPr/>
        </p:nvSpPr>
        <p:spPr>
          <a:xfrm>
            <a:off x="3833622" y="514502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travel and leadership</a:t>
            </a:r>
            <a:endParaRPr lang="en-US" sz="1250" dirty="0"/>
          </a:p>
        </p:txBody>
      </p:sp>
      <p:sp>
        <p:nvSpPr>
          <p:cNvPr id="102" name="Shape 99"/>
          <p:cNvSpPr/>
          <p:nvPr/>
        </p:nvSpPr>
        <p:spPr>
          <a:xfrm>
            <a:off x="3412998" y="5538216"/>
            <a:ext cx="2498598" cy="347472"/>
          </a:xfrm>
          <a:prstGeom prst="roundRect">
            <a:avLst>
              <a:gd name="adj" fmla="val 15789"/>
            </a:avLst>
          </a:prstGeom>
          <a:solidFill>
            <a:srgbClr val="E6F4EC"/>
          </a:solidFill>
          <a:ln w="9525">
            <a:solidFill>
              <a:srgbClr val="2E8B57"/>
            </a:solidFill>
            <a:prstDash val="solid"/>
          </a:ln>
        </p:spPr>
      </p:sp>
      <p:sp>
        <p:nvSpPr>
          <p:cNvPr id="103" name="Shape 100"/>
          <p:cNvSpPr/>
          <p:nvPr/>
        </p:nvSpPr>
        <p:spPr>
          <a:xfrm>
            <a:off x="3504438" y="5574792"/>
            <a:ext cx="256032" cy="256032"/>
          </a:xfrm>
          <a:prstGeom prst="ellipse">
            <a:avLst/>
          </a:prstGeom>
          <a:solidFill>
            <a:srgbClr val="2E8B57"/>
          </a:solidFill>
          <a:ln w="12700">
            <a:solidFill>
              <a:srgbClr val="2E8B57"/>
            </a:solidFill>
            <a:prstDash val="solid"/>
          </a:ln>
        </p:spPr>
      </p:sp>
      <p:sp>
        <p:nvSpPr>
          <p:cNvPr id="104" name="Text 101"/>
          <p:cNvSpPr txBox="1"/>
          <p:nvPr/>
        </p:nvSpPr>
        <p:spPr>
          <a:xfrm>
            <a:off x="3504438"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105" name="Text 102"/>
          <p:cNvSpPr txBox="1"/>
          <p:nvPr/>
        </p:nvSpPr>
        <p:spPr>
          <a:xfrm>
            <a:off x="3833622" y="5516880"/>
            <a:ext cx="2023110"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communication and responsibility</a:t>
            </a:r>
            <a:endParaRPr lang="en-US" sz="1150" dirty="0"/>
          </a:p>
        </p:txBody>
      </p:sp>
      <p:sp>
        <p:nvSpPr>
          <p:cNvPr id="106" name="Text 103"/>
          <p:cNvSpPr txBox="1"/>
          <p:nvPr/>
        </p:nvSpPr>
        <p:spPr>
          <a:xfrm>
            <a:off x="3449574" y="5907024"/>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التَّوَاصُلِ وَالمَسْؤُولِيَّةِ</a:t>
            </a:r>
            <a:endParaRPr lang="ar-SA" sz="1350" dirty="0"/>
          </a:p>
        </p:txBody>
      </p:sp>
      <p:sp>
        <p:nvSpPr>
          <p:cNvPr id="107" name="Shape 104"/>
          <p:cNvSpPr/>
          <p:nvPr/>
        </p:nvSpPr>
        <p:spPr>
          <a:xfrm>
            <a:off x="6185916" y="4151376"/>
            <a:ext cx="2681478"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08" name="Text 105"/>
          <p:cNvSpPr txBox="1"/>
          <p:nvPr/>
        </p:nvSpPr>
        <p:spPr>
          <a:xfrm>
            <a:off x="6368796" y="4279392"/>
            <a:ext cx="2315718"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READ LIKE A DETECTIVE</a:t>
            </a:r>
            <a:endParaRPr lang="en-US" sz="1000" dirty="0"/>
          </a:p>
        </p:txBody>
      </p:sp>
      <p:sp>
        <p:nvSpPr>
          <p:cNvPr id="109" name="Text 106"/>
          <p:cNvSpPr txBox="1"/>
          <p:nvPr/>
        </p:nvSpPr>
        <p:spPr>
          <a:xfrm>
            <a:off x="6368796" y="4590288"/>
            <a:ext cx="2315718"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1. Read the question first.</a:t>
            </a:r>
            <a:endParaRPr lang="en-US" sz="1250" dirty="0"/>
          </a:p>
          <a:p>
            <a:pPr algn="l" indent="0" marL="0">
              <a:buNone/>
            </a:pPr>
            <a:r>
              <a:rPr lang="en-US" sz="1250" dirty="0">
                <a:solidFill>
                  <a:srgbClr val="1F2A37"/>
                </a:solidFill>
                <a:latin typeface="Calibri" pitchFamily="34" charset="0"/>
                <a:cs typeface="Amiri" pitchFamily="2" charset="-78"/>
              </a:rPr>
              <a:t>2. Find ONE key word from the question in the text.</a:t>
            </a:r>
            <a:endParaRPr lang="en-US" sz="1250" dirty="0"/>
          </a:p>
          <a:p>
            <a:pPr algn="l" indent="0" marL="0">
              <a:buNone/>
            </a:pPr>
            <a:r>
              <a:rPr lang="en-US" sz="1250" dirty="0">
                <a:solidFill>
                  <a:srgbClr val="1F2A37"/>
                </a:solidFill>
                <a:latin typeface="Calibri" pitchFamily="34" charset="0"/>
                <a:cs typeface="Amiri" pitchFamily="2" charset="-78"/>
              </a:rPr>
              <a:t>3. Read only that sentence again, then choose.</a:t>
            </a:r>
            <a:endParaRPr lang="en-US" sz="1250" dirty="0"/>
          </a:p>
        </p:txBody>
      </p:sp>
      <p:sp>
        <p:nvSpPr>
          <p:cNvPr id="110" name="Text 10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45 / 47</a:t>
            </a:r>
            <a:endParaRPr lang="en-US" sz="85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TD-L08 · Skills</a:t>
            </a:r>
            <a:endParaRPr lang="en-US" sz="950" dirty="0"/>
          </a:p>
        </p:txBody>
      </p:sp>
      <p:sp>
        <p:nvSpPr>
          <p:cNvPr id="8" name="Shape 6"/>
          <p:cNvSpPr/>
          <p:nvPr/>
        </p:nvSpPr>
        <p:spPr>
          <a:xfrm>
            <a:off x="6915607" y="274320"/>
            <a:ext cx="1844345" cy="329184"/>
          </a:xfrm>
          <a:prstGeom prst="roundRect">
            <a:avLst>
              <a:gd name="adj" fmla="val 50000"/>
            </a:avLst>
          </a:prstGeom>
          <a:solidFill>
            <a:srgbClr val="C45A3C"/>
          </a:solidFill>
          <a:ln w="12700">
            <a:solidFill>
              <a:srgbClr val="C45A3C"/>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PREPARATION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C45A3C"/>
                </a:solidFill>
                <a:latin typeface="Calibri" pitchFamily="34" charset="0"/>
                <a:cs typeface="Amiri" pitchFamily="2" charset="-78"/>
              </a:rPr>
              <a:t>PREPARATION FOR NEXT LESSON · ABOUT 10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Before TD-L09: get ready at home</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التَّحْضِيرُ لِلدَّرْسِ القَادِمِ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D · The World of Work · TD-L08</a:t>
            </a:r>
            <a:endParaRPr lang="en-US" sz="850" dirty="0"/>
          </a:p>
        </p:txBody>
      </p:sp>
      <p:sp>
        <p:nvSpPr>
          <p:cNvPr id="15" name="Shape 12"/>
          <p:cNvSpPr/>
          <p:nvPr/>
        </p:nvSpPr>
        <p:spPr>
          <a:xfrm>
            <a:off x="457200" y="1810512"/>
            <a:ext cx="5394960" cy="4498848"/>
          </a:xfrm>
          <a:prstGeom prst="roundRect">
            <a:avLst>
              <a:gd name="adj" fmla="val 1626"/>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475488" cy="475488"/>
          </a:xfrm>
          <a:prstGeom prst="ellipse">
            <a:avLst/>
          </a:prstGeom>
          <a:solidFill>
            <a:srgbClr val="C45A3C"/>
          </a:solidFill>
          <a:ln w="12700">
            <a:solidFill>
              <a:srgbClr val="C45A3C"/>
            </a:solidFill>
            <a:prstDash val="solid"/>
          </a:ln>
        </p:spPr>
      </p:sp>
      <p:pic>
        <p:nvPicPr>
          <p:cNvPr id="17" name="Image 0" descr="preencoded.png">    </p:cNvPr>
          <p:cNvPicPr>
            <a:picLocks noChangeAspect="1"/>
          </p:cNvPicPr>
          <p:nvPr/>
        </p:nvPicPr>
        <p:blipFill>
          <a:blip r:embed="rId1"/>
          <a:stretch>
            <a:fillRect/>
          </a:stretch>
        </p:blipFill>
        <p:spPr>
          <a:xfrm>
            <a:off x="731520" y="2029968"/>
            <a:ext cx="292608" cy="292608"/>
          </a:xfrm>
          <a:prstGeom prst="rect">
            <a:avLst/>
          </a:prstGeom>
        </p:spPr>
      </p:pic>
      <p:sp>
        <p:nvSpPr>
          <p:cNvPr id="18" name="Text 14"/>
          <p:cNvSpPr txBox="1"/>
          <p:nvPr/>
        </p:nvSpPr>
        <p:spPr>
          <a:xfrm>
            <a:off x="1207008" y="1920240"/>
            <a:ext cx="4480560" cy="512064"/>
          </a:xfrm>
          <a:prstGeom prst="rect">
            <a:avLst/>
          </a:prstGeom>
          <a:noFill/>
          <a:ln/>
        </p:spPr>
        <p:txBody>
          <a:bodyPr wrap="square" lIns="0" tIns="0" rIns="0" bIns="0" rtlCol="0" anchor="ctr"/>
          <a:lstStyle/>
          <a:p>
            <a:pPr indent="0" marL="0">
              <a:buNone/>
            </a:pPr>
            <a:r>
              <a:rPr lang="en-US" sz="1100" b="1" spc="200" kern="0" dirty="0">
                <a:solidFill>
                  <a:srgbClr val="C45A3C"/>
                </a:solidFill>
                <a:latin typeface="Calibri" pitchFamily="34" charset="0"/>
                <a:cs typeface="Amiri" pitchFamily="2" charset="-78"/>
              </a:rPr>
              <a:t>LEARN THESE 5 WORDS</a:t>
            </a:r>
            <a:endParaRPr lang="en-US" sz="1100" dirty="0"/>
          </a:p>
          <a:p>
            <a:pPr indent="0" marL="0">
              <a:buNone/>
            </a:pPr>
            <a:r>
              <a:rPr lang="en-US" sz="1000" dirty="0">
                <a:solidFill>
                  <a:srgbClr val="5A6472"/>
                </a:solidFill>
                <a:latin typeface="Calibri" pitchFamily="34" charset="0"/>
                <a:cs typeface="Amiri" pitchFamily="2" charset="-78"/>
              </a:rPr>
              <a:t>for TD-L09 · Applications and Interviews</a:t>
            </a:r>
            <a:endParaRPr lang="en-US" sz="1100" dirty="0"/>
          </a:p>
        </p:txBody>
      </p:sp>
      <p:sp>
        <p:nvSpPr>
          <p:cNvPr id="19" name="Text 15"/>
          <p:cNvSpPr txBox="1"/>
          <p:nvPr/>
        </p:nvSpPr>
        <p:spPr>
          <a:xfrm>
            <a:off x="3017520" y="25603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سِيرَةٌ ذَاتِيَّةٌ</a:t>
            </a:r>
            <a:endParaRPr lang="ar-SA" sz="2000" dirty="0"/>
          </a:p>
        </p:txBody>
      </p:sp>
      <p:sp>
        <p:nvSpPr>
          <p:cNvPr id="20" name="Text 16"/>
          <p:cNvSpPr txBox="1"/>
          <p:nvPr/>
        </p:nvSpPr>
        <p:spPr>
          <a:xfrm>
            <a:off x="685800" y="25603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a CV</a:t>
            </a:r>
            <a:pPr indent="0" marL="0">
              <a:buNone/>
            </a:pPr>
            <a:r>
              <a:rPr lang="ar-SA" sz="1000" i="1" dirty="0">
                <a:solidFill>
                  <a:srgbClr val="5A6472"/>
                </a:solidFill>
                <a:latin typeface="Calibri" pitchFamily="34" charset="0"/>
                <a:ea typeface="Amiri" pitchFamily="2" charset="-78"/>
                <a:cs typeface="Amiri" pitchFamily="2" charset="-78"/>
              </a:rPr>
              <a:t>  pl. سِيَرٌ ذَاتِيَّةٌ</a:t>
            </a:r>
            <a:endParaRPr lang="en-US" sz="1200" dirty="0"/>
          </a:p>
        </p:txBody>
      </p:sp>
      <p:sp>
        <p:nvSpPr>
          <p:cNvPr id="21" name="Text 17"/>
          <p:cNvSpPr txBox="1"/>
          <p:nvPr/>
        </p:nvSpPr>
        <p:spPr>
          <a:xfrm>
            <a:off x="3017520" y="30175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رِسَالَةُ تَغْطِيَةٍ</a:t>
            </a:r>
            <a:endParaRPr lang="ar-SA" sz="2000" dirty="0"/>
          </a:p>
        </p:txBody>
      </p:sp>
      <p:sp>
        <p:nvSpPr>
          <p:cNvPr id="22" name="Text 18"/>
          <p:cNvSpPr txBox="1"/>
          <p:nvPr/>
        </p:nvSpPr>
        <p:spPr>
          <a:xfrm>
            <a:off x="685800" y="30175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a cover letter</a:t>
            </a:r>
            <a:pPr indent="0" marL="0">
              <a:buNone/>
            </a:pPr>
            <a:r>
              <a:rPr lang="ar-SA" sz="1000" i="1" dirty="0">
                <a:solidFill>
                  <a:srgbClr val="5A6472"/>
                </a:solidFill>
                <a:latin typeface="Calibri" pitchFamily="34" charset="0"/>
                <a:ea typeface="Amiri" pitchFamily="2" charset="-78"/>
                <a:cs typeface="Amiri" pitchFamily="2" charset="-78"/>
              </a:rPr>
              <a:t>  pl. رَسَائِلُ</a:t>
            </a:r>
            <a:endParaRPr lang="en-US" sz="1200" dirty="0"/>
          </a:p>
        </p:txBody>
      </p:sp>
      <p:sp>
        <p:nvSpPr>
          <p:cNvPr id="23" name="Text 19"/>
          <p:cNvSpPr txBox="1"/>
          <p:nvPr/>
        </p:nvSpPr>
        <p:spPr>
          <a:xfrm>
            <a:off x="3017520" y="34747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مُقَابَلَةٌ شَخْصِيَّةٌ</a:t>
            </a:r>
            <a:endParaRPr lang="ar-SA" sz="2000" dirty="0"/>
          </a:p>
        </p:txBody>
      </p:sp>
      <p:sp>
        <p:nvSpPr>
          <p:cNvPr id="24" name="Text 20"/>
          <p:cNvSpPr txBox="1"/>
          <p:nvPr/>
        </p:nvSpPr>
        <p:spPr>
          <a:xfrm>
            <a:off x="685800" y="34747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an interview</a:t>
            </a:r>
            <a:pPr indent="0" marL="0">
              <a:buNone/>
            </a:pPr>
            <a:r>
              <a:rPr lang="ar-SA" sz="1000" i="1" dirty="0">
                <a:solidFill>
                  <a:srgbClr val="5A6472"/>
                </a:solidFill>
                <a:latin typeface="Calibri" pitchFamily="34" charset="0"/>
                <a:ea typeface="Amiri" pitchFamily="2" charset="-78"/>
                <a:cs typeface="Amiri" pitchFamily="2" charset="-78"/>
              </a:rPr>
              <a:t>  pl. مُقَابَلَاتٌ</a:t>
            </a:r>
            <a:endParaRPr lang="en-US" sz="1200" dirty="0"/>
          </a:p>
        </p:txBody>
      </p:sp>
      <p:sp>
        <p:nvSpPr>
          <p:cNvPr id="25" name="Text 21"/>
          <p:cNvSpPr txBox="1"/>
          <p:nvPr/>
        </p:nvSpPr>
        <p:spPr>
          <a:xfrm>
            <a:off x="3017520" y="39319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إِعْلَانُ وَظِيفَةٍ</a:t>
            </a:r>
            <a:endParaRPr lang="ar-SA" sz="2000" dirty="0"/>
          </a:p>
        </p:txBody>
      </p:sp>
      <p:sp>
        <p:nvSpPr>
          <p:cNvPr id="26" name="Text 22"/>
          <p:cNvSpPr txBox="1"/>
          <p:nvPr/>
        </p:nvSpPr>
        <p:spPr>
          <a:xfrm>
            <a:off x="685800" y="39319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a job advert</a:t>
            </a:r>
            <a:pPr indent="0" marL="0">
              <a:buNone/>
            </a:pPr>
            <a:r>
              <a:rPr lang="ar-SA" sz="1000" i="1" dirty="0">
                <a:solidFill>
                  <a:srgbClr val="5A6472"/>
                </a:solidFill>
                <a:latin typeface="Calibri" pitchFamily="34" charset="0"/>
                <a:ea typeface="Amiri" pitchFamily="2" charset="-78"/>
                <a:cs typeface="Amiri" pitchFamily="2" charset="-78"/>
              </a:rPr>
              <a:t>  pl. إِعْلَانَاتٌ</a:t>
            </a:r>
            <a:endParaRPr lang="en-US" sz="1200" dirty="0"/>
          </a:p>
        </p:txBody>
      </p:sp>
      <p:sp>
        <p:nvSpPr>
          <p:cNvPr id="27" name="Text 23"/>
          <p:cNvSpPr txBox="1"/>
          <p:nvPr/>
        </p:nvSpPr>
        <p:spPr>
          <a:xfrm>
            <a:off x="3017520" y="43891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نُقْطَةُ ضَعْفٍ</a:t>
            </a:r>
            <a:endParaRPr lang="ar-SA" sz="2000" dirty="0"/>
          </a:p>
        </p:txBody>
      </p:sp>
      <p:sp>
        <p:nvSpPr>
          <p:cNvPr id="28" name="Text 24"/>
          <p:cNvSpPr txBox="1"/>
          <p:nvPr/>
        </p:nvSpPr>
        <p:spPr>
          <a:xfrm>
            <a:off x="685800" y="43891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a weakness</a:t>
            </a:r>
            <a:pPr indent="0" marL="0">
              <a:buNone/>
            </a:pPr>
            <a:r>
              <a:rPr lang="ar-SA" sz="1000" i="1" dirty="0">
                <a:solidFill>
                  <a:srgbClr val="5A6472"/>
                </a:solidFill>
                <a:latin typeface="Calibri" pitchFamily="34" charset="0"/>
                <a:ea typeface="Amiri" pitchFamily="2" charset="-78"/>
                <a:cs typeface="Amiri" pitchFamily="2" charset="-78"/>
              </a:rPr>
              <a:t>  pl. نِقَاطُ ضَعْفٍ</a:t>
            </a:r>
            <a:endParaRPr lang="en-US" sz="1200" dirty="0"/>
          </a:p>
        </p:txBody>
      </p:sp>
      <p:sp>
        <p:nvSpPr>
          <p:cNvPr id="29" name="Text 25"/>
          <p:cNvSpPr txBox="1"/>
          <p:nvPr/>
        </p:nvSpPr>
        <p:spPr>
          <a:xfrm>
            <a:off x="685800" y="4892040"/>
            <a:ext cx="2743200" cy="237744"/>
          </a:xfrm>
          <a:prstGeom prst="rect">
            <a:avLst/>
          </a:prstGeom>
          <a:noFill/>
          <a:ln/>
        </p:spPr>
        <p:txBody>
          <a:bodyPr wrap="square" lIns="0" tIns="0" rIns="0" bIns="0" rtlCol="0" anchor="ctr"/>
          <a:lstStyle/>
          <a:p>
            <a:pPr algn="l" indent="0" marL="0">
              <a:buNone/>
            </a:pPr>
            <a:r>
              <a:rPr lang="en-US" sz="900" b="1" spc="200" kern="0" dirty="0">
                <a:solidFill>
                  <a:srgbClr val="C45A3C"/>
                </a:solidFill>
                <a:latin typeface="Calibri" pitchFamily="34" charset="0"/>
                <a:cs typeface="Amiri" pitchFamily="2" charset="-78"/>
              </a:rPr>
              <a:t>AND ANSWER ONE QUESTION</a:t>
            </a:r>
            <a:endParaRPr lang="en-US" sz="900" dirty="0"/>
          </a:p>
        </p:txBody>
      </p:sp>
      <p:sp>
        <p:nvSpPr>
          <p:cNvPr id="30" name="Text 26"/>
          <p:cNvSpPr txBox="1"/>
          <p:nvPr/>
        </p:nvSpPr>
        <p:spPr>
          <a:xfrm>
            <a:off x="685800" y="5129784"/>
            <a:ext cx="2194560" cy="1005840"/>
          </a:xfrm>
          <a:prstGeom prst="rect">
            <a:avLst/>
          </a:prstGeom>
          <a:noFill/>
          <a:ln/>
        </p:spPr>
        <p:txBody>
          <a:bodyPr wrap="square" lIns="0" tIns="0" rIns="0" bIns="0" rtlCol="0" anchor="t"/>
          <a:lstStyle/>
          <a:p>
            <a:pPr algn="l" indent="0" marL="0">
              <a:buNone/>
            </a:pPr>
            <a:r>
              <a:rPr lang="en-US" sz="1050" dirty="0">
                <a:solidFill>
                  <a:srgbClr val="1F2A37"/>
                </a:solidFill>
                <a:latin typeface="Calibri" pitchFamily="34" charset="0"/>
                <a:cs typeface="Amiri" pitchFamily="2" charset="-78"/>
              </a:rPr>
              <a:t>What is your biggest strength for a job? Write one sentence with evidence.</a:t>
            </a:r>
            <a:endParaRPr lang="en-US" sz="1050" dirty="0"/>
          </a:p>
        </p:txBody>
      </p:sp>
      <p:sp>
        <p:nvSpPr>
          <p:cNvPr id="31" name="Text 27"/>
          <p:cNvSpPr txBox="1"/>
          <p:nvPr/>
        </p:nvSpPr>
        <p:spPr>
          <a:xfrm>
            <a:off x="2926080" y="5074920"/>
            <a:ext cx="2743200" cy="1051560"/>
          </a:xfrm>
          <a:prstGeom prst="rect">
            <a:avLst/>
          </a:prstGeom>
          <a:noFill/>
          <a:ln/>
        </p:spPr>
        <p:txBody>
          <a:bodyPr wrap="square" lIns="0" tIns="0" rIns="0" bIns="0" rtlCol="0" anchor="ctr"/>
          <a:lstStyle/>
          <a:p>
            <a:pPr rtl="1" algn="r" indent="0" marL="0">
              <a:buNone/>
            </a:pPr>
            <a:r>
              <a:rPr lang="ar-SA" altLang="en-US" sz="1700" b="1" dirty="0">
                <a:solidFill>
                  <a:srgbClr val="1B3B6F"/>
                </a:solidFill>
                <a:latin typeface="Amiri" pitchFamily="2" charset="-78"/>
                <a:ea typeface="Amiri" pitchFamily="2" charset="-78"/>
                <a:cs typeface="Amiri" pitchFamily="2" charset="-78"/>
              </a:rPr>
              <a:t>نُقْطَةُ قُوَّتِي هِيَ … لِأَنَّنِي …</a:t>
            </a:r>
            <a:endParaRPr lang="ar-SA" sz="1700" dirty="0"/>
          </a:p>
        </p:txBody>
      </p:sp>
      <p:sp>
        <p:nvSpPr>
          <p:cNvPr id="32" name="Text 28"/>
          <p:cNvSpPr txBox="1"/>
          <p:nvPr/>
        </p:nvSpPr>
        <p:spPr>
          <a:xfrm>
            <a:off x="6126480" y="1828800"/>
            <a:ext cx="54864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HOMEWORK — CHOOSE YOUR ROUTE</a:t>
            </a:r>
            <a:endParaRPr lang="en-US" sz="1000" dirty="0"/>
          </a:p>
        </p:txBody>
      </p:sp>
      <p:sp>
        <p:nvSpPr>
          <p:cNvPr id="33" name="Shape 29"/>
          <p:cNvSpPr/>
          <p:nvPr/>
        </p:nvSpPr>
        <p:spPr>
          <a:xfrm>
            <a:off x="6126480" y="2194560"/>
            <a:ext cx="5605272" cy="1243584"/>
          </a:xfrm>
          <a:prstGeom prst="roundRect">
            <a:avLst>
              <a:gd name="adj" fmla="val 5882"/>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0"/>
          <p:cNvSpPr/>
          <p:nvPr/>
        </p:nvSpPr>
        <p:spPr>
          <a:xfrm>
            <a:off x="6309360" y="2322576"/>
            <a:ext cx="1051560" cy="274320"/>
          </a:xfrm>
          <a:prstGeom prst="roundRect">
            <a:avLst>
              <a:gd name="adj" fmla="val 50000"/>
            </a:avLst>
          </a:prstGeom>
          <a:solidFill>
            <a:srgbClr val="2E8B57"/>
          </a:solidFill>
          <a:ln w="12700">
            <a:solidFill>
              <a:srgbClr val="2E8B57"/>
            </a:solidFill>
            <a:prstDash val="solid"/>
          </a:ln>
        </p:spPr>
      </p:sp>
      <p:sp>
        <p:nvSpPr>
          <p:cNvPr id="35" name="Text 31"/>
          <p:cNvSpPr txBox="1"/>
          <p:nvPr/>
        </p:nvSpPr>
        <p:spPr>
          <a:xfrm>
            <a:off x="6309360" y="23225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36" name="Text 32"/>
          <p:cNvSpPr txBox="1"/>
          <p:nvPr/>
        </p:nvSpPr>
        <p:spPr>
          <a:xfrm>
            <a:off x="6309360" y="26517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Learn 6 skills and 6 qualities (m. / f.); write 5 sentences from the frames.</a:t>
            </a:r>
            <a:endParaRPr lang="en-US" sz="1200" dirty="0"/>
          </a:p>
        </p:txBody>
      </p:sp>
      <p:sp>
        <p:nvSpPr>
          <p:cNvPr id="37" name="Shape 33"/>
          <p:cNvSpPr/>
          <p:nvPr/>
        </p:nvSpPr>
        <p:spPr>
          <a:xfrm>
            <a:off x="6126480" y="3566160"/>
            <a:ext cx="5605272" cy="1243584"/>
          </a:xfrm>
          <a:prstGeom prst="roundRect">
            <a:avLst>
              <a:gd name="adj" fmla="val 5882"/>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4"/>
          <p:cNvSpPr/>
          <p:nvPr/>
        </p:nvSpPr>
        <p:spPr>
          <a:xfrm>
            <a:off x="6309360" y="3694176"/>
            <a:ext cx="1051560" cy="274320"/>
          </a:xfrm>
          <a:prstGeom prst="roundRect">
            <a:avLst>
              <a:gd name="adj" fmla="val 50000"/>
            </a:avLst>
          </a:prstGeom>
          <a:solidFill>
            <a:srgbClr val="C9780A"/>
          </a:solidFill>
          <a:ln w="12700">
            <a:solidFill>
              <a:srgbClr val="C9780A"/>
            </a:solidFill>
            <a:prstDash val="solid"/>
          </a:ln>
        </p:spPr>
      </p:sp>
      <p:sp>
        <p:nvSpPr>
          <p:cNvPr id="39" name="Text 35"/>
          <p:cNvSpPr txBox="1"/>
          <p:nvPr/>
        </p:nvSpPr>
        <p:spPr>
          <a:xfrm>
            <a:off x="6309360" y="36941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40" name="Text 36"/>
          <p:cNvSpPr txBox="1"/>
          <p:nvPr/>
        </p:nvSpPr>
        <p:spPr>
          <a:xfrm>
            <a:off x="6309360" y="40233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Two jobs in 80–100 words: needs, must be, can do, with evidence.</a:t>
            </a:r>
            <a:endParaRPr lang="en-US" sz="1200" dirty="0"/>
          </a:p>
        </p:txBody>
      </p:sp>
      <p:sp>
        <p:nvSpPr>
          <p:cNvPr id="41" name="Shape 37"/>
          <p:cNvSpPr/>
          <p:nvPr/>
        </p:nvSpPr>
        <p:spPr>
          <a:xfrm>
            <a:off x="6126480" y="4937760"/>
            <a:ext cx="5605272" cy="1243584"/>
          </a:xfrm>
          <a:prstGeom prst="roundRect">
            <a:avLst>
              <a:gd name="adj" fmla="val 5882"/>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8"/>
          <p:cNvSpPr/>
          <p:nvPr/>
        </p:nvSpPr>
        <p:spPr>
          <a:xfrm>
            <a:off x="6309360" y="5065776"/>
            <a:ext cx="1051560" cy="274320"/>
          </a:xfrm>
          <a:prstGeom prst="roundRect">
            <a:avLst>
              <a:gd name="adj" fmla="val 50000"/>
            </a:avLst>
          </a:prstGeom>
          <a:solidFill>
            <a:srgbClr val="B83227"/>
          </a:solidFill>
          <a:ln w="12700">
            <a:solidFill>
              <a:srgbClr val="B83227"/>
            </a:solidFill>
            <a:prstDash val="solid"/>
          </a:ln>
        </p:spPr>
      </p:sp>
      <p:sp>
        <p:nvSpPr>
          <p:cNvPr id="43" name="Text 39"/>
          <p:cNvSpPr txBox="1"/>
          <p:nvPr/>
        </p:nvSpPr>
        <p:spPr>
          <a:xfrm>
            <a:off x="6309360" y="50657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STRETCH</a:t>
            </a:r>
            <a:endParaRPr lang="en-US" sz="850" dirty="0"/>
          </a:p>
        </p:txBody>
      </p:sp>
      <p:sp>
        <p:nvSpPr>
          <p:cNvPr id="44" name="Text 40"/>
          <p:cNvSpPr txBox="1"/>
          <p:nvPr/>
        </p:nvSpPr>
        <p:spPr>
          <a:xfrm>
            <a:off x="6309360" y="53949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Website writing task: two contrasting careers and shared skills (100–120 words).</a:t>
            </a:r>
            <a:endParaRPr lang="en-US" sz="1200" dirty="0"/>
          </a:p>
        </p:txBody>
      </p:sp>
      <p:sp>
        <p:nvSpPr>
          <p:cNvPr id="45"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46 / 47</a:t>
            </a:r>
            <a:endParaRPr lang="en-US" sz="850"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TD-L08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2" charset="-78"/>
                <a:ea typeface="Amiri" pitchFamily="2" charset="-78"/>
                <a:cs typeface="Amiri" pitchFamily="2" charset="-78"/>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cs typeface="Amiri" pitchFamily="2" charset="-78"/>
              </a:rPr>
              <a:t>Well done — see you next lesson.</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NEXT LESSON</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2650" b="1" dirty="0">
                <a:solidFill>
                  <a:srgbClr val="FFFFFF"/>
                </a:solidFill>
                <a:latin typeface="Cambria" pitchFamily="34" charset="0"/>
                <a:cs typeface="Amiri" pitchFamily="2" charset="-78"/>
              </a:rPr>
              <a:t>TD-L09 · Applications and Interviews</a:t>
            </a:r>
            <a:endParaRPr lang="en-US" sz="265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2" charset="-78"/>
                <a:ea typeface="Amiri" pitchFamily="2" charset="-78"/>
                <a:cs typeface="Amiri" pitchFamily="2" charset="-78"/>
              </a:rPr>
              <a:t>طَلَبَاتُ التَّوْظِيفِ وَالمُقَابَلَاتُ</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cs typeface="Amiri" pitchFamily="2" charset="-78"/>
              </a:rPr>
              <a:t>Remember: learn the 5 words for TD-L09.</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Amiri" pitchFamily="2" charset="-78"/>
        <a:cs typeface="Amiri" pitchFamily="2" charset="-78"/>
        <a:font script="Arab" typeface="Amiri"/>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Amiri" pitchFamily="2" charset="-78"/>
        <a:cs typeface="Amiri" pitchFamily="2" charset="-78"/>
        <a:font script="Arab" typeface="Amiri"/>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47</Slides>
  <Notes>47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47</vt:i4>
      </vt:variant>
    </vt:vector>
  </HeadingPairs>
  <TitlesOfParts>
    <vt:vector size="5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TD-L08 · Personal Qualities and Professional Skills</dc:title>
  <dc:subject>PptxGenJS Presentation</dc:subject>
  <dc:creator>Al Madina Online School · Arabic Department</dc:creator>
  <cp:lastModifiedBy>Al Madina Online School · Arabic Department</cp:lastModifiedBy>
  <cp:revision>1</cp:revision>
  <dcterms:created xsi:type="dcterms:W3CDTF">2026-10-11T06:44:10Z</dcterms:created>
  <dcterms:modified xsi:type="dcterms:W3CDTF">2026-10-11T06:44:10Z</dcterms:modified>
</cp:coreProperties>
</file>