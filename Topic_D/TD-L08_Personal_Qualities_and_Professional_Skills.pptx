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D · TD-L08 — Personal Qualities and Professional Skills. Website: Advanced Topics › Topic D (The World of Work) › Lesson 8.
The website builds this lesson on the D3-L03 lesson engine, with the Topic focus “Match strengths and qualities to roles and support judgements with evidence.” (grammar: Adjective agreement; relative clauses; لأنّ; skills: Speaking · Writing) and the application challenge “Candidate skills match”. This deck follows the same engine, re-sequenced for Topic D: lesson references now point to Topic D codes (lessons outside Topic D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D Work and Careers › TD-L08. The website lesson “Skills and Qualities — What Makes a Good Worker?”: vocabulary, grammar rules and quiz, patterns, common mistakes, sorter, listening, reading, speaking prompts and model, writing task and model, differentiation, final check and the lesson mission. Picture match: website visual game “Skills and Qualities — What Makes a Good Worker?”.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6 skills + 6 qualities (m. / f.) and “A doctor needs patience” (يَحْتَاجُ الطَّبِيبُ إِلَى الصَّبْرِ) + one quality with evidence. Develop: يَجِبُ أَنْ يَكُونَ … (adjective in -an) and يَسْتَطِيعُ أَنْ …. Stretch: two contrasting careers, shared skills, evidence for every quality.
• The earlier work personality adjectives return as WORKER qualities (صَبُورٌ، مُتَعَاوِنٌ، مُجْتَهِدٌ) — students already know the m. / f. habit.
• Grammar link: يَجِبُ أَنْ + verb (-a) is from F4-L06 (website) / F5-L10 (website); NEW is يَكُونَ + adjective in -an (صَبُورًا / هَادِئَةً).
• Urdu bridge: مہارت، تجربہ (≠ خِبْرَةٌ by sound), قیادت، ذمہ دار.
• TEACHER-WRITTEN ITEMS: on the website this lesson’s mission, sorter, mistakes, grammar, final, listening, reading, speaking, writing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TD-L07. Questions 3–4 retrieve TD-L07; question 5 retrieves D2-L01 (website) (quality + evidence).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job NEEDS a skill; a worker MUST BE a quality — and you prove it with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مہارت، قیادت، امین are shared (al-Amīn, the Trustworthy). مسؤول is used in formal Urdu; everyday Urdu says ذمہ دار. الإِبْدَاعُ shares the root of بدیع (wonderful, original). خِبْرَةٌ (experience) is NOT Urdu خبر (news) — same root (to know), different meaning: careful!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Skills (website vocabulary (1 of 2)). Hear → Say → See → Use. Transliteration is printed for Core students (cover it for Develop/Stretch).
Skills are NOUNS (what a job needs): يَحْتَاجُ إِلَى + these words. Many are verbal nouns (حَلٌّ = solving, إِدَارَةٌ = managing).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Skills (website vocabulary (2 of 2)). Hear → Say → See → Use. Transliteration is printed for Core students (cover it for Develop/Stretch).
Skills are NOUNS (what a job needs): يَحْتَاجُ إِلَى + these words. Many are verbal nouns (حَلٌّ = solving, إِدَارَةٌ = managing).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Worker qualities (website vocabulary (1 of 2)). Hear → Say → See → Use. Transliteration is printed for Core students (cover it for Develop/Stretch).
Qualities are ADJECTIVES (what a worker is): every card shows m. · f. · pl. أَمِينٌ has a broken plural: أُمَنَاءُ. مَوْثُوقٌ بِهِ: the pronoun changes too (بِهِ / بِهَا / بِهِمْ).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Worker qualities (website vocabulary (2 of 2)). Hear → Say → See → Use. Transliteration is printed for Core students (cover it for Develop/Stretch).
Qualities are ADJECTIVES (what a worker is): every card shows m. · f. · pl. أَمِينٌ has a broken plural: أُمَنَاءُ. مَوْثُوقٌ بِهِ: the pronoun changes too (بِهِ / بِهَا / بِهِمْ).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Reason and evidence (website vocabulary (1 of 2)). Hear → Say → See → Use. Transliteration is printed for Core students (cover it for Develop/Stretch).
FLEX: teach if time allows; otherwise these are on the website vocabulary tab for homework.
Reason and evidence (FLEX): the Topic D connector list. Today: عَلَى سَبِيلِ المِثَالِ (for example) — the evidence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Reason and evidence (website vocabulary (2 of 2)). Hear → Say → See → Use. Transliteration is printed for Core students (cover it for Develop/Stretch).
FLEX: teach if time allows; otherwise these are on the website vocabulary tab for homework.
Reason and evidence (FLEX): the Topic D connector list. Today: عَلَى سَبِيلِ المِثَالِ (for example) — the evidence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“Needs a skill” (يَحْتَاجُ إِلَى + مَصْدَرٍ / اسْمٍ) and “Must be” (يَجِبُ أَنْ يَكُونَ / تَكُونَ + صِفَةً: the verb agrees with the person; the predicate adjective is accusative). Website examples: يَحْتَاجُ الطَّبِيبُ إِلَى الصَّبْرِ · تَحْتَاجُ المُهَنْدِسَةُ إِلَى الدِّقَّةِ · يَجِبُ أَنْ يَكُونَ المُدَرِّسُ صَبُورًا · يَجِبُ أَنْ تَكُونَ المُمَرِّضَةُ هَادِئَةً.
Core can stay with rows 1–2 (يَحْتَاجُ إِلَى).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“Ability” (يَسْتَطِيعُ أَنْ + مُضَارِعٌ) and “Evidence” (support a quality with behaviour rather than a label alone). Website examples: يَسْتَطِيعُ أَنْ يَحُلَّ المُشْكِلَاتِ · تَسْتَطِيعُ أَنْ تَعْمَلَ ضِمْنَ فَرِيقٍ · هُوَ مَسْؤُولٌ لِأَنَّهُ يَحْتَرِمُ المَوَاعِيدَ · هِيَ مُتَعَاوِنَةٌ لِأَنَّهَا تُسَاعِدُ زُمَلَاءَهَا.
The error pair is teacher-chosen (the website common error for this lesson is generic): in Modern Standard Arabic يَحْتَاجُ normally takes إِلَى.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“التَّعْبِيرُ عَنِ المَهَارَاتِ وَالمُتَطَلَّبَاتِ”
• Needs a skill: Use يحتاج إلى before a skill or qualification.
• Must be: The verb agrees with the person; the predicate adjective is accusative.
• Ability: Use أن followed by a present-tense verb.
• Evidence: Support a quality with behaviour rather than a label alone.
Website common error: Do not drop إِلَى after يَحْتَاجُ, and do not leave the adjective after يَكُونَ / تَكُونَ in -un (teacher wording: the website common error for this lesson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teacher-written model built on the website rules and reading text (doctor / programmer / teacher). Think aloud: “Skill (noun) or quality (adjective)? He or she? Where is my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(“Skill Match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“Skill Match”: teamwork, communication, organisation and punctuality.
Website feedback lines: The visual shows teamwork. · The speech bubbles represent communication. · The clock and tick show punctual organisation.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(“Skill Match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“Skill Match”: teamwork, communication, organisation and punctuality.
Website feedback lines: The visual shows teamwork. · The speech bubbles represent communication. · The clock and tick show punctual organisation.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Skills and Qualities — What Makes a Good Worker?”)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word shows HE / SHE? (هُوَ / هِيَ and the -a ending in مُنَظَّمَةٌ). Other website cards: لَدَيْهَا مَهَارَاتُ تَوَاصُلٍ جَيِّدَةٌ · لَدَيْهِ مَهَارَاتٌ رَقْمِيَّةٌ · هِيَ طَمُوحَةٌ وَمُجْتَهِدَةٌ.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Skills and Qualities — What Makes a Good Worker?”)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word shows HE / SHE? (هُوَ / هِيَ and the -a ending in مُنَظَّمَةٌ). Other website cards: لَدَيْهَا مَهَارَاتُ تَوَاصُلٍ جَيِّدَةٌ · لَدَيْهِ مَهَارَاتٌ رَقْمِيَّةٌ · هِيَ طَمُوحَةٌ وَمُجْتَهِدَةٌ.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Is it a skill (a noun a job needs) or a quality (an adjective describing the worker)?
Then build: يَحْتَاجُ إِلَى + a skill · يَجِبُ أَنْ يَكُونَ + a quality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Is it a skill (a noun a job needs) or a quality (an adjective describing the worker)?
Then build: يَحْتَاجُ إِلَى + a skill · يَجِبُ أَنْ يَكُونَ + a quality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 / Stretch: all 6.
Listen 1: just listen. Listen 2: note answers. Then chat the letters.
Support: after the second listening, show the read-along slide (Arabic + English, line by line) for Core students.
SCRIPT (read aloud):
تَبْحَثُ شَرِكَةٌ عَنْ مُوَظَّفَةٍ لِخِدْمَةِ العُمَلَاءِ. يَجِبُ أَنْ تَكُونَ وَاثِقَةً وَصَبُورَةً، وَأَنْ تَسْتَطِيعَ حَلَّ المُشْكِلَاتِ بِسُرْعَةٍ. الخِبْرَةُ مُفِيدَةٌ، لٰكِنَّهَا لَيْسَتْ ضَرُورِيَّةً لِأَنَّ الشَّرِكَةَ تُقَدِّمُ تَدْرِيبًا. كَمَا أَنَّ إِجَادَةَ لُغَتَيْنِ تُعَدُّ مِيزَةً مُهِمَّةً.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 APPLICATION CHALLENGE (5 min — it takes the speaking-rehearsal slot; the website speaking slide after it is FLEX) — from the website Topic page: “Match personal qualities and professional skills to different jobs. Every match must be justified with evidence from a short candidate profile.”
Website Topic D challenge “Candidate skills match”. Candidates: سَارَةُ: صَبُورَةٌ وَتُحِبُّ الأَطْفَالَ · يُوسُفُ: يُجِيدُ الحَاسُوبَ وَدَقِيقٌ · مَرْيَمُ: اجْتِمَاعِيَّةٌ وَتَتَكَلَّمُ ثَلَاثَ لُغَاتٍ. Jobs: مُعَلِّمَةٌ · مُبَرْمِجٌ · مُوَظَّفَةُ اسْتِقْبَالٍ فِي فُنْدُقٍ.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D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أَهَمُّ صِفَةٍ فِيكَ؟ (And what is your most important quality?)
B: أَنَا مَسْؤُولٌ لِأَنَّنِي أُكْمِلُ وَاجِبَاتِي فِي الوَقْتِ. (I am responsible because I finish my homework on time.)
Teacher-written prompts and model (the website prompts are generic). Model continues: A: وَمَا أَهَمُّ صِفَةٍ فِيكَ؟ B: أَنَا مَسْؤُولٌ لِأَنَّنِي أُكْمِلُ وَاجِبَاتِي فِي الوَقْتِ. To a girl: مَا أَهَمُّ صِفَةٍ فِيكِ؟ — أَنَا مَسْؤُولَةٌ لِأَنَّنِي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Explain the qualities and skills needed for two contrasting careers.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Teacher-written model (the website model for this lesson is a placeholder). Evidence: تَحْتَاجُ المُمَرِّضَةُ إِلَى الصَّبْرِ · يَجِبُ أَنْ تَكُونَ هَادِئَةً · أَنْ تَسْتَطِيعَ العَمَلَ · مُنَظَّمًا وَصَبُورًا · تَحْتَاجَانِ (dual, Stretch) · لِأَنَّنِي أَسْتَطِيعُ أَنْ أُرَكِّزَ.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(TD-L09 · Applications and Interviews) will spend class time USING this language, so students prepare it tonight — short, simple, easy to access (school guidance: “Simple, Short, Interesting, Relevant, Easy to access”). The five words come from the website TD-L10 vocabulary (future plans).
Follow-up: the next Do Now tests two of these words (Flipped Learning: keep it short AND follow up).
Homework by route (website tasks). No internet? Students copy the five words from this slide into their book now.
TOPIC D: the five words are the ones the TD-L09 Do Now tests (preparation list of the website D3-L05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D  ·  TD-L08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TD-L08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Personal Qualities and Professional Skills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الصِّفَاتُ الشَّخْصِيَّةُ وَالمَهَارَاتُ المِهْنِيَّةُ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Match strengths and qualities to roles and support judgements with evidence.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TD-L08 · Advanced Topic D · The World of Work</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Topic D › TD-L08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Needs, must be, can — and evidence for every quality.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sort skills / qualities, fix and listen to a job advert.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TD-L09.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خِبْرَةٌ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skill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experience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leadership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القِيَادَةُ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leadership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responsibility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organisation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الشَّرِكَةُ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أَعْمَلُ فِيهَا كَبِيرَةٌ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الَّذِي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الَّذِينَ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“a modern office”?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مَكْتَبٌ حَدِيثَةٌ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مَكْتَبَةٌ حَدِيثٌ</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مَكْتَبٌ حَدِيثٌ</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sentence about a girl.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هِيَ صَبُورَةٌ لِأَنَّهَا تَسْتَمِعُ.</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هِيَ صَبُورٌ لِأَنَّهُ يَسْتَمِعُ.</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هِيَ صَبُورَةٌ لِأَنَّهُ تَسْتَمِعُ.</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خِبْرَةٌ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skill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experience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leadership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(TD-L07).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القِيَادَةُ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leadership</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responsibility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organisation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(TD-L07).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الشَّرِكَةُ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أَعْمَلُ فِيهَا كَبِيرَةٌ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الَّذِي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الَّذِينَ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الَّتِي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TD-L07: feminine noun → allatī.</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“a modern office”?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مَكْتَبٌ حَدِيثَةٌ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مَكْتَبَةٌ حَدِيثٌ</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مَكْتَبٌ حَدِيثٌ</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TD-L07: the adjective agrees.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sentence about a girl.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هِيَ صَبُورَةٌ لِأَنَّهَا تَسْتَمِعُ.</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هِيَ صَبُورٌ لِأَنَّهُ يَسْتَمِعُ.</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هِيَ صَبُورَةٌ لِأَنَّهُ تَسْتَمِعُ.</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D2-L01 (website): quality + evidence agree.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 job NEEDS a skill; a worker MUST BE a quality — and you prove it with behaviour.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يَحْتَاجُ إِلَى </a:t>
            </a:r>
            <a:pPr rtl="1" algn="ctr" indent="0" marL="0">
              <a:lnSpc>
                <a:spcPct val="120000"/>
              </a:lnSpc>
              <a:buNone/>
            </a:pPr>
            <a:r>
              <a:rPr lang="ar-SA" altLang="en-US" sz="1950" b="1" dirty="0">
                <a:solidFill>
                  <a:srgbClr val="0E7C86"/>
                </a:solidFill>
                <a:latin typeface="Amiri" pitchFamily="34" charset="0"/>
                <a:ea typeface="Amiri" pitchFamily="34" charset="-122"/>
                <a:cs typeface="Amiri" pitchFamily="34" charset="-120"/>
              </a:rPr>
              <a:t>الصَّبْرِ</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يَجِبُ أَنْ يَكُونَ </a:t>
            </a:r>
            <a:pPr rtl="1" algn="ctr" indent="0" marL="0">
              <a:lnSpc>
                <a:spcPct val="120000"/>
              </a:lnSpc>
              <a:buNone/>
            </a:pPr>
            <a:r>
              <a:rPr lang="ar-SA" altLang="en-US" sz="1950" b="1" dirty="0">
                <a:solidFill>
                  <a:srgbClr val="1D5FBF"/>
                </a:solidFill>
                <a:latin typeface="Amiri" pitchFamily="34" charset="0"/>
                <a:ea typeface="Amiri" pitchFamily="34" charset="-122"/>
                <a:cs typeface="Amiri" pitchFamily="34" charset="-120"/>
              </a:rPr>
              <a:t>صَبُورًا</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a:t>
            </a:r>
            <a:pPr rtl="1" algn="ctr" indent="0" marL="0">
              <a:lnSpc>
                <a:spcPct val="120000"/>
              </a:lnSpc>
              <a:buNone/>
            </a:pPr>
            <a:r>
              <a:rPr lang="ar-SA" altLang="en-US" sz="1950" b="1" dirty="0">
                <a:solidFill>
                  <a:srgbClr val="D6336C"/>
                </a:solidFill>
                <a:latin typeface="Amiri" pitchFamily="34" charset="0"/>
                <a:ea typeface="Amiri" pitchFamily="34" charset="-122"/>
                <a:cs typeface="Amiri" pitchFamily="34" charset="-120"/>
              </a:rPr>
              <a:t>لِأَنَّهُ</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يَسْتَمِعُ</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Name key workplace skills and qualities (m. / f. / pl.).</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Say what a job needs with </a:t>
            </a:r>
            <a:pPr algn="l" indent="0" marL="0">
              <a:buNone/>
            </a:pPr>
            <a:r>
              <a:rPr lang="ar-SA" altLang="en-US" sz="1700" dirty="0">
                <a:solidFill>
                  <a:srgbClr val="1F2A37"/>
                </a:solidFill>
                <a:latin typeface="Amiri" pitchFamily="34" charset="0"/>
                <a:ea typeface="Amiri" pitchFamily="34" charset="-122"/>
                <a:cs typeface="Amiri" pitchFamily="34" charset="-120"/>
              </a:rPr>
              <a:t>يَحْتَاجُ إِلَى</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Say what a worker must be (</a:t>
            </a:r>
            <a:pPr algn="l" indent="0" marL="0">
              <a:buNone/>
            </a:pPr>
            <a:r>
              <a:rPr lang="ar-SA" altLang="en-US" sz="1700" dirty="0">
                <a:solidFill>
                  <a:srgbClr val="1F2A37"/>
                </a:solidFill>
                <a:latin typeface="Amiri" pitchFamily="34" charset="0"/>
                <a:ea typeface="Amiri" pitchFamily="34" charset="-122"/>
                <a:cs typeface="Amiri" pitchFamily="34" charset="-120"/>
              </a:rPr>
              <a:t>يَجِبُ أَنْ يَكُونَ</a:t>
            </a:r>
            <a:pPr algn="l" indent="0" marL="0">
              <a:buNone/>
            </a:pPr>
            <a:r>
              <a:rPr lang="en-US" sz="1300" dirty="0">
                <a:solidFill>
                  <a:srgbClr val="1F2A37"/>
                </a:solidFill>
                <a:latin typeface="Calibri" pitchFamily="34" charset="0"/>
                <a:ea typeface="Calibri" pitchFamily="34" charset="-122"/>
                <a:cs typeface="Calibri" pitchFamily="34" charset="-120"/>
              </a:rPr>
              <a:t> + -an) and can do.</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Support every quality with evidence.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six skills and six qualities.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what a job needs.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say what a worker must be and can do.</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prove a quality with behaviour.</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compare the skills of two careers.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name the skills they share.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Skills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Worker qualities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Reason and evidence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مَهَارَةٌ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‎مہارت‎ </a:t>
            </a:r>
            <a:pPr indent="0" marL="0">
              <a:buNone/>
            </a:pPr>
            <a:r>
              <a:rPr lang="en-US" sz="950" b="1" dirty="0">
                <a:solidFill>
                  <a:srgbClr val="2E8B57"/>
                </a:solidFill>
                <a:latin typeface="Calibri" pitchFamily="34" charset="0"/>
                <a:ea typeface="Calibri" pitchFamily="34" charset="-122"/>
                <a:cs typeface="Calibri" pitchFamily="34" charset="-120"/>
              </a:rPr>
              <a:t> mahārat · skill</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القِيَادَةُ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‎قیادت‎ </a:t>
            </a:r>
            <a:pPr indent="0" marL="0">
              <a:buNone/>
            </a:pPr>
            <a:r>
              <a:rPr lang="en-US" sz="950" b="1" dirty="0">
                <a:solidFill>
                  <a:srgbClr val="2E8B57"/>
                </a:solidFill>
                <a:latin typeface="Calibri" pitchFamily="34" charset="0"/>
                <a:ea typeface="Calibri" pitchFamily="34" charset="-122"/>
                <a:cs typeface="Calibri" pitchFamily="34" charset="-120"/>
              </a:rPr>
              <a:t> qiyādat · leadership</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مَسْؤُولٌ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‎مسؤول / ذمہ دار‎ </a:t>
            </a:r>
            <a:pPr indent="0" marL="0">
              <a:buNone/>
            </a:pPr>
            <a:r>
              <a:rPr lang="en-US" sz="950" b="1" dirty="0">
                <a:solidFill>
                  <a:srgbClr val="2E8B57"/>
                </a:solidFill>
                <a:latin typeface="Calibri" pitchFamily="34" charset="0"/>
                <a:ea typeface="Calibri" pitchFamily="34" charset="-122"/>
                <a:cs typeface="Calibri" pitchFamily="34" charset="-120"/>
              </a:rPr>
              <a:t> masʾūl · responsible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الإِبْدَاعُ</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‎ایجاد / بدیع‎ </a:t>
            </a:r>
            <a:pPr indent="0" marL="0">
              <a:buNone/>
            </a:pPr>
            <a:r>
              <a:rPr lang="en-US" sz="950" b="1" dirty="0">
                <a:solidFill>
                  <a:srgbClr val="2E8B57"/>
                </a:solidFill>
                <a:latin typeface="Calibri" pitchFamily="34" charset="0"/>
                <a:ea typeface="Calibri" pitchFamily="34" charset="-122"/>
                <a:cs typeface="Calibri" pitchFamily="34" charset="-120"/>
              </a:rPr>
              <a:t> badīʿ · creativity (root b-d-ʿ)</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أَمِينٌ</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‎امین‎ </a:t>
            </a:r>
            <a:pPr indent="0" marL="0">
              <a:buNone/>
            </a:pPr>
            <a:r>
              <a:rPr lang="en-US" sz="950" b="1" dirty="0">
                <a:solidFill>
                  <a:srgbClr val="2E8B57"/>
                </a:solidFill>
                <a:latin typeface="Calibri" pitchFamily="34" charset="0"/>
                <a:ea typeface="Calibri" pitchFamily="34" charset="-122"/>
                <a:cs typeface="Calibri" pitchFamily="34" charset="-120"/>
              </a:rPr>
              <a:t> amīn · trustworthy, honest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Skills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مَهَارَةُ التَّوَاصُلِ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communication skill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ma-hā-ra-tu at-ta-wā-ṣu-li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حَلُّ المُشْكِلَاتِ</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problem solving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ḥal-lu al-mush-ki-lā-ti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العَمَلُ الجَمَاعِيُّ</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teamwork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al-ʿa-ma-lu al-ja-mā-ʿiy-yu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إِدَارَةُ الوَقْتِ</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time management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i-dā-ra-tu al-waq-ti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الإِبْدَاعُ</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creativity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al-ib-dā-ʿu</a:t>
            </a:r>
            <a:endParaRPr lang="en-US" sz="1350" dirty="0"/>
          </a:p>
        </p:txBody>
      </p:sp>
      <p:sp>
        <p:nvSpPr>
          <p:cNvPr id="48" name="Shape 4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51" name="Shape 4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3" name="Text 5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الدِّقَّةُ</a:t>
            </a:r>
            <a:endParaRPr lang="ar-SA" sz="3000" dirty="0"/>
          </a:p>
        </p:txBody>
      </p:sp>
      <p:sp>
        <p:nvSpPr>
          <p:cNvPr id="54" name="Text 5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accuracy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ad-diq-qa-tu</a:t>
            </a:r>
            <a:endParaRPr lang="en-US" sz="13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Skills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المَرُونَةُ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adaptability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al-ma-rū-na-tu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القِيَادَةُ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leadership</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al-qi-yā-da-tu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28" name="Shape 2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الخِبْرَةُ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experience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al-khib-ra-tu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المُؤَهِّلَاتُ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qualifications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al-mu-ʾah-hi-lā-tu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إِجَادَةُ اللُّغَاتِ</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language proficiency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i-jā-da-tu all-lu-ghā-ti</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مَهَارَاتُ الحَاسُوبِ</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computer skills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ma-hā-rā-tu al-ḥā-sū-bi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Worker qualities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13</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مَسْؤُولٌ / مَسْؤُولَةٌ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responsible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mas-ʾū-lun / mas-ʾū-la-tun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مَسْؤُولُونَ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مَسْؤُولَةٌ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مَسْؤُولٌ</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14</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مُنَظَّمٌ / مُنَظَّمَةٌ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organised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mu-naẓ-ẓa-mun / mu-naẓ-ẓa-ma-tun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مُنَظَّمُونَ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مُنَظَّمَةٌ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مُنَظَّمٌ</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15</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صَبُورٌ / صَبُورَةٌ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patient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ṣa-bū-run / ṣa-bū-ra-tun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صَبُورُونَ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صَبُورَةٌ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صَبُورٌ</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16</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74" name="Text 7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مُجْتَهِدٌ / مُجْتَهِدَةٌ</a:t>
            </a:r>
            <a:endParaRPr lang="ar-SA" sz="3000" dirty="0"/>
          </a:p>
        </p:txBody>
      </p:sp>
      <p:sp>
        <p:nvSpPr>
          <p:cNvPr id="75" name="Text 7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hard-working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muj-ta-hi-dun / muj-ta-hi-da-tun</a:t>
            </a:r>
            <a:endParaRPr lang="en-US" sz="1350" dirty="0"/>
          </a:p>
        </p:txBody>
      </p:sp>
      <p:sp>
        <p:nvSpPr>
          <p:cNvPr id="76" name="Shape 7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8" name="Text 7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مُجْتَهِدُونَ</a:t>
            </a:r>
            <a:endParaRPr lang="ar-SA" sz="1500" dirty="0"/>
          </a:p>
        </p:txBody>
      </p:sp>
      <p:sp>
        <p:nvSpPr>
          <p:cNvPr id="79" name="Shape 7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81" name="Text 7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مُجْتَهِدَةٌ</a:t>
            </a:r>
            <a:endParaRPr lang="ar-SA" sz="1500" dirty="0"/>
          </a:p>
        </p:txBody>
      </p:sp>
      <p:sp>
        <p:nvSpPr>
          <p:cNvPr id="82" name="Shape 7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84" name="Text 8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مُجْتَهِدٌ</a:t>
            </a:r>
            <a:endParaRPr lang="ar-SA" sz="1500" dirty="0"/>
          </a:p>
        </p:txBody>
      </p:sp>
      <p:sp>
        <p:nvSpPr>
          <p:cNvPr id="85" name="Shape 8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4389120"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17</a:t>
            </a:r>
            <a:endParaRPr lang="en-US" sz="1000" dirty="0"/>
          </a:p>
        </p:txBody>
      </p:sp>
      <p:sp>
        <p:nvSpPr>
          <p:cNvPr id="88" name="Shape 8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90" name="Text 8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مُبَادِرٌ / مُبَادِرَةٌ</a:t>
            </a:r>
            <a:endParaRPr lang="ar-SA" sz="3000" dirty="0"/>
          </a:p>
        </p:txBody>
      </p:sp>
      <p:sp>
        <p:nvSpPr>
          <p:cNvPr id="91" name="Text 8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proactive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mu-bā-di-run / mu-bā-di-ra-tun</a:t>
            </a:r>
            <a:endParaRPr lang="en-US" sz="1350" dirty="0"/>
          </a:p>
        </p:txBody>
      </p:sp>
      <p:sp>
        <p:nvSpPr>
          <p:cNvPr id="92" name="Shape 8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94" name="Text 9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مُبَادِرُونَ</a:t>
            </a:r>
            <a:endParaRPr lang="ar-SA" sz="1500" dirty="0"/>
          </a:p>
        </p:txBody>
      </p:sp>
      <p:sp>
        <p:nvSpPr>
          <p:cNvPr id="95" name="Shape 9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97" name="Text 9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مُبَادِرَةٌ</a:t>
            </a:r>
            <a:endParaRPr lang="ar-SA" sz="1500" dirty="0"/>
          </a:p>
        </p:txBody>
      </p:sp>
      <p:sp>
        <p:nvSpPr>
          <p:cNvPr id="98" name="Shape 9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100" name="Text 97"/>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مُبَادِرٌ</a:t>
            </a:r>
            <a:endParaRPr lang="ar-SA" sz="1500" dirty="0"/>
          </a:p>
        </p:txBody>
      </p:sp>
      <p:sp>
        <p:nvSpPr>
          <p:cNvPr id="101" name="Shape 9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2" name="Shape 99"/>
          <p:cNvSpPr/>
          <p:nvPr/>
        </p:nvSpPr>
        <p:spPr>
          <a:xfrm>
            <a:off x="566928" y="4261104"/>
            <a:ext cx="310896" cy="310896"/>
          </a:xfrm>
          <a:prstGeom prst="ellipse">
            <a:avLst/>
          </a:prstGeom>
          <a:solidFill>
            <a:srgbClr val="F4F1EA"/>
          </a:solidFill>
          <a:ln w="12700">
            <a:solidFill>
              <a:srgbClr val="F4F1EA"/>
            </a:solidFill>
            <a:prstDash val="solid"/>
          </a:ln>
        </p:spPr>
      </p:sp>
      <p:sp>
        <p:nvSpPr>
          <p:cNvPr id="103" name="Text 10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18</a:t>
            </a:r>
            <a:endParaRPr lang="en-US" sz="1000" dirty="0"/>
          </a:p>
        </p:txBody>
      </p:sp>
      <p:sp>
        <p:nvSpPr>
          <p:cNvPr id="104" name="Shape 101"/>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5" name="Text 102"/>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106" name="Text 10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مَوْثُوقٌ بِهِ / مَوْثُوقَةٌ بِهَا</a:t>
            </a:r>
            <a:endParaRPr lang="ar-SA" sz="3000" dirty="0"/>
          </a:p>
        </p:txBody>
      </p:sp>
      <p:sp>
        <p:nvSpPr>
          <p:cNvPr id="107" name="Text 10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reliable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maw-thū-qun bi-hi / maw-thū-qa-tun bi-hā</a:t>
            </a:r>
            <a:endParaRPr lang="en-US" sz="1350" dirty="0"/>
          </a:p>
        </p:txBody>
      </p:sp>
      <p:sp>
        <p:nvSpPr>
          <p:cNvPr id="108" name="Shape 105"/>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9" name="Text 106"/>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110" name="Text 107"/>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مَوْثُوقٌ بِهِمْ</a:t>
            </a:r>
            <a:endParaRPr lang="ar-SA" sz="1500" dirty="0"/>
          </a:p>
        </p:txBody>
      </p:sp>
      <p:sp>
        <p:nvSpPr>
          <p:cNvPr id="111" name="Shape 108"/>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2" name="Text 109"/>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113" name="Text 110"/>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مَوْثُوقَةٌ بِهَا</a:t>
            </a:r>
            <a:endParaRPr lang="ar-SA" sz="1500" dirty="0"/>
          </a:p>
        </p:txBody>
      </p:sp>
      <p:sp>
        <p:nvSpPr>
          <p:cNvPr id="114" name="Shape 111"/>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116" name="Text 113"/>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مَوْثُوقٌ بِهِ</a:t>
            </a:r>
            <a:endParaRPr lang="ar-SA" sz="1500" dirty="0"/>
          </a:p>
        </p:txBody>
      </p:sp>
      <p:sp>
        <p:nvSpPr>
          <p:cNvPr id="117" name="Text 1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Worker qualities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19</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وَاثِقٌ / وَاثِقَةٌ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confident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wā-thi-qun / wā-thi-qa-tun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وَاثِقُونَ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وَاثِقَةٌ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وَاثِقٌ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20</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مُتَعَاوِنٌ / مُتَعَاوِنَةٌ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cooperative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mu-ta-ʿā-wi-nun / mu-ta-ʿā-wi-na-tun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مُتَعَاوِنُونَ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مُتَعَاوِنَةٌ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مُتَعَاوِنٌ</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21</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مَرِنٌ / مَرِنَةٌ</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flexible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ma-ri-nun / ma-ri-na-tun</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مَرِنُونَ</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63" name="Text 6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مَرِنَةٌ</a:t>
            </a:r>
            <a:endParaRPr lang="ar-SA" sz="150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مَرِنٌ</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22</a:t>
            </a:r>
            <a:endParaRPr lang="en-US" sz="1000" dirty="0"/>
          </a:p>
        </p:txBody>
      </p:sp>
      <p:sp>
        <p:nvSpPr>
          <p:cNvPr id="70" name="Shape 67"/>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72" name="Text 6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هَادِئٌ / هَادِئَةٌ</a:t>
            </a:r>
            <a:endParaRPr lang="ar-SA" sz="3000" dirty="0"/>
          </a:p>
        </p:txBody>
      </p:sp>
      <p:sp>
        <p:nvSpPr>
          <p:cNvPr id="73" name="Text 7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calm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hā-di-ʾun / hā-di-ʾa-tun</a:t>
            </a:r>
            <a:endParaRPr lang="en-US" sz="1350" dirty="0"/>
          </a:p>
        </p:txBody>
      </p:sp>
      <p:sp>
        <p:nvSpPr>
          <p:cNvPr id="74" name="Shape 7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6" name="Text 7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هَادِئُونَ</a:t>
            </a:r>
            <a:endParaRPr lang="ar-SA" sz="1500" dirty="0"/>
          </a:p>
        </p:txBody>
      </p:sp>
      <p:sp>
        <p:nvSpPr>
          <p:cNvPr id="77" name="Shape 7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79" name="Text 7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هَادِئَةٌ</a:t>
            </a:r>
            <a:endParaRPr lang="ar-SA" sz="1500" dirty="0"/>
          </a:p>
        </p:txBody>
      </p:sp>
      <p:sp>
        <p:nvSpPr>
          <p:cNvPr id="80" name="Shape 7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82" name="Text 7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هَادِئٌ</a:t>
            </a:r>
            <a:endParaRPr lang="ar-SA" sz="1500" dirty="0"/>
          </a:p>
        </p:txBody>
      </p:sp>
      <p:sp>
        <p:nvSpPr>
          <p:cNvPr id="83" name="Shape 8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4389120"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23</a:t>
            </a:r>
            <a:endParaRPr lang="en-US" sz="1000" dirty="0"/>
          </a:p>
        </p:txBody>
      </p:sp>
      <p:sp>
        <p:nvSpPr>
          <p:cNvPr id="86" name="Shape 83"/>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88" name="Text 8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طَمُوحٌ / طَمُوحَةٌ</a:t>
            </a:r>
            <a:endParaRPr lang="ar-SA" sz="3000" dirty="0"/>
          </a:p>
        </p:txBody>
      </p:sp>
      <p:sp>
        <p:nvSpPr>
          <p:cNvPr id="89" name="Text 8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ambitious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ṭa-mū-ḥun / ṭa-mū-ḥa-tun</a:t>
            </a:r>
            <a:endParaRPr lang="en-US" sz="1350" dirty="0"/>
          </a:p>
        </p:txBody>
      </p:sp>
      <p:sp>
        <p:nvSpPr>
          <p:cNvPr id="90" name="Shape 8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92" name="Text 89"/>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طَمُوحُونَ</a:t>
            </a:r>
            <a:endParaRPr lang="ar-SA" sz="1500" dirty="0"/>
          </a:p>
        </p:txBody>
      </p:sp>
      <p:sp>
        <p:nvSpPr>
          <p:cNvPr id="93" name="Shape 9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95" name="Text 92"/>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طَمُوحَةٌ</a:t>
            </a:r>
            <a:endParaRPr lang="ar-SA" sz="1500" dirty="0"/>
          </a:p>
        </p:txBody>
      </p:sp>
      <p:sp>
        <p:nvSpPr>
          <p:cNvPr id="96" name="Shape 9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98" name="Text 95"/>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طَمُوحٌ</a:t>
            </a:r>
            <a:endParaRPr lang="ar-SA" sz="1500" dirty="0"/>
          </a:p>
        </p:txBody>
      </p:sp>
      <p:sp>
        <p:nvSpPr>
          <p:cNvPr id="99" name="Shape 9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Shape 97"/>
          <p:cNvSpPr/>
          <p:nvPr/>
        </p:nvSpPr>
        <p:spPr>
          <a:xfrm>
            <a:off x="566928" y="4261104"/>
            <a:ext cx="310896" cy="310896"/>
          </a:xfrm>
          <a:prstGeom prst="ellipse">
            <a:avLst/>
          </a:prstGeom>
          <a:solidFill>
            <a:srgbClr val="F4F1EA"/>
          </a:solidFill>
          <a:ln w="12700">
            <a:solidFill>
              <a:srgbClr val="F4F1EA"/>
            </a:solidFill>
            <a:prstDash val="solid"/>
          </a:ln>
        </p:spPr>
      </p:sp>
      <p:sp>
        <p:nvSpPr>
          <p:cNvPr id="101" name="Text 9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24</a:t>
            </a:r>
            <a:endParaRPr lang="en-US" sz="1000" dirty="0"/>
          </a:p>
        </p:txBody>
      </p:sp>
      <p:sp>
        <p:nvSpPr>
          <p:cNvPr id="102" name="Shape 99"/>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3" name="Text 100"/>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104" name="Shape 10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05" name="Text 10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106" name="Text 10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أَمِينٌ / أَمِينَةٌ</a:t>
            </a:r>
            <a:endParaRPr lang="ar-SA" sz="3000" dirty="0"/>
          </a:p>
        </p:txBody>
      </p:sp>
      <p:sp>
        <p:nvSpPr>
          <p:cNvPr id="107" name="Text 10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honest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a-mī-nun / a-mī-na-tun</a:t>
            </a:r>
            <a:endParaRPr lang="en-US" sz="1350" dirty="0"/>
          </a:p>
        </p:txBody>
      </p:sp>
      <p:sp>
        <p:nvSpPr>
          <p:cNvPr id="108" name="Shape 105"/>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9" name="Text 106"/>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110" name="Text 107"/>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أُمَنَاءُ</a:t>
            </a:r>
            <a:endParaRPr lang="ar-SA" sz="1500" dirty="0"/>
          </a:p>
        </p:txBody>
      </p:sp>
      <p:sp>
        <p:nvSpPr>
          <p:cNvPr id="111" name="Shape 108"/>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2" name="Text 109"/>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113" name="Text 110"/>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أَمِينَةٌ</a:t>
            </a:r>
            <a:endParaRPr lang="ar-SA" sz="1500" dirty="0"/>
          </a:p>
        </p:txBody>
      </p:sp>
      <p:sp>
        <p:nvSpPr>
          <p:cNvPr id="114" name="Shape 111"/>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116" name="Text 113"/>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أَمِينٌ</a:t>
            </a:r>
            <a:endParaRPr lang="ar-SA" sz="1500" dirty="0"/>
          </a:p>
        </p:txBody>
      </p:sp>
      <p:sp>
        <p:nvSpPr>
          <p:cNvPr id="117" name="Text 1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Reason and evidence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because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therefore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وَلٰكِنَّ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however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wa-lā-kin-na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بَيْنَمَا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whereas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bay-na-mā</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29</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عَلَى الرَّغْمِ مِنْ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although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ʿa-lā ar-ragh-mi min an-na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30</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إِضَافَةً إِلَى ذٰلِكَ</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addition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i-ḍā-fa-tan i-lā dhā-li-ka</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Reason and evidence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 جِهَةٍ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on one hand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 ji-ha-tin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 جِهَةٍ أُخْرَى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on the other hand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 ji-ha-tin ukh-rā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فِي رَأْيِي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my opinion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fī raʾ-yī</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عَلَى سَبِيلِ المِثَالِ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for example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ʿa-lā sa-bī-li al-mi-thā-li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نَتِيجَةً لِذٰلِكَ</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as a result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na-tī-ja-tan li-dhā-li-ka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بِهَدَفِ</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with the aim of</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bi-ha-da-fi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PART 1 · NEEDS AND MUST BE (WEBSITE RULES 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Needs a skill · must be a quality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يَحْتَاجُ إِلَى · يَجِبُ أَنْ يَكُونَ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9866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 / a man</a:t>
            </a:r>
            <a:endParaRPr lang="en-US" sz="1100" dirty="0"/>
          </a:p>
        </p:txBody>
      </p:sp>
      <p:sp>
        <p:nvSpPr>
          <p:cNvPr id="17" name="Text 14"/>
          <p:cNvSpPr txBox="1"/>
          <p:nvPr/>
        </p:nvSpPr>
        <p:spPr>
          <a:xfrm>
            <a:off x="339242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She / a woman</a:t>
            </a:r>
            <a:endParaRPr lang="en-US" sz="1100" dirty="0"/>
          </a:p>
        </p:txBody>
      </p:sp>
      <p:sp>
        <p:nvSpPr>
          <p:cNvPr id="18" name="Text 15"/>
          <p:cNvSpPr txBox="1"/>
          <p:nvPr/>
        </p:nvSpPr>
        <p:spPr>
          <a:xfrm>
            <a:off x="53035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Pattern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16952" y="2286000"/>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يَحْتَاجُ الطَّبِيبُ </a:t>
            </a:r>
            <a:pPr rtl="1" algn="ctr" indent="0" marL="0">
              <a:buNone/>
            </a:pPr>
            <a:r>
              <a:rPr lang="ar-SA" altLang="en-US" sz="2100" b="1" dirty="0">
                <a:solidFill>
                  <a:srgbClr val="0E7C86"/>
                </a:solidFill>
                <a:latin typeface="Amiri" pitchFamily="34" charset="0"/>
                <a:ea typeface="Amiri" pitchFamily="34" charset="-122"/>
                <a:cs typeface="Amiri" pitchFamily="34" charset="-120"/>
              </a:rPr>
              <a:t>إِلَى</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الصَّبْرِ.</a:t>
            </a:r>
            <a:endParaRPr lang="ar-SA" sz="2100" dirty="0"/>
          </a:p>
        </p:txBody>
      </p:sp>
      <p:sp>
        <p:nvSpPr>
          <p:cNvPr id="21" name="Text 18"/>
          <p:cNvSpPr txBox="1"/>
          <p:nvPr/>
        </p:nvSpPr>
        <p:spPr>
          <a:xfrm>
            <a:off x="7571232" y="2706624"/>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doctor needs patience.</a:t>
            </a:r>
            <a:endParaRPr lang="en-US" sz="950" dirty="0"/>
          </a:p>
        </p:txBody>
      </p:sp>
      <p:sp>
        <p:nvSpPr>
          <p:cNvPr id="22" name="Text 19"/>
          <p:cNvSpPr txBox="1"/>
          <p:nvPr/>
        </p:nvSpPr>
        <p:spPr>
          <a:xfrm>
            <a:off x="3410712" y="2286000"/>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تَحْتَاجُ المُهَنْدِسَةُ </a:t>
            </a:r>
            <a:pPr rtl="1" algn="ctr" indent="0" marL="0">
              <a:buNone/>
            </a:pPr>
            <a:r>
              <a:rPr lang="ar-SA" altLang="en-US" sz="2100" b="1" dirty="0">
                <a:solidFill>
                  <a:srgbClr val="0E7C86"/>
                </a:solidFill>
                <a:latin typeface="Amiri" pitchFamily="34" charset="0"/>
                <a:ea typeface="Amiri" pitchFamily="34" charset="-122"/>
                <a:cs typeface="Amiri" pitchFamily="34" charset="-120"/>
              </a:rPr>
              <a:t>إِلَى</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الدِّقَّةِ.</a:t>
            </a:r>
            <a:endParaRPr lang="ar-SA" sz="2100" dirty="0"/>
          </a:p>
        </p:txBody>
      </p:sp>
      <p:sp>
        <p:nvSpPr>
          <p:cNvPr id="23" name="Text 20"/>
          <p:cNvSpPr txBox="1"/>
          <p:nvPr/>
        </p:nvSpPr>
        <p:spPr>
          <a:xfrm>
            <a:off x="3364992" y="2706624"/>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engineer needs accuracy.</a:t>
            </a:r>
            <a:endParaRPr lang="en-US" sz="950" dirty="0"/>
          </a:p>
        </p:txBody>
      </p:sp>
      <p:sp>
        <p:nvSpPr>
          <p:cNvPr id="24" name="Text 21"/>
          <p:cNvSpPr txBox="1"/>
          <p:nvPr/>
        </p:nvSpPr>
        <p:spPr>
          <a:xfrm>
            <a:off x="56692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needs + ilā + noun</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7616952" y="3072384"/>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يَحْتَاجُ إِلَى </a:t>
            </a:r>
            <a:pPr rtl="1" algn="ctr" indent="0" marL="0">
              <a:buNone/>
            </a:pPr>
            <a:r>
              <a:rPr lang="ar-SA" altLang="en-US" sz="2100" b="1" dirty="0">
                <a:solidFill>
                  <a:srgbClr val="0E7C86"/>
                </a:solidFill>
                <a:latin typeface="Amiri" pitchFamily="34" charset="0"/>
                <a:ea typeface="Amiri" pitchFamily="34" charset="-122"/>
                <a:cs typeface="Amiri" pitchFamily="34" charset="-120"/>
              </a:rPr>
              <a:t>مَهَارَاتِ الحَاسُوبِ</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29" name="Text 26"/>
          <p:cNvSpPr txBox="1"/>
          <p:nvPr/>
        </p:nvSpPr>
        <p:spPr>
          <a:xfrm>
            <a:off x="7571232" y="3493008"/>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needs computer skills</a:t>
            </a:r>
            <a:endParaRPr lang="en-US" sz="950" dirty="0"/>
          </a:p>
        </p:txBody>
      </p:sp>
      <p:sp>
        <p:nvSpPr>
          <p:cNvPr id="30" name="Text 27"/>
          <p:cNvSpPr txBox="1"/>
          <p:nvPr/>
        </p:nvSpPr>
        <p:spPr>
          <a:xfrm>
            <a:off x="3410712" y="3072384"/>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تَحْتَاجُ إِلَى </a:t>
            </a:r>
            <a:pPr rtl="1" algn="ctr" indent="0" marL="0">
              <a:buNone/>
            </a:pPr>
            <a:r>
              <a:rPr lang="ar-SA" altLang="en-US" sz="2100" b="1" dirty="0">
                <a:solidFill>
                  <a:srgbClr val="0E7C86"/>
                </a:solidFill>
                <a:latin typeface="Amiri" pitchFamily="34" charset="0"/>
                <a:ea typeface="Amiri" pitchFamily="34" charset="-122"/>
                <a:cs typeface="Amiri" pitchFamily="34" charset="-120"/>
              </a:rPr>
              <a:t>العَمَلِ الجَمَاعِيِّ</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31" name="Text 28"/>
          <p:cNvSpPr txBox="1"/>
          <p:nvPr/>
        </p:nvSpPr>
        <p:spPr>
          <a:xfrm>
            <a:off x="3364992" y="3493008"/>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needs teamwork</a:t>
            </a:r>
            <a:endParaRPr lang="en-US" sz="950" dirty="0"/>
          </a:p>
        </p:txBody>
      </p:sp>
      <p:sp>
        <p:nvSpPr>
          <p:cNvPr id="32" name="Text 29"/>
          <p:cNvSpPr txBox="1"/>
          <p:nvPr/>
        </p:nvSpPr>
        <p:spPr>
          <a:xfrm>
            <a:off x="56692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skill noun</a:t>
            </a:r>
            <a:endParaRPr lang="en-US" sz="110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7616952" y="3858768"/>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يَجِبُ أَنْ </a:t>
            </a:r>
            <a:pPr rtl="1" algn="ctr" indent="0" marL="0">
              <a:buNone/>
            </a:pPr>
            <a:r>
              <a:rPr lang="ar-SA" altLang="en-US" sz="2100" b="1" dirty="0">
                <a:solidFill>
                  <a:srgbClr val="1D5FBF"/>
                </a:solidFill>
                <a:latin typeface="Amiri" pitchFamily="34" charset="0"/>
                <a:ea typeface="Amiri" pitchFamily="34" charset="-122"/>
                <a:cs typeface="Amiri" pitchFamily="34" charset="-120"/>
              </a:rPr>
              <a:t>يَكُونَ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المُدَرِّسُ </a:t>
            </a:r>
            <a:pPr rtl="1" algn="ctr" indent="0" marL="0">
              <a:buNone/>
            </a:pPr>
            <a:r>
              <a:rPr lang="ar-SA" altLang="en-US" sz="2100" b="1" dirty="0">
                <a:solidFill>
                  <a:srgbClr val="1D5FBF"/>
                </a:solidFill>
                <a:latin typeface="Amiri" pitchFamily="34" charset="0"/>
                <a:ea typeface="Amiri" pitchFamily="34" charset="-122"/>
                <a:cs typeface="Amiri" pitchFamily="34" charset="-120"/>
              </a:rPr>
              <a:t>صَبُورًا</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37" name="Text 34"/>
          <p:cNvSpPr txBox="1"/>
          <p:nvPr/>
        </p:nvSpPr>
        <p:spPr>
          <a:xfrm>
            <a:off x="7571232" y="4279392"/>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teacher must be patient.</a:t>
            </a:r>
            <a:endParaRPr lang="en-US" sz="950" dirty="0"/>
          </a:p>
        </p:txBody>
      </p:sp>
      <p:sp>
        <p:nvSpPr>
          <p:cNvPr id="38" name="Text 35"/>
          <p:cNvSpPr txBox="1"/>
          <p:nvPr/>
        </p:nvSpPr>
        <p:spPr>
          <a:xfrm>
            <a:off x="3410712" y="3858768"/>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يَجِبُ أَنْ </a:t>
            </a:r>
            <a:pPr rtl="1" algn="ctr" indent="0" marL="0">
              <a:buNone/>
            </a:pPr>
            <a:r>
              <a:rPr lang="ar-SA" altLang="en-US" sz="2100" b="1" dirty="0">
                <a:solidFill>
                  <a:srgbClr val="D6336C"/>
                </a:solidFill>
                <a:latin typeface="Amiri" pitchFamily="34" charset="0"/>
                <a:ea typeface="Amiri" pitchFamily="34" charset="-122"/>
                <a:cs typeface="Amiri" pitchFamily="34" charset="-120"/>
              </a:rPr>
              <a:t>تَكُونَ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المُمَرِّضَةُ </a:t>
            </a:r>
            <a:pPr rtl="1" algn="ctr" indent="0" marL="0">
              <a:buNone/>
            </a:pPr>
            <a:r>
              <a:rPr lang="ar-SA" altLang="en-US" sz="2100" b="1" dirty="0">
                <a:solidFill>
                  <a:srgbClr val="D6336C"/>
                </a:solidFill>
                <a:latin typeface="Amiri" pitchFamily="34" charset="0"/>
                <a:ea typeface="Amiri" pitchFamily="34" charset="-122"/>
                <a:cs typeface="Amiri" pitchFamily="34" charset="-120"/>
              </a:rPr>
              <a:t>هَادِئَةً</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39" name="Text 36"/>
          <p:cNvSpPr txBox="1"/>
          <p:nvPr/>
        </p:nvSpPr>
        <p:spPr>
          <a:xfrm>
            <a:off x="3364992" y="4279392"/>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nurse must be calm.</a:t>
            </a:r>
            <a:endParaRPr lang="en-US" sz="950" dirty="0"/>
          </a:p>
        </p:txBody>
      </p:sp>
      <p:sp>
        <p:nvSpPr>
          <p:cNvPr id="40" name="Text 37"/>
          <p:cNvSpPr txBox="1"/>
          <p:nvPr/>
        </p:nvSpPr>
        <p:spPr>
          <a:xfrm>
            <a:off x="56692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yakūna / takūna + -an</a:t>
            </a:r>
            <a:endParaRPr lang="en-US" sz="110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7616952" y="4645152"/>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يَجِبُ أَنْ يَكُونَ </a:t>
            </a:r>
            <a:pPr rtl="1" algn="ctr" indent="0" marL="0">
              <a:buNone/>
            </a:pPr>
            <a:r>
              <a:rPr lang="ar-SA" altLang="en-US" sz="2100" b="1" dirty="0">
                <a:solidFill>
                  <a:srgbClr val="1D5FBF"/>
                </a:solidFill>
                <a:latin typeface="Amiri" pitchFamily="34" charset="0"/>
                <a:ea typeface="Amiri" pitchFamily="34" charset="-122"/>
                <a:cs typeface="Amiri" pitchFamily="34" charset="-120"/>
              </a:rPr>
              <a:t>مَسْؤُولًا</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43" name="Text 40"/>
          <p:cNvSpPr txBox="1"/>
          <p:nvPr/>
        </p:nvSpPr>
        <p:spPr>
          <a:xfrm>
            <a:off x="7571232" y="5065776"/>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He must be responsible.</a:t>
            </a:r>
            <a:endParaRPr lang="en-US" sz="950" dirty="0"/>
          </a:p>
        </p:txBody>
      </p:sp>
      <p:sp>
        <p:nvSpPr>
          <p:cNvPr id="44" name="Text 41"/>
          <p:cNvSpPr txBox="1"/>
          <p:nvPr/>
        </p:nvSpPr>
        <p:spPr>
          <a:xfrm>
            <a:off x="3410712" y="4645152"/>
            <a:ext cx="40233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يَجِبُ أَنْ تَكُونَ </a:t>
            </a:r>
            <a:pPr rtl="1" algn="ctr" indent="0" marL="0">
              <a:buNone/>
            </a:pPr>
            <a:r>
              <a:rPr lang="ar-SA" altLang="en-US" sz="2100" b="1" dirty="0">
                <a:solidFill>
                  <a:srgbClr val="D6336C"/>
                </a:solidFill>
                <a:latin typeface="Amiri" pitchFamily="34" charset="0"/>
                <a:ea typeface="Amiri" pitchFamily="34" charset="-122"/>
                <a:cs typeface="Amiri" pitchFamily="34" charset="-120"/>
              </a:rPr>
              <a:t>مُنَظَّمَةً</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45" name="Text 42"/>
          <p:cNvSpPr txBox="1"/>
          <p:nvPr/>
        </p:nvSpPr>
        <p:spPr>
          <a:xfrm>
            <a:off x="3364992" y="5065776"/>
            <a:ext cx="41148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She must be organised.</a:t>
            </a:r>
            <a:endParaRPr lang="en-US" sz="950" dirty="0"/>
          </a:p>
        </p:txBody>
      </p:sp>
      <p:sp>
        <p:nvSpPr>
          <p:cNvPr id="46" name="Text 43"/>
          <p:cNvSpPr txBox="1"/>
          <p:nvPr/>
        </p:nvSpPr>
        <p:spPr>
          <a:xfrm>
            <a:off x="566928" y="4626864"/>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 · -atan</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After yakūna / takūna the adjective takes -an: ṣabūran, hādiʾatan (the same ending as yaʿmalu muḥāsiban in TD-L06).</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GRAMMAR FOCUS · PART 2 · CAN DO, AND THE EVIDENCE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Can do · and prove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يَسْتَطِيعُ أَنْ · لِأَنَّهُ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ABILITY · DEVELOP</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يَسْتَطِيعُ أَنْ يَـ…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34" charset="0"/>
                <a:ea typeface="Amiri" pitchFamily="34" charset="-122"/>
                <a:cs typeface="Amiri" pitchFamily="34" charset="-120"/>
              </a:rPr>
              <a:t>يَسْتَطِيعُ أَنْ يَحُلَّ المُشْكِلَاتِ.</a:t>
            </a:r>
            <a:endParaRPr lang="ar-SA" sz="28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He can solve problems.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an + present verb (-a).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SHE CAN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تَسْتَطِيعُ أَنْ تَـ…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34" charset="0"/>
                <a:ea typeface="Amiri" pitchFamily="34" charset="-122"/>
                <a:cs typeface="Amiri" pitchFamily="34" charset="-120"/>
              </a:rPr>
              <a:t>تَسْتَطِيعُ أَنْ تَعْمَلَ ضِمْنَ فَرِيقٍ.</a:t>
            </a:r>
            <a:endParaRPr lang="ar-SA" sz="27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She can work within a team.</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Both verbs agree: ta- … ta-.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EVIDENCE · CORE</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لِأَنَّهُ / لِأَنَّهَا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34" charset="0"/>
                <a:ea typeface="Amiri" pitchFamily="34" charset="-122"/>
                <a:cs typeface="Amiri" pitchFamily="34" charset="-120"/>
              </a:rPr>
              <a:t>هُوَ مَسْؤُولٌ لِأَنَّهُ يَحْتَرِمُ المَوَاعِيدَ.</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He is responsible because he respects deadlines.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Behaviour, not a label.</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After yaḥtāju, use ilā.</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34" charset="0"/>
                <a:ea typeface="Amiri" pitchFamily="34" charset="-122"/>
                <a:cs typeface="Amiri" pitchFamily="34" charset="-120"/>
              </a:rPr>
              <a:t>يَحْتَاجُ الطَّبِيبُ إِلَى الصَّبْرِ.</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B83227"/>
                </a:solidFill>
                <a:latin typeface="Amiri" pitchFamily="34" charset="0"/>
                <a:ea typeface="Amiri" pitchFamily="34" charset="-122"/>
                <a:cs typeface="Amiri" pitchFamily="34" charset="-120"/>
              </a:rPr>
              <a:t>يَحْتَاجُ الطَّبِيبُ الصَّبْرَ.</a:t>
            </a:r>
            <a:endParaRPr lang="ar-SA" sz="17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Requirement structures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34" charset="0"/>
                <a:ea typeface="Amiri" pitchFamily="34" charset="-122"/>
                <a:cs typeface="Amiri" pitchFamily="34" charset="-120"/>
              </a:rPr>
              <a:t>التَّعْبِيرُ عَنِ المَهَارَاتِ وَالمُتَطَلَّبَاتِ</a:t>
            </a:r>
            <a:endParaRPr lang="ar-SA" sz="27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Needs a skill</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يَحْتَاجُ إِلَى + مَصْدَرٍ / اسْمٍ</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يَحْتَاجُ الطَّبِيبُ إِلَى الصَّبْرِ.   ·   تَحْتَاجُ المُهَنْدِسَةُ إِلَى الدِّقَّةِ.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Must be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يَجِبُ أَنْ يَكُونَ / تَكُونَ + صِفَةً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يَجِبُ أَنْ يَكُونَ المُدَرِّسُ صَبُورًا.   ·   يَجِبُ أَنْ تَكُونَ المُمَرِّضَةُ هَادِئَةً.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Ability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يَسْتَطِيعُ أَنْ + مُضَارِع</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يَسْتَطِيعُ أَنْ يَحُلَّ المُشْكِلَاتِ.   ·   تَسْتَطِيعُ أَنْ تَعْمَلَ ضِمْنَ فَرِيقٍ.</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Evidence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لِأَنَّهُ / لِأَنَّهَا + فِعْلٌ</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هُوَ مَسْؤُولٌ لِأَنَّهُ يَحْتَرِمُ المَوَاعِيدَ.   ·   هِيَ مُتَعَاوِنَةٌ لِأَنَّهَا تُسَاعِدُ زُمَلَاءَهَا.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يَحْتَاجُ الطَّبِيبُ ___ الصَّبْرِ.</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يَجِبُ أَنْ ___ المُمَرِّضَةُ هَادِئَةً.</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تَكُونَ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يَكُونَ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أَكُونَ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يَجِبُ أَنْ يَكُونَ المُدَرِّسُ ___ .</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صَبْرًا</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صَبُورًا</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صَبُورَةً</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61" name="Text 58"/>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تَسْتَطِيعُ أَنْ ___ ضِمْنَ فَرِيقٍ.</a:t>
            </a:r>
            <a:endParaRPr lang="ar-SA" sz="150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تَعْمَلَ</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يَعْمَلَ</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تَعْمَلُونَ</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يَحْتَاجُ الطَّبِيبُ ___ الصَّبْرِ.</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فِي</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إِلَى</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yaḥtāju ilā = needs.</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يَجِبُ أَنْ ___ المُمَرِّضَةُ هَادِئَةً.</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تَكُونَ</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يَكُونَ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أَكُونَ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nurse (f.) → takūna.</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يَجِبُ أَنْ يَكُونَ المُدَرِّسُ ___ .</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صَبْرًا</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صَبُورًا</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صَبُورَةً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Masculine teacher + -an.</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67" name="Text 64"/>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تَسْتَطِيعُ أَنْ ___ ضِمْنَ فَرِيقٍ.</a:t>
            </a:r>
            <a:endParaRPr lang="ar-SA" sz="1500" dirty="0"/>
          </a:p>
        </p:txBody>
      </p:sp>
      <p:sp>
        <p:nvSpPr>
          <p:cNvPr id="68" name="Shape 65"/>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368796" y="4831080"/>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تَعْمَلَ</a:t>
            </a:r>
            <a:endParaRPr lang="ar-SA" sz="170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يَعْمَلَ</a:t>
            </a:r>
            <a:endParaRPr lang="ar-SA" sz="1700" dirty="0"/>
          </a:p>
        </p:txBody>
      </p:sp>
      <p:sp>
        <p:nvSpPr>
          <p:cNvPr id="75" name="Shape 72"/>
          <p:cNvSpPr/>
          <p:nvPr/>
        </p:nvSpPr>
        <p:spPr>
          <a:xfrm>
            <a:off x="6368796"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تَعْمَلُونَ</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can → an taʿmala.</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describe a good nurse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Needs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تَحْتَاجُ المُمَرِّضَةُ </a:t>
            </a:r>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إِلَى</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الصَّبْرِ وَالدِّقَّةِ.</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Skill nouns after ilā.</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Must be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34" charset="0"/>
                <a:ea typeface="Amiri" pitchFamily="34" charset="-122"/>
                <a:cs typeface="Amiri" pitchFamily="34" charset="-120"/>
              </a:rPr>
              <a:t>يَجِبُ أَنْ </a:t>
            </a:r>
            <a:pPr rtl="1" algn="ctr" indent="0" marL="0">
              <a:buNone/>
            </a:pPr>
            <a:r>
              <a:rPr lang="ar-SA" altLang="en-US" sz="2700" b="1" dirty="0">
                <a:solidFill>
                  <a:srgbClr val="D6336C"/>
                </a:solidFill>
                <a:latin typeface="Amiri" pitchFamily="34" charset="0"/>
                <a:ea typeface="Amiri" pitchFamily="34" charset="-122"/>
                <a:cs typeface="Amiri" pitchFamily="34" charset="-120"/>
              </a:rPr>
              <a:t>تَكُونَ</a:t>
            </a:r>
            <a:pPr rtl="1" algn="ctr" indent="0" marL="0">
              <a:buNone/>
            </a:pPr>
            <a:r>
              <a:rPr lang="ar-SA" altLang="en-US" sz="2700" b="1" dirty="0">
                <a:solidFill>
                  <a:srgbClr val="1B3B6F"/>
                </a:solidFill>
                <a:latin typeface="Amiri" pitchFamily="34" charset="0"/>
                <a:ea typeface="Amiri" pitchFamily="34" charset="-122"/>
                <a:cs typeface="Amiri" pitchFamily="34" charset="-120"/>
              </a:rPr>
              <a:t> </a:t>
            </a:r>
            <a:pPr rtl="1" algn="ctr" indent="0" marL="0">
              <a:buNone/>
            </a:pPr>
            <a:r>
              <a:rPr lang="ar-SA" altLang="en-US" sz="2700" b="1" dirty="0">
                <a:solidFill>
                  <a:srgbClr val="D6336C"/>
                </a:solidFill>
                <a:latin typeface="Amiri" pitchFamily="34" charset="0"/>
                <a:ea typeface="Amiri" pitchFamily="34" charset="-122"/>
                <a:cs typeface="Amiri" pitchFamily="34" charset="-120"/>
              </a:rPr>
              <a:t>هَادِئَةً</a:t>
            </a:r>
            <a:pPr rtl="1" algn="ctr" indent="0" marL="0">
              <a:buNone/>
            </a:pPr>
            <a:r>
              <a:rPr lang="ar-SA" altLang="en-US" sz="2700" b="1" dirty="0">
                <a:solidFill>
                  <a:srgbClr val="1B3B6F"/>
                </a:solidFill>
                <a:latin typeface="Amiri" pitchFamily="34" charset="0"/>
                <a:ea typeface="Amiri" pitchFamily="34" charset="-122"/>
                <a:cs typeface="Amiri" pitchFamily="34" charset="-120"/>
              </a:rPr>
              <a:t>.</a:t>
            </a:r>
            <a:endParaRPr lang="ar-SA" sz="27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She → takūna + -atan.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Can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تَسْتَطِيعُ أَنْ </a:t>
            </a:r>
            <a:pPr rtl="1" algn="ctr" indent="0" marL="0">
              <a:lnSpc>
                <a:spcPct val="120000"/>
              </a:lnSpc>
              <a:buNone/>
            </a:pPr>
            <a:r>
              <a:rPr lang="ar-SA" altLang="en-US" sz="2000" b="1" dirty="0">
                <a:solidFill>
                  <a:srgbClr val="1D5FBF"/>
                </a:solidFill>
                <a:latin typeface="Amiri" pitchFamily="34" charset="0"/>
                <a:ea typeface="Amiri" pitchFamily="34" charset="-122"/>
                <a:cs typeface="Amiri" pitchFamily="34" charset="-120"/>
              </a:rPr>
              <a:t>تَعْمَلَ</a:t>
            </a:r>
            <a:pPr rtl="1" algn="ct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 ضِمْنَ فَرِيقٍ.</a:t>
            </a:r>
            <a:endParaRPr lang="ar-SA" sz="20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an + verb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Proof</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مُمَرِّضَتِي مَسْؤُولَةٌ </a:t>
            </a:r>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لِأَنَّهَا</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تَحْتَرِمُ المَوَاعِيدَ.</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Quality + behaviour.</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NEEDS / PROOF</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MUST BE</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CAN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تَحْتَاجُ المُمَرِّضَةُ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إِلَى</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الصَّبْرِ وَالدِّقَّةِ، وَيَجِبُ أَنْ </a:t>
            </a:r>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تَكُونَ</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a:t>
            </a:r>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هَادِئَةً</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عِنْدَمَا يَكُونُ المَرِيضُ قَلِقًا. يَجِبُ أَيْضًا أَنْ </a:t>
            </a:r>
            <a:pPr rtl="1" algn="r" indent="0" marL="0">
              <a:lnSpc>
                <a:spcPct val="120000"/>
              </a:lnSpc>
              <a:buNone/>
            </a:pPr>
            <a:r>
              <a:rPr lang="ar-SA" altLang="en-US" sz="1400" b="1" dirty="0">
                <a:solidFill>
                  <a:srgbClr val="1D5FBF"/>
                </a:solidFill>
                <a:latin typeface="Amiri" pitchFamily="34" charset="0"/>
                <a:ea typeface="Amiri" pitchFamily="34" charset="-122"/>
                <a:cs typeface="Amiri" pitchFamily="34" charset="-120"/>
              </a:rPr>
              <a:t>تَسْتَطِيعَ</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العَمَلَ ضِمْنَ فَرِيقٍ لِأَنَّهَا تَعْمَلُ مَعَ الأَطِبَّاءِ. أَمَّا المُبَرْمِجُ فَيَحْتَاجُ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إِلَى</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التَّفْكِيرِ المَنْطِقِيِّ، وَيَجِبُ أَنْ </a:t>
            </a:r>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يَكُونَ</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a:t>
            </a:r>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مُنَظَّمًا</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خَالَتِي مُمَرِّضَةٌ مَسْؤُولَةٌ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لِأَنَّهَا</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تَحْتَرِمُ المَوَاعِيدَ وَتُسَاعِدُ زُمَلَاءَهَا.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 nurse needs patience and accuracy, and she must be calm when the patient is worried. She must also be able to work in a team because she works with doctors. As for a programmer, he needs logical thinking and he must be organised. My aunt is a responsible nurse because she respects appointments and helps her colleagues.</a:t>
            </a:r>
            <a:endParaRPr lang="en-US" sz="105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يَحْتَاجُ الطَّبِيبُ إِلَى الصَّبْرِ.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A doctor needs patience.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needs + ilā + skill noun.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يَجِبُ أَنْ يَكُونَ المُدَرِّسُ صَبُورًا.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A teacher must be patient.</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yakūna + adjective (-an).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تَسْتَطِيعُ أَنْ تَعْمَلَ ضِمْنَ فَرِيقٍ.</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She can work in a team.</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an + verb (-a).</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هِيَ مُتَعَاوِنَةٌ لِأَنَّهَا تُسَاعِدُ زُمَلَاءَهَا.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She is cooperative because she helps her colleagues.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Quality + behaviour.</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PICTURE MATCH · WEBSITE GAME “SKILL MATCH (TOPIC GAME)”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طَابِقِ الْمَهَارَةَ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teamwork</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Shape 23"/>
          <p:cNvSpPr/>
          <p:nvPr/>
        </p:nvSpPr>
        <p:spPr>
          <a:xfrm>
            <a:off x="558698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769864" y="2249424"/>
            <a:ext cx="649224" cy="649224"/>
          </a:xfrm>
          <a:prstGeom prst="rect">
            <a:avLst/>
          </a:prstGeom>
        </p:spPr>
      </p:pic>
      <p:sp>
        <p:nvSpPr>
          <p:cNvPr id="30" name="Text 24"/>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communication</a:t>
            </a:r>
            <a:endParaRPr lang="en-US" sz="1100" dirty="0"/>
          </a:p>
        </p:txBody>
      </p:sp>
      <p:sp>
        <p:nvSpPr>
          <p:cNvPr id="31" name="Shape 2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6"/>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8"/>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36" name="Shape 29"/>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38" name="Text 3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organised</a:t>
            </a:r>
            <a:endParaRPr lang="en-US" sz="1100" dirty="0"/>
          </a:p>
        </p:txBody>
      </p:sp>
      <p:sp>
        <p:nvSpPr>
          <p:cNvPr id="39" name="Shape 31"/>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2"/>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3"/>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4"/>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لَدَيَّ مَهَارَاتُ تَوَاصُلٍ جَيِّدَةٌ.</a:t>
            </a:r>
            <a:endParaRPr lang="ar-SA" sz="2000" dirty="0"/>
          </a:p>
        </p:txBody>
      </p:sp>
      <p:sp>
        <p:nvSpPr>
          <p:cNvPr id="43" name="Shape 35"/>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6"/>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7"/>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8"/>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مُنَظَّمٌ وَأَحْتَرِمُ الْمَوَاعِيدَ.</a:t>
            </a:r>
            <a:endParaRPr lang="ar-SA" sz="2000" dirty="0"/>
          </a:p>
        </p:txBody>
      </p:sp>
      <p:sp>
        <p:nvSpPr>
          <p:cNvPr id="47" name="Shape 39"/>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40"/>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1"/>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2"/>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مُتَعَاوِنٌ وَأُجِيدُ الْعَمَلَ ضِمْنَ فَرِيقٍ.</a:t>
            </a:r>
            <a:endParaRPr lang="ar-SA" sz="2000" dirty="0"/>
          </a:p>
        </p:txBody>
      </p:sp>
      <p:sp>
        <p:nvSpPr>
          <p:cNvPr id="51" name="Text 43"/>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4"/>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طَابِقِ الْمَهَارَةَ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teamwork</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أَنَا مُتَعَاوِنٌ وَأُجِيدُ الْعَمَلَ ضِمْنَ فَرِيقٍ.</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am cooperative and good at working in a team.</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Shape 28"/>
          <p:cNvSpPr/>
          <p:nvPr/>
        </p:nvSpPr>
        <p:spPr>
          <a:xfrm>
            <a:off x="558698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769864" y="2249424"/>
            <a:ext cx="649224" cy="649224"/>
          </a:xfrm>
          <a:prstGeom prst="rect">
            <a:avLst/>
          </a:prstGeom>
        </p:spPr>
      </p:pic>
      <p:sp>
        <p:nvSpPr>
          <p:cNvPr id="35" name="Text 29"/>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communication</a:t>
            </a:r>
            <a:endParaRPr lang="en-US" sz="1100" dirty="0"/>
          </a:p>
        </p:txBody>
      </p:sp>
      <p:sp>
        <p:nvSpPr>
          <p:cNvPr id="36" name="Shape 30"/>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1"/>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2"/>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9" name="Text 33"/>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لَدَيَّ مَهَارَاتُ تَوَاصُلٍ جَيِّدَةٌ.</a:t>
            </a:r>
            <a:endParaRPr lang="ar-SA" sz="2200" dirty="0"/>
          </a:p>
        </p:txBody>
      </p:sp>
      <p:sp>
        <p:nvSpPr>
          <p:cNvPr id="40" name="Text 34"/>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have good communication skills.</a:t>
            </a:r>
            <a:endParaRPr lang="en-US" sz="1200" dirty="0"/>
          </a:p>
        </p:txBody>
      </p:sp>
      <p:sp>
        <p:nvSpPr>
          <p:cNvPr id="41" name="Shape 3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6"/>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8"/>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46" name="Shape 39"/>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48" name="Text 4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organised</a:t>
            </a:r>
            <a:endParaRPr lang="en-US" sz="1100" dirty="0"/>
          </a:p>
        </p:txBody>
      </p:sp>
      <p:sp>
        <p:nvSpPr>
          <p:cNvPr id="49" name="Shape 41"/>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2"/>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3"/>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2" name="Text 44"/>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أَنَا مُنَظَّمٌ وَأَحْتَرِمُ الْمَوَاعِيدَ.</a:t>
            </a:r>
            <a:endParaRPr lang="ar-SA" sz="2200" dirty="0"/>
          </a:p>
        </p:txBody>
      </p:sp>
      <p:sp>
        <p:nvSpPr>
          <p:cNvPr id="53" name="Text 45"/>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am organised and punctual.</a:t>
            </a:r>
            <a:endParaRPr lang="en-US" sz="1200" dirty="0"/>
          </a:p>
        </p:txBody>
      </p:sp>
      <p:sp>
        <p:nvSpPr>
          <p:cNvPr id="54"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ea typeface="Calibri" pitchFamily="34" charset="-122"/>
                <a:cs typeface="Calibri" pitchFamily="34" charset="-120"/>
              </a:rPr>
              <a:t>WE DO · PICTURE MATCH · WEBSITE GAME “VISUAL GAME — SKILLS AND QUALITIES — WHAT MAKES A GOOD WORKER?”</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ea typeface="Cambria" pitchFamily="34" charset="-122"/>
                <a:cs typeface="Cambria" pitchFamily="34" charset="-120"/>
              </a:rPr>
              <a:t>What is he / she good at? Match the picture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مَهَارَاتُ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teamwork</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solving problems</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organised · on time</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هُوَ جَيِّدٌ فِي حَلِّ المُشْكِلَاتِ.</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هِيَ مُنَظَّمَةٌ وَتَحْتَرِمُ الوَقْتَ.</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هُوَ جَيِّدٌ فِي العَمَلِ الجَمَاعِيِّ.</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مَهَارَاتُ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teamwork</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هُوَ جَيِّدٌ فِي العَمَلِ الجَمَاعِيِّ.</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He is good at teamwork.</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solving problems</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هُوَ جَيِّدٌ فِي حَلِّ المُشْكِلَاتِ.</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He is good at problem solving.</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organised · on time</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هِيَ مُنَظَّمَةٌ وَتَحْتَرِمُ الوَقْتَ.</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She is organised and respects time.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Skill or quality?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حَلُّ المُشْكِلَاتِ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إِدَارَةُ الوَقْتِ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الدِّقَّةُ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العَمَلُ الجَمَاعِيُّ</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مَسْؤُولٌ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مُنَظَّمَةٌ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صَبُورٌ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مُتَعَاوِنَةٌ</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طَمُوحٌ</a:t>
            </a:r>
            <a:endParaRPr lang="ar-SA" sz="1800" dirty="0"/>
          </a:p>
        </p:txBody>
      </p:sp>
      <p:sp>
        <p:nvSpPr>
          <p:cNvPr id="33" name="Shape 30"/>
          <p:cNvSpPr/>
          <p:nvPr/>
        </p:nvSpPr>
        <p:spPr>
          <a:xfrm>
            <a:off x="6185916" y="3529584"/>
            <a:ext cx="5545836"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6323076" y="3639312"/>
            <a:ext cx="5271516"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6323076"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Skill (noun)</a:t>
            </a:r>
            <a:endParaRPr lang="en-US" sz="950" dirty="0"/>
          </a:p>
        </p:txBody>
      </p:sp>
      <p:sp>
        <p:nvSpPr>
          <p:cNvPr id="36" name="Shape 33"/>
          <p:cNvSpPr/>
          <p:nvPr/>
        </p:nvSpPr>
        <p:spPr>
          <a:xfrm>
            <a:off x="457200" y="3529584"/>
            <a:ext cx="5545836"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594360" y="3639312"/>
            <a:ext cx="5271516"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594360"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Quality (adjective)</a:t>
            </a:r>
            <a:endParaRPr lang="en-US" sz="9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Skill (noun)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حَلُّ المُشْكِلَاتِ</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إِدَارَةُ الوَقْتِ</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الدِّقَّةُ</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العَمَلُ الجَمَاعِيُّ</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Quality (adjective)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مَسْؤُولٌ</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مُنَظَّمَةٌ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صَبُورٌ</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مُتَعَاوِنَةٌ</a:t>
            </a:r>
            <a:endParaRPr lang="ar-SA" sz="1800" dirty="0"/>
          </a:p>
        </p:txBody>
      </p:sp>
      <p:sp>
        <p:nvSpPr>
          <p:cNvPr id="37" name="Shape 34"/>
          <p:cNvSpPr/>
          <p:nvPr/>
        </p:nvSpPr>
        <p:spPr>
          <a:xfrm>
            <a:off x="594360" y="4425696"/>
            <a:ext cx="5271516" cy="438912"/>
          </a:xfrm>
          <a:prstGeom prst="roundRect">
            <a:avLst>
              <a:gd name="adj" fmla="val 12500"/>
            </a:avLst>
          </a:prstGeom>
          <a:solidFill>
            <a:srgbClr val="FFF4DC"/>
          </a:solidFill>
          <a:ln w="9525">
            <a:solidFill>
              <a:srgbClr val="E6C98A"/>
            </a:solidFill>
            <a:prstDash val="solid"/>
          </a:ln>
        </p:spPr>
      </p:sp>
      <p:sp>
        <p:nvSpPr>
          <p:cNvPr id="38" name="Text 35"/>
          <p:cNvSpPr txBox="1"/>
          <p:nvPr/>
        </p:nvSpPr>
        <p:spPr>
          <a:xfrm>
            <a:off x="685800" y="4425696"/>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طَمُوحٌ</a:t>
            </a:r>
            <a:endParaRPr lang="ar-SA" sz="18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is a SKILL (a noun)?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مُنَظَّمٌ</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صَبُورٌ</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حَلُّ المُشْكِلَاتِ</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gives evidence for a quality?</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 مَسْؤُولٌ جِدًّا.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 مَسْؤُولٌ لِأَنَّهُ يَحْتَرِمُ المَوَاعِيدَ.</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 مَسْؤُولٌ وَمُنَظَّمٌ.</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إِدَارَةُ الوَقْتِ</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teamwork</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time management</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leadership</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of </a:t>
            </a:r>
            <a:pPr algn="l" indent="0" marL="0">
              <a:buNone/>
            </a:pPr>
            <a:r>
              <a:rPr lang="ar-SA" altLang="en-US" sz="1650" b="1" dirty="0">
                <a:solidFill>
                  <a:srgbClr val="1B3B6F"/>
                </a:solidFill>
                <a:latin typeface="Amiri" pitchFamily="34" charset="0"/>
                <a:ea typeface="Amiri" pitchFamily="34" charset="-122"/>
                <a:cs typeface="Amiri" pitchFamily="34" charset="-120"/>
              </a:rPr>
              <a:t>أَمِينٌ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أُمَنَاءُ</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أَمَانَةٌ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أَمِينَةٌ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is a SKILL (a noun)?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مُنَظَّمٌ</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صَبُورٌ</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حَلُّ المُشْكِلَاتِ</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ḥall = solving (a noun).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gives evidence for a quality?</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هُوَ مَسْؤُولٌ جِدًّا.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هُوَ مَسْؤُولٌ لِأَنَّهُ يَحْتَرِمُ المَوَاعِيدَ.</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هُوَ مَسْؤُولٌ وَمُنَظَّمٌ.</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Quality + behaviour.</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إِدَارَةُ الوَقْتِ</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teamwork</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time management</a:t>
            </a:r>
            <a:endParaRPr lang="en-US" sz="125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leadership</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idāra = managing; waqt = time.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of </a:t>
            </a:r>
            <a:pPr algn="l" indent="0" marL="0">
              <a:buNone/>
            </a:pPr>
            <a:r>
              <a:rPr lang="ar-SA" altLang="en-US" sz="1650" b="1" dirty="0">
                <a:solidFill>
                  <a:srgbClr val="1B3B6F"/>
                </a:solidFill>
                <a:latin typeface="Amiri" pitchFamily="34" charset="0"/>
                <a:ea typeface="Amiri" pitchFamily="34" charset="-122"/>
                <a:cs typeface="Amiri" pitchFamily="34" charset="-120"/>
              </a:rPr>
              <a:t>أَمِينٌ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أُمَنَاءُ</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أَمَانَةٌ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أَمِينَةٌ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amīnatun (f.) · umanāʾ (pl.) · amāna = honesty.</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يَجِبُ أَنْ يَكُونَ المُدَرِّسُ صَبُورٌ.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After yakūna: -un or -an?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يَجِبُ أَنْ يَكُونَ المُمَرِّضَةُ هَادِئَةً.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The nurse is a woman: yakūna or takūna?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تَسْتَطِيعُ أَنْ يَعْمَلَ ضِمْنَ فَرِيقٍ.</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She can …: ya- or ta-?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يَجِبُ أَنْ يَكُونَ المُدَرِّسُ صَبُورٌ.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يَجِبُ أَنْ يَكُونَ المُدَرِّسُ صَبُورًا.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After yakūna the adjective takes -an.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يَجِبُ أَنْ يَكُونَ المُمَرِّضَةُ هَادِئَةً.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يَجِبُ أَنْ تَكُونَ المُمَرِّضَةُ هَادِئَةً.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nurse is a woman → takūna.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تَسْتَطِيعُ أَنْ يَعْمَلَ ضِمْنَ فَرِيقٍ.</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تَسْتَطِيعُ أَنْ تَعْمَلَ ضِمْنَ فَرِيقٍ.</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Both verbs agree with “she”.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makes a strong candidate?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job is advertised?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customer service (female employee)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nurse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programmer</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qualities are needed?</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calm and creative</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ambitious and honest</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confident and patient</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she be able to do quickly?</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write reports</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speak to the manager</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solve problems</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Is experience essential?</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 useful but not essential</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 always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not mentioned</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not?</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job is easy</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company provides training</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salary is low</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an extra advantage?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speaking two languages well</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driving licence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university degree</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Listen for: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خِدْمَةِ العُمَلَاءِ</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وَاثِقَةً</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الخِبْرَةُ</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تَبْحَثُ شَرِكَةٌ عَنْ مُوَظَّفَةٍ لِخِدْمَةِ العُمَلَاءِ.</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company is looking for a (female) customer-service employee.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يَجِبُ أَنْ تَكُونَ وَاثِقَةً وَصَبُورَةً،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She must be confident and patient,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وَأَنْ تَسْتَطِيعَ حَلَّ المُشْكِلَاتِ بِسُرْعَةٍ.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and able to solve problems quickly.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الخِبْرَةُ مُفِيدَةٌ، لٰكِنَّهَا لَيْسَتْ ضَرُورِيَّةً لِأَنَّ الشَّرِكَةَ تُقَدِّمُ تَدْرِيبًا.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Experience is useful but not essential, because the company provides training.</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كَمَا أَنَّ إِجَادَةَ لُغَتَيْنِ تُعَدُّ مِيزَةً مُهِمَّةً.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Also, speaking two languages well is an important advantage.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job is advertised?</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customer service (female employee)</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nurse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programmer</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مُوَظَّفَةٍ لِخِدْمَةِ العُمَلَاءِ</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qualities are needed?</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calm and creative</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ambitious and honest</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confident and patient</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وَاثِقَةً وَصَبُورَةً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she be able to do quickly?</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write reports</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speak to the manager</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solve problems</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حَلَّ المُشْكِلَاتِ بِسُرْعَةٍ</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Is experience essential?</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no — useful but not essential</a:t>
            </a:r>
            <a:endParaRPr lang="en-US" sz="11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yes, always</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not mentioned</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لَيْسَتْ ضَرُورِيَّةً</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not?</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job is easy</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company provides training</a:t>
            </a:r>
            <a:endParaRPr lang="en-US" sz="11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salary is low</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الشَّرِكَةَ تُقَدِّمُ تَدْرِيبًا</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an extra advantage?</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speaking two languages well</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driving licence</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university degree</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إِجَادَةَ لُغَتَيْنِ</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Listen for: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خِدْمَةِ العُمَلَاءِ</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وَاثِقَةً</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الخِبْرَةُ</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TOPIC D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Candidate skills match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TOPIC D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ea typeface="Calibri" pitchFamily="34" charset="-122"/>
                <a:cs typeface="Calibri" pitchFamily="34" charset="-120"/>
              </a:rPr>
              <a:t>⭐  Candidate skills match</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Match personal qualities and professional skills to different jobs. Every match must be justified with evidence from a short candidate profile.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Read three short candidate profiles (in the notes).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Match each candidate to one of three jobs.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Justify each match with evidence from the profile (li-annahu / li-annahā …).</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Vote: which match has the strongest evidence?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Match the cards; one reason: “li-annahu munaẓẓam”.</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Three matches, each with evidence and adjective agreement.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Matches with a relative clause and a counter-point (lākinnahu yaḥtāju ilā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هُوَ / هِيَ مُنَاسِبٌ / مُنَاسِبَةٌ لِـ…</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he / she is suitable for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لِأَنَّهُ / لِأَنَّهَا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because he / she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الدَّلِيلُ عَلَى ذٰلِكَ 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the evidence is that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يَحْتَاجُ إِلَى تَطْوِيرِ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he needs to develop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makes a good worker?</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المَهَارَاتُ الَّتِي يَحْتَاجُ إِلَيْهَا الطَّبِيبُ؟</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أَهَمُّ صِفَةٍ فِيكَ؟</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كَيْفَ يَجِبُ أَنْ يَكُونَ المُدَرِّسُ الجَيِّدُ؟</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المَهَارَاتُ الَّتِي تَشْتَرِكُ فِيهَا كُلُّ المِهَنِ؟</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يَحْتَاجُ الطَّبِيبُ إِلَى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أَنَا ___ لِأَنَّنِي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يَجِبُ أَنْ يَكُونَ ___ وَ ___ .</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كُلُّ المِهَنِ تَحْتَاجُ إِلَى ___ لِأَنَّ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 المَهَارَاتُ الَّتِي يَحْتَاجُ إِلَيْهَا المُدَرِّسُ؟</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What skills does a teacher need?</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يَحْتَاجُ إِلَى التَّوَاصُلِ، وَيَجِبُ أَنْ يَكُونَ صَبُورًا وَمُنَظَّمًا.</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He needs communication, and he must be patient and organised.</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One job: two skills (يَحْتَاجُ إِلَى), one quality, and one quality of yours with evidence.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Two jobs: needs, must be (-an) and can do, with evidence for each quality.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task: two contrasting careers, shared skills, and which suits you and why.</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يَجِبُ أَنْ تَكُونَ المُمَرِّضَةُ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 nurse must be calm.</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يَسْتَطِيعُ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He can solve problems.</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أَمَّا المُبَرْمِجُ فَيَحْتَاجُ إِلَى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As for a programmer, he needs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تَحْتَاجُ المِهْنَتَانِ إِلَى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Both jobs need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يَحْتَاجُ الـ ______ إِلَى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 … needs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and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يَجِبُ أَنْ يَكُونَ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He must be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أَنَا ______ لِأَنَّنِي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am … because I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يَحْتَاجُ إِلَى  ·  يَجِبُ أَنْ يَكُونَ  ·  تَكُونَ  ·  يَسْتَطِيعُ أَنْ  ·  الصَّبْرِ  ·  الدِّقَّةِ  ·  حَلِّ المُشْكِلَاتِ  ·  صَبُورًا  ·  مُنَظَّمَةً  ·  مَسْؤُولٌ  ·  لِأَنَّهُ  ·  عَلَى سَبِيلِ المِثَالِ</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Explain the qualities and skills needed for two contrasting careers.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Address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at least two target structures from the grammar lesson.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Add evidence, reason 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Check agreement, verb patterns and spelling.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تَخْتَلِفُ المَهَارَاتُ مِنْ مِهْنَةٍ إِلَى أُخْرَى</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skills differ from one job to another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قُدْرَةٌ عَلَى الاِسْتِمَاعِ</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 ability to listen</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بِطُرُقٍ مُخْتَلِفَةٍ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in different ways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تَشْتَرِكُ المِهَنُ فِي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 jobs share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أَمِيلُ إِلَى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 am drawn to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تَخْتَلِفُ المَهَارَاتُ المَطْلُوبَةُ مِنْ مِهْنَةٍ إِلَى أُخْرَى. تَحْتَاجُ المُمَرِّضَةُ إِلَى الصَّبْرِ وَالدِّقَّةِ، وَيَجِبُ أَنْ تَكُونَ هَادِئَةً عِنْدَمَا يَكُونُ المَرِيضُ قَلِقًا. كَمَا يَجِبُ أَنْ تَسْتَطِيعَ العَمَلَ ضِمْنَ فَرِيقٍ لِأَنَّهَا تَعْمَلُ مَعَ الأَطِبَّاءِ. أَمَّا المُبَرْمِجُ فَيَحْتَاجُ إِلَى التَّفْكِيرِ المَنْطِقِيِّ وَمَهَارَاتِ الحَاسُوبِ، وَيَجِبُ أَنْ يَكُونَ مُنَظَّمًا وَصَبُورًا عِنْدَ حَلِّ الأَخْطَاءِ. عَلَى الرَّغْمِ مِنْ أَنَّ المِهْنَتَيْنِ مُخْتَلِفَتَانِ، فَإِنَّهُمَا تَحْتَاجَانِ إِلَى التَّوَاصُلِ وَالمَسْؤُولِيَّةِ. أَنَا أَمِيلُ إِلَى البَرْمَجَةِ لِأَنَّنِي أَسْتَطِيعُ أَنْ أُرَكِّزَ طَوِيلًا وَأُحِبُّ حَلَّ المُشْكِلَاتِ.</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The skills needed differ from one job to another. A nurse needs patience and accuracy, and she must be calm when a patient is worried. She must also be able to work in a team because she works with doctors. As for a programmer, he needs logical thinking and computer skills, and he must be organised and patient when fixing errors. Although the two jobs are different, they both need communication and responsibility. I am drawn to programming because I can concentrate for a long time and I love solving problems.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yaḥtāju ilā + skill</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yakūna / takūna + -an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yastaṭīʿu an + verb</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quality with evidence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yaḥtāju ilā + a skill.</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qualities agree (m. / f.).</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After yakūna / takūna: -an.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Every quality has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named the skills two jobs share.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تَحْتَاجُ المُهَنْدِسَةُ إِلَى</a:t>
            </a:r>
            <a:pPr algn="l" indent="0" marL="0">
              <a:buNone/>
            </a:pPr>
            <a:r>
              <a:rPr lang="en-US" sz="1250" b="1" dirty="0">
                <a:solidFill>
                  <a:srgbClr val="1B3B6F"/>
                </a:solidFill>
                <a:latin typeface="Calibri" pitchFamily="34" charset="0"/>
                <a:ea typeface="Calibri" pitchFamily="34" charset="-122"/>
                <a:cs typeface="Calibri" pitchFamily="34" charset="-120"/>
              </a:rPr>
              <a:t> ___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الدِّقَّةِ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دَقِيقَةٌ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دَقِيقًا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a quality (adjective)?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العَمَلُ الجَمَاعِيُّ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مُتَعَاوِنٌ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إِدَارَةُ الوَقْتِ</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يَسْتَطِيعُ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المُشْكِلَاتِ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تَحُلَّ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حَلَّ</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تَحْتَاجُ المُهَنْدِسَةُ إِلَى</a:t>
            </a:r>
            <a:pPr algn="l" indent="0" marL="0">
              <a:buNone/>
            </a:pPr>
            <a:r>
              <a:rPr lang="en-US" sz="1250" b="1" dirty="0">
                <a:solidFill>
                  <a:srgbClr val="1B3B6F"/>
                </a:solidFill>
                <a:latin typeface="Calibri" pitchFamily="34" charset="0"/>
                <a:ea typeface="Calibri" pitchFamily="34" charset="-122"/>
                <a:cs typeface="Calibri" pitchFamily="34" charset="-120"/>
              </a:rPr>
              <a:t> ___ .</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الدِّقَّةِ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دَقِيقَةٌ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دَقِيقًا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skill noun after ilā.</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a quality (adjective)?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العَمَلُ الجَمَاعِيُّ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مُتَعَاوِنٌ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إِدَارَةُ الوَقْتِ</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mutaʿāwin = cooperative.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يَسْتَطِيعُ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المُشْكِلَاتِ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يَحُلَّ</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تَحُلَّ</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حَلَّ</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can → an yaḥulla.</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Skills for three careers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تَخْتَلِفُ المَهَارَاتُ المَطْلُوبَةُ مِنْ مِهْنَةٍ إِلَى أُخْرَى. فَالطَّبِيبُ يَحْتَاجُ إِلَى مَعْرِفَةٍ عِلْمِيَّةٍ وَقُدْرَةٍ عَلَى الاِسْتِمَاعِ لِلْمَرْضَى. أَمَّا المُبَرْمِجُ فَيَحْتَاجُ إِلَى التَّفْكِيرِ المَنْطِقِيِّ وَالصَّبْرِ عِنْدَ حَلِّ الأَخْطَاءِ. وَيَجِبُ أَنْ يَكُونَ المُدَرِّسُ مُنَظَّمًا وَقَادِرًا عَلَى شَرْحِ الأَفْكَارِ بِطُرُقٍ مُخْتَلِفَةٍ. وَمَعَ ذٰلِكَ، تَشْتَرِكُ المِهَنُ الثَّلَاثُ فِي أَهَمِّيَّةِ التَّوَاصُلِ وَالمَسْؤُولِيَّةِ.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تَخْتَلِفُ</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differ</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المَطْلُوبَةُ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required</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مَعْرِفَةٍ عِلْمِيَّةٍ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scientific knowledge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قُدْرَةٍ عَلَى</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ability to</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لِلْمَرْضَى</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to patients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التَّفْكِيرِ المَنْطِقِيِّ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logical thinking</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حَلِّ الأَخْطَاءِ</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fixing errors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قَادِرًا عَلَى</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able to</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شَرْحِ الأَفْكَارِ</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explaining ideas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تَشْتَرِكُ</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share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knowledge does a doctor need?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computer skills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scientific knowledge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business knowledge</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a doctor be able to do with patients?</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teach them</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phone them</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listen to them</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kind of thinking does a programmer need?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logical thinking</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creative writing</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quick speaking</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does a programmer need patience?</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when meeting clients</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when fixing errors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when travelling</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a teacher be able to do?</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explain ideas in different ways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repair computers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work at night</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things do all three jobs share?</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salary and hours</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travel and leadership</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communication and responsibility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knowledge does a doctor need?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computer skills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scientific knowledge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business knowledge</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مَعْرِفَةٍ عِلْمِيَّةٍ</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a doctor be able to do with patients?</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teach them</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phone them</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listen to them</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قُدْرَةٍ عَلَى الاِسْتِمَاعِ لِلْمَرْضَى</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kind of thinking does a programmer need?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logical thinking</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creative writing</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quick speaking</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التَّفْكِيرِ المَنْطِقِيِّ</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does a programmer need patience?</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when meeting clients</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when fixing errors</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when travelling</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عِنْدَ حَلِّ الأَخْطَاءِ</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a teacher be able to do?</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explain ideas in different ways</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repair computers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work at night</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شَرْحِ الأَفْكَارِ بِطُرُقٍ مُخْتَلِفَةٍ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things do all three jobs share?</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salary and hours</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travel and leadership</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communication and responsibility</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التَّوَاصُلِ وَالمَسْؤُولِيَّةِ</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TD-L08 ·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TD-L09: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TD-L09 · Applications and Interviews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سِيرَةٌ ذَاتِيَّةٌ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CV</a:t>
            </a:r>
            <a:pPr indent="0" marL="0">
              <a:buNone/>
            </a:pPr>
            <a:r>
              <a:rPr lang="en-US" sz="1000" i="1" dirty="0">
                <a:solidFill>
                  <a:srgbClr val="5A6472"/>
                </a:solidFill>
                <a:latin typeface="Calibri" pitchFamily="34" charset="0"/>
                <a:ea typeface="Calibri" pitchFamily="34" charset="-122"/>
                <a:cs typeface="Calibri" pitchFamily="34" charset="-120"/>
              </a:rPr>
              <a:t>  pl. سِيَرٌ ذَاتِيَّةٌ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رِسَالَةُ تَغْطِيَةٍ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cover letter</a:t>
            </a:r>
            <a:pPr indent="0" marL="0">
              <a:buNone/>
            </a:pPr>
            <a:r>
              <a:rPr lang="en-US" sz="1000" i="1" dirty="0">
                <a:solidFill>
                  <a:srgbClr val="5A6472"/>
                </a:solidFill>
                <a:latin typeface="Calibri" pitchFamily="34" charset="0"/>
                <a:ea typeface="Calibri" pitchFamily="34" charset="-122"/>
                <a:cs typeface="Calibri" pitchFamily="34" charset="-120"/>
              </a:rPr>
              <a:t>  pl. رَسَائِلُ</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مُقَابَلَةٌ شَخْصِيَّةٌ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an interview</a:t>
            </a:r>
            <a:pPr indent="0" marL="0">
              <a:buNone/>
            </a:pPr>
            <a:r>
              <a:rPr lang="en-US" sz="1000" i="1" dirty="0">
                <a:solidFill>
                  <a:srgbClr val="5A6472"/>
                </a:solidFill>
                <a:latin typeface="Calibri" pitchFamily="34" charset="0"/>
                <a:ea typeface="Calibri" pitchFamily="34" charset="-122"/>
                <a:cs typeface="Calibri" pitchFamily="34" charset="-120"/>
              </a:rPr>
              <a:t>  pl. مُقَابَلَاتٌ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إِعْلَانُ وَظِيفَةٍ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job advert</a:t>
            </a:r>
            <a:pPr indent="0" marL="0">
              <a:buNone/>
            </a:pPr>
            <a:r>
              <a:rPr lang="en-US" sz="1000" i="1" dirty="0">
                <a:solidFill>
                  <a:srgbClr val="5A6472"/>
                </a:solidFill>
                <a:latin typeface="Calibri" pitchFamily="34" charset="0"/>
                <a:ea typeface="Calibri" pitchFamily="34" charset="-122"/>
                <a:cs typeface="Calibri" pitchFamily="34" charset="-120"/>
              </a:rPr>
              <a:t>  pl. إِعْلَانَاتٌ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نُقْطَةُ ضَعْفٍ</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weakness</a:t>
            </a:r>
            <a:pPr indent="0" marL="0">
              <a:buNone/>
            </a:pPr>
            <a:r>
              <a:rPr lang="en-US" sz="1000" i="1" dirty="0">
                <a:solidFill>
                  <a:srgbClr val="5A6472"/>
                </a:solidFill>
                <a:latin typeface="Calibri" pitchFamily="34" charset="0"/>
                <a:ea typeface="Calibri" pitchFamily="34" charset="-122"/>
                <a:cs typeface="Calibri" pitchFamily="34" charset="-120"/>
              </a:rPr>
              <a:t>  pl. نِقَاطُ ضَعْفٍ</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What is your biggest strength for a job? Write one sentence with evidence.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نُقْطَةُ قُوَّتِي هِيَ … لِأَنَّنِي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Learn 6 skills and 6 qualities (m. / f.); write 5 sentences from the frames.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Two jobs in 80–100 words: needs, must be, can do, with evidence.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writing task: two contrasting careers and shared skills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TD-L08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TD-L09 · Applications and Interviews</a:t>
            </a:r>
            <a:endParaRPr lang="en-US" sz="2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طَلَبَاتُ التَّوْظِيفِ وَالمُقَابَلَاتُ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learn the 5 words for TD-L09.</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TD-L08 · Personal Qualities and Professional Skills</dc:title>
  <dc:subject>PptxGenJS Presentation</dc:subject>
  <dc:creator>Al Madina Online School · Arabic Department</dc:creator>
  <cp:lastModifiedBy>Al Madina Online School · Arabic Department</cp:lastModifiedBy>
  <cp:revision>1</cp:revision>
  <dcterms:created xsi:type="dcterms:W3CDTF">2026-10-11T04:19:02Z</dcterms:created>
  <dcterms:modified xsi:type="dcterms:W3CDTF">2026-10-11T04:19:02Z</dcterms:modified>
</cp:coreProperties>
</file>