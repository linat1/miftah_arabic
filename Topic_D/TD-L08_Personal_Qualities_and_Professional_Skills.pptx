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TD-L08 — Personal Qualities and Professional Skills. Website: Advanced Topics › Topic D (The World of Work) › Lesson 8.
The website builds this lesson on the D3-L03 lesson engine, with the Topic focus “Match strengths and qualities to roles and support judgements with evidence.” (grammar: Adjective agreement; relative clauses; لأنّ; skills: Speaking · Writing) and the application challenge “Candidate skills match”.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TD-L08. The website lesson “Skills and Qualities — What Makes a Good Worker?”: vocabulary, grammar rules and quiz, patterns, common mistakes, sorter, listening, reading, speaking prompts and model, writing task and model, differentiation, final check and the lesson mission. Picture match: website visual game “Skills and Qualities — What Makes a Good Worker?”.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skills + 6 qualities (m. / f.) and “A doctor needs patience” (يَحْتَاجُ الطَّبِيبُ إِلَى الصَّبْرِ) + one quality with evidence. Develop: يَجِبُ أَنْ يَكُونَ … (adjective in -an) and يَسْتَطِيعُ أَنْ …. Stretch: two contrasting careers, shared skills, evidence for every quality.
• The earlier work personality adjectives return as WORKER qualities (صَبُورٌ، مُتَعَاوِنٌ، مُجْتَهِدٌ) — students already know the m. / f. habit.
• Grammar link: يَجِبُ أَنْ + verb (-a) is from F4-L06 (website) / F5-L10 (website); NEW is يَكُونَ + adjective in -an (صَبُورًا / هَادِئَةً).
• Urdu bridge: مہارت، تجربہ (≠ خِبْرَةٌ by sound), قیادت، ذمہ دار.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TD-L07. Questions 3–4 retrieve TD-L07; question 5 retrieves D2-L01 (website) (quality +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NEEDS a skill; a worker MUST BE a quality — and you prove it with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مہارت، قیادت، امین are shared (al-Amīn, the Trustworthy). مسؤول is used in formal Urdu; everyday Urdu says ذمہ دار. الإِبْدَاعُ shares the root of بدیع (wonderful, original). خِبْرَةٌ (experience) is NOT Urdu خبر (news) — same root (to know), different meaning: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(1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(2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(1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(2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(1 of 2)). Hear → Say → See → Use. Transliteration is printed for Core students (cover it for Develop/Stretch).
FLEX: teach if time allows; otherwise these are on the website vocabulary tab for homework.
Reason and evidence (FLEX): the Topic D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(2 of 2)). Hear → Say → See → Use. Transliteration is printed for Core students (cover it for Develop/Stretch).
FLEX: teach if time allows; otherwise these are on the website vocabulary tab for homework.
Reason and evidence (FLEX): the Topic D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“Needs a skill” (يَحْتَاجُ إِلَى + مَصْدَرٍ / اسْمٍ) and “Must be” (يَجِبُ أَنْ يَكُونَ / تَكُونَ + صِفَةً: the verb agrees with the person; the predicate adjective is accusative). Website examples: يَحْتَاجُ الطَّبِيبُ إِلَى الصَّبْرِ · تَحْتَاجُ المُهَنْدِسَةُ إِلَى الدِّقَّةِ · يَجِبُ أَنْ يَكُونَ المُدَرِّسُ صَبُورًا · يَجِبُ أَنْ تَكُونَ المُمَرِّضَةُ هَادِئَةً.
Core can stay with rows 1–2 (يَحْتَاجُ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“Ability” (يَسْتَطِيعُ أَنْ + مُضَارِعٌ) and “Evidence” (support a quality with behaviour rather than a label alone). Website examples: يَسْتَطِيعُ أَنْ يَحُلَّ المُشْكِلَاتِ · تَسْتَطِيعُ أَنْ تَعْمَلَ ضِمْنَ فَرِيقٍ · هُوَ مَسْؤُولٌ لِأَنَّهُ يَحْتَرِمُ المَوَاعِيدَ · هِيَ مُتَعَاوِنَةٌ لِأَنَّهَا تُسَاعِدُ زُمَلَاءَهَا.
The error pair is teacher-chosen (the website common error for this lesson is generic): in Modern Standard Arabic يَحْتَاجُ normally takes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“التَّعْبِيرُ عَنِ المَهَارَاتِ وَالمُتَطَلَّبَاتِ”
• Needs a skill: Use يحتاج إلى before a skill or qualification.
• Must be: The verb agrees with the person; the predicate adjective is accusative.
• Ability: Use أن followed by a present-tense verb.
• Evidence: Support a quality with behaviour rather than a label alone.
Website common error: Do not drop إِلَى after يَحْتَاجُ, and do not leave the adjective after يَكُونَ / تَكُونَ in -un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(doctor / programmer / teacher). Think aloud: “Skill (noun) or quality (adjective)? He or she? Where is my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(“Skill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“Skill Match”: teamwork, communication, organisation and punctuality.
Website feedback lines: The visual shows teamwork. · The speech bubbles represent communication. · The clock and tick show punctual organisation.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(“Skill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“Skill Match”: teamwork, communication, organisation and punctuality.
Website feedback lines: The visual shows teamwork. · The speech bubbles represent communication. · The clock and tick show punctual organisation.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تَبْحَثُ شَرِكَةٌ عَنْ مُوَظَّفَةٍ لِخِدْمَةِ العُمَلَاءِ. يَجِبُ أَنْ تَكُونَ وَاثِقَةً وَصَبُورَةً، وَأَنْ تَسْتَطِيعَ حَلَّ المُشْكِلَاتِ بِسُرْعَةٍ. الخِبْرَةُ مُفِيدَةٌ، لٰكِنَّهَا لَيْسَتْ ضَرُورِيَّةً لِأَنَّ الشَّرِكَةَ تُقَدِّمُ تَدْرِيبًا. كَمَا أَنَّ إِجَادَةَ لُغَتَيْنِ تُعَدُّ مِيزَةً مُهِمَّةً.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“Match personal qualities and professional skills to different jobs. Every match must be justified with evidence from a short candidate profile.”
Website Topic D challenge “Candidate skills match”. Candidates: سَارَةُ: صَبُورَةٌ وَتُحِبُّ الأَطْفَالَ · يُوسُفُ: يُجِيدُ الحَاسُوبَ وَدَقِيقٌ · مَرْيَمُ: اجْتِمَاعِيَّةٌ وَتَتَكَلَّمُ ثَلَاثَ لُغَاتٍ. Jobs: مُعَلِّمَةٌ · مُبَرْمِجٌ · مُوَظَّفَةُ اسْتِقْبَالٍ فِي فُنْدُقٍ.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أَهَمُّ صِفَةٍ فِيكَ؟ (And what is your most important quality?)
B: أَنَا مَسْؤُولٌ لِأَنَّنِي أُكْمِلُ وَاجِبَاتِي فِي الوَقْتِ. (I am responsible because I finish my homework on time.)
Teacher-written prompts and model (the website prompts are generic). Model continues: A: وَمَا أَهَمُّ صِفَةٍ فِيكَ؟ B: أَنَا مَسْؤُولٌ لِأَنَّنِي أُكْمِلُ وَاجِبَاتِي فِي الوَقْتِ. To a girl: مَا أَهَمُّ صِفَةٍ فِيكِ؟ — أَنَا مَسْؤُولَةٌ لِأَنَّنِي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the qualities and skills needed for two contrasting careers.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تَحْتَاجُ المُمَرِّضَةُ إِلَى الصَّبْرِ · يَجِبُ أَنْ تَكُونَ هَادِئَةً · أَنْ تَسْتَطِيعَ العَمَلَ · مُنَظَّمًا وَصَبُورًا · تَحْتَاجَانِ (dual, Stretch) · لِأَنَّنِي أَسْتَطِيعُ أَنْ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(TD-L09 · Applications and Interviews) will spend class time USING this language, so students prepare it tonight — short, simple, easy to access (school guidance: “Simple, Short, Interesting, Relevant, Easy to access”). The five words come from the website TD-L10 vocabulary (future plans).
Follow-up: the next Do Now tests two of these words (Flipped Learning: keep it short AND follow up).
Homework by route (website tasks). No internet? Students copy the five words from this slide into their book now.
TOPIC D: the five words are the ones the TD-L09 Do Now tests (preparation list of the website D3-L05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Personal Qualities and Professional Skills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الصِّفَاتُ الشَّخْصِيَّةُ وَالمَهَارَاتُ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Match strengths and qualities to roles and support judgements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TD-L08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Needs, must be, can — and evidence for every quality.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skills / qualities, fix and listen to a job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modern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حَدِيثَةٌ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حَدِيثٌ</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حَدِيثٌ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لِأَنَّهَا تَسْتَمِعُ.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 لِأَنَّهُ يَسْتَمِعُ.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 تَسْتَمِعُ.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leadership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responsibility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TD-L07: feminine noun →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modern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 حَدِيثَةٌ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 حَدِيثٌ</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 حَدِيثٌ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TD-L07: the adjective agrees.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صَبُورَةٌ لِأَنَّهَا تَسْتَمِعُ.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 لِأَنَّهُ يَسْتَمِعُ.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صَبُورَةٌ لِأَنَّهُ تَسْتَمِعُ.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(website): quality + evidence agree.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job NEEDS a skill; a worker MUST BE a quality — and you prove it with behaviour.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يَحْتَاجُ إِلَى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الصَّبْرِ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يَجِبُ أَنْ يَكُونَ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صَبُورًا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يَسْتَمِعُ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key workplace skills and qualities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a job needs with </a:t>
            </a:r>
            <a:pPr algn="l" indent="0" marL="0">
              <a:buNone/>
            </a:pPr>
            <a:r>
              <a:rPr lang="ar-SA" altLang="en-US" sz="1700" dirty="0">
                <a:solidFill>
                  <a:srgbClr val="1F2A37"/>
                </a:solidFill>
                <a:latin typeface="Amiri" pitchFamily="34" charset="0"/>
                <a:ea typeface="Amiri" pitchFamily="34" charset="-122"/>
                <a:cs typeface="Amiri" pitchFamily="34" charset="-120"/>
              </a:rPr>
              <a:t>يَحْتَاجُ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a worker must be (</a:t>
            </a:r>
            <a:pPr algn="l" indent="0" marL="0">
              <a:buNone/>
            </a:pPr>
            <a:r>
              <a:rPr lang="ar-SA" altLang="en-US" sz="1700" dirty="0">
                <a:solidFill>
                  <a:srgbClr val="1F2A37"/>
                </a:solidFill>
                <a:latin typeface="Amiri" pitchFamily="34" charset="0"/>
                <a:ea typeface="Amiri" pitchFamily="34" charset="-122"/>
                <a:cs typeface="Amiri" pitchFamily="34" charset="-120"/>
              </a:rPr>
              <a:t>يَجِبُ أَنْ يَكُونَ</a:t>
            </a:r>
            <a:pPr algn="l" indent="0" marL="0">
              <a:buNone/>
            </a:pPr>
            <a:r>
              <a:rPr lang="en-US" sz="1300" dirty="0">
                <a:solidFill>
                  <a:srgbClr val="1F2A37"/>
                </a:solidFill>
                <a:latin typeface="Calibri" pitchFamily="34" charset="0"/>
                <a:ea typeface="Calibri" pitchFamily="34" charset="-122"/>
                <a:cs typeface="Calibri" pitchFamily="34" charset="-120"/>
              </a:rPr>
              <a:t> + -an) and can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Support every quality with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six skills and six qualities.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job needs.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worker must be and can do.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prove a quality with behaviour.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the skills of two careers.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the skills they share.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Worker qualities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 and evidence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skill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القِيَادَةُ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‎قیادت‎ </a:t>
            </a:r>
            <a:pPr indent="0" marL="0">
              <a:buNone/>
            </a:pPr>
            <a:r>
              <a:rPr lang="en-US" sz="950" b="1" dirty="0">
                <a:solidFill>
                  <a:srgbClr val="2E8B57"/>
                </a:solidFill>
                <a:latin typeface="Calibri" pitchFamily="34" charset="0"/>
                <a:ea typeface="Calibri" pitchFamily="34" charset="-122"/>
                <a:cs typeface="Calibri" pitchFamily="34" charset="-120"/>
              </a:rPr>
              <a:t> qiyādat · leadership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‎مسؤول / ذمہ دار‎ </a:t>
            </a:r>
            <a:pPr indent="0" marL="0">
              <a:buNone/>
            </a:pPr>
            <a:r>
              <a:rPr lang="en-US" sz="950" b="1" dirty="0">
                <a:solidFill>
                  <a:srgbClr val="2E8B57"/>
                </a:solidFill>
                <a:latin typeface="Calibri" pitchFamily="34" charset="0"/>
                <a:ea typeface="Calibri" pitchFamily="34" charset="-122"/>
                <a:cs typeface="Calibri" pitchFamily="34" charset="-120"/>
              </a:rPr>
              <a:t> masʾūl · responsible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الإِبْدَاعُ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‎ایجاد / بدیع‎ </a:t>
            </a:r>
            <a:pPr indent="0" marL="0">
              <a:buNone/>
            </a:pPr>
            <a:r>
              <a:rPr lang="en-US" sz="950" b="1" dirty="0">
                <a:solidFill>
                  <a:srgbClr val="2E8B57"/>
                </a:solidFill>
                <a:latin typeface="Calibri" pitchFamily="34" charset="0"/>
                <a:ea typeface="Calibri" pitchFamily="34" charset="-122"/>
                <a:cs typeface="Calibri" pitchFamily="34" charset="-120"/>
              </a:rPr>
              <a:t> badīʿ · creativity (root b-d-ʿ)</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‎امین‎ </a:t>
            </a:r>
            <a:pPr indent="0" marL="0">
              <a:buNone/>
            </a:pPr>
            <a:r>
              <a:rPr lang="en-US" sz="950" b="1" dirty="0">
                <a:solidFill>
                  <a:srgbClr val="2E8B57"/>
                </a:solidFill>
                <a:latin typeface="Calibri" pitchFamily="34" charset="0"/>
                <a:ea typeface="Calibri" pitchFamily="34" charset="-122"/>
                <a:cs typeface="Calibri" pitchFamily="34" charset="-120"/>
              </a:rPr>
              <a:t> amīn · trustworthy, honest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Worker qualities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مُبَادِرٌ / مُبَادِرَةٌ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proactive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mu-bā-di-run / mu-bā-di-ra-tun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 بِهِ / مَوْثُوقَةٌ بِهَا</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maw-thū-qun bi-hi / maw-thū-qa-tun bi-hā</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بِهِمْ</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مَوْثُوقَةٌ بِهَا</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Worker qualities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مَرِنٌ / مَرِنَةٌ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ma-ri-nun / ma-ri-na-tun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طَمُوحٌ / طَمُوحَةٌ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ambitious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ṭa-mū-ḥun / ṭa-mū-ḥa-tun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أَمِينٌ / أَمِينَةٌ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a-mī-nun / a-mī-na-tun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أُمَنَاءُ</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NEEDS AND MUST BE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Needs a skill · must be a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يَحْتَاجُ إِلَى · يَجِبُ أَنْ يَكُونَ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 man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 woman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يَحْتَاجُ الطَّبِيبُ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الصَّبْرِ.</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doctor needs patience.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تَحْتَاجُ المُهَنْدِسَةُ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الدِّقَّةِ.</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engineer needs accuracy.</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needs + ilā +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يَحْتَاجُ إِلَى </a:t>
            </a:r>
            <a:pPr rtl="1" algn="ctr" indent="0" marL="0">
              <a:buNone/>
            </a:pPr>
            <a:r>
              <a:rPr lang="ar-SA" altLang="en-US" sz="2100" b="1" dirty="0">
                <a:solidFill>
                  <a:srgbClr val="0E7C86"/>
                </a:solidFill>
                <a:latin typeface="Amiri" pitchFamily="34" charset="0"/>
                <a:ea typeface="Amiri" pitchFamily="34" charset="-122"/>
                <a:cs typeface="Amiri" pitchFamily="34" charset="-120"/>
              </a:rPr>
              <a:t>مَهَارَاتِ الحَاسُوبِ</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needs computer skills</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تَحْتَاجُ إِلَى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العَمَلِ الجَمَاعِيِّ</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needs teamwork</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skill noun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100" b="1" dirty="0">
                <a:solidFill>
                  <a:srgbClr val="1D5FBF"/>
                </a:solidFill>
                <a:latin typeface="Amiri" pitchFamily="34" charset="0"/>
                <a:ea typeface="Amiri" pitchFamily="34" charset="-122"/>
                <a:cs typeface="Amiri" pitchFamily="34" charset="-120"/>
              </a:rPr>
              <a:t>يَكُونَ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المُدَرِّسُ </a:t>
            </a:r>
            <a:pPr rtl="1" algn="ctr" indent="0" marL="0">
              <a:buNone/>
            </a:pPr>
            <a:r>
              <a:rPr lang="ar-SA" altLang="en-US" sz="2100" b="1" dirty="0">
                <a:solidFill>
                  <a:srgbClr val="1D5FBF"/>
                </a:solidFill>
                <a:latin typeface="Amiri" pitchFamily="34" charset="0"/>
                <a:ea typeface="Amiri" pitchFamily="34" charset="-122"/>
                <a:cs typeface="Amiri" pitchFamily="34" charset="-120"/>
              </a:rPr>
              <a:t>صَبُورًا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teacher must be patient.</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100" b="1" dirty="0">
                <a:solidFill>
                  <a:srgbClr val="D6336C"/>
                </a:solidFill>
                <a:latin typeface="Amiri" pitchFamily="34" charset="0"/>
                <a:ea typeface="Amiri" pitchFamily="34" charset="-122"/>
                <a:cs typeface="Amiri" pitchFamily="34" charset="-120"/>
              </a:rPr>
              <a:t>تَكُونَ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المُمَرِّضَةُ </a:t>
            </a:r>
            <a:pPr rtl="1" algn="ctr" indent="0" marL="0">
              <a:buNone/>
            </a:pPr>
            <a:r>
              <a:rPr lang="ar-SA" altLang="en-US" sz="21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nurse must be calm.</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yakūna / takūna + -an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يَكُونَ </a:t>
            </a:r>
            <a:pPr rtl="1" algn="ctr" indent="0" marL="0">
              <a:buNone/>
            </a:pPr>
            <a:r>
              <a:rPr lang="ar-SA" altLang="en-US" sz="2100" b="1" dirty="0">
                <a:solidFill>
                  <a:srgbClr val="1D5FBF"/>
                </a:solidFill>
                <a:latin typeface="Amiri" pitchFamily="34" charset="0"/>
                <a:ea typeface="Amiri" pitchFamily="34" charset="-122"/>
                <a:cs typeface="Amiri" pitchFamily="34" charset="-120"/>
              </a:rPr>
              <a:t>مَسْؤُولًا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must be responsible.</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تَكُونَ </a:t>
            </a:r>
            <a:pPr rtl="1" algn="ctr" indent="0" marL="0">
              <a:buNone/>
            </a:pPr>
            <a:r>
              <a:rPr lang="ar-SA" altLang="en-US" sz="2100" b="1" dirty="0">
                <a:solidFill>
                  <a:srgbClr val="D6336C"/>
                </a:solidFill>
                <a:latin typeface="Amiri" pitchFamily="34" charset="0"/>
                <a:ea typeface="Amiri" pitchFamily="34" charset="-122"/>
                <a:cs typeface="Amiri" pitchFamily="34" charset="-120"/>
              </a:rPr>
              <a:t>مُنَظَّمَةً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must be organised.</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-atan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 takūna the adjective takes -an: ṣabūran, hādiʾatan (the same ending as yaʿmalu muḥāsiban in TD-L06).</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CAN DO, AND THE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Can do · and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يَسْتَطِيعُ أَنْ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ABILITY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يَسْتَطِيعُ أَنْ يَـ…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يَسْتَطِيعُ أَنْ يَحُلَّ المُشْكِلَاتِ.</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can solve problems.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present verb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 CAN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تَسْتَطِيعُ أَنْ 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تَسْتَطِيعُ أَنْ تَعْمَلَ ضِمْنَ فَرِيقٍ.</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can work within a team.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verbs agree: ta-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هُوَ مَسْؤُولٌ لِأَنَّهُ يَحْتَرِمُ المَوَاعِيدَ.</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responsible because he respects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Behaviour, not a label.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After yaḥtāju, use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يَحْتَاجُ الطَّبِيبُ إِلَى الصَّبْرِ.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يَحْتَاجُ الطَّبِيبُ الصَّبْرَ.</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Requirement structures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التَّعْبِيرُ عَنِ المَهَارَاتِ وَالمُتَطَلَّبَاتِ</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Needs a skill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يَحْتَاجُ إِلَى + مَصْدَرٍ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يَحْتَاجُ الطَّبِيبُ إِلَى الصَّبْرِ.   ·   تَحْتَاجُ المُهَنْدِسَةُ إِلَى الدِّقَّةِ.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Must be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يَكُونَ / تَكُونَ + صِفَةً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يَكُونَ المُدَرِّسُ صَبُورًا.   ·   يَجِبُ أَنْ تَكُونَ المُمَرِّضَةُ هَادِئَةً.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يَسْتَطِيعُ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يَسْتَطِيعُ أَنْ يَحُلَّ المُشْكِلَاتِ.   ·   تَسْتَطِيعُ أَنْ تَعْمَلَ ضِمْنَ فَرِيقٍ.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لِأَنَّهُ / لِأَنَّهَا + فِعْلٌ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مَسْؤُولٌ لِأَنَّهُ يَحْتَرِمُ المَوَاعِيدَ.   ·   هِيَ مُتَعَاوِنَةٌ لِأَنَّهَا تُسَاعِدُ زُمَلَاءَهَا.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يَحْتَاجُ الطَّبِيبُ ___ الصَّبْرِ.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المُمَرِّضَةُ هَادِئَةً.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يَكُونَ المُدَرِّسُ ___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صَبْرًا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تَسْتَطِيعُ أَنْ ___ ضِمْنَ فَرِيقٍ.</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تَعْمَلُونَ</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يَحْتَاجُ الطَّبِيبُ ___ الصَّبْرِ.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yaḥtāju ilā = needs.</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المُمَرِّضَةُ هَادِئَةً.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nurse (f.) → takūna.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يَكُونَ المُدَرِّسُ ___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صَبْرًا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teacher + -an.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تَسْتَطِيعُ أَنْ ___ ضِمْنَ فَرِيقٍ.</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تَعْمَلُونَ</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can → an taʿmala.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 good nurse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Needs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تَحْتَاجُ المُمَرِّضَةُ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الصَّبْرِ وَالدِّقَّةِ.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Skill nouns after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Must be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700" b="1" dirty="0">
                <a:solidFill>
                  <a:srgbClr val="D6336C"/>
                </a:solidFill>
                <a:latin typeface="Amiri" pitchFamily="34" charset="0"/>
                <a:ea typeface="Amiri" pitchFamily="34" charset="-122"/>
                <a:cs typeface="Amiri" pitchFamily="34" charset="-120"/>
              </a:rPr>
              <a:t>تَكُونَ</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pPr rtl="1" algn="ctr" indent="0" marL="0">
              <a:buNone/>
            </a:pPr>
            <a:r>
              <a:rPr lang="ar-SA" altLang="en-US" sz="27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takūna + -atan.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تَسْتَطِيعُ أَنْ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تَعْمَلَ</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ضِمْنَ فَرِيقٍ.</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verb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مُمَرِّضَتِي مَسْؤُولَةٌ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تَحْتَرِمُ المَوَاعِيدَ.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Quality + behaviour.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NEEDS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MUST BE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تَحْتَاجُ المُمَرِّضَةُ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الصَّبْرِ وَالدِّقَّةِ، وَيَجِبُ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هَادِئَةً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عِنْدَمَا يَكُونُ المَرِيضُ قَلِقًا. يَجِبُ أَيْضًا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تَسْتَطِيعَ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العَمَلَ ضِمْنَ فَرِيقٍ لِأَنَّهَا تَعْمَلُ مَعَ الأَطِبَّاءِ. أَمَّا المُبَرْمِجُ فَيَحْتَاجُ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التَّفْكِيرِ المَنْطِقِيِّ، وَيَجِبُ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مُنَظَّمًا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خَالَتِي مُمَرِّضَةٌ مَسْؤُولَةٌ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تَحْتَرِمُ المَوَاعِيدَ وَتُسَاعِدُ زُمَلَاءَهَا.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nurse needs patience and accuracy, and she must be calm when the patient is worried. She must also be able to work in a team because she works with doctors. As for a programmer, he needs logical thinking and he must be organised. My aunt is a responsible nurse because she respects appointments and helps her colleagues.</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يَحْتَاجُ الطَّبِيبُ إِلَى الصَّبْرِ.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doctor needs patience.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needs + ilā + skill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يَكُونَ المُدَرِّسُ صَبُورًا.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teacher must be patient.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yakūna + adjective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تَسْتَطِيعُ أَنْ تَعْمَلَ ضِمْنَ فَرِيقٍ.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can work in a team.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 verb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مُتَعَاوِنَةٌ لِأَنَّهَا تُسَاعِدُ زُمَلَاءَهَا.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cooperative because she helps her colleagues.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Quality + behaviour.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“SKILL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الْمَهَارَةَ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6"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8"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a:t>
            </a:r>
            <a:endParaRPr lang="en-US" sz="1100" dirty="0"/>
          </a:p>
        </p:txBody>
      </p:sp>
      <p:sp>
        <p:nvSpPr>
          <p:cNvPr id="39"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مَهَارَاتُ تَوَاصُلٍ جَيِّدَةٌ.</a:t>
            </a:r>
            <a:endParaRPr lang="ar-SA" sz="2000" dirty="0"/>
          </a:p>
        </p:txBody>
      </p:sp>
      <p:sp>
        <p:nvSpPr>
          <p:cNvPr id="43"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مُنَظَّمٌ وَأَحْتَرِمُ الْمَوَاعِيدَ.</a:t>
            </a:r>
            <a:endParaRPr lang="ar-SA" sz="2000" dirty="0"/>
          </a:p>
        </p:txBody>
      </p:sp>
      <p:sp>
        <p:nvSpPr>
          <p:cNvPr id="47"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مُتَعَاوِنٌ وَأُجِيدُ الْعَمَلَ ضِمْنَ فَرِيقٍ.</a:t>
            </a:r>
            <a:endParaRPr lang="ar-SA" sz="2000" dirty="0"/>
          </a:p>
        </p:txBody>
      </p:sp>
      <p:sp>
        <p:nvSpPr>
          <p:cNvPr id="51"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الْمَهَارَةَ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أَنَا مُتَعَاوِنٌ وَأُجِيدُ الْعَمَلَ ضِمْنَ فَرِيقٍ.</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cooperative and good at working in a team.</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لَدَيَّ مَهَارَاتُ تَوَاصُلٍ جَيِّدَةٌ.</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good communication skills.</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6"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8"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a:t>
            </a:r>
            <a:endParaRPr lang="en-US" sz="1100" dirty="0"/>
          </a:p>
        </p:txBody>
      </p:sp>
      <p:sp>
        <p:nvSpPr>
          <p:cNvPr id="49"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مُنَظَّمٌ وَأَحْتَرِمُ الْمَوَاعِيدَ.</a:t>
            </a:r>
            <a:endParaRPr lang="ar-SA" sz="2200" dirty="0"/>
          </a:p>
        </p:txBody>
      </p:sp>
      <p:sp>
        <p:nvSpPr>
          <p:cNvPr id="53"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organised and punctual.</a:t>
            </a:r>
            <a:endParaRPr lang="en-US" sz="1200" dirty="0"/>
          </a:p>
        </p:txBody>
      </p:sp>
      <p:sp>
        <p:nvSpPr>
          <p:cNvPr id="54"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SKILLS AND QUALITIES — WHAT MAKES A GOOD WORKER?”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What is he / she good at?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solving problems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 · on time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جَيِّدٌ فِي حَلِّ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مُنَظَّمَةٌ وَتَحْتَرِمُ الوَقْتَ.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جَيِّدٌ فِي العَمَلِ الجَمَاعِيِّ.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جَيِّدٌ فِي العَمَلِ الجَمَاعِيِّ.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good at teamwork.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solving problems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جَيِّدٌ فِي حَلِّ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good at problem solving.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 · on time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مُنَظَّمَةٌ وَتَحْتَرِمُ الوَقْتَ.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organised and respects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 or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 المُشْكِلَاتِ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إِدَارَةُ الوَقْتِ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العَمَلُ الجَمَاعِيُّ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مَسْؤُولٌ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مُنَظَّمَةٌ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صَبُورٌ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مُتَعَاوِنَةٌ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طَمُوحٌ</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Skill (noun)</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Quality (adjective)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Skill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 المُشْكِلَاتِ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إِدَارَةُ الوَقْتِ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العَمَلُ الجَمَاعِيُّ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Quality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مَسْؤُولٌ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مُنَظَّمَةٌ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مُتَعَاوِنَةٌ</a:t>
            </a:r>
            <a:endParaRPr lang="ar-SA" sz="1800" dirty="0"/>
          </a:p>
        </p:txBody>
      </p:sp>
      <p:sp>
        <p:nvSpPr>
          <p:cNvPr id="37" name="Shape 34"/>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طَمُوحٌ</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SKILL (a 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 المُشْكِلَاتِ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quality?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جِدًّا.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لِأَنَّهُ يَحْتَرِمُ المَوَاعِيدَ.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وَمُنَظَّمٌ.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إِدَارَةُ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أَمِينٌ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أُمَنَاءُ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SKILL (a noun)?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حَلُّ المُشْكِلَاتِ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ḥall = solving (a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quality?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مَسْؤُولٌ جِدًّا.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مَسْؤُولٌ لِأَنَّهُ يَحْتَرِمُ المَوَاعِيدَ.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مَسْؤُولٌ وَمُنَظَّمٌ.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Quality + behaviour.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إِدَارَةُ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teamwork</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idāra = managing; waqt =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أَمِينٌ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أُمَنَاءُ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amīnatun (f.) · umanāʾ (pl.) · amāna = honesty.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يَكُونَ المُدَرِّسُ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yakūna: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يَكُونَ المُمَرِّضَةُ هَادِئَةً.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nurse is a woman: yakūna or takūna?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تَسْتَطِيعُ أَنْ يَعْمَلَ ضِمْنَ فَرِيقٍ.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can …: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يَكُونَ المُدَرِّسُ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يَكُونَ المُدَرِّسُ صَبُورًا.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the adjective takes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يَكُونَ المُمَرِّضَةُ هَادِئَةً.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تَكُونَ المُمَرِّضَةُ هَادِئَةً.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nurse is a woman → takūna.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تَسْتَطِيعُ أَنْ يَعْمَلَ ضِمْنَ فَرِيقٍ.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تَسْتَطِيعُ أَنْ تَعْمَلَ ضِمْنَ فَرِيقٍ.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verbs agree with “she”.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makes a strong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service (female employee)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programmer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qualities are needed?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 and creative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ambitious and honest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confident and patient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be able to do quickly?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reports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 to the manager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solve problems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essential?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useful but not essential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mentioned</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job is easy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 provides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low</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extra advantage?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two languages well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driving licence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degree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خِدْمَةِ العُمَلَاءِ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وَاثِقَةً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تَبْحَثُ شَرِكَةٌ عَنْ مُوَظَّفَةٍ لِخِدْمَةِ العُمَلَاءِ.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company is looking for a (female) customer-service employee.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تَكُونَ وَاثِقَةً وَصَبُورَةً،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must be confident and patient,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وَأَنْ تَسْتَطِيعَ حَلَّ المُشْكِلَاتِ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able to solve problems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الخِبْرَةُ مُفِيدَةٌ، لٰكِنَّهَا لَيْسَتْ ضَرُورِيَّةً لِأَنَّ الشَّرِكَةَ تُقَدِّمُ تَدْرِيبًا.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 is useful but not essential, because the company provides training.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أَنَّ إِجَادَةَ لُغَتَيْنِ تُعَدُّ مِيزَةً مُهِمَّةً.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speaking two languages well is an important advantage.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customer service (female employee)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programmer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مُوَظَّفَةٍ لِخِدْمَةِ العُمَلَاءِ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qualities are needed?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calm and creative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ambitious and honest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confident and patient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وَاثِقَةً وَصَبُورَةً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be able to do quickly?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reports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 to the manager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solve problems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 المُشْكِلَاتِ بِسُرْعَةٍ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essential?</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 useful but not essential</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not mentioned</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ضَرُورِيَّةً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job is easy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company provides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low</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الشَّرِكَةَ تُقَدِّمُ تَدْرِيبًا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extra advantage?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speaking two languages well</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driving licence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degree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إِجَادَةَ لُغَتَيْنِ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خِدْمَةِ العُمَلَاءِ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وَاثِقَةً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Candidate skills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Candidate skills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personal qualities and professional skills to different jobs. Every match must be justified with evidence from a short candidate profile.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three short candidate profiles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each candidate to one of three jobs.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each match with evidence from the profile (li-annahu / li-annahā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Vote: which match has the strongest evidence?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one reason: “li-annahu munaẓẓam”.</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matches, each with evidence and adjective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Matches with a relative clause and a counter-point (lākinnahu yaḥtāju ilā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هِيَ مُنَاسِبَةٌ لِلْوَظِيفَةِ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she is suitable for the job</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لِأَنَّهُ / لِأَنَّهَا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because he / she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الدَّلِيلُ عَلَى ذٰلِكَ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evidence is that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يَحْتَاجُ إِلَى تَطْوِيرِ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needs to develop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makes a good worker?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يَحْتَاجُ إِلَيْهَا الطَّبِيبُ؟</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صِفَةٍ فِيكَ؟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يَجِبُ أَنْ يَكُونَ المُدَرِّسُ الجَيِّدُ؟</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تَشْتَرِكُ فِيهَا كُلُّ المِهَنِ؟</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يَحْتَاجُ الطَّبِيبُ إِلَى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لِأَنَّنِي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يَكُونَ ___ وَ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كُلُّ المِهَنِ تَحْتَاجُ إِلَى ___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المَهَارَاتُ الَّتِي يَحْتَاجُ إِلَيْهَا المُدَرِّسُ؟</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skills does a teacher need?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يَحْتَاجُ إِلَى التَّوَاصُلِ، وَيَجِبُ أَنْ يَكُونَ صَبُورًا وَمُنَظَّمًا.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needs communication, and he must be patient and organised.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job: two skills (يَحْتَاجُ إِلَى), one quality, and one quality of yours with evidence.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jobs: needs, must be (-an) and can do, with evidence for each quality.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contrasting careers, shared skills, and which suits you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تَكُونَ المُمَرِّضَةُ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nurse must be calm.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يَسْتَطِيعُ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can solve problems.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المُبَرْمِجُ فَيَحْتَاجُ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a programmer, he needs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تَحْتَاجُ المِهْنَتَانِ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Both jobs need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يَحْتَاجُ الـ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 needs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يَكُونَ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must be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لِأَنَّنِي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because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  يَجِبُ أَنْ يَكُونَ  ·  تَكُونَ  ·  يَسْتَطِيعُ أَنْ  ·  الصَّبْرِ  ·  الدِّقَّةِ  ·  حَلِّ المُشْكِلَاتِ  ·  صَبُورًا  ·  مُنَظَّمَةً  ·  مَسْؤُولٌ  ·  لِأَنَّهُ  ·  عَلَى سَبِيلِ المِثَالِ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Explain the qualities and skills needed for two contrasting careers.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تَخْتَلِفُ المَهَارَاتُ مِنْ مِهْنَةٍ إِلَى أُخْرَى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skills differ from one job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قُدْرَةٌ عَلَى الاِسْتِمَاعِ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ability to listen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بِطُرُقٍ مُخْتَلِفَةٍ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different ways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تَشْتَرِكُ المِهَنُ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jobs share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أَمِيلُ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drawn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تَخْتَلِفُ المَهَارَاتُ المَطْلُوبَةُ مِنْ مِهْنَةٍ إِلَى أُخْرَى. تَحْتَاجُ المُمَرِّضَةُ إِلَى الصَّبْرِ وَالدِّقَّةِ، وَيَجِبُ أَنْ تَكُونَ هَادِئَةً عِنْدَمَا يَكُونُ المَرِيضُ قَلِقًا. كَمَا يَجِبُ أَنْ تَسْتَطِيعَ العَمَلَ ضِمْنَ فَرِيقٍ لِأَنَّهَا تَعْمَلُ مَعَ الأَطِبَّاءِ. أَمَّا المُبَرْمِجُ فَيَحْتَاجُ إِلَى التَّفْكِيرِ المَنْطِقِيِّ وَمَهَارَاتِ الحَاسُوبِ، وَيَجِبُ أَنْ يَكُونَ مُنَظَّمًا وَصَبُورًا عِنْدَ حَلِّ الأَخْطَاءِ. عَلَى الرَّغْمِ مِنْ أَنَّ المِهْنَتَيْنِ مُخْتَلِفَتَانِ، فَإِنَّهُمَا تَحْتَاجَانِ إِلَى التَّوَاصُلِ وَالمَسْؤُولِيَّةِ. أَنَا أَمِيلُ إِلَى البَرْمَجَةِ لِأَنَّنِي أَسْتَطِيعُ أَنْ أُرَكِّزَ طَوِيلًا وَأُحِبُّ حَلَّ المُشْكِلَاتِ.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skills needed differ from one job to another. A nurse needs patience and accuracy, and she must be calm when a patient is worried. She must also be able to work in a team because she works with doctors. As for a programmer, he needs logical thinking and computer skills, and he must be organised and patient when fixing errors. Although the two jobs are different, they both need communication and responsibility. I am drawn to programming because I can concentrate for a long time and I love solving problems.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yaḥtāju ilā + skill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yakūna / takūna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yastaṭīʿu an +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quality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yaḥtāju ilā + a skill.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qualities agree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yakūna / takūna: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quality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skills two jobs share.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المُهَنْدِسَةُ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دَقِيقَةٌ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دَقِيقًا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quality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العَمَلُ الجَمَاعِيُّ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مُتَعَاوِنٌ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إِدَارَةُ الوَقْتِ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يَسْتَطِيعُ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المُشْكِلَاتِ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المُهَنْدِسَةُ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الدِّقَّةِ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دَقِيقَةٌ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دَقِيقًا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skill noun after ilā.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quality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العَمَلُ الجَمَاعِيُّ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مُتَعَاوِنٌ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إِدَارَةُ الوَقْتِ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mutaʿāwin = cooperative.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يَسْتَطِيعُ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المُشْكِلَاتِ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يَحُلَّ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can → an yaḥulla.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for three careers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المَهَارَاتُ المَطْلُوبَةُ مِنْ مِهْنَةٍ إِلَى أُخْرَى. فَالطَّبِيبُ يَحْتَاجُ إِلَى مَعْرِفَةٍ عِلْمِيَّةٍ وَقُدْرَةٍ عَلَى الاِسْتِمَاعِ لِلْمَرْضَى. أَمَّا المُبَرْمِجُ فَيَحْتَاجُ إِلَى التَّفْكِيرِ المَنْطِقِيِّ وَالصَّبْرِ عِنْدَ حَلِّ الأَخْطَاءِ. وَيَجِبُ أَنْ يَكُونَ المُدَرِّسُ مُنَظَّمًا وَقَادِرًا عَلَى شَرْحِ الأَفْكَارِ بِطُرُقٍ مُخْتَلِفَةٍ. وَمَعَ ذٰلِكَ، تَشْتَرِكُ المِهَنُ الثَّلَاثُ فِي أَهَمِّيَّةِ التَّوَاصُلِ وَالمَسْؤُولِيَّةِ.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المَطْلُوبَةُ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مَعْرِفَةٍ عِلْمِيَّةٍ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scientific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قُدْرَةٍ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ability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لِلْمَرْضَى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patients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التَّفْكِيرِ المَنْطِقِيِّ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logical thinking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 الأَخْطَاءِ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fixing errors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قَادِرًا عَلَى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able to</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شَرْحِ الأَفْكَارِ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explaining ideas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تَشْتَرِكُ</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knowledge does a doctor need?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skills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scientific knowledge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business knowledge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doctor be able to do with patients?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 them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them</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to them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thinking does a programmer need?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logical thinking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 writing</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 speaking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programmer need patience?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meeting clients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fixing errors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teacher be able to do?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explain ideas in different ways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repair computers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at night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things do all three jobs share?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salary and hours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and leadership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communication and responsibility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knowledge does a doctor need?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skills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scientific knowledge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business knowledge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مَعْرِفَةٍ عِلْمِيَّةٍ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doctor be able to do with patients?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 them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them</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 to them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قُدْرَةٍ عَلَى الاِسْتِمَاعِ لِلْمَرْضَى</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thinking does a programmer need?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logical thinking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creative writing</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 speaking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التَّفْكِيرِ المَنْطِقِيِّ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programmer need patience?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meeting clients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fixing errors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travelling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حَلِّ الأَخْطَاءِ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teacher be able to do?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explain ideas in different ways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repair computers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at night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شَرْحِ الأَفْكَارِ بِطُرُقٍ مُخْتَلِفَةٍ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things do all three jobs share?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salary and hours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and leadership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communication and responsibility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التَّوَاصُلِ وَالمَسْؤُولِيَّةِ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TD-L09 · Applications and Interviews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CV</a:t>
            </a:r>
            <a:pPr indent="0" marL="0">
              <a:buNone/>
            </a:pPr>
            <a:r>
              <a:rPr lang="en-US" sz="1000" i="1" dirty="0">
                <a:solidFill>
                  <a:srgbClr val="5A6472"/>
                </a:solidFill>
                <a:latin typeface="Calibri" pitchFamily="34" charset="0"/>
                <a:ea typeface="Calibri" pitchFamily="34" charset="-122"/>
                <a:cs typeface="Calibri" pitchFamily="34" charset="-120"/>
              </a:rPr>
              <a:t>  pl. سِيَرٌ ذَاتِيَّةٌ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 تَغْطِيَةٍ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cover letter</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مُقَابَلَةٌ شَخْصِيَّةٌ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interview</a:t>
            </a:r>
            <a:pPr indent="0" marL="0">
              <a:buNone/>
            </a:pPr>
            <a:r>
              <a:rPr lang="en-US" sz="1000" i="1" dirty="0">
                <a:solidFill>
                  <a:srgbClr val="5A6472"/>
                </a:solidFill>
                <a:latin typeface="Calibri" pitchFamily="34" charset="0"/>
                <a:ea typeface="Calibri" pitchFamily="34" charset="-122"/>
                <a:cs typeface="Calibri" pitchFamily="34" charset="-120"/>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إِعْلَانُ وَظِيفَةٍ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job advert</a:t>
            </a:r>
            <a:pPr indent="0" marL="0">
              <a:buNone/>
            </a:pPr>
            <a:r>
              <a:rPr lang="en-US" sz="1000" i="1" dirty="0">
                <a:solidFill>
                  <a:srgbClr val="5A6472"/>
                </a:solidFill>
                <a:latin typeface="Calibri" pitchFamily="34" charset="0"/>
                <a:ea typeface="Calibri" pitchFamily="34" charset="-122"/>
                <a:cs typeface="Calibri" pitchFamily="34" charset="-120"/>
              </a:rPr>
              <a:t>  pl. إِعْلَانَاتٌ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ضَعْفٍ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weakness</a:t>
            </a:r>
            <a:pPr indent="0" marL="0">
              <a:buNone/>
            </a:pPr>
            <a:r>
              <a:rPr lang="en-US" sz="1000" i="1" dirty="0">
                <a:solidFill>
                  <a:srgbClr val="5A6472"/>
                </a:solidFill>
                <a:latin typeface="Calibri" pitchFamily="34" charset="0"/>
                <a:ea typeface="Calibri" pitchFamily="34" charset="-122"/>
                <a:cs typeface="Calibri" pitchFamily="34" charset="-120"/>
              </a:rPr>
              <a:t>  pl. نِقَاطُ ضَعْفٍ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your biggest strength for a job? Write one sentence with evidence.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نُقْطَةُ قُوَّتِي هِيَ … لِأَنَّنِي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6 skills and 6 qualities (m. / f.);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Two jobs in 80–100 words: needs, must be, can do, with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two contrasting careers and shared skills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TD-L09 · Applications and Interviews</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طَلَبَاتُ التَّوْظِيفِ وَالمُقَابَلَاتُ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TD-L09.</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TD-L08 · Personal Qualities and Professional Skills</dc:title>
  <dc:subject>PptxGenJS Presentation</dc:subject>
  <dc:creator>Al Madina Online School · Arabic Department</dc:creator>
  <cp:lastModifiedBy>Al Madina Online School · Arabic Department</cp:lastModifiedBy>
  <cp:revision>1</cp:revision>
  <dcterms:created xsi:type="dcterms:W3CDTF">2026-10-11T04:23:12Z</dcterms:created>
  <dcterms:modified xsi:type="dcterms:W3CDTF">2026-10-11T04:23:12Z</dcterms:modified>
</cp:coreProperties>
</file>