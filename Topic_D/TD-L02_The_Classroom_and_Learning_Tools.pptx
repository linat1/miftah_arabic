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(“Classroom Tool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“Classroom Tool Match”: book + pen, computer + mouse, the ruler in maths.
Website feedback lines: The two classroom tools match. · The computer and mouse are shown. · The ruler is used in maths.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(“Classroom Tool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“Classroom Tool Match”: book + pen, computer + mouse, the ruler in maths.
Website feedback lines: The two classroom tools match. · The computer and mouse are shown. · The ruler is used in maths.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D · TD-L02 — The Classroom and Learning Tools. Website: Advanced Topics › Topic D (The World of Work) › Lesson 2.
The website builds this lesson on the F4-L03 lesson engine, with the Topic focus “Explain classroom routines, resources and effective learning environments.” (grammar: يوجد/توجد; demonstratives; relative clauses; skills: Listening · Speaking) and the application challenge “Classroom bag detective”.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Topic D My School › Lesson 3 (TD-L02). Website sections used: the eight-question Topic D retrieval bridge, the classroom-object vault (12 official items with gender and plurals + wider practical bank; مَكْتَبٌ = desk or office) and the 16-question check, هَذَا / هَذِهِ (14), possession عِنْدِي / عِنْدَكَ / عِنْدَكِ / عِنْدَهُ / عِنْدَهَا and لَيْسَ عِنْدِي (12), location and counting (12), the school-bag inventory, Pack the Bag Mission (14), Layla’s bag (listening, 10), Omar and Huda (reading, 12), speaking (4 prompts), the 7–9-sentence description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objects + هَذَا / هَذِهِ + عِنْدِي / لَيْسَ عِنْدِي + فِي حَقِيبَتِي. Develop: asking a boy or a girl (عِنْدَكَ / عِنْدَكِ), plurals and two locations. Stretch: counting (dual and 3–10, website optional extension) and comparing two bags.
• Website route: recognise → choose → locate → communicate. Learn every noun WITH its model sentence (the ـة ending is a strong clue, not a rule).
• Real or invented bags are equally acceptable (website) — some students may not have every item.
• Urdu bridge: کتاب، قلم، دفتر، کرسی، قاموس are shared words; مکتب (Urdu school) = Arabic desk / office.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objects prepared at home at the end of F4-L02 (website). Questions 3–5 are the website “Topic D retrieval bridge” (feminine demonstrative, I have, 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 this (f.) follows the Arabic gender of the OBJECT, not the speaker: hādhā qalamun · hādhihi misṭaratun.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کتاب، قلم، قاموس and کرسی are the same words. FALSE FRIENDS: Urdu دفتر = office (Arabic دَفْتَرٌ = exercise book); Urdu مکتب = school (Arabic مَكْتَبٌ = desk or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OFFICIAL CLASSROOM BANK (website, masculine items). Also: غِرَاءٌ (glue, m.), وَرَقٌ / أَوْرَاقٌ (paper / sheets; وَرَقَةٌ = one sheet). Website distinction: مَكْتَبٌ can mean a desk or an office — عَلَى مَكْتَبِي كِتَابٌ = there is a book on my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FEMININE ITEMS (website). Wider practical bank (website): قَلَمُ رَصَاصٍ (pencil), قَلَمُ حِبْرٍ (ink pen), مِبْرَاةٌ (sharpener), مَقَصٌّ (scissors), حَاسُوبٌ مَحْمُولٌ (laptop), جِهَازٌ لَوْحِيٌّ (tablet), شَاشَةٌ (screen), لَوْحَةُ مَفَاتِيحَ (keyboard), فَأْرَةُ الحَاسُوبِ (mouse), طَابِعَةٌ (printer), مَلَفٌّ (folder), كُرْسِيٌّ (chair), طَاوِلَةٌ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sections 3 “Choose هَذَا or هَذِهِ” and 4 “Say what you have”.
Website: “Do not guess from English — Arabic noun gender controls the choice. The ending ـة is a strong feminine clue, but always learn the word with its model sentence.”
Adjectives agree too (website): هَذِهِ مِقْلَمَةٌ زَرْقَاءُ · هَذَا كِتَابٌ جَدِيدٌ.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 5 “Say where each object is”. Website location bank: فِي حَقِيبَتِي · عَلَى مَكْتَبِي · تَحْتَ الكُرْسِيِّ · بِجَانِبِ الحَاسُوبِ · أَمَامَ السَّبُّورَةِ · خَلْفَ الكِتَابِ · بَيْنَ الدَّفْتَرِ وَالقَامُوسِ · دَاخِلَ المِقْلَمَةِ.
Counting is an OPTIONAL extension (website): قَلَمٌ وَاحِدٌ · قَلَمَانِ · ثَلَاثَةُ أَقْلَامٍ / مِسْطَرَةٌ وَاحِدَةٌ · مِسْطَرَتَانِ · ثَلَاثُ مَسَاطِرَ (3–10 take the opposite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gender laboratory questions 2–3 and possession check questions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(Layla) and Omar’s profile as the model. Hold up real objects on camera if you can: “hādhā or hādhihi?”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Classroom objects”)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pencil but هٰذِهِ for the bag and the ruler? Other cards for homework: كِتَابٌ، كُرْسِيٌّ، قَلَمٌ.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Classroom objects”)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pencil but هٰذِهِ for the bag and the ruler? Other cards for homework: كِتَابٌ، كُرْسِيٌّ، قَلَمٌ.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Pack the Bag rounds (plural, demonstrative, ask a girl, negative, inside).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masculine or feminine? Who is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لَيْلَى. فِي حَقِيبَتِي كِتَابُ العُلُومِ، وَدَفْتَرَانِ، وَثَلَاثَةُ أَقْلَامٍ، وَمِسْطَرَةٌ، وَمِمْحَاةٌ. لَيْسَ عِنْدِي قَامُوسٌ اليَوْمَ. عَلَى مَكْتَبِي حَاسُوبٌ مَحْمُولٌ، وَبِجَانِبِ الحَاسُوبِ مِقْلَمَةٌ زَرْقَاءُ. تَحْتَ الكُرْسِيِّ حَقِيبَةُ صَدِيقَتِي. أَسْتَخْدِمُ القَلَمَ وَالدَّفْتَرَ فِي حِصَّةِ اللُّغَةِ العَرَبِيَّةِ.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Find: one demonstrative, one negative sentence and one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PROFILE B (website, complete). Stretch: counting (ثَلَاثَةُ أَقْلَامٍ، كِتَابَانِ) and colour agreement (حَقِيبَتِي بَنَفْسَجِيَّةٌ · قَلَمُ حِبْرٍ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3, 4, 7, 8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D APPLICATION CHALLENGE (5 min — it takes the speaking-rehearsal slot; the website speaking slide after it is FLEX) — from the website Topic page: “Describe learning tools without naming them. Partners identify each object, say where it is used and add one classroom instruction involving it.”
Website Topic D challenge “Classroom bag detective”: describe learning tools without naming them; partners identify each object, say where it is used and add one classroom instruction involving it. Gender check: كِتَابٌ / قَلَمٌ = huwa; مِسْطَرَةٌ / حَقِيبَةٌ = hiya.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“Speak about classroom objects” — answer with a complete sentence, then add one colour, quantity, location or reason. Prompts (website):
• My school bag: Describe five objects and one missing object.
• My desk: Describe what is on, under and beside your desk.
• Object interview: Ask and answer three هَلْ عِنْدَكَ / عِنْدَكِ questions.
• Digital classroom: Describe four digital classroom objects.
Website checklist (1–6): five objects · هَذَا / هَذِهِ · عِنْدِي or answering هَلْ عِنْدَكَ؟ · one location · one extra detail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Seven accurate modelled sentences. · Develop — Add plurals, colours and two location phrases. · Stretch — Compare two bags or explain which objects are most useful.
Website writing task (Stretch): Website writing task: 7–9 connected sentences about a real or invented school bag or desk — at least eight objects, two demonstratives, one negative sentence, two locations and two extra details (colour, quantity or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Built from the website listening (Layla) and Omar’s profile. Stretch: compare with Huda’s bag (Profile 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(TD-L03 · Subjects, Timetables and Preferences) · Likes, Dislikes and Preferences) will spend class time USING this language, so students prepare it tonight — short, simple, easy to access (school guidance: “Simple, Short, Interesting, Relevant, Easy to access”). The five words and phrases come from the website F4-L04 (website) preference language.
Follow-up: the next Do Now tests two of these words (Flipped Learning: keep it short AND follow up).
Homework by route (website tasks). No internet? Students copy the five words from this slide into their book now.
TOPIC D: the five words are the ones the TD-L03 Do Now tests (preparation list of the website F3-L12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cs typeface="Amiri" pitchFamily="2" charset="-78"/>
              </a:rPr>
              <a:t>WE DO · PICTURE MATCH · WEBSITE GAME “CLASSROOM TOOL MATCH (TOPIC GAME)”</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أَدَوَاتِ الْفَصْلِ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book + pen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computer + mouse</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ruler</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أَسْتَعْمِلُ الْحَاسُوبَ وَالْفَأْرَةَ.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نَسْتَعْمِلُ الْمِسْطَرَةَ فِي دَرْسِ الرِّيَاضِيَّاتِ.</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أَحْتَاجُ إِلَى كِتَابٍ وَقَلَمٍ.</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أَدَوَاتِ الْفَصْلِ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book + pen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أَحْتَاجُ إِلَى كِتَابٍ وَقَلَمٍ.</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need a book and a pen.</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computer + mouse</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أَسْتَعْمِلُ الْحَاسُوبَ وَالْفَأْرَةَ.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use the computer and the mouse.</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ruler</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نَسْتَعْمِلُ الْمِسْطَرَةَ فِي دَرْسِ الرِّيَاضِيَّاتِ.</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use the ruler in the maths lesson.</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50" b="1" dirty="0">
                <a:solidFill>
                  <a:srgbClr val="FFFFFF"/>
                </a:solidFill>
                <a:latin typeface="Cambria" pitchFamily="34" charset="0"/>
                <a:cs typeface="Amiri" pitchFamily="2" charset="-78"/>
              </a:rPr>
              <a:t>The Classroom and Learning Tools</a:t>
            </a:r>
            <a:endParaRPr lang="en-US" sz="32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الفَصْلُ الدِّرَاسِيُّ وَأَدَوَاتُ التَّعَلُّمِ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Explain classroom routines, resources and effective learning environments.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TD-L02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TD-L02</a:t>
            </a:r>
            <a:endParaRPr lang="en-US" sz="850" dirty="0"/>
          </a:p>
        </p:txBody>
      </p:sp>
      <p:sp>
        <p:nvSpPr>
          <p:cNvPr id="22" name="Text 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Classroom objects, this / this (f.), then I have and where it 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Pack the Bag mission, listen to Layla, read Omar and Huda.</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دَفْتَرٌ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dictionary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exercise book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حَقِيبَةٌ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book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demonstrative.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“I have”?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عِنْدَهَا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preposition means “on”?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دَفْتَرٌ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dictionary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exercise book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حَقِيبَةٌ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bag</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book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demonstrative.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هَذِهِ</a:t>
            </a:r>
            <a:pPr algn="l" indent="0" marL="0">
              <a:buNone/>
            </a:pPr>
            <a:r>
              <a:rPr lang="en-US" sz="1050" i="1" dirty="0">
                <a:solidFill>
                  <a:srgbClr val="8A6D1E"/>
                </a:solidFill>
                <a:latin typeface="Calibri" pitchFamily="34" charset="0"/>
                <a:cs typeface="Amiri" pitchFamily="2" charset="-78"/>
              </a:rPr>
              <a:t> introduces a feminine singular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“I have”?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عِنْدَهَا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عِنْدِي</a:t>
            </a:r>
            <a:pPr algn="l" indent="0" marL="0">
              <a:buNone/>
            </a:pPr>
            <a:r>
              <a:rPr lang="en-US" sz="1050" i="1" dirty="0">
                <a:solidFill>
                  <a:srgbClr val="8A6D1E"/>
                </a:solidFill>
                <a:latin typeface="Calibri" pitchFamily="34" charset="0"/>
                <a:cs typeface="Amiri" pitchFamily="2" charset="-78"/>
              </a:rPr>
              <a:t> means I have.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preposition means “on”?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means 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 this (f.) follows the Arabic gender of the OBJECT, not the speaker: hādhā qalamun · hādhihi misṭaratun.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قَلَمٌ · </a:t>
            </a:r>
            <a:pPr rtl="1" algn="ctr" indent="0" marL="0">
              <a:buNone/>
            </a:pPr>
            <a:r>
              <a:rPr lang="ar-SA" altLang="en-US" sz="2400" b="1" dirty="0">
                <a:solidFill>
                  <a:srgbClr val="D6336C"/>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مِسْطَرَةٌ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complete core classroom-object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hādhā / hādhihi according to noun gender.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answer what someone has.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where objects are in a bag or on a desk.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ten classroom objects.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have and don’t have.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or a girl what they have.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where two objects are.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count objects (two, three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bags.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Classroom objects with gender and plurals, possession and location. Core: ten objects, this / this (f.), I have.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Classroom objects · 12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This · I have · you have</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Location and counting</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كِتَابٌ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‎کتاب‎ </a:t>
            </a:r>
            <a:pPr indent="0" marL="0">
              <a:buNone/>
            </a:pPr>
            <a:r>
              <a:rPr lang="en-US" sz="950" b="1" dirty="0">
                <a:solidFill>
                  <a:srgbClr val="2E8B57"/>
                </a:solidFill>
                <a:latin typeface="Calibri" pitchFamily="34" charset="0"/>
                <a:cs typeface="Amiri" pitchFamily="2" charset="-78"/>
              </a:rPr>
              <a:t> kitāb · book</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قَلَمٌ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‎قلم‎ </a:t>
            </a:r>
            <a:pPr indent="0" marL="0">
              <a:buNone/>
            </a:pPr>
            <a:r>
              <a:rPr lang="en-US" sz="950" b="1" dirty="0">
                <a:solidFill>
                  <a:srgbClr val="2E8B57"/>
                </a:solidFill>
                <a:latin typeface="Calibri" pitchFamily="34" charset="0"/>
                <a:cs typeface="Amiri" pitchFamily="2" charset="-78"/>
              </a:rPr>
              <a:t> qalam · pen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دَفْتَرٌ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‎دفتر‎ </a:t>
            </a:r>
            <a:pPr indent="0" marL="0">
              <a:buNone/>
            </a:pPr>
            <a:r>
              <a:rPr lang="en-US" sz="950" b="1" dirty="0">
                <a:solidFill>
                  <a:srgbClr val="2E8B57"/>
                </a:solidFill>
                <a:latin typeface="Calibri" pitchFamily="34" charset="0"/>
                <a:cs typeface="Amiri" pitchFamily="2" charset="-78"/>
              </a:rPr>
              <a:t> daftar · exercise book (Urdu: office)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قَامُوسٌ</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‎قاموس‎ </a:t>
            </a:r>
            <a:pPr indent="0" marL="0">
              <a:buNone/>
            </a:pPr>
            <a:r>
              <a:rPr lang="en-US" sz="950" b="1" dirty="0">
                <a:solidFill>
                  <a:srgbClr val="2E8B57"/>
                </a:solidFill>
                <a:latin typeface="Calibri" pitchFamily="34" charset="0"/>
                <a:cs typeface="Amiri" pitchFamily="2" charset="-78"/>
              </a:rPr>
              <a:t> qāmūs · dictionary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كُرْسِيٌّ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‎کرسی‎ </a:t>
            </a:r>
            <a:pPr indent="0" marL="0">
              <a:buNone/>
            </a:pPr>
            <a:r>
              <a:rPr lang="en-US" sz="950" b="1" dirty="0">
                <a:solidFill>
                  <a:srgbClr val="2E8B57"/>
                </a:solidFill>
                <a:latin typeface="Calibri" pitchFamily="34" charset="0"/>
                <a:cs typeface="Amiri" pitchFamily="2" charset="-78"/>
              </a:rPr>
              <a:t> kursiyy · chair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OFFICIAL CLASSROOM BANK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Book, exercise book, pen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كِتَابٌ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a:t>
            </a:r>
            <a:endParaRPr lang="en-US" sz="1350" dirty="0"/>
          </a:p>
          <a:p>
            <a:pPr indent="0" marL="0">
              <a:buNone/>
            </a:pPr>
            <a:r>
              <a:rPr lang="en-US" sz="1100" i="1" dirty="0">
                <a:solidFill>
                  <a:srgbClr val="5A6472"/>
                </a:solidFill>
                <a:latin typeface="Calibri" pitchFamily="34" charset="0"/>
                <a:cs typeface="Amiri" pitchFamily="2" charset="-78"/>
              </a:rPr>
              <a:t>ki-tāb</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كُتُبٌ</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دَفْتَرٌ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notebook / exercise book</a:t>
            </a:r>
            <a:endParaRPr lang="en-US" sz="1350" dirty="0"/>
          </a:p>
          <a:p>
            <a:pPr indent="0" marL="0">
              <a:buNone/>
            </a:pPr>
            <a:r>
              <a:rPr lang="en-US" sz="1100" i="1" dirty="0">
                <a:solidFill>
                  <a:srgbClr val="5A6472"/>
                </a:solidFill>
                <a:latin typeface="Calibri" pitchFamily="34" charset="0"/>
                <a:cs typeface="Amiri" pitchFamily="2" charset="-78"/>
              </a:rPr>
              <a:t>daf-tar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دَفَاتِرُ</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قَلَمٌ</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pen</a:t>
            </a:r>
            <a:endParaRPr lang="en-US" sz="1350" dirty="0"/>
          </a:p>
          <a:p>
            <a:pPr indent="0" marL="0">
              <a:buNone/>
            </a:pPr>
            <a:r>
              <a:rPr lang="en-US" sz="1100" i="1" dirty="0">
                <a:solidFill>
                  <a:srgbClr val="5A6472"/>
                </a:solidFill>
                <a:latin typeface="Calibri" pitchFamily="34" charset="0"/>
                <a:cs typeface="Amiri" pitchFamily="2" charset="-78"/>
              </a:rPr>
              <a:t>qa-lam</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أَقْلَامٌ</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قَامُوسٌ</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dictionary</a:t>
            </a:r>
            <a:endParaRPr lang="en-US" sz="1350" dirty="0"/>
          </a:p>
          <a:p>
            <a:pPr indent="0" marL="0">
              <a:buNone/>
            </a:pPr>
            <a:r>
              <a:rPr lang="en-US" sz="1100" i="1" dirty="0">
                <a:solidFill>
                  <a:srgbClr val="5A6472"/>
                </a:solidFill>
                <a:latin typeface="Calibri" pitchFamily="34" charset="0"/>
                <a:cs typeface="Amiri" pitchFamily="2" charset="-78"/>
              </a:rPr>
              <a:t>qā-mūs</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قَوَامِيسُ</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desk (also: office)</a:t>
            </a:r>
            <a:endParaRPr lang="en-US" sz="1350" dirty="0"/>
          </a:p>
          <a:p>
            <a:pPr indent="0" marL="0">
              <a:buNone/>
            </a:pPr>
            <a:r>
              <a:rPr lang="en-US" sz="1100" i="1" dirty="0">
                <a:solidFill>
                  <a:srgbClr val="5A6472"/>
                </a:solidFill>
                <a:latin typeface="Calibri" pitchFamily="34" charset="0"/>
                <a:cs typeface="Amiri" pitchFamily="2" charset="-78"/>
              </a:rPr>
              <a:t>mak-tab</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مَكَاتِبُ</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جَرَسٌ</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bell</a:t>
            </a:r>
            <a:endParaRPr lang="en-US" sz="1350" dirty="0"/>
          </a:p>
          <a:p>
            <a:pPr indent="0" marL="0">
              <a:buNone/>
            </a:pPr>
            <a:r>
              <a:rPr lang="en-US" sz="1100" i="1" dirty="0">
                <a:solidFill>
                  <a:srgbClr val="5A6472"/>
                </a:solidFill>
                <a:latin typeface="Calibri" pitchFamily="34" charset="0"/>
                <a:cs typeface="Amiri" pitchFamily="2" charset="-78"/>
              </a:rPr>
              <a:t>ja-ras</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أَجْرَاسٌ</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102" name="Text 99"/>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OFFICIAL CLASSROOM BANK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Ruler, pencil case, board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مِسْطَرَةٌ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ruler</a:t>
            </a:r>
            <a:endParaRPr lang="en-US" sz="1350" dirty="0"/>
          </a:p>
          <a:p>
            <a:pPr indent="0" marL="0">
              <a:buNone/>
            </a:pPr>
            <a:r>
              <a:rPr lang="en-US" sz="1100" i="1" dirty="0">
                <a:solidFill>
                  <a:srgbClr val="5A6472"/>
                </a:solidFill>
                <a:latin typeface="Calibri" pitchFamily="34" charset="0"/>
                <a:cs typeface="Amiri" pitchFamily="2" charset="-78"/>
              </a:rPr>
              <a:t>mis-ṭa-ra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مَسَاطِرُ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مِقْلَمَةٌ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pencil case</a:t>
            </a:r>
            <a:endParaRPr lang="en-US" sz="1350" dirty="0"/>
          </a:p>
          <a:p>
            <a:pPr indent="0" marL="0">
              <a:buNone/>
            </a:pPr>
            <a:r>
              <a:rPr lang="en-US" sz="1100" i="1" dirty="0">
                <a:solidFill>
                  <a:srgbClr val="5A6472"/>
                </a:solidFill>
                <a:latin typeface="Calibri" pitchFamily="34" charset="0"/>
                <a:cs typeface="Amiri" pitchFamily="2" charset="-78"/>
              </a:rPr>
              <a:t>miq-la-ma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مَقَالِمُ</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مِمْحَاةٌ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eraser / rubber</a:t>
            </a:r>
            <a:endParaRPr lang="en-US" sz="1350" dirty="0"/>
          </a:p>
          <a:p>
            <a:pPr indent="0" marL="0">
              <a:buNone/>
            </a:pPr>
            <a:r>
              <a:rPr lang="en-US" sz="1100" i="1" dirty="0">
                <a:solidFill>
                  <a:srgbClr val="5A6472"/>
                </a:solidFill>
                <a:latin typeface="Calibri" pitchFamily="34" charset="0"/>
                <a:cs typeface="Amiri" pitchFamily="2" charset="-78"/>
              </a:rPr>
              <a:t>mim-ḥā</a:t>
            </a:r>
            <a:endParaRPr lang="en-US" sz="1350" dirty="0"/>
          </a:p>
        </p:txBody>
      </p:sp>
      <p:sp>
        <p:nvSpPr>
          <p:cNvPr id="54" name="Shape 5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56" name="Text 5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0" name="Shape 5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2" name="Text 5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سَبُّورَةٌ</a:t>
            </a:r>
            <a:endParaRPr lang="ar-SA" sz="3000" dirty="0"/>
          </a:p>
        </p:txBody>
      </p:sp>
      <p:sp>
        <p:nvSpPr>
          <p:cNvPr id="63" name="Text 6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board / interactive board</a:t>
            </a:r>
            <a:endParaRPr lang="en-US" sz="1350" dirty="0"/>
          </a:p>
          <a:p>
            <a:pPr indent="0" marL="0">
              <a:buNone/>
            </a:pPr>
            <a:r>
              <a:rPr lang="en-US" sz="1100" i="1" dirty="0">
                <a:solidFill>
                  <a:srgbClr val="5A6472"/>
                </a:solidFill>
                <a:latin typeface="Calibri" pitchFamily="34" charset="0"/>
                <a:cs typeface="Amiri" pitchFamily="2" charset="-78"/>
              </a:rPr>
              <a:t>sab-bū-ra</a:t>
            </a:r>
            <a:endParaRPr lang="en-US" sz="1350" dirty="0"/>
          </a:p>
        </p:txBody>
      </p:sp>
      <p:sp>
        <p:nvSpPr>
          <p:cNvPr id="64" name="Shape 6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6" name="Text 6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سَبُّورَاتٌ</a:t>
            </a:r>
            <a:endParaRPr lang="ar-SA" sz="1500" dirty="0"/>
          </a:p>
        </p:txBody>
      </p:sp>
      <p:sp>
        <p:nvSpPr>
          <p:cNvPr id="67" name="Shape 6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9" name="Text 66"/>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3" name="Shape 70"/>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حَقِيبَةٌ</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bag / backpack</a:t>
            </a:r>
            <a:endParaRPr lang="en-US" sz="1350" dirty="0"/>
          </a:p>
          <a:p>
            <a:pPr indent="0" marL="0">
              <a:buNone/>
            </a:pPr>
            <a:r>
              <a:rPr lang="en-US" sz="1100" i="1" dirty="0">
                <a:solidFill>
                  <a:srgbClr val="5A6472"/>
                </a:solidFill>
                <a:latin typeface="Calibri" pitchFamily="34" charset="0"/>
                <a:cs typeface="Amiri" pitchFamily="2" charset="-78"/>
              </a:rPr>
              <a:t>ḥa-qī-ba</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حَقَائِبُ</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84" name="Text 81"/>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8" name="Shape 8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90" name="Text 8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آلَةٌ حَاسِبَةٌ</a:t>
            </a:r>
            <a:endParaRPr lang="ar-SA" sz="3000" dirty="0"/>
          </a:p>
        </p:txBody>
      </p:sp>
      <p:sp>
        <p:nvSpPr>
          <p:cNvPr id="91" name="Text 8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calculator</a:t>
            </a:r>
            <a:endParaRPr lang="en-US" sz="1350" dirty="0"/>
          </a:p>
          <a:p>
            <a:pPr indent="0" marL="0">
              <a:buNone/>
            </a:pPr>
            <a:r>
              <a:rPr lang="en-US" sz="1100" i="1" dirty="0">
                <a:solidFill>
                  <a:srgbClr val="5A6472"/>
                </a:solidFill>
                <a:latin typeface="Calibri" pitchFamily="34" charset="0"/>
                <a:cs typeface="Amiri" pitchFamily="2" charset="-78"/>
              </a:rPr>
              <a:t>ā-la ḥā-si-ba</a:t>
            </a:r>
            <a:endParaRPr lang="en-US" sz="1350" dirty="0"/>
          </a:p>
        </p:txBody>
      </p:sp>
      <p:sp>
        <p:nvSpPr>
          <p:cNvPr id="92" name="Shape 89"/>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94" name="Text 91"/>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THIS AND I HAVE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(m. / f.) · I have · you have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هَذَا · هَذِهِ · عِنْدِي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394106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628632"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endParaRPr lang="ar-SA" sz="2400" dirty="0"/>
          </a:p>
        </p:txBody>
      </p:sp>
      <p:sp>
        <p:nvSpPr>
          <p:cNvPr id="21" name="Text 18"/>
          <p:cNvSpPr txBox="1"/>
          <p:nvPr/>
        </p:nvSpPr>
        <p:spPr>
          <a:xfrm>
            <a:off x="3959352" y="226771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قَلَمٌ. · هَذَا كِتَابٌ.</a:t>
            </a:r>
            <a:endParaRPr lang="ar-SA" sz="2200" dirty="0"/>
          </a:p>
        </p:txBody>
      </p:sp>
      <p:sp>
        <p:nvSpPr>
          <p:cNvPr id="22" name="Text 19"/>
          <p:cNvSpPr txBox="1"/>
          <p:nvPr/>
        </p:nvSpPr>
        <p:spPr>
          <a:xfrm>
            <a:off x="56692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(masculine object)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628632"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هَذِهِ</a:t>
            </a:r>
            <a:endParaRPr lang="ar-SA" sz="2400" dirty="0"/>
          </a:p>
        </p:txBody>
      </p:sp>
      <p:sp>
        <p:nvSpPr>
          <p:cNvPr id="27" name="Text 24"/>
          <p:cNvSpPr txBox="1"/>
          <p:nvPr/>
        </p:nvSpPr>
        <p:spPr>
          <a:xfrm>
            <a:off x="3959352" y="2881884"/>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مِسْطَرَةٌ. · هَذِهِ حَقِيبَةٌ.</a:t>
            </a:r>
            <a:endParaRPr lang="ar-SA" sz="2200" dirty="0"/>
          </a:p>
        </p:txBody>
      </p:sp>
      <p:sp>
        <p:nvSpPr>
          <p:cNvPr id="28" name="Text 25"/>
          <p:cNvSpPr txBox="1"/>
          <p:nvPr/>
        </p:nvSpPr>
        <p:spPr>
          <a:xfrm>
            <a:off x="56692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(feminine object)</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628632"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عِنْدِي</a:t>
            </a:r>
            <a:endParaRPr lang="ar-SA" sz="2400" dirty="0"/>
          </a:p>
        </p:txBody>
      </p:sp>
      <p:sp>
        <p:nvSpPr>
          <p:cNvPr id="33" name="Text 30"/>
          <p:cNvSpPr txBox="1"/>
          <p:nvPr/>
        </p:nvSpPr>
        <p:spPr>
          <a:xfrm>
            <a:off x="3959352" y="3496056"/>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عِنْدِي قَلَمٌ وَكِتَابٌ.</a:t>
            </a:r>
            <a:endParaRPr lang="ar-SA" sz="2200" dirty="0"/>
          </a:p>
        </p:txBody>
      </p:sp>
      <p:sp>
        <p:nvSpPr>
          <p:cNvPr id="34" name="Text 31"/>
          <p:cNvSpPr txBox="1"/>
          <p:nvPr/>
        </p:nvSpPr>
        <p:spPr>
          <a:xfrm>
            <a:off x="56692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628632"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لَيْسَ عِنْدِي</a:t>
            </a:r>
            <a:endParaRPr lang="ar-SA" sz="2400" dirty="0"/>
          </a:p>
        </p:txBody>
      </p:sp>
      <p:sp>
        <p:nvSpPr>
          <p:cNvPr id="39" name="Text 36"/>
          <p:cNvSpPr txBox="1"/>
          <p:nvPr/>
        </p:nvSpPr>
        <p:spPr>
          <a:xfrm>
            <a:off x="3959352" y="4110228"/>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لَيْسَ عِنْدِي غِرَاءٌ.</a:t>
            </a:r>
            <a:endParaRPr lang="ar-SA" sz="2200" dirty="0"/>
          </a:p>
        </p:txBody>
      </p:sp>
      <p:sp>
        <p:nvSpPr>
          <p:cNvPr id="40" name="Text 37"/>
          <p:cNvSpPr txBox="1"/>
          <p:nvPr/>
        </p:nvSpPr>
        <p:spPr>
          <a:xfrm>
            <a:off x="56692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 not have</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9628632"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عِنْدَكَ / عِنْدَكِ</a:t>
            </a:r>
            <a:endParaRPr lang="ar-SA" sz="2400" dirty="0"/>
          </a:p>
        </p:txBody>
      </p:sp>
      <p:sp>
        <p:nvSpPr>
          <p:cNvPr id="45" name="Text 42"/>
          <p:cNvSpPr txBox="1"/>
          <p:nvPr/>
        </p:nvSpPr>
        <p:spPr>
          <a:xfrm>
            <a:off x="3959352" y="4724400"/>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عِنْدَكَ قَامُوسٌ؟ · هَلْ عِنْدَكِ مِسْطَرَةٌ؟</a:t>
            </a:r>
            <a:endParaRPr lang="ar-SA" sz="2200" dirty="0"/>
          </a:p>
        </p:txBody>
      </p:sp>
      <p:sp>
        <p:nvSpPr>
          <p:cNvPr id="46" name="Text 43"/>
          <p:cNvSpPr txBox="1"/>
          <p:nvPr/>
        </p:nvSpPr>
        <p:spPr>
          <a:xfrm>
            <a:off x="56692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(m. / f.) have …?</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9628632"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عِنْدَهُ / عِنْدَهَا</a:t>
            </a:r>
            <a:endParaRPr lang="ar-SA" sz="2400" dirty="0"/>
          </a:p>
        </p:txBody>
      </p:sp>
      <p:sp>
        <p:nvSpPr>
          <p:cNvPr id="49" name="Text 46"/>
          <p:cNvSpPr txBox="1"/>
          <p:nvPr/>
        </p:nvSpPr>
        <p:spPr>
          <a:xfrm>
            <a:off x="3959352" y="533857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عِنْدَهُ حَاسُوبٌ. · عِنْدَهَا حَقِيبَةٌ.</a:t>
            </a:r>
            <a:endParaRPr lang="ar-SA" sz="2200" dirty="0"/>
          </a:p>
        </p:txBody>
      </p:sp>
      <p:sp>
        <p:nvSpPr>
          <p:cNvPr id="50" name="Text 47"/>
          <p:cNvSpPr txBox="1"/>
          <p:nvPr/>
        </p:nvSpPr>
        <p:spPr>
          <a:xfrm>
            <a:off x="56692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has / she has</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demonstrative matches the gender of the singular noun — not the gender of the speaker.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WHERE IS IT? HOW MANY?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Place first, then the object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أَيْنَ؟ 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 · ON</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 عَلَى</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فِي حَقِيبَتِي كِتَابٌ، وَعَلَى مَكْتَبِي حَاسُوبٌ.</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my bag there is a book, and on my desk a computer.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Place phrase comes first.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85166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UNDER · BESIDE · INSIDE</a:t>
            </a:r>
            <a:endParaRPr lang="en-US" sz="850" dirty="0"/>
          </a:p>
        </p:txBody>
      </p:sp>
      <p:sp>
        <p:nvSpPr>
          <p:cNvPr id="26" name="Text 23"/>
          <p:cNvSpPr txBox="1"/>
          <p:nvPr/>
        </p:nvSpPr>
        <p:spPr>
          <a:xfrm>
            <a:off x="6310884"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تَحْتَ · بِجَانِبِ · دَاخِلَ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تَحْتَ الكُرْسِيِّ حَقِيبَةٌ.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Under the chair there is a bag.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amāma, khalfa, bayna.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COUNT · STRETCH</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وَاحِدٌ · ـَانِ · ثَلَاثَةُ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قَلَمٌ وَاحِدٌ · قَلَمَانِ · ثَلَاثَةُ أَقْلَامٍ</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pen · two pens · three pens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 </a:t>
            </a:r>
            <a:pPr algn="l" indent="0" marL="0">
              <a:buNone/>
            </a:pPr>
            <a:r>
              <a:rPr lang="ar-SA" altLang="en-US" sz="1450" dirty="0">
                <a:solidFill>
                  <a:srgbClr val="1F2A37"/>
                </a:solidFill>
                <a:latin typeface="Amiri" pitchFamily="2" charset="-78"/>
                <a:ea typeface="Amiri" pitchFamily="2" charset="-78"/>
                <a:cs typeface="Amiri" pitchFamily="2" charset="-78"/>
              </a:rPr>
              <a:t>ثَلَاثُ مَسَاطِرَ</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location model: the place phrase comes first and the object follows.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عَلَى مَكْتَبِي حَاسُوبٌ.</a:t>
            </a:r>
            <a:endParaRPr lang="ar-SA" sz="20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ea typeface="Amiri" pitchFamily="2" charset="-78"/>
                <a:cs typeface="Amiri" pitchFamily="2" charset="-78"/>
              </a:rPr>
              <a:t>حَاسُوبٌ مَكْتَبِي عَلَى.</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a ruler.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مِسْطَرَةٌ.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مِسْطَرٌ.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مِسْطَرَةٌ.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a dictionary.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قَامُوسٌ.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قَامُوسٌ.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قَامُوسَةٌ.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“Do you have a ruler?”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 مِسْطَرَةٌ؟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 مِسْطَرَةٌ؟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عِنْدَهَا مِسْطَرَةٌ؟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negative answer.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لَيْسَ عِنْدِي غِرَاءٌ.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عِنْدِي غِرَاءٌ.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 لَيْسَ عِنْدِي غِرَاءٌ.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a ruler.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مِسْطَرَةٌ.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مِسْطَرٌ.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مِسْطَرَةٌ.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مِسْطَرَةٌ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هَذِهِ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a dictionary.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قَامُوسٌ.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قَامُوسٌ.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قَامُوسَةٌ.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قَامُوسٌ</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“Do you have a ruler?”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عِنْدَكَ مِسْطَرَةٌ؟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عِنْدَكِ مِسْطَرَةٌ؟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عِنْدَهَا مِسْطَرَةٌ؟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عِنْدَكِ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negative answer.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لَيْسَ عِنْدِي غِرَاءٌ.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عِنْدِي غِرَاءٌ.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 لَيْسَ عِنْدِي غِرَاءٌ.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لَيْسَ عِنْدِي</a:t>
            </a:r>
            <a:pPr algn="l" indent="0" marL="0">
              <a:buNone/>
            </a:pPr>
            <a:r>
              <a:rPr lang="en-US" sz="1050" i="1" dirty="0">
                <a:solidFill>
                  <a:srgbClr val="8A6D1E"/>
                </a:solidFill>
                <a:latin typeface="Calibri" pitchFamily="34" charset="0"/>
                <a:cs typeface="Amiri" pitchFamily="2" charset="-78"/>
              </a:rPr>
              <a:t> expresses not having something.</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unpack my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This 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حَقِيبَتِي المَدْرَسِيَّةُ.</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Bag (f.)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In my bag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فِي حَقِيبَتِي كِتَابٌ وَدَفْتَرٌ وَمِسْطَرَةٌ.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Place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 don’t have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لَيْسَ عِنْدِي قَامُوسٌ اليَوْمَ.</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Negative: laysa.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On my desk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عَلَى مَكْتَبِي حَاسُوبٌ، وَبِجَانِبِهِ مِقْلَمَةٌ زَرْقَاءُ.</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Colour agrees (f.).</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D6336C"/>
                </a:solidFill>
                <a:latin typeface="Amiri" pitchFamily="2" charset="-78"/>
                <a:ea typeface="Amiri" pitchFamily="2" charset="-78"/>
                <a:cs typeface="Amiri" pitchFamily="2" charset="-78"/>
              </a:rPr>
              <a:t>هَذِهِ</a:t>
            </a:r>
            <a:pPr rtl="1" algn="r" indent="0" marL="0">
              <a:buNone/>
            </a:pPr>
            <a:r>
              <a:rPr lang="ar-SA" altLang="en-US" sz="1700" b="1" dirty="0">
                <a:solidFill>
                  <a:srgbClr val="1B3B6F"/>
                </a:solidFill>
                <a:latin typeface="Amiri" pitchFamily="2" charset="-78"/>
                <a:ea typeface="Amiri" pitchFamily="2" charset="-78"/>
                <a:cs typeface="Amiri" pitchFamily="2" charset="-78"/>
              </a:rPr>
              <a:t> حَقِيبَتِي المَدْرَسِيَّةُ. فِي حَقِيبَتِي كِتَابٌ وَدَفْتَرٌ وَمِسْطَرَةٌ، وَلَكِنْ لَيْسَ عِنْدِي قَامُوسٌ اليَوْمَ. عَلَى مَكْتَبِي حَاسُوبٌ، وَبِجَانِبِهِ مِقْلَمَةٌ زَرْقَاءُ. </a:t>
            </a:r>
            <a:pPr rtl="1" algn="r" indent="0" marL="0">
              <a:buNone/>
            </a:pPr>
            <a:r>
              <a:rPr lang="ar-SA" altLang="en-US" sz="1700" b="1" dirty="0">
                <a:solidFill>
                  <a:srgbClr val="1D5FBF"/>
                </a:solidFill>
                <a:latin typeface="Amiri" pitchFamily="2" charset="-78"/>
                <a:ea typeface="Amiri" pitchFamily="2" charset="-78"/>
                <a:cs typeface="Amiri" pitchFamily="2" charset="-78"/>
              </a:rPr>
              <a:t>هَذَا</a:t>
            </a:r>
            <a:pPr rtl="1" algn="r" indent="0" marL="0">
              <a:buNone/>
            </a:pPr>
            <a:r>
              <a:rPr lang="ar-SA" altLang="en-US" sz="1700" b="1" dirty="0">
                <a:solidFill>
                  <a:srgbClr val="1B3B6F"/>
                </a:solidFill>
                <a:latin typeface="Amiri" pitchFamily="2" charset="-78"/>
                <a:ea typeface="Amiri" pitchFamily="2" charset="-78"/>
                <a:cs typeface="Amiri" pitchFamily="2" charset="-78"/>
              </a:rPr>
              <a:t> قَلَمِي.</a:t>
            </a:r>
            <a:endParaRPr lang="ar-SA" sz="17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This is my school bag. In my bag there is a book, an exercise book and a ruler, but I don’t have a dictionary today. On my desk there is a computer, and beside it a blue pencil case. This is my pen.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CLASSROOM OBJECTS”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صُورَةُ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pencil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school bag</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ruler</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مِسْطَرَةٌ.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قَلَمُ رَصَاصٍ.</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حَقِيبَةٌ.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صُورَةُ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pencil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قَلَمُ رَصَاصٍ.</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pencil.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school bag</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حَقِيبَةٌ.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bag.</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ruler</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مِسْطَرَةٌ.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ruler.</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“PACK THE BAG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Pack the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تَجْهِيزِ الحَقِيبَةِ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كِتَابٌ.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كِتَابَاتٌ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كَاتِبُونَ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Eraser: Choose the accurate demonstrative sentence.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مِمْحَاةٌ.</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مِمْحَايٌ.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مِمْحَاةٌ.</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School bag: Ask one female what is in her bag.</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فِي حَقِيبَتِكِ؟</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فِي حَقِيبَتِكَ؟</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عِنْدَهَا حَقِيبَةٌ؟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Scissors: Choose “I do not have scissors”.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مَقَصٌّ.</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عِنْدِي مَقَصٌّ.</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عِنْدَكَ مَقَصٌّ.</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Pencil case: Choose “inside the pencil case”.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دَاخِلَ المِقْلَمَةِ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 المِقْلَمَةِ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فَوْقَ المِقْلَمَةِ</a:t>
            </a:r>
            <a:endParaRPr lang="ar-SA" sz="20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 → hādhā · f. → hādhihi</a:t>
            </a:r>
            <a:endParaRPr lang="en-US" sz="1250" dirty="0"/>
          </a:p>
          <a:p>
            <a:pPr algn="l" indent="0" marL="0">
              <a:buNone/>
            </a:pPr>
            <a:r>
              <a:rPr lang="en-US" sz="1250" dirty="0">
                <a:solidFill>
                  <a:srgbClr val="1E6B52"/>
                </a:solidFill>
                <a:latin typeface="Calibri" pitchFamily="34" charset="0"/>
                <a:cs typeface="Amiri" pitchFamily="2" charset="-78"/>
              </a:rPr>
              <a:t>boy: ‘indaka · girl: ‘indaki</a:t>
            </a:r>
            <a:endParaRPr lang="en-US" sz="1250" dirty="0"/>
          </a:p>
          <a:p>
            <a:pPr algn="l" indent="0" marL="0">
              <a:buNone/>
            </a:pPr>
            <a:r>
              <a:rPr lang="en-US" sz="1250" dirty="0">
                <a:solidFill>
                  <a:srgbClr val="1E6B52"/>
                </a:solidFill>
                <a:latin typeface="Calibri" pitchFamily="34" charset="0"/>
                <a:cs typeface="Amiri" pitchFamily="2" charset="-78"/>
              </a:rPr>
              <a:t>I don’t have: laysa ‘indī</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كِتَابٌ.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كِتَابَاتٌ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كَاتِبُونَ</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كُتُبٌ</a:t>
            </a:r>
            <a:pPr algn="l" indent="0" marL="0">
              <a:buNone/>
            </a:pPr>
            <a:r>
              <a:rPr lang="en-US" sz="1050" i="1" dirty="0">
                <a:solidFill>
                  <a:srgbClr val="8A6D1E"/>
                </a:solidFill>
                <a:latin typeface="Calibri" pitchFamily="34" charset="0"/>
                <a:cs typeface="Amiri" pitchFamily="2" charset="-78"/>
              </a:rPr>
              <a:t> is the plural.</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Eraser: Choose the accurate demonstrative sentence.</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مِمْحَاةٌ.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مِمْحَايٌ.</a:t>
            </a:r>
            <a:endParaRPr lang="ar-SA" sz="1700" dirty="0"/>
          </a:p>
        </p:txBody>
      </p:sp>
      <p:sp>
        <p:nvSpPr>
          <p:cNvPr id="41" name="Shape 38"/>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4459224" y="3233928"/>
            <a:ext cx="256032" cy="256032"/>
          </a:xfrm>
          <a:prstGeom prst="ellipse">
            <a:avLst/>
          </a:prstGeom>
          <a:solidFill>
            <a:srgbClr val="2E8B57"/>
          </a:solidFill>
          <a:ln w="12700">
            <a:solidFill>
              <a:srgbClr val="2E8B57"/>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مِمْحَاةٌ.</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مِمْحَاةٌ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School bag: Ask one female what is in her bag.</a:t>
            </a:r>
            <a:endParaRPr lang="en-US" sz="125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فِي حَقِيبَتِكِ؟</a:t>
            </a:r>
            <a:endParaRPr lang="ar-SA" sz="17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فِي حَقِيبَتِكَ؟</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عِنْدَهَا حَقِيبَةٌ؟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listener ending is </a:t>
            </a:r>
            <a:pPr algn="l" indent="0" marL="0">
              <a:buNone/>
            </a:pPr>
            <a:r>
              <a:rPr lang="ar-SA" altLang="en-US" sz="1350" dirty="0">
                <a:solidFill>
                  <a:srgbClr val="8A6D1E"/>
                </a:solidFill>
                <a:latin typeface="Amiri" pitchFamily="2" charset="-78"/>
                <a:ea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Scissors: Choose “I do not have scissors”.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عِنْدِي مَقَصٌّ.</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لَيْسَ عِنْدِي مَقَصٌّ.</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 عِنْدَكَ مَقَصٌّ.</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لَيْسَ عِنْدِي</a:t>
            </a:r>
            <a:pPr algn="l" indent="0" marL="0">
              <a:buNone/>
            </a:pPr>
            <a:r>
              <a:rPr lang="en-US" sz="1050" i="1" dirty="0">
                <a:solidFill>
                  <a:srgbClr val="8A6D1E"/>
                </a:solidFill>
                <a:latin typeface="Calibri" pitchFamily="34" charset="0"/>
                <a:cs typeface="Amiri" pitchFamily="2" charset="-78"/>
              </a:rPr>
              <a:t> gives the negative first-person answer.</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Pencil case: Choose “inside the pencil case”.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دَاخِلَ المِقْلَمَةِ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 المِقْلَمَةِ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فَوْقَ المِقْلَمَةِ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دَاخِلَ</a:t>
            </a:r>
            <a:pPr algn="l" indent="0" marL="0">
              <a:buNone/>
            </a:pPr>
            <a:r>
              <a:rPr lang="en-US" sz="1050" i="1" dirty="0">
                <a:solidFill>
                  <a:srgbClr val="8A6D1E"/>
                </a:solidFill>
                <a:latin typeface="Calibri" pitchFamily="34" charset="0"/>
                <a:cs typeface="Amiri" pitchFamily="2" charset="-78"/>
              </a:rPr>
              <a:t> means inside.</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 → hādhā · f. → hādhihi</a:t>
            </a:r>
            <a:endParaRPr lang="en-US" sz="1250" dirty="0"/>
          </a:p>
          <a:p>
            <a:pPr algn="l" indent="0" marL="0">
              <a:buNone/>
            </a:pPr>
            <a:r>
              <a:rPr lang="en-US" sz="1250" dirty="0">
                <a:solidFill>
                  <a:srgbClr val="1E6B52"/>
                </a:solidFill>
                <a:latin typeface="Calibri" pitchFamily="34" charset="0"/>
                <a:cs typeface="Amiri" pitchFamily="2" charset="-78"/>
              </a:rPr>
              <a:t>boy: ‘indaka · girl: ‘indaki</a:t>
            </a:r>
            <a:endParaRPr lang="en-US" sz="1250" dirty="0"/>
          </a:p>
          <a:p>
            <a:pPr algn="l" indent="0" marL="0">
              <a:buNone/>
            </a:pPr>
            <a:r>
              <a:rPr lang="en-US" sz="1250" dirty="0">
                <a:solidFill>
                  <a:srgbClr val="1E6B52"/>
                </a:solidFill>
                <a:latin typeface="Calibri" pitchFamily="34" charset="0"/>
                <a:cs typeface="Amiri" pitchFamily="2" charset="-78"/>
              </a:rPr>
              <a:t>I don’t have: laysa ‘indī</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مِسْطَرَةٌ.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Ruler: hādhā or hādhihi?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يَا مَرْيَمُ، هَلْ عِنْدَكَ قَلَمٌ؟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Talking to a girl: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لَا عِنْدِي غِرَاءٌ.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 don’t have: which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مِسْطَرَةٌ.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مِسْطَرَةٌ.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Ruler is feminine (</a:t>
            </a:r>
            <a:pPr algn="l" indent="0" marL="0">
              <a:buNone/>
            </a:pPr>
            <a:r>
              <a:rPr lang="ar-SA" altLang="en-US" sz="1500" b="1" dirty="0">
                <a:solidFill>
                  <a:srgbClr val="1B3B6F"/>
                </a:solidFill>
                <a:latin typeface="Amiri" pitchFamily="2" charset="-78"/>
                <a:ea typeface="Amiri" pitchFamily="2" charset="-78"/>
                <a:cs typeface="Amiri" pitchFamily="2" charset="-78"/>
              </a:rPr>
              <a:t>ـة</a:t>
            </a:r>
            <a:pPr algn="l" indent="0" marL="0">
              <a:buNone/>
            </a:pPr>
            <a:r>
              <a:rPr lang="en-US" sz="1150" b="1" dirty="0">
                <a:solidFill>
                  <a:srgbClr val="1B3B6F"/>
                </a:solidFill>
                <a:latin typeface="Calibri" pitchFamily="34" charset="0"/>
                <a:cs typeface="Amiri" pitchFamily="2" charset="-78"/>
              </a:rPr>
              <a:t>): hādhihi.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يَا مَرْيَمُ، هَلْ عِنْدَكَ قَلَمٌ؟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يَا مَرْيَمُ، هَلْ عِنْدَكِ قَلَمٌ؟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female listener: ‘indaki.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لَا عِنْدِي غِرَاءٌ.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لَيْسَ عِنْدِي غِرَاءٌ.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 don’t have = laysa ‘indī.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Layla’s school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notebooks does she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have today?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notebook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dictionary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 her desk?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tablet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printer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laptop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pencil case?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under the chair?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own bag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friend’s bag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dictionary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Five headings: bag · missing · desk · colour · under the chair.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اِسْمِي لَيْلَى. فِي حَقِيبَتِي كِتَابُ العُلُومِ، وَدَفْتَرَانِ، وَثَلَاثَةُ أَقْلَامٍ، وَمِسْطَرَةٌ، وَمِمْحَاةٌ.</a:t>
            </a:r>
            <a:endParaRPr lang="ar-SA" sz="18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Layla. In my bag there is the science book, two exercise books, three pens, a ruler and an eraser.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لَيْسَ عِنْدِي قَامُوسٌ اليَوْمَ.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don’t have a dictionary today.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مَكْتَبِي حَاسُوبٌ مَحْمُولٌ، وَبِجَانِبِ الحَاسُوبِ مِقْلَمَةٌ زَرْقَاءُ.</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my desk there is a laptop, and beside the computer a blue pencil case.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تَحْتَ الكُرْسِيِّ حَقِيبَةُ صَدِيقَتِي.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chair is my friend’s bag.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أَسْتَخْدِمُ القَلَمَ وَالدَّفْتَرَ فِي حِصَّةِ اللُّغَةِ العَرَبِيَّةِ.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use the pen and the exercise book in the Arabic lesson.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notebooks does she have?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دَفْتَرَانِ</a:t>
            </a:r>
            <a:pPr algn="l" indent="0" marL="0">
              <a:buNone/>
            </a:pPr>
            <a:r>
              <a:rPr lang="en-US" sz="1050" i="1" dirty="0">
                <a:solidFill>
                  <a:srgbClr val="8A6D1E"/>
                </a:solidFill>
                <a:latin typeface="Calibri" pitchFamily="34" charset="0"/>
                <a:cs typeface="Amiri" pitchFamily="2" charset="-78"/>
              </a:rPr>
              <a:t> means two notebooks.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have today?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notebook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dictionary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لَيْسَ عِنْدِي قَامُوسٌ اليَوْمَ.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 her desk?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tablet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printer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laptop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عَلَى مَكْتَبِي حَاسُوبٌ مَحْمُولٌ.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pencil case?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blue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describes it as </a:t>
            </a:r>
            <a:pPr algn="l" indent="0" marL="0">
              <a:buNone/>
            </a:pPr>
            <a:r>
              <a:rPr lang="ar-SA" altLang="en-US" sz="1350" dirty="0">
                <a:solidFill>
                  <a:srgbClr val="8A6D1E"/>
                </a:solidFill>
                <a:latin typeface="Amiri" pitchFamily="2" charset="-78"/>
                <a:ea typeface="Amiri" pitchFamily="2" charset="-78"/>
                <a:cs typeface="Amiri" pitchFamily="2" charset="-78"/>
              </a:rPr>
              <a:t>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under the chair?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own bag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friend’s bag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dictionary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تَحْتَ الكُرْسِيِّ حَقِيبَةُ صَدِيقَتِي.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Five headings: bag · missing · desk · colour · under the chair.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Omar’s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عُمَرُ. هَذِهِ حَقِيبَتِي المَدْرَسِيَّةُ.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 · this is my school bag (f.)</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فِيهَا كِتَابٌ، وَدَفْتَرٌ، وَقَلَمُ رَصَاصٍ، وَمِسْطَرَةٌ.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it: book, exercise book, pencil, ruler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عِنْدِي أَيْضًا آلَةٌ حَاسِبَةٌ صَغِيرَةٌ.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Also: a small calculator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لَيْسَ عِنْدِي غِرَاءٌ.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Missing: glue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مَكْتَبِي قَامُوسٌ وَحَاسُوبٌ.</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desk: dictionary + computer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Huda’s pencil case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هُدَى.</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مِقْلَمَتِي ثَلَاثَةُ أَقْلَامٍ وَمِمْحَاةٌ وَمِبْرَاةٌ.</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Pencil case: 3 pens, eraser, sharpener</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حَقِيبَتِي بَنَفْسَجِيَّةٌ، وَفِيهَا كِتَابَانِ وَأَوْرَاقٌ.</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Bag: purple · two books + papers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الطَّاوِلَةِ جِهَازٌ لَوْحِيٌّ،</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table: a tablet</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وَبِجَانِبِهِ قَلَمُ حِبْرٍ أَسْوَدُ.</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Beside it: a black ink pen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Omar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extra device does Omar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tablet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calculator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printer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not have?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notebook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glue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small tools are in Huda’s pencil case?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eraser and a sharpener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glue and scissors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 and a calculator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Huda’s bag?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beside the device?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black ink pen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pencil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place phrase,</a:t>
            </a:r>
            <a:endParaRPr lang="en-US" sz="1250" dirty="0"/>
          </a:p>
          <a:p>
            <a:pPr algn="l" indent="0" marL="0">
              <a:buNone/>
            </a:pPr>
            <a:r>
              <a:rPr lang="en-US" sz="1250" dirty="0">
                <a:solidFill>
                  <a:srgbClr val="1F2A37"/>
                </a:solidFill>
                <a:latin typeface="Calibri" pitchFamily="34" charset="0"/>
                <a:cs typeface="Amiri" pitchFamily="2" charset="-78"/>
              </a:rPr>
              <a:t>then the object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extra device does Omar have?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tablet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small calculator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printer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has </a:t>
            </a:r>
            <a:pPr algn="l" indent="0" marL="0">
              <a:buNone/>
            </a:pPr>
            <a:r>
              <a:rPr lang="ar-SA" altLang="en-US" sz="1350" dirty="0">
                <a:solidFill>
                  <a:srgbClr val="8A6D1E"/>
                </a:solidFill>
                <a:latin typeface="Amiri" pitchFamily="2" charset="-78"/>
                <a:ea typeface="Amiri" pitchFamily="2" charset="-78"/>
                <a:cs typeface="Amiri" pitchFamily="2" charset="-78"/>
              </a:rPr>
              <a:t>آلَةٌ حَاسِبَةٌ صَغِيرَةٌ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not have?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notebook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glue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لَيْسَ عِنْدِي غِرَاءٌ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small tools are in Huda’s pencil case?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eraser and a sharpener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glue and scissors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 and a calculator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مِمْحَاةٌ وَمِبْرَاةٌ.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Huda’s bag?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purple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black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حَقِيبَتِي بَنَفْسَجِيَّةٌ.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beside the device?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black ink pen</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blue pencil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بِجَانِبِهِ قَلَمُ حِبْرٍ أَسْوَدُ.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place phrase,</a:t>
            </a:r>
            <a:endParaRPr lang="en-US" sz="1250" dirty="0"/>
          </a:p>
          <a:p>
            <a:pPr algn="l" indent="0" marL="0">
              <a:buNone/>
            </a:pPr>
            <a:r>
              <a:rPr lang="en-US" sz="1250" dirty="0">
                <a:solidFill>
                  <a:srgbClr val="1F2A37"/>
                </a:solidFill>
                <a:latin typeface="Calibri" pitchFamily="34" charset="0"/>
                <a:cs typeface="Amiri" pitchFamily="2" charset="-78"/>
              </a:rPr>
              <a:t>then the object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Classroom bag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Classroom bag detective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Describe learning tools without naming them. Partners identify each object, say where it is used and add one classroom instruction involving it.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Each student secretly chooses one learning tool from the lesson.</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Describe it in three clues WITHOUT its name: colour / size, where it is used, what you do with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Partners guess, then say where it is used (fī ṣaff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guesser adds one classroom instruction with the tool (e.g. “open your book”).</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clues with “huwa / hiya” and one place (fī al-ḥaqība).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clues with yūjad / tūjad and a demonstrative (hādhā / hādhihi).</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clues with a relative clause (alladhī / allatī nastaʿmiluhu …) and an imperative instruction.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هُوَ / هِيَ … فِي الحَقِيبَةِ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it (m. / f.) is … in the bag</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نَسْتَعْمِلُهُ فِي دَرْسِ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 use it in the … lesson</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الَّذِي / الَّتِي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which (m. / f.)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افْتَحْ كِتَابَكَ!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open your book!</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 about classroom objects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فِي حَقِيبَتِكَ؟ / مَاذَا فِي حَقِيبَتِكِ؟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عِنْدَكَ قَامُوسٌ؟ / هَلْ عِنْدَكِ قَامُوسٌ؟</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عَلَى مَكْتَبِكَ؟ وَمَاذَا تَحْتَ الكُرْسِيِّ؟</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أَهَمُّ أَدَاةٍ فِي حَقِيبَتِكَ؟ وَلِمَاذَا؟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حَقِيبَتِي ___ وَ ___ وَ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نَعَمْ، عِنْدِي ___ . / لَا، لَيْسَ عِنْدِي ___ .</a:t>
            </a:r>
            <a:endParaRPr lang="ar-SA" sz="145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عَلَى مَكْتَبِي ___ ، وَتَحْتَ الكُرْسِيِّ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أَهَمُّ أَدَاةٍ ___ لِأَنَّهُ / لِأَنَّهَا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عِنْدَكِ مِسْطَرَةٌ؟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(f.) have a ruler?</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نَعَمْ، عِنْدِي مِسْطَرَةٌ. هَلْ عِنْدَكِ غِرَاءٌ؟ — لَا، لَيْسَ عِنْدِي غِرَاءٌ.</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I have a ruler. Do you have glue? — No, I don’t have glue.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Seven accurate modelled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This is … · In my bag … · I don’t have … using the models.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plurals, colours and two location phrases.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plurals, colours and two location phrases.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bags or explain which objects are most useful.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bags or explain the most useful objects.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مَكْتَبِي حَاسُوبٌ.</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my desk there is a computer.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تَحْتَ الكُرْسِيِّ حَقِيبَةٌ.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Under the chair there is a bag.</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بِجَانِبِ الحَاسُوبِ مِقْلَمَةٌ زَرْقَاءُ.</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Beside the computer there is a blue pencil case.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عِنْدَكِ آلَةٌ حَاسِبَةٌ؟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(f.) have a calculator?</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كِتَابَانِ وَثَلَاثَةُ أَقْلَامٍ.</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two books and three pens.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حَقِيبَتِي المَدْرَسِيَّةُ.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school bag.</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حَقِيبَتِي كِتَابٌ وَقَلَمٌ.</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bag there is a book and a pen.</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مِسْطَرَةٌ.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ruler.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عِنْدِي قَامُوسٌ.</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have a dictionary.</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قَلَمٌ.</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pen.</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كِتَابٌ  ·  دَفْتَرٌ  ·  قَلَمٌ  ·  مِسْطَرَةٌ  ·  مِقْلَمَةٌ  ·  حَقِيبَةٌ  ·  هَذَا  ·  هَذِهِ  ·  عِنْدِي  ·  لَيْسَ عِنْدِي  ·  فِي  ·  عَلَى</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هَذِهِ حَقِيبَتِي المَدْرَسِيَّةُ. فِي حَقِيبَتِي كِتَابٌ وَدَفْتَرَانِ وَثَلَاثَةُ أَقْلَامٍ وَمِسْطَرَةٌ وَمِمْحَاةٌ. عِنْدِي أَيْضًا آلَةٌ حَاسِبَةٌ صَغِيرَةٌ، وَلَكِنْ لَيْسَ عِنْدِي قَامُوسٌ اليَوْمَ. عَلَى مَكْتَبِي حَاسُوبٌ مَحْمُولٌ، وَبِجَانِبِ الحَاسُوبِ مِقْلَمَةٌ زَرْقَاءُ. تَحْتَ الكُرْسِيِّ حَقِيبَةُ صَدِيقَتِي.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my school bag. In my bag there is a book, two exercise books, three pens, a ruler and an eraser. I also have a small calculator, but I don’t have a dictionary today. On my desk there is a laptop, and beside the computer a blue pencil case. Under the chair is my friend’s bag.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demonstrative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objects + numbers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negative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locations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eight objects.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hādhā for masculine, hādhihi for feminine objects.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‘indī and laysa ‘indī.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two locations.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counted objects or compared two bags.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demonstrative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طَابِعَةٌ.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طَابِعَةٌ.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طَابِعٌ.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if she has a calculator.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 آلَةٌ حَاسِبَةٌ؟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 آلَةٌ حَاسِبَةٌ؟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عِنْدَهَا آلَةٌ حَاسِبَةٌ؟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location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 الكُرْسِيِّ حَقِيبَةٌ.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 الكُرْسِيُّ حَقِيبَةٌ.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حَقِيبَةٌ تَحْتَ الكُرْسِيُّ فِي.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demonstrative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هَذِهِ طَابِعَةٌ.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طَابِعَةٌ.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هَذِهِ طَابِعٌ.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طَابِعَةٌ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if she has a calculator.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 عِنْدَكَ آلَةٌ حَاسِبَةٌ؟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هَلْ عِنْدَكِ آلَةٌ حَاسِبَةٌ؟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 عِنْدَهَا آلَةٌ حَاسِبَةٌ؟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عِنْدَكِ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location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تَحْتَ الكُرْسِيِّ حَقِيبَةٌ.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تَحْتَ الكُرْسِيُّ حَقِيبَةٌ.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حَقِيبَةٌ تَحْتَ الكُرْسِيُّ فِي.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model uses the location phrase accurately.</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39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TD-L03 · Subjects, Timetables and Preferences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الرِّيَاضِيَّاتُ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mathematics</a:t>
            </a:r>
            <a:pPr indent="0" marL="0">
              <a:buNone/>
            </a:pPr>
            <a:r>
              <a:rPr lang="en-US" sz="1000" i="1" dirty="0">
                <a:solidFill>
                  <a:srgbClr val="5A6472"/>
                </a:solidFill>
                <a:latin typeface="Calibri" pitchFamily="34" charset="0"/>
                <a:cs typeface="Amiri" pitchFamily="2" charset="-78"/>
              </a:rPr>
              <a:t>  f.</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العُلُومُ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science</a:t>
            </a:r>
            <a:pPr indent="0" marL="0">
              <a:buNone/>
            </a:pPr>
            <a:r>
              <a:rPr lang="en-US" sz="1000" i="1" dirty="0">
                <a:solidFill>
                  <a:srgbClr val="5A6472"/>
                </a:solidFill>
                <a:latin typeface="Calibri" pitchFamily="34" charset="0"/>
                <a:cs typeface="Amiri" pitchFamily="2" charset="-78"/>
              </a:rPr>
              <a:t>  f.</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التَّارِيخُ</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history</a:t>
            </a:r>
            <a:pPr indent="0" marL="0">
              <a:buNone/>
            </a:pPr>
            <a:r>
              <a:rPr lang="en-US" sz="1000" i="1" dirty="0">
                <a:solidFill>
                  <a:srgbClr val="5A6472"/>
                </a:solidFill>
                <a:latin typeface="Calibri" pitchFamily="34" charset="0"/>
                <a:cs typeface="Amiri" pitchFamily="2" charset="-78"/>
              </a:rPr>
              <a:t>  m.</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الجُغْرَافِيَا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geography</a:t>
            </a:r>
            <a:pPr indent="0" marL="0">
              <a:buNone/>
            </a:pPr>
            <a:r>
              <a:rPr lang="en-US" sz="1000" i="1" dirty="0">
                <a:solidFill>
                  <a:srgbClr val="5A6472"/>
                </a:solidFill>
                <a:latin typeface="Calibri" pitchFamily="34" charset="0"/>
                <a:cs typeface="Amiri" pitchFamily="2" charset="-78"/>
              </a:rPr>
              <a: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art</a:t>
            </a:r>
            <a:pPr indent="0" marL="0">
              <a:buNone/>
            </a:pPr>
            <a:r>
              <a:rPr lang="en-US" sz="1000" i="1" dirty="0">
                <a:solidFill>
                  <a:srgbClr val="5A6472"/>
                </a:solidFill>
                <a:latin typeface="Calibri" pitchFamily="34" charset="0"/>
                <a:cs typeface="Amiri" pitchFamily="2" charset="-78"/>
              </a:rPr>
              <a:t>  m.</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your Topic D target: one skill, one repeated action, one check date.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هَدَفِي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TD-L02: Pack the Bag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school-bag inventory: 5–8 sentences with one negative sentence.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7–9 sentences describing your bag and desk with numbers and colours.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39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TD-L03 · Subjects, Timetables and Preferences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المَوَادُّ وَالجَدَاوِلُ وَالتَّفْضِيلَاتُ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TD-L03.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TD-L02 · The Classroom and Learning Tools</dc:title>
  <dc:subject>PptxGenJS Presentation</dc:subject>
  <dc:creator>Al Madina Online School · Arabic Department</dc:creator>
  <cp:lastModifiedBy>Al Madina Online School · Arabic Department</cp:lastModifiedBy>
  <cp:revision>1</cp:revision>
  <dcterms:created xsi:type="dcterms:W3CDTF">2026-10-11T06:44:05Z</dcterms:created>
  <dcterms:modified xsi:type="dcterms:W3CDTF">2026-10-11T06:44:05Z</dcterms:modified>
</cp:coreProperties>
</file>