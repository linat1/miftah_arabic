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(“Classroom Tool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“Classroom Tool Match”: book + pen, computer + mouse, the ruler in maths.
Website feedback lines: The two classroom tools match. · The computer and mouse are shown. · The ruler is used in maths.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(“Classroom Tool Match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“Classroom Tool Match”: book + pen, computer + mouse, the ruler in maths.
Website feedback lines: The two classroom tools match. · The computer and mouse are shown. · The ruler is used in maths.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D · TD-L02 — The Classroom and Learning Tools. Website: Advanced Topics › Topic D (The World of Work) › Lesson 2.
The website builds this lesson on the F4-L03 lesson engine, with the Topic focus “Explain classroom routines, resources and effective learning environments.” (grammar: يوجد/توجد; demonstratives; relative clauses; skills: Listening · Speaking) and the application challenge “Classroom bag detective”.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Topic D My School › Lesson 3 (TD-L02). Website sections used: the eight-question Topic D retrieval bridge, the classroom-object vault (12 official items with gender and plurals + wider practical bank; مَكْتَبٌ = desk or office) and the 16-question check, هَذَا / هَذِهِ (14), possession عِنْدِي / عِنْدَكَ / عِنْدَكِ / عِنْدَهُ / عِنْدَهَا and لَيْسَ عِنْدِي (12), location and counting (12), the school-bag inventory, Pack the Bag Mission (14), Layla’s bag (listening, 10), Omar and Huda (reading, 12), speaking (4 prompts), the 7–9-sentence description and the 16-question checkpoint. Picture match: website visual game.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objects + هَذَا / هَذِهِ + عِنْدِي / لَيْسَ عِنْدِي + فِي حَقِيبَتِي. Develop: asking a boy or a girl (عِنْدَكَ / عِنْدَكِ), plurals and two locations. Stretch: counting (dual and 3–10, website optional extension) and comparing two bags.
• Website route: recognise → choose → locate → communicate. Learn every noun WITH its model sentence (the ـة ending is a strong clue, not a rule).
• Real or invented bags are equally acceptable (website) — some students may not have every item.
• Urdu bridge: کتاب، قلم، دفتر، کرسی، قاموس are shared words; مکتب (Urdu school) = Arabic desk / office.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objects prepared at home at the end of F4-L02 (website). Questions 3–5 are the website “Topic D retrieval bridge” (feminine demonstrative, I have, 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This / this (f.) follows the Arabic gender of the OBJECT, not the speaker: hādhā qalamun · hādhihi misṭaratun.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(left) and the website writing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کتاب، قلم، قاموس and کرسی are the same words. FALSE FRIENDS: Urdu دفتر = office (Arabic دَفْتَرٌ = exercise book); Urdu مکتب = school (Arabic مَكْتَبٌ = desk or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OFFICIAL CLASSROOM BANK (website, masculine items). Also: غِرَاءٌ (glue, m.), وَرَقٌ / أَوْرَاقٌ (paper / sheets; وَرَقَةٌ = one sheet). Website distinction: مَكْتَبٌ can mean a desk or an office — عَلَى مَكْتَبِي كِتَابٌ = there is a book on my 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FEMININE ITEMS (website). Wider practical bank (website): قَلَمُ رَصَاصٍ (pencil), قَلَمُ حِبْرٍ (ink pen), مِبْرَاةٌ (sharpener), مَقَصٌّ (scissors), حَاسُوبٌ مَحْمُولٌ (laptop), جِهَازٌ لَوْحِيٌّ (tablet), شَاشَةٌ (screen), لَوْحَةُ مَفَاتِيحَ (keyboard), فَأْرَةُ الحَاسُوبِ (mouse), طَابِعَةٌ (printer), مَلَفٌّ (folder), كُرْسِيٌّ (chair), طَاوِلَةٌ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sections 3 “Choose هَذَا or هَذِهِ” and 4 “Say what you have”.
Website: “Do not guess from English — Arabic noun gender controls the choice. The ending ـة is a strong feminine clue, but always learn the word with its model sentence.”
Adjectives agree too (website): هَذِهِ مِقْلَمَةٌ زَرْقَاءُ · هَذَا كِتَابٌ جَدِيدٌ.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section 5 “Say where each object is”. Website location bank: فِي حَقِيبَتِي · عَلَى مَكْتَبِي · تَحْتَ الكُرْسِيِّ · بِجَانِبِ الحَاسُوبِ · أَمَامَ السَّبُّورَةِ · خَلْفَ الكِتَابِ · بَيْنَ الدَّفْتَرِ وَالقَامُوسِ · دَاخِلَ المِقْلَمَةِ.
Counting is an OPTIONAL extension (website): قَلَمٌ وَاحِدٌ · قَلَمَانِ · ثَلَاثَةُ أَقْلَامٍ / مِسْطَرَةٌ وَاحِدَةٌ · مِسْطَرَتَانِ · ثَلَاثُ مَسَاطِرَ (3–10 take the opposite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gender laboratory questions 2–3 and possession check questions 3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listening (Layla) and Omar’s profile as the model. Hold up real objects on camera if you can: “hādhā or hādhihi?”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Classroom objects”)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هٰذَا for the pencil but هٰذِهِ for the bag and the ruler? Other cards for homework: كِتَابٌ، كُرْسِيٌّ، قَلَمٌ.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Classroom objects”)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هٰذَا for the pencil but هٰذِهِ for the bag and the ruler? Other cards for homework: كِتَابٌ، كُرْسِيٌّ، قَلَمٌ.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14 Pack the Bag rounds (plural, demonstrative, ask a girl, negative, inside). The other 9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each answer ask: masculine or feminine? Who is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اِسْمِي لَيْلَى. فِي حَقِيبَتِي كِتَابُ العُلُومِ، وَدَفْتَرَانِ، وَثَلَاثَةُ أَقْلَامٍ، وَمِسْطَرَةٌ، وَمِمْحَاةٌ. لَيْسَ عِنْدِي قَامُوسٌ اليَوْمَ. عَلَى مَكْتَبِي حَاسُوبٌ مَحْمُولٌ، وَبِجَانِبِ الحَاسُوبِ مِقْلَمَةٌ زَرْقَاءُ. تَحْتَ الكُرْسِيِّ حَقِيبَةُ صَدِيقَتِي. أَسْتَخْدِمُ القَلَمَ وَالدَّفْتَرَ فِي حِصَّةِ اللُّغَةِ العَرَبِيَّةِ.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A (website, complete). Find: one demonstrative, one negative sentence and one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B (website, complete). Stretch: counting (ثَلَاثَةُ أَقْلَامٍ، كِتَابَانِ) and colour agreement (حَقِيبَتِي بَنَفْسَجِيَّةٌ · قَلَمُ حِبْرٍ أَسْوَدُ).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3, 4, 7, 8 and 11.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 APPLICATION CHALLENGE (5 min — it takes the speaking-rehearsal slot; the website speaking slide after it is FLEX) — from the website Topic page: “Describe learning tools without naming them. Partners identify each object, say where it is used and add one classroom instruction involving it.”
Website Topic D challenge “Classroom bag detective”: describe learning tools without naming them; partners identify each object, say where it is used and add one classroom instruction involving it. Gender check: كِتَابٌ / قَلَمٌ = huwa; مِسْطَرَةٌ / حَقِيبَةٌ = hiya.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D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STUDIO “Speak about classroom objects” — answer with a complete sentence, then add one colour, quantity, location or reason. Prompts (website):
• My school bag: Describe five objects and one missing object.
• My desk: Describe what is on, under and beside your desk.
• Object interview: Ask and answer three هَلْ عِنْدَكَ / عِنْدَكِ questions.
• Digital classroom: Describe four digital classroom objects.
Website checklist (1–6): five objects · هَذَا / هَذِهِ · عِنْدِي or answering هَلْ عِنْدَكَ؟ · one location · one extra detail · clear delivery.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Seven accurate modelled sentences. · Develop — Add plurals, colours and two location phrases. · Stretch — Compare two bags or explain which objects are most useful.
Website writing task (Stretch): Website writing task: 7–9 connected sentences about a real or invented school bag or desk — at least eight objects, two demonstratives, one negative sentence, two locations and two extra details (colour, quantity or reason).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Built from the website listening (Layla) and Omar’s profile. Stretch: compare with Huda’s bag (Profile B).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(TD-L03 · Subjects, Timetables and Preferences) · Likes, Dislikes and Preferences) will spend class time USING this language, so students prepare it tonight — short, simple, easy to access (school guidance: “Simple, Short, Interesting, Relevant, Easy to access”). The five words and phrases come from the website F4-L04 (website) preference language.
Follow-up: the next Do Now tests two of these words (Flipped Learning: keep it short AND follow up).
Homework by route (website tasks). No internet? Students copy the five words from this slide into their book now.
TOPIC D: the five words are the ones the TD-L03 Do Now tests (preparation list of the website F3-L12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2F6FB0"/>
                </a:solidFill>
                <a:latin typeface="Calibri" pitchFamily="34" charset="0"/>
                <a:ea typeface="Calibri" pitchFamily="34" charset="-122"/>
                <a:cs typeface="Calibri" pitchFamily="34" charset="-120"/>
              </a:rPr>
              <a:t>WE DO · PICTURE MATCH · WEBSITE GAME “CLASSROOM TOOL MATCH (TOPIC GAME)”</a:t>
            </a:r>
            <a:endParaRPr lang="en-US" sz="983"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طَابِقْ أَدَوَاتِ الْفَصْلِ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book + pen</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computer + mouse</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ruler</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أَسْتَعْمِلُ الْحَاسُوبَ وَالْفَأْرَةَ.</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نَسْتَعْمِلُ الْمِسْطَرَةَ فِي دَرْسِ الرِّيَاضِيَّاتِ.</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أَحْتَاجُ إِلَى كِتَابٍ وَقَلَمٍ.</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طَابِقْ أَدَوَاتِ الْفَصْلِ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book + pen</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أَحْتَاجُ إِلَى كِتَابٍ وَقَلَمٍ.</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need a book and a pen.</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computer + mouse</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أَسْتَعْمِلُ الْحَاسُوبَ وَالْفَأْرَةَ.</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use the computer and the mouse.</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ruler</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نَسْتَعْمِلُ الْمِسْطَرَةَ فِي دَرْسِ الرِّيَاضِيَّاتِ.</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We use the ruler in the maths lesson.</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D  ·  TD-L02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TD-L02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250" b="1" dirty="0">
                <a:solidFill>
                  <a:srgbClr val="FFFFFF"/>
                </a:solidFill>
                <a:latin typeface="Cambria" pitchFamily="34" charset="0"/>
                <a:ea typeface="Cambria" pitchFamily="34" charset="-122"/>
                <a:cs typeface="Cambria" pitchFamily="34" charset="-120"/>
              </a:rPr>
              <a:t>The Classroom and Learning Tools</a:t>
            </a:r>
            <a:endParaRPr lang="en-US" sz="32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الفَصْلُ الدِّرَاسِيُّ وَأَدَوَاتُ التَّعَلُّمِ</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Explain classroom routines, resources and effective learning environments.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TD-L02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Topic D › TD-L02</a:t>
            </a:r>
            <a:endParaRPr lang="en-US" sz="850" dirty="0"/>
          </a:p>
        </p:txBody>
      </p:sp>
      <p:sp>
        <p:nvSpPr>
          <p:cNvPr id="22" name="Text 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Classroom objects, this / this (f.), then I have and where it is.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Pack the Bag mission, listen to Layla, read Omar and Huda.</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TD-L03.</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دَفْتَرٌ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dictionary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exercise book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ruler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حَقِيبَةٌ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bag</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pen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book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demonstrative.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هُوَ</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“I have”?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عِنْدَكَ</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عِنْدَهَا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عِنْدِي</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preposition means “on”?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دَفْتَرٌ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dictionary</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an exercise book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ruler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(F4-L02,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حَقِيبَةٌ</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bag</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pen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book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(F4-L02, website).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feminine demonstrative.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هُوَ</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هَذِهِ</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هَذِهِ</a:t>
            </a:r>
            <a:pPr algn="l" indent="0" marL="0">
              <a:buNone/>
            </a:pPr>
            <a:r>
              <a:rPr lang="en-US" sz="1050" i="1" dirty="0">
                <a:solidFill>
                  <a:srgbClr val="8A6D1E"/>
                </a:solidFill>
                <a:latin typeface="Calibri" pitchFamily="34" charset="0"/>
                <a:ea typeface="Calibri" pitchFamily="34" charset="-122"/>
                <a:cs typeface="Calibri" pitchFamily="34" charset="-120"/>
              </a:rPr>
              <a:t> introduces a feminine singular noun.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“I have”?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عِنْدَكَ</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عِنْدَهَا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عِنْدِي</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عِنْدِي</a:t>
            </a:r>
            <a:pPr algn="l" indent="0" marL="0">
              <a:buNone/>
            </a:pPr>
            <a:r>
              <a:rPr lang="en-US" sz="1050" i="1" dirty="0">
                <a:solidFill>
                  <a:srgbClr val="8A6D1E"/>
                </a:solidFill>
                <a:latin typeface="Calibri" pitchFamily="34" charset="0"/>
                <a:ea typeface="Calibri" pitchFamily="34" charset="-122"/>
                <a:cs typeface="Calibri" pitchFamily="34" charset="-120"/>
              </a:rPr>
              <a:t> means I have.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preposition means “on”?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عَلَى</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تَحْتَ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عَلَى</a:t>
            </a:r>
            <a:pPr algn="l" indent="0" marL="0">
              <a:buNone/>
            </a:pPr>
            <a:r>
              <a:rPr lang="en-US" sz="1050" i="1" dirty="0">
                <a:solidFill>
                  <a:srgbClr val="8A6D1E"/>
                </a:solidFill>
                <a:latin typeface="Calibri" pitchFamily="34" charset="0"/>
                <a:ea typeface="Calibri" pitchFamily="34" charset="-122"/>
                <a:cs typeface="Calibri" pitchFamily="34" charset="-120"/>
              </a:rPr>
              <a:t> means on.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This / this (f.) follows the Arabic gender of the OBJECT, not the speaker: hādhā qalamun · hādhihi misṭaratun.</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هَذَا</a:t>
            </a:r>
            <a:pPr rtl="1" algn="ctr" indent="0" marL="0">
              <a:buNone/>
            </a:pPr>
            <a:r>
              <a:rPr lang="ar-SA" altLang="en-US" sz="2400" b="1" dirty="0">
                <a:solidFill>
                  <a:srgbClr val="1B3B6F"/>
                </a:solidFill>
                <a:latin typeface="Amiri" pitchFamily="34" charset="0"/>
                <a:ea typeface="Amiri" pitchFamily="34" charset="-122"/>
                <a:cs typeface="Amiri" pitchFamily="34" charset="-120"/>
              </a:rPr>
              <a:t> قَلَمٌ · </a:t>
            </a:r>
            <a:pPr rtl="1" algn="ctr" indent="0" marL="0">
              <a:buNone/>
            </a:pPr>
            <a:r>
              <a:rPr lang="ar-SA" altLang="en-US" sz="2400" b="1" dirty="0">
                <a:solidFill>
                  <a:srgbClr val="D6336C"/>
                </a:solidFill>
                <a:latin typeface="Amiri" pitchFamily="34" charset="0"/>
                <a:ea typeface="Amiri" pitchFamily="34" charset="-122"/>
                <a:cs typeface="Amiri" pitchFamily="34" charset="-120"/>
              </a:rPr>
              <a:t>هَذِهِ</a:t>
            </a:r>
            <a:pPr rtl="1" algn="ctr" indent="0" marL="0">
              <a:buNone/>
            </a:pPr>
            <a:r>
              <a:rPr lang="ar-SA" altLang="en-US" sz="2400" b="1" dirty="0">
                <a:solidFill>
                  <a:srgbClr val="1B3B6F"/>
                </a:solidFill>
                <a:latin typeface="Amiri" pitchFamily="34" charset="0"/>
                <a:ea typeface="Amiri" pitchFamily="34" charset="-122"/>
                <a:cs typeface="Amiri" pitchFamily="34" charset="-120"/>
              </a:rPr>
              <a:t> مِسْطَرَةٌ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Name the complete core classroom-object bank.</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hādhā / hādhihi according to noun gender.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Ask and answer what someone has.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Describe where objects are in a bag or on a desk.</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ten classroom objects.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say what I have and don’t have.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ask a boy or a girl what they have.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say where two objects are.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count objects (two, three …).</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compare two bags.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Classroom objects with gender and plurals, possession and location. Core: ten objects, this / this (f.), I have.</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Classroom objects · 12 + 16</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This · I have · you have</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Location and counting</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كِتَابٌ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‎کتاب‎ </a:t>
            </a:r>
            <a:pPr indent="0" marL="0">
              <a:buNone/>
            </a:pPr>
            <a:r>
              <a:rPr lang="en-US" sz="950" b="1" dirty="0">
                <a:solidFill>
                  <a:srgbClr val="2E8B57"/>
                </a:solidFill>
                <a:latin typeface="Calibri" pitchFamily="34" charset="0"/>
                <a:ea typeface="Calibri" pitchFamily="34" charset="-122"/>
                <a:cs typeface="Calibri" pitchFamily="34" charset="-120"/>
              </a:rPr>
              <a:t> kitāb · book</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قَلَمٌ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‎قلم‎ </a:t>
            </a:r>
            <a:pPr indent="0" marL="0">
              <a:buNone/>
            </a:pPr>
            <a:r>
              <a:rPr lang="en-US" sz="950" b="1" dirty="0">
                <a:solidFill>
                  <a:srgbClr val="2E8B57"/>
                </a:solidFill>
                <a:latin typeface="Calibri" pitchFamily="34" charset="0"/>
                <a:ea typeface="Calibri" pitchFamily="34" charset="-122"/>
                <a:cs typeface="Calibri" pitchFamily="34" charset="-120"/>
              </a:rPr>
              <a:t> qalam · pen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دَفْتَرٌ</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‎دفتر‎ </a:t>
            </a:r>
            <a:pPr indent="0" marL="0">
              <a:buNone/>
            </a:pPr>
            <a:r>
              <a:rPr lang="en-US" sz="950" b="1" dirty="0">
                <a:solidFill>
                  <a:srgbClr val="2E8B57"/>
                </a:solidFill>
                <a:latin typeface="Calibri" pitchFamily="34" charset="0"/>
                <a:ea typeface="Calibri" pitchFamily="34" charset="-122"/>
                <a:cs typeface="Calibri" pitchFamily="34" charset="-120"/>
              </a:rPr>
              <a:t> daftar · exercise book (Urdu: office)</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قَامُوسٌ</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‎قاموس‎ </a:t>
            </a:r>
            <a:pPr indent="0" marL="0">
              <a:buNone/>
            </a:pPr>
            <a:r>
              <a:rPr lang="en-US" sz="950" b="1" dirty="0">
                <a:solidFill>
                  <a:srgbClr val="2E8B57"/>
                </a:solidFill>
                <a:latin typeface="Calibri" pitchFamily="34" charset="0"/>
                <a:ea typeface="Calibri" pitchFamily="34" charset="-122"/>
                <a:cs typeface="Calibri" pitchFamily="34" charset="-120"/>
              </a:rPr>
              <a:t> qāmūs · dictionary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كُرْسِيٌّ</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‎کرسی‎ </a:t>
            </a:r>
            <a:pPr indent="0" marL="0">
              <a:buNone/>
            </a:pPr>
            <a:r>
              <a:rPr lang="en-US" sz="950" b="1" dirty="0">
                <a:solidFill>
                  <a:srgbClr val="2E8B57"/>
                </a:solidFill>
                <a:latin typeface="Calibri" pitchFamily="34" charset="0"/>
                <a:ea typeface="Calibri" pitchFamily="34" charset="-122"/>
                <a:cs typeface="Calibri" pitchFamily="34" charset="-120"/>
              </a:rPr>
              <a:t> kursiyy · chair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OFFICIAL CLASSROOM BANK (WEBSITE) ·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Book, exercise book, pen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أَدَوَاتُ الفَصْلِ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كِتَابٌ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book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ki-tāb</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كُتُبٌ</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هَذَا</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دَفْتَرٌ</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notebook / exercise book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daf-tar</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دَفَاتِرُ</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هَذَا</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قَلَمٌ</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pen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qa-lam</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أَقْلَامٌ</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59" name="Text 56"/>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هَذَا</a:t>
            </a:r>
            <a:endParaRPr lang="ar-SA" sz="135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قَامُوسٌ</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dictionary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qā-mūs</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قَوَامِيسُ</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74" name="Text 71"/>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هَذَا</a:t>
            </a:r>
            <a:endParaRPr lang="ar-SA" sz="135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مَكْتَبٌ</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desk (also: office)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mak-tab</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مَكَاتِبُ</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89" name="Text 8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هَذَا</a:t>
            </a:r>
            <a:endParaRPr lang="ar-SA" sz="135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93" name="Shape 90"/>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m.</a:t>
            </a:r>
            <a:endParaRPr lang="en-US" sz="800" dirty="0"/>
          </a:p>
        </p:txBody>
      </p:sp>
      <p:sp>
        <p:nvSpPr>
          <p:cNvPr id="95" name="Text 9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جَرَسٌ</a:t>
            </a:r>
            <a:endParaRPr lang="ar-SA" sz="3000" dirty="0"/>
          </a:p>
        </p:txBody>
      </p:sp>
      <p:sp>
        <p:nvSpPr>
          <p:cNvPr id="96" name="Text 9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bell</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ja-ras</a:t>
            </a:r>
            <a:endParaRPr lang="en-US" sz="1350" dirty="0"/>
          </a:p>
        </p:txBody>
      </p:sp>
      <p:sp>
        <p:nvSpPr>
          <p:cNvPr id="97" name="Shape 9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99" name="Text 96"/>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أَجْرَاسٌ</a:t>
            </a:r>
            <a:endParaRPr lang="ar-SA" sz="1500" dirty="0"/>
          </a:p>
        </p:txBody>
      </p:sp>
      <p:sp>
        <p:nvSpPr>
          <p:cNvPr id="100" name="Shape 9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1" name="Text 9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102" name="Text 99"/>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هَذَا</a:t>
            </a:r>
            <a:endParaRPr lang="ar-SA" sz="1350" dirty="0"/>
          </a:p>
        </p:txBody>
      </p:sp>
      <p:sp>
        <p:nvSpPr>
          <p:cNvPr id="103" name="Text 10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OFFICIAL CLASSROOM BANK (WEBSITE) ·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Ruler, pencil case, board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أَدَوَاتُ الفَصْلِ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مِسْطَرَةٌ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ruler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mis-ṭa-ra</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مَسَاطِرُ</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هَذِهِ</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مِقْلَمَةٌ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pencil case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miq-la-ma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مَقَالِمُ</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44" name="Text 41"/>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هَذِهِ</a:t>
            </a:r>
            <a:endParaRPr lang="ar-SA" sz="135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مِمْحَاةٌ</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eraser / rubber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mim-ḥā</a:t>
            </a:r>
            <a:endParaRPr lang="en-US" sz="1350" dirty="0"/>
          </a:p>
        </p:txBody>
      </p:sp>
      <p:sp>
        <p:nvSpPr>
          <p:cNvPr id="54" name="Shape 51"/>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56" name="Text 53"/>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هَذِهِ</a:t>
            </a:r>
            <a:endParaRPr lang="ar-SA" sz="1350" dirty="0"/>
          </a:p>
        </p:txBody>
      </p:sp>
      <p:sp>
        <p:nvSpPr>
          <p:cNvPr id="57" name="Shape 5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8211312"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60" name="Shape 57"/>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سَبُّورَةٌ</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board / interactive board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sab-bū-ra</a:t>
            </a:r>
            <a:endParaRPr lang="en-US" sz="1350" dirty="0"/>
          </a:p>
        </p:txBody>
      </p:sp>
      <p:sp>
        <p:nvSpPr>
          <p:cNvPr id="64" name="Shape 6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6" name="Text 6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سَبُّورَاتٌ</a:t>
            </a:r>
            <a:endParaRPr lang="ar-SA" sz="1500" dirty="0"/>
          </a:p>
        </p:txBody>
      </p:sp>
      <p:sp>
        <p:nvSpPr>
          <p:cNvPr id="67" name="Shape 6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69" name="Text 66"/>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هَذِهِ</a:t>
            </a:r>
            <a:endParaRPr lang="ar-SA" sz="135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73" name="Shape 70"/>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7" name="Text 7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حَقِيبَةٌ</a:t>
            </a:r>
            <a:endParaRPr lang="ar-SA" sz="3000" dirty="0"/>
          </a:p>
        </p:txBody>
      </p:sp>
      <p:sp>
        <p:nvSpPr>
          <p:cNvPr id="78" name="Text 7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bag / backpack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ḥa-qī-ba</a:t>
            </a:r>
            <a:endParaRPr lang="en-US" sz="1350" dirty="0"/>
          </a:p>
        </p:txBody>
      </p:sp>
      <p:sp>
        <p:nvSpPr>
          <p:cNvPr id="79" name="Shape 7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1" name="Text 7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حَقَائِبُ</a:t>
            </a:r>
            <a:endParaRPr lang="ar-SA" sz="1500" dirty="0"/>
          </a:p>
        </p:txBody>
      </p:sp>
      <p:sp>
        <p:nvSpPr>
          <p:cNvPr id="82" name="Shape 7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84" name="Text 81"/>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هَذِهِ</a:t>
            </a:r>
            <a:endParaRPr lang="ar-SA" sz="135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88" name="Shape 8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f.</a:t>
            </a:r>
            <a:endParaRPr lang="en-US" sz="800" dirty="0"/>
          </a:p>
        </p:txBody>
      </p:sp>
      <p:sp>
        <p:nvSpPr>
          <p:cNvPr id="90" name="Text 87"/>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آلَةٌ حَاسِبَةٌ</a:t>
            </a:r>
            <a:endParaRPr lang="ar-SA" sz="3000" dirty="0"/>
          </a:p>
        </p:txBody>
      </p:sp>
      <p:sp>
        <p:nvSpPr>
          <p:cNvPr id="91" name="Text 88"/>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calculator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ā-la ḥā-si-ba</a:t>
            </a:r>
            <a:endParaRPr lang="en-US" sz="1350" dirty="0"/>
          </a:p>
        </p:txBody>
      </p:sp>
      <p:sp>
        <p:nvSpPr>
          <p:cNvPr id="92" name="Shape 89"/>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93" name="Text 90"/>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this</a:t>
            </a:r>
            <a:endParaRPr lang="en-US" sz="700" dirty="0"/>
          </a:p>
        </p:txBody>
      </p:sp>
      <p:sp>
        <p:nvSpPr>
          <p:cNvPr id="94" name="Text 91"/>
          <p:cNvSpPr txBox="1"/>
          <p:nvPr/>
        </p:nvSpPr>
        <p:spPr>
          <a:xfrm>
            <a:off x="640080"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هَذِهِ</a:t>
            </a:r>
            <a:endParaRPr lang="ar-SA" sz="13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1 · THIS AND I HAVE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This (m. / f.) · I have · you have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هَذَا · هَذِهِ · عِنْدِي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Pattern</a:t>
            </a:r>
            <a:endParaRPr lang="en-US" sz="1100" dirty="0"/>
          </a:p>
        </p:txBody>
      </p:sp>
      <p:sp>
        <p:nvSpPr>
          <p:cNvPr id="17" name="Text 14"/>
          <p:cNvSpPr txBox="1"/>
          <p:nvPr/>
        </p:nvSpPr>
        <p:spPr>
          <a:xfrm>
            <a:off x="3941064" y="1810512"/>
            <a:ext cx="5522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9628632" y="226771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هَذَا</a:t>
            </a:r>
            <a:endParaRPr lang="ar-SA" sz="2400" dirty="0"/>
          </a:p>
        </p:txBody>
      </p:sp>
      <p:sp>
        <p:nvSpPr>
          <p:cNvPr id="21" name="Text 18"/>
          <p:cNvSpPr txBox="1"/>
          <p:nvPr/>
        </p:nvSpPr>
        <p:spPr>
          <a:xfrm>
            <a:off x="3959352" y="2267712"/>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هَذَا قَلَمٌ. · هَذَا كِتَابٌ.</a:t>
            </a:r>
            <a:endParaRPr lang="ar-SA" sz="2200" dirty="0"/>
          </a:p>
        </p:txBody>
      </p:sp>
      <p:sp>
        <p:nvSpPr>
          <p:cNvPr id="22" name="Text 19"/>
          <p:cNvSpPr txBox="1"/>
          <p:nvPr/>
        </p:nvSpPr>
        <p:spPr>
          <a:xfrm>
            <a:off x="566928" y="226771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this is (masculine object)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9628632" y="2881884"/>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34" charset="0"/>
                <a:ea typeface="Amiri" pitchFamily="34" charset="-122"/>
                <a:cs typeface="Amiri" pitchFamily="34" charset="-120"/>
              </a:rPr>
              <a:t>هَذِهِ</a:t>
            </a:r>
            <a:endParaRPr lang="ar-SA" sz="2400" dirty="0"/>
          </a:p>
        </p:txBody>
      </p:sp>
      <p:sp>
        <p:nvSpPr>
          <p:cNvPr id="27" name="Text 24"/>
          <p:cNvSpPr txBox="1"/>
          <p:nvPr/>
        </p:nvSpPr>
        <p:spPr>
          <a:xfrm>
            <a:off x="3959352" y="2881884"/>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هَذِهِ مِسْطَرَةٌ. · هَذِهِ حَقِيبَةٌ.</a:t>
            </a:r>
            <a:endParaRPr lang="ar-SA" sz="2200" dirty="0"/>
          </a:p>
        </p:txBody>
      </p:sp>
      <p:sp>
        <p:nvSpPr>
          <p:cNvPr id="28" name="Text 25"/>
          <p:cNvSpPr txBox="1"/>
          <p:nvPr/>
        </p:nvSpPr>
        <p:spPr>
          <a:xfrm>
            <a:off x="566928" y="2881884"/>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this is (feminine object)</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9628632" y="3496056"/>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عِنْدِي</a:t>
            </a:r>
            <a:endParaRPr lang="ar-SA" sz="2400" dirty="0"/>
          </a:p>
        </p:txBody>
      </p:sp>
      <p:sp>
        <p:nvSpPr>
          <p:cNvPr id="33" name="Text 30"/>
          <p:cNvSpPr txBox="1"/>
          <p:nvPr/>
        </p:nvSpPr>
        <p:spPr>
          <a:xfrm>
            <a:off x="3959352" y="3496056"/>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عِنْدِي قَلَمٌ وَكِتَابٌ.</a:t>
            </a:r>
            <a:endParaRPr lang="ar-SA" sz="2200" dirty="0"/>
          </a:p>
        </p:txBody>
      </p:sp>
      <p:sp>
        <p:nvSpPr>
          <p:cNvPr id="34" name="Text 31"/>
          <p:cNvSpPr txBox="1"/>
          <p:nvPr/>
        </p:nvSpPr>
        <p:spPr>
          <a:xfrm>
            <a:off x="566928" y="3496056"/>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 have</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9628632" y="4110228"/>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لَيْسَ عِنْدِي</a:t>
            </a:r>
            <a:endParaRPr lang="ar-SA" sz="2400" dirty="0"/>
          </a:p>
        </p:txBody>
      </p:sp>
      <p:sp>
        <p:nvSpPr>
          <p:cNvPr id="39" name="Text 36"/>
          <p:cNvSpPr txBox="1"/>
          <p:nvPr/>
        </p:nvSpPr>
        <p:spPr>
          <a:xfrm>
            <a:off x="3959352" y="4110228"/>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لَا، لَيْسَ عِنْدِي غِرَاءٌ.</a:t>
            </a:r>
            <a:endParaRPr lang="ar-SA" sz="2200" dirty="0"/>
          </a:p>
        </p:txBody>
      </p:sp>
      <p:sp>
        <p:nvSpPr>
          <p:cNvPr id="40" name="Text 37"/>
          <p:cNvSpPr txBox="1"/>
          <p:nvPr/>
        </p:nvSpPr>
        <p:spPr>
          <a:xfrm>
            <a:off x="566928" y="4110228"/>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 do not have</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9628632" y="4724400"/>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عِنْدَكَ / عِنْدَكِ</a:t>
            </a:r>
            <a:endParaRPr lang="ar-SA" sz="2400" dirty="0"/>
          </a:p>
        </p:txBody>
      </p:sp>
      <p:sp>
        <p:nvSpPr>
          <p:cNvPr id="45" name="Text 42"/>
          <p:cNvSpPr txBox="1"/>
          <p:nvPr/>
        </p:nvSpPr>
        <p:spPr>
          <a:xfrm>
            <a:off x="3959352" y="4724400"/>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هَلْ عِنْدَكَ قَامُوسٌ؟ · هَلْ عِنْدَكِ مِسْطَرَةٌ؟</a:t>
            </a:r>
            <a:endParaRPr lang="ar-SA" sz="2200" dirty="0"/>
          </a:p>
        </p:txBody>
      </p:sp>
      <p:sp>
        <p:nvSpPr>
          <p:cNvPr id="46" name="Text 43"/>
          <p:cNvSpPr txBox="1"/>
          <p:nvPr/>
        </p:nvSpPr>
        <p:spPr>
          <a:xfrm>
            <a:off x="566928" y="4724400"/>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 you (m. / f.) have …?</a:t>
            </a:r>
            <a:endParaRPr lang="en-US" sz="1100" dirty="0"/>
          </a:p>
        </p:txBody>
      </p:sp>
      <p:sp>
        <p:nvSpPr>
          <p:cNvPr id="47" name="Shape 44"/>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8" name="Text 45"/>
          <p:cNvSpPr txBox="1"/>
          <p:nvPr/>
        </p:nvSpPr>
        <p:spPr>
          <a:xfrm>
            <a:off x="9628632" y="5338572"/>
            <a:ext cx="201168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عِنْدَهُ / عِنْدَهَا</a:t>
            </a:r>
            <a:endParaRPr lang="ar-SA" sz="2400" dirty="0"/>
          </a:p>
        </p:txBody>
      </p:sp>
      <p:sp>
        <p:nvSpPr>
          <p:cNvPr id="49" name="Text 46"/>
          <p:cNvSpPr txBox="1"/>
          <p:nvPr/>
        </p:nvSpPr>
        <p:spPr>
          <a:xfrm>
            <a:off x="3959352" y="5338572"/>
            <a:ext cx="548640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عِنْدَهُ حَاسُوبٌ. · عِنْدَهَا حَقِيبَةٌ.</a:t>
            </a:r>
            <a:endParaRPr lang="ar-SA" sz="2200" dirty="0"/>
          </a:p>
        </p:txBody>
      </p:sp>
      <p:sp>
        <p:nvSpPr>
          <p:cNvPr id="50" name="Text 47"/>
          <p:cNvSpPr txBox="1"/>
          <p:nvPr/>
        </p:nvSpPr>
        <p:spPr>
          <a:xfrm>
            <a:off x="566928" y="5338572"/>
            <a:ext cx="322783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he has / she has</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demonstrative matches the gender of the singular noun — not the gender of the speaker.</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2 · WHERE IS IT? HOW MANY?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Place first, then the object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أَيْنَ؟ كَمْ؟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7543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IN · ON</a:t>
            </a:r>
            <a:endParaRPr lang="en-US" sz="850" dirty="0"/>
          </a:p>
        </p:txBody>
      </p:sp>
      <p:sp>
        <p:nvSpPr>
          <p:cNvPr id="18" name="Text 15"/>
          <p:cNvSpPr txBox="1"/>
          <p:nvPr/>
        </p:nvSpPr>
        <p:spPr>
          <a:xfrm>
            <a:off x="9032748" y="1874520"/>
            <a:ext cx="25618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فِي · عَلَى</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34" charset="0"/>
                <a:ea typeface="Amiri" pitchFamily="34" charset="-122"/>
                <a:cs typeface="Amiri" pitchFamily="34" charset="-120"/>
              </a:rPr>
              <a:t>فِي حَقِيبَتِي كِتَابٌ، وَعَلَى مَكْتَبِي حَاسُوبٌ.</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In my bag there is a book, and on my desk a computer.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Place phrase comes first.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85166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18516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UNDER · BESIDE · INSIDE</a:t>
            </a:r>
            <a:endParaRPr lang="en-US" sz="850" dirty="0"/>
          </a:p>
        </p:txBody>
      </p:sp>
      <p:sp>
        <p:nvSpPr>
          <p:cNvPr id="26" name="Text 23"/>
          <p:cNvSpPr txBox="1"/>
          <p:nvPr/>
        </p:nvSpPr>
        <p:spPr>
          <a:xfrm>
            <a:off x="6310884" y="1874520"/>
            <a:ext cx="14645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تَحْتَ · بِجَانِبِ · دَاخِلَ</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تَحْتَ الكُرْسِيِّ حَقِيبَةٌ.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Under the chair there is a bag.</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Also: amāma, khalfa, bayna.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COUNT · STRETCH</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وَاحِدٌ · ـَانِ · ثَلَاثَةُ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قَلَمٌ وَاحِدٌ · قَلَمَانِ · ثَلَاثَةُ أَقْلَامٍ</a:t>
            </a:r>
            <a:endParaRPr lang="ar-SA" sz="2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one pen · two pens · three pens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f.: </a:t>
            </a:r>
            <a:pPr algn="l" indent="0" marL="0">
              <a:buNone/>
            </a:pPr>
            <a:r>
              <a:rPr lang="ar-SA" altLang="en-US" sz="1450" dirty="0">
                <a:solidFill>
                  <a:srgbClr val="1F2A37"/>
                </a:solidFill>
                <a:latin typeface="Amiri" pitchFamily="34" charset="0"/>
                <a:ea typeface="Amiri" pitchFamily="34" charset="-122"/>
                <a:cs typeface="Amiri" pitchFamily="34" charset="-120"/>
              </a:rPr>
              <a:t>ثَلَاثُ مَسَاطِرَ</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Website location model: the place phrase comes first and the object follows.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عَلَى مَكْتَبِي حَاسُوبٌ.</a:t>
            </a:r>
            <a:endParaRPr lang="ar-SA" sz="20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000" b="1" dirty="0">
                <a:solidFill>
                  <a:srgbClr val="B83227"/>
                </a:solidFill>
                <a:latin typeface="Amiri" pitchFamily="34" charset="0"/>
                <a:ea typeface="Amiri" pitchFamily="34" charset="-122"/>
                <a:cs typeface="Amiri" pitchFamily="34" charset="-120"/>
              </a:rPr>
              <a:t>حَاسُوبٌ مَكْتَبِي عَلَى.</a:t>
            </a:r>
            <a:endParaRPr lang="ar-SA" sz="20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for a ruler.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مِسْطَرَةٌ.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مِسْطَرٌ.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مِسْطَرَةٌ.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for a dictionary.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قَامُوسٌ.</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قَامُوسٌ.</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قَامُوسَةٌ.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female: “Do you have a ruler?”</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عِنْدَكَ مِسْطَرَةٌ؟</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عِنْدَكِ مِسْطَرَةٌ؟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عِنْدَهَا مِسْطَرَةٌ؟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negative answer.</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 لَيْسَ عِنْدِي غِرَاءٌ.</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لَا، عِنْدِي غِرَاءٌ.</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نَعَمْ، لَيْسَ عِنْدِي غِرَاءٌ.</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for a ruler.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 مِسْطَرَةٌ.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هَذِهِ مِسْطَرٌ.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هَذِهِ مِسْطَرَةٌ.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مِسْطَرَةٌ</a:t>
            </a:r>
            <a:pPr algn="l" indent="0" marL="0">
              <a:buNone/>
            </a:pPr>
            <a:r>
              <a:rPr lang="en-US" sz="1050" i="1" dirty="0">
                <a:solidFill>
                  <a:srgbClr val="8A6D1E"/>
                </a:solidFill>
                <a:latin typeface="Calibri" pitchFamily="34" charset="0"/>
                <a:ea typeface="Calibri" pitchFamily="34" charset="-122"/>
                <a:cs typeface="Calibri" pitchFamily="34" charset="-120"/>
              </a:rPr>
              <a:t> is feminine, so use </a:t>
            </a:r>
            <a:pPr algn="l" indent="0" marL="0">
              <a:buNone/>
            </a:pPr>
            <a:r>
              <a:rPr lang="ar-SA" altLang="en-US" sz="1350" dirty="0">
                <a:solidFill>
                  <a:srgbClr val="8A6D1E"/>
                </a:solidFill>
                <a:latin typeface="Amiri" pitchFamily="34" charset="0"/>
                <a:ea typeface="Amiri" pitchFamily="34" charset="-122"/>
                <a:cs typeface="Amiri" pitchFamily="34" charset="-120"/>
              </a:rPr>
              <a:t>هَذِهِ</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 for a dictionary.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هَذَا قَامُوسٌ.</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هَذِهِ قَامُوسٌ.</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 قَامُوسَةٌ.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قَامُوسٌ</a:t>
            </a:r>
            <a:pPr algn="l" indent="0" marL="0">
              <a:buNone/>
            </a:pPr>
            <a:r>
              <a:rPr lang="en-US" sz="1050" i="1" dirty="0">
                <a:solidFill>
                  <a:srgbClr val="8A6D1E"/>
                </a:solidFill>
                <a:latin typeface="Calibri" pitchFamily="34" charset="0"/>
                <a:ea typeface="Calibri" pitchFamily="34" charset="-122"/>
                <a:cs typeface="Calibri" pitchFamily="34" charset="-120"/>
              </a:rPr>
              <a:t> is masculine.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female: “Do you have a ruler?”</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هَلْ عِنْدَكَ مِسْطَرَةٌ؟</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هَلْ عِنْدَكِ مِسْطَرَةٌ؟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هَلْ عِنْدَهَا مِسْطَرَةٌ؟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عِنْدَكِ</a:t>
            </a:r>
            <a:pPr algn="l" indent="0" marL="0">
              <a:buNone/>
            </a:pPr>
            <a:r>
              <a:rPr lang="en-US" sz="1050" i="1" dirty="0">
                <a:solidFill>
                  <a:srgbClr val="8A6D1E"/>
                </a:solidFill>
                <a:latin typeface="Calibri" pitchFamily="34" charset="0"/>
                <a:ea typeface="Calibri" pitchFamily="34" charset="-122"/>
                <a:cs typeface="Calibri" pitchFamily="34" charset="-120"/>
              </a:rPr>
              <a:t> addresses one female.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negative answer.</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لَا، لَيْسَ عِنْدِي غِرَاءٌ.</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لَا، عِنْدِي غِرَاءٌ.</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نَعَمْ، لَيْسَ عِنْدِي غِرَاءٌ.</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لَيْسَ عِنْدِي</a:t>
            </a:r>
            <a:pPr algn="l" indent="0" marL="0">
              <a:buNone/>
            </a:pPr>
            <a:r>
              <a:rPr lang="en-US" sz="1050" i="1" dirty="0">
                <a:solidFill>
                  <a:srgbClr val="8A6D1E"/>
                </a:solidFill>
                <a:latin typeface="Calibri" pitchFamily="34" charset="0"/>
                <a:ea typeface="Calibri" pitchFamily="34" charset="-122"/>
                <a:cs typeface="Calibri" pitchFamily="34" charset="-120"/>
              </a:rPr>
              <a:t> expresses not having something.</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unpack my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This is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34" charset="0"/>
                <a:ea typeface="Amiri" pitchFamily="34" charset="-122"/>
                <a:cs typeface="Amiri" pitchFamily="34" charset="-120"/>
              </a:rPr>
              <a:t>هَذِهِ</a:t>
            </a:r>
            <a:pPr rtl="1" algn="ctr" indent="0" marL="0">
              <a:buNone/>
            </a:pPr>
            <a:r>
              <a:rPr lang="ar-SA" altLang="en-US" sz="2400" b="1" dirty="0">
                <a:solidFill>
                  <a:srgbClr val="1B3B6F"/>
                </a:solidFill>
                <a:latin typeface="Amiri" pitchFamily="34" charset="0"/>
                <a:ea typeface="Amiri" pitchFamily="34" charset="-122"/>
                <a:cs typeface="Amiri" pitchFamily="34" charset="-120"/>
              </a:rPr>
              <a:t> حَقِيبَتِي المَدْرَسِيَّةُ.</a:t>
            </a:r>
            <a:endParaRPr lang="ar-SA" sz="24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Bag (f.) → hādhihi.</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In my bag</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فِي حَقِيبَتِي كِتَابٌ وَدَفْتَرٌ وَمِسْطَرَةٌ.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Place first.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I don’t have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34" charset="0"/>
                <a:ea typeface="Amiri" pitchFamily="34" charset="-122"/>
                <a:cs typeface="Amiri" pitchFamily="34" charset="-120"/>
              </a:rPr>
              <a:t>لَيْسَ عِنْدِي قَامُوسٌ اليَوْمَ.</a:t>
            </a:r>
            <a:endParaRPr lang="ar-SA" sz="23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Negative: laysa.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On my desk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عَلَى مَكْتَبِي حَاسُوبٌ، وَبِجَانِبِهِ مِقْلَمَةٌ زَرْقَاءُ.</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Colour agrees (f.).</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MASCULINE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FEMININE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00" b="1" dirty="0">
                <a:solidFill>
                  <a:srgbClr val="D6336C"/>
                </a:solidFill>
                <a:latin typeface="Amiri" pitchFamily="34" charset="0"/>
                <a:ea typeface="Amiri" pitchFamily="34" charset="-122"/>
                <a:cs typeface="Amiri" pitchFamily="34" charset="-120"/>
              </a:rPr>
              <a:t>هَذِهِ</a:t>
            </a:r>
            <a:pPr rtl="1" algn="r" indent="0" marL="0">
              <a:buNone/>
            </a:pPr>
            <a:r>
              <a:rPr lang="ar-SA" altLang="en-US" sz="1700" b="1" dirty="0">
                <a:solidFill>
                  <a:srgbClr val="1B3B6F"/>
                </a:solidFill>
                <a:latin typeface="Amiri" pitchFamily="34" charset="0"/>
                <a:ea typeface="Amiri" pitchFamily="34" charset="-122"/>
                <a:cs typeface="Amiri" pitchFamily="34" charset="-120"/>
              </a:rPr>
              <a:t> حَقِيبَتِي المَدْرَسِيَّةُ. فِي حَقِيبَتِي كِتَابٌ وَدَفْتَرٌ وَمِسْطَرَةٌ، وَلَكِنْ لَيْسَ عِنْدِي قَامُوسٌ اليَوْمَ. عَلَى مَكْتَبِي حَاسُوبٌ، وَبِجَانِبِهِ مِقْلَمَةٌ زَرْقَاءُ. </a:t>
            </a:r>
            <a:pPr rtl="1" algn="r" indent="0" marL="0">
              <a:buNone/>
            </a:pPr>
            <a:r>
              <a:rPr lang="ar-SA" altLang="en-US" sz="1700" b="1" dirty="0">
                <a:solidFill>
                  <a:srgbClr val="1D5FBF"/>
                </a:solidFill>
                <a:latin typeface="Amiri" pitchFamily="34" charset="0"/>
                <a:ea typeface="Amiri" pitchFamily="34" charset="-122"/>
                <a:cs typeface="Amiri" pitchFamily="34" charset="-120"/>
              </a:rPr>
              <a:t>هَذَا</a:t>
            </a:r>
            <a:pPr rtl="1" algn="r" indent="0" marL="0">
              <a:buNone/>
            </a:pPr>
            <a:r>
              <a:rPr lang="ar-SA" altLang="en-US" sz="1700" b="1" dirty="0">
                <a:solidFill>
                  <a:srgbClr val="1B3B6F"/>
                </a:solidFill>
                <a:latin typeface="Amiri" pitchFamily="34" charset="0"/>
                <a:ea typeface="Amiri" pitchFamily="34" charset="-122"/>
                <a:cs typeface="Amiri" pitchFamily="34" charset="-120"/>
              </a:rPr>
              <a:t> قَلَمِي.</a:t>
            </a:r>
            <a:endParaRPr lang="ar-SA" sz="17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This is my school bag. In my bag there is a book, an exercise book and a ruler, but I don’t have a dictionary today. On my desk there is a computer, and beside it a blue pencil case. This is my pen.</a:t>
            </a:r>
            <a:endParaRPr lang="en-US" sz="11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PICTURE MATCH · WEBSITE GAME “VISUAL GAME — CLASSROOM OBJECTS”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is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صُورَةُ الفَصْلِ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pencil</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4" name="Shape 20"/>
          <p:cNvSpPr/>
          <p:nvPr/>
        </p:nvSpPr>
        <p:spPr>
          <a:xfrm>
            <a:off x="558698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6" name="Text 2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school bag</a:t>
            </a:r>
            <a:endParaRPr lang="en-US" sz="1100" dirty="0"/>
          </a:p>
        </p:txBody>
      </p:sp>
      <p:sp>
        <p:nvSpPr>
          <p:cNvPr id="27"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0" name="Shape 25"/>
          <p:cNvSpPr/>
          <p:nvPr/>
        </p:nvSpPr>
        <p:spPr>
          <a:xfrm>
            <a:off x="1767840"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2" name="Text 2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ruler</a:t>
            </a:r>
            <a:endParaRPr lang="en-US" sz="1100" dirty="0"/>
          </a:p>
        </p:txBody>
      </p:sp>
      <p:sp>
        <p:nvSpPr>
          <p:cNvPr id="33"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4"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5"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36"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هٰذِهِ مِسْطَرَةٌ.</a:t>
            </a:r>
            <a:endParaRPr lang="ar-SA" sz="2000" dirty="0"/>
          </a:p>
        </p:txBody>
      </p:sp>
      <p:sp>
        <p:nvSpPr>
          <p:cNvPr id="37"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8"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39"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0"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هٰذَا قَلَمُ رَصَاصٍ.</a:t>
            </a:r>
            <a:endParaRPr lang="ar-SA" sz="2000" dirty="0"/>
          </a:p>
        </p:txBody>
      </p:sp>
      <p:sp>
        <p:nvSpPr>
          <p:cNvPr id="41"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2"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3"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4"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هٰذِهِ حَقِيبَةٌ.</a:t>
            </a:r>
            <a:endParaRPr lang="ar-SA" sz="2000" dirty="0"/>
          </a:p>
        </p:txBody>
      </p:sp>
      <p:sp>
        <p:nvSpPr>
          <p:cNvPr id="45"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46"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47"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صُورَةُ الفَصْلِ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pencil</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هٰذَا قَلَمُ رَصَاصٍ.</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This is a pencil.</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9" name="Shape 25"/>
          <p:cNvSpPr/>
          <p:nvPr/>
        </p:nvSpPr>
        <p:spPr>
          <a:xfrm>
            <a:off x="558698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1"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school bag</a:t>
            </a:r>
            <a:endParaRPr lang="en-US" sz="1100" dirty="0"/>
          </a:p>
        </p:txBody>
      </p:sp>
      <p:sp>
        <p:nvSpPr>
          <p:cNvPr id="32"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3"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4"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5" name="Text 30"/>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هٰذِهِ حَقِيبَةٌ.</a:t>
            </a:r>
            <a:endParaRPr lang="ar-SA" sz="2200" dirty="0"/>
          </a:p>
        </p:txBody>
      </p:sp>
      <p:sp>
        <p:nvSpPr>
          <p:cNvPr id="36"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This is a bag.</a:t>
            </a:r>
            <a:endParaRPr lang="en-US" sz="1200" dirty="0"/>
          </a:p>
        </p:txBody>
      </p:sp>
      <p:sp>
        <p:nvSpPr>
          <p:cNvPr id="37"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39"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Shape 35"/>
          <p:cNvSpPr/>
          <p:nvPr/>
        </p:nvSpPr>
        <p:spPr>
          <a:xfrm>
            <a:off x="1767840" y="2066544"/>
            <a:ext cx="1014984" cy="1014984"/>
          </a:xfrm>
          <a:prstGeom prst="ellipse">
            <a:avLst/>
          </a:prstGeom>
          <a:solidFill>
            <a:srgbClr val="F4F1EA"/>
          </a:solidFill>
          <a:ln w="12700">
            <a:solidFill>
              <a:srgbClr val="F4F1EA"/>
            </a:solidFill>
            <a:prstDash val="solid"/>
          </a:ln>
        </p:spPr>
      </p:sp>
      <p:pic>
        <p:nvPicPr>
          <p:cNvPr id="41"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2" name="Text 36"/>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ruler</a:t>
            </a:r>
            <a:endParaRPr lang="en-US" sz="1100" dirty="0"/>
          </a:p>
        </p:txBody>
      </p:sp>
      <p:sp>
        <p:nvSpPr>
          <p:cNvPr id="43"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4"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5"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6"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هٰذِهِ مِسْطَرَةٌ.</a:t>
            </a:r>
            <a:endParaRPr lang="ar-SA" sz="2200" dirty="0"/>
          </a:p>
        </p:txBody>
      </p:sp>
      <p:sp>
        <p:nvSpPr>
          <p:cNvPr id="47"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This is a ruler.</a:t>
            </a:r>
            <a:endParaRPr lang="en-US" sz="1200" dirty="0"/>
          </a:p>
        </p:txBody>
      </p:sp>
      <p:sp>
        <p:nvSpPr>
          <p:cNvPr id="48"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“PACK THE BAG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Pack the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تَجْهِيزِ الحَقِيبَةِ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plural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كِتَابٌ.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كِتَابَاتٌ</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كَاتِبُونَ</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كُتُبٌ</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Eraser: Choose the accurate demonstrative sentence.</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مِمْحَاةٌ.</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مِمْحَايٌ.</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مِمْحَاةٌ.</a:t>
            </a:r>
            <a:endParaRPr lang="ar-SA" sz="2050" dirty="0"/>
          </a:p>
        </p:txBody>
      </p:sp>
      <p:sp>
        <p:nvSpPr>
          <p:cNvPr id="42" name="Shape 39"/>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School bag: Ask one female what is in her bag.</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مَاذَا فِي حَقِيبَتِكِ؟</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مَاذَا فِي حَقِيبَتِكَ؟</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عِنْدَهَا حَقِيبَةٌ؟</a:t>
            </a:r>
            <a:endParaRPr lang="ar-SA" sz="20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Scissors: Choose “I do not have scissors”.</a:t>
            </a:r>
            <a:endParaRPr lang="en-US" sz="125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عِنْدِي مَقَصٌّ.</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لَيْسَ عِنْدِي مَقَصٌّ.</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لَيْسَ عِنْدَكَ مَقَصٌّ.</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1" name="Text 6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Pencil case: Choose “inside the pencil case”.</a:t>
            </a:r>
            <a:endParaRPr lang="en-US" sz="1250" dirty="0"/>
          </a:p>
        </p:txBody>
      </p:sp>
      <p:sp>
        <p:nvSpPr>
          <p:cNvPr id="72" name="Shape 69"/>
          <p:cNvSpPr/>
          <p:nvPr/>
        </p:nvSpPr>
        <p:spPr>
          <a:xfrm>
            <a:off x="4459224" y="4873752"/>
            <a:ext cx="256032" cy="256032"/>
          </a:xfrm>
          <a:prstGeom prst="ellipse">
            <a:avLst/>
          </a:prstGeom>
          <a:solidFill>
            <a:srgbClr val="F4F1EA"/>
          </a:solidFill>
          <a:ln w="12700">
            <a:solidFill>
              <a:srgbClr val="F4F1EA"/>
            </a:solidFill>
            <a:prstDash val="solid"/>
          </a:ln>
        </p:spPr>
      </p:sp>
      <p:sp>
        <p:nvSpPr>
          <p:cNvPr id="73" name="Text 70"/>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4" name="Text 71"/>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دَاخِلَ المِقْلَمَةِ</a:t>
            </a:r>
            <a:endParaRPr lang="ar-SA" sz="2050" dirty="0"/>
          </a:p>
        </p:txBody>
      </p:sp>
      <p:sp>
        <p:nvSpPr>
          <p:cNvPr id="75" name="Shape 72"/>
          <p:cNvSpPr/>
          <p:nvPr/>
        </p:nvSpPr>
        <p:spPr>
          <a:xfrm>
            <a:off x="4459224" y="53309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7" name="Text 74"/>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بَيْنَ المِقْلَمَةِ</a:t>
            </a:r>
            <a:endParaRPr lang="ar-SA" sz="2050" dirty="0"/>
          </a:p>
        </p:txBody>
      </p:sp>
      <p:sp>
        <p:nvSpPr>
          <p:cNvPr id="78" name="Shape 75"/>
          <p:cNvSpPr/>
          <p:nvPr/>
        </p:nvSpPr>
        <p:spPr>
          <a:xfrm>
            <a:off x="4459224" y="57881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0" name="Text 77"/>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فَوْقَ المِقْلَمَةِ</a:t>
            </a:r>
            <a:endParaRPr lang="ar-SA" sz="2050" dirty="0"/>
          </a:p>
        </p:txBody>
      </p:sp>
      <p:sp>
        <p:nvSpPr>
          <p:cNvPr id="81" name="Shape 7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4" name="Text 8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m. → hādhā · f. → hādhihi</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boy: ‘indaka · girl: ‘indaki</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I don’t have: laysa ‘indī</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MISSION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Mission: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plural of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كِتَابٌ.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كِتَابَاتٌ</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كَاتِبُونَ</a:t>
            </a:r>
            <a:endParaRPr lang="ar-SA" sz="1700" dirty="0"/>
          </a:p>
        </p:txBody>
      </p:sp>
      <p:sp>
        <p:nvSpPr>
          <p:cNvPr id="26" name="Shape 23"/>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كُتُبٌ</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كُتُبٌ</a:t>
            </a:r>
            <a:pPr algn="l" indent="0" marL="0">
              <a:buNone/>
            </a:pPr>
            <a:r>
              <a:rPr lang="en-US" sz="1050" i="1" dirty="0">
                <a:solidFill>
                  <a:srgbClr val="8A6D1E"/>
                </a:solidFill>
                <a:latin typeface="Calibri" pitchFamily="34" charset="0"/>
                <a:ea typeface="Calibri" pitchFamily="34" charset="-122"/>
                <a:cs typeface="Calibri" pitchFamily="34" charset="-120"/>
              </a:rPr>
              <a:t> is the plural.</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Eraser: Choose the accurate demonstrative sentence.</a:t>
            </a:r>
            <a:endParaRPr lang="en-US" sz="1250" dirty="0"/>
          </a:p>
        </p:txBody>
      </p:sp>
      <p:sp>
        <p:nvSpPr>
          <p:cNvPr id="35" name="Shape 32"/>
          <p:cNvSpPr/>
          <p:nvPr/>
        </p:nvSpPr>
        <p:spPr>
          <a:xfrm>
            <a:off x="4459224" y="2490216"/>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هَذَا مِمْحَاةٌ.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هَذِهِ مِمْحَايٌ.</a:t>
            </a:r>
            <a:endParaRPr lang="ar-SA" sz="1700" dirty="0"/>
          </a:p>
        </p:txBody>
      </p:sp>
      <p:sp>
        <p:nvSpPr>
          <p:cNvPr id="41" name="Shape 38"/>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4459224" y="3233928"/>
            <a:ext cx="256032" cy="256032"/>
          </a:xfrm>
          <a:prstGeom prst="ellipse">
            <a:avLst/>
          </a:prstGeom>
          <a:solidFill>
            <a:srgbClr val="2E8B57"/>
          </a:solidFill>
          <a:ln w="12700">
            <a:solidFill>
              <a:srgbClr val="2E8B57"/>
            </a:solidFill>
            <a:prstDash val="solid"/>
          </a:ln>
        </p:spPr>
      </p:sp>
      <p:sp>
        <p:nvSpPr>
          <p:cNvPr id="43" name="Text 40"/>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هَذِهِ مِمْحَاةٌ.</a:t>
            </a:r>
            <a:endParaRPr lang="ar-SA" sz="1700" dirty="0"/>
          </a:p>
        </p:txBody>
      </p:sp>
      <p:sp>
        <p:nvSpPr>
          <p:cNvPr id="45" name="Text 42"/>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مِمْحَاةٌ</a:t>
            </a:r>
            <a:pPr algn="l" indent="0" marL="0">
              <a:buNone/>
            </a:pPr>
            <a:r>
              <a:rPr lang="en-US" sz="1050" i="1" dirty="0">
                <a:solidFill>
                  <a:srgbClr val="8A6D1E"/>
                </a:solidFill>
                <a:latin typeface="Calibri" pitchFamily="34" charset="0"/>
                <a:ea typeface="Calibri" pitchFamily="34" charset="-122"/>
                <a:cs typeface="Calibri" pitchFamily="34" charset="-120"/>
              </a:rPr>
              <a:t> is feminine.</a:t>
            </a:r>
            <a:endParaRPr lang="en-US" sz="1050" dirty="0"/>
          </a:p>
        </p:txBody>
      </p:sp>
      <p:sp>
        <p:nvSpPr>
          <p:cNvPr id="46" name="Shape 43"/>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School bag: Ask one female what is in her bag.</a:t>
            </a:r>
            <a:endParaRPr lang="en-US" sz="1250" dirty="0"/>
          </a:p>
        </p:txBody>
      </p:sp>
      <p:sp>
        <p:nvSpPr>
          <p:cNvPr id="50" name="Shape 47"/>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490216"/>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مَاذَا فِي حَقِيبَتِكِ؟</a:t>
            </a:r>
            <a:endParaRPr lang="ar-SA" sz="170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مَاذَا فِي حَقِيبَتِكَ؟</a:t>
            </a:r>
            <a:endParaRPr lang="ar-SA" sz="1700" dirty="0"/>
          </a:p>
        </p:txBody>
      </p:sp>
      <p:sp>
        <p:nvSpPr>
          <p:cNvPr id="57" name="Shape 54"/>
          <p:cNvSpPr/>
          <p:nvPr/>
        </p:nvSpPr>
        <p:spPr>
          <a:xfrm>
            <a:off x="8278368" y="323392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هَلْ عِنْدَهَا حَقِيبَةٌ؟</a:t>
            </a:r>
            <a:endParaRPr lang="ar-SA" sz="170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female listener ending is </a:t>
            </a:r>
            <a:pPr algn="l" indent="0" marL="0">
              <a:buNone/>
            </a:pPr>
            <a:r>
              <a:rPr lang="ar-SA" altLang="en-US" sz="1350" dirty="0">
                <a:solidFill>
                  <a:srgbClr val="8A6D1E"/>
                </a:solidFill>
                <a:latin typeface="Amiri" pitchFamily="34" charset="0"/>
                <a:ea typeface="Amiri" pitchFamily="34" charset="-122"/>
                <a:cs typeface="Amiri" pitchFamily="34" charset="-120"/>
              </a:rPr>
              <a:t>ـكِ</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Scissors: Choose “I do not have scissors”.</a:t>
            </a:r>
            <a:endParaRPr lang="en-US" sz="125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عِنْدِي مَقَصٌّ.</a:t>
            </a:r>
            <a:endParaRPr lang="ar-SA" sz="1700" dirty="0"/>
          </a:p>
        </p:txBody>
      </p:sp>
      <p:sp>
        <p:nvSpPr>
          <p:cNvPr id="68" name="Shape 65"/>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5202936"/>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لَيْسَ عِنْدِي مَقَصٌّ.</a:t>
            </a:r>
            <a:endParaRPr lang="ar-SA" sz="1700" dirty="0"/>
          </a:p>
        </p:txBody>
      </p:sp>
      <p:sp>
        <p:nvSpPr>
          <p:cNvPr id="72" name="Shape 69"/>
          <p:cNvSpPr/>
          <p:nvPr/>
        </p:nvSpPr>
        <p:spPr>
          <a:xfrm>
            <a:off x="640080"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لَيْسَ عِنْدَكَ مَقَصٌّ.</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لَيْسَ عِنْدِي</a:t>
            </a:r>
            <a:pPr algn="l" indent="0" marL="0">
              <a:buNone/>
            </a:pPr>
            <a:r>
              <a:rPr lang="en-US" sz="1050" i="1" dirty="0">
                <a:solidFill>
                  <a:srgbClr val="8A6D1E"/>
                </a:solidFill>
                <a:latin typeface="Calibri" pitchFamily="34" charset="0"/>
                <a:ea typeface="Calibri" pitchFamily="34" charset="-122"/>
                <a:cs typeface="Calibri" pitchFamily="34" charset="-120"/>
              </a:rPr>
              <a:t> gives the negative first-person answer.</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9" name="Text 76"/>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Pencil case: Choose “inside the pencil case”.</a:t>
            </a:r>
            <a:endParaRPr lang="en-US" sz="1250" dirty="0"/>
          </a:p>
        </p:txBody>
      </p:sp>
      <p:sp>
        <p:nvSpPr>
          <p:cNvPr id="80" name="Shape 77"/>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8"/>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دَاخِلَ المِقْلَمَةِ</a:t>
            </a:r>
            <a:endParaRPr lang="ar-SA" sz="1700" dirty="0"/>
          </a:p>
        </p:txBody>
      </p:sp>
      <p:sp>
        <p:nvSpPr>
          <p:cNvPr id="84" name="Shape 81"/>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6" name="Text 83"/>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بَيْنَ المِقْلَمَةِ</a:t>
            </a:r>
            <a:endParaRPr lang="ar-SA" sz="1700" dirty="0"/>
          </a:p>
        </p:txBody>
      </p:sp>
      <p:sp>
        <p:nvSpPr>
          <p:cNvPr id="87" name="Shape 84"/>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9" name="Text 86"/>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فَوْقَ المِقْلَمَةِ</a:t>
            </a:r>
            <a:endParaRPr lang="ar-SA" sz="1700" dirty="0"/>
          </a:p>
        </p:txBody>
      </p:sp>
      <p:sp>
        <p:nvSpPr>
          <p:cNvPr id="90" name="Text 87"/>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دَاخِلَ</a:t>
            </a:r>
            <a:pPr algn="l" indent="0" marL="0">
              <a:buNone/>
            </a:pPr>
            <a:r>
              <a:rPr lang="en-US" sz="1050" i="1" dirty="0">
                <a:solidFill>
                  <a:srgbClr val="8A6D1E"/>
                </a:solidFill>
                <a:latin typeface="Calibri" pitchFamily="34" charset="0"/>
                <a:ea typeface="Calibri" pitchFamily="34" charset="-122"/>
                <a:cs typeface="Calibri" pitchFamily="34" charset="-120"/>
              </a:rPr>
              <a:t> means inside.</a:t>
            </a:r>
            <a:endParaRPr lang="en-US" sz="1050" dirty="0"/>
          </a:p>
        </p:txBody>
      </p:sp>
      <p:sp>
        <p:nvSpPr>
          <p:cNvPr id="91" name="Shape 88"/>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2" name="Shape 89"/>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4" name="Text 91"/>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m. → hādhā · f. → hādhihi</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boy: ‘indaka · girl: ‘indaki</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I don’t have: laysa ‘indī</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هَذَا مِسْطَرَةٌ.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Ruler: hādhā or hādhihi?</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يَا مَرْيَمُ، هَلْ عِنْدَكَ قَلَمٌ؟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Talking to a girl: which ending?</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لَا عِنْدِي غِرَاءٌ.</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I don’t have: which word?</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هَذَا مِسْطَرَةٌ.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هَذِهِ مِسْطَرَةٌ.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Ruler is feminine (</a:t>
            </a:r>
            <a:pPr algn="l" indent="0" marL="0">
              <a:buNone/>
            </a:pPr>
            <a:r>
              <a:rPr lang="ar-SA" altLang="en-US" sz="1500" b="1" dirty="0">
                <a:solidFill>
                  <a:srgbClr val="1B3B6F"/>
                </a:solidFill>
                <a:latin typeface="Amiri" pitchFamily="34" charset="0"/>
                <a:ea typeface="Amiri" pitchFamily="34" charset="-122"/>
                <a:cs typeface="Amiri" pitchFamily="34" charset="-120"/>
              </a:rPr>
              <a:t>ـة</a:t>
            </a:r>
            <a:pPr algn="l" indent="0" marL="0">
              <a:buNone/>
            </a:pPr>
            <a:r>
              <a:rPr lang="en-US" sz="1150" b="1" dirty="0">
                <a:solidFill>
                  <a:srgbClr val="1B3B6F"/>
                </a:solidFill>
                <a:latin typeface="Calibri" pitchFamily="34" charset="0"/>
                <a:ea typeface="Calibri" pitchFamily="34" charset="-122"/>
                <a:cs typeface="Calibri" pitchFamily="34" charset="-120"/>
              </a:rPr>
              <a:t>): hādhihi.</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يَا مَرْيَمُ، هَلْ عِنْدَكَ قَلَمٌ؟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يَا مَرْيَمُ، هَلْ عِنْدَكِ قَلَمٌ؟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One female listener: ‘indaki.</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لَا عِنْدِي غِرَاءٌ.</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لَيْسَ عِنْدِي غِرَاءٌ.</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I don’t have = laysa ‘indī.</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Layla’s school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notebooks does she have?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two</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three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not have today?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ruler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notebook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dictionary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on her desk?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tablet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printer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laptop</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colour is the pencil case?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blue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purple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under the chair?</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her own bag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her friend’s bag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dictionary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Five headings: bag · missing · desk · colour · under the chair.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34" charset="0"/>
                <a:ea typeface="Amiri" pitchFamily="34" charset="-122"/>
                <a:cs typeface="Amiri" pitchFamily="34" charset="-120"/>
              </a:rPr>
              <a:t>اِسْمِي لَيْلَى. فِي حَقِيبَتِي كِتَابُ العُلُومِ، وَدَفْتَرَانِ، وَثَلَاثَةُ أَقْلَامٍ، وَمِسْطَرَةٌ، وَمِمْحَاةٌ.</a:t>
            </a:r>
            <a:endParaRPr lang="ar-SA" sz="18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My name is Layla. In my bag there is the science book, two exercise books, three pens, a ruler and an eraser.</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لَيْسَ عِنْدِي قَامُوسٌ اليَوْمَ.</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don’t have a dictionary today.</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عَلَى مَكْتَبِي حَاسُوبٌ مَحْمُولٌ، وَبِجَانِبِ الحَاسُوبِ مِقْلَمَةٌ زَرْقَاءُ.</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my desk there is a laptop, and beside the computer a blue pencil case.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تَحْتَ الكُرْسِيِّ حَقِيبَةُ صَدِيقَتِي.</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Under the chair is my friend’s bag.</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أَسْتَخْدِمُ القَلَمَ وَالدَّفْتَرَ فِي حِصَّةِ اللُّغَةِ العَرَبِيَّةِ.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use the pen and the exercise book in the Arabic lesson.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many notebooks does she have?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two</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three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دَفْتَرَانِ</a:t>
            </a:r>
            <a:pPr algn="l" indent="0" marL="0">
              <a:buNone/>
            </a:pPr>
            <a:r>
              <a:rPr lang="en-US" sz="1050" i="1" dirty="0">
                <a:solidFill>
                  <a:srgbClr val="8A6D1E"/>
                </a:solidFill>
                <a:latin typeface="Calibri" pitchFamily="34" charset="0"/>
                <a:ea typeface="Calibri" pitchFamily="34" charset="-122"/>
                <a:cs typeface="Calibri" pitchFamily="34" charset="-120"/>
              </a:rPr>
              <a:t> means two notebooks.</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she not have today?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ruler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notebook</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dictionary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لَيْسَ عِنْدِي قَامُوسٌ اليَوْمَ.</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on her desk?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tablet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printer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laptop</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عَلَى مَكْتَبِي حَاسُوبٌ مَحْمُولٌ.</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colour is the pencil case?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blue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purple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describes it as </a:t>
            </a:r>
            <a:pPr algn="l" indent="0" marL="0">
              <a:buNone/>
            </a:pPr>
            <a:r>
              <a:rPr lang="ar-SA" altLang="en-US" sz="1350" dirty="0">
                <a:solidFill>
                  <a:srgbClr val="8A6D1E"/>
                </a:solidFill>
                <a:latin typeface="Amiri" pitchFamily="34" charset="0"/>
                <a:ea typeface="Amiri" pitchFamily="34" charset="-122"/>
                <a:cs typeface="Amiri" pitchFamily="34" charset="-120"/>
              </a:rPr>
              <a:t>زَرْقَاءُ</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under the chair?</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her own bag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her friend’s bag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dictionary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تَحْتَ الكُرْسِيِّ حَقِيبَةُ صَدِيقَتِي.</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Five headings: bag · missing · desk · colour · under the chair.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 PROFILE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Omar’s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المَلَفُّ (أ)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عُمَرُ. هَذِهِ حَقِيبَتِي المَدْرَسِيَّةُ.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Omar · this is my school bag (f.)</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فِيهَا كِتَابٌ، وَدَفْتَرٌ، وَقَلَمُ رَصَاصٍ، وَمِسْطَرَةٌ.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 it: book, exercise book, pencil, ruler</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عِنْدِي أَيْضًا آلَةٌ حَاسِبَةٌ صَغِيرَةٌ.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Also: a small calculator</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لَيْسَ عِنْدِي غِرَاءٌ.</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Missing: glue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عَلَى مَكْتَبِي قَامُوسٌ وَحَاسُوبٌ.</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desk: dictionary + computer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 PROFILE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Huda’s pencil case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المَلَفُّ (ب)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اِسْمِي هُدَى.</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Huda</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فِي مِقْلَمَتِي ثَلَاثَةُ أَقْلَامٍ وَمِمْحَاةٌ وَمِبْرَاةٌ.</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Pencil case: 3 pens, eraser, sharpener</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حَقِيبَتِي بَنَفْسَجِيَّةٌ، وَفِيهَا كِتَابَانِ وَأَوْرَاقٌ.</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Bag: purple · two books + papers</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عَلَى الطَّاوِلَةِ جِهَازٌ لَوْحِيٌّ،</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table: a tablet</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وَبِجَانِبِهِ قَلَمُ حِبْرٍ أَسْوَدُ.</a:t>
            </a:r>
            <a:endParaRPr lang="ar-SA" sz="200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Beside it: a black ink pen</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Omar or Huda?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extra device does Omar have?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tablet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small calculator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printer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Omar not have?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ruler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notebook</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glue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small tools are in Huda’s pencil case?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 eraser and a sharpener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glue and scissors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ruler and a calculator</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colour is Huda’s bag?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blue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purple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black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beside the device?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black ink pen</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blue pencil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ruler</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Find the place phrase,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then the object after it.</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extra device does Omar have?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tablet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small calculator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printer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has </a:t>
            </a:r>
            <a:pPr algn="l" indent="0" marL="0">
              <a:buNone/>
            </a:pPr>
            <a:r>
              <a:rPr lang="ar-SA" altLang="en-US" sz="1350" dirty="0">
                <a:solidFill>
                  <a:srgbClr val="8A6D1E"/>
                </a:solidFill>
                <a:latin typeface="Amiri" pitchFamily="34" charset="0"/>
                <a:ea typeface="Amiri" pitchFamily="34" charset="-122"/>
                <a:cs typeface="Amiri" pitchFamily="34" charset="-120"/>
              </a:rPr>
              <a:t>آلَةٌ حَاسِبَةٌ صَغِيرَةٌ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Omar not have?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ruler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notebook</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glue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لَيْسَ عِنْدِي غِرَاءٌ</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two small tools are in Huda’s pencil case?</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an eraser and a sharpener</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glue and scissors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ruler and a calculator</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مِمْحَاةٌ وَمِبْرَاةٌ.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colour is Huda’s bag?</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blue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purple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black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حَقِيبَتِي بَنَفْسَجِيَّةٌ.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beside the device?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black ink pen</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blue pencil</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ruler</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بِجَانِبِهِ قَلَمُ حِبْرٍ أَسْوَدُ.</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Find the place phrase,</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then the object after it.</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TOPIC D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Classroom bag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TOPIC D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ea typeface="Calibri" pitchFamily="34" charset="-122"/>
                <a:cs typeface="Calibri" pitchFamily="34" charset="-120"/>
              </a:rPr>
              <a:t>🎒  Classroom bag detective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Describe learning tools without naming them. Partners identify each object, say where it is used and add one classroom instruction involving it.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Each student secretly chooses one learning tool from the lesson.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Describe it in three clues WITHOUT its name: colour / size, where it is used, what you do with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Partners guess, then say where it is used (fī ṣaff …).</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The guesser adds one classroom instruction with the tool (e.g. “open your book”).</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Two clues with “huwa / hiya” and one place (fī al-ḥaqība).</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Three clues with yūjad / tūjad and a demonstrative (hādhā / hādhihi).</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Three clues with a relative clause (alladhī / allatī nastaʿmiluhu …) and an imperative instruction.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هُوَ / هِيَ … فِي الحَقِيبَةِ</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it (m. / f.) is … in the bag</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نَسْتَعْمِلُهُ فِي دَرْسِ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we use it in the … lesson</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الَّذِي / الَّتِي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which (m. / f.)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34" charset="0"/>
                <a:ea typeface="Amiri" pitchFamily="34" charset="-122"/>
                <a:cs typeface="Amiri" pitchFamily="34" charset="-120"/>
              </a:rPr>
              <a:t>افْتَحْ كِتَابَكَ!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ea typeface="Calibri" pitchFamily="34" charset="-122"/>
                <a:cs typeface="Calibri" pitchFamily="34" charset="-120"/>
              </a:rPr>
              <a:t>open your book!</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Speak about classroom objects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فِي حَقِيبَتِكَ؟ / مَاذَا فِي حَقِيبَتِكِ؟</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عِنْدَكَ قَامُوسٌ؟ / هَلْ عِنْدَكِ قَامُوسٌ؟</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مَاذَا عَلَى مَكْتَبِكَ؟ وَمَاذَا تَحْتَ الكُرْسِيِّ؟</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أَهَمُّ أَدَاةٍ فِي حَقِيبَتِكَ؟ وَلِمَاذَا؟</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فِي حَقِيبَتِي ___ وَ ___ وَ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34" charset="0"/>
                <a:ea typeface="Amiri" pitchFamily="34" charset="-122"/>
                <a:cs typeface="Amiri" pitchFamily="34" charset="-120"/>
              </a:rPr>
              <a:t>نَعَمْ، عِنْدِي ___ . / لَا، لَيْسَ عِنْدِي ___ .</a:t>
            </a:r>
            <a:endParaRPr lang="ar-SA" sz="145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عَلَى مَكْتَبِي ___ ، وَتَحْتَ الكُرْسِيِّ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أَهَمُّ أَدَاةٍ ___ لِأَنَّهُ / لِأَنَّهَا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هَلْ عِنْدَكِ مِسْطَرَةٌ؟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Do you (f.) have a ruler?</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نَعَمْ، عِنْدِي مِسْطَرَةٌ. هَلْ عِنْدَكِ غِرَاءٌ؟ — لَا، لَيْسَ عِنْدِي غِرَاءٌ.</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Yes, I have a ruler. Do you have glue? — No, I don’t have glue.</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7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Seven accurate modelled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This is … · In my bag … · I don’t have … using the models.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7–9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Add plurals, colours and two location phrases.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Add plurals, colours and two location phrases.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9+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Compare two bags or explain which objects are most useful.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Compare two bags or explain the most useful objects.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مَكْتَبِي حَاسُوبٌ.</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On my desk there is a computer.</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تَحْتَ الكُرْسِيِّ حَقِيبَةٌ.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Under the chair there is a bag.</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بِجَانِبِ الحَاسُوبِ مِقْلَمَةٌ زَرْقَاءُ.</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Beside the computer there is a blue pencil case.</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هَلْ عِنْدَكِ آلَةٌ حَاسِبَةٌ؟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Do you (f.) have a calculator?</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عِنْدِي كِتَابَانِ وَثَلَاثَةُ أَقْلَامٍ.</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have two books and three pens.</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هَذِهِ حَقِيبَتِي المَدْرَسِيَّةُ.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is my school bag.</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فِي حَقِيبَتِي كِتَابٌ وَقَلَمٌ.</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In my bag there is a book and a pen.</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عِنْدِي مِسْطَرَةٌ.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have a ruler.</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لَيْسَ عِنْدِي قَامُوسٌ.</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don’t have a dictionary.</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هَذَا قَلَمٌ.</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This is a pen.</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كِتَابٌ  ·  دَفْتَرٌ  ·  قَلَمٌ  ·  مِسْطَرَةٌ  ·  مِقْلَمَةٌ  ·  حَقِيبَةٌ  ·  هَذَا  ·  هَذِهِ  ·  عِنْدِي  ·  لَيْسَ عِنْدِي  ·  فِي  ·  عَلَى</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هَذِهِ حَقِيبَتِي المَدْرَسِيَّةُ. فِي حَقِيبَتِي كِتَابٌ وَدَفْتَرَانِ وَثَلَاثَةُ أَقْلَامٍ وَمِسْطَرَةٌ وَمِمْحَاةٌ. عِنْدِي أَيْضًا آلَةٌ حَاسِبَةٌ صَغِيرَةٌ، وَلَكِنْ لَيْسَ عِنْدِي قَامُوسٌ اليَوْمَ. عَلَى مَكْتَبِي حَاسُوبٌ مَحْمُولٌ، وَبِجَانِبِ الحَاسُوبِ مِقْلَمَةٌ زَرْقَاءُ. تَحْتَ الكُرْسِيِّ حَقِيبَةُ صَدِيقَتِي.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This is my school bag. In my bag there is a book, two exercise books, three pens, a ruler and an eraser. I also have a small calculator, but I don’t have a dictionary today. On my desk there is a laptop, and beside the computer a blue pencil case. Under the chair is my friend’s bag.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demonstrative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objects + numbers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negative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locations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39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named at least eight objects.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hādhā for masculine, hādhihi for feminine objects.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used ‘indī and laysa ‘indī.</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gave two locations.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counted objects or compared two bags.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39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demonstrative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طَابِعَةٌ.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هَذَا طَابِعَةٌ.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هَذِهِ طَابِعٌ.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female if she has a calculator.</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عِنْدَكَ آلَةٌ حَاسِبَةٌ؟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عِنْدَكِ آلَةٌ حَاسِبَةٌ؟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هَلْ عِنْدَهَا آلَةٌ حَاسِبَةٌ؟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location sentence.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تَحْتَ الكُرْسِيِّ حَقِيبَةٌ.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تَحْتَ الكُرْسِيُّ حَقِيبَةٌ.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حَقِيبَةٌ تَحْتَ الكُرْسِيُّ فِي.</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39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demonstrative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هَذِهِ طَابِعَةٌ.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هَذَا طَابِعَةٌ.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هَذِهِ طَابِعٌ.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طَابِعَةٌ</a:t>
            </a:r>
            <a:pPr algn="l" indent="0" marL="0">
              <a:buNone/>
            </a:pPr>
            <a:r>
              <a:rPr lang="en-US" sz="1050" i="1" dirty="0">
                <a:solidFill>
                  <a:srgbClr val="8A6D1E"/>
                </a:solidFill>
                <a:latin typeface="Calibri" pitchFamily="34" charset="0"/>
                <a:ea typeface="Calibri" pitchFamily="34" charset="-122"/>
                <a:cs typeface="Calibri" pitchFamily="34" charset="-120"/>
              </a:rPr>
              <a:t> is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Ask one female if she has a calculator.</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هَلْ عِنْدَكَ آلَةٌ حَاسِبَةٌ؟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هَلْ عِنْدَكِ آلَةٌ حَاسِبَةٌ؟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هَلْ عِنْدَهَا آلَةٌ حَاسِبَةٌ؟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عِنْدَكِ</a:t>
            </a:r>
            <a:pPr algn="l" indent="0" marL="0">
              <a:buNone/>
            </a:pPr>
            <a:r>
              <a:rPr lang="en-US" sz="1050" i="1" dirty="0">
                <a:solidFill>
                  <a:srgbClr val="8A6D1E"/>
                </a:solidFill>
                <a:latin typeface="Calibri" pitchFamily="34" charset="0"/>
                <a:ea typeface="Calibri" pitchFamily="34" charset="-122"/>
                <a:cs typeface="Calibri" pitchFamily="34" charset="-120"/>
              </a:rPr>
              <a:t> addresses one female.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location sentence.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تَحْتَ الكُرْسِيِّ حَقِيبَةٌ.</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تَحْتَ الكُرْسِيُّ حَقِيبَةٌ.</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حَقِيبَةٌ تَحْتَ الكُرْسِيُّ فِي.</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first model uses the location phrase accurately.</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39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TD-L02 · Classroom</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TD-L03: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D · The World of Work · TD-L02</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TD-L03 · Subjects, Timetables and Preferences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الرِّيَاضِيَّاتُ</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mathematics</a:t>
            </a:r>
            <a:pPr indent="0" marL="0">
              <a:buNone/>
            </a:pPr>
            <a:r>
              <a:rPr lang="en-US" sz="1000" i="1" dirty="0">
                <a:solidFill>
                  <a:srgbClr val="5A6472"/>
                </a:solidFill>
                <a:latin typeface="Calibri" pitchFamily="34" charset="0"/>
                <a:ea typeface="Calibri" pitchFamily="34" charset="-122"/>
                <a:cs typeface="Calibri" pitchFamily="34" charset="-120"/>
              </a:rPr>
              <a:t>  f.</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العُلُومُ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science</a:t>
            </a:r>
            <a:pPr indent="0" marL="0">
              <a:buNone/>
            </a:pPr>
            <a:r>
              <a:rPr lang="en-US" sz="1000" i="1" dirty="0">
                <a:solidFill>
                  <a:srgbClr val="5A6472"/>
                </a:solidFill>
                <a:latin typeface="Calibri" pitchFamily="34" charset="0"/>
                <a:ea typeface="Calibri" pitchFamily="34" charset="-122"/>
                <a:cs typeface="Calibri" pitchFamily="34" charset="-120"/>
              </a:rPr>
              <a:t>  f.</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التَّارِيخُ</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history</a:t>
            </a:r>
            <a:pPr indent="0" marL="0">
              <a:buNone/>
            </a:pPr>
            <a:r>
              <a:rPr lang="en-US" sz="1000" i="1" dirty="0">
                <a:solidFill>
                  <a:srgbClr val="5A6472"/>
                </a:solidFill>
                <a:latin typeface="Calibri" pitchFamily="34" charset="0"/>
                <a:ea typeface="Calibri" pitchFamily="34" charset="-122"/>
                <a:cs typeface="Calibri" pitchFamily="34" charset="-120"/>
              </a:rPr>
              <a:t>  m.</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الجُغْرَافِيَا</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geography</a:t>
            </a:r>
            <a:pPr indent="0" marL="0">
              <a:buNone/>
            </a:pPr>
            <a:r>
              <a:rPr lang="en-US" sz="1000" i="1" dirty="0">
                <a:solidFill>
                  <a:srgbClr val="5A6472"/>
                </a:solidFill>
                <a:latin typeface="Calibri" pitchFamily="34" charset="0"/>
                <a:ea typeface="Calibri" pitchFamily="34" charset="-122"/>
                <a:cs typeface="Calibri" pitchFamily="34" charset="-120"/>
              </a:rPr>
              <a:t>  f.</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الفَنُّ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art</a:t>
            </a:r>
            <a:pPr indent="0" marL="0">
              <a:buNone/>
            </a:pPr>
            <a:r>
              <a:rPr lang="en-US" sz="1000" i="1" dirty="0">
                <a:solidFill>
                  <a:srgbClr val="5A6472"/>
                </a:solidFill>
                <a:latin typeface="Calibri" pitchFamily="34" charset="0"/>
                <a:ea typeface="Calibri" pitchFamily="34" charset="-122"/>
                <a:cs typeface="Calibri" pitchFamily="34" charset="-120"/>
              </a:rPr>
              <a:t>  m.</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your Topic D target: one skill, one repeated action, one check date.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هَدَفِي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TD-L02: Pack the Bag Mission (14)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school-bag inventory: 5–8 sentences with one negative sentence.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7–9 sentences describing your bag and desk with numbers and colours.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39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TD-L02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ea typeface="Cambria" pitchFamily="34" charset="-122"/>
                <a:cs typeface="Cambria" pitchFamily="34" charset="-120"/>
              </a:rPr>
              <a:t>TD-L03 · Subjects, Timetables and Preferences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المَوَادُّ وَالجَدَاوِلُ وَالتَّفْضِيلَاتُ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learn the 5 words for TD-L03.</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TD-L02 · The Classroom and Learning Tools</dc:title>
  <dc:subject>PptxGenJS Presentation</dc:subject>
  <dc:creator>Al Madina Online School · Arabic Department</dc:creator>
  <cp:lastModifiedBy>Al Madina Online School · Arabic Department</cp:lastModifiedBy>
  <cp:revision>1</cp:revision>
  <dcterms:created xsi:type="dcterms:W3CDTF">2026-10-11T04:23:11Z</dcterms:created>
  <dcterms:modified xsi:type="dcterms:W3CDTF">2026-10-11T04:23:11Z</dcterms:modified>
</cp:coreProperties>
</file>