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notesMasterIdLst>
    <p:notesMasterId r:id="rId4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(“Classroom Tool Match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D GAME “Classroom Tool Match”: book + pen, computer + mouse, the ruler in maths.
Website feedback lines: The two classroom tools match. · The computer and mouse are shown. · The ruler is used in maths.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(“Classroom Tool Match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D GAME “Classroom Tool Match”: book + pen, computer + mouse, the ruler in maths.
Website feedback lines: The two classroom tools match. · The computer and mouse are shown. · The ruler is used in maths.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D · TD-L02 — The Classroom and Learning Tools. Website: Advanced Topics › Topic D (The World of Work) › Lesson 2.
The website builds this lesson on the F4-L03 lesson engine, with the Topic focus “Explain classroom routines, resources and effective learning environments.” (grammar: يوجد/توجد; demonstratives; relative clauses; skills: Listening · Speaking) and the application challenge “Classroom bag detective”. This deck follows the same engine, re-sequenced for Topic D: lesson references now point to Topic D codes (lessons outside Topic D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Topic D My School › Lesson 3 (TD-L02). Website sections used: the eight-question Topic D retrieval bridge, the classroom-object vault (12 official items with gender and plurals + wider practical bank; مَكْتَبٌ = desk or office) and the 16-question check, هَذَا / هَذِهِ (14), possession عِنْدِي / عِنْدَكَ / عِنْدَكِ / عِنْدَهُ / عِنْدَهَا and لَيْسَ عِنْدِي (12), location and counting (12), the school-bag inventory, Pack the Bag Mission (14), Layla’s bag (listening, 10), Omar and Huda (reading, 12), speaking (4 prompts), the 7–9-sentence description and the 16-question checkpoint. Picture match: website visual game.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10 objects + هَذَا / هَذِهِ + عِنْدِي / لَيْسَ عِنْدِي + فِي حَقِيبَتِي. Develop: asking a boy or a girl (عِنْدَكَ / عِنْدَكِ), plurals and two locations. Stretch: counting (dual and 3–10, website optional extension) and comparing two bags.
• Website route: recognise → choose → locate → communicate. Learn every noun WITH its model sentence (the ـة ending is a strong clue, not a rule).
• Real or invented bags are equally acceptable (website) — some students may not have every item.
• Urdu bridge: کتاب، قلم، دفتر، کرسی، قاموس are shared words; مکتب (Urdu school) = Arabic desk / office.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objects prepared at home at the end of F4-L02 (website). Questions 3–5 are the website “Topic D retrieval bridge” (feminine demonstrative, I have, on).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This / this (f.) follows the Arabic gender of the OBJECT, not the speaker: hādhā qalamun · hādhihi misṭaratun.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I can…” (left) and the website writing Core / Develop / Stretch routes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کتاب، قلم، قاموس and کرسی are the same words. FALSE FRIENDS: Urdu دفتر = office (Arabic دَفْتَرٌ = exercise book); Urdu مکتب = school (Arabic مَكْتَبٌ = desk or office).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OFFICIAL CLASSROOM BANK (website, masculine items). Also: غِرَاءٌ (glue, m.), وَرَقٌ / أَوْرَاقٌ (paper / sheets; وَرَقَةٌ = one sheet). Website distinction: مَكْتَبٌ can mean a desk or an office — عَلَى مَكْتَبِي كِتَابٌ = there is a book on my desk.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FEMININE ITEMS (website). Wider practical bank (website): قَلَمُ رَصَاصٍ (pencil), قَلَمُ حِبْرٍ (ink pen), مِبْرَاةٌ (sharpener), مَقَصٌّ (scissors), حَاسُوبٌ مَحْمُولٌ (laptop), جِهَازٌ لَوْحِيٌّ (tablet), شَاشَةٌ (screen), لَوْحَةُ مَفَاتِيحَ (keyboard), فَأْرَةُ الحَاسُوبِ (mouse), طَابِعَةٌ (printer), مَلَفٌّ (folder), كُرْسِيٌّ (chair), طَاوِلَةٌ (table).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sections 3 “Choose هَذَا or هَذِهِ” and 4 “Say what you have”.
Website: “Do not guess from English — Arabic noun gender controls the choice. The ending ـة is a strong feminine clue, but always learn the word with its model sentence.”
Adjectives agree too (website): هَذِهِ مِقْلَمَةٌ زَرْقَاءُ · هَذَا كِتَابٌ جَدِيدٌ.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website section 5 “Say where each object is”. Website location bank: فِي حَقِيبَتِي · عَلَى مَكْتَبِي · تَحْتَ الكُرْسِيِّ · بِجَانِبِ الحَاسُوبِ · أَمَامَ السَّبُّورَةِ · خَلْفَ الكِتَابِ · بَيْنَ الدَّفْتَرِ وَالقَامُوسِ · دَاخِلَ المِقْلَمَةِ.
Counting is an OPTIONAL extension (website): قَلَمٌ وَاحِدٌ · قَلَمَانِ · ثَلَاثَةُ أَقْلَامٍ / مِسْطَرَةٌ وَاحِدَةٌ · مِسْطَرَتَانِ · ثَلَاثُ مَسَاطِرَ (3–10 take the opposite gender).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gender laboratory questions 2–3 and possession check questions 3 and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listening (Layla) and Omar’s profile as the model. Hold up real objects on camera if you can: “hādhā or hādhihi?”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Classroom objects”)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why هٰذَا for the pencil but هٰذِهِ for the bag and the ruler? Other cards for homework: كِتَابٌ، كُرْسِيٌّ، قَلَمٌ.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Classroom objects”)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Ask: why هٰذَا for the pencil but هٰذِهِ for the bag and the ruler? Other cards for homework: كِتَابٌ، كُرْسِيٌّ، قَلَمٌ.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5 of the website’s 14 Pack the Bag rounds (plural, demonstrative, ask a girl, negative, inside). The other 9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After each answer ask: masculine or feminine? Who is listening?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Listen 1: just listen. Listen 2: note answers. Then chat the letters.
Support: after the second listening, show the read-along slide (Arabic + English, line by line) for Core students.
SCRIPT (read aloud):
اِسْمِي لَيْلَى. فِي حَقِيبَتِي كِتَابُ العُلُومِ، وَدَفْتَرَانِ، وَثَلَاثَةُ أَقْلَامٍ، وَمِسْطَرَةٌ، وَمِمْحَاةٌ. لَيْسَ عِنْدِي قَامُوسٌ اليَوْمَ. عَلَى مَكْتَبِي حَاسُوبٌ مَحْمُولٌ، وَبِجَانِبِ الحَاسُوبِ مِقْلَمَةٌ زَرْقَاءُ. تَحْتَ الكُرْسِيِّ حَقِيبَةُ صَدِيقَتِي. أَسْتَخْدِمُ القَلَمَ وَالدَّفْتَرَ فِي حِصَّةِ اللُّغَةِ العَرَبِيَّةِ.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PROFILE A (website, complete). Find: one demonstrative, one negative sentence and one location.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PROFILE B (website, complete). Stretch: counting (ثَلَاثَةُ أَقْلَامٍ، كِتَابَانِ) and colour agreement (حَقِيبَتِي بَنَفْسَجِيَّةٌ · قَلَمُ حِبْرٍ أَسْوَدُ).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reading questions 3, 4, 7, 8 and 11. The other 7 are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student reads aloud the evidence phrase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 APPLICATION CHALLENGE (5 min — it takes the speaking-rehearsal slot; the website speaking slide after it is FLEX) — from the website Topic page: “Describe learning tools without naming them. Partners identify each object, say where it is used and add one classroom instruction involving it.”
Website Topic D challenge “Classroom bag detective”: describe learning tools without naming them; partners identify each object, say where it is used and add one classroom instruction involving it. Gender check: كِتَابٌ / قَلَمٌ = huwa; مِسْطَرَةٌ / حَقِيبَةٌ = hiya.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D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WEBSITE SPEAKING STUDIO “Speak about classroom objects” — answer with a complete sentence, then add one colour, quantity, location or reason. Prompts (website):
• My school bag: Describe five objects and one missing object.
• My desk: Describe what is on, under and beside your desk.
• Object interview: Ask and answer three هَلْ عِنْدَكَ / عِنْدَكِ questions.
• Digital classroom: Describe four digital classroom objects.
Website checklist (1–6): five objects · هَذَا / هَذِهِ · عِنْدِي or answering هَلْ عِنْدَكَ؟ · one location · one extra detail · clear delivery.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Seven accurate modelled sentences. · Develop — Add plurals, colours and two location phrases. · Stretch — Compare two bags or explain which objects are most useful.
Website writing task (Stretch): Website writing task: 7–9 connected sentences about a real or invented school bag or desk — at least eight objects, two demonstratives, one negative sentence, two locations and two extra details (colour, quantity or reason).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Built from the website listening (Layla) and Omar’s profile. Stretch: compare with Huda’s bag (Profile B).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16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(TD-L03 · Subjects, Timetables and Preferences) · Likes, Dislikes and Preferences) will spend class time USING this language, so students prepare it tonight — short, simple, easy to access (school guidance: “Simple, Short, Interesting, Relevant, Easy to access”). The five words and phrases come from the website F4-L04 (website) preference language.
Follow-up: the next Do Now tests two of these words (Flipped Learning: keep it short AND follow up).
Homework by route (website tasks). No internet? Students copy the five words from this slide into their book now.
TOPIC D: the five words are the ones the TD-L03 Do Now tests (preparation list of the website F3-L12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slideLayout" Target="../slideLayouts/slideLayout1.xml"/><Relationship Id="rId8"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 Id="rId7" Type="http://schemas.openxmlformats.org/officeDocument/2006/relationships/slideLayout" Target="../slideLayouts/slideLayout1.xml"/><Relationship Id="rId8"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TD-L02 · Classroom</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83" b="1" spc="150" kern="0" dirty="0">
                <a:solidFill>
                  <a:srgbClr val="2F6FB0"/>
                </a:solidFill>
                <a:latin typeface="Calibri" pitchFamily="34" charset="0"/>
                <a:ea typeface="Calibri" pitchFamily="34" charset="-122"/>
                <a:cs typeface="Calibri" pitchFamily="34" charset="-120"/>
              </a:rPr>
              <a:t>WE DO · PICTURE MATCH · WEBSITE GAME “CLASSROOM TOOL MATCH (TOPIC GAME)”</a:t>
            </a:r>
            <a:endParaRPr lang="en-US" sz="983"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Match the picture to the sentence</a:t>
            </a:r>
            <a:endParaRPr lang="en-US" sz="27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طَابِقْ أَدَوَاتِ الْفَصْلِ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TD-L02</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book + pen</a:t>
            </a:r>
            <a:endParaRPr lang="en-US" sz="1100" dirty="0"/>
          </a:p>
        </p:txBody>
      </p:sp>
      <p:sp>
        <p:nvSpPr>
          <p:cNvPr id="25" name="Shape 20"/>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4404360" y="1938528"/>
            <a:ext cx="365760" cy="365760"/>
          </a:xfrm>
          <a:prstGeom prst="ellipse">
            <a:avLst/>
          </a:prstGeom>
          <a:solidFill>
            <a:srgbClr val="1B3B6F"/>
          </a:solidFill>
          <a:ln w="12700">
            <a:solidFill>
              <a:srgbClr val="1B3B6F"/>
            </a:solidFill>
            <a:prstDash val="solid"/>
          </a:ln>
        </p:spPr>
      </p:sp>
      <p:sp>
        <p:nvSpPr>
          <p:cNvPr id="27" name="Text 22"/>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8" name="Shape 23"/>
          <p:cNvSpPr/>
          <p:nvPr/>
        </p:nvSpPr>
        <p:spPr>
          <a:xfrm>
            <a:off x="4992624" y="2066544"/>
            <a:ext cx="1014984" cy="1014984"/>
          </a:xfrm>
          <a:prstGeom prst="ellipse">
            <a:avLst/>
          </a:prstGeom>
          <a:solidFill>
            <a:srgbClr val="F4F1EA"/>
          </a:solidFill>
          <a:ln w="12700">
            <a:solidFill>
              <a:srgbClr val="F4F1EA"/>
            </a:solidFill>
            <a:prstDash val="solid"/>
          </a:ln>
        </p:spPr>
      </p:sp>
      <p:pic>
        <p:nvPicPr>
          <p:cNvPr id="29"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0" name="Shape 24"/>
          <p:cNvSpPr/>
          <p:nvPr/>
        </p:nvSpPr>
        <p:spPr>
          <a:xfrm>
            <a:off x="6181344" y="2066544"/>
            <a:ext cx="1014984" cy="1014984"/>
          </a:xfrm>
          <a:prstGeom prst="ellipse">
            <a:avLst/>
          </a:prstGeom>
          <a:solidFill>
            <a:srgbClr val="F4F1EA"/>
          </a:solidFill>
          <a:ln w="12700">
            <a:solidFill>
              <a:srgbClr val="F4F1EA"/>
            </a:solidFill>
            <a:prstDash val="solid"/>
          </a:ln>
        </p:spPr>
      </p:sp>
      <p:pic>
        <p:nvPicPr>
          <p:cNvPr id="31"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2" name="Text 25"/>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computer + mouse</a:t>
            </a:r>
            <a:endParaRPr lang="en-US" sz="1100" dirty="0"/>
          </a:p>
        </p:txBody>
      </p:sp>
      <p:sp>
        <p:nvSpPr>
          <p:cNvPr id="33" name="Shape 2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27"/>
          <p:cNvSpPr/>
          <p:nvPr/>
        </p:nvSpPr>
        <p:spPr>
          <a:xfrm>
            <a:off x="585216" y="1938528"/>
            <a:ext cx="365760" cy="365760"/>
          </a:xfrm>
          <a:prstGeom prst="ellipse">
            <a:avLst/>
          </a:prstGeom>
          <a:solidFill>
            <a:srgbClr val="1B3B6F"/>
          </a:solidFill>
          <a:ln w="12700">
            <a:solidFill>
              <a:srgbClr val="1B3B6F"/>
            </a:solidFill>
            <a:prstDash val="solid"/>
          </a:ln>
        </p:spPr>
      </p:sp>
      <p:sp>
        <p:nvSpPr>
          <p:cNvPr id="35" name="Text 2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6" name="Shape 29"/>
          <p:cNvSpPr/>
          <p:nvPr/>
        </p:nvSpPr>
        <p:spPr>
          <a:xfrm>
            <a:off x="1173480" y="2066544"/>
            <a:ext cx="1014984" cy="1014984"/>
          </a:xfrm>
          <a:prstGeom prst="ellipse">
            <a:avLst/>
          </a:prstGeom>
          <a:solidFill>
            <a:srgbClr val="F4F1EA"/>
          </a:solidFill>
          <a:ln w="12700">
            <a:solidFill>
              <a:srgbClr val="F4F1EA"/>
            </a:solidFill>
            <a:prstDash val="solid"/>
          </a:ln>
        </p:spPr>
      </p:sp>
      <p:pic>
        <p:nvPicPr>
          <p:cNvPr id="37"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8" name="Shape 30"/>
          <p:cNvSpPr/>
          <p:nvPr/>
        </p:nvSpPr>
        <p:spPr>
          <a:xfrm>
            <a:off x="2362200" y="2066544"/>
            <a:ext cx="1014984" cy="1014984"/>
          </a:xfrm>
          <a:prstGeom prst="ellipse">
            <a:avLst/>
          </a:prstGeom>
          <a:solidFill>
            <a:srgbClr val="F4F1EA"/>
          </a:solidFill>
          <a:ln w="12700">
            <a:solidFill>
              <a:srgbClr val="F4F1EA"/>
            </a:solidFill>
            <a:prstDash val="solid"/>
          </a:ln>
        </p:spPr>
      </p:sp>
      <p:pic>
        <p:nvPicPr>
          <p:cNvPr id="39"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0" name="Text 3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ruler</a:t>
            </a:r>
            <a:endParaRPr lang="en-US" sz="1100" dirty="0"/>
          </a:p>
        </p:txBody>
      </p:sp>
      <p:sp>
        <p:nvSpPr>
          <p:cNvPr id="41" name="Shape 32"/>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2" name="Shape 33"/>
          <p:cNvSpPr/>
          <p:nvPr/>
        </p:nvSpPr>
        <p:spPr>
          <a:xfrm>
            <a:off x="11247120" y="3831336"/>
            <a:ext cx="292608" cy="292608"/>
          </a:xfrm>
          <a:prstGeom prst="ellipse">
            <a:avLst/>
          </a:prstGeom>
          <a:solidFill>
            <a:srgbClr val="2F6FB0"/>
          </a:solidFill>
          <a:ln w="12700">
            <a:solidFill>
              <a:srgbClr val="2F6FB0"/>
            </a:solidFill>
            <a:prstDash val="solid"/>
          </a:ln>
        </p:spPr>
      </p:sp>
      <p:sp>
        <p:nvSpPr>
          <p:cNvPr id="43" name="Text 34"/>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4" name="Text 35"/>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أَسْتَعْمِلُ الْحَاسُوبَ وَالْفَأْرَةَ.</a:t>
            </a:r>
            <a:endParaRPr lang="ar-SA" sz="2000" dirty="0"/>
          </a:p>
        </p:txBody>
      </p:sp>
      <p:sp>
        <p:nvSpPr>
          <p:cNvPr id="45" name="Shape 36"/>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6" name="Shape 37"/>
          <p:cNvSpPr/>
          <p:nvPr/>
        </p:nvSpPr>
        <p:spPr>
          <a:xfrm>
            <a:off x="11247120" y="4398264"/>
            <a:ext cx="292608" cy="292608"/>
          </a:xfrm>
          <a:prstGeom prst="ellipse">
            <a:avLst/>
          </a:prstGeom>
          <a:solidFill>
            <a:srgbClr val="2F6FB0"/>
          </a:solidFill>
          <a:ln w="12700">
            <a:solidFill>
              <a:srgbClr val="2F6FB0"/>
            </a:solidFill>
            <a:prstDash val="solid"/>
          </a:ln>
        </p:spPr>
      </p:sp>
      <p:sp>
        <p:nvSpPr>
          <p:cNvPr id="47" name="Text 38"/>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8" name="Text 39"/>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نَسْتَعْمِلُ الْمِسْطَرَةَ فِي دَرْسِ الرِّيَاضِيَّاتِ.</a:t>
            </a:r>
            <a:endParaRPr lang="ar-SA" sz="2000" dirty="0"/>
          </a:p>
        </p:txBody>
      </p:sp>
      <p:sp>
        <p:nvSpPr>
          <p:cNvPr id="49" name="Shape 40"/>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0" name="Shape 41"/>
          <p:cNvSpPr/>
          <p:nvPr/>
        </p:nvSpPr>
        <p:spPr>
          <a:xfrm>
            <a:off x="11247120" y="4965192"/>
            <a:ext cx="292608" cy="292608"/>
          </a:xfrm>
          <a:prstGeom prst="ellipse">
            <a:avLst/>
          </a:prstGeom>
          <a:solidFill>
            <a:srgbClr val="2F6FB0"/>
          </a:solidFill>
          <a:ln w="12700">
            <a:solidFill>
              <a:srgbClr val="2F6FB0"/>
            </a:solidFill>
            <a:prstDash val="solid"/>
          </a:ln>
        </p:spPr>
      </p:sp>
      <p:sp>
        <p:nvSpPr>
          <p:cNvPr id="51" name="Text 42"/>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2" name="Text 43"/>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أَحْتَاجُ إِلَى كِتَابٍ وَقَلَمٍ.</a:t>
            </a:r>
            <a:endParaRPr lang="ar-SA" sz="2000" dirty="0"/>
          </a:p>
        </p:txBody>
      </p:sp>
      <p:sp>
        <p:nvSpPr>
          <p:cNvPr id="53" name="Text 44"/>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4" name="Text 45"/>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TD-L02 · Classroom</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طَابِقْ أَدَوَاتِ الْفَصْلِ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TD-L02</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881176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2" name="Shape 18"/>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4" name="Text 19"/>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book + pen</a:t>
            </a:r>
            <a:endParaRPr lang="en-US" sz="1100" dirty="0"/>
          </a:p>
        </p:txBody>
      </p:sp>
      <p:sp>
        <p:nvSpPr>
          <p:cNvPr id="25" name="Shape 20"/>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6" name="Shape 21"/>
          <p:cNvSpPr/>
          <p:nvPr/>
        </p:nvSpPr>
        <p:spPr>
          <a:xfrm>
            <a:off x="11256264" y="3785616"/>
            <a:ext cx="329184" cy="329184"/>
          </a:xfrm>
          <a:prstGeom prst="ellipse">
            <a:avLst/>
          </a:prstGeom>
          <a:solidFill>
            <a:srgbClr val="2E8B57"/>
          </a:solidFill>
          <a:ln w="12700">
            <a:solidFill>
              <a:srgbClr val="2E8B57"/>
            </a:solidFill>
            <a:prstDash val="solid"/>
          </a:ln>
        </p:spPr>
      </p:sp>
      <p:sp>
        <p:nvSpPr>
          <p:cNvPr id="27" name="Text 22"/>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8" name="Text 23"/>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أَحْتَاجُ إِلَى كِتَابٍ وَقَلَمٍ.</a:t>
            </a:r>
            <a:endParaRPr lang="ar-SA" sz="2200" dirty="0"/>
          </a:p>
        </p:txBody>
      </p:sp>
      <p:sp>
        <p:nvSpPr>
          <p:cNvPr id="29" name="Text 24"/>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need a book and a pen.</a:t>
            </a:r>
            <a:endParaRPr lang="en-US" sz="1200" dirty="0"/>
          </a:p>
        </p:txBody>
      </p:sp>
      <p:sp>
        <p:nvSpPr>
          <p:cNvPr id="30" name="Shape 25"/>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6"/>
          <p:cNvSpPr/>
          <p:nvPr/>
        </p:nvSpPr>
        <p:spPr>
          <a:xfrm>
            <a:off x="4404360" y="1938528"/>
            <a:ext cx="365760" cy="365760"/>
          </a:xfrm>
          <a:prstGeom prst="ellipse">
            <a:avLst/>
          </a:prstGeom>
          <a:solidFill>
            <a:srgbClr val="1B3B6F"/>
          </a:solidFill>
          <a:ln w="12700">
            <a:solidFill>
              <a:srgbClr val="1B3B6F"/>
            </a:solidFill>
            <a:prstDash val="solid"/>
          </a:ln>
        </p:spPr>
      </p:sp>
      <p:sp>
        <p:nvSpPr>
          <p:cNvPr id="32" name="Text 27"/>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3" name="Shape 28"/>
          <p:cNvSpPr/>
          <p:nvPr/>
        </p:nvSpPr>
        <p:spPr>
          <a:xfrm>
            <a:off x="4992624" y="2066544"/>
            <a:ext cx="1014984" cy="1014984"/>
          </a:xfrm>
          <a:prstGeom prst="ellipse">
            <a:avLst/>
          </a:prstGeom>
          <a:solidFill>
            <a:srgbClr val="F4F1EA"/>
          </a:solidFill>
          <a:ln w="12700">
            <a:solidFill>
              <a:srgbClr val="F4F1EA"/>
            </a:solidFill>
            <a:prstDash val="solid"/>
          </a:ln>
        </p:spPr>
      </p:sp>
      <p:pic>
        <p:nvPicPr>
          <p:cNvPr id="34"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5" name="Shape 29"/>
          <p:cNvSpPr/>
          <p:nvPr/>
        </p:nvSpPr>
        <p:spPr>
          <a:xfrm>
            <a:off x="6181344" y="2066544"/>
            <a:ext cx="1014984" cy="1014984"/>
          </a:xfrm>
          <a:prstGeom prst="ellipse">
            <a:avLst/>
          </a:prstGeom>
          <a:solidFill>
            <a:srgbClr val="F4F1EA"/>
          </a:solidFill>
          <a:ln w="12700">
            <a:solidFill>
              <a:srgbClr val="F4F1EA"/>
            </a:solidFill>
            <a:prstDash val="solid"/>
          </a:ln>
        </p:spPr>
      </p:sp>
      <p:pic>
        <p:nvPicPr>
          <p:cNvPr id="36"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7" name="Text 30"/>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computer + mouse</a:t>
            </a:r>
            <a:endParaRPr lang="en-US" sz="1100" dirty="0"/>
          </a:p>
        </p:txBody>
      </p:sp>
      <p:sp>
        <p:nvSpPr>
          <p:cNvPr id="38" name="Shape 31"/>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9" name="Shape 32"/>
          <p:cNvSpPr/>
          <p:nvPr/>
        </p:nvSpPr>
        <p:spPr>
          <a:xfrm>
            <a:off x="7437120" y="3785616"/>
            <a:ext cx="329184" cy="329184"/>
          </a:xfrm>
          <a:prstGeom prst="ellipse">
            <a:avLst/>
          </a:prstGeom>
          <a:solidFill>
            <a:srgbClr val="2E8B57"/>
          </a:solidFill>
          <a:ln w="12700">
            <a:solidFill>
              <a:srgbClr val="2E8B57"/>
            </a:solidFill>
            <a:prstDash val="solid"/>
          </a:ln>
        </p:spPr>
      </p:sp>
      <p:sp>
        <p:nvSpPr>
          <p:cNvPr id="40" name="Text 33"/>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41" name="Text 34"/>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أَسْتَعْمِلُ الْحَاسُوبَ وَالْفَأْرَةَ.</a:t>
            </a:r>
            <a:endParaRPr lang="ar-SA" sz="2200" dirty="0"/>
          </a:p>
        </p:txBody>
      </p:sp>
      <p:sp>
        <p:nvSpPr>
          <p:cNvPr id="42" name="Text 35"/>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use the computer and the mouse.</a:t>
            </a:r>
            <a:endParaRPr lang="en-US" sz="1200" dirty="0"/>
          </a:p>
        </p:txBody>
      </p:sp>
      <p:sp>
        <p:nvSpPr>
          <p:cNvPr id="43" name="Shape 36"/>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37"/>
          <p:cNvSpPr/>
          <p:nvPr/>
        </p:nvSpPr>
        <p:spPr>
          <a:xfrm>
            <a:off x="585216" y="1938528"/>
            <a:ext cx="365760" cy="365760"/>
          </a:xfrm>
          <a:prstGeom prst="ellipse">
            <a:avLst/>
          </a:prstGeom>
          <a:solidFill>
            <a:srgbClr val="1B3B6F"/>
          </a:solidFill>
          <a:ln w="12700">
            <a:solidFill>
              <a:srgbClr val="1B3B6F"/>
            </a:solidFill>
            <a:prstDash val="solid"/>
          </a:ln>
        </p:spPr>
      </p:sp>
      <p:sp>
        <p:nvSpPr>
          <p:cNvPr id="45" name="Text 38"/>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6" name="Shape 39"/>
          <p:cNvSpPr/>
          <p:nvPr/>
        </p:nvSpPr>
        <p:spPr>
          <a:xfrm>
            <a:off x="1173480" y="2066544"/>
            <a:ext cx="1014984" cy="1014984"/>
          </a:xfrm>
          <a:prstGeom prst="ellipse">
            <a:avLst/>
          </a:prstGeom>
          <a:solidFill>
            <a:srgbClr val="F4F1EA"/>
          </a:solidFill>
          <a:ln w="12700">
            <a:solidFill>
              <a:srgbClr val="F4F1EA"/>
            </a:solidFill>
            <a:prstDash val="solid"/>
          </a:ln>
        </p:spPr>
      </p:sp>
      <p:pic>
        <p:nvPicPr>
          <p:cNvPr id="47"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8" name="Shape 40"/>
          <p:cNvSpPr/>
          <p:nvPr/>
        </p:nvSpPr>
        <p:spPr>
          <a:xfrm>
            <a:off x="2362200" y="2066544"/>
            <a:ext cx="1014984" cy="1014984"/>
          </a:xfrm>
          <a:prstGeom prst="ellipse">
            <a:avLst/>
          </a:prstGeom>
          <a:solidFill>
            <a:srgbClr val="F4F1EA"/>
          </a:solidFill>
          <a:ln w="12700">
            <a:solidFill>
              <a:srgbClr val="F4F1EA"/>
            </a:solidFill>
            <a:prstDash val="solid"/>
          </a:ln>
        </p:spPr>
      </p:sp>
      <p:pic>
        <p:nvPicPr>
          <p:cNvPr id="49"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50" name="Text 41"/>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ruler</a:t>
            </a:r>
            <a:endParaRPr lang="en-US" sz="1100" dirty="0"/>
          </a:p>
        </p:txBody>
      </p:sp>
      <p:sp>
        <p:nvSpPr>
          <p:cNvPr id="51" name="Shape 42"/>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2" name="Shape 43"/>
          <p:cNvSpPr/>
          <p:nvPr/>
        </p:nvSpPr>
        <p:spPr>
          <a:xfrm>
            <a:off x="3617976" y="3785616"/>
            <a:ext cx="329184" cy="329184"/>
          </a:xfrm>
          <a:prstGeom prst="ellipse">
            <a:avLst/>
          </a:prstGeom>
          <a:solidFill>
            <a:srgbClr val="2E8B57"/>
          </a:solidFill>
          <a:ln w="12700">
            <a:solidFill>
              <a:srgbClr val="2E8B57"/>
            </a:solidFill>
            <a:prstDash val="solid"/>
          </a:ln>
        </p:spPr>
      </p:sp>
      <p:sp>
        <p:nvSpPr>
          <p:cNvPr id="53" name="Text 44"/>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4" name="Text 45"/>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نَسْتَعْمِلُ الْمِسْطَرَةَ فِي دَرْسِ الرِّيَاضِيَّاتِ.</a:t>
            </a:r>
            <a:endParaRPr lang="ar-SA" sz="2200" dirty="0"/>
          </a:p>
        </p:txBody>
      </p:sp>
      <p:sp>
        <p:nvSpPr>
          <p:cNvPr id="55" name="Text 46"/>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We use the ruler in the maths lesson.</a:t>
            </a:r>
            <a:endParaRPr lang="en-US" sz="1200" dirty="0"/>
          </a:p>
        </p:txBody>
      </p:sp>
      <p:sp>
        <p:nvSpPr>
          <p:cNvPr id="56"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D  ·  TD-L02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TD-L02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3250" b="1" dirty="0">
                <a:solidFill>
                  <a:srgbClr val="FFFFFF"/>
                </a:solidFill>
                <a:latin typeface="Cambria" pitchFamily="34" charset="0"/>
                <a:ea typeface="Cambria" pitchFamily="34" charset="-122"/>
                <a:cs typeface="Cambria" pitchFamily="34" charset="-120"/>
              </a:rPr>
              <a:t>The Classroom and Learning Tools</a:t>
            </a:r>
            <a:endParaRPr lang="en-US" sz="32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الفَصْلُ الدِّرَاسِيُّ وَأَدَوَاتُ التَّعَلُّمِ</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Explain classroom routines, resources and effective learning environments.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TD-L02 · Advanced Topic D · The World of Work</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D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D › TD-L02</a:t>
            </a:r>
            <a:endParaRPr lang="en-US" sz="850" dirty="0"/>
          </a:p>
        </p:txBody>
      </p:sp>
      <p:sp>
        <p:nvSpPr>
          <p:cNvPr id="22" name="Text 1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TD-L02 · Classroom</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TD-L02 · Classroom</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Classroom objects, this / this (f.), then I have and where it is.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Pack the Bag mission, listen to Layla, read Omar and Huda.</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TD-L03.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TD-L02 · Classroom</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دَفْتَرٌ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dictionary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exercise book</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ruler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حَقِيبَةٌ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bag</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pen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book</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feminine demonstrative.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هُوَ</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“I have”?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عِنْدَكَ</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عِنْدَهَا</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عِنْدِي</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preposition means “on”?</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تَحْتَ</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TD-L02 · Classroom</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دَفْتَرٌ</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dictionary</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exercise book</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ruler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(F4-L02, website).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حَقِيبَةٌ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bag</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pen</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book</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(F4-L02, website).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feminine demonstrative.</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هُوَ</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هَذِهِ</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هَذِهِ</a:t>
            </a:r>
            <a:pPr algn="l" indent="0" marL="0">
              <a:buNone/>
            </a:pPr>
            <a:r>
              <a:rPr lang="en-US" sz="1050" i="1" dirty="0">
                <a:solidFill>
                  <a:srgbClr val="8A6D1E"/>
                </a:solidFill>
                <a:latin typeface="Calibri" pitchFamily="34" charset="0"/>
                <a:ea typeface="Calibri" pitchFamily="34" charset="-122"/>
                <a:cs typeface="Calibri" pitchFamily="34" charset="-120"/>
              </a:rPr>
              <a:t> introduces a feminine singular noun.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“I have”?</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عِنْدَكَ</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عِنْدَهَا</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عِنْدِي</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عِنْدِي</a:t>
            </a:r>
            <a:pPr algn="l" indent="0" marL="0">
              <a:buNone/>
            </a:pPr>
            <a:r>
              <a:rPr lang="en-US" sz="1050" i="1" dirty="0">
                <a:solidFill>
                  <a:srgbClr val="8A6D1E"/>
                </a:solidFill>
                <a:latin typeface="Calibri" pitchFamily="34" charset="0"/>
                <a:ea typeface="Calibri" pitchFamily="34" charset="-122"/>
                <a:cs typeface="Calibri" pitchFamily="34" charset="-120"/>
              </a:rPr>
              <a:t> means I have.</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preposition means “on”?</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عَلَى</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تَحْتَ</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 means on.</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This / this (f.) follows the Arabic gender of the OBJECT, not the speaker: hādhā qalamun · hādhihi misṭaratun.</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هَذَا</a:t>
            </a:r>
            <a:pPr rtl="1" algn="ctr" indent="0" marL="0">
              <a:buNone/>
            </a:pPr>
            <a:r>
              <a:rPr lang="ar-SA" altLang="en-US" sz="2400" b="1" dirty="0">
                <a:solidFill>
                  <a:srgbClr val="1B3B6F"/>
                </a:solidFill>
                <a:latin typeface="Amiri" pitchFamily="34" charset="0"/>
                <a:ea typeface="Amiri" pitchFamily="34" charset="-122"/>
                <a:cs typeface="Amiri" pitchFamily="34" charset="-120"/>
              </a:rPr>
              <a:t> قَلَمٌ · </a:t>
            </a:r>
            <a:pPr rtl="1" algn="ctr" indent="0" marL="0">
              <a:buNone/>
            </a:pPr>
            <a:r>
              <a:rPr lang="ar-SA" altLang="en-US" sz="2400" b="1" dirty="0">
                <a:solidFill>
                  <a:srgbClr val="D6336C"/>
                </a:solidFill>
                <a:latin typeface="Amiri" pitchFamily="34" charset="0"/>
                <a:ea typeface="Amiri" pitchFamily="34" charset="-122"/>
                <a:cs typeface="Amiri" pitchFamily="34" charset="-120"/>
              </a:rPr>
              <a:t>هَذِهِ</a:t>
            </a:r>
            <a:pPr rtl="1" algn="ctr" indent="0" marL="0">
              <a:buNone/>
            </a:pPr>
            <a:r>
              <a:rPr lang="ar-SA" altLang="en-US" sz="2400" b="1" dirty="0">
                <a:solidFill>
                  <a:srgbClr val="1B3B6F"/>
                </a:solidFill>
                <a:latin typeface="Amiri" pitchFamily="34" charset="0"/>
                <a:ea typeface="Amiri" pitchFamily="34" charset="-122"/>
                <a:cs typeface="Amiri" pitchFamily="34" charset="-120"/>
              </a:rPr>
              <a:t> مِسْطَرَةٌ</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TD-L02 · Classroom</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the complete core classroom-object bank.</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hādhā / hādhihi according to noun gender.</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Ask and answer what someone has.</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Describe where objects are in a bag or on a desk.</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ten classroom objects.</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say what I have and don’t have.</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ask a boy or a girl what they have.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say where two objects are.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count objects (two, three …).</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compare two bags.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Classroom objects with gender and plurals, possession and location. Core: ten objects, this / this (f.), I have.</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Classroom objects · 12 + 16</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This · I have · you have</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Location and counting</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كِتَابٌ</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‎کتاب‎ </a:t>
            </a:r>
            <a:pPr indent="0" marL="0">
              <a:buNone/>
            </a:pPr>
            <a:r>
              <a:rPr lang="en-US" sz="950" b="1" dirty="0">
                <a:solidFill>
                  <a:srgbClr val="2E8B57"/>
                </a:solidFill>
                <a:latin typeface="Calibri" pitchFamily="34" charset="0"/>
                <a:ea typeface="Calibri" pitchFamily="34" charset="-122"/>
                <a:cs typeface="Calibri" pitchFamily="34" charset="-120"/>
              </a:rPr>
              <a:t> kitāb · book</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قَلَمٌ</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‎قلم‎ </a:t>
            </a:r>
            <a:pPr indent="0" marL="0">
              <a:buNone/>
            </a:pPr>
            <a:r>
              <a:rPr lang="en-US" sz="950" b="1" dirty="0">
                <a:solidFill>
                  <a:srgbClr val="2E8B57"/>
                </a:solidFill>
                <a:latin typeface="Calibri" pitchFamily="34" charset="0"/>
                <a:ea typeface="Calibri" pitchFamily="34" charset="-122"/>
                <a:cs typeface="Calibri" pitchFamily="34" charset="-120"/>
              </a:rPr>
              <a:t> qalam · pen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دَفْتَرٌ</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‎دفتر‎ </a:t>
            </a:r>
            <a:pPr indent="0" marL="0">
              <a:buNone/>
            </a:pPr>
            <a:r>
              <a:rPr lang="en-US" sz="950" b="1" dirty="0">
                <a:solidFill>
                  <a:srgbClr val="2E8B57"/>
                </a:solidFill>
                <a:latin typeface="Calibri" pitchFamily="34" charset="0"/>
                <a:ea typeface="Calibri" pitchFamily="34" charset="-122"/>
                <a:cs typeface="Calibri" pitchFamily="34" charset="-120"/>
              </a:rPr>
              <a:t> daftar · exercise book (Urdu: office)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قَامُوسٌ</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‎قاموس‎ </a:t>
            </a:r>
            <a:pPr indent="0" marL="0">
              <a:buNone/>
            </a:pPr>
            <a:r>
              <a:rPr lang="en-US" sz="950" b="1" dirty="0">
                <a:solidFill>
                  <a:srgbClr val="2E8B57"/>
                </a:solidFill>
                <a:latin typeface="Calibri" pitchFamily="34" charset="0"/>
                <a:ea typeface="Calibri" pitchFamily="34" charset="-122"/>
                <a:cs typeface="Calibri" pitchFamily="34" charset="-120"/>
              </a:rPr>
              <a:t> qāmūs · dictionary</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كُرْسِيٌّ</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‎کرسی‎ </a:t>
            </a:r>
            <a:pPr indent="0" marL="0">
              <a:buNone/>
            </a:pPr>
            <a:r>
              <a:rPr lang="en-US" sz="950" b="1" dirty="0">
                <a:solidFill>
                  <a:srgbClr val="2E8B57"/>
                </a:solidFill>
                <a:latin typeface="Calibri" pitchFamily="34" charset="0"/>
                <a:ea typeface="Calibri" pitchFamily="34" charset="-122"/>
                <a:cs typeface="Calibri" pitchFamily="34" charset="-120"/>
              </a:rPr>
              <a:t> kursiyy · chair</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TD-L02 · Classroom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KEY WORDS · GROUP 1 · OFFICIAL CLASSROOM BANK (WEBSITE) · 1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Book, exercise book, pen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أَدَوَاتُ الفَصْلِ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كِتَابٌ</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book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ki-tāb</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كُتُبٌ</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29" name="Text 26"/>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هَذَا</a:t>
            </a:r>
            <a:endParaRPr lang="ar-SA" sz="135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دَفْتَرٌ</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notebook / exercise book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daf-tar</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دَفَاتِرُ</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44" name="Text 41"/>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هَذَا</a:t>
            </a:r>
            <a:endParaRPr lang="ar-SA" sz="135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48" name="Shape 4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قَلَمٌ</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pen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qa-lam</a:t>
            </a:r>
            <a:endParaRPr lang="en-US" sz="1350" dirty="0"/>
          </a:p>
        </p:txBody>
      </p:sp>
      <p:sp>
        <p:nvSpPr>
          <p:cNvPr id="54" name="Shape 51"/>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6" name="Text 53"/>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أَقْلَامٌ</a:t>
            </a:r>
            <a:endParaRPr lang="ar-SA" sz="1500" dirty="0"/>
          </a:p>
        </p:txBody>
      </p:sp>
      <p:sp>
        <p:nvSpPr>
          <p:cNvPr id="57" name="Shape 54"/>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59" name="Text 56"/>
          <p:cNvSpPr txBox="1"/>
          <p:nvPr/>
        </p:nvSpPr>
        <p:spPr>
          <a:xfrm>
            <a:off x="640080"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هَذَا</a:t>
            </a:r>
            <a:endParaRPr lang="ar-SA" sz="1350" dirty="0"/>
          </a:p>
        </p:txBody>
      </p:sp>
      <p:sp>
        <p:nvSpPr>
          <p:cNvPr id="60" name="Shape 5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8211312" y="4261104"/>
            <a:ext cx="310896" cy="310896"/>
          </a:xfrm>
          <a:prstGeom prst="ellipse">
            <a:avLst/>
          </a:prstGeom>
          <a:solidFill>
            <a:srgbClr val="F4F1EA"/>
          </a:solidFill>
          <a:ln w="12700">
            <a:solidFill>
              <a:srgbClr val="F4F1EA"/>
            </a:solidFill>
            <a:prstDash val="solid"/>
          </a:ln>
        </p:spPr>
      </p:sp>
      <p:sp>
        <p:nvSpPr>
          <p:cNvPr id="62" name="Text 5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63" name="Shape 60"/>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4" name="Text 61"/>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65" name="Shape 62"/>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6" name="Text 63"/>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7" name="Text 6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قَامُوسٌ</a:t>
            </a:r>
            <a:endParaRPr lang="ar-SA" sz="3000" dirty="0"/>
          </a:p>
        </p:txBody>
      </p:sp>
      <p:sp>
        <p:nvSpPr>
          <p:cNvPr id="68" name="Text 6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dictionary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qā-mūs</a:t>
            </a:r>
            <a:endParaRPr lang="en-US" sz="1350" dirty="0"/>
          </a:p>
        </p:txBody>
      </p:sp>
      <p:sp>
        <p:nvSpPr>
          <p:cNvPr id="69" name="Shape 66"/>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0" name="Text 67"/>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71" name="Text 68"/>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قَوَامِيسُ</a:t>
            </a:r>
            <a:endParaRPr lang="ar-SA" sz="1500" dirty="0"/>
          </a:p>
        </p:txBody>
      </p:sp>
      <p:sp>
        <p:nvSpPr>
          <p:cNvPr id="72" name="Shape 69"/>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3" name="Text 70"/>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74" name="Text 71"/>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هَذَا</a:t>
            </a:r>
            <a:endParaRPr lang="ar-SA" sz="1350" dirty="0"/>
          </a:p>
        </p:txBody>
      </p:sp>
      <p:sp>
        <p:nvSpPr>
          <p:cNvPr id="75" name="Shape 7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389120"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78" name="Shape 75"/>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80" name="Shape 7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81" name="Text 7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82" name="Text 79"/>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مَكْتَبٌ</a:t>
            </a:r>
            <a:endParaRPr lang="ar-SA" sz="3000" dirty="0"/>
          </a:p>
        </p:txBody>
      </p:sp>
      <p:sp>
        <p:nvSpPr>
          <p:cNvPr id="83" name="Text 80"/>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desk (also: office)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mak-tab</a:t>
            </a:r>
            <a:endParaRPr lang="en-US" sz="1350" dirty="0"/>
          </a:p>
        </p:txBody>
      </p:sp>
      <p:sp>
        <p:nvSpPr>
          <p:cNvPr id="84" name="Shape 81"/>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5" name="Text 82"/>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86" name="Text 83"/>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مَكَاتِبُ</a:t>
            </a:r>
            <a:endParaRPr lang="ar-SA" sz="1500" dirty="0"/>
          </a:p>
        </p:txBody>
      </p:sp>
      <p:sp>
        <p:nvSpPr>
          <p:cNvPr id="87" name="Shape 84"/>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8" name="Text 85"/>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89" name="Text 86"/>
          <p:cNvSpPr txBox="1"/>
          <p:nvPr/>
        </p:nvSpPr>
        <p:spPr>
          <a:xfrm>
            <a:off x="4462272"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هَذَا</a:t>
            </a:r>
            <a:endParaRPr lang="ar-SA" sz="1350" dirty="0"/>
          </a:p>
        </p:txBody>
      </p:sp>
      <p:sp>
        <p:nvSpPr>
          <p:cNvPr id="90" name="Shape 8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566928" y="4261104"/>
            <a:ext cx="310896" cy="310896"/>
          </a:xfrm>
          <a:prstGeom prst="ellipse">
            <a:avLst/>
          </a:prstGeom>
          <a:solidFill>
            <a:srgbClr val="F4F1EA"/>
          </a:solidFill>
          <a:ln w="12700">
            <a:solidFill>
              <a:srgbClr val="F4F1EA"/>
            </a:solidFill>
            <a:prstDash val="solid"/>
          </a:ln>
        </p:spPr>
      </p:sp>
      <p:sp>
        <p:nvSpPr>
          <p:cNvPr id="92" name="Text 8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93" name="Shape 90"/>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94" name="Text 91"/>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a:t>
            </a:r>
            <a:endParaRPr lang="en-US" sz="800" dirty="0"/>
          </a:p>
        </p:txBody>
      </p:sp>
      <p:sp>
        <p:nvSpPr>
          <p:cNvPr id="95" name="Text 92"/>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جَرَسٌ</a:t>
            </a:r>
            <a:endParaRPr lang="ar-SA" sz="3000" dirty="0"/>
          </a:p>
        </p:txBody>
      </p:sp>
      <p:sp>
        <p:nvSpPr>
          <p:cNvPr id="96" name="Text 93"/>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bell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ja-ras</a:t>
            </a:r>
            <a:endParaRPr lang="en-US" sz="1350" dirty="0"/>
          </a:p>
        </p:txBody>
      </p:sp>
      <p:sp>
        <p:nvSpPr>
          <p:cNvPr id="97" name="Shape 94"/>
          <p:cNvSpPr/>
          <p:nvPr/>
        </p:nvSpPr>
        <p:spPr>
          <a:xfrm>
            <a:off x="2322576" y="5779008"/>
            <a:ext cx="1636776" cy="438912"/>
          </a:xfrm>
          <a:prstGeom prst="roundRect">
            <a:avLst>
              <a:gd name="adj" fmla="val 10417"/>
            </a:avLst>
          </a:prstGeom>
          <a:solidFill>
            <a:srgbClr val="F4F1EA"/>
          </a:solidFill>
          <a:ln w="9525">
            <a:solidFill>
              <a:srgbClr val="F4F1EA"/>
            </a:solidFill>
            <a:prstDash val="solid"/>
          </a:ln>
        </p:spPr>
      </p:sp>
      <p:sp>
        <p:nvSpPr>
          <p:cNvPr id="98" name="Text 95"/>
          <p:cNvSpPr txBox="1"/>
          <p:nvPr/>
        </p:nvSpPr>
        <p:spPr>
          <a:xfrm>
            <a:off x="2377440"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99" name="Text 96"/>
          <p:cNvSpPr txBox="1"/>
          <p:nvPr/>
        </p:nvSpPr>
        <p:spPr>
          <a:xfrm>
            <a:off x="2368296"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أَجْرَاسٌ</a:t>
            </a:r>
            <a:endParaRPr lang="ar-SA" sz="1500" dirty="0"/>
          </a:p>
        </p:txBody>
      </p:sp>
      <p:sp>
        <p:nvSpPr>
          <p:cNvPr id="100" name="Shape 97"/>
          <p:cNvSpPr/>
          <p:nvPr/>
        </p:nvSpPr>
        <p:spPr>
          <a:xfrm>
            <a:off x="594360" y="5779008"/>
            <a:ext cx="1636776" cy="438912"/>
          </a:xfrm>
          <a:prstGeom prst="roundRect">
            <a:avLst>
              <a:gd name="adj" fmla="val 10417"/>
            </a:avLst>
          </a:prstGeom>
          <a:solidFill>
            <a:srgbClr val="F4F1EA"/>
          </a:solidFill>
          <a:ln w="9525">
            <a:solidFill>
              <a:srgbClr val="F4F1EA"/>
            </a:solidFill>
            <a:prstDash val="solid"/>
          </a:ln>
        </p:spPr>
      </p:sp>
      <p:sp>
        <p:nvSpPr>
          <p:cNvPr id="101" name="Text 98"/>
          <p:cNvSpPr txBox="1"/>
          <p:nvPr/>
        </p:nvSpPr>
        <p:spPr>
          <a:xfrm>
            <a:off x="649224"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102" name="Text 99"/>
          <p:cNvSpPr txBox="1"/>
          <p:nvPr/>
        </p:nvSpPr>
        <p:spPr>
          <a:xfrm>
            <a:off x="640080"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هَذَا</a:t>
            </a:r>
            <a:endParaRPr lang="ar-SA" sz="1350" dirty="0"/>
          </a:p>
        </p:txBody>
      </p:sp>
      <p:sp>
        <p:nvSpPr>
          <p:cNvPr id="103" name="Text 10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TD-L02 · Classroom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KEY WORDS · GROUP 1 · OFFICIAL CLASSROOM BANK (WEBSITE) · 2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Ruler, pencil case, board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أَدَوَاتُ الفَصْلِ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مِسْطَرَةٌ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ruler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mis-ṭa-ra</a:t>
            </a:r>
            <a:endParaRPr lang="en-US" sz="1350" dirty="0"/>
          </a:p>
        </p:txBody>
      </p:sp>
      <p:sp>
        <p:nvSpPr>
          <p:cNvPr id="24" name="Shape 21"/>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مَسَاطِرُ</a:t>
            </a:r>
            <a:endParaRPr lang="ar-SA" sz="1500" dirty="0"/>
          </a:p>
        </p:txBody>
      </p:sp>
      <p:sp>
        <p:nvSpPr>
          <p:cNvPr id="27" name="Shape 24"/>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28" name="Text 25"/>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29" name="Text 26"/>
          <p:cNvSpPr txBox="1"/>
          <p:nvPr/>
        </p:nvSpPr>
        <p:spPr>
          <a:xfrm>
            <a:off x="8284464"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هَذِهِ</a:t>
            </a:r>
            <a:endParaRPr lang="ar-SA" sz="1350" dirty="0"/>
          </a:p>
        </p:txBody>
      </p:sp>
      <p:sp>
        <p:nvSpPr>
          <p:cNvPr id="30" name="Shape 2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389120" y="1920240"/>
            <a:ext cx="310896" cy="310896"/>
          </a:xfrm>
          <a:prstGeom prst="ellipse">
            <a:avLst/>
          </a:prstGeom>
          <a:solidFill>
            <a:srgbClr val="F4F1EA"/>
          </a:solidFill>
          <a:ln w="12700">
            <a:solidFill>
              <a:srgbClr val="F4F1EA"/>
            </a:solidFill>
            <a:prstDash val="solid"/>
          </a:ln>
        </p:spPr>
      </p:sp>
      <p:sp>
        <p:nvSpPr>
          <p:cNvPr id="32" name="Text 2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3" name="Shape 30"/>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4" name="Text 31"/>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35" name="Shape 3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مِقْلَمَةٌ</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pencil case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miq-la-ma</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مَقَالِمُ</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44" name="Text 41"/>
          <p:cNvSpPr txBox="1"/>
          <p:nvPr/>
        </p:nvSpPr>
        <p:spPr>
          <a:xfrm>
            <a:off x="4462272" y="3575304"/>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هَذِهِ</a:t>
            </a:r>
            <a:endParaRPr lang="ar-SA" sz="135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48" name="Shape 4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50" name="Shape 4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مِمْحَاةٌ</a:t>
            </a:r>
            <a:endParaRPr lang="ar-SA" sz="3000" dirty="0"/>
          </a:p>
        </p:txBody>
      </p:sp>
      <p:sp>
        <p:nvSpPr>
          <p:cNvPr id="53" name="Text 50"/>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eraser / rubber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mim-ḥā</a:t>
            </a:r>
            <a:endParaRPr lang="en-US" sz="1350" dirty="0"/>
          </a:p>
        </p:txBody>
      </p:sp>
      <p:sp>
        <p:nvSpPr>
          <p:cNvPr id="54" name="Shape 51"/>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56" name="Text 53"/>
          <p:cNvSpPr txBox="1"/>
          <p:nvPr/>
        </p:nvSpPr>
        <p:spPr>
          <a:xfrm>
            <a:off x="640080" y="3575304"/>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هَذِهِ</a:t>
            </a:r>
            <a:endParaRPr lang="ar-SA" sz="1350" dirty="0"/>
          </a:p>
        </p:txBody>
      </p:sp>
      <p:sp>
        <p:nvSpPr>
          <p:cNvPr id="57" name="Shape 54"/>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8" name="Shape 55"/>
          <p:cNvSpPr/>
          <p:nvPr/>
        </p:nvSpPr>
        <p:spPr>
          <a:xfrm>
            <a:off x="8211312" y="4261104"/>
            <a:ext cx="310896" cy="310896"/>
          </a:xfrm>
          <a:prstGeom prst="ellipse">
            <a:avLst/>
          </a:prstGeom>
          <a:solidFill>
            <a:srgbClr val="F4F1EA"/>
          </a:solidFill>
          <a:ln w="12700">
            <a:solidFill>
              <a:srgbClr val="F4F1EA"/>
            </a:solidFill>
            <a:prstDash val="solid"/>
          </a:ln>
        </p:spPr>
      </p:sp>
      <p:sp>
        <p:nvSpPr>
          <p:cNvPr id="59" name="Text 56"/>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60" name="Shape 57"/>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61" name="Text 58"/>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62" name="Text 5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سَبُّورَةٌ</a:t>
            </a:r>
            <a:endParaRPr lang="ar-SA" sz="3000" dirty="0"/>
          </a:p>
        </p:txBody>
      </p:sp>
      <p:sp>
        <p:nvSpPr>
          <p:cNvPr id="63" name="Text 6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board / interactive board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sab-bū-ra</a:t>
            </a:r>
            <a:endParaRPr lang="en-US" sz="1350" dirty="0"/>
          </a:p>
        </p:txBody>
      </p:sp>
      <p:sp>
        <p:nvSpPr>
          <p:cNvPr id="64" name="Shape 61"/>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5" name="Text 62"/>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6" name="Text 63"/>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سَبُّورَاتٌ</a:t>
            </a:r>
            <a:endParaRPr lang="ar-SA" sz="1500" dirty="0"/>
          </a:p>
        </p:txBody>
      </p:sp>
      <p:sp>
        <p:nvSpPr>
          <p:cNvPr id="67" name="Shape 64"/>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8" name="Text 65"/>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69" name="Text 66"/>
          <p:cNvSpPr txBox="1"/>
          <p:nvPr/>
        </p:nvSpPr>
        <p:spPr>
          <a:xfrm>
            <a:off x="8284464"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هَذِهِ</a:t>
            </a:r>
            <a:endParaRPr lang="ar-SA" sz="1350" dirty="0"/>
          </a:p>
        </p:txBody>
      </p:sp>
      <p:sp>
        <p:nvSpPr>
          <p:cNvPr id="70" name="Shape 67"/>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1" name="Shape 68"/>
          <p:cNvSpPr/>
          <p:nvPr/>
        </p:nvSpPr>
        <p:spPr>
          <a:xfrm>
            <a:off x="4389120" y="4261104"/>
            <a:ext cx="310896" cy="310896"/>
          </a:xfrm>
          <a:prstGeom prst="ellipse">
            <a:avLst/>
          </a:prstGeom>
          <a:solidFill>
            <a:srgbClr val="F4F1EA"/>
          </a:solidFill>
          <a:ln w="12700">
            <a:solidFill>
              <a:srgbClr val="F4F1EA"/>
            </a:solidFill>
            <a:prstDash val="solid"/>
          </a:ln>
        </p:spPr>
      </p:sp>
      <p:sp>
        <p:nvSpPr>
          <p:cNvPr id="72" name="Text 69"/>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73" name="Shape 70"/>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74" name="Text 71"/>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75" name="Shape 72"/>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6" name="Text 73"/>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7" name="Text 74"/>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حَقِيبَةٌ</a:t>
            </a:r>
            <a:endParaRPr lang="ar-SA" sz="3000" dirty="0"/>
          </a:p>
        </p:txBody>
      </p:sp>
      <p:sp>
        <p:nvSpPr>
          <p:cNvPr id="78" name="Text 75"/>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bag / backpack</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ḥa-qī-ba</a:t>
            </a:r>
            <a:endParaRPr lang="en-US" sz="1350" dirty="0"/>
          </a:p>
        </p:txBody>
      </p:sp>
      <p:sp>
        <p:nvSpPr>
          <p:cNvPr id="79" name="Shape 76"/>
          <p:cNvSpPr/>
          <p:nvPr/>
        </p:nvSpPr>
        <p:spPr>
          <a:xfrm>
            <a:off x="6144768" y="5779008"/>
            <a:ext cx="1636776" cy="438912"/>
          </a:xfrm>
          <a:prstGeom prst="roundRect">
            <a:avLst>
              <a:gd name="adj" fmla="val 10417"/>
            </a:avLst>
          </a:prstGeom>
          <a:solidFill>
            <a:srgbClr val="F4F1EA"/>
          </a:solidFill>
          <a:ln w="9525">
            <a:solidFill>
              <a:srgbClr val="F4F1EA"/>
            </a:solidFill>
            <a:prstDash val="solid"/>
          </a:ln>
        </p:spPr>
      </p:sp>
      <p:sp>
        <p:nvSpPr>
          <p:cNvPr id="80" name="Text 77"/>
          <p:cNvSpPr txBox="1"/>
          <p:nvPr/>
        </p:nvSpPr>
        <p:spPr>
          <a:xfrm>
            <a:off x="6199632"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81" name="Text 78"/>
          <p:cNvSpPr txBox="1"/>
          <p:nvPr/>
        </p:nvSpPr>
        <p:spPr>
          <a:xfrm>
            <a:off x="6190488"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حَقَائِبُ</a:t>
            </a:r>
            <a:endParaRPr lang="ar-SA" sz="1500" dirty="0"/>
          </a:p>
        </p:txBody>
      </p:sp>
      <p:sp>
        <p:nvSpPr>
          <p:cNvPr id="82" name="Shape 79"/>
          <p:cNvSpPr/>
          <p:nvPr/>
        </p:nvSpPr>
        <p:spPr>
          <a:xfrm>
            <a:off x="4416552" y="5779008"/>
            <a:ext cx="1636776" cy="438912"/>
          </a:xfrm>
          <a:prstGeom prst="roundRect">
            <a:avLst>
              <a:gd name="adj" fmla="val 10417"/>
            </a:avLst>
          </a:prstGeom>
          <a:solidFill>
            <a:srgbClr val="F4F1EA"/>
          </a:solidFill>
          <a:ln w="9525">
            <a:solidFill>
              <a:srgbClr val="F4F1EA"/>
            </a:solidFill>
            <a:prstDash val="solid"/>
          </a:ln>
        </p:spPr>
      </p:sp>
      <p:sp>
        <p:nvSpPr>
          <p:cNvPr id="83" name="Text 80"/>
          <p:cNvSpPr txBox="1"/>
          <p:nvPr/>
        </p:nvSpPr>
        <p:spPr>
          <a:xfrm>
            <a:off x="4471416" y="5788152"/>
            <a:ext cx="1527048"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84" name="Text 81"/>
          <p:cNvSpPr txBox="1"/>
          <p:nvPr/>
        </p:nvSpPr>
        <p:spPr>
          <a:xfrm>
            <a:off x="4462272" y="5916168"/>
            <a:ext cx="1545336"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هَذِهِ</a:t>
            </a:r>
            <a:endParaRPr lang="ar-SA" sz="1350" dirty="0"/>
          </a:p>
        </p:txBody>
      </p:sp>
      <p:sp>
        <p:nvSpPr>
          <p:cNvPr id="85" name="Shape 8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6" name="Shape 83"/>
          <p:cNvSpPr/>
          <p:nvPr/>
        </p:nvSpPr>
        <p:spPr>
          <a:xfrm>
            <a:off x="566928" y="4261104"/>
            <a:ext cx="310896" cy="310896"/>
          </a:xfrm>
          <a:prstGeom prst="ellipse">
            <a:avLst/>
          </a:prstGeom>
          <a:solidFill>
            <a:srgbClr val="F4F1EA"/>
          </a:solidFill>
          <a:ln w="12700">
            <a:solidFill>
              <a:srgbClr val="F4F1EA"/>
            </a:solidFill>
            <a:prstDash val="solid"/>
          </a:ln>
        </p:spPr>
      </p:sp>
      <p:sp>
        <p:nvSpPr>
          <p:cNvPr id="87" name="Text 8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88" name="Shape 85"/>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89" name="Text 86"/>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a:t>
            </a:r>
            <a:endParaRPr lang="en-US" sz="800" dirty="0"/>
          </a:p>
        </p:txBody>
      </p:sp>
      <p:sp>
        <p:nvSpPr>
          <p:cNvPr id="90" name="Text 87"/>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آلَةٌ حَاسِبَةٌ</a:t>
            </a:r>
            <a:endParaRPr lang="ar-SA" sz="3000" dirty="0"/>
          </a:p>
        </p:txBody>
      </p:sp>
      <p:sp>
        <p:nvSpPr>
          <p:cNvPr id="91" name="Text 88"/>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calculator</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ā-la ḥā-si-ba</a:t>
            </a:r>
            <a:endParaRPr lang="en-US" sz="1350" dirty="0"/>
          </a:p>
        </p:txBody>
      </p:sp>
      <p:sp>
        <p:nvSpPr>
          <p:cNvPr id="92" name="Shape 89"/>
          <p:cNvSpPr/>
          <p:nvPr/>
        </p:nvSpPr>
        <p:spPr>
          <a:xfrm>
            <a:off x="594360" y="5779008"/>
            <a:ext cx="3364992" cy="438912"/>
          </a:xfrm>
          <a:prstGeom prst="roundRect">
            <a:avLst>
              <a:gd name="adj" fmla="val 10417"/>
            </a:avLst>
          </a:prstGeom>
          <a:solidFill>
            <a:srgbClr val="F4F1EA"/>
          </a:solidFill>
          <a:ln w="9525">
            <a:solidFill>
              <a:srgbClr val="F4F1EA"/>
            </a:solidFill>
            <a:prstDash val="solid"/>
          </a:ln>
        </p:spPr>
      </p:sp>
      <p:sp>
        <p:nvSpPr>
          <p:cNvPr id="93" name="Text 90"/>
          <p:cNvSpPr txBox="1"/>
          <p:nvPr/>
        </p:nvSpPr>
        <p:spPr>
          <a:xfrm>
            <a:off x="649224"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a:t>
            </a:r>
            <a:endParaRPr lang="en-US" sz="700" dirty="0"/>
          </a:p>
        </p:txBody>
      </p:sp>
      <p:sp>
        <p:nvSpPr>
          <p:cNvPr id="94" name="Text 91"/>
          <p:cNvSpPr txBox="1"/>
          <p:nvPr/>
        </p:nvSpPr>
        <p:spPr>
          <a:xfrm>
            <a:off x="640080"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هَذِهِ</a:t>
            </a:r>
            <a:endParaRPr lang="ar-SA" sz="13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TD-L02 · Classroom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1 · THIS AND I HAVE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This (m. / f.) · I have · you have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هَذَا · هَذِهِ · عِنْدِي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610344"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Pattern</a:t>
            </a:r>
            <a:endParaRPr lang="en-US" sz="1100" dirty="0"/>
          </a:p>
        </p:txBody>
      </p:sp>
      <p:sp>
        <p:nvSpPr>
          <p:cNvPr id="17" name="Text 14"/>
          <p:cNvSpPr txBox="1"/>
          <p:nvPr/>
        </p:nvSpPr>
        <p:spPr>
          <a:xfrm>
            <a:off x="3941064" y="1810512"/>
            <a:ext cx="55229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8" name="Text 15"/>
          <p:cNvSpPr txBox="1"/>
          <p:nvPr/>
        </p:nvSpPr>
        <p:spPr>
          <a:xfrm>
            <a:off x="53035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9628632" y="226771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D5FBF"/>
                </a:solidFill>
                <a:latin typeface="Amiri" pitchFamily="34" charset="0"/>
                <a:ea typeface="Amiri" pitchFamily="34" charset="-122"/>
                <a:cs typeface="Amiri" pitchFamily="34" charset="-120"/>
              </a:rPr>
              <a:t>هَذَا</a:t>
            </a:r>
            <a:endParaRPr lang="ar-SA" sz="2400" dirty="0"/>
          </a:p>
        </p:txBody>
      </p:sp>
      <p:sp>
        <p:nvSpPr>
          <p:cNvPr id="21" name="Text 18"/>
          <p:cNvSpPr txBox="1"/>
          <p:nvPr/>
        </p:nvSpPr>
        <p:spPr>
          <a:xfrm>
            <a:off x="3959352" y="2267712"/>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هَذَا قَلَمٌ. · هَذَا كِتَابٌ.</a:t>
            </a:r>
            <a:endParaRPr lang="ar-SA" sz="2200" dirty="0"/>
          </a:p>
        </p:txBody>
      </p:sp>
      <p:sp>
        <p:nvSpPr>
          <p:cNvPr id="22" name="Text 19"/>
          <p:cNvSpPr txBox="1"/>
          <p:nvPr/>
        </p:nvSpPr>
        <p:spPr>
          <a:xfrm>
            <a:off x="566928" y="226771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this is (masculine object)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9628632" y="2881884"/>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34" charset="0"/>
                <a:ea typeface="Amiri" pitchFamily="34" charset="-122"/>
                <a:cs typeface="Amiri" pitchFamily="34" charset="-120"/>
              </a:rPr>
              <a:t>هَذِهِ</a:t>
            </a:r>
            <a:endParaRPr lang="ar-SA" sz="2400" dirty="0"/>
          </a:p>
        </p:txBody>
      </p:sp>
      <p:sp>
        <p:nvSpPr>
          <p:cNvPr id="27" name="Text 24"/>
          <p:cNvSpPr txBox="1"/>
          <p:nvPr/>
        </p:nvSpPr>
        <p:spPr>
          <a:xfrm>
            <a:off x="3959352" y="2881884"/>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هَذِهِ مِسْطَرَةٌ. · هَذِهِ حَقِيبَةٌ.</a:t>
            </a:r>
            <a:endParaRPr lang="ar-SA" sz="2200" dirty="0"/>
          </a:p>
        </p:txBody>
      </p:sp>
      <p:sp>
        <p:nvSpPr>
          <p:cNvPr id="28" name="Text 25"/>
          <p:cNvSpPr txBox="1"/>
          <p:nvPr/>
        </p:nvSpPr>
        <p:spPr>
          <a:xfrm>
            <a:off x="566928" y="2881884"/>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this is (feminine object)</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9628632" y="3496056"/>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عِنْدِي</a:t>
            </a:r>
            <a:endParaRPr lang="ar-SA" sz="2400" dirty="0"/>
          </a:p>
        </p:txBody>
      </p:sp>
      <p:sp>
        <p:nvSpPr>
          <p:cNvPr id="33" name="Text 30"/>
          <p:cNvSpPr txBox="1"/>
          <p:nvPr/>
        </p:nvSpPr>
        <p:spPr>
          <a:xfrm>
            <a:off x="3959352" y="3496056"/>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عِنْدِي قَلَمٌ وَكِتَابٌ.</a:t>
            </a:r>
            <a:endParaRPr lang="ar-SA" sz="2200" dirty="0"/>
          </a:p>
        </p:txBody>
      </p:sp>
      <p:sp>
        <p:nvSpPr>
          <p:cNvPr id="34" name="Text 31"/>
          <p:cNvSpPr txBox="1"/>
          <p:nvPr/>
        </p:nvSpPr>
        <p:spPr>
          <a:xfrm>
            <a:off x="566928" y="3496056"/>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have</a:t>
            </a:r>
            <a:endParaRPr lang="en-US" sz="11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9628632" y="4110228"/>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لَيْسَ عِنْدِي</a:t>
            </a:r>
            <a:endParaRPr lang="ar-SA" sz="2400" dirty="0"/>
          </a:p>
        </p:txBody>
      </p:sp>
      <p:sp>
        <p:nvSpPr>
          <p:cNvPr id="39" name="Text 36"/>
          <p:cNvSpPr txBox="1"/>
          <p:nvPr/>
        </p:nvSpPr>
        <p:spPr>
          <a:xfrm>
            <a:off x="3959352" y="4110228"/>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لَا، لَيْسَ عِنْدِي غِرَاءٌ.</a:t>
            </a:r>
            <a:endParaRPr lang="ar-SA" sz="2200" dirty="0"/>
          </a:p>
        </p:txBody>
      </p:sp>
      <p:sp>
        <p:nvSpPr>
          <p:cNvPr id="40" name="Text 37"/>
          <p:cNvSpPr txBox="1"/>
          <p:nvPr/>
        </p:nvSpPr>
        <p:spPr>
          <a:xfrm>
            <a:off x="566928" y="4110228"/>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do not have</a:t>
            </a:r>
            <a:endParaRPr lang="en-US" sz="1100" dirty="0"/>
          </a:p>
        </p:txBody>
      </p:sp>
      <p:sp>
        <p:nvSpPr>
          <p:cNvPr id="41" name="Shape 38"/>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3" name="Shape 40"/>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4" name="Text 41"/>
          <p:cNvSpPr txBox="1"/>
          <p:nvPr/>
        </p:nvSpPr>
        <p:spPr>
          <a:xfrm>
            <a:off x="9628632" y="4724400"/>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عِنْدَكَ / عِنْدَكِ</a:t>
            </a:r>
            <a:endParaRPr lang="ar-SA" sz="2400" dirty="0"/>
          </a:p>
        </p:txBody>
      </p:sp>
      <p:sp>
        <p:nvSpPr>
          <p:cNvPr id="45" name="Text 42"/>
          <p:cNvSpPr txBox="1"/>
          <p:nvPr/>
        </p:nvSpPr>
        <p:spPr>
          <a:xfrm>
            <a:off x="3959352" y="4724400"/>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هَلْ عِنْدَكَ قَامُوسٌ؟ · هَلْ عِنْدَكِ مِسْطَرَةٌ؟</a:t>
            </a:r>
            <a:endParaRPr lang="ar-SA" sz="2200" dirty="0"/>
          </a:p>
        </p:txBody>
      </p:sp>
      <p:sp>
        <p:nvSpPr>
          <p:cNvPr id="46" name="Text 43"/>
          <p:cNvSpPr txBox="1"/>
          <p:nvPr/>
        </p:nvSpPr>
        <p:spPr>
          <a:xfrm>
            <a:off x="566928" y="4724400"/>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do you (m. / f.) have …?</a:t>
            </a:r>
            <a:endParaRPr lang="en-US" sz="1100" dirty="0"/>
          </a:p>
        </p:txBody>
      </p:sp>
      <p:sp>
        <p:nvSpPr>
          <p:cNvPr id="47" name="Shape 44"/>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8" name="Text 45"/>
          <p:cNvSpPr txBox="1"/>
          <p:nvPr/>
        </p:nvSpPr>
        <p:spPr>
          <a:xfrm>
            <a:off x="9628632" y="5338572"/>
            <a:ext cx="2011680"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عِنْدَهُ / عِنْدَهَا</a:t>
            </a:r>
            <a:endParaRPr lang="ar-SA" sz="2400" dirty="0"/>
          </a:p>
        </p:txBody>
      </p:sp>
      <p:sp>
        <p:nvSpPr>
          <p:cNvPr id="49" name="Text 46"/>
          <p:cNvSpPr txBox="1"/>
          <p:nvPr/>
        </p:nvSpPr>
        <p:spPr>
          <a:xfrm>
            <a:off x="3959352" y="5338572"/>
            <a:ext cx="548640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عِنْدَهُ حَاسُوبٌ. · عِنْدَهَا حَقِيبَةٌ.</a:t>
            </a:r>
            <a:endParaRPr lang="ar-SA" sz="2200" dirty="0"/>
          </a:p>
        </p:txBody>
      </p:sp>
      <p:sp>
        <p:nvSpPr>
          <p:cNvPr id="50" name="Text 47"/>
          <p:cNvSpPr txBox="1"/>
          <p:nvPr/>
        </p:nvSpPr>
        <p:spPr>
          <a:xfrm>
            <a:off x="566928" y="5338572"/>
            <a:ext cx="322783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he has / she has</a:t>
            </a:r>
            <a:endParaRPr lang="en-US" sz="1100" dirty="0"/>
          </a:p>
        </p:txBody>
      </p:sp>
      <p:sp>
        <p:nvSpPr>
          <p:cNvPr id="51" name="Text 48"/>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demonstrative matches the gender of the singular noun — not the gender of the speaker.</a:t>
            </a:r>
            <a:endParaRPr lang="en-US" sz="1150" dirty="0"/>
          </a:p>
        </p:txBody>
      </p:sp>
      <p:sp>
        <p:nvSpPr>
          <p:cNvPr id="52"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TD-L02 · Classroom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PART 2 · WHERE IS IT? HOW MANY?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Place first, then the object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أَيْنَ؟ كَمْ؟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TD-L02</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7543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7543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IN · ON</a:t>
            </a:r>
            <a:endParaRPr lang="en-US" sz="850" dirty="0"/>
          </a:p>
        </p:txBody>
      </p:sp>
      <p:sp>
        <p:nvSpPr>
          <p:cNvPr id="18" name="Text 15"/>
          <p:cNvSpPr txBox="1"/>
          <p:nvPr/>
        </p:nvSpPr>
        <p:spPr>
          <a:xfrm>
            <a:off x="9032748" y="1874520"/>
            <a:ext cx="25618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فِي · عَلَى</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فِي حَقِيبَتِي كِتَابٌ، وَعَلَى مَكْتَبِي حَاسُوبٌ.</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In my bag there is a book, and on my desk a computer.</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Place phrase comes first.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85166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4413504" y="1920240"/>
            <a:ext cx="18516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UNDER · BESIDE · INSIDE</a:t>
            </a:r>
            <a:endParaRPr lang="en-US" sz="850" dirty="0"/>
          </a:p>
        </p:txBody>
      </p:sp>
      <p:sp>
        <p:nvSpPr>
          <p:cNvPr id="26" name="Text 23"/>
          <p:cNvSpPr txBox="1"/>
          <p:nvPr/>
        </p:nvSpPr>
        <p:spPr>
          <a:xfrm>
            <a:off x="6310884" y="1874520"/>
            <a:ext cx="146456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تَحْتَ · بِجَانِبِ · دَاخِلَ</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34" charset="0"/>
                <a:ea typeface="Amiri" pitchFamily="34" charset="-122"/>
                <a:cs typeface="Amiri" pitchFamily="34" charset="-120"/>
              </a:rPr>
              <a:t>تَحْتَ الكُرْسِيِّ حَقِيبَةٌ.</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Under the chair there is a bag.</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Also: amāma, khalfa, bayna.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30302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3030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COUNT · STRETCH</a:t>
            </a:r>
            <a:endParaRPr lang="en-US" sz="850" dirty="0"/>
          </a:p>
        </p:txBody>
      </p:sp>
      <p:sp>
        <p:nvSpPr>
          <p:cNvPr id="34" name="Text 31"/>
          <p:cNvSpPr txBox="1"/>
          <p:nvPr/>
        </p:nvSpPr>
        <p:spPr>
          <a:xfrm>
            <a:off x="1943100" y="1874520"/>
            <a:ext cx="20132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وَاحِدٌ · ـَانِ · ثَلَاثَةُ</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قَلَمٌ وَاحِدٌ · قَلَمَانِ · ثَلَاثَةُ أَقْلَامٍ</a:t>
            </a:r>
            <a:endParaRPr lang="ar-SA" sz="2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one pen · two pens · three pens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f.: </a:t>
            </a:r>
            <a:pPr algn="l" indent="0" marL="0">
              <a:buNone/>
            </a:pPr>
            <a:r>
              <a:rPr lang="ar-SA" altLang="en-US" sz="1450" dirty="0">
                <a:solidFill>
                  <a:srgbClr val="1F2A37"/>
                </a:solidFill>
                <a:latin typeface="Amiri" pitchFamily="34" charset="0"/>
                <a:ea typeface="Amiri" pitchFamily="34" charset="-122"/>
                <a:cs typeface="Amiri" pitchFamily="34" charset="-120"/>
              </a:rPr>
              <a:t>ثَلَاثُ مَسَاطِرَ</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location model: the place phrase comes first and the object follows.</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عَلَى مَكْتَبِي حَاسُوبٌ.</a:t>
            </a:r>
            <a:endParaRPr lang="ar-SA" sz="20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000" b="1" dirty="0">
                <a:solidFill>
                  <a:srgbClr val="B83227"/>
                </a:solidFill>
                <a:latin typeface="Amiri" pitchFamily="34" charset="0"/>
                <a:ea typeface="Amiri" pitchFamily="34" charset="-122"/>
                <a:cs typeface="Amiri" pitchFamily="34" charset="-120"/>
              </a:rPr>
              <a:t>حَاسُوبٌ مَكْتَبِي عَلَى.</a:t>
            </a:r>
            <a:endParaRPr lang="ar-SA" sz="20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TD-L02 · Classroom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for a ruler.</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مِسْطَرَةٌ.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مِسْطَرٌ.</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مِسْطَرَةٌ.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for a dictionary.</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قَامُوسٌ.</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قَامُوسٌ.</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قَامُوسَةٌ.</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female: “Do you have a ruler?”</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عِنْدَكَ مِسْطَرَةٌ؟</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عِنْدَكِ مِسْطَرَةٌ؟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عِنْدَهَا مِسْطَرَةٌ؟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negative answer.</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لَيْسَ عِنْدِي غِرَاءٌ.</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لَا، عِنْدِي غِرَاءٌ.</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نَعَمْ، لَيْسَ عِنْدِي غِرَاءٌ.</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TD-L02 · Classroom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for a ruler.</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 مِسْطَرَةٌ.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هَذِهِ مِسْطَرٌ.</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هَذِهِ مِسْطَرَةٌ.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مِسْطَرَةٌ</a:t>
            </a:r>
            <a:pPr algn="l" indent="0" marL="0">
              <a:buNone/>
            </a:pPr>
            <a:r>
              <a:rPr lang="en-US" sz="1050" i="1" dirty="0">
                <a:solidFill>
                  <a:srgbClr val="8A6D1E"/>
                </a:solidFill>
                <a:latin typeface="Calibri" pitchFamily="34" charset="0"/>
                <a:ea typeface="Calibri" pitchFamily="34" charset="-122"/>
                <a:cs typeface="Calibri" pitchFamily="34" charset="-120"/>
              </a:rPr>
              <a:t> is feminine, so use </a:t>
            </a:r>
            <a:pPr algn="l" indent="0" marL="0">
              <a:buNone/>
            </a:pPr>
            <a:r>
              <a:rPr lang="ar-SA" altLang="en-US" sz="1350" dirty="0">
                <a:solidFill>
                  <a:srgbClr val="8A6D1E"/>
                </a:solidFill>
                <a:latin typeface="Amiri" pitchFamily="34" charset="0"/>
                <a:ea typeface="Amiri" pitchFamily="34" charset="-122"/>
                <a:cs typeface="Amiri" pitchFamily="34" charset="-120"/>
              </a:rPr>
              <a:t>هَذِهِ</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for a dictionary.</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هَذَا قَامُوسٌ.</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هَذِهِ قَامُوسٌ.</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 قَامُوسَةٌ.</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قَامُوسٌ</a:t>
            </a:r>
            <a:pPr algn="l" indent="0" marL="0">
              <a:buNone/>
            </a:pPr>
            <a:r>
              <a:rPr lang="en-US" sz="1050" i="1" dirty="0">
                <a:solidFill>
                  <a:srgbClr val="8A6D1E"/>
                </a:solidFill>
                <a:latin typeface="Calibri" pitchFamily="34" charset="0"/>
                <a:ea typeface="Calibri" pitchFamily="34" charset="-122"/>
                <a:cs typeface="Calibri" pitchFamily="34" charset="-120"/>
              </a:rPr>
              <a:t> is masculine.</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female: “Do you have a ruler?”</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هَلْ عِنْدَكَ مِسْطَرَةٌ؟</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هَلْ عِنْدَكِ مِسْطَرَةٌ؟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هَلْ عِنْدَهَا مِسْطَرَةٌ؟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عِنْدَكِ</a:t>
            </a:r>
            <a:pPr algn="l" indent="0" marL="0">
              <a:buNone/>
            </a:pPr>
            <a:r>
              <a:rPr lang="en-US" sz="1050" i="1" dirty="0">
                <a:solidFill>
                  <a:srgbClr val="8A6D1E"/>
                </a:solidFill>
                <a:latin typeface="Calibri" pitchFamily="34" charset="0"/>
                <a:ea typeface="Calibri" pitchFamily="34" charset="-122"/>
                <a:cs typeface="Calibri" pitchFamily="34" charset="-120"/>
              </a:rPr>
              <a:t> addresses one female.</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negative answer.</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لَا، لَيْسَ عِنْدِي غِرَاءٌ.</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لَا، عِنْدِي غِرَاءٌ.</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نَعَمْ، لَيْسَ عِنْدِي غِرَاءٌ.</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لَيْسَ عِنْدِي</a:t>
            </a:r>
            <a:pPr algn="l" indent="0" marL="0">
              <a:buNone/>
            </a:pPr>
            <a:r>
              <a:rPr lang="en-US" sz="1050" i="1" dirty="0">
                <a:solidFill>
                  <a:srgbClr val="8A6D1E"/>
                </a:solidFill>
                <a:latin typeface="Calibri" pitchFamily="34" charset="0"/>
                <a:ea typeface="Calibri" pitchFamily="34" charset="-122"/>
                <a:cs typeface="Calibri" pitchFamily="34" charset="-120"/>
              </a:rPr>
              <a:t> expresses not having something.</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TD-L02 · Classroom</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unpack my bag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This is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D6336C"/>
                </a:solidFill>
                <a:latin typeface="Amiri" pitchFamily="34" charset="0"/>
                <a:ea typeface="Amiri" pitchFamily="34" charset="-122"/>
                <a:cs typeface="Amiri" pitchFamily="34" charset="-120"/>
              </a:rPr>
              <a:t>هَذِهِ</a:t>
            </a:r>
            <a:pPr rtl="1" algn="ctr" indent="0" marL="0">
              <a:buNone/>
            </a:pPr>
            <a:r>
              <a:rPr lang="ar-SA" altLang="en-US" sz="2400" b="1" dirty="0">
                <a:solidFill>
                  <a:srgbClr val="1B3B6F"/>
                </a:solidFill>
                <a:latin typeface="Amiri" pitchFamily="34" charset="0"/>
                <a:ea typeface="Amiri" pitchFamily="34" charset="-122"/>
                <a:cs typeface="Amiri" pitchFamily="34" charset="-120"/>
              </a:rPr>
              <a:t> حَقِيبَتِي المَدْرَسِيَّةُ.</a:t>
            </a:r>
            <a:endParaRPr lang="ar-SA" sz="24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Bag (f.) → hādhihi.</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In my bag</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فِي حَقِيبَتِي كِتَابٌ وَدَفْتَرٌ وَمِسْطَرَةٌ.</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Place first.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I don’t have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300" b="1" dirty="0">
                <a:solidFill>
                  <a:srgbClr val="1B3B6F"/>
                </a:solidFill>
                <a:latin typeface="Amiri" pitchFamily="34" charset="0"/>
                <a:ea typeface="Amiri" pitchFamily="34" charset="-122"/>
                <a:cs typeface="Amiri" pitchFamily="34" charset="-120"/>
              </a:rPr>
              <a:t>لَيْسَ عِنْدِي قَامُوسٌ اليَوْمَ.</a:t>
            </a:r>
            <a:endParaRPr lang="ar-SA" sz="23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Negative: laysa.</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On my desk</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عَلَى مَكْتَبِي حَاسُوبٌ، وَبِجَانِبِهِ مِقْلَمَةٌ زَرْقَاءُ.</a:t>
            </a:r>
            <a:endParaRPr lang="ar-SA" sz="175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Colour agrees (f.).</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MASCULINE</a:t>
            </a:r>
            <a:endParaRPr lang="en-US" sz="800" dirty="0"/>
          </a:p>
        </p:txBody>
      </p:sp>
      <p:sp>
        <p:nvSpPr>
          <p:cNvPr id="47" name="Shape 43"/>
          <p:cNvSpPr/>
          <p:nvPr/>
        </p:nvSpPr>
        <p:spPr>
          <a:xfrm>
            <a:off x="10515600"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FEMININE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700" b="1" dirty="0">
                <a:solidFill>
                  <a:srgbClr val="D6336C"/>
                </a:solidFill>
                <a:latin typeface="Amiri" pitchFamily="34" charset="0"/>
                <a:ea typeface="Amiri" pitchFamily="34" charset="-122"/>
                <a:cs typeface="Amiri" pitchFamily="34" charset="-120"/>
              </a:rPr>
              <a:t>هَذِهِ</a:t>
            </a:r>
            <a:pPr rtl="1" algn="r" indent="0" marL="0">
              <a:buNone/>
            </a:pPr>
            <a:r>
              <a:rPr lang="ar-SA" altLang="en-US" sz="1700" b="1" dirty="0">
                <a:solidFill>
                  <a:srgbClr val="1B3B6F"/>
                </a:solidFill>
                <a:latin typeface="Amiri" pitchFamily="34" charset="0"/>
                <a:ea typeface="Amiri" pitchFamily="34" charset="-122"/>
                <a:cs typeface="Amiri" pitchFamily="34" charset="-120"/>
              </a:rPr>
              <a:t> حَقِيبَتِي المَدْرَسِيَّةُ. فِي حَقِيبَتِي كِتَابٌ وَدَفْتَرٌ وَمِسْطَرَةٌ، وَلَكِنْ لَيْسَ عِنْدِي قَامُوسٌ اليَوْمَ. عَلَى مَكْتَبِي حَاسُوبٌ، وَبِجَانِبِهِ مِقْلَمَةٌ زَرْقَاءُ. </a:t>
            </a:r>
            <a:pPr rtl="1" algn="r" indent="0" marL="0">
              <a:buNone/>
            </a:pPr>
            <a:r>
              <a:rPr lang="ar-SA" altLang="en-US" sz="1700" b="1" dirty="0">
                <a:solidFill>
                  <a:srgbClr val="1D5FBF"/>
                </a:solidFill>
                <a:latin typeface="Amiri" pitchFamily="34" charset="0"/>
                <a:ea typeface="Amiri" pitchFamily="34" charset="-122"/>
                <a:cs typeface="Amiri" pitchFamily="34" charset="-120"/>
              </a:rPr>
              <a:t>هَذَا</a:t>
            </a:r>
            <a:pPr rtl="1" algn="r" indent="0" marL="0">
              <a:buNone/>
            </a:pPr>
            <a:r>
              <a:rPr lang="ar-SA" altLang="en-US" sz="1700" b="1" dirty="0">
                <a:solidFill>
                  <a:srgbClr val="1B3B6F"/>
                </a:solidFill>
                <a:latin typeface="Amiri" pitchFamily="34" charset="0"/>
                <a:ea typeface="Amiri" pitchFamily="34" charset="-122"/>
                <a:cs typeface="Amiri" pitchFamily="34" charset="-120"/>
              </a:rPr>
              <a:t> قَلَمِي.</a:t>
            </a:r>
            <a:endParaRPr lang="ar-SA" sz="17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00" i="1" dirty="0">
                <a:solidFill>
                  <a:srgbClr val="5A6472"/>
                </a:solidFill>
                <a:latin typeface="Calibri" pitchFamily="34" charset="0"/>
                <a:ea typeface="Calibri" pitchFamily="34" charset="-122"/>
                <a:cs typeface="Calibri" pitchFamily="34" charset="-120"/>
              </a:rPr>
              <a:t>This is my school bag. In my bag there is a book, an exercise book and a ruler, but I don’t have a dictionary today. On my desk there is a computer, and beside it a blue pencil case. This is my pen.</a:t>
            </a:r>
            <a:endParaRPr lang="en-US" sz="11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TD-L02 · Classroom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PICTURE MATCH · WEBSITE GAME “VISUAL GAME — CLASSROOM OBJECTS”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is it?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صُورَةُ الفَصْلِ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pencil</a:t>
            </a:r>
            <a:endParaRPr lang="en-US" sz="1100" dirty="0"/>
          </a:p>
        </p:txBody>
      </p:sp>
      <p:sp>
        <p:nvSpPr>
          <p:cNvPr id="21" name="Shape 17"/>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4404360" y="1938528"/>
            <a:ext cx="365760" cy="365760"/>
          </a:xfrm>
          <a:prstGeom prst="ellipse">
            <a:avLst/>
          </a:prstGeom>
          <a:solidFill>
            <a:srgbClr val="1B3B6F"/>
          </a:solidFill>
          <a:ln w="12700">
            <a:solidFill>
              <a:srgbClr val="1B3B6F"/>
            </a:solidFill>
            <a:prstDash val="solid"/>
          </a:ln>
        </p:spPr>
      </p:sp>
      <p:sp>
        <p:nvSpPr>
          <p:cNvPr id="23" name="Text 19"/>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4" name="Shape 20"/>
          <p:cNvSpPr/>
          <p:nvPr/>
        </p:nvSpPr>
        <p:spPr>
          <a:xfrm>
            <a:off x="5586984" y="2066544"/>
            <a:ext cx="1014984" cy="1014984"/>
          </a:xfrm>
          <a:prstGeom prst="ellipse">
            <a:avLst/>
          </a:prstGeom>
          <a:solidFill>
            <a:srgbClr val="F4F1EA"/>
          </a:solidFill>
          <a:ln w="12700">
            <a:solidFill>
              <a:srgbClr val="F4F1EA"/>
            </a:solidFill>
            <a:prstDash val="solid"/>
          </a:ln>
        </p:spPr>
      </p:sp>
      <p:pic>
        <p:nvPicPr>
          <p:cNvPr id="25"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26" name="Text 21"/>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school bag</a:t>
            </a:r>
            <a:endParaRPr lang="en-US" sz="1100" dirty="0"/>
          </a:p>
        </p:txBody>
      </p:sp>
      <p:sp>
        <p:nvSpPr>
          <p:cNvPr id="27" name="Shape 2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3"/>
          <p:cNvSpPr/>
          <p:nvPr/>
        </p:nvSpPr>
        <p:spPr>
          <a:xfrm>
            <a:off x="585216" y="1938528"/>
            <a:ext cx="365760" cy="365760"/>
          </a:xfrm>
          <a:prstGeom prst="ellipse">
            <a:avLst/>
          </a:prstGeom>
          <a:solidFill>
            <a:srgbClr val="1B3B6F"/>
          </a:solidFill>
          <a:ln w="12700">
            <a:solidFill>
              <a:srgbClr val="1B3B6F"/>
            </a:solidFill>
            <a:prstDash val="solid"/>
          </a:ln>
        </p:spPr>
      </p:sp>
      <p:sp>
        <p:nvSpPr>
          <p:cNvPr id="29" name="Text 2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0" name="Shape 25"/>
          <p:cNvSpPr/>
          <p:nvPr/>
        </p:nvSpPr>
        <p:spPr>
          <a:xfrm>
            <a:off x="1767840" y="2066544"/>
            <a:ext cx="1014984" cy="1014984"/>
          </a:xfrm>
          <a:prstGeom prst="ellipse">
            <a:avLst/>
          </a:prstGeom>
          <a:solidFill>
            <a:srgbClr val="F4F1EA"/>
          </a:solidFill>
          <a:ln w="12700">
            <a:solidFill>
              <a:srgbClr val="F4F1EA"/>
            </a:solidFill>
            <a:prstDash val="solid"/>
          </a:ln>
        </p:spPr>
      </p:sp>
      <p:pic>
        <p:nvPicPr>
          <p:cNvPr id="3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32" name="Text 2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ruler</a:t>
            </a:r>
            <a:endParaRPr lang="en-US" sz="1100" dirty="0"/>
          </a:p>
        </p:txBody>
      </p:sp>
      <p:sp>
        <p:nvSpPr>
          <p:cNvPr id="33" name="Shape 27"/>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34" name="Shape 28"/>
          <p:cNvSpPr/>
          <p:nvPr/>
        </p:nvSpPr>
        <p:spPr>
          <a:xfrm>
            <a:off x="11247120" y="3831336"/>
            <a:ext cx="292608" cy="292608"/>
          </a:xfrm>
          <a:prstGeom prst="ellipse">
            <a:avLst/>
          </a:prstGeom>
          <a:solidFill>
            <a:srgbClr val="2F6FB0"/>
          </a:solidFill>
          <a:ln w="12700">
            <a:solidFill>
              <a:srgbClr val="2F6FB0"/>
            </a:solidFill>
            <a:prstDash val="solid"/>
          </a:ln>
        </p:spPr>
      </p:sp>
      <p:sp>
        <p:nvSpPr>
          <p:cNvPr id="35" name="Text 29"/>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36" name="Text 30"/>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هٰذِهِ مِسْطَرَةٌ.</a:t>
            </a:r>
            <a:endParaRPr lang="ar-SA" sz="2000" dirty="0"/>
          </a:p>
        </p:txBody>
      </p:sp>
      <p:sp>
        <p:nvSpPr>
          <p:cNvPr id="37" name="Shape 31"/>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38" name="Shape 32"/>
          <p:cNvSpPr/>
          <p:nvPr/>
        </p:nvSpPr>
        <p:spPr>
          <a:xfrm>
            <a:off x="11247120" y="4398264"/>
            <a:ext cx="292608" cy="292608"/>
          </a:xfrm>
          <a:prstGeom prst="ellipse">
            <a:avLst/>
          </a:prstGeom>
          <a:solidFill>
            <a:srgbClr val="2F6FB0"/>
          </a:solidFill>
          <a:ln w="12700">
            <a:solidFill>
              <a:srgbClr val="2F6FB0"/>
            </a:solidFill>
            <a:prstDash val="solid"/>
          </a:ln>
        </p:spPr>
      </p:sp>
      <p:sp>
        <p:nvSpPr>
          <p:cNvPr id="39" name="Text 33"/>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0" name="Text 34"/>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هٰذَا قَلَمُ رَصَاصٍ.</a:t>
            </a:r>
            <a:endParaRPr lang="ar-SA" sz="2000" dirty="0"/>
          </a:p>
        </p:txBody>
      </p:sp>
      <p:sp>
        <p:nvSpPr>
          <p:cNvPr id="41" name="Shape 35"/>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2" name="Shape 36"/>
          <p:cNvSpPr/>
          <p:nvPr/>
        </p:nvSpPr>
        <p:spPr>
          <a:xfrm>
            <a:off x="11247120" y="4965192"/>
            <a:ext cx="292608" cy="292608"/>
          </a:xfrm>
          <a:prstGeom prst="ellipse">
            <a:avLst/>
          </a:prstGeom>
          <a:solidFill>
            <a:srgbClr val="2F6FB0"/>
          </a:solidFill>
          <a:ln w="12700">
            <a:solidFill>
              <a:srgbClr val="2F6FB0"/>
            </a:solidFill>
            <a:prstDash val="solid"/>
          </a:ln>
        </p:spPr>
      </p:sp>
      <p:sp>
        <p:nvSpPr>
          <p:cNvPr id="43" name="Text 37"/>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44" name="Text 38"/>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هٰذِهِ حَقِيبَةٌ.</a:t>
            </a:r>
            <a:endParaRPr lang="ar-SA" sz="2000" dirty="0"/>
          </a:p>
        </p:txBody>
      </p:sp>
      <p:sp>
        <p:nvSpPr>
          <p:cNvPr id="45" name="Text 39"/>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46" name="Text 40"/>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47"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TD-L02 · Classroom</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صُورَةُ الفَصْلِ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940612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9589008" y="2249424"/>
            <a:ext cx="649224" cy="649224"/>
          </a:xfrm>
          <a:prstGeom prst="rect">
            <a:avLst/>
          </a:prstGeom>
        </p:spPr>
      </p:pic>
      <p:sp>
        <p:nvSpPr>
          <p:cNvPr id="20" name="Text 16"/>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pencil</a:t>
            </a:r>
            <a:endParaRPr lang="en-US" sz="1100" dirty="0"/>
          </a:p>
        </p:txBody>
      </p:sp>
      <p:sp>
        <p:nvSpPr>
          <p:cNvPr id="21" name="Shape 17"/>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Shape 18"/>
          <p:cNvSpPr/>
          <p:nvPr/>
        </p:nvSpPr>
        <p:spPr>
          <a:xfrm>
            <a:off x="11256264" y="3785616"/>
            <a:ext cx="329184" cy="329184"/>
          </a:xfrm>
          <a:prstGeom prst="ellipse">
            <a:avLst/>
          </a:prstGeom>
          <a:solidFill>
            <a:srgbClr val="2E8B57"/>
          </a:solidFill>
          <a:ln w="12700">
            <a:solidFill>
              <a:srgbClr val="2E8B57"/>
            </a:solidFill>
            <a:prstDash val="solid"/>
          </a:ln>
        </p:spPr>
      </p:sp>
      <p:sp>
        <p:nvSpPr>
          <p:cNvPr id="23" name="Text 19"/>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4" name="Text 20"/>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هٰذَا قَلَمُ رَصَاصٍ.</a:t>
            </a:r>
            <a:endParaRPr lang="ar-SA" sz="2200" dirty="0"/>
          </a:p>
        </p:txBody>
      </p:sp>
      <p:sp>
        <p:nvSpPr>
          <p:cNvPr id="25" name="Text 21"/>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a pencil.</a:t>
            </a:r>
            <a:endParaRPr lang="en-US" sz="1200" dirty="0"/>
          </a:p>
        </p:txBody>
      </p:sp>
      <p:sp>
        <p:nvSpPr>
          <p:cNvPr id="26" name="Shape 22"/>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7" name="Shape 23"/>
          <p:cNvSpPr/>
          <p:nvPr/>
        </p:nvSpPr>
        <p:spPr>
          <a:xfrm>
            <a:off x="4404360" y="1938528"/>
            <a:ext cx="365760" cy="365760"/>
          </a:xfrm>
          <a:prstGeom prst="ellipse">
            <a:avLst/>
          </a:prstGeom>
          <a:solidFill>
            <a:srgbClr val="1B3B6F"/>
          </a:solidFill>
          <a:ln w="12700">
            <a:solidFill>
              <a:srgbClr val="1B3B6F"/>
            </a:solidFill>
            <a:prstDash val="solid"/>
          </a:ln>
        </p:spPr>
      </p:sp>
      <p:sp>
        <p:nvSpPr>
          <p:cNvPr id="28" name="Text 24"/>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9" name="Shape 25"/>
          <p:cNvSpPr/>
          <p:nvPr/>
        </p:nvSpPr>
        <p:spPr>
          <a:xfrm>
            <a:off x="5586984" y="2066544"/>
            <a:ext cx="1014984" cy="1014984"/>
          </a:xfrm>
          <a:prstGeom prst="ellipse">
            <a:avLst/>
          </a:prstGeom>
          <a:solidFill>
            <a:srgbClr val="F4F1EA"/>
          </a:solidFill>
          <a:ln w="12700">
            <a:solidFill>
              <a:srgbClr val="F4F1EA"/>
            </a:solidFill>
            <a:prstDash val="solid"/>
          </a:ln>
        </p:spPr>
      </p:sp>
      <p:pic>
        <p:nvPicPr>
          <p:cNvPr id="30" name="Image 1" descr="preencoded.png">    </p:cNvPr>
          <p:cNvPicPr>
            <a:picLocks noChangeAspect="1"/>
          </p:cNvPicPr>
          <p:nvPr/>
        </p:nvPicPr>
        <p:blipFill>
          <a:blip r:embed="rId2"/>
          <a:stretch>
            <a:fillRect/>
          </a:stretch>
        </p:blipFill>
        <p:spPr>
          <a:xfrm>
            <a:off x="5769864" y="2249424"/>
            <a:ext cx="649224" cy="649224"/>
          </a:xfrm>
          <a:prstGeom prst="rect">
            <a:avLst/>
          </a:prstGeom>
        </p:spPr>
      </p:pic>
      <p:sp>
        <p:nvSpPr>
          <p:cNvPr id="31" name="Text 26"/>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school bag</a:t>
            </a:r>
            <a:endParaRPr lang="en-US" sz="1100" dirty="0"/>
          </a:p>
        </p:txBody>
      </p:sp>
      <p:sp>
        <p:nvSpPr>
          <p:cNvPr id="32" name="Shape 27"/>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3" name="Shape 28"/>
          <p:cNvSpPr/>
          <p:nvPr/>
        </p:nvSpPr>
        <p:spPr>
          <a:xfrm>
            <a:off x="7437120" y="3785616"/>
            <a:ext cx="329184" cy="329184"/>
          </a:xfrm>
          <a:prstGeom prst="ellipse">
            <a:avLst/>
          </a:prstGeom>
          <a:solidFill>
            <a:srgbClr val="2E8B57"/>
          </a:solidFill>
          <a:ln w="12700">
            <a:solidFill>
              <a:srgbClr val="2E8B57"/>
            </a:solidFill>
            <a:prstDash val="solid"/>
          </a:ln>
        </p:spPr>
      </p:sp>
      <p:sp>
        <p:nvSpPr>
          <p:cNvPr id="34" name="Text 29"/>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5" name="Text 30"/>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هٰذِهِ حَقِيبَةٌ.</a:t>
            </a:r>
            <a:endParaRPr lang="ar-SA" sz="2200" dirty="0"/>
          </a:p>
        </p:txBody>
      </p:sp>
      <p:sp>
        <p:nvSpPr>
          <p:cNvPr id="36" name="Text 31"/>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a bag.</a:t>
            </a:r>
            <a:endParaRPr lang="en-US" sz="1200" dirty="0"/>
          </a:p>
        </p:txBody>
      </p:sp>
      <p:sp>
        <p:nvSpPr>
          <p:cNvPr id="37" name="Shape 32"/>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3"/>
          <p:cNvSpPr/>
          <p:nvPr/>
        </p:nvSpPr>
        <p:spPr>
          <a:xfrm>
            <a:off x="585216" y="1938528"/>
            <a:ext cx="365760" cy="365760"/>
          </a:xfrm>
          <a:prstGeom prst="ellipse">
            <a:avLst/>
          </a:prstGeom>
          <a:solidFill>
            <a:srgbClr val="1B3B6F"/>
          </a:solidFill>
          <a:ln w="12700">
            <a:solidFill>
              <a:srgbClr val="1B3B6F"/>
            </a:solidFill>
            <a:prstDash val="solid"/>
          </a:ln>
        </p:spPr>
      </p:sp>
      <p:sp>
        <p:nvSpPr>
          <p:cNvPr id="39" name="Text 34"/>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0" name="Shape 35"/>
          <p:cNvSpPr/>
          <p:nvPr/>
        </p:nvSpPr>
        <p:spPr>
          <a:xfrm>
            <a:off x="1767840" y="2066544"/>
            <a:ext cx="1014984" cy="1014984"/>
          </a:xfrm>
          <a:prstGeom prst="ellipse">
            <a:avLst/>
          </a:prstGeom>
          <a:solidFill>
            <a:srgbClr val="F4F1EA"/>
          </a:solidFill>
          <a:ln w="12700">
            <a:solidFill>
              <a:srgbClr val="F4F1EA"/>
            </a:solidFill>
            <a:prstDash val="solid"/>
          </a:ln>
        </p:spPr>
      </p:sp>
      <p:pic>
        <p:nvPicPr>
          <p:cNvPr id="41" name="Image 2" descr="preencoded.png">    </p:cNvPr>
          <p:cNvPicPr>
            <a:picLocks noChangeAspect="1"/>
          </p:cNvPicPr>
          <p:nvPr/>
        </p:nvPicPr>
        <p:blipFill>
          <a:blip r:embed="rId3"/>
          <a:stretch>
            <a:fillRect/>
          </a:stretch>
        </p:blipFill>
        <p:spPr>
          <a:xfrm>
            <a:off x="1950720" y="2249424"/>
            <a:ext cx="649224" cy="649224"/>
          </a:xfrm>
          <a:prstGeom prst="rect">
            <a:avLst/>
          </a:prstGeom>
        </p:spPr>
      </p:pic>
      <p:sp>
        <p:nvSpPr>
          <p:cNvPr id="42" name="Text 36"/>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ruler</a:t>
            </a:r>
            <a:endParaRPr lang="en-US" sz="1100" dirty="0"/>
          </a:p>
        </p:txBody>
      </p:sp>
      <p:sp>
        <p:nvSpPr>
          <p:cNvPr id="43" name="Shape 37"/>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4" name="Shape 38"/>
          <p:cNvSpPr/>
          <p:nvPr/>
        </p:nvSpPr>
        <p:spPr>
          <a:xfrm>
            <a:off x="3617976" y="3785616"/>
            <a:ext cx="329184" cy="329184"/>
          </a:xfrm>
          <a:prstGeom prst="ellipse">
            <a:avLst/>
          </a:prstGeom>
          <a:solidFill>
            <a:srgbClr val="2E8B57"/>
          </a:solidFill>
          <a:ln w="12700">
            <a:solidFill>
              <a:srgbClr val="2E8B57"/>
            </a:solidFill>
            <a:prstDash val="solid"/>
          </a:ln>
        </p:spPr>
      </p:sp>
      <p:sp>
        <p:nvSpPr>
          <p:cNvPr id="45" name="Text 39"/>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46" name="Text 40"/>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هٰذِهِ مِسْطَرَةٌ.</a:t>
            </a:r>
            <a:endParaRPr lang="ar-SA" sz="2200" dirty="0"/>
          </a:p>
        </p:txBody>
      </p:sp>
      <p:sp>
        <p:nvSpPr>
          <p:cNvPr id="47" name="Text 41"/>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a ruler.</a:t>
            </a:r>
            <a:endParaRPr lang="en-US" sz="1200" dirty="0"/>
          </a:p>
        </p:txBody>
      </p:sp>
      <p:sp>
        <p:nvSpPr>
          <p:cNvPr id="48" name="Text 4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TD-L02 · Classroom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“PACK THE BAG MISSION”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Pack the bag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تَجْهِيزِ الحَقِيبَةِ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plural of this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كِتَابٌ.</a:t>
            </a:r>
            <a:endParaRPr lang="ar-SA" sz="2200" dirty="0"/>
          </a:p>
        </p:txBody>
      </p:sp>
      <p:sp>
        <p:nvSpPr>
          <p:cNvPr id="20" name="Shape 17"/>
          <p:cNvSpPr/>
          <p:nvPr/>
        </p:nvSpPr>
        <p:spPr>
          <a:xfrm>
            <a:off x="640080" y="2532888"/>
            <a:ext cx="256032" cy="256032"/>
          </a:xfrm>
          <a:prstGeom prst="ellipse">
            <a:avLst/>
          </a:prstGeom>
          <a:solidFill>
            <a:srgbClr val="F4F1EA"/>
          </a:solidFill>
          <a:ln w="12700">
            <a:solidFill>
              <a:srgbClr val="F4F1EA"/>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كِتَابَاتٌ</a:t>
            </a:r>
            <a:endParaRPr lang="ar-SA" sz="2050" dirty="0"/>
          </a:p>
        </p:txBody>
      </p:sp>
      <p:sp>
        <p:nvSpPr>
          <p:cNvPr id="23" name="Shape 20"/>
          <p:cNvSpPr/>
          <p:nvPr/>
        </p:nvSpPr>
        <p:spPr>
          <a:xfrm>
            <a:off x="640080" y="2990088"/>
            <a:ext cx="256032" cy="256032"/>
          </a:xfrm>
          <a:prstGeom prst="ellipse">
            <a:avLst/>
          </a:prstGeom>
          <a:solidFill>
            <a:srgbClr val="F4F1EA"/>
          </a:solidFill>
          <a:ln w="12700">
            <a:solidFill>
              <a:srgbClr val="F4F1EA"/>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كَاتِبُونَ</a:t>
            </a:r>
            <a:endParaRPr lang="ar-SA" sz="2050" dirty="0"/>
          </a:p>
        </p:txBody>
      </p:sp>
      <p:sp>
        <p:nvSpPr>
          <p:cNvPr id="26" name="Shape 23"/>
          <p:cNvSpPr/>
          <p:nvPr/>
        </p:nvSpPr>
        <p:spPr>
          <a:xfrm>
            <a:off x="640080" y="3447288"/>
            <a:ext cx="256032" cy="256032"/>
          </a:xfrm>
          <a:prstGeom prst="ellipse">
            <a:avLst/>
          </a:prstGeom>
          <a:solidFill>
            <a:srgbClr val="F4F1EA"/>
          </a:solidFill>
          <a:ln w="12700">
            <a:solidFill>
              <a:srgbClr val="F4F1EA"/>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كُتُبٌ</a:t>
            </a:r>
            <a:endParaRPr lang="ar-SA" sz="2050" dirty="0"/>
          </a:p>
        </p:txBody>
      </p:sp>
      <p:sp>
        <p:nvSpPr>
          <p:cNvPr id="29" name="Shape 26"/>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4404360" y="1947672"/>
            <a:ext cx="310896" cy="310896"/>
          </a:xfrm>
          <a:prstGeom prst="ellipse">
            <a:avLst/>
          </a:prstGeom>
          <a:solidFill>
            <a:srgbClr val="1B3B6F"/>
          </a:solidFill>
          <a:ln w="12700">
            <a:solidFill>
              <a:srgbClr val="1B3B6F"/>
            </a:solidFill>
            <a:prstDash val="solid"/>
          </a:ln>
        </p:spPr>
      </p:sp>
      <p:sp>
        <p:nvSpPr>
          <p:cNvPr id="31" name="Text 28"/>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2" name="Text 29"/>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Eraser: Choose the accurate demonstrative sentence.</a:t>
            </a:r>
            <a:endParaRPr lang="en-US" sz="1250" dirty="0"/>
          </a:p>
        </p:txBody>
      </p:sp>
      <p:sp>
        <p:nvSpPr>
          <p:cNvPr id="33" name="Shape 30"/>
          <p:cNvSpPr/>
          <p:nvPr/>
        </p:nvSpPr>
        <p:spPr>
          <a:xfrm>
            <a:off x="4459224"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مِمْحَاةٌ.</a:t>
            </a:r>
            <a:endParaRPr lang="ar-SA" sz="2050" dirty="0"/>
          </a:p>
        </p:txBody>
      </p:sp>
      <p:sp>
        <p:nvSpPr>
          <p:cNvPr id="36" name="Shape 33"/>
          <p:cNvSpPr/>
          <p:nvPr/>
        </p:nvSpPr>
        <p:spPr>
          <a:xfrm>
            <a:off x="4459224"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مِمْحَايٌ.</a:t>
            </a:r>
            <a:endParaRPr lang="ar-SA" sz="2050" dirty="0"/>
          </a:p>
        </p:txBody>
      </p:sp>
      <p:sp>
        <p:nvSpPr>
          <p:cNvPr id="39" name="Shape 36"/>
          <p:cNvSpPr/>
          <p:nvPr/>
        </p:nvSpPr>
        <p:spPr>
          <a:xfrm>
            <a:off x="4459224"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مِمْحَاةٌ.</a:t>
            </a:r>
            <a:endParaRPr lang="ar-SA" sz="20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School bag: Ask one female what is in her bag.</a:t>
            </a:r>
            <a:endParaRPr lang="en-US" sz="125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فِي حَقِيبَتِكِ؟</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مَاذَا فِي حَقِيبَتِكَ؟</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عِنْدَهَا حَقِيبَةٌ؟</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Scissors: Choose “I do not have scissors”.</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عِنْدِي مَقَصٌّ.</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لَيْسَ عِنْدِي مَقَصٌّ.</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لَيْسَ عِنْدَكَ مَقَصٌّ.</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Pencil case: Choose “inside the pencil case”.</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دَاخِلَ المِقْلَمَةِ</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بَيْنَ المِقْلَمَةِ</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فَوْقَ المِقْلَمَةِ</a:t>
            </a:r>
            <a:endParaRPr lang="ar-SA" sz="2050" dirty="0"/>
          </a:p>
        </p:txBody>
      </p:sp>
      <p:sp>
        <p:nvSpPr>
          <p:cNvPr id="81" name="Shape 78"/>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2" name="Shape 79"/>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3" name="Text 80"/>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4" name="Text 81"/>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m. → hādhā · f. → hādhihi</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boy: ‘indaka · girl: ‘indaki</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I don’t have: laysa ‘indī</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TD-L02 · Classroom</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MISSION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Choose the plural of this</a:t>
            </a:r>
            <a:endParaRPr lang="en-US" sz="1200" dirty="0"/>
          </a:p>
        </p:txBody>
      </p:sp>
      <p:sp>
        <p:nvSpPr>
          <p:cNvPr id="19" name="Text 16"/>
          <p:cNvSpPr txBox="1"/>
          <p:nvPr/>
        </p:nvSpPr>
        <p:spPr>
          <a:xfrm>
            <a:off x="2406701"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كِتَابٌ.</a:t>
            </a:r>
            <a:endParaRPr lang="ar-SA" sz="2200" dirty="0"/>
          </a:p>
        </p:txBody>
      </p:sp>
      <p:sp>
        <p:nvSpPr>
          <p:cNvPr id="20" name="Shape 17"/>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كِتَابَاتٌ</a:t>
            </a:r>
            <a:endParaRPr lang="ar-SA" sz="170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كَاتِبُونَ</a:t>
            </a:r>
            <a:endParaRPr lang="ar-SA" sz="1700" dirty="0"/>
          </a:p>
        </p:txBody>
      </p:sp>
      <p:sp>
        <p:nvSpPr>
          <p:cNvPr id="26" name="Shape 23"/>
          <p:cNvSpPr/>
          <p:nvPr/>
        </p:nvSpPr>
        <p:spPr>
          <a:xfrm>
            <a:off x="548640" y="3197352"/>
            <a:ext cx="3453384" cy="347472"/>
          </a:xfrm>
          <a:prstGeom prst="roundRect">
            <a:avLst>
              <a:gd name="adj" fmla="val 15789"/>
            </a:avLst>
          </a:prstGeom>
          <a:solidFill>
            <a:srgbClr val="E6F4EC"/>
          </a:solidFill>
          <a:ln w="9525">
            <a:solidFill>
              <a:srgbClr val="2E8B57"/>
            </a:solidFill>
            <a:prstDash val="solid"/>
          </a:ln>
        </p:spPr>
      </p:sp>
      <p:sp>
        <p:nvSpPr>
          <p:cNvPr id="27" name="Shape 24"/>
          <p:cNvSpPr/>
          <p:nvPr/>
        </p:nvSpPr>
        <p:spPr>
          <a:xfrm>
            <a:off x="640080" y="3233928"/>
            <a:ext cx="256032" cy="256032"/>
          </a:xfrm>
          <a:prstGeom prst="ellipse">
            <a:avLst/>
          </a:prstGeom>
          <a:solidFill>
            <a:srgbClr val="2E8B57"/>
          </a:solidFill>
          <a:ln w="12700">
            <a:solidFill>
              <a:srgbClr val="2E8B57"/>
            </a:solidFill>
            <a:prstDash val="solid"/>
          </a:ln>
        </p:spPr>
      </p:sp>
      <p:sp>
        <p:nvSpPr>
          <p:cNvPr id="28" name="Text 25"/>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كُتُبٌ</a:t>
            </a:r>
            <a:endParaRPr lang="ar-SA" sz="1700" dirty="0"/>
          </a:p>
        </p:txBody>
      </p:sp>
      <p:sp>
        <p:nvSpPr>
          <p:cNvPr id="30" name="Text 27"/>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كُتُبٌ</a:t>
            </a:r>
            <a:pPr algn="l" indent="0" marL="0">
              <a:buNone/>
            </a:pPr>
            <a:r>
              <a:rPr lang="en-US" sz="1050" i="1" dirty="0">
                <a:solidFill>
                  <a:srgbClr val="8A6D1E"/>
                </a:solidFill>
                <a:latin typeface="Calibri" pitchFamily="34" charset="0"/>
                <a:ea typeface="Calibri" pitchFamily="34" charset="-122"/>
                <a:cs typeface="Calibri" pitchFamily="34" charset="-120"/>
              </a:rPr>
              <a:t> is the plural.</a:t>
            </a:r>
            <a:endParaRPr lang="en-US" sz="1050" dirty="0"/>
          </a:p>
        </p:txBody>
      </p:sp>
      <p:sp>
        <p:nvSpPr>
          <p:cNvPr id="31" name="Shape 28"/>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1"/>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Eraser: Choose the accurate demonstrative sentence.</a:t>
            </a:r>
            <a:endParaRPr lang="en-US" sz="1250" dirty="0"/>
          </a:p>
        </p:txBody>
      </p:sp>
      <p:sp>
        <p:nvSpPr>
          <p:cNvPr id="35" name="Shape 32"/>
          <p:cNvSpPr/>
          <p:nvPr/>
        </p:nvSpPr>
        <p:spPr>
          <a:xfrm>
            <a:off x="4459224" y="2490216"/>
            <a:ext cx="256032" cy="256032"/>
          </a:xfrm>
          <a:prstGeom prst="ellipse">
            <a:avLst/>
          </a:prstGeom>
          <a:solidFill>
            <a:srgbClr val="C9CED6"/>
          </a:solidFill>
          <a:ln w="12700">
            <a:solidFill>
              <a:srgbClr val="C9CED6"/>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 مِمْحَاةٌ.</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هَذِهِ مِمْحَايٌ.</a:t>
            </a:r>
            <a:endParaRPr lang="ar-SA" sz="1700" dirty="0"/>
          </a:p>
        </p:txBody>
      </p:sp>
      <p:sp>
        <p:nvSpPr>
          <p:cNvPr id="41" name="Shape 38"/>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2" name="Shape 39"/>
          <p:cNvSpPr/>
          <p:nvPr/>
        </p:nvSpPr>
        <p:spPr>
          <a:xfrm>
            <a:off x="4459224" y="3233928"/>
            <a:ext cx="256032" cy="256032"/>
          </a:xfrm>
          <a:prstGeom prst="ellipse">
            <a:avLst/>
          </a:prstGeom>
          <a:solidFill>
            <a:srgbClr val="2E8B57"/>
          </a:solidFill>
          <a:ln w="12700">
            <a:solidFill>
              <a:srgbClr val="2E8B57"/>
            </a:solidFill>
            <a:prstDash val="solid"/>
          </a:ln>
        </p:spPr>
      </p:sp>
      <p:sp>
        <p:nvSpPr>
          <p:cNvPr id="43" name="Text 40"/>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هَذِهِ مِمْحَاةٌ.</a:t>
            </a:r>
            <a:endParaRPr lang="ar-SA" sz="1700" dirty="0"/>
          </a:p>
        </p:txBody>
      </p:sp>
      <p:sp>
        <p:nvSpPr>
          <p:cNvPr id="45" name="Text 42"/>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مِمْحَاةٌ</a:t>
            </a:r>
            <a:pPr algn="l" indent="0" marL="0">
              <a:buNone/>
            </a:pPr>
            <a:r>
              <a:rPr lang="en-US" sz="1050" i="1" dirty="0">
                <a:solidFill>
                  <a:srgbClr val="8A6D1E"/>
                </a:solidFill>
                <a:latin typeface="Calibri" pitchFamily="34" charset="0"/>
                <a:ea typeface="Calibri" pitchFamily="34" charset="-122"/>
                <a:cs typeface="Calibri" pitchFamily="34" charset="-120"/>
              </a:rPr>
              <a:t> is feminine.</a:t>
            </a:r>
            <a:endParaRPr lang="en-US" sz="1050" dirty="0"/>
          </a:p>
        </p:txBody>
      </p:sp>
      <p:sp>
        <p:nvSpPr>
          <p:cNvPr id="46" name="Shape 43"/>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5"/>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School bag: Ask one female what is in her bag.</a:t>
            </a:r>
            <a:endParaRPr lang="en-US" sz="1250" dirty="0"/>
          </a:p>
        </p:txBody>
      </p:sp>
      <p:sp>
        <p:nvSpPr>
          <p:cNvPr id="50" name="Shape 47"/>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1" name="Shape 48"/>
          <p:cNvSpPr/>
          <p:nvPr/>
        </p:nvSpPr>
        <p:spPr>
          <a:xfrm>
            <a:off x="8278368" y="2490216"/>
            <a:ext cx="256032" cy="256032"/>
          </a:xfrm>
          <a:prstGeom prst="ellipse">
            <a:avLst/>
          </a:prstGeom>
          <a:solidFill>
            <a:srgbClr val="2E8B57"/>
          </a:solidFill>
          <a:ln w="12700">
            <a:solidFill>
              <a:srgbClr val="2E8B57"/>
            </a:solidFill>
            <a:prstDash val="solid"/>
          </a:ln>
        </p:spPr>
      </p:sp>
      <p:sp>
        <p:nvSpPr>
          <p:cNvPr id="52"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مَاذَا فِي حَقِيبَتِكِ؟</a:t>
            </a:r>
            <a:endParaRPr lang="ar-SA" sz="1700" dirty="0"/>
          </a:p>
        </p:txBody>
      </p:sp>
      <p:sp>
        <p:nvSpPr>
          <p:cNvPr id="54"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5"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6"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مَاذَا فِي حَقِيبَتِكَ؟</a:t>
            </a:r>
            <a:endParaRPr lang="ar-SA" sz="1700" dirty="0"/>
          </a:p>
        </p:txBody>
      </p:sp>
      <p:sp>
        <p:nvSpPr>
          <p:cNvPr id="57" name="Shape 54"/>
          <p:cNvSpPr/>
          <p:nvPr/>
        </p:nvSpPr>
        <p:spPr>
          <a:xfrm>
            <a:off x="8278368" y="3233928"/>
            <a:ext cx="256032" cy="256032"/>
          </a:xfrm>
          <a:prstGeom prst="ellipse">
            <a:avLst/>
          </a:prstGeom>
          <a:solidFill>
            <a:srgbClr val="C9CED6"/>
          </a:solidFill>
          <a:ln w="12700">
            <a:solidFill>
              <a:srgbClr val="C9CED6"/>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هَلْ عِنْدَهَا حَقِيبَةٌ؟</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female listener ending is </a:t>
            </a:r>
            <a:pPr algn="l" indent="0" marL="0">
              <a:buNone/>
            </a:pPr>
            <a:r>
              <a:rPr lang="ar-SA" altLang="en-US" sz="1350" dirty="0">
                <a:solidFill>
                  <a:srgbClr val="8A6D1E"/>
                </a:solidFill>
                <a:latin typeface="Amiri" pitchFamily="34" charset="0"/>
                <a:ea typeface="Amiri" pitchFamily="34" charset="-122"/>
                <a:cs typeface="Amiri" pitchFamily="34" charset="-120"/>
              </a:rPr>
              <a:t>ـكِ</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Scissors: Choose “I do not have scissors”.</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عِنْدِي مَقَصٌّ.</a:t>
            </a:r>
            <a:endParaRPr lang="ar-SA" sz="1700" dirty="0"/>
          </a:p>
        </p:txBody>
      </p:sp>
      <p:sp>
        <p:nvSpPr>
          <p:cNvPr id="68" name="Shape 65"/>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9" name="Shape 66"/>
          <p:cNvSpPr/>
          <p:nvPr/>
        </p:nvSpPr>
        <p:spPr>
          <a:xfrm>
            <a:off x="640080" y="5202936"/>
            <a:ext cx="256032" cy="256032"/>
          </a:xfrm>
          <a:prstGeom prst="ellipse">
            <a:avLst/>
          </a:prstGeom>
          <a:solidFill>
            <a:srgbClr val="2E8B57"/>
          </a:solidFill>
          <a:ln w="12700">
            <a:solidFill>
              <a:srgbClr val="2E8B57"/>
            </a:solidFill>
            <a:prstDash val="solid"/>
          </a:ln>
        </p:spPr>
      </p:sp>
      <p:sp>
        <p:nvSpPr>
          <p:cNvPr id="70"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لَيْسَ عِنْدِي مَقَصٌّ.</a:t>
            </a:r>
            <a:endParaRPr lang="ar-SA" sz="1700" dirty="0"/>
          </a:p>
        </p:txBody>
      </p:sp>
      <p:sp>
        <p:nvSpPr>
          <p:cNvPr id="72" name="Shape 69"/>
          <p:cNvSpPr/>
          <p:nvPr/>
        </p:nvSpPr>
        <p:spPr>
          <a:xfrm>
            <a:off x="640080" y="5574792"/>
            <a:ext cx="256032" cy="256032"/>
          </a:xfrm>
          <a:prstGeom prst="ellipse">
            <a:avLst/>
          </a:prstGeom>
          <a:solidFill>
            <a:srgbClr val="C9CED6"/>
          </a:solidFill>
          <a:ln w="12700">
            <a:solidFill>
              <a:srgbClr val="C9CED6"/>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لَيْسَ عِنْدَكَ مَقَصٌّ.</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لَيْسَ عِنْدِي</a:t>
            </a:r>
            <a:pPr algn="l" indent="0" marL="0">
              <a:buNone/>
            </a:pPr>
            <a:r>
              <a:rPr lang="en-US" sz="1050" i="1" dirty="0">
                <a:solidFill>
                  <a:srgbClr val="8A6D1E"/>
                </a:solidFill>
                <a:latin typeface="Calibri" pitchFamily="34" charset="0"/>
                <a:ea typeface="Calibri" pitchFamily="34" charset="-122"/>
                <a:cs typeface="Calibri" pitchFamily="34" charset="-120"/>
              </a:rPr>
              <a:t> gives the negative first-person answer.</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Pencil case: Choose “inside the pencil case”.</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دَاخِلَ المِقْلَمَةِ</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بَيْنَ المِقْلَمَةِ</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فَوْقَ المِقْلَمَةِ</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دَاخِلَ</a:t>
            </a:r>
            <a:pPr algn="l" indent="0" marL="0">
              <a:buNone/>
            </a:pPr>
            <a:r>
              <a:rPr lang="en-US" sz="1050" i="1" dirty="0">
                <a:solidFill>
                  <a:srgbClr val="8A6D1E"/>
                </a:solidFill>
                <a:latin typeface="Calibri" pitchFamily="34" charset="0"/>
                <a:ea typeface="Calibri" pitchFamily="34" charset="-122"/>
                <a:cs typeface="Calibri" pitchFamily="34" charset="-120"/>
              </a:rPr>
              <a:t> means inside.</a:t>
            </a:r>
            <a:endParaRPr lang="en-US" sz="1050" dirty="0"/>
          </a:p>
        </p:txBody>
      </p:sp>
      <p:sp>
        <p:nvSpPr>
          <p:cNvPr id="91" name="Shape 88"/>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2" name="Shape 89"/>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3" name="Text 90"/>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4" name="Text 91"/>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m. → hādhā · f. → hādhihi</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boy: ‘indaka · girl: ‘indaki</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I don’t have: laysa ‘indī</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TD-L02 · Classroom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هَذَا مِسْطَرَةٌ.</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Ruler: hādhā or hādhihi?</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يَا مَرْيَمُ، هَلْ عِنْدَكَ قَلَمٌ؟</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Talking to a girl: which ending?</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لَا عِنْدِي غِرَاءٌ.</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 don’t have: which word?</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TD-L02 · Classroom</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هَذَا مِسْطَرَةٌ.</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هَذِهِ مِسْطَرَةٌ.</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Ruler is feminine (</a:t>
            </a:r>
            <a:pPr algn="l" indent="0" marL="0">
              <a:buNone/>
            </a:pPr>
            <a:r>
              <a:rPr lang="ar-SA" altLang="en-US" sz="1500" b="1" dirty="0">
                <a:solidFill>
                  <a:srgbClr val="1B3B6F"/>
                </a:solidFill>
                <a:latin typeface="Amiri" pitchFamily="34" charset="0"/>
                <a:ea typeface="Amiri" pitchFamily="34" charset="-122"/>
                <a:cs typeface="Amiri" pitchFamily="34" charset="-120"/>
              </a:rPr>
              <a:t>ـة</a:t>
            </a:r>
            <a:pPr algn="l" indent="0" marL="0">
              <a:buNone/>
            </a:pPr>
            <a:r>
              <a:rPr lang="en-US" sz="1150" b="1" dirty="0">
                <a:solidFill>
                  <a:srgbClr val="1B3B6F"/>
                </a:solidFill>
                <a:latin typeface="Calibri" pitchFamily="34" charset="0"/>
                <a:ea typeface="Calibri" pitchFamily="34" charset="-122"/>
                <a:cs typeface="Calibri" pitchFamily="34" charset="-120"/>
              </a:rPr>
              <a:t>): hādhihi.</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يَا مَرْيَمُ، هَلْ عِنْدَكَ قَلَمٌ؟</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يَا مَرْيَمُ، هَلْ عِنْدَكِ قَلَمٌ؟</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One female listener: ‘indaki.</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لَا عِنْدِي غِرَاءٌ.</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لَيْسَ عِنْدِي غِرَاءٌ.</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I don’t have = laysa ‘indī.</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TD-L02 · Classroom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Layla’s school bag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notebooks does she have?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not have today?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ruler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notebook</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dictionary</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on her desk?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tablet</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printer</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laptop</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colour is the pencil case?</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blue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red</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purple</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under the chair?</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own bag</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her friend’s bag</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dictionary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Five headings: bag · missing · desk · colour · under the chair.</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TD-L02 · Classroom</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800" b="1" dirty="0">
                <a:solidFill>
                  <a:srgbClr val="1B3B6F"/>
                </a:solidFill>
                <a:latin typeface="Amiri" pitchFamily="34" charset="0"/>
                <a:ea typeface="Amiri" pitchFamily="34" charset="-122"/>
                <a:cs typeface="Amiri" pitchFamily="34" charset="-120"/>
              </a:rPr>
              <a:t>اِسْمِي لَيْلَى. فِي حَقِيبَتِي كِتَابُ العُلُومِ، وَدَفْتَرَانِ، وَثَلَاثَةُ أَقْلَامٍ، وَمِسْطَرَةٌ، وَمِمْحَاةٌ.</a:t>
            </a:r>
            <a:endParaRPr lang="ar-SA" sz="18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name is Layla. In my bag there is the science book, two exercise books, three pens, a ruler and an eraser.</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لَيْسَ عِنْدِي قَامُوسٌ اليَوْمَ.</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don’t have a dictionary today.</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عَلَى مَكْتَبِي حَاسُوبٌ مَحْمُولٌ، وَبِجَانِبِ الحَاسُوبِ مِقْلَمَةٌ زَرْقَاءُ.</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my desk there is a laptop, and beside the computer a blue pencil case.</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تَحْتَ الكُرْسِيِّ حَقِيبَةُ صَدِيقَتِي.</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Under the chair is my friend’s bag.</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أَسْتَخْدِمُ القَلَمَ وَالدَّفْتَرَ فِي حِصَّةِ اللُّغَةِ العَرَبِيَّةِ.</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 use the pen and the exercise book in the Arabic lesson.</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TD-L02 · Classroom</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notebooks does she have?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two</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one</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three</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دَفْتَرَانِ</a:t>
            </a:r>
            <a:pPr algn="l" indent="0" marL="0">
              <a:buNone/>
            </a:pPr>
            <a:r>
              <a:rPr lang="en-US" sz="1050" i="1" dirty="0">
                <a:solidFill>
                  <a:srgbClr val="8A6D1E"/>
                </a:solidFill>
                <a:latin typeface="Calibri" pitchFamily="34" charset="0"/>
                <a:ea typeface="Calibri" pitchFamily="34" charset="-122"/>
                <a:cs typeface="Calibri" pitchFamily="34" charset="-120"/>
              </a:rPr>
              <a:t> means two notebooks.</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she not have today?</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ruler</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notebook</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dictionary</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لَيْسَ عِنْدِي قَامُوسٌ اليَوْمَ.</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on her desk?</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tablet</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printer</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laptop</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عَلَى مَكْتَبِي حَاسُوبٌ مَحْمُولٌ.</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colour is the pencil case?</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blue</a:t>
            </a:r>
            <a:endParaRPr lang="en-US" sz="12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red</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purple</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describes it as </a:t>
            </a:r>
            <a:pPr algn="l" indent="0" marL="0">
              <a:buNone/>
            </a:pPr>
            <a:r>
              <a:rPr lang="ar-SA" altLang="en-US" sz="1350" dirty="0">
                <a:solidFill>
                  <a:srgbClr val="8A6D1E"/>
                </a:solidFill>
                <a:latin typeface="Amiri" pitchFamily="34" charset="0"/>
                <a:ea typeface="Amiri" pitchFamily="34" charset="-122"/>
                <a:cs typeface="Amiri" pitchFamily="34" charset="-120"/>
              </a:rPr>
              <a:t>زَرْقَاءُ</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under the chair?</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her own bag</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her friend’s bag</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dictionary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تَحْتَ الكُرْسِيِّ حَقِيبَةُ صَدِيقَتِي.</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Five headings: bag · missing · desk · colour · under the chair.</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TD-L02 · Classroom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 PROFILE A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Omar’s bag</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المَلَفُّ (أ)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TD-L02</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أَنَا عُمَرُ. هَذِهِ حَقِيبَتِي المَدْرَسِيَّةُ.</a:t>
            </a:r>
            <a:endParaRPr lang="ar-SA" sz="200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Omar · this is my school bag (f.)</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فِيهَا كِتَابٌ، وَدَفْتَرٌ، وَقَلَمُ رَصَاصٍ، وَمِسْطَرَةٌ.</a:t>
            </a:r>
            <a:endParaRPr lang="ar-SA" sz="200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it: book, exercise book, pencil, ruler</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عِنْدِي أَيْضًا آلَةٌ حَاسِبَةٌ صَغِيرَةٌ.</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Also: a small calculator</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لَيْسَ عِنْدِي غِرَاءٌ.</a:t>
            </a:r>
            <a:endParaRPr lang="ar-SA" sz="200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Missing: glue</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عَلَى مَكْتَبِي قَامُوسٌ وَحَاسُوبٌ.</a:t>
            </a:r>
            <a:endParaRPr lang="ar-SA" sz="200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the desk: dictionary + computer</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TD-L02 · Classroom</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 PROFILE B (WEBSITE) · FLEX /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Huda’s pencil case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المَلَفُّ (ب)</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TD-L02</a:t>
            </a:r>
            <a:endParaRPr lang="en-US" sz="850" dirty="0"/>
          </a:p>
        </p:txBody>
      </p:sp>
      <p:sp>
        <p:nvSpPr>
          <p:cNvPr id="17" name="Shape 14"/>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8" name="Text 15"/>
          <p:cNvSpPr txBox="1"/>
          <p:nvPr/>
        </p:nvSpPr>
        <p:spPr>
          <a:xfrm>
            <a:off x="4937760" y="18288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اِسْمِي هُدَى.</a:t>
            </a:r>
            <a:endParaRPr lang="ar-SA" sz="2000" dirty="0"/>
          </a:p>
        </p:txBody>
      </p:sp>
      <p:sp>
        <p:nvSpPr>
          <p:cNvPr id="19" name="Text 16"/>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Huda</a:t>
            </a:r>
            <a:endParaRPr lang="en-US" sz="1250" dirty="0"/>
          </a:p>
        </p:txBody>
      </p:sp>
      <p:sp>
        <p:nvSpPr>
          <p:cNvPr id="20" name="Shape 17"/>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21" name="Text 18"/>
          <p:cNvSpPr txBox="1"/>
          <p:nvPr/>
        </p:nvSpPr>
        <p:spPr>
          <a:xfrm>
            <a:off x="4937760" y="27432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فِي مِقْلَمَتِي ثَلَاثَةُ أَقْلَامٍ وَمِمْحَاةٌ وَمِبْرَاةٌ.</a:t>
            </a:r>
            <a:endParaRPr lang="ar-SA" sz="2000" dirty="0"/>
          </a:p>
        </p:txBody>
      </p:sp>
      <p:sp>
        <p:nvSpPr>
          <p:cNvPr id="22" name="Text 19"/>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Pencil case: 3 pens, eraser, sharpener</a:t>
            </a:r>
            <a:endParaRPr lang="en-US" sz="1250" dirty="0"/>
          </a:p>
        </p:txBody>
      </p:sp>
      <p:sp>
        <p:nvSpPr>
          <p:cNvPr id="23" name="Shape 20"/>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4" name="Text 21"/>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حَقِيبَتِي بَنَفْسَجِيَّةٌ، وَفِيهَا كِتَابَانِ وَأَوْرَاقٌ.</a:t>
            </a:r>
            <a:endParaRPr lang="ar-SA" sz="2000" dirty="0"/>
          </a:p>
        </p:txBody>
      </p:sp>
      <p:sp>
        <p:nvSpPr>
          <p:cNvPr id="25" name="Text 22"/>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Bag: purple · two books + papers</a:t>
            </a:r>
            <a:endParaRPr lang="en-US" sz="1250" dirty="0"/>
          </a:p>
        </p:txBody>
      </p:sp>
      <p:sp>
        <p:nvSpPr>
          <p:cNvPr id="26" name="Shape 23"/>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7" name="Text 24"/>
          <p:cNvSpPr txBox="1"/>
          <p:nvPr/>
        </p:nvSpPr>
        <p:spPr>
          <a:xfrm>
            <a:off x="4937760" y="45720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عَلَى الطَّاوِلَةِ جِهَازٌ لَوْحِيٌّ،</a:t>
            </a:r>
            <a:endParaRPr lang="ar-SA" sz="2000" dirty="0"/>
          </a:p>
        </p:txBody>
      </p:sp>
      <p:sp>
        <p:nvSpPr>
          <p:cNvPr id="28" name="Text 25"/>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 the table: a tablet</a:t>
            </a:r>
            <a:endParaRPr lang="en-US" sz="1250" dirty="0"/>
          </a:p>
        </p:txBody>
      </p:sp>
      <p:sp>
        <p:nvSpPr>
          <p:cNvPr id="29" name="Shape 26"/>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30" name="Text 27"/>
          <p:cNvSpPr txBox="1"/>
          <p:nvPr/>
        </p:nvSpPr>
        <p:spPr>
          <a:xfrm>
            <a:off x="4937760" y="54864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وَبِجَانِبِهِ قَلَمُ حِبْرٍ أَسْوَدُ.</a:t>
            </a:r>
            <a:endParaRPr lang="ar-SA" sz="2000" dirty="0"/>
          </a:p>
        </p:txBody>
      </p:sp>
      <p:sp>
        <p:nvSpPr>
          <p:cNvPr id="31" name="Text 28"/>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Beside it: a black ink pen</a:t>
            </a:r>
            <a:endParaRPr lang="en-US" sz="1250" dirty="0"/>
          </a:p>
        </p:txBody>
      </p:sp>
      <p:sp>
        <p:nvSpPr>
          <p:cNvPr id="32" name="Text 2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TD-L02 · Classroom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QUESTIONS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Omar or Huda?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extra device does Omar have?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tablet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small calculator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printer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Omar not have?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ruler</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notebook</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glue</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small tools are in Huda’s pencil case?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eraser and a sharpener</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glue and scissors</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ruler and a calculator</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colour is Huda’s bag?</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blue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purple</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black</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beside the device?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black ink pen</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blue pencil</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ruler</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EVIDENCE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Find the place phrase,</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then the object after it.</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TD-L02 · Classroom</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extra device does Omar have?</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tablet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small calculator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printer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has </a:t>
            </a:r>
            <a:pPr algn="l" indent="0" marL="0">
              <a:buNone/>
            </a:pPr>
            <a:r>
              <a:rPr lang="ar-SA" altLang="en-US" sz="1350" dirty="0">
                <a:solidFill>
                  <a:srgbClr val="8A6D1E"/>
                </a:solidFill>
                <a:latin typeface="Amiri" pitchFamily="34" charset="0"/>
                <a:ea typeface="Amiri" pitchFamily="34" charset="-122"/>
                <a:cs typeface="Amiri" pitchFamily="34" charset="-120"/>
              </a:rPr>
              <a:t>آلَةٌ حَاسِبَةٌ صَغِيرَةٌ</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Omar not have?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ruler</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notebook</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glue</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says </a:t>
            </a:r>
            <a:pPr algn="l" indent="0" marL="0">
              <a:buNone/>
            </a:pPr>
            <a:r>
              <a:rPr lang="ar-SA" altLang="en-US" sz="1350" dirty="0">
                <a:solidFill>
                  <a:srgbClr val="8A6D1E"/>
                </a:solidFill>
                <a:latin typeface="Amiri" pitchFamily="34" charset="0"/>
                <a:ea typeface="Amiri" pitchFamily="34" charset="-122"/>
                <a:cs typeface="Amiri" pitchFamily="34" charset="-120"/>
              </a:rPr>
              <a:t>لَيْسَ عِنْدِي غِرَاءٌ</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two small tools are in Huda’s pencil case?</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eraser and a sharpener</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glue and scissors</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ruler and a calculator</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مِمْحَاةٌ وَمِبْرَاةٌ.</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colour is Huda’s bag?</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blue</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purple</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black</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حَقِيبَتِي بَنَفْسَجِيَّةٌ.</a:t>
            </a:r>
            <a:endParaRPr lang="ar-SA" sz="13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beside the device?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black ink pen</a:t>
            </a:r>
            <a:endParaRPr lang="en-US" sz="12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blue pencil</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ruler</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بِجَانِبِهِ قَلَمُ حِبْرٍ أَسْوَدُ.</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EVIDENCE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Find the place phrase,</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then the object after it.</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TD-L02 · Classroom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TOPIC D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Classroom bag detective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TD-L02</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TOPIC D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ea typeface="Calibri" pitchFamily="34" charset="-122"/>
                <a:cs typeface="Calibri" pitchFamily="34" charset="-120"/>
              </a:rPr>
              <a:t>🎒  Classroom bag detective</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Describe learning tools without naming them. Partners identify each object, say where it is used and add one classroom instruction involving it.</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Each student secretly chooses one learning tool from the lesson.</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Describe it in three clues WITHOUT its name: colour / size, where it is used, what you do with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Partners guess, then say where it is used (fī ṣaff …).</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The guesser adds one classroom instruction with the tool (e.g. “open your book”).</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Two clues with “huwa / hiya” and one place (fī al-ḥaqība).</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Three clues with yūjad / tūjad and a demonstrative (hādhā / hādhihi).</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Three clues with a relative clause (alladhī / allatī nastaʿmiluhu …) and an imperative instruction.</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هُوَ / هِيَ … فِي الحَقِيبَةِ</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it (m. / f.) is … in the bag</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نَسْتَعْمِلُهُ فِي دَرْسِ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we use it in the … lesson</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الَّذِي / الَّتِي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which (m. / f.)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اِفْتَحْ كِتَابَكَ!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open your book!</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TD-L02 · Classroom</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 about classroom objects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TD-L02</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فِي حَقِيبَتِكَ؟ / مَاذَا فِي حَقِيبَتِكِ؟</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عِنْدَكَ قَامُوسٌ؟ / هَلْ عِنْدَكِ قَامُوسٌ؟</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عَلَى مَكْتَبِكَ؟ وَمَاذَا تَحْتَ الكُرْسِيِّ؟</a:t>
            </a:r>
            <a:endParaRPr lang="ar-SA" sz="1800" dirty="0"/>
          </a:p>
        </p:txBody>
      </p:sp>
      <p:sp>
        <p:nvSpPr>
          <p:cNvPr id="44" name="Shape 41"/>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5" name="Shape 42"/>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6" name="Text 43"/>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7" name="Text 44"/>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أَهَمُّ أَدَاةٍ فِي حَقِيبَتِكَ؟ وَلِمَاذَا؟</a:t>
            </a:r>
            <a:endParaRPr lang="ar-SA" sz="1800" dirty="0"/>
          </a:p>
        </p:txBody>
      </p:sp>
      <p:sp>
        <p:nvSpPr>
          <p:cNvPr id="48" name="Shape 45"/>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9" name="Text 46"/>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50" name="Shape 47"/>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فِي حَقِيبَتِي ___ وَ ___ وَ ___ .</a:t>
            </a:r>
            <a:endParaRPr lang="ar-SA" sz="1600" dirty="0"/>
          </a:p>
        </p:txBody>
      </p:sp>
      <p:sp>
        <p:nvSpPr>
          <p:cNvPr id="53" name="Shape 50"/>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4" name="Text 51"/>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5" name="Text 52"/>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نَعَمْ، عِنْدِي ___ . / لَا، لَيْسَ عِنْدِي ___ .</a:t>
            </a:r>
            <a:endParaRPr lang="ar-SA" sz="1450" dirty="0"/>
          </a:p>
        </p:txBody>
      </p:sp>
      <p:sp>
        <p:nvSpPr>
          <p:cNvPr id="56" name="Shape 53"/>
          <p:cNvSpPr/>
          <p:nvPr/>
        </p:nvSpPr>
        <p:spPr>
          <a:xfrm>
            <a:off x="640080" y="4123944"/>
            <a:ext cx="1051560" cy="256032"/>
          </a:xfrm>
          <a:prstGeom prst="roundRect">
            <a:avLst>
              <a:gd name="adj" fmla="val 50000"/>
            </a:avLst>
          </a:prstGeom>
          <a:solidFill>
            <a:srgbClr val="C9780A"/>
          </a:solidFill>
          <a:ln w="12700">
            <a:solidFill>
              <a:srgbClr val="C9780A"/>
            </a:solidFill>
            <a:prstDash val="solid"/>
          </a:ln>
        </p:spPr>
      </p:sp>
      <p:sp>
        <p:nvSpPr>
          <p:cNvPr id="57" name="Text 54"/>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8" name="Text 55"/>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عَلَى مَكْتَبِي ___ ، وَتَحْتَ الكُرْسِيِّ ___ .</a:t>
            </a:r>
            <a:endParaRPr lang="ar-SA" sz="1600" dirty="0"/>
          </a:p>
        </p:txBody>
      </p:sp>
      <p:sp>
        <p:nvSpPr>
          <p:cNvPr id="59" name="Shape 56"/>
          <p:cNvSpPr/>
          <p:nvPr/>
        </p:nvSpPr>
        <p:spPr>
          <a:xfrm>
            <a:off x="640080" y="4681728"/>
            <a:ext cx="1051560" cy="256032"/>
          </a:xfrm>
          <a:prstGeom prst="roundRect">
            <a:avLst>
              <a:gd name="adj" fmla="val 50000"/>
            </a:avLst>
          </a:prstGeom>
          <a:solidFill>
            <a:srgbClr val="B83227"/>
          </a:solidFill>
          <a:ln w="12700">
            <a:solidFill>
              <a:srgbClr val="B83227"/>
            </a:solidFill>
            <a:prstDash val="solid"/>
          </a:ln>
        </p:spPr>
      </p:sp>
      <p:sp>
        <p:nvSpPr>
          <p:cNvPr id="60" name="Text 57"/>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61" name="Text 58"/>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أَهَمُّ أَدَاةٍ ___ لِأَنَّهُ / لِأَنَّهَا ___ .</a:t>
            </a:r>
            <a:endParaRPr lang="ar-SA" sz="1600" dirty="0"/>
          </a:p>
        </p:txBody>
      </p:sp>
      <p:sp>
        <p:nvSpPr>
          <p:cNvPr id="62" name="Shape 59"/>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3" name="Text 60"/>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4" name="Shape 61"/>
          <p:cNvSpPr/>
          <p:nvPr/>
        </p:nvSpPr>
        <p:spPr>
          <a:xfrm>
            <a:off x="11274552" y="5559552"/>
            <a:ext cx="292608" cy="292608"/>
          </a:xfrm>
          <a:prstGeom prst="ellipse">
            <a:avLst/>
          </a:prstGeom>
          <a:solidFill>
            <a:srgbClr val="1E6B52"/>
          </a:solidFill>
          <a:ln w="12700">
            <a:solidFill>
              <a:srgbClr val="1E6B52"/>
            </a:solidFill>
            <a:prstDash val="solid"/>
          </a:ln>
        </p:spPr>
      </p:sp>
      <p:sp>
        <p:nvSpPr>
          <p:cNvPr id="65" name="Text 62"/>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6" name="Text 63"/>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هَلْ عِنْدَكِ مِسْطَرَةٌ؟</a:t>
            </a:r>
            <a:endParaRPr lang="ar-SA" sz="1550" dirty="0"/>
          </a:p>
        </p:txBody>
      </p:sp>
      <p:sp>
        <p:nvSpPr>
          <p:cNvPr id="67" name="Text 64"/>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Do you (f.) have a ruler?</a:t>
            </a:r>
            <a:endParaRPr lang="en-US" sz="950" dirty="0"/>
          </a:p>
        </p:txBody>
      </p:sp>
      <p:sp>
        <p:nvSpPr>
          <p:cNvPr id="68" name="Shape 65"/>
          <p:cNvSpPr/>
          <p:nvPr/>
        </p:nvSpPr>
        <p:spPr>
          <a:xfrm>
            <a:off x="11274552" y="5925312"/>
            <a:ext cx="292608" cy="292608"/>
          </a:xfrm>
          <a:prstGeom prst="ellipse">
            <a:avLst/>
          </a:prstGeom>
          <a:solidFill>
            <a:srgbClr val="1E6B52"/>
          </a:solidFill>
          <a:ln w="12700">
            <a:solidFill>
              <a:srgbClr val="1E6B52"/>
            </a:solidFill>
            <a:prstDash val="solid"/>
          </a:ln>
        </p:spPr>
      </p:sp>
      <p:sp>
        <p:nvSpPr>
          <p:cNvPr id="69" name="Text 66"/>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70" name="Text 67"/>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نَعَمْ، عِنْدِي مِسْطَرَةٌ. هَلْ عِنْدَكِ غِرَاءٌ؟ — لَا، لَيْسَ عِنْدِي غِرَاءٌ.</a:t>
            </a:r>
            <a:endParaRPr lang="ar-SA" sz="1550" dirty="0"/>
          </a:p>
        </p:txBody>
      </p:sp>
      <p:sp>
        <p:nvSpPr>
          <p:cNvPr id="71" name="Text 68"/>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Yes, I have a ruler. Do you have glue? — No, I don’t have glue.</a:t>
            </a:r>
            <a:endParaRPr lang="en-US" sz="950" dirty="0"/>
          </a:p>
        </p:txBody>
      </p:sp>
      <p:sp>
        <p:nvSpPr>
          <p:cNvPr id="72" name="Text 6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TD-L02 · Classroom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7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Seven accurate modelled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This is … · In my bag … · I don’t have … using the models.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7–9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plurals, colours and two location phrases.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Add plurals, colours and two location phrases.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9+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Compare two bags or explain which objects are most useful.</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Compare two bags or explain the most useful objects.</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TD-L02 · Classroom</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عَلَى مَكْتَبِي حَاسُوبٌ.</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 my desk there is a computer.</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تَحْتَ الكُرْسِيِّ حَقِيبَةٌ.</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Under the chair there is a bag.</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بِجَانِبِ الحَاسُوبِ مِقْلَمَةٌ زَرْقَاءُ.</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Beside the computer there is a blue pencil case.</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هَلْ عِنْدَكِ آلَةٌ حَاسِبَةٌ؟</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Do you (f.) have a calculator?</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عِنْدِي كِتَابَانِ وَثَلَاثَةُ أَقْلَامٍ.</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have two books and three pens.</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هَذِهِ حَقِيبَتِي المَدْرَسِيَّةُ.</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is my school bag.</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حَقِيبَتِي كِتَابٌ وَقَلَمٌ.</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In my bag there is a book and a pen.</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عِنْدِي مِسْطَرَةٌ.</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have a ruler.</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لَيْسَ عِنْدِي قَامُوسٌ.</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don’t have a dictionary.</a:t>
            </a:r>
            <a:endParaRPr lang="en-US" sz="1050" dirty="0"/>
          </a:p>
        </p:txBody>
      </p:sp>
      <p:sp>
        <p:nvSpPr>
          <p:cNvPr id="39" name="Text 36"/>
          <p:cNvSpPr txBox="1"/>
          <p:nvPr/>
        </p:nvSpPr>
        <p:spPr>
          <a:xfrm>
            <a:off x="8202168"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هَذَا قَلَمٌ.</a:t>
            </a:r>
            <a:endParaRPr lang="ar-SA" sz="1800" dirty="0"/>
          </a:p>
        </p:txBody>
      </p:sp>
      <p:sp>
        <p:nvSpPr>
          <p:cNvPr id="40" name="Text 37"/>
          <p:cNvSpPr txBox="1"/>
          <p:nvPr/>
        </p:nvSpPr>
        <p:spPr>
          <a:xfrm>
            <a:off x="6327648"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is a pen.</a:t>
            </a:r>
            <a:endParaRPr lang="en-US" sz="1050" dirty="0"/>
          </a:p>
        </p:txBody>
      </p:sp>
      <p:sp>
        <p:nvSpPr>
          <p:cNvPr id="41" name="Shape 38"/>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Text 39"/>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3" name="Text 40"/>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كِتَابٌ  ·  دَفْتَرٌ  ·  قَلَمٌ  ·  مِسْطَرَةٌ  ·  مِقْلَمَةٌ  ·  حَقِيبَةٌ  ·  هَذَا  ·  هَذِهِ  ·  عِنْدِي  ·  لَيْسَ عِنْدِي  ·  فِي  ·  عَلَى</a:t>
            </a:r>
            <a:endParaRPr lang="ar-SA" sz="16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TD-L02 · Classroom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هَذِهِ حَقِيبَتِي المَدْرَسِيَّةُ. فِي حَقِيبَتِي كِتَابٌ وَدَفْتَرَانِ وَثَلَاثَةُ أَقْلَامٍ وَمِسْطَرَةٌ وَمِمْحَاةٌ. عِنْدِي أَيْضًا آلَةٌ حَاسِبَةٌ صَغِيرَةٌ، وَلَكِنْ لَيْسَ عِنْدِي قَامُوسٌ اليَوْمَ. عَلَى مَكْتَبِي حَاسُوبٌ مَحْمُولٌ، وَبِجَانِبِ الحَاسُوبِ مِقْلَمَةٌ زَرْقَاءُ. تَحْتَ الكُرْسِيِّ حَقِيبَةُ صَدِيقَتِي.</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This is my school bag. In my bag there is a book, two exercise books, three pens, a ruler and an eraser. I also have a small calculator, but I don’t have a dictionary today. On my desk there is a laptop, and beside the computer a blue pencil case. Under the chair is my friend’s bag.</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demonstrative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objects + numbers</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negative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locations</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39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TD-L02 · Classroom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named at least eight objects.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hādhā for masculine, hādhihi for feminine objects.</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‘indī and laysa ‘indī.</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gave two locations.</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counted objects or compared two bags.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39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TD-L02 · Classroom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demonstrative sentence.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طَابِعَةٌ.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طَابِعَةٌ.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طَابِعٌ.</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female if she has a calculator.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عِنْدَكَ آلَةٌ حَاسِبَةٌ؟</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عِنْدَكِ آلَةٌ حَاسِبَةٌ؟</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هَلْ عِنْدَهَا آلَةٌ حَاسِبَةٌ؟</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location sentence.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تَحْتَ الكُرْسِيِّ حَقِيبَةٌ.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تَحْتَ الكُرْسِيُّ حَقِيبَةٌ.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حَقِيبَةٌ تَحْتَ الكُرْسِيُّ فِي.</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39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TD-L02 · Classroom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demonstrative sentence.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هَذِهِ طَابِعَةٌ.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هَذَا طَابِعَةٌ.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هَذِهِ طَابِعٌ.</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طَابِعَةٌ</a:t>
            </a:r>
            <a:pPr algn="l" indent="0" marL="0">
              <a:buNone/>
            </a:pPr>
            <a:r>
              <a:rPr lang="en-US" sz="1050" i="1" dirty="0">
                <a:solidFill>
                  <a:srgbClr val="8A6D1E"/>
                </a:solidFill>
                <a:latin typeface="Calibri" pitchFamily="34" charset="0"/>
                <a:ea typeface="Calibri" pitchFamily="34" charset="-122"/>
                <a:cs typeface="Calibri" pitchFamily="34" charset="-120"/>
              </a:rPr>
              <a:t> is feminine.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female if she has a calculator.</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هَلْ عِنْدَكَ آلَةٌ حَاسِبَةٌ؟</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هَلْ عِنْدَكِ آلَةٌ حَاسِبَةٌ؟</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هَلْ عِنْدَهَا آلَةٌ حَاسِبَةٌ؟</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عِنْدَكِ</a:t>
            </a:r>
            <a:pPr algn="l" indent="0" marL="0">
              <a:buNone/>
            </a:pPr>
            <a:r>
              <a:rPr lang="en-US" sz="1050" i="1" dirty="0">
                <a:solidFill>
                  <a:srgbClr val="8A6D1E"/>
                </a:solidFill>
                <a:latin typeface="Calibri" pitchFamily="34" charset="0"/>
                <a:ea typeface="Calibri" pitchFamily="34" charset="-122"/>
                <a:cs typeface="Calibri" pitchFamily="34" charset="-120"/>
              </a:rPr>
              <a:t> addresses one female.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location sentence.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تَحْتَ الكُرْسِيِّ حَقِيبَةٌ.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تَحْتَ الكُرْسِيُّ حَقِيبَةٌ.</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حَقِيبَةٌ تَحْتَ الكُرْسِيُّ فِي.</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first model uses the location phrase accurately.</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39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TD-L02 · Classroom</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TD-L03: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TD-L03 · Subjects, Timetables and Preferences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الرِّيَاضِيَّاتُ</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mathematics</a:t>
            </a:r>
            <a:pPr indent="0" marL="0">
              <a:buNone/>
            </a:pPr>
            <a:r>
              <a:rPr lang="en-US" sz="1000" i="1" dirty="0">
                <a:solidFill>
                  <a:srgbClr val="5A6472"/>
                </a:solidFill>
                <a:latin typeface="Calibri" pitchFamily="34" charset="0"/>
                <a:ea typeface="Calibri" pitchFamily="34" charset="-122"/>
                <a:cs typeface="Calibri" pitchFamily="34" charset="-120"/>
              </a:rPr>
              <a:t>  f.</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العُلُومُ</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science</a:t>
            </a:r>
            <a:pPr indent="0" marL="0">
              <a:buNone/>
            </a:pPr>
            <a:r>
              <a:rPr lang="en-US" sz="1000" i="1" dirty="0">
                <a:solidFill>
                  <a:srgbClr val="5A6472"/>
                </a:solidFill>
                <a:latin typeface="Calibri" pitchFamily="34" charset="0"/>
                <a:ea typeface="Calibri" pitchFamily="34" charset="-122"/>
                <a:cs typeface="Calibri" pitchFamily="34" charset="-120"/>
              </a:rPr>
              <a:t>  f.</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التَّارِيخُ</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history</a:t>
            </a:r>
            <a:pPr indent="0" marL="0">
              <a:buNone/>
            </a:pPr>
            <a:r>
              <a:rPr lang="en-US" sz="1000" i="1" dirty="0">
                <a:solidFill>
                  <a:srgbClr val="5A6472"/>
                </a:solidFill>
                <a:latin typeface="Calibri" pitchFamily="34" charset="0"/>
                <a:ea typeface="Calibri" pitchFamily="34" charset="-122"/>
                <a:cs typeface="Calibri" pitchFamily="34" charset="-120"/>
              </a:rPr>
              <a:t>  m.</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الجُغْرَافِيَا</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geography</a:t>
            </a:r>
            <a:pPr indent="0" marL="0">
              <a:buNone/>
            </a:pPr>
            <a:r>
              <a:rPr lang="en-US" sz="1000" i="1" dirty="0">
                <a:solidFill>
                  <a:srgbClr val="5A6472"/>
                </a:solidFill>
                <a:latin typeface="Calibri" pitchFamily="34" charset="0"/>
                <a:ea typeface="Calibri" pitchFamily="34" charset="-122"/>
                <a:cs typeface="Calibri" pitchFamily="34" charset="-120"/>
              </a:rPr>
              <a:t>  f.</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الفَنُّ</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art</a:t>
            </a:r>
            <a:pPr indent="0" marL="0">
              <a:buNone/>
            </a:pPr>
            <a:r>
              <a:rPr lang="en-US" sz="1000" i="1" dirty="0">
                <a:solidFill>
                  <a:srgbClr val="5A6472"/>
                </a:solidFill>
                <a:latin typeface="Calibri" pitchFamily="34" charset="0"/>
                <a:ea typeface="Calibri" pitchFamily="34" charset="-122"/>
                <a:cs typeface="Calibri" pitchFamily="34" charset="-120"/>
              </a:rPr>
              <a:t>  m.</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Write your Topic D target: one skill, one repeated action, one check date.</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هَدَفِي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TD-L02: Pack the Bag Mission (14) and the picture game.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school-bag inventory: 5–8 sentences with one negative sentence.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7–9 sentences describing your bag and desk with numbers and colours.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39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TD-L02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050" b="1" dirty="0">
                <a:solidFill>
                  <a:srgbClr val="FFFFFF"/>
                </a:solidFill>
                <a:latin typeface="Cambria" pitchFamily="34" charset="0"/>
                <a:ea typeface="Cambria" pitchFamily="34" charset="-122"/>
                <a:cs typeface="Cambria" pitchFamily="34" charset="-120"/>
              </a:rPr>
              <a:t>TD-L03 · Subjects, Timetables and Preferences</a:t>
            </a:r>
            <a:endParaRPr lang="en-US" sz="20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المَوَادُّ وَالجَدَاوِلُ وَالتَّفْضِيلَاتُ</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learn the 5 words for TD-L03.</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TD-L02 · The Classroom and Learning Tools</dc:title>
  <dc:subject>PptxGenJS Presentation</dc:subject>
  <dc:creator>Al Madina Online School · Arabic Department</dc:creator>
  <cp:lastModifiedBy>Al Madina Online School · Arabic Department</cp:lastModifiedBy>
  <cp:revision>1</cp:revision>
  <dcterms:created xsi:type="dcterms:W3CDTF">2026-10-11T04:18:59Z</dcterms:created>
  <dcterms:modified xsi:type="dcterms:W3CDTF">2026-10-11T04:18:59Z</dcterms:modified>
</cp:coreProperties>
</file>