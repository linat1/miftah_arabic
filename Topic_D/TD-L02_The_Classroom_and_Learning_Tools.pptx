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TD-L02 — The Classroom and Learning Tools. Website: Advanced Topics › Topic D (The World of Work) › Lesson 2.
The website builds this lesson on the F4-L03 lesson engine, with the Topic focus “Explain classroom routines, resources and effective learning environments.” (grammar: يوجد/توجد; demonstratives; relative clauses; skills: Listening · Speaking) and the application challenge “Classroom bag detective”.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3 (TD-L02). Website sections used: the eight-question Topic D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(website). Questions 3–5 are the website “Topic D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learning tools without naming them. Partners identify each object, say where it is used and add one classroom instruction involving it.”
Website Topic D challenge “Classroom bag detective”: describe learning tools without naming them; partners identify each object, say where it is used and add one classroom instruction involving it. Gender check: كِتَابٌ / قَلَمٌ = huwa; مِسْطَرَةٌ / حَقِيبَةٌ = 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(TD-L03 · Subjects, Timetables and Preferences) · Likes, Dislikes and Preferences) will spend class time USING this language, so students prepare it tonight — short, simple, easy to access (school guidance: “Simple, Short, Interesting, Relevant, Easy to access”). The five words and phrases come from the website F4-L04 (website) preference language.
Follow-up: the next Do Now tests two of these words (Flipped Learning: keep it short AND follow up).
Homework by route (website tasks). No internet? Students copy the five words from this slide into their book now.
TOPIC D: the five words are the ones the TD-L03 Do Now tests (preparation list of the website F3-L12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PICTURE MATCH · WEBSITE GAME “CLASSROOM TOOL MATCH (TOPIC GAME)”</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computer + mouse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ruler</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أَسْتَعْمِلُ الْحَاسُوبَ وَالْفَأْرَةَ.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نَسْتَعْمِلُ الْمِسْطَرَةَ فِي دَرْسِ الرِّيَاضِيَّاتِ.</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أَحْتَاجُ إِلَى كِتَابٍ وَقَلَمٍ.</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book + pen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أَحْتَاجُ إِلَى كِتَابٍ وَقَلَمٍ.</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need a book and a pen.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computer + mouse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أَسْتَعْمِلُ الْحَاسُوبَ وَالْفَأْرَةَ.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use the computer and the mouse.</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ruler</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نَسْتَعْمِلُ الْمِسْطَرَةَ فِي دَرْسِ الرِّيَاضِيَّاتِ.</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use the ruler in the maths lesson.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The Classroom and Learning Tools</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الفَصْلُ الدِّرَاسِيُّ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classroom routines, resources and effective learning environments.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TD-L02</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دَفْتَرٌ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حَقِيبَةٌ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pPr rtl="1" algn="ctr" indent="0" marL="0">
              <a:buNone/>
            </a:pPr>
            <a:r>
              <a:rPr lang="ar-SA" altLang="en-US" sz="2400" b="1" dirty="0">
                <a:solidFill>
                  <a:srgbClr val="1B3B6F"/>
                </a:solidFill>
                <a:latin typeface="Amiri" pitchFamily="2" charset="-78"/>
                <a:cs typeface="Amiri" pitchFamily="2" charset="-78"/>
              </a:rPr>
              <a:t> قَلَمٌ · </a:t>
            </a:r>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‎کتاب‎ </a:t>
            </a:r>
            <a:pPr indent="0" marL="0">
              <a:buNone/>
            </a:pPr>
            <a:r>
              <a:rPr lang="en-US" sz="950" b="1" dirty="0">
                <a:solidFill>
                  <a:srgbClr val="2E8B57"/>
                </a:solidFill>
                <a:latin typeface="Calibri" pitchFamily="34" charset="0"/>
                <a:cs typeface="Amiri" pitchFamily="2" charset="-78"/>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‎قاموس‎ </a:t>
            </a:r>
            <a:pPr indent="0" marL="0">
              <a:buNone/>
            </a:pPr>
            <a:r>
              <a:rPr lang="en-US" sz="950" b="1" dirty="0">
                <a:solidFill>
                  <a:srgbClr val="2E8B57"/>
                </a:solidFill>
                <a:latin typeface="Calibri" pitchFamily="34" charset="0"/>
                <a:cs typeface="Amiri" pitchFamily="2" charset="-78"/>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a:t>
            </a:r>
            <a:endParaRPr lang="en-US" sz="1350" dirty="0"/>
          </a:p>
          <a:p>
            <a:pPr indent="0" marL="0">
              <a:buNone/>
            </a:pPr>
            <a:r>
              <a:rPr lang="en-US" sz="1100" i="1" dirty="0">
                <a:solidFill>
                  <a:srgbClr val="5A6472"/>
                </a:solidFill>
                <a:latin typeface="Calibri" pitchFamily="34" charset="0"/>
                <a:cs typeface="Amiri" pitchFamily="2" charset="-78"/>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notebook / exercise book</a:t>
            </a:r>
            <a:endParaRPr lang="en-US" sz="1350" dirty="0"/>
          </a:p>
          <a:p>
            <a:pPr indent="0" marL="0">
              <a:buNone/>
            </a:pPr>
            <a:r>
              <a:rPr lang="en-US" sz="1100" i="1" dirty="0">
                <a:solidFill>
                  <a:srgbClr val="5A6472"/>
                </a:solidFill>
                <a:latin typeface="Calibri" pitchFamily="34" charset="0"/>
                <a:cs typeface="Amiri" pitchFamily="2" charset="-78"/>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a:t>
            </a:r>
            <a:endParaRPr lang="en-US" sz="1350" dirty="0"/>
          </a:p>
          <a:p>
            <a:pPr indent="0" marL="0">
              <a:buNone/>
            </a:pPr>
            <a:r>
              <a:rPr lang="en-US" sz="1100" i="1" dirty="0">
                <a:solidFill>
                  <a:srgbClr val="5A6472"/>
                </a:solidFill>
                <a:latin typeface="Calibri" pitchFamily="34" charset="0"/>
                <a:cs typeface="Amiri" pitchFamily="2" charset="-78"/>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dictionary</a:t>
            </a:r>
            <a:endParaRPr lang="en-US" sz="1350" dirty="0"/>
          </a:p>
          <a:p>
            <a:pPr indent="0" marL="0">
              <a:buNone/>
            </a:pPr>
            <a:r>
              <a:rPr lang="en-US" sz="1100" i="1" dirty="0">
                <a:solidFill>
                  <a:srgbClr val="5A6472"/>
                </a:solidFill>
                <a:latin typeface="Calibri" pitchFamily="34" charset="0"/>
                <a:cs typeface="Amiri" pitchFamily="2" charset="-78"/>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desk (also: office)</a:t>
            </a:r>
            <a:endParaRPr lang="en-US" sz="1350" dirty="0"/>
          </a:p>
          <a:p>
            <a:pPr indent="0" marL="0">
              <a:buNone/>
            </a:pPr>
            <a:r>
              <a:rPr lang="en-US" sz="1100" i="1" dirty="0">
                <a:solidFill>
                  <a:srgbClr val="5A6472"/>
                </a:solidFill>
                <a:latin typeface="Calibri" pitchFamily="34" charset="0"/>
                <a:cs typeface="Amiri" pitchFamily="2" charset="-78"/>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bell</a:t>
            </a:r>
            <a:endParaRPr lang="en-US" sz="1350" dirty="0"/>
          </a:p>
          <a:p>
            <a:pPr indent="0" marL="0">
              <a:buNone/>
            </a:pPr>
            <a:r>
              <a:rPr lang="en-US" sz="1100" i="1" dirty="0">
                <a:solidFill>
                  <a:srgbClr val="5A6472"/>
                </a:solidFill>
                <a:latin typeface="Calibri" pitchFamily="34" charset="0"/>
                <a:cs typeface="Amiri" pitchFamily="2" charset="-78"/>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ruler</a:t>
            </a:r>
            <a:endParaRPr lang="en-US" sz="1350" dirty="0"/>
          </a:p>
          <a:p>
            <a:pPr indent="0" marL="0">
              <a:buNone/>
            </a:pPr>
            <a:r>
              <a:rPr lang="en-US" sz="1100" i="1" dirty="0">
                <a:solidFill>
                  <a:srgbClr val="5A6472"/>
                </a:solidFill>
                <a:latin typeface="Calibri" pitchFamily="34" charset="0"/>
                <a:cs typeface="Amiri" pitchFamily="2" charset="-78"/>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pencil case</a:t>
            </a:r>
            <a:endParaRPr lang="en-US" sz="1350" dirty="0"/>
          </a:p>
          <a:p>
            <a:pPr indent="0" marL="0">
              <a:buNone/>
            </a:pPr>
            <a:r>
              <a:rPr lang="en-US" sz="1100" i="1" dirty="0">
                <a:solidFill>
                  <a:srgbClr val="5A6472"/>
                </a:solidFill>
                <a:latin typeface="Calibri" pitchFamily="34" charset="0"/>
                <a:cs typeface="Amiri" pitchFamily="2" charset="-78"/>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eraser / rubber</a:t>
            </a:r>
            <a:endParaRPr lang="en-US" sz="1350" dirty="0"/>
          </a:p>
          <a:p>
            <a:pPr indent="0" marL="0">
              <a:buNone/>
            </a:pPr>
            <a:r>
              <a:rPr lang="en-US" sz="1100" i="1" dirty="0">
                <a:solidFill>
                  <a:srgbClr val="5A6472"/>
                </a:solidFill>
                <a:latin typeface="Calibri" pitchFamily="34" charset="0"/>
                <a:cs typeface="Amiri" pitchFamily="2" charset="-78"/>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board / interactive board</a:t>
            </a:r>
            <a:endParaRPr lang="en-US" sz="1350" dirty="0"/>
          </a:p>
          <a:p>
            <a:pPr indent="0" marL="0">
              <a:buNone/>
            </a:pPr>
            <a:r>
              <a:rPr lang="en-US" sz="1100" i="1" dirty="0">
                <a:solidFill>
                  <a:srgbClr val="5A6472"/>
                </a:solidFill>
                <a:latin typeface="Calibri" pitchFamily="34" charset="0"/>
                <a:cs typeface="Amiri" pitchFamily="2" charset="-78"/>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 / backpack</a:t>
            </a:r>
            <a:endParaRPr lang="en-US" sz="1350" dirty="0"/>
          </a:p>
          <a:p>
            <a:pPr indent="0" marL="0">
              <a:buNone/>
            </a:pPr>
            <a:r>
              <a:rPr lang="en-US" sz="1100" i="1" dirty="0">
                <a:solidFill>
                  <a:srgbClr val="5A6472"/>
                </a:solidFill>
                <a:latin typeface="Calibri" pitchFamily="34" charset="0"/>
                <a:cs typeface="Amiri" pitchFamily="2" charset="-78"/>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calculator</a:t>
            </a:r>
            <a:endParaRPr lang="en-US" sz="1350" dirty="0"/>
          </a:p>
          <a:p>
            <a:pPr indent="0" marL="0">
              <a:buNone/>
            </a:pPr>
            <a:r>
              <a:rPr lang="en-US" sz="1100" i="1" dirty="0">
                <a:solidFill>
                  <a:srgbClr val="5A6472"/>
                </a:solidFill>
                <a:latin typeface="Calibri" pitchFamily="34" charset="0"/>
                <a:cs typeface="Amiri" pitchFamily="2" charset="-78"/>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 </a:t>
            </a:r>
            <a:pPr algn="l" indent="0" marL="0">
              <a:buNone/>
            </a:pPr>
            <a:r>
              <a:rPr lang="ar-SA" altLang="en-US" sz="1450" dirty="0">
                <a:solidFill>
                  <a:srgbClr val="1F2A37"/>
                </a:solidFill>
                <a:latin typeface="Amiri" pitchFamily="2" charset="-78"/>
                <a:cs typeface="Amiri" pitchFamily="2" charset="-78"/>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مِسْطَرَةٌ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قَامُوسٌ</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cs typeface="Amiri" pitchFamily="2" charset="-78"/>
              </a:rPr>
              <a:t>هَذِهِ</a:t>
            </a:r>
            <a:pPr rtl="1" algn="ctr" indent="0" marL="0">
              <a:buNone/>
            </a:pPr>
            <a:r>
              <a:rPr lang="ar-SA" altLang="en-US" sz="2400" b="1" dirty="0">
                <a:solidFill>
                  <a:srgbClr val="1B3B6F"/>
                </a:solidFill>
                <a:latin typeface="Amiri" pitchFamily="2" charset="-78"/>
                <a:cs typeface="Amiri" pitchFamily="2" charset="-78"/>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2" charset="-78"/>
                <a:cs typeface="Amiri" pitchFamily="2" charset="-78"/>
              </a:rPr>
              <a:t>هَذِهِ</a:t>
            </a:r>
            <a:pPr rtl="1" algn="r" indent="0" marL="0">
              <a:buNone/>
            </a:pPr>
            <a:r>
              <a:rPr lang="ar-SA" altLang="en-US" sz="1700" b="1" dirty="0">
                <a:solidFill>
                  <a:srgbClr val="1B3B6F"/>
                </a:solidFill>
                <a:latin typeface="Amiri" pitchFamily="2" charset="-78"/>
                <a:cs typeface="Amiri" pitchFamily="2" charset="-78"/>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2" charset="-78"/>
                <a:cs typeface="Amiri" pitchFamily="2" charset="-78"/>
              </a:rPr>
              <a:t>هَذَا</a:t>
            </a:r>
            <a:pPr rtl="1" algn="r" indent="0" marL="0">
              <a:buNone/>
            </a:pPr>
            <a:r>
              <a:rPr lang="ar-SA" altLang="en-US" sz="1700" b="1" dirty="0">
                <a:solidFill>
                  <a:srgbClr val="1B3B6F"/>
                </a:solidFill>
                <a:latin typeface="Amiri" pitchFamily="2" charset="-78"/>
                <a:cs typeface="Amiri" pitchFamily="2" charset="-78"/>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كُتُبٌ</a:t>
            </a:r>
            <a:pPr algn="l" indent="0" marL="0">
              <a:buNone/>
            </a:pPr>
            <a:r>
              <a:rPr lang="en-US" sz="1050" i="1" dirty="0">
                <a:solidFill>
                  <a:srgbClr val="8A6D1E"/>
                </a:solidFill>
                <a:latin typeface="Calibri" pitchFamily="34" charset="0"/>
                <a:cs typeface="Amiri" pitchFamily="2" charset="-78"/>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مِمْحَاةٌ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ending is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لَيْسَ عِنْدِي</a:t>
            </a:r>
            <a:pPr algn="l" indent="0" marL="0">
              <a:buNone/>
            </a:pPr>
            <a:r>
              <a:rPr lang="en-US" sz="1050" i="1" dirty="0">
                <a:solidFill>
                  <a:srgbClr val="8A6D1E"/>
                </a:solidFill>
                <a:latin typeface="Calibri" pitchFamily="34" charset="0"/>
                <a:cs typeface="Amiri" pitchFamily="2" charset="-78"/>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دَاخِلَ</a:t>
            </a:r>
            <a:pPr algn="l" indent="0" marL="0">
              <a:buNone/>
            </a:pPr>
            <a:r>
              <a:rPr lang="en-US" sz="1050" i="1" dirty="0">
                <a:solidFill>
                  <a:srgbClr val="8A6D1E"/>
                </a:solidFill>
                <a:latin typeface="Calibri" pitchFamily="34" charset="0"/>
                <a:cs typeface="Amiri" pitchFamily="2" charset="-78"/>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 → hādhā · f. → hādhihi</a:t>
            </a:r>
            <a:endParaRPr lang="en-US" sz="1250" dirty="0"/>
          </a:p>
          <a:p>
            <a:pPr algn="l" indent="0" marL="0">
              <a:buNone/>
            </a:pPr>
            <a:r>
              <a:rPr lang="en-US" sz="1250" dirty="0">
                <a:solidFill>
                  <a:srgbClr val="1E6B52"/>
                </a:solidFill>
                <a:latin typeface="Calibri" pitchFamily="34" charset="0"/>
                <a:cs typeface="Amiri" pitchFamily="2" charset="-78"/>
              </a:rPr>
              <a:t>boy: ‘indaka · girl: ‘indaki</a:t>
            </a:r>
            <a:endParaRPr lang="en-US" sz="1250" dirty="0"/>
          </a:p>
          <a:p>
            <a:pPr algn="l" indent="0" marL="0">
              <a:buNone/>
            </a:pPr>
            <a:r>
              <a:rPr lang="en-US" sz="1250" dirty="0">
                <a:solidFill>
                  <a:srgbClr val="1E6B52"/>
                </a:solidFill>
                <a:latin typeface="Calibri" pitchFamily="34" charset="0"/>
                <a:cs typeface="Amiri" pitchFamily="2" charset="-78"/>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Ruler is feminine (</a:t>
            </a:r>
            <a:pPr algn="l" indent="0" marL="0">
              <a:buNone/>
            </a:pPr>
            <a:r>
              <a:rPr lang="ar-SA" altLang="en-US" sz="1500" b="1" dirty="0">
                <a:solidFill>
                  <a:srgbClr val="1B3B6F"/>
                </a:solidFill>
                <a:latin typeface="Amiri" pitchFamily="2" charset="-78"/>
                <a:cs typeface="Amiri" pitchFamily="2" charset="-78"/>
              </a:rPr>
              <a:t>ـة</a:t>
            </a:r>
            <a:pPr algn="l" indent="0" marL="0">
              <a:buNone/>
            </a:pPr>
            <a:r>
              <a:rPr lang="en-US" sz="1150" b="1" dirty="0">
                <a:solidFill>
                  <a:srgbClr val="1B3B6F"/>
                </a:solidFill>
                <a:latin typeface="Calibri" pitchFamily="34" charset="0"/>
                <a:cs typeface="Amiri" pitchFamily="2" charset="-78"/>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دَفْتَرَانِ</a:t>
            </a:r>
            <a:pPr algn="l" indent="0" marL="0">
              <a:buNone/>
            </a:pPr>
            <a:r>
              <a:rPr lang="en-US" sz="1050" i="1" dirty="0">
                <a:solidFill>
                  <a:srgbClr val="8A6D1E"/>
                </a:solidFill>
                <a:latin typeface="Calibri" pitchFamily="34" charset="0"/>
                <a:cs typeface="Amiri" pitchFamily="2" charset="-78"/>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describes it as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has </a:t>
            </a:r>
            <a:pPr algn="l" indent="0" marL="0">
              <a:buNone/>
            </a:pPr>
            <a:r>
              <a:rPr lang="ar-SA" altLang="en-US" sz="1350" dirty="0">
                <a:solidFill>
                  <a:srgbClr val="8A6D1E"/>
                </a:solidFill>
                <a:latin typeface="Amiri" pitchFamily="2" charset="-78"/>
                <a:cs typeface="Amiri" pitchFamily="2" charset="-78"/>
              </a:rPr>
              <a:t>آلَةٌ حَاسِبَةٌ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cs typeface="Amiri" pitchFamily="2" charset="-78"/>
              </a:rPr>
              <a:t>لَيْسَ عِنْدِي غِرَاءٌ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place phrase,</a:t>
            </a:r>
            <a:endParaRPr lang="en-US" sz="1250" dirty="0"/>
          </a:p>
          <a:p>
            <a:pPr algn="l" indent="0" marL="0">
              <a:buNone/>
            </a:pPr>
            <a:r>
              <a:rPr lang="en-US" sz="1250" dirty="0">
                <a:solidFill>
                  <a:srgbClr val="1F2A37"/>
                </a:solidFill>
                <a:latin typeface="Calibri" pitchFamily="34" charset="0"/>
                <a:cs typeface="Amiri" pitchFamily="2" charset="-78"/>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Classroom bag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Classroom bag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Describe learning tools without naming them. Partners identify each object, say where it is used and add one classroom instruction involving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secretly chooses one learning tool from the lesson.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Describe it in three clues WITHOUT its name: colour / size, where it is used, what you do with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 guess, then say where it is used (fī ṣaff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guesser adds one classroom instruction with the tool (e.g. “open your book”).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clues with “huwa / hiya” and one place (fī al-ḥaqība).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yūjad / tūjad and a demonstrative (hādhā / hādhihi).</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with a relative clause (alladhī / allatī nastaʿmiluhu …) and an imperative instruction.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هُوَ / هِيَ … فِي الحَقِيبَةِ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(m. / f.) is … in the bag</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نَسْتَعْمِلُهُ فِي دَرْسِ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use it in the … lesson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الَّذِي /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which (m. / 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افْتَحْ كِتَابَكَ!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open your book!</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about classroom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حَقِيبَتِكَ؟ / مَاذَا فِي حَقِيبَتِكِ؟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 قَامُوسٌ؟ / هَلْ عِنْدَكِ قَامُوسٌ؟</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عَلَى مَكْتَبِكَ؟ وَمَاذَا تَحْتَ الكُرْسِيِّ؟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أَدَاةٍ فِي حَقِيبَتِكَ؟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حَقِيبَتِي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نَعَمْ، عِنْدِي ___ . / لَا، لَيْسَ عِنْدِي ___ .</a:t>
            </a:r>
            <a:endParaRPr lang="ar-SA" sz="14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مَكْتَبِي ___ ، وَتَحْتَ الكُرْسِيِّ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أَهَمُّ أَدَاةٍ ___ لِأَنَّهُ / لِأَنَّهَا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عِنْدَكِ مِسْطَرَةٌ؟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(f.) have a ruler?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عِنْدِي مِسْطَرَةٌ. هَلْ عِنْدَكِ غِرَاءٌ؟ — لَا، لَيْسَ عِنْدِي غِرَاءٌ.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I have a ruler. Do you have glue? — No, I don’t have glue.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طَابِعَةٌ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TD-L02 · Classroom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TD-L03 · Subjects, Timetables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mathematics</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science</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history</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geography</a:t>
            </a:r>
            <a:pPr indent="0" marL="0">
              <a:buNone/>
            </a:pPr>
            <a:r>
              <a:rPr lang="en-US" sz="1000" i="1" dirty="0">
                <a:solidFill>
                  <a:srgbClr val="5A6472"/>
                </a:solidFill>
                <a:latin typeface="Calibri" pitchFamily="34" charset="0"/>
                <a:cs typeface="Amiri" pitchFamily="2" charset="-78"/>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art</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Topic D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TD-L02: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TD-L03 · Subjects, Timetables and Preferences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المَوَادُّ وَالجَدَاوِلُ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2026-10-11T06:44:05Z</dcterms:created>
  <dcterms:modified xsi:type="dcterms:W3CDTF">2026-10-11T06:44:05Z</dcterms:modified>
</cp:coreProperties>
</file>