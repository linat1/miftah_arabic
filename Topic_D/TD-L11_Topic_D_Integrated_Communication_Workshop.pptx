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TD-L11 — Topic D Integrated Communication Workshop. Website: Advanced Topics › Topic D (The World of Work) › Lesson 11.
The website builds this lesson on the D3-L11 lesson engine, with the Topic focus “Connect education, qualifications, employment and future plans across four skills.” (grammar: Mixed tenses; register; cohesion; skills: All four skills) and the application challenge “Vacancy case study”.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TD-L11. The website lesson “Topic D Consolidation — Error Analysis and Assessment Preparation”: vocabulary, grammar rules and quiz, patterns, common mistakes, sorter, listening, reading, speaking prompts and model, writing task and model, differentiation, final check and the lesson mission. Picture match: website visual game “Topic D Consolidation — Error Analysis and Assessment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No new grammar today: this is the Topic D review before the TD-L12 assessment.
• Core: the agreement and future audits on the website error-analysis text (four errors to find). Develop: all four audits + explain each correction in one line. Stretch: a complete Topic D response, then a self-audit with the checklist and a measurable target.
• Use the Do Now and quick-check results to choose each student’s route for the final You Do.
• The website listening is an ASSESSMENT REHEARSAL (an internship advert): treat it like the real test — two listenings, no script until after.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D3-L10 (website). Questions 3–5 retrieve D3-L10 (website), TD-L06 and TD-L08. Note which of 3–5 each student gets wrong: it points to their audit priority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Before you fix a word, ask: which audit? — agreement, preposition, future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every key word of the error-analysis routine is shared: تحلیل، خطا، صحیح، تصحیح، دلیل. Students can say the routine in Urdu first, then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Topic D review (website vocabulary (1 of 4)). Hear → Say → See → Use. Transliteration is printed for Core students (cover it for Develop/Stretch).
Jobs review (TD-L06):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Topic D review (website vocabulary (2 of 4)). Hear → Say → See → Use. Transliteration is printed for Core students (cover it for Develop/Stretch).
Jobs review (TD-L06):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Topic D review (website vocabulary (3 of 4)). Hear → Say → See → Use. Transliteration is printed for Core students (cover it for Develop/Stretch).
Jobs review (TD-L06):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Topic D review (website vocabulary (4 of 4)). Hear → Say → See → Use. Transliteration is printed for Core students (cover it for Develop/Stretch).
Jobs review (TD-L06):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Cohesion and evaluation (website vocabulary (1 of 2)). Hear → Say → See → Use. Transliteration is printed for Core students (cover it for Develop/Stretch).
FLEX: teach if time allows; otherwise these are on the website vocabulary tab for homework.
Cohesion (FLEX): D3-L09 (website) review — every connector must have a job in your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Cohesion and evaluation (website vocabulary (2 of 2)). Hear → Say → See → Use. Transliteration is printed for Core students (cover it for Develop/Stretch).
FLEX: teach if time allows; otherwise these are on the website vocabulary tab for homework.
Cohesion (FLEX): D3-L09 (website) review — every connector must have a job in your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“Agreement audit” (الشَّخْصُ ↔ الفِعْلُ ↔ الصِّفَةُ: check gender and person across the whole sentence), “Verb-preposition audit” (learn the complete phrase, not an isolated verb), “Future audit” (do not combine سوف with a past verb) and “Evidence audit” (a developed answer proves or explains the claim). Website examples in the ✓ column; the ✗ column is from the website error-analysis text.
Row 2: لِـ + الوَظِيفَة is written لِلوَظِيفَةِ (the alif of al-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reading text is a student’s faulty paragraph with its correction: «أُخْتِي مُهَنْدِسٌ وَهِيَ يَعْمَلُ فِي شَرِكَةٍ. سَوْفَ دَرَسَتْ فِي الجَامِعَةِ لِكَيْ تُصْبِحُ مُدِيرٌ» → «أُخْتِي مُهَنْدِسَةٌ وَهِيَ تَعْمَلُ فِي شَرِكَةٍ. سَوْفَ تَدْرُسُ فِي الجَامِعَةِ لِكَيْ تُصْبِحَ مُدِيرَةً». The four systems: gender, verb person, future, case ending.
Routine (as in F6-L11, website): diagnose (which audit?) → explain (which rule?) →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“تَحْلِيلُ الأَخْطَاءِ فِي اللُّغَةِ المِهَنِيَّةِ”
• Agreement audit: Check gender and person across the whole sentence.
• Verb-preposition audit: Learn the complete phrase, not an isolated verb.
• Future audit: Do not combine سوف with a past verb.
• Evidence audit: A developed answer proves or explains the claim.
Website common error: Do not correct only the visible ending: name the audit (agreement, preposition, future, evidence) and the rule, then repair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error-analysis text, corrected one audit at a time, then extended with a reason (TD-L08 needs + ilā) and evidence (TD-L09) so all four audits appear in the copy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(“Shortlist the Candidate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“Shortlist the Candidate”: languages, availability and experience as evidence.
Website feedback lines: The languages are relevant evidence. · The availability conflicts with the job. · The experience is the strongest evidence.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(“Shortlist the Candidate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“Shortlist the Candidate”: languages, availability and experience as evidence.
Website feedback lines: The languages are relevant evidence. · The availability conflicts with the job. · The experience is the strongest evidence.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item has one problem: is it agreement, a missing preposition, a wrong future, or missing evidence?
Then repair each item aloud. Stretch: explain the rule in one English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item has one problem: is it agreement, a missing preposition, a wrong future, or missing evidence?
Then repair each item aloud. Stretch: explain the rule in one English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4 and 6. Develop / Stretch: all 6 — question 3 has a corrected date (2nd, not 12th).
Listen 1: just listen. Listen 2: note answers. Then chat the letters.
Support: after the second listening, show the read-along slide (Arabic + English, line by line) for Core students.
SCRIPT (read aloud):
تُعْلِنُ شَرِكَةٌ تِقْنِيَّةٌ عَنْ فُرْصَةِ تَدْرِيبٍ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“Combine a job advert, applicant profile, timetable and interview note. Decide whether the candidate should be shortlisted and defend the decision.”
Website Topic D challenge “Vacancy case study”. Advert: مُسَاعِدُ مُعَلِّمٍ، الدَّوَامُ مِنَ الثَّامِنَةِ، يُشْتَرَطُ خِبْرَةٌ مَعَ الأَطْفَالِ · Profile: طَالِبٌ جَامِعِيٌّ، تَطَوَّعَ فِي نَادٍ لِلْأَطْفَالِ سَنَةً · Timetable: مُحَاضَرَاتُهُ يَوْمَ الثُّلَاثَاءِ صَبَاحًا · Interview note: مُتَحَمِّسٌ وَصَبُورٌ. A fair answer: shortlist, but ask about Tuesday mornings.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مَهَارَاتُكَ؟ (And your skills?)
B: أَنَا مُنَظَّمٌ، وَالدَّلِيلُ أَنَّنِي أُسَلِّمُ عَمَلِي فِي المَوْعِدِ. (I am organised; the proof is that I hand in my work on time.)
Teacher-written Topic D topic conversation (the website prompts are generic) — the same five questions the TD-L12 speaking assessment will use. Pairs: A asks, B answers for one minute; swap. To a girl: مَا المِهْنَةُ الَّتِي تُرِيدِينَهَا؟ · مَا مَهَارَاتُكِ؟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Produce a complete Topic D response, then use an error-analysis checklist to improve agreement, prepositions, future forms and evidence.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مُمَرِّضَةٌ وَتَعْمَلُ · تَحْتَاجُ إِلَى · سَوْفَ أَدْرُسُ، سَأَتَدَرَّبُ لِكَيْ أَكْتَسِبَ · وَالدَّلِيلُ أَنَّنِي … · هَدَفِي … لِأَنَّنِي أَخْطَأْتُ … مَرَّتَيْنِ (an evidence-based target).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(TD-L12 · Topic D Review and Four-Skills Assessment) will spend class time USING this language, so students prepare it tonight — short, simple, easy to access (school guidance: “Simple, Short, Interesting, Relevant, Easy to access”). The five words are the instruction words of the TD-L12 assessment (skills, marks, instructions).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D  ·  TD-L11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TD-L11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Topic D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وَرْشَةُ التَّوَاصُلِ المُتَكَامِلِ لِلْمِحْوَرِ 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Connect education, qualifications, employment and future plans across four skills.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TD-L11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D › TD-L11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Four audits and a three-step repair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Sort errors by audit, repair them, then an assessment-style listening.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TD-L12.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تَحْلِيلُ الأَخْطَاءِ</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complete review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error analysis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priority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أُحَسِّنُ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improve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review</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eliminate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قَالَتْ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سَتَدْرُسُ الطِّبَّ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مُحَاسِبٌ وَيَعْمَلُ فِي شَرِكَةٍ.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تَكُونُ مُحَاسِبَةٌ.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أُمِّي مُحَاسِبَةٌ وَتَعْمَلُ فِي شَرِكَةٍ.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يَحْتَاجُ الطَّبِيبُ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الصَّبْرِ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تَحْلِيلُ الأَخْطَاءِ</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complete review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error analysis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priority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(D3-L10,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أُحَسِّنُ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improve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review</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eliminate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(D3-L10,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قَالَتْ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سَتَدْرُسُ الطِّبَّ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D3-L10 (website): reporting a girl.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أُمِّي مُحَاسِبٌ وَيَعْمَلُ فِي شَرِكَةٍ.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أُمِّي تَكُونُ مُحَاسِبَةٌ.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أُمِّي مُحَاسِبَةٌ وَتَعْمَلُ فِي شَرِكَةٍ.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TD-L06: agreement, no “is”.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يَحْتَاجُ الطَّبِيبُ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الصَّبْرِ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TD-L08.</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Before you fix a word, ask: which audit? — agreement, preposition, future or evidence.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هِيَ </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مُهَنْدِسَةٌ</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وَ</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تَعْمَلُ</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يَحْتَاجُ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إِلَى</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سَوْفَ أَدْرُسُ</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Retrieve the core Topic D vocabulary (jobs, plans, connectors).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Audit a text for agreement, prepositions, future forms and evidence.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why each correction is needed.</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Set one precise, evidence-based target before the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find agreement and future errors.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describe a job and a plan accurately.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why each correction is needed.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audit prepositions and evidence too.</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complete Topic D response and self-audit 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set a precise, evidence-based target.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60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Complete Topic D review · 24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Plans and applications · 24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Cohesion and 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تَحْلِيلٌ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‎تحلیل‎ </a:t>
            </a:r>
            <a:pPr indent="0" marL="0">
              <a:buNone/>
            </a:pPr>
            <a:r>
              <a:rPr lang="en-US" sz="950" b="1" dirty="0">
                <a:solidFill>
                  <a:srgbClr val="2E8B57"/>
                </a:solidFill>
                <a:latin typeface="Calibri" pitchFamily="34" charset="0"/>
                <a:ea typeface="Calibri" pitchFamily="34" charset="-122"/>
                <a:cs typeface="Calibri" pitchFamily="34" charset="-120"/>
              </a:rPr>
              <a:t> tahlīl · analysis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خَطَأٌ</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‎خطا‎ </a:t>
            </a:r>
            <a:pPr indent="0" marL="0">
              <a:buNone/>
            </a:pPr>
            <a:r>
              <a:rPr lang="en-US" sz="950" b="1" dirty="0">
                <a:solidFill>
                  <a:srgbClr val="2E8B57"/>
                </a:solidFill>
                <a:latin typeface="Calibri" pitchFamily="34" charset="0"/>
                <a:ea typeface="Calibri" pitchFamily="34" charset="-122"/>
                <a:cs typeface="Calibri" pitchFamily="34" charset="-120"/>
              </a:rPr>
              <a:t> khatā · mistake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‎صحیح‎ </a:t>
            </a:r>
            <a:pPr indent="0" marL="0">
              <a:buNone/>
            </a:pPr>
            <a:r>
              <a:rPr lang="en-US" sz="950" b="1" dirty="0">
                <a:solidFill>
                  <a:srgbClr val="2E8B57"/>
                </a:solidFill>
                <a:latin typeface="Calibri" pitchFamily="34" charset="0"/>
                <a:ea typeface="Calibri" pitchFamily="34" charset="-122"/>
                <a:cs typeface="Calibri" pitchFamily="34" charset="-120"/>
              </a:rPr>
              <a:t> sahīh · correct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تَصْحِيحٌ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‎تصحیح‎ </a:t>
            </a:r>
            <a:pPr indent="0" marL="0">
              <a:buNone/>
            </a:pPr>
            <a:r>
              <a:rPr lang="en-US" sz="950" b="1" dirty="0">
                <a:solidFill>
                  <a:srgbClr val="2E8B57"/>
                </a:solidFill>
                <a:latin typeface="Calibri" pitchFamily="34" charset="0"/>
                <a:ea typeface="Calibri" pitchFamily="34" charset="-122"/>
                <a:cs typeface="Calibri" pitchFamily="34" charset="-120"/>
              </a:rPr>
              <a:t> tashīh · correction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دَلِيلٌ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‎دلیل‎ </a:t>
            </a:r>
            <a:pPr indent="0" marL="0">
              <a:buNone/>
            </a:pPr>
            <a:r>
              <a:rPr lang="en-US" sz="950" b="1" dirty="0">
                <a:solidFill>
                  <a:srgbClr val="2E8B57"/>
                </a:solidFill>
                <a:latin typeface="Calibri" pitchFamily="34" charset="0"/>
                <a:ea typeface="Calibri" pitchFamily="34" charset="-122"/>
                <a:cs typeface="Calibri" pitchFamily="34" charset="-120"/>
              </a:rPr>
              <a:t> dalīl · evidence, proof</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Complete Topic D review (1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doctor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engineer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teacher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nurse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مُحَامٍ / مُحَامِيَةٌ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lawyer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mu-ḥā-min / mu-ḥā-mi-ya-tun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مُحَامُونَ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مُحَامِيَةٌ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مُحَامٍ</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صَحَفِيٌّ / صَحَفِيَّةٌ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journalist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ṣa-ḥa-fiy-yun / ṣa-ḥa-fiy-ya-tun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صَحَفِيُّونَ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صَحَفِيَّةٌ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صَحَفِيٌّ</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Complete Topic D review (2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مُبَرْمِجٌ / مُبَرْمِجَةٌ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programmer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mu-bar-mi-jun / mu-bar-mi-ja-tun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مُبَرْمِجُونَ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مُبَرْمِجَةٌ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مُبَرْمِجٌ</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مُحَاسِبٌ / مُحَاسِبَةٌ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accountant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mu-ḥā-si-bun / mu-ḥā-si-ba-tun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مُحَاسِبُونَ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مُحَاسِبَةٌ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مُحَاسِبٌ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مُصَمِّمٌ / مُصَمِّمَةٌ</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designer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mu-ṣam-mi-mun / mu-ṣam-mi-ma-tun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مُصَمِّمُونَ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مُصَمِّمَةٌ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مُصَمِّمٌ</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طَيَّارٌ / طَيَّارَةٌ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pilot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ṭay-yā-run / ṭay-yā-ra-tun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طَيَّارُونَ</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طَيَّارَةٌ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طَيَّارٌ</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شُرْطِيٌّ / شُرْطِيَّةٌ</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police officer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shur-ṭiy-yun / shur-ṭiy-ya-tun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شُرْطِيُّونَ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شُرْطِيَّةٌ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شُرْطِيٌّ</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102" name="Shape 9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طَبَّاخٌ / طَبَّاخَةٌ</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ṭab-bā-khun / ṭab-bā-kha-tun</a:t>
            </a:r>
            <a:endParaRPr lang="en-US" sz="1350" dirty="0"/>
          </a:p>
        </p:txBody>
      </p:sp>
      <p:sp>
        <p:nvSpPr>
          <p:cNvPr id="106" name="Shape 10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8" name="Text 105"/>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طَبَّاخُونَ</a:t>
            </a:r>
            <a:endParaRPr lang="ar-SA" sz="1500" dirty="0"/>
          </a:p>
        </p:txBody>
      </p:sp>
      <p:sp>
        <p:nvSpPr>
          <p:cNvPr id="109" name="Shape 10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0" name="Text 10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11" name="Text 10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طَبَّاخَةٌ</a:t>
            </a:r>
            <a:endParaRPr lang="ar-SA" sz="1500" dirty="0"/>
          </a:p>
        </p:txBody>
      </p:sp>
      <p:sp>
        <p:nvSpPr>
          <p:cNvPr id="112" name="Shape 10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114" name="Text 11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طَبَّاخٌ</a:t>
            </a:r>
            <a:endParaRPr lang="ar-SA" sz="15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Complete Topic D review (3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مَهَارَةُ التَّوَاصُلِ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communication skill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ma-hā-ra-tu at-ta-wā-ṣu-li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حَلُّ المُشْكِلَاتِ</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problem solving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ḥal-lu al-mush-ki-lā-ti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العَمَلُ الجَمَاعِيُّ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teamwork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al-ʿa-ma-lu al-ja-mā-ʿiy-yu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إِدَارَةُ الوَقْتِ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time management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i-dā-ra-tu al-waq-ti</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الإِبْدَاعُ</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creativity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al-ib-dā-ʿu</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الدِّقَّةُ</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accuracy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ad-diq-qa-tu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Complete Topic D review (4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المَرُونَةُ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adaptability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al-ma-rū-na-tu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القِيَادَةُ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leadership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al-qi-yā-da-tu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الخِبْرَةُ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experience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al-khib-ra-tu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المُؤَهِّلَاتُ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qualifications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al-mu-ʾah-hi-lā-tu</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إِجَادَةُ اللُّغَاتِ</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 proficiency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i-jā-da-tu all-lu-ghā-ti</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مَهَارَاتُ الحَاسُوبِ</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computer skills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ma-hā-rā-tu al-ḥā-sū-bi</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Cohesion and 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because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therefore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however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whereas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although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addition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Cohesion and 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one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 the other hand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my opinion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 example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with the aim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1 · THE FOUR TOPIC D AUDITS (WEBSITE RULES 1–4)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audits, four checks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أَرْبَعُ مُرَاجَعَاتٍ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Check …</a:t>
            </a:r>
            <a:endParaRPr lang="en-US" sz="1100" dirty="0"/>
          </a:p>
        </p:txBody>
      </p:sp>
      <p:sp>
        <p:nvSpPr>
          <p:cNvPr id="17" name="Text 14"/>
          <p:cNvSpPr txBox="1"/>
          <p:nvPr/>
        </p:nvSpPr>
        <p:spPr>
          <a:xfrm>
            <a:off x="592531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2816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Audit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person ↔ verb ↔ adjective</a:t>
            </a:r>
            <a:endParaRPr lang="en-US" sz="1100" dirty="0"/>
          </a:p>
        </p:txBody>
      </p:sp>
      <p:sp>
        <p:nvSpPr>
          <p:cNvPr id="22" name="Text 19"/>
          <p:cNvSpPr txBox="1"/>
          <p:nvPr/>
        </p:nvSpPr>
        <p:spPr>
          <a:xfrm>
            <a:off x="5943600" y="2267712"/>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أُخْتِي </a:t>
            </a:r>
            <a:pPr rtl="1" algn="ctr" indent="0" marL="0">
              <a:buNone/>
            </a:pPr>
            <a:r>
              <a:rPr lang="ar-SA" altLang="en-US" sz="2000" b="1" dirty="0">
                <a:solidFill>
                  <a:srgbClr val="D6336C"/>
                </a:solidFill>
                <a:latin typeface="Amiri" pitchFamily="34" charset="0"/>
                <a:ea typeface="Amiri" pitchFamily="34" charset="-122"/>
                <a:cs typeface="Amiri" pitchFamily="34" charset="-120"/>
              </a:rPr>
              <a:t>مُهَنْدِسَةٌ</a:t>
            </a:r>
            <a:pPr rtl="1" algn="ctr" indent="0" marL="0">
              <a:buNone/>
            </a:pPr>
            <a:r>
              <a:rPr lang="ar-SA" altLang="en-US" sz="2000" b="1" dirty="0">
                <a:solidFill>
                  <a:srgbClr val="1B3B6F"/>
                </a:solidFill>
                <a:latin typeface="Amiri" pitchFamily="34" charset="0"/>
                <a:ea typeface="Amiri" pitchFamily="34" charset="-122"/>
                <a:cs typeface="Amiri" pitchFamily="34" charset="-120"/>
              </a:rPr>
              <a:t> وَهِيَ </a:t>
            </a:r>
            <a:pPr rtl="1" algn="ctr" indent="0" marL="0">
              <a:buNone/>
            </a:pPr>
            <a:r>
              <a:rPr lang="ar-SA" altLang="en-US" sz="2000" b="1" dirty="0">
                <a:solidFill>
                  <a:srgbClr val="D6336C"/>
                </a:solidFill>
                <a:latin typeface="Amiri" pitchFamily="34" charset="0"/>
                <a:ea typeface="Amiri" pitchFamily="34" charset="-122"/>
                <a:cs typeface="Amiri" pitchFamily="34" charset="-120"/>
              </a:rPr>
              <a:t>تَعْمَلُ</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23" name="Text 20"/>
          <p:cNvSpPr txBox="1"/>
          <p:nvPr/>
        </p:nvSpPr>
        <p:spPr>
          <a:xfrm>
            <a:off x="2834640" y="2267712"/>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أُخْتِي مُهَنْدِسٌ وَهِيَ يَعْمَلُ.</a:t>
            </a:r>
            <a:endParaRPr lang="ar-SA" sz="2000" dirty="0"/>
          </a:p>
        </p:txBody>
      </p:sp>
      <p:sp>
        <p:nvSpPr>
          <p:cNvPr id="24" name="Text 21"/>
          <p:cNvSpPr txBox="1"/>
          <p:nvPr/>
        </p:nvSpPr>
        <p:spPr>
          <a:xfrm>
            <a:off x="56692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Agreement (L01, L03)</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whole phrase</a:t>
            </a:r>
            <a:endParaRPr lang="en-US" sz="1100" dirty="0"/>
          </a:p>
        </p:txBody>
      </p:sp>
      <p:sp>
        <p:nvSpPr>
          <p:cNvPr id="29" name="Text 26"/>
          <p:cNvSpPr txBox="1"/>
          <p:nvPr/>
        </p:nvSpPr>
        <p:spPr>
          <a:xfrm>
            <a:off x="5943600" y="3054096"/>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يَحْتَاجُ </a:t>
            </a:r>
            <a:pPr rtl="1" algn="ctr" indent="0" marL="0">
              <a:buNone/>
            </a:pPr>
            <a:r>
              <a:rPr lang="ar-SA" altLang="en-US" sz="2000" b="1" dirty="0">
                <a:solidFill>
                  <a:srgbClr val="0E7C86"/>
                </a:solidFill>
                <a:latin typeface="Amiri" pitchFamily="34" charset="0"/>
                <a:ea typeface="Amiri" pitchFamily="34" charset="-122"/>
                <a:cs typeface="Amiri" pitchFamily="34" charset="-120"/>
              </a:rPr>
              <a:t>إِلَى</a:t>
            </a:r>
            <a:pPr rtl="1" algn="ctr" indent="0" marL="0">
              <a:buNone/>
            </a:pPr>
            <a:r>
              <a:rPr lang="ar-SA" altLang="en-US" sz="2000" b="1" dirty="0">
                <a:solidFill>
                  <a:srgbClr val="1B3B6F"/>
                </a:solidFill>
                <a:latin typeface="Amiri" pitchFamily="34" charset="0"/>
                <a:ea typeface="Amiri" pitchFamily="34" charset="-122"/>
                <a:cs typeface="Amiri" pitchFamily="34" charset="-120"/>
              </a:rPr>
              <a:t> خِبْرَةٍ. · يَتَقَدَّمُ </a:t>
            </a:r>
            <a:pPr rtl="1" algn="ctr" indent="0" marL="0">
              <a:buNone/>
            </a:pPr>
            <a:r>
              <a:rPr lang="ar-SA" altLang="en-US" sz="2000" b="1" dirty="0">
                <a:solidFill>
                  <a:srgbClr val="0E7C86"/>
                </a:solidFill>
                <a:latin typeface="Amiri" pitchFamily="34" charset="0"/>
                <a:ea typeface="Amiri" pitchFamily="34" charset="-122"/>
                <a:cs typeface="Amiri" pitchFamily="34" charset="-120"/>
              </a:rPr>
              <a:t>لِلوَظِيفَةِ</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30" name="Text 27"/>
          <p:cNvSpPr txBox="1"/>
          <p:nvPr/>
        </p:nvSpPr>
        <p:spPr>
          <a:xfrm>
            <a:off x="2834640" y="3054096"/>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يَحْتَاجُ خِبْرَةً. · يَتَقَدَّمُ الوَظِيفَةَ.</a:t>
            </a:r>
            <a:endParaRPr lang="ar-SA" sz="2000" dirty="0"/>
          </a:p>
        </p:txBody>
      </p:sp>
      <p:sp>
        <p:nvSpPr>
          <p:cNvPr id="31" name="Text 28"/>
          <p:cNvSpPr txBox="1"/>
          <p:nvPr/>
        </p:nvSpPr>
        <p:spPr>
          <a:xfrm>
            <a:off x="56692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Verb + preposition (L03, L06)</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sawfa + PRESENT</a:t>
            </a:r>
            <a:endParaRPr lang="en-US" sz="1100" dirty="0"/>
          </a:p>
        </p:txBody>
      </p:sp>
      <p:sp>
        <p:nvSpPr>
          <p:cNvPr id="34" name="Text 31"/>
          <p:cNvSpPr txBox="1"/>
          <p:nvPr/>
        </p:nvSpPr>
        <p:spPr>
          <a:xfrm>
            <a:off x="5943600" y="3840480"/>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34" charset="0"/>
                <a:ea typeface="Amiri" pitchFamily="34" charset="-122"/>
                <a:cs typeface="Amiri" pitchFamily="34" charset="-120"/>
              </a:rPr>
              <a:t>سَوْفَ تَدْرُسُ</a:t>
            </a:r>
            <a:pPr rtl="1" algn="ctr" indent="0" marL="0">
              <a:buNone/>
            </a:pPr>
            <a:r>
              <a:rPr lang="ar-SA" altLang="en-US" sz="2000" b="1" dirty="0">
                <a:solidFill>
                  <a:srgbClr val="1B3B6F"/>
                </a:solidFill>
                <a:latin typeface="Amiri" pitchFamily="34" charset="0"/>
                <a:ea typeface="Amiri" pitchFamily="34" charset="-122"/>
                <a:cs typeface="Amiri" pitchFamily="34" charset="-120"/>
              </a:rPr>
              <a:t> فِي الجَامِعَةِ.</a:t>
            </a:r>
            <a:endParaRPr lang="ar-SA" sz="2000" dirty="0"/>
          </a:p>
        </p:txBody>
      </p:sp>
      <p:sp>
        <p:nvSpPr>
          <p:cNvPr id="35" name="Text 32"/>
          <p:cNvSpPr txBox="1"/>
          <p:nvPr/>
        </p:nvSpPr>
        <p:spPr>
          <a:xfrm>
            <a:off x="2834640" y="3840480"/>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سَوْفَ دَرَسَتْ فِي الجَامِعَةِ.</a:t>
            </a:r>
            <a:endParaRPr lang="ar-SA" sz="2000" dirty="0"/>
          </a:p>
        </p:txBody>
      </p:sp>
      <p:sp>
        <p:nvSpPr>
          <p:cNvPr id="36" name="Text 33"/>
          <p:cNvSpPr txBox="1"/>
          <p:nvPr/>
        </p:nvSpPr>
        <p:spPr>
          <a:xfrm>
            <a:off x="56692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Future (L04)</a:t>
            </a:r>
            <a:endParaRPr lang="en-US" sz="1100" dirty="0"/>
          </a:p>
        </p:txBody>
      </p:sp>
      <p:sp>
        <p:nvSpPr>
          <p:cNvPr id="37" name="Shape 34"/>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claim + proof</a:t>
            </a:r>
            <a:endParaRPr lang="en-US" sz="1100" dirty="0"/>
          </a:p>
        </p:txBody>
      </p:sp>
      <p:sp>
        <p:nvSpPr>
          <p:cNvPr id="41" name="Text 38"/>
          <p:cNvSpPr txBox="1"/>
          <p:nvPr/>
        </p:nvSpPr>
        <p:spPr>
          <a:xfrm>
            <a:off x="5943600" y="4626864"/>
            <a:ext cx="338328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أَنَا مُنَظَّمٌ، </a:t>
            </a:r>
            <a:pPr rtl="1" algn="ctr" indent="0" marL="0">
              <a:lnSpc>
                <a:spcPct val="120000"/>
              </a:lnSpc>
              <a:buNone/>
            </a:pPr>
            <a:r>
              <a:rPr lang="ar-SA" altLang="en-US" sz="1550" b="1" dirty="0">
                <a:solidFill>
                  <a:srgbClr val="0E7C86"/>
                </a:solidFill>
                <a:latin typeface="Amiri" pitchFamily="34" charset="0"/>
                <a:ea typeface="Amiri" pitchFamily="34" charset="-122"/>
                <a:cs typeface="Amiri" pitchFamily="34" charset="-120"/>
              </a:rPr>
              <a:t>وَالدَّلِيلُ</a:t>
            </a:r>
            <a:pPr rtl="1" algn="ct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 أَنَّنِي أُسَلِّمُ عَمَلِي فِي المَوْعِدِ.</a:t>
            </a:r>
            <a:endParaRPr lang="ar-SA" sz="1550" dirty="0"/>
          </a:p>
        </p:txBody>
      </p:sp>
      <p:sp>
        <p:nvSpPr>
          <p:cNvPr id="42" name="Text 39"/>
          <p:cNvSpPr txBox="1"/>
          <p:nvPr/>
        </p:nvSpPr>
        <p:spPr>
          <a:xfrm>
            <a:off x="2834640" y="4626864"/>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أَنَا مُنَظَّمٌ.</a:t>
            </a:r>
            <a:endParaRPr lang="ar-SA" sz="2000" dirty="0"/>
          </a:p>
        </p:txBody>
      </p:sp>
      <p:sp>
        <p:nvSpPr>
          <p:cNvPr id="43" name="Text 40"/>
          <p:cNvSpPr txBox="1"/>
          <p:nvPr/>
        </p:nvSpPr>
        <p:spPr>
          <a:xfrm>
            <a:off x="56692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Evidence (L03, L06)</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Traffic-light each audit for yourself: green · amber · red. Your reddest audit is your priority before TD-L12.</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ea typeface="Calibri" pitchFamily="34" charset="-122"/>
                <a:cs typeface="Calibri" pitchFamily="34" charset="-120"/>
              </a:rPr>
              <a:t>GRAMMAR FOCUS · PART 2 · DIAGNOSE, EXPLAIN, REPAIR (THE WEBSITE ERROR-ANALYSIS TEXT)</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 one sentence the right way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شَخِّصْ · اِشْرَحْ ·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DIAGNOSE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مَا الخَطَأُ؟</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لِكَيْ تُصْبِحُ مُدِيرٌ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Two errors: the verb after li-kay, and the job after tuṣbiḥa.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Name the audit.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 · EXPLAIN</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لِمَاذَا؟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بَعْدَ لِكَيْ يَأْتِي فِعْلٌ مَنْصُوبٌ.</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After li-kay: -a. After tuṣbiḥa: the job in -atan (she).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One line per rule.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F7A4D"/>
          </a:solidFill>
          <a:ln w="12700">
            <a:solidFill>
              <a:srgbClr val="1F7A4D"/>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REPAIR</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الصِّيَاغَةُ الصَّحِيحَةُ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لِكَيْ تُصْبِحَ مُدِيرَةً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in order to become a manager (f.)</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Now the rule is reusable.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error-analysis text: the future needs a present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سَوْفَ تَدْرُسُ فِي الجَامِعَةِ.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34" charset="0"/>
                <a:ea typeface="Amiri" pitchFamily="34" charset="-122"/>
                <a:cs typeface="Amiri" pitchFamily="34" charset="-120"/>
              </a:rPr>
              <a:t>سَوْفَ دَرَسَتْ فِي الجَامِعَةِ.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Integrated accuracy and error diagnosis</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34" charset="0"/>
                <a:ea typeface="Amiri" pitchFamily="34" charset="-122"/>
                <a:cs typeface="Amiri" pitchFamily="34" charset="-120"/>
              </a:rPr>
              <a:t>تَحْلِيلُ الأَخْطَاءِ فِي اللُّغَةِ المِهَنِيَّةِ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Agreement audit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الشَّخْصُ ↔ الفِعْلُ ↔ الصِّفَةُ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هِيَ مُهَنْدِسَةٌ وَتَعْمَلُ فِي شَرِكَةٍ كَبِيرَةٍ.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Verb-preposition audit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يَحْتَاجُ إِلَى / يَتَقَدَّمُ لِـ / يَعْمَلُ فِي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يَحْتَاجُ إِلَى خِبْرَةٍ.   ·   يَتَقَدَّمُ لِلوَظِيفَةِ.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Future audit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سَـ / سَوْفَ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سَوْفَ أَدْرُسُ.   ·   سَأَتَدَرَّبُ.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Evidence audit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ادِّعَاءٌ + دَلِيلٌ / سَبَبٌ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أَنَا مُنَظَّمٌ، وَالدَّلِيلُ أَنَّنِي أُسَلِّمُ عَمَلِي فِي المَوْعِدِ.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أُخْتِي ___ وَتَعْمَلُ فِي شَرِكَةٍ.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مُهَنْدِسٌ</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مُهَنْدِسُونَ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مُهَنْدِسَةٌ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يَتَقَدَّمُ ___ الوَظِيفَةِ.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future is correct?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دَرَسْتُ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أَدْرُسُ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سَأَدْرُسُ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has evidence?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مُنَظَّمٌ، وَالدَّلِيلُ أَنَّنِي أُسَلِّمُ عَمَلِي فِي المَوْعِدِ.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مُنَظَّمٌ جِدًّا.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مُنَظَّمٌ وَمَسْؤُولٌ.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أُخْتِي ___ وَتَعْمَلُ فِي شَرِكَةٍ.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مُهَنْدِسٌ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مُهَنْدِسُونَ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مُهَنْدِسَةٌ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Agreement: she.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يَتَقَدَّمُ ___ الوَظِيفَةِ.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yataqaddamu li-.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future is correct?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سَوْفَ دَرَسْتُ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سَوْفَ أَدْرُسُ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سَوْفَ سَأَدْرُسُ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sawfa + present only.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has evidence?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مُنَظَّمٌ، وَالدَّلِيلُ أَنَّنِي أُسَلِّمُ عَمَلِي فِي المَوْعِدِ.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مُنَظَّمٌ جِدًّا.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مُنَظَّمٌ وَمَسْؤُولٌ.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Claim + proof.</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Watch me audit a student’s paragraph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Agreement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أُخْتِي </a:t>
            </a:r>
            <a:pPr rtl="1" algn="ctr" indent="0" marL="0">
              <a:buNone/>
            </a:pPr>
            <a:r>
              <a:rPr lang="ar-SA" altLang="en-US" sz="2400" b="1" dirty="0">
                <a:solidFill>
                  <a:srgbClr val="D6336C"/>
                </a:solidFill>
                <a:latin typeface="Amiri" pitchFamily="34" charset="0"/>
                <a:ea typeface="Amiri" pitchFamily="34" charset="-122"/>
                <a:cs typeface="Amiri" pitchFamily="34" charset="-120"/>
              </a:rPr>
              <a:t>مُهَنْدِسَةٌ</a:t>
            </a:r>
            <a:pPr rtl="1" algn="ctr" indent="0" marL="0">
              <a:buNone/>
            </a:pPr>
            <a:r>
              <a:rPr lang="ar-SA" altLang="en-US" sz="2400" b="1" dirty="0">
                <a:solidFill>
                  <a:srgbClr val="1B3B6F"/>
                </a:solidFill>
                <a:latin typeface="Amiri" pitchFamily="34" charset="0"/>
                <a:ea typeface="Amiri" pitchFamily="34" charset="-122"/>
                <a:cs typeface="Amiri" pitchFamily="34" charset="-120"/>
              </a:rPr>
              <a:t> وَهِيَ </a:t>
            </a:r>
            <a:pPr rtl="1" algn="ctr" indent="0" marL="0">
              <a:buNone/>
            </a:pPr>
            <a:r>
              <a:rPr lang="ar-SA" altLang="en-US" sz="2400" b="1" dirty="0">
                <a:solidFill>
                  <a:srgbClr val="D6336C"/>
                </a:solidFill>
                <a:latin typeface="Amiri" pitchFamily="34" charset="0"/>
                <a:ea typeface="Amiri" pitchFamily="34" charset="-122"/>
                <a:cs typeface="Amiri" pitchFamily="34" charset="-120"/>
              </a:rPr>
              <a:t>تَعْمَلُ</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She → -atun and ta-.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Future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34" charset="0"/>
                <a:ea typeface="Amiri" pitchFamily="34" charset="-122"/>
                <a:cs typeface="Amiri" pitchFamily="34" charset="-120"/>
              </a:rPr>
              <a:t>سَوْفَ تَدْرُسُ</a:t>
            </a:r>
            <a:pPr rtl="1" algn="ctr" indent="0" marL="0">
              <a:buNone/>
            </a:pPr>
            <a:r>
              <a:rPr lang="ar-SA" altLang="en-US" sz="2550" b="1" dirty="0">
                <a:solidFill>
                  <a:srgbClr val="1B3B6F"/>
                </a:solidFill>
                <a:latin typeface="Amiri" pitchFamily="34" charset="0"/>
                <a:ea typeface="Amiri" pitchFamily="34" charset="-122"/>
                <a:cs typeface="Amiri" pitchFamily="34" charset="-120"/>
              </a:rPr>
              <a:t> فِي الجَامِعَةِ</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sawfa + present, she.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After li-kay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لِكَيْ </a:t>
            </a:r>
            <a:pPr rtl="1" algn="ctr" indent="0" marL="0">
              <a:buNone/>
            </a:pPr>
            <a:r>
              <a:rPr lang="ar-SA" altLang="en-US" sz="2800" b="1" dirty="0">
                <a:solidFill>
                  <a:srgbClr val="0E7C86"/>
                </a:solidFill>
                <a:latin typeface="Amiri" pitchFamily="34" charset="0"/>
                <a:ea typeface="Amiri" pitchFamily="34" charset="-122"/>
                <a:cs typeface="Amiri" pitchFamily="34" charset="-120"/>
              </a:rPr>
              <a:t>تُصْبِحَ</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Verb in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Job after uṣbiḥa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تُصْبِحَ </a:t>
            </a:r>
            <a:pPr rtl="1" algn="ctr" indent="0" marL="0">
              <a:buNone/>
            </a:pPr>
            <a:r>
              <a:rPr lang="ar-SA" altLang="en-US" sz="2800" b="1" dirty="0">
                <a:solidFill>
                  <a:srgbClr val="0E7C86"/>
                </a:solidFill>
                <a:latin typeface="Amiri" pitchFamily="34" charset="0"/>
                <a:ea typeface="Amiri" pitchFamily="34" charset="-122"/>
                <a:cs typeface="Amiri" pitchFamily="34" charset="-120"/>
              </a:rPr>
              <a:t>مُدِيرَةً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 + -an = -atan.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AGREEMENT</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FUTURE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CASE / MOOD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أُخْتِي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مُهَنْدِسَةٌ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وَهِيَ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تَعْمَلُ</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فِي شَرِكَةٍ كَبِيرَةٍ.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سَوْفَ تَدْرُسُ</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الإِدَارَةَ فِي الجَامِعَةِ لِكَيْ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تُصْبِحَ مُدِيرَةً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لِأَنَّهَا تَحْتَاجُ إِلَى مُؤَهِّلَاتٍ أَعْلَى. هِيَ مُنَظَّمَةٌ، وَالدَّلِيلُ أَنَّهَا تُسَلِّمُ عَمَلَهَا دَائِمًا فِي المَوْعِدِ.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My sister is an engineer and she works in a big company. She will study management at university in order to become a manager, because she needs higher qualifications. She is organised: the proof is that she always hands in her work on time.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هِيَ مُهَنْدِسَةٌ وَتَعْمَلُ فِي شَرِكَةٍ كَبِيرَةٍ.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She is an engineer and works in a big company.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Agreement audit.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يَحْتَاجُ إِلَى خِبْرَةٍ. · يَتَقَدَّمُ لِلوَظِيفَةِ.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He needs experience. · He applies for the job.</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Verb + preposition.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سَوْفَ أَدْرُسُ لِكَيْ أُصْبِحَ مُحَامِيًا.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will study to become a lawyer.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Future + purpose.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أَنَا مُنَظَّمٌ، وَالدَّلِيلُ أَنَّنِي أُسَلِّمُ عَمَلِي فِي المَوْعِدِ.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am organised; the proof is that I hand in my work on time.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Claim +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ea typeface="Calibri" pitchFamily="34" charset="-122"/>
                <a:cs typeface="Calibri" pitchFamily="34" charset="-120"/>
              </a:rPr>
              <a:t>WE DO · PICTURE MATCH · WEBSITE GAME “SHORTLIST THE CANDIDATE (TOPIC GAME)”</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الْمُرَشَّحَ</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customer service · AR + EN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starts 8:00 · free 10:00</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technical · 3 years</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اَلْمُرَشَّحُ غَيْرُ مُنَاسِبٍ لِأَنَّهُ لَا يَسْتَطِيعُ الْبَدْءَ فِي الثَّامِنَةِ.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لَدَى الْمُرَشَّحِ ثَلَاثُ سَنَوَاتٍ مِنَ الْخِبْرَةِ التِّقْنِيَّةِ.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اَلْمُرَشَّحُ مُنَاسِبٌ لِأَنَّهُ يَتَكَلَّمُ الْعَرَبِيَّةَ وَالْإِنْجِلِيزِيَّةَ.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الْمُرَشَّحَ</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customer service · AR + EN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اَلْمُرَشَّحُ مُنَاسِبٌ لِأَنَّهُ يَتَكَلَّمُ الْعَرَبِيَّةَ وَالْإِنْجِلِيزِيَّةَ.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candidate is suitable because he speaks Arabic and English.</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starts 8:00 · free 10:00</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اَلْمُرَشَّحُ غَيْرُ مُنَاسِبٍ لِأَنَّهُ لَا يَسْتَطِيعُ الْبَدْءَ فِي الثَّامِنَةِ.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candidate is not suitable because he cannot start at eight.</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technical · 3 years</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لَدَى الْمُرَشَّحِ ثَلَاثُ سَنَوَاتٍ مِنَ الْخِبْرَةِ التِّقْنِيَّةِ.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candidate has three years of technical experience.</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audit finds the error?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هِيَ مُهَنْدِسٌ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أُمِّي يَعْمَلُ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يَحْتَاجُ الصَّبْرَ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يَتَقَدَّمُ الوَظِيفَةَ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سَوْفَ دَرَسْتُ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سَوْفَ سَأَعْمَلُ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أَنَا مُنَظَّمٌ.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أُحِبُّ الطِّبَّ.</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Agreement</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Preposition</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 Evidence</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Agreement</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هِيَ مُهَنْدِسٌ</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أُمِّي يَعْمَلُ</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Preposition</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يَحْتَاجُ الصَّبْرَ</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يَتَقَدَّمُ الوَظِيفَةَ</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سَوْفَ دَرَسْتُ</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سَوْفَ سَأَعْمَلُ</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 Evidence</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أَنَا مُنَظَّمٌ.</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أُحِبُّ الطِّبَّ.</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سَأَدْرُسُ لِكَيْ ___ مُحَامِيًا.</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أَصْبَحْتُ</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سَأُصْبِحُ</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أُصْبِحَ</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تَكُونَ المُمَرِّضَةُ ___ .</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صَبُورَةً</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صَبُورًا</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الشَّرِكَةُ ___ أَعْمَلُ فِيهَا كَبِيرَةٌ.</a:t>
            </a:r>
            <a:endParaRPr lang="ar-SA" sz="1500" dirty="0"/>
          </a:p>
        </p:txBody>
      </p:sp>
      <p:sp>
        <p:nvSpPr>
          <p:cNvPr id="50" name="Shape 47"/>
          <p:cNvSpPr/>
          <p:nvPr/>
        </p:nvSpPr>
        <p:spPr>
          <a:xfrm>
            <a:off x="640080" y="48737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a:t>
            </a:r>
            <a:endParaRPr lang="ar-SA" sz="2050" dirty="0"/>
          </a:p>
        </p:txBody>
      </p:sp>
      <p:sp>
        <p:nvSpPr>
          <p:cNvPr id="53" name="Shape 50"/>
          <p:cNvSpPr/>
          <p:nvPr/>
        </p:nvSpPr>
        <p:spPr>
          <a:xfrm>
            <a:off x="640080" y="53309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الَّتِي</a:t>
            </a:r>
            <a:endParaRPr lang="ar-SA" sz="2050" dirty="0"/>
          </a:p>
        </p:txBody>
      </p:sp>
      <p:sp>
        <p:nvSpPr>
          <p:cNvPr id="56" name="Shape 53"/>
          <p:cNvSpPr/>
          <p:nvPr/>
        </p:nvSpPr>
        <p:spPr>
          <a:xfrm>
            <a:off x="640080" y="57881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الَّذِينَ</a:t>
            </a:r>
            <a:endParaRPr lang="ar-SA" sz="2050" dirty="0"/>
          </a:p>
        </p:txBody>
      </p:sp>
      <p:sp>
        <p:nvSpPr>
          <p:cNvPr id="59" name="Shape 56"/>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6313932"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2" name="Text 59"/>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formal opening of an application?</a:t>
            </a:r>
            <a:endParaRPr lang="en-US" sz="125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الوَظِيفَةَ.</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يَسُرُّنِي أَنْ أَتَقَدَّمَ لِلوَظِيفَةِ.</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سَأَدْرُسُ لِكَيْ ___ مُحَامِيًا.</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أَصْبَحْتُ</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سَأُصْبِحُ</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أُصْبِحَ</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li-kay: present verb in -a.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يَجِبُ أَنْ تَكُونَ المُمَرِّضَةُ ___ .</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صَبُورٌ</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صَبُورَةً</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صَبُورًا</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 -atan.</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2" name="Text 49"/>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3" name="Text 50"/>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الشَّرِكَةُ ___ أَعْمَلُ فِيهَا كَبِيرَةٌ.</a:t>
            </a:r>
            <a:endParaRPr lang="ar-SA" sz="1500" dirty="0"/>
          </a:p>
        </p:txBody>
      </p:sp>
      <p:sp>
        <p:nvSpPr>
          <p:cNvPr id="54" name="Shape 51"/>
          <p:cNvSpPr/>
          <p:nvPr/>
        </p:nvSpPr>
        <p:spPr>
          <a:xfrm>
            <a:off x="640080" y="483108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6" name="Text 53"/>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a:t>
            </a:r>
            <a:endParaRPr lang="ar-SA" sz="1700" dirty="0"/>
          </a:p>
        </p:txBody>
      </p:sp>
      <p:sp>
        <p:nvSpPr>
          <p:cNvPr id="57" name="Shape 54"/>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640080" y="5202936"/>
            <a:ext cx="256032" cy="256032"/>
          </a:xfrm>
          <a:prstGeom prst="ellipse">
            <a:avLst/>
          </a:prstGeom>
          <a:solidFill>
            <a:srgbClr val="2E8B57"/>
          </a:solidFill>
          <a:ln w="12700">
            <a:solidFill>
              <a:srgbClr val="2E8B57"/>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الَّتِي</a:t>
            </a:r>
            <a:endParaRPr lang="ar-SA" sz="1700" dirty="0"/>
          </a:p>
        </p:txBody>
      </p:sp>
      <p:sp>
        <p:nvSpPr>
          <p:cNvPr id="61" name="Shape 58"/>
          <p:cNvSpPr/>
          <p:nvPr/>
        </p:nvSpPr>
        <p:spPr>
          <a:xfrm>
            <a:off x="640080" y="557479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الَّذِينَ</a:t>
            </a:r>
            <a:endParaRPr lang="ar-SA" sz="1700" dirty="0"/>
          </a:p>
        </p:txBody>
      </p:sp>
      <p:sp>
        <p:nvSpPr>
          <p:cNvPr id="64" name="Text 61"/>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TD-L07.</a:t>
            </a:r>
            <a:endParaRPr lang="en-US" sz="1050" dirty="0"/>
          </a:p>
        </p:txBody>
      </p:sp>
      <p:sp>
        <p:nvSpPr>
          <p:cNvPr id="65" name="Shape 6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6313932"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8" name="Text 6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formal opening of an application?</a:t>
            </a:r>
            <a:endParaRPr lang="en-US" sz="125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أُرِيدُ الوَظِيفَةَ.</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مَرْحَبًا!</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يَسُرُّنِي أَنْ أَتَقَدَّمَ لِلوَظِيفَةِ.</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TD-L09.</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أُخْتِي مُهَنْدِسٌ وَهِيَ يَعْمَلُ فِي شَرِكَةٍ.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She: which job ending and verb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سَوْفَ دَرَسَتْ فِي 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sawfa + past or present?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لِكَيْ تُصْبِحُ مُدِيرٌ.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After li-kay and tuṣbiḥa?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أُخْتِي مُهَنْدِسٌ وَهِيَ يَعْمَلُ فِي شَرِكَةٍ.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أُخْتِي مُهَنْدِسَةٌ وَهِيَ تَعْمَلُ فِي شَرِكَةٍ.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Agreement: she → -atun and ta-.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سَوْفَ دَرَسَتْ فِي 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سَوْفَ تَدْرُسُ فِي 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Future: sawfa + present.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لِكَيْ تُصْبِحُ مُدِيرٌ.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لِكَيْ تُصْبِحَ مُدِيرَةً.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li-kay: -a; the job: -atan.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Assessment rehearsal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opportunity is advertised?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training placement for students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full-time job</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scholarship</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requirements are named?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degree and experience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languages and driving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computer skills and teamwork</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exact start date?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 August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 April</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 August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does it last?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four weeks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 weeks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twelve weeks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benefits are provided?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salary and a laptop</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training and a certificate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transport and lunch</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NOT provided?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salary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training</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certificate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Assessment rehearsal: 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 4 and 6. Two dates are heard!</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تُعْلِنُ شَرِكَةٌ تِقْنِيَّةٌ عَنْ فُرْصَةِ تَدْرِيبٍ لِلطُّلَّابِ.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tech company announces a training placement for students.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يُشْتَرَطُ إِجَادَةُ الحَاسُوبِ وَالقُدْرَةُ عَلَى العَمَلِ ضِمْنَ فَرِيقٍ.</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 computer skills and the ability to work in a team are required.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سَتَبْدَأُ الفُرْصَةُ فِي الثَّانِي مِنْ أَغُسْطُسَ، لَا فِي الثَّانِي عَشَرَ مِنْهُ،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placement will start on the 2nd of August, not the 12th,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وَسَتَسْتَمِرُّ أَرْبَعَةَ أَسَابِيعَ.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it will last four weeks.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تُقَدِّمُ الشَّرِكَةُ تَدْرِيبًا وَشَهَادَةً، وَلٰكِنَّهَا لَا تُقَدِّمُ رَاتِبًا.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company provides training and a certificate, but it does not pay a salary.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opportunity is advertised?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training placement for students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full-time job</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scholarship</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فُرْصَةِ تَدْرِيبٍ لِلطُّلَّابِ</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requirements are named?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degree and experience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languages and driving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computer skills and teamwork</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إِجَادَةُ الحَاسُوبِ وَالقُدْرَةُ عَلَى العَمَلِ ضِمْنَ فَرِيقٍ</a:t>
            </a:r>
            <a:endParaRPr lang="ar-SA" sz="11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exact start date?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 August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 April</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 August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فِي الثَّانِي مِنْ أَغُسْطُسَ، لَا فِي الثَّانِي عَشَرَ</a:t>
            </a:r>
            <a:endParaRPr lang="ar-SA" sz="130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does it last?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four weeks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two weeks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twelve weeks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أَرْبَعَةَ أَسَابِيعَ</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benefits are provided?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salary and a laptop</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training and a certificate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transport and lunch</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تَدْرِيبًا وَشَهَادَةً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NOT provided?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salary</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training</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certificate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تُقَدِّمُ رَاتِبًا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Assessment rehearsal: 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 4 and 6. Two dates are heard!</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Vacancy case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Vacancy case study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Combine a job advert, applicant profile, timetable and interview note. Decide whether the candidate should be shortlisted and defend the decision.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Read four documents: job advert, applicant profile, timetable, interview note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Find evidence for and against the candidate.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Decide: shortlist — yes or no?</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Defend the decision in 3–4 sentences; another pair challenges it.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One reason for and one against.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decision with two pieces of evidence and “lākinna”.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defended decision with mixed tenses, formal register and a conditional.</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المُرَشَّحُ مُنَاسِبٌ لِأَنَّ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the candidate is suitable because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غَيْرُ مُنَاسِبٍ لِأَنَّهُ لَا يَسْتَطِيعُ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not suitable because he cannot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مِنْ جِهَةٍ … وَمِنْ جِهَةٍ أُخْرَى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on one hand … on the other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لِذٰلِكَ نَقْتَرِحُ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so we propose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Full Topic D topic conversation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مِهْنَةُ أَحَدِ أَفْرَادِ عَائِلَتِكَ؟ وَأَيْنَ يَعْمَلُ؟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المِهْنَةُ الَّتِي تُرِيدُهَا؟ وَلِمَاذَا؟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مَهَارَاتُكَ؟ وَمَا الدَّلِيلُ؟</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C9780A"/>
          </a:solidFill>
          <a:ln w="12700">
            <a:solidFill>
              <a:srgbClr val="C9780A"/>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خُطَّتُكَ بَعْدَ المَدْرَسَةِ؟</a:t>
            </a:r>
            <a:endParaRPr lang="ar-SA" sz="1800" dirty="0"/>
          </a:p>
        </p:txBody>
      </p:sp>
      <p:sp>
        <p:nvSpPr>
          <p:cNvPr id="48" name="Shape 45"/>
          <p:cNvSpPr/>
          <p:nvPr/>
        </p:nvSpPr>
        <p:spPr>
          <a:xfrm>
            <a:off x="4754880" y="4974336"/>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846320" y="5129784"/>
            <a:ext cx="960120" cy="256032"/>
          </a:xfrm>
          <a:prstGeom prst="roundRect">
            <a:avLst>
              <a:gd name="adj" fmla="val 50000"/>
            </a:avLst>
          </a:prstGeom>
          <a:solidFill>
            <a:srgbClr val="B83227"/>
          </a:solidFill>
          <a:ln w="12700">
            <a:solidFill>
              <a:srgbClr val="B83227"/>
            </a:solidFill>
            <a:prstDash val="solid"/>
          </a:ln>
        </p:spPr>
      </p:sp>
      <p:sp>
        <p:nvSpPr>
          <p:cNvPr id="50" name="Text 47"/>
          <p:cNvSpPr txBox="1"/>
          <p:nvPr/>
        </p:nvSpPr>
        <p:spPr>
          <a:xfrm>
            <a:off x="4846320" y="5129784"/>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1" name="Text 48"/>
          <p:cNvSpPr txBox="1"/>
          <p:nvPr/>
        </p:nvSpPr>
        <p:spPr>
          <a:xfrm>
            <a:off x="5897880" y="4974336"/>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الصُّعُوبَةُ المُحْتَمَلَةُ؟ وَكَيْفَ سَتَتَغَلَّبُ عَلَيْهَا؟</a:t>
            </a:r>
            <a:endParaRPr lang="ar-SA" sz="1800" dirty="0"/>
          </a:p>
        </p:txBody>
      </p:sp>
      <p:sp>
        <p:nvSpPr>
          <p:cNvPr id="52" name="Shape 4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3" name="Text 5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54" name="Shape 5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6" name="Text 5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34" charset="0"/>
                <a:ea typeface="Amiri" pitchFamily="34" charset="-122"/>
                <a:cs typeface="Amiri" pitchFamily="34" charset="-120"/>
              </a:rPr>
              <a:t>___ مُحَاسِبٌ / مُمَرِّضَةٌ وَيَعْمَلُ / تَعْمَلُ فِي ___ .</a:t>
            </a:r>
            <a:endParaRPr lang="ar-SA" sz="1350" dirty="0"/>
          </a:p>
        </p:txBody>
      </p:sp>
      <p:sp>
        <p:nvSpPr>
          <p:cNvPr id="57" name="Shape 54"/>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9" name="Text 5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أَطْمَحُ إِلَى أَنْ أُصْبِحَ ___ لِأَنَّنِي ___ .</a:t>
            </a:r>
            <a:endParaRPr lang="ar-SA" sz="1600" dirty="0"/>
          </a:p>
        </p:txBody>
      </p:sp>
      <p:sp>
        <p:nvSpPr>
          <p:cNvPr id="60" name="Shape 57"/>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61" name="Text 5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62" name="Text 5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أَنَا ___ ، وَالدَّلِيلُ أَنَّنِي ___ .</a:t>
            </a:r>
            <a:endParaRPr lang="ar-SA" sz="1600" dirty="0"/>
          </a:p>
        </p:txBody>
      </p:sp>
      <p:sp>
        <p:nvSpPr>
          <p:cNvPr id="63" name="Shape 60"/>
          <p:cNvSpPr/>
          <p:nvPr/>
        </p:nvSpPr>
        <p:spPr>
          <a:xfrm>
            <a:off x="640080" y="4681728"/>
            <a:ext cx="1051560" cy="256032"/>
          </a:xfrm>
          <a:prstGeom prst="roundRect">
            <a:avLst>
              <a:gd name="adj" fmla="val 50000"/>
            </a:avLst>
          </a:prstGeom>
          <a:solidFill>
            <a:srgbClr val="C9780A"/>
          </a:solidFill>
          <a:ln w="12700">
            <a:solidFill>
              <a:srgbClr val="C9780A"/>
            </a:solidFill>
            <a:prstDash val="solid"/>
          </a:ln>
        </p:spPr>
      </p:sp>
      <p:sp>
        <p:nvSpPr>
          <p:cNvPr id="64" name="Text 61"/>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65" name="Text 62"/>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أَوَّلًا سَوْفَ ___ ، ثُمَّ سَـ ___ لِكَيْ ___ .</a:t>
            </a:r>
            <a:endParaRPr lang="ar-SA" sz="1600" dirty="0"/>
          </a:p>
        </p:txBody>
      </p:sp>
      <p:sp>
        <p:nvSpPr>
          <p:cNvPr id="66" name="Shape 63"/>
          <p:cNvSpPr/>
          <p:nvPr/>
        </p:nvSpPr>
        <p:spPr>
          <a:xfrm>
            <a:off x="640080" y="5239512"/>
            <a:ext cx="1051560" cy="256032"/>
          </a:xfrm>
          <a:prstGeom prst="roundRect">
            <a:avLst>
              <a:gd name="adj" fmla="val 50000"/>
            </a:avLst>
          </a:prstGeom>
          <a:solidFill>
            <a:srgbClr val="B83227"/>
          </a:solidFill>
          <a:ln w="12700">
            <a:solidFill>
              <a:srgbClr val="B83227"/>
            </a:solidFill>
            <a:prstDash val="solid"/>
          </a:ln>
        </p:spPr>
      </p:sp>
      <p:sp>
        <p:nvSpPr>
          <p:cNvPr id="67" name="Text 64"/>
          <p:cNvSpPr txBox="1"/>
          <p:nvPr/>
        </p:nvSpPr>
        <p:spPr>
          <a:xfrm>
            <a:off x="640080" y="5239512"/>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68" name="Text 65"/>
          <p:cNvSpPr txBox="1"/>
          <p:nvPr/>
        </p:nvSpPr>
        <p:spPr>
          <a:xfrm>
            <a:off x="1783080" y="5084064"/>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فَإِنَّنِي ___ .</a:t>
            </a:r>
            <a:endParaRPr lang="ar-SA" sz="1600" dirty="0"/>
          </a:p>
        </p:txBody>
      </p:sp>
      <p:sp>
        <p:nvSpPr>
          <p:cNvPr id="69" name="Shape 66"/>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70" name="Text 67"/>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71" name="Shape 68"/>
          <p:cNvSpPr/>
          <p:nvPr/>
        </p:nvSpPr>
        <p:spPr>
          <a:xfrm>
            <a:off x="11274552" y="5559552"/>
            <a:ext cx="292608" cy="292608"/>
          </a:xfrm>
          <a:prstGeom prst="ellipse">
            <a:avLst/>
          </a:prstGeom>
          <a:solidFill>
            <a:srgbClr val="1E6B52"/>
          </a:solidFill>
          <a:ln w="12700">
            <a:solidFill>
              <a:srgbClr val="1E6B52"/>
            </a:solidFill>
            <a:prstDash val="solid"/>
          </a:ln>
        </p:spPr>
      </p:sp>
      <p:sp>
        <p:nvSpPr>
          <p:cNvPr id="72" name="Text 69"/>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73" name="Text 70"/>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المِهْنَةُ الَّتِي تُرِيدُهَا؟ وَلِمَاذَا؟</a:t>
            </a:r>
            <a:endParaRPr lang="ar-SA" sz="1550" dirty="0"/>
          </a:p>
        </p:txBody>
      </p:sp>
      <p:sp>
        <p:nvSpPr>
          <p:cNvPr id="74" name="Text 71"/>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Which job do you want? Why?</a:t>
            </a:r>
            <a:endParaRPr lang="en-US" sz="950" dirty="0"/>
          </a:p>
        </p:txBody>
      </p:sp>
      <p:sp>
        <p:nvSpPr>
          <p:cNvPr id="75" name="Shape 72"/>
          <p:cNvSpPr/>
          <p:nvPr/>
        </p:nvSpPr>
        <p:spPr>
          <a:xfrm>
            <a:off x="11274552" y="5925312"/>
            <a:ext cx="292608" cy="292608"/>
          </a:xfrm>
          <a:prstGeom prst="ellipse">
            <a:avLst/>
          </a:prstGeom>
          <a:solidFill>
            <a:srgbClr val="1E6B52"/>
          </a:solidFill>
          <a:ln w="12700">
            <a:solidFill>
              <a:srgbClr val="1E6B52"/>
            </a:solidFill>
            <a:prstDash val="solid"/>
          </a:ln>
        </p:spPr>
      </p:sp>
      <p:sp>
        <p:nvSpPr>
          <p:cNvPr id="76" name="Text 73"/>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أَطْمَحُ إِلَى أَنْ أُصْبِحَ مُحَامِيًا لِأَنَّنِي أُحِبُّ العَدَالَةَ.</a:t>
            </a:r>
            <a:endParaRPr lang="ar-SA" sz="1550" dirty="0"/>
          </a:p>
        </p:txBody>
      </p:sp>
      <p:sp>
        <p:nvSpPr>
          <p:cNvPr id="78" name="Text 75"/>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aspire to become a lawyer because I love justice.</a:t>
            </a:r>
            <a:endParaRPr lang="en-US" sz="9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Repair the website student text, then write one accurate sentence for each audit.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 complete Topic D response (job, plan, skills + evidence), audited with the four checks.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complete Topic D response + self-audit + an evidence-based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بَيْنَمَا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whereas my … is a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أَوَّلًا ______ ، ثُمَّ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First … then …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______ ، فَإِنَّنِي مُسْتَعِدٌّ.</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Although …, I am ready.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هَدَفِي ______ لِأَنَّنِي أَخْطَأْتُ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target is … because I made mistakes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أُمِّي / أَبِي ______ وَتَعْمَلُ / وَيَعْمَلُ فِي ______ .</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mother / father is a … and works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سَوْفَ أَدْرُسُ ______ لِكَيْ أُصْبِحَ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will study … in order to become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المِهْنَةُ تَحْتَاجُ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job needs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______ ، وَالدَّلِيلُ أَنَّنِي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 the proof is that I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أَوْلَوِيَّتِي هِيَ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priority is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مُهَنْدِسَةٌ  ·  تَعْمَلُ فِي  ·  يَحْتَاجُ إِلَى  ·  يَتَقَدَّمُ لِـ  ·  سَوْفَ أَدْرُسُ  ·  سَأَتَدَرَّبُ  ·  لِكَيْ أُصْبِحَ  ·  وَالدَّلِيلُ أَنَّنِي  ·  أَوَّلًا  ·  ثُمَّ  ·  عَلَى الرَّغْمِ مِنْ أَنَّ  ·  أَوْلَوِيَّةٌ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Produce a complete Topic D response, then use an error-analysis checklist to improve agreement, prepositions, future forms and evidence.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أَخْطَأْتُ فِي … مَرَّتَيْنِ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made mistakes in … twice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غَيَّرْتُ … إِلَى … لِأَنَّ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changed … to … because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المِهْنَةُ تَحْتَاجُ إِلَى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this job needs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أَكْتَسِبَ خِبْرَةً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gain experience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أَصْبَحَ نَصِّي أَدَقَّ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my text became more accurate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فِي عَائِلَتِي مِهَنٌ مُخْتَلِفَةٌ: أُمِّي مُمَرِّضَةٌ وَتَعْمَلُ فِي مُسْتَشْفًى كَبِيرٍ، بَيْنَمَا أَبِي مُحَاسِبٌ فِي شَرِكَةٍ دَوْلِيَّةٍ. أَمَّا أَنَا فَأَطْمَحُ إِلَى أَنْ أُصْبِحَ مُحَامِيًا لِأَنَّنِي أُحِبُّ العَدَالَةَ. هٰذِهِ المِهْنَةُ تَحْتَاجُ إِلَى الدِّقَّةِ وَمَهَارَةِ التَّوَاصُلِ. أَنَا مُنَظَّمٌ، وَالدَّلِيلُ أَنَّنِي أُسَلِّمُ عَمَلِي دَائِمًا فِي المَوْعِدِ. أَوَّلًا سَوْفَ أَدْرُسُ القَانُونَ فِي الجَامِعَةِ، ثُمَّ سَأَتَدَرَّبُ فِي مَكْتَبِ مُحَامَاةٍ لِكَيْ أَكْتَسِبَ خِبْرَةً. عَلَى الرَّغْمِ مِنْ أَنَّ الطَّرِيقَ طَوِيلٌ، فَإِنَّنِي مُسْتَعِدٌّ. هَدَفِي قَبْلَ التَّقْيِيمِ هُوَ مُرَاجَعَةُ الأَفْعَالِ بَعْدَ لِكَيْ، لِأَنَّنِي أَخْطَأْتُ فِيهَا مَرَّتَيْنِ.</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There are different jobs in my family: my mother is a nurse and works in a big hospital, whereas my father is an accountant in an international company. As for me, I aspire to become a lawyer because I love justice. This job needs precision and communication skills. I am organised; the proof is that I always hand in my work on time. First I will study law at university, then I will train in a law office to gain experience. Although the road is long, I am ready. My target before the assessment is to revise verbs after li-kay, because I made mistakes with them twice.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agreement (she → -atun / ta-)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verb + preposition phrase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future with sawfa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claim with evidence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Agreement: person, verb and job match.</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Future: sa- / sawfa + present.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Verbs keep their prepositions.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Every claim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target names a rule and my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audit checks </a:t>
            </a:r>
            <a:pPr algn="l" indent="0" marL="0">
              <a:buNone/>
            </a:pPr>
            <a:r>
              <a:rPr lang="ar-SA" altLang="en-US" sz="1650" b="1" dirty="0">
                <a:solidFill>
                  <a:srgbClr val="1B3B6F"/>
                </a:solidFill>
                <a:latin typeface="Amiri" pitchFamily="34" charset="0"/>
                <a:ea typeface="Amiri" pitchFamily="34" charset="-122"/>
                <a:cs typeface="Amiri" pitchFamily="34" charset="-120"/>
              </a:rPr>
              <a:t>سَوْفَ</a:t>
            </a:r>
            <a:pPr algn="l" indent="0" marL="0">
              <a:buNone/>
            </a:pPr>
            <a:r>
              <a:rPr lang="en-US" sz="1250" b="1" dirty="0">
                <a:solidFill>
                  <a:srgbClr val="1B3B6F"/>
                </a:solidFill>
                <a:latin typeface="Calibri" pitchFamily="34" charset="0"/>
                <a:ea typeface="Calibri" pitchFamily="34" charset="-122"/>
                <a:cs typeface="Calibri" pitchFamily="34" charset="-120"/>
              </a:rPr>
              <a:t> + verb?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agreement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evidence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يَحْتَاجُ الطَّبِيبُ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الدِّقَّةِ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repair of: </a:t>
            </a:r>
            <a:pPr algn="l" indent="0" marL="0">
              <a:buNone/>
            </a:pPr>
            <a:r>
              <a:rPr lang="ar-SA" altLang="en-US" sz="1650" b="1" dirty="0">
                <a:solidFill>
                  <a:srgbClr val="1B3B6F"/>
                </a:solidFill>
                <a:latin typeface="Amiri" pitchFamily="34" charset="0"/>
                <a:ea typeface="Amiri" pitchFamily="34" charset="-122"/>
                <a:cs typeface="Amiri" pitchFamily="34" charset="-120"/>
              </a:rPr>
              <a:t>هِيَ مُحَامٍ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مُحَامِيَةٌ.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مُحَامُونَ.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 مُحَامِيَةٌ.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audit checks </a:t>
            </a:r>
            <a:pPr algn="l" indent="0" marL="0">
              <a:buNone/>
            </a:pPr>
            <a:r>
              <a:rPr lang="ar-SA" altLang="en-US" sz="1650" b="1" dirty="0">
                <a:solidFill>
                  <a:srgbClr val="1B3B6F"/>
                </a:solidFill>
                <a:latin typeface="Amiri" pitchFamily="34" charset="0"/>
                <a:ea typeface="Amiri" pitchFamily="34" charset="-122"/>
                <a:cs typeface="Amiri" pitchFamily="34" charset="-120"/>
              </a:rPr>
              <a:t>سَوْفَ</a:t>
            </a:r>
            <a:pPr algn="l" indent="0" marL="0">
              <a:buNone/>
            </a:pPr>
            <a:r>
              <a:rPr lang="en-US" sz="1250" b="1" dirty="0">
                <a:solidFill>
                  <a:srgbClr val="1B3B6F"/>
                </a:solidFill>
                <a:latin typeface="Calibri" pitchFamily="34" charset="0"/>
                <a:ea typeface="Calibri" pitchFamily="34" charset="-122"/>
                <a:cs typeface="Calibri" pitchFamily="34" charset="-120"/>
              </a:rPr>
              <a:t> + verb?</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future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agreement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evidence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Future audit.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يَحْتَاجُ الطَّبِيبُ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الدِّقَّةِ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فِي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Verb + preposition.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repair of: </a:t>
            </a:r>
            <a:pPr algn="l" indent="0" marL="0">
              <a:buNone/>
            </a:pPr>
            <a:r>
              <a:rPr lang="ar-SA" altLang="en-US" sz="1650" b="1" dirty="0">
                <a:solidFill>
                  <a:srgbClr val="1B3B6F"/>
                </a:solidFill>
                <a:latin typeface="Amiri" pitchFamily="34" charset="0"/>
                <a:ea typeface="Amiri" pitchFamily="34" charset="-122"/>
                <a:cs typeface="Amiri" pitchFamily="34" charset="-120"/>
              </a:rPr>
              <a:t>هِيَ مُحَامٍ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هِيَ مُحَامِيَةٌ.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هِيَ مُحَامُونَ.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هُوَ مُحَامِيَةٌ.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Agreement.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Error-analysis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كَتَبَ طَالِبٌ: «أُخْتِي مُهَنْدِسٌ وَهِيَ يَعْمَلُ فِي شَرِكَةٍ. سَوْفَ دَرَسَتْ فِي الجَامِعَةِ لِكَيْ تُصْبِحُ مُدِيرٌ». يَحْتَوِي النَّصُّ عَلَى أَخْطَاءٍ فِي الجِنْسِ وَالفِعْلِ وَالمُسْتَقْبَلِ وَالحَالَةِ الإِعْرَابِيَّةِ. الصِّيَاغَةُ الصَّحِيحَةُ هِيَ: «أُخْتِي مُهَنْدِسَةٌ وَهِيَ تَعْمَلُ فِي شَرِكَةٍ. سَوْفَ تَدْرُسُ فِي الجَامِعَةِ لِكَيْ تُصْبِحَ مُدِيرَةً».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كَتَبَ طَالِبٌ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student wrote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يَحْتَوِي عَلَى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contains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أَخْطَاءٍ</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mistakes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الجِنْسِ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gender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الفِعْلِ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verb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المُسْتَقْبَلِ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future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الحَالَةِ الإِعْرَابِيَّةِ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case ending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الصِّيَاغَةُ الصَّحِيحَةُ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correct wording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مُدِيرَةً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manager (f.)</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تُصْبِحَ</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she becomes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gender error appears first?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وَهِيَ يَعْمَلُ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أُخْتِي مُهَنْدِسٌ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شَرِكَةٍ</a:t>
            </a:r>
            <a:endParaRPr lang="ar-SA" sz="2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verb-person error appears?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دَرَسَتْ</a:t>
            </a:r>
            <a:endParaRPr lang="ar-SA" sz="20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لِكَيْ تُصْبِحُ</a:t>
            </a:r>
            <a:endParaRPr lang="ar-SA" sz="20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هِيَ يَعْمَلُ</a:t>
            </a:r>
            <a:endParaRPr lang="ar-SA" sz="20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wrong after </a:t>
            </a:r>
            <a:pPr algn="l" indent="0" marL="0">
              <a:buNone/>
            </a:pPr>
            <a:r>
              <a:rPr lang="ar-SA" altLang="en-US" sz="1650" b="1" dirty="0">
                <a:solidFill>
                  <a:srgbClr val="1B3B6F"/>
                </a:solidFill>
                <a:latin typeface="Amiri" pitchFamily="34" charset="0"/>
                <a:ea typeface="Amiri" pitchFamily="34" charset="-122"/>
                <a:cs typeface="Amiri" pitchFamily="34" charset="-120"/>
              </a:rPr>
              <a:t>سَوْفَ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past verb is used</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should be sa-</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 future verb?</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دَرَسَتْ</a:t>
            </a:r>
            <a:endParaRPr lang="ar-SA" sz="20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تَدْرُسُ</a:t>
            </a:r>
            <a:endParaRPr lang="ar-SA" sz="20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سَوْفَ يَدْرُسُ</a:t>
            </a:r>
            <a:endParaRPr lang="ar-SA" sz="20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 job after </a:t>
            </a:r>
            <a:pPr algn="l" indent="0" marL="0">
              <a:buNone/>
            </a:pPr>
            <a:r>
              <a:rPr lang="ar-SA" altLang="en-US" sz="1650" b="1" dirty="0">
                <a:solidFill>
                  <a:srgbClr val="1B3B6F"/>
                </a:solidFill>
                <a:latin typeface="Amiri" pitchFamily="34" charset="0"/>
                <a:ea typeface="Amiri" pitchFamily="34" charset="-122"/>
                <a:cs typeface="Amiri" pitchFamily="34" charset="-120"/>
              </a:rPr>
              <a:t>تُصْبِحَ</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مُدِيرَةً</a:t>
            </a:r>
            <a:endParaRPr lang="ar-SA" sz="20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مُدِيرٌ</a:t>
            </a:r>
            <a:endParaRPr lang="ar-SA" sz="20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مُدِيرَةٌ</a:t>
            </a:r>
            <a:endParaRPr lang="ar-SA" sz="20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four systems are reviewed?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spelling, style, length and title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vocabulary only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gender, verb, future and case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gender error appears first?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وَهِيَ يَعْمَلُ</a:t>
            </a:r>
            <a:endParaRPr lang="ar-SA" sz="170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أُخْتِي مُهَنْدِسٌ</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 شَرِكَةٍ</a:t>
            </a:r>
            <a:endParaRPr lang="ar-SA" sz="170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Sister (f.) + masculine job.</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verb-person error appears?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سَوْفَ دَرَسَتْ</a:t>
            </a:r>
            <a:endParaRPr lang="ar-SA" sz="17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لِكَيْ تُصْبِحُ</a:t>
            </a:r>
            <a:endParaRPr lang="ar-SA" sz="170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هِيَ يَعْمَلُ</a:t>
            </a:r>
            <a:endParaRPr lang="ar-SA" sz="170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 ya- verb.</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wrong after </a:t>
            </a:r>
            <a:pPr algn="l" indent="0" marL="0">
              <a:buNone/>
            </a:pPr>
            <a:r>
              <a:rPr lang="ar-SA" altLang="en-US" sz="1650" b="1" dirty="0">
                <a:solidFill>
                  <a:srgbClr val="1B3B6F"/>
                </a:solidFill>
                <a:latin typeface="Amiri" pitchFamily="34" charset="0"/>
                <a:ea typeface="Amiri" pitchFamily="34" charset="-122"/>
                <a:cs typeface="Amiri" pitchFamily="34" charset="-120"/>
              </a:rPr>
              <a:t>سَوْفَ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past verb is used</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should be sa-</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sawfa + darasat (past).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 future verb?</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سَوْفَ دَرَسَتْ</a:t>
            </a:r>
            <a:endParaRPr lang="ar-SA" sz="170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سَوْفَ تَدْرُسُ</a:t>
            </a:r>
            <a:endParaRPr lang="ar-SA" sz="17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سَوْفَ يَدْرُسُ</a:t>
            </a:r>
            <a:endParaRPr lang="ar-SA" sz="170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 tadrusu.</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 job after </a:t>
            </a:r>
            <a:pPr algn="l" indent="0" marL="0">
              <a:buNone/>
            </a:pPr>
            <a:r>
              <a:rPr lang="ar-SA" altLang="en-US" sz="1650" b="1" dirty="0">
                <a:solidFill>
                  <a:srgbClr val="1B3B6F"/>
                </a:solidFill>
                <a:latin typeface="Amiri" pitchFamily="34" charset="0"/>
                <a:ea typeface="Amiri" pitchFamily="34" charset="-122"/>
                <a:cs typeface="Amiri" pitchFamily="34" charset="-120"/>
              </a:rPr>
              <a:t>تُصْبِحَ</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مُدِيرَةً</a:t>
            </a:r>
            <a:endParaRPr lang="ar-SA" sz="17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مُدِيرٌ</a:t>
            </a:r>
            <a:endParaRPr lang="ar-SA" sz="170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مُدِيرَةٌ</a:t>
            </a:r>
            <a:endParaRPr lang="ar-SA" sz="170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 + -an.</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four systems are reviewed?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spelling, style, length and title</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vocabulary only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gender, verb, future and case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الجِنْسِ وَالفِعْلِ وَالمُسْتَقْبَلِ وَالحَالَةِ الإِعْرَابِيَّةِ</a:t>
            </a:r>
            <a:endParaRPr lang="ar-SA" sz="11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TD-L12: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TD-L12 · Topic D Review and Four-Skills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 assessment</a:t>
            </a:r>
            <a:pPr indent="0" marL="0">
              <a:buNone/>
            </a:pPr>
            <a:r>
              <a:rPr lang="en-US" sz="1000" i="1" dirty="0">
                <a:solidFill>
                  <a:srgbClr val="5A6472"/>
                </a:solidFill>
                <a:latin typeface="Calibri" pitchFamily="34" charset="0"/>
                <a:ea typeface="Calibri" pitchFamily="34" charset="-122"/>
                <a:cs typeface="Calibri" pitchFamily="34" charset="-120"/>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مَهَارَةٌ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skill</a:t>
            </a:r>
            <a:pPr indent="0" marL="0">
              <a:buNone/>
            </a:pPr>
            <a:r>
              <a:rPr lang="en-US" sz="1000" i="1" dirty="0">
                <a:solidFill>
                  <a:srgbClr val="5A6472"/>
                </a:solidFill>
                <a:latin typeface="Calibri" pitchFamily="34" charset="0"/>
                <a:ea typeface="Calibri" pitchFamily="34" charset="-122"/>
                <a:cs typeface="Calibri" pitchFamily="34" charset="-120"/>
              </a:rPr>
              <a:t>  pl. مَهَارَاتٌ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دَرَجَةٌ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mark / score</a:t>
            </a:r>
            <a:pPr indent="0" marL="0">
              <a:buNone/>
            </a:pPr>
            <a:r>
              <a:rPr lang="en-US" sz="1000" i="1" dirty="0">
                <a:solidFill>
                  <a:srgbClr val="5A6472"/>
                </a:solidFill>
                <a:latin typeface="Calibri" pitchFamily="34" charset="0"/>
                <a:ea typeface="Calibri" pitchFamily="34" charset="-122"/>
                <a:cs typeface="Calibri" pitchFamily="34" charset="-120"/>
              </a:rPr>
              <a:t>  pl. دَرَجَاتٌ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تَعْلِيمَاتٌ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instructions</a:t>
            </a:r>
            <a:pPr indent="0" marL="0">
              <a:buNone/>
            </a:pPr>
            <a:r>
              <a:rPr lang="en-US" sz="1000" i="1" dirty="0">
                <a:solidFill>
                  <a:srgbClr val="5A6472"/>
                </a:solidFill>
                <a:latin typeface="Calibri" pitchFamily="34" charset="0"/>
                <a:ea typeface="Calibri" pitchFamily="34" charset="-122"/>
                <a:cs typeface="Calibri" pitchFamily="34" charset="-120"/>
              </a:rPr>
              <a:t>  sing. تَعْلِيمَةٌ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أُرَاجِعُ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revise / check</a:t>
            </a:r>
            <a:pPr indent="0" marL="0">
              <a:buNone/>
            </a:pPr>
            <a:r>
              <a:rPr lang="en-US" sz="1000" i="1" dirty="0">
                <a:solidFill>
                  <a:srgbClr val="5A6472"/>
                </a:solidFill>
                <a:latin typeface="Calibri" pitchFamily="34" charset="0"/>
                <a:ea typeface="Calibri" pitchFamily="34" charset="-122"/>
                <a:cs typeface="Calibri" pitchFamily="34" charset="-120"/>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Revise your reddest audit: write three correct sentences that use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أَوْلَوِيَّتِي: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Redo the error-analysis repair; learn the five assessment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Complete Topic D response (100–120 words), audited with the four checks.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 self-audit; practise the five conversation questions for one minute each.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TD-L11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ea typeface="Cambria" pitchFamily="34" charset="-122"/>
                <a:cs typeface="Cambria" pitchFamily="34" charset="-120"/>
              </a:rPr>
              <a:t>TD-L12 · Topic D Review and Four-Skills Assessment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مُرَاجَعَةُ المِحْوَرِ د وَتَقْيِيمُ المَهَارَاتِ الأَرْبَعِ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revise Topic D for the assessment.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TD-L11 · Topic D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2026-10-11T04:19:03Z</dcterms:created>
  <dcterms:modified xsi:type="dcterms:W3CDTF">2026-10-11T04:19:03Z</dcterms:modified>
</cp:coreProperties>
</file>