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TD-L11 — Topic D Integrated Communication Workshop. Website: Advanced Topics › Topic D (The World of Work) › Lesson 11.
The website builds this lesson on the D3-L11 lesson engine, with the Topic focus “Connect education, qualifications, employment and future plans across four skills.” (grammar: Mixed tenses; register; cohesion; skills: All four skills) and the application challenge “Vacancy case study”.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TD-L11. The website lesson “Topic D Consolidation — Error Analysis and Assessment Preparation”: vocabulary, grammar rules and quiz, patterns, common mistakes, sorter, listening, reading, speaking prompts and model, writing task and model, differentiation, final check and the lesson mission. Picture match: website visual game “Topic D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Topic D review before the TD-L12 assessment.
• Core: the agreement and future audits on the website error-analysis text (four errors to find). Develop: all four audits + explain each correction in one line. Stretch: a complete Topic D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(website). Questions 3–5 retrieve D3-L10 (website), TD-L06 and TD-L08.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(1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(2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(3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(4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website):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(TD-L08 needs + ilā) and evidence (TD-L09)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“Combine a job advert, applicant profile, timetable and interview note. Decide whether the candidate should be shortlisted and defend the decision.”
Website Topic D challenge “Vacancy case study”. Advert: مُسَاعِدُ مُعَلِّمٍ، الدَّوَامُ مِنَ الثَّامِنَةِ، يُشْتَرَطُ خِبْرَةٌ مَعَ الأَطْفَالِ · Profile: طَالِبٌ جَامِعِيٌّ، تَطَوَّعَ فِي نَادٍ لِلْأَطْفَالِ سَنَةً · Timetable: مُحَاضَرَاتُهُ يَوْمَ الثُّلَاثَاءِ صَبَاحًا · Interview note: مُتَحَمِّسٌ وَصَبُورٌ. A fair answer: shortlist, but ask about Tuesday mornings.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Topic D topic conversation (the website prompts are generic) — the same five questions the TD-L12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Topic D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(TD-L12 · Topic D Review and Four-Skills Assessment) will spend class time USING this language, so students prepare it tonight — short, simple, easy to access (school guidance: “Simple, Short, Interesting, Relevant, Easy to access”). The five words are the instruction words of the TD-L12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D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التَّوَاصُلِ المُتَكَامِلِ لِلْمِحْوَرِ 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Connect education, qualifications, employment and future plans across four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TD-L11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تَحْلِيلُ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أُحَسِّنُ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سَتَدْرُسُ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تَحْلِيلُ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أُحَسِّنُ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سَتَدْرُسُ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D3-L10 (website):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TD-L06: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مُهَنْدِسَةٌ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وَ</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تَعْمَلُ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يَحْتَاجُ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the core Topic D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complete Topic D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Complete Topic D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a:t>
            </a:r>
            <a:pPr indent="0" marL="0">
              <a:buNone/>
            </a:pPr>
            <a:r>
              <a:rPr lang="en-US" sz="950" b="1" dirty="0">
                <a:solidFill>
                  <a:srgbClr val="2E8B57"/>
                </a:solidFill>
                <a:latin typeface="Calibri" pitchFamily="34" charset="0"/>
                <a:ea typeface="Calibri" pitchFamily="34" charset="-122"/>
                <a:cs typeface="Calibri" pitchFamily="34" charset="-120"/>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 </a:t>
            </a:r>
            <a:pPr indent="0" marL="0">
              <a:buNone/>
            </a:pPr>
            <a:r>
              <a:rPr lang="en-US" sz="950" b="1" dirty="0">
                <a:solidFill>
                  <a:srgbClr val="2E8B57"/>
                </a:solidFill>
                <a:latin typeface="Calibri" pitchFamily="34" charset="0"/>
                <a:ea typeface="Calibri" pitchFamily="34" charset="-122"/>
                <a:cs typeface="Calibri" pitchFamily="34" charset="-120"/>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‎صحیح‎ </a:t>
            </a:r>
            <a:pPr indent="0" marL="0">
              <a:buNone/>
            </a:pPr>
            <a:r>
              <a:rPr lang="en-US" sz="950" b="1" dirty="0">
                <a:solidFill>
                  <a:srgbClr val="2E8B57"/>
                </a:solidFill>
                <a:latin typeface="Calibri" pitchFamily="34" charset="0"/>
                <a:ea typeface="Calibri" pitchFamily="34" charset="-122"/>
                <a:cs typeface="Calibri" pitchFamily="34" charset="-120"/>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‎تصحیح‎ </a:t>
            </a:r>
            <a:pPr indent="0" marL="0">
              <a:buNone/>
            </a:pPr>
            <a:r>
              <a:rPr lang="en-US" sz="950" b="1" dirty="0">
                <a:solidFill>
                  <a:srgbClr val="2E8B57"/>
                </a:solidFill>
                <a:latin typeface="Calibri" pitchFamily="34" charset="0"/>
                <a:ea typeface="Calibri" pitchFamily="34" charset="-122"/>
                <a:cs typeface="Calibri" pitchFamily="34" charset="-120"/>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Topic D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engineer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lawyer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Topic D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programmer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accountant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designer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police officer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Topic D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Topic D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FOUR TOPIC D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مُهَنْدِسَةٌ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وَهِيَ </a:t>
            </a:r>
            <a:pPr rtl="1" algn="ctr" indent="0" marL="0">
              <a:buNone/>
            </a:pPr>
            <a:r>
              <a:rPr lang="ar-SA" altLang="en-US" sz="2000" b="1" dirty="0">
                <a:solidFill>
                  <a:srgbClr val="D6336C"/>
                </a:solidFill>
                <a:latin typeface="Amiri" pitchFamily="34" charset="0"/>
                <a:ea typeface="Amiri" pitchFamily="34" charset="-122"/>
                <a:cs typeface="Amiri" pitchFamily="34" charset="-120"/>
              </a:rPr>
              <a:t>تَعْمَلُ</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يَحْتَاجُ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خِبْرَةٍ. · يَتَقَدَّمُ </a:t>
            </a:r>
            <a:pPr rtl="1" algn="ctr" indent="0" marL="0">
              <a:buNone/>
            </a:pPr>
            <a:r>
              <a:rPr lang="ar-SA" altLang="en-US" sz="2000" b="1" dirty="0">
                <a:solidFill>
                  <a:srgbClr val="0E7C86"/>
                </a:solidFill>
                <a:latin typeface="Amiri" pitchFamily="34" charset="0"/>
                <a:ea typeface="Amiri" pitchFamily="34" charset="-122"/>
                <a:cs typeface="Amiri" pitchFamily="34" charset="-120"/>
              </a:rPr>
              <a:t>لِلوَظِيفَةِ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سَوْفَ تَدْرُسُ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 مُنَظَّمٌ،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وَالدَّلِيلُ</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Traffic-light each audit for yourself: green · amber · red. Your reddest audit is your priority before TD-L12.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2400" b="1" dirty="0">
                <a:solidFill>
                  <a:srgbClr val="D6336C"/>
                </a:solidFill>
                <a:latin typeface="Amiri" pitchFamily="34" charset="0"/>
                <a:ea typeface="Amiri" pitchFamily="34" charset="-122"/>
                <a:cs typeface="Amiri" pitchFamily="34" charset="-120"/>
              </a:rPr>
              <a:t>مُهَنْدِسَةٌ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وَهِيَ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سَوْفَ تَدْرُسُ</a:t>
            </a:r>
            <a:pPr rtl="1" algn="ctr" indent="0" marL="0">
              <a:buNone/>
            </a:pPr>
            <a:r>
              <a:rPr lang="ar-SA" altLang="en-US" sz="2550" b="1" dirty="0">
                <a:solidFill>
                  <a:srgbClr val="1B3B6F"/>
                </a:solidFill>
                <a:latin typeface="Amiri" pitchFamily="34" charset="0"/>
                <a:ea typeface="Amiri" pitchFamily="34" charset="-122"/>
                <a:cs typeface="Amiri" pitchFamily="34" charset="-120"/>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800" b="1" dirty="0">
                <a:solidFill>
                  <a:srgbClr val="0E7C86"/>
                </a:solidFill>
                <a:latin typeface="Amiri" pitchFamily="34" charset="0"/>
                <a:ea typeface="Amiri" pitchFamily="34" charset="-122"/>
                <a:cs typeface="Amiri" pitchFamily="34" charset="-120"/>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تُصْبِحَ </a:t>
            </a:r>
            <a:pPr rtl="1" algn="ctr" indent="0" marL="0">
              <a:buNone/>
            </a:pPr>
            <a:r>
              <a:rPr lang="ar-SA" altLang="en-US" sz="2800" b="1" dirty="0">
                <a:solidFill>
                  <a:srgbClr val="0E7C86"/>
                </a:solidFill>
                <a:latin typeface="Amiri" pitchFamily="34" charset="0"/>
                <a:ea typeface="Amiri" pitchFamily="34" charset="-122"/>
                <a:cs typeface="Amiri" pitchFamily="34" charset="-120"/>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أُخْتِي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مُهَنْدِسَةٌ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تَعْمَلُ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شَرِكَةٍ كَبِيرَةٍ.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سَوْفَ تَدْرُسُ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الإِدَارَةَ فِي الجَامِعَةِ لِكَيْ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تُصْبِحَ مُدِيرَةً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an engineer and works in a big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needs experience. · He applies for the job.</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to become a lawyer.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organised; the proof is that I hand in my work on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“SHORTLIST THE CANDIDATE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customer service · AR + 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starts 8:00 · free 10:00</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technical · 3 years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اَلْمُرَشَّحُ غَيْرُ مُنَاسِبٍ لِأَنَّهُ لَا يَسْتَطِيعُ الْبَدْءَ فِي الثَّامِنَةِ.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لَدَى الْمُرَشَّحِ ثَلَاثُ سَنَوَاتٍ مِنَ الْخِبْرَةِ التِّقْنِيَّةِ.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اَلْمُرَشَّحُ مُنَاسِبٌ لِأَنَّهُ يَتَكَلَّمُ الْعَرَبِيَّةَ وَالْإِنْجِلِيزِيَّةَ.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customer service · AR + 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اَلْمُرَشَّحُ مُنَاسِبٌ لِأَنَّهُ يَتَكَلَّمُ الْعَرَبِيَّةَ وَالْإِنْجِلِيزِيَّةَ.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candidate is suitable because he speaks Arabic and English.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starts 8:00 · free 10:00</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اَلْمُرَشَّحُ غَيْرُ مُنَاسِبٍ لِأَنَّهُ لَا يَسْتَطِيعُ الْبَدْءَ فِي الثَّامِنَةِ.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candidate is not suitable because he cannot start at eight.</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technical · 3 years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لَدَى الْمُرَشَّحِ ثَلَاثُ سَنَوَاتٍ مِنَ الْخِبْرَةِ التِّقْنِيَّةِ.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candidate has three years of technical experience.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TD-L07.</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TD-L09.</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Assessment rehearsal: 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Assessment rehearsal: 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Vacancy case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Vacancy case study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Combine a job advert, applicant profile, timetable and interview note. Decide whether the candidate should be shortlisted and defend the decision.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four documents: job advert, applicant profile, timetable, interview note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Find evidence for and against the candidate.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Decide: shortlist — yes or no?</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Defend the decision in 3–4 sentences; another pair challenges it.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reason for and one against.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decision with two pieces of evidence and “lākinna”.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defended decision with mixed tenses, formal register and a conditional.</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المُرَشَّحُ مُنَاسِبٌ لِأَنَّ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candidate is suitable because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غَيْرُ مُنَاسِبٍ لِأَنَّهُ لَا يَسْتَطِيعُ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not suitable because he cannot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جِهَةٍ … وَمِنْ جِهَةٍ أُخْرَى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 one hand … on the other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لِذٰلِكَ نَقْتَرِحُ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so we propose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Topic D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مِهْنَةُ أَحَدِ أَفْرَادِ عَائِلَتِكَ؟ وَأَيْنَ يَعْمَلُ؟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تُرِيدُهَا؟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مَهَارَاتُكَ؟ وَمَا الدَّلِيلُ؟</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بَعْدَ المَدْرَسَةِ؟</a:t>
            </a:r>
            <a:endParaRPr lang="ar-SA" sz="1800" dirty="0"/>
          </a:p>
        </p:txBody>
      </p:sp>
      <p:sp>
        <p:nvSpPr>
          <p:cNvPr id="48" name="Shape 45"/>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50" name="Text 47"/>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1" name="Text 48"/>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الصُّعُوبَةُ المُحْتَمَلَةُ؟ وَكَيْفَ سَتَتَغَلَّبُ عَلَيْهَا؟</a:t>
            </a:r>
            <a:endParaRPr lang="ar-SA" sz="1800" dirty="0"/>
          </a:p>
        </p:txBody>
      </p:sp>
      <p:sp>
        <p:nvSpPr>
          <p:cNvPr id="52" name="Shape 4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3" name="Text 5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4" name="Shape 5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___ مُحَاسِبٌ / مُمَرِّضَةٌ وَيَعْمَلُ / تَعْمَلُ فِي ___ .</a:t>
            </a:r>
            <a:endParaRPr lang="ar-SA" sz="1350" dirty="0"/>
          </a:p>
        </p:txBody>
      </p:sp>
      <p:sp>
        <p:nvSpPr>
          <p:cNvPr id="57" name="Shape 54"/>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أَطْمَحُ إِلَى أَنْ أُصْبِحَ ___ لِأَنَّنِي ___ .</a:t>
            </a:r>
            <a:endParaRPr lang="ar-SA" sz="1600" dirty="0"/>
          </a:p>
        </p:txBody>
      </p:sp>
      <p:sp>
        <p:nvSpPr>
          <p:cNvPr id="60" name="Shape 57"/>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61" name="Text 5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2" name="Text 5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وَالدَّلِيلُ أَنَّنِي ___ .</a:t>
            </a:r>
            <a:endParaRPr lang="ar-SA" sz="1600" dirty="0"/>
          </a:p>
        </p:txBody>
      </p:sp>
      <p:sp>
        <p:nvSpPr>
          <p:cNvPr id="63" name="Shape 60"/>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4" name="Text 61"/>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5" name="Text 62"/>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سَوْفَ ___ ، ثُمَّ سَـ ___ لِكَيْ ___ .</a:t>
            </a:r>
            <a:endParaRPr lang="ar-SA" sz="1600" dirty="0"/>
          </a:p>
        </p:txBody>
      </p:sp>
      <p:sp>
        <p:nvSpPr>
          <p:cNvPr id="66" name="Shape 63"/>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7" name="Text 64"/>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8" name="Text 65"/>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فَإِنَّنِي ___ .</a:t>
            </a:r>
            <a:endParaRPr lang="ar-SA" sz="1600" dirty="0"/>
          </a:p>
        </p:txBody>
      </p:sp>
      <p:sp>
        <p:nvSpPr>
          <p:cNvPr id="69" name="Shape 66"/>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70" name="Text 67"/>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71" name="Shape 68"/>
          <p:cNvSpPr/>
          <p:nvPr/>
        </p:nvSpPr>
        <p:spPr>
          <a:xfrm>
            <a:off x="11274552" y="5559552"/>
            <a:ext cx="292608" cy="292608"/>
          </a:xfrm>
          <a:prstGeom prst="ellipse">
            <a:avLst/>
          </a:prstGeom>
          <a:solidFill>
            <a:srgbClr val="1E6B52"/>
          </a:solidFill>
          <a:ln w="12700">
            <a:solidFill>
              <a:srgbClr val="1E6B52"/>
            </a:solidFill>
            <a:prstDash val="solid"/>
          </a:ln>
        </p:spPr>
      </p:sp>
      <p:sp>
        <p:nvSpPr>
          <p:cNvPr id="72" name="Text 69"/>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73" name="Text 70"/>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المِهْنَةُ الَّتِي تُرِيدُهَا؟ وَلِمَاذَا؟</a:t>
            </a:r>
            <a:endParaRPr lang="ar-SA" sz="1550" dirty="0"/>
          </a:p>
        </p:txBody>
      </p:sp>
      <p:sp>
        <p:nvSpPr>
          <p:cNvPr id="74" name="Text 71"/>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job do you want? Why?</a:t>
            </a:r>
            <a:endParaRPr lang="en-US" sz="950" dirty="0"/>
          </a:p>
        </p:txBody>
      </p:sp>
      <p:sp>
        <p:nvSpPr>
          <p:cNvPr id="75" name="Shape 72"/>
          <p:cNvSpPr/>
          <p:nvPr/>
        </p:nvSpPr>
        <p:spPr>
          <a:xfrm>
            <a:off x="11274552" y="5925312"/>
            <a:ext cx="292608" cy="292608"/>
          </a:xfrm>
          <a:prstGeom prst="ellipse">
            <a:avLst/>
          </a:prstGeom>
          <a:solidFill>
            <a:srgbClr val="1E6B52"/>
          </a:solidFill>
          <a:ln w="12700">
            <a:solidFill>
              <a:srgbClr val="1E6B52"/>
            </a:solidFill>
            <a:prstDash val="solid"/>
          </a:ln>
        </p:spPr>
      </p:sp>
      <p:sp>
        <p:nvSpPr>
          <p:cNvPr id="76" name="Text 73"/>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أَطْمَحُ إِلَى أَنْ أُصْبِحَ مُحَامِيًا لِأَنَّنِي أُحِبُّ العَدَالَةَ.</a:t>
            </a:r>
            <a:endParaRPr lang="ar-SA" sz="1550" dirty="0"/>
          </a:p>
        </p:txBody>
      </p:sp>
      <p:sp>
        <p:nvSpPr>
          <p:cNvPr id="78" name="Text 75"/>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aspire to become a lawyer because I love justice.</a:t>
            </a:r>
            <a:endParaRPr lang="en-US" sz="9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complete Topic D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complete Topic D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Produce a complete Topic D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audit checks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repair of: </a:t>
            </a:r>
            <a:pPr algn="l" indent="0" marL="0">
              <a:buNone/>
            </a:pPr>
            <a:r>
              <a:rPr lang="ar-SA" altLang="en-US" sz="1650" b="1" dirty="0">
                <a:solidFill>
                  <a:srgbClr val="1B3B6F"/>
                </a:solidFill>
                <a:latin typeface="Amiri" pitchFamily="34" charset="0"/>
                <a:ea typeface="Amiri" pitchFamily="34" charset="-122"/>
                <a:cs typeface="Amiri" pitchFamily="34" charset="-120"/>
              </a:rPr>
              <a:t>هِيَ مُحَامٍ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audit checks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repair of: </a:t>
            </a:r>
            <a:pPr algn="l" indent="0" marL="0">
              <a:buNone/>
            </a:pPr>
            <a:r>
              <a:rPr lang="ar-SA" altLang="en-US" sz="1650" b="1" dirty="0">
                <a:solidFill>
                  <a:srgbClr val="1B3B6F"/>
                </a:solidFill>
                <a:latin typeface="Amiri" pitchFamily="34" charset="0"/>
                <a:ea typeface="Amiri" pitchFamily="34" charset="-122"/>
                <a:cs typeface="Amiri" pitchFamily="34" charset="-120"/>
              </a:rPr>
              <a:t>هِيَ مُحَامٍ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after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job after </a:t>
            </a:r>
            <a:pPr algn="l" indent="0" marL="0">
              <a:buNone/>
            </a:pPr>
            <a:r>
              <a:rPr lang="ar-SA" altLang="en-US" sz="1650" b="1" dirty="0">
                <a:solidFill>
                  <a:srgbClr val="1B3B6F"/>
                </a:solidFill>
                <a:latin typeface="Amiri" pitchFamily="34" charset="0"/>
                <a:ea typeface="Amiri" pitchFamily="34" charset="-122"/>
                <a:cs typeface="Amiri" pitchFamily="34" charset="-120"/>
              </a:rPr>
              <a:t>تُصْبِحَ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after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job after </a:t>
            </a:r>
            <a:pPr algn="l" indent="0" marL="0">
              <a:buNone/>
            </a:pPr>
            <a:r>
              <a:rPr lang="ar-SA" altLang="en-US" sz="1650" b="1" dirty="0">
                <a:solidFill>
                  <a:srgbClr val="1B3B6F"/>
                </a:solidFill>
                <a:latin typeface="Amiri" pitchFamily="34" charset="0"/>
                <a:ea typeface="Amiri" pitchFamily="34" charset="-122"/>
                <a:cs typeface="Amiri" pitchFamily="34" charset="-120"/>
              </a:rPr>
              <a:t>تُصْبِحَ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TD-L12 · Topic D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 / score</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instructions</a:t>
            </a:r>
            <a:pPr indent="0" marL="0">
              <a:buNone/>
            </a:pPr>
            <a:r>
              <a:rPr lang="en-US" sz="1000" i="1" dirty="0">
                <a:solidFill>
                  <a:srgbClr val="5A6472"/>
                </a:solidFill>
                <a:latin typeface="Calibri" pitchFamily="34" charset="0"/>
                <a:ea typeface="Calibri" pitchFamily="34" charset="-122"/>
                <a:cs typeface="Calibri" pitchFamily="34" charset="-120"/>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revise / check</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Topic D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TD-L12 · Topic D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المِحْوَرِ د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Topic D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TD-L11 · Topic D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2026-10-11T04:25:08Z</dcterms:created>
  <dcterms:modified xsi:type="dcterms:W3CDTF">2026-10-11T04:25:08Z</dcterms:modified>
</cp:coreProperties>
</file>