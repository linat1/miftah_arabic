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TD-L07 — The Workplace and Working Conditions. Website: Advanced Topics › Topic D (The World of Work) › Lesson 7.
The website builds this lesson on the D3-L02 lesson engine, with the Topic focus “Discuss workplaces, schedules, pay, conditions, advantages and challenges.” (grammar: Comparatives; time expressions; كان; skills: Listening · Reading) and the application challenge “Workplace comparison”.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TD-L07. The website lesson “The Workplace — Environments and Work Conditions”: vocabulary, grammar rules and quiz, patterns, common mistakes, sorter, listening, reading, speaking prompts and model, writing task and model, differentiation, final check and the lesson mission. Picture match: website visual game “The Workplace — Environments and Work Conditions”.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condition phrases + “He works in a modern office / a safe environment” + one advantage (مِنْ مَزَايَا … أَنَّ …). Develop: الَّذِي / الَّتِي and a contrast (بَيْنَمَا / وَلٰكِنَّ). Stretch: weigh two workplaces and choose one (عَلَى الرَّغْمِ مِنْ أَنَّ …).
• Built on TD-L06 (فِي + workplace). New: the workplace now gets an adjective that AGREES (مَكْتَبٌ حَدِيثٌ / شَرِكَةٌ حَدِيثَةٌ).
• مِنْ مَزَايَا … أَنَّ was taught in F6-L05 (website) (towns): same structure, new topic.
• Vocabulary group 1 (workplaces) is review from TD-L06 — revise it quickly or set it as FLEX.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TD-L06. Questions 3–4 retrieve TD-L06. Question 5 retrieves F6-L05 (website) (advantages of a town).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workplace and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صنعت (industry) shares the root of مَصْنَعٌ (factory); توازن is identical. CAREFUL: Urdu مکتب is a (traditional) school; Arabic مَكْتَبٌ is an office or desk. رَاتِبٌ and سَنَوِيٌّ have no Urdu cognates — link them by meaning (تنخواہ، سالانہ).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FLEX: teach if time allows; otherwise these are on the website vocabulary tab for homework.
Review from TD-L06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FLEX: teach if time allows; otherwise these are on the website vocabulary tab for homework.
Review from TD-L06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(1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(2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connectors (FLEX): the same Topic D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connectors (FLEX): the same Topic D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“Place and condition” (يَعْمَلُ فِي + مَكَانٍ + صِفَةٍ: describe the location, then add an agreeing adjective) and “Relative clause” (الَّذِي for masculine and الَّتِي for feminine antecedents). Website examples: يَعْمَلُ فِي مَكْتَبٍ حَدِيثٍ · تَعْمَلُ فِي بِيئَةٍ آمِنَةٍ · المَكْتَبُ الَّذِي أَعْمَلُ فِيهِ · الشَّرِكَةُ الَّتِي تُوَفِّرُ تَدْرِيبًا.
Teacher additions: the adjective takes the noun’s case ending (فِي مَكْتَبٍ حَدِيثٍ: both -in after fī); the returning pronoun فِيهِ / فِيهَا. Core can stop at row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“Advantages and disadvantages” (a noun phrase followed by أَنَّ and a complete clause) and “Contrast” (بَيْنَمَا compares two situations; لٰكِنَّ qualifies a statement). Website examples: مِنْ مَزَايَا العَمَلِ أَنَّ سَاعَاتِهِ مَرِنَةٌ · مِنْ عُيُوبِهِ أَنَّهُ مُجْهِدٌ · الرَّاتِبُ مُرْتَفِعٌ، وَلٰكِنَّ السَّاعَاتِ طَوِيلَةٌ · أَعْمَلُ فِي مَكْتَبٍ، بَيْنَمَا يَعْمَلُ أَخِي فِي الهَوَاءِ الطَّلْقِ.
Stretch: after أَنَّ and لٰكِنَّ the noun takes -a (accusative): أَنَّ سَاعَاتِهِ (a feminine sound plural shows -i), لٰكِنَّ السَّاعَاتِ.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“وَصْفُ بِيئَةِ العَمَلِ وَالجُمَلُ المَوْصُولَةُ”
• Place and condition: Describe the location, then add an agreeing adjective.
• Relative clause: Use الذي for masculine and التي for feminine antecedents.
• Advantages and disadvantages: Use a noun phrase followed by أنَّ and a complete clause.
• Contrast: Use بينما to compare two situations and لكنّ to qualify a statement.
Website common error: Do not leave out أَنَّ after مِنْ مَزَايَا / مِنْ عُيُوبِ, and do not use الَّذِي with a feminine noun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from the website rules and the listening script (Samer on the building site). Think aloud: “Masculine or feminine place? Which clause? Where is my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(“Workplace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“Workplace Match”: office hours, working from home, an evening shift.
Website feedback lines: The office hours match. · The scene shows remote work. · The shop shift is in the evening.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(“Workplace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“Workplace Match”: office hours, working from home, an evening shift.
Website feedback lines: The office hours match. · The scene shows remote work. · The shop shift is in the evening.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تَعْمَلُ مَرْيَمُ فِي مُخْتَبَرٍ حَدِيثٍ مِنَ السَّاعَةِ الثَّامِنَةِ إِلَى الرَّابِعَةِ. تُحِبُّ بِيئَةَ العَمَلِ لِأَنَّهَا آمِنَةٌ وَمُنَظَّمَةٌ، وَلٰكِنَّ العَمَلَ يَحْتَاجُ إِلَى دِقَّةٍ شَدِيدَةٍ. أَمَّا سَامِرٌ فَيَعْمَلُ فِي مَوْقِعِ بِنَاءٍ. رَاتِبُهُ جَيِّدٌ، لٰكِنَّ عَمَلَهُ مُجْهِدٌ وَيَتَأَثَّرُ بِالطَّقْسِ.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“Compare two workplaces by hours, environment, responsibilities and conditions, then decide which suits a given worker profile best.”
Website Topic D challenge “Workplace comparison”. Profiles: المَكْتَبُ: مِنَ التَّاسِعَةِ إِلَى الخَامِسَةِ، هَادِئٌ، رَاتِبٌ ثَابِتٌ · المُسْتَشْفَى: نَوْبَاتٌ لَيْلِيَّةٌ، مُزْدَحِمٌ، عَمَلٌ مُهِمٌّ. Worker: طَالِبٌ جَامِعِيٌّ يَدْرُسُ فِي الصَّبَاحِ وَيُرِيدُ عَمَلًا مَسَائِيًّا.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عُيُوبُهُ؟ (And its disadvantages?)
B: مِنْ عُيُوبِهِ أَنَّ السَّاعَاتِ طَوِيلَةٌ، وَلٰكِنَّ الرَّاتِبَ مُرْتَفِعٌ. (One disadvantage is that the hours are long, but the salary is high.)
Teacher-written prompts and model (the website prompts for this lesson are generic). Model continues: A: وَمَا عُيُوبُهُ؟ B: مِنْ عُيُوبِهِ أَنَّ السَّاعَاتِ طَوِيلَةٌ، وَلٰكِنَّ الرَّاتِبَ مُرْتَفِعٌ. To a girl: أَيْنَ تُفَضِّلِينَ أَنْ 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two workplaces and explain which one you would prefer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مَكْتَبٍ حَدِيثٍ، مَوْقِعِ بِنَاءٍ · المَكْتَبُ الَّذِي يَعْمَلُ فِيهِ · مِنْ مَزَايَاهُ أَنَّ … وَلٰكِنَّ عَمَلَهُ مُجْهِدٌ · أُفَضِّلُ … لِأَنَّنِي … · عَلَى الرَّغْمِ مِنْ أَنَّ … فَإِنَّهُ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(TD-L08 · Personal Qualities and Professional Skills) will spend class time USING this language, so students prepare it tonight — short, simple, easy to access (school guidance: “Simple, Short, Interesting, Relevant, Easy to access”). The five words come from the website TD-L08 vocabulary (skills and worker qualities).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The Workplace and Working Conditions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مَكَانُ العَمَلِ وَظُرُوفُهُ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workplaces, schedules, pay, conditions, advantages and challenges.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TD-L07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Workplace + adjective, the who / which clause, and pros and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advantages / disadvantages,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عَمَلٌ مُجْزٍ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rewarding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tiring 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part-time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تَكُونُ مُحَاسِبَةٌ.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المَصْنَعِ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المُخْتَبَرِ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المَحْكَمَةِ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عُيُوبِ …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سَبِيلِ المِثَالِ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عَمَلٌ مُجْزٍ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rewarding work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tiring 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part-time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مُحَاسِبٌ.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تَكُونُ مُحَاسِبَةٌ.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 مُحَاسِبَةٌ.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TD-L06: feminine, no “is”.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المَصْنَعِ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المُخْتَبَرِ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المَحْكَمَةِ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TD-L06 workplaces.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عُيُوبِ …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سَبِيلِ المِثَالِ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(website): the same frame for towns.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adjective follows the workplace and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مَكْتَبٌ </a:t>
            </a:r>
            <a:pPr rtl="1" algn="ctr" indent="0" marL="0">
              <a:lnSpc>
                <a:spcPct val="120000"/>
              </a:lnSpc>
              <a:buNone/>
            </a:pPr>
            <a:r>
              <a:rPr lang="ar-SA" altLang="en-US" sz="1950" b="1" dirty="0">
                <a:solidFill>
                  <a:srgbClr val="1D5FBF"/>
                </a:solidFill>
                <a:latin typeface="Amiri" pitchFamily="2" charset="-78"/>
                <a:cs typeface="Amiri" pitchFamily="2" charset="-78"/>
              </a:rPr>
              <a:t>حَدِيثٌ</a:t>
            </a:r>
            <a:pPr rtl="1" algn="ctr" indent="0" marL="0">
              <a:lnSpc>
                <a:spcPct val="120000"/>
              </a:lnSpc>
              <a:buNone/>
            </a:pPr>
            <a:r>
              <a:rPr lang="ar-SA" altLang="en-US" sz="1950" b="1" dirty="0">
                <a:solidFill>
                  <a:srgbClr val="1B3B6F"/>
                </a:solidFill>
                <a:latin typeface="Amiri" pitchFamily="2" charset="-78"/>
                <a:cs typeface="Amiri" pitchFamily="2" charset="-78"/>
              </a:rPr>
              <a:t> · بِيئَةٌ </a:t>
            </a:r>
            <a:pPr rtl="1" algn="ctr" indent="0" marL="0">
              <a:lnSpc>
                <a:spcPct val="120000"/>
              </a:lnSpc>
              <a:buNone/>
            </a:pPr>
            <a:r>
              <a:rPr lang="ar-SA" altLang="en-US" sz="1950" b="1" dirty="0">
                <a:solidFill>
                  <a:srgbClr val="D6336C"/>
                </a:solidFill>
                <a:latin typeface="Amiri" pitchFamily="2" charset="-78"/>
                <a:cs typeface="Amiri" pitchFamily="2" charset="-78"/>
              </a:rPr>
              <a:t>آمِنَةٌ</a:t>
            </a:r>
            <a:pPr rtl="1" algn="ctr" indent="0" marL="0">
              <a:lnSpc>
                <a:spcPct val="120000"/>
              </a:lnSpc>
              <a:buNone/>
            </a:pPr>
            <a:r>
              <a:rPr lang="ar-SA" altLang="en-US" sz="1950" b="1" dirty="0">
                <a:solidFill>
                  <a:srgbClr val="1B3B6F"/>
                </a:solidFill>
                <a:latin typeface="Amiri" pitchFamily="2" charset="-78"/>
                <a:cs typeface="Amiri" pitchFamily="2" charset="-78"/>
              </a:rPr>
              <a:t> · الشَّرِكَةُ </a:t>
            </a:r>
            <a:pPr rtl="1" algn="ctr" indent="0" marL="0">
              <a:lnSpc>
                <a:spcPct val="120000"/>
              </a:lnSpc>
              <a:buNone/>
            </a:pPr>
            <a:r>
              <a:rPr lang="ar-SA" altLang="en-US" sz="1950" b="1" dirty="0">
                <a:solidFill>
                  <a:srgbClr val="D6336C"/>
                </a:solidFill>
                <a:latin typeface="Amiri" pitchFamily="2" charset="-78"/>
                <a:cs typeface="Amiri" pitchFamily="2" charset="-78"/>
              </a:rPr>
              <a:t>الَّتِي</a:t>
            </a:r>
            <a:pPr rtl="1" algn="ctr" indent="0" marL="0">
              <a:lnSpc>
                <a:spcPct val="120000"/>
              </a:lnSpc>
              <a:buNone/>
            </a:pPr>
            <a:r>
              <a:rPr lang="ar-SA" altLang="en-US" sz="1950" b="1" dirty="0">
                <a:solidFill>
                  <a:srgbClr val="1B3B6F"/>
                </a:solidFill>
                <a:latin typeface="Amiri" pitchFamily="2" charset="-78"/>
                <a:cs typeface="Amiri" pitchFamily="2" charset="-78"/>
              </a:rPr>
              <a:t> أَعْمَلُ فِيهَا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workplace with an adjective that agrees.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work conditions and benefits (hours, salary, team, leave).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ideas with </a:t>
            </a:r>
            <a:pPr algn="l" indent="0" marL="0">
              <a:buNone/>
            </a:pPr>
            <a:r>
              <a:rPr lang="ar-SA" altLang="en-US" sz="1700" dirty="0">
                <a:solidFill>
                  <a:srgbClr val="1F2A37"/>
                </a:solidFill>
                <a:latin typeface="Amiri" pitchFamily="2" charset="-78"/>
                <a:cs typeface="Amiri" pitchFamily="2" charset="-78"/>
              </a:rPr>
              <a:t>الَّذِي / الَّتِي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Weigh advantages and disadvantages with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and a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workplace with an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one advantage of a job.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place where / the company which.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jobs.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weigh two workplaces and choose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although … in a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Workplaces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Conditions and benefits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رَاتِبٌ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‎تنخواہ‎ </a:t>
            </a:r>
            <a:pPr indent="0" marL="0">
              <a:buNone/>
            </a:pPr>
            <a:r>
              <a:rPr lang="en-US" sz="950" b="1" dirty="0">
                <a:solidFill>
                  <a:srgbClr val="2E8B57"/>
                </a:solidFill>
                <a:latin typeface="Calibri" pitchFamily="34" charset="0"/>
                <a:cs typeface="Amiri" pitchFamily="2" charset="-78"/>
              </a:rPr>
              <a:t> tankhwāh · salary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Urdu: school · Arabic: office / desk</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مَصْنَعٌ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‎صنعت‎ </a:t>
            </a:r>
            <a:pPr indent="0" marL="0">
              <a:buNone/>
            </a:pPr>
            <a:r>
              <a:rPr lang="en-US" sz="950" b="1" dirty="0">
                <a:solidFill>
                  <a:srgbClr val="2E8B57"/>
                </a:solidFill>
                <a:latin typeface="Calibri" pitchFamily="34" charset="0"/>
                <a:cs typeface="Amiri" pitchFamily="2" charset="-78"/>
              </a:rPr>
              <a:t> sanʿat · industry → factory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سَنَوِيَّةٌ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‎سال / سالانہ‎ </a:t>
            </a:r>
            <a:pPr indent="0" marL="0">
              <a:buNone/>
            </a:pPr>
            <a:r>
              <a:rPr lang="en-US" sz="950" b="1" dirty="0">
                <a:solidFill>
                  <a:srgbClr val="2E8B57"/>
                </a:solidFill>
                <a:latin typeface="Calibri" pitchFamily="34" charset="0"/>
                <a:cs typeface="Amiri" pitchFamily="2" charset="-78"/>
              </a:rPr>
              <a:t> sālāna · annual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مَصْنَعٌ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factory</a:t>
            </a:r>
            <a:endParaRPr lang="en-US" sz="1350" dirty="0"/>
          </a:p>
          <a:p>
            <a:pPr indent="0" marL="0">
              <a:buNone/>
            </a:pPr>
            <a:r>
              <a:rPr lang="en-US" sz="1100" i="1" dirty="0">
                <a:solidFill>
                  <a:srgbClr val="5A6472"/>
                </a:solidFill>
                <a:latin typeface="Calibri" pitchFamily="34" charset="0"/>
                <a:cs typeface="Amiri" pitchFamily="2" charset="-78"/>
              </a:rPr>
              <a:t>maṣ-na-ʿun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مُخْتَبَرٌ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laboratory</a:t>
            </a:r>
            <a:endParaRPr lang="en-US" sz="1350" dirty="0"/>
          </a:p>
          <a:p>
            <a:pPr indent="0" marL="0">
              <a:buNone/>
            </a:pPr>
            <a:r>
              <a:rPr lang="en-US" sz="1100" i="1" dirty="0">
                <a:solidFill>
                  <a:srgbClr val="5A6472"/>
                </a:solidFill>
                <a:latin typeface="Calibri" pitchFamily="34" charset="0"/>
                <a:cs typeface="Amiri" pitchFamily="2" charset="-78"/>
              </a:rPr>
              <a:t>mukh-ta-ba-run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مَحْكَمَةٌ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court</a:t>
            </a:r>
            <a:endParaRPr lang="en-US" sz="1350" dirty="0"/>
          </a:p>
          <a:p>
            <a:pPr indent="0" marL="0">
              <a:buNone/>
            </a:pPr>
            <a:r>
              <a:rPr lang="en-US" sz="1100" i="1" dirty="0">
                <a:solidFill>
                  <a:srgbClr val="5A6472"/>
                </a:solidFill>
                <a:latin typeface="Calibri" pitchFamily="34" charset="0"/>
                <a:cs typeface="Amiri" pitchFamily="2" charset="-78"/>
              </a:rPr>
              <a:t>maḥ-ka-ma-tun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site</a:t>
            </a:r>
            <a:endParaRPr lang="en-US" sz="1350" dirty="0"/>
          </a:p>
          <a:p>
            <a:pPr indent="0" marL="0">
              <a:buNone/>
            </a:pPr>
            <a:r>
              <a:rPr lang="en-US" sz="1100" i="1" dirty="0">
                <a:solidFill>
                  <a:srgbClr val="5A6472"/>
                </a:solidFill>
                <a:latin typeface="Calibri" pitchFamily="34" charset="0"/>
                <a:cs typeface="Amiri" pitchFamily="2" charset="-78"/>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remotely</a:t>
            </a:r>
            <a:endParaRPr lang="en-US" sz="1350" dirty="0"/>
          </a:p>
          <a:p>
            <a:pPr indent="0" marL="0">
              <a:buNone/>
            </a:pPr>
            <a:r>
              <a:rPr lang="en-US" sz="1100" i="1" dirty="0">
                <a:solidFill>
                  <a:srgbClr val="5A6472"/>
                </a:solidFill>
                <a:latin typeface="Calibri" pitchFamily="34" charset="0"/>
                <a:cs typeface="Amiri" pitchFamily="2" charset="-78"/>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outdoors</a:t>
            </a:r>
            <a:endParaRPr lang="en-US" sz="1350" dirty="0"/>
          </a:p>
          <a:p>
            <a:pPr indent="0" marL="0">
              <a:buNone/>
            </a:pPr>
            <a:r>
              <a:rPr lang="en-US" sz="1100" i="1" dirty="0">
                <a:solidFill>
                  <a:srgbClr val="5A6472"/>
                </a:solidFill>
                <a:latin typeface="Calibri" pitchFamily="34" charset="0"/>
                <a:cs typeface="Amiri" pitchFamily="2" charset="-78"/>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Conditions and benefits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دَوَامٌ كَامِلٌ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full-time work</a:t>
            </a:r>
            <a:endParaRPr lang="en-US" sz="1350" dirty="0"/>
          </a:p>
          <a:p>
            <a:pPr indent="0" marL="0">
              <a:buNone/>
            </a:pPr>
            <a:r>
              <a:rPr lang="en-US" sz="1100" i="1" dirty="0">
                <a:solidFill>
                  <a:srgbClr val="5A6472"/>
                </a:solidFill>
                <a:latin typeface="Calibri" pitchFamily="34" charset="0"/>
                <a:cs typeface="Amiri" pitchFamily="2" charset="-78"/>
              </a:rPr>
              <a:t>da-wā-mun kā-mi-lun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دَوَامٌ جُزْئِيٌّ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part-time work</a:t>
            </a:r>
            <a:endParaRPr lang="en-US" sz="1350" dirty="0"/>
          </a:p>
          <a:p>
            <a:pPr indent="0" marL="0">
              <a:buNone/>
            </a:pPr>
            <a:r>
              <a:rPr lang="en-US" sz="1100" i="1" dirty="0">
                <a:solidFill>
                  <a:srgbClr val="5A6472"/>
                </a:solidFill>
                <a:latin typeface="Calibri" pitchFamily="34" charset="0"/>
                <a:cs typeface="Amiri" pitchFamily="2" charset="-78"/>
              </a:rPr>
              <a:t>da-wā-mun juz-ʾiy-yun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سَاعَاتٌ مَرِنَةٌ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 hours</a:t>
            </a:r>
            <a:endParaRPr lang="en-US" sz="1350" dirty="0"/>
          </a:p>
          <a:p>
            <a:pPr indent="0" marL="0">
              <a:buNone/>
            </a:pPr>
            <a:r>
              <a:rPr lang="en-US" sz="1100" i="1" dirty="0">
                <a:solidFill>
                  <a:srgbClr val="5A6472"/>
                </a:solidFill>
                <a:latin typeface="Calibri" pitchFamily="34" charset="0"/>
                <a:cs typeface="Amiri" pitchFamily="2" charset="-78"/>
              </a:rPr>
              <a:t>sā-ʿā-tun ma-ri-na-tun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رَاتِبٌ مُرْتَفِعٌ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 salary</a:t>
            </a:r>
            <a:endParaRPr lang="en-US" sz="1350" dirty="0"/>
          </a:p>
          <a:p>
            <a:pPr indent="0" marL="0">
              <a:buNone/>
            </a:pPr>
            <a:r>
              <a:rPr lang="en-US" sz="1100" i="1" dirty="0">
                <a:solidFill>
                  <a:srgbClr val="5A6472"/>
                </a:solidFill>
                <a:latin typeface="Calibri" pitchFamily="34" charset="0"/>
                <a:cs typeface="Amiri" pitchFamily="2" charset="-78"/>
              </a:rPr>
              <a:t>rā-ti-bun mur-ta-fi-ʿun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رَاتِبٌ مُنْخَفِضٌ</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low salary</a:t>
            </a:r>
            <a:endParaRPr lang="en-US" sz="1350" dirty="0"/>
          </a:p>
          <a:p>
            <a:pPr indent="0" marL="0">
              <a:buNone/>
            </a:pPr>
            <a:r>
              <a:rPr lang="en-US" sz="1100" i="1" dirty="0">
                <a:solidFill>
                  <a:srgbClr val="5A6472"/>
                </a:solidFill>
                <a:latin typeface="Calibri" pitchFamily="34" charset="0"/>
                <a:cs typeface="Amiri" pitchFamily="2" charset="-78"/>
              </a:rPr>
              <a:t>rā-ti-bun mun-kha-fi-ḍun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 مُجْهِدٌ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tiring work</a:t>
            </a:r>
            <a:endParaRPr lang="en-US" sz="1350" dirty="0"/>
          </a:p>
          <a:p>
            <a:pPr indent="0" marL="0">
              <a:buNone/>
            </a:pPr>
            <a:r>
              <a:rPr lang="en-US" sz="1100" i="1" dirty="0">
                <a:solidFill>
                  <a:srgbClr val="5A6472"/>
                </a:solidFill>
                <a:latin typeface="Calibri" pitchFamily="34" charset="0"/>
                <a:cs typeface="Amiri" pitchFamily="2" charset="-78"/>
              </a:rPr>
              <a:t>ʿa-ma-lun muj-hi-dun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Conditions and benefits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 مُجْزٍ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rewarding work</a:t>
            </a:r>
            <a:endParaRPr lang="en-US" sz="1350" dirty="0"/>
          </a:p>
          <a:p>
            <a:pPr indent="0" marL="0">
              <a:buNone/>
            </a:pPr>
            <a:r>
              <a:rPr lang="en-US" sz="1100" i="1" dirty="0">
                <a:solidFill>
                  <a:srgbClr val="5A6472"/>
                </a:solidFill>
                <a:latin typeface="Calibri" pitchFamily="34" charset="0"/>
                <a:cs typeface="Amiri" pitchFamily="2" charset="-78"/>
              </a:rPr>
              <a:t>ʿa-ma-lun muj-zin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بِيئَةٌ آمِنَةٌ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safe environment</a:t>
            </a:r>
            <a:endParaRPr lang="en-US" sz="1350" dirty="0"/>
          </a:p>
          <a:p>
            <a:pPr indent="0" marL="0">
              <a:buNone/>
            </a:pPr>
            <a:r>
              <a:rPr lang="en-US" sz="1100" i="1" dirty="0">
                <a:solidFill>
                  <a:srgbClr val="5A6472"/>
                </a:solidFill>
                <a:latin typeface="Calibri" pitchFamily="34" charset="0"/>
                <a:cs typeface="Amiri" pitchFamily="2" charset="-78"/>
              </a:rPr>
              <a:t>bī-ʾa-tun ā-mi-na-tun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فَرِيقُ عَمَلٍ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team</a:t>
            </a:r>
            <a:endParaRPr lang="en-US" sz="1350" dirty="0"/>
          </a:p>
          <a:p>
            <a:pPr indent="0" marL="0">
              <a:buNone/>
            </a:pPr>
            <a:r>
              <a:rPr lang="en-US" sz="1100" i="1" dirty="0">
                <a:solidFill>
                  <a:srgbClr val="5A6472"/>
                </a:solidFill>
                <a:latin typeface="Calibri" pitchFamily="34" charset="0"/>
                <a:cs typeface="Amiri" pitchFamily="2" charset="-78"/>
              </a:rPr>
              <a:t>fa-rī-qu ʿa-ma-lin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إِجَازَةٌ سَنَوِيَّةٌ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annual leave</a:t>
            </a:r>
            <a:endParaRPr lang="en-US" sz="1350" dirty="0"/>
          </a:p>
          <a:p>
            <a:pPr indent="0" marL="0">
              <a:buNone/>
            </a:pPr>
            <a:r>
              <a:rPr lang="en-US" sz="1100" i="1" dirty="0">
                <a:solidFill>
                  <a:srgbClr val="5A6472"/>
                </a:solidFill>
                <a:latin typeface="Calibri" pitchFamily="34" charset="0"/>
                <a:cs typeface="Amiri" pitchFamily="2" charset="-78"/>
              </a:rPr>
              <a:t>i-jā-za-tun sa-na-wiy-ya-tun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فُرَصُ التَّرَقِّي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promotion opportunities</a:t>
            </a:r>
            <a:endParaRPr lang="en-US" sz="1350" dirty="0"/>
          </a:p>
          <a:p>
            <a:pPr indent="0" marL="0">
              <a:buNone/>
            </a:pPr>
            <a:r>
              <a:rPr lang="en-US" sz="1100" i="1" dirty="0">
                <a:solidFill>
                  <a:srgbClr val="5A6472"/>
                </a:solidFill>
                <a:latin typeface="Calibri" pitchFamily="34" charset="0"/>
                <a:cs typeface="Amiri" pitchFamily="2" charset="-78"/>
              </a:rPr>
              <a:t>fu-ra-ṣu at-ta-raq-qī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تَوَازُنٌ بَيْنَ العَمَلِ وَالحَيَاةِ</a:t>
            </a:r>
            <a:endParaRPr lang="ar-SA" sz="29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work-life balance</a:t>
            </a:r>
            <a:endParaRPr lang="en-US" sz="1350" dirty="0"/>
          </a:p>
          <a:p>
            <a:pPr indent="0" marL="0">
              <a:buNone/>
            </a:pPr>
            <a:r>
              <a:rPr lang="en-US" sz="1100" i="1" dirty="0">
                <a:solidFill>
                  <a:srgbClr val="5A6472"/>
                </a:solidFill>
                <a:latin typeface="Calibri" pitchFamily="34" charset="0"/>
                <a:cs typeface="Amiri" pitchFamily="2" charset="-78"/>
              </a:rPr>
              <a:t>ta-wā-zu-nun bay-na al-ʿa-ma-li wāl-ḥa-yā-ti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PLACE + CONDITION, AND WHICH / WHERE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the place, then join a clause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يَعْمَلُ فِي مَكْتَبٍ </a:t>
            </a:r>
            <a:pPr rtl="1" algn="ctr" indent="0" marL="0">
              <a:buNone/>
            </a:pPr>
            <a:r>
              <a:rPr lang="ar-SA" altLang="en-US" sz="2100" b="1" dirty="0">
                <a:solidFill>
                  <a:srgbClr val="1D5FBF"/>
                </a:solidFill>
                <a:latin typeface="Amiri" pitchFamily="2" charset="-78"/>
                <a:cs typeface="Amiri" pitchFamily="2" charset="-78"/>
              </a:rPr>
              <a:t>حَدِيثٍ</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a modern office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تَعْمَلُ فِي بِيئَةٍ </a:t>
            </a:r>
            <a:pPr rtl="1" algn="ctr" indent="0" marL="0">
              <a:buNone/>
            </a:pPr>
            <a:r>
              <a:rPr lang="ar-SA" altLang="en-US" sz="2100" b="1" dirty="0">
                <a:solidFill>
                  <a:srgbClr val="D6336C"/>
                </a:solidFill>
                <a:latin typeface="Amiri" pitchFamily="2" charset="-78"/>
                <a:cs typeface="Amiri" pitchFamily="2" charset="-78"/>
              </a:rPr>
              <a:t>آمِنَةٍ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a safe environment</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agrees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مَصْنَعٌ </a:t>
            </a:r>
            <a:pPr rtl="1" algn="ctr" indent="0" marL="0">
              <a:buNone/>
            </a:pPr>
            <a:r>
              <a:rPr lang="ar-SA" altLang="en-US" sz="2100" b="1" dirty="0">
                <a:solidFill>
                  <a:srgbClr val="1D5FBF"/>
                </a:solidFill>
                <a:latin typeface="Amiri" pitchFamily="2" charset="-78"/>
                <a:cs typeface="Amiri" pitchFamily="2" charset="-78"/>
              </a:rPr>
              <a:t>كَبِيرٌ</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big factory</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شَرِكَةٌ </a:t>
            </a:r>
            <a:pPr rtl="1" algn="ctr" indent="0" marL="0">
              <a:buNone/>
            </a:pPr>
            <a:r>
              <a:rPr lang="ar-SA" altLang="en-US" sz="2100" b="1" dirty="0">
                <a:solidFill>
                  <a:srgbClr val="D6336C"/>
                </a:solidFill>
                <a:latin typeface="Amiri" pitchFamily="2" charset="-78"/>
                <a:cs typeface="Amiri" pitchFamily="2" charset="-78"/>
              </a:rPr>
              <a:t>دَوْلِيَّةٌ</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 international company</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 -atun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المَكْتَبُ </a:t>
            </a:r>
            <a:pPr rtl="1" algn="ctr" indent="0" marL="0">
              <a:buNone/>
            </a:pPr>
            <a:r>
              <a:rPr lang="ar-SA" altLang="en-US" sz="2100" b="1" dirty="0">
                <a:solidFill>
                  <a:srgbClr val="1D5FBF"/>
                </a:solidFill>
                <a:latin typeface="Amiri" pitchFamily="2" charset="-78"/>
                <a:cs typeface="Amiri" pitchFamily="2" charset="-78"/>
              </a:rPr>
              <a:t>الَّذِي</a:t>
            </a:r>
            <a:pPr rtl="1" algn="ctr" indent="0" marL="0">
              <a:buNone/>
            </a:pPr>
            <a:r>
              <a:rPr lang="ar-SA" altLang="en-US" sz="2100" b="1" dirty="0">
                <a:solidFill>
                  <a:srgbClr val="1B3B6F"/>
                </a:solidFill>
                <a:latin typeface="Amiri" pitchFamily="2" charset="-78"/>
                <a:cs typeface="Amiri" pitchFamily="2" charset="-78"/>
              </a:rPr>
              <a:t> أَعْمَلُ فِيهِ</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office (which) I work in</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الشَّرِكَةُ </a:t>
            </a:r>
            <a:pPr rtl="1" algn="ctr" indent="0" marL="0">
              <a:buNone/>
            </a:pPr>
            <a:r>
              <a:rPr lang="ar-SA" altLang="en-US" sz="2100" b="1" dirty="0">
                <a:solidFill>
                  <a:srgbClr val="D6336C"/>
                </a:solidFill>
                <a:latin typeface="Amiri" pitchFamily="2" charset="-78"/>
                <a:cs typeface="Amiri" pitchFamily="2" charset="-78"/>
              </a:rPr>
              <a:t>الَّتِي</a:t>
            </a:r>
            <a:pPr rtl="1" algn="ctr" indent="0" marL="0">
              <a:buNone/>
            </a:pPr>
            <a:r>
              <a:rPr lang="ar-SA" altLang="en-US" sz="2100" b="1" dirty="0">
                <a:solidFill>
                  <a:srgbClr val="1B3B6F"/>
                </a:solidFill>
                <a:latin typeface="Amiri" pitchFamily="2" charset="-78"/>
                <a:cs typeface="Amiri" pitchFamily="2" charset="-78"/>
              </a:rPr>
              <a:t> تُوَفِّرُ تَدْرِيبًا</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company which offers training</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allaḏī · allatī</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المَكْتَبُ الَّذِي أَعْمَلُ </a:t>
            </a:r>
            <a:pPr rtl="1" algn="ctr" indent="0" marL="0">
              <a:buNone/>
            </a:pPr>
            <a:r>
              <a:rPr lang="ar-SA" altLang="en-US" sz="2100" b="1" dirty="0">
                <a:solidFill>
                  <a:srgbClr val="1D5FBF"/>
                </a:solidFill>
                <a:latin typeface="Amiri" pitchFamily="2" charset="-78"/>
                <a:cs typeface="Amiri" pitchFamily="2" charset="-78"/>
              </a:rPr>
              <a:t>فِيهِ</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it (m.)</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الشَّرِكَةُ الَّتِي أَعْمَلُ </a:t>
            </a:r>
            <a:pPr rtl="1" algn="ctr" indent="0" marL="0">
              <a:buNone/>
            </a:pPr>
            <a:r>
              <a:rPr lang="ar-SA" altLang="en-US" sz="2100" b="1" dirty="0">
                <a:solidFill>
                  <a:srgbClr val="D6336C"/>
                </a:solidFill>
                <a:latin typeface="Amiri" pitchFamily="2" charset="-78"/>
                <a:cs typeface="Amiri" pitchFamily="2" charset="-78"/>
              </a:rPr>
              <a:t>فِيهَا</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it (f.)</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fīhi · fīhā</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Relative clauses need a “the” noun: al-maktab allaḏī … — and fīhi / fīhā points back to the place.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PROS, CONS AND CONTRAST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Weigh it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مَزَايَا · عُيُوبٌ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ADVANTAGE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مِنْ مَزَايَا العَمَلِ أَنَّ سَاعَاتِهِ مَرِنَةٌ.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of the job is that its hours are flexible.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 full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DISADVANTAGE · CORE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عُيُوبِهِ أَنَّهُ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مِنْ عُيُوبِهِ أَنَّهُ مُجْهِدٌ.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of its disadvantages is that it is tiring.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annahu = that it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وَلٰكِنَّ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الرَّاتِبُ مُرْتَفِعٌ، وَلٰكِنَّ السَّاعَاتِ طَوِيلَةٌ.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salary is high, but the hours are long.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lākinna + noun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clause after min mazāyā needs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مِنْ مَزَايَا العَمَلِ أَنَّ سَاعَاتِهِ مَرِنَةٌ.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مِنْ مَزَايَا العَمَلِ سَاعَاتُهُ مَرِنَةٌ.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Work conditions and relative clauses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وَصْفُ بِيئَةِ العَمَلِ وَالجُمَلُ المَوْصُولَةُ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Place and condition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يَعْمَلُ فِي + مَكَانٍ + 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يَعْمَلُ فِي مَكْتَبٍ حَدِيثٍ.   ·   تَعْمَلُ فِي بِيئَةٍ آمِنَةٍ.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Relative clause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مَكَانٌ الَّذِي / بِيئَةٌ الَّتِي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المَكْتَبُ الَّذِي أَعْمَلُ فِيهِ   ·   الشَّرِكَةُ الَّتِي تُوَفِّرُ تَدْرِيبًا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Advantages and disadvantages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مَزَايَا ... أَنَّ / مِنْ عُيُوبِ ...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مَزَايَا العَمَلِ أَنَّ سَاعَاتِهِ مَرِنَةٌ.   ·   مِنْ عُيُوبِهِ أَنَّهُ مُجْهِدٌ.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بَيْنَمَا / وَلٰكِنَّ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الرَّاتِبُ مُرْتَفِعٌ، وَلٰكِنَّ السَّاعَاتِ طَوِيلَةٌ.   ·   أَعْمَلُ فِي مَكْتَبٍ، بَيْنَمَا يَعْمَلُ أَخِي فِي الهَوَاءِ الطَّلْقِ.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تَعْمَلُ أُخْتِي فِي بِيئَةٍ ___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آمِنٍ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آمِنَةٍ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الشَّرِكَةُ ___ أَعْمَلُ فِيهَا كَبِيرَةٌ.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مَزَايَا العَمَلِ ___ سَاعَاتِهِ مَرِنَةٌ.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compares two people’s situations?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إِضَافَةً إِلَى ذٰلِكَ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تَعْمَلُ أُخْتِي فِي بِيئَةٍ ___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آمِنٍ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آمِنَةٍ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bīʾa is feminine → āminatin.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الشَّرِكَةُ ___ أَعْمَلُ فِيهَا كَبِيرَةٌ.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sharika is feminine → allatī.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مَزَايَا العَمَلِ ___ سَاعَاتِهِ مَرِنَةٌ.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clause after min mazāyā needs anna.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compares two people’s situations?</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إِضَافَةً إِلَى ذٰلِكَ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baynamā = whereas.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compare two workplaces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Place + 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يَعْمَلُ أَبِي فِي مَكْتَبٍ </a:t>
            </a:r>
            <a:pPr rtl="1" algn="ctr" indent="0" marL="0">
              <a:buNone/>
            </a:pPr>
            <a:r>
              <a:rPr lang="ar-SA" altLang="en-US" sz="2200" b="1" dirty="0">
                <a:solidFill>
                  <a:srgbClr val="1D5FBF"/>
                </a:solidFill>
                <a:latin typeface="Amiri" pitchFamily="2" charset="-78"/>
                <a:cs typeface="Amiri" pitchFamily="2" charset="-78"/>
              </a:rPr>
              <a:t>حَدِيثٍ</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maktab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Which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المَكْتَبُ </a:t>
            </a:r>
            <a:pPr rtl="1" algn="ctr" indent="0" marL="0">
              <a:lnSpc>
                <a:spcPct val="120000"/>
              </a:lnSpc>
              <a:buNone/>
            </a:pPr>
            <a:r>
              <a:rPr lang="ar-SA" altLang="en-US" sz="1850" b="1" dirty="0">
                <a:solidFill>
                  <a:srgbClr val="1D5FBF"/>
                </a:solidFill>
                <a:latin typeface="Amiri" pitchFamily="2" charset="-78"/>
                <a:cs typeface="Amiri" pitchFamily="2" charset="-78"/>
              </a:rPr>
              <a:t>الَّذِي</a:t>
            </a:r>
            <a:pPr rtl="1" algn="ctr" indent="0" marL="0">
              <a:lnSpc>
                <a:spcPct val="120000"/>
              </a:lnSpc>
              <a:buNone/>
            </a:pPr>
            <a:r>
              <a:rPr lang="ar-SA" altLang="en-US" sz="1850" b="1" dirty="0">
                <a:solidFill>
                  <a:srgbClr val="1B3B6F"/>
                </a:solidFill>
                <a:latin typeface="Amiri" pitchFamily="2" charset="-78"/>
                <a:cs typeface="Amiri" pitchFamily="2" charset="-78"/>
              </a:rPr>
              <a:t> يَعْمَلُ فِيهِ هَادِئٌ.</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allaḏī + fīhi.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cs typeface="Amiri" pitchFamily="2" charset="-78"/>
              </a:rPr>
              <a:t> يَعْمَلُ خَالِي فِي مَوْقِعِ بِنَاءٍ.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situation.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Pros and cons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رَاتِبُهُ مُرْتَفِعٌ، </a:t>
            </a:r>
            <a:pPr rtl="1" algn="ctr" indent="0" marL="0">
              <a:lnSpc>
                <a:spcPct val="120000"/>
              </a:lnSpc>
              <a:buNone/>
            </a:pPr>
            <a:r>
              <a:rPr lang="ar-SA" altLang="en-US" sz="1750" b="1" dirty="0">
                <a:solidFill>
                  <a:srgbClr val="0E7C86"/>
                </a:solidFill>
                <a:latin typeface="Amiri" pitchFamily="2" charset="-78"/>
                <a:cs typeface="Amiri" pitchFamily="2" charset="-78"/>
              </a:rPr>
              <a:t>وَلٰكِنَّ</a:t>
            </a:r>
            <a:pPr rtl="1" algn="ctr" indent="0" marL="0">
              <a:lnSpc>
                <a:spcPct val="120000"/>
              </a:lnSpc>
              <a:buNone/>
            </a:pPr>
            <a:r>
              <a:rPr lang="ar-SA" altLang="en-US" sz="1750" b="1" dirty="0">
                <a:solidFill>
                  <a:srgbClr val="1B3B6F"/>
                </a:solidFill>
                <a:latin typeface="Amiri" pitchFamily="2" charset="-78"/>
                <a:cs typeface="Amiri" pitchFamily="2" charset="-78"/>
              </a:rPr>
              <a:t> عَمَلَهُ </a:t>
            </a:r>
            <a:pPr rtl="1" algn="ctr" indent="0" marL="0">
              <a:lnSpc>
                <a:spcPct val="120000"/>
              </a:lnSpc>
              <a:buNone/>
            </a:pPr>
            <a:r>
              <a:rPr lang="ar-SA" altLang="en-US" sz="1750" b="1" dirty="0">
                <a:solidFill>
                  <a:srgbClr val="D6336C"/>
                </a:solidFill>
                <a:latin typeface="Amiri" pitchFamily="2" charset="-78"/>
                <a:cs typeface="Amiri" pitchFamily="2" charset="-78"/>
              </a:rPr>
              <a:t>مُجْهِدٌ</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Qualify with but.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يَعْمَلُ أَبِي فِي مَكْتَبٍ </a:t>
            </a:r>
            <a:pPr rtl="1" algn="r" indent="0" marL="0">
              <a:lnSpc>
                <a:spcPct val="120000"/>
              </a:lnSpc>
              <a:buNone/>
            </a:pPr>
            <a:r>
              <a:rPr lang="ar-SA" altLang="en-US" sz="1400" b="1" dirty="0">
                <a:solidFill>
                  <a:srgbClr val="1D5FBF"/>
                </a:solidFill>
                <a:latin typeface="Amiri" pitchFamily="2" charset="-78"/>
                <a:cs typeface="Amiri" pitchFamily="2" charset="-78"/>
              </a:rPr>
              <a:t>حَدِيثٍ</a:t>
            </a:r>
            <a:pPr rtl="1" algn="r" indent="0" marL="0">
              <a:lnSpc>
                <a:spcPct val="120000"/>
              </a:lnSpc>
              <a:buNone/>
            </a:pPr>
            <a:r>
              <a:rPr lang="ar-SA" altLang="en-US" sz="1400" b="1" dirty="0">
                <a:solidFill>
                  <a:srgbClr val="1B3B6F"/>
                </a:solidFill>
                <a:latin typeface="Amiri" pitchFamily="2" charset="-78"/>
                <a:cs typeface="Amiri" pitchFamily="2" charset="-78"/>
              </a:rPr>
              <a:t> فِي وَسَطِ المَدِينَةِ، </a:t>
            </a:r>
            <a:pPr rtl="1" algn="r" indent="0" marL="0">
              <a:lnSpc>
                <a:spcPct val="120000"/>
              </a:lnSpc>
              <a:buNone/>
            </a:pPr>
            <a:r>
              <a:rPr lang="ar-SA" altLang="en-US" sz="1400" b="1" dirty="0">
                <a:solidFill>
                  <a:srgbClr val="0E7C86"/>
                </a:solidFill>
                <a:latin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cs typeface="Amiri" pitchFamily="2" charset="-78"/>
              </a:rPr>
              <a:t> يَعْمَلُ خَالِي فِي مَوْقِعِ بِنَاءٍ فِي الهَوَاءِ الطَّلْقِ. المَكْتَبُ </a:t>
            </a:r>
            <a:pPr rtl="1" algn="r" indent="0" marL="0">
              <a:lnSpc>
                <a:spcPct val="120000"/>
              </a:lnSpc>
              <a:buNone/>
            </a:pPr>
            <a:r>
              <a:rPr lang="ar-SA" altLang="en-US" sz="1400" b="1" dirty="0">
                <a:solidFill>
                  <a:srgbClr val="1D5FBF"/>
                </a:solidFill>
                <a:latin typeface="Amiri" pitchFamily="2" charset="-78"/>
                <a:cs typeface="Amiri" pitchFamily="2" charset="-78"/>
              </a:rPr>
              <a:t>الَّذِي</a:t>
            </a:r>
            <a:pPr rtl="1" algn="r" indent="0" marL="0">
              <a:lnSpc>
                <a:spcPct val="120000"/>
              </a:lnSpc>
              <a:buNone/>
            </a:pPr>
            <a:r>
              <a:rPr lang="ar-SA" altLang="en-US" sz="1400" b="1" dirty="0">
                <a:solidFill>
                  <a:srgbClr val="1B3B6F"/>
                </a:solidFill>
                <a:latin typeface="Amiri" pitchFamily="2" charset="-78"/>
                <a:cs typeface="Amiri" pitchFamily="2" charset="-78"/>
              </a:rPr>
              <a:t> يَعْمَلُ فِيهِ أَبِي هَادِئٌ وَآمِنٌ، وَمِنْ مَزَايَاهُ أَنَّ السَّاعَاتِ </a:t>
            </a:r>
            <a:pPr rtl="1" algn="r" indent="0" marL="0">
              <a:lnSpc>
                <a:spcPct val="120000"/>
              </a:lnSpc>
              <a:buNone/>
            </a:pPr>
            <a:r>
              <a:rPr lang="ar-SA" altLang="en-US" sz="1400" b="1" dirty="0">
                <a:solidFill>
                  <a:srgbClr val="D6336C"/>
                </a:solidFill>
                <a:latin typeface="Amiri" pitchFamily="2" charset="-78"/>
                <a:cs typeface="Amiri" pitchFamily="2" charset="-78"/>
              </a:rPr>
              <a:t>مَرِنَةٌ</a:t>
            </a:r>
            <a:pPr rtl="1" algn="r" indent="0" marL="0">
              <a:lnSpc>
                <a:spcPct val="120000"/>
              </a:lnSpc>
              <a:buNone/>
            </a:pPr>
            <a:r>
              <a:rPr lang="ar-SA" altLang="en-US" sz="1400" b="1" dirty="0">
                <a:solidFill>
                  <a:srgbClr val="1B3B6F"/>
                </a:solidFill>
                <a:latin typeface="Amiri" pitchFamily="2" charset="-78"/>
                <a:cs typeface="Amiri" pitchFamily="2" charset="-78"/>
              </a:rPr>
              <a:t>. أَمَّا خَالِي فَرَاتِبُهُ </a:t>
            </a:r>
            <a:pPr rtl="1" algn="r" indent="0" marL="0">
              <a:lnSpc>
                <a:spcPct val="120000"/>
              </a:lnSpc>
              <a:buNone/>
            </a:pPr>
            <a:r>
              <a:rPr lang="ar-SA" altLang="en-US" sz="1400" b="1" dirty="0">
                <a:solidFill>
                  <a:srgbClr val="D6336C"/>
                </a:solidFill>
                <a:latin typeface="Amiri" pitchFamily="2" charset="-78"/>
                <a:cs typeface="Amiri" pitchFamily="2" charset="-78"/>
              </a:rPr>
              <a:t>مُرْتَفِعٌ</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وَلٰكِنَّ</a:t>
            </a:r>
            <a:pPr rtl="1" algn="r" indent="0" marL="0">
              <a:lnSpc>
                <a:spcPct val="120000"/>
              </a:lnSpc>
              <a:buNone/>
            </a:pPr>
            <a:r>
              <a:rPr lang="ar-SA" altLang="en-US" sz="1400" b="1" dirty="0">
                <a:solidFill>
                  <a:srgbClr val="1B3B6F"/>
                </a:solidFill>
                <a:latin typeface="Amiri" pitchFamily="2" charset="-78"/>
                <a:cs typeface="Amiri" pitchFamily="2" charset="-78"/>
              </a:rPr>
              <a:t> عَمَلَهُ </a:t>
            </a:r>
            <a:pPr rtl="1" algn="r" indent="0" marL="0">
              <a:lnSpc>
                <a:spcPct val="120000"/>
              </a:lnSpc>
              <a:buNone/>
            </a:pPr>
            <a:r>
              <a:rPr lang="ar-SA" altLang="en-US" sz="1400" b="1" dirty="0">
                <a:solidFill>
                  <a:srgbClr val="D6336C"/>
                </a:solidFill>
                <a:latin typeface="Amiri" pitchFamily="2" charset="-78"/>
                <a:cs typeface="Amiri" pitchFamily="2" charset="-78"/>
              </a:rPr>
              <a:t>مُجْهِدٌ</a:t>
            </a:r>
            <a:pPr rtl="1" algn="r" indent="0" marL="0">
              <a:lnSpc>
                <a:spcPct val="120000"/>
              </a:lnSpc>
              <a:buNone/>
            </a:pPr>
            <a:r>
              <a:rPr lang="ar-SA" altLang="en-US" sz="1400" b="1" dirty="0">
                <a:solidFill>
                  <a:srgbClr val="1B3B6F"/>
                </a:solidFill>
                <a:latin typeface="Amiri" pitchFamily="2" charset="-78"/>
                <a:cs typeface="Amiri" pitchFamily="2" charset="-78"/>
              </a:rPr>
              <a:t> وَيَتَأَثَّرُ بِالطَّقْسِ.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father works in a modern office in the city centre, whereas my uncle works on a building site outdoors. The office my father works in is quiet and safe, and one of its advantages is that the hours are flexible. As for my uncle, his salary is high, but his work is tiring and affected by the weather.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يَعْمَلُ أَبِي فِي مَكْتَبٍ حَدِيثٍ.</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father works in a modern office.</a:t>
            </a:r>
            <a:endParaRPr lang="en-US" sz="1250" dirty="0"/>
          </a:p>
          <a:p>
            <a:pPr indent="0" marL="0">
              <a:buNone/>
            </a:pPr>
            <a:r>
              <a:rPr lang="en-US" sz="1050" i="1" dirty="0">
                <a:solidFill>
                  <a:srgbClr val="8A6D1E"/>
                </a:solidFill>
                <a:latin typeface="Calibri" pitchFamily="34" charset="0"/>
                <a:cs typeface="Amiri" pitchFamily="2" charset="-78"/>
              </a:rPr>
              <a:t>Place + agreeing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الشَّرِكَةُ الَّتِي أَعْمَلُ فِيهَا كَبِيرَةٌ.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company I work in is big.</a:t>
            </a:r>
            <a:endParaRPr lang="en-US" sz="1250" dirty="0"/>
          </a:p>
          <a:p>
            <a:pPr indent="0" marL="0">
              <a:buNone/>
            </a:pPr>
            <a:r>
              <a:rPr lang="en-US" sz="1050" i="1" dirty="0">
                <a:solidFill>
                  <a:srgbClr val="8A6D1E"/>
                </a:solidFill>
                <a:latin typeface="Calibri" pitchFamily="34" charset="0"/>
                <a:cs typeface="Amiri" pitchFamily="2" charset="-78"/>
              </a:rPr>
              <a:t>allatī for a feminine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مَزَايَا العَمَلِ أَنَّ سَاعَاتِهِ مَرِنَةٌ.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of the job is that its hours are flexible.</a:t>
            </a:r>
            <a:endParaRPr lang="en-US" sz="1250" dirty="0"/>
          </a:p>
          <a:p>
            <a:pPr indent="0" marL="0">
              <a:buNone/>
            </a:pPr>
            <a:r>
              <a:rPr lang="en-US" sz="1050" i="1" dirty="0">
                <a:solidFill>
                  <a:srgbClr val="8A6D1E"/>
                </a:solidFill>
                <a:latin typeface="Calibri" pitchFamily="34" charset="0"/>
                <a:cs typeface="Amiri" pitchFamily="2" charset="-78"/>
              </a:rPr>
              <a:t>anna + clause.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الرَّاتِبُ مُرْتَفِعٌ، وَلٰكِنَّ السَّاعَاتِ طَوِيلَةٌ.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salary is high, but the hours are long.</a:t>
            </a:r>
            <a:endParaRPr lang="en-US" sz="1250" dirty="0"/>
          </a:p>
          <a:p>
            <a:pPr indent="0" marL="0">
              <a:buNone/>
            </a:pPr>
            <a:r>
              <a:rPr lang="en-US" sz="1050" i="1" dirty="0">
                <a:solidFill>
                  <a:srgbClr val="8A6D1E"/>
                </a:solidFill>
                <a:latin typeface="Calibri" pitchFamily="34" charset="0"/>
                <a:cs typeface="Amiri" pitchFamily="2" charset="-78"/>
              </a:rPr>
              <a:t>Qualify with but.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“WORKPLACE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مَكَانَ الْعَمَلِ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9–5</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home</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6"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8"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 shift</a:t>
            </a:r>
            <a:endParaRPr lang="en-US" sz="1100" dirty="0"/>
          </a:p>
        </p:txBody>
      </p:sp>
      <p:sp>
        <p:nvSpPr>
          <p:cNvPr id="39"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أَعْمَلُ مِنَ الْبَيْتِ عَبْرَ الْإِنْتَرْنِتِ.</a:t>
            </a:r>
            <a:endParaRPr lang="ar-SA" sz="2000" dirty="0"/>
          </a:p>
        </p:txBody>
      </p:sp>
      <p:sp>
        <p:nvSpPr>
          <p:cNvPr id="43"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أَعْمَلُ فِي الْمَتْجَرِ فِي نَوْبَةٍ مَسَائِيَّةٍ.</a:t>
            </a:r>
            <a:endParaRPr lang="ar-SA" sz="2000" dirty="0"/>
          </a:p>
        </p:txBody>
      </p:sp>
      <p:sp>
        <p:nvSpPr>
          <p:cNvPr id="47"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أَعْمَلُ فِي مَكْتَبٍ مِنَ التَّاسِعَةِ إِلَى الْخَامِسَةِ.</a:t>
            </a:r>
            <a:endParaRPr lang="ar-SA" sz="2000" dirty="0"/>
          </a:p>
        </p:txBody>
      </p:sp>
      <p:sp>
        <p:nvSpPr>
          <p:cNvPr id="51"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مَكَانَ الْعَمَلِ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9–5</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أَعْمَلُ فِي مَكْتَبٍ مِنَ التَّاسِعَةِ إِلَى الْخَامِسَةِ.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an office from nine to five.</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home</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أَعْمَلُ مِنَ الْبَيْتِ عَبْرَ الْإِنْتَرْنِتِ.</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from home online.</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6"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8"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 shift</a:t>
            </a:r>
            <a:endParaRPr lang="en-US" sz="1100" dirty="0"/>
          </a:p>
        </p:txBody>
      </p:sp>
      <p:sp>
        <p:nvSpPr>
          <p:cNvPr id="49"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أَعْمَلُ فِي الْمَتْجَرِ فِي نَوْبَةٍ مَسَائِيَّةٍ.</a:t>
            </a:r>
            <a:endParaRPr lang="ar-SA" sz="2200" dirty="0"/>
          </a:p>
        </p:txBody>
      </p:sp>
      <p:sp>
        <p:nvSpPr>
          <p:cNvPr id="53"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the shop on an evening shift.</a:t>
            </a:r>
            <a:endParaRPr lang="en-US" sz="1200" dirty="0"/>
          </a:p>
        </p:txBody>
      </p:sp>
      <p:sp>
        <p:nvSpPr>
          <p:cNvPr id="54"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WORKPLACE — ENVIRONMENTS AND WORK CONDITIONS”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Where do I work?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 team</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 machines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laptop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أَعْمَلُ مِنَ المَنْزِلِ.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أَعْمَلُ فِي مَكْتَبٍ حَدِيثٍ.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أَعْمَلُ فِي مَصْنَعٍ.</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office · team</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أَعْمَلُ فِي مَكْتَبٍ حَدِيثٍ.</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 modern office.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 machines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أَعْمَلُ فِي مَصْنَعٍ.</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in a factory.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laptop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أَعْمَلُ مِنَ المَنْزِلِ.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work from home.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رَاتِبٌ مُرْتَفِعٌ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سَاعَاتٌ مَرِنَةٌ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عَمَلٌ مُجْزٍ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بِيئَةٌ آمِنَةٌ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فُرَصُ التَّرَقِّي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رَاتِبٌ مُنْخَفِضٌ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عَمَلٌ مُجْهِدٌ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سَاعَاتٌ طَوِيلَةٌ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تَوَاصُلٌ بَطِيءٌ</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Advantage</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Disadvantage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رَاتِبٌ مُرْتَفِعٌ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سَاعَاتٌ مَرِنَةٌ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عَمَلٌ مُجْزٍ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بِيئَةٌ آمِنَةٌ</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فُرَصُ التَّرَقِّي</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Disadvantage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رَاتِبٌ مُنْخَفِضٌ</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عَمَلٌ مُجْهِدٌ</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سَاعَاتٌ طَوِيلَةٌ</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تَوَاصُلٌ بَطِيءٌ</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المَكْتَبُ ___ أَعْمَلُ فِيهِ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دَوَامٌ جُزْئِيٌّ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full-time work</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part-time work</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annual leave</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a disadvantage?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عَمَلٌ مُجْزٍ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عَمَلٌ مُجْهِدٌ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سَاعَاتٌ مَرِنَةٌ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makes sense.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الرَّاتِبُ مُرْتَفِعٌ، لِأَنَّ السَّاعَاتِ طَوِيلَةٌ.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الرَّاتِبُ مُرْتَفِعٌ، لِذٰلِكَ السَّاعَاتُ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الرَّاتِبُ مُرْتَفِعٌ، وَلٰكِنَّ السَّاعَاتِ طَوِيلَةٌ.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المَكْتَبُ ___ أَعْمَلُ فِيهِ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الَّذِي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maktab is masculine → allaḏī.</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دَوَامٌ جُزْئِيٌّ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full-time work</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part-time work</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annual leave</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juzʾ = part.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a disadvantage?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عَمَلٌ مُجْزٍ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عَمَلٌ مُجْهِدٌ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سَاعَاتٌ مَرِنَةٌ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mujhid = tiring.</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makes sense.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الرَّاتِبُ مُرْتَفِعٌ، لِأَنَّ السَّاعَاتِ طَوِيلَةٌ.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الرَّاتِبُ مُرْتَفِعٌ، لِذٰلِكَ السَّاعَاتُ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الرَّاتِبُ مُرْتَفِعٌ، وَلٰكِنَّ السَّاعَاتِ طَوِيلَةٌ.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contrast needs “but”, not “because” or “so”.</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تَعْمَلُ فِي بِيئَةٍ آمِنٍ.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bīʾa: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الشَّرِكَةُ الَّذِي أَعْمَلُ فِيهَا 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sharika → allaḏī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مِنْ مَزَايَا العَمَلِ سَاعَاتُهُ مَرِنَةٌ.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تَعْمَلُ فِي بِيئَةٍ آمِنٍ.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تَعْمَلُ فِي بِيئَةٍ آمِنَةٍ.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agrees with feminine bīʾa.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الشَّرِكَةُ الَّذِي أَعْمَلُ فِيهَا 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الشَّرِكَةُ الَّتِي أَعْمَلُ فِيهَا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allatī.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مِنْ مَزَايَا العَمَلِ سَاعَاتُهُ مَرِنَةٌ.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مِنْ مَزَايَا العَمَلِ أَنَّ سَاعَاتِهِ مَرِنَةٌ.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contrasting workplaces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Maryam work?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laboratory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 building site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environment?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outdoors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safe and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work need?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 precision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strength</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lot of travel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Samer work?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laboratory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 building site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office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disadvantage of his work?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tiring and affected by the weather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مُخْتَبَرٍ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الثَّامِنَةِ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مَوْقِعِ بِنَاءٍ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تَعْمَلُ مَرْيَمُ فِي مُخْتَبَرٍ حَدِيثٍ مِنَ السَّاعَةِ الثَّامِنَةِ إِلَى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 works in a modern laboratory from eight o’clock to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بِيئَةَ العَمَلِ لِأَنَّهَا آمِنَةٌ وَمُنَظَّمَةٌ،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loves the work environment because it is safe and organised,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 العَمَلَ يَحْتَاجُ إِلَى دِقَّةٍ شَدِيدَةٍ.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the work needs great precision.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سَامِرٌ فَيَعْمَلُ فِي مَوْقِعِ بِنَاءٍ.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Samer, he works on a building site.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رَاتِبُهُ جَيِّدٌ، لٰكِنَّ عَمَلَهُ مُجْهِدٌ وَيَتَأَثَّرُ بِالطَّقْسِ.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salary is good, but his work is tiring and affected by the weather.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Maryam work?</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modern laboratory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 building site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مُخْتَبَرٍ حَدِيثٍ</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السَّاعَةِ الثَّامِنَةِ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environment?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outdoors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safe and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لِأَنَّهَا آمِنَةٌ وَمُنَظَّمَةٌ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work need?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great precision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strength</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lot of travel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يَحْتَاجُ إِلَى دِقَّةٍ شَدِيدَةٍ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Samer work?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laboratory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a building site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an office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مَوْقِعِ بِنَاءٍ</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disadvantage of his work?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tiring and affected by the weather</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low</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عَمَلَهُ مُجْهِدٌ وَيَتَأَثَّرُ بِالطَّقْسِ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مُخْتَبَرٍ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الثَّامِنَةِ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مَوْقِعِ بِنَاءٍ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Workplace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Compare two workplaces by hours, environment, responsibilities and conditions, then decide which suits a given worker profile best.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two workplace profiles (office vs hospital —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compare them: hours, environment, responsibilities, conditions.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a worker profile (a student who needs flexible hours).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Decide which workplace suits the worker and say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comparison: “… aṭwal min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comparisons + a decision with a reason.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decision with “kāna” for past experience and a balanced comparison (baynamā).</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سَاعَاتُ العَمَلِ أَطْوَلُ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working hours are longer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البِيئَةُ هَادِئَةٌ / مُزْدَحِمَةٌ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environment is quiet / busy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يُنَاسِبُهُ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suits him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بَيْنَمَا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would you like to work?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مَكَانَ عَمَلِ أَحَدِ أَفْرَادِ عَائِلَتِكَ.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تُحِبُّ أَنْ تَعْمَلَ: فِي مَكْتَبٍ أَمْ فِي الهَوَاءِ الطَّلْقِ؟</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مَزَايَا العَمَلِ عَنْ بُعْدٍ وَمَا عُيُوبُهُ؟</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الرَّاتِبُ أَهَمُّ مِنْ بِيئَةِ العَمَلِ؟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يَعْمَلُ / تَعْمَلُ فِي ___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أُحِبُّ أَنْ أَعْمَلَ فِي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مِنْ مَزَايَاهُ أَنَّ ___ ، وَمِنْ عُيُوبِهِ أَنَّ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رَأْيِي ___ أَهَمُّ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تُفَضِّلُ أَنْ تَعْمَلَ؟</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would you prefer to work?</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أُفَضِّلُ مَكْتَبًا حَدِيثًا لِأَنَّ بِيئَتَهُ آمِنَةٌ وَمُنَظَّمَةٌ.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a modern office because its environment is safe and organised.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workplaces, each with an adjective, plus one advantage with مِنْ مَزَايَا … أَنَّ.</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workplaces with الَّذِي / الَّتِي, بَيْنَمَا and وَلٰكِنَّ, and choose one.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two workplaces, weigh pros and cons, justify your choice with although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الشَّرِكَةُ الَّتِي ______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company (which) … works in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بَيْنَمَا يَعْمَلُ خَالِي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uncle works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الرَّاتِبُ ______ ، وَلٰكِنَّ السَّاعَاتِ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salary is …, but the hours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يَعْمَلُ أَبِي فِي مَكْتَبٍ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works in a modern office.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تَعْمَلُ خَالَتِي فِي مُسْتَشْفًى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aunt works in a big hospital.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مَزَايَا العَمَلِ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the job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عُيُوبِهِ أَنَّهُ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it is tiring.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مَكْتَبٌ حَدِيثٌ  ·  بِيئَةٌ آمِنَةٌ  ·  سَاعَاتٌ مَرِنَةٌ  ·  رَاتِبٌ مُرْتَفِعٌ  ·  عَمَلٌ مُجْهِدٌ  ·  عَمَلٌ مُجْزٍ  ·  فَرِيقُ عَمَلٍ  ·  الَّذِي  ·  الَّتِي  ·  أَنَّ  ·  بَيْنَمَا  ·  وَلٰكِنَّ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two workplaces and explain which one you would prefer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يُوَفِّرُ الوَقْتَ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saves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التَّعَاوُنُ المُبَاشِرُ مَعَ الفَرِيقِ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direct cooperation with the team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يُحَقِّقُ تَوَازُنًا أَفْضَلَ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achieves a better balance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يَتَأَثَّرُ بِالطَّقْسِ</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affected by the weather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 … فَإِنَّ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(still)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cs typeface="Amiri" pitchFamily="2" charset="-78"/>
              </a:rPr>
              <a:t>يَعْمَلُ أَبِي فِي مَكْتَبٍ حَدِيثٍ فِي وَسَطِ المَدِينَةِ، بَيْنَمَا يَعْمَلُ خَالِي فِي مَوْقِعِ بِنَاءٍ فِي الهَوَاءِ الطَّلْقِ. المَكْتَبُ الَّذِي يَعْمَلُ فِيهِ أَبِي هَادِئٌ وَآمِنٌ، وَمِنْ مَزَايَاهُ أَنَّ السَّاعَاتِ مَرِنَةٌ. أَمَّا خَالِي فَرَاتِبُهُ مُرْتَفِعٌ، وَلٰكِنَّ عَمَلَهُ مُجْهِدٌ وَيَتَأَثَّرُ بِالطَّقْسِ. فِي رَأْيِي، أُفَضِّلُ العَمَلَ فِي مَكْتَبٍ لِأَنَّنِي أُحِبُّ البِيئَةَ المُنَظَّمَةَ وَالعَمَلَ مَعَ فَرِيقٍ. عَلَى الرَّغْمِ مِنْ أَنَّ العَمَلَ فِي الهَوَاءِ الطَّلْقِ صِحِّيٌّ، فَإِنَّهُ صَعْبٌ فِي الشِّتَاءِ. لِذٰلِكَ أُرِيدُ وَظِيفَةً تُحَقِّقُ تَوَازُنًا بَيْنَ العَمَلِ وَالحَيَاةِ.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father works in a modern office in the city centre, whereas my uncle works on a building site outdoors. The office my father works in is quiet and safe, and one advantage is that the hours are flexible. As for my uncle, his salary is high, but his work is tiring and affected by the weather. In my opinion, I prefer working in an office because I like an organised environment and working with a team. Although working outdoors is healthy, it is hard in winter. So I want a job that gives a balance between work and life.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workplaces with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allaḏī or 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justified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agree with the workplace.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advantage with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allaḏī / allatī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workplaces.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choice is justified with although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pronoun.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رَاتِبٌ مُرْتَفِعٌ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low salary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salary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annual leave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مِنْ عُيُوبِهِ</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pronoun.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الَّذِي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الَّذِينَ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allatī = which / who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رَاتِبٌ مُرْتَفِعٌ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low salary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high salary</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annual leave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murtafiʿ = high.</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مِنْ عُيُوبِهِ</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ʿuyūbihi annahu …</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يُفَضِّلُ بَعْضُ العَامِلِينَ العَمَلَ عَنْ بُعْدٍ لِأَنَّهُ يُوَفِّرُ الوَقْتَ وَيَمْنَحُهُمْ مَرُونَةً أَكْبَرَ. وَلٰكِنَّ آخَرِينَ يَخْتَارُونَ المَكْتَبَ الَّذِي يَسْمَحُ لَهُمْ بِالتَّعَاوُنِ المُبَاشِرِ مَعَ الفَرِيقِ. فِي شَرِكَةِ نُورٍ، يَسْتَطِيعُ المُوَظَّفُونَ العَمَلَ مِنَ المَنْزِلِ يَوْمَيْنِ فِي الأُسْبُوعِ. مِنْ مَزَايَا هٰذَا النِّظَامِ أَنَّهُ يُحَقِّقُ تَوَازُنًا أَفْضَلَ، وَمِنْ عُيُوبِهِ أَنَّ التَّوَاصُلَ قَدْ يَكُونُ أَبْطَأَ.</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بَعْضُ العَامِلِينَ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 workers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يُوَفِّرُ الوَقْتَ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saves time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مَرُونَةً أَكْبَرَ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flexibility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آخَرِينَ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others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يَسْمَحُ لَهُمْ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allows them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التَّعَاوُنِ المُبَاشِرِ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 cooperation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المُوَظَّفُونَ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employees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المَنْزِلِ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هٰذَا النِّظَامِ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this system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أَبْطَأَ</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slower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some people prefer remote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time and gives more flexibility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meet more colleagues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others choose the office?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closer to home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direct cooperation with the team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How often can Nour company staff work from home?</a:t>
            </a:r>
            <a:endParaRPr lang="en-US" sz="11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 a week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day a month</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of this system is stated?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faster communication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better (work–life) balance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higher salary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stated?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may be slower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hours are longer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less flexibility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mainly about?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advertising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worker’s day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comparing remote and office work</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some people prefer remote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saves time and gives more flexibility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they meet more colleagues</a:t>
            </a:r>
            <a:endParaRPr lang="en-US" sz="12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يُوَفِّرُ الوَقْتَ وَيَمْنَحُهُمْ مَرُونَةً أَكْبَرَ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others choose the office?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closer to home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direct cooperation with the team</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بِالتَّعَاوُنِ المُبَاشِرِ مَعَ الفَرِيقِ</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How often can Nour company staff work from home?</a:t>
            </a:r>
            <a:endParaRPr lang="en-US" sz="11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days a week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day a month</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يَوْمَيْنِ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of this system is stated?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faster communication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better (work–life) balance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higher salary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يُحَقِّقُ تَوَازُنًا أَفْضَلَ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stated?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may be slower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hours are longer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less flexibility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التَّوَاصُلَ قَدْ يَكُونُ أَبْطَأَ</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mainly about?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advertising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worker’s day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comparing remote and office work</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sides are compared.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TD-L08 · Personal Qualities and Professional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en-US" sz="1000" i="1" dirty="0">
                <a:solidFill>
                  <a:srgbClr val="5A6472"/>
                </a:solidFill>
                <a:latin typeface="Calibri" pitchFamily="34" charset="0"/>
                <a:cs typeface="Amiri" pitchFamily="2" charset="-78"/>
              </a:rPr>
              <a:t>  pl. مَهَارَاتٌ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experience</a:t>
            </a:r>
            <a:pPr indent="0" marL="0">
              <a:buNone/>
            </a:pPr>
            <a:r>
              <a:rPr lang="en-US" sz="1000" i="1" dirty="0">
                <a:solidFill>
                  <a:srgbClr val="5A6472"/>
                </a:solidFill>
                <a:latin typeface="Calibri" pitchFamily="34" charset="0"/>
                <a:cs typeface="Amiri" pitchFamily="2" charset="-78"/>
              </a:rPr>
              <a:t>  pl. خِبْرَاتٌ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مَسْؤُولٌ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responsible</a:t>
            </a:r>
            <a:pPr indent="0" marL="0">
              <a:buNone/>
            </a:pPr>
            <a:r>
              <a:rPr lang="en-US" sz="1000" i="1" dirty="0">
                <a:solidFill>
                  <a:srgbClr val="5A6472"/>
                </a:solidFill>
                <a:latin typeface="Calibri" pitchFamily="34" charset="0"/>
                <a:cs typeface="Amiri" pitchFamily="2" charset="-78"/>
              </a:rPr>
              <a:t>  f. مَسْؤُولَةٌ · pl. مَسْؤُولُونَ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مُنَظَّمٌ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organised</a:t>
            </a:r>
            <a:pPr indent="0" marL="0">
              <a:buNone/>
            </a:pPr>
            <a:r>
              <a:rPr lang="en-US" sz="1000" i="1" dirty="0">
                <a:solidFill>
                  <a:srgbClr val="5A6472"/>
                </a:solidFill>
                <a:latin typeface="Calibri" pitchFamily="34" charset="0"/>
                <a:cs typeface="Amiri" pitchFamily="2" charset="-78"/>
              </a:rPr>
              <a:t>  f. مُنَظَّمَةٌ · pl. مُنَظَّمُونَ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القِيَادَةُ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leadership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skill a doctor needs and one a teacher needs.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يَحْتَاجُ الطَّبِيبُ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9 work-condition phrases;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workplaces in 80–100 words with </a:t>
            </a:r>
            <a:pPr algn="l" indent="0" marL="0">
              <a:buNone/>
            </a:pPr>
            <a:r>
              <a:rPr lang="ar-SA" altLang="en-US" sz="1550" dirty="0">
                <a:solidFill>
                  <a:srgbClr val="1F2A37"/>
                </a:solidFill>
                <a:latin typeface="Amiri" pitchFamily="2" charset="-78"/>
                <a:cs typeface="Amiri" pitchFamily="2" charset="-78"/>
              </a:rPr>
              <a:t>الَّذِي / الَّتِي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two workplaces and justify your choice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TD-L08 · Personal Qualities and Professional Skills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الصِّفَاتُ الشَّخْصِيَّةُ وَالمَهَارَاتُ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TD-L07 · The Workplace and Working Conditions</dc:title>
  <dc:subject>PptxGenJS Presentation</dc:subject>
  <dc:creator>Al Madina Online School · Arabic Department</dc:creator>
  <cp:lastModifiedBy>Al Madina Online School · Arabic Department</cp:lastModifiedBy>
  <cp:revision>1</cp:revision>
  <dcterms:created xsi:type="dcterms:W3CDTF">2026-10-11T06:44:09Z</dcterms:created>
  <dcterms:modified xsi:type="dcterms:W3CDTF">2026-10-11T06:44:09Z</dcterms:modified>
</cp:coreProperties>
</file>