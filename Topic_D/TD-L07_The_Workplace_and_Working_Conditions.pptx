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ADVANCED TOPIC D · TD-L07 — The Workplace and Working Conditions. Website: Advanced Topics › Topic D (The World of Work) › Lesson 7.
The website builds this lesson on the D3-L02 lesson engine, with the Topic focus “Discuss workplaces, schedules, pay, conditions, advantages and challenges.” (grammar: Comparatives; time expressions; كان; skills: Listening · Reading) and the application challenge “Workplace comparison”. This deck follows the same engine, re-sequenced for Topic D: lesson references now point to Topic D codes (lessons outside Topic D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Topic D Work and Careers › TD-L07. The website lesson “The Workplace — Environments and Work Conditions”: vocabulary, grammar rules and quiz, patterns, common mistakes, sorter, listening, reading, speaking prompts and model, writing task and model, differentiation, final check and the lesson mission. Picture match: website visual game “The Workplace — Environments and Work Conditions”.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8 condition phrases + “He works in a modern office / a safe environment” + one advantage (مِنْ مَزَايَا … أَنَّ …). Develop: الَّذِي / الَّتِي and a contrast (بَيْنَمَا / وَلٰكِنَّ). Stretch: weigh two workplaces and choose one (عَلَى الرَّغْمِ مِنْ أَنَّ …).
• Built on TD-L06 (فِي + workplace). New: the workplace now gets an adjective that AGREES (مَكْتَبٌ حَدِيثٌ / شَرِكَةٌ حَدِيثَةٌ).
• مِنْ مَزَايَا … أَنَّ was taught in F6-L05 (website) (towns): same structure, new topic.
• Vocabulary group 1 (workplaces) is review from TD-L06 — revise it quickly or set it as FLEX.
• TEACHER-WRITTEN ITEMS: on the website this lesson’s mission, sorter, mistakes, grammar, final, listening, reading, speaking, writing items are generic placeholders, so the deck uses teacher-written questions and translations built on the website’s own script and text (flagged for the website editor).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TD-L06. Questions 3–4 retrieve TD-L06. Question 5 retrieves F6-L05 (website) (advantages of a town).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The adjective follows the workplace and agrees with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صنعت (industry) shares the root of مَصْنَعٌ (factory); توازن is identical. CAREFUL: Urdu مکتب is a (traditional) school; Arabic مَكْتَبٌ is an office or desk. رَاتِبٌ and سَنَوِيٌّ have no Urdu cognates — link them by meaning (تنخواہ، سالانہ).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Workplaces (website vocabulary (1 of 2)). Hear → Say → See → Use. Transliteration is printed for Core students (cover it for Develop/Stretch).
FLEX: teach if time allows; otherwise these are on the website vocabulary tab for homework.
Review from TD-L06 (FLEX): say each workplace with a new adjective — مَكْتَبٌ حَدِيثٌ، مَصْنَعٌ كَبِيرٌ، شَرِكَةٌ دَوْلِيَّةٌ.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Workplaces (website vocabulary (2 of 2)). Hear → Say → See → Use. Transliteration is printed for Core students (cover it for Develop/Stretch).
FLEX: teach if time allows; otherwise these are on the website vocabulary tab for homework.
Review from TD-L06 (FLEX): say each workplace with a new adjective — مَكْتَبٌ حَدِيثٌ، مَصْنَعٌ كَبِيرٌ، شَرِكَةٌ دَوْلِيَّةٌ.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Conditions and benefits (website vocabulary (1 of 2)). Hear → Say → See → Use. Transliteration is printed for Core students (cover it for Develop/Stretch).
The new words. Every phrase is noun + adjective: the adjective agrees (سَاعَاتٌ مَرِنَةٌ: a non-human plural takes a feminine singular adjective). مُجْزٍ (rewarding) loses its yāʾ like مُحَامٍ: f. مُجْزِيَةٌ.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Conditions and benefits (website vocabulary (2 of 2)). Hear → Say → See → Use. Transliteration is printed for Core students (cover it for Develop/Stretch).
The new words. Every phrase is noun + adjective: the adjective agrees (سَاعَاتٌ مَرِنَةٌ: a non-human plural takes a feminine singular adjective). مُجْزٍ (rewarding) loses its yāʾ like مُحَامٍ: f. مُجْزِيَةٌ.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Evaluation (website vocabulary (1 of 2)). Hear → Say → See → Use. Transliteration is printed for Core students (cover it for Develop/Stretch).
FLEX: teach if time allows; otherwise these are on the website vocabulary tab for homework.
Evaluation connectors (FLEX): the same Topic D list. Today’s focus: بَيْنَمَا (whereas) and وَلٰكِنَّ (however).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Evaluation (website vocabulary (2 of 2)). Hear → Say → See → Use. Transliteration is printed for Core students (cover it for Develop/Stretch).
FLEX: teach if time allows; otherwise these are on the website vocabulary tab for homework.
Evaluation connectors (FLEX): the same Topic D list. Today’s focus: بَيْنَمَا (whereas) and وَلٰكِنَّ (however).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“Place and condition” (يَعْمَلُ فِي + مَكَانٍ + صِفَةٍ: describe the location, then add an agreeing adjective) and “Relative clause” (الَّذِي for masculine and الَّتِي for feminine antecedents). Website examples: يَعْمَلُ فِي مَكْتَبٍ حَدِيثٍ · تَعْمَلُ فِي بِيئَةٍ آمِنَةٍ · المَكْتَبُ الَّذِي أَعْمَلُ فِيهِ · الشَّرِكَةُ الَّتِي تُوَفِّرُ تَدْرِيبًا.
Teacher additions: the adjective takes the noun’s case ending (فِي مَكْتَبٍ حَدِيثٍ: both -in after fī); the returning pronoun فِيهِ / فِيهَا. Core can stop at row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“Advantages and disadvantages” (a noun phrase followed by أَنَّ and a complete clause) and “Contrast” (بَيْنَمَا compares two situations; لٰكِنَّ qualifies a statement). Website examples: مِنْ مَزَايَا العَمَلِ أَنَّ سَاعَاتِهِ مَرِنَةٌ · مِنْ عُيُوبِهِ أَنَّهُ مُجْهِدٌ · الرَّاتِبُ مُرْتَفِعٌ، وَلٰكِنَّ السَّاعَاتِ طَوِيلَةٌ · أَعْمَلُ فِي مَكْتَبٍ، بَيْنَمَا يَعْمَلُ أَخِي فِي الهَوَاءِ الطَّلْقِ.
Stretch: after أَنَّ and لٰكِنَّ the noun takes -a (accusative): أَنَّ سَاعَاتِهِ (a feminine sound plural shows -i), لٰكِنَّ السَّاعَاتِ.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“وَصْفُ بِيئَةِ العَمَلِ وَالجُمَلُ المَوْصُولَةُ”
• Place and condition: Describe the location, then add an agreeing adjective.
• Relative clause: Use الذي for masculine and التي for feminine antecedents.
• Advantages and disadvantages: Use a noun phrase followed by أنَّ and a complete clause.
• Contrast: Use بينما to compare two situations and لكنّ to qualify a statement.
Website common error: Do not leave out أَنَّ after مِنْ مَزَايَا / مِنْ عُيُوبِ, and do not use الَّذِي with a feminine noun (teacher wording: the website common error for this lesson is generic).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4,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teacher-written model built from the website rules and the listening script (Samer on the building site). Think aloud: “Masculine or feminine place? Which clause? Where is my contrast?”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(“Workplace Match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D GAME “Workplace Match”: office hours, working from home, an evening shift.
Website feedback lines: The office hours match. · The scene shows remote work. · The shop shift is in the evening.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(“Workplace Match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D GAME “Workplace Match”: office hours, working from home, an evening shift.
Website feedback lines: The office hours match. · The scene shows remote work. · The shop shift is in the evening.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The Workplace — Environments and Work Conditions”)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Other website cards: أَعْمَلُ فِي مُسْتَشْفًى · أَعْمَلُ فِي مَدْرَسَةٍ · أَعْمَلُ مِنَ التَّاسِعَةِ إِلَى الخَامِسَةِ (from nine to five). Stretch: add an adjective to each card (مَصْنَعٌ كَبِيرٌ).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The Workplace — Environments and Work Conditions”)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Other website cards: أَعْمَلُ فِي مُسْتَشْفًى · أَعْمَلُ فِي مَدْرَسَةٍ · أَعْمَلُ مِنَ التَّاسِعَةِ إِلَى الخَامِسَةِ (from nine to five). Stretch: add an adjective to each card (مَصْنَعٌ كَبِيرٌ).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Decide whether each work condition is usually an advantage or a disadvantage.
Then turn two items into sentences: مِنْ مَزَايَا العَمَلِ أَنَّ … · مِنْ عُيُوبِهِ أَنَّ … (Stretch: argue that one item could be both — long hours with a high salary).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Decide whether each work condition is usually an advantage or a disadvantage.
Then turn two items into sentences: مِنْ مَزَايَا العَمَلِ أَنَّ … · مِنْ عُيُوبِهِ أَنَّ … (Stretch: argue that one item could be both — long hours with a high salary).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3,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5. Develop / Stretch: all 6.
Listen 1: just listen. Listen 2: note answers. Then chat the letters.
Support: after the second listening, show the read-along slide (Arabic + English, line by line) for Core students.
SCRIPT (read aloud):
تَعْمَلُ مَرْيَمُ فِي مُخْتَبَرٍ حَدِيثٍ مِنَ السَّاعَةِ الثَّامِنَةِ إِلَى الرَّابِعَةِ. تُحِبُّ بِيئَةَ العَمَلِ لِأَنَّهَا آمِنَةٌ وَمُنَظَّمَةٌ، وَلٰكِنَّ العَمَلَ يَحْتَاجُ إِلَى دِقَّةٍ شَدِيدَةٍ. أَمَّا سَامِرٌ فَيَعْمَلُ فِي مَوْقِعِ بِنَاءٍ. رَاتِبُهُ جَيِّدٌ، لٰكِنَّ عَمَلَهُ مُجْهِدٌ وَيَتَأَثَّرُ بِالطَّقْسِ.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 APPLICATION CHALLENGE (5 min — it takes the speaking-rehearsal slot; the website speaking slide after it is FLEX) — from the website Topic page: “Compare two workplaces by hours, environment, responsibilities and conditions, then decide which suits a given worker profile best.”
Website Topic D challenge “Workplace comparison”. Profiles: المَكْتَبُ: مِنَ التَّاسِعَةِ إِلَى الخَامِسَةِ، هَادِئٌ، رَاتِبٌ ثَابِتٌ · المُسْتَشْفَى: نَوْبَاتٌ لَيْلِيَّةٌ، مُزْدَحِمٌ، عَمَلٌ مُهِمٌّ. Worker: طَالِبٌ جَامِعِيٌّ يَدْرُسُ فِي الصَّبَاحِ وَيُرِيدُ عَمَلًا مَسَائِيًّا.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the Topic D challenge before this slide is the main speaking task; use these website prompts if time allows or as homework rehearsal.
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وَمَا عُيُوبُهُ؟ (And its disadvantages?)
B: مِنْ عُيُوبِهِ أَنَّ السَّاعَاتِ طَوِيلَةٌ، وَلٰكِنَّ الرَّاتِبَ مُرْتَفِعٌ. (One disadvantage is that the hours are long, but the salary is high.)
Teacher-written prompts and model (the website prompts for this lesson are generic). Model continues: A: وَمَا عُيُوبُهُ؟ B: مِنْ عُيُوبِهِ أَنَّ السَّاعَاتِ طَوِيلَةٌ، وَلٰكِنَّ الرَّاتِبَ مُرْتَفِعٌ. To a girl: أَيْنَ تُفَضِّلِينَ أَنْ تَعْمَلِي؟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Secure the main vocabulary and produce four accurate sentences using the taught frame. · Develop — Combine description, grammar and a reason in connected answers. · Stretch — Add comparison, contrast, precise evidence and independently controlled complex structures.
Website writing task (Stretch): Compare two workplaces and explain which one you would prefer and why.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Teacher-written model (the website model for this lesson is a placeholder). Evidence: مَكْتَبٍ حَدِيثٍ، مَوْقِعِ بِنَاءٍ · المَكْتَبُ الَّذِي يَعْمَلُ فِيهِ · مِنْ مَزَايَاهُ أَنَّ … وَلٰكِنَّ عَمَلَهُ مُجْهِدٌ · أُفَضِّلُ … لِأَنَّنِي … · عَلَى الرَّغْمِ مِنْ أَنَّ … فَإِنَّهُ …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(TD-L08 · Personal Qualities and Professional Skills) will spend class time USING this language, so students prepare it tonight — short, simple, easy to access (school guidance: “Simple, Short, Interesting, Relevant, Easy to access”). The five words come from the website TD-L08 vocabulary (skills and worker qualities).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1.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ADVANCED TOPIC D  ·  TD-L07</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TD-L07</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850" b="1" dirty="0">
                <a:solidFill>
                  <a:srgbClr val="FFFFFF"/>
                </a:solidFill>
                <a:latin typeface="Cambria" pitchFamily="34" charset="0"/>
                <a:ea typeface="Cambria" pitchFamily="34" charset="-122"/>
                <a:cs typeface="Cambria" pitchFamily="34" charset="-120"/>
              </a:rPr>
              <a:t>The Workplace and Working Conditions</a:t>
            </a:r>
            <a:endParaRPr lang="en-US" sz="28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مَكَانُ العَمَلِ وَظُرُوفُهُ</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Discuss workplaces, schedules, pay, conditions, advantages and challenges.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TD-L07 · Advanced Topic D · The World of Work</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Topic D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Advanced Topics › Topic D › TD-L07</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TD-L07 · Workplace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TD-L07</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TD-L07 · Workplace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TD-L07</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Workplace + adjective, the who / which clause, and pros and cons.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Picture match, sort advantages / disadvantages,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TD-L08.</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TD-L07 · Workplace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رَاتِبٌ</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team</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salary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office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عَمَلٌ مُجْزٍ</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rewarding work</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tiring work</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part-time work</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أُمِّي مُحَاسِبٌ.</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أُمِّي تَكُونُ مُحَاسِبَةٌ.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أُمِّي مُحَاسِبَةٌ.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does a lawyer work?</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المَصْنَعِ</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المُخْتَبَرِ</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المَحْكَمَةِ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introduces an advantage?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مَزَايَا … أَنَّ</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عُيُوبِ … أَنَّ</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 سَبِيلِ المِثَالِ</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TD-L07 · Workplace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رَاتِبٌ</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team</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salary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 office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(TD-L06).</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عَمَلٌ مُجْزٍ</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rewarding work</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tiring work</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part-time work</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(TD-L06).</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أُمِّي مُحَاسِبٌ.</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أُمِّي تَكُونُ مُحَاسِبَةٌ.</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أُمِّي مُحَاسِبَةٌ.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TD-L06: feminine, no “is”.</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does a lawyer work?</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المَصْنَعِ</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المُخْتَبَرِ</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 المَحْكَمَةِ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TD-L06 workplaces.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introduces an advantage?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مِنْ مَزَايَا … أَنَّ</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 عُيُوبِ … أَنَّ</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 سَبِيلِ المِثَالِ</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F6-L05 (website): the same frame for towns.</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The adjective follows the workplace and agrees with it.</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مَكْتَبٌ </a:t>
            </a:r>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حَدِيثٌ</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بِيئَةٌ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آمِنَةٌ</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الشَّرِكَةُ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الَّتِي</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أَعْمَلُ فِيهَا</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TD-L07 · Workplace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TD-L07</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Describe a workplace with an adjective that agrees.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Name work conditions and benefits (hours, salary, team, leave).</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Join ideas with </a:t>
            </a:r>
            <a:pPr algn="l" indent="0" marL="0">
              <a:buNone/>
            </a:pPr>
            <a:r>
              <a:rPr lang="ar-SA" altLang="en-US" sz="1700" dirty="0">
                <a:solidFill>
                  <a:srgbClr val="1F2A37"/>
                </a:solidFill>
                <a:latin typeface="Amiri" pitchFamily="34" charset="0"/>
                <a:ea typeface="Amiri" pitchFamily="34" charset="-122"/>
                <a:cs typeface="Amiri" pitchFamily="34" charset="-120"/>
              </a:rPr>
              <a:t>الَّذِي / الَّتِي</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Weigh advantages and disadvantages with </a:t>
            </a:r>
            <a:pPr algn="l" indent="0" marL="0">
              <a:buNone/>
            </a:pPr>
            <a:r>
              <a:rPr lang="ar-SA" altLang="en-US" sz="1700" dirty="0">
                <a:solidFill>
                  <a:srgbClr val="1F2A37"/>
                </a:solidFill>
                <a:latin typeface="Amiri" pitchFamily="34" charset="0"/>
                <a:ea typeface="Amiri" pitchFamily="34" charset="-122"/>
                <a:cs typeface="Amiri" pitchFamily="34" charset="-120"/>
              </a:rPr>
              <a:t>أَنَّ</a:t>
            </a:r>
            <a:pPr algn="l" indent="0" marL="0">
              <a:buNone/>
            </a:pPr>
            <a:r>
              <a:rPr lang="en-US" sz="1300" dirty="0">
                <a:solidFill>
                  <a:srgbClr val="1F2A37"/>
                </a:solidFill>
                <a:latin typeface="Calibri" pitchFamily="34" charset="0"/>
                <a:ea typeface="Calibri" pitchFamily="34" charset="-122"/>
                <a:cs typeface="Calibri" pitchFamily="34" charset="-120"/>
              </a:rPr>
              <a:t> and a contrast.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describe a workplace with an adjective.</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give one advantage of a job.</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the place where / the company which.</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contrast two jobs.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weigh two workplaces and choose one.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use although … in a judgement.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36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Workplaces · 12</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Conditions and benefits · 12</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Evaluation · 12</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رَاتِبٌ</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‎تنخواہ‎ </a:t>
            </a:r>
            <a:pPr indent="0" marL="0">
              <a:buNone/>
            </a:pPr>
            <a:r>
              <a:rPr lang="en-US" sz="950" b="1" dirty="0">
                <a:solidFill>
                  <a:srgbClr val="2E8B57"/>
                </a:solidFill>
                <a:latin typeface="Calibri" pitchFamily="34" charset="0"/>
                <a:ea typeface="Calibri" pitchFamily="34" charset="-122"/>
                <a:cs typeface="Calibri" pitchFamily="34" charset="-120"/>
              </a:rPr>
              <a:t> tankhwāh · salary (meaning only)</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مَكْتَبٌ</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‎مکتب‎ </a:t>
            </a:r>
            <a:pPr indent="0" marL="0">
              <a:buNone/>
            </a:pPr>
            <a:r>
              <a:rPr lang="en-US" sz="950" b="1" dirty="0">
                <a:solidFill>
                  <a:srgbClr val="2E8B57"/>
                </a:solidFill>
                <a:latin typeface="Calibri" pitchFamily="34" charset="0"/>
                <a:ea typeface="Calibri" pitchFamily="34" charset="-122"/>
                <a:cs typeface="Calibri" pitchFamily="34" charset="-120"/>
              </a:rPr>
              <a:t> maktab · Urdu: school · Arabic: office / desk</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مَصْنَعٌ</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‎صنعت‎ </a:t>
            </a:r>
            <a:pPr indent="0" marL="0">
              <a:buNone/>
            </a:pPr>
            <a:r>
              <a:rPr lang="en-US" sz="950" b="1" dirty="0">
                <a:solidFill>
                  <a:srgbClr val="2E8B57"/>
                </a:solidFill>
                <a:latin typeface="Calibri" pitchFamily="34" charset="0"/>
                <a:ea typeface="Calibri" pitchFamily="34" charset="-122"/>
                <a:cs typeface="Calibri" pitchFamily="34" charset="-120"/>
              </a:rPr>
              <a:t> sanʿat · industry → factory</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سَنَوِيَّةٌ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‎سال / سالانہ‎ </a:t>
            </a:r>
            <a:pPr indent="0" marL="0">
              <a:buNone/>
            </a:pPr>
            <a:r>
              <a:rPr lang="en-US" sz="950" b="1" dirty="0">
                <a:solidFill>
                  <a:srgbClr val="2E8B57"/>
                </a:solidFill>
                <a:latin typeface="Calibri" pitchFamily="34" charset="0"/>
                <a:ea typeface="Calibri" pitchFamily="34" charset="-122"/>
                <a:cs typeface="Calibri" pitchFamily="34" charset="-120"/>
              </a:rPr>
              <a:t> sālāna · annual (meaning only)</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تَوَازُنٌ</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‎توازن‎ </a:t>
            </a:r>
            <a:pPr indent="0" marL="0">
              <a:buNone/>
            </a:pPr>
            <a:r>
              <a:rPr lang="en-US" sz="950" b="1" dirty="0">
                <a:solidFill>
                  <a:srgbClr val="2E8B57"/>
                </a:solidFill>
                <a:latin typeface="Calibri" pitchFamily="34" charset="0"/>
                <a:ea typeface="Calibri" pitchFamily="34" charset="-122"/>
                <a:cs typeface="Calibri" pitchFamily="34" charset="-120"/>
              </a:rPr>
              <a:t> tawāzun · balance</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TD-L07 · Workplace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Workplaces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TD-L07</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مُسْتَشْفًى</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hospital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mus-tash-fan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مَدْرَسَةٌ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school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mad-ra-sa-tun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مَكْتَبٌ</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office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mak-ta-bun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مَصْنَعٌ</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factory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maṣ-na-ʿun</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مُخْتَبَرٌ</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laboratory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mukh-ta-ba-run</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مَحْكَمَةٌ</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court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maḥ-ka-ma-tun</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TD-L07 · Workplace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Workplaces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TD-L07</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مَتْجَرٌ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shop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mat-ja-run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مَطَارٌ</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airport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ma-ṭā-run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شَرِكَةٌ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company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sha-ri-ka-tun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مَوْقِعُ بِنَاءٍ</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building site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maw-qi-ʿu bi-nā-ʾin</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عَنْ بُعْدٍ</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remotely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ʿan buʿ-din</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الهَوَاءِ الطَّلْقِ</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outdoors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al-ha-wā-ʾi aṭ-ṭal-qi</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TD-L07 · Workplace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Conditions and benefits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دَوَامٌ كَامِلٌ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full-time work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da-wā-mun kā-mi-lun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دَوَامٌ جُزْئِيٌّ</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part-time work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da-wā-mun juz-ʾiy-yun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سَاعَاتٌ مَرِنَةٌ</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flexible hours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sā-ʿā-tun ma-ri-na-tun</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رَاتِبٌ مُرْتَفِعٌ</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high salary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rā-ti-bun mur-ta-fi-ʿun</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46" name="Shape 4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رَاتِبٌ مُنْخَفِضٌ</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low salary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rā-ti-bun mun-kha-fi-ḍun</a:t>
            </a:r>
            <a:endParaRPr lang="en-US" sz="1350" dirty="0"/>
          </a:p>
        </p:txBody>
      </p:sp>
      <p:sp>
        <p:nvSpPr>
          <p:cNvPr id="50" name="Shape 4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566928"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53" name="Shape 50"/>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5" name="Text 5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عَمَلٌ مُجْهِدٌ</a:t>
            </a:r>
            <a:endParaRPr lang="ar-SA" sz="3000" dirty="0"/>
          </a:p>
        </p:txBody>
      </p:sp>
      <p:sp>
        <p:nvSpPr>
          <p:cNvPr id="56" name="Text 5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tiring work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ʿa-ma-lun muj-hi-dun</a:t>
            </a:r>
            <a:endParaRPr lang="en-US" sz="13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TD-L07 · Workplace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Conditions and benefits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عَمَلٌ مُجْزٍ</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rewarding work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ʿa-ma-lun muj-zin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بِيئَةٌ آمِنَةٌ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safe environment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bī-ʾa-tun ā-mi-na-tun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فَرِيقُ عَمَلٍ</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work team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fa-rī-qu ʿa-ma-lin</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إِجَازَةٌ سَنَوِيَّةٌ</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annual leave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i-jā-za-tun sa-na-wiy-ya-tun</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فُرَصُ التَّرَقِّي</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promotion opportunities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fu-ra-ṣu at-ta-raq-qī</a:t>
            </a:r>
            <a:endParaRPr lang="en-US" sz="1350" dirty="0"/>
          </a:p>
        </p:txBody>
      </p:sp>
      <p:sp>
        <p:nvSpPr>
          <p:cNvPr id="46" name="Shape 4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66928"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49" name="Text 46"/>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2900" b="1" dirty="0">
                <a:solidFill>
                  <a:srgbClr val="1B3B6F"/>
                </a:solidFill>
                <a:latin typeface="Amiri" pitchFamily="34" charset="0"/>
                <a:ea typeface="Amiri" pitchFamily="34" charset="-122"/>
                <a:cs typeface="Amiri" pitchFamily="34" charset="-120"/>
              </a:rPr>
              <a:t>تَوَازُنٌ بَيْنَ العَمَلِ وَالحَيَاةِ</a:t>
            </a:r>
            <a:endParaRPr lang="ar-SA" sz="2900" dirty="0"/>
          </a:p>
        </p:txBody>
      </p:sp>
      <p:sp>
        <p:nvSpPr>
          <p:cNvPr id="50" name="Text 47"/>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work-life balance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ta-wā-zu-nun bay-na al-ʿa-ma-li wāl-ḥa-yā-ti</a:t>
            </a:r>
            <a:endParaRPr lang="en-US" sz="13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TD-L07 · Workplace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Evaluation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TD-L07</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لِأَنَّ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because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li-ʾan-na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لِذٰلِكَ</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therefore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li-dhā-li-ka</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27</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وَلٰكِنَّ</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however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wa-lā-kin-na</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28</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بَيْنَمَا</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whereas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bay-na-mā</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29</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عَلَى الرَّغْمِ مِنْ أَنَّ</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although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ʿa-lā ar-ragh-mi min an-na</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30</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إِضَافَةً إِلَى ذٰلِكَ</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addition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i-ḍā-fa-tan i-lā dhā-li-ka</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TD-L07 · Workplace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Evaluation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TD-L07</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جِهَةٍ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on one hand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 ji-ha-tin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جِهَةٍ أُخْرَى</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on the other hand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 ji-ha-tin ukh-rā</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رَأْيِي</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my opinion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raʾ-yī</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34</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عَلَى سَبِيلِ المِثَالِ</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for example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ʿa-lā sa-bī-li al-mi-thā-li</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35</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نَتِيجَةً لِذٰلِكَ</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as a result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na-tī-ja-tan li-dhā-li-ka</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36</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بِهَدَفِ</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with the aim of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bi-ha-da-fi</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TD-L07 · Workplace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46" b="1" spc="150" kern="0" dirty="0">
                <a:solidFill>
                  <a:srgbClr val="1B3B6F"/>
                </a:solidFill>
                <a:latin typeface="Calibri" pitchFamily="34" charset="0"/>
                <a:ea typeface="Calibri" pitchFamily="34" charset="-122"/>
                <a:cs typeface="Calibri" pitchFamily="34" charset="-120"/>
              </a:rPr>
              <a:t>GRAMMAR FOCUS · PART 1 · PLACE + CONDITION, AND WHICH / WHERE (WEBSITE RULES 1–2)</a:t>
            </a:r>
            <a:endParaRPr lang="en-US" sz="846"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Describe the place, then join a clause</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الَّذِي · الَّتِي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98664"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Masculine noun</a:t>
            </a:r>
            <a:endParaRPr lang="en-US" sz="1100" dirty="0"/>
          </a:p>
        </p:txBody>
      </p:sp>
      <p:sp>
        <p:nvSpPr>
          <p:cNvPr id="17" name="Text 14"/>
          <p:cNvSpPr txBox="1"/>
          <p:nvPr/>
        </p:nvSpPr>
        <p:spPr>
          <a:xfrm>
            <a:off x="3392424"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Feminine noun</a:t>
            </a:r>
            <a:endParaRPr lang="en-US" sz="1100" dirty="0"/>
          </a:p>
        </p:txBody>
      </p:sp>
      <p:sp>
        <p:nvSpPr>
          <p:cNvPr id="18" name="Text 15"/>
          <p:cNvSpPr txBox="1"/>
          <p:nvPr/>
        </p:nvSpPr>
        <p:spPr>
          <a:xfrm>
            <a:off x="530352" y="1810512"/>
            <a:ext cx="27157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Rule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16952" y="2286000"/>
            <a:ext cx="40233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يَعْمَلُ فِي مَكْتَبٍ </a:t>
            </a:r>
            <a:pPr rtl="1" algn="ctr" indent="0" marL="0">
              <a:buNone/>
            </a:pPr>
            <a:r>
              <a:rPr lang="ar-SA" altLang="en-US" sz="2100" b="1" dirty="0">
                <a:solidFill>
                  <a:srgbClr val="1D5FBF"/>
                </a:solidFill>
                <a:latin typeface="Amiri" pitchFamily="34" charset="0"/>
                <a:ea typeface="Amiri" pitchFamily="34" charset="-122"/>
                <a:cs typeface="Amiri" pitchFamily="34" charset="-120"/>
              </a:rPr>
              <a:t>حَدِيثٍ</a:t>
            </a:r>
            <a:pPr rtl="1" algn="ctr" indent="0" marL="0">
              <a:buNone/>
            </a:pPr>
            <a:r>
              <a:rPr lang="ar-SA" altLang="en-US" sz="2100" b="1" dirty="0">
                <a:solidFill>
                  <a:srgbClr val="1B3B6F"/>
                </a:solidFill>
                <a:latin typeface="Amiri" pitchFamily="34" charset="0"/>
                <a:ea typeface="Amiri" pitchFamily="34" charset="-122"/>
                <a:cs typeface="Amiri" pitchFamily="34" charset="-120"/>
              </a:rPr>
              <a:t>.</a:t>
            </a:r>
            <a:endParaRPr lang="ar-SA" sz="2100" dirty="0"/>
          </a:p>
        </p:txBody>
      </p:sp>
      <p:sp>
        <p:nvSpPr>
          <p:cNvPr id="21" name="Text 18"/>
          <p:cNvSpPr txBox="1"/>
          <p:nvPr/>
        </p:nvSpPr>
        <p:spPr>
          <a:xfrm>
            <a:off x="7571232" y="2706624"/>
            <a:ext cx="41148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in a modern office</a:t>
            </a:r>
            <a:endParaRPr lang="en-US" sz="950" dirty="0"/>
          </a:p>
        </p:txBody>
      </p:sp>
      <p:sp>
        <p:nvSpPr>
          <p:cNvPr id="22" name="Text 19"/>
          <p:cNvSpPr txBox="1"/>
          <p:nvPr/>
        </p:nvSpPr>
        <p:spPr>
          <a:xfrm>
            <a:off x="3410712" y="2286000"/>
            <a:ext cx="40233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تَعْمَلُ فِي بِيئَةٍ </a:t>
            </a:r>
            <a:pPr rtl="1" algn="ctr" indent="0" marL="0">
              <a:buNone/>
            </a:pPr>
            <a:r>
              <a:rPr lang="ar-SA" altLang="en-US" sz="2100" b="1" dirty="0">
                <a:solidFill>
                  <a:srgbClr val="D6336C"/>
                </a:solidFill>
                <a:latin typeface="Amiri" pitchFamily="34" charset="0"/>
                <a:ea typeface="Amiri" pitchFamily="34" charset="-122"/>
                <a:cs typeface="Amiri" pitchFamily="34" charset="-120"/>
              </a:rPr>
              <a:t>آمِنَةٍ</a:t>
            </a:r>
            <a:pPr rtl="1" algn="ctr" indent="0" marL="0">
              <a:buNone/>
            </a:pPr>
            <a:r>
              <a:rPr lang="ar-SA" altLang="en-US" sz="2100" b="1" dirty="0">
                <a:solidFill>
                  <a:srgbClr val="1B3B6F"/>
                </a:solidFill>
                <a:latin typeface="Amiri" pitchFamily="34" charset="0"/>
                <a:ea typeface="Amiri" pitchFamily="34" charset="-122"/>
                <a:cs typeface="Amiri" pitchFamily="34" charset="-120"/>
              </a:rPr>
              <a:t>.</a:t>
            </a:r>
            <a:endParaRPr lang="ar-SA" sz="2100" dirty="0"/>
          </a:p>
        </p:txBody>
      </p:sp>
      <p:sp>
        <p:nvSpPr>
          <p:cNvPr id="23" name="Text 20"/>
          <p:cNvSpPr txBox="1"/>
          <p:nvPr/>
        </p:nvSpPr>
        <p:spPr>
          <a:xfrm>
            <a:off x="3364992" y="2706624"/>
            <a:ext cx="41148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in a safe environment</a:t>
            </a:r>
            <a:endParaRPr lang="en-US" sz="950" dirty="0"/>
          </a:p>
        </p:txBody>
      </p:sp>
      <p:sp>
        <p:nvSpPr>
          <p:cNvPr id="24" name="Text 21"/>
          <p:cNvSpPr txBox="1"/>
          <p:nvPr/>
        </p:nvSpPr>
        <p:spPr>
          <a:xfrm>
            <a:off x="566928" y="2267712"/>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adjective agrees</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7616952" y="3072384"/>
            <a:ext cx="40233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مَصْنَعٌ </a:t>
            </a:r>
            <a:pPr rtl="1" algn="ctr" indent="0" marL="0">
              <a:buNone/>
            </a:pPr>
            <a:r>
              <a:rPr lang="ar-SA" altLang="en-US" sz="2100" b="1" dirty="0">
                <a:solidFill>
                  <a:srgbClr val="1D5FBF"/>
                </a:solidFill>
                <a:latin typeface="Amiri" pitchFamily="34" charset="0"/>
                <a:ea typeface="Amiri" pitchFamily="34" charset="-122"/>
                <a:cs typeface="Amiri" pitchFamily="34" charset="-120"/>
              </a:rPr>
              <a:t>كَبِيرٌ</a:t>
            </a:r>
            <a:endParaRPr lang="ar-SA" sz="2100" dirty="0"/>
          </a:p>
        </p:txBody>
      </p:sp>
      <p:sp>
        <p:nvSpPr>
          <p:cNvPr id="29" name="Text 26"/>
          <p:cNvSpPr txBox="1"/>
          <p:nvPr/>
        </p:nvSpPr>
        <p:spPr>
          <a:xfrm>
            <a:off x="7571232" y="3493008"/>
            <a:ext cx="41148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 big factory</a:t>
            </a:r>
            <a:endParaRPr lang="en-US" sz="950" dirty="0"/>
          </a:p>
        </p:txBody>
      </p:sp>
      <p:sp>
        <p:nvSpPr>
          <p:cNvPr id="30" name="Text 27"/>
          <p:cNvSpPr txBox="1"/>
          <p:nvPr/>
        </p:nvSpPr>
        <p:spPr>
          <a:xfrm>
            <a:off x="3410712" y="3072384"/>
            <a:ext cx="40233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شَرِكَةٌ </a:t>
            </a:r>
            <a:pPr rtl="1" algn="ctr" indent="0" marL="0">
              <a:buNone/>
            </a:pPr>
            <a:r>
              <a:rPr lang="ar-SA" altLang="en-US" sz="2100" b="1" dirty="0">
                <a:solidFill>
                  <a:srgbClr val="D6336C"/>
                </a:solidFill>
                <a:latin typeface="Amiri" pitchFamily="34" charset="0"/>
                <a:ea typeface="Amiri" pitchFamily="34" charset="-122"/>
                <a:cs typeface="Amiri" pitchFamily="34" charset="-120"/>
              </a:rPr>
              <a:t>دَوْلِيَّةٌ</a:t>
            </a:r>
            <a:endParaRPr lang="ar-SA" sz="2100" dirty="0"/>
          </a:p>
        </p:txBody>
      </p:sp>
      <p:sp>
        <p:nvSpPr>
          <p:cNvPr id="31" name="Text 28"/>
          <p:cNvSpPr txBox="1"/>
          <p:nvPr/>
        </p:nvSpPr>
        <p:spPr>
          <a:xfrm>
            <a:off x="3364992" y="3493008"/>
            <a:ext cx="41148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an international company</a:t>
            </a:r>
            <a:endParaRPr lang="en-US" sz="950" dirty="0"/>
          </a:p>
        </p:txBody>
      </p:sp>
      <p:sp>
        <p:nvSpPr>
          <p:cNvPr id="32" name="Text 29"/>
          <p:cNvSpPr txBox="1"/>
          <p:nvPr/>
        </p:nvSpPr>
        <p:spPr>
          <a:xfrm>
            <a:off x="566928" y="3054096"/>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-un / -atun</a:t>
            </a:r>
            <a:endParaRPr lang="en-US" sz="1100" dirty="0"/>
          </a:p>
        </p:txBody>
      </p:sp>
      <p:sp>
        <p:nvSpPr>
          <p:cNvPr id="33" name="Shape 30"/>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5" name="Shape 32"/>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6" name="Text 33"/>
          <p:cNvSpPr txBox="1"/>
          <p:nvPr/>
        </p:nvSpPr>
        <p:spPr>
          <a:xfrm>
            <a:off x="7616952" y="3858768"/>
            <a:ext cx="40233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المَكْتَبُ </a:t>
            </a:r>
            <a:pPr rtl="1" algn="ctr" indent="0" marL="0">
              <a:buNone/>
            </a:pPr>
            <a:r>
              <a:rPr lang="ar-SA" altLang="en-US" sz="2100" b="1" dirty="0">
                <a:solidFill>
                  <a:srgbClr val="1D5FBF"/>
                </a:solidFill>
                <a:latin typeface="Amiri" pitchFamily="34" charset="0"/>
                <a:ea typeface="Amiri" pitchFamily="34" charset="-122"/>
                <a:cs typeface="Amiri" pitchFamily="34" charset="-120"/>
              </a:rPr>
              <a:t>الَّذِي</a:t>
            </a:r>
            <a:pPr rtl="1" algn="ctr" indent="0" marL="0">
              <a:buNone/>
            </a:pPr>
            <a:r>
              <a:rPr lang="ar-SA" altLang="en-US" sz="2100" b="1" dirty="0">
                <a:solidFill>
                  <a:srgbClr val="1B3B6F"/>
                </a:solidFill>
                <a:latin typeface="Amiri" pitchFamily="34" charset="0"/>
                <a:ea typeface="Amiri" pitchFamily="34" charset="-122"/>
                <a:cs typeface="Amiri" pitchFamily="34" charset="-120"/>
              </a:rPr>
              <a:t> أَعْمَلُ فِيهِ</a:t>
            </a:r>
            <a:endParaRPr lang="ar-SA" sz="2100" dirty="0"/>
          </a:p>
        </p:txBody>
      </p:sp>
      <p:sp>
        <p:nvSpPr>
          <p:cNvPr id="37" name="Text 34"/>
          <p:cNvSpPr txBox="1"/>
          <p:nvPr/>
        </p:nvSpPr>
        <p:spPr>
          <a:xfrm>
            <a:off x="7571232" y="4279392"/>
            <a:ext cx="41148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 office (which) I work in</a:t>
            </a:r>
            <a:endParaRPr lang="en-US" sz="950" dirty="0"/>
          </a:p>
        </p:txBody>
      </p:sp>
      <p:sp>
        <p:nvSpPr>
          <p:cNvPr id="38" name="Text 35"/>
          <p:cNvSpPr txBox="1"/>
          <p:nvPr/>
        </p:nvSpPr>
        <p:spPr>
          <a:xfrm>
            <a:off x="3410712" y="3858768"/>
            <a:ext cx="40233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الشَّرِكَةُ </a:t>
            </a:r>
            <a:pPr rtl="1" algn="ctr" indent="0" marL="0">
              <a:buNone/>
            </a:pPr>
            <a:r>
              <a:rPr lang="ar-SA" altLang="en-US" sz="2100" b="1" dirty="0">
                <a:solidFill>
                  <a:srgbClr val="D6336C"/>
                </a:solidFill>
                <a:latin typeface="Amiri" pitchFamily="34" charset="0"/>
                <a:ea typeface="Amiri" pitchFamily="34" charset="-122"/>
                <a:cs typeface="Amiri" pitchFamily="34" charset="-120"/>
              </a:rPr>
              <a:t>الَّتِي</a:t>
            </a:r>
            <a:pPr rtl="1" algn="ctr" indent="0" marL="0">
              <a:buNone/>
            </a:pPr>
            <a:r>
              <a:rPr lang="ar-SA" altLang="en-US" sz="2100" b="1" dirty="0">
                <a:solidFill>
                  <a:srgbClr val="1B3B6F"/>
                </a:solidFill>
                <a:latin typeface="Amiri" pitchFamily="34" charset="0"/>
                <a:ea typeface="Amiri" pitchFamily="34" charset="-122"/>
                <a:cs typeface="Amiri" pitchFamily="34" charset="-120"/>
              </a:rPr>
              <a:t> تُوَفِّرُ تَدْرِيبًا</a:t>
            </a:r>
            <a:endParaRPr lang="ar-SA" sz="2100" dirty="0"/>
          </a:p>
        </p:txBody>
      </p:sp>
      <p:sp>
        <p:nvSpPr>
          <p:cNvPr id="39" name="Text 36"/>
          <p:cNvSpPr txBox="1"/>
          <p:nvPr/>
        </p:nvSpPr>
        <p:spPr>
          <a:xfrm>
            <a:off x="3364992" y="4279392"/>
            <a:ext cx="41148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 company which offers training</a:t>
            </a:r>
            <a:endParaRPr lang="en-US" sz="950" dirty="0"/>
          </a:p>
        </p:txBody>
      </p:sp>
      <p:sp>
        <p:nvSpPr>
          <p:cNvPr id="40" name="Text 37"/>
          <p:cNvSpPr txBox="1"/>
          <p:nvPr/>
        </p:nvSpPr>
        <p:spPr>
          <a:xfrm>
            <a:off x="566928" y="3840480"/>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allaḏī · allatī</a:t>
            </a:r>
            <a:endParaRPr lang="en-US" sz="1100" dirty="0"/>
          </a:p>
        </p:txBody>
      </p:sp>
      <p:sp>
        <p:nvSpPr>
          <p:cNvPr id="41" name="Shape 3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2" name="Text 39"/>
          <p:cNvSpPr txBox="1"/>
          <p:nvPr/>
        </p:nvSpPr>
        <p:spPr>
          <a:xfrm>
            <a:off x="7616952" y="4645152"/>
            <a:ext cx="40233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المَكْتَبُ الَّذِي أَعْمَلُ </a:t>
            </a:r>
            <a:pPr rtl="1" algn="ctr" indent="0" marL="0">
              <a:buNone/>
            </a:pPr>
            <a:r>
              <a:rPr lang="ar-SA" altLang="en-US" sz="2100" b="1" dirty="0">
                <a:solidFill>
                  <a:srgbClr val="1D5FBF"/>
                </a:solidFill>
                <a:latin typeface="Amiri" pitchFamily="34" charset="0"/>
                <a:ea typeface="Amiri" pitchFamily="34" charset="-122"/>
                <a:cs typeface="Amiri" pitchFamily="34" charset="-120"/>
              </a:rPr>
              <a:t>فِيهِ</a:t>
            </a:r>
            <a:endParaRPr lang="ar-SA" sz="2100" dirty="0"/>
          </a:p>
        </p:txBody>
      </p:sp>
      <p:sp>
        <p:nvSpPr>
          <p:cNvPr id="43" name="Text 40"/>
          <p:cNvSpPr txBox="1"/>
          <p:nvPr/>
        </p:nvSpPr>
        <p:spPr>
          <a:xfrm>
            <a:off x="7571232" y="5065776"/>
            <a:ext cx="41148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in it (m.)</a:t>
            </a:r>
            <a:endParaRPr lang="en-US" sz="950" dirty="0"/>
          </a:p>
        </p:txBody>
      </p:sp>
      <p:sp>
        <p:nvSpPr>
          <p:cNvPr id="44" name="Text 41"/>
          <p:cNvSpPr txBox="1"/>
          <p:nvPr/>
        </p:nvSpPr>
        <p:spPr>
          <a:xfrm>
            <a:off x="3410712" y="4645152"/>
            <a:ext cx="402336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الشَّرِكَةُ الَّتِي أَعْمَلُ </a:t>
            </a:r>
            <a:pPr rtl="1" algn="ctr" indent="0" marL="0">
              <a:buNone/>
            </a:pPr>
            <a:r>
              <a:rPr lang="ar-SA" altLang="en-US" sz="2100" b="1" dirty="0">
                <a:solidFill>
                  <a:srgbClr val="D6336C"/>
                </a:solidFill>
                <a:latin typeface="Amiri" pitchFamily="34" charset="0"/>
                <a:ea typeface="Amiri" pitchFamily="34" charset="-122"/>
                <a:cs typeface="Amiri" pitchFamily="34" charset="-120"/>
              </a:rPr>
              <a:t>فِيهَا</a:t>
            </a:r>
            <a:endParaRPr lang="ar-SA" sz="2100" dirty="0"/>
          </a:p>
        </p:txBody>
      </p:sp>
      <p:sp>
        <p:nvSpPr>
          <p:cNvPr id="45" name="Text 42"/>
          <p:cNvSpPr txBox="1"/>
          <p:nvPr/>
        </p:nvSpPr>
        <p:spPr>
          <a:xfrm>
            <a:off x="3364992" y="5065776"/>
            <a:ext cx="411480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in it (f.)</a:t>
            </a:r>
            <a:endParaRPr lang="en-US" sz="950" dirty="0"/>
          </a:p>
        </p:txBody>
      </p:sp>
      <p:sp>
        <p:nvSpPr>
          <p:cNvPr id="46" name="Text 43"/>
          <p:cNvSpPr txBox="1"/>
          <p:nvPr/>
        </p:nvSpPr>
        <p:spPr>
          <a:xfrm>
            <a:off x="566928" y="4626864"/>
            <a:ext cx="26791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fīhi · fīhā</a:t>
            </a:r>
            <a:endParaRPr lang="en-US" sz="1100" dirty="0"/>
          </a:p>
        </p:txBody>
      </p:sp>
      <p:sp>
        <p:nvSpPr>
          <p:cNvPr id="47" name="Text 4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Relative clauses need a “the” noun: al-maktab allaḏī … — and fīhi / fīhā points back to the place.</a:t>
            </a:r>
            <a:endParaRPr lang="en-US" sz="11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TD-L07 · Workplace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PROS, CONS AND CONTRAST (WEBSITE RULES 3–4)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Weigh it up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مَزَايَا · عُيُوبٌ · بَيْنَمَا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TD-L07</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371600" cy="274320"/>
          </a:xfrm>
          <a:prstGeom prst="roundRect">
            <a:avLst>
              <a:gd name="adj" fmla="val 50000"/>
            </a:avLst>
          </a:prstGeom>
          <a:solidFill>
            <a:srgbClr val="1E7B4F"/>
          </a:solidFill>
          <a:ln w="12700">
            <a:solidFill>
              <a:srgbClr val="1E7B4F"/>
            </a:solidFill>
            <a:prstDash val="solid"/>
          </a:ln>
        </p:spPr>
      </p:sp>
      <p:sp>
        <p:nvSpPr>
          <p:cNvPr id="17" name="Text 14"/>
          <p:cNvSpPr txBox="1"/>
          <p:nvPr/>
        </p:nvSpPr>
        <p:spPr>
          <a:xfrm>
            <a:off x="8232648"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ADVANTAGE · CORE</a:t>
            </a:r>
            <a:endParaRPr lang="en-US" sz="850" dirty="0"/>
          </a:p>
        </p:txBody>
      </p:sp>
      <p:sp>
        <p:nvSpPr>
          <p:cNvPr id="18" name="Text 15"/>
          <p:cNvSpPr txBox="1"/>
          <p:nvPr/>
        </p:nvSpPr>
        <p:spPr>
          <a:xfrm>
            <a:off x="9649968"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مِنْ مَزَايَا … أَنَّ</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مِنْ مَزَايَا العَمَلِ أَنَّ سَاعَاتِهِ مَرِنَةٌ.</a:t>
            </a:r>
            <a:endParaRPr lang="ar-SA" sz="2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One advantage of the job is that its hours are flexible.</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anna + a full clause.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577340" cy="274320"/>
          </a:xfrm>
          <a:prstGeom prst="roundRect">
            <a:avLst>
              <a:gd name="adj" fmla="val 50000"/>
            </a:avLst>
          </a:prstGeom>
          <a:solidFill>
            <a:srgbClr val="B83227"/>
          </a:solidFill>
          <a:ln w="12700">
            <a:solidFill>
              <a:srgbClr val="B83227"/>
            </a:solidFill>
            <a:prstDash val="solid"/>
          </a:ln>
        </p:spPr>
      </p:sp>
      <p:sp>
        <p:nvSpPr>
          <p:cNvPr id="25" name="Text 22"/>
          <p:cNvSpPr txBox="1"/>
          <p:nvPr/>
        </p:nvSpPr>
        <p:spPr>
          <a:xfrm>
            <a:off x="4413504"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DISADVANTAGE · CORE</a:t>
            </a:r>
            <a:endParaRPr lang="en-US" sz="850" dirty="0"/>
          </a:p>
        </p:txBody>
      </p:sp>
      <p:sp>
        <p:nvSpPr>
          <p:cNvPr id="26" name="Text 23"/>
          <p:cNvSpPr txBox="1"/>
          <p:nvPr/>
        </p:nvSpPr>
        <p:spPr>
          <a:xfrm>
            <a:off x="6036564"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مِنْ عُيُوبِهِ أَنَّهُ</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مِنْ عُيُوبِهِ أَنَّهُ مُجْهِدٌ.</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One of its disadvantages is that it is tiring.</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annahu = that it (m.).</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0876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CONTRAST · DEVELOP</a:t>
            </a:r>
            <a:endParaRPr lang="en-US" sz="850" dirty="0"/>
          </a:p>
        </p:txBody>
      </p:sp>
      <p:sp>
        <p:nvSpPr>
          <p:cNvPr id="34" name="Text 31"/>
          <p:cNvSpPr txBox="1"/>
          <p:nvPr/>
        </p:nvSpPr>
        <p:spPr>
          <a:xfrm>
            <a:off x="2148840"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وَلٰكِنَّ · بَيْنَمَا</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الرَّاتِبُ مُرْتَفِعٌ، وَلٰكِنَّ السَّاعَاتِ طَوِيلَةٌ.</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 salary is high, but the hours are long.</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lākinna + noun in -a.</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A clause after min mazāyā needs anna.</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مِنْ مَزَايَا العَمَلِ أَنَّ سَاعَاتِهِ مَرِنَةٌ.</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34" charset="0"/>
                <a:ea typeface="Amiri" pitchFamily="34" charset="-122"/>
                <a:cs typeface="Amiri" pitchFamily="34" charset="-120"/>
              </a:rPr>
              <a:t>مِنْ مَزَايَا العَمَلِ سَاعَاتُهُ مَرِنَةٌ.</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TD-L07 · Workplace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Work conditions and relative clauses</a:t>
            </a:r>
            <a:endParaRPr lang="en-US" sz="26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750" b="1" dirty="0">
                <a:solidFill>
                  <a:srgbClr val="8A6D1E"/>
                </a:solidFill>
                <a:latin typeface="Amiri" pitchFamily="34" charset="0"/>
                <a:ea typeface="Amiri" pitchFamily="34" charset="-122"/>
                <a:cs typeface="Amiri" pitchFamily="34" charset="-120"/>
              </a:rPr>
              <a:t>وَصْفُ بِيئَةِ العَمَلِ وَالجُمَلُ المَوْصُولَةُ</a:t>
            </a:r>
            <a:endParaRPr lang="ar-SA" sz="27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TD-L07</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Place and condition</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يَعْمَلُ فِي + مَكَانٍ + صِفَةٍ</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يَعْمَلُ فِي مَكْتَبٍ حَدِيثٍ.   ·   تَعْمَلُ فِي بِيئَةٍ آمِنَةٍ.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Relative clause</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مَكَانٌ الَّذِي / بِيئَةٌ الَّتِي</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المَكْتَبُ الَّذِي أَعْمَلُ فِيهِ   ·   الشَّرِكَةُ الَّتِي تُوَفِّرُ تَدْرِيبًا</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Advantages and disadvantages</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مِنْ مَزَايَا ... أَنَّ / مِنْ عُيُوبِ ... أَنَّ</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مِنْ مَزَايَا العَمَلِ أَنَّ سَاعَاتِهِ مَرِنَةٌ.   ·   مِنْ عُيُوبِهِ أَنَّهُ مُجْهِدٌ.</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Contrast</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بَيْنَمَا / وَلٰكِنَّ</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34" charset="0"/>
                <a:ea typeface="Amiri" pitchFamily="34" charset="-122"/>
                <a:cs typeface="Amiri" pitchFamily="34" charset="-120"/>
              </a:rPr>
              <a:t>الرَّاتِبُ مُرْتَفِعٌ، وَلٰكِنَّ السَّاعَاتِ طَوِيلَةٌ.   ·   أَعْمَلُ فِي مَكْتَبٍ، بَيْنَمَا يَعْمَلُ أَخِي فِي الهَوَاءِ الطَّلْقِ.</a:t>
            </a:r>
            <a:endParaRPr lang="ar-SA" sz="18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TD-L07 · Workplace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تَعْمَلُ أُخْتِي فِي بِيئَةٍ ___ .</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آمِنٍ</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أَمَانٍ</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آمِنَةٍ</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الشَّرِكَةُ ___ أَعْمَلُ فِيهَا كَبِيرَةٌ.</a:t>
            </a:r>
            <a:endParaRPr lang="ar-SA" sz="150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الَّتِي</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الَّذِي</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الَّذِينَ</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7" name="Text 44"/>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مِنْ مَزَايَا العَمَلِ ___ سَاعَاتِهِ مَرِنَةٌ.</a:t>
            </a:r>
            <a:endParaRPr lang="ar-SA" sz="150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بَيْنَمَا</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connector compares two people’s situations?</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بَيْنَمَا</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لِذٰلِكَ</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إِضَافَةً إِلَى ذٰلِكَ</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TD-L07 · Workplace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تَعْمَلُ أُخْتِي فِي بِيئَةٍ ___ .</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آمِنٍ</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أَمَانٍ</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آمِنَةٍ</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bīʾa is feminine → āminatin.</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الشَّرِكَةُ ___ أَعْمَلُ فِيهَا كَبِيرَةٌ.</a:t>
            </a:r>
            <a:endParaRPr lang="ar-SA" sz="150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الَّتِي</a:t>
            </a:r>
            <a:endParaRPr lang="ar-SA" sz="170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الَّذِي</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الَّذِينَ</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sharika is feminine → allatī.</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1" name="Text 48"/>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مِنْ مَزَايَا العَمَلِ ___ سَاعَاتِهِ مَرِنَةٌ.</a:t>
            </a:r>
            <a:endParaRPr lang="ar-SA" sz="150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أَنَّ</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بَيْنَمَا</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clause after min mazāyā needs anna.</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connector compares two people’s situations?</a:t>
            </a:r>
            <a:endParaRPr lang="en-US" sz="1250" dirty="0"/>
          </a:p>
        </p:txBody>
      </p:sp>
      <p:sp>
        <p:nvSpPr>
          <p:cNvPr id="67" name="Shape 64"/>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368796" y="4831080"/>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بَيْنَمَا</a:t>
            </a:r>
            <a:endParaRPr lang="ar-SA" sz="170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لِذٰلِكَ</a:t>
            </a:r>
            <a:endParaRPr lang="ar-SA" sz="1700" dirty="0"/>
          </a:p>
        </p:txBody>
      </p:sp>
      <p:sp>
        <p:nvSpPr>
          <p:cNvPr id="74" name="Shape 71"/>
          <p:cNvSpPr/>
          <p:nvPr/>
        </p:nvSpPr>
        <p:spPr>
          <a:xfrm>
            <a:off x="6368796" y="5574792"/>
            <a:ext cx="256032" cy="256032"/>
          </a:xfrm>
          <a:prstGeom prst="ellipse">
            <a:avLst/>
          </a:prstGeom>
          <a:solidFill>
            <a:srgbClr val="C9CED6"/>
          </a:solidFill>
          <a:ln w="12700">
            <a:solidFill>
              <a:srgbClr val="C9CED6"/>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إِضَافَةً إِلَى ذٰلِكَ</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baynamā = whereas.</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TD-L07 · Workplace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Watch me compare two workplaces</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TD-L07</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Place + adjective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يَعْمَلُ أَبِي فِي مَكْتَبٍ </a:t>
            </a:r>
            <a:pPr rtl="1" algn="ctr" indent="0" marL="0">
              <a:buNone/>
            </a:pPr>
            <a:r>
              <a:rPr lang="ar-SA" altLang="en-US" sz="2200" b="1" dirty="0">
                <a:solidFill>
                  <a:srgbClr val="1D5FBF"/>
                </a:solidFill>
                <a:latin typeface="Amiri" pitchFamily="34" charset="0"/>
                <a:ea typeface="Amiri" pitchFamily="34" charset="-122"/>
                <a:cs typeface="Amiri" pitchFamily="34" charset="-120"/>
              </a:rPr>
              <a:t>حَدِيثٍ</a:t>
            </a:r>
            <a:pPr rtl="1" algn="ctr" indent="0" marL="0">
              <a:buNone/>
            </a:pPr>
            <a:r>
              <a:rPr lang="ar-SA" altLang="en-US" sz="2200" b="1" dirty="0">
                <a:solidFill>
                  <a:srgbClr val="1B3B6F"/>
                </a:solidFill>
                <a:latin typeface="Amiri" pitchFamily="34" charset="0"/>
                <a:ea typeface="Amiri" pitchFamily="34" charset="-122"/>
                <a:cs typeface="Amiri" pitchFamily="34" charset="-120"/>
              </a:rPr>
              <a:t>.</a:t>
            </a:r>
            <a:endParaRPr lang="ar-SA" sz="22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maktab is masculine.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Which</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50" b="1" dirty="0">
                <a:solidFill>
                  <a:srgbClr val="1B3B6F"/>
                </a:solidFill>
                <a:latin typeface="Amiri" pitchFamily="34" charset="0"/>
                <a:ea typeface="Amiri" pitchFamily="34" charset="-122"/>
                <a:cs typeface="Amiri" pitchFamily="34" charset="-120"/>
              </a:rPr>
              <a:t>المَكْتَبُ </a:t>
            </a:r>
            <a:pPr rtl="1" algn="ctr" indent="0" marL="0">
              <a:lnSpc>
                <a:spcPct val="120000"/>
              </a:lnSpc>
              <a:buNone/>
            </a:pPr>
            <a:r>
              <a:rPr lang="ar-SA" altLang="en-US" sz="1850" b="1" dirty="0">
                <a:solidFill>
                  <a:srgbClr val="1D5FBF"/>
                </a:solidFill>
                <a:latin typeface="Amiri" pitchFamily="34" charset="0"/>
                <a:ea typeface="Amiri" pitchFamily="34" charset="-122"/>
                <a:cs typeface="Amiri" pitchFamily="34" charset="-120"/>
              </a:rPr>
              <a:t>الَّذِي</a:t>
            </a:r>
            <a:pPr rtl="1" algn="ctr" indent="0" marL="0">
              <a:lnSpc>
                <a:spcPct val="120000"/>
              </a:lnSpc>
              <a:buNone/>
            </a:pPr>
            <a:r>
              <a:rPr lang="ar-SA" altLang="en-US" sz="1850" b="1" dirty="0">
                <a:solidFill>
                  <a:srgbClr val="1B3B6F"/>
                </a:solidFill>
                <a:latin typeface="Amiri" pitchFamily="34" charset="0"/>
                <a:ea typeface="Amiri" pitchFamily="34" charset="-122"/>
                <a:cs typeface="Amiri" pitchFamily="34" charset="-120"/>
              </a:rPr>
              <a:t> يَعْمَلُ فِيهِ هَادِئٌ.</a:t>
            </a:r>
            <a:endParaRPr lang="ar-SA" sz="18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allaḏī + fīhi.</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Contrast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بَيْنَمَا</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يَعْمَلُ خَالِي فِي مَوْقِعِ بِنَاءٍ.</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Second situation.</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Pros and cons</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رَاتِبُهُ مُرْتَفِعٌ، </a:t>
            </a:r>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وَلٰكِنَّ</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عَمَلَهُ </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مُجْهِدٌ</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Qualify with but.</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PLACE</a:t>
            </a:r>
            <a:endParaRPr lang="en-US" sz="800" dirty="0"/>
          </a:p>
        </p:txBody>
      </p:sp>
      <p:sp>
        <p:nvSpPr>
          <p:cNvPr id="47" name="Shape 43"/>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CONTRAST</a:t>
            </a:r>
            <a:endParaRPr lang="en-US" sz="800" dirty="0"/>
          </a:p>
        </p:txBody>
      </p:sp>
      <p:sp>
        <p:nvSpPr>
          <p:cNvPr id="49" name="Shape 45"/>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CONDITION</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يَعْمَلُ أَبِي فِي مَكْتَبٍ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حَدِيثٍ</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فِي وَسَطِ المَدِينَةِ،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بَيْنَمَا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يَعْمَلُ خَالِي فِي مَوْقِعِ بِنَاءٍ فِي الهَوَاءِ الطَّلْقِ. المَكْتَبُ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الَّذِي</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يَعْمَلُ فِيهِ أَبِي هَادِئٌ وَآمِنٌ، وَمِنْ مَزَايَاهُ أَنَّ السَّاعَاتِ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مَرِنَةٌ</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أَمَّا خَالِي فَرَاتِبُهُ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مُرْتَفِعٌ</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وَلٰكِنَّ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عَمَلَهُ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مُجْهِدٌ</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وَيَتَأَثَّرُ بِالطَّقْسِ.</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My father works in a modern office in the city centre, whereas my uncle works on a building site outdoors. The office my father works in is quiet and safe, and one of its advantages is that the hours are flexible. As for my uncle, his salary is high, but his work is tiring and affected by the weather.</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TD-L07 · Workplace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6B4C9A"/>
                </a:solidFill>
                <a:latin typeface="Calibri" pitchFamily="34" charset="0"/>
                <a:ea typeface="Calibri" pitchFamily="34" charset="-122"/>
                <a:cs typeface="Calibri" pitchFamily="34" charset="-120"/>
              </a:rPr>
              <a:t>I DO · MODEL SENTENCES (TEACHER-WRITTEN ON THE WEBSITE RULES)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TD-L07</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يَعْمَلُ أَبِي فِي مَكْتَبٍ حَدِيثٍ.</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My father works in a modern office.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Place + agreeing adjective.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الشَّرِكَةُ الَّتِي أَعْمَلُ فِيهَا كَبِيرَةٌ.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company I work in is big.</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allatī for a feminine noun.</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مِنْ مَزَايَا العَمَلِ أَنَّ سَاعَاتِهِ مَرِنَةٌ.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One advantage of the job is that its hours are flexible.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anna + clause.</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الرَّاتِبُ مُرْتَفِعٌ، وَلٰكِنَّ السَّاعَاتِ طَوِيلَةٌ.</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salary is high, but the hours are long.</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Qualify with but.</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TD-L07 · Workplace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PICTURE MATCH · WEBSITE GAME “WORKPLACE MATCH (TOPIC GAME)”</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Match the picture to the sentence</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طَابِقْ مَكَانَ الْعَمَلِ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TD-L07</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0" name="Shape 17"/>
          <p:cNvSpPr/>
          <p:nvPr/>
        </p:nvSpPr>
        <p:spPr>
          <a:xfrm>
            <a:off x="881176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2" name="Shape 18"/>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4" name="Text 19"/>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office 9–5</a:t>
            </a:r>
            <a:endParaRPr lang="en-US" sz="1100" dirty="0"/>
          </a:p>
        </p:txBody>
      </p:sp>
      <p:sp>
        <p:nvSpPr>
          <p:cNvPr id="25" name="Shape 20"/>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4404360" y="1938528"/>
            <a:ext cx="365760" cy="365760"/>
          </a:xfrm>
          <a:prstGeom prst="ellipse">
            <a:avLst/>
          </a:prstGeom>
          <a:solidFill>
            <a:srgbClr val="1B3B6F"/>
          </a:solidFill>
          <a:ln w="12700">
            <a:solidFill>
              <a:srgbClr val="1B3B6F"/>
            </a:solidFill>
            <a:prstDash val="solid"/>
          </a:ln>
        </p:spPr>
      </p:sp>
      <p:sp>
        <p:nvSpPr>
          <p:cNvPr id="27" name="Text 22"/>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8" name="Shape 23"/>
          <p:cNvSpPr/>
          <p:nvPr/>
        </p:nvSpPr>
        <p:spPr>
          <a:xfrm>
            <a:off x="5586984" y="2066544"/>
            <a:ext cx="1014984" cy="1014984"/>
          </a:xfrm>
          <a:prstGeom prst="ellipse">
            <a:avLst/>
          </a:prstGeom>
          <a:solidFill>
            <a:srgbClr val="F4F1EA"/>
          </a:solidFill>
          <a:ln w="12700">
            <a:solidFill>
              <a:srgbClr val="F4F1EA"/>
            </a:solidFill>
            <a:prstDash val="solid"/>
          </a:ln>
        </p:spPr>
      </p:sp>
      <p:pic>
        <p:nvPicPr>
          <p:cNvPr id="29" name="Image 2" descr="preencoded.png">    </p:cNvPr>
          <p:cNvPicPr>
            <a:picLocks noChangeAspect="1"/>
          </p:cNvPicPr>
          <p:nvPr/>
        </p:nvPicPr>
        <p:blipFill>
          <a:blip r:embed="rId3"/>
          <a:stretch>
            <a:fillRect/>
          </a:stretch>
        </p:blipFill>
        <p:spPr>
          <a:xfrm>
            <a:off x="5769864" y="2249424"/>
            <a:ext cx="649224" cy="649224"/>
          </a:xfrm>
          <a:prstGeom prst="rect">
            <a:avLst/>
          </a:prstGeom>
        </p:spPr>
      </p:pic>
      <p:sp>
        <p:nvSpPr>
          <p:cNvPr id="30" name="Text 24"/>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from home</a:t>
            </a:r>
            <a:endParaRPr lang="en-US" sz="1100" dirty="0"/>
          </a:p>
        </p:txBody>
      </p:sp>
      <p:sp>
        <p:nvSpPr>
          <p:cNvPr id="31" name="Shape 25"/>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6"/>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7"/>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8"/>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3" descr="preencoded.png">    </p:cNvPr>
          <p:cNvPicPr>
            <a:picLocks noChangeAspect="1"/>
          </p:cNvPicPr>
          <p:nvPr/>
        </p:nvPicPr>
        <p:blipFill>
          <a:blip r:embed="rId4"/>
          <a:stretch>
            <a:fillRect/>
          </a:stretch>
        </p:blipFill>
        <p:spPr>
          <a:xfrm>
            <a:off x="1356360" y="2249424"/>
            <a:ext cx="649224" cy="649224"/>
          </a:xfrm>
          <a:prstGeom prst="rect">
            <a:avLst/>
          </a:prstGeom>
        </p:spPr>
      </p:pic>
      <p:sp>
        <p:nvSpPr>
          <p:cNvPr id="36" name="Shape 29"/>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4" descr="preencoded.png">    </p:cNvPr>
          <p:cNvPicPr>
            <a:picLocks noChangeAspect="1"/>
          </p:cNvPicPr>
          <p:nvPr/>
        </p:nvPicPr>
        <p:blipFill>
          <a:blip r:embed="rId5"/>
          <a:stretch>
            <a:fillRect/>
          </a:stretch>
        </p:blipFill>
        <p:spPr>
          <a:xfrm>
            <a:off x="2545080" y="2249424"/>
            <a:ext cx="649224" cy="649224"/>
          </a:xfrm>
          <a:prstGeom prst="rect">
            <a:avLst/>
          </a:prstGeom>
        </p:spPr>
      </p:pic>
      <p:sp>
        <p:nvSpPr>
          <p:cNvPr id="38" name="Text 30"/>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evening shift</a:t>
            </a:r>
            <a:endParaRPr lang="en-US" sz="1100" dirty="0"/>
          </a:p>
        </p:txBody>
      </p:sp>
      <p:sp>
        <p:nvSpPr>
          <p:cNvPr id="39" name="Shape 31"/>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2"/>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3"/>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4"/>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أَعْمَلُ مِنَ الْبَيْتِ عَبْرَ الْإِنْتَرْنِتِ.</a:t>
            </a:r>
            <a:endParaRPr lang="ar-SA" sz="2000" dirty="0"/>
          </a:p>
        </p:txBody>
      </p:sp>
      <p:sp>
        <p:nvSpPr>
          <p:cNvPr id="43" name="Shape 35"/>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6"/>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7"/>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8"/>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أَعْمَلُ فِي الْمَتْجَرِ فِي نَوْبَةٍ مَسَائِيَّةٍ.</a:t>
            </a:r>
            <a:endParaRPr lang="ar-SA" sz="2000" dirty="0"/>
          </a:p>
        </p:txBody>
      </p:sp>
      <p:sp>
        <p:nvSpPr>
          <p:cNvPr id="47" name="Shape 39"/>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40"/>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1"/>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2"/>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أَعْمَلُ فِي مَكْتَبٍ مِنَ التَّاسِعَةِ إِلَى الْخَامِسَةِ.</a:t>
            </a:r>
            <a:endParaRPr lang="ar-SA" sz="2000" dirty="0"/>
          </a:p>
        </p:txBody>
      </p:sp>
      <p:sp>
        <p:nvSpPr>
          <p:cNvPr id="51" name="Text 43"/>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4"/>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TD-L07 · Workplace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طَابِقْ مَكَانَ الْعَمَلِ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TD-L07</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0" name="Shape 17"/>
          <p:cNvSpPr/>
          <p:nvPr/>
        </p:nvSpPr>
        <p:spPr>
          <a:xfrm>
            <a:off x="881176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2" name="Shape 18"/>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4" name="Text 19"/>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office 9–5</a:t>
            </a:r>
            <a:endParaRPr lang="en-US" sz="1100" dirty="0"/>
          </a:p>
        </p:txBody>
      </p:sp>
      <p:sp>
        <p:nvSpPr>
          <p:cNvPr id="25" name="Shape 20"/>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11256264" y="3785616"/>
            <a:ext cx="329184" cy="329184"/>
          </a:xfrm>
          <a:prstGeom prst="ellipse">
            <a:avLst/>
          </a:prstGeom>
          <a:solidFill>
            <a:srgbClr val="2E8B57"/>
          </a:solidFill>
          <a:ln w="12700">
            <a:solidFill>
              <a:srgbClr val="2E8B57"/>
            </a:solidFill>
            <a:prstDash val="solid"/>
          </a:ln>
        </p:spPr>
      </p:sp>
      <p:sp>
        <p:nvSpPr>
          <p:cNvPr id="27" name="Text 22"/>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8" name="Text 23"/>
          <p:cNvSpPr txBox="1"/>
          <p:nvPr/>
        </p:nvSpPr>
        <p:spPr>
          <a:xfrm>
            <a:off x="8232648"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أَعْمَلُ فِي مَكْتَبٍ مِنَ التَّاسِعَةِ إِلَى الْخَامِسَةِ.</a:t>
            </a:r>
            <a:endParaRPr lang="ar-SA" sz="2200" dirty="0"/>
          </a:p>
        </p:txBody>
      </p:sp>
      <p:sp>
        <p:nvSpPr>
          <p:cNvPr id="29" name="Text 24"/>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work in an office from nine to five.</a:t>
            </a:r>
            <a:endParaRPr lang="en-US" sz="1200" dirty="0"/>
          </a:p>
        </p:txBody>
      </p:sp>
      <p:sp>
        <p:nvSpPr>
          <p:cNvPr id="30" name="Shape 25"/>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6"/>
          <p:cNvSpPr/>
          <p:nvPr/>
        </p:nvSpPr>
        <p:spPr>
          <a:xfrm>
            <a:off x="4404360" y="1938528"/>
            <a:ext cx="365760" cy="365760"/>
          </a:xfrm>
          <a:prstGeom prst="ellipse">
            <a:avLst/>
          </a:prstGeom>
          <a:solidFill>
            <a:srgbClr val="1B3B6F"/>
          </a:solidFill>
          <a:ln w="12700">
            <a:solidFill>
              <a:srgbClr val="1B3B6F"/>
            </a:solidFill>
            <a:prstDash val="solid"/>
          </a:ln>
        </p:spPr>
      </p:sp>
      <p:sp>
        <p:nvSpPr>
          <p:cNvPr id="32" name="Text 27"/>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3" name="Shape 28"/>
          <p:cNvSpPr/>
          <p:nvPr/>
        </p:nvSpPr>
        <p:spPr>
          <a:xfrm>
            <a:off x="5586984" y="2066544"/>
            <a:ext cx="1014984" cy="1014984"/>
          </a:xfrm>
          <a:prstGeom prst="ellipse">
            <a:avLst/>
          </a:prstGeom>
          <a:solidFill>
            <a:srgbClr val="F4F1EA"/>
          </a:solidFill>
          <a:ln w="12700">
            <a:solidFill>
              <a:srgbClr val="F4F1EA"/>
            </a:solidFill>
            <a:prstDash val="solid"/>
          </a:ln>
        </p:spPr>
      </p:sp>
      <p:pic>
        <p:nvPicPr>
          <p:cNvPr id="34" name="Image 2" descr="preencoded.png">    </p:cNvPr>
          <p:cNvPicPr>
            <a:picLocks noChangeAspect="1"/>
          </p:cNvPicPr>
          <p:nvPr/>
        </p:nvPicPr>
        <p:blipFill>
          <a:blip r:embed="rId3"/>
          <a:stretch>
            <a:fillRect/>
          </a:stretch>
        </p:blipFill>
        <p:spPr>
          <a:xfrm>
            <a:off x="5769864" y="2249424"/>
            <a:ext cx="649224" cy="649224"/>
          </a:xfrm>
          <a:prstGeom prst="rect">
            <a:avLst/>
          </a:prstGeom>
        </p:spPr>
      </p:pic>
      <p:sp>
        <p:nvSpPr>
          <p:cNvPr id="35" name="Text 29"/>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from home</a:t>
            </a:r>
            <a:endParaRPr lang="en-US" sz="1100" dirty="0"/>
          </a:p>
        </p:txBody>
      </p:sp>
      <p:sp>
        <p:nvSpPr>
          <p:cNvPr id="36" name="Shape 30"/>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1"/>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2"/>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9" name="Text 33"/>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أَعْمَلُ مِنَ الْبَيْتِ عَبْرَ الْإِنْتَرْنِتِ.</a:t>
            </a:r>
            <a:endParaRPr lang="ar-SA" sz="2200" dirty="0"/>
          </a:p>
        </p:txBody>
      </p:sp>
      <p:sp>
        <p:nvSpPr>
          <p:cNvPr id="40" name="Text 34"/>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work from home online.</a:t>
            </a:r>
            <a:endParaRPr lang="en-US" sz="1200" dirty="0"/>
          </a:p>
        </p:txBody>
      </p:sp>
      <p:sp>
        <p:nvSpPr>
          <p:cNvPr id="41" name="Shape 35"/>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6"/>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7"/>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8"/>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3" descr="preencoded.png">    </p:cNvPr>
          <p:cNvPicPr>
            <a:picLocks noChangeAspect="1"/>
          </p:cNvPicPr>
          <p:nvPr/>
        </p:nvPicPr>
        <p:blipFill>
          <a:blip r:embed="rId4"/>
          <a:stretch>
            <a:fillRect/>
          </a:stretch>
        </p:blipFill>
        <p:spPr>
          <a:xfrm>
            <a:off x="1356360" y="2249424"/>
            <a:ext cx="649224" cy="649224"/>
          </a:xfrm>
          <a:prstGeom prst="rect">
            <a:avLst/>
          </a:prstGeom>
        </p:spPr>
      </p:pic>
      <p:sp>
        <p:nvSpPr>
          <p:cNvPr id="46" name="Shape 39"/>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4" descr="preencoded.png">    </p:cNvPr>
          <p:cNvPicPr>
            <a:picLocks noChangeAspect="1"/>
          </p:cNvPicPr>
          <p:nvPr/>
        </p:nvPicPr>
        <p:blipFill>
          <a:blip r:embed="rId5"/>
          <a:stretch>
            <a:fillRect/>
          </a:stretch>
        </p:blipFill>
        <p:spPr>
          <a:xfrm>
            <a:off x="2545080" y="2249424"/>
            <a:ext cx="649224" cy="649224"/>
          </a:xfrm>
          <a:prstGeom prst="rect">
            <a:avLst/>
          </a:prstGeom>
        </p:spPr>
      </p:pic>
      <p:sp>
        <p:nvSpPr>
          <p:cNvPr id="48" name="Text 40"/>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evening shift</a:t>
            </a:r>
            <a:endParaRPr lang="en-US" sz="1100" dirty="0"/>
          </a:p>
        </p:txBody>
      </p:sp>
      <p:sp>
        <p:nvSpPr>
          <p:cNvPr id="49" name="Shape 41"/>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2"/>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3"/>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2" name="Text 44"/>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أَعْمَلُ فِي الْمَتْجَرِ فِي نَوْبَةٍ مَسَائِيَّةٍ.</a:t>
            </a:r>
            <a:endParaRPr lang="ar-SA" sz="2200" dirty="0"/>
          </a:p>
        </p:txBody>
      </p:sp>
      <p:sp>
        <p:nvSpPr>
          <p:cNvPr id="53" name="Text 45"/>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work in the shop on an evening shift.</a:t>
            </a:r>
            <a:endParaRPr lang="en-US" sz="1200" dirty="0"/>
          </a:p>
        </p:txBody>
      </p:sp>
      <p:sp>
        <p:nvSpPr>
          <p:cNvPr id="54"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TD-L07 · Workplace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THE WORKPLACE — ENVIRONMENTS AND WORK CONDITIONS”</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Where do I work? Match the picture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بِيئَةُ العَمَلِ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TD-L07</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office · team</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factory · machines</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home · laptop</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أَعْمَلُ مِنَ المَنْزِلِ.</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أَعْمَلُ فِي مَكْتَبٍ حَدِيثٍ.</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أَعْمَلُ فِي مَصْنَعٍ.</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TD-L07 · Workplace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بِيئَةُ العَمَلِ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TD-L07</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office · team</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أَعْمَلُ فِي مَكْتَبٍ حَدِيثٍ.</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work in a modern office.</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factory · machines</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أَعْمَلُ فِي مَصْنَعٍ.</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work in a factory.</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home · laptop</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أَعْمَلُ مِنَ المَنْزِلِ.</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work from home.</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TD-L07 · Workplace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Advantage or disadvantage?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TD-L07</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رَاتِبٌ مُرْتَفِعٌ</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سَاعَاتٌ مَرِنَةٌ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عَمَلٌ مُجْزٍ</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بِيئَةٌ آمِنَةٌ</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فُرَصُ التَّرَقِّي</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رَاتِبٌ مُنْخَفِضٌ</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عَمَلٌ مُجْهِدٌ</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سَاعَاتٌ طَوِيلَةٌ</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تَوَاصُلٌ بَطِيءٌ</a:t>
            </a:r>
            <a:endParaRPr lang="ar-SA" sz="1800" dirty="0"/>
          </a:p>
        </p:txBody>
      </p:sp>
      <p:sp>
        <p:nvSpPr>
          <p:cNvPr id="33" name="Shape 30"/>
          <p:cNvSpPr/>
          <p:nvPr/>
        </p:nvSpPr>
        <p:spPr>
          <a:xfrm>
            <a:off x="6185916" y="3529584"/>
            <a:ext cx="5545836"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6323076" y="3639312"/>
            <a:ext cx="5271516"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6323076" y="3639312"/>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Advantage</a:t>
            </a:r>
            <a:endParaRPr lang="en-US" sz="950" dirty="0"/>
          </a:p>
        </p:txBody>
      </p:sp>
      <p:sp>
        <p:nvSpPr>
          <p:cNvPr id="36" name="Shape 33"/>
          <p:cNvSpPr/>
          <p:nvPr/>
        </p:nvSpPr>
        <p:spPr>
          <a:xfrm>
            <a:off x="457200" y="3529584"/>
            <a:ext cx="5545836"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594360" y="3639312"/>
            <a:ext cx="5271516"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594360" y="3639312"/>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Disadvantage</a:t>
            </a:r>
            <a:endParaRPr lang="en-US" sz="9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TD-L07 · Workplace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TD-L07</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Advantage</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رَاتِبٌ مُرْتَفِعٌ</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سَاعَاتٌ مَرِنَةٌ</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عَمَلٌ مُجْزٍ</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بِيئَةٌ آمِنَةٌ</a:t>
            </a:r>
            <a:endParaRPr lang="ar-SA" sz="1800" dirty="0"/>
          </a:p>
        </p:txBody>
      </p:sp>
      <p:sp>
        <p:nvSpPr>
          <p:cNvPr id="26" name="Shape 23"/>
          <p:cNvSpPr/>
          <p:nvPr/>
        </p:nvSpPr>
        <p:spPr>
          <a:xfrm>
            <a:off x="6323076" y="4425696"/>
            <a:ext cx="5271516" cy="438912"/>
          </a:xfrm>
          <a:prstGeom prst="roundRect">
            <a:avLst>
              <a:gd name="adj" fmla="val 12500"/>
            </a:avLst>
          </a:prstGeom>
          <a:solidFill>
            <a:srgbClr val="FFF4DC"/>
          </a:solidFill>
          <a:ln w="9525">
            <a:solidFill>
              <a:srgbClr val="E6C98A"/>
            </a:solidFill>
            <a:prstDash val="solid"/>
          </a:ln>
        </p:spPr>
      </p:sp>
      <p:sp>
        <p:nvSpPr>
          <p:cNvPr id="27" name="Text 24"/>
          <p:cNvSpPr txBox="1"/>
          <p:nvPr/>
        </p:nvSpPr>
        <p:spPr>
          <a:xfrm>
            <a:off x="6414516" y="4425696"/>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فُرَصُ التَّرَقِّي</a:t>
            </a:r>
            <a:endParaRPr lang="ar-SA" sz="1800" dirty="0"/>
          </a:p>
        </p:txBody>
      </p:sp>
      <p:sp>
        <p:nvSpPr>
          <p:cNvPr id="28" name="Shape 25"/>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9" name="Shape 26"/>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30" name="Text 27"/>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Disadvantage</a:t>
            </a:r>
            <a:endParaRPr lang="en-US" sz="950" dirty="0"/>
          </a:p>
        </p:txBody>
      </p:sp>
      <p:sp>
        <p:nvSpPr>
          <p:cNvPr id="31" name="Shape 28"/>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رَاتِبٌ مُنْخَفِضٌ</a:t>
            </a:r>
            <a:endParaRPr lang="ar-SA" sz="1800" dirty="0"/>
          </a:p>
        </p:txBody>
      </p:sp>
      <p:sp>
        <p:nvSpPr>
          <p:cNvPr id="33" name="Shape 30"/>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عَمَلٌ مُجْهِدٌ</a:t>
            </a:r>
            <a:endParaRPr lang="ar-SA" sz="1800" dirty="0"/>
          </a:p>
        </p:txBody>
      </p:sp>
      <p:sp>
        <p:nvSpPr>
          <p:cNvPr id="35" name="Shape 32"/>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سَاعَاتٌ طَوِيلَةٌ</a:t>
            </a:r>
            <a:endParaRPr lang="ar-SA" sz="1800" dirty="0"/>
          </a:p>
        </p:txBody>
      </p:sp>
      <p:sp>
        <p:nvSpPr>
          <p:cNvPr id="37" name="Shape 34"/>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8" name="Text 35"/>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تَوَاصُلٌ بَطِيءٌ</a:t>
            </a:r>
            <a:endParaRPr lang="ar-SA" sz="18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TD-L07 · Workplace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3,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TD-L07</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المَكْتَبُ ___ أَعْمَلُ فِيهِ هَادِئٌ.</a:t>
            </a:r>
            <a:endParaRPr lang="ar-SA"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الَّتِي</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الَّذِينَ</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الَّذِي</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دَوَامٌ جُزْئِيٌّ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full-time work</a:t>
            </a:r>
            <a:endParaRPr lang="en-US" sz="12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part-time work</a:t>
            </a:r>
            <a:endParaRPr lang="en-US" sz="12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annual leave</a:t>
            </a:r>
            <a:endParaRPr lang="en-US" sz="12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usually a disadvantage?</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عَمَلٌ مُجْزٍ</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عَمَلٌ مُجْهِدٌ</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سَاعَاتٌ مَرِنَةٌ</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sentence that makes sense.</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الرَّاتِبُ مُرْتَفِعٌ، لِأَنَّ السَّاعَاتِ طَوِيلَةٌ.</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الرَّاتِبُ مُرْتَفِعٌ، لِذٰلِكَ السَّاعَاتُ قَصِيرَةٌ.</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الرَّاتِبُ مُرْتَفِعٌ، وَلٰكِنَّ السَّاعَاتِ طَوِيلَةٌ.</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TD-L07 · Workplace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TD-L07</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المَكْتَبُ ___ أَعْمَلُ فِيهِ هَادِئٌ.</a:t>
            </a:r>
            <a:endParaRPr lang="ar-SA" sz="15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الَّتِي</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الَّذِينَ</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الَّذِي</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maktab is masculine → allaḏī.</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6" name="Text 33"/>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دَوَامٌ جُزْئِيٌّ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full-time work</a:t>
            </a:r>
            <a:endParaRPr lang="en-US" sz="125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part-time work</a:t>
            </a:r>
            <a:endParaRPr lang="en-US" sz="125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annual leave</a:t>
            </a:r>
            <a:endParaRPr lang="en-US" sz="125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juzʾ = part.</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usually a disadvantage?</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عَمَلٌ مُجْزٍ</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عَمَلٌ مُجْهِدٌ</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سَاعَاتٌ مَرِنَةٌ</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mujhid = tiring.</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sentence that makes sense.</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الرَّاتِبُ مُرْتَفِعٌ، لِأَنَّ السَّاعَاتِ طَوِيلَةٌ.</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الرَّاتِبُ مُرْتَفِعٌ، لِذٰلِكَ السَّاعَاتُ قَصِيرَةٌ.</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الرَّاتِبُ مُرْتَفِعٌ، وَلٰكِنَّ السَّاعَاتِ طَوِيلَةٌ.</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contrast needs “but”, not “because” or “so”.</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TD-L07 · Workplace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TD-L07</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تَعْمَلُ فِي بِيئَةٍ آمِنٍ.</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bīʾa: masculine or feminine?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الشَّرِكَةُ الَّذِي أَعْمَلُ فِيهَا كَبِيرَةٌ.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sharika → allaḏī or allatī?</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مِنْ مَزَايَا العَمَلِ سَاعَاتُهُ مَرِنَةٌ.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is missing before the clause?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TD-L07 · Workplace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TD-L07</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تَعْمَلُ فِي بِيئَةٍ آمِنٍ.</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تَعْمَلُ فِي بِيئَةٍ آمِنَةٍ.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adjective agrees with feminine bīʾa.</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الشَّرِكَةُ الَّذِي أَعْمَلُ فِيهَا كَبِيرَةٌ.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الشَّرِكَةُ الَّتِي أَعْمَلُ فِيهَا كَبِيرَةٌ.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Feminine noun → allatī.</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مِنْ مَزَايَا العَمَلِ سَاعَاتُهُ مَرِنَةٌ.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مِنْ مَزَايَا العَمَلِ أَنَّ سَاعَاتِهِ مَرِنَةٌ.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Add anna before the clause.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TD-L07 · Workplace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Two contrasting workplaces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TD-L07</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does Maryam work?</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a modern laboratory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a hospital</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a building site</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are her hours?</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9:00 to 5:00</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8:00 to 2:00</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8:00 to 4:00</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she like the environment?</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salary is high</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outdoors</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safe and organised</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her work need?</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great precision</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physical strength</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lot of travel</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does Samer work?</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a laboratory</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a building site</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an office</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a disadvantage of his work?</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tiring and affected by the weather</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salary is low</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hours are short</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2 and 5.</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مُخْتَبَرٍ</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الثَّامِنَةِ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مَوْقِعِ بِنَاءٍ</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TD-L07 · Workplace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TD-L07</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تَعْمَلُ مَرْيَمُ فِي مُخْتَبَرٍ حَدِيثٍ مِنَ السَّاعَةِ الثَّامِنَةِ إِلَى الرَّابِعَةِ.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Maryam works in a modern laboratory from eight o’clock to four.</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تُحِبُّ بِيئَةَ العَمَلِ لِأَنَّهَا آمِنَةٌ وَمُنَظَّمَةٌ،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loves the work environment because it is safe and organised,</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وَلٰكِنَّ العَمَلَ يَحْتَاجُ إِلَى دِقَّةٍ شَدِيدَةٍ.</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but the work needs great precision.</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أَمَّا سَامِرٌ فَيَعْمَلُ فِي مَوْقِعِ بِنَاءٍ.</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 for Samer, he works on a building site.</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رَاتِبُهُ جَيِّدٌ، لٰكِنَّ عَمَلَهُ مُجْهِدٌ وَيَتَأَثَّرُ بِالطَّقْسِ.</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His salary is good, but his work is tiring and affected by the weather.</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TD-L07 · Workplace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TD-L07</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does Maryam work?</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in a modern laboratory</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a hospital</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 a building site</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فِي مُخْتَبَرٍ حَدِيثٍ</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are her hours?</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9:00 to 5:00</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8:00 to 2:00</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8:00 to 4:00</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مِنَ السَّاعَةِ الثَّامِنَةِ إِلَى الرَّابِعَةِ</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she like the environment?</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salary is high</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outdoors</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is safe and organised</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لِأَنَّهَا آمِنَةٌ وَمُنَظَّمَةٌ</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her work need?</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great precision</a:t>
            </a:r>
            <a:endParaRPr lang="en-US" sz="12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physical strength</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lot of travel</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يَحْتَاجُ إِلَى دِقَّةٍ شَدِيدَةٍ</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does Samer work?</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a laboratory</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on a building site</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an office</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فِي مَوْقِعِ بِنَاءٍ</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a disadvantage of his work?</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it is tiring and affected by the weather</a:t>
            </a:r>
            <a:endParaRPr lang="en-US" sz="11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salary is low</a:t>
            </a:r>
            <a:endParaRPr lang="en-US" sz="12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hours are short</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عَمَلَهُ مُجْهِدٌ وَيَتَأَثَّرُ بِالطَّقْسِ</a:t>
            </a:r>
            <a:endParaRPr lang="ar-SA" sz="13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2 and 5.</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مُخْتَبَرٍ</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الثَّامِنَةِ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مَوْقِعِ بِنَاءٍ</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TD-L07 · Workplace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TOPIC D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Workplace comparison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TD-L07</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TOPIC D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ea typeface="Calibri" pitchFamily="34" charset="-122"/>
                <a:cs typeface="Calibri" pitchFamily="34" charset="-120"/>
              </a:rPr>
              <a:t>🏢  Workplace comparison</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Compare two workplaces by hours, environment, responsibilities and conditions, then decide which suits a given worker profile best.</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Teacher shows two workplace profiles (office vs hospital — in the notes).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Pairs compare them: hours, environment, responsibilities, conditions.</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Read a worker profile (a student who needs flexible hours).</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Decide which workplace suits the worker and say why.</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One comparison: “… aṭwal min …”.</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Three comparisons + a decision with a reason.</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 decision with “kāna” for past experience and a balanced comparison (baynamā).</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سَاعَاتُ العَمَلِ أَطْوَلُ فِي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working hours are longer in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البِيئَةُ هَادِئَةٌ / مُزْدَحِمَةٌ</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the environment is quiet / busy</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يُنَاسِبُهُ … لِأَنَّ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 suits him because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بَيْنَمَا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whereas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TD-L07 · Workplace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Where would you like to work?</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TD-L07</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مَكَانَ عَمَلِ أَحَدِ أَفْرَادِ عَائِلَتِكَ.</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أَيْنَ تُحِبُّ أَنْ تَعْمَلَ: فِي مَكْتَبٍ أَمْ فِي الهَوَاءِ الطَّلْقِ؟</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مَزَايَا العَمَلِ عَنْ بُعْدٍ وَمَا عُيُوبُهُ؟</a:t>
            </a:r>
            <a:endParaRPr lang="ar-SA" sz="1800" dirty="0"/>
          </a:p>
        </p:txBody>
      </p:sp>
      <p:sp>
        <p:nvSpPr>
          <p:cNvPr id="44" name="Shape 41"/>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6" name="Text 43"/>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7" name="Text 44"/>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الرَّاتِبُ أَهَمُّ مِنْ بِيئَةِ العَمَلِ؟ وَلِمَاذَا؟</a:t>
            </a:r>
            <a:endParaRPr lang="ar-SA" sz="1800" dirty="0"/>
          </a:p>
        </p:txBody>
      </p:sp>
      <p:sp>
        <p:nvSpPr>
          <p:cNvPr id="48" name="Shape 45"/>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9" name="Text 46"/>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50" name="Shape 47"/>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يَعْمَلُ / تَعْمَلُ فِي ___ ___ .</a:t>
            </a:r>
            <a:endParaRPr lang="ar-SA" sz="1600" dirty="0"/>
          </a:p>
        </p:txBody>
      </p:sp>
      <p:sp>
        <p:nvSpPr>
          <p:cNvPr id="53" name="Shape 50"/>
          <p:cNvSpPr/>
          <p:nvPr/>
        </p:nvSpPr>
        <p:spPr>
          <a:xfrm>
            <a:off x="640080" y="3566160"/>
            <a:ext cx="105156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5" name="Text 52"/>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أُحِبُّ أَنْ أَعْمَلَ فِي ___ لِأَنَّ ___ .</a:t>
            </a:r>
            <a:endParaRPr lang="ar-SA" sz="1600" dirty="0"/>
          </a:p>
        </p:txBody>
      </p:sp>
      <p:sp>
        <p:nvSpPr>
          <p:cNvPr id="56" name="Shape 53"/>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7" name="Text 54"/>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8" name="Text 55"/>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34" charset="0"/>
                <a:ea typeface="Amiri" pitchFamily="34" charset="-122"/>
                <a:cs typeface="Amiri" pitchFamily="34" charset="-120"/>
              </a:rPr>
              <a:t>مِنْ مَزَايَاهُ أَنَّ ___ ، وَمِنْ عُيُوبِهِ أَنَّ ___ .</a:t>
            </a:r>
            <a:endParaRPr lang="ar-SA" sz="1400" dirty="0"/>
          </a:p>
        </p:txBody>
      </p:sp>
      <p:sp>
        <p:nvSpPr>
          <p:cNvPr id="59" name="Shape 56"/>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60" name="Text 57"/>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61" name="Text 58"/>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فِي رَأْيِي ___ أَهَمُّ لِأَنَّ ___ .</a:t>
            </a:r>
            <a:endParaRPr lang="ar-SA" sz="1600" dirty="0"/>
          </a:p>
        </p:txBody>
      </p:sp>
      <p:sp>
        <p:nvSpPr>
          <p:cNvPr id="62" name="Shape 59"/>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3" name="Text 60"/>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4" name="Shape 61"/>
          <p:cNvSpPr/>
          <p:nvPr/>
        </p:nvSpPr>
        <p:spPr>
          <a:xfrm>
            <a:off x="11274552" y="5559552"/>
            <a:ext cx="292608" cy="292608"/>
          </a:xfrm>
          <a:prstGeom prst="ellipse">
            <a:avLst/>
          </a:prstGeom>
          <a:solidFill>
            <a:srgbClr val="1E6B52"/>
          </a:solidFill>
          <a:ln w="12700">
            <a:solidFill>
              <a:srgbClr val="1E6B52"/>
            </a:solidFill>
            <a:prstDash val="solid"/>
          </a:ln>
        </p:spPr>
      </p:sp>
      <p:sp>
        <p:nvSpPr>
          <p:cNvPr id="65" name="Text 62"/>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6" name="Text 63"/>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أَيْنَ تُفَضِّلُ أَنْ تَعْمَلَ؟</a:t>
            </a:r>
            <a:endParaRPr lang="ar-SA" sz="1550" dirty="0"/>
          </a:p>
        </p:txBody>
      </p:sp>
      <p:sp>
        <p:nvSpPr>
          <p:cNvPr id="67" name="Text 64"/>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Where would you prefer to work?</a:t>
            </a:r>
            <a:endParaRPr lang="en-US" sz="950" dirty="0"/>
          </a:p>
        </p:txBody>
      </p:sp>
      <p:sp>
        <p:nvSpPr>
          <p:cNvPr id="68" name="Shape 65"/>
          <p:cNvSpPr/>
          <p:nvPr/>
        </p:nvSpPr>
        <p:spPr>
          <a:xfrm>
            <a:off x="11274552" y="5925312"/>
            <a:ext cx="292608" cy="292608"/>
          </a:xfrm>
          <a:prstGeom prst="ellipse">
            <a:avLst/>
          </a:prstGeom>
          <a:solidFill>
            <a:srgbClr val="1E6B52"/>
          </a:solidFill>
          <a:ln w="12700">
            <a:solidFill>
              <a:srgbClr val="1E6B52"/>
            </a:solidFill>
            <a:prstDash val="solid"/>
          </a:ln>
        </p:spPr>
      </p:sp>
      <p:sp>
        <p:nvSpPr>
          <p:cNvPr id="69" name="Text 66"/>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70" name="Text 67"/>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أُفَضِّلُ مَكْتَبًا حَدِيثًا لِأَنَّ بِيئَتَهُ آمِنَةٌ وَمُنَظَّمَةٌ.</a:t>
            </a:r>
            <a:endParaRPr lang="ar-SA" sz="1550" dirty="0"/>
          </a:p>
        </p:txBody>
      </p:sp>
      <p:sp>
        <p:nvSpPr>
          <p:cNvPr id="71" name="Text 68"/>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I prefer a modern office because its environment is safe and organised.</a:t>
            </a:r>
            <a:endParaRPr lang="en-US" sz="9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TD-L07 · Workplace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TD-L07</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Secure the main vocabulary and produce four accurate sentences using the taught frame.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Two workplaces, each with an adjective, plus one advantage with مِنْ مَزَايَا … أَنَّ.</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80–100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Combine description, grammar and a reason in connected answers.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Compare two workplaces with الَّذِي / الَّتِي, بَيْنَمَا and وَلٰكِنَّ, and choose one.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comparison, contrast, precise evidence and independently controlled complex structures.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compare two workplaces, weigh pros and cons, justify your choice with although …</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TD-L07 · Workplace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TD-L07</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الشَّرِكَةُ الَّتِي ______ فِيهَا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company (which) … works in is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بَيْنَمَا يَعْمَلُ خَالِي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whereas my uncle works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الرَّاتِبُ ______ ، وَلٰكِنَّ السَّاعَاتِ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salary is …, but the hours are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أُفَضِّلُ ______ لِأَنَّ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prefer … because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يَعْمَلُ أَبِي فِي مَكْتَبٍ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father works in a modern office.</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تَعْمَلُ خَالَتِي فِي مُسْتَشْفًى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aunt works in a big hospital.</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مَزَايَا العَمَلِ أَنَّ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One advantage of the job is that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عُيُوبِهِ أَنَّهُ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One disadvantage is that it is tiring.</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مَكْتَبٌ حَدِيثٌ  ·  بِيئَةٌ آمِنَةٌ  ·  سَاعَاتٌ مَرِنَةٌ  ·  رَاتِبٌ مُرْتَفِعٌ  ·  عَمَلٌ مُجْهِدٌ  ·  عَمَلٌ مُجْزٍ  ·  فَرِيقُ عَمَلٍ  ·  الَّذِي  ·  الَّتِي  ·  أَنَّ  ·  بَيْنَمَا  ·  وَلٰكِنَّ</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47</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TD-L07 · Workplace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TD-L07</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Compare two workplaces and explain which one you would prefer and why.</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Address every content point.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at least two target structures from the grammar lesson.</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Add evidence, reason or comparison.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Check agreement, verb patterns and spelling.</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يُوَفِّرُ الوَقْتَ</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it saves time</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التَّعَاوُنُ المُبَاشِرُ مَعَ الفَرِيقِ</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direct cooperation with the team</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يُحَقِّقُ تَوَازُنًا أَفْضَلَ</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it achieves a better balance</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يَتَأَثَّرُ بِالطَّقْسِ</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it is affected by the weather</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عَلَى الرَّغْمِ مِنْ أَنَّ … فَإِنَّ …</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although … (still) …</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47</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TD-L07 · Workplace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TD-L07</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400" dirty="0">
                <a:solidFill>
                  <a:srgbClr val="1F2A37"/>
                </a:solidFill>
                <a:latin typeface="Amiri" pitchFamily="34" charset="0"/>
                <a:ea typeface="Amiri" pitchFamily="34" charset="-122"/>
                <a:cs typeface="Amiri" pitchFamily="34" charset="-120"/>
              </a:rPr>
              <a:t>يَعْمَلُ أَبِي فِي مَكْتَبٍ حَدِيثٍ فِي وَسَطِ المَدِينَةِ، بَيْنَمَا يَعْمَلُ خَالِي فِي مَوْقِعِ بِنَاءٍ فِي الهَوَاءِ الطَّلْقِ. المَكْتَبُ الَّذِي يَعْمَلُ فِيهِ أَبِي هَادِئٌ وَآمِنٌ، وَمِنْ مَزَايَاهُ أَنَّ السَّاعَاتِ مَرِنَةٌ. أَمَّا خَالِي فَرَاتِبُهُ مُرْتَفِعٌ، وَلٰكِنَّ عَمَلَهُ مُجْهِدٌ وَيَتَأَثَّرُ بِالطَّقْسِ. فِي رَأْيِي، أُفَضِّلُ العَمَلَ فِي مَكْتَبٍ لِأَنَّنِي أُحِبُّ البِيئَةَ المُنَظَّمَةَ وَالعَمَلَ مَعَ فَرِيقٍ. عَلَى الرَّغْمِ مِنْ أَنَّ العَمَلَ فِي الهَوَاءِ الطَّلْقِ صِحِّيٌّ، فَإِنَّهُ صَعْبٌ فِي الشِّتَاءِ. لِذٰلِكَ أُرِيدُ وَظِيفَةً تُحَقِّقُ تَوَازُنًا بَيْنَ العَمَلِ وَالحَيَاةِ.</a:t>
            </a:r>
            <a:endParaRPr lang="ar-SA" sz="24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My father works in a modern office in the city centre, whereas my uncle works on a building site outdoors. The office my father works in is quiet and safe, and one advantage is that the hours are flexible. As for my uncle, his salary is high, but his work is tiring and affected by the weather. In my opinion, I prefer working in an office because I like an organised environment and working with a team. Although working outdoors is healthy, it is hard in winter. So I want a job that gives a balance between work and life.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two workplaces with adjectives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allaḏī or allatī</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an advantage and a disadvantage</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justified choice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47</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TD-L07 · Workplace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TD-L07</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adjectives agree with the workplace.</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gave one advantage with anna.</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allaḏī / allatī correctly.</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contrasted two workplaces.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choice is justified with although …</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47</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TD-L07 · Workplace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feminine relative pronoun.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الَّتِي</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الَّذِي</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الَّذِينَ</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رَاتِبٌ مُرْتَفِعٌ</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low salary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high salary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annual leave</a:t>
            </a:r>
            <a:endParaRPr lang="en-US" sz="12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مِنْ عُيُوبِهِ</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مُجْهِدٌ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أَنَّهُ</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بَيْنَمَا</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47</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TD-L07 · Workplace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feminine relative pronoun.</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الَّتِي</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الَّذِي</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الَّذِينَ</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allatī = which / who (f.).</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رَاتِبٌ مُرْتَفِعٌ</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low salary</a:t>
            </a:r>
            <a:endParaRPr lang="en-US" sz="12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high salary</a:t>
            </a:r>
            <a:endParaRPr lang="en-US" sz="12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annual leave</a:t>
            </a:r>
            <a:endParaRPr lang="en-US" sz="12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murtafiʿ = high.</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مِنْ عُيُوبِهِ</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مُجْهِدٌ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أَنَّهُ</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لِأَنَّهُ</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بَيْنَمَا</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min ʿuyūbihi annahu …</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47</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TD-L07 · Workplace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Workplace comparison</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TD-L07</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يُفَضِّلُ بَعْضُ العَامِلِينَ العَمَلَ عَنْ بُعْدٍ لِأَنَّهُ يُوَفِّرُ الوَقْتَ وَيَمْنَحُهُمْ مَرُونَةً أَكْبَرَ. وَلٰكِنَّ آخَرِينَ يَخْتَارُونَ المَكْتَبَ الَّذِي يَسْمَحُ لَهُمْ بِالتَّعَاوُنِ المُبَاشِرِ مَعَ الفَرِيقِ. فِي شَرِكَةِ نُورٍ، يَسْتَطِيعُ المُوَظَّفُونَ العَمَلَ مِنَ المَنْزِلِ يَوْمَيْنِ فِي الأُسْبُوعِ. مِنْ مَزَايَا هٰذَا النِّظَامِ أَنَّهُ يُحَقِّقُ تَوَازُنًا أَفْضَلَ، وَمِنْ عُيُوبِهِ أَنَّ التَّوَاصُلَ قَدْ يَكُونُ أَبْطَأَ.</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بَعْضُ العَامِلِينَ</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some workers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يُوَفِّرُ الوَقْتَ</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saves time</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مَرُونَةً أَكْبَرَ</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more flexibility</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آخَرِينَ</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others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يَسْمَحُ لَهُمْ</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allows them</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التَّعَاوُنِ المُبَاشِرِ</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direct cooperation</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المُوَظَّفُونَ</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employees</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مِنَ المَنْزِلِ</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from home</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هٰذَا النِّظَامِ</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this system</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أَبْطَأَ</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slower</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47</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TD-L07 · Workplace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TD-L07</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 some people prefer remote work?</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salary is higher</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saves time and gives more flexibility</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meet more colleagues</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 others choose the office?</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closer to home</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quieter</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direct cooperation with the team</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How often can Nour company staff work from home?</a:t>
            </a:r>
            <a:endParaRPr lang="en-US" sz="11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 days a week</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every day</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 day a month</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advantage of this system is stated?</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faster communication</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better (work–life) balance</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higher salary</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disadvantage is stated?</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communication may be slower</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hours are longer</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there is less flexibility</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text mainly about?</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advertising a job</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 worker’s day</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comparing remote and office work</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47</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TD-L07 · Workplace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TD-L07</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 some people prefer remote work?</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salary is higher</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it saves time and gives more flexibility</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00" dirty="0">
                <a:solidFill>
                  <a:srgbClr val="9AA1AB"/>
                </a:solidFill>
                <a:latin typeface="Calibri" pitchFamily="34" charset="0"/>
                <a:ea typeface="Calibri" pitchFamily="34" charset="-122"/>
                <a:cs typeface="Calibri" pitchFamily="34" charset="-120"/>
              </a:rPr>
              <a:t>they meet more colleagues</a:t>
            </a:r>
            <a:endParaRPr lang="en-US" sz="120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يُوَفِّرُ الوَقْتَ وَيَمْنَحُهُمْ مَرُونَةً أَكْبَرَ</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 others choose the office?</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closer to home</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quieter</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direct cooperation with the team</a:t>
            </a:r>
            <a:endParaRPr lang="en-US" sz="11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بِالتَّعَاوُنِ المُبَاشِرِ مَعَ الفَرِيقِ</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How often can Nour company staff work from home?</a:t>
            </a:r>
            <a:endParaRPr lang="en-US" sz="11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two days a week</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every day</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one day a month</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يَوْمَيْنِ فِي الأُسْبُوعِ</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advantage of this system is stated?</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faster communication</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a better (work–life) balance</a:t>
            </a:r>
            <a:endParaRPr lang="en-US" sz="11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higher salary</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يُحَقِّقُ تَوَازُنًا أَفْضَلَ</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disadvantage is stated?</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communication may be slower</a:t>
            </a:r>
            <a:endParaRPr lang="en-US" sz="11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hours are longer</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there is less flexibility</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التَّوَاصُلَ قَدْ يَكُونُ أَبْطَأَ</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text mainly about?</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advertising a job</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one worker’s day</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comparing remote and office work</a:t>
            </a:r>
            <a:endParaRPr lang="en-US" sz="11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Both sides are compared.</a:t>
            </a:r>
            <a:endParaRPr lang="en-US" sz="10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47</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TD-L07 · Workplace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TD-L08: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TD-L07</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TD-L08 · Personal Qualities and Professional Skills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مَهَارَةٌ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skill</a:t>
            </a:r>
            <a:pPr indent="0" marL="0">
              <a:buNone/>
            </a:pPr>
            <a:r>
              <a:rPr lang="en-US" sz="1000" i="1" dirty="0">
                <a:solidFill>
                  <a:srgbClr val="5A6472"/>
                </a:solidFill>
                <a:latin typeface="Calibri" pitchFamily="34" charset="0"/>
                <a:ea typeface="Calibri" pitchFamily="34" charset="-122"/>
                <a:cs typeface="Calibri" pitchFamily="34" charset="-120"/>
              </a:rPr>
              <a:t>  pl. مَهَارَاتٌ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خِبْرَةٌ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experience</a:t>
            </a:r>
            <a:pPr indent="0" marL="0">
              <a:buNone/>
            </a:pPr>
            <a:r>
              <a:rPr lang="en-US" sz="1000" i="1" dirty="0">
                <a:solidFill>
                  <a:srgbClr val="5A6472"/>
                </a:solidFill>
                <a:latin typeface="Calibri" pitchFamily="34" charset="0"/>
                <a:ea typeface="Calibri" pitchFamily="34" charset="-122"/>
                <a:cs typeface="Calibri" pitchFamily="34" charset="-120"/>
              </a:rPr>
              <a:t>  pl. خِبْرَاتٌ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مَسْؤُولٌ</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responsible</a:t>
            </a:r>
            <a:pPr indent="0" marL="0">
              <a:buNone/>
            </a:pPr>
            <a:r>
              <a:rPr lang="en-US" sz="1000" i="1" dirty="0">
                <a:solidFill>
                  <a:srgbClr val="5A6472"/>
                </a:solidFill>
                <a:latin typeface="Calibri" pitchFamily="34" charset="0"/>
                <a:ea typeface="Calibri" pitchFamily="34" charset="-122"/>
                <a:cs typeface="Calibri" pitchFamily="34" charset="-120"/>
              </a:rPr>
              <a:t>  f. مَسْؤُولَةٌ · pl. مَسْؤُولُونَ</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مُنَظَّمٌ</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organised</a:t>
            </a:r>
            <a:pPr indent="0" marL="0">
              <a:buNone/>
            </a:pPr>
            <a:r>
              <a:rPr lang="en-US" sz="1000" i="1" dirty="0">
                <a:solidFill>
                  <a:srgbClr val="5A6472"/>
                </a:solidFill>
                <a:latin typeface="Calibri" pitchFamily="34" charset="0"/>
                <a:ea typeface="Calibri" pitchFamily="34" charset="-122"/>
                <a:cs typeface="Calibri" pitchFamily="34" charset="-120"/>
              </a:rPr>
              <a:t>  f. مُنَظَّمَةٌ · pl. مُنَظَّمُونَ</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القِيَادَةُ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leadership</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Name one skill a doctor needs and one a teacher needs.</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يَحْتَاجُ الطَّبِيبُ إِلَى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Learn the 9 work-condition phrases; write 5 sentences from the frames.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Compare two workplaces in 80–100 words with </a:t>
            </a:r>
            <a:pPr algn="l" indent="0" marL="0">
              <a:buNone/>
            </a:pPr>
            <a:r>
              <a:rPr lang="ar-SA" altLang="en-US" sz="1550" dirty="0">
                <a:solidFill>
                  <a:srgbClr val="1F2A37"/>
                </a:solidFill>
                <a:latin typeface="Amiri" pitchFamily="34" charset="0"/>
                <a:ea typeface="Amiri" pitchFamily="34" charset="-122"/>
                <a:cs typeface="Amiri" pitchFamily="34" charset="-120"/>
              </a:rPr>
              <a:t>الَّذِي / الَّتِي</a:t>
            </a:r>
            <a:pPr algn="l" indent="0" marL="0">
              <a:buNone/>
            </a:pPr>
            <a:r>
              <a:rPr lang="en-US" sz="1200" dirty="0">
                <a:solidFill>
                  <a:srgbClr val="1F2A37"/>
                </a:solidFill>
                <a:latin typeface="Calibri" pitchFamily="34" charset="0"/>
                <a:ea typeface="Calibri" pitchFamily="34" charset="-122"/>
                <a:cs typeface="Calibri" pitchFamily="34" charset="-120"/>
              </a:rPr>
              <a:t> and </a:t>
            </a:r>
            <a:pPr algn="l" indent="0" marL="0">
              <a:buNone/>
            </a:pPr>
            <a:r>
              <a:rPr lang="ar-SA" altLang="en-US" sz="1550" dirty="0">
                <a:solidFill>
                  <a:srgbClr val="1F2A37"/>
                </a:solidFill>
                <a:latin typeface="Amiri" pitchFamily="34" charset="0"/>
                <a:ea typeface="Amiri" pitchFamily="34" charset="-122"/>
                <a:cs typeface="Amiri" pitchFamily="34" charset="-120"/>
              </a:rPr>
              <a:t>بَيْنَمَا</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compare two workplaces and justify your choice (100–120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47</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TD-L07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950" b="1" dirty="0">
                <a:solidFill>
                  <a:srgbClr val="FFFFFF"/>
                </a:solidFill>
                <a:latin typeface="Cambria" pitchFamily="34" charset="0"/>
                <a:ea typeface="Cambria" pitchFamily="34" charset="-122"/>
                <a:cs typeface="Cambria" pitchFamily="34" charset="-120"/>
              </a:rPr>
              <a:t>TD-L08 · Personal Qualities and Professional Skills</a:t>
            </a:r>
            <a:endParaRPr lang="en-US" sz="19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الصِّفَاتُ الشَّخْصِيَّةُ وَالمَهَارَاتُ المِهْنِيَّةُ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learn the 5 words for TD-L08.</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TD-L07 · The Workplace and Working Conditions</dc:title>
  <dc:subject>PptxGenJS Presentation</dc:subject>
  <dc:creator>Al Madina Online School · Arabic Department</dc:creator>
  <cp:lastModifiedBy>Al Madina Online School · Arabic Department</cp:lastModifiedBy>
  <cp:revision>1</cp:revision>
  <dcterms:created xsi:type="dcterms:W3CDTF">2026-10-11T04:25:07Z</dcterms:created>
  <dcterms:modified xsi:type="dcterms:W3CDTF">2026-10-11T04:25:07Z</dcterms:modified>
</cp:coreProperties>
</file>