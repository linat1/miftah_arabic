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TD-L07 — The Workplace and Working Conditions. Website: Advanced Topics › Topic D (The World of Work) › Lesson 7.
The website builds this lesson on the D3-L02 lesson engine, with the Topic focus “Discuss workplaces, schedules, pay, conditions, advantages and challenges.” (grammar: Comparatives; time expressions; كان; skills: Listening · Reading) and the application challenge “Workplace comparison”.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D Work and Careers › TD-L07. The website lesson “The Workplace — Environments and Work Conditions”: vocabulary, grammar rules and quiz, patterns, common mistakes, sorter, listening, reading, speaking prompts and model, writing task and model, differentiation, final check and the lesson mission. Picture match: website visual game “The Workplace — Environments and Work Conditions”.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condition phrases + “He works in a modern office / a safe environment” + one advantage (مِنْ مَزَايَا … أَنَّ …). Develop: الَّذِي / الَّتِي and a contrast (بَيْنَمَا / وَلٰكِنَّ). Stretch: weigh two workplaces and choose one (عَلَى الرَّغْمِ مِنْ أَنَّ …).
• Built on TD-L06 (فِي + workplace). New: the workplace now gets an adjective that AGREES (مَكْتَبٌ حَدِيثٌ / شَرِكَةٌ حَدِيثَةٌ).
• مِنْ مَزَايَا … أَنَّ was taught in F6-L05 (website) (towns): same structure, new topic.
• Vocabulary group 1 (workplaces) is review from TD-L06 — revise it quickly or set it as FLEX.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TD-L06. Questions 3–4 retrieve TD-L06. Question 5 retrieves F6-L05 (website) (advantages of a town).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adjective follows the workplace and agrees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صنعت (industry) shares the root of مَصْنَعٌ (factory); توازن is identical. CAREFUL: Urdu مکتب is a (traditional) school; Arabic مَكْتَبٌ is an office or desk. رَاتِبٌ and سَنَوِيٌّ have no Urdu cognates — link them by meaning (تنخواہ، سالانہ).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Workplaces (website vocabulary (1 of 2)). Hear → Say → See → Use. Transliteration is printed for Core students (cover it for Develop/Stretch).
FLEX: teach if time allows; otherwise these are on the website vocabulary tab for homework.
Review from TD-L06 (FLEX): say each workplace with a new adjective — مَكْتَبٌ حَدِيثٌ، مَصْنَعٌ كَبِيرٌ، شَرِكَةٌ دَوْلِيَّةٌ.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Workplaces (website vocabulary (2 of 2)). Hear → Say → See → Use. Transliteration is printed for Core students (cover it for Develop/Stretch).
FLEX: teach if time allows; otherwise these are on the website vocabulary tab for homework.
Review from TD-L06 (FLEX): say each workplace with a new adjective — مَكْتَبٌ حَدِيثٌ، مَصْنَعٌ كَبِيرٌ، شَرِكَةٌ دَوْلِيَّةٌ.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Conditions and benefits (website vocabulary (1 of 2)). Hear → Say → See → Use. Transliteration is printed for Core students (cover it for Develop/Stretch).
The new words. Every phrase is noun + adjective: the adjective agrees (سَاعَاتٌ مَرِنَةٌ: a non-human plural takes a feminine singular adjective). مُجْزٍ (rewarding) loses its yāʾ like مُحَامٍ: f. مُجْزِيَةٌ.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Conditions and benefits (website vocabulary (2 of 2)). Hear → Say → See → Use. Transliteration is printed for Core students (cover it for Develop/Stretch).
The new words. Every phrase is noun + adjective: the adjective agrees (سَاعَاتٌ مَرِنَةٌ: a non-human plural takes a feminine singular adjective). مُجْزٍ (rewarding) loses its yāʾ like مُحَامٍ: f. مُجْزِيَةٌ.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Evaluation (website vocabulary (1 of 2)). Hear → Say → See → Use. Transliteration is printed for Core students (cover it for Develop/Stretch).
FLEX: teach if time allows; otherwise these are on the website vocabulary tab for homework.
Evaluation connectors (FLEX): the same Topic D list. Today’s focus: بَيْنَمَا (whereas) and وَلٰكِنَّ (however).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Evaluation (website vocabulary (2 of 2)). Hear → Say → See → Use. Transliteration is printed for Core students (cover it for Develop/Stretch).
FLEX: teach if time allows; otherwise these are on the website vocabulary tab for homework.
Evaluation connectors (FLEX): the same Topic D list. Today’s focus: بَيْنَمَا (whereas) and وَلٰكِنَّ (however).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“Place and condition” (يَعْمَلُ فِي + مَكَانٍ + صِفَةٍ: describe the location, then add an agreeing adjective) and “Relative clause” (الَّذِي for masculine and الَّتِي for feminine antecedents). Website examples: يَعْمَلُ فِي مَكْتَبٍ حَدِيثٍ · تَعْمَلُ فِي بِيئَةٍ آمِنَةٍ · المَكْتَبُ الَّذِي أَعْمَلُ فِيهِ · الشَّرِكَةُ الَّتِي تُوَفِّرُ تَدْرِيبًا.
Teacher additions: the adjective takes the noun’s case ending (فِي مَكْتَبٍ حَدِيثٍ: both -in after fī); the returning pronoun فِيهِ / فِيهَا. Core can stop at row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“Advantages and disadvantages” (a noun phrase followed by أَنَّ and a complete clause) and “Contrast” (بَيْنَمَا compares two situations; لٰكِنَّ qualifies a statement). Website examples: مِنْ مَزَايَا العَمَلِ أَنَّ سَاعَاتِهِ مَرِنَةٌ · مِنْ عُيُوبِهِ أَنَّهُ مُجْهِدٌ · الرَّاتِبُ مُرْتَفِعٌ، وَلٰكِنَّ السَّاعَاتِ طَوِيلَةٌ · أَعْمَلُ فِي مَكْتَبٍ، بَيْنَمَا يَعْمَلُ أَخِي فِي الهَوَاءِ الطَّلْقِ.
Stretch: after أَنَّ and لٰكِنَّ the noun takes -a (accusative): أَنَّ سَاعَاتِهِ (a feminine sound plural shows -i), لٰكِنَّ السَّاعَاتِ.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“وَصْفُ بِيئَةِ العَمَلِ وَالجُمَلُ المَوْصُولَةُ”
• Place and condition: Describe the location, then add an agreeing adjective.
• Relative clause: Use الذي for masculine and التي for feminine antecedents.
• Advantages and disadvantages: Use a noun phrase followed by أنَّ and a complete clause.
• Contrast: Use بينما to compare two situations and لكنّ to qualify a statement.
Website common error: Do not leave out أَنَّ after مِنْ مَزَايَا / مِنْ عُيُوبِ, and do not use الَّذِي with a feminine noun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from the website rules and the listening script (Samer on the building site). Think aloud: “Masculine or feminine place? Which clause? Where is my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(“Workplace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“Workplace Match”: office hours, working from home, an evening shift.
Website feedback lines: The office hours match. · The scene shows remote work. · The shop shift is in the evening.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(“Workplace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“Workplace Match”: office hours, working from home, an evening shift.
Website feedback lines: The office hours match. · The scene shows remote work. · The shop shift is in the evening.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Workplace — Environments and Work Conditions”)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أَعْمَلُ فِي مُسْتَشْفًى · أَعْمَلُ فِي مَدْرَسَةٍ · أَعْمَلُ مِنَ التَّاسِعَةِ إِلَى الخَامِسَةِ (from nine to five). Stretch: add an adjective to each card (مَصْنَعٌ كَبِيرٌ).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Workplace — Environments and Work Conditions”)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أَعْمَلُ فِي مُسْتَشْفًى · أَعْمَلُ فِي مَدْرَسَةٍ · أَعْمَلُ مِنَ التَّاسِعَةِ إِلَى الخَامِسَةِ (from nine to five). Stretch: add an adjective to each card (مَصْنَعٌ كَبِيرٌ).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work condition is usually an advantage or a disadvantage.
Then turn two items into sentences: مِنْ مَزَايَا العَمَلِ أَنَّ … · مِنْ عُيُوبِهِ أَنَّ … (Stretch: argue that one item could be both — long hours with a high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work condition is usually an advantage or a disadvantage.
Then turn two items into sentences: مِنْ مَزَايَا العَمَلِ أَنَّ … · مِنْ عُيُوبِهِ أَنَّ … (Stretch: argue that one item could be both — long hours with a high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تَعْمَلُ مَرْيَمُ فِي مُخْتَبَرٍ حَدِيثٍ مِنَ السَّاعَةِ الثَّامِنَةِ إِلَى الرَّابِعَةِ. تُحِبُّ بِيئَةَ العَمَلِ لِأَنَّهَا آمِنَةٌ وَمُنَظَّمَةٌ، وَلٰكِنَّ العَمَلَ يَحْتَاجُ إِلَى دِقَّةٍ شَدِيدَةٍ. أَمَّا سَامِرٌ فَيَعْمَلُ فِي مَوْقِعِ بِنَاءٍ. رَاتِبُهُ جَيِّدٌ، لٰكِنَّ عَمَلَهُ مُجْهِدٌ وَيَتَأَثَّرُ بِالطَّقْسِ.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“Compare two workplaces by hours, environment, responsibilities and conditions, then decide which suits a given worker profile best.”
Website Topic D challenge “Workplace comparison”. Profiles: المَكْتَبُ: مِنَ التَّاسِعَةِ إِلَى الخَامِسَةِ، هَادِئٌ، رَاتِبٌ ثَابِتٌ · المُسْتَشْفَى: نَوْبَاتٌ لَيْلِيَّةٌ، مُزْدَحِمٌ، عَمَلٌ مُهِمٌّ. Worker: طَالِبٌ جَامِعِيٌّ يَدْرُسُ فِي الصَّبَاحِ وَيُرِيدُ عَمَلًا مَسَائِيًّا.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عُيُوبُهُ؟ (And its disadvantages?)
B: مِنْ عُيُوبِهِ أَنَّ السَّاعَاتِ طَوِيلَةٌ، وَلٰكِنَّ الرَّاتِبَ مُرْتَفِعٌ. (One disadvantage is that the hours are long, but the salary is high.)
Teacher-written prompts and model (the website prompts for this lesson are generic). Model continues: A: وَمَا عُيُوبُهُ؟ B: مِنْ عُيُوبِهِ أَنَّ السَّاعَاتِ طَوِيلَةٌ، وَلٰكِنَّ الرَّاتِبَ مُرْتَفِعٌ. To a girl: أَيْنَ تُفَضِّلِينَ أَنْ 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Compare two workplaces and explain which one you would prefer and why.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مَكْتَبٍ حَدِيثٍ، مَوْقِعِ بِنَاءٍ · المَكْتَبُ الَّذِي يَعْمَلُ فِيهِ · مِنْ مَزَايَاهُ أَنَّ … وَلٰكِنَّ عَمَلَهُ مُجْهِدٌ · أُفَضِّلُ … لِأَنَّنِي … · عَلَى الرَّغْمِ مِنْ أَنَّ … فَإِنَّهُ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(TD-L08 · Personal Qualities and Professional Skills) will spend class time USING this language, so students prepare it tonight — short, simple, easy to access (school guidance: “Simple, Short, Interesting, Relevant, Easy to access”). The five words come from the website TD-L08 vocabulary (skills and worker qualities).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D  ·  TD-L07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TD-L07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ea typeface="Cambria" pitchFamily="34" charset="-122"/>
                <a:cs typeface="Cambria" pitchFamily="34" charset="-120"/>
              </a:rPr>
              <a:t>The Workplace and Working Conditions</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مَكَانُ العَمَلِ وَظُرُوفُهُ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Discuss workplaces, schedules, pay, conditions, advantages and challenges.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TD-L07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D › TD-L07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Workplace + adjective, the who / which clause, and pros and cons.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sort advantages / disadvantages,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TD-L08.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رَاتِبٌ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team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salary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office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عَمَلٌ مُجْزٍ</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rewarding work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tiring work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part-time work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أُمِّي مُحَاسِبٌ.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أُمِّي تَكُونُ مُحَاسِبَةٌ.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أُمِّي مُحَاسِبَةٌ.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 lawyer work?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المَصْنَعِ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المُخْتَبَرِ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المَحْكَمَةِ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introduces an advantage?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مَزَايَا … 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عُيُوبِ … 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سَبِيلِ المِثَالِ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رَاتِبٌ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team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salary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 office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(TD-L06).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عَمَلٌ مُجْزٍ</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rewarding work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tiring work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part-time work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(TD-L06).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أُمِّي مُحَاسِبٌ.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أُمِّي تَكُونُ مُحَاسِبَةٌ.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أُمِّي مُحَاسِبَةٌ.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TD-L06: feminine, no “is”.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 lawyer work?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 المَصْنَعِ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 المُخْتَبَرِ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فِي المَحْكَمَةِ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TD-L06 workplaces.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introduces an advantage?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مَزَايَا … 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عُيُوبِ … 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 سَبِيلِ المِثَالِ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F6-L05 (website): the same frame for towns.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adjective follows the workplace and agrees with 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مَكْتَبٌ </a:t>
            </a:r>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حَدِيثٌ</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بِيئَةٌ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آمِنَةٌ</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الشَّرِكَةُ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الَّتِي</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أَعْمَلُ فِيهَا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a workplace with an adjective that agrees.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work conditions and benefits (hours, salary, team, leave).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Join ideas with </a:t>
            </a:r>
            <a:pPr algn="l" indent="0" marL="0">
              <a:buNone/>
            </a:pPr>
            <a:r>
              <a:rPr lang="ar-SA" altLang="en-US" sz="1700" dirty="0">
                <a:solidFill>
                  <a:srgbClr val="1F2A37"/>
                </a:solidFill>
                <a:latin typeface="Amiri" pitchFamily="34" charset="0"/>
                <a:ea typeface="Amiri" pitchFamily="34" charset="-122"/>
                <a:cs typeface="Amiri" pitchFamily="34" charset="-120"/>
              </a:rPr>
              <a:t>الَّذِي / الَّتِي</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Weigh advantages and disadvantages with </a:t>
            </a:r>
            <a:pPr algn="l" indent="0" marL="0">
              <a:buNone/>
            </a:pPr>
            <a:r>
              <a:rPr lang="ar-SA" altLang="en-US" sz="1700" dirty="0">
                <a:solidFill>
                  <a:srgbClr val="1F2A37"/>
                </a:solidFill>
                <a:latin typeface="Amiri" pitchFamily="34" charset="0"/>
                <a:ea typeface="Amiri" pitchFamily="34" charset="-122"/>
                <a:cs typeface="Amiri" pitchFamily="34" charset="-120"/>
              </a:rPr>
              <a:t>أَنَّ</a:t>
            </a:r>
            <a:pPr algn="l" indent="0" marL="0">
              <a:buNone/>
            </a:pPr>
            <a:r>
              <a:rPr lang="en-US" sz="1300" dirty="0">
                <a:solidFill>
                  <a:srgbClr val="1F2A37"/>
                </a:solidFill>
                <a:latin typeface="Calibri" pitchFamily="34" charset="0"/>
                <a:ea typeface="Calibri" pitchFamily="34" charset="-122"/>
                <a:cs typeface="Calibri" pitchFamily="34" charset="-120"/>
              </a:rPr>
              <a:t> and a contrast.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describe a workplace with an adjective.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one advantage of a job.</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the place where / the company which.</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contrast two jobs.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weigh two workplaces and choose one.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although … in a judgement.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Workplaces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Conditions and benefits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Evaluation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رَاتِبٌ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‎تنخواہ‎ </a:t>
            </a:r>
            <a:pPr indent="0" marL="0">
              <a:buNone/>
            </a:pPr>
            <a:r>
              <a:rPr lang="en-US" sz="950" b="1" dirty="0">
                <a:solidFill>
                  <a:srgbClr val="2E8B57"/>
                </a:solidFill>
                <a:latin typeface="Calibri" pitchFamily="34" charset="0"/>
                <a:ea typeface="Calibri" pitchFamily="34" charset="-122"/>
                <a:cs typeface="Calibri" pitchFamily="34" charset="-120"/>
              </a:rPr>
              <a:t> tankhwāh · salary (meaning only)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مَكْتَبٌ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‎مکتب‎ </a:t>
            </a:r>
            <a:pPr indent="0" marL="0">
              <a:buNone/>
            </a:pPr>
            <a:r>
              <a:rPr lang="en-US" sz="950" b="1" dirty="0">
                <a:solidFill>
                  <a:srgbClr val="2E8B57"/>
                </a:solidFill>
                <a:latin typeface="Calibri" pitchFamily="34" charset="0"/>
                <a:ea typeface="Calibri" pitchFamily="34" charset="-122"/>
                <a:cs typeface="Calibri" pitchFamily="34" charset="-120"/>
              </a:rPr>
              <a:t> maktab · Urdu: school · Arabic: office / desk</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مَصْنَعٌ</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‎صنعت‎ </a:t>
            </a:r>
            <a:pPr indent="0" marL="0">
              <a:buNone/>
            </a:pPr>
            <a:r>
              <a:rPr lang="en-US" sz="950" b="1" dirty="0">
                <a:solidFill>
                  <a:srgbClr val="2E8B57"/>
                </a:solidFill>
                <a:latin typeface="Calibri" pitchFamily="34" charset="0"/>
                <a:ea typeface="Calibri" pitchFamily="34" charset="-122"/>
                <a:cs typeface="Calibri" pitchFamily="34" charset="-120"/>
              </a:rPr>
              <a:t> sanʿat · industry → factory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سَنَوِيَّةٌ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‎سال / سالانہ‎ </a:t>
            </a:r>
            <a:pPr indent="0" marL="0">
              <a:buNone/>
            </a:pPr>
            <a:r>
              <a:rPr lang="en-US" sz="950" b="1" dirty="0">
                <a:solidFill>
                  <a:srgbClr val="2E8B57"/>
                </a:solidFill>
                <a:latin typeface="Calibri" pitchFamily="34" charset="0"/>
                <a:ea typeface="Calibri" pitchFamily="34" charset="-122"/>
                <a:cs typeface="Calibri" pitchFamily="34" charset="-120"/>
              </a:rPr>
              <a:t> sālāna · annual (meaning only)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تَوَازُنٌ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‎توازن‎ </a:t>
            </a:r>
            <a:pPr indent="0" marL="0">
              <a:buNone/>
            </a:pPr>
            <a:r>
              <a:rPr lang="en-US" sz="950" b="1" dirty="0">
                <a:solidFill>
                  <a:srgbClr val="2E8B57"/>
                </a:solidFill>
                <a:latin typeface="Calibri" pitchFamily="34" charset="0"/>
                <a:ea typeface="Calibri" pitchFamily="34" charset="-122"/>
                <a:cs typeface="Calibri" pitchFamily="34" charset="-120"/>
              </a:rPr>
              <a:t> tawāzun · balance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Workplaces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مُسْتَشْفًى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hospital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mus-tash-fan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مَدْرَسَةٌ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school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mad-ra-sa-tun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مَكْتَبٌ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office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mak-ta-bun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مَصْنَعٌ</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factory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maṣ-na-ʿun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مُخْتَبَرٌ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laboratory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mukh-ta-ba-run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مَحْكَمَةٌ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court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maḥ-ka-ma-tun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Workplaces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مَتْجَرٌ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mat-ja-run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مَطَارٌ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airport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ma-ṭā-run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شَرِكَةٌ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company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sha-ri-ka-tun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مَوْقِعُ بِنَاءٍ</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building site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maw-qi-ʿu bi-nā-ʾin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عَنْ بُعْدٍ</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remotely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ʿan buʿ-din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فِي الهَوَاءِ الطَّلْقِ</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outdoors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fī al-ha-wā-ʾi aṭ-ṭal-qi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Conditions and benefits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دَوَامٌ كَامِلٌ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full-time 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da-wā-mun kā-mi-lun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دَوَامٌ جُزْئِيٌّ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part-time 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da-wā-mun juz-ʾiy-yun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سَاعَاتٌ مَرِنَةٌ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flexible hours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sā-ʿā-tun ma-ri-na-tun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رَاتِبٌ مُرْتَفِعٌ</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high salary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rā-ti-bun mur-ta-fi-ʿun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رَاتِبٌ مُنْخَفِضٌ</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low salary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rā-ti-bun mun-kha-fi-ḍun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عَمَلٌ مُجْهِدٌ</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tiring 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ʿa-ma-lun muj-hi-dun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Conditions and benefits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عَمَلٌ مُجْزٍ</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rewarding 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ʿa-ma-lun muj-zin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بِيئَةٌ آمِنَةٌ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safe environment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bī-ʾa-tun ā-mi-na-tun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فَرِيقُ عَمَلٍ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work team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fa-rī-qu ʿa-ma-lin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إِجَازَةٌ سَنَوِيَّةٌ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annual leave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i-jā-za-tun sa-na-wiy-ya-tun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فُرَصُ التَّرَقِّي</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promotion opportunities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fu-ra-ṣu at-ta-raq-qī</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34" charset="0"/>
                <a:ea typeface="Amiri" pitchFamily="34" charset="-122"/>
                <a:cs typeface="Amiri" pitchFamily="34" charset="-120"/>
              </a:rPr>
              <a:t>تَوَازُنٌ بَيْنَ العَمَلِ وَالحَيَاةِ</a:t>
            </a:r>
            <a:endParaRPr lang="ar-SA" sz="29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work-life balance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ta-wā-zu-nun bay-na al-ʿa-ma-li wāl-ḥa-yā-ti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Evaluation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because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therefore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however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whereas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although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addition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Evaluation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 one hand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 the other hand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my opinion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for example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 a result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with the aim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ea typeface="Calibri" pitchFamily="34" charset="-122"/>
                <a:cs typeface="Calibri" pitchFamily="34" charset="-120"/>
              </a:rPr>
              <a:t>GRAMMAR FOCUS · PART 1 · PLACE + CONDITION, AND WHICH / WHERE (WEBSITE RULES 1–2)</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Describe the place, then join a clause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الَّذِي · الَّتِي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 noun</a:t>
            </a:r>
            <a:endParaRPr lang="en-US" sz="1100" dirty="0"/>
          </a:p>
        </p:txBody>
      </p:sp>
      <p:sp>
        <p:nvSpPr>
          <p:cNvPr id="17" name="Text 14"/>
          <p:cNvSpPr txBox="1"/>
          <p:nvPr/>
        </p:nvSpPr>
        <p:spPr>
          <a:xfrm>
            <a:off x="339242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 noun</a:t>
            </a:r>
            <a:endParaRPr lang="en-US" sz="1100" dirty="0"/>
          </a:p>
        </p:txBody>
      </p:sp>
      <p:sp>
        <p:nvSpPr>
          <p:cNvPr id="18" name="Text 15"/>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1695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يَعْمَلُ فِي مَكْتَبٍ </a:t>
            </a:r>
            <a:pPr rtl="1" algn="ctr" indent="0" marL="0">
              <a:buNone/>
            </a:pPr>
            <a:r>
              <a:rPr lang="ar-SA" altLang="en-US" sz="2100" b="1" dirty="0">
                <a:solidFill>
                  <a:srgbClr val="1D5FBF"/>
                </a:solidFill>
                <a:latin typeface="Amiri" pitchFamily="34" charset="0"/>
                <a:ea typeface="Amiri" pitchFamily="34" charset="-122"/>
                <a:cs typeface="Amiri" pitchFamily="34" charset="-120"/>
              </a:rPr>
              <a:t>حَدِيثٍ</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1" name="Text 18"/>
          <p:cNvSpPr txBox="1"/>
          <p:nvPr/>
        </p:nvSpPr>
        <p:spPr>
          <a:xfrm>
            <a:off x="757123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a modern office</a:t>
            </a:r>
            <a:endParaRPr lang="en-US" sz="950" dirty="0"/>
          </a:p>
        </p:txBody>
      </p:sp>
      <p:sp>
        <p:nvSpPr>
          <p:cNvPr id="22" name="Text 19"/>
          <p:cNvSpPr txBox="1"/>
          <p:nvPr/>
        </p:nvSpPr>
        <p:spPr>
          <a:xfrm>
            <a:off x="341071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تَعْمَلُ فِي بِيئَةٍ </a:t>
            </a:r>
            <a:pPr rtl="1" algn="ctr" indent="0" marL="0">
              <a:buNone/>
            </a:pPr>
            <a:r>
              <a:rPr lang="ar-SA" altLang="en-US" sz="2100" b="1" dirty="0">
                <a:solidFill>
                  <a:srgbClr val="D6336C"/>
                </a:solidFill>
                <a:latin typeface="Amiri" pitchFamily="34" charset="0"/>
                <a:ea typeface="Amiri" pitchFamily="34" charset="-122"/>
                <a:cs typeface="Amiri" pitchFamily="34" charset="-120"/>
              </a:rPr>
              <a:t>آمِنَةٍ</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3" name="Text 20"/>
          <p:cNvSpPr txBox="1"/>
          <p:nvPr/>
        </p:nvSpPr>
        <p:spPr>
          <a:xfrm>
            <a:off x="336499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a safe environment</a:t>
            </a:r>
            <a:endParaRPr lang="en-US" sz="950" dirty="0"/>
          </a:p>
        </p:txBody>
      </p:sp>
      <p:sp>
        <p:nvSpPr>
          <p:cNvPr id="24" name="Text 21"/>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adjective agrees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61695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مَصْنَعٌ </a:t>
            </a:r>
            <a:pPr rtl="1" algn="ctr" indent="0" marL="0">
              <a:buNone/>
            </a:pPr>
            <a:r>
              <a:rPr lang="ar-SA" altLang="en-US" sz="2100" b="1" dirty="0">
                <a:solidFill>
                  <a:srgbClr val="1D5FBF"/>
                </a:solidFill>
                <a:latin typeface="Amiri" pitchFamily="34" charset="0"/>
                <a:ea typeface="Amiri" pitchFamily="34" charset="-122"/>
                <a:cs typeface="Amiri" pitchFamily="34" charset="-120"/>
              </a:rPr>
              <a:t>كَبِيرٌ</a:t>
            </a:r>
            <a:endParaRPr lang="ar-SA" sz="2100" dirty="0"/>
          </a:p>
        </p:txBody>
      </p:sp>
      <p:sp>
        <p:nvSpPr>
          <p:cNvPr id="29" name="Text 26"/>
          <p:cNvSpPr txBox="1"/>
          <p:nvPr/>
        </p:nvSpPr>
        <p:spPr>
          <a:xfrm>
            <a:off x="757123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big factory</a:t>
            </a:r>
            <a:endParaRPr lang="en-US" sz="950" dirty="0"/>
          </a:p>
        </p:txBody>
      </p:sp>
      <p:sp>
        <p:nvSpPr>
          <p:cNvPr id="30" name="Text 27"/>
          <p:cNvSpPr txBox="1"/>
          <p:nvPr/>
        </p:nvSpPr>
        <p:spPr>
          <a:xfrm>
            <a:off x="341071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شَرِكَةٌ </a:t>
            </a:r>
            <a:pPr rtl="1" algn="ctr" indent="0" marL="0">
              <a:buNone/>
            </a:pPr>
            <a:r>
              <a:rPr lang="ar-SA" altLang="en-US" sz="2100" b="1" dirty="0">
                <a:solidFill>
                  <a:srgbClr val="D6336C"/>
                </a:solidFill>
                <a:latin typeface="Amiri" pitchFamily="34" charset="0"/>
                <a:ea typeface="Amiri" pitchFamily="34" charset="-122"/>
                <a:cs typeface="Amiri" pitchFamily="34" charset="-120"/>
              </a:rPr>
              <a:t>دَوْلِيَّةٌ</a:t>
            </a:r>
            <a:endParaRPr lang="ar-SA" sz="2100" dirty="0"/>
          </a:p>
        </p:txBody>
      </p:sp>
      <p:sp>
        <p:nvSpPr>
          <p:cNvPr id="31" name="Text 28"/>
          <p:cNvSpPr txBox="1"/>
          <p:nvPr/>
        </p:nvSpPr>
        <p:spPr>
          <a:xfrm>
            <a:off x="336499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an international company</a:t>
            </a:r>
            <a:endParaRPr lang="en-US" sz="950" dirty="0"/>
          </a:p>
        </p:txBody>
      </p:sp>
      <p:sp>
        <p:nvSpPr>
          <p:cNvPr id="32" name="Text 29"/>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-un / -atun</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61695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المَكْتَبُ </a:t>
            </a:r>
            <a:pPr rtl="1" algn="ctr" indent="0" marL="0">
              <a:buNone/>
            </a:pPr>
            <a:r>
              <a:rPr lang="ar-SA" altLang="en-US" sz="2100" b="1" dirty="0">
                <a:solidFill>
                  <a:srgbClr val="1D5FBF"/>
                </a:solidFill>
                <a:latin typeface="Amiri" pitchFamily="34" charset="0"/>
                <a:ea typeface="Amiri" pitchFamily="34" charset="-122"/>
                <a:cs typeface="Amiri" pitchFamily="34" charset="-120"/>
              </a:rPr>
              <a:t>الَّذِي</a:t>
            </a:r>
            <a:pPr rtl="1" algn="ctr" indent="0" marL="0">
              <a:buNone/>
            </a:pPr>
            <a:r>
              <a:rPr lang="ar-SA" altLang="en-US" sz="2100" b="1" dirty="0">
                <a:solidFill>
                  <a:srgbClr val="1B3B6F"/>
                </a:solidFill>
                <a:latin typeface="Amiri" pitchFamily="34" charset="0"/>
                <a:ea typeface="Amiri" pitchFamily="34" charset="-122"/>
                <a:cs typeface="Amiri" pitchFamily="34" charset="-120"/>
              </a:rPr>
              <a:t> أَعْمَلُ فِيهِ</a:t>
            </a:r>
            <a:endParaRPr lang="ar-SA" sz="2100" dirty="0"/>
          </a:p>
        </p:txBody>
      </p:sp>
      <p:sp>
        <p:nvSpPr>
          <p:cNvPr id="37" name="Text 34"/>
          <p:cNvSpPr txBox="1"/>
          <p:nvPr/>
        </p:nvSpPr>
        <p:spPr>
          <a:xfrm>
            <a:off x="757123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office (which) I work in</a:t>
            </a:r>
            <a:endParaRPr lang="en-US" sz="950" dirty="0"/>
          </a:p>
        </p:txBody>
      </p:sp>
      <p:sp>
        <p:nvSpPr>
          <p:cNvPr id="38" name="Text 35"/>
          <p:cNvSpPr txBox="1"/>
          <p:nvPr/>
        </p:nvSpPr>
        <p:spPr>
          <a:xfrm>
            <a:off x="341071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الشَّرِكَةُ </a:t>
            </a:r>
            <a:pPr rtl="1" algn="ctr" indent="0" marL="0">
              <a:buNone/>
            </a:pPr>
            <a:r>
              <a:rPr lang="ar-SA" altLang="en-US" sz="2100" b="1" dirty="0">
                <a:solidFill>
                  <a:srgbClr val="D6336C"/>
                </a:solidFill>
                <a:latin typeface="Amiri" pitchFamily="34" charset="0"/>
                <a:ea typeface="Amiri" pitchFamily="34" charset="-122"/>
                <a:cs typeface="Amiri" pitchFamily="34" charset="-120"/>
              </a:rPr>
              <a:t>الَّتِي</a:t>
            </a:r>
            <a:pPr rtl="1" algn="ctr" indent="0" marL="0">
              <a:buNone/>
            </a:pPr>
            <a:r>
              <a:rPr lang="ar-SA" altLang="en-US" sz="2100" b="1" dirty="0">
                <a:solidFill>
                  <a:srgbClr val="1B3B6F"/>
                </a:solidFill>
                <a:latin typeface="Amiri" pitchFamily="34" charset="0"/>
                <a:ea typeface="Amiri" pitchFamily="34" charset="-122"/>
                <a:cs typeface="Amiri" pitchFamily="34" charset="-120"/>
              </a:rPr>
              <a:t> تُوَفِّرُ تَدْرِيبًا</a:t>
            </a:r>
            <a:endParaRPr lang="ar-SA" sz="2100" dirty="0"/>
          </a:p>
        </p:txBody>
      </p:sp>
      <p:sp>
        <p:nvSpPr>
          <p:cNvPr id="39" name="Text 36"/>
          <p:cNvSpPr txBox="1"/>
          <p:nvPr/>
        </p:nvSpPr>
        <p:spPr>
          <a:xfrm>
            <a:off x="336499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company which offers training</a:t>
            </a:r>
            <a:endParaRPr lang="en-US" sz="950" dirty="0"/>
          </a:p>
        </p:txBody>
      </p:sp>
      <p:sp>
        <p:nvSpPr>
          <p:cNvPr id="40" name="Text 37"/>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allaḏī · allatī</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61695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المَكْتَبُ الَّذِي أَعْمَلُ </a:t>
            </a:r>
            <a:pPr rtl="1" algn="ctr" indent="0" marL="0">
              <a:buNone/>
            </a:pPr>
            <a:r>
              <a:rPr lang="ar-SA" altLang="en-US" sz="2100" b="1" dirty="0">
                <a:solidFill>
                  <a:srgbClr val="1D5FBF"/>
                </a:solidFill>
                <a:latin typeface="Amiri" pitchFamily="34" charset="0"/>
                <a:ea typeface="Amiri" pitchFamily="34" charset="-122"/>
                <a:cs typeface="Amiri" pitchFamily="34" charset="-120"/>
              </a:rPr>
              <a:t>فِيهِ</a:t>
            </a:r>
            <a:endParaRPr lang="ar-SA" sz="2100" dirty="0"/>
          </a:p>
        </p:txBody>
      </p:sp>
      <p:sp>
        <p:nvSpPr>
          <p:cNvPr id="43" name="Text 40"/>
          <p:cNvSpPr txBox="1"/>
          <p:nvPr/>
        </p:nvSpPr>
        <p:spPr>
          <a:xfrm>
            <a:off x="757123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it (m.)</a:t>
            </a:r>
            <a:endParaRPr lang="en-US" sz="950" dirty="0"/>
          </a:p>
        </p:txBody>
      </p:sp>
      <p:sp>
        <p:nvSpPr>
          <p:cNvPr id="44" name="Text 41"/>
          <p:cNvSpPr txBox="1"/>
          <p:nvPr/>
        </p:nvSpPr>
        <p:spPr>
          <a:xfrm>
            <a:off x="341071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الشَّرِكَةُ الَّتِي أَعْمَلُ </a:t>
            </a:r>
            <a:pPr rtl="1" algn="ctr" indent="0" marL="0">
              <a:buNone/>
            </a:pPr>
            <a:r>
              <a:rPr lang="ar-SA" altLang="en-US" sz="2100" b="1" dirty="0">
                <a:solidFill>
                  <a:srgbClr val="D6336C"/>
                </a:solidFill>
                <a:latin typeface="Amiri" pitchFamily="34" charset="0"/>
                <a:ea typeface="Amiri" pitchFamily="34" charset="-122"/>
                <a:cs typeface="Amiri" pitchFamily="34" charset="-120"/>
              </a:rPr>
              <a:t>فِيهَا</a:t>
            </a:r>
            <a:endParaRPr lang="ar-SA" sz="2100" dirty="0"/>
          </a:p>
        </p:txBody>
      </p:sp>
      <p:sp>
        <p:nvSpPr>
          <p:cNvPr id="45" name="Text 42"/>
          <p:cNvSpPr txBox="1"/>
          <p:nvPr/>
        </p:nvSpPr>
        <p:spPr>
          <a:xfrm>
            <a:off x="336499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it (f.)</a:t>
            </a:r>
            <a:endParaRPr lang="en-US" sz="950" dirty="0"/>
          </a:p>
        </p:txBody>
      </p:sp>
      <p:sp>
        <p:nvSpPr>
          <p:cNvPr id="46" name="Text 43"/>
          <p:cNvSpPr txBox="1"/>
          <p:nvPr/>
        </p:nvSpPr>
        <p:spPr>
          <a:xfrm>
            <a:off x="56692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fīhi · fīhā</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Relative clauses need a “the” noun: al-maktab allaḏī … — and fīhi / fīhā points back to the place.</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2 · PROS, CONS AND CONTRAST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Weigh it 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مَزَايَا · عُيُوبٌ · بَيْنَمَا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ADVANTAGE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مَزَايَا … 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مِنْ مَزَايَا العَمَلِ أَنَّ سَاعَاتِهِ مَرِنَةٌ.</a:t>
            </a:r>
            <a:endParaRPr lang="ar-SA" sz="2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One advantage of the job is that its hours are flexible.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anna + a full clause.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DISADVANTAGE · CORE</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عُيُوبِهِ أَنَّهُ</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مِنْ عُيُوبِهِ أَنَّهُ مُجْهِدٌ.</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One of its disadvantages is that it is tiring.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annahu = that it (m.).</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CONTRAST · DEVELOP</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وَلٰكِنَّ · بَيْنَمَا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الرَّاتِبُ مُرْتَفِعٌ، وَلٰكِنَّ السَّاعَاتِ طَوِيلَةٌ.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salary is high, but the hours are long.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lākinna + noun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A clause after min mazāyā needs anna.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مِنْ مَزَايَا العَمَلِ أَنَّ سَاعَاتِهِ مَرِنَةٌ.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34" charset="0"/>
                <a:ea typeface="Amiri" pitchFamily="34" charset="-122"/>
                <a:cs typeface="Amiri" pitchFamily="34" charset="-120"/>
              </a:rPr>
              <a:t>مِنْ مَزَايَا العَمَلِ سَاعَاتُهُ مَرِنَةٌ.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Work conditions and relative clauses</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34" charset="0"/>
                <a:ea typeface="Amiri" pitchFamily="34" charset="-122"/>
                <a:cs typeface="Amiri" pitchFamily="34" charset="-120"/>
              </a:rPr>
              <a:t>وَصْفُ بِيئَةِ العَمَلِ وَالجُمَلُ المَوْصُولَةُ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Place and condition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يَعْمَلُ فِي + مَكَانٍ + صِفَةٍ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يَعْمَلُ فِي مَكْتَبٍ حَدِيثٍ.   ·   تَعْمَلُ فِي بِيئَةٍ آمِنَةٍ.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Relative clause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مَكَانٌ الَّذِي / بِيئَةٌ الَّتِي</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المَكْتَبُ الَّذِي أَعْمَلُ فِيهِ   ·   الشَّرِكَةُ الَّتِي تُوَفِّرُ تَدْرِيبًا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Advantages and disadvantages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مِنْ مَزَايَا ... أَنَّ / مِنْ عُيُوبِ ... أَنَّ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مِنْ مَزَايَا العَمَلِ أَنَّ سَاعَاتِهِ مَرِنَةٌ.   ·   مِنْ عُيُوبِهِ أَنَّهُ مُجْهِدٌ.</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Contrast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بَيْنَمَا / وَلٰكِنَّ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الرَّاتِبُ مُرْتَفِعٌ، وَلٰكِنَّ السَّاعَاتِ طَوِيلَةٌ.   ·   أَعْمَلُ فِي مَكْتَبٍ، بَيْنَمَا يَعْمَلُ أَخِي فِي الهَوَاءِ الطَّلْقِ.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تَعْمَلُ أُخْتِي فِي بِيئَةٍ ___ .</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آمِنٍ</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أَمَانٍ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آمِنَةٍ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الشَّرِكَةُ ___ أَعْمَلُ فِيهَا كَبِيرَةٌ.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مَزَايَا العَمَلِ ___ سَاعَاتِهِ مَرِنَةٌ.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compares two people’s situations?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إِضَافَةً إِلَى ذٰلِكَ</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تَعْمَلُ أُخْتِي فِي بِيئَةٍ ___ .</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آمِنٍ</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أَمَانٍ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آمِنَةٍ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bīʾa is feminine → āminatin.</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الشَّرِكَةُ ___ أَعْمَلُ فِيهَا كَبِيرَةٌ.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الَّتِي</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الَّذِي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الَّذِينَ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sharika is feminine → allatī.</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مَزَايَا العَمَلِ ___ سَاعَاتِهِ مَرِنَةٌ.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بَيْنَمَا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clause after min mazāyā needs anna.</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compares two people’s situations?</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بَيْنَمَا</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لِذٰلِكَ</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إِضَافَةً إِلَى ذٰلِكَ</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baynamā = whereas.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Watch me compare two workplaces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Place + adjective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يَعْمَلُ أَبِي فِي مَكْتَبٍ </a:t>
            </a:r>
            <a:pPr rtl="1" algn="ctr" indent="0" marL="0">
              <a:buNone/>
            </a:pPr>
            <a:r>
              <a:rPr lang="ar-SA" altLang="en-US" sz="2200" b="1" dirty="0">
                <a:solidFill>
                  <a:srgbClr val="1D5FBF"/>
                </a:solidFill>
                <a:latin typeface="Amiri" pitchFamily="34" charset="0"/>
                <a:ea typeface="Amiri" pitchFamily="34" charset="-122"/>
                <a:cs typeface="Amiri" pitchFamily="34" charset="-120"/>
              </a:rPr>
              <a:t>حَدِيثٍ</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maktab is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Which</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المَكْتَبُ </a:t>
            </a:r>
            <a:pPr rtl="1" algn="ctr" indent="0" marL="0">
              <a:lnSpc>
                <a:spcPct val="120000"/>
              </a:lnSpc>
              <a:buNone/>
            </a:pPr>
            <a:r>
              <a:rPr lang="ar-SA" altLang="en-US" sz="1850" b="1" dirty="0">
                <a:solidFill>
                  <a:srgbClr val="1D5FBF"/>
                </a:solidFill>
                <a:latin typeface="Amiri" pitchFamily="34" charset="0"/>
                <a:ea typeface="Amiri" pitchFamily="34" charset="-122"/>
                <a:cs typeface="Amiri" pitchFamily="34" charset="-120"/>
              </a:rPr>
              <a:t>الَّذِي</a:t>
            </a:r>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 يَعْمَلُ فِيهِ هَادِئٌ.</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allaḏī + fīhi.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بَيْنَمَا</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يَعْمَلُ خَالِي فِي مَوْقِعِ بِنَاءٍ.</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Second situation.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Pros and cons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رَاتِبُهُ مُرْتَفِعٌ،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وَلٰكِنَّ</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عَمَلَهُ </a:t>
            </a:r>
            <a:pPr rtl="1" algn="ctr" indent="0" marL="0">
              <a:lnSpc>
                <a:spcPct val="120000"/>
              </a:lnSpc>
              <a:buNone/>
            </a:pPr>
            <a:r>
              <a:rPr lang="ar-SA" altLang="en-US" sz="1750" b="1" dirty="0">
                <a:solidFill>
                  <a:srgbClr val="D6336C"/>
                </a:solidFill>
                <a:latin typeface="Amiri" pitchFamily="34" charset="0"/>
                <a:ea typeface="Amiri" pitchFamily="34" charset="-122"/>
                <a:cs typeface="Amiri" pitchFamily="34" charset="-120"/>
              </a:rPr>
              <a:t>مُجْهِدٌ</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Qualify with but.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PLACE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CONTRAST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CONDITION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يَعْمَلُ أَبِي فِي مَكْتَبٍ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حَدِيثٍ</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فِي وَسَطِ المَدِينَةِ،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بَيْنَمَا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يَعْمَلُ خَالِي فِي مَوْقِعِ بِنَاءٍ فِي الهَوَاءِ الطَّلْقِ. المَكْتَبُ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الَّذِي</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يَعْمَلُ فِيهِ أَبِي هَادِئٌ وَآمِنٌ، وَمِنْ مَزَايَاهُ أَنَّ السَّاعَاتِ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مَرِنَةٌ</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أَمَّا خَالِي فَرَاتِبُهُ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مُرْتَفِعٌ</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وَلٰكِنَّ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عَمَلَهُ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مُجْهِدٌ</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وَيَتَأَثَّرُ بِالطَّقْسِ.</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My father works in a modern office in the city centre, whereas my uncle works on a building site outdoors. The office my father works in is quiet and safe, and one of its advantages is that the hours are flexible. As for my uncle, his salary is high, but his work is tiring and affected by the weather.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يَعْمَلُ أَبِي فِي مَكْتَبٍ حَدِيثٍ.</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My father works in a modern office.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Place + agreeing adjective.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الشَّرِكَةُ الَّتِي أَعْمَلُ فِيهَا كَبِيرَةٌ.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company I work in is big.</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allatī for a feminine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مِنْ مَزَايَا العَمَلِ أَنَّ سَاعَاتِهِ مَرِنَةٌ.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One advantage of the job is that its hours are flexible.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anna + clause.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الرَّاتِبُ مُرْتَفِعٌ، وَلٰكِنَّ السَّاعَاتِ طَوِيلَةٌ.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salary is high, but the hours are long.</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Qualify with but.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“WORKPLACE MATCH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مَكَانَ الْعَمَلِ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office 9–5</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0"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from home</a:t>
            </a:r>
            <a:endParaRPr lang="en-US" sz="1100" dirty="0"/>
          </a:p>
        </p:txBody>
      </p:sp>
      <p:sp>
        <p:nvSpPr>
          <p:cNvPr id="31"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6"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8"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evening shift</a:t>
            </a:r>
            <a:endParaRPr lang="en-US" sz="1100" dirty="0"/>
          </a:p>
        </p:txBody>
      </p:sp>
      <p:sp>
        <p:nvSpPr>
          <p:cNvPr id="39"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أَعْمَلُ مِنَ الْبَيْتِ عَبْرَ الْإِنْتَرْنِتِ.</a:t>
            </a:r>
            <a:endParaRPr lang="ar-SA" sz="2000" dirty="0"/>
          </a:p>
        </p:txBody>
      </p:sp>
      <p:sp>
        <p:nvSpPr>
          <p:cNvPr id="43"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أَعْمَلُ فِي الْمَتْجَرِ فِي نَوْبَةٍ مَسَائِيَّةٍ.</a:t>
            </a:r>
            <a:endParaRPr lang="ar-SA" sz="2000" dirty="0"/>
          </a:p>
        </p:txBody>
      </p:sp>
      <p:sp>
        <p:nvSpPr>
          <p:cNvPr id="47"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أَعْمَلُ فِي مَكْتَبٍ مِنَ التَّاسِعَةِ إِلَى الْخَامِسَةِ.</a:t>
            </a:r>
            <a:endParaRPr lang="ar-SA" sz="2000" dirty="0"/>
          </a:p>
        </p:txBody>
      </p:sp>
      <p:sp>
        <p:nvSpPr>
          <p:cNvPr id="51"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مَكَانَ الْعَمَلِ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office 9–5</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أَعْمَلُ فِي مَكْتَبٍ مِنَ التَّاسِعَةِ إِلَى الْخَامِسَةِ.</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work in an office from nine to five.</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558698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5"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from home</a:t>
            </a:r>
            <a:endParaRPr lang="en-US" sz="1100" dirty="0"/>
          </a:p>
        </p:txBody>
      </p:sp>
      <p:sp>
        <p:nvSpPr>
          <p:cNvPr id="36"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3"/>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أَعْمَلُ مِنَ الْبَيْتِ عَبْرَ الْإِنْتَرْنِتِ.</a:t>
            </a:r>
            <a:endParaRPr lang="ar-SA" sz="2200" dirty="0"/>
          </a:p>
        </p:txBody>
      </p:sp>
      <p:sp>
        <p:nvSpPr>
          <p:cNvPr id="40"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work from home online.</a:t>
            </a:r>
            <a:endParaRPr lang="en-US" sz="1200" dirty="0"/>
          </a:p>
        </p:txBody>
      </p:sp>
      <p:sp>
        <p:nvSpPr>
          <p:cNvPr id="41"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6"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8"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evening shift</a:t>
            </a:r>
            <a:endParaRPr lang="en-US" sz="1100" dirty="0"/>
          </a:p>
        </p:txBody>
      </p:sp>
      <p:sp>
        <p:nvSpPr>
          <p:cNvPr id="49"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أَعْمَلُ فِي الْمَتْجَرِ فِي نَوْبَةٍ مَسَائِيَّةٍ.</a:t>
            </a:r>
            <a:endParaRPr lang="ar-SA" sz="2200" dirty="0"/>
          </a:p>
        </p:txBody>
      </p:sp>
      <p:sp>
        <p:nvSpPr>
          <p:cNvPr id="53"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work in the shop on an evening shift.</a:t>
            </a:r>
            <a:endParaRPr lang="en-US" sz="1200" dirty="0"/>
          </a:p>
        </p:txBody>
      </p:sp>
      <p:sp>
        <p:nvSpPr>
          <p:cNvPr id="54"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THE WORKPLACE — ENVIRONMENTS AND WORK CONDITIONS”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Where do I work?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بِيئَةُ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office · team</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factory · machines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home · laptop</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أَعْمَلُ مِنَ المَنْزِلِ.</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أَعْمَلُ فِي مَكْتَبٍ حَدِيثٍ.</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أَعْمَلُ فِي مَصْنَعٍ.</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بِيئَةُ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office · team</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أَعْمَلُ فِي مَكْتَبٍ حَدِيثٍ.</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work in a modern office.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factory · machines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أَعْمَلُ فِي مَصْنَعٍ.</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work in a factory.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home · laptop</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أَعْمَلُ مِنَ المَنْزِلِ.</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work from home.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Advantage or disadvantage?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رَاتِبٌ مُرْتَفِعٌ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سَاعَاتٌ مَرِنَةٌ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عَمَلٌ مُجْزٍ</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بِيئَةٌ آمِنَةٌ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فُرَصُ التَّرَقِّي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رَاتِبٌ مُنْخَفِضٌ</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عَمَلٌ مُجْهِدٌ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سَاعَاتٌ طَوِيلَةٌ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تَوَاصُلٌ بَطِيءٌ</a:t>
            </a:r>
            <a:endParaRPr lang="ar-SA" sz="1800" dirty="0"/>
          </a:p>
        </p:txBody>
      </p:sp>
      <p:sp>
        <p:nvSpPr>
          <p:cNvPr id="33" name="Shape 30"/>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Advantage</a:t>
            </a:r>
            <a:endParaRPr lang="en-US" sz="950" dirty="0"/>
          </a:p>
        </p:txBody>
      </p:sp>
      <p:sp>
        <p:nvSpPr>
          <p:cNvPr id="36" name="Shape 33"/>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Disadvantage</a:t>
            </a:r>
            <a:endParaRPr lang="en-US" sz="9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Advantage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رَاتِبٌ مُرْتَفِعٌ</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سَاعَاتٌ مَرِنَةٌ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عَمَلٌ مُجْزٍ</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بِيئَةٌ آمِنَةٌ</a:t>
            </a:r>
            <a:endParaRPr lang="ar-SA" sz="1800" dirty="0"/>
          </a:p>
        </p:txBody>
      </p:sp>
      <p:sp>
        <p:nvSpPr>
          <p:cNvPr id="26" name="Shape 23"/>
          <p:cNvSpPr/>
          <p:nvPr/>
        </p:nvSpPr>
        <p:spPr>
          <a:xfrm>
            <a:off x="6323076" y="4425696"/>
            <a:ext cx="5271516"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6414516"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فُرَصُ التَّرَقِّي</a:t>
            </a:r>
            <a:endParaRPr lang="ar-SA" sz="1800" dirty="0"/>
          </a:p>
        </p:txBody>
      </p:sp>
      <p:sp>
        <p:nvSpPr>
          <p:cNvPr id="28" name="Shape 2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9" name="Shape 2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Disadvantage</a:t>
            </a:r>
            <a:endParaRPr lang="en-US" sz="950" dirty="0"/>
          </a:p>
        </p:txBody>
      </p:sp>
      <p:sp>
        <p:nvSpPr>
          <p:cNvPr id="31" name="Shape 28"/>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رَاتِبٌ مُنْخَفِضٌ</a:t>
            </a:r>
            <a:endParaRPr lang="ar-SA" sz="1800" dirty="0"/>
          </a:p>
        </p:txBody>
      </p:sp>
      <p:sp>
        <p:nvSpPr>
          <p:cNvPr id="33" name="Shape 30"/>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عَمَلٌ مُجْهِدٌ</a:t>
            </a:r>
            <a:endParaRPr lang="ar-SA" sz="1800" dirty="0"/>
          </a:p>
        </p:txBody>
      </p:sp>
      <p:sp>
        <p:nvSpPr>
          <p:cNvPr id="35" name="Shape 32"/>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سَاعَاتٌ طَوِيلَةٌ</a:t>
            </a:r>
            <a:endParaRPr lang="ar-SA" sz="1800" dirty="0"/>
          </a:p>
        </p:txBody>
      </p:sp>
      <p:sp>
        <p:nvSpPr>
          <p:cNvPr id="37" name="Shape 34"/>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تَوَاصُلٌ بَطِيءٌ</a:t>
            </a:r>
            <a:endParaRPr lang="ar-SA"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المَكْتَبُ ___ أَعْمَلُ فِيهِ هَادِئٌ.</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دَوَامٌ جُزْئِيٌّ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full-time work</a:t>
            </a:r>
            <a:endParaRPr lang="en-US" sz="12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part-time work</a:t>
            </a:r>
            <a:endParaRPr lang="en-US" sz="12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annual leave</a:t>
            </a:r>
            <a:endParaRPr lang="en-US" sz="12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usually a disadvantage?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عَمَلٌ مُجْزٍ</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عَمَلٌ مُجْهِدٌ</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سَاعَاتٌ مَرِنَةٌ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sentence that makes sense.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الرَّاتِبُ مُرْتَفِعٌ، لِأَنَّ السَّاعَاتِ طَوِيلَةٌ.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الرَّاتِبُ مُرْتَفِعٌ، لِذٰلِكَ السَّاعَاتُ قَصِيرَةٌ.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الرَّاتِبُ مُرْتَفِعٌ، وَلٰكِنَّ السَّاعَاتِ طَوِيلَةٌ.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المَكْتَبُ ___ أَعْمَلُ فِيهِ هَادِئٌ.</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الَّذِينَ</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الَّذِي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maktab is masculine → allaḏī.</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دَوَامٌ جُزْئِيٌّ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full-time work</a:t>
            </a:r>
            <a:endParaRPr lang="en-US" sz="125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part-time work</a:t>
            </a:r>
            <a:endParaRPr lang="en-US" sz="125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annual leave</a:t>
            </a:r>
            <a:endParaRPr lang="en-US" sz="125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juzʾ = part.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usually a disadvantage?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عَمَلٌ مُجْزٍ</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عَمَلٌ مُجْهِدٌ</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سَاعَاتٌ مَرِنَةٌ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mujhid = tiring.</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sentence that makes sense.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الرَّاتِبُ مُرْتَفِعٌ، لِأَنَّ السَّاعَاتِ طَوِيلَةٌ.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الرَّاتِبُ مُرْتَفِعٌ، لِذٰلِكَ السَّاعَاتُ قَصِيرَةٌ.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الرَّاتِبُ مُرْتَفِعٌ، وَلٰكِنَّ السَّاعَاتِ طَوِيلَةٌ.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contrast needs “but”, not “because” or “so”.</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تَعْمَلُ فِي بِيئَةٍ آمِنٍ.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bīʾa: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الشَّرِكَةُ الَّذِي أَعْمَلُ فِيهَا كَبِيرَةٌ.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sharika → allaḏī or allatī?</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مِنْ مَزَايَا العَمَلِ سَاعَاتُهُ مَرِنَةٌ.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missing before the clause?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تَعْمَلُ فِي بِيئَةٍ آمِنٍ.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تَعْمَلُ فِي بِيئَةٍ آمِنَةٍ.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adjective agrees with feminine bīʾa.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الشَّرِكَةُ الَّذِي أَعْمَلُ فِيهَا كَبِيرَةٌ.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الشَّرِكَةُ الَّتِي أَعْمَلُ فِيهَا كَبِيرَةٌ.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Feminine noun → allatī.</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مِنْ مَزَايَا العَمَلِ سَاعَاتُهُ مَرِنَةٌ.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مِنْ مَزَايَا العَمَلِ أَنَّ سَاعَاتِهِ مَرِنَةٌ.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Add anna before the clause.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Two contrasting workplaces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Maryam work?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modern laboratory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hospital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a building site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her hours?</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9:00 to 5:00</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8:00 to 2:00</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8:00 to 4:00</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she like the environment?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salary is high</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outdoors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safe and organised</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her work need?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great precision</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physical strength</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lot of travel</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Samer work?</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laboratory</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a building site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an office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 disadvantage of his work?</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tiring and affected by the weather</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salary is low</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hours are short</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for: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مُخْتَبَرٍ</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الثَّامِنَةِ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مَوْقِعِ بِنَاءٍ</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تَعْمَلُ مَرْيَمُ فِي مُخْتَبَرٍ حَدِيثٍ مِنَ السَّاعَةِ الثَّامِنَةِ إِلَى الرَّابِعَةِ.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Maryam works in a modern laboratory from eight o’clock to four.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تُحِبُّ بِيئَةَ العَمَلِ لِأَنَّهَا آمِنَةٌ وَمُنَظَّمَةٌ،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loves the work environment because it is safe and organised,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وَلٰكِنَّ العَمَلَ يَحْتَاجُ إِلَى دِقَّةٍ شَدِيدَةٍ.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but the work needs great precision.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سَامِرٌ فَيَعْمَلُ فِي مَوْقِعِ بِنَاءٍ.</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Samer, he works on a building site.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رَاتِبُهُ جَيِّدٌ، لٰكِنَّ عَمَلَهُ مُجْهِدٌ وَيَتَأَثَّرُ بِالطَّقْسِ.</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His salary is good, but his work is tiring and affected by the weather.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Maryam work?</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a modern laboratory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hospital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a building site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فِي مُخْتَبَرٍ حَدِيثٍ</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her hours?</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9:00 to 5:00</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8:00 to 2:00</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8:00 to 4:00</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السَّاعَةِ الثَّامِنَةِ إِلَى الرَّابِعَةِ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she like the environment?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salary is high</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outdoors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safe and organised</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لِأَنَّهَا آمِنَةٌ وَمُنَظَّمَةٌ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her work need?</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great precision</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physical strength</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lot of travel</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يَحْتَاجُ إِلَى دِقَّةٍ شَدِيدَةٍ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Samer work?</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laboratory</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 a building site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an office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فِي مَوْقِعِ بِنَاءٍ</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 disadvantage of his work?</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is tiring and affected by the weather</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salary is low</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hours are short</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عَمَلَهُ مُجْهِدٌ وَيَتَأَثَّرُ بِالطَّقْسِ</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for: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مُخْتَبَرٍ</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الثَّامِنَةِ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مَوْقِعِ بِنَاءٍ</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Workplace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Workplace comparison</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Compare two workplaces by hours, environment, responsibilities and conditions, then decide which suits a given worker profile best.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Teacher shows two workplace profiles (office vs hospital —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Pairs compare them: hours, environment, responsibilities, conditions.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Read a worker profile (a student who needs flexible hours).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Decide which workplace suits the worker and say why.</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One comparison: “… aṭwal min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Three comparisons + a decision with a reason.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decision with “kāna” for past experience and a balanced comparison (baynamā).</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سَاعَاتُ العَمَلِ أَطْوَلُ فِي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working hours are longer in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البِيئَةُ هَادِئَةٌ / مُزْدَحِمَةٌ</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the environment is quiet / busy</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يُنَاسِبُهُ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 suits him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بَيْنَمَا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whereas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would you like to work?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مَكَانَ عَمَلِ أَحَدِ أَفْرَادِ عَائِلَتِكَ.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تُحِبُّ أَنْ تَعْمَلَ: فِي مَكْتَبٍ أَمْ فِي الهَوَاءِ الطَّلْقِ؟</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مَزَايَا العَمَلِ عَنْ بُعْدٍ وَمَا عُيُوبُهُ؟</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الرَّاتِبُ أَهَمُّ مِنْ بِيئَةِ العَمَلِ؟ وَلِمَاذَا؟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يَعْمَلُ / تَعْمَلُ فِي ___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أُحِبُّ أَنْ أَعْمَلَ فِي ___ لِأَنَّ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مِنْ مَزَايَاهُ أَنَّ ___ ، وَمِنْ عُيُوبِهِ أَنَّ ___ .</a:t>
            </a:r>
            <a:endParaRPr lang="ar-SA" sz="14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فِي رَأْيِي ___ أَهَمُّ لِأَنَّ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أَيْنَ تُفَضِّلُ أَنْ تَعْمَلَ؟</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Where would you prefer to work?</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أُفَضِّلُ مَكْتَبًا حَدِيثًا لِأَنَّ بِيئَتَهُ آمِنَةٌ وَمُنَظَّمَةٌ.</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 prefer a modern office because its environment is safe and organised.</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Two workplaces, each with an adjective, plus one advantage with مِنْ مَزَايَا … أَنَّ.</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Compare two workplaces with الَّذِي / الَّتِي, بَيْنَمَا and وَلٰكِنَّ, and choose one.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task: compare two workplaces, weigh pros and cons, justify your choice with although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الشَّرِكَةُ الَّتِي ______ فِيهَا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company (which) … works in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بَيْنَمَا يَعْمَلُ خَالِي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whereas my uncle works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الرَّاتِبُ ______ ، وَلٰكِنَّ السَّاعَاتِ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salary is …, but the hours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أُفَضِّلُ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prefer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يَعْمَلُ أَبِي فِي مَكْتَبٍ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father works in a modern office.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تَعْمَلُ خَالَتِي فِي مُسْتَشْفًى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aunt works in a big hospital.</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مَزَايَا العَمَلِ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One advantage of the job is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عُيُوبِهِ أَنَّهُ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One disadvantage is that it is tiring.</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مَكْتَبٌ حَدِيثٌ  ·  بِيئَةٌ آمِنَةٌ  ·  سَاعَاتٌ مَرِنَةٌ  ·  رَاتِبٌ مُرْتَفِعٌ  ·  عَمَلٌ مُجْهِدٌ  ·  عَمَلٌ مُجْزٍ  ·  فَرِيقُ عَمَلٍ  ·  الَّذِي  ·  الَّتِي  ·  أَنَّ  ·  بَيْنَمَا  ·  وَلٰكِنَّ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Compare two workplaces and explain which one you would prefer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يُوَفِّرُ الوَقْتَ</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it saves time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التَّعَاوُنُ المُبَاشِرُ مَعَ الفَرِيقِ</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direct cooperation with the team</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يُحَقِّقُ تَوَازُنًا أَفْضَلَ</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it achieves a better balance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يَتَأَثَّرُ بِالطَّقْسِ</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it is affected by the weather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 فَإِنَّ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although … (still)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34" charset="0"/>
                <a:ea typeface="Amiri" pitchFamily="34" charset="-122"/>
                <a:cs typeface="Amiri" pitchFamily="34" charset="-120"/>
              </a:rPr>
              <a:t>يَعْمَلُ أَبِي فِي مَكْتَبٍ حَدِيثٍ فِي وَسَطِ المَدِينَةِ، بَيْنَمَا يَعْمَلُ خَالِي فِي مَوْقِعِ بِنَاءٍ فِي الهَوَاءِ الطَّلْقِ. المَكْتَبُ الَّذِي يَعْمَلُ فِيهِ أَبِي هَادِئٌ وَآمِنٌ، وَمِنْ مَزَايَاهُ أَنَّ السَّاعَاتِ مَرِنَةٌ. أَمَّا خَالِي فَرَاتِبُهُ مُرْتَفِعٌ، وَلٰكِنَّ عَمَلَهُ مُجْهِدٌ وَيَتَأَثَّرُ بِالطَّقْسِ. فِي رَأْيِي، أُفَضِّلُ العَمَلَ فِي مَكْتَبٍ لِأَنَّنِي أُحِبُّ البِيئَةَ المُنَظَّمَةَ وَالعَمَلَ مَعَ فَرِيقٍ. عَلَى الرَّغْمِ مِنْ أَنَّ العَمَلَ فِي الهَوَاءِ الطَّلْقِ صِحِّيٌّ، فَإِنَّهُ صَعْبٌ فِي الشِّتَاءِ. لِذٰلِكَ أُرِيدُ وَظِيفَةً تُحَقِّقُ تَوَازُنًا بَيْنَ العَمَلِ وَالحَيَاةِ.</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My father works in a modern office in the city centre, whereas my uncle works on a building site outdoors. The office my father works in is quiet and safe, and one advantage is that the hours are flexible. As for my uncle, his salary is high, but his work is tiring and affected by the weather. In my opinion, I prefer working in an office because I like an organised environment and working with a team. Although working outdoors is healthy, it is hard in winter. So I want a job that gives a balance between work and life.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two workplaces with adjectives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allaḏī or allatī</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 advantage and a disadvantage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justified choice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adjectives agree with the workplace.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gave one advantage with anna.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allaḏī / allatī correctly.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contrasted two workplaces.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choice is justified with although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relative pronoun.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رَاتِبٌ مُرْتَفِعٌ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low salary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high salary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annual leave</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مِنْ عُيُوبِهِ</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مُجْهِدٌ</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relative pronoun.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الَّتِي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الَّذِي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الَّذِينَ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allatī = which / who (f.).</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رَاتِبٌ مُرْتَفِعٌ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low salary</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high salary</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annual leave</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murtafiʿ = high.</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مِنْ عُيُوبِهِ</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مُجْهِدٌ</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أَنَّهُ</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لِأَنَّهُ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بَيْنَمَا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min ʿuyūbihi annahu …</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Workplace comparison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يُفَضِّلُ بَعْضُ العَامِلِينَ العَمَلَ عَنْ بُعْدٍ لِأَنَّهُ يُوَفِّرُ الوَقْتَ وَيَمْنَحُهُمْ مَرُونَةً أَكْبَرَ. وَلٰكِنَّ آخَرِينَ يَخْتَارُونَ المَكْتَبَ الَّذِي يَسْمَحُ لَهُمْ بِالتَّعَاوُنِ المُبَاشِرِ مَعَ الفَرِيقِ. فِي شَرِكَةِ نُورٍ، يَسْتَطِيعُ المُوَظَّفُونَ العَمَلَ مِنَ المَنْزِلِ يَوْمَيْنِ فِي الأُسْبُوعِ. مِنْ مَزَايَا هٰذَا النِّظَامِ أَنَّهُ يُحَقِّقُ تَوَازُنًا أَفْضَلَ، وَمِنْ عُيُوبِهِ أَنَّ التَّوَاصُلَ قَدْ يَكُونُ أَبْطَأَ.</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بَعْضُ العَامِلِينَ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some workers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يُوَفِّرُ الوَقْتَ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saves time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مَرُونَةً أَكْبَرَ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more flexibility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آخَرِينَ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others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يَسْمَحُ لَهُمْ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allows them</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التَّعَاوُنِ المُبَاشِرِ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direct cooperation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المُوَظَّفُونَ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employees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مِنَ المَنْزِلِ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from home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هٰذَا النِّظَامِ</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this system</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أَبْطَأَ</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slower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some people prefer remote work?</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salary is higher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saves time and gives more flexibility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meet more colleagues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others choose the office?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closer to home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quieter</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direct cooperation with the team</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How often can Nour company staff work from home?</a:t>
            </a:r>
            <a:endParaRPr lang="en-US" sz="11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 days a week</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day</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day a month</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advantage of this system is stated?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faster communication</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better (work–life) balance</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higher salary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disadvantage is stated?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communication may be slower</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hours are longer</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less flexibility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text mainly about?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advertising a job</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worker’s day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comparing remote and office work</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some people prefer remote work?</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salary is higher</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saves time and gives more flexibility</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ea typeface="Calibri" pitchFamily="34" charset="-122"/>
                <a:cs typeface="Calibri" pitchFamily="34" charset="-120"/>
              </a:rPr>
              <a:t>they meet more colleagues</a:t>
            </a:r>
            <a:endParaRPr lang="en-US" sz="120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يُوَفِّرُ الوَقْتَ وَيَمْنَحُهُمْ مَرُونَةً أَكْبَرَ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others choose the office?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closer to home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quieter</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direct cooperation with the team</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بِالتَّعَاوُنِ المُبَاشِرِ مَعَ الفَرِيقِ</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How often can Nour company staff work from home?</a:t>
            </a:r>
            <a:endParaRPr lang="en-US" sz="11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two days a week</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 day</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day a month</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يَوْمَيْنِ فِي الأُسْبُوعِ</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advantage of this system is stated?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faster communication</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 better (work–life) balance</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higher salary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يُحَقِّقُ تَوَازُنًا أَفْضَلَ</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disadvantage is stated?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communication may be slower</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hours are longer</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there is less flexibility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التَّوَاصُلَ قَدْ يَكُونُ أَبْطَأَ</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text mainly about?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advertising a job</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worker’s day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comparing remote and office work</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sides are compared.</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TD-L07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TD-L08: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TD-L08 · Personal Qualities and Professional Skills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مَهَارَةٌ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skill</a:t>
            </a:r>
            <a:pPr indent="0" marL="0">
              <a:buNone/>
            </a:pPr>
            <a:r>
              <a:rPr lang="en-US" sz="1000" i="1" dirty="0">
                <a:solidFill>
                  <a:srgbClr val="5A6472"/>
                </a:solidFill>
                <a:latin typeface="Calibri" pitchFamily="34" charset="0"/>
                <a:ea typeface="Calibri" pitchFamily="34" charset="-122"/>
                <a:cs typeface="Calibri" pitchFamily="34" charset="-120"/>
              </a:rPr>
              <a:t>  pl. مَهَارَاتٌ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خِبْرَةٌ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experience</a:t>
            </a:r>
            <a:pPr indent="0" marL="0">
              <a:buNone/>
            </a:pPr>
            <a:r>
              <a:rPr lang="en-US" sz="1000" i="1" dirty="0">
                <a:solidFill>
                  <a:srgbClr val="5A6472"/>
                </a:solidFill>
                <a:latin typeface="Calibri" pitchFamily="34" charset="0"/>
                <a:ea typeface="Calibri" pitchFamily="34" charset="-122"/>
                <a:cs typeface="Calibri" pitchFamily="34" charset="-120"/>
              </a:rPr>
              <a:t>  pl. خِبْرَاتٌ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مَسْؤُولٌ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responsible</a:t>
            </a:r>
            <a:pPr indent="0" marL="0">
              <a:buNone/>
            </a:pPr>
            <a:r>
              <a:rPr lang="en-US" sz="1000" i="1" dirty="0">
                <a:solidFill>
                  <a:srgbClr val="5A6472"/>
                </a:solidFill>
                <a:latin typeface="Calibri" pitchFamily="34" charset="0"/>
                <a:ea typeface="Calibri" pitchFamily="34" charset="-122"/>
                <a:cs typeface="Calibri" pitchFamily="34" charset="-120"/>
              </a:rPr>
              <a:t>  f. مَسْؤُولَةٌ · pl. مَسْؤُولُونَ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مُنَظَّمٌ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organised</a:t>
            </a:r>
            <a:pPr indent="0" marL="0">
              <a:buNone/>
            </a:pPr>
            <a:r>
              <a:rPr lang="en-US" sz="1000" i="1" dirty="0">
                <a:solidFill>
                  <a:srgbClr val="5A6472"/>
                </a:solidFill>
                <a:latin typeface="Calibri" pitchFamily="34" charset="0"/>
                <a:ea typeface="Calibri" pitchFamily="34" charset="-122"/>
                <a:cs typeface="Calibri" pitchFamily="34" charset="-120"/>
              </a:rPr>
              <a:t>  f. مُنَظَّمَةٌ · pl. مُنَظَّمُونَ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القِيَادَةُ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leadership</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Name one skill a doctor needs and one a teacher needs.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يَحْتَاجُ الطَّبِيبُ إِلَى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Learn the 9 work-condition phrases;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Compare two workplaces in 80–100 words with </a:t>
            </a:r>
            <a:pPr algn="l" indent="0" marL="0">
              <a:buNone/>
            </a:pPr>
            <a:r>
              <a:rPr lang="ar-SA" altLang="en-US" sz="1550" dirty="0">
                <a:solidFill>
                  <a:srgbClr val="1F2A37"/>
                </a:solidFill>
                <a:latin typeface="Amiri" pitchFamily="34" charset="0"/>
                <a:ea typeface="Amiri" pitchFamily="34" charset="-122"/>
                <a:cs typeface="Amiri" pitchFamily="34" charset="-120"/>
              </a:rPr>
              <a:t>الَّذِي / الَّتِي</a:t>
            </a:r>
            <a:pPr algn="l" indent="0" marL="0">
              <a:buNone/>
            </a:pPr>
            <a:r>
              <a:rPr lang="en-US" sz="1200" dirty="0">
                <a:solidFill>
                  <a:srgbClr val="1F2A37"/>
                </a:solidFill>
                <a:latin typeface="Calibri" pitchFamily="34" charset="0"/>
                <a:ea typeface="Calibri" pitchFamily="34" charset="-122"/>
                <a:cs typeface="Calibri" pitchFamily="34" charset="-120"/>
              </a:rPr>
              <a:t> and </a:t>
            </a:r>
            <a:pPr algn="l" indent="0" marL="0">
              <a:buNone/>
            </a:pPr>
            <a:r>
              <a:rPr lang="ar-SA" altLang="en-US" sz="1550" dirty="0">
                <a:solidFill>
                  <a:srgbClr val="1F2A37"/>
                </a:solidFill>
                <a:latin typeface="Amiri" pitchFamily="34" charset="0"/>
                <a:ea typeface="Amiri" pitchFamily="34" charset="-122"/>
                <a:cs typeface="Amiri" pitchFamily="34" charset="-120"/>
              </a:rPr>
              <a:t>بَيْنَمَا</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compare two workplaces and justify your choice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TD-L07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ea typeface="Cambria" pitchFamily="34" charset="-122"/>
                <a:cs typeface="Cambria" pitchFamily="34" charset="-120"/>
              </a:rPr>
              <a:t>TD-L08 · Personal Qualities and Professional Skills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الصِّفَاتُ الشَّخْصِيَّةُ وَالمَهَارَاتُ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TD-L08.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TD-L07 · The Workplace and Working Conditions</dc:title>
  <dc:subject>PptxGenJS Presentation</dc:subject>
  <dc:creator>Al Madina Online School · Arabic Department</dc:creator>
  <cp:lastModifiedBy>Al Madina Online School · Arabic Department</cp:lastModifiedBy>
  <cp:revision>1</cp:revision>
  <dcterms:created xsi:type="dcterms:W3CDTF">2026-10-11T04:19:01Z</dcterms:created>
  <dcterms:modified xsi:type="dcterms:W3CDTF">2026-10-11T04:19:01Z</dcterms:modified>
</cp:coreProperties>
</file>