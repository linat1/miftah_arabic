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TD-L05 — Training, Qualifications and Skills. Website: Advanced Topics › Topic D (The World of Work) › Lesson 5.
The website builds this lesson on the D3-L05 lesson engine, with the Topic focus “Describe learning pathways, qualifications and transferable skills.” (grammar: Masdar; possession; relative pronouns; skills: Listening · Writing) and the application challenge “Qualification route map”.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TD-L10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TD-L10. Questions 3–4 retrieve TD-L10 (future, purpose); question 5 retrieves TD-L07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(1 of 2)). Hear → Say → See → Use. Transliteration is printed for Core students (cover it for Develop/Stretch).
Routes into work. Cards show the plural where it is useful. مِهَنِيٌّ = vocational (from مِهْنَةٌ, TD-L06);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(2 of 2)). Hear → Say → See → Use. Transliteration is printed for Core students (cover it for Develop/Stretch).
Routes into work. Cards show the plural where it is useful. مِهَنِيٌّ = vocational (from مِهْنَةٌ, TD-L06);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TD-L10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TD-L10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(FLEX): the Topic D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(FLEX): the Topic D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TD-L06.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“Comparison” (أَفْضَلُ مِنْ / أَكْثَرُ عَمَلِيَّةً مِنْ: use مِنْ after the comparative) and “Balanced evaluation” (present both sides before reaching a judgement). Website examples as shown.
Comparative forms (F6-L06 (website)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(“Qualification Route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“Qualification Route”: school → university, vocational training, an IT qualification.
Website feedback lines: The route continues from school to university. · The tools indicate vocational training. · The qualification area is IT.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(“Qualification Route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“Qualification Route”: school → university, vocational training, an IT qualification.
Website feedback lines: The route continues from school to university. · The tools indicate vocational training. · The qualification area is IT.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courses, training and qualifications to future roles, then explain one complete route from school to further study or employment.”
Website Topic D challenge “Qualification route map”. Cards: شَهَادَةٌ فِي التَّمْرِيضِ ↔ مُمَرِّضٌ · دَوْرَةٌ فِي البَرْمَجَةِ ↔ مُبَرْمِجٌ · تَدْرِيبٌ مِهْنِيٌّ فِي الكَهْرَبَاءِ ↔ كَهْرَبَائِيٌّ · شَهَادَةٌ جَامِعِيَّةٌ فِي التَّرْبِيَةِ ↔ 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(TD-L06 · Jobs and Professions) will spend class time USING this language, so students prepare it tonight — short, simple, easy to access (school guidance: “Simple, Short, Interesting, Relevant, Easy to access”). The five words come from the website TD-L09 vocabulary (applications and interviews).
Follow-up: the next Do Now tests two of these words (Flipped Learning: keep it short AND follow up).
Homework by route (website tasks). No internet? Students copy the five words from this slide into their book now.
TOPIC D: the five words are the ones the TD-L06 Do Now tests (preparation list of the website D2-L12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ea typeface="Cambria" pitchFamily="34" charset="-122"/>
                <a:cs typeface="Cambria" pitchFamily="34" charset="-120"/>
              </a:rPr>
              <a:t>Training, Qualifications and Skills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التَّدْرِيبُ وَالمُؤَهِّلَاتُ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learning pathways, qualifications and transferable skills.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TD-L05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TD-L10: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TD-L10: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طَبِيبًا يَجِبُ أَنْ أَدْرُسَ · إِذَا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نَجَحْتُ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goal to its route (</a:t>
            </a:r>
            <a:pPr algn="l" indent="0" marL="0">
              <a:buNone/>
            </a:pPr>
            <a:r>
              <a:rPr lang="ar-SA" altLang="en-US" sz="1700" dirty="0">
                <a:solidFill>
                  <a:srgbClr val="1F2A37"/>
                </a:solidFill>
                <a:latin typeface="Amiri" pitchFamily="34" charset="0"/>
                <a:ea typeface="Amiri" pitchFamily="34" charset="-122"/>
                <a:cs typeface="Amiri" pitchFamily="34" charset="-120"/>
              </a:rPr>
              <a:t>لِكَيْ أُصْبِحَ … يَجِبُ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 plan with a condition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 past,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‎جامعہ‎ </a:t>
            </a:r>
            <a:pPr indent="0" marL="0">
              <a:buNone/>
            </a:pPr>
            <a:r>
              <a:rPr lang="en-US" sz="950" b="1" dirty="0">
                <a:solidFill>
                  <a:srgbClr val="2E8B57"/>
                </a:solidFill>
                <a:latin typeface="Calibri" pitchFamily="34" charset="0"/>
                <a:ea typeface="Calibri" pitchFamily="34" charset="-122"/>
                <a:cs typeface="Calibri" pitchFamily="34" charset="-120"/>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‎شہادت‎ </a:t>
            </a:r>
            <a:pPr indent="0" marL="0">
              <a:buNone/>
            </a:pPr>
            <a:r>
              <a:rPr lang="en-US" sz="950" b="1" dirty="0">
                <a:solidFill>
                  <a:srgbClr val="2E8B57"/>
                </a:solidFill>
                <a:latin typeface="Calibri" pitchFamily="34" charset="0"/>
                <a:ea typeface="Calibri" pitchFamily="34" charset="-122"/>
                <a:cs typeface="Calibri" pitchFamily="34" charset="-120"/>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‎تلمیذ / شاگرد‎ </a:t>
            </a:r>
            <a:pPr indent="0" marL="0">
              <a:buNone/>
            </a:pPr>
            <a:r>
              <a:rPr lang="en-US" sz="950" b="1" dirty="0">
                <a:solidFill>
                  <a:srgbClr val="2E8B57"/>
                </a:solidFill>
                <a:latin typeface="Calibri" pitchFamily="34" charset="0"/>
                <a:ea typeface="Calibri" pitchFamily="34" charset="-122"/>
                <a:cs typeface="Calibri" pitchFamily="34" charset="-120"/>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‎خصوصی‎ </a:t>
            </a:r>
            <a:pPr indent="0" marL="0">
              <a:buNone/>
            </a:pPr>
            <a:r>
              <a:rPr lang="en-US" sz="950" b="1" dirty="0">
                <a:solidFill>
                  <a:srgbClr val="2E8B57"/>
                </a:solidFill>
                <a:latin typeface="Calibri" pitchFamily="34" charset="0"/>
                <a:ea typeface="Calibri" pitchFamily="34" charset="-122"/>
                <a:cs typeface="Calibri" pitchFamily="34" charset="-120"/>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طَبِيبًا، </a:t>
            </a:r>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أَتَدَرَّبَ 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نَجَحْتُ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وَجَدْتُ</a:t>
            </a:r>
            <a:pPr rtl="1" algn="ctr" indent="0" marL="0">
              <a:buNone/>
            </a:pPr>
            <a:r>
              <a:rPr lang="ar-SA" altLang="en-US" sz="2100" b="1" dirty="0">
                <a:solidFill>
                  <a:srgbClr val="1B3B6F"/>
                </a:solidFill>
                <a:latin typeface="Amiri" pitchFamily="34" charset="0"/>
                <a:ea typeface="Amiri" pitchFamily="34" charset="-122"/>
                <a:cs typeface="Amiri" pitchFamily="34" charset="-120"/>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كَهْرَبَائِيًّا،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التَّلْمَذَةُ المِهَنِيَّةُ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عَمَلِيَّةً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إِذَا وَجَدْتُ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لِكَيْ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كَهْرَبَائِيًّا،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أَكْثَرُ عَمَلِيَّةً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وَجَدْتُ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To become a doctor, I must study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succeed, I will join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 apprenticeship costs less than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university is that it offers deep knowledge.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“QUALIFICATION ROUTE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الْمُؤَهِّلَاتِ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2" name="Shape 25"/>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IT qualification</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اَلتَّدْرِيبُ الْمِهْنِيُّ يُكْسِبُنِي مَهَارَاتٍ عَمَلِيَّةً.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أَحْتَاجُ إِلَى مُؤَهِّلٍ فِي تِكْنُولُوجِيَا الْمَعْلُومَاتِ.</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سَأُكْمِلُ دِرَاسَتِي ثُمَّ أَدْخُلُ الْجَامِعَةَ.</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الْمُؤَهِّلَاتِ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سَأُكْمِلُ دِرَاسَتِي ثُمَّ أَدْخُلُ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finish my studies, then go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99262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7" name="Shape 30"/>
          <p:cNvSpPr/>
          <p:nvPr/>
        </p:nvSpPr>
        <p:spPr>
          <a:xfrm>
            <a:off x="618134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اَلتَّدْرِيبُ الْمِهْنِيُّ يُكْسِبُنِي مَهَارَاتٍ عَمَلِيَّةً.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Vocational training gives me practical skills.</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IT qualification</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أَحْتَاجُ إِلَى مُؤَهِّلٍ فِي تِكْنُولُوجِيَا الْمَعْلُومَاتِ.</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need a qualification in information technology.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Qualification route map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Qualification route map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courses, training and qualifications to future roles, then explain one complete route from school to further study or employment.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4 courses / trainings to 4 future roles (cards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role and draw its route: school → study / training →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the route in 3–4 sentences with “thumma” and “baʿda”.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partner asks one question about the route.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route sentence: “adrusu … thumma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full route with masdars (ad-dirāsa, at-tadrīb) and “baʿda an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route with a relative clause and a reason (al-mahārāt allatī aḥtāju ilayhā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أَدْرُسُ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study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بَعْدَ الحُصُولِ عَلَى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after obtaining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التَّدْرِيبُ المِهْنِيُّ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vocational training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المَهَارَاتُ الَّتِي أَحْتَاجُ إِلَيْهَا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skills I need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University, college or apprenticeship?</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أَنْ تَدْرُسَ لِكَيْ تُصْبِحَ مُدَرِّسًا؟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الجَامِعَةَ أَمِ التَّلْمَذَةَ المِهَنِيَّةَ؟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نَجَحْتَ فِي الاِمْتِحَانَاتِ؟</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التَّلْمَذَةِ المِهَنِيَّةِ وَعُيُوبُهَا؟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لِكَيْ أُصْبِحَ ___ ، يَجِبُ أَنْ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أُفَضِّلُ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نَجَحْتُ، فَسَـ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مِنْ مَزَايَاهَا أَنَّ ___ ، وَلٰكِنْ مِنْ عُيُوبِهَا أَنَّ ___ .</a:t>
            </a:r>
            <a:endParaRPr lang="ar-SA" sz="12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تُفَضِّلُ الجَامِعَةَ أَمِ التَّلْمَذَةَ المِهَنِيَّةَ؟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prefer university or an apprenticeship?</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الجَامِعَةَ لِأَنَّنِي أُرِيدُ أَنْ أُصْبِحَ مُحَامِيًا.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university because I want to become a lawyer.</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TD-L05 · Qualifications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TD-L06 · Jobs and Professions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review</a:t>
            </a:r>
            <a:pPr indent="0" marL="0">
              <a:buNone/>
            </a:pPr>
            <a:r>
              <a:rPr lang="en-US" sz="1000" i="1" dirty="0">
                <a:solidFill>
                  <a:srgbClr val="5A6472"/>
                </a:solidFill>
                <a:latin typeface="Calibri" pitchFamily="34" charset="0"/>
                <a:ea typeface="Calibri" pitchFamily="34" charset="-122"/>
                <a:cs typeface="Calibri" pitchFamily="34" charset="-120"/>
              </a:rPr>
              <a:t>  D2-L11 (website)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أُحَسِّنُ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improve</a:t>
            </a:r>
            <a:pPr indent="0" marL="0">
              <a:buNone/>
            </a:pPr>
            <a:r>
              <a:rPr lang="en-US" sz="1000" i="1" dirty="0">
                <a:solidFill>
                  <a:srgbClr val="5A6472"/>
                </a:solidFill>
                <a:latin typeface="Calibri" pitchFamily="34" charset="0"/>
                <a:ea typeface="Calibri" pitchFamily="34" charset="-122"/>
                <a:cs typeface="Calibri" pitchFamily="34" charset="-120"/>
              </a:rPr>
              <a:t>  he: يُحَسِّنُ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أَتَدَرَّبُ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practise</a:t>
            </a:r>
            <a:pPr indent="0" marL="0">
              <a:buNone/>
            </a:pPr>
            <a:r>
              <a:rPr lang="en-US" sz="1000" i="1" dirty="0">
                <a:solidFill>
                  <a:srgbClr val="5A6472"/>
                </a:solidFill>
                <a:latin typeface="Calibri" pitchFamily="34" charset="0"/>
                <a:ea typeface="Calibri" pitchFamily="34" charset="-122"/>
                <a:cs typeface="Calibri" pitchFamily="34" charset="-120"/>
              </a:rPr>
              <a:t>  he: يَتَدَرَّبُ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target for the next unit: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TD-L06 · Jobs and Professions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الوَظَائِفُ وَالمِهَنُ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TD-L05 · Training, Qualifications and Skills</dc:title>
  <dc:subject>PptxGenJS Presentation</dc:subject>
  <dc:creator>Al Madina Online School · Arabic Department</dc:creator>
  <cp:lastModifiedBy>Al Madina Online School · Arabic Department</cp:lastModifiedBy>
  <cp:revision>1</cp:revision>
  <dcterms:created xsi:type="dcterms:W3CDTF">2026-10-11T04:25:06Z</dcterms:created>
  <dcterms:modified xsi:type="dcterms:W3CDTF">2026-10-11T04:25:06Z</dcterms:modified>
</cp:coreProperties>
</file>