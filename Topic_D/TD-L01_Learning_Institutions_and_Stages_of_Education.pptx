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TD-L01 — Learning Institutions and Stages of Education. Website: Advanced Topics › Topic D (The World of Work) › Lesson 1.
The website builds this lesson on the P2-L01 lesson engine, with the Topic focus “Describe and compare educational settings and routes.” (grammar: Nisba adjectives; comparatives; prepositions; skills: Reading · Speaking) and the application challenge “Education-system comparison”.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Topic D Education and Future Plans › TD-L01. The website lesson “School Systems and Academic Life”: vocabulary, grammar rules and quiz, patterns, common mistakes, sorter, listening, reading, speaking prompts and model, writing task and model, differentiation, final check and the lesson mission. Picture match: website visual game “School Systems and Academic Life”.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(Topic D · Education and Future Plans). Core: name the stages and use the exam verbs with their complements. Develop: compare two systems with two formal contrast connectors. Stretch: a distinguishing feature (يَتَمَيَّزُ بِـ) and a closing conditional (website ~90–100-word comparison).
• Respectful framing: students have studied in different countries and systems (UK, Pakistan, Egypt, Somalia …), and some in vocational routes or home education. Every system has strengths; the website says “كِلَا المَسَارَيْنِ مُحْتَرَمٌ”.
• Grammar links: one verb, one preposition (the earlier work habit) · أَنَّ + accusative (P1-L07, website) · the Type 1 conditional (P1-L03, website) · numbers: ثَلَاثُ مَرَاحِلَ · ثَلَاثَ سَنَوَاتٍ.
• TEACHER-WRITTEN ITEMS: two website spelling fixes applied throughout: مُنْهَجٌ → مَنْهَجٌ, and the waṣl alif inside a phrase shown without a kasra (الامْتِحَانِ · مَادَّةٌ اخْتِيَارِيَّةٌ); rule headings shown in English and transliteration; the comparison grid is teacher-built from the website listening and reading.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P1-L12 (website). Questions 4–5 retrieve the earlier work preposition habit and anna + accusative — both carry straight into today’s verbs and فِي حِينِ أَنَّ.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New topic, same habit: every academic verb comes with its own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امتحان، تعلیم، ثانوی and نتیجہ are shared. CAREFUL: Urdu شہادت means testimony or martyrdom, but Arabic شَهَادَةٌ ثَانَوِيَّةٌ is a secondary-school CERTIFICATE (Urdu سند). And a school subject is مَادَّةٌ in Arabic, مضمون in 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Stages and structure (website vocabulary (1 of 2)). Hear → Say → See → Use. Transliteration is printed for Core students (cover it for Develop/Stretch).
Stages and structure. مَرْحَلَةٌ and مَادَّةٌ are feminine: the adjective takes -a (مَرْحَلَةٌ ثَانَوِيَّةٌ · مَادَّةٌ إِلْزَامِيَّةٌ). Plural مَوَادُّ is a diptote. عَالٍ is defective: التَّعْلِيمُ العَالِي.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Stages and structure (website vocabulary (2 of 2)). Hear → Say → See → Use. Transliteration is printed for Core students (cover it for Develop/Stretch).
Stages and structure. مَرْحَلَةٌ and مَادَّةٌ are feminine: the adjective takes -a (مَرْحَلَةٌ ثَانَوِيَّةٌ · مَادَّةٌ إِلْزَامِيَّةٌ). Plural مَوَادُّ is a diptote. عَالٍ is defective: التَّعْلِيمُ العَالِي.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Assessment and records (website vocabulary (1 of 2)). Hear → Say → See → Use. Transliteration is printed for Core students (cover it for Develop/Stretch).
Assessment and records: most are iḍāfa pairs (كَشْفُ الدَّرَجَاتِ · نِظَامُ التَّقْيِيمِ) — the second word is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Assessment and records (website vocabulary (2 of 2)). Hear → Say → See → Use. Transliteration is printed for Core students (cover it for Develop/Stretch).
FLEX: teach if time allows; otherwise these are on the website vocabulary tab for homework.
Assessment and records: most are iḍāfa pairs (كَشْفُ الدَّرَجَاتِ · نِظَامُ التَّقْيِيمِ) — the second word is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verbs (website vocabulary (1 of 2)). Hear → Say → See → Use. Transliteration is printed for Core students (cover it for Develop/Stretch).
FLEX: teach if time allows; otherwise these are on the website vocabulary tab for homework.
Academic verbs: sort as you learn — DIRECT OBJECT: يَجْتَازُ | فِي: يَتَفَوَّقُ · يَرْسُبُ · يَتَخَصَّصُ | بِـ: يَلْتَحِقُ · يَتَمَيَّزُ | عَلَى: يَحْصُلُ · يَعْتَمِدُ.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verbs (website vocabulary (2 of 2)). Hear → Say → See → Use. Transliteration is printed for Core students (cover it for Develop/Stretch).
FLEX: teach if time allows; otherwise these are on the website vocabulary tab for homework.
Academic verbs: sort as you learn — DIRECT OBJECT: يَجْتَازُ | فِي: يَتَفَوَّقُ · يَرْسُبُ · يَتَخَصَّصُ | بِـ: يَلْتَحِقُ · يَتَمَيَّزُ | عَلَى: يَحْصُلُ · يَعْتَمِدُ.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“Exam verbs” (one takes a direct object; the other two take فِي) and “Enrolment and attainment” (enrolment takes بِـ; obtaining takes عَلَى), plus teaching point “Each academic verb keeps its own preposition”.
Website mistakes: يَجْتَازُ الطَّالِبُ فِي الامْتِحَانِ ✗ · يَلْتَحِقُ الطَّالِبُ عَلَى الجَامِعَةِ ✗.
Quick drill: say the verb, the class says the complement (object / fī / bi- / ʿalā) — then reverse.
Rows 4 and 6 show the feminine forms (تَتَخَصَّصُ أُخْتِي · تَحْصُلُ) — the same agreement habit as earlier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past and plural forms needed for the comparison and for narrating your own school history (Topic D builds on these all unit).
اجْتَازَ is a hollow Form VIII verb (root ج-و-ز): اجْتَزْتُ (I passed) — the same pattern as زِدْتُ / نِمْتُ from earlier work. Website listening: يَجْتَازُ الطُّلَّابُ (verb first, singular) vs الطُّلَّابُ يَجْتَازُونَ (verb after, plural).
Drill: “I passed the exam” → اجْتَزْتُ الامْتِحَانَ · “She excelled in science” → تَفَوَّقَتْ فِي العُلُومِ · “I enrolled at university” → الْتَحَقْتُ بِالجَامِعَةِ.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“Formal contrast” (set one system against another instead of chaining وَ) and teaching point “Compare, do not just list”.
Case after فِي حِينِ أَنَّ: the noun is accusative (نِظَامًا آخَرَ · النِّظَامَ) — the P1-L07 (website) anna rule. بَيْنَمَا is followed directly by a verb or a full sentence.
Number note: ثَلَاثَ سَنَوَاتٍ (accusative: for three years) · ثَلَاثُ مَرَاحِلَ (nominative: three stages, a diptote plural).
Fair comparison: describe how systems DIFFER, not which country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“Distinguishing feature” (يَتَمَيَّزُ بِـ: name what marks a system out) and the website reading (يَتَمَيَّزُ نِظَامٌ جَيِّدٌ بِتَوَازُنٍ … · وَكِلَا المَسَارَيْنِ مُحْتَرَمٌ · إِذَا رَكَّزَتِ المَنْظُومَةُ عَلَى التَّفْكِيرِ لَا الحِفْظِ …).
Website mistake 3: يَتَمَيَّزُ النِّظَامُ فِي المُرُونَةِ ✗ → بِالمُرُونَةِ.
Row 3: مَرَاحِلَ is a diptote — after bi- it takes fatḥa, not kasra (بِمَرَاحِلَ).
Row 5 brings back the earlier work conditional; فَـ before sa- is common when the result is a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education verbs with their fixed complements, and the connectors that build a formal comparison between two systems.”
• Exam verbs: One takes a direct object; the other two take فِي.
• Enrolment and attainment: Enrolment takes بِـ; obtaining takes عَلَى.
• Formal contrast: Set one system against another instead of chaining وَ.
• Distinguishing feature: Name what marks a system out.
Website common error: Adding فِي after يَجْتَازُ, or swapping the prepositions of يَلْتَحِقُ (بِـ) and يَحْصُلُ (عَلَى). Learn each verb with its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“Describe the stages. Pass — direct object. Excel — fī. Now I must COMPARE, not list: fī al-muqābil, then baynamā with two clauses. Finally the feature: yatamayyaz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(“Education Journey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“Education Journey”: the stages (primary → secondary → university) and the qualification at the end.
Website feedback lines: The route is school to university. · Primary comes before secondary. · The certificate follows study.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(“Education Journey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“Education Journey”: the stages (primary → secondary → university) and the qualification at the end.
Website feedback lines: The route is school to university. · Primary comes before secondary. · The certificate follows study.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School Systems and Academic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one with today’s verbs: اجْتَزْتُ امْتِحَانَاتِ الثَّانَوِيَّةِ · سَأَلْتَحِقُ بِالجَامِعَةِ · يَحْصُلُ المُتَدَرِّبُ عَلَى شَهَادَةٍ مِهَنِيَّةٍ. Other website cards: online learning, studying for an exam, education leading to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School Systems and Academic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one with today’s verbs: اجْتَزْتُ امْتِحَانَاتِ الثَّانَوِيَّةِ · سَأَلْتَحِقُ بِالجَامِعَةِ · يَحْصُلُ المُتَدَرِّبُ عَلَى شَهَادَةٍ مِهَنِيَّةٍ. Other website cards: online learning, studying for an exam, education leading to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a comparison grid built from the website listening and reading (the website lesson has no builder). Pairs turn each row into ONE comparative sentence.
Model (row 3): بَيْنَمَا يَعْتَمِدُ النِّظَامُ البِرِيطَانِيُّ عَلَى امْتِحَانَاتِ الشَّهَادَةِ، يَعْتَمِدُ بَعْضُ الأَنْظِمَةِ عَلَى امْتِحَانٍ نِهَائِيٍّ وَاحِدٍ.
Core: rows 1–2 with بَيْنَمَا. Develop: all four, using fī ḥīni anna once (noun in -a!). Stretch: replace System B with a system the student knows (Pakistan, Egypt, Somalia …) and add يَتَمَيَّزُ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يَجْتَازُ الامْتِحَانَ · يَدْرُسُ الطِّبَّ · يُرَاجِعُ الدُّرُوسَ · يَتَفَوَّقُ فِي العُلُومِ · يَرْسُبُ فِي المَادَّةِ · يَتَخَصَّصُ فِي الهَنْدَسَةِ · يَلْتَحِقُ بِالجَامِعَةِ · يَحْصُلُ عَلَى شَهَادَةٍ · يَتَمَيَّزُ بِالمُرُونَةِ.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يَجْتَازُ الامْتِحَانَ · يَدْرُسُ الطِّبَّ · يُرَاجِعُ الدُّرُوسَ · يَتَفَوَّقُ فِي العُلُومِ · يَرْسُبُ فِي المَادَّةِ · يَتَخَصَّصُ فِي الهَنْدَسَةِ · يَلْتَحِقُ بِالجَامِعَةِ · يَحْصُلُ عَلَى شَهَادَةٍ · يَتَمَيَّزُ بِالمُرُونَةِ.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the contrast connector you hear.
Listen 1: just listen. Listen 2: note answers. Then chat the letters.
Support: after the second listening, show the read-along slide (Arabic + English, line by line) for Core students.
SCRIPT (read aloud):
يَتَكَوَّنُ النِّظَامُ التَّعْلِيمِيُّ البِرِيطَانِيُّ مِنْ ثَلَاثِ مَرَاحِلَ: الابْتِدَائِيَّةِ وَالإِعْدَادِيَّةِ وَالثَّانَوِيَّةِ. يَجْتَازُ الطُّلَّابُ امْتِحَانَاتِ الشَّهَادَةِ فِي نِهَايَةِ الثَّانَوِيَّةِ، وَيَتَفَوَّقُ بَعْضُهُمْ فَيَحْصُلُونَ عَلَى أَعْلَى الدَّرَجَاتِ. بَعْدَ ذٰلِكَ يَلْتَحِقُونَ بِالجَامِعَةِ أَوْ يَخْتَارُونَ التَّدْرِيبَ المِهَنِيَّ. فِي المُقَابِلِ، يَخْتَلِفُ النِّظَامُ فِي بَعْضِ الدُّوَلِ العَرَبِيَّةِ؛ فَبَيْنَمَا يَدُومُ التَّعْلِيمُ الثَّانَوِيُّ ثَلَاثَ سَنَوَاتٍ فِي بَلَدٍ، يَمْتَدُّ فِي غَيْرِهِ أَكْثَرَ. وَيَتَمَيَّزُ كُلُّ نِظَامٍ بِمَوَادَّ إِلْزَامِيَّةٍ وَأُخْرَى اخْتِيَارِيَّةٍ. وَإِذَا أُتِيحَ لِلطُّلَّابِ وَقْتٌ لِلْإِبْدَاعِ، سَتَتَحَسَّنُ نَتَائِجُهُمْ.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“Sort institutions and stages into a learner journey, then compare two education systems or school types using facilities, rules and opportunities.”
Website Topic D challenge “Education-system comparison”: sort institutions and stages into a learner journey, then compare two systems or school types by facilities, rules and opportunities. Cards: رَوْضَةُ الأَطْفَالِ · المَدْرَسَةُ الابْتِدَائِيَّةُ · المَدْرَسَةُ المُتَوَسِّطَةُ · المَدْرَسَةُ الثَّانَوِيَّةُ · الجَامِعَةُ · المَعْهَدُ المِهْنِيُّ · الشَّهَادَةُ · التَّدْرِيبُ. Keep comparisons factual and respectful — no school is “bad”.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وَبِمَاذَا يَتَمَيَّزُ نِظَامُكَ المِثَالِيُّ؟ (Distinguishing feature)
B: يَتَمَيَّزُ بِمُرُونَةِ المَوَادِّ الاخْتِيَارِيَّةِ، وَإِذَا أُتِيحَ وَقْتٌ لِلْإِبْدَاعِ، سَتَتَحَسَّنُ النَّتَائِجُ. (يَتَمَيَّزُ بِـ plus a conditional)
Website prompts and model. Students may describe any system they know (their own school, a parent’s school abroad). Check the complements and the noun after فِي حِينِ أَنَّ (-a). To a girl: صِفِي · نِظَامِكِ · قَارِنِي · مُسْتَعْمِلَةً.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using the academic verbs with correct complements. · Develop — Add two formal contrast connectors comparing two systems. · Stretch — Close with a distinguishing feature and a conditional about improvement.
Website writing task (Stretch): Write ninety to one hundred words comparing two education systems. Use يَجْتَازُ and يَتَفَوَّقُ فِي, at least two formal contrast connectors (بَيْنَمَا، فِي حِينِ أَنَّ), and close with a Type 1 conditional about what would improve a system.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يَجْتَازُ الطُّلَّابُ امْتِحَانَاتِ · يَتَفَوَّقُ بَعْضُهُمْ فَيَلْتَحِقُونَ بِالجَامِعَاتِ · فِي المُقَابِلِ · فَبَيْنَمَا … يَمْتَدُّ … · يَتَمَيَّزُ كُلُّ نِظَامٍ بِتَوَازُنٍ · فِي حِينِ أَنَّ نِظَامًا … · إِذَا رَكَّزَتِ … فَسَيَتَحَسَّنُ.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(TD-L02 · The Classroom and Learning Tools) · Reported Speech — What People Say About Education) will spend class time USING this language, so students prepare it tonight — short, simple, easy to access (school guidance: “Simple, Short, Interesting, Relevant, Easy to access”). The five words come from the website P2-L02 (website) vocabulary (reported speech).
Follow-up: the next Do Now tests two of these words (Flipped Learning: keep it short AND follow up).
Homework by route (website tasks). No internet? Students copy the five words from this slide into their book now.
TOPIC D: the five words are the ones the TD-L02 Do Now tests (preparation list of the website F4-L02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slideLayout" Target="../slideLayouts/slideLayout1.xml"/><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D  ·  TD-L01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TD-L01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Learning Institutions and Stages of Education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المُؤَسَّسَاتُ التَّعْلِيمِيَّةُ وَمَرَاحِلُ التَّعْلِيمِ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and compare educational settings and routes.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TD-L01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D › TD-L01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52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Stages, exam verbs with their complements, formal comparison.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the verbs, compare two systems in a table, match the learning route.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TD-L02.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52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مَنْظُومَةٌ تَعْلِيمِيَّةٌ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 report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education system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يَجْتَازُ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passes (an exam)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fails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enrols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يَتَفَوَّقُ فِي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specialises 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relies 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excels in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الطَّعَامُ 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هَلْ تَعْلَمُ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يُقَوِّي المَنَاعَةَ؟</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52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مَنْظُومَةٌ تَعْلِيمِيَّةٌ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 report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education system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(P1-L12,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يَجْتَازُ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passes (an exam)</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fails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enrols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(P1-L12,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يَتَفَوَّقُ فِي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specialises 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relies 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excels in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(P1-L12, website).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الطَّعَامُ 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earlier work: one verb, one preposition.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هَلْ تَعْلَمُ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يُقَوِّي المَنَاعَةَ؟</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النَّوْمَ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النَّوْمُ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النَّوْمِ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P1-L07 (website): anna + accusative.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New topic, same habit: every academic verb comes with its own complement.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يَجْتَازُ الامْتِحَانَ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يَتَفَوَّقُ فِي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يَلْتَحِقُ بِـ</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52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stages of an education system in academic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yajtāz, yatafawwaq fī, yarsub fī and yaltaḥiq bi- with correct complements.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two systems with baynamā, fī ḥīni anna and yatamayyaz bi-.</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comparative description of two school systems.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the stages of a school system.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the exam verbs with their complements.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two systems with baynamā / fī ḥīni anna.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a system is distinguished by.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close with a conditional about improvement.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fairly, without ranking people.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52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Stages and structure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Assessment and records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Academic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اِمْتِحَانٌ</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‎امتحان‎ </a:t>
            </a:r>
            <a:pPr indent="0" marL="0">
              <a:buNone/>
            </a:pPr>
            <a:r>
              <a:rPr lang="en-US" sz="950" b="1" dirty="0">
                <a:solidFill>
                  <a:srgbClr val="2E8B57"/>
                </a:solidFill>
                <a:latin typeface="Calibri" pitchFamily="34" charset="0"/>
                <a:ea typeface="Calibri" pitchFamily="34" charset="-122"/>
                <a:cs typeface="Calibri" pitchFamily="34" charset="-120"/>
              </a:rPr>
              <a:t> imtiḥān · an exam</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تَعْلِيمٌ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‎تعلیم‎ </a:t>
            </a:r>
            <a:pPr indent="0" marL="0">
              <a:buNone/>
            </a:pPr>
            <a:r>
              <a:rPr lang="en-US" sz="950" b="1" dirty="0">
                <a:solidFill>
                  <a:srgbClr val="2E8B57"/>
                </a:solidFill>
                <a:latin typeface="Calibri" pitchFamily="34" charset="0"/>
                <a:ea typeface="Calibri" pitchFamily="34" charset="-122"/>
                <a:cs typeface="Calibri" pitchFamily="34" charset="-120"/>
              </a:rPr>
              <a:t> taʿlīm · education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ثَانَوِيٌّ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‎ثانوی‎ </a:t>
            </a:r>
            <a:pPr indent="0" marL="0">
              <a:buNone/>
            </a:pPr>
            <a:r>
              <a:rPr lang="en-US" sz="950" b="1" dirty="0">
                <a:solidFill>
                  <a:srgbClr val="2E8B57"/>
                </a:solidFill>
                <a:latin typeface="Calibri" pitchFamily="34" charset="0"/>
                <a:ea typeface="Calibri" pitchFamily="34" charset="-122"/>
                <a:cs typeface="Calibri" pitchFamily="34" charset="-120"/>
              </a:rPr>
              <a:t> sānwī · secondary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مَادَّةٌ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‎مضمون‎ </a:t>
            </a:r>
            <a:pPr indent="0" marL="0">
              <a:buNone/>
            </a:pPr>
            <a:r>
              <a:rPr lang="en-US" sz="950" b="1" dirty="0">
                <a:solidFill>
                  <a:srgbClr val="2E8B57"/>
                </a:solidFill>
                <a:latin typeface="Calibri" pitchFamily="34" charset="0"/>
                <a:ea typeface="Calibri" pitchFamily="34" charset="-122"/>
                <a:cs typeface="Calibri" pitchFamily="34" charset="-120"/>
              </a:rPr>
              <a:t> mazmūn · a school subject (Urdu uses a different word)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شَهَادَةٌ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‎سند / شہادت‎ </a:t>
            </a:r>
            <a:pPr indent="0" marL="0">
              <a:buNone/>
            </a:pPr>
            <a:r>
              <a:rPr lang="en-US" sz="950" b="1" dirty="0">
                <a:solidFill>
                  <a:srgbClr val="2E8B57"/>
                </a:solidFill>
                <a:latin typeface="Calibri" pitchFamily="34" charset="0"/>
                <a:ea typeface="Calibri" pitchFamily="34" charset="-122"/>
                <a:cs typeface="Calibri" pitchFamily="34" charset="-120"/>
              </a:rPr>
              <a:t> sanad · Arabic: a certificate · Urdu shahādat: testimony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52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Stages and structure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مَنْظُومَةٌ تَعْلِيمِيَّةٌ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education system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man-ẓū-ma-tun taʿ-lī-miy-ya-tun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مَنْظُومَاتٌ تَعْلِيمِيَّةٌ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مَرْحَلَةٌ ابْتِدَائِيَّةٌ</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primary stage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mar-ḥa-la-tun ab-ti-dā-ʾiy-ya-tun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مَرْحَلَةٌ إِعْدَادِيَّةٌ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preparatory (middle) stage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mar-ḥa-la-tun iʿ-dā-diy-ya-tun</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مَرْحَلَةٌ ثَانَوِيَّةٌ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secondary stage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mar-ḥa-la-tun thā-na-wiy-ya-tun</a:t>
            </a:r>
            <a:endParaRPr lang="en-US" sz="1350" dirty="0"/>
          </a:p>
        </p:txBody>
      </p:sp>
      <p:sp>
        <p:nvSpPr>
          <p:cNvPr id="46" name="Shape 4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389120"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9" name="Shape 46"/>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defective</a:t>
            </a:r>
            <a:endParaRPr lang="en-US" sz="800" dirty="0"/>
          </a:p>
        </p:txBody>
      </p:sp>
      <p:sp>
        <p:nvSpPr>
          <p:cNvPr id="51" name="Shape 4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تَعْلِيمٌ عَالٍ</a:t>
            </a:r>
            <a:endParaRPr lang="ar-SA" sz="3000" dirty="0"/>
          </a:p>
        </p:txBody>
      </p:sp>
      <p:sp>
        <p:nvSpPr>
          <p:cNvPr id="54" name="Text 5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higher education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taʿ-lī-mun ʿā-lin</a:t>
            </a:r>
            <a:endParaRPr lang="en-US" sz="1350" dirty="0"/>
          </a:p>
        </p:txBody>
      </p:sp>
      <p:sp>
        <p:nvSpPr>
          <p:cNvPr id="55" name="Shape 5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with al-</a:t>
            </a:r>
            <a:endParaRPr lang="en-US" sz="700" dirty="0"/>
          </a:p>
        </p:txBody>
      </p:sp>
      <p:sp>
        <p:nvSpPr>
          <p:cNvPr id="57" name="Text 54"/>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التَّعْلِيمُ العَالِي</a:t>
            </a:r>
            <a:endParaRPr lang="ar-SA"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52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Stages and structure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مَنْهَجٌ دِرَاسِيٌّ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curriculum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man-ha-jun di-rā-siy-yun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مَنَاهِجُ دِرَاسِيَّةٌ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مُقَرَّرٌ</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module, course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mu-qar-ra-run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مُقَرَّرَاتٌ</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مَادَّةٌ إِلْزَامِيَّةٌ</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compulsory subject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mād-da-tun il-zā-miy-ya-tun</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مَوَادُّ إِلْزَامِيَّةٌ</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2" name="Shape 4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مَادَّةٌ اخْتِيَارِيَّةٌ</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elective subject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mād-da-tun akh-ti-yā-riy-ya-tun</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مَوَادُّ اخْتِيَارِيَّةٌ</a:t>
            </a:r>
            <a:endParaRPr lang="ar-SA" sz="150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52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Assessment and records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مُعَدَّلُ الدِّرَاسَةِ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grade point average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mu-ʿad-da-lu ad-di-rā-sa-ti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اِمْتِحَانَاتُ الشَّهَادَةِ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certificate examinations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im-ti-ḥā-nā-tu ash-sha-hā-da-ti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نِظَامُ التَّقْيِيمِ</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assessment system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ni-ẓā-mu at-taq-yī-mi</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كَشْفُ الدَّرَجَاتِ</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transcript of grades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kash-fu ad-da-ra-jā-ti</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52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Assessment and records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تَقْرِيرٌ مَدْرَسِيٌّ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school report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taq-rī-run mad-ra-siy-yun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الاعْتِمَادُ الأَكَادِيمِيُّ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academic accreditation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alʿ-ti-mā-du al-a-kā-dī-miy-yu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الإِجَازَةُ التَّدْرِيسِيَّةُ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teaching qualification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al-i-jā-za-tu at-tad-rī-siy-ya-tu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5" name="Shape 3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7" name="Text 3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شَهَادَةٌ ثَانَوِيَّةٌ</a:t>
            </a:r>
            <a:endParaRPr lang="ar-SA" sz="3000" dirty="0"/>
          </a:p>
        </p:txBody>
      </p:sp>
      <p:sp>
        <p:nvSpPr>
          <p:cNvPr id="38" name="Text 3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secondary certificate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sha-hā-da-tun thā-na-wiy-ya-tun</a:t>
            </a:r>
            <a:endParaRPr lang="en-US" sz="1350" dirty="0"/>
          </a:p>
        </p:txBody>
      </p:sp>
      <p:sp>
        <p:nvSpPr>
          <p:cNvPr id="39" name="Shape 3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شَهَادَاتٌ ثَانَوِيَّةٌ</a:t>
            </a:r>
            <a:endParaRPr lang="ar-SA" sz="15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52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Academic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يَلْتَحِقُ بِـ</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enrols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yal-ta-ḥi-qu bi</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تَلْتَحِقُ</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أَلْتَحِقُ</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يَجْتَازُ</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passes (an exam)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yaj-tā-zu</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تَجْتَازُ</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أَجْتَازُ</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0" name="Shape 4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يَرْسُبُ فِي</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fails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yar-su-bu fī</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تَرْسُبُ</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أَرْسُبُ</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65" name="Shape 62"/>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7" name="Shape 6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8" name="Text 6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يَتَفَوَّقُ فِي</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excels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ya-ta-faw-wa-qu fī</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تَتَفَوَّقُ</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أَتَفَوَّقُ</a:t>
            </a:r>
            <a:endParaRPr lang="ar-SA" sz="15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52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Academic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يَحْصُلُ عَلَى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obtains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yaḥ-ṣu-lu ʿa-lā</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تَحْصُلُ</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أَحْصُلُ</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يَتَخَصَّصُ فِي</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specialises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ya-ta-khaṣ-ṣa-ṣu fī</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تَتَخَصَّصُ</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أَتَخَصَّصُ</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يَتَمَيَّزُ بِـ</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distinguished by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ya-ta-may-ya-zu bi</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تَتَمَيَّزُ</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أَتَمَيَّزُ</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يَعْتَمِدُ عَلَى</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relies 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yaʿ-ta-mi-du ʿa-lā</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تَعْتَمِدُ</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أَعْتَمِدُ</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52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ACADEMIC VERBS AND THEIR COMPLEMENTS (WEBSITE RULES 1–2)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Pass · excel · fail · enrol · obtain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الأَفْعَالُ الأَكَادِيمِيَّةُ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Then</a:t>
            </a:r>
            <a:endParaRPr lang="en-US" sz="1100" dirty="0"/>
          </a:p>
        </p:txBody>
      </p:sp>
      <p:sp>
        <p:nvSpPr>
          <p:cNvPr id="17" name="Text 14"/>
          <p:cNvSpPr txBox="1"/>
          <p:nvPr/>
        </p:nvSpPr>
        <p:spPr>
          <a:xfrm>
            <a:off x="5102352" y="1810512"/>
            <a:ext cx="5065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263347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351008" y="226771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a:t>
            </a:r>
            <a:endParaRPr lang="en-US" sz="1100" dirty="0"/>
          </a:p>
        </p:txBody>
      </p:sp>
      <p:sp>
        <p:nvSpPr>
          <p:cNvPr id="22" name="Text 19"/>
          <p:cNvSpPr txBox="1"/>
          <p:nvPr/>
        </p:nvSpPr>
        <p:spPr>
          <a:xfrm>
            <a:off x="5120640" y="2267712"/>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يَجْتَازُ الطُّلَّابُ </a:t>
            </a:r>
            <a:pPr rtl="1" algn="ctr" indent="0" marL="0">
              <a:buNone/>
            </a:pPr>
            <a:r>
              <a:rPr lang="ar-SA" altLang="en-US" sz="2000" b="1" dirty="0">
                <a:solidFill>
                  <a:srgbClr val="1D5FBF"/>
                </a:solidFill>
                <a:latin typeface="Amiri" pitchFamily="34" charset="0"/>
                <a:ea typeface="Amiri" pitchFamily="34" charset="-122"/>
                <a:cs typeface="Amiri" pitchFamily="34" charset="-120"/>
              </a:rPr>
              <a:t>الامْتِحَانَ</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23" name="Text 20"/>
          <p:cNvSpPr txBox="1"/>
          <p:nvPr/>
        </p:nvSpPr>
        <p:spPr>
          <a:xfrm>
            <a:off x="2651760" y="2267712"/>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يَجْتَازُ</a:t>
            </a:r>
            <a:endParaRPr lang="ar-SA" sz="22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passes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351008" y="2881884"/>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fī</a:t>
            </a:r>
            <a:endParaRPr lang="en-US" sz="1100" dirty="0"/>
          </a:p>
        </p:txBody>
      </p:sp>
      <p:sp>
        <p:nvSpPr>
          <p:cNvPr id="29" name="Text 26"/>
          <p:cNvSpPr txBox="1"/>
          <p:nvPr/>
        </p:nvSpPr>
        <p:spPr>
          <a:xfrm>
            <a:off x="5120640" y="2881884"/>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يَتَفَوَّقُ الطَّالِبُ </a:t>
            </a:r>
            <a:pPr rtl="1" algn="ctr" indent="0" marL="0">
              <a:buNone/>
            </a:pPr>
            <a:r>
              <a:rPr lang="ar-SA" altLang="en-US" sz="2000" b="1" dirty="0">
                <a:solidFill>
                  <a:srgbClr val="D6336C"/>
                </a:solidFill>
                <a:latin typeface="Amiri" pitchFamily="34" charset="0"/>
                <a:ea typeface="Amiri" pitchFamily="34" charset="-122"/>
                <a:cs typeface="Amiri" pitchFamily="34" charset="-120"/>
              </a:rPr>
              <a:t>فِي</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الرِّيَاضِيَّاتِ.</a:t>
            </a:r>
            <a:endParaRPr lang="ar-SA" sz="2000" dirty="0"/>
          </a:p>
        </p:txBody>
      </p:sp>
      <p:sp>
        <p:nvSpPr>
          <p:cNvPr id="30" name="Text 27"/>
          <p:cNvSpPr txBox="1"/>
          <p:nvPr/>
        </p:nvSpPr>
        <p:spPr>
          <a:xfrm>
            <a:off x="2651760" y="2881884"/>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يَتَفَوَّقُ فِي</a:t>
            </a:r>
            <a:endParaRPr lang="ar-SA" sz="22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excels in</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351008" y="3496056"/>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fī</a:t>
            </a:r>
            <a:endParaRPr lang="en-US" sz="1100" dirty="0"/>
          </a:p>
        </p:txBody>
      </p:sp>
      <p:sp>
        <p:nvSpPr>
          <p:cNvPr id="36" name="Text 33"/>
          <p:cNvSpPr txBox="1"/>
          <p:nvPr/>
        </p:nvSpPr>
        <p:spPr>
          <a:xfrm>
            <a:off x="5120640" y="3496056"/>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يَرْسُبُ بَعْضُ الطُّلَّابِ </a:t>
            </a:r>
            <a:pPr rtl="1" algn="ctr" indent="0" marL="0">
              <a:buNone/>
            </a:pPr>
            <a:r>
              <a:rPr lang="ar-SA" altLang="en-US" sz="2000" b="1" dirty="0">
                <a:solidFill>
                  <a:srgbClr val="D6336C"/>
                </a:solidFill>
                <a:latin typeface="Amiri" pitchFamily="34" charset="0"/>
                <a:ea typeface="Amiri" pitchFamily="34" charset="-122"/>
                <a:cs typeface="Amiri" pitchFamily="34" charset="-120"/>
              </a:rPr>
              <a:t>فِي</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المَادَّةِ الصَّعْبَةِ.</a:t>
            </a:r>
            <a:endParaRPr lang="ar-SA" sz="2000" dirty="0"/>
          </a:p>
        </p:txBody>
      </p:sp>
      <p:sp>
        <p:nvSpPr>
          <p:cNvPr id="37" name="Text 34"/>
          <p:cNvSpPr txBox="1"/>
          <p:nvPr/>
        </p:nvSpPr>
        <p:spPr>
          <a:xfrm>
            <a:off x="2651760" y="3496056"/>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يَرْسُبُ فِي</a:t>
            </a:r>
            <a:endParaRPr lang="ar-SA" sz="22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fails</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351008" y="4110228"/>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fī</a:t>
            </a:r>
            <a:endParaRPr lang="en-US" sz="1100" dirty="0"/>
          </a:p>
        </p:txBody>
      </p:sp>
      <p:sp>
        <p:nvSpPr>
          <p:cNvPr id="41" name="Text 38"/>
          <p:cNvSpPr txBox="1"/>
          <p:nvPr/>
        </p:nvSpPr>
        <p:spPr>
          <a:xfrm>
            <a:off x="5120640" y="4110228"/>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تَتَخَصَّصُ أُخْتِي </a:t>
            </a:r>
            <a:pPr rtl="1" algn="ctr" indent="0" marL="0">
              <a:buNone/>
            </a:pPr>
            <a:r>
              <a:rPr lang="ar-SA" altLang="en-US" sz="2000" b="1" dirty="0">
                <a:solidFill>
                  <a:srgbClr val="D6336C"/>
                </a:solidFill>
                <a:latin typeface="Amiri" pitchFamily="34" charset="0"/>
                <a:ea typeface="Amiri" pitchFamily="34" charset="-122"/>
                <a:cs typeface="Amiri" pitchFamily="34" charset="-120"/>
              </a:rPr>
              <a:t>فِي</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الطِّبِّ.</a:t>
            </a:r>
            <a:endParaRPr lang="ar-SA" sz="2000" dirty="0"/>
          </a:p>
        </p:txBody>
      </p:sp>
      <p:sp>
        <p:nvSpPr>
          <p:cNvPr id="42" name="Text 39"/>
          <p:cNvSpPr txBox="1"/>
          <p:nvPr/>
        </p:nvSpPr>
        <p:spPr>
          <a:xfrm>
            <a:off x="2651760" y="4110228"/>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يَتَخَصَّصُ فِي</a:t>
            </a:r>
            <a:endParaRPr lang="ar-SA" sz="2200" dirty="0"/>
          </a:p>
        </p:txBody>
      </p:sp>
      <p:sp>
        <p:nvSpPr>
          <p:cNvPr id="43" name="Text 40"/>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specialises in</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10351008" y="4724400"/>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a:t>
            </a:r>
            <a:endParaRPr lang="en-US" sz="1100" dirty="0"/>
          </a:p>
        </p:txBody>
      </p:sp>
      <p:sp>
        <p:nvSpPr>
          <p:cNvPr id="46" name="Text 43"/>
          <p:cNvSpPr txBox="1"/>
          <p:nvPr/>
        </p:nvSpPr>
        <p:spPr>
          <a:xfrm>
            <a:off x="5120640" y="4724400"/>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يَلْتَحِقُ </a:t>
            </a:r>
            <a:pPr rtl="1" algn="ctr" indent="0" marL="0">
              <a:buNone/>
            </a:pPr>
            <a:r>
              <a:rPr lang="ar-SA" altLang="en-US" sz="2000" b="1" dirty="0">
                <a:solidFill>
                  <a:srgbClr val="0E7C86"/>
                </a:solidFill>
                <a:latin typeface="Amiri" pitchFamily="34" charset="0"/>
                <a:ea typeface="Amiri" pitchFamily="34" charset="-122"/>
                <a:cs typeface="Amiri" pitchFamily="34" charset="-120"/>
              </a:rPr>
              <a:t>بِالجَامِعَةِ</a:t>
            </a:r>
            <a:pPr rtl="1" algn="ctr" indent="0" marL="0">
              <a:buNone/>
            </a:pPr>
            <a:r>
              <a:rPr lang="ar-SA" altLang="en-US" sz="2000" b="1" dirty="0">
                <a:solidFill>
                  <a:srgbClr val="1B3B6F"/>
                </a:solidFill>
                <a:latin typeface="Amiri" pitchFamily="34" charset="0"/>
                <a:ea typeface="Amiri" pitchFamily="34" charset="-122"/>
                <a:cs typeface="Amiri" pitchFamily="34" charset="-120"/>
              </a:rPr>
              <a:t> بَعْدَ الثَّانَوِيَّةِ.</a:t>
            </a:r>
            <a:endParaRPr lang="ar-SA" sz="2000" dirty="0"/>
          </a:p>
        </p:txBody>
      </p:sp>
      <p:sp>
        <p:nvSpPr>
          <p:cNvPr id="47" name="Text 44"/>
          <p:cNvSpPr txBox="1"/>
          <p:nvPr/>
        </p:nvSpPr>
        <p:spPr>
          <a:xfrm>
            <a:off x="2651760" y="4724400"/>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يَلْتَحِقُ بِـ</a:t>
            </a:r>
            <a:endParaRPr lang="ar-SA" sz="2200" dirty="0"/>
          </a:p>
        </p:txBody>
      </p:sp>
      <p:sp>
        <p:nvSpPr>
          <p:cNvPr id="48" name="Text 45"/>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enrols in</a:t>
            </a:r>
            <a:endParaRPr lang="en-US" sz="11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351008" y="533857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ʿalā</a:t>
            </a:r>
            <a:endParaRPr lang="en-US" sz="1100" dirty="0"/>
          </a:p>
        </p:txBody>
      </p:sp>
      <p:sp>
        <p:nvSpPr>
          <p:cNvPr id="53" name="Text 50"/>
          <p:cNvSpPr txBox="1"/>
          <p:nvPr/>
        </p:nvSpPr>
        <p:spPr>
          <a:xfrm>
            <a:off x="5120640" y="5338572"/>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تَحْصُلُ </a:t>
            </a:r>
            <a:pPr rtl="1" algn="ctr" indent="0" marL="0">
              <a:buNone/>
            </a:pPr>
            <a:r>
              <a:rPr lang="ar-SA" altLang="en-US" sz="2000" b="1" dirty="0">
                <a:solidFill>
                  <a:srgbClr val="7B3FA0"/>
                </a:solidFill>
                <a:latin typeface="Amiri" pitchFamily="34" charset="0"/>
                <a:ea typeface="Amiri" pitchFamily="34" charset="-122"/>
                <a:cs typeface="Amiri" pitchFamily="34" charset="-120"/>
              </a:rPr>
              <a:t>عَلَى</a:t>
            </a:r>
            <a:pPr rtl="1" algn="ctr" indent="0" marL="0">
              <a:buNone/>
            </a:pPr>
            <a:r>
              <a:rPr lang="ar-SA" altLang="en-US" sz="2000" b="1" dirty="0">
                <a:solidFill>
                  <a:srgbClr val="1B3B6F"/>
                </a:solidFill>
                <a:latin typeface="Amiri" pitchFamily="34" charset="0"/>
                <a:ea typeface="Amiri" pitchFamily="34" charset="-122"/>
                <a:cs typeface="Amiri" pitchFamily="34" charset="-120"/>
              </a:rPr>
              <a:t> شَهَادَةٍ مُعْتَمَدَةٍ.</a:t>
            </a:r>
            <a:endParaRPr lang="ar-SA" sz="2000" dirty="0"/>
          </a:p>
        </p:txBody>
      </p:sp>
      <p:sp>
        <p:nvSpPr>
          <p:cNvPr id="54" name="Text 51"/>
          <p:cNvSpPr txBox="1"/>
          <p:nvPr/>
        </p:nvSpPr>
        <p:spPr>
          <a:xfrm>
            <a:off x="2651760" y="5338572"/>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يَحْصُلُ عَلَى</a:t>
            </a:r>
            <a:endParaRPr lang="ar-SA" sz="2200" dirty="0"/>
          </a:p>
        </p:txBody>
      </p:sp>
      <p:sp>
        <p:nvSpPr>
          <p:cNvPr id="55" name="Text 52"/>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obtains</a:t>
            </a:r>
            <a:endParaRPr lang="en-US" sz="1100" dirty="0"/>
          </a:p>
        </p:txBody>
      </p:sp>
      <p:sp>
        <p:nvSpPr>
          <p:cNvPr id="56" name="Shape 53"/>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yajtāz takes a direct object — never yajtāz fī al-imtiḥān.</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52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THE VERBS IN THE PAST AND THE PLURAL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I passed · she excelled · they enrolled</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المَاضِي وَالجَمْعُ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p>
        </p:txBody>
      </p:sp>
      <p:sp>
        <p:nvSpPr>
          <p:cNvPr id="17" name="Text 14"/>
          <p:cNvSpPr txBox="1"/>
          <p:nvPr/>
        </p:nvSpPr>
        <p:spPr>
          <a:xfrm>
            <a:off x="766267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They (m.) present</a:t>
            </a:r>
            <a:endParaRPr lang="en-US" sz="1100" dirty="0"/>
          </a:p>
        </p:txBody>
      </p:sp>
      <p:sp>
        <p:nvSpPr>
          <p:cNvPr id="18" name="Text 15"/>
          <p:cNvSpPr txBox="1"/>
          <p:nvPr/>
        </p:nvSpPr>
        <p:spPr>
          <a:xfrm>
            <a:off x="519379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(past)</a:t>
            </a:r>
            <a:endParaRPr lang="en-US" sz="1100" dirty="0"/>
          </a:p>
        </p:txBody>
      </p:sp>
      <p:sp>
        <p:nvSpPr>
          <p:cNvPr id="19" name="Text 16"/>
          <p:cNvSpPr txBox="1"/>
          <p:nvPr/>
        </p:nvSpPr>
        <p:spPr>
          <a:xfrm>
            <a:off x="2816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(past)</a:t>
            </a:r>
            <a:endParaRPr lang="en-US" sz="1100" dirty="0"/>
          </a:p>
        </p:txBody>
      </p:sp>
      <p:sp>
        <p:nvSpPr>
          <p:cNvPr id="20" name="Text 17"/>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hollow: ā → a</a:t>
            </a:r>
            <a:endParaRPr lang="en-US" sz="1100" dirty="0"/>
          </a:p>
        </p:txBody>
      </p:sp>
      <p:sp>
        <p:nvSpPr>
          <p:cNvPr id="23" name="Text 20"/>
          <p:cNvSpPr txBox="1"/>
          <p:nvPr/>
        </p:nvSpPr>
        <p:spPr>
          <a:xfrm>
            <a:off x="7680960" y="2267712"/>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يَجْتَازُونَ</a:t>
            </a:r>
            <a:endParaRPr lang="ar-SA" sz="2200" dirty="0"/>
          </a:p>
        </p:txBody>
      </p:sp>
      <p:sp>
        <p:nvSpPr>
          <p:cNvPr id="24" name="Text 21"/>
          <p:cNvSpPr txBox="1"/>
          <p:nvPr/>
        </p:nvSpPr>
        <p:spPr>
          <a:xfrm>
            <a:off x="5212080" y="2267712"/>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اجْتَازَتْ</a:t>
            </a:r>
            <a:endParaRPr lang="ar-SA" sz="2200" dirty="0"/>
          </a:p>
        </p:txBody>
      </p:sp>
      <p:sp>
        <p:nvSpPr>
          <p:cNvPr id="25" name="Text 22"/>
          <p:cNvSpPr txBox="1"/>
          <p:nvPr/>
        </p:nvSpPr>
        <p:spPr>
          <a:xfrm>
            <a:off x="2834640" y="2267712"/>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اجْتَزْتُ</a:t>
            </a:r>
            <a:endParaRPr lang="ar-SA" sz="2200" dirty="0"/>
          </a:p>
        </p:txBody>
      </p:sp>
      <p:sp>
        <p:nvSpPr>
          <p:cNvPr id="26" name="Text 23"/>
          <p:cNvSpPr txBox="1"/>
          <p:nvPr/>
        </p:nvSpPr>
        <p:spPr>
          <a:xfrm>
            <a:off x="548640" y="2267712"/>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يَجْتَازُ</a:t>
            </a:r>
            <a:endParaRPr lang="ar-SA" sz="22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V</a:t>
            </a:r>
            <a:endParaRPr lang="en-US" sz="1100" dirty="0"/>
          </a:p>
        </p:txBody>
      </p:sp>
      <p:sp>
        <p:nvSpPr>
          <p:cNvPr id="31" name="Text 28"/>
          <p:cNvSpPr txBox="1"/>
          <p:nvPr/>
        </p:nvSpPr>
        <p:spPr>
          <a:xfrm>
            <a:off x="7680960" y="300471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يَتَفَوَّقُونَ</a:t>
            </a:r>
            <a:endParaRPr lang="ar-SA" sz="2200" dirty="0"/>
          </a:p>
        </p:txBody>
      </p:sp>
      <p:sp>
        <p:nvSpPr>
          <p:cNvPr id="32" name="Text 29"/>
          <p:cNvSpPr txBox="1"/>
          <p:nvPr/>
        </p:nvSpPr>
        <p:spPr>
          <a:xfrm>
            <a:off x="5212080" y="3004718"/>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تَفَوَّقَتْ</a:t>
            </a:r>
            <a:endParaRPr lang="ar-SA" sz="2200" dirty="0"/>
          </a:p>
        </p:txBody>
      </p:sp>
      <p:sp>
        <p:nvSpPr>
          <p:cNvPr id="33" name="Text 30"/>
          <p:cNvSpPr txBox="1"/>
          <p:nvPr/>
        </p:nvSpPr>
        <p:spPr>
          <a:xfrm>
            <a:off x="2834640" y="300471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تَفَوَّقْتُ</a:t>
            </a:r>
            <a:endParaRPr lang="ar-SA" sz="2200" dirty="0"/>
          </a:p>
        </p:txBody>
      </p:sp>
      <p:sp>
        <p:nvSpPr>
          <p:cNvPr id="34" name="Text 31"/>
          <p:cNvSpPr txBox="1"/>
          <p:nvPr/>
        </p:nvSpPr>
        <p:spPr>
          <a:xfrm>
            <a:off x="548640" y="3004718"/>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يَتَفَوَّقُ فِي</a:t>
            </a:r>
            <a:endParaRPr lang="ar-SA" sz="22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I</a:t>
            </a:r>
            <a:endParaRPr lang="en-US" sz="1100" dirty="0"/>
          </a:p>
        </p:txBody>
      </p:sp>
      <p:sp>
        <p:nvSpPr>
          <p:cNvPr id="39" name="Text 36"/>
          <p:cNvSpPr txBox="1"/>
          <p:nvPr/>
        </p:nvSpPr>
        <p:spPr>
          <a:xfrm>
            <a:off x="7680960" y="3741725"/>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يَرْسُبُونَ</a:t>
            </a:r>
            <a:endParaRPr lang="ar-SA" sz="2200" dirty="0"/>
          </a:p>
        </p:txBody>
      </p:sp>
      <p:sp>
        <p:nvSpPr>
          <p:cNvPr id="40" name="Text 37"/>
          <p:cNvSpPr txBox="1"/>
          <p:nvPr/>
        </p:nvSpPr>
        <p:spPr>
          <a:xfrm>
            <a:off x="5212080" y="3741725"/>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رَسَبَتْ</a:t>
            </a:r>
            <a:endParaRPr lang="ar-SA" sz="2200" dirty="0"/>
          </a:p>
        </p:txBody>
      </p:sp>
      <p:sp>
        <p:nvSpPr>
          <p:cNvPr id="41" name="Text 38"/>
          <p:cNvSpPr txBox="1"/>
          <p:nvPr/>
        </p:nvSpPr>
        <p:spPr>
          <a:xfrm>
            <a:off x="2834640" y="3741725"/>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رَسَبْتُ</a:t>
            </a:r>
            <a:endParaRPr lang="ar-SA" sz="2200" dirty="0"/>
          </a:p>
        </p:txBody>
      </p:sp>
      <p:sp>
        <p:nvSpPr>
          <p:cNvPr id="42" name="Text 39"/>
          <p:cNvSpPr txBox="1"/>
          <p:nvPr/>
        </p:nvSpPr>
        <p:spPr>
          <a:xfrm>
            <a:off x="548640" y="3741725"/>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يَرْسُبُ فِي</a:t>
            </a:r>
            <a:endParaRPr lang="ar-SA" sz="22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VIII</a:t>
            </a:r>
            <a:endParaRPr lang="en-US" sz="1100" dirty="0"/>
          </a:p>
        </p:txBody>
      </p:sp>
      <p:sp>
        <p:nvSpPr>
          <p:cNvPr id="45" name="Text 42"/>
          <p:cNvSpPr txBox="1"/>
          <p:nvPr/>
        </p:nvSpPr>
        <p:spPr>
          <a:xfrm>
            <a:off x="7680960" y="4478731"/>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يَلْتَحِقُونَ</a:t>
            </a:r>
            <a:endParaRPr lang="ar-SA" sz="2200" dirty="0"/>
          </a:p>
        </p:txBody>
      </p:sp>
      <p:sp>
        <p:nvSpPr>
          <p:cNvPr id="46" name="Text 43"/>
          <p:cNvSpPr txBox="1"/>
          <p:nvPr/>
        </p:nvSpPr>
        <p:spPr>
          <a:xfrm>
            <a:off x="5212080" y="4478731"/>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الْتَحَقَتْ</a:t>
            </a:r>
            <a:endParaRPr lang="ar-SA" sz="2200" dirty="0"/>
          </a:p>
        </p:txBody>
      </p:sp>
      <p:sp>
        <p:nvSpPr>
          <p:cNvPr id="47" name="Text 44"/>
          <p:cNvSpPr txBox="1"/>
          <p:nvPr/>
        </p:nvSpPr>
        <p:spPr>
          <a:xfrm>
            <a:off x="2834640" y="4478731"/>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الْتَحَقْتُ</a:t>
            </a:r>
            <a:endParaRPr lang="ar-SA" sz="2200" dirty="0"/>
          </a:p>
        </p:txBody>
      </p:sp>
      <p:sp>
        <p:nvSpPr>
          <p:cNvPr id="48" name="Text 45"/>
          <p:cNvSpPr txBox="1"/>
          <p:nvPr/>
        </p:nvSpPr>
        <p:spPr>
          <a:xfrm>
            <a:off x="548640" y="4478731"/>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يَلْتَحِقُ بِـ</a:t>
            </a:r>
            <a:endParaRPr lang="ar-SA" sz="2200" dirty="0"/>
          </a:p>
        </p:txBody>
      </p:sp>
      <p:sp>
        <p:nvSpPr>
          <p:cNvPr id="49" name="Shape 4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I</a:t>
            </a:r>
            <a:endParaRPr lang="en-US" sz="1100" dirty="0"/>
          </a:p>
        </p:txBody>
      </p:sp>
      <p:sp>
        <p:nvSpPr>
          <p:cNvPr id="53" name="Text 50"/>
          <p:cNvSpPr txBox="1"/>
          <p:nvPr/>
        </p:nvSpPr>
        <p:spPr>
          <a:xfrm>
            <a:off x="7680960" y="521573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يَحْصُلُونَ</a:t>
            </a:r>
            <a:endParaRPr lang="ar-SA" sz="2200" dirty="0"/>
          </a:p>
        </p:txBody>
      </p:sp>
      <p:sp>
        <p:nvSpPr>
          <p:cNvPr id="54" name="Text 51"/>
          <p:cNvSpPr txBox="1"/>
          <p:nvPr/>
        </p:nvSpPr>
        <p:spPr>
          <a:xfrm>
            <a:off x="5212080" y="5215738"/>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حَصَلَتْ</a:t>
            </a:r>
            <a:endParaRPr lang="ar-SA" sz="2200" dirty="0"/>
          </a:p>
        </p:txBody>
      </p:sp>
      <p:sp>
        <p:nvSpPr>
          <p:cNvPr id="55" name="Text 52"/>
          <p:cNvSpPr txBox="1"/>
          <p:nvPr/>
        </p:nvSpPr>
        <p:spPr>
          <a:xfrm>
            <a:off x="2834640" y="521573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حَصَلْتُ</a:t>
            </a:r>
            <a:endParaRPr lang="ar-SA" sz="2200" dirty="0"/>
          </a:p>
        </p:txBody>
      </p:sp>
      <p:sp>
        <p:nvSpPr>
          <p:cNvPr id="56" name="Text 53"/>
          <p:cNvSpPr txBox="1"/>
          <p:nvPr/>
        </p:nvSpPr>
        <p:spPr>
          <a:xfrm>
            <a:off x="548640" y="5215738"/>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يَحْصُلُ عَلَى</a:t>
            </a:r>
            <a:endParaRPr lang="ar-SA" sz="22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Same hollow rule as zidtu and nimtu (earlier work): ijtāza → ijtaztu — the long ā shortens before -tu.</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52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3 · FORMAL CONTRAST (WEBSITE RULE 3)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Set one system against another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بَيْنَمَا · فِي حِينِ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WHILE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34" charset="0"/>
                <a:ea typeface="Amiri" pitchFamily="34" charset="-122"/>
                <a:cs typeface="Amiri" pitchFamily="34" charset="-120"/>
              </a:rPr>
              <a:t>بَيْنَمَا</a:t>
            </a:r>
            <a:pPr algn="l" indent="0" marL="0">
              <a:buNone/>
            </a:pPr>
            <a:r>
              <a:rPr lang="en-US" sz="1600" b="1" dirty="0">
                <a:solidFill>
                  <a:srgbClr val="8A6D1E"/>
                </a:solidFill>
                <a:latin typeface="Calibri" pitchFamily="34" charset="0"/>
                <a:ea typeface="Calibri" pitchFamily="34" charset="-122"/>
                <a:cs typeface="Calibri" pitchFamily="34" charset="-120"/>
              </a:rPr>
              <a:t> + verb</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بَيْنَمَا يَدُومُ التَّعْلِيمُ الثَّانَوِيُّ ثَلَاثَ سَنَوَاتٍ هُنَا، يَمْتَدُّ هُنَاكَ أَكْثَرَ.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While secondary school lasts three years here, it lasts longer there.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clauses.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WHEREAS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algn="l" indent="0" marL="0">
              <a:buNone/>
            </a:pPr>
            <a:r>
              <a:rPr lang="ar-SA" altLang="en-US" sz="1650" b="1" dirty="0">
                <a:solidFill>
                  <a:srgbClr val="8A6D1E"/>
                </a:solidFill>
                <a:latin typeface="Amiri" pitchFamily="34" charset="0"/>
                <a:ea typeface="Amiri" pitchFamily="34" charset="-122"/>
                <a:cs typeface="Amiri" pitchFamily="34" charset="-120"/>
              </a:rPr>
              <a:t>فِي حِينِ أَنَّ</a:t>
            </a:r>
            <a:pPr algn="l" indent="0" marL="0">
              <a:buNone/>
            </a:pPr>
            <a:r>
              <a:rPr lang="en-US" sz="1250" b="1" dirty="0">
                <a:solidFill>
                  <a:srgbClr val="8A6D1E"/>
                </a:solidFill>
                <a:latin typeface="Calibri" pitchFamily="34" charset="0"/>
                <a:ea typeface="Calibri" pitchFamily="34" charset="-122"/>
                <a:cs typeface="Calibri" pitchFamily="34" charset="-120"/>
              </a:rPr>
              <a:t> + noun (-a)</a:t>
            </a:r>
            <a:endParaRPr lang="en-US" sz="12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يَعْتَمِدُ نِظَامٌ عَلَى الامْتِحَانِ، فِي حِينِ أَنَّ نِظَامًا آخَرَ يَعْتَمِدُ عَلَى المَشَارِيعِ.</a:t>
            </a:r>
            <a:endParaRPr lang="ar-SA" sz="20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system relies on the exam, whereas another relies on projects.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 →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145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IN CONTRAST · STRETCH</a:t>
            </a:r>
            <a:endParaRPr lang="en-US" sz="850" dirty="0"/>
          </a:p>
        </p:txBody>
      </p:sp>
      <p:sp>
        <p:nvSpPr>
          <p:cNvPr id="34" name="Text 31"/>
          <p:cNvSpPr txBox="1"/>
          <p:nvPr/>
        </p:nvSpPr>
        <p:spPr>
          <a:xfrm>
            <a:off x="2354580"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المُقَابِلِ،</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فِي المُقَابِلِ، يَخْتَلِفُ النِّظَامُ فِي بَعْضِ الدُّوَلِ العَرَبِيَّةِ.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contrast, the system differs in some Arab countries.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Starts a sentence.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quiz: compare, don’t list — chained wa adds nothing.</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بَيْنَمَا يَعْتَمِدُ الأَوَّلُ عَلَى الامْتِحَانِ، يَعْتَمِدُ الثَّانِي عَلَى المَشَارِيعِ</a:t>
            </a:r>
            <a:endParaRPr lang="ar-SA" sz="14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الأَوَّلُ جَيِّدٌ وَالثَّانِي جَيِّدٌ</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52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WHAT MAKES A SYSTEM DISTINCTIVE (WEBSITE RULE 4 + READING)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Distinguished by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يَتَمَيَّزُ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131552" y="1810512"/>
            <a:ext cx="1527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7" name="Text 14"/>
          <p:cNvSpPr txBox="1"/>
          <p:nvPr/>
        </p:nvSpPr>
        <p:spPr>
          <a:xfrm>
            <a:off x="318211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a:t>
            </a:r>
            <a:endParaRPr lang="en-US" sz="1100" dirty="0"/>
          </a:p>
        </p:txBody>
      </p:sp>
      <p:sp>
        <p:nvSpPr>
          <p:cNvPr id="18" name="Text 15"/>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Feature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10168128" y="2267712"/>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 + gen.</a:t>
            </a:r>
            <a:endParaRPr lang="en-US" sz="1100" dirty="0"/>
          </a:p>
        </p:txBody>
      </p:sp>
      <p:sp>
        <p:nvSpPr>
          <p:cNvPr id="21" name="Text 18"/>
          <p:cNvSpPr txBox="1"/>
          <p:nvPr/>
        </p:nvSpPr>
        <p:spPr>
          <a:xfrm>
            <a:off x="3200400" y="2267712"/>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يَتَمَيَّزُ النِّظَامُ </a:t>
            </a:r>
            <a:pPr rtl="1" algn="ctr" indent="0" marL="0">
              <a:buNone/>
            </a:pPr>
            <a:r>
              <a:rPr lang="ar-SA" altLang="en-US" sz="2000" b="1" dirty="0">
                <a:solidFill>
                  <a:srgbClr val="0E7C86"/>
                </a:solidFill>
                <a:latin typeface="Amiri" pitchFamily="34" charset="0"/>
                <a:ea typeface="Amiri" pitchFamily="34" charset="-122"/>
                <a:cs typeface="Amiri" pitchFamily="34" charset="-120"/>
              </a:rPr>
              <a:t>بِمُرُونَةِ</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المَوَادِّ الاخْتِيَارِيَّةِ.</a:t>
            </a:r>
            <a:endParaRPr lang="ar-SA" sz="2000" dirty="0"/>
          </a:p>
        </p:txBody>
      </p:sp>
      <p:sp>
        <p:nvSpPr>
          <p:cNvPr id="22" name="Text 19"/>
          <p:cNvSpPr txBox="1"/>
          <p:nvPr/>
        </p:nvSpPr>
        <p:spPr>
          <a:xfrm>
            <a:off x="566928" y="2267712"/>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flexible subjects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10168128" y="300471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features</a:t>
            </a:r>
            <a:endParaRPr lang="en-US" sz="1100" dirty="0"/>
          </a:p>
        </p:txBody>
      </p:sp>
      <p:sp>
        <p:nvSpPr>
          <p:cNvPr id="27" name="Text 24"/>
          <p:cNvSpPr txBox="1"/>
          <p:nvPr/>
        </p:nvSpPr>
        <p:spPr>
          <a:xfrm>
            <a:off x="3200400" y="3004718"/>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يَتَمَيَّزُ نِظَامٌ جَيِّدٌ </a:t>
            </a:r>
            <a:pPr rtl="1" algn="ctr" indent="0" marL="0">
              <a:buNone/>
            </a:pPr>
            <a:r>
              <a:rPr lang="ar-SA" altLang="en-US" sz="2000" b="1" dirty="0">
                <a:solidFill>
                  <a:srgbClr val="0E7C86"/>
                </a:solidFill>
                <a:latin typeface="Amiri" pitchFamily="34" charset="0"/>
                <a:ea typeface="Amiri" pitchFamily="34" charset="-122"/>
                <a:cs typeface="Amiri" pitchFamily="34" charset="-120"/>
              </a:rPr>
              <a:t>بِتَوَازُنٍ</a:t>
            </a:r>
            <a:pPr rtl="1" algn="ctr" indent="0" marL="0">
              <a:buNone/>
            </a:pPr>
            <a:r>
              <a:rPr lang="ar-SA" altLang="en-US" sz="2000" b="1" dirty="0">
                <a:solidFill>
                  <a:srgbClr val="1B3B6F"/>
                </a:solidFill>
                <a:latin typeface="Amiri" pitchFamily="34" charset="0"/>
                <a:ea typeface="Amiri" pitchFamily="34" charset="-122"/>
                <a:cs typeface="Amiri" pitchFamily="34" charset="-120"/>
              </a:rPr>
              <a:t> بَيْنَ المَوَادِّ </a:t>
            </a:r>
            <a:pPr rtl="1" algn="ctr" indent="0" marL="0">
              <a:buNone/>
            </a:pPr>
            <a:r>
              <a:rPr lang="ar-SA" altLang="en-US" sz="2000" b="1" dirty="0">
                <a:solidFill>
                  <a:srgbClr val="0E7C86"/>
                </a:solidFill>
                <a:latin typeface="Amiri" pitchFamily="34" charset="0"/>
                <a:ea typeface="Amiri" pitchFamily="34" charset="-122"/>
                <a:cs typeface="Amiri" pitchFamily="34" charset="-120"/>
              </a:rPr>
              <a:t>وَبِنِظَامِ</a:t>
            </a:r>
            <a:pPr rtl="1" algn="ctr" indent="0" marL="0">
              <a:buNone/>
            </a:pPr>
            <a:r>
              <a:rPr lang="ar-SA" altLang="en-US" sz="2000" b="1" dirty="0">
                <a:solidFill>
                  <a:srgbClr val="1B3B6F"/>
                </a:solidFill>
                <a:latin typeface="Amiri" pitchFamily="34" charset="0"/>
                <a:ea typeface="Amiri" pitchFamily="34" charset="-122"/>
                <a:cs typeface="Amiri" pitchFamily="34" charset="-120"/>
              </a:rPr>
              <a:t> تَقْيِيمٍ عَادِلٍ.</a:t>
            </a:r>
            <a:endParaRPr lang="ar-SA" sz="2000" dirty="0"/>
          </a:p>
        </p:txBody>
      </p:sp>
      <p:sp>
        <p:nvSpPr>
          <p:cNvPr id="28" name="Text 25"/>
          <p:cNvSpPr txBox="1"/>
          <p:nvPr/>
        </p:nvSpPr>
        <p:spPr>
          <a:xfrm>
            <a:off x="566928" y="300471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balance + fair assessment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10168128" y="3741725"/>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a:t>
            </a:r>
            <a:endParaRPr lang="en-US" sz="1100" dirty="0"/>
          </a:p>
        </p:txBody>
      </p:sp>
      <p:sp>
        <p:nvSpPr>
          <p:cNvPr id="33" name="Text 30"/>
          <p:cNvSpPr txBox="1"/>
          <p:nvPr/>
        </p:nvSpPr>
        <p:spPr>
          <a:xfrm>
            <a:off x="3200400" y="3741725"/>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تَتَمَيَّزُ</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المَنْظُومَةُ </a:t>
            </a:r>
            <a:pPr rtl="1" algn="ctr" indent="0" marL="0">
              <a:buNone/>
            </a:pPr>
            <a:r>
              <a:rPr lang="ar-SA" altLang="en-US" sz="2000" b="1" dirty="0">
                <a:solidFill>
                  <a:srgbClr val="0E7C86"/>
                </a:solidFill>
                <a:latin typeface="Amiri" pitchFamily="34" charset="0"/>
                <a:ea typeface="Amiri" pitchFamily="34" charset="-122"/>
                <a:cs typeface="Amiri" pitchFamily="34" charset="-120"/>
              </a:rPr>
              <a:t>بِمَرَاحِلَ</a:t>
            </a:r>
            <a:pPr rtl="1" algn="ctr" indent="0" marL="0">
              <a:buNone/>
            </a:pPr>
            <a:r>
              <a:rPr lang="ar-SA" altLang="en-US" sz="2000" b="1" dirty="0">
                <a:solidFill>
                  <a:srgbClr val="1B3B6F"/>
                </a:solidFill>
                <a:latin typeface="Amiri" pitchFamily="34" charset="0"/>
                <a:ea typeface="Amiri" pitchFamily="34" charset="-122"/>
                <a:cs typeface="Amiri" pitchFamily="34" charset="-120"/>
              </a:rPr>
              <a:t> وَاضِحَةٍ.</a:t>
            </a:r>
            <a:endParaRPr lang="ar-SA" sz="2000" dirty="0"/>
          </a:p>
        </p:txBody>
      </p:sp>
      <p:sp>
        <p:nvSpPr>
          <p:cNvPr id="34" name="Text 31"/>
          <p:cNvSpPr txBox="1"/>
          <p:nvPr/>
        </p:nvSpPr>
        <p:spPr>
          <a:xfrm>
            <a:off x="566928" y="3741725"/>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she-subject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10168128" y="4478731"/>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fair contrast</a:t>
            </a:r>
            <a:endParaRPr lang="en-US" sz="1100" dirty="0"/>
          </a:p>
        </p:txBody>
      </p:sp>
      <p:sp>
        <p:nvSpPr>
          <p:cNvPr id="37" name="Text 34"/>
          <p:cNvSpPr txBox="1"/>
          <p:nvPr/>
        </p:nvSpPr>
        <p:spPr>
          <a:xfrm>
            <a:off x="3200400" y="4478731"/>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يَلْتَحِقُ المُتَفَوِّقُونَ بِالجَامِعَاتِ، </a:t>
            </a:r>
            <a:pPr rtl="1" algn="ctr" indent="0" marL="0">
              <a:buNone/>
            </a:pPr>
            <a:r>
              <a:rPr lang="ar-SA" altLang="en-US" sz="2000" b="1" dirty="0">
                <a:solidFill>
                  <a:srgbClr val="D6336C"/>
                </a:solidFill>
                <a:latin typeface="Amiri" pitchFamily="34" charset="0"/>
                <a:ea typeface="Amiri" pitchFamily="34" charset="-122"/>
                <a:cs typeface="Amiri" pitchFamily="34" charset="-120"/>
              </a:rPr>
              <a:t>بَيْنَمَا</a:t>
            </a:r>
            <a:pPr rtl="1" algn="ctr" indent="0" marL="0">
              <a:buNone/>
            </a:pPr>
            <a:r>
              <a:rPr lang="ar-SA" altLang="en-US" sz="2000" b="1" dirty="0">
                <a:solidFill>
                  <a:srgbClr val="1B3B6F"/>
                </a:solidFill>
                <a:latin typeface="Amiri" pitchFamily="34" charset="0"/>
                <a:ea typeface="Amiri" pitchFamily="34" charset="-122"/>
                <a:cs typeface="Amiri" pitchFamily="34" charset="-120"/>
              </a:rPr>
              <a:t> يَخْتَارُ آخَرُونَ التَّدْرِيبَ المِهَنِيَّ.</a:t>
            </a:r>
            <a:endParaRPr lang="ar-SA" sz="2000" dirty="0"/>
          </a:p>
        </p:txBody>
      </p:sp>
      <p:sp>
        <p:nvSpPr>
          <p:cNvPr id="38" name="Text 35"/>
          <p:cNvSpPr txBox="1"/>
          <p:nvPr/>
        </p:nvSpPr>
        <p:spPr>
          <a:xfrm>
            <a:off x="566928" y="4478731"/>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paths respected</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10168128" y="521573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P1-L03 (website)</a:t>
            </a:r>
            <a:endParaRPr lang="en-US" sz="1100" dirty="0"/>
          </a:p>
        </p:txBody>
      </p:sp>
      <p:sp>
        <p:nvSpPr>
          <p:cNvPr id="41" name="Text 38"/>
          <p:cNvSpPr txBox="1"/>
          <p:nvPr/>
        </p:nvSpPr>
        <p:spPr>
          <a:xfrm>
            <a:off x="3200400" y="5215738"/>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إِذَا رَكَّزَتِ</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المَنْظُومَةُ عَلَى التَّفْكِيرِ، </a:t>
            </a:r>
            <a:pPr rtl="1" algn="ctr" indent="0" marL="0">
              <a:buNone/>
            </a:pPr>
            <a:r>
              <a:rPr lang="ar-SA" altLang="en-US" sz="2000" b="1" dirty="0">
                <a:solidFill>
                  <a:srgbClr val="7B3FA0"/>
                </a:solidFill>
                <a:latin typeface="Amiri" pitchFamily="34" charset="0"/>
                <a:ea typeface="Amiri" pitchFamily="34" charset="-122"/>
                <a:cs typeface="Amiri" pitchFamily="34" charset="-120"/>
              </a:rPr>
              <a:t>فَسَيَزْدَادُ</a:t>
            </a:r>
            <a:pPr rtl="1" algn="ctr" indent="0" marL="0">
              <a:buNone/>
            </a:pPr>
            <a:r>
              <a:rPr lang="ar-SA" altLang="en-US" sz="2000" b="1" dirty="0">
                <a:solidFill>
                  <a:srgbClr val="1B3B6F"/>
                </a:solidFill>
                <a:latin typeface="Amiri" pitchFamily="34" charset="0"/>
                <a:ea typeface="Amiri" pitchFamily="34" charset="-122"/>
                <a:cs typeface="Amiri" pitchFamily="34" charset="-120"/>
              </a:rPr>
              <a:t> إِبْدَاعُ الطُّلَّابِ.</a:t>
            </a:r>
            <a:endParaRPr lang="ar-SA" sz="2000" dirty="0"/>
          </a:p>
        </p:txBody>
      </p:sp>
      <p:sp>
        <p:nvSpPr>
          <p:cNvPr id="42" name="Text 39"/>
          <p:cNvSpPr txBox="1"/>
          <p:nvPr/>
        </p:nvSpPr>
        <p:spPr>
          <a:xfrm>
            <a:off x="566928" y="521573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conditional close</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yatamayyaz takes bi-, never fī — yatamayyaz al-niẓām bi-l-murūna.</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52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Academic verbs and formal comparison</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الأَفْعَالُ الأَكَادِيمِيَّةُ وَالمُقَارَنَةُ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Exam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yajtāz + object · yarsub fī · yatafawwaq fī</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يَجْتَازُ الطُّلَّابُ الامْتِحَانَ   ·   يَتَفَوَّقُ فِي العُلُومِ وَيَرْسُبُ زَمِيلُهُ فِي المَادَّةِ نَفْسِهَا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Enrolment and attainment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yaltaḥiq bi- · yaḥṣul ʿalā</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يَلْتَحِقُ بِالجَامِعَةِ بَعْدَ الثَّانَوِيَّةِ   ·   يَحْصُلُ عَلَى شَهَادَةٍ مُعْتَمَدَةٍ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Formal contrast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baynamā · fī ḥīni anna · fī al-muqābil</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بَيْنَمَا يَدُومُ التَّعْلِيمُ الثَّانَوِيُّ ثَلَاثَ سَنَوَاتٍ، يَمْتَدُّ فِي غَيْرِهَا أَكْثَرَ   ·   فِي حِينِ أَنَّ النِّظَامَ الأَوَّلَ يَعْتَمِدُ عَلَى الامْتِحَانِ، يَعْتَمِدُ الثَّانِي عَلَى المَشَارِيعِ</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Distinguishing feature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yatamayyaz bi-</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يَتَمَيَّزُ النِّظَامُ بِمُرُونَةِ المَوَادِّ الاخْتِيَارِيَّةِ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52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يَجْتَازُ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يَجْتَازُ الطَّالِبُ فِي الامْتِحَانِ.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يَجْتَازُ الطَّالِبُ بِالامْتِحَانِ.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يَجْتَازُ الطَّالِبُ الامْتِحَانَ.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يَتَفَوَّقُ الطَّالِبُ ___ الرِّيَاضِيَّاتِ.</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يَلْتَحِقُ الطَّالِبُ ___ الجَامِعَةِ.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contrast connector?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حِينِ أَنَّ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52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يَجْتَازُ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يَجْتَازُ الطَّالِبُ فِي الامْتِحَانِ.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يَجْتَازُ الطَّالِبُ بِالامْتِحَانِ.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يَجْتَازُ الطَّالِبُ الامْتِحَانَ.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يَجْتَازُ</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يَتَفَوَّقُ الطَّالِبُ ___ الرِّيَاضِيَّاتِ.</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يَتَفَوَّقُ</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يَلْتَحِقُ الطَّالِبُ ___ الجَامِعَةِ.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يَلْتَحِقُ</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contrast connector?</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حِينِ أَنَّ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حِينِ أَنَّ</a:t>
            </a:r>
            <a:pPr algn="l" indent="0" marL="0">
              <a:buNone/>
            </a:pPr>
            <a:r>
              <a:rPr lang="en-US" sz="1050" i="1" dirty="0">
                <a:solidFill>
                  <a:srgbClr val="8A6D1E"/>
                </a:solidFill>
                <a:latin typeface="Calibri" pitchFamily="34" charset="0"/>
                <a:ea typeface="Calibri" pitchFamily="34" charset="-122"/>
                <a:cs typeface="Calibri" pitchFamily="34" charset="-120"/>
              </a:rPr>
              <a:t> sets one system against another.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52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compare two systems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Stages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يَتَكَوَّنُ النِّظَامُ مِنْ ثَلَاثِ مَرَاحِلَ</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Describe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يَجْتَازُ</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الطُّلَّابُ الامْتِحَانَاتِ ·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يَتَفَوَّقُ</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بَعْضُهُمْ</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Complements.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0E7C86"/>
                </a:solidFill>
                <a:latin typeface="Amiri" pitchFamily="34" charset="0"/>
                <a:ea typeface="Amiri" pitchFamily="34" charset="-122"/>
                <a:cs typeface="Amiri" pitchFamily="34" charset="-120"/>
              </a:rPr>
              <a:t>فِي المُقَابِلِ</a:t>
            </a:r>
            <a:pPr rtl="1" algn="ctr" indent="0" marL="0">
              <a:buNone/>
            </a:pPr>
            <a:r>
              <a:rPr lang="ar-SA" altLang="en-US" sz="2550" b="1" dirty="0">
                <a:solidFill>
                  <a:srgbClr val="1B3B6F"/>
                </a:solidFill>
                <a:latin typeface="Amiri" pitchFamily="34" charset="0"/>
                <a:ea typeface="Amiri" pitchFamily="34" charset="-122"/>
                <a:cs typeface="Amiri" pitchFamily="34" charset="-120"/>
              </a:rPr>
              <a:t>، </a:t>
            </a:r>
            <a:pPr rtl="1" algn="ctr" indent="0" marL="0">
              <a:buNone/>
            </a:pPr>
            <a:r>
              <a:rPr lang="ar-SA" altLang="en-US" sz="2550" b="1" dirty="0">
                <a:solidFill>
                  <a:srgbClr val="0E7C86"/>
                </a:solidFill>
                <a:latin typeface="Amiri" pitchFamily="34" charset="0"/>
                <a:ea typeface="Amiri" pitchFamily="34" charset="-122"/>
                <a:cs typeface="Amiri" pitchFamily="34" charset="-120"/>
              </a:rPr>
              <a:t>بَيْنَمَا</a:t>
            </a:r>
            <a:pPr rtl="1" algn="ctr" indent="0" marL="0">
              <a:buNone/>
            </a:pPr>
            <a:r>
              <a:rPr lang="ar-SA" altLang="en-US" sz="2550" b="1" dirty="0">
                <a:solidFill>
                  <a:srgbClr val="1B3B6F"/>
                </a:solidFill>
                <a:latin typeface="Amiri" pitchFamily="34" charset="0"/>
                <a:ea typeface="Amiri" pitchFamily="34" charset="-122"/>
                <a:cs typeface="Amiri" pitchFamily="34" charset="-120"/>
              </a:rPr>
              <a:t> …</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Set against.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Feature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34" charset="0"/>
                <a:ea typeface="Amiri" pitchFamily="34" charset="-122"/>
                <a:cs typeface="Amiri" pitchFamily="34" charset="-120"/>
              </a:rPr>
              <a:t>يَتَمَيَّزُ</a:t>
            </a:r>
            <a:pPr rtl="1" algn="ctr" indent="0" marL="0">
              <a:buNone/>
            </a:pPr>
            <a:r>
              <a:rPr lang="ar-SA" altLang="en-US" sz="2400" b="1" dirty="0">
                <a:solidFill>
                  <a:srgbClr val="1B3B6F"/>
                </a:solidFill>
                <a:latin typeface="Amiri" pitchFamily="34" charset="0"/>
                <a:ea typeface="Amiri" pitchFamily="34" charset="-122"/>
                <a:cs typeface="Amiri" pitchFamily="34" charset="-120"/>
              </a:rPr>
              <a:t> كُلُّ نِظَامٍ </a:t>
            </a:r>
            <a:pPr rtl="1" algn="ctr" indent="0" marL="0">
              <a:buNone/>
            </a:pPr>
            <a:r>
              <a:rPr lang="ar-SA" altLang="en-US" sz="2400" b="1" dirty="0">
                <a:solidFill>
                  <a:srgbClr val="7B3FA0"/>
                </a:solidFill>
                <a:latin typeface="Amiri" pitchFamily="34" charset="0"/>
                <a:ea typeface="Amiri" pitchFamily="34" charset="-122"/>
                <a:cs typeface="Amiri" pitchFamily="34" charset="-120"/>
              </a:rPr>
              <a:t>بِتَوَازُنٍ</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OBJECT VERB</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FĪ VERB</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FEATURE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يَتَكَوَّنُ النِّظَامُ التَّعْلِيمِيُّ البِرِيطَانِيُّ مِنْ ثَلَاثِ مَرَاحِلَ،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وَيَجْتَازُ</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الطُّلَّابُ امْتِحَانَاتِ الشَّهَادَةِ فِي سِنِّ السَّادِسَةَ عَشْرَةَ،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وَيَتَفَوَّقُ</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بَعْضُهُمْ فَيَلْتَحِقُونَ بِالجَامِعَاتِ.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 المُقَابِلِ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يَخْتَلِفُ النِّظَامُ فِي بَعْضِ الدُّوَلِ العَرَبِيَّةِ؛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فَبَيْنَمَا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يَدُومُ التَّعْلِيمُ الثَّانَوِيُّ ثَلَاثَ سَنَوَاتٍ فِي بَلَدٍ، يَمْتَدُّ فِي غَيْرِهِ أَكْثَرَ.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وَيَتَمَيَّزُ</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كُلُّ نِظَامٍ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بِتَوَازُنٍ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بَيْنَ المَوَادِّ.</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ea typeface="Calibri" pitchFamily="34" charset="-122"/>
                <a:cs typeface="Calibri" pitchFamily="34" charset="-120"/>
              </a:rPr>
              <a:t>The British education system consists of three stages; students pass the certificate exams at sixteen, and some excel and go on to university. In contrast, the system differs in some Arab countries: while secondary education lasts three years in one country, it lasts longer in another. Each system is distinguished by a balance between subjects.</a:t>
            </a:r>
            <a:endParaRPr lang="en-US" sz="10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52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يَجْتَازُ الطُّلَّابُ الامْتِحَانَ فِي سِنِّ السَّادِسَةَ عَشْرَةَ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students pass the exam at sixteen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يَجْتَازُ takes a direct object.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يَتَفَوَّقُ فِي العُلُومِ وَيَلْتَحِقُ بِالجَامِعَةِ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excels in science and enrols at university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فِي with يَتَفَوَّقُ, بِـ with يَلْتَحِقُ.</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بَيْنَمَا يَعْتَمِدُ النِّظَامُ الأَوَّلُ عَلَى الامْتِحَانِ، يَعْتَمِدُ الثَّانِي عَلَى المَشَارِيعِ</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while the first system relies on exams, the second relies on projects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formal comparison, not a list.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52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“EDUCATION JOURNEY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Match the education route to the sentence</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رِحْلَةُ التَّعْلِيمِ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school → university</a:t>
            </a:r>
            <a:endParaRPr lang="en-US" sz="1100" dirty="0"/>
          </a:p>
        </p:txBody>
      </p:sp>
      <p:sp>
        <p:nvSpPr>
          <p:cNvPr id="27" name="Shape 21"/>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3"/>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0" name="Shape 24"/>
          <p:cNvSpPr/>
          <p:nvPr/>
        </p:nvSpPr>
        <p:spPr>
          <a:xfrm>
            <a:off x="439826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4581144" y="2249424"/>
            <a:ext cx="649224" cy="649224"/>
          </a:xfrm>
          <a:prstGeom prst="rect">
            <a:avLst/>
          </a:prstGeom>
        </p:spPr>
      </p:pic>
      <p:sp>
        <p:nvSpPr>
          <p:cNvPr id="32"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5769864" y="2249424"/>
            <a:ext cx="649224" cy="649224"/>
          </a:xfrm>
          <a:prstGeom prst="rect">
            <a:avLst/>
          </a:prstGeom>
        </p:spPr>
      </p:pic>
      <p:sp>
        <p:nvSpPr>
          <p:cNvPr id="34" name="Shape 26"/>
          <p:cNvSpPr/>
          <p:nvPr/>
        </p:nvSpPr>
        <p:spPr>
          <a:xfrm>
            <a:off x="6775704" y="2066544"/>
            <a:ext cx="1014984" cy="1014984"/>
          </a:xfrm>
          <a:prstGeom prst="ellipse">
            <a:avLst/>
          </a:prstGeom>
          <a:solidFill>
            <a:srgbClr val="F4F1EA"/>
          </a:solidFill>
          <a:ln w="12700">
            <a:solidFill>
              <a:srgbClr val="F4F1EA"/>
            </a:solidFill>
            <a:prstDash val="solid"/>
          </a:ln>
        </p:spPr>
      </p:sp>
      <p:pic>
        <p:nvPicPr>
          <p:cNvPr id="35" name="Image 5" descr="preencoded.png">    </p:cNvPr>
          <p:cNvPicPr>
            <a:picLocks noChangeAspect="1"/>
          </p:cNvPicPr>
          <p:nvPr/>
        </p:nvPicPr>
        <p:blipFill>
          <a:blip r:embed="rId6"/>
          <a:stretch>
            <a:fillRect/>
          </a:stretch>
        </p:blipFill>
        <p:spPr>
          <a:xfrm>
            <a:off x="6958584" y="2249424"/>
            <a:ext cx="649224" cy="649224"/>
          </a:xfrm>
          <a:prstGeom prst="rect">
            <a:avLst/>
          </a:prstGeom>
        </p:spPr>
      </p:pic>
      <p:sp>
        <p:nvSpPr>
          <p:cNvPr id="36"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primary → secondary</a:t>
            </a:r>
            <a:endParaRPr lang="en-US" sz="1100" dirty="0"/>
          </a:p>
        </p:txBody>
      </p:sp>
      <p:sp>
        <p:nvSpPr>
          <p:cNvPr id="37" name="Shape 28"/>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29"/>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0"/>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1"/>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1356360" y="2249424"/>
            <a:ext cx="649224" cy="649224"/>
          </a:xfrm>
          <a:prstGeom prst="rect">
            <a:avLst/>
          </a:prstGeom>
        </p:spPr>
      </p:pic>
      <p:sp>
        <p:nvSpPr>
          <p:cNvPr id="42" name="Shape 32"/>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7" descr="preencoded.png">    </p:cNvPr>
          <p:cNvPicPr>
            <a:picLocks noChangeAspect="1"/>
          </p:cNvPicPr>
          <p:nvPr/>
        </p:nvPicPr>
        <p:blipFill>
          <a:blip r:embed="rId8"/>
          <a:stretch>
            <a:fillRect/>
          </a:stretch>
        </p:blipFill>
        <p:spPr>
          <a:xfrm>
            <a:off x="2545080" y="2249424"/>
            <a:ext cx="649224" cy="649224"/>
          </a:xfrm>
          <a:prstGeom prst="rect">
            <a:avLst/>
          </a:prstGeom>
        </p:spPr>
      </p:pic>
      <p:sp>
        <p:nvSpPr>
          <p:cNvPr id="44" name="Text 33"/>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 → certificate</a:t>
            </a:r>
            <a:endParaRPr lang="en-US" sz="1100" dirty="0"/>
          </a:p>
        </p:txBody>
      </p:sp>
      <p:sp>
        <p:nvSpPr>
          <p:cNvPr id="45" name="Shape 34"/>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6" name="Shape 35"/>
          <p:cNvSpPr/>
          <p:nvPr/>
        </p:nvSpPr>
        <p:spPr>
          <a:xfrm>
            <a:off x="11247120" y="3831336"/>
            <a:ext cx="292608" cy="292608"/>
          </a:xfrm>
          <a:prstGeom prst="ellipse">
            <a:avLst/>
          </a:prstGeom>
          <a:solidFill>
            <a:srgbClr val="2F6FB0"/>
          </a:solidFill>
          <a:ln w="12700">
            <a:solidFill>
              <a:srgbClr val="2F6FB0"/>
            </a:solidFill>
            <a:prstDash val="solid"/>
          </a:ln>
        </p:spPr>
      </p:sp>
      <p:sp>
        <p:nvSpPr>
          <p:cNvPr id="47" name="Text 36"/>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8" name="Text 37"/>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اَلتَّعْلِيمُ الِابْتِدَائِيُّ يَسْبِقُ التَّعْلِيمَ الثَّانَوِيَّ.</a:t>
            </a:r>
            <a:endParaRPr lang="ar-SA" sz="2000" dirty="0"/>
          </a:p>
        </p:txBody>
      </p:sp>
      <p:sp>
        <p:nvSpPr>
          <p:cNvPr id="49" name="Shape 38"/>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50" name="Shape 39"/>
          <p:cNvSpPr/>
          <p:nvPr/>
        </p:nvSpPr>
        <p:spPr>
          <a:xfrm>
            <a:off x="11247120" y="4398264"/>
            <a:ext cx="292608" cy="292608"/>
          </a:xfrm>
          <a:prstGeom prst="ellipse">
            <a:avLst/>
          </a:prstGeom>
          <a:solidFill>
            <a:srgbClr val="2F6FB0"/>
          </a:solidFill>
          <a:ln w="12700">
            <a:solidFill>
              <a:srgbClr val="2F6FB0"/>
            </a:solidFill>
            <a:prstDash val="solid"/>
          </a:ln>
        </p:spPr>
      </p:sp>
      <p:sp>
        <p:nvSpPr>
          <p:cNvPr id="51" name="Text 40"/>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52" name="Text 41"/>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الدِّرَاسَةِ يَحْصُلُ الطَّالِبُ عَلَى مُؤَهِّلٍ.</a:t>
            </a:r>
            <a:endParaRPr lang="ar-SA" sz="2000" dirty="0"/>
          </a:p>
        </p:txBody>
      </p:sp>
      <p:sp>
        <p:nvSpPr>
          <p:cNvPr id="53" name="Shape 42"/>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4" name="Shape 43"/>
          <p:cNvSpPr/>
          <p:nvPr/>
        </p:nvSpPr>
        <p:spPr>
          <a:xfrm>
            <a:off x="11247120" y="4965192"/>
            <a:ext cx="292608" cy="292608"/>
          </a:xfrm>
          <a:prstGeom prst="ellipse">
            <a:avLst/>
          </a:prstGeom>
          <a:solidFill>
            <a:srgbClr val="2F6FB0"/>
          </a:solidFill>
          <a:ln w="12700">
            <a:solidFill>
              <a:srgbClr val="2F6FB0"/>
            </a:solidFill>
            <a:prstDash val="solid"/>
          </a:ln>
        </p:spPr>
      </p:sp>
      <p:sp>
        <p:nvSpPr>
          <p:cNvPr id="55" name="Text 44"/>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6" name="Text 45"/>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يَنْتَقِلُ الطَّالِبُ مِنَ الْمَدْرَسَةِ إِلَى الْجَامِعَةِ.</a:t>
            </a:r>
            <a:endParaRPr lang="ar-SA" sz="2000" dirty="0"/>
          </a:p>
        </p:txBody>
      </p:sp>
      <p:sp>
        <p:nvSpPr>
          <p:cNvPr id="57" name="Text 46"/>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8" name="Text 47"/>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9"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52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رِحْلَةُ التَّعْلِيمِ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school → university</a:t>
            </a:r>
            <a:endParaRPr lang="en-US" sz="1100" dirty="0"/>
          </a:p>
        </p:txBody>
      </p:sp>
      <p:sp>
        <p:nvSpPr>
          <p:cNvPr id="27" name="Shape 21"/>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11256264" y="3785616"/>
            <a:ext cx="329184" cy="329184"/>
          </a:xfrm>
          <a:prstGeom prst="ellipse">
            <a:avLst/>
          </a:prstGeom>
          <a:solidFill>
            <a:srgbClr val="2E8B57"/>
          </a:solidFill>
          <a:ln w="12700">
            <a:solidFill>
              <a:srgbClr val="2E8B57"/>
            </a:solidFill>
            <a:prstDash val="solid"/>
          </a:ln>
        </p:spPr>
      </p:sp>
      <p:sp>
        <p:nvSpPr>
          <p:cNvPr id="29" name="Text 23"/>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0" name="Text 24"/>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يَنْتَقِلُ الطَّالِبُ مِنَ الْمَدْرَسَةِ إِلَى الْجَامِعَةِ.</a:t>
            </a:r>
            <a:endParaRPr lang="ar-SA" sz="2200" dirty="0"/>
          </a:p>
        </p:txBody>
      </p:sp>
      <p:sp>
        <p:nvSpPr>
          <p:cNvPr id="31" name="Text 25"/>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student moves from school to university.</a:t>
            </a:r>
            <a:endParaRPr lang="en-US" sz="1200" dirty="0"/>
          </a:p>
        </p:txBody>
      </p:sp>
      <p:sp>
        <p:nvSpPr>
          <p:cNvPr id="32" name="Shape 26"/>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27"/>
          <p:cNvSpPr/>
          <p:nvPr/>
        </p:nvSpPr>
        <p:spPr>
          <a:xfrm>
            <a:off x="4404360" y="1938528"/>
            <a:ext cx="365760" cy="365760"/>
          </a:xfrm>
          <a:prstGeom prst="ellipse">
            <a:avLst/>
          </a:prstGeom>
          <a:solidFill>
            <a:srgbClr val="1B3B6F"/>
          </a:solidFill>
          <a:ln w="12700">
            <a:solidFill>
              <a:srgbClr val="1B3B6F"/>
            </a:solidFill>
            <a:prstDash val="solid"/>
          </a:ln>
        </p:spPr>
      </p:sp>
      <p:sp>
        <p:nvSpPr>
          <p:cNvPr id="34" name="Text 28"/>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5" name="Shape 29"/>
          <p:cNvSpPr/>
          <p:nvPr/>
        </p:nvSpPr>
        <p:spPr>
          <a:xfrm>
            <a:off x="439826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4581144" y="2249424"/>
            <a:ext cx="649224" cy="649224"/>
          </a:xfrm>
          <a:prstGeom prst="rect">
            <a:avLst/>
          </a:prstGeom>
        </p:spPr>
      </p:pic>
      <p:sp>
        <p:nvSpPr>
          <p:cNvPr id="37" name="Shape 30"/>
          <p:cNvSpPr/>
          <p:nvPr/>
        </p:nvSpPr>
        <p:spPr>
          <a:xfrm>
            <a:off x="5586984" y="2066544"/>
            <a:ext cx="1014984" cy="1014984"/>
          </a:xfrm>
          <a:prstGeom prst="ellipse">
            <a:avLst/>
          </a:prstGeom>
          <a:solidFill>
            <a:srgbClr val="F4F1EA"/>
          </a:solidFill>
          <a:ln w="12700">
            <a:solidFill>
              <a:srgbClr val="F4F1EA"/>
            </a:solidFill>
            <a:prstDash val="solid"/>
          </a:ln>
        </p:spPr>
      </p:sp>
      <p:pic>
        <p:nvPicPr>
          <p:cNvPr id="38" name="Image 4" descr="preencoded.png">    </p:cNvPr>
          <p:cNvPicPr>
            <a:picLocks noChangeAspect="1"/>
          </p:cNvPicPr>
          <p:nvPr/>
        </p:nvPicPr>
        <p:blipFill>
          <a:blip r:embed="rId5"/>
          <a:stretch>
            <a:fillRect/>
          </a:stretch>
        </p:blipFill>
        <p:spPr>
          <a:xfrm>
            <a:off x="5769864" y="2249424"/>
            <a:ext cx="649224" cy="649224"/>
          </a:xfrm>
          <a:prstGeom prst="rect">
            <a:avLst/>
          </a:prstGeom>
        </p:spPr>
      </p:pic>
      <p:sp>
        <p:nvSpPr>
          <p:cNvPr id="39" name="Shape 31"/>
          <p:cNvSpPr/>
          <p:nvPr/>
        </p:nvSpPr>
        <p:spPr>
          <a:xfrm>
            <a:off x="6775704" y="2066544"/>
            <a:ext cx="1014984" cy="1014984"/>
          </a:xfrm>
          <a:prstGeom prst="ellipse">
            <a:avLst/>
          </a:prstGeom>
          <a:solidFill>
            <a:srgbClr val="F4F1EA"/>
          </a:solidFill>
          <a:ln w="12700">
            <a:solidFill>
              <a:srgbClr val="F4F1EA"/>
            </a:solidFill>
            <a:prstDash val="solid"/>
          </a:ln>
        </p:spPr>
      </p:sp>
      <p:pic>
        <p:nvPicPr>
          <p:cNvPr id="40" name="Image 5" descr="preencoded.png">    </p:cNvPr>
          <p:cNvPicPr>
            <a:picLocks noChangeAspect="1"/>
          </p:cNvPicPr>
          <p:nvPr/>
        </p:nvPicPr>
        <p:blipFill>
          <a:blip r:embed="rId6"/>
          <a:stretch>
            <a:fillRect/>
          </a:stretch>
        </p:blipFill>
        <p:spPr>
          <a:xfrm>
            <a:off x="6958584" y="2249424"/>
            <a:ext cx="649224" cy="649224"/>
          </a:xfrm>
          <a:prstGeom prst="rect">
            <a:avLst/>
          </a:prstGeom>
        </p:spPr>
      </p:pic>
      <p:sp>
        <p:nvSpPr>
          <p:cNvPr id="41" name="Text 3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primary → secondary</a:t>
            </a:r>
            <a:endParaRPr lang="en-US" sz="1100" dirty="0"/>
          </a:p>
        </p:txBody>
      </p:sp>
      <p:sp>
        <p:nvSpPr>
          <p:cNvPr id="42" name="Shape 33"/>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3" name="Shape 34"/>
          <p:cNvSpPr/>
          <p:nvPr/>
        </p:nvSpPr>
        <p:spPr>
          <a:xfrm>
            <a:off x="7437120" y="3785616"/>
            <a:ext cx="329184" cy="329184"/>
          </a:xfrm>
          <a:prstGeom prst="ellipse">
            <a:avLst/>
          </a:prstGeom>
          <a:solidFill>
            <a:srgbClr val="2E8B57"/>
          </a:solidFill>
          <a:ln w="12700">
            <a:solidFill>
              <a:srgbClr val="2E8B57"/>
            </a:solidFill>
            <a:prstDash val="solid"/>
          </a:ln>
        </p:spPr>
      </p:sp>
      <p:sp>
        <p:nvSpPr>
          <p:cNvPr id="44" name="Text 35"/>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5" name="Text 36"/>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اَلتَّعْلِيمُ الِابْتِدَائِيُّ يَسْبِقُ التَّعْلِيمَ الثَّانَوِيَّ.</a:t>
            </a:r>
            <a:endParaRPr lang="ar-SA" sz="2200" dirty="0"/>
          </a:p>
        </p:txBody>
      </p:sp>
      <p:sp>
        <p:nvSpPr>
          <p:cNvPr id="46" name="Text 37"/>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Primary education comes before secondary education.</a:t>
            </a:r>
            <a:endParaRPr lang="en-US" sz="1200" dirty="0"/>
          </a:p>
        </p:txBody>
      </p:sp>
      <p:sp>
        <p:nvSpPr>
          <p:cNvPr id="47" name="Shape 38"/>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39"/>
          <p:cNvSpPr/>
          <p:nvPr/>
        </p:nvSpPr>
        <p:spPr>
          <a:xfrm>
            <a:off x="585216" y="1938528"/>
            <a:ext cx="365760" cy="365760"/>
          </a:xfrm>
          <a:prstGeom prst="ellipse">
            <a:avLst/>
          </a:prstGeom>
          <a:solidFill>
            <a:srgbClr val="1B3B6F"/>
          </a:solidFill>
          <a:ln w="12700">
            <a:solidFill>
              <a:srgbClr val="1B3B6F"/>
            </a:solidFill>
            <a:prstDash val="solid"/>
          </a:ln>
        </p:spPr>
      </p:sp>
      <p:sp>
        <p:nvSpPr>
          <p:cNvPr id="49" name="Text 40"/>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50" name="Shape 41"/>
          <p:cNvSpPr/>
          <p:nvPr/>
        </p:nvSpPr>
        <p:spPr>
          <a:xfrm>
            <a:off x="117348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1356360" y="2249424"/>
            <a:ext cx="649224" cy="649224"/>
          </a:xfrm>
          <a:prstGeom prst="rect">
            <a:avLst/>
          </a:prstGeom>
        </p:spPr>
      </p:pic>
      <p:sp>
        <p:nvSpPr>
          <p:cNvPr id="52" name="Shape 42"/>
          <p:cNvSpPr/>
          <p:nvPr/>
        </p:nvSpPr>
        <p:spPr>
          <a:xfrm>
            <a:off x="2362200" y="2066544"/>
            <a:ext cx="1014984" cy="1014984"/>
          </a:xfrm>
          <a:prstGeom prst="ellipse">
            <a:avLst/>
          </a:prstGeom>
          <a:solidFill>
            <a:srgbClr val="F4F1EA"/>
          </a:solidFill>
          <a:ln w="12700">
            <a:solidFill>
              <a:srgbClr val="F4F1EA"/>
            </a:solidFill>
            <a:prstDash val="solid"/>
          </a:ln>
        </p:spPr>
      </p:sp>
      <p:pic>
        <p:nvPicPr>
          <p:cNvPr id="53" name="Image 7" descr="preencoded.png">    </p:cNvPr>
          <p:cNvPicPr>
            <a:picLocks noChangeAspect="1"/>
          </p:cNvPicPr>
          <p:nvPr/>
        </p:nvPicPr>
        <p:blipFill>
          <a:blip r:embed="rId8"/>
          <a:stretch>
            <a:fillRect/>
          </a:stretch>
        </p:blipFill>
        <p:spPr>
          <a:xfrm>
            <a:off x="2545080" y="2249424"/>
            <a:ext cx="649224" cy="649224"/>
          </a:xfrm>
          <a:prstGeom prst="rect">
            <a:avLst/>
          </a:prstGeom>
        </p:spPr>
      </p:pic>
      <p:sp>
        <p:nvSpPr>
          <p:cNvPr id="54" name="Text 43"/>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 → certificate</a:t>
            </a:r>
            <a:endParaRPr lang="en-US" sz="1100" dirty="0"/>
          </a:p>
        </p:txBody>
      </p:sp>
      <p:sp>
        <p:nvSpPr>
          <p:cNvPr id="55" name="Shape 44"/>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Shape 45"/>
          <p:cNvSpPr/>
          <p:nvPr/>
        </p:nvSpPr>
        <p:spPr>
          <a:xfrm>
            <a:off x="3617976" y="3785616"/>
            <a:ext cx="329184" cy="329184"/>
          </a:xfrm>
          <a:prstGeom prst="ellipse">
            <a:avLst/>
          </a:prstGeom>
          <a:solidFill>
            <a:srgbClr val="2E8B57"/>
          </a:solidFill>
          <a:ln w="12700">
            <a:solidFill>
              <a:srgbClr val="2E8B57"/>
            </a:solidFill>
            <a:prstDash val="solid"/>
          </a:ln>
        </p:spPr>
      </p:sp>
      <p:sp>
        <p:nvSpPr>
          <p:cNvPr id="57" name="Text 46"/>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8" name="Text 47"/>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بَعْدَ الدِّرَاسَةِ يَحْصُلُ الطَّالِبُ عَلَى مُؤَهِّلٍ.</a:t>
            </a:r>
            <a:endParaRPr lang="ar-SA" sz="2200" dirty="0"/>
          </a:p>
        </p:txBody>
      </p:sp>
      <p:sp>
        <p:nvSpPr>
          <p:cNvPr id="59" name="Text 48"/>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After studying, the student gets a qualification.</a:t>
            </a:r>
            <a:endParaRPr lang="en-US" sz="1200" dirty="0"/>
          </a:p>
        </p:txBody>
      </p:sp>
      <p:sp>
        <p:nvSpPr>
          <p:cNvPr id="60"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52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SCHOOL SYSTEMS AND ACADEMIC LIFE”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route?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secondary school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university</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vocational training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فِي الجَامِعَةِ.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أَتَلَقَّى تَدْرِيبًا مِهَنِيًّا.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فِي المَدْرَسَةِ الثَّانَوِيَّةِ.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52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secondary school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فِي المَدْرَسَةِ الثَّانَوِيَّةِ.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at secondary school.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university</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فِي الجَامِعَةِ.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at university.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vocational training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أَتَلَقَّى تَدْرِيبًا مِهَنِيًّا.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receive vocational training.</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52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COMPARE TWO SYSTEMS (WEBSITE LISTENING AND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System A vs system 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قَارِنْ بَيْنَ نِظَامَيْنِ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System B (some Arab countries)</a:t>
            </a:r>
            <a:endParaRPr lang="en-US" sz="1100" dirty="0"/>
          </a:p>
        </p:txBody>
      </p:sp>
      <p:sp>
        <p:nvSpPr>
          <p:cNvPr id="17" name="Text 14"/>
          <p:cNvSpPr txBox="1"/>
          <p:nvPr/>
        </p:nvSpPr>
        <p:spPr>
          <a:xfrm>
            <a:off x="272491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System A (the UK)</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Compare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6583680" y="2267712"/>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ثَلَاثُ مَرَاحِلَ أَيْضًا</a:t>
            </a:r>
            <a:endParaRPr lang="ar-SA" sz="1900" dirty="0"/>
          </a:p>
        </p:txBody>
      </p:sp>
      <p:sp>
        <p:nvSpPr>
          <p:cNvPr id="21" name="Text 18"/>
          <p:cNvSpPr txBox="1"/>
          <p:nvPr/>
        </p:nvSpPr>
        <p:spPr>
          <a:xfrm>
            <a:off x="2743200" y="2267712"/>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ثَلَاثُ مَرَاحِلَ</a:t>
            </a:r>
            <a:endParaRPr lang="ar-SA" sz="1900" dirty="0"/>
          </a:p>
        </p:txBody>
      </p:sp>
      <p:sp>
        <p:nvSpPr>
          <p:cNvPr id="22" name="Text 19"/>
          <p:cNvSpPr txBox="1"/>
          <p:nvPr/>
        </p:nvSpPr>
        <p:spPr>
          <a:xfrm>
            <a:off x="566928"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stages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6583680" y="3054096"/>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يَدُومُ ثَلَاثَ سَنَوَاتٍ أَوْ أَكْثَرَ</a:t>
            </a:r>
            <a:endParaRPr lang="ar-SA" sz="1900" dirty="0"/>
          </a:p>
        </p:txBody>
      </p:sp>
      <p:sp>
        <p:nvSpPr>
          <p:cNvPr id="27" name="Text 24"/>
          <p:cNvSpPr txBox="1"/>
          <p:nvPr/>
        </p:nvSpPr>
        <p:spPr>
          <a:xfrm>
            <a:off x="2743200" y="3054096"/>
            <a:ext cx="3657600" cy="731520"/>
          </a:xfrm>
          <a:prstGeom prst="rect">
            <a:avLst/>
          </a:prstGeom>
          <a:noFill/>
          <a:ln/>
        </p:spPr>
        <p:txBody>
          <a:bodyPr wrap="square" lIns="0" tIns="0" rIns="0" bIns="0" rtlCol="0" anchor="ctr"/>
          <a:lstStyle/>
          <a:p>
            <a:pPr rtl="1" algn="ctr" indent="0" marL="0">
              <a:buNone/>
            </a:pPr>
            <a:r>
              <a:rPr lang="ar-SA" altLang="en-US" sz="1850" b="1" dirty="0">
                <a:solidFill>
                  <a:srgbClr val="1B3B6F"/>
                </a:solidFill>
                <a:latin typeface="Amiri" pitchFamily="34" charset="0"/>
                <a:ea typeface="Amiri" pitchFamily="34" charset="-122"/>
                <a:cs typeface="Amiri" pitchFamily="34" charset="-120"/>
              </a:rPr>
              <a:t>يَجْتَازُ الطُّلَّابُ الامْتِحَانَاتِ فِي السَّادِسَةَ عَشْرَةَ</a:t>
            </a:r>
            <a:endParaRPr lang="ar-SA" sz="1850" dirty="0"/>
          </a:p>
        </p:txBody>
      </p:sp>
      <p:sp>
        <p:nvSpPr>
          <p:cNvPr id="28" name="Text 25"/>
          <p:cNvSpPr txBox="1"/>
          <p:nvPr/>
        </p:nvSpPr>
        <p:spPr>
          <a:xfrm>
            <a:off x="566928"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secondary</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6583680" y="3840480"/>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يَعْتَمِدُ بَعْضُهَا عَلَى امْتِحَانٍ نِهَائِيٍّ وَاحِدٍ</a:t>
            </a:r>
            <a:endParaRPr lang="ar-SA" sz="1900" dirty="0"/>
          </a:p>
        </p:txBody>
      </p:sp>
      <p:sp>
        <p:nvSpPr>
          <p:cNvPr id="33" name="Text 30"/>
          <p:cNvSpPr txBox="1"/>
          <p:nvPr/>
        </p:nvSpPr>
        <p:spPr>
          <a:xfrm>
            <a:off x="2743200" y="3840480"/>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يَعْتَمِدُ عَلَى امْتِحَانَاتِ الشَّهَادَةِ</a:t>
            </a:r>
            <a:endParaRPr lang="ar-SA" sz="1900" dirty="0"/>
          </a:p>
        </p:txBody>
      </p:sp>
      <p:sp>
        <p:nvSpPr>
          <p:cNvPr id="34" name="Text 31"/>
          <p:cNvSpPr txBox="1"/>
          <p:nvPr/>
        </p:nvSpPr>
        <p:spPr>
          <a:xfrm>
            <a:off x="566928"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assessment</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6583680" y="4626864"/>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يَلْتَحِقُ المُتَفَوِّقُونَ بِالجَامِعَاتِ</a:t>
            </a:r>
            <a:endParaRPr lang="ar-SA" sz="1900" dirty="0"/>
          </a:p>
        </p:txBody>
      </p:sp>
      <p:sp>
        <p:nvSpPr>
          <p:cNvPr id="37" name="Text 34"/>
          <p:cNvSpPr txBox="1"/>
          <p:nvPr/>
        </p:nvSpPr>
        <p:spPr>
          <a:xfrm>
            <a:off x="2743200" y="4626864"/>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يَلْتَحِقُونَ بِالجَامِعَةِ أَوْ بِالتَّدْرِيبِ المِهَنِيِّ</a:t>
            </a:r>
            <a:endParaRPr lang="ar-SA" sz="1900" dirty="0"/>
          </a:p>
        </p:txBody>
      </p:sp>
      <p:sp>
        <p:nvSpPr>
          <p:cNvPr id="38" name="Text 35"/>
          <p:cNvSpPr txBox="1"/>
          <p:nvPr/>
        </p:nvSpPr>
        <p:spPr>
          <a:xfrm>
            <a:off x="56692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school</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Now join each row with baynamā or fī ḥīni anna: baynamā … fī al-mamlaka al-muttaḥida, …</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52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 fī — or bi- / ʿalā?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يَجْتَازُ</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يَدْرُسُ</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يُرَاجِعُ</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يَتَفَوَّقُ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يَرْسُبُ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يَتَخَصَّصُ</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يَلْتَحِقُ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يَحْصُلُ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يَتَمَيَّزُ</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Direct object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فِي</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بِـ / عَلَى</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52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Direct object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يَجْتَازُ</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يَدْرُسُ</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يُرَاجِعُ</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فِي</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يَتَفَوَّقُ</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يَرْسُبُ</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يَتَخَصَّصُ</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بِـ / عَلَى</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يَلْتَحِقُ</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يَحْصُلُ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يَتَمَيَّزُ</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52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يَرْسُبُ بَعْضُ الطُّلَّابِ ___ المَادَّةِ الصَّعْبَةِ.</a:t>
            </a:r>
            <a:endParaRPr lang="ar-SA"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يَحْصُلُ ___ شَهَادَةٍ مُعْتَمَدَةٍ.</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distinguishing sentence.</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يَتَمَيَّزُ النِّظَامُ عَلَى المَوَادِّ.</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يَتَمَيَّزُ النِّظَامُ بِمُرُونَةِ المَوَادِّ.</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يَتَمَيَّزُ النِّظَامُ فِي المَوَادِّ.</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compares rather than lists?</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النِّظَامُ الأَوَّلُ جَيِّدٌ وَالثَّانِي جَيِّدٌ.</a:t>
            </a:r>
            <a:endParaRPr lang="ar-SA" sz="14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أُحِبُّ المَدْرَسَةَ كَثِيرًا.</a:t>
            </a:r>
            <a:endParaRPr lang="ar-SA" sz="14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بَيْنَمَا يَعْتَمِدُ النِّظَامُ الأَوَّلُ عَلَى الامْتِحَانِ، يَعْتَمِدُ الثَّانِي عَلَى المَشَارِيعِ.</a:t>
            </a:r>
            <a:endParaRPr lang="ar-SA" sz="14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52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يَرْسُبُ بَعْضُ الطُّلَّابِ ___ المَادَّةِ الصَّعْبَةِ.</a:t>
            </a:r>
            <a:endParaRPr lang="ar-SA" sz="145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يَرْسُبُ</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يَحْصُلُ ___ شَهَادَةٍ مُعْتَمَدَةٍ.</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يَحْصُلُ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distinguishing sentence.</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يَتَمَيَّزُ النِّظَامُ عَلَى المَوَادِّ.</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يَتَمَيَّزُ النِّظَامُ بِمُرُونَةِ المَوَادِّ.</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يَتَمَيَّزُ النِّظَامُ فِي المَوَادِّ.</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يَتَمَيَّزُ</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compares rather than lists?</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النِّظَامُ الأَوَّلُ جَيِّدٌ وَالثَّانِي جَيِّدٌ.</a:t>
            </a:r>
            <a:endParaRPr lang="ar-SA" sz="14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أُحِبُّ المَدْرَسَةَ كَثِيرًا.</a:t>
            </a:r>
            <a:endParaRPr lang="ar-SA" sz="145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بَيْنَمَا يَعْتَمِدُ النِّظَامُ الأَوَّلُ عَلَى الامْتِحَانِ، يَعْتَمِدُ الثَّانِي عَلَى المَشَارِيعِ.</a:t>
            </a:r>
            <a:endParaRPr lang="ar-SA" sz="145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sets the two systems against each other with </a:t>
            </a:r>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52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يَجْتَازُ الطَّالِبُ فِي الامْتِحَانِ.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yajtāz + fī?</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يَلْتَحِقُ الطَّالِبُ عَلَى الجَامِعَةِ.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yaltaḥiq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يَتَمَيَّزُ النِّظَامُ فِي المُرُونَةِ.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yatamayyaz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52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يَجْتَازُ الطَّالِبُ فِي الامْتِحَانِ.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يَجْتَازُ الطَّالِبُ الامْتِحَانَ.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يَجْتَازُ</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 not </a:t>
            </a:r>
            <a:pPr algn="l" indent="0" marL="0">
              <a:buNone/>
            </a:pPr>
            <a:r>
              <a:rPr lang="ar-SA" altLang="en-US" sz="1500" b="1" dirty="0">
                <a:solidFill>
                  <a:srgbClr val="1B3B6F"/>
                </a:solidFill>
                <a:latin typeface="Amiri" pitchFamily="34" charset="0"/>
                <a:ea typeface="Amiri" pitchFamily="34" charset="-122"/>
                <a:cs typeface="Amiri" pitchFamily="34" charset="-120"/>
              </a:rPr>
              <a:t>فِي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يَلْتَحِقُ الطَّالِبُ عَلَى الجَامِعَةِ.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يَلْتَحِقُ الطَّالِبُ بِالجَامِعَةِ.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يَلْتَحِقُ</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يَتَمَيَّزُ النِّظَامُ فِي المُرُونَةِ.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يَتَمَيَّزُ النِّظَامُ بِالمُرُونَةِ.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يَتَمَيَّزُ</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52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two systems compared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stages does the British system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students do at the end of secondary school?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school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Start primary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Sit certificate exams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high achievers obtain?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teaching job</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scholarship abroad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highest grades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Arab-world system introduced?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differs; secondary length varies by country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identical to the British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no exams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would improve results, per the closing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Longer exams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Time for creativity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Fewer teachers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verbs and their complements.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52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يَتَكَوَّنُ النِّظَامُ التَّعْلِيمِيُّ البِرِيطَانِيُّ مِنْ ثَلَاثِ مَرَاحِلَ: الابْتِدَائِيَّةِ وَالإِعْدَادِيَّةِ وَالثَّانَوِيَّةِ.</a:t>
            </a:r>
            <a:endParaRPr lang="ar-SA" sz="16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British education system consists of three stages: primary, middle and secondary.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يَجْتَازُ الطُّلَّابُ امْتِحَانَاتِ الشَّهَادَةِ فِي نِهَايَةِ الثَّانَوِيَّةِ، وَيَتَفَوَّقُ بَعْضُهُمْ فَيَحْصُلُونَ عَلَى أَعْلَى الدَّرَجَاتِ.</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Students sit the certificate exams at the end of secondary school, and some excel and obtain the highest grades.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ذٰلِكَ يَلْتَحِقُونَ بِالجَامِعَةِ أَوْ يَخْتَارُونَ التَّدْرِيبَ المِهَنِيَّ.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that they enrol at university or choose vocational training.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فِي المُقَابِلِ، يَخْتَلِفُ النِّظَامُ فِي بَعْضِ الدُّوَلِ العَرَبِيَّةِ؛ فَبَيْنَمَا يَدُومُ التَّعْلِيمُ الثَّانَوِيُّ ثَلَاثَ سَنَوَاتٍ فِي بَلَدٍ، يَمْتَدُّ فِي غَيْرِهِ أَكْثَرَ.</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contrast, the system differs in some Arab countries: while secondary education lasts three years in one country, it lasts longer in another.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وَيَتَمَيَّزُ كُلُّ نِظَامٍ بِمَوَادَّ إِلْزَامِيَّةٍ وَأُخْرَى اخْتِيَارِيَّةٍ. وَإِذَا أُتِيحَ لِلطُّلَّابِ وَقْتٌ لِلْإِبْدَاعِ، سَتَتَحَسَّنُ نَتَائِجُهُمْ.</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Each system has compulsory and elective subjects. If students are given time for creativity, their results will improve.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52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stages does the British system have?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يَتَكَوَّنُ … مِنْ ثَلَاثِ مَرَاحِلَ.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students do at the end of secondary school?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 school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Start primary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Sit certificate exams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يَجْتَازُ الطُّلَّابُ امْتِحَانَاتِ الشَّهَادَةِ فِي نِهَايَةِ الثَّانَوِيَّةِ.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high achievers obtain?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teaching job</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scholarship abroad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highest grades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يَتَفَوَّقُ بَعْضُهُمْ فَيَحْصُلُونَ عَلَى أَعْلَى الدَّرَجَاتِ.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Arab-world system introduced?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differs; secondary length varies by country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identical to the British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no exams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يَخْتَلِفُ النِّظَامُ … بَيْنَمَا يَدُومُ … فِي بَلَدٍ، يَمْتَدُّ فِي غَيْرِهِ أَكْثَرَ.</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would improve results, per the closing conditional?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Longer exams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Time for creativity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Fewer teachers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أُتِيحَ لِلطُّلَّابِ وَقْتٌ لِلْإِبْدَاعِ، سَتَتَحَسَّنُ نَتَائِجُهُمْ.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verbs and their complements.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52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Education-system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Education-system comparison</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Sort institutions and stages into a learner journey, then compare two education systems or school types using facilities, rules and opportunities.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Sort 8 cards into a learner journey: nursery → primary → secondary → university / training.</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Choose two school types or education systems (e.g. a UK school and a school in an Arab country).</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Compare them on facilities, rules and opportunities — three sentences.</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Share one comparison with the class; partners add one question.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Order the stages and say one comparison: “… akbar min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comparisons with nisba adjectives (madrasa ḥukūmiyya / khāṣṣa).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balanced comparison with “bayna-mā” (whereas) and one opinion with a reason.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المَرْحَلَةُ الابْتِدَائِيَّةُ / الثَّانَوِيَّةُ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 primary / secondary stage</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مَدْرَسَةٌ حُكُومِيَّةٌ / خَاصَّةٌ</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a state / private school</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 أَكْبَرُ مِنْ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 is bigger than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بَيْنَمَا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whereas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52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compare two systems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مَرَاحِلَ نِظَامِكَ التَّعْلِيمِيِّ.</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نِظَامَيْنِ مُسْتَعْمِلًا بَيْنَمَا أَوْ فِي حِينِ أَنَّ.</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بِمَاذَا يَتَمَيَّزُ نِظَامُكَ المِثَالِيُّ؟</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D5FBF"/>
                </a:solidFill>
                <a:latin typeface="Amiri" pitchFamily="34" charset="0"/>
                <a:ea typeface="Amiri" pitchFamily="34" charset="-122"/>
                <a:cs typeface="Amiri" pitchFamily="34" charset="-120"/>
              </a:rPr>
              <a:t>يَتَكَوَّنُ نِظَامُنَا مِنْ ___ مَرَاحِلَ، وَيَجْتَازُ الطُّلَّابُ ___ .</a:t>
            </a:r>
            <a:endParaRPr lang="ar-SA" sz="115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بَيْنَمَا ___ فِي بَلَدِي، ___ فِي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يَتَمَيَّزُ نِظَامِي المِثَالِيُّ بِمُرُونَةِ ___ ، وَإِذَا ___ ، سَتَتَحَسَّنُ ___ .</a:t>
            </a:r>
            <a:endParaRPr lang="ar-SA" sz="105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مَرَاحِلَ نِظَامِكَ.</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the stages of your system.</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يَتَكَوَّنُ نِظَامُنَا مِنْ ثَلَاثِ مَرَاحِلَ، وَيَجْتَازُ الطُّلَّابُ امْتِحَانَاتِ الشَّهَادَةِ فِي نِهَايَةِ الثَّانَوِيَّةِ.</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Our system has three stages, and students sit the certificate exams at the end of secondary school.</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52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sentences using the academic verbs with correct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five sentences using the academic verbs with correct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two formal contrast connectors comparing two systems.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two formal contrast connectors comparing two systems.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Close with a distinguishing feature and a conditional about improvement.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close with a distinguishing feature and a conditional about improvement.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52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بَيْنَمَا ______ فِي بَلَدِي، ______ فِي ______ .</a:t>
            </a:r>
            <a:endParaRPr lang="ar-SA" sz="16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While … in my country, … in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يَعْتَمِدُ نِظَامٌ عَلَى ______ ، فِي حِينِ أَنَّ نِظَامًا آخَرَ ______ .</a:t>
            </a:r>
            <a:endParaRPr lang="ar-SA" sz="12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system relies on …, whereas another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يَتَمَيَّزُ كُلُّ نِظَامٍ بِتَوَازُنٍ بَيْنَ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Each system is distinguished by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إِذَا رَكَّزَتِ المَنْظُومَةُ عَلَى التَّفْكِيرِ، ______ .</a:t>
            </a:r>
            <a:endParaRPr lang="ar-SA" sz="17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the system focused on thinking,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يَتَكَوَّنُ النِّظَامُ مِنْ ______ مَرَاحِلَ.</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system consists of … stages.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يَجْتَازُ الطُّلَّابُ ______ فِي نِهَايَةِ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Students pass … at the end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يَتَفَوَّقُ بَعْضُهُمْ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Some excel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يَلْتَحِقُونَ بِالجَامِعَةِ أَوْ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they enrol 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34" charset="0"/>
                <a:ea typeface="Amiri" pitchFamily="34" charset="-122"/>
                <a:cs typeface="Amiri" pitchFamily="34" charset="-120"/>
              </a:rPr>
              <a:t>ثَلَاثُ مَرَاحِلَ  ·  امْتِحَانَاتُ الشَّهَادَةِ  ·  العُلُومُ  ·  الرِّيَاضِيَّاتُ  ·  الجَامِعَةُ  ·  التَّدْرِيبُ المِهَنِيُّ  ·  المَوَادُّ الإِلْزَامِيَّةُ  ·  المَوَادُّ الاخْتِيَارِيَّةُ  ·  التَّقْيِيمُ المُسْتَمِرُّ  ·  الامْتِحَانُ النِّهَائِيُّ  ·  المُرُونَةُ  ·  الإِبْدَاعُ</a:t>
            </a:r>
            <a:endParaRPr lang="ar-SA"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52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ninety to one hundred words comparing two education systems. Use </a:t>
            </a:r>
            <a:pPr algn="l" indent="0" marL="0">
              <a:buNone/>
            </a:pPr>
            <a:r>
              <a:rPr lang="ar-SA" altLang="en-US" sz="1750" b="1" dirty="0">
                <a:solidFill>
                  <a:srgbClr val="1F2A37"/>
                </a:solidFill>
                <a:latin typeface="Amiri" pitchFamily="34" charset="0"/>
                <a:ea typeface="Amiri" pitchFamily="34" charset="-122"/>
                <a:cs typeface="Amiri" pitchFamily="34" charset="-120"/>
              </a:rPr>
              <a:t>يَجْتَازُ</a:t>
            </a:r>
            <a:pPr algn="l" indent="0" marL="0">
              <a:buNone/>
            </a:pPr>
            <a:r>
              <a:rPr lang="en-US" sz="1350" b="1" dirty="0">
                <a:solidFill>
                  <a:srgbClr val="1F2A37"/>
                </a:solidFill>
                <a:latin typeface="Calibri" pitchFamily="34" charset="0"/>
                <a:ea typeface="Calibri" pitchFamily="34" charset="-122"/>
                <a:cs typeface="Calibri" pitchFamily="34" charset="-120"/>
              </a:rPr>
              <a:t> and </a:t>
            </a:r>
            <a:pPr algn="l" indent="0" marL="0">
              <a:buNone/>
            </a:pPr>
            <a:r>
              <a:rPr lang="ar-SA" altLang="en-US" sz="1750" b="1" dirty="0">
                <a:solidFill>
                  <a:srgbClr val="1F2A37"/>
                </a:solidFill>
                <a:latin typeface="Amiri" pitchFamily="34" charset="0"/>
                <a:ea typeface="Amiri" pitchFamily="34" charset="-122"/>
                <a:cs typeface="Amiri" pitchFamily="34" charset="-120"/>
              </a:rPr>
              <a:t>يَتَفَوَّقُ فِي</a:t>
            </a:r>
            <a:pPr algn="l" indent="0" marL="0">
              <a:buNone/>
            </a:pPr>
            <a:r>
              <a:rPr lang="en-US" sz="1350" b="1" dirty="0">
                <a:solidFill>
                  <a:srgbClr val="1F2A37"/>
                </a:solidFill>
                <a:latin typeface="Calibri" pitchFamily="34" charset="0"/>
                <a:ea typeface="Calibri" pitchFamily="34" charset="-122"/>
                <a:cs typeface="Calibri" pitchFamily="34" charset="-120"/>
              </a:rPr>
              <a:t>, at least two formal contrast connectors (</a:t>
            </a:r>
            <a:pPr algn="l" indent="0" marL="0">
              <a:buNone/>
            </a:pPr>
            <a:r>
              <a:rPr lang="ar-SA" altLang="en-US" sz="1750" b="1" dirty="0">
                <a:solidFill>
                  <a:srgbClr val="1F2A37"/>
                </a:solidFill>
                <a:latin typeface="Amiri" pitchFamily="34" charset="0"/>
                <a:ea typeface="Amiri" pitchFamily="34" charset="-122"/>
                <a:cs typeface="Amiri" pitchFamily="34" charset="-120"/>
              </a:rPr>
              <a:t>بَيْنَمَا، فِي حِينِ أَنَّ</a:t>
            </a:r>
            <a:pPr algn="l" indent="0" marL="0">
              <a:buNone/>
            </a:pPr>
            <a:r>
              <a:rPr lang="en-US" sz="1350" b="1" dirty="0">
                <a:solidFill>
                  <a:srgbClr val="1F2A37"/>
                </a:solidFill>
                <a:latin typeface="Calibri" pitchFamily="34" charset="0"/>
                <a:ea typeface="Calibri" pitchFamily="34" charset="-122"/>
                <a:cs typeface="Calibri" pitchFamily="34" charset="-120"/>
              </a:rPr>
              <a:t>), and close with a Type 1 conditional about what would improve a system.</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academic verbs with their correct complements.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formal contrast connectors, not chained </a:t>
            </a:r>
            <a:pPr algn="l" indent="0" marL="0">
              <a:buNone/>
            </a:pPr>
            <a:r>
              <a:rPr lang="ar-SA" altLang="en-US" sz="1550" dirty="0">
                <a:solidFill>
                  <a:srgbClr val="1F2A37"/>
                </a:solidFill>
                <a:latin typeface="Amiri" pitchFamily="34" charset="0"/>
                <a:ea typeface="Amiri" pitchFamily="34" charset="-122"/>
                <a:cs typeface="Amiri" pitchFamily="34" charset="-120"/>
              </a:rPr>
              <a:t>وَ</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t>
            </a:r>
            <a:pPr algn="l" indent="0" marL="0">
              <a:buNone/>
            </a:pPr>
            <a:r>
              <a:rPr lang="ar-SA" altLang="en-US" sz="1550" dirty="0">
                <a:solidFill>
                  <a:srgbClr val="1F2A37"/>
                </a:solidFill>
                <a:latin typeface="Amiri" pitchFamily="34" charset="0"/>
                <a:ea typeface="Amiri" pitchFamily="34" charset="-122"/>
                <a:cs typeface="Amiri" pitchFamily="34" charset="-120"/>
              </a:rPr>
              <a:t>يَتَمَيَّزُ بِـ</a:t>
            </a:r>
            <a:pPr algn="l" indent="0" marL="0">
              <a:buNone/>
            </a:pPr>
            <a:r>
              <a:rPr lang="en-US" sz="1200" dirty="0">
                <a:solidFill>
                  <a:srgbClr val="1F2A37"/>
                </a:solidFill>
                <a:latin typeface="Calibri" pitchFamily="34" charset="0"/>
                <a:ea typeface="Calibri" pitchFamily="34" charset="-122"/>
                <a:cs typeface="Calibri" pitchFamily="34" charset="-120"/>
              </a:rPr>
              <a:t> describing a distinguishing feature.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closing Type 1 conditional.</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سِنِّ السَّادِسَةَ عَشْرَةَ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at the age of sixteen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فَيَلْتَحِقُونَ بِالجَامِعَاتِ</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so they go on to university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يَمْتَدُّ فِي غَيْرِهِ أَكْثَرَ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lasts longer in another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يَعْتَمِدُ آخَرُ عَلَى التَّقْيِيمِ المُسْتَمِرِّ</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another relies on continuous assessment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التَّفْكِيرِ لَا الحِفْظِ</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 thinking, not memorising</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52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يَتَكَوَّنُ النِّظَامُ التَّعْلِيمِيُّ البِرِيطَانِيُّ مِنْ ثَلَاثِ مَرَاحِلَ رَئِيسِيَّةٍ، وَيَجْتَازُ الطُّلَّابُ امْتِحَانَاتِ الشَّهَادَةِ فِي سِنِّ السَّادِسَةَ عَشْرَةَ، وَيَتَفَوَّقُ بَعْضُهُمْ فَيَلْتَحِقُونَ بِالجَامِعَاتِ. فِي المُقَابِلِ، يَخْتَلِفُ النِّظَامُ فِي بَعْضِ الدُّوَلِ العَرَبِيَّةِ؛ فَبَيْنَمَا يَدُومُ التَّعْلِيمُ الثَّانَوِيُّ ثَلَاثَ سَنَوَاتٍ فِي بَلَدٍ، يَمْتَدُّ فِي غَيْرِهِ أَكْثَرَ. وَيَتَمَيَّزُ كُلُّ نِظَامٍ بِتَوَازُنٍ بَيْنَ المَوَادِّ الإِلْزَامِيَّةِ وَالاخْتِيَارِيَّةِ. فِي حِينِ أَنَّ نِظَامًا يَعْتَمِدُ عَلَى الامْتِحَانِ النِّهَائِيِّ، يَعْتَمِدُ آخَرُ عَلَى التَّقْيِيمِ المُسْتَمِرِّ. وَفِي رَأْيِي، إِذَا رَكَّزَتِ المَنْظُومَةُ عَلَى التَّفْكِيرِ لَا الحِفْظِ، فَسَيَتَحَسَّنُ التَّحْصِيلُ.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British education system consists of three main stages; students pass the certificate exams at sixteen, and some excel and go on to university. In contrast, the system differs in some Arab countries: while secondary education lasts three years in one country, it lasts longer in another. Each system is distinguished by a balance between compulsory and elective subjects. Whereas one system relies on the final exam, another relies on continuous assessment. In my opinion, if the system focuses on thinking rather than memorising, attainment will improve.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yajtāz + a direct object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yatafawwaq fī / yaltaḥiq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formal contrast connectors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yatamayyaz bi- and a closing conditional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52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 preposition after yajtāz; fī after yatafawwaq and yarsub.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bi- after yaltaḥiq and yatamayyaz; ʿalā after yaḥṣul.</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compared with baynamā / fī ḥīni anna, not a chain of wa.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fī ḥīni anna my noun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closed with a feature and a conditional, comparing fairly.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52</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يَجْتَازُ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يَجْتَازُ الطَّالِبُ الامْتِحَانَ.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يَجْتَازُ الطَّالِبُ فِي الامْتِحَانِ.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يَجْتَازُ الطَّالِبُ عَلَى الامْتِحَانِ.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يَلْتَحِقُ الطَّالِبُ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contrast connector?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حِينِ 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وَأَيْضًا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كَذٰلِكَ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52</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يَجْتَازُ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يَجْتَازُ الطَّالِبُ الامْتِحَانَ.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يَجْتَازُ الطَّالِبُ فِي الامْتِحَانِ.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يَجْتَازُ الطَّالِبُ عَلَى الامْتِحَانِ.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يَجْتَازُ</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يَلْتَحِقُ الطَّالِبُ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يَلْتَحِقُ</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contrast connector?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 حِينِ أَنَّ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وَأَيْضًا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كَذٰلِكَ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حِينِ أَنَّ</a:t>
            </a:r>
            <a:pPr algn="l" indent="0" marL="0">
              <a:buNone/>
            </a:pPr>
            <a:r>
              <a:rPr lang="en-US" sz="1050" i="1" dirty="0">
                <a:solidFill>
                  <a:srgbClr val="8A6D1E"/>
                </a:solidFill>
                <a:latin typeface="Calibri" pitchFamily="34" charset="0"/>
                <a:ea typeface="Calibri" pitchFamily="34" charset="-122"/>
                <a:cs typeface="Calibri" pitchFamily="34" charset="-120"/>
              </a:rPr>
              <a:t> builds a formal comparison.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52</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Reading: what makes a system work</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لَا تُقَاسُ جَوْدَةُ المَنْظُومَةِ التَّعْلِيمِيَّةِ بِعَدَدِ الامْتِحَانَاتِ فَقَطْ، بَلْ بِمَا يَتَعَلَّمُهُ الطَّالِبُ فِعْلًا. يَتَمَيَّزُ نِظَامٌ جَيِّدٌ بِتَوَازُنٍ بَيْنَ المَوَادِّ الإِلْزَامِيَّةِ وَالاخْتِيَارِيَّةِ، وَبِنِظَامِ تَقْيِيمٍ عَادِلٍ. فَفِي بَعْضِ الدُّوَلِ يَجْتَازُ الطُّلَّابُ امْتِحَانًا نِهَائِيًّا وَاحِدًا، فِي حِينِ أَنَّ دُوَلًا أُخْرَى تَعْتَمِدُ عَلَى التَّقْيِيمِ المُسْتَمِرِّ. وَيَلْتَحِقُ المُتَفَوِّقُونَ بِالجَامِعَاتِ، بَيْنَمَا يَخْتَارُ آخَرُونَ التَّدْرِيبَ المِهَنِيَّ، وَكِلَا المَسَارَيْنِ مُحْتَرَمٌ. وَإِذَا رَكَّزَتِ المَنْظُومَةُ عَلَى التَّفْكِيرِ لَا الحِفْظِ، فَسَيَزْدَادُ إِبْدَاعُ الطُّلَّابِ. وَلَيْسَ هُنَاكَ نِظَامٌ مِثَالِيٌّ، لٰكِنَّ المُرُونَةَ تَقْتَرِبُ بِهِ مِنَ الأَفْضَلِ.</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تُقَاسُ</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not measured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جَوْدَةُ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quality of</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فِعْلًا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really, actually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تَقْيِيمٍ عَادِلٍ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fair assessment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التَّقْيِيمِ المُسْتَمِرِّ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continuous assessment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المُتَفَوِّقُونَ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high achievers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التَّدْرِيبَ المِهَنِيَّ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vocational training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كِلَا المَسَارَيْنِ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both paths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الحِفْظِ</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memorising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المُرُونَةَ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flexibility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52</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 system's quality measured, per the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the number of exams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what the student actually learns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the size of the school</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distinguishes a good system?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compulsory subjects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assessment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 of subjects and fair assessment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some countries assess, in contrast?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Continuous assessment instead of one final exam</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assessment at all</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interviews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vocational training?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inferior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respected path alongside university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does not exist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focusing on thinking over memorising?</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Students' creativity increases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Results fall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changes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52</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 system's quality measured, per the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the number of exams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what the student actually learns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the size of the school</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بَلْ بِمَا يَتَعَلَّمُهُ الطَّالِبُ فِعْلًا.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distinguishes a good system?</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compulsory subjects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assessment</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Balance of subjects and fair assessment</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يَتَمَيَّزُ نِظَامٌ جَيِّدٌ بِتَوَازُنٍ … وَبِنِظَامِ تَقْيِيمٍ عَادِلٍ.</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some countries assess, in contrast?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Continuous assessment instead of one final exam</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assessment at all</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interviews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حِينِ أَنَّ دُوَلًا أُخْرَى تَعْتَمِدُ عَلَى التَّقْيِيمِ المُسْتَمِرِّ.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vocational training?</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inferior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is a respected path alongside university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does not exist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وَكِلَا المَسَارَيْنِ مُحْتَرَمٌ.</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focusing on thinking over memorising?</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Students' creativity increases</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Results fall</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changes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إِذَا رَكَّزَتِ المَنْظُومَةُ عَلَى التَّفْكِيرِ لَا الحِفْظِ، فَسَيَزْدَادُ إِبْدَاعُ الطُّلَّابِ.</a:t>
            </a:r>
            <a:endParaRPr lang="ar-SA"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52</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Systems Mission — Verbs, Complements and Comparison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يَجْتَازُ الطَّالِبُ</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الامْتِحَانِ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الامْتِحَانَ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بِالامْتِحَانِ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يَتَفَوَّقُ</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العُلُومِ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يَرْسُبُ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المَادَّةِ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يَلْتَحِقُ</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يَحْصُلُ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شَهَادَةٍ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يَتَمَيَّزُ النِّظَامُ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المُرُونَةِ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49 / 52</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يَجْتَازُ الطَّالِبُ</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الامْتِحَانِ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الامْتِحَانَ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بِالامْتِحَانِ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يَجْتَازُ</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يَتَفَوَّقُ</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العُلُومِ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يَتَفَوَّقُ</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يَرْسُبُ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المَادَّةِ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يَرْسُبُ</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يَلْتَحِقُ</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يَلْتَحِقُ</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يَحْصُلُ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شَهَادَةٍ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يَحْصُلُ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يَتَمَيَّزُ النِّظَامُ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المُرُونَةِ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يَتَمَيَّزُ</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50 / 52</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TD-L02: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TD-L02 · The Classroom and Learning Tools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كِتَابٌ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book</a:t>
            </a:r>
            <a:pPr indent="0" marL="0">
              <a:buNone/>
            </a:pPr>
            <a:r>
              <a:rPr lang="en-US" sz="1000" i="1" dirty="0">
                <a:solidFill>
                  <a:srgbClr val="5A6472"/>
                </a:solidFill>
                <a:latin typeface="Calibri" pitchFamily="34" charset="0"/>
                <a:ea typeface="Calibri" pitchFamily="34" charset="-122"/>
                <a:cs typeface="Calibri" pitchFamily="34" charset="-120"/>
              </a:rPr>
              <a:t>  pl. كُتُبٌ</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دَفْتَرٌ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exercise book</a:t>
            </a:r>
            <a:pPr indent="0" marL="0">
              <a:buNone/>
            </a:pPr>
            <a:r>
              <a:rPr lang="en-US" sz="1000" i="1" dirty="0">
                <a:solidFill>
                  <a:srgbClr val="5A6472"/>
                </a:solidFill>
                <a:latin typeface="Calibri" pitchFamily="34" charset="0"/>
                <a:ea typeface="Calibri" pitchFamily="34" charset="-122"/>
                <a:cs typeface="Calibri" pitchFamily="34" charset="-120"/>
              </a:rPr>
              <a:t>  pl. دَفَاتِرُ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قَلَمٌ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pen</a:t>
            </a:r>
            <a:pPr indent="0" marL="0">
              <a:buNone/>
            </a:pPr>
            <a:r>
              <a:rPr lang="en-US" sz="1000" i="1" dirty="0">
                <a:solidFill>
                  <a:srgbClr val="5A6472"/>
                </a:solidFill>
                <a:latin typeface="Calibri" pitchFamily="34" charset="0"/>
                <a:ea typeface="Calibri" pitchFamily="34" charset="-122"/>
                <a:cs typeface="Calibri" pitchFamily="34" charset="-120"/>
              </a:rPr>
              <a:t>  pl. أَقْلَامٌ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حَقِيبَةٌ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bag</a:t>
            </a:r>
            <a:pPr indent="0" marL="0">
              <a:buNone/>
            </a:pPr>
            <a:r>
              <a:rPr lang="en-US" sz="1000" i="1" dirty="0">
                <a:solidFill>
                  <a:srgbClr val="5A6472"/>
                </a:solidFill>
                <a:latin typeface="Calibri" pitchFamily="34" charset="0"/>
                <a:ea typeface="Calibri" pitchFamily="34" charset="-122"/>
                <a:cs typeface="Calibri" pitchFamily="34" charset="-120"/>
              </a:rPr>
              <a:t>  pl. حَقَائِبُ</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مِسْطَرَةٌ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ruler</a:t>
            </a:r>
            <a:pPr indent="0" marL="0">
              <a:buNone/>
            </a:pPr>
            <a:r>
              <a:rPr lang="en-US" sz="1000" i="1" dirty="0">
                <a:solidFill>
                  <a:srgbClr val="5A6472"/>
                </a:solidFill>
                <a:latin typeface="Calibri" pitchFamily="34" charset="0"/>
                <a:ea typeface="Calibri" pitchFamily="34" charset="-122"/>
                <a:cs typeface="Calibri" pitchFamily="34" charset="-120"/>
              </a:rPr>
              <a:t>  pl. مَسَاطِرُ</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is in your school bag today?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فِي حَقِيبَتِكَ؟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academic verbs with their complements;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60–80-word comparison of two systems with two contrast connectors.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90–100 words with </a:t>
            </a:r>
            <a:pPr algn="l" indent="0" marL="0">
              <a:buNone/>
            </a:pPr>
            <a:r>
              <a:rPr lang="ar-SA" altLang="en-US" sz="1550" dirty="0">
                <a:solidFill>
                  <a:srgbClr val="1F2A37"/>
                </a:solidFill>
                <a:latin typeface="Amiri" pitchFamily="34" charset="0"/>
                <a:ea typeface="Amiri" pitchFamily="34" charset="-122"/>
                <a:cs typeface="Amiri" pitchFamily="34" charset="-120"/>
              </a:rPr>
              <a:t>يَتَمَيَّزُ بِـ</a:t>
            </a:r>
            <a:pPr algn="l" indent="0" marL="0">
              <a:buNone/>
            </a:pPr>
            <a:r>
              <a:rPr lang="en-US" sz="1200" dirty="0">
                <a:solidFill>
                  <a:srgbClr val="1F2A37"/>
                </a:solidFill>
                <a:latin typeface="Calibri" pitchFamily="34" charset="0"/>
                <a:ea typeface="Calibri" pitchFamily="34" charset="-122"/>
                <a:cs typeface="Calibri" pitchFamily="34" charset="-120"/>
              </a:rPr>
              <a:t> and a closing conditional.</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51 / 52</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TD-L01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ea typeface="Cambria" pitchFamily="34" charset="-122"/>
                <a:cs typeface="Cambria" pitchFamily="34" charset="-120"/>
              </a:rPr>
              <a:t>TD-L02 · The Classroom and Learning Tools</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الفَصْلُ الدِّرَاسِيُّ وَأَدَوَاتُ التَّعَلُّمِ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classroom words for TD-L02.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TD-L01 · Learning Institutions and Stages of Education</dc:title>
  <dc:subject>PptxGenJS Presentation</dc:subject>
  <dc:creator>Al Madina Online School · Arabic Department</dc:creator>
  <cp:lastModifiedBy>Al Madina Online School · Arabic Department</cp:lastModifiedBy>
  <cp:revision>1</cp:revision>
  <dcterms:created xsi:type="dcterms:W3CDTF">2026-10-11T04:25:04Z</dcterms:created>
  <dcterms:modified xsi:type="dcterms:W3CDTF">2026-10-11T04:25:04Z</dcterms:modified>
</cp:coreProperties>
</file>