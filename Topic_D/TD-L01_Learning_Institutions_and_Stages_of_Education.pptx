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ADVANCED TOPIC D · TD-L01 — Learning Institutions and Stages of Education. Website: Advanced Topics › Topic D (The World of Work) › Lesson 1.
The website builds this lesson on the P2-L01 lesson engine, with the Topic focus “Describe and compare educational settings and routes.” (grammar: Nisba adjectives; comparatives; prepositions; skills: Reading · Speaking) and the application challenge “Education-system comparison”. This deck follows the same engine, re-sequenced for Topic D: lesson references now point to Topic D codes (lessons outside Topic D keep their website code), and the challenge is added before the speaking task.
No year group: Topic lessons are taught to any class following the Advanced Topics route.
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Progression › Topic D Education and Future Plans › TD-L01. The website lesson “School Systems and Academic Life”: vocabulary, grammar rules and quiz, patterns, common mistakes, sorter, listening, reading, speaking prompts and model, writing task and model, differentiation, final check and the lesson mission. Picture match: website visual game “School Systems and Academic Life”.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NEW UNIT (Topic D · Education and Future Plans). Core: name the stages and use the exam verbs with their complements. Develop: compare two systems with two formal contrast connectors. Stretch: a distinguishing feature (يَتَمَيَّزُ بِـ) and a closing conditional (website ~90–100-word comparison).
• Respectful framing: students have studied in different countries and systems (UK, Pakistan, Egypt, Somalia …), and some in vocational routes or home education. Every system has strengths; the website says “كِلَا المَسَارَيْنِ مُحْتَرَمٌ”.
• Grammar links: one verb, one preposition (the earlier work habit) · أَنَّ + accusative (P1-L07, website) · the Type 1 conditional (P1-L03, website) · numbers: ثَلَاثُ مَرَاحِلَ · ثَلَاثَ سَنَوَاتٍ.
• TEACHER-WRITTEN ITEMS: two website spelling fixes applied throughout: مُنْهَجٌ → مَنْهَجٌ, and the waṣl alif inside a phrase shown without a kasra (الامْتِحَانِ · مَادَّةٌ اخْتِيَارِيَّةٌ); rule headings shown in English and transliteration; the comparison grid is teacher-built from the website listening and reading. All other website items are used as published.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1–3 test three of the five words prepared at the end of P1-L12 (website). Questions 4–5 retrieve the earlier work preposition habit and anna + accusative — both carry straight into today’s verbs and فِي حِينِ أَنَّ.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New topic, same habit: every academic verb comes with its own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objectives (Arabic shown in transliteration on the slide so the lines read cleanly). The route statements turn them into this lesson’s concrete targets.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امتحان، تعلیم، ثانوی and نتیجہ are shared. CAREFUL: Urdu شہادت means testimony or martyrdom, but Arabic شَهَادَةٌ ثَانَوِيَّةٌ is a secondary-school CERTIFICATE (Urdu سند). And a school subject is مَادَّةٌ in Arabic, مضمون in Urdu.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Stages and structure (website vocabulary (1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Stages and structure (website vocabulary (2 of 2)). Hear → Say → See → Use. Transliteration is printed for Core students (cover it for Develop/Stretch).
Stages and structure. مَرْحَلَةٌ and مَادَّةٌ are feminine: the adjective takes -a (مَرْحَلَةٌ ثَانَوِيَّةٌ · مَادَّةٌ إِلْزَامِيَّةٌ). Plural مَوَادُّ is a diptote. عَالٍ is defective: التَّعْلِيمُ العَالِي.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Assessment and records (website vocabulary (1 of 2)). Hear → Say → See → Use. Transliteration is printed for Core students (cover it for Develop/Stretch).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Assessment and records (website vocabulary (2 of 2)). Hear → Say → See → Use. Transliteration is printed for Core students (cover it for Develop/Stretch).
FLEX: teach if time allows; otherwise these are on the website vocabulary tab for homework.
Assessment and records: most are iḍāfa pairs (كَشْفُ الدَّرَجَاتِ · نِظَامُ التَّقْيِيمِ) — the second word is genitive.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(1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Academic verbs (website vocabulary (2 of 2)). Hear → Say → See → Use. Transliteration is printed for Core students (cover it for Develop/Stretch).
FLEX: teach if time allows; otherwise these are on the website vocabulary tab for homework.
Academic verbs: sort as you learn — DIRECT OBJECT: يَجْتَازُ | فِي: يَتَفَوَّقُ · يَرْسُبُ · يَتَخَصَّصُ | بِـ: يَلْتَحِقُ · يَتَمَيَّزُ | عَلَى: يَحْصُلُ · يَعْتَمِدُ.</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1 — website rules “Exam verbs” (one takes a direct object; the other two take فِي) and “Enrolment and attainment” (enrolment takes بِـ; obtaining takes عَلَى), plus teaching point “Each academic verb keeps its own preposition”.
Website mistakes: يَجْتَازُ الطَّالِبُ فِي الامْتِحَانِ ✗ · يَلْتَحِقُ الطَّالِبُ عَلَى الجَامِعَةِ ✗.
Quick drill: say the verb, the class says the complement (object / fī / bi- / ʿalā) — then reverse.
Rows 4 and 6 show the feminine forms (تَتَخَصَّصُ أُخْتِي · تَحْصُلُ) — the same agreement habit as earlier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2 — the past and plural forms needed for the comparison and for narrating your own school history (Topic D builds on these all unit).
اجْتَازَ is a hollow Form VIII verb (root ج-و-ز): اجْتَزْتُ (I passed) — the same pattern as زِدْتُ / نِمْتُ from earlier work. Website listening: يَجْتَازُ الطُّلَّابُ (verb first, singular) vs الطُّلَّابُ يَجْتَازُونَ (verb after, plural).
Drill: “I passed the exam” → اجْتَزْتُ الامْتِحَانَ · “She excelled in science” → تَفَوَّقَتْ فِي العُلُومِ · “I enrolled at university” → الْتَحَقْتُ بِالجَامِعَةِ.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3 — website rule “Formal contrast” (set one system against another instead of chaining وَ) and teaching point “Compare, do not just list”.
Case after فِي حِينِ أَنَّ: the noun is accusative (نِظَامًا آخَرَ · النِّظَامَ) — the P1-L07 (website) anna rule. بَيْنَمَا is followed directly by a verb or a full sentence.
Number note: ثَلَاثَ سَنَوَاتٍ (accusative: for three years) · ثَلَاثُ مَرَاحِلَ (nominative: three stages, a diptote plural).
Fair comparison: describe how systems DIFFER, not which country is “better”.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PART 4 — website rule “Distinguishing feature” (يَتَمَيَّزُ بِـ: name what marks a system out) and the website reading (يَتَمَيَّزُ نِظَامٌ جَيِّدٌ بِتَوَازُنٍ … · وَكِلَا المَسَارَيْنِ مُحْتَرَمٌ · إِذَا رَكَّزَتِ المَنْظُومَةُ عَلَى التَّفْكِيرِ لَا الحِفْظِ …).
Website mistake 3: يَتَمَيَّزُ النِّظَامُ فِي المُرُونَةِ ✗ → بِالمُرُونَةِ.
Row 3: مَرَاحِلَ is a diptote — after bi- it takes fatḥa, not kasra (بِمَرَاحِلَ).
Row 5 brings back the earlier work conditional; فَـ before sa- is common when the result is a full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GRAMMAR RULES AND EXAMPLES (FLEX — revision or homework). Website overview: “The education verbs with their fixed complements, and the connectors that build a formal comparison between two systems.”
• Exam verbs: One takes a direct object; the other two take فِي.
• Enrolment and attainment: Enrolment takes بِـ; obtaining takes عَلَى.
• Formal contrast: Set one system against another instead of chaining وَ.
• Distinguishing feature: Name what marks a system out.
Website common error: Adding فِي after يَجْتَازُ, or swapping the prepositions of يَلْتَحِقُ (بِـ) and يَحْصُلُ (عَلَى). Learn each verb with its complement.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grammar quiz questions 1, 2, 4, 6.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from the website writing model. Think aloud: “Describe the stages. Pass — direct object. Excel — fī. Now I must COMPARE, not list: fī al-muqābil, then baynamā with two clauses. Finally the feature: yatamayyaz BI-.”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 website patterns. Students copy TWO that are useful for them.
• Core: copy one and change one word. • Develop: copy two and change the subject. • Stretch: combine two into one longer sentence with a connector.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(“Education Journey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“Education Journey”: the stages (primary → secondary → university) and the qualification at the end.
Website feedback lines: The route is school to university. · Primary comes before secondary. · The certificate follows study.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(“Education Journey (Topic game)”)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TOPIC D GAME “Education Journey”: the stages (primary → secondary → university) and the qualification at the end.
Website feedback lines: The route is school to university. · Primary comes before secondary. · The certificate follows study.
FLEX: use it after the model sentences if the class is secure, or as the next lesson’s warm-up.
This is the website TOPIC game for this lesson (Advanced Topics page), not the pathway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School Systems and Academic Life”)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Website visual game (3 of 6). Then upgrade each one with today’s verbs: اجْتَزْتُ امْتِحَانَاتِ الثَّانَوِيَّةِ · سَأَلْتَحِقُ بِالجَامِعَةِ · يَحْصُلُ المُتَدَرِّبُ عَلَى شَهَادَةٍ مِهَنِيَّةٍ. Other website cards: online learning, studying for an exam, education leading to a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a comparison grid built from the website listening and reading (the website lesson has no builder). Pairs turn each row into ONE comparative sentence.
Model (row 3): بَيْنَمَا يَعْتَمِدُ النِّظَامُ البِرِيطَانِيُّ عَلَى امْتِحَانَاتِ الشَّهَادَةِ، يَعْتَمِدُ بَعْضُ الأَنْظِمَةِ عَلَى امْتِحَانٍ نِهَائِيٍّ وَاحِدٍ.
Core: rows 1–2 with بَيْنَمَا. Develop: all four, using fī ḥīni anna once (noun in -a!). Stretch: replace System B with a system the student knows (Pakistan, Egypt, Somalia …) and add يَتَمَيَّزُ بِـ.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sorter (2 min). Website instruction: sort each item into the right group.
Then say a phrase for each verb: يَجْتَازُ الامْتِحَانَ · يَدْرُسُ الطِّبَّ · يُرَاجِعُ الدُّرُوسَ · يَتَفَوَّقُ فِي العُلُومِ · يَرْسُبُ فِي المَادَّةِ · يَتَخَصَّصُ فِي الهَنْدَسَةِ · يَلْتَحِقُ بِالجَامِعَةِ · يَحْصُلُ عَلَى شَهَادَةٍ · يَتَمَيَّزُ بِالمُرُونَةِ.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quiz questions 3, 5, 7, 8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 2 and 3. Develop / Stretch: all 5 — and write down the contrast connector you hear.
Listen 1: just listen. Listen 2: note answers. Then chat the letters.
Support: after the second listening, show the read-along slide (Arabic + English, line by line) for Core students.
SCRIPT (read aloud):
يَتَكَوَّنُ النِّظَامُ التَّعْلِيمِيُّ البِرِيطَانِيُّ مِنْ ثَلَاثِ مَرَاحِلَ: الابْتِدَائِيَّةِ وَالإِعْدَادِيَّةِ وَالثَّانَوِيَّةِ. يَجْتَازُ الطُّلَّابُ امْتِحَانَاتِ الشَّهَادَةِ فِي نِهَايَةِ الثَّانَوِيَّةِ، وَيَتَفَوَّقُ بَعْضُهُمْ فَيَحْصُلُونَ عَلَى أَعْلَى الدَّرَجَاتِ. بَعْدَ ذٰلِكَ يَلْتَحِقُونَ بِالجَامِعَةِ أَوْ يَخْتَارُونَ التَّدْرِيبَ المِهَنِيَّ. فِي المُقَابِلِ، يَخْتَلِفُ النِّظَامُ فِي بَعْضِ الدُّوَلِ العَرَبِيَّةِ؛ فَبَيْنَمَا يَدُومُ التَّعْلِيمُ الثَّانَوِيُّ ثَلَاثَ سَنَوَاتٍ فِي بَلَدٍ، يَمْتَدُّ فِي غَيْرِهِ أَكْثَرَ. وَيَتَمَيَّزُ كُلُّ نِظَامٍ بِمَوَادَّ إِلْزَامِيَّةٍ وَأُخْرَى اخْتِيَارِيَّةٍ. وَإِذَا أُتِيحَ لِلطُّلَّابِ وَقْتٌ لِلْإِبْدَاعِ، سَتَتَحَسَّنُ نَتَائِجُهُمْ.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TOPIC D APPLICATION CHALLENGE (5 min — it takes the speaking-rehearsal slot; the website speaking slide after it is FLEX) — from the website Topic page: “Sort institutions and stages into a learner journey, then compare two education systems or school types using facilities, rules and opportunities.”
Website Topic D challenge “Education-system comparison”: sort institutions and stages into a learner journey, then compare two systems or school types by facilities, rules and opportunities. Cards: رَوْضَةُ الأَطْفَالِ · المَدْرَسَةُ الابْتِدَائِيَّةُ · المَدْرَسَةُ المُتَوَسِّطَةُ · المَدْرَسَةُ الثَّانَوِيَّةُ · الجَامِعَةُ · المَعْهَدُ المِهْنِيُّ · الشَّهَادَةُ · التَّدْرِيبُ. Keep comparisons factual and respectful — no school is “bad”.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FLEX — the Topic D challenge before this slide is the main speaking task; use these website prompts if time allows or as homework rehearsal.
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وَبِمَاذَا يَتَمَيَّزُ نِظَامُكَ المِثَالِيُّ؟ (Distinguishing feature)
B: يَتَمَيَّزُ بِمُرُونَةِ المَوَادِّ الاخْتِيَارِيَّةِ، وَإِذَا أُتِيحَ وَقْتٌ لِلْإِبْدَاعِ، سَتَتَحَسَّنُ النَّتَائِجُ. (يَتَمَيَّزُ بِـ plus a conditional)
Website prompts and model. Students may describe any system they know (their own school, a parent’s school abroad). Check the complements and the noun after فِي حِينِ أَنَّ (-a). To a girl: صِفِي · نِظَامِكِ · قَارِنِي · مُسْتَعْمِلَةً.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five sentences using the academic verbs with correct complements. · Develop — Add two formal contrast connectors comparing two systems. · Stretch — Close with a distinguishing feature and a conditional about improvement.
Website writing task (Stretch): Write ninety to one hundred words comparing two education systems. Use يَجْتَازُ and يَتَفَوَّقُ فِي, at least two formal contrast connectors (بَيْنَمَا، فِي حِينِ أَنَّ), and close with a Type 1 conditional about what would improve a system.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from the website model, reading text and listening script. Live feedback for Stretch: check the target structures appear and are accurate.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writing model. Evidence: يَجْتَازُ الطُّلَّابُ امْتِحَانَاتِ · يَتَفَوَّقُ بَعْضُهُمْ فَيَلْتَحِقُونَ بِالجَامِعَاتِ · فِي المُقَابِلِ · فَبَيْنَمَا … يَمْتَدُّ … · يَتَمَيَّزُ كُلُّ نِظَامٍ بِتَوَازُنٍ · فِي حِينِ أَنَّ نِظَامًا … · إِذَا رَكَّزَتِ … فَسَيَتَحَسَّنُ.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4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EXTENSION — website reading text. For fast finishers during You Do, or Stretch homework. “You don’t need every word; find the words the question asks about.”
The green key-words panel is a teacher-made glossary so Develop students can also attempt it.
SEND reading strategy (Toolkit 1): cover the text with a piece of paper and uncover one sentence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from the website. The detective steps follow the SEND “modular reading” strategy: read one part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from the website, with the evidence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LESSON MISSION (FLEX) — fast finishers or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(TD-L02 · The Classroom and Learning Tools) · Reported Speech — What People Say About Education) will spend class time USING this language, so students prepare it tonight — short, simple, easy to access (school guidance: “Simple, Short, Interesting, Relevant, Easy to access”). The five words come from the website P2-L02 (website) vocabulary (reported speech).
Follow-up: the next Do Now tests two of these words (Flipped Learning: keep it short AND follow up).
Homework by route (website tasks). No internet? Students copy the five words from this slide into their book now.
TOPIC D: the five words are the ones the TD-L02 Do Now tests (preparation list of the website F4-L02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image" Target="../media/image-23-6.png"/><Relationship Id="rId7" Type="http://schemas.openxmlformats.org/officeDocument/2006/relationships/image" Target="../media/image-23-7.png"/><Relationship Id="rId8" Type="http://schemas.openxmlformats.org/officeDocument/2006/relationships/image" Target="../media/image-23-8.png"/><Relationship Id="rId9" Type="http://schemas.openxmlformats.org/officeDocument/2006/relationships/slideLayout" Target="../slideLayouts/slideLayout1.xml"/><Relationship Id="rId10"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image" Target="../media/image-24-6.png"/><Relationship Id="rId7" Type="http://schemas.openxmlformats.org/officeDocument/2006/relationships/image" Target="../media/image-24-7.png"/><Relationship Id="rId8" Type="http://schemas.openxmlformats.org/officeDocument/2006/relationships/image" Target="../media/image-24-8.png"/><Relationship Id="rId9" Type="http://schemas.openxmlformats.org/officeDocument/2006/relationships/slideLayout" Target="../slideLayouts/slideLayout1.xml"/><Relationship Id="rId10"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image" Target="../media/image-25-4.png"/><Relationship Id="rId5" Type="http://schemas.openxmlformats.org/officeDocument/2006/relationships/image" Target="../media/image-25-5.png"/><Relationship Id="rId6" Type="http://schemas.openxmlformats.org/officeDocument/2006/relationships/image" Target="../media/image-25-6.png"/><Relationship Id="rId7" Type="http://schemas.openxmlformats.org/officeDocument/2006/relationships/slideLayout" Target="../slideLayouts/slideLayout1.xml"/><Relationship Id="rId8"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image" Target="../media/image-26-3.png"/><Relationship Id="rId4" Type="http://schemas.openxmlformats.org/officeDocument/2006/relationships/image" Target="../media/image-26-4.png"/><Relationship Id="rId5" Type="http://schemas.openxmlformats.org/officeDocument/2006/relationships/image" Target="../media/image-26-5.png"/><Relationship Id="rId6" Type="http://schemas.openxmlformats.org/officeDocument/2006/relationships/image" Target="../media/image-26-6.png"/><Relationship Id="rId7" Type="http://schemas.openxmlformats.org/officeDocument/2006/relationships/slideLayout" Target="../slideLayouts/slideLayout1.xml"/><Relationship Id="rId8"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1.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1.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ADVANCED TOPIC D  ·  TD-L01</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TD-L01</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ea typeface="Cambria" pitchFamily="34" charset="-122"/>
                <a:cs typeface="Cambria" pitchFamily="34" charset="-120"/>
              </a:rPr>
              <a:t>Learning Institutions and Stages of Education</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المُؤَسَّسَاتُ التَّعْلِيمِيَّةُ وَمَرَاحِلُ التَّعْلِيمِ</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Describe and compare educational settings and routes.</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TD-L01 · Advanced Topic D · The World of Work</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Topic D · A2 → B1+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Advanced Topics › Topic D › TD-L01</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52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Stages, exam verbs with their complements, formal comparison.</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Sort the verbs, compare two systems in a table, match the learning route.</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TD-L02.</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52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مَنْظُومَةٌ تَعْلِيمِيَّةٌ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school report</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 education system</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university</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passes (an exam)</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fails</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enrols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يَتَفَوَّقُ فِي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specialises in</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relies on</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excels in</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الطَّعَامُ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مِنْ</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المَنَاعَةَ؟</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النَّوْمِ</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52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مَنْظُومَةٌ تَعْلِيمِيَّةٌ</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school report</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an education system</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university</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(P1-L12, website).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passes (an exam)</a:t>
            </a:r>
            <a:endParaRPr lang="en-US" sz="125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fails</a:t>
            </a:r>
            <a:endParaRPr lang="en-US" sz="125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enrols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(P1-L12, website).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يَتَفَوَّقُ فِي</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specialises in</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relies on</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excels in</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 (P1-L12, website).</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الطَّعَامُ غَنِيٌّ</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البُرُوتِينِ</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مِنْ</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earlier work: one verb, one preposition.</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هَلْ تَعْلَمُ أَنَّ</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يُقَوِّي المَنَاعَةَ؟</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النَّوْمَ</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النَّوْمِ</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P1-L07 (website): anna + accusative.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New topic, same habit: every academic verb comes with its own complement.</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lnSpc>
                <a:spcPct val="120000"/>
              </a:lnSpc>
              <a:buNone/>
            </a:pPr>
            <a:r>
              <a:rPr lang="ar-SA" altLang="en-US" sz="1950" b="1" dirty="0">
                <a:solidFill>
                  <a:srgbClr val="1D5FBF"/>
                </a:solidFill>
                <a:latin typeface="Amiri" pitchFamily="34" charset="0"/>
                <a:ea typeface="Amiri" pitchFamily="34" charset="-122"/>
                <a:cs typeface="Amiri" pitchFamily="34" charset="-120"/>
              </a:rPr>
              <a:t>يَجْتَازُ الامْتِحَانَ</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D6336C"/>
                </a:solidFill>
                <a:latin typeface="Amiri" pitchFamily="34" charset="0"/>
                <a:ea typeface="Amiri" pitchFamily="34" charset="-122"/>
                <a:cs typeface="Amiri" pitchFamily="34" charset="-120"/>
              </a:rPr>
              <a:t>يَتَفَوَّقُ فِي</a:t>
            </a:r>
            <a:pPr rtl="1" algn="ctr" indent="0" marL="0">
              <a:lnSpc>
                <a:spcPct val="120000"/>
              </a:lnSpc>
              <a:buNone/>
            </a:pPr>
            <a:r>
              <a:rPr lang="ar-SA" altLang="en-US" sz="1950" b="1" dirty="0">
                <a:solidFill>
                  <a:srgbClr val="1B3B6F"/>
                </a:solidFill>
                <a:latin typeface="Amiri" pitchFamily="34" charset="0"/>
                <a:ea typeface="Amiri" pitchFamily="34" charset="-122"/>
                <a:cs typeface="Amiri" pitchFamily="34" charset="-120"/>
              </a:rPr>
              <a:t> · </a:t>
            </a:r>
            <a:pPr rtl="1" algn="ctr" indent="0" marL="0">
              <a:lnSpc>
                <a:spcPct val="120000"/>
              </a:lnSpc>
              <a:buNone/>
            </a:pPr>
            <a:r>
              <a:rPr lang="ar-SA" altLang="en-US" sz="1950" b="1" dirty="0">
                <a:solidFill>
                  <a:srgbClr val="0E7C86"/>
                </a:solidFill>
                <a:latin typeface="Amiri" pitchFamily="34" charset="0"/>
                <a:ea typeface="Amiri" pitchFamily="34" charset="-122"/>
                <a:cs typeface="Amiri" pitchFamily="34" charset="-120"/>
              </a:rPr>
              <a:t>يَلْتَحِقُ بِـ</a:t>
            </a:r>
            <a:endParaRPr lang="ar-SA" sz="19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52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Name the stages of an education system in academic Arabic.</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yajtāz, yatafawwaq fī, yarsub fī and yaltaḥiq bi- with correct complements.</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Compare two systems with baynamā, fī ḥīni anna and yatamayyaz bi-.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Write a comparative description of two school systems.</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name the stages of a school system.</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use the exam verbs with their complements.</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compare two systems with baynamā / fī ḥīni anna.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say what a system is distinguished by.</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close with a conditional about improvement.</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compare fairly, without ranking people.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52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25 words from the website in 3 groups. Learn the CORE words first. Hear it → say it → see it → use it.</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Stages and structure · 9</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Assessment and records · 8</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Academic verbs · 8</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اِمْتِحَانٌ</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‎امتحان‎ </a:t>
            </a:r>
            <a:pPr indent="0" marL="0">
              <a:buNone/>
            </a:pPr>
            <a:r>
              <a:rPr lang="en-US" sz="950" b="1" dirty="0">
                <a:solidFill>
                  <a:srgbClr val="2E8B57"/>
                </a:solidFill>
                <a:latin typeface="Calibri" pitchFamily="34" charset="0"/>
                <a:ea typeface="Calibri" pitchFamily="34" charset="-122"/>
                <a:cs typeface="Calibri" pitchFamily="34" charset="-120"/>
              </a:rPr>
              <a:t> imtiḥān · an exam</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تَعْلِيمٌ</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‎تعلیم‎ </a:t>
            </a:r>
            <a:pPr indent="0" marL="0">
              <a:buNone/>
            </a:pPr>
            <a:r>
              <a:rPr lang="en-US" sz="950" b="1" dirty="0">
                <a:solidFill>
                  <a:srgbClr val="2E8B57"/>
                </a:solidFill>
                <a:latin typeface="Calibri" pitchFamily="34" charset="0"/>
                <a:ea typeface="Calibri" pitchFamily="34" charset="-122"/>
                <a:cs typeface="Calibri" pitchFamily="34" charset="-120"/>
              </a:rPr>
              <a:t> taʿlīm · education</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ثَانَوِيٌّ</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‎ثانوی‎ </a:t>
            </a:r>
            <a:pPr indent="0" marL="0">
              <a:buNone/>
            </a:pPr>
            <a:r>
              <a:rPr lang="en-US" sz="950" b="1" dirty="0">
                <a:solidFill>
                  <a:srgbClr val="2E8B57"/>
                </a:solidFill>
                <a:latin typeface="Calibri" pitchFamily="34" charset="0"/>
                <a:ea typeface="Calibri" pitchFamily="34" charset="-122"/>
                <a:cs typeface="Calibri" pitchFamily="34" charset="-120"/>
              </a:rPr>
              <a:t> sānwī · secondary</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مَادَّةٌ</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‎مضمون‎ </a:t>
            </a:r>
            <a:pPr indent="0" marL="0">
              <a:buNone/>
            </a:pPr>
            <a:r>
              <a:rPr lang="en-US" sz="950" b="1" dirty="0">
                <a:solidFill>
                  <a:srgbClr val="2E8B57"/>
                </a:solidFill>
                <a:latin typeface="Calibri" pitchFamily="34" charset="0"/>
                <a:ea typeface="Calibri" pitchFamily="34" charset="-122"/>
                <a:cs typeface="Calibri" pitchFamily="34" charset="-120"/>
              </a:rPr>
              <a:t> mazmūn · a school subject (Urdu uses a different word)</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شَهَادَةٌ</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‎سند / شہادت‎ </a:t>
            </a:r>
            <a:pPr indent="0" marL="0">
              <a:buNone/>
            </a:pPr>
            <a:r>
              <a:rPr lang="en-US" sz="950" b="1" dirty="0">
                <a:solidFill>
                  <a:srgbClr val="2E8B57"/>
                </a:solidFill>
                <a:latin typeface="Calibri" pitchFamily="34" charset="0"/>
                <a:ea typeface="Calibri" pitchFamily="34" charset="-122"/>
                <a:cs typeface="Calibri" pitchFamily="34" charset="-120"/>
              </a:rPr>
              <a:t> sanad · Arabic: a certificate · Urdu shahādat: testimony</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52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Stages and structure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مَنْظُومَةٌ تَعْلِيمِيَّةٌ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education system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man-ẓū-ma-tun taʿ-lī-miy-ya-tun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مَنْظُومَاتٌ تَعْلِيمِيَّةٌ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مَرْحَلَةٌ ابْتِدَائِيَّةٌ</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primary stage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mar-ḥa-la-tun ab-ti-dā-ʾiy-ya-tun</a:t>
            </a:r>
            <a:endParaRPr lang="en-US" sz="1350" dirty="0"/>
          </a:p>
        </p:txBody>
      </p:sp>
      <p:sp>
        <p:nvSpPr>
          <p:cNvPr id="34" name="Shape 31"/>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566928" y="1920240"/>
            <a:ext cx="310896" cy="310896"/>
          </a:xfrm>
          <a:prstGeom prst="ellipse">
            <a:avLst/>
          </a:prstGeom>
          <a:solidFill>
            <a:srgbClr val="F4F1EA"/>
          </a:solidFill>
          <a:ln w="12700">
            <a:solidFill>
              <a:srgbClr val="F4F1EA"/>
            </a:solidFill>
            <a:prstDash val="solid"/>
          </a:ln>
        </p:spPr>
      </p:sp>
      <p:sp>
        <p:nvSpPr>
          <p:cNvPr id="36" name="Text 33"/>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7" name="Text 34"/>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مَرْحَلَةٌ إِعْدَادِيَّةٌ</a:t>
            </a:r>
            <a:endParaRPr lang="ar-SA" sz="3000" dirty="0"/>
          </a:p>
        </p:txBody>
      </p:sp>
      <p:sp>
        <p:nvSpPr>
          <p:cNvPr id="38" name="Text 35"/>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preparatory (middle) stage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mar-ḥa-la-tun iʿ-dā-diy-ya-tun</a:t>
            </a:r>
            <a:endParaRPr lang="en-US" sz="135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مَرْحَلَةٌ ثَانَوِيَّةٌ</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secondary stage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mar-ḥa-la-tun thā-na-wiy-ya-tun</a:t>
            </a:r>
            <a:endParaRPr lang="en-US" sz="1350" dirty="0"/>
          </a:p>
        </p:txBody>
      </p:sp>
      <p:sp>
        <p:nvSpPr>
          <p:cNvPr id="46" name="Shape 43"/>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4389120" y="4261104"/>
            <a:ext cx="310896" cy="310896"/>
          </a:xfrm>
          <a:prstGeom prst="ellipse">
            <a:avLst/>
          </a:prstGeom>
          <a:solidFill>
            <a:srgbClr val="F4F1EA"/>
          </a:solidFill>
          <a:ln w="12700">
            <a:solidFill>
              <a:srgbClr val="F4F1EA"/>
            </a:solidFill>
            <a:prstDash val="solid"/>
          </a:ln>
        </p:spPr>
      </p:sp>
      <p:sp>
        <p:nvSpPr>
          <p:cNvPr id="48" name="Text 45"/>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49" name="Shape 46"/>
          <p:cNvSpPr/>
          <p:nvPr/>
        </p:nvSpPr>
        <p:spPr>
          <a:xfrm>
            <a:off x="4782312" y="4279392"/>
            <a:ext cx="833933" cy="256032"/>
          </a:xfrm>
          <a:prstGeom prst="roundRect">
            <a:avLst>
              <a:gd name="adj" fmla="val 50000"/>
            </a:avLst>
          </a:prstGeom>
          <a:solidFill>
            <a:srgbClr val="EFE7D2"/>
          </a:solidFill>
          <a:ln w="12700">
            <a:solidFill>
              <a:srgbClr val="EFE7D2"/>
            </a:solidFill>
            <a:prstDash val="solid"/>
          </a:ln>
        </p:spPr>
      </p:sp>
      <p:sp>
        <p:nvSpPr>
          <p:cNvPr id="50" name="Text 47"/>
          <p:cNvSpPr txBox="1"/>
          <p:nvPr/>
        </p:nvSpPr>
        <p:spPr>
          <a:xfrm>
            <a:off x="4782312" y="4279392"/>
            <a:ext cx="833933"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defective</a:t>
            </a:r>
            <a:endParaRPr lang="en-US" sz="800" dirty="0"/>
          </a:p>
        </p:txBody>
      </p:sp>
      <p:sp>
        <p:nvSpPr>
          <p:cNvPr id="51" name="Shape 48"/>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2" name="Text 49"/>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3" name="Text 50"/>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تَعْلِيمٌ عَالٍ</a:t>
            </a:r>
            <a:endParaRPr lang="ar-SA" sz="3000" dirty="0"/>
          </a:p>
        </p:txBody>
      </p:sp>
      <p:sp>
        <p:nvSpPr>
          <p:cNvPr id="54" name="Text 51"/>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higher education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taʿ-lī-mun ʿā-lin</a:t>
            </a:r>
            <a:endParaRPr lang="en-US" sz="1350" dirty="0"/>
          </a:p>
        </p:txBody>
      </p:sp>
      <p:sp>
        <p:nvSpPr>
          <p:cNvPr id="55" name="Shape 52"/>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with al-</a:t>
            </a:r>
            <a:endParaRPr lang="en-US" sz="700" dirty="0"/>
          </a:p>
        </p:txBody>
      </p:sp>
      <p:sp>
        <p:nvSpPr>
          <p:cNvPr id="57" name="Text 54"/>
          <p:cNvSpPr txBox="1"/>
          <p:nvPr/>
        </p:nvSpPr>
        <p:spPr>
          <a:xfrm>
            <a:off x="4462272" y="5916168"/>
            <a:ext cx="3273552"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التَّعْلِيمُ العَالِي</a:t>
            </a:r>
            <a:endParaRPr lang="ar-SA" sz="13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52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Stages and structure (2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18" name="Shape 15"/>
          <p:cNvSpPr/>
          <p:nvPr/>
        </p:nvSpPr>
        <p:spPr>
          <a:xfrm>
            <a:off x="8604504" y="1938528"/>
            <a:ext cx="709574"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مَنْهَجٌ دِرَاسِيٌّ</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curriculum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man-ha-jun di-rā-siy-yun</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مَنَاهِجُ دِرَاسِيَّةٌ</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30" name="Shape 27"/>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2" name="Text 29"/>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مُقَرَّرٌ</a:t>
            </a:r>
            <a:endParaRPr lang="ar-SA" sz="3000" dirty="0"/>
          </a:p>
        </p:txBody>
      </p:sp>
      <p:sp>
        <p:nvSpPr>
          <p:cNvPr id="33" name="Text 30"/>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module, course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mu-qar-ra-run</a:t>
            </a:r>
            <a:endParaRPr lang="en-US" sz="1350" dirty="0"/>
          </a:p>
        </p:txBody>
      </p:sp>
      <p:sp>
        <p:nvSpPr>
          <p:cNvPr id="34" name="Shape 31"/>
          <p:cNvSpPr/>
          <p:nvPr/>
        </p:nvSpPr>
        <p:spPr>
          <a:xfrm>
            <a:off x="4416552" y="3438144"/>
            <a:ext cx="3364992" cy="438912"/>
          </a:xfrm>
          <a:prstGeom prst="roundRect">
            <a:avLst>
              <a:gd name="adj" fmla="val 10417"/>
            </a:avLst>
          </a:prstGeom>
          <a:solidFill>
            <a:srgbClr val="F4F1EA"/>
          </a:solidFill>
          <a:ln w="9525">
            <a:solidFill>
              <a:srgbClr val="F4F1EA"/>
            </a:solidFill>
            <a:prstDash val="solid"/>
          </a:ln>
        </p:spPr>
      </p:sp>
      <p:sp>
        <p:nvSpPr>
          <p:cNvPr id="35" name="Text 32"/>
          <p:cNvSpPr txBox="1"/>
          <p:nvPr/>
        </p:nvSpPr>
        <p:spPr>
          <a:xfrm>
            <a:off x="4471416"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6" name="Text 33"/>
          <p:cNvSpPr txBox="1"/>
          <p:nvPr/>
        </p:nvSpPr>
        <p:spPr>
          <a:xfrm>
            <a:off x="4462272"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مُقَرَّرَاتٌ</a:t>
            </a:r>
            <a:endParaRPr lang="ar-SA" sz="1500" dirty="0"/>
          </a:p>
        </p:txBody>
      </p:sp>
      <p:sp>
        <p:nvSpPr>
          <p:cNvPr id="37" name="Shape 3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566928" y="1920240"/>
            <a:ext cx="310896" cy="310896"/>
          </a:xfrm>
          <a:prstGeom prst="ellipse">
            <a:avLst/>
          </a:prstGeom>
          <a:solidFill>
            <a:srgbClr val="F4F1EA"/>
          </a:solidFill>
          <a:ln w="12700">
            <a:solidFill>
              <a:srgbClr val="F4F1EA"/>
            </a:solidFill>
            <a:prstDash val="solid"/>
          </a:ln>
        </p:spPr>
      </p:sp>
      <p:sp>
        <p:nvSpPr>
          <p:cNvPr id="39" name="Text 3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40" name="Shape 3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41" name="Text 3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42" name="Shape 3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مَادَّةٌ إِلْزَامِيَّةٌ</a:t>
            </a:r>
            <a:endParaRPr lang="ar-SA" sz="3000" dirty="0"/>
          </a:p>
        </p:txBody>
      </p:sp>
      <p:sp>
        <p:nvSpPr>
          <p:cNvPr id="45" name="Text 4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compulsory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mād-da-tun il-zā-miy-ya-tun</a:t>
            </a:r>
            <a:endParaRPr lang="en-US" sz="1350" dirty="0"/>
          </a:p>
        </p:txBody>
      </p:sp>
      <p:sp>
        <p:nvSpPr>
          <p:cNvPr id="46" name="Shape 43"/>
          <p:cNvSpPr/>
          <p:nvPr/>
        </p:nvSpPr>
        <p:spPr>
          <a:xfrm>
            <a:off x="594360" y="3438144"/>
            <a:ext cx="3364992" cy="438912"/>
          </a:xfrm>
          <a:prstGeom prst="roundRect">
            <a:avLst>
              <a:gd name="adj" fmla="val 10417"/>
            </a:avLst>
          </a:prstGeom>
          <a:solidFill>
            <a:srgbClr val="F4F1EA"/>
          </a:solidFill>
          <a:ln w="9525">
            <a:solidFill>
              <a:srgbClr val="F4F1EA"/>
            </a:solidFill>
            <a:prstDash val="solid"/>
          </a:ln>
        </p:spPr>
      </p:sp>
      <p:sp>
        <p:nvSpPr>
          <p:cNvPr id="47" name="Text 44"/>
          <p:cNvSpPr txBox="1"/>
          <p:nvPr/>
        </p:nvSpPr>
        <p:spPr>
          <a:xfrm>
            <a:off x="649224"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8" name="Text 45"/>
          <p:cNvSpPr txBox="1"/>
          <p:nvPr/>
        </p:nvSpPr>
        <p:spPr>
          <a:xfrm>
            <a:off x="640080"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مَوَادُّ إِلْزَامِيَّةٌ</a:t>
            </a:r>
            <a:endParaRPr lang="ar-SA" sz="1500" dirty="0"/>
          </a:p>
        </p:txBody>
      </p:sp>
      <p:sp>
        <p:nvSpPr>
          <p:cNvPr id="49" name="Shape 4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8211312" y="4261104"/>
            <a:ext cx="310896" cy="310896"/>
          </a:xfrm>
          <a:prstGeom prst="ellipse">
            <a:avLst/>
          </a:prstGeom>
          <a:solidFill>
            <a:srgbClr val="F4F1EA"/>
          </a:solidFill>
          <a:ln w="12700">
            <a:solidFill>
              <a:srgbClr val="F4F1EA"/>
            </a:solidFill>
            <a:prstDash val="solid"/>
          </a:ln>
        </p:spPr>
      </p:sp>
      <p:sp>
        <p:nvSpPr>
          <p:cNvPr id="51" name="Text 4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2" name="Shape 49"/>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53" name="Text 50"/>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54" name="Text 51"/>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مَادَّةٌ اخْتِيَارِيَّةٌ</a:t>
            </a:r>
            <a:endParaRPr lang="ar-SA" sz="3000" dirty="0"/>
          </a:p>
        </p:txBody>
      </p:sp>
      <p:sp>
        <p:nvSpPr>
          <p:cNvPr id="55" name="Text 52"/>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 elective subject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mād-da-tun akh-ti-yā-riy-ya-tun</a:t>
            </a:r>
            <a:endParaRPr lang="en-US" sz="1350" dirty="0"/>
          </a:p>
        </p:txBody>
      </p:sp>
      <p:sp>
        <p:nvSpPr>
          <p:cNvPr id="56" name="Shape 53"/>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58" name="Text 55"/>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مَوَادُّ اخْتِيَارِيَّةٌ</a:t>
            </a:r>
            <a:endParaRPr lang="ar-SA" sz="150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52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Assessment and records (1 of 2)</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18" name="Text 15"/>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مُعَدَّلُ الدِّرَاسَةِ</a:t>
            </a:r>
            <a:endParaRPr lang="ar-SA" sz="3000" dirty="0"/>
          </a:p>
        </p:txBody>
      </p:sp>
      <p:sp>
        <p:nvSpPr>
          <p:cNvPr id="19" name="Text 16"/>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grade point average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mu-ʿad-da-lu ad-di-rā-sa-ti</a:t>
            </a:r>
            <a:endParaRPr lang="en-US" sz="1350" dirty="0"/>
          </a:p>
        </p:txBody>
      </p:sp>
      <p:sp>
        <p:nvSpPr>
          <p:cNvPr id="20" name="Shape 17"/>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4389120" y="1920240"/>
            <a:ext cx="310896" cy="310896"/>
          </a:xfrm>
          <a:prstGeom prst="ellipse">
            <a:avLst/>
          </a:prstGeom>
          <a:solidFill>
            <a:srgbClr val="F4F1EA"/>
          </a:solidFill>
          <a:ln w="12700">
            <a:solidFill>
              <a:srgbClr val="F4F1EA"/>
            </a:solidFill>
            <a:prstDash val="solid"/>
          </a:ln>
        </p:spPr>
      </p:sp>
      <p:sp>
        <p:nvSpPr>
          <p:cNvPr id="22" name="Text 19"/>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23" name="Text 20"/>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اِمْتِحَانَاتُ الشَّهَادَةِ</a:t>
            </a:r>
            <a:endParaRPr lang="ar-SA" sz="3000" dirty="0"/>
          </a:p>
        </p:txBody>
      </p:sp>
      <p:sp>
        <p:nvSpPr>
          <p:cNvPr id="24" name="Text 21"/>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certificate examinations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im-ti-ḥā-nā-tu ash-sha-hā-da-ti</a:t>
            </a:r>
            <a:endParaRPr lang="en-US" sz="1350" dirty="0"/>
          </a:p>
        </p:txBody>
      </p:sp>
      <p:sp>
        <p:nvSpPr>
          <p:cNvPr id="25" name="Shape 2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566928"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28" name="Text 25"/>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نِظَامُ التَّقْيِيمِ</a:t>
            </a:r>
            <a:endParaRPr lang="ar-SA" sz="3000" dirty="0"/>
          </a:p>
        </p:txBody>
      </p:sp>
      <p:sp>
        <p:nvSpPr>
          <p:cNvPr id="29" name="Text 26"/>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assessment system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ni-ẓā-mu at-taq-yī-mi</a:t>
            </a:r>
            <a:endParaRPr lang="en-US" sz="1350" dirty="0"/>
          </a:p>
        </p:txBody>
      </p:sp>
      <p:sp>
        <p:nvSpPr>
          <p:cNvPr id="30" name="Shape 27"/>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8211312" y="4261104"/>
            <a:ext cx="310896" cy="310896"/>
          </a:xfrm>
          <a:prstGeom prst="ellipse">
            <a:avLst/>
          </a:prstGeom>
          <a:solidFill>
            <a:srgbClr val="F4F1EA"/>
          </a:solidFill>
          <a:ln w="12700">
            <a:solidFill>
              <a:srgbClr val="F4F1EA"/>
            </a:solidFill>
            <a:prstDash val="solid"/>
          </a:ln>
        </p:spPr>
      </p:sp>
      <p:sp>
        <p:nvSpPr>
          <p:cNvPr id="32" name="Text 29"/>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13</a:t>
            </a:r>
            <a:endParaRPr lang="en-US" sz="1000" dirty="0"/>
          </a:p>
        </p:txBody>
      </p:sp>
      <p:sp>
        <p:nvSpPr>
          <p:cNvPr id="33" name="Text 30"/>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كَشْفُ الدَّرَجَاتِ</a:t>
            </a:r>
            <a:endParaRPr lang="ar-SA" sz="3000" dirty="0"/>
          </a:p>
        </p:txBody>
      </p:sp>
      <p:sp>
        <p:nvSpPr>
          <p:cNvPr id="34" name="Text 31"/>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transcript of grades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kash-fu ad-da-ra-jā-ti</a:t>
            </a:r>
            <a:endParaRPr lang="en-US" sz="13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52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Assessment and records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14</a:t>
            </a:r>
            <a:endParaRPr lang="en-US" sz="10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تَقْرِيرٌ مَدْرَسِيٌّ</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school report</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taq-rī-run mad-ra-siy-yun</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15</a:t>
            </a:r>
            <a:endParaRPr lang="en-US" sz="1000" dirty="0"/>
          </a:p>
        </p:txBody>
      </p:sp>
      <p:sp>
        <p:nvSpPr>
          <p:cNvPr id="25" name="Text 22"/>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الاعْتِمَادُ الأَكَادِيمِيُّ</a:t>
            </a:r>
            <a:endParaRPr lang="ar-SA" sz="3000" dirty="0"/>
          </a:p>
        </p:txBody>
      </p:sp>
      <p:sp>
        <p:nvSpPr>
          <p:cNvPr id="26" name="Text 23"/>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academic accreditation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alʿ-ti-mā-du al-a-kā-dī-miy-yu</a:t>
            </a:r>
            <a:endParaRPr lang="en-US" sz="1350" dirty="0"/>
          </a:p>
        </p:txBody>
      </p:sp>
      <p:sp>
        <p:nvSpPr>
          <p:cNvPr id="27" name="Shape 2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566928"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16</a:t>
            </a:r>
            <a:endParaRPr lang="en-US" sz="1000" dirty="0"/>
          </a:p>
        </p:txBody>
      </p:sp>
      <p:sp>
        <p:nvSpPr>
          <p:cNvPr id="30" name="Text 27"/>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الإِجَازَةُ التَّدْرِيسِيَّةُ</a:t>
            </a:r>
            <a:endParaRPr lang="ar-SA" sz="3000" dirty="0"/>
          </a:p>
        </p:txBody>
      </p:sp>
      <p:sp>
        <p:nvSpPr>
          <p:cNvPr id="31" name="Text 28"/>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teaching qualification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al-i-jā-za-tu at-tad-rī-siy-ya-tu</a:t>
            </a:r>
            <a:endParaRPr lang="en-US" sz="1350" dirty="0"/>
          </a:p>
        </p:txBody>
      </p:sp>
      <p:sp>
        <p:nvSpPr>
          <p:cNvPr id="32" name="Shape 2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8211312" y="4261104"/>
            <a:ext cx="310896" cy="310896"/>
          </a:xfrm>
          <a:prstGeom prst="ellipse">
            <a:avLst/>
          </a:prstGeom>
          <a:solidFill>
            <a:srgbClr val="F4F1EA"/>
          </a:solidFill>
          <a:ln w="12700">
            <a:solidFill>
              <a:srgbClr val="F4F1EA"/>
            </a:solidFill>
            <a:prstDash val="solid"/>
          </a:ln>
        </p:spPr>
      </p:sp>
      <p:sp>
        <p:nvSpPr>
          <p:cNvPr id="34" name="Text 3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17</a:t>
            </a:r>
            <a:endParaRPr lang="en-US" sz="1000" dirty="0"/>
          </a:p>
        </p:txBody>
      </p:sp>
      <p:sp>
        <p:nvSpPr>
          <p:cNvPr id="35" name="Shape 32"/>
          <p:cNvSpPr/>
          <p:nvPr/>
        </p:nvSpPr>
        <p:spPr>
          <a:xfrm>
            <a:off x="8604504" y="4279392"/>
            <a:ext cx="709574"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8604504"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sg · pl</a:t>
            </a:r>
            <a:endParaRPr lang="en-US" sz="800" dirty="0"/>
          </a:p>
        </p:txBody>
      </p:sp>
      <p:sp>
        <p:nvSpPr>
          <p:cNvPr id="37" name="Text 34"/>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شَهَادَةٌ ثَانَوِيَّةٌ</a:t>
            </a:r>
            <a:endParaRPr lang="ar-SA" sz="3000" dirty="0"/>
          </a:p>
        </p:txBody>
      </p:sp>
      <p:sp>
        <p:nvSpPr>
          <p:cNvPr id="38" name="Text 35"/>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secondary certificate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sha-hā-da-tun thā-na-wiy-ya-tun</a:t>
            </a:r>
            <a:endParaRPr lang="en-US" sz="1350" dirty="0"/>
          </a:p>
        </p:txBody>
      </p:sp>
      <p:sp>
        <p:nvSpPr>
          <p:cNvPr id="39" name="Shape 36"/>
          <p:cNvSpPr/>
          <p:nvPr/>
        </p:nvSpPr>
        <p:spPr>
          <a:xfrm>
            <a:off x="8238744" y="5779008"/>
            <a:ext cx="3364992"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8293608"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41" name="Text 38"/>
          <p:cNvSpPr txBox="1"/>
          <p:nvPr/>
        </p:nvSpPr>
        <p:spPr>
          <a:xfrm>
            <a:off x="8284464"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شَهَادَاتٌ ثَانَوِيَّةٌ</a:t>
            </a:r>
            <a:endParaRPr lang="ar-SA" sz="15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52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(1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18</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يَلْتَحِقُ بِـ</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enrols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yal-ta-ḥi-qu bi</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تَلْتَحِقُ</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أَلْتَحِقُ</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19</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Shape 34"/>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9" name="Text 36"/>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يَجْتَازُ</a:t>
            </a:r>
            <a:endParaRPr lang="ar-SA" sz="3000" dirty="0"/>
          </a:p>
        </p:txBody>
      </p:sp>
      <p:sp>
        <p:nvSpPr>
          <p:cNvPr id="40" name="Text 37"/>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passes (an exam)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yaj-tā-zu</a:t>
            </a:r>
            <a:endParaRPr lang="en-US" sz="1350" dirty="0"/>
          </a:p>
        </p:txBody>
      </p:sp>
      <p:sp>
        <p:nvSpPr>
          <p:cNvPr id="41" name="Shape 38"/>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3" name="Text 40"/>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تَجْتَازُ</a:t>
            </a:r>
            <a:endParaRPr lang="ar-SA" sz="1500" dirty="0"/>
          </a:p>
        </p:txBody>
      </p:sp>
      <p:sp>
        <p:nvSpPr>
          <p:cNvPr id="44" name="Shape 41"/>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6" name="Text 43"/>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أَجْتَازُ</a:t>
            </a:r>
            <a:endParaRPr lang="ar-SA" sz="150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20</a:t>
            </a:r>
            <a:endParaRPr lang="en-US" sz="1000" dirty="0"/>
          </a:p>
        </p:txBody>
      </p:sp>
      <p:sp>
        <p:nvSpPr>
          <p:cNvPr id="50" name="Shape 47"/>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2" name="Shape 4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53" name="Text 5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4" name="Text 51"/>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يَرْسُبُ فِي</a:t>
            </a:r>
            <a:endParaRPr lang="ar-SA" sz="3000" dirty="0"/>
          </a:p>
        </p:txBody>
      </p:sp>
      <p:sp>
        <p:nvSpPr>
          <p:cNvPr id="55" name="Text 52"/>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fails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yar-su-bu fī</a:t>
            </a:r>
            <a:endParaRPr lang="en-US" sz="1350" dirty="0"/>
          </a:p>
        </p:txBody>
      </p:sp>
      <p:sp>
        <p:nvSpPr>
          <p:cNvPr id="56" name="Shape 53"/>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7" name="Text 54"/>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8" name="Text 55"/>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تَرْسُبُ</a:t>
            </a:r>
            <a:endParaRPr lang="ar-SA" sz="1500" dirty="0"/>
          </a:p>
        </p:txBody>
      </p:sp>
      <p:sp>
        <p:nvSpPr>
          <p:cNvPr id="59" name="Shape 56"/>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60" name="Text 57"/>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61" name="Text 58"/>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أَرْسُبُ</a:t>
            </a:r>
            <a:endParaRPr lang="ar-SA" sz="1500" dirty="0"/>
          </a:p>
        </p:txBody>
      </p:sp>
      <p:sp>
        <p:nvSpPr>
          <p:cNvPr id="62" name="Shape 59"/>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8211312" y="4261104"/>
            <a:ext cx="310896" cy="310896"/>
          </a:xfrm>
          <a:prstGeom prst="ellipse">
            <a:avLst/>
          </a:prstGeom>
          <a:solidFill>
            <a:srgbClr val="F4F1EA"/>
          </a:solidFill>
          <a:ln w="12700">
            <a:solidFill>
              <a:srgbClr val="F4F1EA"/>
            </a:solidFill>
            <a:prstDash val="solid"/>
          </a:ln>
        </p:spPr>
      </p:sp>
      <p:sp>
        <p:nvSpPr>
          <p:cNvPr id="64" name="Text 61"/>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21</a:t>
            </a:r>
            <a:endParaRPr lang="en-US" sz="1000" dirty="0"/>
          </a:p>
        </p:txBody>
      </p:sp>
      <p:sp>
        <p:nvSpPr>
          <p:cNvPr id="65" name="Shape 62"/>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6" name="Text 63"/>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7" name="Shape 64"/>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8" name="Text 65"/>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9" name="Text 66"/>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يَتَفَوَّقُ فِي</a:t>
            </a:r>
            <a:endParaRPr lang="ar-SA" sz="3000" dirty="0"/>
          </a:p>
        </p:txBody>
      </p:sp>
      <p:sp>
        <p:nvSpPr>
          <p:cNvPr id="70" name="Text 67"/>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excels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ya-ta-faw-wa-qu fī</a:t>
            </a:r>
            <a:endParaRPr lang="en-US" sz="1350" dirty="0"/>
          </a:p>
        </p:txBody>
      </p:sp>
      <p:sp>
        <p:nvSpPr>
          <p:cNvPr id="71" name="Shape 68"/>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72" name="Text 69"/>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73" name="Text 70"/>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تَتَفَوَّقُ</a:t>
            </a:r>
            <a:endParaRPr lang="ar-SA" sz="1500" dirty="0"/>
          </a:p>
        </p:txBody>
      </p:sp>
      <p:sp>
        <p:nvSpPr>
          <p:cNvPr id="74" name="Shape 71"/>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75" name="Text 72"/>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6" name="Text 73"/>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أَتَفَوَّقُ</a:t>
            </a:r>
            <a:endParaRPr lang="ar-SA" sz="150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52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3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Academic verbs (2 of 2)</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كَلِمَاتُ الدَّرْسِ</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11312" y="1920240"/>
            <a:ext cx="310896" cy="310896"/>
          </a:xfrm>
          <a:prstGeom prst="ellipse">
            <a:avLst/>
          </a:prstGeom>
          <a:solidFill>
            <a:srgbClr val="F4F1EA"/>
          </a:solidFill>
          <a:ln w="12700">
            <a:solidFill>
              <a:srgbClr val="F4F1EA"/>
            </a:solidFill>
            <a:prstDash val="solid"/>
          </a:ln>
        </p:spPr>
      </p:sp>
      <p:sp>
        <p:nvSpPr>
          <p:cNvPr id="19" name="Text 16"/>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22</a:t>
            </a:r>
            <a:endParaRPr lang="en-US" sz="1000" dirty="0"/>
          </a:p>
        </p:txBody>
      </p:sp>
      <p:sp>
        <p:nvSpPr>
          <p:cNvPr id="20" name="Shape 17"/>
          <p:cNvSpPr/>
          <p:nvPr/>
        </p:nvSpPr>
        <p:spPr>
          <a:xfrm>
            <a:off x="8604504" y="1938528"/>
            <a:ext cx="1020470" cy="256032"/>
          </a:xfrm>
          <a:prstGeom prst="roundRect">
            <a:avLst>
              <a:gd name="adj" fmla="val 50000"/>
            </a:avLst>
          </a:prstGeom>
          <a:solidFill>
            <a:srgbClr val="EFE7D2"/>
          </a:solidFill>
          <a:ln w="12700">
            <a:solidFill>
              <a:srgbClr val="EFE7D2"/>
            </a:solidFill>
            <a:prstDash val="solid"/>
          </a:ln>
        </p:spPr>
      </p:sp>
      <p:sp>
        <p:nvSpPr>
          <p:cNvPr id="21" name="Text 18"/>
          <p:cNvSpPr txBox="1"/>
          <p:nvPr/>
        </p:nvSpPr>
        <p:spPr>
          <a:xfrm>
            <a:off x="8604504"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22" name="Shape 19"/>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3" name="Text 20"/>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4" name="Text 21"/>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يَحْصُلُ عَلَى</a:t>
            </a:r>
            <a:endParaRPr lang="ar-SA" sz="3000" dirty="0"/>
          </a:p>
        </p:txBody>
      </p:sp>
      <p:sp>
        <p:nvSpPr>
          <p:cNvPr id="25" name="Text 22"/>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obtains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yaḥ-ṣu-lu ʿa-lā</a:t>
            </a:r>
            <a:endParaRPr lang="en-US" sz="1350" dirty="0"/>
          </a:p>
        </p:txBody>
      </p:sp>
      <p:sp>
        <p:nvSpPr>
          <p:cNvPr id="26" name="Shape 23"/>
          <p:cNvSpPr/>
          <p:nvPr/>
        </p:nvSpPr>
        <p:spPr>
          <a:xfrm>
            <a:off x="9966960" y="3438144"/>
            <a:ext cx="1636776" cy="438912"/>
          </a:xfrm>
          <a:prstGeom prst="roundRect">
            <a:avLst>
              <a:gd name="adj" fmla="val 10417"/>
            </a:avLst>
          </a:prstGeom>
          <a:solidFill>
            <a:srgbClr val="F4F1EA"/>
          </a:solidFill>
          <a:ln w="9525">
            <a:solidFill>
              <a:srgbClr val="F4F1EA"/>
            </a:solidFill>
            <a:prstDash val="solid"/>
          </a:ln>
        </p:spPr>
      </p:sp>
      <p:sp>
        <p:nvSpPr>
          <p:cNvPr id="27" name="Text 24"/>
          <p:cNvSpPr txBox="1"/>
          <p:nvPr/>
        </p:nvSpPr>
        <p:spPr>
          <a:xfrm>
            <a:off x="100218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28" name="Text 25"/>
          <p:cNvSpPr txBox="1"/>
          <p:nvPr/>
        </p:nvSpPr>
        <p:spPr>
          <a:xfrm>
            <a:off x="100126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تَحْصُلُ</a:t>
            </a:r>
            <a:endParaRPr lang="ar-SA" sz="1500" dirty="0"/>
          </a:p>
        </p:txBody>
      </p:sp>
      <p:sp>
        <p:nvSpPr>
          <p:cNvPr id="29" name="Shape 26"/>
          <p:cNvSpPr/>
          <p:nvPr/>
        </p:nvSpPr>
        <p:spPr>
          <a:xfrm>
            <a:off x="8238744" y="3438144"/>
            <a:ext cx="1636776" cy="438912"/>
          </a:xfrm>
          <a:prstGeom prst="roundRect">
            <a:avLst>
              <a:gd name="adj" fmla="val 10417"/>
            </a:avLst>
          </a:prstGeom>
          <a:solidFill>
            <a:srgbClr val="F4F1EA"/>
          </a:solidFill>
          <a:ln w="9525">
            <a:solidFill>
              <a:srgbClr val="F4F1EA"/>
            </a:solidFill>
            <a:prstDash val="solid"/>
          </a:ln>
        </p:spPr>
      </p:sp>
      <p:sp>
        <p:nvSpPr>
          <p:cNvPr id="30" name="Text 27"/>
          <p:cNvSpPr txBox="1"/>
          <p:nvPr/>
        </p:nvSpPr>
        <p:spPr>
          <a:xfrm>
            <a:off x="8293608"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31" name="Text 28"/>
          <p:cNvSpPr txBox="1"/>
          <p:nvPr/>
        </p:nvSpPr>
        <p:spPr>
          <a:xfrm>
            <a:off x="8284464"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أَحْصُلُ</a:t>
            </a:r>
            <a:endParaRPr lang="ar-SA" sz="1500" dirty="0"/>
          </a:p>
        </p:txBody>
      </p:sp>
      <p:sp>
        <p:nvSpPr>
          <p:cNvPr id="32" name="Shape 2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389120" y="1920240"/>
            <a:ext cx="310896" cy="310896"/>
          </a:xfrm>
          <a:prstGeom prst="ellipse">
            <a:avLst/>
          </a:prstGeom>
          <a:solidFill>
            <a:srgbClr val="F4F1EA"/>
          </a:solidFill>
          <a:ln w="12700">
            <a:solidFill>
              <a:srgbClr val="F4F1EA"/>
            </a:solidFill>
            <a:prstDash val="solid"/>
          </a:ln>
        </p:spPr>
      </p:sp>
      <p:sp>
        <p:nvSpPr>
          <p:cNvPr id="34" name="Text 3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23</a:t>
            </a:r>
            <a:endParaRPr lang="en-US" sz="1000" dirty="0"/>
          </a:p>
        </p:txBody>
      </p:sp>
      <p:sp>
        <p:nvSpPr>
          <p:cNvPr id="35" name="Shape 32"/>
          <p:cNvSpPr/>
          <p:nvPr/>
        </p:nvSpPr>
        <p:spPr>
          <a:xfrm>
            <a:off x="4782312" y="1938528"/>
            <a:ext cx="1020470" cy="256032"/>
          </a:xfrm>
          <a:prstGeom prst="roundRect">
            <a:avLst>
              <a:gd name="adj" fmla="val 50000"/>
            </a:avLst>
          </a:prstGeom>
          <a:solidFill>
            <a:srgbClr val="EFE7D2"/>
          </a:solidFill>
          <a:ln w="12700">
            <a:solidFill>
              <a:srgbClr val="EFE7D2"/>
            </a:solidFill>
            <a:prstDash val="solid"/>
          </a:ln>
        </p:spPr>
      </p:sp>
      <p:sp>
        <p:nvSpPr>
          <p:cNvPr id="36" name="Text 33"/>
          <p:cNvSpPr txBox="1"/>
          <p:nvPr/>
        </p:nvSpPr>
        <p:spPr>
          <a:xfrm>
            <a:off x="4782312"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37" name="Text 34"/>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يَتَخَصَّصُ فِي</a:t>
            </a:r>
            <a:endParaRPr lang="ar-SA" sz="3000" dirty="0"/>
          </a:p>
        </p:txBody>
      </p:sp>
      <p:sp>
        <p:nvSpPr>
          <p:cNvPr id="38" name="Text 35"/>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specialises in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ya-ta-khaṣ-ṣa-ṣu fī</a:t>
            </a:r>
            <a:endParaRPr lang="en-US" sz="1350" dirty="0"/>
          </a:p>
        </p:txBody>
      </p:sp>
      <p:sp>
        <p:nvSpPr>
          <p:cNvPr id="39" name="Shape 36"/>
          <p:cNvSpPr/>
          <p:nvPr/>
        </p:nvSpPr>
        <p:spPr>
          <a:xfrm>
            <a:off x="6144768" y="3438144"/>
            <a:ext cx="1636776" cy="438912"/>
          </a:xfrm>
          <a:prstGeom prst="roundRect">
            <a:avLst>
              <a:gd name="adj" fmla="val 10417"/>
            </a:avLst>
          </a:prstGeom>
          <a:solidFill>
            <a:srgbClr val="F4F1EA"/>
          </a:solidFill>
          <a:ln w="9525">
            <a:solidFill>
              <a:srgbClr val="F4F1EA"/>
            </a:solidFill>
            <a:prstDash val="solid"/>
          </a:ln>
        </p:spPr>
      </p:sp>
      <p:sp>
        <p:nvSpPr>
          <p:cNvPr id="40" name="Text 37"/>
          <p:cNvSpPr txBox="1"/>
          <p:nvPr/>
        </p:nvSpPr>
        <p:spPr>
          <a:xfrm>
            <a:off x="6199632"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41" name="Text 38"/>
          <p:cNvSpPr txBox="1"/>
          <p:nvPr/>
        </p:nvSpPr>
        <p:spPr>
          <a:xfrm>
            <a:off x="6190488"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تَتَخَصَّصُ</a:t>
            </a:r>
            <a:endParaRPr lang="ar-SA" sz="1500" dirty="0"/>
          </a:p>
        </p:txBody>
      </p:sp>
      <p:sp>
        <p:nvSpPr>
          <p:cNvPr id="42" name="Shape 39"/>
          <p:cNvSpPr/>
          <p:nvPr/>
        </p:nvSpPr>
        <p:spPr>
          <a:xfrm>
            <a:off x="4416552" y="3438144"/>
            <a:ext cx="1636776" cy="438912"/>
          </a:xfrm>
          <a:prstGeom prst="roundRect">
            <a:avLst>
              <a:gd name="adj" fmla="val 10417"/>
            </a:avLst>
          </a:prstGeom>
          <a:solidFill>
            <a:srgbClr val="F4F1EA"/>
          </a:solidFill>
          <a:ln w="9525">
            <a:solidFill>
              <a:srgbClr val="F4F1EA"/>
            </a:solidFill>
            <a:prstDash val="solid"/>
          </a:ln>
        </p:spPr>
      </p:sp>
      <p:sp>
        <p:nvSpPr>
          <p:cNvPr id="43" name="Text 40"/>
          <p:cNvSpPr txBox="1"/>
          <p:nvPr/>
        </p:nvSpPr>
        <p:spPr>
          <a:xfrm>
            <a:off x="4471416"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44" name="Text 41"/>
          <p:cNvSpPr txBox="1"/>
          <p:nvPr/>
        </p:nvSpPr>
        <p:spPr>
          <a:xfrm>
            <a:off x="4462272"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أَتَخَصَّصُ</a:t>
            </a:r>
            <a:endParaRPr lang="ar-SA" sz="1500" dirty="0"/>
          </a:p>
        </p:txBody>
      </p:sp>
      <p:sp>
        <p:nvSpPr>
          <p:cNvPr id="45" name="Shape 4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66928" y="1920240"/>
            <a:ext cx="310896" cy="310896"/>
          </a:xfrm>
          <a:prstGeom prst="ellipse">
            <a:avLst/>
          </a:prstGeom>
          <a:solidFill>
            <a:srgbClr val="F4F1EA"/>
          </a:solidFill>
          <a:ln w="12700">
            <a:solidFill>
              <a:srgbClr val="F4F1EA"/>
            </a:solidFill>
            <a:prstDash val="solid"/>
          </a:ln>
        </p:spPr>
      </p:sp>
      <p:sp>
        <p:nvSpPr>
          <p:cNvPr id="47" name="Text 4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24</a:t>
            </a:r>
            <a:endParaRPr lang="en-US" sz="1000" dirty="0"/>
          </a:p>
        </p:txBody>
      </p:sp>
      <p:sp>
        <p:nvSpPr>
          <p:cNvPr id="48" name="Shape 45"/>
          <p:cNvSpPr/>
          <p:nvPr/>
        </p:nvSpPr>
        <p:spPr>
          <a:xfrm>
            <a:off x="960120" y="1938528"/>
            <a:ext cx="1020470"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960120" y="1938528"/>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50" name="Text 47"/>
          <p:cNvSpPr txBox="1"/>
          <p:nvPr/>
        </p:nvSpPr>
        <p:spPr>
          <a:xfrm>
            <a:off x="566928"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يَتَمَيَّزُ بِـ</a:t>
            </a:r>
            <a:endParaRPr lang="ar-SA" sz="3000" dirty="0"/>
          </a:p>
        </p:txBody>
      </p:sp>
      <p:sp>
        <p:nvSpPr>
          <p:cNvPr id="51" name="Text 48"/>
          <p:cNvSpPr txBox="1"/>
          <p:nvPr/>
        </p:nvSpPr>
        <p:spPr>
          <a:xfrm>
            <a:off x="594360"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is distinguished by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ya-ta-may-ya-zu bi</a:t>
            </a:r>
            <a:endParaRPr lang="en-US" sz="1350" dirty="0"/>
          </a:p>
        </p:txBody>
      </p:sp>
      <p:sp>
        <p:nvSpPr>
          <p:cNvPr id="52" name="Shape 49"/>
          <p:cNvSpPr/>
          <p:nvPr/>
        </p:nvSpPr>
        <p:spPr>
          <a:xfrm>
            <a:off x="2322576" y="3438144"/>
            <a:ext cx="1636776" cy="438912"/>
          </a:xfrm>
          <a:prstGeom prst="roundRect">
            <a:avLst>
              <a:gd name="adj" fmla="val 10417"/>
            </a:avLst>
          </a:prstGeom>
          <a:solidFill>
            <a:srgbClr val="F4F1EA"/>
          </a:solidFill>
          <a:ln w="9525">
            <a:solidFill>
              <a:srgbClr val="F4F1EA"/>
            </a:solidFill>
            <a:prstDash val="solid"/>
          </a:ln>
        </p:spPr>
      </p:sp>
      <p:sp>
        <p:nvSpPr>
          <p:cNvPr id="53" name="Text 50"/>
          <p:cNvSpPr txBox="1"/>
          <p:nvPr/>
        </p:nvSpPr>
        <p:spPr>
          <a:xfrm>
            <a:off x="2377440"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54" name="Text 51"/>
          <p:cNvSpPr txBox="1"/>
          <p:nvPr/>
        </p:nvSpPr>
        <p:spPr>
          <a:xfrm>
            <a:off x="2368296"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تَتَمَيَّزُ</a:t>
            </a:r>
            <a:endParaRPr lang="ar-SA" sz="1500" dirty="0"/>
          </a:p>
        </p:txBody>
      </p:sp>
      <p:sp>
        <p:nvSpPr>
          <p:cNvPr id="55" name="Shape 52"/>
          <p:cNvSpPr/>
          <p:nvPr/>
        </p:nvSpPr>
        <p:spPr>
          <a:xfrm>
            <a:off x="594360" y="3438144"/>
            <a:ext cx="1636776" cy="438912"/>
          </a:xfrm>
          <a:prstGeom prst="roundRect">
            <a:avLst>
              <a:gd name="adj" fmla="val 10417"/>
            </a:avLst>
          </a:prstGeom>
          <a:solidFill>
            <a:srgbClr val="F4F1EA"/>
          </a:solidFill>
          <a:ln w="9525">
            <a:solidFill>
              <a:srgbClr val="F4F1EA"/>
            </a:solidFill>
            <a:prstDash val="solid"/>
          </a:ln>
        </p:spPr>
      </p:sp>
      <p:sp>
        <p:nvSpPr>
          <p:cNvPr id="56" name="Text 53"/>
          <p:cNvSpPr txBox="1"/>
          <p:nvPr/>
        </p:nvSpPr>
        <p:spPr>
          <a:xfrm>
            <a:off x="649224" y="3447288"/>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57" name="Text 54"/>
          <p:cNvSpPr txBox="1"/>
          <p:nvPr/>
        </p:nvSpPr>
        <p:spPr>
          <a:xfrm>
            <a:off x="640080" y="3483864"/>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أَتَمَيَّزُ</a:t>
            </a:r>
            <a:endParaRPr lang="ar-SA" sz="1500" dirty="0"/>
          </a:p>
        </p:txBody>
      </p:sp>
      <p:sp>
        <p:nvSpPr>
          <p:cNvPr id="58" name="Shape 55"/>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8211312" y="4261104"/>
            <a:ext cx="310896" cy="310896"/>
          </a:xfrm>
          <a:prstGeom prst="ellipse">
            <a:avLst/>
          </a:prstGeom>
          <a:solidFill>
            <a:srgbClr val="F4F1EA"/>
          </a:solidFill>
          <a:ln w="12700">
            <a:solidFill>
              <a:srgbClr val="F4F1EA"/>
            </a:solidFill>
            <a:prstDash val="solid"/>
          </a:ln>
        </p:spPr>
      </p:sp>
      <p:sp>
        <p:nvSpPr>
          <p:cNvPr id="60" name="Text 57"/>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25</a:t>
            </a:r>
            <a:endParaRPr lang="en-US" sz="1000" dirty="0"/>
          </a:p>
        </p:txBody>
      </p:sp>
      <p:sp>
        <p:nvSpPr>
          <p:cNvPr id="61" name="Shape 58"/>
          <p:cNvSpPr/>
          <p:nvPr/>
        </p:nvSpPr>
        <p:spPr>
          <a:xfrm>
            <a:off x="8604504" y="4279392"/>
            <a:ext cx="1020470" cy="256032"/>
          </a:xfrm>
          <a:prstGeom prst="roundRect">
            <a:avLst>
              <a:gd name="adj" fmla="val 50000"/>
            </a:avLst>
          </a:prstGeom>
          <a:solidFill>
            <a:srgbClr val="EFE7D2"/>
          </a:solidFill>
          <a:ln w="12700">
            <a:solidFill>
              <a:srgbClr val="EFE7D2"/>
            </a:solidFill>
            <a:prstDash val="solid"/>
          </a:ln>
        </p:spPr>
      </p:sp>
      <p:sp>
        <p:nvSpPr>
          <p:cNvPr id="62" name="Text 59"/>
          <p:cNvSpPr txBox="1"/>
          <p:nvPr/>
        </p:nvSpPr>
        <p:spPr>
          <a:xfrm>
            <a:off x="8604504"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I · he · she</a:t>
            </a:r>
            <a:endParaRPr lang="en-US" sz="800" dirty="0"/>
          </a:p>
        </p:txBody>
      </p:sp>
      <p:sp>
        <p:nvSpPr>
          <p:cNvPr id="63" name="Text 60"/>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يَعْتَمِدُ عَلَى</a:t>
            </a:r>
            <a:endParaRPr lang="ar-SA" sz="3000" dirty="0"/>
          </a:p>
        </p:txBody>
      </p:sp>
      <p:sp>
        <p:nvSpPr>
          <p:cNvPr id="64" name="Text 61"/>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relies on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yaʿ-ta-mi-du ʿa-lā</a:t>
            </a:r>
            <a:endParaRPr lang="en-US" sz="1350" dirty="0"/>
          </a:p>
        </p:txBody>
      </p:sp>
      <p:sp>
        <p:nvSpPr>
          <p:cNvPr id="65" name="Shape 62"/>
          <p:cNvSpPr/>
          <p:nvPr/>
        </p:nvSpPr>
        <p:spPr>
          <a:xfrm>
            <a:off x="9966960" y="5779008"/>
            <a:ext cx="1636776" cy="438912"/>
          </a:xfrm>
          <a:prstGeom prst="roundRect">
            <a:avLst>
              <a:gd name="adj" fmla="val 10417"/>
            </a:avLst>
          </a:prstGeom>
          <a:solidFill>
            <a:srgbClr val="F4F1EA"/>
          </a:solidFill>
          <a:ln w="9525">
            <a:solidFill>
              <a:srgbClr val="F4F1EA"/>
            </a:solidFill>
            <a:prstDash val="solid"/>
          </a:ln>
        </p:spPr>
      </p:sp>
      <p:sp>
        <p:nvSpPr>
          <p:cNvPr id="66" name="Text 63"/>
          <p:cNvSpPr txBox="1"/>
          <p:nvPr/>
        </p:nvSpPr>
        <p:spPr>
          <a:xfrm>
            <a:off x="10021824"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she</a:t>
            </a:r>
            <a:endParaRPr lang="en-US" sz="750" dirty="0"/>
          </a:p>
        </p:txBody>
      </p:sp>
      <p:sp>
        <p:nvSpPr>
          <p:cNvPr id="67" name="Text 64"/>
          <p:cNvSpPr txBox="1"/>
          <p:nvPr/>
        </p:nvSpPr>
        <p:spPr>
          <a:xfrm>
            <a:off x="10012680"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تَعْتَمِدُ</a:t>
            </a:r>
            <a:endParaRPr lang="ar-SA" sz="1500" dirty="0"/>
          </a:p>
        </p:txBody>
      </p:sp>
      <p:sp>
        <p:nvSpPr>
          <p:cNvPr id="68" name="Shape 65"/>
          <p:cNvSpPr/>
          <p:nvPr/>
        </p:nvSpPr>
        <p:spPr>
          <a:xfrm>
            <a:off x="8238744" y="5779008"/>
            <a:ext cx="1636776" cy="438912"/>
          </a:xfrm>
          <a:prstGeom prst="roundRect">
            <a:avLst>
              <a:gd name="adj" fmla="val 10417"/>
            </a:avLst>
          </a:prstGeom>
          <a:solidFill>
            <a:srgbClr val="F4F1EA"/>
          </a:solidFill>
          <a:ln w="9525">
            <a:solidFill>
              <a:srgbClr val="F4F1EA"/>
            </a:solidFill>
            <a:prstDash val="solid"/>
          </a:ln>
        </p:spPr>
      </p:sp>
      <p:sp>
        <p:nvSpPr>
          <p:cNvPr id="69" name="Text 66"/>
          <p:cNvSpPr txBox="1"/>
          <p:nvPr/>
        </p:nvSpPr>
        <p:spPr>
          <a:xfrm>
            <a:off x="8293608" y="5788152"/>
            <a:ext cx="1527048"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I</a:t>
            </a:r>
            <a:endParaRPr lang="en-US" sz="750" dirty="0"/>
          </a:p>
        </p:txBody>
      </p:sp>
      <p:sp>
        <p:nvSpPr>
          <p:cNvPr id="70" name="Text 67"/>
          <p:cNvSpPr txBox="1"/>
          <p:nvPr/>
        </p:nvSpPr>
        <p:spPr>
          <a:xfrm>
            <a:off x="8284464" y="5824728"/>
            <a:ext cx="1545336"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أَعْتَمِدُ</a:t>
            </a:r>
            <a:endParaRPr lang="ar-SA" sz="150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52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1 · THE ACADEMIC VERBS AND THEIR COMPLEMENTS (WEBSITE RULES 1–2) · CORE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Pass · excel · fail · enrol · obtain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الأَفْعَالُ الأَكَادِيمِيَّةُ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Then</a:t>
            </a:r>
            <a:endParaRPr lang="en-US" sz="1100" dirty="0"/>
          </a:p>
        </p:txBody>
      </p:sp>
      <p:sp>
        <p:nvSpPr>
          <p:cNvPr id="17" name="Text 14"/>
          <p:cNvSpPr txBox="1"/>
          <p:nvPr/>
        </p:nvSpPr>
        <p:spPr>
          <a:xfrm>
            <a:off x="5102352" y="1810512"/>
            <a:ext cx="5065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Example</a:t>
            </a:r>
            <a:endParaRPr lang="en-US" sz="1100" dirty="0"/>
          </a:p>
        </p:txBody>
      </p:sp>
      <p:sp>
        <p:nvSpPr>
          <p:cNvPr id="18" name="Text 15"/>
          <p:cNvSpPr txBox="1"/>
          <p:nvPr/>
        </p:nvSpPr>
        <p:spPr>
          <a:xfrm>
            <a:off x="263347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Text 16"/>
          <p:cNvSpPr txBox="1"/>
          <p:nvPr/>
        </p:nvSpPr>
        <p:spPr>
          <a:xfrm>
            <a:off x="530352" y="1810512"/>
            <a:ext cx="19568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0" name="Shape 17"/>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1" name="Text 18"/>
          <p:cNvSpPr txBox="1"/>
          <p:nvPr/>
        </p:nvSpPr>
        <p:spPr>
          <a:xfrm>
            <a:off x="10351008" y="226771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object</a:t>
            </a:r>
            <a:endParaRPr lang="en-US" sz="1100" dirty="0"/>
          </a:p>
        </p:txBody>
      </p:sp>
      <p:sp>
        <p:nvSpPr>
          <p:cNvPr id="22" name="Text 19"/>
          <p:cNvSpPr txBox="1"/>
          <p:nvPr/>
        </p:nvSpPr>
        <p:spPr>
          <a:xfrm>
            <a:off x="5120640" y="226771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يَجْتَازُ الطُّلَّابُ </a:t>
            </a:r>
            <a:pPr rtl="1" algn="ctr" indent="0" marL="0">
              <a:buNone/>
            </a:pPr>
            <a:r>
              <a:rPr lang="ar-SA" altLang="en-US" sz="2000" b="1" dirty="0">
                <a:solidFill>
                  <a:srgbClr val="1D5FBF"/>
                </a:solidFill>
                <a:latin typeface="Amiri" pitchFamily="34" charset="0"/>
                <a:ea typeface="Amiri" pitchFamily="34" charset="-122"/>
                <a:cs typeface="Amiri" pitchFamily="34" charset="-120"/>
              </a:rPr>
              <a:t>الامْتِحَانَ</a:t>
            </a:r>
            <a:pPr rtl="1" algn="ctr" indent="0" marL="0">
              <a:buNone/>
            </a:pPr>
            <a:r>
              <a:rPr lang="ar-SA" altLang="en-US" sz="2000" b="1" dirty="0">
                <a:solidFill>
                  <a:srgbClr val="1B3B6F"/>
                </a:solidFill>
                <a:latin typeface="Amiri" pitchFamily="34" charset="0"/>
                <a:ea typeface="Amiri" pitchFamily="34" charset="-122"/>
                <a:cs typeface="Amiri" pitchFamily="34" charset="-120"/>
              </a:rPr>
              <a:t>.</a:t>
            </a:r>
            <a:endParaRPr lang="ar-SA" sz="2000" dirty="0"/>
          </a:p>
        </p:txBody>
      </p:sp>
      <p:sp>
        <p:nvSpPr>
          <p:cNvPr id="23" name="Text 20"/>
          <p:cNvSpPr txBox="1"/>
          <p:nvPr/>
        </p:nvSpPr>
        <p:spPr>
          <a:xfrm>
            <a:off x="2651760" y="226771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1D5FBF"/>
                </a:solidFill>
                <a:latin typeface="Amiri" pitchFamily="34" charset="0"/>
                <a:ea typeface="Amiri" pitchFamily="34" charset="-122"/>
                <a:cs typeface="Amiri" pitchFamily="34" charset="-120"/>
              </a:rPr>
              <a:t>يَجْتَازُ</a:t>
            </a:r>
            <a:endParaRPr lang="ar-SA" sz="2200" dirty="0"/>
          </a:p>
        </p:txBody>
      </p:sp>
      <p:sp>
        <p:nvSpPr>
          <p:cNvPr id="24" name="Text 21"/>
          <p:cNvSpPr txBox="1"/>
          <p:nvPr/>
        </p:nvSpPr>
        <p:spPr>
          <a:xfrm>
            <a:off x="566928" y="226771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passes</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8" name="Text 25"/>
          <p:cNvSpPr txBox="1"/>
          <p:nvPr/>
        </p:nvSpPr>
        <p:spPr>
          <a:xfrm>
            <a:off x="10351008" y="2881884"/>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a:t>
            </a:r>
            <a:endParaRPr lang="en-US" sz="1100" dirty="0"/>
          </a:p>
        </p:txBody>
      </p:sp>
      <p:sp>
        <p:nvSpPr>
          <p:cNvPr id="29" name="Text 26"/>
          <p:cNvSpPr txBox="1"/>
          <p:nvPr/>
        </p:nvSpPr>
        <p:spPr>
          <a:xfrm>
            <a:off x="5120640" y="2881884"/>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يَتَفَوَّقُ الطَّالِبُ </a:t>
            </a:r>
            <a:pPr rtl="1" algn="ctr" indent="0" marL="0">
              <a:buNone/>
            </a:pPr>
            <a:r>
              <a:rPr lang="ar-SA" altLang="en-US" sz="2000" b="1" dirty="0">
                <a:solidFill>
                  <a:srgbClr val="D6336C"/>
                </a:solidFill>
                <a:latin typeface="Amiri" pitchFamily="34" charset="0"/>
                <a:ea typeface="Amiri" pitchFamily="34" charset="-122"/>
                <a:cs typeface="Amiri" pitchFamily="34" charset="-120"/>
              </a:rPr>
              <a:t>فِي</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الرِّيَاضِيَّاتِ.</a:t>
            </a:r>
            <a:endParaRPr lang="ar-SA" sz="2000" dirty="0"/>
          </a:p>
        </p:txBody>
      </p:sp>
      <p:sp>
        <p:nvSpPr>
          <p:cNvPr id="30" name="Text 27"/>
          <p:cNvSpPr txBox="1"/>
          <p:nvPr/>
        </p:nvSpPr>
        <p:spPr>
          <a:xfrm>
            <a:off x="2651760" y="2881884"/>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يَتَفَوَّقُ فِي</a:t>
            </a:r>
            <a:endParaRPr lang="ar-SA" sz="2200" dirty="0"/>
          </a:p>
        </p:txBody>
      </p:sp>
      <p:sp>
        <p:nvSpPr>
          <p:cNvPr id="31" name="Text 28"/>
          <p:cNvSpPr txBox="1"/>
          <p:nvPr/>
        </p:nvSpPr>
        <p:spPr>
          <a:xfrm>
            <a:off x="566928" y="2881884"/>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excels in</a:t>
            </a:r>
            <a:endParaRPr lang="en-US" sz="1100" dirty="0"/>
          </a:p>
        </p:txBody>
      </p:sp>
      <p:sp>
        <p:nvSpPr>
          <p:cNvPr id="32" name="Shape 29"/>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4" name="Shape 31"/>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5" name="Text 32"/>
          <p:cNvSpPr txBox="1"/>
          <p:nvPr/>
        </p:nvSpPr>
        <p:spPr>
          <a:xfrm>
            <a:off x="10351008" y="3496056"/>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a:t>
            </a:r>
            <a:endParaRPr lang="en-US" sz="1100" dirty="0"/>
          </a:p>
        </p:txBody>
      </p:sp>
      <p:sp>
        <p:nvSpPr>
          <p:cNvPr id="36" name="Text 33"/>
          <p:cNvSpPr txBox="1"/>
          <p:nvPr/>
        </p:nvSpPr>
        <p:spPr>
          <a:xfrm>
            <a:off x="5120640" y="3496056"/>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يَرْسُبُ بَعْضُ الطُّلَّابِ </a:t>
            </a:r>
            <a:pPr rtl="1" algn="ctr" indent="0" marL="0">
              <a:buNone/>
            </a:pPr>
            <a:r>
              <a:rPr lang="ar-SA" altLang="en-US" sz="2000" b="1" dirty="0">
                <a:solidFill>
                  <a:srgbClr val="D6336C"/>
                </a:solidFill>
                <a:latin typeface="Amiri" pitchFamily="34" charset="0"/>
                <a:ea typeface="Amiri" pitchFamily="34" charset="-122"/>
                <a:cs typeface="Amiri" pitchFamily="34" charset="-120"/>
              </a:rPr>
              <a:t>فِي</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المَادَّةِ الصَّعْبَةِ.</a:t>
            </a:r>
            <a:endParaRPr lang="ar-SA" sz="2000" dirty="0"/>
          </a:p>
        </p:txBody>
      </p:sp>
      <p:sp>
        <p:nvSpPr>
          <p:cNvPr id="37" name="Text 34"/>
          <p:cNvSpPr txBox="1"/>
          <p:nvPr/>
        </p:nvSpPr>
        <p:spPr>
          <a:xfrm>
            <a:off x="2651760" y="3496056"/>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يَرْسُبُ فِي</a:t>
            </a:r>
            <a:endParaRPr lang="ar-SA" sz="2200" dirty="0"/>
          </a:p>
        </p:txBody>
      </p:sp>
      <p:sp>
        <p:nvSpPr>
          <p:cNvPr id="38" name="Text 35"/>
          <p:cNvSpPr txBox="1"/>
          <p:nvPr/>
        </p:nvSpPr>
        <p:spPr>
          <a:xfrm>
            <a:off x="566928" y="3496056"/>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fails</a:t>
            </a:r>
            <a:endParaRPr lang="en-US" sz="1100" dirty="0"/>
          </a:p>
        </p:txBody>
      </p:sp>
      <p:sp>
        <p:nvSpPr>
          <p:cNvPr id="39" name="Shape 36"/>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10351008" y="4110228"/>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fī</a:t>
            </a:r>
            <a:endParaRPr lang="en-US" sz="1100" dirty="0"/>
          </a:p>
        </p:txBody>
      </p:sp>
      <p:sp>
        <p:nvSpPr>
          <p:cNvPr id="41" name="Text 38"/>
          <p:cNvSpPr txBox="1"/>
          <p:nvPr/>
        </p:nvSpPr>
        <p:spPr>
          <a:xfrm>
            <a:off x="5120640" y="4110228"/>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تَتَخَصَّصُ أُخْتِي </a:t>
            </a:r>
            <a:pPr rtl="1" algn="ctr" indent="0" marL="0">
              <a:buNone/>
            </a:pPr>
            <a:r>
              <a:rPr lang="ar-SA" altLang="en-US" sz="2000" b="1" dirty="0">
                <a:solidFill>
                  <a:srgbClr val="D6336C"/>
                </a:solidFill>
                <a:latin typeface="Amiri" pitchFamily="34" charset="0"/>
                <a:ea typeface="Amiri" pitchFamily="34" charset="-122"/>
                <a:cs typeface="Amiri" pitchFamily="34" charset="-120"/>
              </a:rPr>
              <a:t>فِي</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الطِّبِّ.</a:t>
            </a:r>
            <a:endParaRPr lang="ar-SA" sz="2000" dirty="0"/>
          </a:p>
        </p:txBody>
      </p:sp>
      <p:sp>
        <p:nvSpPr>
          <p:cNvPr id="42" name="Text 39"/>
          <p:cNvSpPr txBox="1"/>
          <p:nvPr/>
        </p:nvSpPr>
        <p:spPr>
          <a:xfrm>
            <a:off x="2651760" y="4110228"/>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يَتَخَصَّصُ فِي</a:t>
            </a:r>
            <a:endParaRPr lang="ar-SA" sz="2200" dirty="0"/>
          </a:p>
        </p:txBody>
      </p:sp>
      <p:sp>
        <p:nvSpPr>
          <p:cNvPr id="43" name="Text 40"/>
          <p:cNvSpPr txBox="1"/>
          <p:nvPr/>
        </p:nvSpPr>
        <p:spPr>
          <a:xfrm>
            <a:off x="566928" y="4110228"/>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specialises in</a:t>
            </a:r>
            <a:endParaRPr lang="en-US" sz="1100" dirty="0"/>
          </a:p>
        </p:txBody>
      </p:sp>
      <p:sp>
        <p:nvSpPr>
          <p:cNvPr id="44" name="Shape 41"/>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5" name="Text 42"/>
          <p:cNvSpPr txBox="1"/>
          <p:nvPr/>
        </p:nvSpPr>
        <p:spPr>
          <a:xfrm>
            <a:off x="10351008" y="4724400"/>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a:t>
            </a:r>
            <a:endParaRPr lang="en-US" sz="1100" dirty="0"/>
          </a:p>
        </p:txBody>
      </p:sp>
      <p:sp>
        <p:nvSpPr>
          <p:cNvPr id="46" name="Text 43"/>
          <p:cNvSpPr txBox="1"/>
          <p:nvPr/>
        </p:nvSpPr>
        <p:spPr>
          <a:xfrm>
            <a:off x="5120640" y="4724400"/>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يَلْتَحِقُ </a:t>
            </a:r>
            <a:pPr rtl="1" algn="ctr" indent="0" marL="0">
              <a:buNone/>
            </a:pPr>
            <a:r>
              <a:rPr lang="ar-SA" altLang="en-US" sz="2000" b="1" dirty="0">
                <a:solidFill>
                  <a:srgbClr val="0E7C86"/>
                </a:solidFill>
                <a:latin typeface="Amiri" pitchFamily="34" charset="0"/>
                <a:ea typeface="Amiri" pitchFamily="34" charset="-122"/>
                <a:cs typeface="Amiri" pitchFamily="34" charset="-120"/>
              </a:rPr>
              <a:t>بِالجَامِعَةِ</a:t>
            </a:r>
            <a:pPr rtl="1" algn="ctr" indent="0" marL="0">
              <a:buNone/>
            </a:pPr>
            <a:r>
              <a:rPr lang="ar-SA" altLang="en-US" sz="2000" b="1" dirty="0">
                <a:solidFill>
                  <a:srgbClr val="1B3B6F"/>
                </a:solidFill>
                <a:latin typeface="Amiri" pitchFamily="34" charset="0"/>
                <a:ea typeface="Amiri" pitchFamily="34" charset="-122"/>
                <a:cs typeface="Amiri" pitchFamily="34" charset="-120"/>
              </a:rPr>
              <a:t> بَعْدَ الثَّانَوِيَّةِ.</a:t>
            </a:r>
            <a:endParaRPr lang="ar-SA" sz="2000" dirty="0"/>
          </a:p>
        </p:txBody>
      </p:sp>
      <p:sp>
        <p:nvSpPr>
          <p:cNvPr id="47" name="Text 44"/>
          <p:cNvSpPr txBox="1"/>
          <p:nvPr/>
        </p:nvSpPr>
        <p:spPr>
          <a:xfrm>
            <a:off x="2651760" y="4724400"/>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0E7C86"/>
                </a:solidFill>
                <a:latin typeface="Amiri" pitchFamily="34" charset="0"/>
                <a:ea typeface="Amiri" pitchFamily="34" charset="-122"/>
                <a:cs typeface="Amiri" pitchFamily="34" charset="-120"/>
              </a:rPr>
              <a:t>يَلْتَحِقُ بِـ</a:t>
            </a:r>
            <a:endParaRPr lang="ar-SA" sz="2200" dirty="0"/>
          </a:p>
        </p:txBody>
      </p:sp>
      <p:sp>
        <p:nvSpPr>
          <p:cNvPr id="48" name="Text 45"/>
          <p:cNvSpPr txBox="1"/>
          <p:nvPr/>
        </p:nvSpPr>
        <p:spPr>
          <a:xfrm>
            <a:off x="566928" y="4724400"/>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enrols in</a:t>
            </a:r>
            <a:endParaRPr lang="en-US" sz="1100" dirty="0"/>
          </a:p>
        </p:txBody>
      </p:sp>
      <p:sp>
        <p:nvSpPr>
          <p:cNvPr id="49" name="Shape 46"/>
          <p:cNvSpPr/>
          <p:nvPr/>
        </p:nvSpPr>
        <p:spPr>
          <a:xfrm>
            <a:off x="11091672" y="4770120"/>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77012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52" name="Text 49"/>
          <p:cNvSpPr txBox="1"/>
          <p:nvPr/>
        </p:nvSpPr>
        <p:spPr>
          <a:xfrm>
            <a:off x="10351008" y="5338572"/>
            <a:ext cx="130759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ʿalā</a:t>
            </a:r>
            <a:endParaRPr lang="en-US" sz="1100" dirty="0"/>
          </a:p>
        </p:txBody>
      </p:sp>
      <p:sp>
        <p:nvSpPr>
          <p:cNvPr id="53" name="Text 50"/>
          <p:cNvSpPr txBox="1"/>
          <p:nvPr/>
        </p:nvSpPr>
        <p:spPr>
          <a:xfrm>
            <a:off x="5120640" y="5338572"/>
            <a:ext cx="502920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تَحْصُلُ </a:t>
            </a:r>
            <a:pPr rtl="1" algn="ctr" indent="0" marL="0">
              <a:buNone/>
            </a:pPr>
            <a:r>
              <a:rPr lang="ar-SA" altLang="en-US" sz="2000" b="1" dirty="0">
                <a:solidFill>
                  <a:srgbClr val="7B3FA0"/>
                </a:solidFill>
                <a:latin typeface="Amiri" pitchFamily="34" charset="0"/>
                <a:ea typeface="Amiri" pitchFamily="34" charset="-122"/>
                <a:cs typeface="Amiri" pitchFamily="34" charset="-120"/>
              </a:rPr>
              <a:t>عَلَى</a:t>
            </a:r>
            <a:pPr rtl="1" algn="ctr" indent="0" marL="0">
              <a:buNone/>
            </a:pPr>
            <a:r>
              <a:rPr lang="ar-SA" altLang="en-US" sz="2000" b="1" dirty="0">
                <a:solidFill>
                  <a:srgbClr val="1B3B6F"/>
                </a:solidFill>
                <a:latin typeface="Amiri" pitchFamily="34" charset="0"/>
                <a:ea typeface="Amiri" pitchFamily="34" charset="-122"/>
                <a:cs typeface="Amiri" pitchFamily="34" charset="-120"/>
              </a:rPr>
              <a:t> شَهَادَةٍ مُعْتَمَدَةٍ.</a:t>
            </a:r>
            <a:endParaRPr lang="ar-SA" sz="2000" dirty="0"/>
          </a:p>
        </p:txBody>
      </p:sp>
      <p:sp>
        <p:nvSpPr>
          <p:cNvPr id="54" name="Text 51"/>
          <p:cNvSpPr txBox="1"/>
          <p:nvPr/>
        </p:nvSpPr>
        <p:spPr>
          <a:xfrm>
            <a:off x="2651760" y="5338572"/>
            <a:ext cx="2286000" cy="559308"/>
          </a:xfrm>
          <a:prstGeom prst="rect">
            <a:avLst/>
          </a:prstGeom>
          <a:noFill/>
          <a:ln/>
        </p:spPr>
        <p:txBody>
          <a:bodyPr wrap="square" lIns="0" tIns="0" rIns="0" bIns="0" rtlCol="0" anchor="ctr"/>
          <a:lstStyle/>
          <a:p>
            <a:pPr rtl="1" algn="ctr" indent="0" marL="0">
              <a:buNone/>
            </a:pPr>
            <a:r>
              <a:rPr lang="ar-SA" altLang="en-US" sz="2200" b="1" dirty="0">
                <a:solidFill>
                  <a:srgbClr val="7B3FA0"/>
                </a:solidFill>
                <a:latin typeface="Amiri" pitchFamily="34" charset="0"/>
                <a:ea typeface="Amiri" pitchFamily="34" charset="-122"/>
                <a:cs typeface="Amiri" pitchFamily="34" charset="-120"/>
              </a:rPr>
              <a:t>يَحْصُلُ عَلَى</a:t>
            </a:r>
            <a:endParaRPr lang="ar-SA" sz="2200" dirty="0"/>
          </a:p>
        </p:txBody>
      </p:sp>
      <p:sp>
        <p:nvSpPr>
          <p:cNvPr id="55" name="Text 52"/>
          <p:cNvSpPr txBox="1"/>
          <p:nvPr/>
        </p:nvSpPr>
        <p:spPr>
          <a:xfrm>
            <a:off x="566928" y="5338572"/>
            <a:ext cx="19202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obtains</a:t>
            </a:r>
            <a:endParaRPr lang="en-US" sz="1100" dirty="0"/>
          </a:p>
        </p:txBody>
      </p:sp>
      <p:sp>
        <p:nvSpPr>
          <p:cNvPr id="56" name="Shape 53"/>
          <p:cNvSpPr/>
          <p:nvPr/>
        </p:nvSpPr>
        <p:spPr>
          <a:xfrm>
            <a:off x="11091672" y="5384292"/>
            <a:ext cx="548640" cy="182880"/>
          </a:xfrm>
          <a:prstGeom prst="roundRect">
            <a:avLst>
              <a:gd name="adj" fmla="val 50000"/>
            </a:avLst>
          </a:prstGeom>
          <a:solidFill>
            <a:srgbClr val="2E8B57"/>
          </a:solidFill>
          <a:ln w="12700">
            <a:solidFill>
              <a:srgbClr val="2E8B57"/>
            </a:solidFill>
            <a:prstDash val="solid"/>
          </a:ln>
        </p:spPr>
      </p:sp>
      <p:sp>
        <p:nvSpPr>
          <p:cNvPr id="57" name="Text 54"/>
          <p:cNvSpPr txBox="1"/>
          <p:nvPr/>
        </p:nvSpPr>
        <p:spPr>
          <a:xfrm>
            <a:off x="11091672" y="538429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8" name="Text 5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teaching point: yajtāz takes a direct object — never yajtāz fī al-imtiḥān.</a:t>
            </a:r>
            <a:endParaRPr lang="en-US" sz="1150" dirty="0"/>
          </a:p>
        </p:txBody>
      </p:sp>
      <p:sp>
        <p:nvSpPr>
          <p:cNvPr id="59" name="Text 5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52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2 · THE VERBS IN THE PAST AND THE PLURAL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550" b="1" dirty="0">
                <a:solidFill>
                  <a:srgbClr val="1B3B6F"/>
                </a:solidFill>
                <a:latin typeface="Cambria" pitchFamily="34" charset="0"/>
                <a:ea typeface="Cambria" pitchFamily="34" charset="-122"/>
                <a:cs typeface="Cambria" pitchFamily="34" charset="-120"/>
              </a:rPr>
              <a:t>I passed · she excelled · they enrolled</a:t>
            </a:r>
            <a:endParaRPr lang="en-US" sz="25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المَاضِي وَالجَمْعُ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314432" y="1810512"/>
            <a:ext cx="13441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Note</a:t>
            </a:r>
            <a:endParaRPr lang="en-US" sz="1100" dirty="0"/>
          </a:p>
        </p:txBody>
      </p:sp>
      <p:sp>
        <p:nvSpPr>
          <p:cNvPr id="17" name="Text 14"/>
          <p:cNvSpPr txBox="1"/>
          <p:nvPr/>
        </p:nvSpPr>
        <p:spPr>
          <a:xfrm>
            <a:off x="766267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They (m.) present</a:t>
            </a:r>
            <a:endParaRPr lang="en-US" sz="1100" dirty="0"/>
          </a:p>
        </p:txBody>
      </p:sp>
      <p:sp>
        <p:nvSpPr>
          <p:cNvPr id="18" name="Text 15"/>
          <p:cNvSpPr txBox="1"/>
          <p:nvPr/>
        </p:nvSpPr>
        <p:spPr>
          <a:xfrm>
            <a:off x="5193792" y="1810512"/>
            <a:ext cx="23225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She (past)</a:t>
            </a:r>
            <a:endParaRPr lang="en-US" sz="1100" dirty="0"/>
          </a:p>
        </p:txBody>
      </p:sp>
      <p:sp>
        <p:nvSpPr>
          <p:cNvPr id="19" name="Text 16"/>
          <p:cNvSpPr txBox="1"/>
          <p:nvPr/>
        </p:nvSpPr>
        <p:spPr>
          <a:xfrm>
            <a:off x="2816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I (past)</a:t>
            </a:r>
            <a:endParaRPr lang="en-US" sz="1100" dirty="0"/>
          </a:p>
        </p:txBody>
      </p:sp>
      <p:sp>
        <p:nvSpPr>
          <p:cNvPr id="20" name="Text 17"/>
          <p:cNvSpPr txBox="1"/>
          <p:nvPr/>
        </p:nvSpPr>
        <p:spPr>
          <a:xfrm>
            <a:off x="530352"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10351008" y="2267712"/>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hollow: ā → a</a:t>
            </a:r>
            <a:endParaRPr lang="en-US" sz="1100" dirty="0"/>
          </a:p>
        </p:txBody>
      </p:sp>
      <p:sp>
        <p:nvSpPr>
          <p:cNvPr id="23" name="Text 20"/>
          <p:cNvSpPr txBox="1"/>
          <p:nvPr/>
        </p:nvSpPr>
        <p:spPr>
          <a:xfrm>
            <a:off x="7680960" y="2267712"/>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يَجْتَازُونَ</a:t>
            </a:r>
            <a:endParaRPr lang="ar-SA" sz="2200" dirty="0"/>
          </a:p>
        </p:txBody>
      </p:sp>
      <p:sp>
        <p:nvSpPr>
          <p:cNvPr id="24" name="Text 21"/>
          <p:cNvSpPr txBox="1"/>
          <p:nvPr/>
        </p:nvSpPr>
        <p:spPr>
          <a:xfrm>
            <a:off x="5212080" y="2267712"/>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اجْتَازَتْ</a:t>
            </a:r>
            <a:endParaRPr lang="ar-SA" sz="2200" dirty="0"/>
          </a:p>
        </p:txBody>
      </p:sp>
      <p:sp>
        <p:nvSpPr>
          <p:cNvPr id="25" name="Text 22"/>
          <p:cNvSpPr txBox="1"/>
          <p:nvPr/>
        </p:nvSpPr>
        <p:spPr>
          <a:xfrm>
            <a:off x="2834640" y="2267712"/>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D6336C"/>
                </a:solidFill>
                <a:latin typeface="Amiri" pitchFamily="34" charset="0"/>
                <a:ea typeface="Amiri" pitchFamily="34" charset="-122"/>
                <a:cs typeface="Amiri" pitchFamily="34" charset="-120"/>
              </a:rPr>
              <a:t>اجْتَزْتُ</a:t>
            </a:r>
            <a:endParaRPr lang="ar-SA" sz="2200" dirty="0"/>
          </a:p>
        </p:txBody>
      </p:sp>
      <p:sp>
        <p:nvSpPr>
          <p:cNvPr id="26" name="Text 23"/>
          <p:cNvSpPr txBox="1"/>
          <p:nvPr/>
        </p:nvSpPr>
        <p:spPr>
          <a:xfrm>
            <a:off x="548640" y="2267712"/>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يَجْتَازُ</a:t>
            </a:r>
            <a:endParaRPr lang="ar-SA" sz="22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10351008" y="300471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V</a:t>
            </a:r>
            <a:endParaRPr lang="en-US" sz="1100" dirty="0"/>
          </a:p>
        </p:txBody>
      </p:sp>
      <p:sp>
        <p:nvSpPr>
          <p:cNvPr id="31" name="Text 28"/>
          <p:cNvSpPr txBox="1"/>
          <p:nvPr/>
        </p:nvSpPr>
        <p:spPr>
          <a:xfrm>
            <a:off x="7680960" y="300471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يَتَفَوَّقُونَ</a:t>
            </a:r>
            <a:endParaRPr lang="ar-SA" sz="2200" dirty="0"/>
          </a:p>
        </p:txBody>
      </p:sp>
      <p:sp>
        <p:nvSpPr>
          <p:cNvPr id="32" name="Text 29"/>
          <p:cNvSpPr txBox="1"/>
          <p:nvPr/>
        </p:nvSpPr>
        <p:spPr>
          <a:xfrm>
            <a:off x="5212080" y="300471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تَفَوَّقَتْ</a:t>
            </a:r>
            <a:endParaRPr lang="ar-SA" sz="2200" dirty="0"/>
          </a:p>
        </p:txBody>
      </p:sp>
      <p:sp>
        <p:nvSpPr>
          <p:cNvPr id="33" name="Text 30"/>
          <p:cNvSpPr txBox="1"/>
          <p:nvPr/>
        </p:nvSpPr>
        <p:spPr>
          <a:xfrm>
            <a:off x="2834640" y="300471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تَفَوَّقْتُ</a:t>
            </a:r>
            <a:endParaRPr lang="ar-SA" sz="2200" dirty="0"/>
          </a:p>
        </p:txBody>
      </p:sp>
      <p:sp>
        <p:nvSpPr>
          <p:cNvPr id="34" name="Text 31"/>
          <p:cNvSpPr txBox="1"/>
          <p:nvPr/>
        </p:nvSpPr>
        <p:spPr>
          <a:xfrm>
            <a:off x="548640" y="300471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يَتَفَوَّقُ فِي</a:t>
            </a:r>
            <a:endParaRPr lang="ar-SA" sz="22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10351008" y="3741725"/>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a:t>
            </a:r>
            <a:endParaRPr lang="en-US" sz="1100" dirty="0"/>
          </a:p>
        </p:txBody>
      </p:sp>
      <p:sp>
        <p:nvSpPr>
          <p:cNvPr id="39" name="Text 36"/>
          <p:cNvSpPr txBox="1"/>
          <p:nvPr/>
        </p:nvSpPr>
        <p:spPr>
          <a:xfrm>
            <a:off x="7680960" y="3741725"/>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يَرْسُبُونَ</a:t>
            </a:r>
            <a:endParaRPr lang="ar-SA" sz="2200" dirty="0"/>
          </a:p>
        </p:txBody>
      </p:sp>
      <p:sp>
        <p:nvSpPr>
          <p:cNvPr id="40" name="Text 37"/>
          <p:cNvSpPr txBox="1"/>
          <p:nvPr/>
        </p:nvSpPr>
        <p:spPr>
          <a:xfrm>
            <a:off x="5212080" y="3741725"/>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رَسَبَتْ</a:t>
            </a:r>
            <a:endParaRPr lang="ar-SA" sz="2200" dirty="0"/>
          </a:p>
        </p:txBody>
      </p:sp>
      <p:sp>
        <p:nvSpPr>
          <p:cNvPr id="41" name="Text 38"/>
          <p:cNvSpPr txBox="1"/>
          <p:nvPr/>
        </p:nvSpPr>
        <p:spPr>
          <a:xfrm>
            <a:off x="2834640" y="3741725"/>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رَسَبْتُ</a:t>
            </a:r>
            <a:endParaRPr lang="ar-SA" sz="2200" dirty="0"/>
          </a:p>
        </p:txBody>
      </p:sp>
      <p:sp>
        <p:nvSpPr>
          <p:cNvPr id="42" name="Text 39"/>
          <p:cNvSpPr txBox="1"/>
          <p:nvPr/>
        </p:nvSpPr>
        <p:spPr>
          <a:xfrm>
            <a:off x="548640" y="3741725"/>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يَرْسُبُ فِي</a:t>
            </a:r>
            <a:endParaRPr lang="ar-SA" sz="2200" dirty="0"/>
          </a:p>
        </p:txBody>
      </p:sp>
      <p:sp>
        <p:nvSpPr>
          <p:cNvPr id="43" name="Shape 40"/>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4" name="Text 41"/>
          <p:cNvSpPr txBox="1"/>
          <p:nvPr/>
        </p:nvSpPr>
        <p:spPr>
          <a:xfrm>
            <a:off x="10351008" y="4478731"/>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VIII</a:t>
            </a:r>
            <a:endParaRPr lang="en-US" sz="1100" dirty="0"/>
          </a:p>
        </p:txBody>
      </p:sp>
      <p:sp>
        <p:nvSpPr>
          <p:cNvPr id="45" name="Text 42"/>
          <p:cNvSpPr txBox="1"/>
          <p:nvPr/>
        </p:nvSpPr>
        <p:spPr>
          <a:xfrm>
            <a:off x="7680960" y="4478731"/>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يَلْتَحِقُونَ</a:t>
            </a:r>
            <a:endParaRPr lang="ar-SA" sz="2200" dirty="0"/>
          </a:p>
        </p:txBody>
      </p:sp>
      <p:sp>
        <p:nvSpPr>
          <p:cNvPr id="46" name="Text 43"/>
          <p:cNvSpPr txBox="1"/>
          <p:nvPr/>
        </p:nvSpPr>
        <p:spPr>
          <a:xfrm>
            <a:off x="5212080" y="4478731"/>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الْتَحَقَتْ</a:t>
            </a:r>
            <a:endParaRPr lang="ar-SA" sz="2200" dirty="0"/>
          </a:p>
        </p:txBody>
      </p:sp>
      <p:sp>
        <p:nvSpPr>
          <p:cNvPr id="47" name="Text 44"/>
          <p:cNvSpPr txBox="1"/>
          <p:nvPr/>
        </p:nvSpPr>
        <p:spPr>
          <a:xfrm>
            <a:off x="2834640" y="4478731"/>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الْتَحَقْتُ</a:t>
            </a:r>
            <a:endParaRPr lang="ar-SA" sz="2200" dirty="0"/>
          </a:p>
        </p:txBody>
      </p:sp>
      <p:sp>
        <p:nvSpPr>
          <p:cNvPr id="48" name="Text 45"/>
          <p:cNvSpPr txBox="1"/>
          <p:nvPr/>
        </p:nvSpPr>
        <p:spPr>
          <a:xfrm>
            <a:off x="548640" y="4478731"/>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يَلْتَحِقُ بِـ</a:t>
            </a:r>
            <a:endParaRPr lang="ar-SA" sz="2200" dirty="0"/>
          </a:p>
        </p:txBody>
      </p:sp>
      <p:sp>
        <p:nvSpPr>
          <p:cNvPr id="49" name="Shape 46"/>
          <p:cNvSpPr/>
          <p:nvPr/>
        </p:nvSpPr>
        <p:spPr>
          <a:xfrm>
            <a:off x="11091672" y="4524451"/>
            <a:ext cx="548640" cy="182880"/>
          </a:xfrm>
          <a:prstGeom prst="roundRect">
            <a:avLst>
              <a:gd name="adj" fmla="val 50000"/>
            </a:avLst>
          </a:prstGeom>
          <a:solidFill>
            <a:srgbClr val="2E8B57"/>
          </a:solidFill>
          <a:ln w="12700">
            <a:solidFill>
              <a:srgbClr val="2E8B57"/>
            </a:solidFill>
            <a:prstDash val="solid"/>
          </a:ln>
        </p:spPr>
      </p:sp>
      <p:sp>
        <p:nvSpPr>
          <p:cNvPr id="50" name="Text 47"/>
          <p:cNvSpPr txBox="1"/>
          <p:nvPr/>
        </p:nvSpPr>
        <p:spPr>
          <a:xfrm>
            <a:off x="11091672" y="4524451"/>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10351008" y="5215738"/>
            <a:ext cx="130759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Form I</a:t>
            </a:r>
            <a:endParaRPr lang="en-US" sz="1100" dirty="0"/>
          </a:p>
        </p:txBody>
      </p:sp>
      <p:sp>
        <p:nvSpPr>
          <p:cNvPr id="53" name="Text 50"/>
          <p:cNvSpPr txBox="1"/>
          <p:nvPr/>
        </p:nvSpPr>
        <p:spPr>
          <a:xfrm>
            <a:off x="7680960" y="5215738"/>
            <a:ext cx="246888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يَحْصُلُونَ</a:t>
            </a:r>
            <a:endParaRPr lang="ar-SA" sz="2200" dirty="0"/>
          </a:p>
        </p:txBody>
      </p:sp>
      <p:sp>
        <p:nvSpPr>
          <p:cNvPr id="54" name="Text 51"/>
          <p:cNvSpPr txBox="1"/>
          <p:nvPr/>
        </p:nvSpPr>
        <p:spPr>
          <a:xfrm>
            <a:off x="5212080" y="5215738"/>
            <a:ext cx="228600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حَصَلَتْ</a:t>
            </a:r>
            <a:endParaRPr lang="ar-SA" sz="2200" dirty="0"/>
          </a:p>
        </p:txBody>
      </p:sp>
      <p:sp>
        <p:nvSpPr>
          <p:cNvPr id="55" name="Text 52"/>
          <p:cNvSpPr txBox="1"/>
          <p:nvPr/>
        </p:nvSpPr>
        <p:spPr>
          <a:xfrm>
            <a:off x="2834640" y="5215738"/>
            <a:ext cx="219456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حَصَلْتُ</a:t>
            </a:r>
            <a:endParaRPr lang="ar-SA" sz="2200" dirty="0"/>
          </a:p>
        </p:txBody>
      </p:sp>
      <p:sp>
        <p:nvSpPr>
          <p:cNvPr id="56" name="Text 53"/>
          <p:cNvSpPr txBox="1"/>
          <p:nvPr/>
        </p:nvSpPr>
        <p:spPr>
          <a:xfrm>
            <a:off x="548640" y="5215738"/>
            <a:ext cx="21031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يَحْصُلُ عَلَى</a:t>
            </a:r>
            <a:endParaRPr lang="ar-SA" sz="22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Same hollow rule as zidtu and nimtu (earlier work): ijtāza → ijtaztu — the long ā shortens before -tu.</a:t>
            </a:r>
            <a:endParaRPr lang="en-US" sz="11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52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FOCUS · PART 3 · FORMAL CONTRAST (WEBSITE RULE 3) · DEVELOP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Set one system against another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بَيْنَمَا · فِي حِينِ أَنَّ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095488"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32648" y="1920240"/>
            <a:ext cx="1097280" cy="274320"/>
          </a:xfrm>
          <a:prstGeom prst="roundRect">
            <a:avLst>
              <a:gd name="adj" fmla="val 50000"/>
            </a:avLst>
          </a:prstGeom>
          <a:solidFill>
            <a:srgbClr val="1D5FBF"/>
          </a:solidFill>
          <a:ln w="12700">
            <a:solidFill>
              <a:srgbClr val="1D5FBF"/>
            </a:solidFill>
            <a:prstDash val="solid"/>
          </a:ln>
        </p:spPr>
      </p:sp>
      <p:sp>
        <p:nvSpPr>
          <p:cNvPr id="17" name="Text 14"/>
          <p:cNvSpPr txBox="1"/>
          <p:nvPr/>
        </p:nvSpPr>
        <p:spPr>
          <a:xfrm>
            <a:off x="8232648" y="1920240"/>
            <a:ext cx="10972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WHILE · CORE</a:t>
            </a:r>
            <a:endParaRPr lang="en-US" sz="850" dirty="0"/>
          </a:p>
        </p:txBody>
      </p:sp>
      <p:sp>
        <p:nvSpPr>
          <p:cNvPr id="18" name="Text 15"/>
          <p:cNvSpPr txBox="1"/>
          <p:nvPr/>
        </p:nvSpPr>
        <p:spPr>
          <a:xfrm>
            <a:off x="9375648" y="1874520"/>
            <a:ext cx="2218944" cy="365760"/>
          </a:xfrm>
          <a:prstGeom prst="rect">
            <a:avLst/>
          </a:prstGeom>
          <a:noFill/>
          <a:ln/>
        </p:spPr>
        <p:txBody>
          <a:bodyPr wrap="square" lIns="0" tIns="0" rIns="0" bIns="0" rtlCol="0" anchor="ctr"/>
          <a:lstStyle/>
          <a:p>
            <a:pPr algn="l" indent="0" marL="0">
              <a:buNone/>
            </a:pPr>
            <a:r>
              <a:rPr lang="ar-SA" altLang="en-US" sz="2100" b="1" dirty="0">
                <a:solidFill>
                  <a:srgbClr val="8A6D1E"/>
                </a:solidFill>
                <a:latin typeface="Amiri" pitchFamily="34" charset="0"/>
                <a:ea typeface="Amiri" pitchFamily="34" charset="-122"/>
                <a:cs typeface="Amiri" pitchFamily="34" charset="-120"/>
              </a:rPr>
              <a:t>بَيْنَمَا</a:t>
            </a:r>
            <a:pPr algn="l" indent="0" marL="0">
              <a:buNone/>
            </a:pPr>
            <a:r>
              <a:rPr lang="en-US" sz="1600" b="1" dirty="0">
                <a:solidFill>
                  <a:srgbClr val="8A6D1E"/>
                </a:solidFill>
                <a:latin typeface="Calibri" pitchFamily="34" charset="0"/>
                <a:ea typeface="Calibri" pitchFamily="34" charset="-122"/>
                <a:cs typeface="Calibri" pitchFamily="34" charset="-120"/>
              </a:rPr>
              <a:t> + verb</a:t>
            </a:r>
            <a:endParaRPr lang="en-US" sz="1600" dirty="0"/>
          </a:p>
        </p:txBody>
      </p:sp>
      <p:sp>
        <p:nvSpPr>
          <p:cNvPr id="19" name="Text 16"/>
          <p:cNvSpPr txBox="1"/>
          <p:nvPr/>
        </p:nvSpPr>
        <p:spPr>
          <a:xfrm>
            <a:off x="8232648"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بَيْنَمَا يَدُومُ التَّعْلِيمُ الثَّانَوِيُّ ثَلَاثَ سَنَوَاتٍ هُنَا، يَمْتَدُّ هُنَاكَ أَكْثَرَ.</a:t>
            </a:r>
            <a:endParaRPr lang="ar-SA" sz="2100" dirty="0"/>
          </a:p>
        </p:txBody>
      </p:sp>
      <p:sp>
        <p:nvSpPr>
          <p:cNvPr id="20" name="Text 17"/>
          <p:cNvSpPr txBox="1"/>
          <p:nvPr/>
        </p:nvSpPr>
        <p:spPr>
          <a:xfrm>
            <a:off x="8232648"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While secondary school lasts three years here, it lasts longer there.</a:t>
            </a:r>
            <a:endParaRPr lang="en-US" sz="1200" dirty="0"/>
          </a:p>
        </p:txBody>
      </p:sp>
      <p:sp>
        <p:nvSpPr>
          <p:cNvPr id="21" name="Shape 18"/>
          <p:cNvSpPr/>
          <p:nvPr/>
        </p:nvSpPr>
        <p:spPr>
          <a:xfrm>
            <a:off x="8205216" y="3913632"/>
            <a:ext cx="3416808" cy="804672"/>
          </a:xfrm>
          <a:prstGeom prst="roundRect">
            <a:avLst>
              <a:gd name="adj" fmla="val 5682"/>
            </a:avLst>
          </a:prstGeom>
          <a:solidFill>
            <a:srgbClr val="FFF4E0"/>
          </a:solidFill>
          <a:ln w="9525">
            <a:solidFill>
              <a:srgbClr val="FFF4E0"/>
            </a:solidFill>
            <a:prstDash val="solid"/>
          </a:ln>
        </p:spPr>
      </p:sp>
      <p:sp>
        <p:nvSpPr>
          <p:cNvPr id="22" name="Text 19"/>
          <p:cNvSpPr txBox="1"/>
          <p:nvPr/>
        </p:nvSpPr>
        <p:spPr>
          <a:xfrm>
            <a:off x="8296656"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Two clauses.</a:t>
            </a:r>
            <a:endParaRPr lang="en-US" sz="1100" dirty="0"/>
          </a:p>
        </p:txBody>
      </p:sp>
      <p:sp>
        <p:nvSpPr>
          <p:cNvPr id="23" name="Shape 20"/>
          <p:cNvSpPr/>
          <p:nvPr/>
        </p:nvSpPr>
        <p:spPr>
          <a:xfrm>
            <a:off x="4276344"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13504" y="1920240"/>
            <a:ext cx="1440180" cy="274320"/>
          </a:xfrm>
          <a:prstGeom prst="roundRect">
            <a:avLst>
              <a:gd name="adj" fmla="val 50000"/>
            </a:avLst>
          </a:prstGeom>
          <a:solidFill>
            <a:srgbClr val="C0386B"/>
          </a:solidFill>
          <a:ln w="12700">
            <a:solidFill>
              <a:srgbClr val="C0386B"/>
            </a:solidFill>
            <a:prstDash val="solid"/>
          </a:ln>
        </p:spPr>
      </p:sp>
      <p:sp>
        <p:nvSpPr>
          <p:cNvPr id="25" name="Text 22"/>
          <p:cNvSpPr txBox="1"/>
          <p:nvPr/>
        </p:nvSpPr>
        <p:spPr>
          <a:xfrm>
            <a:off x="4413504" y="1920240"/>
            <a:ext cx="144018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WHEREAS · DEVELOP</a:t>
            </a:r>
            <a:endParaRPr lang="en-US" sz="850" dirty="0"/>
          </a:p>
        </p:txBody>
      </p:sp>
      <p:sp>
        <p:nvSpPr>
          <p:cNvPr id="26" name="Text 23"/>
          <p:cNvSpPr txBox="1"/>
          <p:nvPr/>
        </p:nvSpPr>
        <p:spPr>
          <a:xfrm>
            <a:off x="5899404" y="1874520"/>
            <a:ext cx="1876044" cy="365760"/>
          </a:xfrm>
          <a:prstGeom prst="rect">
            <a:avLst/>
          </a:prstGeom>
          <a:noFill/>
          <a:ln/>
        </p:spPr>
        <p:txBody>
          <a:bodyPr wrap="square" lIns="0" tIns="0" rIns="0" bIns="0" rtlCol="0" anchor="ctr"/>
          <a:lstStyle/>
          <a:p>
            <a:pPr algn="l" indent="0" marL="0">
              <a:buNone/>
            </a:pPr>
            <a:r>
              <a:rPr lang="ar-SA" altLang="en-US" sz="1650" b="1" dirty="0">
                <a:solidFill>
                  <a:srgbClr val="8A6D1E"/>
                </a:solidFill>
                <a:latin typeface="Amiri" pitchFamily="34" charset="0"/>
                <a:ea typeface="Amiri" pitchFamily="34" charset="-122"/>
                <a:cs typeface="Amiri" pitchFamily="34" charset="-120"/>
              </a:rPr>
              <a:t>فِي حِينِ أَنَّ</a:t>
            </a:r>
            <a:pPr algn="l" indent="0" marL="0">
              <a:buNone/>
            </a:pPr>
            <a:r>
              <a:rPr lang="en-US" sz="1250" b="1" dirty="0">
                <a:solidFill>
                  <a:srgbClr val="8A6D1E"/>
                </a:solidFill>
                <a:latin typeface="Calibri" pitchFamily="34" charset="0"/>
                <a:ea typeface="Calibri" pitchFamily="34" charset="-122"/>
                <a:cs typeface="Calibri" pitchFamily="34" charset="-120"/>
              </a:rPr>
              <a:t> + noun (-a)</a:t>
            </a:r>
            <a:endParaRPr lang="en-US" sz="1250" dirty="0"/>
          </a:p>
        </p:txBody>
      </p:sp>
      <p:sp>
        <p:nvSpPr>
          <p:cNvPr id="27" name="Text 24"/>
          <p:cNvSpPr txBox="1"/>
          <p:nvPr/>
        </p:nvSpPr>
        <p:spPr>
          <a:xfrm>
            <a:off x="4413504"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050" b="1" dirty="0">
                <a:solidFill>
                  <a:srgbClr val="1B3B6F"/>
                </a:solidFill>
                <a:latin typeface="Amiri" pitchFamily="34" charset="0"/>
                <a:ea typeface="Amiri" pitchFamily="34" charset="-122"/>
                <a:cs typeface="Amiri" pitchFamily="34" charset="-120"/>
              </a:rPr>
              <a:t>يَعْتَمِدُ نِظَامٌ عَلَى الامْتِحَانِ، فِي حِينِ أَنَّ نِظَامًا آخَرَ يَعْتَمِدُ عَلَى المَشَارِيعِ.</a:t>
            </a:r>
            <a:endParaRPr lang="ar-SA" sz="2050" dirty="0"/>
          </a:p>
        </p:txBody>
      </p:sp>
      <p:sp>
        <p:nvSpPr>
          <p:cNvPr id="28" name="Text 25"/>
          <p:cNvSpPr txBox="1"/>
          <p:nvPr/>
        </p:nvSpPr>
        <p:spPr>
          <a:xfrm>
            <a:off x="4413504"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One system relies on the exam, whereas another relies on projects.</a:t>
            </a:r>
            <a:endParaRPr lang="en-US" sz="1200" dirty="0"/>
          </a:p>
        </p:txBody>
      </p:sp>
      <p:sp>
        <p:nvSpPr>
          <p:cNvPr id="29" name="Shape 26"/>
          <p:cNvSpPr/>
          <p:nvPr/>
        </p:nvSpPr>
        <p:spPr>
          <a:xfrm>
            <a:off x="4386072" y="3913632"/>
            <a:ext cx="3416808" cy="804672"/>
          </a:xfrm>
          <a:prstGeom prst="roundRect">
            <a:avLst>
              <a:gd name="adj" fmla="val 5682"/>
            </a:avLst>
          </a:prstGeom>
          <a:solidFill>
            <a:srgbClr val="FFF4E0"/>
          </a:solidFill>
          <a:ln w="9525">
            <a:solidFill>
              <a:srgbClr val="FFF4E0"/>
            </a:solidFill>
            <a:prstDash val="solid"/>
          </a:ln>
        </p:spPr>
      </p:sp>
      <p:sp>
        <p:nvSpPr>
          <p:cNvPr id="30" name="Text 27"/>
          <p:cNvSpPr txBox="1"/>
          <p:nvPr/>
        </p:nvSpPr>
        <p:spPr>
          <a:xfrm>
            <a:off x="4477512"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anna → -a.</a:t>
            </a:r>
            <a:endParaRPr lang="en-US" sz="1100" dirty="0"/>
          </a:p>
        </p:txBody>
      </p:sp>
      <p:sp>
        <p:nvSpPr>
          <p:cNvPr id="31" name="Shape 28"/>
          <p:cNvSpPr/>
          <p:nvPr/>
        </p:nvSpPr>
        <p:spPr>
          <a:xfrm>
            <a:off x="457200" y="1810512"/>
            <a:ext cx="3636264" cy="3017520"/>
          </a:xfrm>
          <a:prstGeom prst="roundRect">
            <a:avLst>
              <a:gd name="adj" fmla="val 242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94360" y="1920240"/>
            <a:ext cx="1714500" cy="274320"/>
          </a:xfrm>
          <a:prstGeom prst="roundRect">
            <a:avLst>
              <a:gd name="adj" fmla="val 50000"/>
            </a:avLst>
          </a:prstGeom>
          <a:solidFill>
            <a:srgbClr val="6B4C9A"/>
          </a:solidFill>
          <a:ln w="12700">
            <a:solidFill>
              <a:srgbClr val="6B4C9A"/>
            </a:solidFill>
            <a:prstDash val="solid"/>
          </a:ln>
        </p:spPr>
      </p:sp>
      <p:sp>
        <p:nvSpPr>
          <p:cNvPr id="33" name="Text 30"/>
          <p:cNvSpPr txBox="1"/>
          <p:nvPr/>
        </p:nvSpPr>
        <p:spPr>
          <a:xfrm>
            <a:off x="594360" y="1920240"/>
            <a:ext cx="17145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IN CONTRAST · STRETCH</a:t>
            </a:r>
            <a:endParaRPr lang="en-US" sz="850" dirty="0"/>
          </a:p>
        </p:txBody>
      </p:sp>
      <p:sp>
        <p:nvSpPr>
          <p:cNvPr id="34" name="Text 31"/>
          <p:cNvSpPr txBox="1"/>
          <p:nvPr/>
        </p:nvSpPr>
        <p:spPr>
          <a:xfrm>
            <a:off x="2354580" y="1874520"/>
            <a:ext cx="1601724" cy="365760"/>
          </a:xfrm>
          <a:prstGeom prst="rect">
            <a:avLst/>
          </a:prstGeom>
          <a:noFill/>
          <a:ln/>
        </p:spPr>
        <p:txBody>
          <a:bodyPr wrap="square" lIns="0" tIns="0" rIns="0" bIns="0" rtlCol="0" anchor="ctr"/>
          <a:lstStyle/>
          <a:p>
            <a:pPr rtl="1" algn="r" indent="0" marL="0">
              <a:buNone/>
            </a:pPr>
            <a:r>
              <a:rPr lang="ar-SA" altLang="en-US" sz="1600" b="1" dirty="0">
                <a:solidFill>
                  <a:srgbClr val="8A6D1E"/>
                </a:solidFill>
                <a:latin typeface="Amiri" pitchFamily="34" charset="0"/>
                <a:ea typeface="Amiri" pitchFamily="34" charset="-122"/>
                <a:cs typeface="Amiri" pitchFamily="34" charset="-120"/>
              </a:rPr>
              <a:t>فِي المُقَابِلِ،</a:t>
            </a:r>
            <a:endParaRPr lang="ar-SA" sz="1600" dirty="0"/>
          </a:p>
        </p:txBody>
      </p:sp>
      <p:sp>
        <p:nvSpPr>
          <p:cNvPr id="35" name="Text 32"/>
          <p:cNvSpPr txBox="1"/>
          <p:nvPr/>
        </p:nvSpPr>
        <p:spPr>
          <a:xfrm>
            <a:off x="594360" y="2286000"/>
            <a:ext cx="3361944" cy="1097280"/>
          </a:xfrm>
          <a:prstGeom prst="rect">
            <a:avLst/>
          </a:prstGeom>
          <a:noFill/>
          <a:ln/>
        </p:spPr>
        <p:txBody>
          <a:bodyPr wrap="square" lIns="0" tIns="0" rIns="0" bIns="0" rtlCol="0" anchor="ctr"/>
          <a:lstStyle/>
          <a:p>
            <a:pPr rtl="1" algn="ctr" indent="0" marL="0">
              <a:lnSpc>
                <a:spcPct val="120000"/>
              </a:lnSpc>
              <a:buNone/>
            </a:pPr>
            <a:r>
              <a:rPr lang="ar-SA" altLang="en-US" sz="2100" b="1" dirty="0">
                <a:solidFill>
                  <a:srgbClr val="1B3B6F"/>
                </a:solidFill>
                <a:latin typeface="Amiri" pitchFamily="34" charset="0"/>
                <a:ea typeface="Amiri" pitchFamily="34" charset="-122"/>
                <a:cs typeface="Amiri" pitchFamily="34" charset="-120"/>
              </a:rPr>
              <a:t>فِي المُقَابِلِ، يَخْتَلِفُ النِّظَامُ فِي بَعْضِ الدُّوَلِ العَرَبِيَّةِ.</a:t>
            </a:r>
            <a:endParaRPr lang="ar-SA" sz="2100" dirty="0"/>
          </a:p>
        </p:txBody>
      </p:sp>
      <p:sp>
        <p:nvSpPr>
          <p:cNvPr id="36" name="Text 33"/>
          <p:cNvSpPr txBox="1"/>
          <p:nvPr/>
        </p:nvSpPr>
        <p:spPr>
          <a:xfrm>
            <a:off x="594360" y="3364992"/>
            <a:ext cx="3361944" cy="411480"/>
          </a:xfrm>
          <a:prstGeom prst="rect">
            <a:avLst/>
          </a:prstGeom>
          <a:noFill/>
          <a:ln/>
        </p:spPr>
        <p:txBody>
          <a:bodyPr wrap="square" lIns="0" tIns="0" rIns="0" bIns="0" rtlCol="0" anchor="ctr"/>
          <a:lstStyle/>
          <a:p>
            <a:pPr algn="ctr" indent="0" marL="0">
              <a:buNone/>
            </a:pPr>
            <a:r>
              <a:rPr lang="en-US" sz="1200" i="1" dirty="0">
                <a:solidFill>
                  <a:srgbClr val="5A6472"/>
                </a:solidFill>
                <a:latin typeface="Calibri" pitchFamily="34" charset="0"/>
                <a:ea typeface="Calibri" pitchFamily="34" charset="-122"/>
                <a:cs typeface="Calibri" pitchFamily="34" charset="-120"/>
              </a:rPr>
              <a:t>In contrast, the system differs in some Arab countries.</a:t>
            </a:r>
            <a:endParaRPr lang="en-US" sz="1200" dirty="0"/>
          </a:p>
        </p:txBody>
      </p:sp>
      <p:sp>
        <p:nvSpPr>
          <p:cNvPr id="37" name="Shape 34"/>
          <p:cNvSpPr/>
          <p:nvPr/>
        </p:nvSpPr>
        <p:spPr>
          <a:xfrm>
            <a:off x="566928" y="3913632"/>
            <a:ext cx="3416808" cy="804672"/>
          </a:xfrm>
          <a:prstGeom prst="roundRect">
            <a:avLst>
              <a:gd name="adj" fmla="val 5682"/>
            </a:avLst>
          </a:prstGeom>
          <a:solidFill>
            <a:srgbClr val="FFF4E0"/>
          </a:solidFill>
          <a:ln w="9525">
            <a:solidFill>
              <a:srgbClr val="FFF4E0"/>
            </a:solidFill>
            <a:prstDash val="solid"/>
          </a:ln>
        </p:spPr>
      </p:sp>
      <p:sp>
        <p:nvSpPr>
          <p:cNvPr id="38" name="Text 35"/>
          <p:cNvSpPr txBox="1"/>
          <p:nvPr/>
        </p:nvSpPr>
        <p:spPr>
          <a:xfrm>
            <a:off x="658368" y="3950208"/>
            <a:ext cx="3233928" cy="731520"/>
          </a:xfrm>
          <a:prstGeom prst="rect">
            <a:avLst/>
          </a:prstGeom>
          <a:noFill/>
          <a:ln/>
        </p:spPr>
        <p:txBody>
          <a:bodyPr wrap="square" lIns="0" tIns="0" rIns="0" bIns="0" rtlCol="0" anchor="ctr"/>
          <a:lstStyle/>
          <a:p>
            <a:pPr algn="l" indent="0" marL="0">
              <a:buNone/>
            </a:pPr>
            <a:r>
              <a:rPr lang="en-US" sz="1100" dirty="0">
                <a:solidFill>
                  <a:srgbClr val="1F2A37"/>
                </a:solidFill>
                <a:latin typeface="Calibri" pitchFamily="34" charset="0"/>
                <a:ea typeface="Calibri" pitchFamily="34" charset="-122"/>
                <a:cs typeface="Calibri" pitchFamily="34" charset="-120"/>
              </a:rPr>
              <a:t>Starts a sentence.</a:t>
            </a:r>
            <a:endParaRPr lang="en-US" sz="1100" dirty="0"/>
          </a:p>
        </p:txBody>
      </p:sp>
      <p:sp>
        <p:nvSpPr>
          <p:cNvPr id="39" name="Shape 36"/>
          <p:cNvSpPr/>
          <p:nvPr/>
        </p:nvSpPr>
        <p:spPr>
          <a:xfrm>
            <a:off x="457200" y="50109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85800" y="5102352"/>
            <a:ext cx="2743200" cy="274320"/>
          </a:xfrm>
          <a:prstGeom prst="rect">
            <a:avLst/>
          </a:prstGeom>
          <a:noFill/>
          <a:ln/>
        </p:spPr>
        <p:txBody>
          <a:bodyPr wrap="square" lIns="0" tIns="0" rIns="0" bIns="0" rtlCol="0" anchor="ctr"/>
          <a:lstStyle/>
          <a:p>
            <a:pPr algn="l" indent="0" marL="0">
              <a:buNone/>
            </a:pPr>
            <a:r>
              <a:rPr lang="en-US" sz="1000" b="1" spc="200" kern="0" dirty="0">
                <a:solidFill>
                  <a:srgbClr val="B83227"/>
                </a:solidFill>
                <a:latin typeface="Calibri" pitchFamily="34" charset="0"/>
                <a:ea typeface="Calibri" pitchFamily="34" charset="-122"/>
                <a:cs typeface="Calibri" pitchFamily="34" charset="-120"/>
              </a:rPr>
              <a:t>COMMON ERROR</a:t>
            </a:r>
            <a:endParaRPr lang="en-US" sz="1000" dirty="0"/>
          </a:p>
        </p:txBody>
      </p:sp>
      <p:sp>
        <p:nvSpPr>
          <p:cNvPr id="41" name="Text 38"/>
          <p:cNvSpPr txBox="1"/>
          <p:nvPr/>
        </p:nvSpPr>
        <p:spPr>
          <a:xfrm>
            <a:off x="685800" y="5394960"/>
            <a:ext cx="3291840" cy="822960"/>
          </a:xfrm>
          <a:prstGeom prst="rect">
            <a:avLst/>
          </a:prstGeom>
          <a:noFill/>
          <a:ln/>
        </p:spPr>
        <p:txBody>
          <a:bodyPr wrap="square" lIns="0" tIns="0" rIns="0" bIns="0" rtlCol="0" anchor="t"/>
          <a:lstStyle/>
          <a:p>
            <a:pPr algn="l" indent="0" marL="0">
              <a:buNone/>
            </a:pPr>
            <a:r>
              <a:rPr lang="en-US" sz="1150" dirty="0">
                <a:solidFill>
                  <a:srgbClr val="1F2A37"/>
                </a:solidFill>
                <a:latin typeface="Calibri" pitchFamily="34" charset="0"/>
                <a:ea typeface="Calibri" pitchFamily="34" charset="-122"/>
                <a:cs typeface="Calibri" pitchFamily="34" charset="-120"/>
              </a:rPr>
              <a:t>Website quiz: compare, don’t list — chained wa adds nothing.</a:t>
            </a:r>
            <a:endParaRPr lang="en-US" sz="1150" dirty="0"/>
          </a:p>
        </p:txBody>
      </p:sp>
      <p:sp>
        <p:nvSpPr>
          <p:cNvPr id="42" name="Text 39"/>
          <p:cNvSpPr txBox="1"/>
          <p:nvPr/>
        </p:nvSpPr>
        <p:spPr>
          <a:xfrm>
            <a:off x="996696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بَيْنَمَا يَعْتَمِدُ الأَوَّلُ عَلَى الامْتِحَانِ، يَعْتَمِدُ الثَّانِي عَلَى المَشَارِيعِ</a:t>
            </a:r>
            <a:endParaRPr lang="ar-SA" sz="1400" dirty="0"/>
          </a:p>
        </p:txBody>
      </p:sp>
      <p:sp>
        <p:nvSpPr>
          <p:cNvPr id="43" name="Text 40"/>
          <p:cNvSpPr txBox="1"/>
          <p:nvPr/>
        </p:nvSpPr>
        <p:spPr>
          <a:xfrm>
            <a:off x="9601200" y="5230368"/>
            <a:ext cx="365760" cy="8686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44" name="Text 41"/>
          <p:cNvSpPr txBox="1"/>
          <p:nvPr/>
        </p:nvSpPr>
        <p:spPr>
          <a:xfrm>
            <a:off x="8001000" y="5230368"/>
            <a:ext cx="1645920" cy="868680"/>
          </a:xfrm>
          <a:prstGeom prst="rect">
            <a:avLst/>
          </a:prstGeom>
          <a:noFill/>
          <a:ln/>
        </p:spPr>
        <p:txBody>
          <a:bodyPr wrap="square" lIns="0" tIns="0" rIns="0" bIns="0" rtlCol="0" anchor="ctr"/>
          <a:lstStyle/>
          <a:p>
            <a:pPr rtl="1" algn="ctr" indent="0" marL="0">
              <a:lnSpc>
                <a:spcPct val="120000"/>
              </a:lnSpc>
              <a:buNone/>
            </a:pPr>
            <a:r>
              <a:rPr lang="ar-SA" altLang="en-US" sz="1650" b="1" dirty="0">
                <a:solidFill>
                  <a:srgbClr val="B83227"/>
                </a:solidFill>
                <a:latin typeface="Amiri" pitchFamily="34" charset="0"/>
                <a:ea typeface="Amiri" pitchFamily="34" charset="-122"/>
                <a:cs typeface="Amiri" pitchFamily="34" charset="-120"/>
              </a:rPr>
              <a:t>الأَوَّلُ جَيِّدٌ وَالثَّانِي جَيِّدٌ</a:t>
            </a:r>
            <a:endParaRPr lang="ar-SA" sz="1650" dirty="0"/>
          </a:p>
        </p:txBody>
      </p:sp>
      <p:sp>
        <p:nvSpPr>
          <p:cNvPr id="45" name="Shape 42"/>
          <p:cNvSpPr/>
          <p:nvPr/>
        </p:nvSpPr>
        <p:spPr>
          <a:xfrm>
            <a:off x="8138160" y="5669280"/>
            <a:ext cx="1371600" cy="0"/>
          </a:xfrm>
          <a:prstGeom prst="line">
            <a:avLst/>
          </a:prstGeom>
          <a:noFill/>
          <a:ln w="25400">
            <a:solidFill>
              <a:srgbClr val="B83227"/>
            </a:solidFill>
            <a:prstDash val="solid"/>
          </a:ln>
        </p:spPr>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52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1B3B6F"/>
                </a:solidFill>
                <a:latin typeface="Calibri" pitchFamily="34" charset="0"/>
                <a:ea typeface="Calibri" pitchFamily="34" charset="-122"/>
                <a:cs typeface="Calibri" pitchFamily="34" charset="-120"/>
              </a:rPr>
              <a:t>GRAMMAR FOCUS · PART 4 · WHAT MAKES A SYSTEM DISTINCTIVE (WEBSITE RULE 4 + READING) · STRETCH</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Distinguished by …</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يَتَمَيَّزُ بِـ</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10131552" y="1810512"/>
            <a:ext cx="15270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Tool</a:t>
            </a:r>
            <a:endParaRPr lang="en-US" sz="1100" dirty="0"/>
          </a:p>
        </p:txBody>
      </p:sp>
      <p:sp>
        <p:nvSpPr>
          <p:cNvPr id="17" name="Text 14"/>
          <p:cNvSpPr txBox="1"/>
          <p:nvPr/>
        </p:nvSpPr>
        <p:spPr>
          <a:xfrm>
            <a:off x="3182112" y="1810512"/>
            <a:ext cx="6803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Sentence</a:t>
            </a:r>
            <a:endParaRPr lang="en-US" sz="1100" dirty="0"/>
          </a:p>
        </p:txBody>
      </p:sp>
      <p:sp>
        <p:nvSpPr>
          <p:cNvPr id="18" name="Text 15"/>
          <p:cNvSpPr txBox="1"/>
          <p:nvPr/>
        </p:nvSpPr>
        <p:spPr>
          <a:xfrm>
            <a:off x="530352" y="1810512"/>
            <a:ext cx="25054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Feature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10168128" y="2267712"/>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bi- + gen.</a:t>
            </a:r>
            <a:endParaRPr lang="en-US" sz="1100" dirty="0"/>
          </a:p>
        </p:txBody>
      </p:sp>
      <p:sp>
        <p:nvSpPr>
          <p:cNvPr id="21" name="Text 18"/>
          <p:cNvSpPr txBox="1"/>
          <p:nvPr/>
        </p:nvSpPr>
        <p:spPr>
          <a:xfrm>
            <a:off x="3200400" y="2267712"/>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يَتَمَيَّزُ النِّظَامُ </a:t>
            </a:r>
            <a:pPr rtl="1" algn="ctr" indent="0" marL="0">
              <a:buNone/>
            </a:pPr>
            <a:r>
              <a:rPr lang="ar-SA" altLang="en-US" sz="2000" b="1" dirty="0">
                <a:solidFill>
                  <a:srgbClr val="0E7C86"/>
                </a:solidFill>
                <a:latin typeface="Amiri" pitchFamily="34" charset="0"/>
                <a:ea typeface="Amiri" pitchFamily="34" charset="-122"/>
                <a:cs typeface="Amiri" pitchFamily="34" charset="-120"/>
              </a:rPr>
              <a:t>بِمُرُونَةِ</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المَوَادِّ الاخْتِيَارِيَّةِ.</a:t>
            </a:r>
            <a:endParaRPr lang="ar-SA" sz="2000" dirty="0"/>
          </a:p>
        </p:txBody>
      </p:sp>
      <p:sp>
        <p:nvSpPr>
          <p:cNvPr id="22" name="Text 19"/>
          <p:cNvSpPr txBox="1"/>
          <p:nvPr/>
        </p:nvSpPr>
        <p:spPr>
          <a:xfrm>
            <a:off x="566928" y="2267712"/>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flexible subjects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10168128" y="300471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two features</a:t>
            </a:r>
            <a:endParaRPr lang="en-US" sz="1100" dirty="0"/>
          </a:p>
        </p:txBody>
      </p:sp>
      <p:sp>
        <p:nvSpPr>
          <p:cNvPr id="27" name="Text 24"/>
          <p:cNvSpPr txBox="1"/>
          <p:nvPr/>
        </p:nvSpPr>
        <p:spPr>
          <a:xfrm>
            <a:off x="3200400" y="300471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يَتَمَيَّزُ نِظَامٌ جَيِّدٌ </a:t>
            </a:r>
            <a:pPr rtl="1" algn="ctr" indent="0" marL="0">
              <a:buNone/>
            </a:pPr>
            <a:r>
              <a:rPr lang="ar-SA" altLang="en-US" sz="2000" b="1" dirty="0">
                <a:solidFill>
                  <a:srgbClr val="0E7C86"/>
                </a:solidFill>
                <a:latin typeface="Amiri" pitchFamily="34" charset="0"/>
                <a:ea typeface="Amiri" pitchFamily="34" charset="-122"/>
                <a:cs typeface="Amiri" pitchFamily="34" charset="-120"/>
              </a:rPr>
              <a:t>بِتَوَازُنٍ</a:t>
            </a:r>
            <a:pPr rtl="1" algn="ctr" indent="0" marL="0">
              <a:buNone/>
            </a:pPr>
            <a:r>
              <a:rPr lang="ar-SA" altLang="en-US" sz="2000" b="1" dirty="0">
                <a:solidFill>
                  <a:srgbClr val="1B3B6F"/>
                </a:solidFill>
                <a:latin typeface="Amiri" pitchFamily="34" charset="0"/>
                <a:ea typeface="Amiri" pitchFamily="34" charset="-122"/>
                <a:cs typeface="Amiri" pitchFamily="34" charset="-120"/>
              </a:rPr>
              <a:t> بَيْنَ المَوَادِّ </a:t>
            </a:r>
            <a:pPr rtl="1" algn="ctr" indent="0" marL="0">
              <a:buNone/>
            </a:pPr>
            <a:r>
              <a:rPr lang="ar-SA" altLang="en-US" sz="2000" b="1" dirty="0">
                <a:solidFill>
                  <a:srgbClr val="0E7C86"/>
                </a:solidFill>
                <a:latin typeface="Amiri" pitchFamily="34" charset="0"/>
                <a:ea typeface="Amiri" pitchFamily="34" charset="-122"/>
                <a:cs typeface="Amiri" pitchFamily="34" charset="-120"/>
              </a:rPr>
              <a:t>وَبِنِظَامِ</a:t>
            </a:r>
            <a:pPr rtl="1" algn="ctr" indent="0" marL="0">
              <a:buNone/>
            </a:pPr>
            <a:r>
              <a:rPr lang="ar-SA" altLang="en-US" sz="2000" b="1" dirty="0">
                <a:solidFill>
                  <a:srgbClr val="1B3B6F"/>
                </a:solidFill>
                <a:latin typeface="Amiri" pitchFamily="34" charset="0"/>
                <a:ea typeface="Amiri" pitchFamily="34" charset="-122"/>
                <a:cs typeface="Amiri" pitchFamily="34" charset="-120"/>
              </a:rPr>
              <a:t> تَقْيِيمٍ عَادِلٍ.</a:t>
            </a:r>
            <a:endParaRPr lang="ar-SA" sz="2000" dirty="0"/>
          </a:p>
        </p:txBody>
      </p:sp>
      <p:sp>
        <p:nvSpPr>
          <p:cNvPr id="28" name="Text 25"/>
          <p:cNvSpPr txBox="1"/>
          <p:nvPr/>
        </p:nvSpPr>
        <p:spPr>
          <a:xfrm>
            <a:off x="566928" y="300471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balance + fair assessment</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10168128" y="3741725"/>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feminine</a:t>
            </a:r>
            <a:endParaRPr lang="en-US" sz="1100" dirty="0"/>
          </a:p>
        </p:txBody>
      </p:sp>
      <p:sp>
        <p:nvSpPr>
          <p:cNvPr id="33" name="Text 30"/>
          <p:cNvSpPr txBox="1"/>
          <p:nvPr/>
        </p:nvSpPr>
        <p:spPr>
          <a:xfrm>
            <a:off x="3200400" y="3741725"/>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D5FBF"/>
                </a:solidFill>
                <a:latin typeface="Amiri" pitchFamily="34" charset="0"/>
                <a:ea typeface="Amiri" pitchFamily="34" charset="-122"/>
                <a:cs typeface="Amiri" pitchFamily="34" charset="-120"/>
              </a:rPr>
              <a:t>تَتَمَيَّزُ</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المَنْظُومَةُ </a:t>
            </a:r>
            <a:pPr rtl="1" algn="ctr" indent="0" marL="0">
              <a:buNone/>
            </a:pPr>
            <a:r>
              <a:rPr lang="ar-SA" altLang="en-US" sz="2000" b="1" dirty="0">
                <a:solidFill>
                  <a:srgbClr val="0E7C86"/>
                </a:solidFill>
                <a:latin typeface="Amiri" pitchFamily="34" charset="0"/>
                <a:ea typeface="Amiri" pitchFamily="34" charset="-122"/>
                <a:cs typeface="Amiri" pitchFamily="34" charset="-120"/>
              </a:rPr>
              <a:t>بِمَرَاحِلَ</a:t>
            </a:r>
            <a:pPr rtl="1" algn="ctr" indent="0" marL="0">
              <a:buNone/>
            </a:pPr>
            <a:r>
              <a:rPr lang="ar-SA" altLang="en-US" sz="2000" b="1" dirty="0">
                <a:solidFill>
                  <a:srgbClr val="1B3B6F"/>
                </a:solidFill>
                <a:latin typeface="Amiri" pitchFamily="34" charset="0"/>
                <a:ea typeface="Amiri" pitchFamily="34" charset="-122"/>
                <a:cs typeface="Amiri" pitchFamily="34" charset="-120"/>
              </a:rPr>
              <a:t> وَاضِحَةٍ.</a:t>
            </a:r>
            <a:endParaRPr lang="ar-SA" sz="2000" dirty="0"/>
          </a:p>
        </p:txBody>
      </p:sp>
      <p:sp>
        <p:nvSpPr>
          <p:cNvPr id="34" name="Text 31"/>
          <p:cNvSpPr txBox="1"/>
          <p:nvPr/>
        </p:nvSpPr>
        <p:spPr>
          <a:xfrm>
            <a:off x="566928" y="3741725"/>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she-subject</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10168128" y="4478731"/>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fair contrast</a:t>
            </a:r>
            <a:endParaRPr lang="en-US" sz="1100" dirty="0"/>
          </a:p>
        </p:txBody>
      </p:sp>
      <p:sp>
        <p:nvSpPr>
          <p:cNvPr id="37" name="Text 34"/>
          <p:cNvSpPr txBox="1"/>
          <p:nvPr/>
        </p:nvSpPr>
        <p:spPr>
          <a:xfrm>
            <a:off x="3200400" y="4478731"/>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34" charset="0"/>
                <a:ea typeface="Amiri" pitchFamily="34" charset="-122"/>
                <a:cs typeface="Amiri" pitchFamily="34" charset="-120"/>
              </a:rPr>
              <a:t>يَلْتَحِقُ المُتَفَوِّقُونَ بِالجَامِعَاتِ، </a:t>
            </a:r>
            <a:pPr rtl="1" algn="ctr" indent="0" marL="0">
              <a:buNone/>
            </a:pPr>
            <a:r>
              <a:rPr lang="ar-SA" altLang="en-US" sz="2000" b="1" dirty="0">
                <a:solidFill>
                  <a:srgbClr val="D6336C"/>
                </a:solidFill>
                <a:latin typeface="Amiri" pitchFamily="34" charset="0"/>
                <a:ea typeface="Amiri" pitchFamily="34" charset="-122"/>
                <a:cs typeface="Amiri" pitchFamily="34" charset="-120"/>
              </a:rPr>
              <a:t>بَيْنَمَا</a:t>
            </a:r>
            <a:pPr rtl="1" algn="ctr" indent="0" marL="0">
              <a:buNone/>
            </a:pPr>
            <a:r>
              <a:rPr lang="ar-SA" altLang="en-US" sz="2000" b="1" dirty="0">
                <a:solidFill>
                  <a:srgbClr val="1B3B6F"/>
                </a:solidFill>
                <a:latin typeface="Amiri" pitchFamily="34" charset="0"/>
                <a:ea typeface="Amiri" pitchFamily="34" charset="-122"/>
                <a:cs typeface="Amiri" pitchFamily="34" charset="-120"/>
              </a:rPr>
              <a:t> يَخْتَارُ آخَرُونَ التَّدْرِيبَ المِهَنِيَّ.</a:t>
            </a:r>
            <a:endParaRPr lang="ar-SA" sz="2000" dirty="0"/>
          </a:p>
        </p:txBody>
      </p:sp>
      <p:sp>
        <p:nvSpPr>
          <p:cNvPr id="38" name="Text 35"/>
          <p:cNvSpPr txBox="1"/>
          <p:nvPr/>
        </p:nvSpPr>
        <p:spPr>
          <a:xfrm>
            <a:off x="566928" y="4478731"/>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both paths respected</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10168128" y="5215738"/>
            <a:ext cx="149047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P1-L03 (website)</a:t>
            </a:r>
            <a:endParaRPr lang="en-US" sz="1100" dirty="0"/>
          </a:p>
        </p:txBody>
      </p:sp>
      <p:sp>
        <p:nvSpPr>
          <p:cNvPr id="41" name="Text 38"/>
          <p:cNvSpPr txBox="1"/>
          <p:nvPr/>
        </p:nvSpPr>
        <p:spPr>
          <a:xfrm>
            <a:off x="3200400" y="5215738"/>
            <a:ext cx="6766560" cy="682142"/>
          </a:xfrm>
          <a:prstGeom prst="rect">
            <a:avLst/>
          </a:prstGeom>
          <a:noFill/>
          <a:ln/>
        </p:spPr>
        <p:txBody>
          <a:bodyPr wrap="square" lIns="0" tIns="0" rIns="0" bIns="0" rtlCol="0" anchor="ctr"/>
          <a:lstStyle/>
          <a:p>
            <a:pPr rtl="1" algn="ctr" indent="0" marL="0">
              <a:buNone/>
            </a:pPr>
            <a:r>
              <a:rPr lang="ar-SA" altLang="en-US" sz="2000" b="1" dirty="0">
                <a:solidFill>
                  <a:srgbClr val="7B3FA0"/>
                </a:solidFill>
                <a:latin typeface="Amiri" pitchFamily="34" charset="0"/>
                <a:ea typeface="Amiri" pitchFamily="34" charset="-122"/>
                <a:cs typeface="Amiri" pitchFamily="34" charset="-120"/>
              </a:rPr>
              <a:t>إِذَا رَكَّزَتِ</a:t>
            </a:r>
            <a:pPr rtl="1" algn="ctr" indent="0" marL="0">
              <a:buNone/>
            </a:pPr>
            <a:r>
              <a:rPr lang="ar-SA" altLang="en-US" sz="2000" b="1" dirty="0">
                <a:solidFill>
                  <a:srgbClr val="1B3B6F"/>
                </a:solidFill>
                <a:latin typeface="Amiri" pitchFamily="34" charset="0"/>
                <a:ea typeface="Amiri" pitchFamily="34" charset="-122"/>
                <a:cs typeface="Amiri" pitchFamily="34" charset="-120"/>
              </a:rPr>
              <a:t> المَنْظُومَةُ عَلَى التَّفْكِيرِ، </a:t>
            </a:r>
            <a:pPr rtl="1" algn="ctr" indent="0" marL="0">
              <a:buNone/>
            </a:pPr>
            <a:r>
              <a:rPr lang="ar-SA" altLang="en-US" sz="2000" b="1" dirty="0">
                <a:solidFill>
                  <a:srgbClr val="7B3FA0"/>
                </a:solidFill>
                <a:latin typeface="Amiri" pitchFamily="34" charset="0"/>
                <a:ea typeface="Amiri" pitchFamily="34" charset="-122"/>
                <a:cs typeface="Amiri" pitchFamily="34" charset="-120"/>
              </a:rPr>
              <a:t>فَسَيَزْدَادُ</a:t>
            </a:r>
            <a:pPr rtl="1" algn="ctr" indent="0" marL="0">
              <a:buNone/>
            </a:pPr>
            <a:r>
              <a:rPr lang="ar-SA" altLang="en-US" sz="2000" b="1" dirty="0">
                <a:solidFill>
                  <a:srgbClr val="1B3B6F"/>
                </a:solidFill>
                <a:latin typeface="Amiri" pitchFamily="34" charset="0"/>
                <a:ea typeface="Amiri" pitchFamily="34" charset="-122"/>
                <a:cs typeface="Amiri" pitchFamily="34" charset="-120"/>
              </a:rPr>
              <a:t> إِبْدَاعُ الطُّلَّابِ.</a:t>
            </a:r>
            <a:endParaRPr lang="ar-SA" sz="2000" dirty="0"/>
          </a:p>
        </p:txBody>
      </p:sp>
      <p:sp>
        <p:nvSpPr>
          <p:cNvPr id="42" name="Text 39"/>
          <p:cNvSpPr txBox="1"/>
          <p:nvPr/>
        </p:nvSpPr>
        <p:spPr>
          <a:xfrm>
            <a:off x="566928" y="5215738"/>
            <a:ext cx="24688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conditional close</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mistake: yatamayyaz takes bi-, never fī — yatamayyaz al-niẓām bi-l-murūna.</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52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WEBSITE RULES WITH EXAMPLES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ea typeface="Cambria" pitchFamily="34" charset="-122"/>
                <a:cs typeface="Cambria" pitchFamily="34" charset="-120"/>
              </a:rPr>
              <a:t>Academic verbs and formal comparison</a:t>
            </a:r>
            <a:endParaRPr lang="en-US" sz="24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الأَفْعَالُ الأَكَادِيمِيَّةُ وَالمُقَارَنَةُ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40080" y="1883664"/>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1. Exam verbs</a:t>
            </a:r>
            <a:endParaRPr lang="en-US" sz="1250" dirty="0"/>
          </a:p>
        </p:txBody>
      </p:sp>
      <p:sp>
        <p:nvSpPr>
          <p:cNvPr id="19" name="Text 16"/>
          <p:cNvSpPr txBox="1"/>
          <p:nvPr/>
        </p:nvSpPr>
        <p:spPr>
          <a:xfrm>
            <a:off x="640080" y="2345436"/>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yajtāz + object · yarsub fī · yatafawwaq fī</a:t>
            </a:r>
            <a:endParaRPr lang="en-US" sz="1050" dirty="0"/>
          </a:p>
        </p:txBody>
      </p:sp>
      <p:sp>
        <p:nvSpPr>
          <p:cNvPr id="20" name="Text 17"/>
          <p:cNvSpPr txBox="1"/>
          <p:nvPr/>
        </p:nvSpPr>
        <p:spPr>
          <a:xfrm>
            <a:off x="4297680" y="1847088"/>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يَجْتَازُ الطُّلَّابُ الامْتِحَانَ   ·   يَتَفَوَّقُ فِي العُلُومِ وَيَرْسُبُ زَمِيلُهُ فِي المَادَّةِ نَفْسِهَا</a:t>
            </a:r>
            <a:endParaRPr lang="ar-SA" sz="2000" dirty="0"/>
          </a:p>
        </p:txBody>
      </p:sp>
      <p:sp>
        <p:nvSpPr>
          <p:cNvPr id="21" name="Shape 18"/>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640080" y="3040380"/>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2. Enrolment and attainment</a:t>
            </a:r>
            <a:endParaRPr lang="en-US" sz="1250" dirty="0"/>
          </a:p>
        </p:txBody>
      </p:sp>
      <p:sp>
        <p:nvSpPr>
          <p:cNvPr id="23" name="Text 20"/>
          <p:cNvSpPr txBox="1"/>
          <p:nvPr/>
        </p:nvSpPr>
        <p:spPr>
          <a:xfrm>
            <a:off x="640080" y="3502152"/>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yaltaḥiq bi- · yaḥṣul ʿalā</a:t>
            </a:r>
            <a:endParaRPr lang="en-US" sz="1050" dirty="0"/>
          </a:p>
        </p:txBody>
      </p:sp>
      <p:sp>
        <p:nvSpPr>
          <p:cNvPr id="24" name="Text 21"/>
          <p:cNvSpPr txBox="1"/>
          <p:nvPr/>
        </p:nvSpPr>
        <p:spPr>
          <a:xfrm>
            <a:off x="4297680" y="3003804"/>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يَلْتَحِقُ بِالجَامِعَةِ بَعْدَ الثَّانَوِيَّةِ   ·   يَحْصُلُ عَلَى شَهَادَةٍ مُعْتَمَدَةٍ</a:t>
            </a:r>
            <a:endParaRPr lang="ar-SA" sz="200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40080" y="4197096"/>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3. Formal contrast</a:t>
            </a:r>
            <a:endParaRPr lang="en-US" sz="1250" dirty="0"/>
          </a:p>
        </p:txBody>
      </p:sp>
      <p:sp>
        <p:nvSpPr>
          <p:cNvPr id="27" name="Text 24"/>
          <p:cNvSpPr txBox="1"/>
          <p:nvPr/>
        </p:nvSpPr>
        <p:spPr>
          <a:xfrm>
            <a:off x="640080" y="4658868"/>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baynamā · fī ḥīni anna · fī al-muqābil</a:t>
            </a:r>
            <a:endParaRPr lang="en-US" sz="1050" dirty="0"/>
          </a:p>
        </p:txBody>
      </p:sp>
      <p:sp>
        <p:nvSpPr>
          <p:cNvPr id="28" name="Text 25"/>
          <p:cNvSpPr txBox="1"/>
          <p:nvPr/>
        </p:nvSpPr>
        <p:spPr>
          <a:xfrm>
            <a:off x="4297680" y="4160520"/>
            <a:ext cx="7269480" cy="955548"/>
          </a:xfrm>
          <a:prstGeom prst="rect">
            <a:avLst/>
          </a:prstGeom>
          <a:noFill/>
          <a:ln/>
        </p:spPr>
        <p:txBody>
          <a:bodyPr wrap="square" lIns="0" tIns="0" rIns="0" bIns="0" rtlCol="0" anchor="ctr"/>
          <a:lstStyle/>
          <a:p>
            <a:pPr rtl="1" algn="r" indent="0" marL="0">
              <a:lnSpc>
                <a:spcPct val="120000"/>
              </a:lnSpc>
              <a:buNone/>
            </a:pPr>
            <a:r>
              <a:rPr lang="ar-SA" altLang="en-US" sz="1850" b="1" dirty="0">
                <a:solidFill>
                  <a:srgbClr val="1F2A37"/>
                </a:solidFill>
                <a:latin typeface="Amiri" pitchFamily="34" charset="0"/>
                <a:ea typeface="Amiri" pitchFamily="34" charset="-122"/>
                <a:cs typeface="Amiri" pitchFamily="34" charset="-120"/>
              </a:rPr>
              <a:t>بَيْنَمَا يَدُومُ التَّعْلِيمُ الثَّانَوِيُّ ثَلَاثَ سَنَوَاتٍ، يَمْتَدُّ فِي غَيْرِهَا أَكْثَرَ   ·   فِي حِينِ أَنَّ النِّظَامَ الأَوَّلَ يَعْتَمِدُ عَلَى الامْتِحَانِ، يَعْتَمِدُ الثَّانِي عَلَى المَشَارِيعِ</a:t>
            </a:r>
            <a:endParaRPr lang="ar-SA" sz="1850" dirty="0"/>
          </a:p>
        </p:txBody>
      </p:sp>
      <p:sp>
        <p:nvSpPr>
          <p:cNvPr id="29" name="Shape 26"/>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40080" y="5353812"/>
            <a:ext cx="3566160" cy="514350"/>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4. Distinguishing feature</a:t>
            </a:r>
            <a:endParaRPr lang="en-US" sz="1250" dirty="0"/>
          </a:p>
        </p:txBody>
      </p:sp>
      <p:sp>
        <p:nvSpPr>
          <p:cNvPr id="31" name="Text 28"/>
          <p:cNvSpPr txBox="1"/>
          <p:nvPr/>
        </p:nvSpPr>
        <p:spPr>
          <a:xfrm>
            <a:off x="640080" y="5815584"/>
            <a:ext cx="3566160" cy="432054"/>
          </a:xfrm>
          <a:prstGeom prst="rect">
            <a:avLst/>
          </a:prstGeom>
          <a:noFill/>
          <a:ln/>
        </p:spPr>
        <p:txBody>
          <a:bodyPr wrap="square" lIns="0" tIns="0" rIns="0" bIns="0" rtlCol="0" anchor="ctr"/>
          <a:lstStyle/>
          <a:p>
            <a:pPr algn="l" indent="0" marL="0">
              <a:buNone/>
            </a:pPr>
            <a:r>
              <a:rPr lang="en-US" sz="1050" dirty="0">
                <a:solidFill>
                  <a:srgbClr val="5A6472"/>
                </a:solidFill>
                <a:latin typeface="Calibri" pitchFamily="34" charset="0"/>
                <a:ea typeface="Calibri" pitchFamily="34" charset="-122"/>
                <a:cs typeface="Calibri" pitchFamily="34" charset="-120"/>
              </a:rPr>
              <a:t>yatamayyaz bi-</a:t>
            </a:r>
            <a:endParaRPr lang="en-US" sz="1050" dirty="0"/>
          </a:p>
        </p:txBody>
      </p:sp>
      <p:sp>
        <p:nvSpPr>
          <p:cNvPr id="32" name="Text 29"/>
          <p:cNvSpPr txBox="1"/>
          <p:nvPr/>
        </p:nvSpPr>
        <p:spPr>
          <a:xfrm>
            <a:off x="4297680" y="5317236"/>
            <a:ext cx="7269480" cy="955548"/>
          </a:xfrm>
          <a:prstGeom prst="rect">
            <a:avLst/>
          </a:prstGeom>
          <a:noFill/>
          <a:ln/>
        </p:spPr>
        <p:txBody>
          <a:bodyPr wrap="square" lIns="0" tIns="0" rIns="0" bIns="0" rtlCol="0" anchor="ctr"/>
          <a:lstStyle/>
          <a:p>
            <a:pPr rtl="1" algn="r" indent="0" marL="0">
              <a:buNone/>
            </a:pPr>
            <a:r>
              <a:rPr lang="ar-SA" altLang="en-US" sz="2000" b="1" dirty="0">
                <a:solidFill>
                  <a:srgbClr val="1F2A37"/>
                </a:solidFill>
                <a:latin typeface="Amiri" pitchFamily="34" charset="0"/>
                <a:ea typeface="Amiri" pitchFamily="34" charset="-122"/>
                <a:cs typeface="Amiri" pitchFamily="34" charset="-120"/>
              </a:rPr>
              <a:t>يَتَمَيَّزُ النِّظَامُ بِمُرُونَةِ المَوَادِّ الاخْتِيَارِيَّةِ</a:t>
            </a:r>
            <a:endParaRPr lang="ar-SA" sz="200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52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فِي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بِالامْتِحَانِ.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الامْتِحَانَ.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2" name="Text 29"/>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يَتَفَوَّقُ الطَّالِبُ ___ الرِّيَاضِيَّاتِ.</a:t>
            </a:r>
            <a:endParaRPr lang="ar-SA" sz="1500" dirty="0"/>
          </a:p>
        </p:txBody>
      </p:sp>
      <p:sp>
        <p:nvSpPr>
          <p:cNvPr id="33" name="Shape 30"/>
          <p:cNvSpPr/>
          <p:nvPr/>
        </p:nvSpPr>
        <p:spPr>
          <a:xfrm>
            <a:off x="6368796" y="2532888"/>
            <a:ext cx="256032" cy="256032"/>
          </a:xfrm>
          <a:prstGeom prst="ellipse">
            <a:avLst/>
          </a:prstGeom>
          <a:solidFill>
            <a:srgbClr val="F4F1EA"/>
          </a:solidFill>
          <a:ln w="12700">
            <a:solidFill>
              <a:srgbClr val="F4F1EA"/>
            </a:solidFill>
            <a:prstDash val="solid"/>
          </a:ln>
        </p:spPr>
      </p:sp>
      <p:sp>
        <p:nvSpPr>
          <p:cNvPr id="34" name="Text 31"/>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5" name="Text 32"/>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6" name="Shape 33"/>
          <p:cNvSpPr/>
          <p:nvPr/>
        </p:nvSpPr>
        <p:spPr>
          <a:xfrm>
            <a:off x="6368796" y="29900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8" name="Text 35"/>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9" name="Shape 36"/>
          <p:cNvSpPr/>
          <p:nvPr/>
        </p:nvSpPr>
        <p:spPr>
          <a:xfrm>
            <a:off x="6368796" y="34472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1" name="Text 38"/>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2" name="Shape 39"/>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585216" y="4288536"/>
            <a:ext cx="310896" cy="310896"/>
          </a:xfrm>
          <a:prstGeom prst="ellipse">
            <a:avLst/>
          </a:prstGeom>
          <a:solidFill>
            <a:srgbClr val="1B3B6F"/>
          </a:solidFill>
          <a:ln w="12700">
            <a:solidFill>
              <a:srgbClr val="1B3B6F"/>
            </a:solidFill>
            <a:prstDash val="solid"/>
          </a:ln>
        </p:spPr>
      </p:sp>
      <p:sp>
        <p:nvSpPr>
          <p:cNvPr id="44" name="Text 4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46" name="Text 43"/>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يَلْتَحِقُ الطَّالِبُ ___ الجَامِعَةِ.</a:t>
            </a:r>
            <a:endParaRPr lang="ar-SA" sz="150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contrast connector?</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حِينِ أَنَّ</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ثُمَّ</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52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يَجْتَازُ الطَّالِبُ فِي الامْتِحَانِ.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يَجْتَازُ الطَّالِبُ بِالامْتِحَانِ.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يَجْتَازُ الطَّالِبُ الامْتِحَانَ.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يَجْتَازُ</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4" name="Text 31"/>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يَتَفَوَّقُ الطَّالِبُ ___ الرِّيَاضِيَّاتِ.</a:t>
            </a:r>
            <a:endParaRPr lang="ar-SA" sz="1500" dirty="0"/>
          </a:p>
        </p:txBody>
      </p:sp>
      <p:sp>
        <p:nvSpPr>
          <p:cNvPr id="35" name="Shape 32"/>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6" name="Shape 33"/>
          <p:cNvSpPr/>
          <p:nvPr/>
        </p:nvSpPr>
        <p:spPr>
          <a:xfrm>
            <a:off x="6368796" y="2490216"/>
            <a:ext cx="256032" cy="256032"/>
          </a:xfrm>
          <a:prstGeom prst="ellipse">
            <a:avLst/>
          </a:prstGeom>
          <a:solidFill>
            <a:srgbClr val="2E8B57"/>
          </a:solidFill>
          <a:ln w="12700">
            <a:solidFill>
              <a:srgbClr val="2E8B57"/>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39" name="Shape 36"/>
          <p:cNvSpPr/>
          <p:nvPr/>
        </p:nvSpPr>
        <p:spPr>
          <a:xfrm>
            <a:off x="6368796"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39"/>
          <p:cNvSpPr/>
          <p:nvPr/>
        </p:nvSpPr>
        <p:spPr>
          <a:xfrm>
            <a:off x="6368796" y="3233928"/>
            <a:ext cx="256032" cy="256032"/>
          </a:xfrm>
          <a:prstGeom prst="ellipse">
            <a:avLst/>
          </a:prstGeom>
          <a:solidFill>
            <a:srgbClr val="C9CED6"/>
          </a:solidFill>
          <a:ln w="12700">
            <a:solidFill>
              <a:srgbClr val="C9CED6"/>
            </a:solidFill>
            <a:prstDash val="solid"/>
          </a:ln>
        </p:spPr>
      </p:sp>
      <p:sp>
        <p:nvSpPr>
          <p:cNvPr id="43" name="Text 40"/>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5" name="Text 42"/>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يَتَفَوَّقُ</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3"/>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4"/>
          <p:cNvSpPr/>
          <p:nvPr/>
        </p:nvSpPr>
        <p:spPr>
          <a:xfrm>
            <a:off x="585216" y="4288536"/>
            <a:ext cx="310896" cy="310896"/>
          </a:xfrm>
          <a:prstGeom prst="ellipse">
            <a:avLst/>
          </a:prstGeom>
          <a:solidFill>
            <a:srgbClr val="1B3B6F"/>
          </a:solidFill>
          <a:ln w="12700">
            <a:solidFill>
              <a:srgbClr val="1B3B6F"/>
            </a:solidFill>
            <a:prstDash val="solid"/>
          </a:ln>
        </p:spPr>
      </p:sp>
      <p:sp>
        <p:nvSpPr>
          <p:cNvPr id="48" name="Text 4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6"/>
          <p:cNvSpPr txBox="1"/>
          <p:nvPr/>
        </p:nvSpPr>
        <p:spPr>
          <a:xfrm>
            <a:off x="950976"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0" name="Text 47"/>
          <p:cNvSpPr txBox="1"/>
          <p:nvPr/>
        </p:nvSpPr>
        <p:spPr>
          <a:xfrm>
            <a:off x="3323295" y="4224528"/>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يَلْتَحِقُ الطَّالِبُ ___ الجَامِعَةِ.</a:t>
            </a:r>
            <a:endParaRPr lang="ar-SA" sz="150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يَلْتَحِقُ</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contrast connector?</a:t>
            </a:r>
            <a:endParaRPr lang="en-US" sz="1250" dirty="0"/>
          </a:p>
        </p:txBody>
      </p:sp>
      <p:sp>
        <p:nvSpPr>
          <p:cNvPr id="66" name="Shape 63"/>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7" name="Shape 64"/>
          <p:cNvSpPr/>
          <p:nvPr/>
        </p:nvSpPr>
        <p:spPr>
          <a:xfrm>
            <a:off x="6368796" y="4831080"/>
            <a:ext cx="256032" cy="256032"/>
          </a:xfrm>
          <a:prstGeom prst="ellipse">
            <a:avLst/>
          </a:prstGeom>
          <a:solidFill>
            <a:srgbClr val="2E8B57"/>
          </a:solidFill>
          <a:ln w="12700">
            <a:solidFill>
              <a:srgbClr val="2E8B57"/>
            </a:solidFill>
            <a:prstDash val="solid"/>
          </a:ln>
        </p:spPr>
      </p:sp>
      <p:sp>
        <p:nvSpPr>
          <p:cNvPr id="68" name="Text 65"/>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9" name="Text 66"/>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 حِينِ أَنَّ</a:t>
            </a:r>
            <a:endParaRPr lang="ar-SA" sz="1700" dirty="0"/>
          </a:p>
        </p:txBody>
      </p:sp>
      <p:sp>
        <p:nvSpPr>
          <p:cNvPr id="70" name="Shape 67"/>
          <p:cNvSpPr/>
          <p:nvPr/>
        </p:nvSpPr>
        <p:spPr>
          <a:xfrm>
            <a:off x="6368796" y="5202936"/>
            <a:ext cx="256032" cy="256032"/>
          </a:xfrm>
          <a:prstGeom prst="ellipse">
            <a:avLst/>
          </a:prstGeom>
          <a:solidFill>
            <a:srgbClr val="C9CED6"/>
          </a:solidFill>
          <a:ln w="12700">
            <a:solidFill>
              <a:srgbClr val="C9CED6"/>
            </a:solidFill>
            <a:prstDash val="solid"/>
          </a:ln>
        </p:spPr>
      </p:sp>
      <p:sp>
        <p:nvSpPr>
          <p:cNvPr id="71" name="Text 68"/>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a:t>
            </a:r>
            <a:endParaRPr lang="ar-SA" sz="1700" dirty="0"/>
          </a:p>
        </p:txBody>
      </p:sp>
      <p:sp>
        <p:nvSpPr>
          <p:cNvPr id="73" name="Shape 70"/>
          <p:cNvSpPr/>
          <p:nvPr/>
        </p:nvSpPr>
        <p:spPr>
          <a:xfrm>
            <a:off x="6368796"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ثُمَّ</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حِينِ أَنَّ</a:t>
            </a:r>
            <a:pPr algn="l" indent="0" marL="0">
              <a:buNone/>
            </a:pPr>
            <a:r>
              <a:rPr lang="en-US" sz="1050" i="1" dirty="0">
                <a:solidFill>
                  <a:srgbClr val="8A6D1E"/>
                </a:solidFill>
                <a:latin typeface="Calibri" pitchFamily="34" charset="0"/>
                <a:ea typeface="Calibri" pitchFamily="34" charset="-122"/>
                <a:cs typeface="Calibri" pitchFamily="34" charset="-120"/>
              </a:rPr>
              <a:t> sets one system against another.</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52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compare two systems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Stages</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850" b="1" dirty="0">
                <a:solidFill>
                  <a:srgbClr val="1B3B6F"/>
                </a:solidFill>
                <a:latin typeface="Amiri" pitchFamily="34" charset="0"/>
                <a:ea typeface="Amiri" pitchFamily="34" charset="-122"/>
                <a:cs typeface="Amiri" pitchFamily="34" charset="-120"/>
              </a:rPr>
              <a:t>يَتَكَوَّنُ النِّظَامُ مِنْ ثَلَاثِ مَرَاحِلَ</a:t>
            </a:r>
            <a:endParaRPr lang="ar-SA" sz="185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Describe first.</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Verbs</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lnSpc>
                <a:spcPct val="120000"/>
              </a:lnSpc>
              <a:buNone/>
            </a:pPr>
            <a:r>
              <a:rPr lang="ar-SA" altLang="en-US" sz="1750" b="1" dirty="0">
                <a:solidFill>
                  <a:srgbClr val="1D5FBF"/>
                </a:solidFill>
                <a:latin typeface="Amiri" pitchFamily="34" charset="0"/>
                <a:ea typeface="Amiri" pitchFamily="34" charset="-122"/>
                <a:cs typeface="Amiri" pitchFamily="34" charset="-120"/>
              </a:rPr>
              <a:t>يَجْتَازُ</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الطُّلَّابُ الامْتِحَانَاتِ · </a:t>
            </a:r>
            <a:pPr rtl="1" algn="ctr" indent="0" marL="0">
              <a:lnSpc>
                <a:spcPct val="120000"/>
              </a:lnSpc>
              <a:buNone/>
            </a:pPr>
            <a:r>
              <a:rPr lang="ar-SA" altLang="en-US" sz="1750" b="1" dirty="0">
                <a:solidFill>
                  <a:srgbClr val="D6336C"/>
                </a:solidFill>
                <a:latin typeface="Amiri" pitchFamily="34" charset="0"/>
                <a:ea typeface="Amiri" pitchFamily="34" charset="-122"/>
                <a:cs typeface="Amiri" pitchFamily="34" charset="-120"/>
              </a:rPr>
              <a:t>يَتَفَوَّقُ</a:t>
            </a:r>
            <a:pPr rtl="1" algn="ctr" indent="0" marL="0">
              <a:lnSpc>
                <a:spcPct val="120000"/>
              </a:lnSpc>
              <a:buNone/>
            </a:pPr>
            <a:r>
              <a:rPr lang="ar-SA" altLang="en-US" sz="1750" b="1" dirty="0">
                <a:solidFill>
                  <a:srgbClr val="1B3B6F"/>
                </a:solidFill>
                <a:latin typeface="Amiri" pitchFamily="34" charset="0"/>
                <a:ea typeface="Amiri" pitchFamily="34" charset="-122"/>
                <a:cs typeface="Amiri" pitchFamily="34" charset="-120"/>
              </a:rPr>
              <a:t> بَعْضُهُمْ</a:t>
            </a:r>
            <a:endParaRPr lang="ar-SA" sz="175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Complements.</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Contrast</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550" b="1" dirty="0">
                <a:solidFill>
                  <a:srgbClr val="0E7C86"/>
                </a:solidFill>
                <a:latin typeface="Amiri" pitchFamily="34" charset="0"/>
                <a:ea typeface="Amiri" pitchFamily="34" charset="-122"/>
                <a:cs typeface="Amiri" pitchFamily="34" charset="-120"/>
              </a:rPr>
              <a:t>فِي المُقَابِلِ</a:t>
            </a:r>
            <a:pPr rtl="1" algn="ctr" indent="0" marL="0">
              <a:buNone/>
            </a:pPr>
            <a:r>
              <a:rPr lang="ar-SA" altLang="en-US" sz="2550" b="1" dirty="0">
                <a:solidFill>
                  <a:srgbClr val="1B3B6F"/>
                </a:solidFill>
                <a:latin typeface="Amiri" pitchFamily="34" charset="0"/>
                <a:ea typeface="Amiri" pitchFamily="34" charset="-122"/>
                <a:cs typeface="Amiri" pitchFamily="34" charset="-120"/>
              </a:rPr>
              <a:t>، </a:t>
            </a:r>
            <a:pPr rtl="1" algn="ctr" indent="0" marL="0">
              <a:buNone/>
            </a:pPr>
            <a:r>
              <a:rPr lang="ar-SA" altLang="en-US" sz="2550" b="1" dirty="0">
                <a:solidFill>
                  <a:srgbClr val="0E7C86"/>
                </a:solidFill>
                <a:latin typeface="Amiri" pitchFamily="34" charset="0"/>
                <a:ea typeface="Amiri" pitchFamily="34" charset="-122"/>
                <a:cs typeface="Amiri" pitchFamily="34" charset="-120"/>
              </a:rPr>
              <a:t>بَيْنَمَا</a:t>
            </a:r>
            <a:pPr rtl="1" algn="ctr" indent="0" marL="0">
              <a:buNone/>
            </a:pPr>
            <a:r>
              <a:rPr lang="ar-SA" altLang="en-US" sz="2550" b="1" dirty="0">
                <a:solidFill>
                  <a:srgbClr val="1B3B6F"/>
                </a:solidFill>
                <a:latin typeface="Amiri" pitchFamily="34" charset="0"/>
                <a:ea typeface="Amiri" pitchFamily="34" charset="-122"/>
                <a:cs typeface="Amiri" pitchFamily="34" charset="-120"/>
              </a:rPr>
              <a:t> …</a:t>
            </a:r>
            <a:endParaRPr lang="ar-SA" sz="255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Set against.</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Feature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400" b="1" dirty="0">
                <a:solidFill>
                  <a:srgbClr val="7B3FA0"/>
                </a:solidFill>
                <a:latin typeface="Amiri" pitchFamily="34" charset="0"/>
                <a:ea typeface="Amiri" pitchFamily="34" charset="-122"/>
                <a:cs typeface="Amiri" pitchFamily="34" charset="-120"/>
              </a:rPr>
              <a:t>يَتَمَيَّزُ</a:t>
            </a:r>
            <a:pPr rtl="1" algn="ctr" indent="0" marL="0">
              <a:buNone/>
            </a:pPr>
            <a:r>
              <a:rPr lang="ar-SA" altLang="en-US" sz="2400" b="1" dirty="0">
                <a:solidFill>
                  <a:srgbClr val="1B3B6F"/>
                </a:solidFill>
                <a:latin typeface="Amiri" pitchFamily="34" charset="0"/>
                <a:ea typeface="Amiri" pitchFamily="34" charset="-122"/>
                <a:cs typeface="Amiri" pitchFamily="34" charset="-120"/>
              </a:rPr>
              <a:t> كُلُّ نِظَامٍ </a:t>
            </a:r>
            <a:pPr rtl="1" algn="ctr" indent="0" marL="0">
              <a:buNone/>
            </a:pPr>
            <a:r>
              <a:rPr lang="ar-SA" altLang="en-US" sz="2400" b="1" dirty="0">
                <a:solidFill>
                  <a:srgbClr val="7B3FA0"/>
                </a:solidFill>
                <a:latin typeface="Amiri" pitchFamily="34" charset="0"/>
                <a:ea typeface="Amiri" pitchFamily="34" charset="-122"/>
                <a:cs typeface="Amiri" pitchFamily="34" charset="-120"/>
              </a:rPr>
              <a:t>بِتَوَازُنٍ</a:t>
            </a:r>
            <a:endParaRPr lang="ar-SA" sz="24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bi-.</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7552944" y="4736592"/>
            <a:ext cx="914400" cy="237744"/>
          </a:xfrm>
          <a:prstGeom prst="roundRect">
            <a:avLst>
              <a:gd name="adj" fmla="val 50000"/>
            </a:avLst>
          </a:prstGeom>
          <a:solidFill>
            <a:srgbClr val="1D5FBF"/>
          </a:solidFill>
          <a:ln w="12700">
            <a:solidFill>
              <a:srgbClr val="1D5FBF"/>
            </a:solidFill>
            <a:prstDash val="solid"/>
          </a:ln>
        </p:spPr>
      </p:sp>
      <p:sp>
        <p:nvSpPr>
          <p:cNvPr id="46" name="Text 42"/>
          <p:cNvSpPr txBox="1"/>
          <p:nvPr/>
        </p:nvSpPr>
        <p:spPr>
          <a:xfrm>
            <a:off x="7552944"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OBJECT VERB</a:t>
            </a:r>
            <a:endParaRPr lang="en-US" sz="800" dirty="0"/>
          </a:p>
        </p:txBody>
      </p:sp>
      <p:sp>
        <p:nvSpPr>
          <p:cNvPr id="47" name="Shape 43"/>
          <p:cNvSpPr/>
          <p:nvPr/>
        </p:nvSpPr>
        <p:spPr>
          <a:xfrm>
            <a:off x="8540496" y="4736592"/>
            <a:ext cx="914400" cy="237744"/>
          </a:xfrm>
          <a:prstGeom prst="roundRect">
            <a:avLst>
              <a:gd name="adj" fmla="val 50000"/>
            </a:avLst>
          </a:prstGeom>
          <a:solidFill>
            <a:srgbClr val="D6336C"/>
          </a:solidFill>
          <a:ln w="12700">
            <a:solidFill>
              <a:srgbClr val="D6336C"/>
            </a:solidFill>
            <a:prstDash val="solid"/>
          </a:ln>
        </p:spPr>
      </p:sp>
      <p:sp>
        <p:nvSpPr>
          <p:cNvPr id="48" name="Text 44"/>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FĪ VERB</a:t>
            </a:r>
            <a:endParaRPr lang="en-US" sz="800" dirty="0"/>
          </a:p>
        </p:txBody>
      </p:sp>
      <p:sp>
        <p:nvSpPr>
          <p:cNvPr id="49" name="Shape 45"/>
          <p:cNvSpPr/>
          <p:nvPr/>
        </p:nvSpPr>
        <p:spPr>
          <a:xfrm>
            <a:off x="9528048" y="4736592"/>
            <a:ext cx="914400" cy="237744"/>
          </a:xfrm>
          <a:prstGeom prst="roundRect">
            <a:avLst>
              <a:gd name="adj" fmla="val 50000"/>
            </a:avLst>
          </a:prstGeom>
          <a:solidFill>
            <a:srgbClr val="0E7C86"/>
          </a:solidFill>
          <a:ln w="12700">
            <a:solidFill>
              <a:srgbClr val="0E7C86"/>
            </a:solidFill>
            <a:prstDash val="solid"/>
          </a:ln>
        </p:spPr>
      </p:sp>
      <p:sp>
        <p:nvSpPr>
          <p:cNvPr id="50" name="Text 46"/>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CONTRAST</a:t>
            </a:r>
            <a:endParaRPr lang="en-US" sz="800" dirty="0"/>
          </a:p>
        </p:txBody>
      </p:sp>
      <p:sp>
        <p:nvSpPr>
          <p:cNvPr id="51" name="Shape 47"/>
          <p:cNvSpPr/>
          <p:nvPr/>
        </p:nvSpPr>
        <p:spPr>
          <a:xfrm>
            <a:off x="10515600" y="4736592"/>
            <a:ext cx="914400" cy="237744"/>
          </a:xfrm>
          <a:prstGeom prst="roundRect">
            <a:avLst>
              <a:gd name="adj" fmla="val 50000"/>
            </a:avLst>
          </a:prstGeom>
          <a:solidFill>
            <a:srgbClr val="7B3FA0"/>
          </a:solidFill>
          <a:ln w="12700">
            <a:solidFill>
              <a:srgbClr val="7B3FA0"/>
            </a:solidFill>
            <a:prstDash val="solid"/>
          </a:ln>
        </p:spPr>
      </p:sp>
      <p:sp>
        <p:nvSpPr>
          <p:cNvPr id="52" name="Text 48"/>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FEATURE</a:t>
            </a:r>
            <a:endParaRPr lang="en-US" sz="800" dirty="0"/>
          </a:p>
        </p:txBody>
      </p:sp>
      <p:sp>
        <p:nvSpPr>
          <p:cNvPr id="53" name="Text 49"/>
          <p:cNvSpPr txBox="1"/>
          <p:nvPr/>
        </p:nvSpPr>
        <p:spPr>
          <a:xfrm>
            <a:off x="685800" y="5029200"/>
            <a:ext cx="10817352" cy="731520"/>
          </a:xfrm>
          <a:prstGeom prst="rect">
            <a:avLst/>
          </a:prstGeom>
          <a:noFill/>
          <a:ln/>
        </p:spPr>
        <p:txBody>
          <a:bodyPr wrap="square" lIns="0" tIns="0" rIns="0" bIns="0" rtlCol="0" anchor="ctr"/>
          <a:lstStyle/>
          <a:p>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يَتَكَوَّنُ النِّظَامُ التَّعْلِيمِيُّ البِرِيطَانِيُّ مِنْ ثَلَاثِ مَرَاحِلَ، </a:t>
            </a:r>
            <a:pPr rtl="1" algn="r" indent="0" marL="0">
              <a:lnSpc>
                <a:spcPct val="120000"/>
              </a:lnSpc>
              <a:buNone/>
            </a:pPr>
            <a:r>
              <a:rPr lang="ar-SA" altLang="en-US" sz="1400" b="1" dirty="0">
                <a:solidFill>
                  <a:srgbClr val="1D5FBF"/>
                </a:solidFill>
                <a:latin typeface="Amiri" pitchFamily="34" charset="0"/>
                <a:ea typeface="Amiri" pitchFamily="34" charset="-122"/>
                <a:cs typeface="Amiri" pitchFamily="34" charset="-120"/>
              </a:rPr>
              <a:t>وَيَجْتَازُ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الطُّلَّابُ امْتِحَانَاتِ الشَّهَادَةِ فِي سِنِّ السَّادِسَةَ عَشْرَةَ، </a:t>
            </a:r>
            <a:pPr rtl="1" algn="r" indent="0" marL="0">
              <a:lnSpc>
                <a:spcPct val="120000"/>
              </a:lnSpc>
              <a:buNone/>
            </a:pPr>
            <a:r>
              <a:rPr lang="ar-SA" altLang="en-US" sz="1400" b="1" dirty="0">
                <a:solidFill>
                  <a:srgbClr val="D6336C"/>
                </a:solidFill>
                <a:latin typeface="Amiri" pitchFamily="34" charset="0"/>
                <a:ea typeface="Amiri" pitchFamily="34" charset="-122"/>
                <a:cs typeface="Amiri" pitchFamily="34" charset="-120"/>
              </a:rPr>
              <a:t>وَيَتَفَوَّقُ</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بَعْضُهُمْ فَيَلْتَحِقُونَ بِالجَامِعَاتِ.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فِي المُقَابِلِ</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يَخْتَلِفُ النِّظَامُ فِي بَعْضِ الدُّوَلِ العَرَبِيَّةِ؛ </a:t>
            </a:r>
            <a:pPr rtl="1" algn="r" indent="0" marL="0">
              <a:lnSpc>
                <a:spcPct val="120000"/>
              </a:lnSpc>
              <a:buNone/>
            </a:pPr>
            <a:r>
              <a:rPr lang="ar-SA" altLang="en-US" sz="1400" b="1" dirty="0">
                <a:solidFill>
                  <a:srgbClr val="0E7C86"/>
                </a:solidFill>
                <a:latin typeface="Amiri" pitchFamily="34" charset="0"/>
                <a:ea typeface="Amiri" pitchFamily="34" charset="-122"/>
                <a:cs typeface="Amiri" pitchFamily="34" charset="-120"/>
              </a:rPr>
              <a:t>فَبَيْنَمَا</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يَدُومُ التَّعْلِيمُ الثَّانَوِيُّ ثَلَاثَ سَنَوَاتٍ فِي بَلَدٍ، يَمْتَدُّ فِي غَيْرِهِ أَكْثَرَ.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وَيَتَمَيَّزُ</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كُلُّ نِظَامٍ </a:t>
            </a:r>
            <a:pPr rtl="1" algn="r" indent="0" marL="0">
              <a:lnSpc>
                <a:spcPct val="120000"/>
              </a:lnSpc>
              <a:buNone/>
            </a:pPr>
            <a:r>
              <a:rPr lang="ar-SA" altLang="en-US" sz="1400" b="1" dirty="0">
                <a:solidFill>
                  <a:srgbClr val="7B3FA0"/>
                </a:solidFill>
                <a:latin typeface="Amiri" pitchFamily="34" charset="0"/>
                <a:ea typeface="Amiri" pitchFamily="34" charset="-122"/>
                <a:cs typeface="Amiri" pitchFamily="34" charset="-120"/>
              </a:rPr>
              <a:t>بِتَوَازُنٍ</a:t>
            </a:r>
            <a:pPr rtl="1" algn="r" indent="0" marL="0">
              <a:lnSpc>
                <a:spcPct val="120000"/>
              </a:lnSpc>
              <a:buNone/>
            </a:pPr>
            <a:r>
              <a:rPr lang="ar-SA" altLang="en-US" sz="1400" b="1" dirty="0">
                <a:solidFill>
                  <a:srgbClr val="1B3B6F"/>
                </a:solidFill>
                <a:latin typeface="Amiri" pitchFamily="34" charset="0"/>
                <a:ea typeface="Amiri" pitchFamily="34" charset="-122"/>
                <a:cs typeface="Amiri" pitchFamily="34" charset="-120"/>
              </a:rPr>
              <a:t> بَيْنَ المَوَادِّ.</a:t>
            </a:r>
            <a:endParaRPr lang="ar-SA" sz="1400" dirty="0"/>
          </a:p>
        </p:txBody>
      </p:sp>
      <p:sp>
        <p:nvSpPr>
          <p:cNvPr id="54" name="Text 50"/>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000" i="1" dirty="0">
                <a:solidFill>
                  <a:srgbClr val="5A6472"/>
                </a:solidFill>
                <a:latin typeface="Calibri" pitchFamily="34" charset="0"/>
                <a:ea typeface="Calibri" pitchFamily="34" charset="-122"/>
                <a:cs typeface="Calibri" pitchFamily="34" charset="-120"/>
              </a:rPr>
              <a:t>The British education system consists of three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subjects.</a:t>
            </a:r>
            <a:endParaRPr lang="en-US" sz="1000" dirty="0"/>
          </a:p>
        </p:txBody>
      </p:sp>
      <p:sp>
        <p:nvSpPr>
          <p:cNvPr id="55"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52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 FROM THE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316480"/>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31648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يَجْتَازُ الطُّلَّابُ الامْتِحَانَ فِي سِنِّ السَّادِسَةَ عَشْرَةَ</a:t>
            </a:r>
            <a:endParaRPr lang="ar-SA" sz="2600" dirty="0"/>
          </a:p>
        </p:txBody>
      </p:sp>
      <p:sp>
        <p:nvSpPr>
          <p:cNvPr id="19" name="Text 16"/>
          <p:cNvSpPr txBox="1"/>
          <p:nvPr/>
        </p:nvSpPr>
        <p:spPr>
          <a:xfrm>
            <a:off x="685800" y="1856232"/>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students pass the exam at sixteen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يَجْتَازُ takes a direct object.</a:t>
            </a:r>
            <a:endParaRPr lang="en-US" sz="1250" dirty="0"/>
          </a:p>
        </p:txBody>
      </p:sp>
      <p:sp>
        <p:nvSpPr>
          <p:cNvPr id="20" name="Shape 17"/>
          <p:cNvSpPr/>
          <p:nvPr/>
        </p:nvSpPr>
        <p:spPr>
          <a:xfrm>
            <a:off x="457200" y="3352800"/>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858768"/>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85876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389376"/>
            <a:ext cx="6492240" cy="13411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يَتَفَوَّقُ فِي العُلُومِ وَيَلْتَحِقُ بِالجَامِعَةِ</a:t>
            </a:r>
            <a:endParaRPr lang="ar-SA" sz="2600" dirty="0"/>
          </a:p>
        </p:txBody>
      </p:sp>
      <p:sp>
        <p:nvSpPr>
          <p:cNvPr id="24" name="Text 21"/>
          <p:cNvSpPr txBox="1"/>
          <p:nvPr/>
        </p:nvSpPr>
        <p:spPr>
          <a:xfrm>
            <a:off x="685800" y="3398520"/>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he excels in science and enrols at university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فِي with يَتَفَوَّقُ, بِـ with يَلْتَحِقُ.</a:t>
            </a:r>
            <a:endParaRPr lang="en-US" sz="1250" dirty="0"/>
          </a:p>
        </p:txBody>
      </p:sp>
      <p:sp>
        <p:nvSpPr>
          <p:cNvPr id="25" name="Shape 22"/>
          <p:cNvSpPr/>
          <p:nvPr/>
        </p:nvSpPr>
        <p:spPr>
          <a:xfrm>
            <a:off x="457200" y="4895088"/>
            <a:ext cx="11274552" cy="1414272"/>
          </a:xfrm>
          <a:prstGeom prst="roundRect">
            <a:avLst>
              <a:gd name="adj" fmla="val 5172"/>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540105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540105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931664"/>
            <a:ext cx="6492240" cy="1341120"/>
          </a:xfrm>
          <a:prstGeom prst="rect">
            <a:avLst/>
          </a:prstGeom>
          <a:noFill/>
          <a:ln/>
        </p:spPr>
        <p:txBody>
          <a:bodyPr wrap="square" lIns="0" tIns="0" rIns="0" bIns="0" rtlCol="0" anchor="ctr"/>
          <a:lstStyle/>
          <a:p>
            <a:pPr rtl="1" algn="r" indent="0" marL="0">
              <a:lnSpc>
                <a:spcPct val="120000"/>
              </a:lnSpc>
              <a:buNone/>
            </a:pPr>
            <a:r>
              <a:rPr lang="ar-SA" altLang="en-US" sz="2600" b="1" dirty="0">
                <a:solidFill>
                  <a:srgbClr val="1B3B6F"/>
                </a:solidFill>
                <a:latin typeface="Amiri" pitchFamily="34" charset="0"/>
                <a:ea typeface="Amiri" pitchFamily="34" charset="-122"/>
                <a:cs typeface="Amiri" pitchFamily="34" charset="-120"/>
              </a:rPr>
              <a:t>بَيْنَمَا يَعْتَمِدُ النِّظَامُ الأَوَّلُ عَلَى الامْتِحَانِ، يَعْتَمِدُ الثَّانِي عَلَى المَشَارِيعِ</a:t>
            </a:r>
            <a:endParaRPr lang="ar-SA" sz="2600" dirty="0"/>
          </a:p>
        </p:txBody>
      </p:sp>
      <p:sp>
        <p:nvSpPr>
          <p:cNvPr id="29" name="Text 26"/>
          <p:cNvSpPr txBox="1"/>
          <p:nvPr/>
        </p:nvSpPr>
        <p:spPr>
          <a:xfrm>
            <a:off x="685800" y="4940808"/>
            <a:ext cx="3749040" cy="1322832"/>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while the first system relies on exams, the second relies on projects</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A formal comparison, not a list.</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52</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“EDUCATION JOURNEY (TOPIC GAME)”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00" b="1" dirty="0">
                <a:solidFill>
                  <a:srgbClr val="1B3B6F"/>
                </a:solidFill>
                <a:latin typeface="Cambria" pitchFamily="34" charset="0"/>
                <a:ea typeface="Cambria" pitchFamily="34" charset="-122"/>
                <a:cs typeface="Cambria" pitchFamily="34" charset="-120"/>
              </a:rPr>
              <a:t>Match the education route to the sentence</a:t>
            </a:r>
            <a:endParaRPr lang="en-US" sz="22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رِحْلَةُ التَّعْلِيمِ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 → university</a:t>
            </a:r>
            <a:endParaRPr lang="en-US" sz="1100" dirty="0"/>
          </a:p>
        </p:txBody>
      </p:sp>
      <p:sp>
        <p:nvSpPr>
          <p:cNvPr id="27" name="Shape 21"/>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4404360" y="1938528"/>
            <a:ext cx="365760" cy="365760"/>
          </a:xfrm>
          <a:prstGeom prst="ellipse">
            <a:avLst/>
          </a:prstGeom>
          <a:solidFill>
            <a:srgbClr val="1B3B6F"/>
          </a:solidFill>
          <a:ln w="12700">
            <a:solidFill>
              <a:srgbClr val="1B3B6F"/>
            </a:solidFill>
            <a:prstDash val="solid"/>
          </a:ln>
        </p:spPr>
      </p:sp>
      <p:sp>
        <p:nvSpPr>
          <p:cNvPr id="29" name="Text 23"/>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0" name="Shape 24"/>
          <p:cNvSpPr/>
          <p:nvPr/>
        </p:nvSpPr>
        <p:spPr>
          <a:xfrm>
            <a:off x="4398264" y="2066544"/>
            <a:ext cx="1014984" cy="1014984"/>
          </a:xfrm>
          <a:prstGeom prst="ellipse">
            <a:avLst/>
          </a:prstGeom>
          <a:solidFill>
            <a:srgbClr val="F4F1EA"/>
          </a:solidFill>
          <a:ln w="12700">
            <a:solidFill>
              <a:srgbClr val="F4F1EA"/>
            </a:solidFill>
            <a:prstDash val="solid"/>
          </a:ln>
        </p:spPr>
      </p:sp>
      <p:pic>
        <p:nvPicPr>
          <p:cNvPr id="31"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2" name="Shape 25"/>
          <p:cNvSpPr/>
          <p:nvPr/>
        </p:nvSpPr>
        <p:spPr>
          <a:xfrm>
            <a:off x="5586984" y="2066544"/>
            <a:ext cx="1014984" cy="1014984"/>
          </a:xfrm>
          <a:prstGeom prst="ellipse">
            <a:avLst/>
          </a:prstGeom>
          <a:solidFill>
            <a:srgbClr val="F4F1EA"/>
          </a:solidFill>
          <a:ln w="12700">
            <a:solidFill>
              <a:srgbClr val="F4F1EA"/>
            </a:solidFill>
            <a:prstDash val="solid"/>
          </a:ln>
        </p:spPr>
      </p:sp>
      <p:pic>
        <p:nvPicPr>
          <p:cNvPr id="33"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4" name="Shape 26"/>
          <p:cNvSpPr/>
          <p:nvPr/>
        </p:nvSpPr>
        <p:spPr>
          <a:xfrm>
            <a:off x="6775704" y="2066544"/>
            <a:ext cx="1014984" cy="1014984"/>
          </a:xfrm>
          <a:prstGeom prst="ellipse">
            <a:avLst/>
          </a:prstGeom>
          <a:solidFill>
            <a:srgbClr val="F4F1EA"/>
          </a:solidFill>
          <a:ln w="12700">
            <a:solidFill>
              <a:srgbClr val="F4F1EA"/>
            </a:solidFill>
            <a:prstDash val="solid"/>
          </a:ln>
        </p:spPr>
      </p:sp>
      <p:pic>
        <p:nvPicPr>
          <p:cNvPr id="35"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36" name="Text 27"/>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primary → secondary</a:t>
            </a:r>
            <a:endParaRPr lang="en-US" sz="1100" dirty="0"/>
          </a:p>
        </p:txBody>
      </p:sp>
      <p:sp>
        <p:nvSpPr>
          <p:cNvPr id="37" name="Shape 2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Shape 29"/>
          <p:cNvSpPr/>
          <p:nvPr/>
        </p:nvSpPr>
        <p:spPr>
          <a:xfrm>
            <a:off x="585216" y="1938528"/>
            <a:ext cx="365760" cy="365760"/>
          </a:xfrm>
          <a:prstGeom prst="ellipse">
            <a:avLst/>
          </a:prstGeom>
          <a:solidFill>
            <a:srgbClr val="1B3B6F"/>
          </a:solidFill>
          <a:ln w="12700">
            <a:solidFill>
              <a:srgbClr val="1B3B6F"/>
            </a:solidFill>
            <a:prstDash val="solid"/>
          </a:ln>
        </p:spPr>
      </p:sp>
      <p:sp>
        <p:nvSpPr>
          <p:cNvPr id="39" name="Text 3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0" name="Shape 31"/>
          <p:cNvSpPr/>
          <p:nvPr/>
        </p:nvSpPr>
        <p:spPr>
          <a:xfrm>
            <a:off x="1173480" y="2066544"/>
            <a:ext cx="1014984" cy="1014984"/>
          </a:xfrm>
          <a:prstGeom prst="ellipse">
            <a:avLst/>
          </a:prstGeom>
          <a:solidFill>
            <a:srgbClr val="F4F1EA"/>
          </a:solidFill>
          <a:ln w="12700">
            <a:solidFill>
              <a:srgbClr val="F4F1EA"/>
            </a:solidFill>
            <a:prstDash val="solid"/>
          </a:ln>
        </p:spPr>
      </p:sp>
      <p:pic>
        <p:nvPicPr>
          <p:cNvPr id="4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42" name="Shape 32"/>
          <p:cNvSpPr/>
          <p:nvPr/>
        </p:nvSpPr>
        <p:spPr>
          <a:xfrm>
            <a:off x="2362200" y="2066544"/>
            <a:ext cx="1014984" cy="1014984"/>
          </a:xfrm>
          <a:prstGeom prst="ellipse">
            <a:avLst/>
          </a:prstGeom>
          <a:solidFill>
            <a:srgbClr val="F4F1EA"/>
          </a:solidFill>
          <a:ln w="12700">
            <a:solidFill>
              <a:srgbClr val="F4F1EA"/>
            </a:solidFill>
            <a:prstDash val="solid"/>
          </a:ln>
        </p:spPr>
      </p:sp>
      <p:pic>
        <p:nvPicPr>
          <p:cNvPr id="4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44" name="Text 3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 certificate</a:t>
            </a:r>
            <a:endParaRPr lang="en-US" sz="1100" dirty="0"/>
          </a:p>
        </p:txBody>
      </p:sp>
      <p:sp>
        <p:nvSpPr>
          <p:cNvPr id="45" name="Shape 34"/>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6" name="Shape 35"/>
          <p:cNvSpPr/>
          <p:nvPr/>
        </p:nvSpPr>
        <p:spPr>
          <a:xfrm>
            <a:off x="11247120" y="3831336"/>
            <a:ext cx="292608" cy="292608"/>
          </a:xfrm>
          <a:prstGeom prst="ellipse">
            <a:avLst/>
          </a:prstGeom>
          <a:solidFill>
            <a:srgbClr val="2F6FB0"/>
          </a:solidFill>
          <a:ln w="12700">
            <a:solidFill>
              <a:srgbClr val="2F6FB0"/>
            </a:solidFill>
            <a:prstDash val="solid"/>
          </a:ln>
        </p:spPr>
      </p:sp>
      <p:sp>
        <p:nvSpPr>
          <p:cNvPr id="47" name="Text 36"/>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8" name="Text 37"/>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اَلتَّعْلِيمُ الِابْتِدَائِيُّ يَسْبِقُ التَّعْلِيمَ الثَّانَوِيَّ.</a:t>
            </a:r>
            <a:endParaRPr lang="ar-SA" sz="2000" dirty="0"/>
          </a:p>
        </p:txBody>
      </p:sp>
      <p:sp>
        <p:nvSpPr>
          <p:cNvPr id="49" name="Shape 38"/>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50" name="Shape 39"/>
          <p:cNvSpPr/>
          <p:nvPr/>
        </p:nvSpPr>
        <p:spPr>
          <a:xfrm>
            <a:off x="11247120" y="4398264"/>
            <a:ext cx="292608" cy="292608"/>
          </a:xfrm>
          <a:prstGeom prst="ellipse">
            <a:avLst/>
          </a:prstGeom>
          <a:solidFill>
            <a:srgbClr val="2F6FB0"/>
          </a:solidFill>
          <a:ln w="12700">
            <a:solidFill>
              <a:srgbClr val="2F6FB0"/>
            </a:solidFill>
            <a:prstDash val="solid"/>
          </a:ln>
        </p:spPr>
      </p:sp>
      <p:sp>
        <p:nvSpPr>
          <p:cNvPr id="51" name="Text 40"/>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52" name="Text 41"/>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الدِّرَاسَةِ يَحْصُلُ الطَّالِبُ عَلَى مُؤَهِّلٍ.</a:t>
            </a:r>
            <a:endParaRPr lang="ar-SA" sz="2000" dirty="0"/>
          </a:p>
        </p:txBody>
      </p:sp>
      <p:sp>
        <p:nvSpPr>
          <p:cNvPr id="53" name="Shape 42"/>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54" name="Shape 43"/>
          <p:cNvSpPr/>
          <p:nvPr/>
        </p:nvSpPr>
        <p:spPr>
          <a:xfrm>
            <a:off x="11247120" y="4965192"/>
            <a:ext cx="292608" cy="292608"/>
          </a:xfrm>
          <a:prstGeom prst="ellipse">
            <a:avLst/>
          </a:prstGeom>
          <a:solidFill>
            <a:srgbClr val="2F6FB0"/>
          </a:solidFill>
          <a:ln w="12700">
            <a:solidFill>
              <a:srgbClr val="2F6FB0"/>
            </a:solidFill>
            <a:prstDash val="solid"/>
          </a:ln>
        </p:spPr>
      </p:sp>
      <p:sp>
        <p:nvSpPr>
          <p:cNvPr id="55" name="Text 44"/>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6" name="Text 45"/>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يَنْتَقِلُ الطَّالِبُ مِنَ الْمَدْرَسَةِ إِلَى الْجَامِعَةِ.</a:t>
            </a:r>
            <a:endParaRPr lang="ar-SA" sz="2000" dirty="0"/>
          </a:p>
        </p:txBody>
      </p:sp>
      <p:sp>
        <p:nvSpPr>
          <p:cNvPr id="57" name="Text 46"/>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8" name="Text 47"/>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9" name="Text 4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52</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رِحْلَةُ التَّعْلِيمِ</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8223504" y="19385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20" name="Shape 17"/>
          <p:cNvSpPr/>
          <p:nvPr/>
        </p:nvSpPr>
        <p:spPr>
          <a:xfrm>
            <a:off x="8217408" y="2066544"/>
            <a:ext cx="1014984" cy="1014984"/>
          </a:xfrm>
          <a:prstGeom prst="ellipse">
            <a:avLst/>
          </a:prstGeom>
          <a:solidFill>
            <a:srgbClr val="F4F1EA"/>
          </a:solidFill>
          <a:ln w="12700">
            <a:solidFill>
              <a:srgbClr val="F4F1EA"/>
            </a:solidFill>
            <a:prstDash val="solid"/>
          </a:ln>
        </p:spPr>
      </p:sp>
      <p:pic>
        <p:nvPicPr>
          <p:cNvPr id="21" name="Image 0" descr="preencoded.png">    </p:cNvPr>
          <p:cNvPicPr>
            <a:picLocks noChangeAspect="1"/>
          </p:cNvPicPr>
          <p:nvPr/>
        </p:nvPicPr>
        <p:blipFill>
          <a:blip r:embed="rId1"/>
          <a:stretch>
            <a:fillRect/>
          </a:stretch>
        </p:blipFill>
        <p:spPr>
          <a:xfrm>
            <a:off x="8400288" y="2249424"/>
            <a:ext cx="649224" cy="649224"/>
          </a:xfrm>
          <a:prstGeom prst="rect">
            <a:avLst/>
          </a:prstGeom>
        </p:spPr>
      </p:pic>
      <p:sp>
        <p:nvSpPr>
          <p:cNvPr id="22" name="Shape 18"/>
          <p:cNvSpPr/>
          <p:nvPr/>
        </p:nvSpPr>
        <p:spPr>
          <a:xfrm>
            <a:off x="9406128" y="2066544"/>
            <a:ext cx="1014984" cy="1014984"/>
          </a:xfrm>
          <a:prstGeom prst="ellipse">
            <a:avLst/>
          </a:prstGeom>
          <a:solidFill>
            <a:srgbClr val="F4F1EA"/>
          </a:solidFill>
          <a:ln w="12700">
            <a:solidFill>
              <a:srgbClr val="F4F1EA"/>
            </a:solidFill>
            <a:prstDash val="solid"/>
          </a:ln>
        </p:spPr>
      </p:sp>
      <p:pic>
        <p:nvPicPr>
          <p:cNvPr id="23" name="Image 1" descr="preencoded.png">    </p:cNvPr>
          <p:cNvPicPr>
            <a:picLocks noChangeAspect="1"/>
          </p:cNvPicPr>
          <p:nvPr/>
        </p:nvPicPr>
        <p:blipFill>
          <a:blip r:embed="rId2"/>
          <a:stretch>
            <a:fillRect/>
          </a:stretch>
        </p:blipFill>
        <p:spPr>
          <a:xfrm>
            <a:off x="9589008" y="2249424"/>
            <a:ext cx="649224" cy="649224"/>
          </a:xfrm>
          <a:prstGeom prst="rect">
            <a:avLst/>
          </a:prstGeom>
        </p:spPr>
      </p:pic>
      <p:sp>
        <p:nvSpPr>
          <p:cNvPr id="24" name="Shape 19"/>
          <p:cNvSpPr/>
          <p:nvPr/>
        </p:nvSpPr>
        <p:spPr>
          <a:xfrm>
            <a:off x="10594848" y="2066544"/>
            <a:ext cx="1014984" cy="1014984"/>
          </a:xfrm>
          <a:prstGeom prst="ellipse">
            <a:avLst/>
          </a:prstGeom>
          <a:solidFill>
            <a:srgbClr val="F4F1EA"/>
          </a:solidFill>
          <a:ln w="12700">
            <a:solidFill>
              <a:srgbClr val="F4F1EA"/>
            </a:solidFill>
            <a:prstDash val="solid"/>
          </a:ln>
        </p:spPr>
      </p:sp>
      <p:pic>
        <p:nvPicPr>
          <p:cNvPr id="25" name="Image 2" descr="preencoded.png">    </p:cNvPr>
          <p:cNvPicPr>
            <a:picLocks noChangeAspect="1"/>
          </p:cNvPicPr>
          <p:nvPr/>
        </p:nvPicPr>
        <p:blipFill>
          <a:blip r:embed="rId3"/>
          <a:stretch>
            <a:fillRect/>
          </a:stretch>
        </p:blipFill>
        <p:spPr>
          <a:xfrm>
            <a:off x="10777728" y="2249424"/>
            <a:ext cx="649224" cy="649224"/>
          </a:xfrm>
          <a:prstGeom prst="rect">
            <a:avLst/>
          </a:prstGeom>
        </p:spPr>
      </p:pic>
      <p:sp>
        <p:nvSpPr>
          <p:cNvPr id="26" name="Text 20"/>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school → university</a:t>
            </a:r>
            <a:endParaRPr lang="en-US" sz="1100" dirty="0"/>
          </a:p>
        </p:txBody>
      </p:sp>
      <p:sp>
        <p:nvSpPr>
          <p:cNvPr id="27" name="Shape 21"/>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11256264" y="3785616"/>
            <a:ext cx="329184" cy="329184"/>
          </a:xfrm>
          <a:prstGeom prst="ellipse">
            <a:avLst/>
          </a:prstGeom>
          <a:solidFill>
            <a:srgbClr val="2E8B57"/>
          </a:solidFill>
          <a:ln w="12700">
            <a:solidFill>
              <a:srgbClr val="2E8B57"/>
            </a:solidFill>
            <a:prstDash val="solid"/>
          </a:ln>
        </p:spPr>
      </p:sp>
      <p:sp>
        <p:nvSpPr>
          <p:cNvPr id="29" name="Text 23"/>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0" name="Text 24"/>
          <p:cNvSpPr txBox="1"/>
          <p:nvPr/>
        </p:nvSpPr>
        <p:spPr>
          <a:xfrm>
            <a:off x="8232648"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يَنْتَقِلُ الطَّالِبُ مِنَ الْمَدْرَسَةِ إِلَى الْجَامِعَةِ.</a:t>
            </a:r>
            <a:endParaRPr lang="ar-SA" sz="2200" dirty="0"/>
          </a:p>
        </p:txBody>
      </p:sp>
      <p:sp>
        <p:nvSpPr>
          <p:cNvPr id="31" name="Text 25"/>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The student moves from school to university.</a:t>
            </a:r>
            <a:endParaRPr lang="en-US" sz="1200" dirty="0"/>
          </a:p>
        </p:txBody>
      </p:sp>
      <p:sp>
        <p:nvSpPr>
          <p:cNvPr id="32" name="Shape 26"/>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27"/>
          <p:cNvSpPr/>
          <p:nvPr/>
        </p:nvSpPr>
        <p:spPr>
          <a:xfrm>
            <a:off x="4404360" y="1938528"/>
            <a:ext cx="365760" cy="365760"/>
          </a:xfrm>
          <a:prstGeom prst="ellipse">
            <a:avLst/>
          </a:prstGeom>
          <a:solidFill>
            <a:srgbClr val="1B3B6F"/>
          </a:solidFill>
          <a:ln w="12700">
            <a:solidFill>
              <a:srgbClr val="1B3B6F"/>
            </a:solidFill>
            <a:prstDash val="solid"/>
          </a:ln>
        </p:spPr>
      </p:sp>
      <p:sp>
        <p:nvSpPr>
          <p:cNvPr id="34" name="Text 28"/>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5" name="Shape 29"/>
          <p:cNvSpPr/>
          <p:nvPr/>
        </p:nvSpPr>
        <p:spPr>
          <a:xfrm>
            <a:off x="4398264" y="2066544"/>
            <a:ext cx="1014984" cy="1014984"/>
          </a:xfrm>
          <a:prstGeom prst="ellipse">
            <a:avLst/>
          </a:prstGeom>
          <a:solidFill>
            <a:srgbClr val="F4F1EA"/>
          </a:solidFill>
          <a:ln w="12700">
            <a:solidFill>
              <a:srgbClr val="F4F1EA"/>
            </a:solidFill>
            <a:prstDash val="solid"/>
          </a:ln>
        </p:spPr>
      </p:sp>
      <p:pic>
        <p:nvPicPr>
          <p:cNvPr id="36" name="Image 3" descr="preencoded.png">    </p:cNvPr>
          <p:cNvPicPr>
            <a:picLocks noChangeAspect="1"/>
          </p:cNvPicPr>
          <p:nvPr/>
        </p:nvPicPr>
        <p:blipFill>
          <a:blip r:embed="rId4"/>
          <a:stretch>
            <a:fillRect/>
          </a:stretch>
        </p:blipFill>
        <p:spPr>
          <a:xfrm>
            <a:off x="4581144" y="2249424"/>
            <a:ext cx="649224" cy="649224"/>
          </a:xfrm>
          <a:prstGeom prst="rect">
            <a:avLst/>
          </a:prstGeom>
        </p:spPr>
      </p:pic>
      <p:sp>
        <p:nvSpPr>
          <p:cNvPr id="37" name="Shape 30"/>
          <p:cNvSpPr/>
          <p:nvPr/>
        </p:nvSpPr>
        <p:spPr>
          <a:xfrm>
            <a:off x="5586984" y="2066544"/>
            <a:ext cx="1014984" cy="1014984"/>
          </a:xfrm>
          <a:prstGeom prst="ellipse">
            <a:avLst/>
          </a:prstGeom>
          <a:solidFill>
            <a:srgbClr val="F4F1EA"/>
          </a:solidFill>
          <a:ln w="12700">
            <a:solidFill>
              <a:srgbClr val="F4F1EA"/>
            </a:solidFill>
            <a:prstDash val="solid"/>
          </a:ln>
        </p:spPr>
      </p:sp>
      <p:pic>
        <p:nvPicPr>
          <p:cNvPr id="38" name="Image 4" descr="preencoded.png">    </p:cNvPr>
          <p:cNvPicPr>
            <a:picLocks noChangeAspect="1"/>
          </p:cNvPicPr>
          <p:nvPr/>
        </p:nvPicPr>
        <p:blipFill>
          <a:blip r:embed="rId5"/>
          <a:stretch>
            <a:fillRect/>
          </a:stretch>
        </p:blipFill>
        <p:spPr>
          <a:xfrm>
            <a:off x="5769864" y="2249424"/>
            <a:ext cx="649224" cy="649224"/>
          </a:xfrm>
          <a:prstGeom prst="rect">
            <a:avLst/>
          </a:prstGeom>
        </p:spPr>
      </p:pic>
      <p:sp>
        <p:nvSpPr>
          <p:cNvPr id="39" name="Shape 31"/>
          <p:cNvSpPr/>
          <p:nvPr/>
        </p:nvSpPr>
        <p:spPr>
          <a:xfrm>
            <a:off x="6775704" y="2066544"/>
            <a:ext cx="1014984" cy="1014984"/>
          </a:xfrm>
          <a:prstGeom prst="ellipse">
            <a:avLst/>
          </a:prstGeom>
          <a:solidFill>
            <a:srgbClr val="F4F1EA"/>
          </a:solidFill>
          <a:ln w="12700">
            <a:solidFill>
              <a:srgbClr val="F4F1EA"/>
            </a:solidFill>
            <a:prstDash val="solid"/>
          </a:ln>
        </p:spPr>
      </p:sp>
      <p:pic>
        <p:nvPicPr>
          <p:cNvPr id="40" name="Image 5" descr="preencoded.png">    </p:cNvPr>
          <p:cNvPicPr>
            <a:picLocks noChangeAspect="1"/>
          </p:cNvPicPr>
          <p:nvPr/>
        </p:nvPicPr>
        <p:blipFill>
          <a:blip r:embed="rId6"/>
          <a:stretch>
            <a:fillRect/>
          </a:stretch>
        </p:blipFill>
        <p:spPr>
          <a:xfrm>
            <a:off x="6958584" y="2249424"/>
            <a:ext cx="649224" cy="649224"/>
          </a:xfrm>
          <a:prstGeom prst="rect">
            <a:avLst/>
          </a:prstGeom>
        </p:spPr>
      </p:pic>
      <p:sp>
        <p:nvSpPr>
          <p:cNvPr id="41" name="Text 32"/>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primary → secondary</a:t>
            </a:r>
            <a:endParaRPr lang="en-US" sz="1100" dirty="0"/>
          </a:p>
        </p:txBody>
      </p:sp>
      <p:sp>
        <p:nvSpPr>
          <p:cNvPr id="42" name="Shape 33"/>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3" name="Shape 34"/>
          <p:cNvSpPr/>
          <p:nvPr/>
        </p:nvSpPr>
        <p:spPr>
          <a:xfrm>
            <a:off x="7437120" y="3785616"/>
            <a:ext cx="329184" cy="329184"/>
          </a:xfrm>
          <a:prstGeom prst="ellipse">
            <a:avLst/>
          </a:prstGeom>
          <a:solidFill>
            <a:srgbClr val="2E8B57"/>
          </a:solidFill>
          <a:ln w="12700">
            <a:solidFill>
              <a:srgbClr val="2E8B57"/>
            </a:solidFill>
            <a:prstDash val="solid"/>
          </a:ln>
        </p:spPr>
      </p:sp>
      <p:sp>
        <p:nvSpPr>
          <p:cNvPr id="44" name="Text 35"/>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45" name="Text 36"/>
          <p:cNvSpPr txBox="1"/>
          <p:nvPr/>
        </p:nvSpPr>
        <p:spPr>
          <a:xfrm>
            <a:off x="4413504"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اَلتَّعْلِيمُ الِابْتِدَائِيُّ يَسْبِقُ التَّعْلِيمَ الثَّانَوِيَّ.</a:t>
            </a:r>
            <a:endParaRPr lang="ar-SA" sz="2200" dirty="0"/>
          </a:p>
        </p:txBody>
      </p:sp>
      <p:sp>
        <p:nvSpPr>
          <p:cNvPr id="46" name="Text 37"/>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Primary education comes before secondary education.</a:t>
            </a:r>
            <a:endParaRPr lang="en-US" sz="1200" dirty="0"/>
          </a:p>
        </p:txBody>
      </p:sp>
      <p:sp>
        <p:nvSpPr>
          <p:cNvPr id="47" name="Shape 38"/>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39"/>
          <p:cNvSpPr/>
          <p:nvPr/>
        </p:nvSpPr>
        <p:spPr>
          <a:xfrm>
            <a:off x="585216" y="1938528"/>
            <a:ext cx="365760" cy="365760"/>
          </a:xfrm>
          <a:prstGeom prst="ellipse">
            <a:avLst/>
          </a:prstGeom>
          <a:solidFill>
            <a:srgbClr val="1B3B6F"/>
          </a:solidFill>
          <a:ln w="12700">
            <a:solidFill>
              <a:srgbClr val="1B3B6F"/>
            </a:solidFill>
            <a:prstDash val="solid"/>
          </a:ln>
        </p:spPr>
      </p:sp>
      <p:sp>
        <p:nvSpPr>
          <p:cNvPr id="49" name="Text 40"/>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50" name="Shape 41"/>
          <p:cNvSpPr/>
          <p:nvPr/>
        </p:nvSpPr>
        <p:spPr>
          <a:xfrm>
            <a:off x="1173480" y="2066544"/>
            <a:ext cx="1014984" cy="1014984"/>
          </a:xfrm>
          <a:prstGeom prst="ellipse">
            <a:avLst/>
          </a:prstGeom>
          <a:solidFill>
            <a:srgbClr val="F4F1EA"/>
          </a:solidFill>
          <a:ln w="12700">
            <a:solidFill>
              <a:srgbClr val="F4F1EA"/>
            </a:solidFill>
            <a:prstDash val="solid"/>
          </a:ln>
        </p:spPr>
      </p:sp>
      <p:pic>
        <p:nvPicPr>
          <p:cNvPr id="51" name="Image 6" descr="preencoded.png">    </p:cNvPr>
          <p:cNvPicPr>
            <a:picLocks noChangeAspect="1"/>
          </p:cNvPicPr>
          <p:nvPr/>
        </p:nvPicPr>
        <p:blipFill>
          <a:blip r:embed="rId7"/>
          <a:stretch>
            <a:fillRect/>
          </a:stretch>
        </p:blipFill>
        <p:spPr>
          <a:xfrm>
            <a:off x="1356360" y="2249424"/>
            <a:ext cx="649224" cy="649224"/>
          </a:xfrm>
          <a:prstGeom prst="rect">
            <a:avLst/>
          </a:prstGeom>
        </p:spPr>
      </p:pic>
      <p:sp>
        <p:nvSpPr>
          <p:cNvPr id="52" name="Shape 42"/>
          <p:cNvSpPr/>
          <p:nvPr/>
        </p:nvSpPr>
        <p:spPr>
          <a:xfrm>
            <a:off x="2362200" y="2066544"/>
            <a:ext cx="1014984" cy="1014984"/>
          </a:xfrm>
          <a:prstGeom prst="ellipse">
            <a:avLst/>
          </a:prstGeom>
          <a:solidFill>
            <a:srgbClr val="F4F1EA"/>
          </a:solidFill>
          <a:ln w="12700">
            <a:solidFill>
              <a:srgbClr val="F4F1EA"/>
            </a:solidFill>
            <a:prstDash val="solid"/>
          </a:ln>
        </p:spPr>
      </p:sp>
      <p:pic>
        <p:nvPicPr>
          <p:cNvPr id="53" name="Image 7" descr="preencoded.png">    </p:cNvPr>
          <p:cNvPicPr>
            <a:picLocks noChangeAspect="1"/>
          </p:cNvPicPr>
          <p:nvPr/>
        </p:nvPicPr>
        <p:blipFill>
          <a:blip r:embed="rId8"/>
          <a:stretch>
            <a:fillRect/>
          </a:stretch>
        </p:blipFill>
        <p:spPr>
          <a:xfrm>
            <a:off x="2545080" y="2249424"/>
            <a:ext cx="649224" cy="649224"/>
          </a:xfrm>
          <a:prstGeom prst="rect">
            <a:avLst/>
          </a:prstGeom>
        </p:spPr>
      </p:pic>
      <p:sp>
        <p:nvSpPr>
          <p:cNvPr id="54" name="Text 43"/>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study → certificate</a:t>
            </a:r>
            <a:endParaRPr lang="en-US" sz="1100" dirty="0"/>
          </a:p>
        </p:txBody>
      </p:sp>
      <p:sp>
        <p:nvSpPr>
          <p:cNvPr id="55" name="Shape 44"/>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Shape 45"/>
          <p:cNvSpPr/>
          <p:nvPr/>
        </p:nvSpPr>
        <p:spPr>
          <a:xfrm>
            <a:off x="3617976" y="3785616"/>
            <a:ext cx="329184" cy="329184"/>
          </a:xfrm>
          <a:prstGeom prst="ellipse">
            <a:avLst/>
          </a:prstGeom>
          <a:solidFill>
            <a:srgbClr val="2E8B57"/>
          </a:solidFill>
          <a:ln w="12700">
            <a:solidFill>
              <a:srgbClr val="2E8B57"/>
            </a:solidFill>
            <a:prstDash val="solid"/>
          </a:ln>
        </p:spPr>
      </p:sp>
      <p:sp>
        <p:nvSpPr>
          <p:cNvPr id="57" name="Text 46"/>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8" name="Text 47"/>
          <p:cNvSpPr txBox="1"/>
          <p:nvPr/>
        </p:nvSpPr>
        <p:spPr>
          <a:xfrm>
            <a:off x="594360" y="4160520"/>
            <a:ext cx="3361944" cy="1143000"/>
          </a:xfrm>
          <a:prstGeom prst="rect">
            <a:avLst/>
          </a:prstGeom>
          <a:noFill/>
          <a:ln/>
        </p:spPr>
        <p:txBody>
          <a:bodyPr wrap="square" lIns="0" tIns="0" rIns="0" bIns="0" rtlCol="0" anchor="ctr"/>
          <a:lstStyle/>
          <a:p>
            <a:pPr rtl="1" algn="ctr" indent="0" marL="0">
              <a:lnSpc>
                <a:spcPct val="120000"/>
              </a:lnSpc>
              <a:buNone/>
            </a:pPr>
            <a:r>
              <a:rPr lang="ar-SA" altLang="en-US" sz="2200" b="1" dirty="0">
                <a:solidFill>
                  <a:srgbClr val="1B3B6F"/>
                </a:solidFill>
                <a:latin typeface="Amiri" pitchFamily="34" charset="0"/>
                <a:ea typeface="Amiri" pitchFamily="34" charset="-122"/>
                <a:cs typeface="Amiri" pitchFamily="34" charset="-120"/>
              </a:rPr>
              <a:t>بَعْدَ الدِّرَاسَةِ يَحْصُلُ الطَّالِبُ عَلَى مُؤَهِّلٍ.</a:t>
            </a:r>
            <a:endParaRPr lang="ar-SA" sz="2200" dirty="0"/>
          </a:p>
        </p:txBody>
      </p:sp>
      <p:sp>
        <p:nvSpPr>
          <p:cNvPr id="59" name="Text 48"/>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After studying, the student gets a qualification.</a:t>
            </a:r>
            <a:endParaRPr lang="en-US" sz="1200" dirty="0"/>
          </a:p>
        </p:txBody>
      </p:sp>
      <p:sp>
        <p:nvSpPr>
          <p:cNvPr id="60"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52</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0" b="1" spc="150" kern="0" dirty="0">
                <a:solidFill>
                  <a:srgbClr val="2F6FB0"/>
                </a:solidFill>
                <a:latin typeface="Calibri" pitchFamily="34" charset="0"/>
                <a:ea typeface="Calibri" pitchFamily="34" charset="-122"/>
                <a:cs typeface="Calibri" pitchFamily="34" charset="-120"/>
              </a:rPr>
              <a:t>WE DO · PICTURE MATCH · WEBSITE GAME “VISUAL GAME — SCHOOL SYSTEMS AND ACADEMIC LIFE”</a:t>
            </a:r>
            <a:endParaRPr lang="en-US" sz="8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Which route? Match the picture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secondary school</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الجَامِعَةِ.</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أَتَلَقَّى تَدْرِيبًا مِهَنِيًّا.</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أَدْرُسُ فِي المَدْرَسَةِ الثَّانَوِيَّةِ.</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52</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طَرِيقُ التَّعْلِيمِ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secondary school</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المَدْرَسَةِ الثَّانَوِيَّةِ.</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at secondary school.</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university</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أَدْرُسُ فِي الجَامِعَةِ.</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study at university.</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vocational training</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أَتَلَقَّى تَدْرِيبًا مِهَنِيًّا.</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I receive vocational training.</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52</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COMPARE TWO SYSTEMS (WEBSITE LISTENING AND READING)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System A vs system B</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قَارِنْ بَيْنَ نِظَامَيْنِ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565392" y="1810512"/>
            <a:ext cx="50932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System B (some Arab countries)</a:t>
            </a:r>
            <a:endParaRPr lang="en-US" sz="1100" dirty="0"/>
          </a:p>
        </p:txBody>
      </p:sp>
      <p:sp>
        <p:nvSpPr>
          <p:cNvPr id="17" name="Text 14"/>
          <p:cNvSpPr txBox="1"/>
          <p:nvPr/>
        </p:nvSpPr>
        <p:spPr>
          <a:xfrm>
            <a:off x="2724912"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System A (the UK)</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Compare</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583680" y="2267712"/>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ثَلَاثُ مَرَاحِلَ أَيْضًا</a:t>
            </a:r>
            <a:endParaRPr lang="ar-SA" sz="1900" dirty="0"/>
          </a:p>
        </p:txBody>
      </p:sp>
      <p:sp>
        <p:nvSpPr>
          <p:cNvPr id="21" name="Text 18"/>
          <p:cNvSpPr txBox="1"/>
          <p:nvPr/>
        </p:nvSpPr>
        <p:spPr>
          <a:xfrm>
            <a:off x="2743200" y="2267712"/>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ثَلَاثُ مَرَاحِلَ</a:t>
            </a:r>
            <a:endParaRPr lang="ar-SA" sz="1900" dirty="0"/>
          </a:p>
        </p:txBody>
      </p:sp>
      <p:sp>
        <p:nvSpPr>
          <p:cNvPr id="22" name="Text 19"/>
          <p:cNvSpPr txBox="1"/>
          <p:nvPr/>
        </p:nvSpPr>
        <p:spPr>
          <a:xfrm>
            <a:off x="566928" y="2267712"/>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stages</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6" name="Text 23"/>
          <p:cNvSpPr txBox="1"/>
          <p:nvPr/>
        </p:nvSpPr>
        <p:spPr>
          <a:xfrm>
            <a:off x="6583680" y="3054096"/>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يَدُومُ ثَلَاثَ سَنَوَاتٍ أَوْ أَكْثَرَ</a:t>
            </a:r>
            <a:endParaRPr lang="ar-SA" sz="1900" dirty="0"/>
          </a:p>
        </p:txBody>
      </p:sp>
      <p:sp>
        <p:nvSpPr>
          <p:cNvPr id="27" name="Text 24"/>
          <p:cNvSpPr txBox="1"/>
          <p:nvPr/>
        </p:nvSpPr>
        <p:spPr>
          <a:xfrm>
            <a:off x="2743200" y="3054096"/>
            <a:ext cx="3657600" cy="731520"/>
          </a:xfrm>
          <a:prstGeom prst="rect">
            <a:avLst/>
          </a:prstGeom>
          <a:noFill/>
          <a:ln/>
        </p:spPr>
        <p:txBody>
          <a:bodyPr wrap="square" lIns="0" tIns="0" rIns="0" bIns="0" rtlCol="0" anchor="ctr"/>
          <a:lstStyle/>
          <a:p>
            <a:pPr rtl="1" algn="ctr" indent="0" marL="0">
              <a:buNone/>
            </a:pPr>
            <a:r>
              <a:rPr lang="ar-SA" altLang="en-US" sz="1850" b="1" dirty="0">
                <a:solidFill>
                  <a:srgbClr val="1B3B6F"/>
                </a:solidFill>
                <a:latin typeface="Amiri" pitchFamily="34" charset="0"/>
                <a:ea typeface="Amiri" pitchFamily="34" charset="-122"/>
                <a:cs typeface="Amiri" pitchFamily="34" charset="-120"/>
              </a:rPr>
              <a:t>يَجْتَازُ الطُّلَّابُ الامْتِحَانَاتِ فِي السَّادِسَةَ عَشْرَةَ</a:t>
            </a:r>
            <a:endParaRPr lang="ar-SA" sz="1850" dirty="0"/>
          </a:p>
        </p:txBody>
      </p:sp>
      <p:sp>
        <p:nvSpPr>
          <p:cNvPr id="28" name="Text 25"/>
          <p:cNvSpPr txBox="1"/>
          <p:nvPr/>
        </p:nvSpPr>
        <p:spPr>
          <a:xfrm>
            <a:off x="566928" y="3054096"/>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secondary</a:t>
            </a:r>
            <a:endParaRPr lang="en-US" sz="1100" dirty="0"/>
          </a:p>
        </p:txBody>
      </p:sp>
      <p:sp>
        <p:nvSpPr>
          <p:cNvPr id="29" name="Shape 26"/>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6583680" y="3840480"/>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يَعْتَمِدُ بَعْضُهَا عَلَى امْتِحَانٍ نِهَائِيٍّ وَاحِدٍ</a:t>
            </a:r>
            <a:endParaRPr lang="ar-SA" sz="1900" dirty="0"/>
          </a:p>
        </p:txBody>
      </p:sp>
      <p:sp>
        <p:nvSpPr>
          <p:cNvPr id="33" name="Text 30"/>
          <p:cNvSpPr txBox="1"/>
          <p:nvPr/>
        </p:nvSpPr>
        <p:spPr>
          <a:xfrm>
            <a:off x="2743200" y="3840480"/>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يَعْتَمِدُ عَلَى امْتِحَانَاتِ الشَّهَادَةِ</a:t>
            </a:r>
            <a:endParaRPr lang="ar-SA" sz="1900" dirty="0"/>
          </a:p>
        </p:txBody>
      </p:sp>
      <p:sp>
        <p:nvSpPr>
          <p:cNvPr id="34" name="Text 31"/>
          <p:cNvSpPr txBox="1"/>
          <p:nvPr/>
        </p:nvSpPr>
        <p:spPr>
          <a:xfrm>
            <a:off x="566928" y="3840480"/>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assessment</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6583680" y="4626864"/>
            <a:ext cx="5056632"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يَلْتَحِقُ المُتَفَوِّقُونَ بِالجَامِعَاتِ</a:t>
            </a:r>
            <a:endParaRPr lang="ar-SA" sz="1900" dirty="0"/>
          </a:p>
        </p:txBody>
      </p:sp>
      <p:sp>
        <p:nvSpPr>
          <p:cNvPr id="37" name="Text 34"/>
          <p:cNvSpPr txBox="1"/>
          <p:nvPr/>
        </p:nvSpPr>
        <p:spPr>
          <a:xfrm>
            <a:off x="2743200" y="4626864"/>
            <a:ext cx="3657600" cy="731520"/>
          </a:xfrm>
          <a:prstGeom prst="rect">
            <a:avLst/>
          </a:prstGeom>
          <a:noFill/>
          <a:ln/>
        </p:spPr>
        <p:txBody>
          <a:bodyPr wrap="square" lIns="0" tIns="0" rIns="0" bIns="0" rtlCol="0" anchor="ctr"/>
          <a:lstStyle/>
          <a:p>
            <a:pPr rtl="1" algn="ctr" indent="0" marL="0">
              <a:buNone/>
            </a:pPr>
            <a:r>
              <a:rPr lang="ar-SA" altLang="en-US" sz="1900" b="1" dirty="0">
                <a:solidFill>
                  <a:srgbClr val="1B3B6F"/>
                </a:solidFill>
                <a:latin typeface="Amiri" pitchFamily="34" charset="0"/>
                <a:ea typeface="Amiri" pitchFamily="34" charset="-122"/>
                <a:cs typeface="Amiri" pitchFamily="34" charset="-120"/>
              </a:rPr>
              <a:t>يَلْتَحِقُونَ بِالجَامِعَةِ أَوْ بِالتَّدْرِيبِ المِهَنِيِّ</a:t>
            </a:r>
            <a:endParaRPr lang="ar-SA" sz="1900" dirty="0"/>
          </a:p>
        </p:txBody>
      </p:sp>
      <p:sp>
        <p:nvSpPr>
          <p:cNvPr id="38" name="Text 35"/>
          <p:cNvSpPr txBox="1"/>
          <p:nvPr/>
        </p:nvSpPr>
        <p:spPr>
          <a:xfrm>
            <a:off x="566928" y="4626864"/>
            <a:ext cx="20116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after school</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Now join each row with baynamā or fī ḥīni anna: baynamā … fī al-mamlaka al-muttaḥida, …</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52</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WEBSITE SORTER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 fī — or bi- / ʿalā?</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صَنِّفْ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يَجْتَازُ</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يَدْرُسُ</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يُرَاجِعُ</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يَتَفَوَّقُ</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يَرْسُبُ</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يَتَخَصَّصُ</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يَلْتَحِقُ</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يَحْصُلُ</a:t>
            </a:r>
            <a:endParaRPr lang="ar-SA" sz="1800" dirty="0"/>
          </a:p>
        </p:txBody>
      </p:sp>
      <p:sp>
        <p:nvSpPr>
          <p:cNvPr id="31" name="Shape 28"/>
          <p:cNvSpPr/>
          <p:nvPr/>
        </p:nvSpPr>
        <p:spPr>
          <a:xfrm>
            <a:off x="9015984" y="2834640"/>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2" name="Text 29"/>
          <p:cNvSpPr txBox="1"/>
          <p:nvPr/>
        </p:nvSpPr>
        <p:spPr>
          <a:xfrm>
            <a:off x="9107424" y="2834640"/>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a:t>
            </a:r>
            <a:endParaRPr lang="ar-SA" sz="1800" dirty="0"/>
          </a:p>
        </p:txBody>
      </p:sp>
      <p:sp>
        <p:nvSpPr>
          <p:cNvPr id="33" name="Shape 30"/>
          <p:cNvSpPr/>
          <p:nvPr/>
        </p:nvSpPr>
        <p:spPr>
          <a:xfrm>
            <a:off x="8095488" y="3529584"/>
            <a:ext cx="3636264" cy="2779776"/>
          </a:xfrm>
          <a:prstGeom prst="roundRect">
            <a:avLst>
              <a:gd name="adj" fmla="val 2632"/>
            </a:avLst>
          </a:prstGeom>
          <a:solidFill>
            <a:srgbClr val="EEF3FA"/>
          </a:solidFill>
          <a:ln w="9525">
            <a:solidFill>
              <a:srgbClr val="C9D6EA"/>
            </a:solidFill>
            <a:prstDash val="solid"/>
          </a:ln>
        </p:spPr>
      </p:sp>
      <p:sp>
        <p:nvSpPr>
          <p:cNvPr id="34" name="Shape 31"/>
          <p:cNvSpPr/>
          <p:nvPr/>
        </p:nvSpPr>
        <p:spPr>
          <a:xfrm>
            <a:off x="8232648" y="3639312"/>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8232648"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36" name="Shape 33"/>
          <p:cNvSpPr/>
          <p:nvPr/>
        </p:nvSpPr>
        <p:spPr>
          <a:xfrm>
            <a:off x="4276344" y="3529584"/>
            <a:ext cx="3636264" cy="2779776"/>
          </a:xfrm>
          <a:prstGeom prst="roundRect">
            <a:avLst>
              <a:gd name="adj" fmla="val 2632"/>
            </a:avLst>
          </a:prstGeom>
          <a:solidFill>
            <a:srgbClr val="EEF3FA"/>
          </a:solidFill>
          <a:ln w="9525">
            <a:solidFill>
              <a:srgbClr val="C9D6EA"/>
            </a:solidFill>
            <a:prstDash val="solid"/>
          </a:ln>
        </p:spPr>
      </p:sp>
      <p:sp>
        <p:nvSpPr>
          <p:cNvPr id="37" name="Shape 34"/>
          <p:cNvSpPr/>
          <p:nvPr/>
        </p:nvSpPr>
        <p:spPr>
          <a:xfrm>
            <a:off x="4413504" y="3639312"/>
            <a:ext cx="3361944"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4413504"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فِي</a:t>
            </a:r>
            <a:endParaRPr lang="en-US" sz="950" dirty="0"/>
          </a:p>
        </p:txBody>
      </p:sp>
      <p:sp>
        <p:nvSpPr>
          <p:cNvPr id="39" name="Shape 36"/>
          <p:cNvSpPr/>
          <p:nvPr/>
        </p:nvSpPr>
        <p:spPr>
          <a:xfrm>
            <a:off x="457200" y="3529584"/>
            <a:ext cx="3636264" cy="2779776"/>
          </a:xfrm>
          <a:prstGeom prst="roundRect">
            <a:avLst>
              <a:gd name="adj" fmla="val 2632"/>
            </a:avLst>
          </a:prstGeom>
          <a:solidFill>
            <a:srgbClr val="EEF3FA"/>
          </a:solidFill>
          <a:ln w="9525">
            <a:solidFill>
              <a:srgbClr val="C9D6EA"/>
            </a:solidFill>
            <a:prstDash val="solid"/>
          </a:ln>
        </p:spPr>
      </p:sp>
      <p:sp>
        <p:nvSpPr>
          <p:cNvPr id="40" name="Shape 37"/>
          <p:cNvSpPr/>
          <p:nvPr/>
        </p:nvSpPr>
        <p:spPr>
          <a:xfrm>
            <a:off x="594360" y="3639312"/>
            <a:ext cx="3361944" cy="310896"/>
          </a:xfrm>
          <a:prstGeom prst="roundRect">
            <a:avLst>
              <a:gd name="adj" fmla="val 50000"/>
            </a:avLst>
          </a:prstGeom>
          <a:solidFill>
            <a:srgbClr val="2F6FB0"/>
          </a:solidFill>
          <a:ln w="12700">
            <a:solidFill>
              <a:srgbClr val="2F6FB0"/>
            </a:solidFill>
            <a:prstDash val="solid"/>
          </a:ln>
        </p:spPr>
      </p:sp>
      <p:sp>
        <p:nvSpPr>
          <p:cNvPr id="41" name="Text 38"/>
          <p:cNvSpPr txBox="1"/>
          <p:nvPr/>
        </p:nvSpPr>
        <p:spPr>
          <a:xfrm>
            <a:off x="594360" y="3639312"/>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 / عَلَى</a:t>
            </a:r>
            <a:endParaRPr lang="en-US" sz="95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52</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8095488" y="1810512"/>
            <a:ext cx="3636264" cy="4498848"/>
          </a:xfrm>
          <a:prstGeom prst="roundRect">
            <a:avLst>
              <a:gd name="adj" fmla="val 2012"/>
            </a:avLst>
          </a:prstGeom>
          <a:solidFill>
            <a:srgbClr val="EEF3FA"/>
          </a:solidFill>
          <a:ln w="9525">
            <a:solidFill>
              <a:srgbClr val="C9D6EA"/>
            </a:solidFill>
            <a:prstDash val="solid"/>
          </a:ln>
        </p:spPr>
      </p:sp>
      <p:sp>
        <p:nvSpPr>
          <p:cNvPr id="16" name="Shape 13"/>
          <p:cNvSpPr/>
          <p:nvPr/>
        </p:nvSpPr>
        <p:spPr>
          <a:xfrm>
            <a:off x="8232648" y="1920240"/>
            <a:ext cx="3361944"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8232648"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Direct object</a:t>
            </a:r>
            <a:endParaRPr lang="en-US" sz="950" dirty="0"/>
          </a:p>
        </p:txBody>
      </p:sp>
      <p:sp>
        <p:nvSpPr>
          <p:cNvPr id="18" name="Shape 15"/>
          <p:cNvSpPr/>
          <p:nvPr/>
        </p:nvSpPr>
        <p:spPr>
          <a:xfrm>
            <a:off x="8232648" y="2377440"/>
            <a:ext cx="3361944"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8324088"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يَجْتَازُ</a:t>
            </a:r>
            <a:endParaRPr lang="ar-SA" sz="1800" dirty="0"/>
          </a:p>
        </p:txBody>
      </p:sp>
      <p:sp>
        <p:nvSpPr>
          <p:cNvPr id="20" name="Shape 17"/>
          <p:cNvSpPr/>
          <p:nvPr/>
        </p:nvSpPr>
        <p:spPr>
          <a:xfrm>
            <a:off x="8232648" y="2889504"/>
            <a:ext cx="3361944"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8324088"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يَدْرُسُ</a:t>
            </a:r>
            <a:endParaRPr lang="ar-SA" sz="1800" dirty="0"/>
          </a:p>
        </p:txBody>
      </p:sp>
      <p:sp>
        <p:nvSpPr>
          <p:cNvPr id="22" name="Shape 19"/>
          <p:cNvSpPr/>
          <p:nvPr/>
        </p:nvSpPr>
        <p:spPr>
          <a:xfrm>
            <a:off x="8232648" y="3401568"/>
            <a:ext cx="3361944" cy="438912"/>
          </a:xfrm>
          <a:prstGeom prst="roundRect">
            <a:avLst>
              <a:gd name="adj" fmla="val 12500"/>
            </a:avLst>
          </a:prstGeom>
          <a:solidFill>
            <a:srgbClr val="FFF4DC"/>
          </a:solidFill>
          <a:ln w="9525">
            <a:solidFill>
              <a:srgbClr val="E6C98A"/>
            </a:solidFill>
            <a:prstDash val="solid"/>
          </a:ln>
        </p:spPr>
      </p:sp>
      <p:sp>
        <p:nvSpPr>
          <p:cNvPr id="23" name="Text 20"/>
          <p:cNvSpPr txBox="1"/>
          <p:nvPr/>
        </p:nvSpPr>
        <p:spPr>
          <a:xfrm>
            <a:off x="8324088"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يُرَاجِعُ</a:t>
            </a:r>
            <a:endParaRPr lang="ar-SA" sz="1800" dirty="0"/>
          </a:p>
        </p:txBody>
      </p:sp>
      <p:sp>
        <p:nvSpPr>
          <p:cNvPr id="24" name="Shape 21"/>
          <p:cNvSpPr/>
          <p:nvPr/>
        </p:nvSpPr>
        <p:spPr>
          <a:xfrm>
            <a:off x="4276344" y="1810512"/>
            <a:ext cx="3636264" cy="4498848"/>
          </a:xfrm>
          <a:prstGeom prst="roundRect">
            <a:avLst>
              <a:gd name="adj" fmla="val 2012"/>
            </a:avLst>
          </a:prstGeom>
          <a:solidFill>
            <a:srgbClr val="EEF3FA"/>
          </a:solidFill>
          <a:ln w="9525">
            <a:solidFill>
              <a:srgbClr val="C9D6EA"/>
            </a:solidFill>
            <a:prstDash val="solid"/>
          </a:ln>
        </p:spPr>
      </p:sp>
      <p:sp>
        <p:nvSpPr>
          <p:cNvPr id="25" name="Shape 22"/>
          <p:cNvSpPr/>
          <p:nvPr/>
        </p:nvSpPr>
        <p:spPr>
          <a:xfrm>
            <a:off x="4413504" y="1920240"/>
            <a:ext cx="3361944" cy="310896"/>
          </a:xfrm>
          <a:prstGeom prst="roundRect">
            <a:avLst>
              <a:gd name="adj" fmla="val 50000"/>
            </a:avLst>
          </a:prstGeom>
          <a:solidFill>
            <a:srgbClr val="2F6FB0"/>
          </a:solidFill>
          <a:ln w="12700">
            <a:solidFill>
              <a:srgbClr val="2F6FB0"/>
            </a:solidFill>
            <a:prstDash val="solid"/>
          </a:ln>
        </p:spPr>
      </p:sp>
      <p:sp>
        <p:nvSpPr>
          <p:cNvPr id="26" name="Text 23"/>
          <p:cNvSpPr txBox="1"/>
          <p:nvPr/>
        </p:nvSpPr>
        <p:spPr>
          <a:xfrm>
            <a:off x="4413504"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فِي</a:t>
            </a:r>
            <a:endParaRPr lang="en-US" sz="950" dirty="0"/>
          </a:p>
        </p:txBody>
      </p:sp>
      <p:sp>
        <p:nvSpPr>
          <p:cNvPr id="27" name="Shape 24"/>
          <p:cNvSpPr/>
          <p:nvPr/>
        </p:nvSpPr>
        <p:spPr>
          <a:xfrm>
            <a:off x="4413504" y="2377440"/>
            <a:ext cx="3361944"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4504944"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يَتَفَوَّقُ</a:t>
            </a:r>
            <a:endParaRPr lang="ar-SA" sz="1800" dirty="0"/>
          </a:p>
        </p:txBody>
      </p:sp>
      <p:sp>
        <p:nvSpPr>
          <p:cNvPr id="29" name="Shape 26"/>
          <p:cNvSpPr/>
          <p:nvPr/>
        </p:nvSpPr>
        <p:spPr>
          <a:xfrm>
            <a:off x="4413504" y="2889504"/>
            <a:ext cx="3361944" cy="438912"/>
          </a:xfrm>
          <a:prstGeom prst="roundRect">
            <a:avLst>
              <a:gd name="adj" fmla="val 12500"/>
            </a:avLst>
          </a:prstGeom>
          <a:solidFill>
            <a:srgbClr val="FFF4DC"/>
          </a:solidFill>
          <a:ln w="9525">
            <a:solidFill>
              <a:srgbClr val="E6C98A"/>
            </a:solidFill>
            <a:prstDash val="solid"/>
          </a:ln>
        </p:spPr>
      </p:sp>
      <p:sp>
        <p:nvSpPr>
          <p:cNvPr id="30" name="Text 27"/>
          <p:cNvSpPr txBox="1"/>
          <p:nvPr/>
        </p:nvSpPr>
        <p:spPr>
          <a:xfrm>
            <a:off x="4504944"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يَرْسُبُ</a:t>
            </a:r>
            <a:endParaRPr lang="ar-SA" sz="1800" dirty="0"/>
          </a:p>
        </p:txBody>
      </p:sp>
      <p:sp>
        <p:nvSpPr>
          <p:cNvPr id="31" name="Shape 28"/>
          <p:cNvSpPr/>
          <p:nvPr/>
        </p:nvSpPr>
        <p:spPr>
          <a:xfrm>
            <a:off x="4413504" y="3401568"/>
            <a:ext cx="3361944" cy="438912"/>
          </a:xfrm>
          <a:prstGeom prst="roundRect">
            <a:avLst>
              <a:gd name="adj" fmla="val 12500"/>
            </a:avLst>
          </a:prstGeom>
          <a:solidFill>
            <a:srgbClr val="FFF4DC"/>
          </a:solidFill>
          <a:ln w="9525">
            <a:solidFill>
              <a:srgbClr val="E6C98A"/>
            </a:solidFill>
            <a:prstDash val="solid"/>
          </a:ln>
        </p:spPr>
      </p:sp>
      <p:sp>
        <p:nvSpPr>
          <p:cNvPr id="32" name="Text 29"/>
          <p:cNvSpPr txBox="1"/>
          <p:nvPr/>
        </p:nvSpPr>
        <p:spPr>
          <a:xfrm>
            <a:off x="4504944"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يَتَخَصَّصُ</a:t>
            </a:r>
            <a:endParaRPr lang="ar-SA" sz="1800" dirty="0"/>
          </a:p>
        </p:txBody>
      </p:sp>
      <p:sp>
        <p:nvSpPr>
          <p:cNvPr id="33" name="Shape 30"/>
          <p:cNvSpPr/>
          <p:nvPr/>
        </p:nvSpPr>
        <p:spPr>
          <a:xfrm>
            <a:off x="457200" y="1810512"/>
            <a:ext cx="3636264" cy="4498848"/>
          </a:xfrm>
          <a:prstGeom prst="roundRect">
            <a:avLst>
              <a:gd name="adj" fmla="val 2012"/>
            </a:avLst>
          </a:prstGeom>
          <a:solidFill>
            <a:srgbClr val="EEF3FA"/>
          </a:solidFill>
          <a:ln w="9525">
            <a:solidFill>
              <a:srgbClr val="C9D6EA"/>
            </a:solidFill>
            <a:prstDash val="solid"/>
          </a:ln>
        </p:spPr>
      </p:sp>
      <p:sp>
        <p:nvSpPr>
          <p:cNvPr id="34" name="Shape 31"/>
          <p:cNvSpPr/>
          <p:nvPr/>
        </p:nvSpPr>
        <p:spPr>
          <a:xfrm>
            <a:off x="594360" y="1920240"/>
            <a:ext cx="3361944" cy="310896"/>
          </a:xfrm>
          <a:prstGeom prst="roundRect">
            <a:avLst>
              <a:gd name="adj" fmla="val 50000"/>
            </a:avLst>
          </a:prstGeom>
          <a:solidFill>
            <a:srgbClr val="2F6FB0"/>
          </a:solidFill>
          <a:ln w="12700">
            <a:solidFill>
              <a:srgbClr val="2F6FB0"/>
            </a:solidFill>
            <a:prstDash val="solid"/>
          </a:ln>
        </p:spPr>
      </p:sp>
      <p:sp>
        <p:nvSpPr>
          <p:cNvPr id="35" name="Text 32"/>
          <p:cNvSpPr txBox="1"/>
          <p:nvPr/>
        </p:nvSpPr>
        <p:spPr>
          <a:xfrm>
            <a:off x="594360" y="1920240"/>
            <a:ext cx="3361944"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بِـ / عَلَى</a:t>
            </a:r>
            <a:endParaRPr lang="en-US" sz="950" dirty="0"/>
          </a:p>
        </p:txBody>
      </p:sp>
      <p:sp>
        <p:nvSpPr>
          <p:cNvPr id="36" name="Shape 33"/>
          <p:cNvSpPr/>
          <p:nvPr/>
        </p:nvSpPr>
        <p:spPr>
          <a:xfrm>
            <a:off x="594360" y="2377440"/>
            <a:ext cx="3361944" cy="438912"/>
          </a:xfrm>
          <a:prstGeom prst="roundRect">
            <a:avLst>
              <a:gd name="adj" fmla="val 12500"/>
            </a:avLst>
          </a:prstGeom>
          <a:solidFill>
            <a:srgbClr val="FFF4DC"/>
          </a:solidFill>
          <a:ln w="9525">
            <a:solidFill>
              <a:srgbClr val="E6C98A"/>
            </a:solidFill>
            <a:prstDash val="solid"/>
          </a:ln>
        </p:spPr>
      </p:sp>
      <p:sp>
        <p:nvSpPr>
          <p:cNvPr id="37" name="Text 34"/>
          <p:cNvSpPr txBox="1"/>
          <p:nvPr/>
        </p:nvSpPr>
        <p:spPr>
          <a:xfrm>
            <a:off x="685800" y="2377440"/>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يَلْتَحِقُ</a:t>
            </a:r>
            <a:endParaRPr lang="ar-SA" sz="1800" dirty="0"/>
          </a:p>
        </p:txBody>
      </p:sp>
      <p:sp>
        <p:nvSpPr>
          <p:cNvPr id="38" name="Shape 35"/>
          <p:cNvSpPr/>
          <p:nvPr/>
        </p:nvSpPr>
        <p:spPr>
          <a:xfrm>
            <a:off x="594360" y="2889504"/>
            <a:ext cx="3361944" cy="438912"/>
          </a:xfrm>
          <a:prstGeom prst="roundRect">
            <a:avLst>
              <a:gd name="adj" fmla="val 12500"/>
            </a:avLst>
          </a:prstGeom>
          <a:solidFill>
            <a:srgbClr val="FFF4DC"/>
          </a:solidFill>
          <a:ln w="9525">
            <a:solidFill>
              <a:srgbClr val="E6C98A"/>
            </a:solidFill>
            <a:prstDash val="solid"/>
          </a:ln>
        </p:spPr>
      </p:sp>
      <p:sp>
        <p:nvSpPr>
          <p:cNvPr id="39" name="Text 36"/>
          <p:cNvSpPr txBox="1"/>
          <p:nvPr/>
        </p:nvSpPr>
        <p:spPr>
          <a:xfrm>
            <a:off x="685800" y="2889504"/>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يَحْصُلُ</a:t>
            </a:r>
            <a:endParaRPr lang="ar-SA" sz="1800" dirty="0"/>
          </a:p>
        </p:txBody>
      </p:sp>
      <p:sp>
        <p:nvSpPr>
          <p:cNvPr id="40" name="Shape 37"/>
          <p:cNvSpPr/>
          <p:nvPr/>
        </p:nvSpPr>
        <p:spPr>
          <a:xfrm>
            <a:off x="594360" y="3401568"/>
            <a:ext cx="3361944" cy="438912"/>
          </a:xfrm>
          <a:prstGeom prst="roundRect">
            <a:avLst>
              <a:gd name="adj" fmla="val 12500"/>
            </a:avLst>
          </a:prstGeom>
          <a:solidFill>
            <a:srgbClr val="FFF4DC"/>
          </a:solidFill>
          <a:ln w="9525">
            <a:solidFill>
              <a:srgbClr val="E6C98A"/>
            </a:solidFill>
            <a:prstDash val="solid"/>
          </a:ln>
        </p:spPr>
      </p:sp>
      <p:sp>
        <p:nvSpPr>
          <p:cNvPr id="41" name="Text 38"/>
          <p:cNvSpPr txBox="1"/>
          <p:nvPr/>
        </p:nvSpPr>
        <p:spPr>
          <a:xfrm>
            <a:off x="685800" y="3401568"/>
            <a:ext cx="3179064"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يَتَمَيَّزُ</a:t>
            </a:r>
            <a:endParaRPr lang="ar-SA" sz="18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52</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QUIZ QUESTIONS 3, 5, 7, 8</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يَرْسُبُ بَعْضُ الطُّلَّابِ ___ المَادَّةِ الصَّعْبَةِ.</a:t>
            </a:r>
            <a:endParaRPr lang="ar-SA" sz="1450" dirty="0"/>
          </a:p>
        </p:txBody>
      </p:sp>
      <p:sp>
        <p:nvSpPr>
          <p:cNvPr id="22" name="Shape 19"/>
          <p:cNvSpPr/>
          <p:nvPr/>
        </p:nvSpPr>
        <p:spPr>
          <a:xfrm>
            <a:off x="640080" y="25328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25" name="Shape 22"/>
          <p:cNvSpPr/>
          <p:nvPr/>
        </p:nvSpPr>
        <p:spPr>
          <a:xfrm>
            <a:off x="640080" y="29900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a:t>
            </a:r>
            <a:endParaRPr lang="ar-SA" sz="2050" dirty="0"/>
          </a:p>
        </p:txBody>
      </p:sp>
      <p:sp>
        <p:nvSpPr>
          <p:cNvPr id="28" name="Shape 25"/>
          <p:cNvSpPr/>
          <p:nvPr/>
        </p:nvSpPr>
        <p:spPr>
          <a:xfrm>
            <a:off x="640080" y="3447288"/>
            <a:ext cx="256032" cy="256032"/>
          </a:xfrm>
          <a:prstGeom prst="ellipse">
            <a:avLst/>
          </a:prstGeom>
          <a:solidFill>
            <a:srgbClr val="F4F1EA"/>
          </a:solidFill>
          <a:ln w="12700">
            <a:solidFill>
              <a:srgbClr val="F4F1EA"/>
            </a:solidFill>
            <a:prstDash val="solid"/>
          </a:ln>
        </p:spPr>
      </p:sp>
      <p:sp>
        <p:nvSpPr>
          <p:cNvPr id="29" name="Text 26"/>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1" name="Shape 28"/>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6313932" y="1947672"/>
            <a:ext cx="310896" cy="310896"/>
          </a:xfrm>
          <a:prstGeom prst="ellipse">
            <a:avLst/>
          </a:prstGeom>
          <a:solidFill>
            <a:srgbClr val="1B3B6F"/>
          </a:solidFill>
          <a:ln w="12700">
            <a:solidFill>
              <a:srgbClr val="1B3B6F"/>
            </a:solidFill>
            <a:prstDash val="solid"/>
          </a:ln>
        </p:spPr>
      </p:sp>
      <p:sp>
        <p:nvSpPr>
          <p:cNvPr id="33" name="Text 30"/>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4" name="Text 31"/>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5" name="Text 32"/>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يَحْصُلُ ___ شَهَادَةٍ مُعْتَمَدَةٍ.</a:t>
            </a:r>
            <a:endParaRPr lang="ar-SA" sz="1500" dirty="0"/>
          </a:p>
        </p:txBody>
      </p:sp>
      <p:sp>
        <p:nvSpPr>
          <p:cNvPr id="36" name="Shape 33"/>
          <p:cNvSpPr/>
          <p:nvPr/>
        </p:nvSpPr>
        <p:spPr>
          <a:xfrm>
            <a:off x="6368796" y="2532888"/>
            <a:ext cx="256032" cy="256032"/>
          </a:xfrm>
          <a:prstGeom prst="ellipse">
            <a:avLst/>
          </a:prstGeom>
          <a:solidFill>
            <a:srgbClr val="F4F1EA"/>
          </a:solidFill>
          <a:ln w="12700">
            <a:solidFill>
              <a:srgbClr val="F4F1EA"/>
            </a:solidFill>
            <a:prstDash val="solid"/>
          </a:ln>
        </p:spPr>
      </p:sp>
      <p:sp>
        <p:nvSpPr>
          <p:cNvPr id="37" name="Text 34"/>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9" name="Shape 36"/>
          <p:cNvSpPr/>
          <p:nvPr/>
        </p:nvSpPr>
        <p:spPr>
          <a:xfrm>
            <a:off x="6368796" y="29900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2" name="Shape 39"/>
          <p:cNvSpPr/>
          <p:nvPr/>
        </p:nvSpPr>
        <p:spPr>
          <a:xfrm>
            <a:off x="6368796" y="34472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1"/>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distinguishing sentence.</a:t>
            </a:r>
            <a:endParaRPr lang="en-US" sz="1250" dirty="0"/>
          </a:p>
        </p:txBody>
      </p:sp>
      <p:sp>
        <p:nvSpPr>
          <p:cNvPr id="49" name="Shape 46"/>
          <p:cNvSpPr/>
          <p:nvPr/>
        </p:nvSpPr>
        <p:spPr>
          <a:xfrm>
            <a:off x="640080" y="4873752"/>
            <a:ext cx="256032" cy="256032"/>
          </a:xfrm>
          <a:prstGeom prst="ellipse">
            <a:avLst/>
          </a:prstGeom>
          <a:solidFill>
            <a:srgbClr val="F4F1EA"/>
          </a:solidFill>
          <a:ln w="12700">
            <a:solidFill>
              <a:srgbClr val="F4F1EA"/>
            </a:solidFill>
            <a:prstDash val="solid"/>
          </a:ln>
        </p:spPr>
      </p:sp>
      <p:sp>
        <p:nvSpPr>
          <p:cNvPr id="50" name="Text 4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النِّظَامُ عَلَى المَوَادِّ.</a:t>
            </a:r>
            <a:endParaRPr lang="ar-SA" sz="2050" dirty="0"/>
          </a:p>
        </p:txBody>
      </p:sp>
      <p:sp>
        <p:nvSpPr>
          <p:cNvPr id="52" name="Shape 49"/>
          <p:cNvSpPr/>
          <p:nvPr/>
        </p:nvSpPr>
        <p:spPr>
          <a:xfrm>
            <a:off x="640080" y="53309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النِّظَامُ بِمُرُونَةِ المَوَادِّ.</a:t>
            </a:r>
            <a:endParaRPr lang="ar-SA" sz="2050" dirty="0"/>
          </a:p>
        </p:txBody>
      </p:sp>
      <p:sp>
        <p:nvSpPr>
          <p:cNvPr id="55" name="Shape 52"/>
          <p:cNvSpPr/>
          <p:nvPr/>
        </p:nvSpPr>
        <p:spPr>
          <a:xfrm>
            <a:off x="640080" y="57881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7" name="Text 5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يَتَمَيَّزُ النِّظَامُ فِي المَوَادِّ.</a:t>
            </a:r>
            <a:endParaRPr lang="ar-SA" sz="2050" dirty="0"/>
          </a:p>
        </p:txBody>
      </p:sp>
      <p:sp>
        <p:nvSpPr>
          <p:cNvPr id="58" name="Shape 5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9" name="Shape 56"/>
          <p:cNvSpPr/>
          <p:nvPr/>
        </p:nvSpPr>
        <p:spPr>
          <a:xfrm>
            <a:off x="6313932" y="4288536"/>
            <a:ext cx="310896" cy="310896"/>
          </a:xfrm>
          <a:prstGeom prst="ellipse">
            <a:avLst/>
          </a:prstGeom>
          <a:solidFill>
            <a:srgbClr val="1B3B6F"/>
          </a:solidFill>
          <a:ln w="12700">
            <a:solidFill>
              <a:srgbClr val="1B3B6F"/>
            </a:solidFill>
            <a:prstDash val="solid"/>
          </a:ln>
        </p:spPr>
      </p:sp>
      <p:sp>
        <p:nvSpPr>
          <p:cNvPr id="60" name="Text 5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1" name="Text 58"/>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compares rather than lists?</a:t>
            </a:r>
            <a:endParaRPr lang="en-US" sz="1250" dirty="0"/>
          </a:p>
        </p:txBody>
      </p:sp>
      <p:sp>
        <p:nvSpPr>
          <p:cNvPr id="62" name="Shape 59"/>
          <p:cNvSpPr/>
          <p:nvPr/>
        </p:nvSpPr>
        <p:spPr>
          <a:xfrm>
            <a:off x="6368796" y="48737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4" name="Text 61"/>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النِّظَامُ الأَوَّلُ جَيِّدٌ وَالثَّانِي جَيِّدٌ.</a:t>
            </a:r>
            <a:endParaRPr lang="ar-SA" sz="1450" dirty="0"/>
          </a:p>
        </p:txBody>
      </p:sp>
      <p:sp>
        <p:nvSpPr>
          <p:cNvPr id="65" name="Shape 62"/>
          <p:cNvSpPr/>
          <p:nvPr/>
        </p:nvSpPr>
        <p:spPr>
          <a:xfrm>
            <a:off x="6368796" y="53309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7" name="Text 64"/>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أُحِبُّ المَدْرَسَةَ كَثِيرًا.</a:t>
            </a:r>
            <a:endParaRPr lang="ar-SA" sz="1450" dirty="0"/>
          </a:p>
        </p:txBody>
      </p:sp>
      <p:sp>
        <p:nvSpPr>
          <p:cNvPr id="68" name="Shape 65"/>
          <p:cNvSpPr/>
          <p:nvPr/>
        </p:nvSpPr>
        <p:spPr>
          <a:xfrm>
            <a:off x="6368796" y="57881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0" name="Text 67"/>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1450" dirty="0">
                <a:solidFill>
                  <a:srgbClr val="1F2A37"/>
                </a:solidFill>
                <a:latin typeface="Amiri" pitchFamily="34" charset="0"/>
                <a:ea typeface="Amiri" pitchFamily="34" charset="-122"/>
                <a:cs typeface="Amiri" pitchFamily="34" charset="-120"/>
              </a:rPr>
              <a:t>بَيْنَمَا يَعْتَمِدُ النِّظَامُ الأَوَّلُ عَلَى الامْتِحَانِ، يَعْتَمِدُ الثَّانِي عَلَى المَشَارِيعِ.</a:t>
            </a:r>
            <a:endParaRPr lang="ar-SA" sz="1450" dirty="0"/>
          </a:p>
        </p:txBody>
      </p:sp>
      <p:sp>
        <p:nvSpPr>
          <p:cNvPr id="71" name="Text 6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52</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0" name="Text 17"/>
          <p:cNvSpPr txBox="1"/>
          <p:nvPr/>
        </p:nvSpPr>
        <p:spPr>
          <a:xfrm>
            <a:off x="950976"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21" name="Text 18"/>
          <p:cNvSpPr txBox="1"/>
          <p:nvPr/>
        </p:nvSpPr>
        <p:spPr>
          <a:xfrm>
            <a:off x="3323295" y="1883664"/>
            <a:ext cx="2570013" cy="475488"/>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يَرْسُبُ بَعْضُ الطُّلَّابِ ___ المَادَّةِ الصَّعْبَةِ.</a:t>
            </a:r>
            <a:endParaRPr lang="ar-SA" sz="1450" dirty="0"/>
          </a:p>
        </p:txBody>
      </p:sp>
      <p:sp>
        <p:nvSpPr>
          <p:cNvPr id="22" name="Shape 19"/>
          <p:cNvSpPr/>
          <p:nvPr/>
        </p:nvSpPr>
        <p:spPr>
          <a:xfrm>
            <a:off x="640080" y="2490216"/>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4" name="Text 21"/>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25" name="Shape 22"/>
          <p:cNvSpPr/>
          <p:nvPr/>
        </p:nvSpPr>
        <p:spPr>
          <a:xfrm>
            <a:off x="640080" y="2862072"/>
            <a:ext cx="256032" cy="256032"/>
          </a:xfrm>
          <a:prstGeom prst="ellipse">
            <a:avLst/>
          </a:prstGeom>
          <a:solidFill>
            <a:srgbClr val="C9CED6"/>
          </a:solidFill>
          <a:ln w="12700">
            <a:solidFill>
              <a:srgbClr val="C9CED6"/>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a:t>
            </a:r>
            <a:endParaRPr lang="ar-SA" sz="1700" dirty="0"/>
          </a:p>
        </p:txBody>
      </p:sp>
      <p:sp>
        <p:nvSpPr>
          <p:cNvPr id="28" name="Shape 25"/>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9" name="Shape 26"/>
          <p:cNvSpPr/>
          <p:nvPr/>
        </p:nvSpPr>
        <p:spPr>
          <a:xfrm>
            <a:off x="640080" y="3233928"/>
            <a:ext cx="256032" cy="256032"/>
          </a:xfrm>
          <a:prstGeom prst="ellipse">
            <a:avLst/>
          </a:prstGeom>
          <a:solidFill>
            <a:srgbClr val="2E8B57"/>
          </a:solidFill>
          <a:ln w="12700">
            <a:solidFill>
              <a:srgbClr val="2E8B57"/>
            </a:solidFill>
            <a:prstDash val="solid"/>
          </a:ln>
        </p:spPr>
      </p:sp>
      <p:sp>
        <p:nvSpPr>
          <p:cNvPr id="30" name="Text 27"/>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1" name="Text 28"/>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32" name="Text 29"/>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يَرْسُبُ</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33" name="Shape 30"/>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313932" y="1947672"/>
            <a:ext cx="310896" cy="310896"/>
          </a:xfrm>
          <a:prstGeom prst="ellipse">
            <a:avLst/>
          </a:prstGeom>
          <a:solidFill>
            <a:srgbClr val="1B3B6F"/>
          </a:solidFill>
          <a:ln w="12700">
            <a:solidFill>
              <a:srgbClr val="1B3B6F"/>
            </a:solidFill>
            <a:prstDash val="solid"/>
          </a:ln>
        </p:spPr>
      </p:sp>
      <p:sp>
        <p:nvSpPr>
          <p:cNvPr id="35" name="Text 32"/>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36" name="Text 33"/>
          <p:cNvSpPr txBox="1"/>
          <p:nvPr/>
        </p:nvSpPr>
        <p:spPr>
          <a:xfrm>
            <a:off x="6679692" y="1883664"/>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37" name="Text 34"/>
          <p:cNvSpPr txBox="1"/>
          <p:nvPr/>
        </p:nvSpPr>
        <p:spPr>
          <a:xfrm>
            <a:off x="9052011" y="1883664"/>
            <a:ext cx="2570013" cy="475488"/>
          </a:xfrm>
          <a:prstGeom prst="rect">
            <a:avLst/>
          </a:prstGeom>
          <a:noFill/>
          <a:ln/>
        </p:spPr>
        <p:txBody>
          <a:bodyPr wrap="square" lIns="0" tIns="0" rIns="0" bIns="0" rtlCol="0" anchor="ctr"/>
          <a:lstStyle/>
          <a:p>
            <a:pPr rtl="1" algn="r" indent="0" marL="0">
              <a:buNone/>
            </a:pPr>
            <a:r>
              <a:rPr lang="ar-SA" altLang="en-US" sz="1500" b="1" dirty="0">
                <a:solidFill>
                  <a:srgbClr val="1F2A37"/>
                </a:solidFill>
                <a:latin typeface="Amiri" pitchFamily="34" charset="0"/>
                <a:ea typeface="Amiri" pitchFamily="34" charset="-122"/>
                <a:cs typeface="Amiri" pitchFamily="34" charset="-120"/>
              </a:rPr>
              <a:t>يَحْصُلُ ___ شَهَادَةٍ مُعْتَمَدَةٍ.</a:t>
            </a:r>
            <a:endParaRPr lang="ar-SA" sz="1500" dirty="0"/>
          </a:p>
        </p:txBody>
      </p:sp>
      <p:sp>
        <p:nvSpPr>
          <p:cNvPr id="38" name="Shape 35"/>
          <p:cNvSpPr/>
          <p:nvPr/>
        </p:nvSpPr>
        <p:spPr>
          <a:xfrm>
            <a:off x="6368796" y="2490216"/>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0" name="Text 37"/>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1" name="Shape 38"/>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2" name="Shape 39"/>
          <p:cNvSpPr/>
          <p:nvPr/>
        </p:nvSpPr>
        <p:spPr>
          <a:xfrm>
            <a:off x="6368796" y="2862072"/>
            <a:ext cx="256032" cy="256032"/>
          </a:xfrm>
          <a:prstGeom prst="ellipse">
            <a:avLst/>
          </a:prstGeom>
          <a:solidFill>
            <a:srgbClr val="2E8B57"/>
          </a:solidFill>
          <a:ln w="12700">
            <a:solidFill>
              <a:srgbClr val="2E8B57"/>
            </a:solidFill>
            <a:prstDash val="solid"/>
          </a:ln>
        </p:spPr>
      </p:sp>
      <p:sp>
        <p:nvSpPr>
          <p:cNvPr id="43" name="Text 40"/>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45" name="Shape 42"/>
          <p:cNvSpPr/>
          <p:nvPr/>
        </p:nvSpPr>
        <p:spPr>
          <a:xfrm>
            <a:off x="6368796" y="3233928"/>
            <a:ext cx="256032" cy="256032"/>
          </a:xfrm>
          <a:prstGeom prst="ellipse">
            <a:avLst/>
          </a:prstGeom>
          <a:solidFill>
            <a:srgbClr val="C9CED6"/>
          </a:solidFill>
          <a:ln w="12700">
            <a:solidFill>
              <a:srgbClr val="C9CED6"/>
            </a:solidFill>
            <a:prstDash val="solid"/>
          </a:ln>
        </p:spPr>
      </p:sp>
      <p:sp>
        <p:nvSpPr>
          <p:cNvPr id="46" name="Text 43"/>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48" name="Text 4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يَحْصُلُ</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9" name="Shape 4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0" name="Shape 47"/>
          <p:cNvSpPr/>
          <p:nvPr/>
        </p:nvSpPr>
        <p:spPr>
          <a:xfrm>
            <a:off x="585216" y="4288536"/>
            <a:ext cx="310896" cy="310896"/>
          </a:xfrm>
          <a:prstGeom prst="ellipse">
            <a:avLst/>
          </a:prstGeom>
          <a:solidFill>
            <a:srgbClr val="1B3B6F"/>
          </a:solidFill>
          <a:ln w="12700">
            <a:solidFill>
              <a:srgbClr val="1B3B6F"/>
            </a:solidFill>
            <a:prstDash val="solid"/>
          </a:ln>
        </p:spPr>
      </p:sp>
      <p:sp>
        <p:nvSpPr>
          <p:cNvPr id="51" name="Text 4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52" name="Text 4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distinguishing sentence.</a:t>
            </a:r>
            <a:endParaRPr lang="en-US" sz="1250" dirty="0"/>
          </a:p>
        </p:txBody>
      </p:sp>
      <p:sp>
        <p:nvSpPr>
          <p:cNvPr id="53" name="Shape 50"/>
          <p:cNvSpPr/>
          <p:nvPr/>
        </p:nvSpPr>
        <p:spPr>
          <a:xfrm>
            <a:off x="640080" y="4831080"/>
            <a:ext cx="256032" cy="256032"/>
          </a:xfrm>
          <a:prstGeom prst="ellipse">
            <a:avLst/>
          </a:prstGeom>
          <a:solidFill>
            <a:srgbClr val="C9CED6"/>
          </a:solidFill>
          <a:ln w="12700">
            <a:solidFill>
              <a:srgbClr val="C9CED6"/>
            </a:solidFill>
            <a:prstDash val="solid"/>
          </a:ln>
        </p:spPr>
      </p:sp>
      <p:sp>
        <p:nvSpPr>
          <p:cNvPr id="54" name="Text 5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النِّظَامُ عَلَى المَوَادِّ.</a:t>
            </a:r>
            <a:endParaRPr lang="ar-SA" sz="1700" dirty="0"/>
          </a:p>
        </p:txBody>
      </p:sp>
      <p:sp>
        <p:nvSpPr>
          <p:cNvPr id="56" name="Shape 5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640080" y="5202936"/>
            <a:ext cx="256032" cy="256032"/>
          </a:xfrm>
          <a:prstGeom prst="ellipse">
            <a:avLst/>
          </a:prstGeom>
          <a:solidFill>
            <a:srgbClr val="2E8B57"/>
          </a:solidFill>
          <a:ln w="12700">
            <a:solidFill>
              <a:srgbClr val="2E8B57"/>
            </a:solidFill>
            <a:prstDash val="solid"/>
          </a:ln>
        </p:spPr>
      </p:sp>
      <p:sp>
        <p:nvSpPr>
          <p:cNvPr id="58" name="Text 5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9" name="Text 5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يَتَمَيَّزُ النِّظَامُ بِمُرُونَةِ المَوَادِّ.</a:t>
            </a:r>
            <a:endParaRPr lang="ar-SA" sz="1700" dirty="0"/>
          </a:p>
        </p:txBody>
      </p:sp>
      <p:sp>
        <p:nvSpPr>
          <p:cNvPr id="60" name="Shape 57"/>
          <p:cNvSpPr/>
          <p:nvPr/>
        </p:nvSpPr>
        <p:spPr>
          <a:xfrm>
            <a:off x="640080" y="5574792"/>
            <a:ext cx="256032" cy="256032"/>
          </a:xfrm>
          <a:prstGeom prst="ellipse">
            <a:avLst/>
          </a:prstGeom>
          <a:solidFill>
            <a:srgbClr val="C9CED6"/>
          </a:solidFill>
          <a:ln w="12700">
            <a:solidFill>
              <a:srgbClr val="C9CED6"/>
            </a:solidFill>
            <a:prstDash val="solid"/>
          </a:ln>
        </p:spPr>
      </p:sp>
      <p:sp>
        <p:nvSpPr>
          <p:cNvPr id="61" name="Text 5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2" name="Text 5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يَتَمَيَّزُ النِّظَامُ فِي المَوَادِّ.</a:t>
            </a:r>
            <a:endParaRPr lang="ar-SA" sz="1700" dirty="0"/>
          </a:p>
        </p:txBody>
      </p:sp>
      <p:sp>
        <p:nvSpPr>
          <p:cNvPr id="63" name="Text 6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يَتَمَيَّزُ</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4" name="Shape 6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5" name="Shape 62"/>
          <p:cNvSpPr/>
          <p:nvPr/>
        </p:nvSpPr>
        <p:spPr>
          <a:xfrm>
            <a:off x="6313932" y="4288536"/>
            <a:ext cx="310896" cy="310896"/>
          </a:xfrm>
          <a:prstGeom prst="ellipse">
            <a:avLst/>
          </a:prstGeom>
          <a:solidFill>
            <a:srgbClr val="1B3B6F"/>
          </a:solidFill>
          <a:ln w="12700">
            <a:solidFill>
              <a:srgbClr val="1B3B6F"/>
            </a:solidFill>
            <a:prstDash val="solid"/>
          </a:ln>
        </p:spPr>
      </p:sp>
      <p:sp>
        <p:nvSpPr>
          <p:cNvPr id="66" name="Text 6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67" name="Text 6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sentence compares rather than lists?</a:t>
            </a:r>
            <a:endParaRPr lang="en-US" sz="1250" dirty="0"/>
          </a:p>
        </p:txBody>
      </p:sp>
      <p:sp>
        <p:nvSpPr>
          <p:cNvPr id="68" name="Shape 65"/>
          <p:cNvSpPr/>
          <p:nvPr/>
        </p:nvSpPr>
        <p:spPr>
          <a:xfrm>
            <a:off x="6368796" y="4831080"/>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0" name="Text 67"/>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النِّظَامُ الأَوَّلُ جَيِّدٌ وَالثَّانِي جَيِّدٌ.</a:t>
            </a:r>
            <a:endParaRPr lang="ar-SA" sz="1450" dirty="0"/>
          </a:p>
        </p:txBody>
      </p:sp>
      <p:sp>
        <p:nvSpPr>
          <p:cNvPr id="71" name="Shape 68"/>
          <p:cNvSpPr/>
          <p:nvPr/>
        </p:nvSpPr>
        <p:spPr>
          <a:xfrm>
            <a:off x="6368796" y="5202936"/>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3" name="Text 70"/>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450" dirty="0">
                <a:solidFill>
                  <a:srgbClr val="9AA1AB"/>
                </a:solidFill>
                <a:latin typeface="Amiri" pitchFamily="34" charset="0"/>
                <a:ea typeface="Amiri" pitchFamily="34" charset="-122"/>
                <a:cs typeface="Amiri" pitchFamily="34" charset="-120"/>
              </a:rPr>
              <a:t>أُحِبُّ المَدْرَسَةَ كَثِيرًا.</a:t>
            </a:r>
            <a:endParaRPr lang="ar-SA" sz="1450" dirty="0"/>
          </a:p>
        </p:txBody>
      </p:sp>
      <p:sp>
        <p:nvSpPr>
          <p:cNvPr id="74" name="Shape 71"/>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5" name="Shape 72"/>
          <p:cNvSpPr/>
          <p:nvPr/>
        </p:nvSpPr>
        <p:spPr>
          <a:xfrm>
            <a:off x="6368796" y="5574792"/>
            <a:ext cx="256032" cy="256032"/>
          </a:xfrm>
          <a:prstGeom prst="ellipse">
            <a:avLst/>
          </a:prstGeom>
          <a:solidFill>
            <a:srgbClr val="2E8B57"/>
          </a:solidFill>
          <a:ln w="12700">
            <a:solidFill>
              <a:srgbClr val="2E8B57"/>
            </a:solidFill>
            <a:prstDash val="solid"/>
          </a:ln>
        </p:spPr>
      </p:sp>
      <p:sp>
        <p:nvSpPr>
          <p:cNvPr id="76" name="Text 73"/>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7" name="Text 74"/>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450" b="1" dirty="0">
                <a:solidFill>
                  <a:srgbClr val="1F2A37"/>
                </a:solidFill>
                <a:latin typeface="Amiri" pitchFamily="34" charset="0"/>
                <a:ea typeface="Amiri" pitchFamily="34" charset="-122"/>
                <a:cs typeface="Amiri" pitchFamily="34" charset="-120"/>
              </a:rPr>
              <a:t>بَيْنَمَا يَعْتَمِدُ النِّظَامُ الأَوَّلُ عَلَى الامْتِحَانِ، يَعْتَمِدُ الثَّانِي عَلَى المَشَارِيعِ.</a:t>
            </a:r>
            <a:endParaRPr lang="ar-SA" sz="1450" dirty="0"/>
          </a:p>
        </p:txBody>
      </p:sp>
      <p:sp>
        <p:nvSpPr>
          <p:cNvPr id="78" name="Text 75"/>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It sets the two systems against each other with </a:t>
            </a:r>
            <a:pPr algn="l" indent="0" marL="0">
              <a:buNone/>
            </a:pPr>
            <a:r>
              <a:rPr lang="ar-SA" altLang="en-US" sz="1350" dirty="0">
                <a:solidFill>
                  <a:srgbClr val="8A6D1E"/>
                </a:solidFill>
                <a:latin typeface="Amiri" pitchFamily="34" charset="0"/>
                <a:ea typeface="Amiri" pitchFamily="34" charset="-122"/>
                <a:cs typeface="Amiri" pitchFamily="34" charset="-120"/>
              </a:rPr>
              <a:t>بَيْنَمَا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9" name="Text 7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52</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يَجْتَازُ الطَّالِبُ فِي الامْتِحَانِ.</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yajtāz + fī?</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يَلْتَحِقُ الطَّالِبُ عَلَى الجَامِعَةِ.</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yaltaḥiq + which preposition?</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يَتَمَيَّزُ النِّظَامُ فِي المُرُونَةِ.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yatamayyaz + which preposition?</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52</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يَجْتَازُ الطَّالِبُ فِي الامْتِحَانِ.</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يَجْتَازُ الطَّالِبُ الامْتِحَانَ.</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يَجْتَازُ</a:t>
            </a:r>
            <a:pPr algn="l" indent="0" marL="0">
              <a:buNone/>
            </a:pPr>
            <a:r>
              <a:rPr lang="en-US" sz="1150" b="1" dirty="0">
                <a:solidFill>
                  <a:srgbClr val="1B3B6F"/>
                </a:solidFill>
                <a:latin typeface="Calibri" pitchFamily="34" charset="0"/>
                <a:ea typeface="Calibri" pitchFamily="34" charset="-122"/>
                <a:cs typeface="Calibri" pitchFamily="34" charset="-120"/>
              </a:rPr>
              <a:t> takes a direct object, not </a:t>
            </a:r>
            <a:pPr algn="l" indent="0" marL="0">
              <a:buNone/>
            </a:pPr>
            <a:r>
              <a:rPr lang="ar-SA" altLang="en-US" sz="1500" b="1" dirty="0">
                <a:solidFill>
                  <a:srgbClr val="1B3B6F"/>
                </a:solidFill>
                <a:latin typeface="Amiri" pitchFamily="34" charset="0"/>
                <a:ea typeface="Amiri" pitchFamily="34" charset="-122"/>
                <a:cs typeface="Amiri" pitchFamily="34" charset="-120"/>
              </a:rPr>
              <a:t>فِي</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يَلْتَحِقُ الطَّالِبُ عَلَى الجَامِعَةِ.</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يَلْتَحِقُ الطَّالِبُ بِالجَامِعَةِ.</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يَلْتَحِقُ</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يَتَمَيَّزُ النِّظَامُ فِي المُرُونَةِ.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يَتَمَيَّزُ النِّظَامُ بِالمُرُونَةِ.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34" charset="0"/>
                <a:ea typeface="Amiri" pitchFamily="34" charset="-122"/>
                <a:cs typeface="Amiri" pitchFamily="34" charset="-120"/>
              </a:rPr>
              <a:t>يَتَمَيَّزُ</a:t>
            </a:r>
            <a:pPr algn="l" indent="0" marL="0">
              <a:buNone/>
            </a:pPr>
            <a:r>
              <a:rPr lang="en-US" sz="1150" b="1" dirty="0">
                <a:solidFill>
                  <a:srgbClr val="1B3B6F"/>
                </a:solidFill>
                <a:latin typeface="Calibri" pitchFamily="34" charset="0"/>
                <a:ea typeface="Calibri" pitchFamily="34" charset="-122"/>
                <a:cs typeface="Calibri" pitchFamily="34" charset="-120"/>
              </a:rPr>
              <a:t> is fixed with </a:t>
            </a:r>
            <a:pPr algn="l" indent="0" marL="0">
              <a:buNone/>
            </a:pPr>
            <a:r>
              <a:rPr lang="ar-SA" altLang="en-US" sz="1500" b="1" dirty="0">
                <a:solidFill>
                  <a:srgbClr val="1B3B6F"/>
                </a:solidFill>
                <a:latin typeface="Amiri" pitchFamily="34" charset="0"/>
                <a:ea typeface="Amiri" pitchFamily="34" charset="-122"/>
                <a:cs typeface="Amiri" pitchFamily="34" charset="-120"/>
              </a:rPr>
              <a:t>بِـ</a:t>
            </a:r>
            <a:pPr algn="l" indent="0" marL="0">
              <a:buNone/>
            </a:pPr>
            <a:r>
              <a:rPr lang="en-US" sz="1150" b="1" dirty="0">
                <a:solidFill>
                  <a:srgbClr val="1B3B6F"/>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52</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two systems compared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stages does the British system have?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Three</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Two</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Four</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students do at the end of secondary school?</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Leave school</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Start primary</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Sit certificate exams</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high achievers obtain?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teaching job</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scholarship abroad</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highest grades</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Arab-world system introduced?</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differs; secondary length varies by country</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identical to the British</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has no exams</a:t>
            </a:r>
            <a:endParaRPr lang="en-US" sz="12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would improve results, per the closing conditional?</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Longer exams</a:t>
            </a:r>
            <a:endParaRPr lang="en-US" sz="12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Time for creativity</a:t>
            </a:r>
            <a:endParaRPr lang="en-US" sz="12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Fewer teachers</a:t>
            </a:r>
            <a:endParaRPr lang="en-US" sz="1250" dirty="0"/>
          </a:p>
        </p:txBody>
      </p:sp>
      <p:sp>
        <p:nvSpPr>
          <p:cNvPr id="80" name="Shape 7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1" name="Shape 7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2" name="Text 7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3" name="Text 8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verbs and their complements.</a:t>
            </a:r>
            <a:endParaRPr lang="en-US" sz="125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52</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841248"/>
          </a:xfrm>
          <a:prstGeom prst="roundRect">
            <a:avLst>
              <a:gd name="adj" fmla="val 5435"/>
            </a:avLst>
          </a:prstGeom>
          <a:solidFill>
            <a:srgbClr val="FFFFFF"/>
          </a:solidFill>
          <a:ln w="9525">
            <a:solidFill>
              <a:srgbClr val="D8D0BF"/>
            </a:solidFill>
            <a:prstDash val="solid"/>
          </a:ln>
        </p:spPr>
      </p:sp>
      <p:sp>
        <p:nvSpPr>
          <p:cNvPr id="16" name="Text 13"/>
          <p:cNvSpPr txBox="1"/>
          <p:nvPr/>
        </p:nvSpPr>
        <p:spPr>
          <a:xfrm>
            <a:off x="4937760" y="1828800"/>
            <a:ext cx="6675120" cy="804672"/>
          </a:xfrm>
          <a:prstGeom prst="rect">
            <a:avLst/>
          </a:prstGeom>
          <a:noFill/>
          <a:ln/>
        </p:spPr>
        <p:txBody>
          <a:bodyPr wrap="square" lIns="0" tIns="0" rIns="0" bIns="0" rtlCol="0" anchor="ctr"/>
          <a:lstStyle/>
          <a:p>
            <a:pPr rtl="1" algn="r" indent="0" marL="0">
              <a:lnSpc>
                <a:spcPct val="120000"/>
              </a:lnSpc>
              <a:buNone/>
            </a:pPr>
            <a:r>
              <a:rPr lang="ar-SA" altLang="en-US" sz="1650" b="1" dirty="0">
                <a:solidFill>
                  <a:srgbClr val="1B3B6F"/>
                </a:solidFill>
                <a:latin typeface="Amiri" pitchFamily="34" charset="0"/>
                <a:ea typeface="Amiri" pitchFamily="34" charset="-122"/>
                <a:cs typeface="Amiri" pitchFamily="34" charset="-120"/>
              </a:rPr>
              <a:t>يَتَكَوَّنُ النِّظَامُ التَّعْلِيمِيُّ البِرِيطَانِيُّ مِنْ ثَلَاثِ مَرَاحِلَ: الابْتِدَائِيَّةِ وَالإِعْدَادِيَّةِ وَالثَّانَوِيَّةِ.</a:t>
            </a:r>
            <a:endParaRPr lang="ar-SA" sz="1650" dirty="0"/>
          </a:p>
        </p:txBody>
      </p:sp>
      <p:sp>
        <p:nvSpPr>
          <p:cNvPr id="17" name="Text 14"/>
          <p:cNvSpPr txBox="1"/>
          <p:nvPr/>
        </p:nvSpPr>
        <p:spPr>
          <a:xfrm>
            <a:off x="640080" y="18288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British education system consists of three stages: primary, middle and secondary.</a:t>
            </a:r>
            <a:endParaRPr lang="en-US" sz="1250" dirty="0"/>
          </a:p>
        </p:txBody>
      </p:sp>
      <p:sp>
        <p:nvSpPr>
          <p:cNvPr id="18" name="Shape 15"/>
          <p:cNvSpPr/>
          <p:nvPr/>
        </p:nvSpPr>
        <p:spPr>
          <a:xfrm>
            <a:off x="457200" y="2724912"/>
            <a:ext cx="11274552" cy="841248"/>
          </a:xfrm>
          <a:prstGeom prst="roundRect">
            <a:avLst>
              <a:gd name="adj" fmla="val 5435"/>
            </a:avLst>
          </a:prstGeom>
          <a:solidFill>
            <a:srgbClr val="F4F1EA"/>
          </a:solidFill>
          <a:ln w="9525">
            <a:solidFill>
              <a:srgbClr val="D8D0BF"/>
            </a:solidFill>
            <a:prstDash val="solid"/>
          </a:ln>
        </p:spPr>
      </p:sp>
      <p:sp>
        <p:nvSpPr>
          <p:cNvPr id="19" name="Text 16"/>
          <p:cNvSpPr txBox="1"/>
          <p:nvPr/>
        </p:nvSpPr>
        <p:spPr>
          <a:xfrm>
            <a:off x="4937760" y="27432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يَجْتَازُ الطُّلَّابُ امْتِحَانَاتِ الشَّهَادَةِ فِي نِهَايَةِ الثَّانَوِيَّةِ، وَيَتَفَوَّقُ بَعْضُهُمْ فَيَحْصُلُونَ عَلَى أَعْلَى الدَّرَجَاتِ.</a:t>
            </a:r>
            <a:endParaRPr lang="ar-SA" sz="1550" dirty="0"/>
          </a:p>
        </p:txBody>
      </p:sp>
      <p:sp>
        <p:nvSpPr>
          <p:cNvPr id="20" name="Text 17"/>
          <p:cNvSpPr txBox="1"/>
          <p:nvPr/>
        </p:nvSpPr>
        <p:spPr>
          <a:xfrm>
            <a:off x="640080" y="27432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Students sit the certificate exams at the end of secondary school, and some excel and obtain the highest grades.</a:t>
            </a:r>
            <a:endParaRPr lang="en-US" sz="1250" dirty="0"/>
          </a:p>
        </p:txBody>
      </p:sp>
      <p:sp>
        <p:nvSpPr>
          <p:cNvPr id="21" name="Shape 18"/>
          <p:cNvSpPr/>
          <p:nvPr/>
        </p:nvSpPr>
        <p:spPr>
          <a:xfrm>
            <a:off x="457200" y="3639312"/>
            <a:ext cx="11274552" cy="841248"/>
          </a:xfrm>
          <a:prstGeom prst="roundRect">
            <a:avLst>
              <a:gd name="adj" fmla="val 5435"/>
            </a:avLst>
          </a:prstGeom>
          <a:solidFill>
            <a:srgbClr val="FFFFFF"/>
          </a:solidFill>
          <a:ln w="9525">
            <a:solidFill>
              <a:srgbClr val="D8D0BF"/>
            </a:solidFill>
            <a:prstDash val="solid"/>
          </a:ln>
        </p:spPr>
      </p:sp>
      <p:sp>
        <p:nvSpPr>
          <p:cNvPr id="22" name="Text 19"/>
          <p:cNvSpPr txBox="1"/>
          <p:nvPr/>
        </p:nvSpPr>
        <p:spPr>
          <a:xfrm>
            <a:off x="4937760" y="3657600"/>
            <a:ext cx="6675120" cy="8046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بَعْدَ ذٰلِكَ يَلْتَحِقُونَ بِالجَامِعَةِ أَوْ يَخْتَارُونَ التَّدْرِيبَ المِهَنِيَّ.</a:t>
            </a:r>
            <a:endParaRPr lang="ar-SA" sz="2000" dirty="0"/>
          </a:p>
        </p:txBody>
      </p:sp>
      <p:sp>
        <p:nvSpPr>
          <p:cNvPr id="23" name="Text 20"/>
          <p:cNvSpPr txBox="1"/>
          <p:nvPr/>
        </p:nvSpPr>
        <p:spPr>
          <a:xfrm>
            <a:off x="640080" y="36576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After that they enrol at university or choose vocational training.</a:t>
            </a:r>
            <a:endParaRPr lang="en-US" sz="1250" dirty="0"/>
          </a:p>
        </p:txBody>
      </p:sp>
      <p:sp>
        <p:nvSpPr>
          <p:cNvPr id="24" name="Shape 21"/>
          <p:cNvSpPr/>
          <p:nvPr/>
        </p:nvSpPr>
        <p:spPr>
          <a:xfrm>
            <a:off x="457200" y="4553712"/>
            <a:ext cx="11274552" cy="841248"/>
          </a:xfrm>
          <a:prstGeom prst="roundRect">
            <a:avLst>
              <a:gd name="adj" fmla="val 5435"/>
            </a:avLst>
          </a:prstGeom>
          <a:solidFill>
            <a:srgbClr val="F4F1EA"/>
          </a:solidFill>
          <a:ln w="9525">
            <a:solidFill>
              <a:srgbClr val="D8D0BF"/>
            </a:solidFill>
            <a:prstDash val="solid"/>
          </a:ln>
        </p:spPr>
      </p:sp>
      <p:sp>
        <p:nvSpPr>
          <p:cNvPr id="25" name="Text 22"/>
          <p:cNvSpPr txBox="1"/>
          <p:nvPr/>
        </p:nvSpPr>
        <p:spPr>
          <a:xfrm>
            <a:off x="4937760" y="45720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فِي المُقَابِلِ، يَخْتَلِفُ النِّظَامُ فِي بَعْضِ الدُّوَلِ العَرَبِيَّةِ؛ فَبَيْنَمَا يَدُومُ التَّعْلِيمُ الثَّانَوِيُّ ثَلَاثَ سَنَوَاتٍ فِي بَلَدٍ، يَمْتَدُّ فِي غَيْرِهِ أَكْثَرَ.</a:t>
            </a:r>
            <a:endParaRPr lang="ar-SA" sz="1550" dirty="0"/>
          </a:p>
        </p:txBody>
      </p:sp>
      <p:sp>
        <p:nvSpPr>
          <p:cNvPr id="26" name="Text 23"/>
          <p:cNvSpPr txBox="1"/>
          <p:nvPr/>
        </p:nvSpPr>
        <p:spPr>
          <a:xfrm>
            <a:off x="640080" y="45720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contrast, the system differs in some Arab countries: while secondary education lasts three years in one country, it lasts longer in another.</a:t>
            </a:r>
            <a:endParaRPr lang="en-US" sz="1250" dirty="0"/>
          </a:p>
        </p:txBody>
      </p:sp>
      <p:sp>
        <p:nvSpPr>
          <p:cNvPr id="27" name="Shape 24"/>
          <p:cNvSpPr/>
          <p:nvPr/>
        </p:nvSpPr>
        <p:spPr>
          <a:xfrm>
            <a:off x="457200" y="5468112"/>
            <a:ext cx="11274552" cy="841248"/>
          </a:xfrm>
          <a:prstGeom prst="roundRect">
            <a:avLst>
              <a:gd name="adj" fmla="val 5435"/>
            </a:avLst>
          </a:prstGeom>
          <a:solidFill>
            <a:srgbClr val="FFFFFF"/>
          </a:solidFill>
          <a:ln w="9525">
            <a:solidFill>
              <a:srgbClr val="D8D0BF"/>
            </a:solidFill>
            <a:prstDash val="solid"/>
          </a:ln>
        </p:spPr>
      </p:sp>
      <p:sp>
        <p:nvSpPr>
          <p:cNvPr id="28" name="Text 25"/>
          <p:cNvSpPr txBox="1"/>
          <p:nvPr/>
        </p:nvSpPr>
        <p:spPr>
          <a:xfrm>
            <a:off x="4937760" y="5486400"/>
            <a:ext cx="6675120" cy="804672"/>
          </a:xfrm>
          <a:prstGeom prst="rect">
            <a:avLst/>
          </a:prstGeom>
          <a:noFill/>
          <a:ln/>
        </p:spPr>
        <p:txBody>
          <a:bodyPr wrap="square" lIns="0" tIns="0" rIns="0" bIns="0" rtlCol="0" anchor="ctr"/>
          <a:lstStyle/>
          <a:p>
            <a:pPr rtl="1" algn="r" indent="0" marL="0">
              <a:lnSpc>
                <a:spcPct val="120000"/>
              </a:lnSpc>
              <a:buNone/>
            </a:pPr>
            <a:r>
              <a:rPr lang="ar-SA" altLang="en-US" sz="1550" b="1" dirty="0">
                <a:solidFill>
                  <a:srgbClr val="1B3B6F"/>
                </a:solidFill>
                <a:latin typeface="Amiri" pitchFamily="34" charset="0"/>
                <a:ea typeface="Amiri" pitchFamily="34" charset="-122"/>
                <a:cs typeface="Amiri" pitchFamily="34" charset="-120"/>
              </a:rPr>
              <a:t>وَيَتَمَيَّزُ كُلُّ نِظَامٍ بِمَوَادَّ إِلْزَامِيَّةٍ وَأُخْرَى اخْتِيَارِيَّةٍ. وَإِذَا أُتِيحَ لِلطُّلَّابِ وَقْتٌ لِلْإِبْدَاعِ، سَتَتَحَسَّنُ نَتَائِجُهُمْ.</a:t>
            </a:r>
            <a:endParaRPr lang="ar-SA" sz="1550" dirty="0"/>
          </a:p>
        </p:txBody>
      </p:sp>
      <p:sp>
        <p:nvSpPr>
          <p:cNvPr id="29" name="Text 26"/>
          <p:cNvSpPr txBox="1"/>
          <p:nvPr/>
        </p:nvSpPr>
        <p:spPr>
          <a:xfrm>
            <a:off x="640080" y="5486400"/>
            <a:ext cx="4160520" cy="8046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Each system has compulsory and elective subjects. If students are given time for creativity, their results will improve.</a:t>
            </a:r>
            <a:endParaRPr lang="en-US" sz="125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35 / 52</a:t>
            </a:r>
            <a:endParaRPr lang="en-US" sz="8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many stages does the British system have?</a:t>
            </a:r>
            <a:endParaRPr lang="en-US" sz="1250" dirty="0"/>
          </a:p>
        </p:txBody>
      </p:sp>
      <p:sp>
        <p:nvSpPr>
          <p:cNvPr id="19" name="Shape 16"/>
          <p:cNvSpPr/>
          <p:nvPr/>
        </p:nvSpPr>
        <p:spPr>
          <a:xfrm>
            <a:off x="548640" y="2453640"/>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490216"/>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Three</a:t>
            </a:r>
            <a:endParaRPr lang="en-US" sz="1250" dirty="0"/>
          </a:p>
        </p:txBody>
      </p:sp>
      <p:sp>
        <p:nvSpPr>
          <p:cNvPr id="23" name="Shape 20"/>
          <p:cNvSpPr/>
          <p:nvPr/>
        </p:nvSpPr>
        <p:spPr>
          <a:xfrm>
            <a:off x="640080" y="2862072"/>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Two</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Four</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يَتَكَوَّنُ … مِنْ ثَلَاثِ مَرَاحِلَ.</a:t>
            </a:r>
            <a:endParaRPr lang="ar-SA" sz="13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students do at the end of secondary school?</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Leave school</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Start primary</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Sit certificate exams</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يَجْتَازُ الطُّلَّابُ امْتِحَانَاتِ الشَّهَادَةِ فِي نِهَايَةِ الثَّانَوِيَّةِ.</a:t>
            </a:r>
            <a:endParaRPr lang="ar-SA" sz="13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 high achievers obtain?</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teaching job</a:t>
            </a:r>
            <a:endParaRPr lang="en-US" sz="125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A scholarship abroad</a:t>
            </a:r>
            <a:endParaRPr lang="en-US" sz="125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The highest grades</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يَتَفَوَّقُ بَعْضُهُمْ فَيَحْصُلُونَ عَلَى أَعْلَى الدَّرَجَاتِ.</a:t>
            </a:r>
            <a:endParaRPr lang="ar-SA" sz="13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the Arab-world system introduced?</a:t>
            </a:r>
            <a:endParaRPr lang="en-US" sz="1250" dirty="0"/>
          </a:p>
        </p:txBody>
      </p:sp>
      <p:sp>
        <p:nvSpPr>
          <p:cNvPr id="64" name="Shape 61"/>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40080"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differs; secondary length varies by country</a:t>
            </a:r>
            <a:endParaRPr lang="en-US" sz="115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identical to the British</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has no exams</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200" dirty="0">
                <a:solidFill>
                  <a:srgbClr val="8A6D1E"/>
                </a:solidFill>
                <a:latin typeface="Amiri" pitchFamily="34" charset="0"/>
                <a:ea typeface="Amiri" pitchFamily="34" charset="-122"/>
                <a:cs typeface="Amiri" pitchFamily="34" charset="-120"/>
              </a:rPr>
              <a:t>يَخْتَلِفُ النِّظَامُ … بَيْنَمَا يَدُومُ … فِي بَلَدٍ، يَمْتَدُّ فِي غَيْرِهِ أَكْثَرَ.</a:t>
            </a:r>
            <a:endParaRPr lang="ar-SA" sz="120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would improve results, per the closing conditional?</a:t>
            </a:r>
            <a:endParaRPr lang="en-US" sz="1250" dirty="0"/>
          </a:p>
        </p:txBody>
      </p:sp>
      <p:sp>
        <p:nvSpPr>
          <p:cNvPr id="79" name="Shape 76"/>
          <p:cNvSpPr/>
          <p:nvPr/>
        </p:nvSpPr>
        <p:spPr>
          <a:xfrm>
            <a:off x="4459224" y="4831080"/>
            <a:ext cx="256032" cy="256032"/>
          </a:xfrm>
          <a:prstGeom prst="ellipse">
            <a:avLst/>
          </a:prstGeom>
          <a:solidFill>
            <a:srgbClr val="C9CED6"/>
          </a:solidFill>
          <a:ln w="12700">
            <a:solidFill>
              <a:srgbClr val="C9CED6"/>
            </a:solidFill>
            <a:prstDash val="solid"/>
          </a:ln>
        </p:spPr>
      </p:sp>
      <p:sp>
        <p:nvSpPr>
          <p:cNvPr id="80" name="Text 77"/>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1" name="Text 78"/>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Longer exams</a:t>
            </a:r>
            <a:endParaRPr lang="en-US" sz="1250" dirty="0"/>
          </a:p>
        </p:txBody>
      </p:sp>
      <p:sp>
        <p:nvSpPr>
          <p:cNvPr id="82" name="Shape 79"/>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83" name="Shape 80"/>
          <p:cNvSpPr/>
          <p:nvPr/>
        </p:nvSpPr>
        <p:spPr>
          <a:xfrm>
            <a:off x="4459224" y="5202936"/>
            <a:ext cx="256032" cy="256032"/>
          </a:xfrm>
          <a:prstGeom prst="ellipse">
            <a:avLst/>
          </a:prstGeom>
          <a:solidFill>
            <a:srgbClr val="2E8B57"/>
          </a:solidFill>
          <a:ln w="12700">
            <a:solidFill>
              <a:srgbClr val="2E8B57"/>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Time for creativity</a:t>
            </a:r>
            <a:endParaRPr lang="en-US" sz="125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Fewer teachers</a:t>
            </a:r>
            <a:endParaRPr lang="en-US" sz="125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إِذَا أُتِيحَ لِلطُّلَّابِ وَقْتٌ لِلْإِبْدَاعِ، سَتَتَحَسَّنُ نَتَائِجُهُمْ.</a:t>
            </a:r>
            <a:endParaRPr lang="ar-SA" sz="1350" dirty="0"/>
          </a:p>
        </p:txBody>
      </p:sp>
      <p:sp>
        <p:nvSpPr>
          <p:cNvPr id="90" name="Shape 87"/>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1" name="Shape 88"/>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92" name="Text 89"/>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93" name="Text 90"/>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 Core: questions 1, 2 and 3.</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Listen for: the verbs and their complements.</a:t>
            </a:r>
            <a:endParaRPr lang="en-US" sz="125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36 / 52</a:t>
            </a:r>
            <a:endParaRPr lang="en-US" sz="8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TOPIC D APPLICATION CHALLENGE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Education-system comparison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تَحَدِّي التَّطْبِيقِ</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TOPIC D CHALLENGE · WEBSITE</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ea typeface="Calibri" pitchFamily="34" charset="-122"/>
                <a:cs typeface="Calibri" pitchFamily="34" charset="-120"/>
              </a:rPr>
              <a:t>🏫  Education-system comparison</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Sort institutions and stages into a learner journey, then compare two education systems or school types using facilities, rules and opportunities.</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Sort 8 cards into a learner journey: nursery → primary → secondary → university / training.</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Choose two school types or education systems (e.g. a UK school and a school in an Arab country).</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Compare them on facilities, rules and opportunities — three sentences.</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Share one comparison with the class; partners add one question.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Order the stages and say one comparison: “… akbar min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Three comparisons with nisba adjectives (madrasa ḥukūmiyya / khāṣṣa).</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A balanced comparison with “bayna-mā” (whereas) and one opinion with a reason.</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المَرْحَلَةُ الابْتِدَائِيَّةُ / الثَّانَوِيَّةُ</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the primary / secondary stage</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مَدْرَسَةٌ حُكُومِيَّةٌ / خَاصَّةٌ</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a state / private school</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 أَكْبَرُ مِنْ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 is bigger than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34" charset="0"/>
                <a:ea typeface="Amiri" pitchFamily="34" charset="-122"/>
                <a:cs typeface="Amiri" pitchFamily="34" charset="-120"/>
              </a:rPr>
              <a:t>بَيْنَمَا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ea typeface="Calibri" pitchFamily="34" charset="-122"/>
                <a:cs typeface="Calibri" pitchFamily="34" charset="-120"/>
              </a:rPr>
              <a:t>whereas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37 / 52</a:t>
            </a:r>
            <a:endParaRPr lang="en-US" sz="8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compare two systems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8" name="Text 15"/>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9" name="Text 16"/>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20" name="Shape 17"/>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21" name="Text 18"/>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2" name="Text 19"/>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3" name="Shape 20"/>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4" name="Text 21"/>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5" name="Text 22"/>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6" name="Shape 23"/>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7" name="Text 24"/>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8" name="Text 25"/>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9" name="Shape 26"/>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30" name="Text 27"/>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31" name="Text 28"/>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2" name="Shape 29"/>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5" name="Text 32"/>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صِفْ مَرَاحِلَ نِظَامِكَ التَّعْلِيمِيِّ.</a:t>
            </a:r>
            <a:endParaRPr lang="ar-SA" sz="1800" dirty="0"/>
          </a:p>
        </p:txBody>
      </p:sp>
      <p:sp>
        <p:nvSpPr>
          <p:cNvPr id="36" name="Shape 33"/>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9" name="Text 36"/>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قَارِنْ بَيْنَ نِظَامَيْنِ مُسْتَعْمِلًا بَيْنَمَا أَوْ فِي حِينِ أَنَّ.</a:t>
            </a:r>
            <a:endParaRPr lang="ar-SA" sz="1800" dirty="0"/>
          </a:p>
        </p:txBody>
      </p:sp>
      <p:sp>
        <p:nvSpPr>
          <p:cNvPr id="40" name="Shape 37"/>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2" name="Text 39"/>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3" name="Text 40"/>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بِمَاذَا يَتَمَيَّزُ نِظَامُكَ المِثَالِيُّ؟</a:t>
            </a:r>
            <a:endParaRPr lang="ar-SA" sz="1800" dirty="0"/>
          </a:p>
        </p:txBody>
      </p:sp>
      <p:sp>
        <p:nvSpPr>
          <p:cNvPr id="44" name="Shape 41"/>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5" name="Text 42"/>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6" name="Shape 43"/>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8" name="Text 45"/>
          <p:cNvSpPr txBox="1"/>
          <p:nvPr/>
        </p:nvSpPr>
        <p:spPr>
          <a:xfrm>
            <a:off x="1783080" y="2852928"/>
            <a:ext cx="2697480" cy="557784"/>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D5FBF"/>
                </a:solidFill>
                <a:latin typeface="Amiri" pitchFamily="34" charset="0"/>
                <a:ea typeface="Amiri" pitchFamily="34" charset="-122"/>
                <a:cs typeface="Amiri" pitchFamily="34" charset="-120"/>
              </a:rPr>
              <a:t>يَتَكَوَّنُ نِظَامُنَا مِنْ ___ مَرَاحِلَ، وَيَجْتَازُ الطُّلَّابُ ___ .</a:t>
            </a:r>
            <a:endParaRPr lang="ar-SA" sz="1150" dirty="0"/>
          </a:p>
        </p:txBody>
      </p:sp>
      <p:sp>
        <p:nvSpPr>
          <p:cNvPr id="49" name="Shape 46"/>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0" name="Text 47"/>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1" name="Text 48"/>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بَيْنَمَا ___ فِي بَلَدِي، ___ فِي ___ .</a:t>
            </a:r>
            <a:endParaRPr lang="ar-SA" sz="1600" dirty="0"/>
          </a:p>
        </p:txBody>
      </p:sp>
      <p:sp>
        <p:nvSpPr>
          <p:cNvPr id="52" name="Shape 49"/>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3" name="Text 50"/>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4" name="Text 51"/>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يَتَمَيَّزُ نِظَامِي المِثَالِيُّ بِمُرُونَةِ ___ ، وَإِذَا ___ ، سَتَتَحَسَّنُ ___ .</a:t>
            </a:r>
            <a:endParaRPr lang="ar-SA" sz="1050" dirty="0"/>
          </a:p>
        </p:txBody>
      </p:sp>
      <p:sp>
        <p:nvSpPr>
          <p:cNvPr id="55" name="Shape 52"/>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7" name="Shape 54"/>
          <p:cNvSpPr/>
          <p:nvPr/>
        </p:nvSpPr>
        <p:spPr>
          <a:xfrm>
            <a:off x="11274552" y="5559552"/>
            <a:ext cx="292608" cy="292608"/>
          </a:xfrm>
          <a:prstGeom prst="ellipse">
            <a:avLst/>
          </a:prstGeom>
          <a:solidFill>
            <a:srgbClr val="1E6B52"/>
          </a:solidFill>
          <a:ln w="12700">
            <a:solidFill>
              <a:srgbClr val="1E6B52"/>
            </a:solidFill>
            <a:prstDash val="solid"/>
          </a:ln>
        </p:spPr>
      </p:sp>
      <p:sp>
        <p:nvSpPr>
          <p:cNvPr id="58" name="Text 55"/>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9" name="Text 56"/>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صِفْ مَرَاحِلَ نِظَامِكَ.</a:t>
            </a:r>
            <a:endParaRPr lang="ar-SA" sz="1550" dirty="0"/>
          </a:p>
        </p:txBody>
      </p:sp>
      <p:sp>
        <p:nvSpPr>
          <p:cNvPr id="60" name="Text 57"/>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Describe the stages of your system.</a:t>
            </a:r>
            <a:endParaRPr lang="en-US" sz="950" dirty="0"/>
          </a:p>
        </p:txBody>
      </p:sp>
      <p:sp>
        <p:nvSpPr>
          <p:cNvPr id="61" name="Shape 58"/>
          <p:cNvSpPr/>
          <p:nvPr/>
        </p:nvSpPr>
        <p:spPr>
          <a:xfrm>
            <a:off x="11274552" y="5925312"/>
            <a:ext cx="292608" cy="292608"/>
          </a:xfrm>
          <a:prstGeom prst="ellipse">
            <a:avLst/>
          </a:prstGeom>
          <a:solidFill>
            <a:srgbClr val="1E6B52"/>
          </a:solidFill>
          <a:ln w="12700">
            <a:solidFill>
              <a:srgbClr val="1E6B52"/>
            </a:solidFill>
            <a:prstDash val="solid"/>
          </a:ln>
        </p:spPr>
      </p:sp>
      <p:sp>
        <p:nvSpPr>
          <p:cNvPr id="62" name="Text 59"/>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3" name="Text 60"/>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يَتَكَوَّنُ نِظَامُنَا مِنْ ثَلَاثِ مَرَاحِلَ، وَيَجْتَازُ الطُّلَّابُ امْتِحَانَاتِ الشَّهَادَةِ فِي نِهَايَةِ الثَّانَوِيَّةِ.</a:t>
            </a:r>
            <a:endParaRPr lang="ar-SA" sz="1550" dirty="0"/>
          </a:p>
        </p:txBody>
      </p:sp>
      <p:sp>
        <p:nvSpPr>
          <p:cNvPr id="64" name="Text 61"/>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Our system has three stages, and students sit the certificate exams at the end of secondary school.</a:t>
            </a:r>
            <a:endParaRPr lang="en-US" sz="750" dirty="0"/>
          </a:p>
        </p:txBody>
      </p:sp>
      <p:sp>
        <p:nvSpPr>
          <p:cNvPr id="65" name="Text 6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38 / 52</a:t>
            </a:r>
            <a:endParaRPr lang="en-US" sz="8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five sentences using the academic verbs with correct complements.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Core: five sentences using the academic verbs with correct complements.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60–80 words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formal contrast connectors comparing two systems.</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Develop: add two formal contrast connectors comparing two systems.</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90–100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Close with a distinguishing feature and a conditional about improvement.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Website task: close with a distinguishing feature and a conditional about improvement.</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39 / 52</a:t>
            </a:r>
            <a:endParaRPr lang="en-US" sz="8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650" b="1" dirty="0">
                <a:solidFill>
                  <a:srgbClr val="1B3B6F"/>
                </a:solidFill>
                <a:latin typeface="Amiri" pitchFamily="34" charset="0"/>
                <a:ea typeface="Amiri" pitchFamily="34" charset="-122"/>
                <a:cs typeface="Amiri" pitchFamily="34" charset="-120"/>
              </a:rPr>
              <a:t>بَيْنَمَا ______ فِي بَلَدِي، ______ فِي ______ .</a:t>
            </a:r>
            <a:endParaRPr lang="ar-SA" sz="16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While … in my country, … in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250" b="1" dirty="0">
                <a:solidFill>
                  <a:srgbClr val="1B3B6F"/>
                </a:solidFill>
                <a:latin typeface="Amiri" pitchFamily="34" charset="0"/>
                <a:ea typeface="Amiri" pitchFamily="34" charset="-122"/>
                <a:cs typeface="Amiri" pitchFamily="34" charset="-120"/>
              </a:rPr>
              <a:t>يَعْتَمِدُ نِظَامٌ عَلَى ______ ، فِي حِينِ أَنَّ نِظَامًا آخَرَ ______ .</a:t>
            </a:r>
            <a:endParaRPr lang="ar-SA" sz="125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One system relies on …, whereas another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يَتَمَيَّزُ كُلُّ نِظَامٍ بِتَوَازُنٍ بَيْنَ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Each system is distinguished by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إِذَا رَكَّزَتِ المَنْظُومَةُ عَلَى التَّفْكِيرِ، ______ .</a:t>
            </a:r>
            <a:endParaRPr lang="ar-SA" sz="17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If the system focused on thinking,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يَتَكَوَّنُ النِّظَامُ مِنْ ______ مَرَاحِلَ.</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system consists of … stages.</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يَجْتَازُ الطُّلَّابُ ______ فِي نِهَايَةِ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Students pass … at the end of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يَتَفَوَّقُ بَعْضُهُمْ فِي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Some excel in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ثُمَّ يَلْتَحِقُونَ بِالجَامِعَةِ أَوْ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Then they enrol at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200" b="1" dirty="0">
                <a:solidFill>
                  <a:srgbClr val="1B3B6F"/>
                </a:solidFill>
                <a:latin typeface="Amiri" pitchFamily="34" charset="0"/>
                <a:ea typeface="Amiri" pitchFamily="34" charset="-122"/>
                <a:cs typeface="Amiri" pitchFamily="34" charset="-120"/>
              </a:rPr>
              <a:t>ثَلَاثُ مَرَاحِلَ  ·  امْتِحَانَاتُ الشَّهَادَةِ  ·  العُلُومُ  ·  الرِّيَاضِيَّاتُ  ·  الجَامِعَةُ  ·  التَّدْرِيبُ المِهَنِيُّ  ·  المَوَادُّ الإِلْزَامِيَّةُ  ·  المَوَادُّ الاخْتِيَارِيَّةُ  ·  التَّقْيِيمُ المُسْتَمِرُّ  ·  الامْتِحَانُ النِّهَائِيُّ  ·  المُرُونَةُ  ·  الإِبْدَاعُ</a:t>
            </a:r>
            <a:endParaRPr lang="ar-SA" sz="12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40 / 52</a:t>
            </a:r>
            <a:endParaRPr lang="en-US" sz="85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Write ninety to one hundred words comparing two education systems. Use </a:t>
            </a:r>
            <a:pPr algn="l" indent="0" marL="0">
              <a:buNone/>
            </a:pPr>
            <a:r>
              <a:rPr lang="ar-SA" altLang="en-US" sz="1750" b="1" dirty="0">
                <a:solidFill>
                  <a:srgbClr val="1F2A37"/>
                </a:solidFill>
                <a:latin typeface="Amiri" pitchFamily="34" charset="0"/>
                <a:ea typeface="Amiri" pitchFamily="34" charset="-122"/>
                <a:cs typeface="Amiri" pitchFamily="34" charset="-120"/>
              </a:rPr>
              <a:t>يَجْتَازُ</a:t>
            </a:r>
            <a:pPr algn="l" indent="0" marL="0">
              <a:buNone/>
            </a:pPr>
            <a:r>
              <a:rPr lang="en-US" sz="1350" b="1" dirty="0">
                <a:solidFill>
                  <a:srgbClr val="1F2A37"/>
                </a:solidFill>
                <a:latin typeface="Calibri" pitchFamily="34" charset="0"/>
                <a:ea typeface="Calibri" pitchFamily="34" charset="-122"/>
                <a:cs typeface="Calibri" pitchFamily="34" charset="-120"/>
              </a:rPr>
              <a:t> and </a:t>
            </a:r>
            <a:pPr algn="l" indent="0" marL="0">
              <a:buNone/>
            </a:pPr>
            <a:r>
              <a:rPr lang="ar-SA" altLang="en-US" sz="1750" b="1" dirty="0">
                <a:solidFill>
                  <a:srgbClr val="1F2A37"/>
                </a:solidFill>
                <a:latin typeface="Amiri" pitchFamily="34" charset="0"/>
                <a:ea typeface="Amiri" pitchFamily="34" charset="-122"/>
                <a:cs typeface="Amiri" pitchFamily="34" charset="-120"/>
              </a:rPr>
              <a:t>يَتَفَوَّقُ فِي</a:t>
            </a:r>
            <a:pPr algn="l" indent="0" marL="0">
              <a:buNone/>
            </a:pPr>
            <a:r>
              <a:rPr lang="en-US" sz="1350" b="1" dirty="0">
                <a:solidFill>
                  <a:srgbClr val="1F2A37"/>
                </a:solidFill>
                <a:latin typeface="Calibri" pitchFamily="34" charset="0"/>
                <a:ea typeface="Calibri" pitchFamily="34" charset="-122"/>
                <a:cs typeface="Calibri" pitchFamily="34" charset="-120"/>
              </a:rPr>
              <a:t>, at least two formal contrast connectors (</a:t>
            </a:r>
            <a:pPr algn="l" indent="0" marL="0">
              <a:buNone/>
            </a:pPr>
            <a:r>
              <a:rPr lang="ar-SA" altLang="en-US" sz="1750" b="1" dirty="0">
                <a:solidFill>
                  <a:srgbClr val="1F2A37"/>
                </a:solidFill>
                <a:latin typeface="Amiri" pitchFamily="34" charset="0"/>
                <a:ea typeface="Amiri" pitchFamily="34" charset="-122"/>
                <a:cs typeface="Amiri" pitchFamily="34" charset="-120"/>
              </a:rPr>
              <a:t>بَيْنَمَا، فِي حِينِ أَنَّ</a:t>
            </a:r>
            <a:pPr algn="l" indent="0" marL="0">
              <a:buNone/>
            </a:pPr>
            <a:r>
              <a:rPr lang="en-US" sz="1350" b="1" dirty="0">
                <a:solidFill>
                  <a:srgbClr val="1F2A37"/>
                </a:solidFill>
                <a:latin typeface="Calibri" pitchFamily="34" charset="0"/>
                <a:ea typeface="Calibri" pitchFamily="34" charset="-122"/>
                <a:cs typeface="Calibri" pitchFamily="34" charset="-120"/>
              </a:rPr>
              <a:t>), and close with a Type 1 conditional about what would improve a system.</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The academic verbs with their correct complements.</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Two formal contrast connectors, not chained </a:t>
            </a:r>
            <a:pPr algn="l" indent="0" marL="0">
              <a:buNone/>
            </a:pPr>
            <a:r>
              <a:rPr lang="ar-SA" altLang="en-US" sz="1550" dirty="0">
                <a:solidFill>
                  <a:srgbClr val="1F2A37"/>
                </a:solidFill>
                <a:latin typeface="Amiri" pitchFamily="34" charset="0"/>
                <a:ea typeface="Amiri" pitchFamily="34" charset="-122"/>
                <a:cs typeface="Amiri" pitchFamily="34" charset="-120"/>
              </a:rPr>
              <a:t>وَ</a:t>
            </a:r>
            <a:pPr algn="l" indent="0" marL="0">
              <a:buNone/>
            </a:pPr>
            <a:r>
              <a:rPr lang="en-US" sz="1200" dirty="0">
                <a:solidFill>
                  <a:srgbClr val="1F2A37"/>
                </a:solidFill>
                <a:latin typeface="Calibri" pitchFamily="34" charset="0"/>
                <a:ea typeface="Calibri" pitchFamily="34" charset="-122"/>
                <a:cs typeface="Calibri" pitchFamily="34" charset="-120"/>
              </a:rPr>
              <a: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a:t>
            </a:r>
            <a:pPr algn="l" indent="0" marL="0">
              <a:buNone/>
            </a:pPr>
            <a:r>
              <a:rPr lang="ar-SA" altLang="en-US" sz="1550" dirty="0">
                <a:solidFill>
                  <a:srgbClr val="1F2A37"/>
                </a:solidFill>
                <a:latin typeface="Amiri" pitchFamily="34" charset="0"/>
                <a:ea typeface="Amiri" pitchFamily="34" charset="-122"/>
                <a:cs typeface="Amiri" pitchFamily="34" charset="-120"/>
              </a:rPr>
              <a:t>يَتَمَيَّزُ بِـ</a:t>
            </a:r>
            <a:pPr algn="l" indent="0" marL="0">
              <a:buNone/>
            </a:pPr>
            <a:r>
              <a:rPr lang="en-US" sz="1200" dirty="0">
                <a:solidFill>
                  <a:srgbClr val="1F2A37"/>
                </a:solidFill>
                <a:latin typeface="Calibri" pitchFamily="34" charset="0"/>
                <a:ea typeface="Calibri" pitchFamily="34" charset="-122"/>
                <a:cs typeface="Calibri" pitchFamily="34" charset="-120"/>
              </a:rPr>
              <a:t> describing a distinguishing feature.</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 closing Type 1 conditional.</a:t>
            </a:r>
            <a:endParaRPr lang="en-US" sz="1200" dirty="0"/>
          </a:p>
        </p:txBody>
      </p:sp>
      <p:sp>
        <p:nvSpPr>
          <p:cNvPr id="23" name="Shape 20"/>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FROM THE WEBSITE TEXTS</a:t>
            </a:r>
            <a:endParaRPr lang="en-US" sz="950" dirty="0"/>
          </a:p>
        </p:txBody>
      </p:sp>
      <p:sp>
        <p:nvSpPr>
          <p:cNvPr id="25" name="Text 22"/>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سِنِّ السَّادِسَةَ عَشْرَةَ</a:t>
            </a:r>
            <a:endParaRPr lang="ar-SA" sz="1800" dirty="0"/>
          </a:p>
        </p:txBody>
      </p:sp>
      <p:sp>
        <p:nvSpPr>
          <p:cNvPr id="26" name="Text 23"/>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at the age of sixteen</a:t>
            </a:r>
            <a:endParaRPr lang="en-US" sz="1050" dirty="0"/>
          </a:p>
        </p:txBody>
      </p:sp>
      <p:sp>
        <p:nvSpPr>
          <p:cNvPr id="27" name="Text 24"/>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فَيَلْتَحِقُونَ بِالجَامِعَاتِ</a:t>
            </a:r>
            <a:endParaRPr lang="ar-SA" sz="1800" dirty="0"/>
          </a:p>
        </p:txBody>
      </p:sp>
      <p:sp>
        <p:nvSpPr>
          <p:cNvPr id="28" name="Text 25"/>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and so they go on to university</a:t>
            </a:r>
            <a:endParaRPr lang="en-US" sz="1050" dirty="0"/>
          </a:p>
        </p:txBody>
      </p:sp>
      <p:sp>
        <p:nvSpPr>
          <p:cNvPr id="29" name="Text 26"/>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يَمْتَدُّ فِي غَيْرِهِ أَكْثَرَ</a:t>
            </a:r>
            <a:endParaRPr lang="ar-SA" sz="1800" dirty="0"/>
          </a:p>
        </p:txBody>
      </p:sp>
      <p:sp>
        <p:nvSpPr>
          <p:cNvPr id="30" name="Text 27"/>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it lasts longer in another</a:t>
            </a:r>
            <a:endParaRPr lang="en-US" sz="1050" dirty="0"/>
          </a:p>
        </p:txBody>
      </p:sp>
      <p:sp>
        <p:nvSpPr>
          <p:cNvPr id="31" name="Text 28"/>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يَعْتَمِدُ آخَرُ عَلَى التَّقْيِيمِ المُسْتَمِرِّ</a:t>
            </a:r>
            <a:endParaRPr lang="ar-SA" sz="1800" dirty="0"/>
          </a:p>
        </p:txBody>
      </p:sp>
      <p:sp>
        <p:nvSpPr>
          <p:cNvPr id="32" name="Text 29"/>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another relies on continuous assessment</a:t>
            </a:r>
            <a:endParaRPr lang="en-US" sz="1050" dirty="0"/>
          </a:p>
        </p:txBody>
      </p:sp>
      <p:sp>
        <p:nvSpPr>
          <p:cNvPr id="33" name="Text 30"/>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عَلَى التَّفْكِيرِ لَا الحِفْظِ</a:t>
            </a:r>
            <a:endParaRPr lang="ar-SA" sz="1800" dirty="0"/>
          </a:p>
        </p:txBody>
      </p:sp>
      <p:sp>
        <p:nvSpPr>
          <p:cNvPr id="34" name="Text 31"/>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on thinking, not memorising</a:t>
            </a:r>
            <a:endParaRPr lang="en-US" sz="10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41 / 52</a:t>
            </a:r>
            <a:endParaRPr lang="en-US" sz="8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يَتَكَوَّنُ النِّظَامُ التَّعْلِيمِيُّ البِرِيطَانِيُّ مِنْ ثَلَاثِ مَرَاحِلَ رَئِيسِيَّةٍ، وَيَجْتَازُ الطُّلَّابُ امْتِحَانَاتِ الشَّهَادَةِ فِي سِنِّ السَّادِسَةَ عَشْرَةَ، وَيَتَفَوَّقُ بَعْضُهُمْ فَيَلْتَحِقُونَ بِالجَامِعَاتِ. فِي المُقَابِلِ، يَخْتَلِفُ النِّظَامُ فِي بَعْضِ الدُّوَلِ العَرَبِيَّةِ؛ فَبَيْنَمَا يَدُومُ التَّعْلِيمُ الثَّانَوِيُّ ثَلَاثَ سَنَوَاتٍ فِي بَلَدٍ، يَمْتَدُّ فِي غَيْرِهِ أَكْثَرَ. وَيَتَمَيَّزُ كُلُّ نِظَامٍ بِتَوَازُنٍ بَيْنَ المَوَادِّ الإِلْزَامِيَّةِ وَالاخْتِيَارِيَّةِ. فِي حِينِ أَنَّ نِظَامًا يَعْتَمِدُ عَلَى الامْتِحَانِ النِّهَائِيِّ، يَعْتَمِدُ آخَرُ عَلَى التَّقْيِيمِ المُسْتَمِرِّ. وَفِي رَأْيِي، إِذَا رَكَّزَتِ المَنْظُومَةُ عَلَى التَّفْكِيرِ لَا الحِفْظِ، فَسَيَتَحَسَّنُ التَّحْصِيلُ.</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The British education system consists of three main stages; students pass the certificate exams at sixteen, and some excel and go on to university. In contrast, the system differs in some Arab countries: while secondary education lasts three years in one country, it lasts longer in another. Each system is distinguished by a balance between compulsory and elective subjects. Whereas one system relies on the final exam, another relies on continuous assessment. In my opinion, if the system focuses on thinking rather than memorising, attainment will improve.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yajtāz + a direct object</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yatafawwaq fī / yaltaḥiq bi-</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two formal contrast connectors</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yatamayyaz bi- and a closing conditional</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42 / 52</a:t>
            </a:r>
            <a:endParaRPr lang="en-US" sz="8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No preposition after yajtāz; fī after yatafawwaq and yarsub.</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bi- after yaltaḥiq and yatamayyaz; ʿalā after yaḥṣul.</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compared with baynamā / fī ḥīni anna, not a chain of wa.</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fī ḥīni anna my noun ends in -a.</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closed with a feature and a conditional, comparing fairly.</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43 / 52</a:t>
            </a:r>
            <a:endParaRPr lang="en-US" sz="8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الامْتِحَانَ.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فِي الامْتِحَانِ.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يَجْتَازُ الطَّالِبُ عَلَى الامْتِحَانِ.</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يَلْتَحِقُ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contrast connector?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حِينِ أَنَّ</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وَأَيْضًا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كَذٰلِكَ</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44 / 52</a:t>
            </a:r>
            <a:endParaRPr lang="en-US" sz="8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accurate sentence with </a:t>
            </a:r>
            <a:pPr algn="l" indent="0" marL="0">
              <a:buNone/>
            </a:pPr>
            <a:r>
              <a:rPr lang="ar-SA" altLang="en-US" sz="1650" b="1" dirty="0">
                <a:solidFill>
                  <a:srgbClr val="1B3B6F"/>
                </a:solidFill>
                <a:latin typeface="Amiri" pitchFamily="34" charset="0"/>
                <a:ea typeface="Amiri" pitchFamily="34" charset="-122"/>
                <a:cs typeface="Amiri" pitchFamily="34" charset="-120"/>
              </a:rPr>
              <a:t>يَجْتَازُ</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يَجْتَازُ الطَّالِبُ الامْتِحَانَ.</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يَجْتَازُ الطَّالِبُ فِي الامْتِحَانِ.</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يَجْتَازُ الطَّالِبُ عَلَى الامْتِحَانِ.</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يَجْتَازُ</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Complete: </a:t>
            </a:r>
            <a:pPr algn="l" indent="0" marL="0">
              <a:buNone/>
            </a:pPr>
            <a:r>
              <a:rPr lang="ar-SA" altLang="en-US" sz="1650" b="1" dirty="0">
                <a:solidFill>
                  <a:srgbClr val="1B3B6F"/>
                </a:solidFill>
                <a:latin typeface="Amiri" pitchFamily="34" charset="0"/>
                <a:ea typeface="Amiri" pitchFamily="34" charset="-122"/>
                <a:cs typeface="Amiri" pitchFamily="34" charset="-120"/>
              </a:rPr>
              <a:t>يَلْتَحِقُ الطَّالِبُ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عَلَى</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بِـ</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فِي</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يَلْتَحِقُ</a:t>
            </a:r>
            <a:pPr algn="l" indent="0" marL="0">
              <a:buNone/>
            </a:pPr>
            <a:r>
              <a:rPr lang="en-US" sz="1050" i="1" dirty="0">
                <a:solidFill>
                  <a:srgbClr val="8A6D1E"/>
                </a:solidFill>
                <a:latin typeface="Calibri" pitchFamily="34" charset="0"/>
                <a:ea typeface="Calibri" pitchFamily="34" charset="-122"/>
                <a:cs typeface="Calibri" pitchFamily="34" charset="-120"/>
              </a:rPr>
              <a:t> is fixed with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is a formal contrast connector?</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فِي حِينِ أَنَّ</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وَأَيْضًا</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كَذٰلِكَ</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فِي حِينِ أَنَّ</a:t>
            </a:r>
            <a:pPr algn="l" indent="0" marL="0">
              <a:buNone/>
            </a:pPr>
            <a:r>
              <a:rPr lang="en-US" sz="1050" i="1" dirty="0">
                <a:solidFill>
                  <a:srgbClr val="8A6D1E"/>
                </a:solidFill>
                <a:latin typeface="Calibri" pitchFamily="34" charset="0"/>
                <a:ea typeface="Calibri" pitchFamily="34" charset="-122"/>
                <a:cs typeface="Calibri" pitchFamily="34" charset="-120"/>
              </a:rPr>
              <a:t> builds a formal comparison.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45 / 52</a:t>
            </a:r>
            <a:endParaRPr lang="en-US" sz="8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FAST FINISHERS OR HOMEWORK (STRETCH)</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00" b="1" dirty="0">
                <a:solidFill>
                  <a:srgbClr val="1B3B6F"/>
                </a:solidFill>
                <a:latin typeface="Cambria" pitchFamily="34" charset="0"/>
                <a:ea typeface="Cambria" pitchFamily="34" charset="-122"/>
                <a:cs typeface="Cambria" pitchFamily="34" charset="-120"/>
              </a:rPr>
              <a:t>Reading: what makes a system work</a:t>
            </a:r>
            <a:endParaRPr lang="en-US" sz="26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لَا تُقَاسُ جَوْدَةُ المَنْظُومَةِ التَّعْلِيمِيَّةِ بِعَدَدِ الامْتِحَانَاتِ فَقَطْ، بَلْ بِمَا يَتَعَلَّمُهُ الطَّالِبُ فِعْلًا. يَتَمَيَّزُ نِظَامٌ جَيِّدٌ بِتَوَازُنٍ بَيْنَ المَوَادِّ الإِلْزَامِيَّةِ وَالاخْتِيَارِيَّةِ، وَبِنِظَامِ تَقْيِيمٍ عَادِلٍ. فَفِي بَعْضِ الدُّوَلِ يَجْتَازُ الطُّلَّابُ امْتِحَانًا نِهَائِيًّا وَاحِدًا، فِي حِينِ أَنَّ دُوَلًا أُخْرَى تَعْتَمِدُ عَلَى التَّقْيِيمِ المُسْتَمِرِّ. وَيَلْتَحِقُ المُتَفَوِّقُونَ بِالجَامِعَاتِ، بَيْنَمَا يَخْتَارُ آخَرُونَ التَّدْرِيبَ المِهَنِيَّ، وَكِلَا المَسَارَيْنِ مُحْتَرَمٌ. وَإِذَا رَكَّزَتِ المَنْظُومَةُ عَلَى التَّفْكِيرِ لَا الحِفْظِ، فَسَيَزْدَادُ إِبْدَاعُ الطُّلَّابِ. وَلَيْسَ هُنَاكَ نِظَامٌ مِثَالِيٌّ، لٰكِنَّ المُرُونَةَ تَقْتَرِبُ بِهِ مِنَ الأَفْضَلِ.</a:t>
            </a:r>
            <a:endParaRPr lang="ar-SA" sz="2300" dirty="0"/>
          </a:p>
        </p:txBody>
      </p:sp>
      <p:sp>
        <p:nvSpPr>
          <p:cNvPr id="19" name="Shape 16"/>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21" name="Text 18"/>
          <p:cNvSpPr txBox="1"/>
          <p:nvPr/>
        </p:nvSpPr>
        <p:spPr>
          <a:xfrm>
            <a:off x="10102291" y="221284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لَا تُقَاسُ</a:t>
            </a:r>
            <a:endParaRPr lang="ar-SA" sz="1600" dirty="0"/>
          </a:p>
        </p:txBody>
      </p:sp>
      <p:sp>
        <p:nvSpPr>
          <p:cNvPr id="22" name="Text 19"/>
          <p:cNvSpPr txBox="1"/>
          <p:nvPr/>
        </p:nvSpPr>
        <p:spPr>
          <a:xfrm>
            <a:off x="8851392" y="221284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is not measured</a:t>
            </a:r>
            <a:endParaRPr lang="en-US" sz="1050" dirty="0"/>
          </a:p>
        </p:txBody>
      </p:sp>
      <p:sp>
        <p:nvSpPr>
          <p:cNvPr id="23" name="Text 20"/>
          <p:cNvSpPr txBox="1"/>
          <p:nvPr/>
        </p:nvSpPr>
        <p:spPr>
          <a:xfrm>
            <a:off x="10102291" y="261518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جَوْدَةُ</a:t>
            </a:r>
            <a:endParaRPr lang="ar-SA" sz="1600" dirty="0"/>
          </a:p>
        </p:txBody>
      </p:sp>
      <p:sp>
        <p:nvSpPr>
          <p:cNvPr id="24" name="Text 21"/>
          <p:cNvSpPr txBox="1"/>
          <p:nvPr/>
        </p:nvSpPr>
        <p:spPr>
          <a:xfrm>
            <a:off x="8851392" y="261518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quality of</a:t>
            </a:r>
            <a:endParaRPr lang="en-US" sz="1050" dirty="0"/>
          </a:p>
        </p:txBody>
      </p:sp>
      <p:sp>
        <p:nvSpPr>
          <p:cNvPr id="25" name="Text 22"/>
          <p:cNvSpPr txBox="1"/>
          <p:nvPr/>
        </p:nvSpPr>
        <p:spPr>
          <a:xfrm>
            <a:off x="10102291" y="301752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فِعْلًا</a:t>
            </a:r>
            <a:endParaRPr lang="ar-SA" sz="1600" dirty="0"/>
          </a:p>
        </p:txBody>
      </p:sp>
      <p:sp>
        <p:nvSpPr>
          <p:cNvPr id="26" name="Text 23"/>
          <p:cNvSpPr txBox="1"/>
          <p:nvPr/>
        </p:nvSpPr>
        <p:spPr>
          <a:xfrm>
            <a:off x="8851392" y="301752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really, actually</a:t>
            </a:r>
            <a:endParaRPr lang="en-US" sz="1050" dirty="0"/>
          </a:p>
        </p:txBody>
      </p:sp>
      <p:sp>
        <p:nvSpPr>
          <p:cNvPr id="27" name="Text 24"/>
          <p:cNvSpPr txBox="1"/>
          <p:nvPr/>
        </p:nvSpPr>
        <p:spPr>
          <a:xfrm>
            <a:off x="10102291" y="341985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تَقْيِيمٍ عَادِلٍ</a:t>
            </a:r>
            <a:endParaRPr lang="ar-SA" sz="1600" dirty="0"/>
          </a:p>
        </p:txBody>
      </p:sp>
      <p:sp>
        <p:nvSpPr>
          <p:cNvPr id="28" name="Text 25"/>
          <p:cNvSpPr txBox="1"/>
          <p:nvPr/>
        </p:nvSpPr>
        <p:spPr>
          <a:xfrm>
            <a:off x="8851392" y="341985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fair assessment</a:t>
            </a:r>
            <a:endParaRPr lang="en-US" sz="1050" dirty="0"/>
          </a:p>
        </p:txBody>
      </p:sp>
      <p:sp>
        <p:nvSpPr>
          <p:cNvPr id="29" name="Text 26"/>
          <p:cNvSpPr txBox="1"/>
          <p:nvPr/>
        </p:nvSpPr>
        <p:spPr>
          <a:xfrm>
            <a:off x="10102291" y="382219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التَّقْيِيمِ المُسْتَمِرِّ</a:t>
            </a:r>
            <a:endParaRPr lang="ar-SA" sz="1600" dirty="0"/>
          </a:p>
        </p:txBody>
      </p:sp>
      <p:sp>
        <p:nvSpPr>
          <p:cNvPr id="30" name="Text 27"/>
          <p:cNvSpPr txBox="1"/>
          <p:nvPr/>
        </p:nvSpPr>
        <p:spPr>
          <a:xfrm>
            <a:off x="8851392" y="382219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continuous assessment</a:t>
            </a:r>
            <a:endParaRPr lang="en-US" sz="1050" dirty="0"/>
          </a:p>
        </p:txBody>
      </p:sp>
      <p:sp>
        <p:nvSpPr>
          <p:cNvPr id="31" name="Text 28"/>
          <p:cNvSpPr txBox="1"/>
          <p:nvPr/>
        </p:nvSpPr>
        <p:spPr>
          <a:xfrm>
            <a:off x="10102291" y="4224528"/>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المُتَفَوِّقُونَ</a:t>
            </a:r>
            <a:endParaRPr lang="ar-SA" sz="1600" dirty="0"/>
          </a:p>
        </p:txBody>
      </p:sp>
      <p:sp>
        <p:nvSpPr>
          <p:cNvPr id="32" name="Text 29"/>
          <p:cNvSpPr txBox="1"/>
          <p:nvPr/>
        </p:nvSpPr>
        <p:spPr>
          <a:xfrm>
            <a:off x="8851392" y="4224528"/>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high achievers</a:t>
            </a:r>
            <a:endParaRPr lang="en-US" sz="1050" dirty="0"/>
          </a:p>
        </p:txBody>
      </p:sp>
      <p:sp>
        <p:nvSpPr>
          <p:cNvPr id="33" name="Text 30"/>
          <p:cNvSpPr txBox="1"/>
          <p:nvPr/>
        </p:nvSpPr>
        <p:spPr>
          <a:xfrm>
            <a:off x="10102291" y="4626864"/>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التَّدْرِيبَ المِهَنِيَّ</a:t>
            </a:r>
            <a:endParaRPr lang="ar-SA" sz="1600" dirty="0"/>
          </a:p>
        </p:txBody>
      </p:sp>
      <p:sp>
        <p:nvSpPr>
          <p:cNvPr id="34" name="Text 31"/>
          <p:cNvSpPr txBox="1"/>
          <p:nvPr/>
        </p:nvSpPr>
        <p:spPr>
          <a:xfrm>
            <a:off x="8851392" y="4626864"/>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vocational training</a:t>
            </a:r>
            <a:endParaRPr lang="en-US" sz="1050" dirty="0"/>
          </a:p>
        </p:txBody>
      </p:sp>
      <p:sp>
        <p:nvSpPr>
          <p:cNvPr id="35" name="Text 32"/>
          <p:cNvSpPr txBox="1"/>
          <p:nvPr/>
        </p:nvSpPr>
        <p:spPr>
          <a:xfrm>
            <a:off x="10102291" y="5029200"/>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كِلَا المَسَارَيْنِ</a:t>
            </a:r>
            <a:endParaRPr lang="ar-SA" sz="1600" dirty="0"/>
          </a:p>
        </p:txBody>
      </p:sp>
      <p:sp>
        <p:nvSpPr>
          <p:cNvPr id="36" name="Text 33"/>
          <p:cNvSpPr txBox="1"/>
          <p:nvPr/>
        </p:nvSpPr>
        <p:spPr>
          <a:xfrm>
            <a:off x="8851392" y="5029200"/>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both paths</a:t>
            </a:r>
            <a:endParaRPr lang="en-US" sz="1050" dirty="0"/>
          </a:p>
        </p:txBody>
      </p:sp>
      <p:sp>
        <p:nvSpPr>
          <p:cNvPr id="37" name="Text 34"/>
          <p:cNvSpPr txBox="1"/>
          <p:nvPr/>
        </p:nvSpPr>
        <p:spPr>
          <a:xfrm>
            <a:off x="10102291" y="5431536"/>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الحِفْظِ</a:t>
            </a:r>
            <a:endParaRPr lang="ar-SA" sz="1600" dirty="0"/>
          </a:p>
        </p:txBody>
      </p:sp>
      <p:sp>
        <p:nvSpPr>
          <p:cNvPr id="38" name="Text 35"/>
          <p:cNvSpPr txBox="1"/>
          <p:nvPr/>
        </p:nvSpPr>
        <p:spPr>
          <a:xfrm>
            <a:off x="8851392" y="5431536"/>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memorising</a:t>
            </a:r>
            <a:endParaRPr lang="en-US" sz="1050" dirty="0"/>
          </a:p>
        </p:txBody>
      </p:sp>
      <p:sp>
        <p:nvSpPr>
          <p:cNvPr id="39" name="Text 36"/>
          <p:cNvSpPr txBox="1"/>
          <p:nvPr/>
        </p:nvSpPr>
        <p:spPr>
          <a:xfrm>
            <a:off x="10102291" y="5833872"/>
            <a:ext cx="1508760" cy="402336"/>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المُرُونَةَ</a:t>
            </a:r>
            <a:endParaRPr lang="ar-SA" sz="1600" dirty="0"/>
          </a:p>
        </p:txBody>
      </p:sp>
      <p:sp>
        <p:nvSpPr>
          <p:cNvPr id="40" name="Text 37"/>
          <p:cNvSpPr txBox="1"/>
          <p:nvPr/>
        </p:nvSpPr>
        <p:spPr>
          <a:xfrm>
            <a:off x="8851392" y="5833872"/>
            <a:ext cx="1388059" cy="402336"/>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flexibility</a:t>
            </a:r>
            <a:endParaRPr lang="en-US" sz="1050" dirty="0"/>
          </a:p>
        </p:txBody>
      </p:sp>
      <p:sp>
        <p:nvSpPr>
          <p:cNvPr id="41" name="Text 38"/>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46 / 52</a:t>
            </a:r>
            <a:endParaRPr lang="en-US" sz="850"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QUESTIONS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questions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 system's quality measured, per the text?</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the number of exams only</a:t>
            </a:r>
            <a:endParaRPr lang="en-US" sz="12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what the student actually learns</a:t>
            </a:r>
            <a:endParaRPr lang="en-US" sz="12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By the size of the school</a:t>
            </a:r>
            <a:endParaRPr lang="en-US" sz="12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a good system?</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compulsory subjects</a:t>
            </a:r>
            <a:endParaRPr lang="en-US" sz="12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assessment</a:t>
            </a:r>
            <a:endParaRPr lang="en-US" sz="12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Balance of subjects and fair assessment</a:t>
            </a:r>
            <a:endParaRPr lang="en-US" sz="12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some countries assess, in contrast?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Continuous assessment instead of one final exam</a:t>
            </a:r>
            <a:endParaRPr lang="en-US" sz="12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 assessment at all</a:t>
            </a:r>
            <a:endParaRPr lang="en-US" sz="12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interviews</a:t>
            </a:r>
            <a:endParaRPr lang="en-US" sz="12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vocational training?</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inferior</a:t>
            </a:r>
            <a:endParaRPr lang="en-US" sz="12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respected path alongside university</a:t>
            </a:r>
            <a:endParaRPr lang="en-US" sz="12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does not exist</a:t>
            </a:r>
            <a:endParaRPr lang="en-US" sz="12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focusing on thinking over memorising?</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Students' creativity increases</a:t>
            </a:r>
            <a:endParaRPr lang="en-US" sz="12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Results fall</a:t>
            </a:r>
            <a:endParaRPr lang="en-US" sz="12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Nothing changes</a:t>
            </a:r>
            <a:endParaRPr lang="en-US" sz="1250" dirty="0"/>
          </a:p>
        </p:txBody>
      </p:sp>
      <p:sp>
        <p:nvSpPr>
          <p:cNvPr id="82" name="Shape 7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3" name="Text 8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84" name="Text 8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47 / 52</a:t>
            </a:r>
            <a:endParaRPr lang="en-US" sz="850"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READING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is a system's quality measured, per the text?</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the number of exams only</a:t>
            </a:r>
            <a:endParaRPr lang="en-US" sz="1250" dirty="0"/>
          </a:p>
        </p:txBody>
      </p:sp>
      <p:sp>
        <p:nvSpPr>
          <p:cNvPr id="24"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5"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6"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7" name="Text 24"/>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By what the student actually learns</a:t>
            </a:r>
            <a:endParaRPr lang="en-US" sz="1250" dirty="0"/>
          </a:p>
        </p:txBody>
      </p:sp>
      <p:sp>
        <p:nvSpPr>
          <p:cNvPr id="28"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By the size of the school</a:t>
            </a:r>
            <a:endParaRPr lang="en-US" sz="1250" dirty="0"/>
          </a:p>
        </p:txBody>
      </p:sp>
      <p:sp>
        <p:nvSpPr>
          <p:cNvPr id="31" name="Text 28"/>
          <p:cNvSpPr txBox="1"/>
          <p:nvPr/>
        </p:nvSpPr>
        <p:spPr>
          <a:xfrm>
            <a:off x="585216"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بَلْ بِمَا يَتَعَلَّمُهُ الطَّالِبُ فِعْلًا.</a:t>
            </a:r>
            <a:endParaRPr lang="ar-SA" sz="1350" dirty="0"/>
          </a:p>
        </p:txBody>
      </p:sp>
      <p:sp>
        <p:nvSpPr>
          <p:cNvPr id="32"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distinguishes a good system?</a:t>
            </a:r>
            <a:endParaRPr lang="en-US" sz="1250" dirty="0"/>
          </a:p>
        </p:txBody>
      </p:sp>
      <p:sp>
        <p:nvSpPr>
          <p:cNvPr id="36" name="Shape 33"/>
          <p:cNvSpPr/>
          <p:nvPr/>
        </p:nvSpPr>
        <p:spPr>
          <a:xfrm>
            <a:off x="4459224"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compulsory subjects</a:t>
            </a:r>
            <a:endParaRPr lang="en-US" sz="1250" dirty="0"/>
          </a:p>
        </p:txBody>
      </p:sp>
      <p:sp>
        <p:nvSpPr>
          <p:cNvPr id="39" name="Shape 36"/>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7"/>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8"/>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assessment</a:t>
            </a:r>
            <a:endParaRPr lang="en-US" sz="1250" dirty="0"/>
          </a:p>
        </p:txBody>
      </p:sp>
      <p:sp>
        <p:nvSpPr>
          <p:cNvPr id="42" name="Shape 39"/>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3" name="Shape 40"/>
          <p:cNvSpPr/>
          <p:nvPr/>
        </p:nvSpPr>
        <p:spPr>
          <a:xfrm>
            <a:off x="4459224" y="3233928"/>
            <a:ext cx="256032" cy="256032"/>
          </a:xfrm>
          <a:prstGeom prst="ellipse">
            <a:avLst/>
          </a:prstGeom>
          <a:solidFill>
            <a:srgbClr val="2E8B57"/>
          </a:solidFill>
          <a:ln w="12700">
            <a:solidFill>
              <a:srgbClr val="2E8B57"/>
            </a:solidFill>
            <a:prstDash val="solid"/>
          </a:ln>
        </p:spPr>
      </p:sp>
      <p:sp>
        <p:nvSpPr>
          <p:cNvPr id="44"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Balance of subjects and fair assessment</a:t>
            </a:r>
            <a:endParaRPr lang="en-US" sz="1150" dirty="0"/>
          </a:p>
        </p:txBody>
      </p:sp>
      <p:sp>
        <p:nvSpPr>
          <p:cNvPr id="46" name="Text 43"/>
          <p:cNvSpPr txBox="1"/>
          <p:nvPr/>
        </p:nvSpPr>
        <p:spPr>
          <a:xfrm>
            <a:off x="4404360"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يَتَمَيَّزُ نِظَامٌ جَيِّدٌ بِتَوَازُنٍ … وَبِنِظَامِ تَقْيِيمٍ عَادِلٍ.</a:t>
            </a:r>
            <a:endParaRPr lang="ar-SA" sz="1350" dirty="0"/>
          </a:p>
        </p:txBody>
      </p:sp>
      <p:sp>
        <p:nvSpPr>
          <p:cNvPr id="47"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9"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 some countries assess, in contrast?</a:t>
            </a:r>
            <a:endParaRPr lang="en-US" sz="1250" dirty="0"/>
          </a:p>
        </p:txBody>
      </p:sp>
      <p:sp>
        <p:nvSpPr>
          <p:cNvPr id="51" name="Shape 48"/>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2" name="Shape 49"/>
          <p:cNvSpPr/>
          <p:nvPr/>
        </p:nvSpPr>
        <p:spPr>
          <a:xfrm>
            <a:off x="8278368" y="2490216"/>
            <a:ext cx="256032" cy="256032"/>
          </a:xfrm>
          <a:prstGeom prst="ellipse">
            <a:avLst/>
          </a:prstGeom>
          <a:solidFill>
            <a:srgbClr val="2E8B57"/>
          </a:solidFill>
          <a:ln w="12700">
            <a:solidFill>
              <a:srgbClr val="2E8B57"/>
            </a:solidFill>
            <a:prstDash val="solid"/>
          </a:ln>
        </p:spPr>
      </p:sp>
      <p:sp>
        <p:nvSpPr>
          <p:cNvPr id="53" name="Text 50"/>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Continuous assessment instead of one final exam</a:t>
            </a:r>
            <a:endParaRPr lang="en-US" sz="1150" dirty="0"/>
          </a:p>
        </p:txBody>
      </p:sp>
      <p:sp>
        <p:nvSpPr>
          <p:cNvPr id="55" name="Shape 52"/>
          <p:cNvSpPr/>
          <p:nvPr/>
        </p:nvSpPr>
        <p:spPr>
          <a:xfrm>
            <a:off x="8278368" y="2862072"/>
            <a:ext cx="256032" cy="256032"/>
          </a:xfrm>
          <a:prstGeom prst="ellipse">
            <a:avLst/>
          </a:prstGeom>
          <a:solidFill>
            <a:srgbClr val="C9CED6"/>
          </a:solidFill>
          <a:ln w="12700">
            <a:solidFill>
              <a:srgbClr val="C9CED6"/>
            </a:solidFill>
            <a:prstDash val="solid"/>
          </a:ln>
        </p:spPr>
      </p:sp>
      <p:sp>
        <p:nvSpPr>
          <p:cNvPr id="56" name="Text 53"/>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 assessment at all</a:t>
            </a:r>
            <a:endParaRPr lang="en-US" sz="1250" dirty="0"/>
          </a:p>
        </p:txBody>
      </p:sp>
      <p:sp>
        <p:nvSpPr>
          <p:cNvPr id="58" name="Shape 55"/>
          <p:cNvSpPr/>
          <p:nvPr/>
        </p:nvSpPr>
        <p:spPr>
          <a:xfrm>
            <a:off x="8278368" y="3233928"/>
            <a:ext cx="256032" cy="256032"/>
          </a:xfrm>
          <a:prstGeom prst="ellipse">
            <a:avLst/>
          </a:prstGeom>
          <a:solidFill>
            <a:srgbClr val="C9CED6"/>
          </a:solidFill>
          <a:ln w="12700">
            <a:solidFill>
              <a:srgbClr val="C9CED6"/>
            </a:solidFill>
            <a:prstDash val="solid"/>
          </a:ln>
        </p:spPr>
      </p:sp>
      <p:sp>
        <p:nvSpPr>
          <p:cNvPr id="59"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interviews</a:t>
            </a:r>
            <a:endParaRPr lang="en-US" sz="1250" dirty="0"/>
          </a:p>
        </p:txBody>
      </p:sp>
      <p:sp>
        <p:nvSpPr>
          <p:cNvPr id="61" name="Text 58"/>
          <p:cNvSpPr txBox="1"/>
          <p:nvPr/>
        </p:nvSpPr>
        <p:spPr>
          <a:xfrm>
            <a:off x="8223504" y="3566160"/>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فِي حِينِ أَنَّ دُوَلًا أُخْرَى تَعْتَمِدُ عَلَى التَّقْيِيمِ المُسْتَمِرِّ.</a:t>
            </a:r>
            <a:endParaRPr lang="ar-SA" sz="1350" dirty="0"/>
          </a:p>
        </p:txBody>
      </p:sp>
      <p:sp>
        <p:nvSpPr>
          <p:cNvPr id="62"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the text say about vocational training?</a:t>
            </a:r>
            <a:endParaRPr lang="en-US" sz="1250" dirty="0"/>
          </a:p>
        </p:txBody>
      </p:sp>
      <p:sp>
        <p:nvSpPr>
          <p:cNvPr id="66"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inferior</a:t>
            </a:r>
            <a:endParaRPr lang="en-US" sz="1250" dirty="0"/>
          </a:p>
        </p:txBody>
      </p:sp>
      <p:sp>
        <p:nvSpPr>
          <p:cNvPr id="69" name="Shape 66"/>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70" name="Shape 67"/>
          <p:cNvSpPr/>
          <p:nvPr/>
        </p:nvSpPr>
        <p:spPr>
          <a:xfrm>
            <a:off x="640080" y="5202936"/>
            <a:ext cx="256032" cy="256032"/>
          </a:xfrm>
          <a:prstGeom prst="ellipse">
            <a:avLst/>
          </a:prstGeom>
          <a:solidFill>
            <a:srgbClr val="2E8B57"/>
          </a:solidFill>
          <a:ln w="12700">
            <a:solidFill>
              <a:srgbClr val="2E8B57"/>
            </a:solidFill>
            <a:prstDash val="solid"/>
          </a:ln>
        </p:spPr>
      </p:sp>
      <p:sp>
        <p:nvSpPr>
          <p:cNvPr id="71" name="Text 68"/>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2" name="Text 69"/>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150" b="1" dirty="0">
                <a:solidFill>
                  <a:srgbClr val="1F2A37"/>
                </a:solidFill>
                <a:latin typeface="Calibri" pitchFamily="34" charset="0"/>
                <a:ea typeface="Calibri" pitchFamily="34" charset="-122"/>
                <a:cs typeface="Calibri" pitchFamily="34" charset="-120"/>
              </a:rPr>
              <a:t>It is a respected path alongside university</a:t>
            </a:r>
            <a:endParaRPr lang="en-US" sz="1150" dirty="0"/>
          </a:p>
        </p:txBody>
      </p:sp>
      <p:sp>
        <p:nvSpPr>
          <p:cNvPr id="73" name="Shape 70"/>
          <p:cNvSpPr/>
          <p:nvPr/>
        </p:nvSpPr>
        <p:spPr>
          <a:xfrm>
            <a:off x="640080" y="5574792"/>
            <a:ext cx="256032" cy="256032"/>
          </a:xfrm>
          <a:prstGeom prst="ellipse">
            <a:avLst/>
          </a:prstGeom>
          <a:solidFill>
            <a:srgbClr val="C9CED6"/>
          </a:solidFill>
          <a:ln w="12700">
            <a:solidFill>
              <a:srgbClr val="C9CED6"/>
            </a:solidFill>
            <a:prstDash val="solid"/>
          </a:ln>
        </p:spPr>
      </p:sp>
      <p:sp>
        <p:nvSpPr>
          <p:cNvPr id="74"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does not exist</a:t>
            </a:r>
            <a:endParaRPr lang="en-US" sz="1250" dirty="0"/>
          </a:p>
        </p:txBody>
      </p:sp>
      <p:sp>
        <p:nvSpPr>
          <p:cNvPr id="76" name="Text 73"/>
          <p:cNvSpPr txBox="1"/>
          <p:nvPr/>
        </p:nvSpPr>
        <p:spPr>
          <a:xfrm>
            <a:off x="585216" y="5907024"/>
            <a:ext cx="3380232" cy="365760"/>
          </a:xfrm>
          <a:prstGeom prst="rect">
            <a:avLst/>
          </a:prstGeom>
          <a:noFill/>
          <a:ln/>
        </p:spPr>
        <p:txBody>
          <a:bodyPr wrap="square" lIns="0" tIns="0" rIns="0" bIns="0" rtlCol="0" anchor="ctr"/>
          <a:lstStyle/>
          <a:p>
            <a:pPr rtl="1" algn="r" indent="0" marL="0">
              <a:buNone/>
            </a:pPr>
            <a:r>
              <a:rPr lang="ar-SA" altLang="en-US" sz="1350" dirty="0">
                <a:solidFill>
                  <a:srgbClr val="8A6D1E"/>
                </a:solidFill>
                <a:latin typeface="Amiri" pitchFamily="34" charset="0"/>
                <a:ea typeface="Amiri" pitchFamily="34" charset="-122"/>
                <a:cs typeface="Amiri" pitchFamily="34" charset="-120"/>
              </a:rPr>
              <a:t>وَكِلَا المَسَارَيْنِ مُحْتَرَمٌ.</a:t>
            </a:r>
            <a:endParaRPr lang="ar-SA" sz="1350" dirty="0"/>
          </a:p>
        </p:txBody>
      </p:sp>
      <p:sp>
        <p:nvSpPr>
          <p:cNvPr id="77"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8"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9"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80"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follows from focusing on thinking over memorising?</a:t>
            </a:r>
            <a:endParaRPr lang="en-US" sz="1250" dirty="0"/>
          </a:p>
        </p:txBody>
      </p:sp>
      <p:sp>
        <p:nvSpPr>
          <p:cNvPr id="81"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2"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3"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4" name="Text 81"/>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Students' creativity increases</a:t>
            </a:r>
            <a:endParaRPr lang="en-US" sz="1250" dirty="0"/>
          </a:p>
        </p:txBody>
      </p:sp>
      <p:sp>
        <p:nvSpPr>
          <p:cNvPr id="85"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6"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7" name="Text 84"/>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Results fall</a:t>
            </a:r>
            <a:endParaRPr lang="en-US" sz="1250" dirty="0"/>
          </a:p>
        </p:txBody>
      </p:sp>
      <p:sp>
        <p:nvSpPr>
          <p:cNvPr id="88"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9"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0" name="Text 87"/>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Nothing changes</a:t>
            </a:r>
            <a:endParaRPr lang="en-US" sz="1250" dirty="0"/>
          </a:p>
        </p:txBody>
      </p:sp>
      <p:sp>
        <p:nvSpPr>
          <p:cNvPr id="91" name="Text 88"/>
          <p:cNvSpPr txBox="1"/>
          <p:nvPr/>
        </p:nvSpPr>
        <p:spPr>
          <a:xfrm>
            <a:off x="4404360" y="5907024"/>
            <a:ext cx="3380232" cy="365760"/>
          </a:xfrm>
          <a:prstGeom prst="rect">
            <a:avLst/>
          </a:prstGeom>
          <a:noFill/>
          <a:ln/>
        </p:spPr>
        <p:txBody>
          <a:bodyPr wrap="square" lIns="0" tIns="0" rIns="0" bIns="0" rtlCol="0" anchor="ctr"/>
          <a:lstStyle/>
          <a:p>
            <a:pPr rtl="1" algn="r" indent="0" marL="0">
              <a:buNone/>
            </a:pPr>
            <a:r>
              <a:rPr lang="ar-SA" altLang="en-US" sz="1050" dirty="0">
                <a:solidFill>
                  <a:srgbClr val="8A6D1E"/>
                </a:solidFill>
                <a:latin typeface="Amiri" pitchFamily="34" charset="0"/>
                <a:ea typeface="Amiri" pitchFamily="34" charset="-122"/>
                <a:cs typeface="Amiri" pitchFamily="34" charset="-120"/>
              </a:rPr>
              <a:t>إِذَا رَكَّزَتِ المَنْظُومَةُ عَلَى التَّفْكِيرِ لَا الحِفْظِ، فَسَيَزْدَادُ إِبْدَاعُ الطُّلَّابِ.</a:t>
            </a:r>
            <a:endParaRPr lang="ar-SA" sz="1050" dirty="0"/>
          </a:p>
        </p:txBody>
      </p:sp>
      <p:sp>
        <p:nvSpPr>
          <p:cNvPr id="92" name="Shape 89"/>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93" name="Text 90"/>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READ LIKE A DETECTIVE</a:t>
            </a:r>
            <a:endParaRPr lang="en-US" sz="1000" dirty="0"/>
          </a:p>
        </p:txBody>
      </p:sp>
      <p:sp>
        <p:nvSpPr>
          <p:cNvPr id="94" name="Text 91"/>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ONE key word from the question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Read only that sentence again, then choose.</a:t>
            </a:r>
            <a:endParaRPr lang="en-US" sz="12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48 / 52</a:t>
            </a:r>
            <a:endParaRPr lang="en-US" sz="85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WEBSITE MISSION · FLEX</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ea typeface="Cambria" pitchFamily="34" charset="-122"/>
                <a:cs typeface="Cambria" pitchFamily="34" charset="-120"/>
              </a:rPr>
              <a:t>Systems Mission — Verbs, Complements and Comparison</a:t>
            </a:r>
            <a:endParaRPr lang="en-US" sz="175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المُهِمَّةُ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7"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يَجْتَازُ الطَّالِبُ</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 الامْتِحَانِ</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الامْتِحَانَ</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بِالامْتِحَانِ</a:t>
            </a:r>
            <a:endParaRPr lang="ar-SA" sz="2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يَتَفَوَّقُ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العُلُومِ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4" name="Shape 31"/>
          <p:cNvSpPr/>
          <p:nvPr/>
        </p:nvSpPr>
        <p:spPr>
          <a:xfrm>
            <a:off x="4459224"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37" name="Shape 34"/>
          <p:cNvSpPr/>
          <p:nvPr/>
        </p:nvSpPr>
        <p:spPr>
          <a:xfrm>
            <a:off x="4459224"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40" name="Shape 37"/>
          <p:cNvSpPr/>
          <p:nvPr/>
        </p:nvSpPr>
        <p:spPr>
          <a:xfrm>
            <a:off x="4459224"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43" name="Shape 40"/>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8223504" y="1947672"/>
            <a:ext cx="310896" cy="310896"/>
          </a:xfrm>
          <a:prstGeom prst="ellipse">
            <a:avLst/>
          </a:prstGeom>
          <a:solidFill>
            <a:srgbClr val="1B3B6F"/>
          </a:solidFill>
          <a:ln w="12700">
            <a:solidFill>
              <a:srgbClr val="1B3B6F"/>
            </a:solidFill>
            <a:prstDash val="solid"/>
          </a:ln>
        </p:spPr>
      </p:sp>
      <p:sp>
        <p:nvSpPr>
          <p:cNvPr id="45" name="Text 42"/>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يَرْسُبُ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47" name="Shape 44"/>
          <p:cNvSpPr/>
          <p:nvPr/>
        </p:nvSpPr>
        <p:spPr>
          <a:xfrm>
            <a:off x="8278368" y="2532888"/>
            <a:ext cx="256032" cy="256032"/>
          </a:xfrm>
          <a:prstGeom prst="ellipse">
            <a:avLst/>
          </a:prstGeom>
          <a:solidFill>
            <a:srgbClr val="F4F1EA"/>
          </a:solidFill>
          <a:ln w="12700">
            <a:solidFill>
              <a:srgbClr val="F4F1EA"/>
            </a:solidFill>
            <a:prstDash val="solid"/>
          </a:ln>
        </p:spPr>
      </p:sp>
      <p:sp>
        <p:nvSpPr>
          <p:cNvPr id="48" name="Text 45"/>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50" name="Shape 47"/>
          <p:cNvSpPr/>
          <p:nvPr/>
        </p:nvSpPr>
        <p:spPr>
          <a:xfrm>
            <a:off x="8278368" y="2990088"/>
            <a:ext cx="256032" cy="256032"/>
          </a:xfrm>
          <a:prstGeom prst="ellipse">
            <a:avLst/>
          </a:prstGeom>
          <a:solidFill>
            <a:srgbClr val="F4F1EA"/>
          </a:solidFill>
          <a:ln w="12700">
            <a:solidFill>
              <a:srgbClr val="F4F1EA"/>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53" name="Shape 50"/>
          <p:cNvSpPr/>
          <p:nvPr/>
        </p:nvSpPr>
        <p:spPr>
          <a:xfrm>
            <a:off x="8278368" y="3447288"/>
            <a:ext cx="256032" cy="256032"/>
          </a:xfrm>
          <a:prstGeom prst="ellipse">
            <a:avLst/>
          </a:prstGeom>
          <a:solidFill>
            <a:srgbClr val="F4F1EA"/>
          </a:solidFill>
          <a:ln w="12700">
            <a:solidFill>
              <a:srgbClr val="F4F1EA"/>
            </a:solidFill>
            <a:prstDash val="solid"/>
          </a:ln>
        </p:spPr>
      </p:sp>
      <p:sp>
        <p:nvSpPr>
          <p:cNvPr id="54" name="Text 51"/>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56" name="Shape 53"/>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585216"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يَلْتَحِقُ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0" name="Shape 57"/>
          <p:cNvSpPr/>
          <p:nvPr/>
        </p:nvSpPr>
        <p:spPr>
          <a:xfrm>
            <a:off x="640080"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63" name="Shape 60"/>
          <p:cNvSpPr/>
          <p:nvPr/>
        </p:nvSpPr>
        <p:spPr>
          <a:xfrm>
            <a:off x="640080"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66" name="Shape 63"/>
          <p:cNvSpPr/>
          <p:nvPr/>
        </p:nvSpPr>
        <p:spPr>
          <a:xfrm>
            <a:off x="640080"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يَحْصُلُ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73" name="Shape 70"/>
          <p:cNvSpPr/>
          <p:nvPr/>
        </p:nvSpPr>
        <p:spPr>
          <a:xfrm>
            <a:off x="4459224" y="4873752"/>
            <a:ext cx="256032" cy="256032"/>
          </a:xfrm>
          <a:prstGeom prst="ellipse">
            <a:avLst/>
          </a:prstGeom>
          <a:solidFill>
            <a:srgbClr val="F4F1EA"/>
          </a:solidFill>
          <a:ln w="12700">
            <a:solidFill>
              <a:srgbClr val="F4F1EA"/>
            </a:solidFill>
            <a:prstDash val="solid"/>
          </a:ln>
        </p:spPr>
      </p:sp>
      <p:sp>
        <p:nvSpPr>
          <p:cNvPr id="74" name="Text 71"/>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76" name="Shape 73"/>
          <p:cNvSpPr/>
          <p:nvPr/>
        </p:nvSpPr>
        <p:spPr>
          <a:xfrm>
            <a:off x="4459224" y="5330952"/>
            <a:ext cx="256032" cy="256032"/>
          </a:xfrm>
          <a:prstGeom prst="ellipse">
            <a:avLst/>
          </a:prstGeom>
          <a:solidFill>
            <a:srgbClr val="F4F1EA"/>
          </a:solidFill>
          <a:ln w="12700">
            <a:solidFill>
              <a:srgbClr val="F4F1EA"/>
            </a:solidFill>
            <a:prstDash val="solid"/>
          </a:ln>
        </p:spPr>
      </p:sp>
      <p:sp>
        <p:nvSpPr>
          <p:cNvPr id="77" name="Text 74"/>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8" name="Text 75"/>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79" name="Shape 76"/>
          <p:cNvSpPr/>
          <p:nvPr/>
        </p:nvSpPr>
        <p:spPr>
          <a:xfrm>
            <a:off x="4459224" y="5788152"/>
            <a:ext cx="256032" cy="256032"/>
          </a:xfrm>
          <a:prstGeom prst="ellipse">
            <a:avLst/>
          </a:prstGeom>
          <a:solidFill>
            <a:srgbClr val="F4F1EA"/>
          </a:solidFill>
          <a:ln w="12700">
            <a:solidFill>
              <a:srgbClr val="F4F1EA"/>
            </a:solidFill>
            <a:prstDash val="solid"/>
          </a:ln>
        </p:spPr>
      </p:sp>
      <p:sp>
        <p:nvSpPr>
          <p:cNvPr id="80" name="Text 77"/>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1" name="Text 78"/>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82" name="Shape 7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83" name="Shape 80"/>
          <p:cNvSpPr/>
          <p:nvPr/>
        </p:nvSpPr>
        <p:spPr>
          <a:xfrm>
            <a:off x="8223504" y="4288536"/>
            <a:ext cx="310896" cy="310896"/>
          </a:xfrm>
          <a:prstGeom prst="ellipse">
            <a:avLst/>
          </a:prstGeom>
          <a:solidFill>
            <a:srgbClr val="1B3B6F"/>
          </a:solidFill>
          <a:ln w="12700">
            <a:solidFill>
              <a:srgbClr val="1B3B6F"/>
            </a:solidFill>
            <a:prstDash val="solid"/>
          </a:ln>
        </p:spPr>
      </p:sp>
      <p:sp>
        <p:nvSpPr>
          <p:cNvPr id="84" name="Text 8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85" name="Text 8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يَتَمَيَّزُ النِّظَامُ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المُرُونَةِ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6" name="Shape 83"/>
          <p:cNvSpPr/>
          <p:nvPr/>
        </p:nvSpPr>
        <p:spPr>
          <a:xfrm>
            <a:off x="8278368" y="4873752"/>
            <a:ext cx="256032" cy="256032"/>
          </a:xfrm>
          <a:prstGeom prst="ellipse">
            <a:avLst/>
          </a:prstGeom>
          <a:solidFill>
            <a:srgbClr val="F4F1EA"/>
          </a:solidFill>
          <a:ln w="12700">
            <a:solidFill>
              <a:srgbClr val="F4F1EA"/>
            </a:solidFill>
            <a:prstDash val="solid"/>
          </a:ln>
        </p:spPr>
      </p:sp>
      <p:sp>
        <p:nvSpPr>
          <p:cNvPr id="87" name="Text 84"/>
          <p:cNvSpPr txBox="1"/>
          <p:nvPr/>
        </p:nvSpPr>
        <p:spPr>
          <a:xfrm>
            <a:off x="8278368"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88" name="Text 85"/>
          <p:cNvSpPr txBox="1"/>
          <p:nvPr/>
        </p:nvSpPr>
        <p:spPr>
          <a:xfrm>
            <a:off x="8607552"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فِي</a:t>
            </a:r>
            <a:endParaRPr lang="ar-SA" sz="2050" dirty="0"/>
          </a:p>
        </p:txBody>
      </p:sp>
      <p:sp>
        <p:nvSpPr>
          <p:cNvPr id="89" name="Shape 86"/>
          <p:cNvSpPr/>
          <p:nvPr/>
        </p:nvSpPr>
        <p:spPr>
          <a:xfrm>
            <a:off x="8278368" y="5330952"/>
            <a:ext cx="256032" cy="256032"/>
          </a:xfrm>
          <a:prstGeom prst="ellipse">
            <a:avLst/>
          </a:prstGeom>
          <a:solidFill>
            <a:srgbClr val="F4F1EA"/>
          </a:solidFill>
          <a:ln w="12700">
            <a:solidFill>
              <a:srgbClr val="F4F1EA"/>
            </a:solidFill>
            <a:prstDash val="solid"/>
          </a:ln>
        </p:spPr>
      </p:sp>
      <p:sp>
        <p:nvSpPr>
          <p:cNvPr id="90" name="Text 87"/>
          <p:cNvSpPr txBox="1"/>
          <p:nvPr/>
        </p:nvSpPr>
        <p:spPr>
          <a:xfrm>
            <a:off x="8278368"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91" name="Text 88"/>
          <p:cNvSpPr txBox="1"/>
          <p:nvPr/>
        </p:nvSpPr>
        <p:spPr>
          <a:xfrm>
            <a:off x="8607552"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بِـ</a:t>
            </a:r>
            <a:endParaRPr lang="ar-SA" sz="2050" dirty="0"/>
          </a:p>
        </p:txBody>
      </p:sp>
      <p:sp>
        <p:nvSpPr>
          <p:cNvPr id="92" name="Shape 89"/>
          <p:cNvSpPr/>
          <p:nvPr/>
        </p:nvSpPr>
        <p:spPr>
          <a:xfrm>
            <a:off x="8278368" y="5788152"/>
            <a:ext cx="256032" cy="256032"/>
          </a:xfrm>
          <a:prstGeom prst="ellipse">
            <a:avLst/>
          </a:prstGeom>
          <a:solidFill>
            <a:srgbClr val="F4F1EA"/>
          </a:solidFill>
          <a:ln w="12700">
            <a:solidFill>
              <a:srgbClr val="F4F1EA"/>
            </a:solidFill>
            <a:prstDash val="solid"/>
          </a:ln>
        </p:spPr>
      </p:sp>
      <p:sp>
        <p:nvSpPr>
          <p:cNvPr id="93" name="Text 90"/>
          <p:cNvSpPr txBox="1"/>
          <p:nvPr/>
        </p:nvSpPr>
        <p:spPr>
          <a:xfrm>
            <a:off x="8278368"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94" name="Text 91"/>
          <p:cNvSpPr txBox="1"/>
          <p:nvPr/>
        </p:nvSpPr>
        <p:spPr>
          <a:xfrm>
            <a:off x="8607552"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عَلَى</a:t>
            </a:r>
            <a:endParaRPr lang="ar-SA" sz="205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49 / 52</a:t>
            </a:r>
            <a:endParaRPr lang="en-US" sz="850"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EXTENSION · MISSION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Mission: answers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6" name="Shape 14"/>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7"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8"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9" name="Text 17"/>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يَجْتَازُ الطَّالِبُ</a:t>
            </a:r>
            <a:pPr algn="l" indent="0" marL="0">
              <a:buNone/>
            </a:pPr>
            <a:r>
              <a:rPr lang="en-US" sz="1250" b="1" dirty="0">
                <a:solidFill>
                  <a:srgbClr val="1B3B6F"/>
                </a:solidFill>
                <a:latin typeface="Calibri" pitchFamily="34" charset="0"/>
                <a:ea typeface="Calibri" pitchFamily="34" charset="-122"/>
                <a:cs typeface="Calibri" pitchFamily="34" charset="-120"/>
              </a:rPr>
              <a:t> ___.</a:t>
            </a:r>
            <a:endParaRPr lang="en-US" sz="1250" dirty="0"/>
          </a:p>
        </p:txBody>
      </p:sp>
      <p:sp>
        <p:nvSpPr>
          <p:cNvPr id="20"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1"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2" name="Text 20"/>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 الامْتِحَانِ</a:t>
            </a:r>
            <a:endParaRPr lang="ar-SA" sz="1700" dirty="0"/>
          </a:p>
        </p:txBody>
      </p:sp>
      <p:sp>
        <p:nvSpPr>
          <p:cNvPr id="23" name="Shape 21"/>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4" name="Shape 22"/>
          <p:cNvSpPr/>
          <p:nvPr/>
        </p:nvSpPr>
        <p:spPr>
          <a:xfrm>
            <a:off x="640080" y="2862072"/>
            <a:ext cx="256032" cy="256032"/>
          </a:xfrm>
          <a:prstGeom prst="ellipse">
            <a:avLst/>
          </a:prstGeom>
          <a:solidFill>
            <a:srgbClr val="2E8B57"/>
          </a:solidFill>
          <a:ln w="12700">
            <a:solidFill>
              <a:srgbClr val="2E8B57"/>
            </a:solidFill>
            <a:prstDash val="solid"/>
          </a:ln>
        </p:spPr>
      </p:sp>
      <p:sp>
        <p:nvSpPr>
          <p:cNvPr id="25" name="Text 23"/>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6" name="Text 24"/>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الامْتِحَانَ</a:t>
            </a:r>
            <a:endParaRPr lang="ar-SA" sz="1700" dirty="0"/>
          </a:p>
        </p:txBody>
      </p:sp>
      <p:sp>
        <p:nvSpPr>
          <p:cNvPr id="27" name="Shape 25"/>
          <p:cNvSpPr/>
          <p:nvPr/>
        </p:nvSpPr>
        <p:spPr>
          <a:xfrm>
            <a:off x="640080" y="3233928"/>
            <a:ext cx="256032" cy="256032"/>
          </a:xfrm>
          <a:prstGeom prst="ellipse">
            <a:avLst/>
          </a:prstGeom>
          <a:solidFill>
            <a:srgbClr val="C9CED6"/>
          </a:solidFill>
          <a:ln w="12700">
            <a:solidFill>
              <a:srgbClr val="C9CED6"/>
            </a:solidFill>
            <a:prstDash val="solid"/>
          </a:ln>
        </p:spPr>
      </p:sp>
      <p:sp>
        <p:nvSpPr>
          <p:cNvPr id="28"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7"/>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بِالامْتِحَانِ</a:t>
            </a:r>
            <a:endParaRPr lang="ar-SA" sz="1700" dirty="0"/>
          </a:p>
        </p:txBody>
      </p:sp>
      <p:sp>
        <p:nvSpPr>
          <p:cNvPr id="30" name="Text 28"/>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يَجْتَازُ</a:t>
            </a:r>
            <a:pPr algn="l" indent="0" marL="0">
              <a:buNone/>
            </a:pPr>
            <a:r>
              <a:rPr lang="en-US" sz="1050" i="1" dirty="0">
                <a:solidFill>
                  <a:srgbClr val="8A6D1E"/>
                </a:solidFill>
                <a:latin typeface="Calibri" pitchFamily="34" charset="0"/>
                <a:ea typeface="Calibri" pitchFamily="34" charset="-122"/>
                <a:cs typeface="Calibri" pitchFamily="34" charset="-120"/>
              </a:rPr>
              <a:t> takes a direct object.</a:t>
            </a:r>
            <a:endParaRPr lang="en-US" sz="1050" dirty="0"/>
          </a:p>
        </p:txBody>
      </p:sp>
      <p:sp>
        <p:nvSpPr>
          <p:cNvPr id="31" name="Shape 29"/>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30"/>
          <p:cNvSpPr/>
          <p:nvPr/>
        </p:nvSpPr>
        <p:spPr>
          <a:xfrm>
            <a:off x="4404360" y="1947672"/>
            <a:ext cx="310896" cy="310896"/>
          </a:xfrm>
          <a:prstGeom prst="ellipse">
            <a:avLst/>
          </a:prstGeom>
          <a:solidFill>
            <a:srgbClr val="1B3B6F"/>
          </a:solidFill>
          <a:ln w="12700">
            <a:solidFill>
              <a:srgbClr val="1B3B6F"/>
            </a:solidFill>
            <a:prstDash val="solid"/>
          </a:ln>
        </p:spPr>
      </p:sp>
      <p:sp>
        <p:nvSpPr>
          <p:cNvPr id="33" name="Text 31"/>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4" name="Text 32"/>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يَتَفَوَّقُ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العُلُومِ</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35" name="Shape 33"/>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6" name="Shape 34"/>
          <p:cNvSpPr/>
          <p:nvPr/>
        </p:nvSpPr>
        <p:spPr>
          <a:xfrm>
            <a:off x="4459224" y="2490216"/>
            <a:ext cx="256032" cy="256032"/>
          </a:xfrm>
          <a:prstGeom prst="ellipse">
            <a:avLst/>
          </a:prstGeom>
          <a:solidFill>
            <a:srgbClr val="2E8B57"/>
          </a:solidFill>
          <a:ln w="12700">
            <a:solidFill>
              <a:srgbClr val="2E8B57"/>
            </a:solidFill>
            <a:prstDash val="solid"/>
          </a:ln>
        </p:spPr>
      </p:sp>
      <p:sp>
        <p:nvSpPr>
          <p:cNvPr id="37" name="Text 35"/>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8" name="Text 36"/>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39" name="Shape 37"/>
          <p:cNvSpPr/>
          <p:nvPr/>
        </p:nvSpPr>
        <p:spPr>
          <a:xfrm>
            <a:off x="4459224" y="2862072"/>
            <a:ext cx="256032" cy="256032"/>
          </a:xfrm>
          <a:prstGeom prst="ellipse">
            <a:avLst/>
          </a:prstGeom>
          <a:solidFill>
            <a:srgbClr val="C9CED6"/>
          </a:solidFill>
          <a:ln w="12700">
            <a:solidFill>
              <a:srgbClr val="C9CED6"/>
            </a:solidFill>
            <a:prstDash val="solid"/>
          </a:ln>
        </p:spPr>
      </p:sp>
      <p:sp>
        <p:nvSpPr>
          <p:cNvPr id="40" name="Text 38"/>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1" name="Text 39"/>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42" name="Shape 40"/>
          <p:cNvSpPr/>
          <p:nvPr/>
        </p:nvSpPr>
        <p:spPr>
          <a:xfrm>
            <a:off x="4459224" y="3233928"/>
            <a:ext cx="256032" cy="256032"/>
          </a:xfrm>
          <a:prstGeom prst="ellipse">
            <a:avLst/>
          </a:prstGeom>
          <a:solidFill>
            <a:srgbClr val="C9CED6"/>
          </a:solidFill>
          <a:ln w="12700">
            <a:solidFill>
              <a:srgbClr val="C9CED6"/>
            </a:solidFill>
            <a:prstDash val="solid"/>
          </a:ln>
        </p:spPr>
      </p:sp>
      <p:sp>
        <p:nvSpPr>
          <p:cNvPr id="43" name="Text 41"/>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4" name="Text 42"/>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45" name="Text 43"/>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يَتَفَوَّقُ</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6" name="Shape 44"/>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7" name="Shape 45"/>
          <p:cNvSpPr/>
          <p:nvPr/>
        </p:nvSpPr>
        <p:spPr>
          <a:xfrm>
            <a:off x="8223504" y="1947672"/>
            <a:ext cx="310896" cy="310896"/>
          </a:xfrm>
          <a:prstGeom prst="ellipse">
            <a:avLst/>
          </a:prstGeom>
          <a:solidFill>
            <a:srgbClr val="1B3B6F"/>
          </a:solidFill>
          <a:ln w="12700">
            <a:solidFill>
              <a:srgbClr val="1B3B6F"/>
            </a:solidFill>
            <a:prstDash val="solid"/>
          </a:ln>
        </p:spPr>
      </p:sp>
      <p:sp>
        <p:nvSpPr>
          <p:cNvPr id="48" name="Text 46"/>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9" name="Text 47"/>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يَرْسُبُ</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50" name="Shape 48"/>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9"/>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50"/>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53" name="Shape 51"/>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2"/>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3"/>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56" name="Shape 54"/>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5"/>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6"/>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7"/>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فِي</a:t>
            </a:r>
            <a:endParaRPr lang="ar-SA" sz="1700" dirty="0"/>
          </a:p>
        </p:txBody>
      </p:sp>
      <p:sp>
        <p:nvSpPr>
          <p:cNvPr id="60" name="Text 58"/>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يَرْسُبُ</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فِي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1" name="Shape 59"/>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60"/>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1"/>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2"/>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يَلْتَحِقُ</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الجَامِعَةِ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65" name="Shape 63"/>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4"/>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5"/>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68" name="Shape 66"/>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7"/>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8"/>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71" name="Shape 69"/>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70"/>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1"/>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2"/>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75" name="Text 73"/>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يَلْتَحِقُ</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76" name="Shape 7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5"/>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يَحْصُلُ</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شَهَادَةٍ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80" name="Shape 78"/>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9"/>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80"/>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1"/>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عَلَى</a:t>
            </a:r>
            <a:endParaRPr lang="ar-SA" sz="1700" dirty="0"/>
          </a:p>
        </p:txBody>
      </p:sp>
      <p:sp>
        <p:nvSpPr>
          <p:cNvPr id="84" name="Shape 82"/>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3"/>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4"/>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بِـ</a:t>
            </a:r>
            <a:endParaRPr lang="ar-SA" sz="1700" dirty="0"/>
          </a:p>
        </p:txBody>
      </p:sp>
      <p:sp>
        <p:nvSpPr>
          <p:cNvPr id="87" name="Shape 85"/>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6"/>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7"/>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90" name="Text 88"/>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يَحْصُلُ</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عَلَى</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91" name="Shape 89"/>
          <p:cNvSpPr/>
          <p:nvPr/>
        </p:nvSpPr>
        <p:spPr>
          <a:xfrm>
            <a:off x="8095488"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92" name="Shape 90"/>
          <p:cNvSpPr/>
          <p:nvPr/>
        </p:nvSpPr>
        <p:spPr>
          <a:xfrm>
            <a:off x="8223504" y="4288536"/>
            <a:ext cx="310896" cy="310896"/>
          </a:xfrm>
          <a:prstGeom prst="ellipse">
            <a:avLst/>
          </a:prstGeom>
          <a:solidFill>
            <a:srgbClr val="1B3B6F"/>
          </a:solidFill>
          <a:ln w="12700">
            <a:solidFill>
              <a:srgbClr val="1B3B6F"/>
            </a:solidFill>
            <a:prstDash val="solid"/>
          </a:ln>
        </p:spPr>
      </p:sp>
      <p:sp>
        <p:nvSpPr>
          <p:cNvPr id="93" name="Text 91"/>
          <p:cNvSpPr txBox="1"/>
          <p:nvPr/>
        </p:nvSpPr>
        <p:spPr>
          <a:xfrm>
            <a:off x="8223504"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94" name="Text 92"/>
          <p:cNvSpPr txBox="1"/>
          <p:nvPr/>
        </p:nvSpPr>
        <p:spPr>
          <a:xfrm>
            <a:off x="8589264"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Complement: complete — </a:t>
            </a:r>
            <a:pPr algn="l" indent="0" marL="0">
              <a:buNone/>
            </a:pPr>
            <a:r>
              <a:rPr lang="ar-SA" altLang="en-US" sz="1650" b="1" dirty="0">
                <a:solidFill>
                  <a:srgbClr val="1B3B6F"/>
                </a:solidFill>
                <a:latin typeface="Amiri" pitchFamily="34" charset="0"/>
                <a:ea typeface="Amiri" pitchFamily="34" charset="-122"/>
                <a:cs typeface="Amiri" pitchFamily="34" charset="-120"/>
              </a:rPr>
              <a:t>يَتَمَيَّزُ النِّظَامُ</a:t>
            </a:r>
            <a:pPr algn="l" indent="0" marL="0">
              <a:buNone/>
            </a:pPr>
            <a:r>
              <a:rPr lang="en-US" sz="1250" b="1" dirty="0">
                <a:solidFill>
                  <a:srgbClr val="1B3B6F"/>
                </a:solidFill>
                <a:latin typeface="Calibri" pitchFamily="34" charset="0"/>
                <a:ea typeface="Calibri" pitchFamily="34" charset="-122"/>
                <a:cs typeface="Calibri" pitchFamily="34" charset="-120"/>
              </a:rPr>
              <a:t> ___ </a:t>
            </a:r>
            <a:pPr algn="l" indent="0" marL="0">
              <a:buNone/>
            </a:pPr>
            <a:r>
              <a:rPr lang="ar-SA" altLang="en-US" sz="1650" b="1" dirty="0">
                <a:solidFill>
                  <a:srgbClr val="1B3B6F"/>
                </a:solidFill>
                <a:latin typeface="Amiri" pitchFamily="34" charset="0"/>
                <a:ea typeface="Amiri" pitchFamily="34" charset="-122"/>
                <a:cs typeface="Amiri" pitchFamily="34" charset="-120"/>
              </a:rPr>
              <a:t>المُرُونَةِ</a:t>
            </a:r>
            <a:pPr algn="l" indent="0" marL="0">
              <a:buNone/>
            </a:pPr>
            <a:r>
              <a:rPr lang="en-US" sz="1250" b="1" dirty="0">
                <a:solidFill>
                  <a:srgbClr val="1B3B6F"/>
                </a:solidFill>
                <a:latin typeface="Calibri" pitchFamily="34" charset="0"/>
                <a:ea typeface="Calibri" pitchFamily="34" charset="-122"/>
                <a:cs typeface="Calibri" pitchFamily="34" charset="-120"/>
              </a:rPr>
              <a:t>.</a:t>
            </a:r>
            <a:endParaRPr lang="en-US" sz="1250" dirty="0"/>
          </a:p>
        </p:txBody>
      </p:sp>
      <p:sp>
        <p:nvSpPr>
          <p:cNvPr id="95" name="Shape 93"/>
          <p:cNvSpPr/>
          <p:nvPr/>
        </p:nvSpPr>
        <p:spPr>
          <a:xfrm>
            <a:off x="8278368" y="4831080"/>
            <a:ext cx="256032" cy="256032"/>
          </a:xfrm>
          <a:prstGeom prst="ellipse">
            <a:avLst/>
          </a:prstGeom>
          <a:solidFill>
            <a:srgbClr val="C9CED6"/>
          </a:solidFill>
          <a:ln w="12700">
            <a:solidFill>
              <a:srgbClr val="C9CED6"/>
            </a:solidFill>
            <a:prstDash val="solid"/>
          </a:ln>
        </p:spPr>
      </p:sp>
      <p:sp>
        <p:nvSpPr>
          <p:cNvPr id="96" name="Text 94"/>
          <p:cNvSpPr txBox="1"/>
          <p:nvPr/>
        </p:nvSpPr>
        <p:spPr>
          <a:xfrm>
            <a:off x="8278368"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97" name="Text 95"/>
          <p:cNvSpPr txBox="1"/>
          <p:nvPr/>
        </p:nvSpPr>
        <p:spPr>
          <a:xfrm>
            <a:off x="8607552"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فِي</a:t>
            </a:r>
            <a:endParaRPr lang="ar-SA" sz="1700" dirty="0"/>
          </a:p>
        </p:txBody>
      </p:sp>
      <p:sp>
        <p:nvSpPr>
          <p:cNvPr id="98" name="Shape 96"/>
          <p:cNvSpPr/>
          <p:nvPr/>
        </p:nvSpPr>
        <p:spPr>
          <a:xfrm>
            <a:off x="8186928" y="5166360"/>
            <a:ext cx="3453384" cy="347472"/>
          </a:xfrm>
          <a:prstGeom prst="roundRect">
            <a:avLst>
              <a:gd name="adj" fmla="val 15789"/>
            </a:avLst>
          </a:prstGeom>
          <a:solidFill>
            <a:srgbClr val="E6F4EC"/>
          </a:solidFill>
          <a:ln w="9525">
            <a:solidFill>
              <a:srgbClr val="2E8B57"/>
            </a:solidFill>
            <a:prstDash val="solid"/>
          </a:ln>
        </p:spPr>
      </p:sp>
      <p:sp>
        <p:nvSpPr>
          <p:cNvPr id="99" name="Shape 97"/>
          <p:cNvSpPr/>
          <p:nvPr/>
        </p:nvSpPr>
        <p:spPr>
          <a:xfrm>
            <a:off x="8278368" y="5202936"/>
            <a:ext cx="256032" cy="256032"/>
          </a:xfrm>
          <a:prstGeom prst="ellipse">
            <a:avLst/>
          </a:prstGeom>
          <a:solidFill>
            <a:srgbClr val="2E8B57"/>
          </a:solidFill>
          <a:ln w="12700">
            <a:solidFill>
              <a:srgbClr val="2E8B57"/>
            </a:solidFill>
            <a:prstDash val="solid"/>
          </a:ln>
        </p:spPr>
      </p:sp>
      <p:sp>
        <p:nvSpPr>
          <p:cNvPr id="100" name="Text 98"/>
          <p:cNvSpPr txBox="1"/>
          <p:nvPr/>
        </p:nvSpPr>
        <p:spPr>
          <a:xfrm>
            <a:off x="8278368"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101" name="Text 99"/>
          <p:cNvSpPr txBox="1"/>
          <p:nvPr/>
        </p:nvSpPr>
        <p:spPr>
          <a:xfrm>
            <a:off x="8607552"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بِـ</a:t>
            </a:r>
            <a:endParaRPr lang="ar-SA" sz="1700" dirty="0"/>
          </a:p>
        </p:txBody>
      </p:sp>
      <p:sp>
        <p:nvSpPr>
          <p:cNvPr id="102" name="Shape 100"/>
          <p:cNvSpPr/>
          <p:nvPr/>
        </p:nvSpPr>
        <p:spPr>
          <a:xfrm>
            <a:off x="8278368" y="5574792"/>
            <a:ext cx="256032" cy="256032"/>
          </a:xfrm>
          <a:prstGeom prst="ellipse">
            <a:avLst/>
          </a:prstGeom>
          <a:solidFill>
            <a:srgbClr val="C9CED6"/>
          </a:solidFill>
          <a:ln w="12700">
            <a:solidFill>
              <a:srgbClr val="C9CED6"/>
            </a:solidFill>
            <a:prstDash val="solid"/>
          </a:ln>
        </p:spPr>
      </p:sp>
      <p:sp>
        <p:nvSpPr>
          <p:cNvPr id="103" name="Text 101"/>
          <p:cNvSpPr txBox="1"/>
          <p:nvPr/>
        </p:nvSpPr>
        <p:spPr>
          <a:xfrm>
            <a:off x="8278368"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104" name="Text 102"/>
          <p:cNvSpPr txBox="1"/>
          <p:nvPr/>
        </p:nvSpPr>
        <p:spPr>
          <a:xfrm>
            <a:off x="8607552"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عَلَى</a:t>
            </a:r>
            <a:endParaRPr lang="ar-SA" sz="1700" dirty="0"/>
          </a:p>
        </p:txBody>
      </p:sp>
      <p:sp>
        <p:nvSpPr>
          <p:cNvPr id="105" name="Text 103"/>
          <p:cNvSpPr txBox="1"/>
          <p:nvPr/>
        </p:nvSpPr>
        <p:spPr>
          <a:xfrm>
            <a:off x="8223504"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يَتَمَيَّزُ</a:t>
            </a:r>
            <a:pPr algn="l" indent="0" marL="0">
              <a:buNone/>
            </a:pPr>
            <a:r>
              <a:rPr lang="en-US" sz="1050" i="1" dirty="0">
                <a:solidFill>
                  <a:srgbClr val="8A6D1E"/>
                </a:solidFill>
                <a:latin typeface="Calibri" pitchFamily="34" charset="0"/>
                <a:ea typeface="Calibri" pitchFamily="34" charset="-122"/>
                <a:cs typeface="Calibri" pitchFamily="34" charset="-120"/>
              </a:rPr>
              <a:t> takes </a:t>
            </a:r>
            <a:pPr algn="l" indent="0" marL="0">
              <a:buNone/>
            </a:pPr>
            <a:r>
              <a:rPr lang="ar-SA" altLang="en-US" sz="1350" dirty="0">
                <a:solidFill>
                  <a:srgbClr val="8A6D1E"/>
                </a:solidFill>
                <a:latin typeface="Amiri" pitchFamily="34" charset="0"/>
                <a:ea typeface="Amiri" pitchFamily="34" charset="-122"/>
                <a:cs typeface="Amiri" pitchFamily="34" charset="-120"/>
              </a:rPr>
              <a:t>بِـ</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106" name="Text 10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50 / 52</a:t>
            </a:r>
            <a:endParaRPr lang="en-US" sz="850"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TD-L01 · Education</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TD-L02: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Advanced Topic D · The World of Work · TD-L01</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TD-L02 · The Classroom and Learning Tools</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كِتَابٌ</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book</a:t>
            </a:r>
            <a:pPr indent="0" marL="0">
              <a:buNone/>
            </a:pPr>
            <a:r>
              <a:rPr lang="en-US" sz="1000" i="1" dirty="0">
                <a:solidFill>
                  <a:srgbClr val="5A6472"/>
                </a:solidFill>
                <a:latin typeface="Calibri" pitchFamily="34" charset="0"/>
                <a:ea typeface="Calibri" pitchFamily="34" charset="-122"/>
                <a:cs typeface="Calibri" pitchFamily="34" charset="-120"/>
              </a:rPr>
              <a:t>  pl. كُتُبٌ</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دَفْتَرٌ</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an exercise book</a:t>
            </a:r>
            <a:pPr indent="0" marL="0">
              <a:buNone/>
            </a:pPr>
            <a:r>
              <a:rPr lang="en-US" sz="1000" i="1" dirty="0">
                <a:solidFill>
                  <a:srgbClr val="5A6472"/>
                </a:solidFill>
                <a:latin typeface="Calibri" pitchFamily="34" charset="0"/>
                <a:ea typeface="Calibri" pitchFamily="34" charset="-122"/>
                <a:cs typeface="Calibri" pitchFamily="34" charset="-120"/>
              </a:rPr>
              <a:t>  pl. دَفَاتِرُ</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قَلَمٌ</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pen</a:t>
            </a:r>
            <a:pPr indent="0" marL="0">
              <a:buNone/>
            </a:pPr>
            <a:r>
              <a:rPr lang="en-US" sz="1000" i="1" dirty="0">
                <a:solidFill>
                  <a:srgbClr val="5A6472"/>
                </a:solidFill>
                <a:latin typeface="Calibri" pitchFamily="34" charset="0"/>
                <a:ea typeface="Calibri" pitchFamily="34" charset="-122"/>
                <a:cs typeface="Calibri" pitchFamily="34" charset="-120"/>
              </a:rPr>
              <a:t>  pl. أَقْلَامٌ</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حَقِيبَةٌ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bag</a:t>
            </a:r>
            <a:pPr indent="0" marL="0">
              <a:buNone/>
            </a:pPr>
            <a:r>
              <a:rPr lang="en-US" sz="1000" i="1" dirty="0">
                <a:solidFill>
                  <a:srgbClr val="5A6472"/>
                </a:solidFill>
                <a:latin typeface="Calibri" pitchFamily="34" charset="0"/>
                <a:ea typeface="Calibri" pitchFamily="34" charset="-122"/>
                <a:cs typeface="Calibri" pitchFamily="34" charset="-120"/>
              </a:rPr>
              <a:t>  pl. حَقَائِبُ</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مِسْطَرَةٌ</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ruler</a:t>
            </a:r>
            <a:pPr indent="0" marL="0">
              <a:buNone/>
            </a:pPr>
            <a:r>
              <a:rPr lang="en-US" sz="1000" i="1" dirty="0">
                <a:solidFill>
                  <a:srgbClr val="5A6472"/>
                </a:solidFill>
                <a:latin typeface="Calibri" pitchFamily="34" charset="0"/>
                <a:ea typeface="Calibri" pitchFamily="34" charset="-122"/>
                <a:cs typeface="Calibri" pitchFamily="34" charset="-120"/>
              </a:rPr>
              <a:t>  pl. مَسَاطِرُ</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What is in your school bag today?</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مَاذَا فِي حَقِيبَتِكَ؟</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Learn the academic verbs with their complements; write five sentences.</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 60–80-word comparison of two systems with two contrast connectors.</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writing task: 90–100 words with </a:t>
            </a:r>
            <a:pPr algn="l" indent="0" marL="0">
              <a:buNone/>
            </a:pPr>
            <a:r>
              <a:rPr lang="ar-SA" altLang="en-US" sz="1550" dirty="0">
                <a:solidFill>
                  <a:srgbClr val="1F2A37"/>
                </a:solidFill>
                <a:latin typeface="Amiri" pitchFamily="34" charset="0"/>
                <a:ea typeface="Amiri" pitchFamily="34" charset="-122"/>
                <a:cs typeface="Amiri" pitchFamily="34" charset="-120"/>
              </a:rPr>
              <a:t>يَتَمَيَّزُ بِـ</a:t>
            </a:r>
            <a:pPr algn="l" indent="0" marL="0">
              <a:buNone/>
            </a:pPr>
            <a:r>
              <a:rPr lang="en-US" sz="1200" dirty="0">
                <a:solidFill>
                  <a:srgbClr val="1F2A37"/>
                </a:solidFill>
                <a:latin typeface="Calibri" pitchFamily="34" charset="0"/>
                <a:ea typeface="Calibri" pitchFamily="34" charset="-122"/>
                <a:cs typeface="Calibri" pitchFamily="34" charset="-120"/>
              </a:rPr>
              <a:t> and a closing conditional.</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51 / 52</a:t>
            </a:r>
            <a:endParaRPr lang="en-US" sz="850"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TD-L01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250" b="1" dirty="0">
                <a:solidFill>
                  <a:srgbClr val="FFFFFF"/>
                </a:solidFill>
                <a:latin typeface="Cambria" pitchFamily="34" charset="0"/>
                <a:ea typeface="Cambria" pitchFamily="34" charset="-122"/>
                <a:cs typeface="Cambria" pitchFamily="34" charset="-120"/>
              </a:rPr>
              <a:t>TD-L02 · The Classroom and Learning Tools</a:t>
            </a:r>
            <a:endParaRPr lang="en-US" sz="22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الفَصْلُ الدِّرَاسِيُّ وَأَدَوَاتُ التَّعَلُّمِ</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5 classroom words for TD-L02.</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TD-L01 · Learning Institutions and Stages of Education</dc:title>
  <dc:subject>PptxGenJS Presentation</dc:subject>
  <dc:creator>Al Madina Online School · Arabic Department</dc:creator>
  <cp:lastModifiedBy>Al Madina Online School · Arabic Department</cp:lastModifiedBy>
  <cp:revision>1</cp:revision>
  <dcterms:created xsi:type="dcterms:W3CDTF">2026-10-11T04:18:59Z</dcterms:created>
  <dcterms:modified xsi:type="dcterms:W3CDTF">2026-10-11T04:18:59Z</dcterms:modified>
</cp:coreProperties>
</file>